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 autoAdjust="0"/>
    <p:restoredTop sz="94624" autoAdjust="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AFD8D-26CD-4CB7-9FDD-F802546ECE7F}" type="datetimeFigureOut">
              <a:rPr lang="en-US" smtClean="0"/>
              <a:pPr/>
              <a:t>6/26/2024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7E2AA-3262-4D47-807F-B94213CD4D6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1" y="2483644"/>
            <a:ext cx="8118475" cy="1475185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Graph Representation</a:t>
            </a: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676401" y="1402557"/>
            <a:ext cx="6691313" cy="478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Topic 3.1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442075" y="4767263"/>
            <a:ext cx="2133600" cy="273844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By:  Er.Bhavneet Kaur</a:t>
            </a:r>
          </a:p>
          <a:p>
            <a:r>
              <a:rPr lang="en-US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Master Subject Co-ordinator</a:t>
            </a:r>
          </a:p>
          <a:p>
            <a:r>
              <a:rPr lang="en-US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CSE 2</a:t>
            </a:r>
            <a:r>
              <a:rPr lang="en-US" baseline="3000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Year</a:t>
            </a:r>
          </a:p>
        </p:txBody>
      </p:sp>
      <p:pic>
        <p:nvPicPr>
          <p:cNvPr id="7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440531"/>
            <a:ext cx="19050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1435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Graph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00150"/>
            <a:ext cx="8153400" cy="3371850"/>
          </a:xfrm>
        </p:spPr>
        <p:txBody>
          <a:bodyPr>
            <a:normAutofit fontScale="92500"/>
          </a:bodyPr>
          <a:lstStyle/>
          <a:p>
            <a:r>
              <a:rPr lang="en-US"/>
              <a:t>A graph is a finite set of nodes with edges between nodes</a:t>
            </a:r>
          </a:p>
          <a:p>
            <a:r>
              <a:rPr lang="en-US"/>
              <a:t>Formally, a graph G is a structure (V,E) consisting of </a:t>
            </a:r>
          </a:p>
          <a:p>
            <a:pPr lvl="1"/>
            <a:r>
              <a:rPr lang="en-US"/>
              <a:t>a finite set V called the set of nodes, and</a:t>
            </a:r>
          </a:p>
          <a:p>
            <a:pPr lvl="1"/>
            <a:r>
              <a:rPr lang="en-US"/>
              <a:t>a set E that is a subset of VxV. That is, E is a set of pairs of the form (x,y) where x and y are nodes in V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Examples of Graphs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V={0,1,2,3,4}</a:t>
            </a:r>
          </a:p>
          <a:p>
            <a:r>
              <a:rPr lang="en-US"/>
              <a:t>E={(0,1), (1,2), (0,3), (3,0), (2,2), (4,3)}</a:t>
            </a:r>
          </a:p>
          <a:p>
            <a:endParaRPr lang="en-US"/>
          </a:p>
        </p:txBody>
      </p:sp>
      <p:sp>
        <p:nvSpPr>
          <p:cNvPr id="210948" name="Oval 4"/>
          <p:cNvSpPr>
            <a:spLocks noChangeArrowheads="1"/>
          </p:cNvSpPr>
          <p:nvPr/>
        </p:nvSpPr>
        <p:spPr bwMode="auto">
          <a:xfrm>
            <a:off x="990600" y="27432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49" name="Oval 5"/>
          <p:cNvSpPr>
            <a:spLocks noChangeArrowheads="1"/>
          </p:cNvSpPr>
          <p:nvPr/>
        </p:nvSpPr>
        <p:spPr bwMode="auto">
          <a:xfrm>
            <a:off x="1295400" y="37719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50" name="Oval 6"/>
          <p:cNvSpPr>
            <a:spLocks noChangeArrowheads="1"/>
          </p:cNvSpPr>
          <p:nvPr/>
        </p:nvSpPr>
        <p:spPr bwMode="auto">
          <a:xfrm>
            <a:off x="2667000" y="4000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51" name="Oval 7"/>
          <p:cNvSpPr>
            <a:spLocks noChangeArrowheads="1"/>
          </p:cNvSpPr>
          <p:nvPr/>
        </p:nvSpPr>
        <p:spPr bwMode="auto">
          <a:xfrm>
            <a:off x="3733800" y="33718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52" name="Oval 8"/>
          <p:cNvSpPr>
            <a:spLocks noChangeArrowheads="1"/>
          </p:cNvSpPr>
          <p:nvPr/>
        </p:nvSpPr>
        <p:spPr bwMode="auto">
          <a:xfrm>
            <a:off x="2667000" y="26860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762000" y="26289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0</a:t>
            </a:r>
          </a:p>
        </p:txBody>
      </p:sp>
      <p:sp>
        <p:nvSpPr>
          <p:cNvPr id="210954" name="Text Box 10"/>
          <p:cNvSpPr txBox="1">
            <a:spLocks noChangeArrowheads="1"/>
          </p:cNvSpPr>
          <p:nvPr/>
        </p:nvSpPr>
        <p:spPr bwMode="auto">
          <a:xfrm>
            <a:off x="2362200" y="24574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1</a:t>
            </a:r>
          </a:p>
        </p:txBody>
      </p:sp>
      <p:sp>
        <p:nvSpPr>
          <p:cNvPr id="210955" name="Text Box 11"/>
          <p:cNvSpPr txBox="1">
            <a:spLocks noChangeArrowheads="1"/>
          </p:cNvSpPr>
          <p:nvPr/>
        </p:nvSpPr>
        <p:spPr bwMode="auto">
          <a:xfrm>
            <a:off x="990600" y="35433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4</a:t>
            </a:r>
          </a:p>
        </p:txBody>
      </p:sp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4114800" y="32004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2</a:t>
            </a:r>
          </a:p>
        </p:txBody>
      </p:sp>
      <p:sp>
        <p:nvSpPr>
          <p:cNvPr id="210957" name="Text Box 13"/>
          <p:cNvSpPr txBox="1">
            <a:spLocks noChangeArrowheads="1"/>
          </p:cNvSpPr>
          <p:nvPr/>
        </p:nvSpPr>
        <p:spPr bwMode="auto">
          <a:xfrm>
            <a:off x="2971800" y="38862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3</a:t>
            </a:r>
          </a:p>
        </p:txBody>
      </p:sp>
      <p:sp>
        <p:nvSpPr>
          <p:cNvPr id="210958" name="Line 14"/>
          <p:cNvSpPr>
            <a:spLocks noChangeShapeType="1"/>
          </p:cNvSpPr>
          <p:nvPr/>
        </p:nvSpPr>
        <p:spPr bwMode="auto">
          <a:xfrm flipV="1">
            <a:off x="1143000" y="2743200"/>
            <a:ext cx="152400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59" name="Line 15"/>
          <p:cNvSpPr>
            <a:spLocks noChangeShapeType="1"/>
          </p:cNvSpPr>
          <p:nvPr/>
        </p:nvSpPr>
        <p:spPr bwMode="auto">
          <a:xfrm>
            <a:off x="2819400" y="2743200"/>
            <a:ext cx="99060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60" name="Line 16"/>
          <p:cNvSpPr>
            <a:spLocks noChangeShapeType="1"/>
          </p:cNvSpPr>
          <p:nvPr/>
        </p:nvSpPr>
        <p:spPr bwMode="auto">
          <a:xfrm>
            <a:off x="1143000" y="2800350"/>
            <a:ext cx="1676400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61" name="Freeform 17"/>
          <p:cNvSpPr>
            <a:spLocks/>
          </p:cNvSpPr>
          <p:nvPr/>
        </p:nvSpPr>
        <p:spPr bwMode="auto">
          <a:xfrm>
            <a:off x="3568700" y="3429000"/>
            <a:ext cx="812800" cy="257175"/>
          </a:xfrm>
          <a:custGeom>
            <a:avLst/>
            <a:gdLst/>
            <a:ahLst/>
            <a:cxnLst>
              <a:cxn ang="0">
                <a:pos x="200" y="0"/>
              </a:cxn>
              <a:cxn ang="0">
                <a:pos x="488" y="144"/>
              </a:cxn>
              <a:cxn ang="0">
                <a:pos x="56" y="192"/>
              </a:cxn>
              <a:cxn ang="0">
                <a:pos x="152" y="0"/>
              </a:cxn>
            </a:cxnLst>
            <a:rect l="0" t="0" r="r" b="b"/>
            <a:pathLst>
              <a:path w="512" h="216">
                <a:moveTo>
                  <a:pt x="200" y="0"/>
                </a:moveTo>
                <a:cubicBezTo>
                  <a:pt x="356" y="56"/>
                  <a:pt x="512" y="112"/>
                  <a:pt x="488" y="144"/>
                </a:cubicBezTo>
                <a:cubicBezTo>
                  <a:pt x="464" y="176"/>
                  <a:pt x="112" y="216"/>
                  <a:pt x="56" y="192"/>
                </a:cubicBezTo>
                <a:cubicBezTo>
                  <a:pt x="0" y="168"/>
                  <a:pt x="136" y="32"/>
                  <a:pt x="15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62" name="Freeform 18"/>
          <p:cNvSpPr>
            <a:spLocks/>
          </p:cNvSpPr>
          <p:nvPr/>
        </p:nvSpPr>
        <p:spPr bwMode="auto">
          <a:xfrm>
            <a:off x="952500" y="2857500"/>
            <a:ext cx="1714500" cy="1200150"/>
          </a:xfrm>
          <a:custGeom>
            <a:avLst/>
            <a:gdLst/>
            <a:ahLst/>
            <a:cxnLst>
              <a:cxn ang="0">
                <a:pos x="1080" y="1008"/>
              </a:cxn>
              <a:cxn ang="0">
                <a:pos x="168" y="480"/>
              </a:cxn>
              <a:cxn ang="0">
                <a:pos x="72" y="0"/>
              </a:cxn>
            </a:cxnLst>
            <a:rect l="0" t="0" r="r" b="b"/>
            <a:pathLst>
              <a:path w="1080" h="1008">
                <a:moveTo>
                  <a:pt x="1080" y="1008"/>
                </a:moveTo>
                <a:cubicBezTo>
                  <a:pt x="708" y="828"/>
                  <a:pt x="336" y="648"/>
                  <a:pt x="168" y="480"/>
                </a:cubicBezTo>
                <a:cubicBezTo>
                  <a:pt x="0" y="312"/>
                  <a:pt x="88" y="80"/>
                  <a:pt x="72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63" name="Line 19"/>
          <p:cNvSpPr>
            <a:spLocks noChangeShapeType="1"/>
          </p:cNvSpPr>
          <p:nvPr/>
        </p:nvSpPr>
        <p:spPr bwMode="auto">
          <a:xfrm>
            <a:off x="1447800" y="3829050"/>
            <a:ext cx="12954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0964" name="Rectangle 20"/>
          <p:cNvSpPr>
            <a:spLocks noChangeArrowheads="1"/>
          </p:cNvSpPr>
          <p:nvPr/>
        </p:nvSpPr>
        <p:spPr bwMode="auto">
          <a:xfrm>
            <a:off x="4495800" y="2457450"/>
            <a:ext cx="3733800" cy="194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0965" name="Text Box 21"/>
          <p:cNvSpPr txBox="1">
            <a:spLocks noChangeArrowheads="1"/>
          </p:cNvSpPr>
          <p:nvPr/>
        </p:nvSpPr>
        <p:spPr bwMode="auto">
          <a:xfrm>
            <a:off x="4495800" y="2457450"/>
            <a:ext cx="37338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/>
              <a:t>When (x,y) is an edge,</a:t>
            </a:r>
          </a:p>
          <a:p>
            <a:pPr algn="just"/>
            <a:r>
              <a:rPr lang="en-US"/>
              <a:t>we say that x is </a:t>
            </a:r>
            <a:r>
              <a:rPr lang="en-US" i="1"/>
              <a:t>adjacent to</a:t>
            </a:r>
            <a:r>
              <a:rPr lang="en-US"/>
              <a:t> y, and y is </a:t>
            </a:r>
            <a:r>
              <a:rPr lang="en-US" i="1"/>
              <a:t>adjacent from</a:t>
            </a:r>
            <a:r>
              <a:rPr lang="en-US"/>
              <a:t> x.</a:t>
            </a:r>
          </a:p>
          <a:p>
            <a:pPr algn="just"/>
            <a:endParaRPr lang="en-US"/>
          </a:p>
          <a:p>
            <a:pPr algn="just"/>
            <a:r>
              <a:rPr lang="en-US"/>
              <a:t>0 is adjacent to 1.</a:t>
            </a:r>
          </a:p>
          <a:p>
            <a:pPr algn="just"/>
            <a:r>
              <a:rPr lang="en-US"/>
              <a:t>1 is not adjacent to 0.</a:t>
            </a:r>
          </a:p>
          <a:p>
            <a:pPr algn="just"/>
            <a:r>
              <a:rPr lang="en-US"/>
              <a:t>2 is adjacent from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10066"/>
            <a:ext cx="7772400" cy="45142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 “Real-life” Example of a Graph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1555" y="602218"/>
            <a:ext cx="7772400" cy="3429000"/>
          </a:xfrm>
        </p:spPr>
        <p:txBody>
          <a:bodyPr/>
          <a:lstStyle/>
          <a:p>
            <a:r>
              <a:rPr lang="en-US" dirty="0"/>
              <a:t>V=set of 6 people: John, Mary, Joe, Helen, Tom, and Paul, of ages 12, 15, 12, 15, 13, and 13, respectively.</a:t>
            </a:r>
          </a:p>
          <a:p>
            <a:r>
              <a:rPr lang="en-US" dirty="0"/>
              <a:t>E ={(</a:t>
            </a:r>
            <a:r>
              <a:rPr lang="en-US" dirty="0" err="1"/>
              <a:t>x,y</a:t>
            </a:r>
            <a:r>
              <a:rPr lang="en-US" dirty="0"/>
              <a:t>) | if x is younger than y}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211972" name="Oval 4"/>
          <p:cNvSpPr>
            <a:spLocks noChangeArrowheads="1"/>
          </p:cNvSpPr>
          <p:nvPr/>
        </p:nvSpPr>
        <p:spPr bwMode="auto">
          <a:xfrm>
            <a:off x="1752600" y="34290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3" name="Oval 5"/>
          <p:cNvSpPr>
            <a:spLocks noChangeArrowheads="1"/>
          </p:cNvSpPr>
          <p:nvPr/>
        </p:nvSpPr>
        <p:spPr bwMode="auto">
          <a:xfrm>
            <a:off x="2743200" y="2857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4" name="Oval 6"/>
          <p:cNvSpPr>
            <a:spLocks noChangeArrowheads="1"/>
          </p:cNvSpPr>
          <p:nvPr/>
        </p:nvSpPr>
        <p:spPr bwMode="auto">
          <a:xfrm>
            <a:off x="2819400" y="41719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5" name="Oval 7"/>
          <p:cNvSpPr>
            <a:spLocks noChangeArrowheads="1"/>
          </p:cNvSpPr>
          <p:nvPr/>
        </p:nvSpPr>
        <p:spPr bwMode="auto">
          <a:xfrm>
            <a:off x="4572000" y="41719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6" name="Oval 8"/>
          <p:cNvSpPr>
            <a:spLocks noChangeArrowheads="1"/>
          </p:cNvSpPr>
          <p:nvPr/>
        </p:nvSpPr>
        <p:spPr bwMode="auto">
          <a:xfrm>
            <a:off x="5410200" y="33718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7" name="Oval 9"/>
          <p:cNvSpPr>
            <a:spLocks noChangeArrowheads="1"/>
          </p:cNvSpPr>
          <p:nvPr/>
        </p:nvSpPr>
        <p:spPr bwMode="auto">
          <a:xfrm>
            <a:off x="4343400" y="2857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1978" name="Text Box 10"/>
          <p:cNvSpPr txBox="1">
            <a:spLocks noChangeArrowheads="1"/>
          </p:cNvSpPr>
          <p:nvPr/>
        </p:nvSpPr>
        <p:spPr bwMode="auto">
          <a:xfrm>
            <a:off x="838201" y="3314700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John</a:t>
            </a:r>
          </a:p>
        </p:txBody>
      </p:sp>
      <p:sp>
        <p:nvSpPr>
          <p:cNvPr id="211979" name="Text Box 11"/>
          <p:cNvSpPr txBox="1">
            <a:spLocks noChangeArrowheads="1"/>
          </p:cNvSpPr>
          <p:nvPr/>
        </p:nvSpPr>
        <p:spPr bwMode="auto">
          <a:xfrm>
            <a:off x="5638800" y="3257550"/>
            <a:ext cx="4956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Joe</a:t>
            </a:r>
          </a:p>
        </p:txBody>
      </p:sp>
      <p:sp>
        <p:nvSpPr>
          <p:cNvPr id="211980" name="Text Box 12"/>
          <p:cNvSpPr txBox="1">
            <a:spLocks noChangeArrowheads="1"/>
          </p:cNvSpPr>
          <p:nvPr/>
        </p:nvSpPr>
        <p:spPr bwMode="auto">
          <a:xfrm>
            <a:off x="1828800" y="2743200"/>
            <a:ext cx="6779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Mary</a:t>
            </a:r>
          </a:p>
        </p:txBody>
      </p:sp>
      <p:sp>
        <p:nvSpPr>
          <p:cNvPr id="211981" name="Text Box 13"/>
          <p:cNvSpPr txBox="1">
            <a:spLocks noChangeArrowheads="1"/>
          </p:cNvSpPr>
          <p:nvPr/>
        </p:nvSpPr>
        <p:spPr bwMode="auto">
          <a:xfrm>
            <a:off x="4724401" y="2743200"/>
            <a:ext cx="7344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Helen</a:t>
            </a:r>
          </a:p>
        </p:txBody>
      </p:sp>
      <p:sp>
        <p:nvSpPr>
          <p:cNvPr id="211982" name="Text Box 14"/>
          <p:cNvSpPr txBox="1">
            <a:spLocks noChangeArrowheads="1"/>
          </p:cNvSpPr>
          <p:nvPr/>
        </p:nvSpPr>
        <p:spPr bwMode="auto">
          <a:xfrm>
            <a:off x="1905001" y="4171950"/>
            <a:ext cx="5825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Tom</a:t>
            </a:r>
          </a:p>
        </p:txBody>
      </p:sp>
      <p:sp>
        <p:nvSpPr>
          <p:cNvPr id="211983" name="Text Box 15"/>
          <p:cNvSpPr txBox="1">
            <a:spLocks noChangeArrowheads="1"/>
          </p:cNvSpPr>
          <p:nvPr/>
        </p:nvSpPr>
        <p:spPr bwMode="auto">
          <a:xfrm>
            <a:off x="4800600" y="4171950"/>
            <a:ext cx="583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Paul</a:t>
            </a:r>
          </a:p>
        </p:txBody>
      </p:sp>
      <p:sp>
        <p:nvSpPr>
          <p:cNvPr id="211984" name="Line 16"/>
          <p:cNvSpPr>
            <a:spLocks noChangeShapeType="1"/>
          </p:cNvSpPr>
          <p:nvPr/>
        </p:nvSpPr>
        <p:spPr bwMode="auto">
          <a:xfrm flipV="1">
            <a:off x="1981200" y="2914650"/>
            <a:ext cx="8382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85" name="Line 17"/>
          <p:cNvSpPr>
            <a:spLocks noChangeShapeType="1"/>
          </p:cNvSpPr>
          <p:nvPr/>
        </p:nvSpPr>
        <p:spPr bwMode="auto">
          <a:xfrm flipV="1">
            <a:off x="1905000" y="2914650"/>
            <a:ext cx="24384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86" name="Line 18"/>
          <p:cNvSpPr>
            <a:spLocks noChangeShapeType="1"/>
          </p:cNvSpPr>
          <p:nvPr/>
        </p:nvSpPr>
        <p:spPr bwMode="auto">
          <a:xfrm flipH="1" flipV="1">
            <a:off x="4495800" y="291465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87" name="Line 19"/>
          <p:cNvSpPr>
            <a:spLocks noChangeShapeType="1"/>
          </p:cNvSpPr>
          <p:nvPr/>
        </p:nvSpPr>
        <p:spPr bwMode="auto">
          <a:xfrm flipH="1" flipV="1">
            <a:off x="2971800" y="2914650"/>
            <a:ext cx="25146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88" name="Line 20"/>
          <p:cNvSpPr>
            <a:spLocks noChangeShapeType="1"/>
          </p:cNvSpPr>
          <p:nvPr/>
        </p:nvSpPr>
        <p:spPr bwMode="auto">
          <a:xfrm>
            <a:off x="1905000" y="3486150"/>
            <a:ext cx="9906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89" name="Line 21"/>
          <p:cNvSpPr>
            <a:spLocks noChangeShapeType="1"/>
          </p:cNvSpPr>
          <p:nvPr/>
        </p:nvSpPr>
        <p:spPr bwMode="auto">
          <a:xfrm>
            <a:off x="1905000" y="3486150"/>
            <a:ext cx="26670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0" name="Line 22"/>
          <p:cNvSpPr>
            <a:spLocks noChangeShapeType="1"/>
          </p:cNvSpPr>
          <p:nvPr/>
        </p:nvSpPr>
        <p:spPr bwMode="auto">
          <a:xfrm flipH="1">
            <a:off x="2971800" y="3429000"/>
            <a:ext cx="25146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1" name="Line 23"/>
          <p:cNvSpPr>
            <a:spLocks noChangeShapeType="1"/>
          </p:cNvSpPr>
          <p:nvPr/>
        </p:nvSpPr>
        <p:spPr bwMode="auto">
          <a:xfrm flipH="1">
            <a:off x="4724400" y="3429000"/>
            <a:ext cx="8382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2" name="Line 24"/>
          <p:cNvSpPr>
            <a:spLocks noChangeShapeType="1"/>
          </p:cNvSpPr>
          <p:nvPr/>
        </p:nvSpPr>
        <p:spPr bwMode="auto">
          <a:xfrm flipV="1">
            <a:off x="2895600" y="2971800"/>
            <a:ext cx="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3" name="Line 25"/>
          <p:cNvSpPr>
            <a:spLocks noChangeShapeType="1"/>
          </p:cNvSpPr>
          <p:nvPr/>
        </p:nvSpPr>
        <p:spPr bwMode="auto">
          <a:xfrm flipH="1" flipV="1">
            <a:off x="4495800" y="2971800"/>
            <a:ext cx="22860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4" name="Line 26"/>
          <p:cNvSpPr>
            <a:spLocks noChangeShapeType="1"/>
          </p:cNvSpPr>
          <p:nvPr/>
        </p:nvSpPr>
        <p:spPr bwMode="auto">
          <a:xfrm flipV="1">
            <a:off x="2971800" y="2971800"/>
            <a:ext cx="137160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1995" name="Line 27"/>
          <p:cNvSpPr>
            <a:spLocks noChangeShapeType="1"/>
          </p:cNvSpPr>
          <p:nvPr/>
        </p:nvSpPr>
        <p:spPr bwMode="auto">
          <a:xfrm flipH="1" flipV="1">
            <a:off x="2895600" y="2914650"/>
            <a:ext cx="1752600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429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Intuition Behind Graphs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085850"/>
            <a:ext cx="7772400" cy="3543300"/>
          </a:xfrm>
        </p:spPr>
        <p:txBody>
          <a:bodyPr>
            <a:normAutofit fontScale="85000" lnSpcReduction="10000"/>
          </a:bodyPr>
          <a:lstStyle/>
          <a:p>
            <a:r>
              <a:rPr lang="en-US" sz="2400"/>
              <a:t>The nodes represent entities (such as people, cities, computers, words, etc.)</a:t>
            </a:r>
          </a:p>
          <a:p>
            <a:r>
              <a:rPr lang="en-US" sz="2400"/>
              <a:t>Edges (x,y) represent relationships between entities x and y, such as:</a:t>
            </a:r>
          </a:p>
          <a:p>
            <a:pPr lvl="1"/>
            <a:r>
              <a:rPr lang="en-US" sz="2000"/>
              <a:t>“x loves y” </a:t>
            </a:r>
          </a:p>
          <a:p>
            <a:pPr lvl="1"/>
            <a:r>
              <a:rPr lang="en-US" sz="2000"/>
              <a:t>“x hates y”</a:t>
            </a:r>
          </a:p>
          <a:p>
            <a:pPr lvl="1"/>
            <a:r>
              <a:rPr lang="en-US" sz="2000"/>
              <a:t>“x is a friend of y” (note that this not necessarily reciprocal)</a:t>
            </a:r>
          </a:p>
          <a:p>
            <a:pPr lvl="1"/>
            <a:r>
              <a:rPr lang="en-US" sz="2000"/>
              <a:t>“x considers y a friend”</a:t>
            </a:r>
          </a:p>
          <a:p>
            <a:pPr lvl="1"/>
            <a:r>
              <a:rPr lang="en-US" sz="2000"/>
              <a:t>“x is a child of y”</a:t>
            </a:r>
          </a:p>
          <a:p>
            <a:pPr lvl="1"/>
            <a:r>
              <a:rPr lang="en-US" sz="2000"/>
              <a:t>“x is a half-sibling of y”</a:t>
            </a:r>
          </a:p>
          <a:p>
            <a:pPr lvl="1"/>
            <a:r>
              <a:rPr lang="en-US" sz="2000"/>
              <a:t>“x is a full-sibling of y”</a:t>
            </a:r>
          </a:p>
          <a:p>
            <a:r>
              <a:rPr lang="en-US" sz="2400"/>
              <a:t>In those examples, each relationship is a different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103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52BAB-EAAD-47E5-A701-A07E82A4CE20}" type="slidenum">
              <a:rPr lang="en-US"/>
              <a:pPr/>
              <a:t>6</a:t>
            </a:fld>
            <a:endParaRPr lang="en-US"/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Graph Representation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For graphs to be computationally useful, they have to be conveniently represented in programs</a:t>
            </a:r>
          </a:p>
          <a:p>
            <a:r>
              <a:rPr lang="en-US"/>
              <a:t>There are two computer representations of graphs:</a:t>
            </a:r>
          </a:p>
          <a:p>
            <a:pPr lvl="1"/>
            <a:r>
              <a:rPr lang="en-US"/>
              <a:t>Adjacency matrix representation</a:t>
            </a:r>
          </a:p>
          <a:p>
            <a:pPr lvl="1"/>
            <a:r>
              <a:rPr lang="en-US"/>
              <a:t>Adjacency lists representation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Adjacency Matrix Representation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representation, each graph of n nodes is represented by an n x n matrix A, that is, a two-dimensional array A</a:t>
            </a:r>
          </a:p>
          <a:p>
            <a:r>
              <a:rPr lang="en-US"/>
              <a:t>The nodes are (re)-labeled 1,2,…,n</a:t>
            </a:r>
          </a:p>
          <a:p>
            <a:r>
              <a:rPr lang="en-US"/>
              <a:t>A[i][j] = 1 if (i,j) is an edge</a:t>
            </a:r>
          </a:p>
          <a:p>
            <a:r>
              <a:rPr lang="en-US"/>
              <a:t>A[i][j] = 0 if (i,j) is not an 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Example of Adjacency Matrix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222212" name="Oval 4"/>
          <p:cNvSpPr>
            <a:spLocks noChangeArrowheads="1"/>
          </p:cNvSpPr>
          <p:nvPr/>
        </p:nvSpPr>
        <p:spPr bwMode="auto">
          <a:xfrm>
            <a:off x="5105400" y="17716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2213" name="Oval 5"/>
          <p:cNvSpPr>
            <a:spLocks noChangeArrowheads="1"/>
          </p:cNvSpPr>
          <p:nvPr/>
        </p:nvSpPr>
        <p:spPr bwMode="auto">
          <a:xfrm>
            <a:off x="5410200" y="28003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2214" name="Oval 6"/>
          <p:cNvSpPr>
            <a:spLocks noChangeArrowheads="1"/>
          </p:cNvSpPr>
          <p:nvPr/>
        </p:nvSpPr>
        <p:spPr bwMode="auto">
          <a:xfrm>
            <a:off x="6781800" y="30289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2215" name="Oval 7"/>
          <p:cNvSpPr>
            <a:spLocks noChangeArrowheads="1"/>
          </p:cNvSpPr>
          <p:nvPr/>
        </p:nvSpPr>
        <p:spPr bwMode="auto">
          <a:xfrm>
            <a:off x="7848600" y="24003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2216" name="Oval 8"/>
          <p:cNvSpPr>
            <a:spLocks noChangeArrowheads="1"/>
          </p:cNvSpPr>
          <p:nvPr/>
        </p:nvSpPr>
        <p:spPr bwMode="auto">
          <a:xfrm>
            <a:off x="6781800" y="1714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2217" name="Text Box 9"/>
          <p:cNvSpPr txBox="1">
            <a:spLocks noChangeArrowheads="1"/>
          </p:cNvSpPr>
          <p:nvPr/>
        </p:nvSpPr>
        <p:spPr bwMode="auto">
          <a:xfrm>
            <a:off x="4876800" y="16573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0</a:t>
            </a:r>
          </a:p>
        </p:txBody>
      </p:sp>
      <p:sp>
        <p:nvSpPr>
          <p:cNvPr id="222218" name="Text Box 10"/>
          <p:cNvSpPr txBox="1">
            <a:spLocks noChangeArrowheads="1"/>
          </p:cNvSpPr>
          <p:nvPr/>
        </p:nvSpPr>
        <p:spPr bwMode="auto">
          <a:xfrm>
            <a:off x="6477000" y="14859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1</a:t>
            </a:r>
          </a:p>
        </p:txBody>
      </p:sp>
      <p:sp>
        <p:nvSpPr>
          <p:cNvPr id="222219" name="Text Box 11"/>
          <p:cNvSpPr txBox="1">
            <a:spLocks noChangeArrowheads="1"/>
          </p:cNvSpPr>
          <p:nvPr/>
        </p:nvSpPr>
        <p:spPr bwMode="auto">
          <a:xfrm>
            <a:off x="5105400" y="25717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4</a:t>
            </a:r>
          </a:p>
        </p:txBody>
      </p:sp>
      <p:sp>
        <p:nvSpPr>
          <p:cNvPr id="222220" name="Text Box 12"/>
          <p:cNvSpPr txBox="1">
            <a:spLocks noChangeArrowheads="1"/>
          </p:cNvSpPr>
          <p:nvPr/>
        </p:nvSpPr>
        <p:spPr bwMode="auto">
          <a:xfrm>
            <a:off x="8229600" y="22288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2</a:t>
            </a:r>
          </a:p>
        </p:txBody>
      </p:sp>
      <p:sp>
        <p:nvSpPr>
          <p:cNvPr id="222221" name="Text Box 13"/>
          <p:cNvSpPr txBox="1">
            <a:spLocks noChangeArrowheads="1"/>
          </p:cNvSpPr>
          <p:nvPr/>
        </p:nvSpPr>
        <p:spPr bwMode="auto">
          <a:xfrm>
            <a:off x="7086600" y="29146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3</a:t>
            </a:r>
          </a:p>
        </p:txBody>
      </p:sp>
      <p:sp>
        <p:nvSpPr>
          <p:cNvPr id="222222" name="Line 14"/>
          <p:cNvSpPr>
            <a:spLocks noChangeShapeType="1"/>
          </p:cNvSpPr>
          <p:nvPr/>
        </p:nvSpPr>
        <p:spPr bwMode="auto">
          <a:xfrm flipV="1">
            <a:off x="5257800" y="1771650"/>
            <a:ext cx="152400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2223" name="Line 15"/>
          <p:cNvSpPr>
            <a:spLocks noChangeShapeType="1"/>
          </p:cNvSpPr>
          <p:nvPr/>
        </p:nvSpPr>
        <p:spPr bwMode="auto">
          <a:xfrm>
            <a:off x="6934200" y="1771650"/>
            <a:ext cx="990600" cy="62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2224" name="Line 16"/>
          <p:cNvSpPr>
            <a:spLocks noChangeShapeType="1"/>
          </p:cNvSpPr>
          <p:nvPr/>
        </p:nvSpPr>
        <p:spPr bwMode="auto">
          <a:xfrm>
            <a:off x="5257800" y="1828800"/>
            <a:ext cx="1676400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2225" name="Freeform 17"/>
          <p:cNvSpPr>
            <a:spLocks/>
          </p:cNvSpPr>
          <p:nvPr/>
        </p:nvSpPr>
        <p:spPr bwMode="auto">
          <a:xfrm>
            <a:off x="7683500" y="2457450"/>
            <a:ext cx="812800" cy="257175"/>
          </a:xfrm>
          <a:custGeom>
            <a:avLst/>
            <a:gdLst/>
            <a:ahLst/>
            <a:cxnLst>
              <a:cxn ang="0">
                <a:pos x="200" y="0"/>
              </a:cxn>
              <a:cxn ang="0">
                <a:pos x="488" y="144"/>
              </a:cxn>
              <a:cxn ang="0">
                <a:pos x="56" y="192"/>
              </a:cxn>
              <a:cxn ang="0">
                <a:pos x="152" y="0"/>
              </a:cxn>
            </a:cxnLst>
            <a:rect l="0" t="0" r="r" b="b"/>
            <a:pathLst>
              <a:path w="512" h="216">
                <a:moveTo>
                  <a:pt x="200" y="0"/>
                </a:moveTo>
                <a:cubicBezTo>
                  <a:pt x="356" y="56"/>
                  <a:pt x="512" y="112"/>
                  <a:pt x="488" y="144"/>
                </a:cubicBezTo>
                <a:cubicBezTo>
                  <a:pt x="464" y="176"/>
                  <a:pt x="112" y="216"/>
                  <a:pt x="56" y="192"/>
                </a:cubicBezTo>
                <a:cubicBezTo>
                  <a:pt x="0" y="168"/>
                  <a:pt x="136" y="32"/>
                  <a:pt x="15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2226" name="Freeform 18"/>
          <p:cNvSpPr>
            <a:spLocks/>
          </p:cNvSpPr>
          <p:nvPr/>
        </p:nvSpPr>
        <p:spPr bwMode="auto">
          <a:xfrm>
            <a:off x="5067300" y="1885950"/>
            <a:ext cx="1714500" cy="1200150"/>
          </a:xfrm>
          <a:custGeom>
            <a:avLst/>
            <a:gdLst/>
            <a:ahLst/>
            <a:cxnLst>
              <a:cxn ang="0">
                <a:pos x="1080" y="1008"/>
              </a:cxn>
              <a:cxn ang="0">
                <a:pos x="168" y="480"/>
              </a:cxn>
              <a:cxn ang="0">
                <a:pos x="72" y="0"/>
              </a:cxn>
            </a:cxnLst>
            <a:rect l="0" t="0" r="r" b="b"/>
            <a:pathLst>
              <a:path w="1080" h="1008">
                <a:moveTo>
                  <a:pt x="1080" y="1008"/>
                </a:moveTo>
                <a:cubicBezTo>
                  <a:pt x="708" y="828"/>
                  <a:pt x="336" y="648"/>
                  <a:pt x="168" y="480"/>
                </a:cubicBezTo>
                <a:cubicBezTo>
                  <a:pt x="0" y="312"/>
                  <a:pt x="88" y="80"/>
                  <a:pt x="72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2227" name="Line 19"/>
          <p:cNvSpPr>
            <a:spLocks noChangeShapeType="1"/>
          </p:cNvSpPr>
          <p:nvPr/>
        </p:nvSpPr>
        <p:spPr bwMode="auto">
          <a:xfrm>
            <a:off x="5562600" y="2857500"/>
            <a:ext cx="12954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1028700" y="1714500"/>
            <a:ext cx="2247900" cy="1534716"/>
            <a:chOff x="648" y="1440"/>
            <a:chExt cx="1416" cy="1289"/>
          </a:xfrm>
        </p:grpSpPr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1056" y="1440"/>
              <a:ext cx="1008" cy="1289"/>
              <a:chOff x="1296" y="1632"/>
              <a:chExt cx="1008" cy="1289"/>
            </a:xfrm>
          </p:grpSpPr>
          <p:sp>
            <p:nvSpPr>
              <p:cNvPr id="222233" name="Text Box 25"/>
              <p:cNvSpPr txBox="1">
                <a:spLocks noChangeArrowheads="1"/>
              </p:cNvSpPr>
              <p:nvPr/>
            </p:nvSpPr>
            <p:spPr bwMode="auto">
              <a:xfrm>
                <a:off x="1320" y="1680"/>
                <a:ext cx="751" cy="1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457200" indent="-457200"/>
                <a:r>
                  <a:rPr lang="en-US"/>
                  <a:t>0  1  0  1  0</a:t>
                </a:r>
              </a:p>
              <a:p>
                <a:pPr marL="457200" indent="-457200"/>
                <a:r>
                  <a:rPr lang="en-US"/>
                  <a:t>0  0  1  0  0</a:t>
                </a:r>
              </a:p>
              <a:p>
                <a:pPr marL="457200" indent="-457200"/>
                <a:r>
                  <a:rPr lang="en-US"/>
                  <a:t>0  0  1  0  0</a:t>
                </a:r>
              </a:p>
              <a:p>
                <a:pPr marL="457200" indent="-457200"/>
                <a:r>
                  <a:rPr lang="en-US"/>
                  <a:t>1  0  0  0  0</a:t>
                </a:r>
              </a:p>
              <a:p>
                <a:pPr marL="457200" indent="-457200"/>
                <a:r>
                  <a:rPr lang="en-US"/>
                  <a:t>0  0  0  4  0</a:t>
                </a:r>
              </a:p>
            </p:txBody>
          </p:sp>
          <p:sp>
            <p:nvSpPr>
              <p:cNvPr id="222234" name="Line 26"/>
              <p:cNvSpPr>
                <a:spLocks noChangeShapeType="1"/>
              </p:cNvSpPr>
              <p:nvPr/>
            </p:nvSpPr>
            <p:spPr bwMode="auto">
              <a:xfrm flipH="1">
                <a:off x="1296" y="1632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22235" name="Line 27"/>
              <p:cNvSpPr>
                <a:spLocks noChangeShapeType="1"/>
              </p:cNvSpPr>
              <p:nvPr/>
            </p:nvSpPr>
            <p:spPr bwMode="auto">
              <a:xfrm>
                <a:off x="1296" y="1632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22236" name="Line 28"/>
              <p:cNvSpPr>
                <a:spLocks noChangeShapeType="1"/>
              </p:cNvSpPr>
              <p:nvPr/>
            </p:nvSpPr>
            <p:spPr bwMode="auto">
              <a:xfrm>
                <a:off x="1296" y="288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22237" name="Line 29"/>
              <p:cNvSpPr>
                <a:spLocks noChangeShapeType="1"/>
              </p:cNvSpPr>
              <p:nvPr/>
            </p:nvSpPr>
            <p:spPr bwMode="auto">
              <a:xfrm>
                <a:off x="2208" y="163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22238" name="Line 30"/>
              <p:cNvSpPr>
                <a:spLocks noChangeShapeType="1"/>
              </p:cNvSpPr>
              <p:nvPr/>
            </p:nvSpPr>
            <p:spPr bwMode="auto">
              <a:xfrm>
                <a:off x="2304" y="1632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22239" name="Line 31"/>
              <p:cNvSpPr>
                <a:spLocks noChangeShapeType="1"/>
              </p:cNvSpPr>
              <p:nvPr/>
            </p:nvSpPr>
            <p:spPr bwMode="auto">
              <a:xfrm flipH="1" flipV="1">
                <a:off x="2160" y="288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22241" name="Text Box 33"/>
            <p:cNvSpPr txBox="1">
              <a:spLocks noChangeArrowheads="1"/>
            </p:cNvSpPr>
            <p:nvPr/>
          </p:nvSpPr>
          <p:spPr bwMode="auto">
            <a:xfrm>
              <a:off x="648" y="1824"/>
              <a:ext cx="30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 =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Another Example of Adj. Matrix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7300"/>
            <a:ext cx="7772400" cy="3086100"/>
          </a:xfrm>
        </p:spPr>
        <p:txBody>
          <a:bodyPr/>
          <a:lstStyle/>
          <a:p>
            <a:r>
              <a:rPr lang="en-US"/>
              <a:t>Re-label the nodes with </a:t>
            </a:r>
            <a:r>
              <a:rPr lang="en-US">
                <a:solidFill>
                  <a:srgbClr val="CC0000"/>
                </a:solidFill>
              </a:rPr>
              <a:t>numerical labels</a:t>
            </a:r>
          </a:p>
        </p:txBody>
      </p:sp>
      <p:sp>
        <p:nvSpPr>
          <p:cNvPr id="224260" name="Oval 4"/>
          <p:cNvSpPr>
            <a:spLocks noChangeArrowheads="1"/>
          </p:cNvSpPr>
          <p:nvPr/>
        </p:nvSpPr>
        <p:spPr bwMode="auto">
          <a:xfrm>
            <a:off x="3886200" y="24574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1" name="Oval 5"/>
          <p:cNvSpPr>
            <a:spLocks noChangeArrowheads="1"/>
          </p:cNvSpPr>
          <p:nvPr/>
        </p:nvSpPr>
        <p:spPr bwMode="auto">
          <a:xfrm>
            <a:off x="4876800" y="18859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2" name="Oval 6"/>
          <p:cNvSpPr>
            <a:spLocks noChangeArrowheads="1"/>
          </p:cNvSpPr>
          <p:nvPr/>
        </p:nvSpPr>
        <p:spPr bwMode="auto">
          <a:xfrm>
            <a:off x="4953000" y="32004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3" name="Oval 7"/>
          <p:cNvSpPr>
            <a:spLocks noChangeArrowheads="1"/>
          </p:cNvSpPr>
          <p:nvPr/>
        </p:nvSpPr>
        <p:spPr bwMode="auto">
          <a:xfrm>
            <a:off x="6705600" y="32004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4" name="Oval 8"/>
          <p:cNvSpPr>
            <a:spLocks noChangeArrowheads="1"/>
          </p:cNvSpPr>
          <p:nvPr/>
        </p:nvSpPr>
        <p:spPr bwMode="auto">
          <a:xfrm>
            <a:off x="7543800" y="24003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5" name="Oval 9"/>
          <p:cNvSpPr>
            <a:spLocks noChangeArrowheads="1"/>
          </p:cNvSpPr>
          <p:nvPr/>
        </p:nvSpPr>
        <p:spPr bwMode="auto">
          <a:xfrm>
            <a:off x="6477000" y="18859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66" name="Text Box 10"/>
          <p:cNvSpPr txBox="1">
            <a:spLocks noChangeArrowheads="1"/>
          </p:cNvSpPr>
          <p:nvPr/>
        </p:nvSpPr>
        <p:spPr bwMode="auto">
          <a:xfrm>
            <a:off x="3200401" y="2571750"/>
            <a:ext cx="7938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John </a:t>
            </a:r>
            <a:r>
              <a:rPr lang="en-US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224267" name="Text Box 11"/>
          <p:cNvSpPr txBox="1">
            <a:spLocks noChangeArrowheads="1"/>
          </p:cNvSpPr>
          <p:nvPr/>
        </p:nvSpPr>
        <p:spPr bwMode="auto">
          <a:xfrm>
            <a:off x="7696200" y="2286000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Joe </a:t>
            </a:r>
            <a:r>
              <a:rPr lang="en-US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224268" name="Text Box 12"/>
          <p:cNvSpPr txBox="1">
            <a:spLocks noChangeArrowheads="1"/>
          </p:cNvSpPr>
          <p:nvPr/>
        </p:nvSpPr>
        <p:spPr bwMode="auto">
          <a:xfrm>
            <a:off x="3848100" y="1771650"/>
            <a:ext cx="847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Mary </a:t>
            </a:r>
            <a:r>
              <a:rPr lang="en-US">
                <a:solidFill>
                  <a:srgbClr val="CC0000"/>
                </a:solidFill>
              </a:rPr>
              <a:t>0</a:t>
            </a:r>
          </a:p>
        </p:txBody>
      </p:sp>
      <p:sp>
        <p:nvSpPr>
          <p:cNvPr id="224269" name="Text Box 13"/>
          <p:cNvSpPr txBox="1">
            <a:spLocks noChangeArrowheads="1"/>
          </p:cNvSpPr>
          <p:nvPr/>
        </p:nvSpPr>
        <p:spPr bwMode="auto">
          <a:xfrm>
            <a:off x="6743701" y="1771650"/>
            <a:ext cx="9044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Helen </a:t>
            </a:r>
            <a:r>
              <a:rPr lang="en-US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224270" name="Text Box 14"/>
          <p:cNvSpPr txBox="1">
            <a:spLocks noChangeArrowheads="1"/>
          </p:cNvSpPr>
          <p:nvPr/>
        </p:nvSpPr>
        <p:spPr bwMode="auto">
          <a:xfrm>
            <a:off x="3924301" y="3200400"/>
            <a:ext cx="752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Tom </a:t>
            </a:r>
            <a:r>
              <a:rPr lang="en-US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6819900" y="3200400"/>
            <a:ext cx="7536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Paul </a:t>
            </a:r>
            <a:r>
              <a:rPr lang="en-US">
                <a:solidFill>
                  <a:srgbClr val="CC0000"/>
                </a:solidFill>
              </a:rPr>
              <a:t>5</a:t>
            </a:r>
          </a:p>
        </p:txBody>
      </p:sp>
      <p:sp>
        <p:nvSpPr>
          <p:cNvPr id="224272" name="Line 16"/>
          <p:cNvSpPr>
            <a:spLocks noChangeShapeType="1"/>
          </p:cNvSpPr>
          <p:nvPr/>
        </p:nvSpPr>
        <p:spPr bwMode="auto">
          <a:xfrm flipV="1">
            <a:off x="4114800" y="1943100"/>
            <a:ext cx="8382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3" name="Line 17"/>
          <p:cNvSpPr>
            <a:spLocks noChangeShapeType="1"/>
          </p:cNvSpPr>
          <p:nvPr/>
        </p:nvSpPr>
        <p:spPr bwMode="auto">
          <a:xfrm flipV="1">
            <a:off x="4038600" y="1943100"/>
            <a:ext cx="24384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4" name="Line 18"/>
          <p:cNvSpPr>
            <a:spLocks noChangeShapeType="1"/>
          </p:cNvSpPr>
          <p:nvPr/>
        </p:nvSpPr>
        <p:spPr bwMode="auto">
          <a:xfrm flipH="1" flipV="1">
            <a:off x="6629400" y="19431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5" name="Line 19"/>
          <p:cNvSpPr>
            <a:spLocks noChangeShapeType="1"/>
          </p:cNvSpPr>
          <p:nvPr/>
        </p:nvSpPr>
        <p:spPr bwMode="auto">
          <a:xfrm flipH="1" flipV="1">
            <a:off x="5105400" y="1943100"/>
            <a:ext cx="25146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6" name="Line 20"/>
          <p:cNvSpPr>
            <a:spLocks noChangeShapeType="1"/>
          </p:cNvSpPr>
          <p:nvPr/>
        </p:nvSpPr>
        <p:spPr bwMode="auto">
          <a:xfrm>
            <a:off x="4038600" y="2514600"/>
            <a:ext cx="9906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7" name="Line 21"/>
          <p:cNvSpPr>
            <a:spLocks noChangeShapeType="1"/>
          </p:cNvSpPr>
          <p:nvPr/>
        </p:nvSpPr>
        <p:spPr bwMode="auto">
          <a:xfrm>
            <a:off x="4038600" y="2514600"/>
            <a:ext cx="26670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8" name="Line 22"/>
          <p:cNvSpPr>
            <a:spLocks noChangeShapeType="1"/>
          </p:cNvSpPr>
          <p:nvPr/>
        </p:nvSpPr>
        <p:spPr bwMode="auto">
          <a:xfrm flipH="1">
            <a:off x="5105400" y="2457450"/>
            <a:ext cx="2514600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79" name="Line 23"/>
          <p:cNvSpPr>
            <a:spLocks noChangeShapeType="1"/>
          </p:cNvSpPr>
          <p:nvPr/>
        </p:nvSpPr>
        <p:spPr bwMode="auto">
          <a:xfrm flipH="1">
            <a:off x="6858000" y="2457450"/>
            <a:ext cx="838200" cy="742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80" name="Line 24"/>
          <p:cNvSpPr>
            <a:spLocks noChangeShapeType="1"/>
          </p:cNvSpPr>
          <p:nvPr/>
        </p:nvSpPr>
        <p:spPr bwMode="auto">
          <a:xfrm flipV="1">
            <a:off x="5029200" y="2000250"/>
            <a:ext cx="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81" name="Line 25"/>
          <p:cNvSpPr>
            <a:spLocks noChangeShapeType="1"/>
          </p:cNvSpPr>
          <p:nvPr/>
        </p:nvSpPr>
        <p:spPr bwMode="auto">
          <a:xfrm flipH="1" flipV="1">
            <a:off x="6629400" y="2000250"/>
            <a:ext cx="22860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82" name="Line 26"/>
          <p:cNvSpPr>
            <a:spLocks noChangeShapeType="1"/>
          </p:cNvSpPr>
          <p:nvPr/>
        </p:nvSpPr>
        <p:spPr bwMode="auto">
          <a:xfrm flipV="1">
            <a:off x="5105400" y="2000250"/>
            <a:ext cx="137160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83" name="Line 27"/>
          <p:cNvSpPr>
            <a:spLocks noChangeShapeType="1"/>
          </p:cNvSpPr>
          <p:nvPr/>
        </p:nvSpPr>
        <p:spPr bwMode="auto">
          <a:xfrm flipH="1" flipV="1">
            <a:off x="5029200" y="1943100"/>
            <a:ext cx="1752600" cy="1257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4286" name="Text Box 30"/>
          <p:cNvSpPr txBox="1">
            <a:spLocks noChangeArrowheads="1"/>
          </p:cNvSpPr>
          <p:nvPr/>
        </p:nvSpPr>
        <p:spPr bwMode="auto">
          <a:xfrm>
            <a:off x="1219200" y="1885950"/>
            <a:ext cx="152157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/>
              <a:t>0  0  0  0  0  0</a:t>
            </a:r>
          </a:p>
          <a:p>
            <a:pPr marL="457200" indent="-457200"/>
            <a:r>
              <a:rPr lang="en-US"/>
              <a:t>0  0  0  0  0  0</a:t>
            </a:r>
          </a:p>
          <a:p>
            <a:pPr marL="457200" indent="-457200"/>
            <a:r>
              <a:rPr lang="en-US"/>
              <a:t>1  1  0  0  1  1</a:t>
            </a:r>
          </a:p>
          <a:p>
            <a:pPr marL="457200" indent="-457200"/>
            <a:r>
              <a:rPr lang="en-US"/>
              <a:t>1  1  0  0  1  1</a:t>
            </a:r>
          </a:p>
          <a:p>
            <a:pPr marL="457200" indent="-457200"/>
            <a:r>
              <a:rPr lang="en-US"/>
              <a:t> 1  1  0  0  0  0 </a:t>
            </a:r>
          </a:p>
          <a:p>
            <a:pPr marL="457200" indent="-457200"/>
            <a:r>
              <a:rPr lang="en-US"/>
              <a:t>1  1  0  0  0  0</a:t>
            </a:r>
          </a:p>
        </p:txBody>
      </p:sp>
      <p:sp>
        <p:nvSpPr>
          <p:cNvPr id="224287" name="Line 31"/>
          <p:cNvSpPr>
            <a:spLocks noChangeShapeType="1"/>
          </p:cNvSpPr>
          <p:nvPr/>
        </p:nvSpPr>
        <p:spPr bwMode="auto">
          <a:xfrm flipH="1">
            <a:off x="1257300" y="18288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88" name="Line 32"/>
          <p:cNvSpPr>
            <a:spLocks noChangeShapeType="1"/>
          </p:cNvSpPr>
          <p:nvPr/>
        </p:nvSpPr>
        <p:spPr bwMode="auto">
          <a:xfrm flipH="1">
            <a:off x="1219200" y="1828800"/>
            <a:ext cx="3810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89" name="Line 33"/>
          <p:cNvSpPr>
            <a:spLocks noChangeShapeType="1"/>
          </p:cNvSpPr>
          <p:nvPr/>
        </p:nvSpPr>
        <p:spPr bwMode="auto">
          <a:xfrm>
            <a:off x="1219200" y="35433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90" name="Line 34"/>
          <p:cNvSpPr>
            <a:spLocks noChangeShapeType="1"/>
          </p:cNvSpPr>
          <p:nvPr/>
        </p:nvSpPr>
        <p:spPr bwMode="auto">
          <a:xfrm>
            <a:off x="3048000" y="1828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91" name="Line 35"/>
          <p:cNvSpPr>
            <a:spLocks noChangeShapeType="1"/>
          </p:cNvSpPr>
          <p:nvPr/>
        </p:nvSpPr>
        <p:spPr bwMode="auto">
          <a:xfrm>
            <a:off x="3200400" y="1828800"/>
            <a:ext cx="0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92" name="Line 36"/>
          <p:cNvSpPr>
            <a:spLocks noChangeShapeType="1"/>
          </p:cNvSpPr>
          <p:nvPr/>
        </p:nvSpPr>
        <p:spPr bwMode="auto">
          <a:xfrm flipH="1" flipV="1">
            <a:off x="2971800" y="35433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4293" name="Text Box 37"/>
          <p:cNvSpPr txBox="1">
            <a:spLocks noChangeArrowheads="1"/>
          </p:cNvSpPr>
          <p:nvPr/>
        </p:nvSpPr>
        <p:spPr bwMode="auto">
          <a:xfrm>
            <a:off x="609601" y="2286000"/>
            <a:ext cx="4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Pros and Cons of Adjacency Matrices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Pros:</a:t>
            </a:r>
          </a:p>
          <a:p>
            <a:pPr lvl="1"/>
            <a:r>
              <a:rPr lang="en-US"/>
              <a:t>Simple to implement</a:t>
            </a:r>
          </a:p>
          <a:p>
            <a:pPr lvl="1"/>
            <a:r>
              <a:rPr lang="en-US"/>
              <a:t>Easy and fast to tell if a pair (i,j) is an edge: simply check if A[i][j] is 1 or 0</a:t>
            </a:r>
          </a:p>
          <a:p>
            <a:r>
              <a:rPr lang="en-US"/>
              <a:t>Cons:</a:t>
            </a:r>
          </a:p>
          <a:p>
            <a:pPr lvl="1"/>
            <a:r>
              <a:rPr lang="en-US"/>
              <a:t>No matter how few edges the graph has, the matrix takes O(n</a:t>
            </a:r>
            <a:r>
              <a:rPr lang="en-US" baseline="30000"/>
              <a:t>2</a:t>
            </a:r>
            <a:r>
              <a:rPr lang="en-US"/>
              <a:t>) in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Adjacency Lists Representation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graph of n nodes is represented by a one-dimensional array L of linked lists, where</a:t>
            </a:r>
          </a:p>
          <a:p>
            <a:pPr lvl="1"/>
            <a:r>
              <a:rPr lang="en-US"/>
              <a:t>L[i] is the linked list containing all the nodes adjacent from node i. </a:t>
            </a:r>
          </a:p>
          <a:p>
            <a:pPr lvl="1"/>
            <a:r>
              <a:rPr lang="en-US"/>
              <a:t>The nodes in the list L[i] are in no particular order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1435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Example of Linked Representation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772400" cy="3429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/>
              <a:t>L[0]: empty</a:t>
            </a:r>
          </a:p>
          <a:p>
            <a:pPr>
              <a:buFontTx/>
              <a:buNone/>
            </a:pPr>
            <a:r>
              <a:rPr lang="en-US"/>
              <a:t>L[1]: empty</a:t>
            </a:r>
          </a:p>
          <a:p>
            <a:pPr>
              <a:buFontTx/>
              <a:buNone/>
            </a:pPr>
            <a:r>
              <a:rPr lang="en-US"/>
              <a:t>L[2]: 0, 1, 4, 5</a:t>
            </a:r>
          </a:p>
          <a:p>
            <a:pPr>
              <a:buFontTx/>
              <a:buNone/>
            </a:pPr>
            <a:r>
              <a:rPr lang="en-US"/>
              <a:t>L[3]: 0, 1, 4, 5</a:t>
            </a:r>
          </a:p>
          <a:p>
            <a:pPr>
              <a:buFontTx/>
              <a:buNone/>
            </a:pPr>
            <a:r>
              <a:rPr lang="en-US"/>
              <a:t>L[4]: 0, 1</a:t>
            </a:r>
          </a:p>
          <a:p>
            <a:pPr>
              <a:buFontTx/>
              <a:buNone/>
            </a:pPr>
            <a:r>
              <a:rPr lang="en-US"/>
              <a:t>L[5]: 0, 1</a:t>
            </a:r>
          </a:p>
        </p:txBody>
      </p:sp>
      <p:sp>
        <p:nvSpPr>
          <p:cNvPr id="227359" name="Oval 31"/>
          <p:cNvSpPr>
            <a:spLocks noChangeArrowheads="1"/>
          </p:cNvSpPr>
          <p:nvPr/>
        </p:nvSpPr>
        <p:spPr bwMode="auto">
          <a:xfrm>
            <a:off x="4813301" y="1856185"/>
            <a:ext cx="169863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0" name="Oval 32"/>
          <p:cNvSpPr>
            <a:spLocks noChangeArrowheads="1"/>
          </p:cNvSpPr>
          <p:nvPr/>
        </p:nvSpPr>
        <p:spPr bwMode="auto">
          <a:xfrm>
            <a:off x="5551488" y="1357312"/>
            <a:ext cx="171450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1" name="Oval 33"/>
          <p:cNvSpPr>
            <a:spLocks noChangeArrowheads="1"/>
          </p:cNvSpPr>
          <p:nvPr/>
        </p:nvSpPr>
        <p:spPr bwMode="auto">
          <a:xfrm>
            <a:off x="5608638" y="2505075"/>
            <a:ext cx="169862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2" name="Oval 34"/>
          <p:cNvSpPr>
            <a:spLocks noChangeArrowheads="1"/>
          </p:cNvSpPr>
          <p:nvPr/>
        </p:nvSpPr>
        <p:spPr bwMode="auto">
          <a:xfrm>
            <a:off x="6915151" y="2505075"/>
            <a:ext cx="169863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3" name="Oval 35"/>
          <p:cNvSpPr>
            <a:spLocks noChangeArrowheads="1"/>
          </p:cNvSpPr>
          <p:nvPr/>
        </p:nvSpPr>
        <p:spPr bwMode="auto">
          <a:xfrm>
            <a:off x="7540626" y="1806178"/>
            <a:ext cx="169863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4" name="Oval 36"/>
          <p:cNvSpPr>
            <a:spLocks noChangeArrowheads="1"/>
          </p:cNvSpPr>
          <p:nvPr/>
        </p:nvSpPr>
        <p:spPr bwMode="auto">
          <a:xfrm>
            <a:off x="6745288" y="1357312"/>
            <a:ext cx="169862" cy="10001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27365" name="Text Box 37"/>
          <p:cNvSpPr txBox="1">
            <a:spLocks noChangeArrowheads="1"/>
          </p:cNvSpPr>
          <p:nvPr/>
        </p:nvSpPr>
        <p:spPr bwMode="auto">
          <a:xfrm>
            <a:off x="4176713" y="1956197"/>
            <a:ext cx="7938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John </a:t>
            </a:r>
            <a:r>
              <a:rPr lang="en-US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227366" name="Text Box 38"/>
          <p:cNvSpPr txBox="1">
            <a:spLocks noChangeArrowheads="1"/>
          </p:cNvSpPr>
          <p:nvPr/>
        </p:nvSpPr>
        <p:spPr bwMode="auto">
          <a:xfrm>
            <a:off x="7653339" y="1706166"/>
            <a:ext cx="61118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Joe </a:t>
            </a:r>
            <a:r>
              <a:rPr lang="en-US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227367" name="Text Box 39"/>
          <p:cNvSpPr txBox="1">
            <a:spLocks noChangeArrowheads="1"/>
          </p:cNvSpPr>
          <p:nvPr/>
        </p:nvSpPr>
        <p:spPr bwMode="auto">
          <a:xfrm>
            <a:off x="4495800" y="1200150"/>
            <a:ext cx="847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Mary </a:t>
            </a:r>
            <a:r>
              <a:rPr lang="en-US">
                <a:solidFill>
                  <a:srgbClr val="CC0000"/>
                </a:solidFill>
              </a:rPr>
              <a:t>0</a:t>
            </a:r>
          </a:p>
        </p:txBody>
      </p:sp>
      <p:sp>
        <p:nvSpPr>
          <p:cNvPr id="227368" name="Text Box 40"/>
          <p:cNvSpPr txBox="1">
            <a:spLocks noChangeArrowheads="1"/>
          </p:cNvSpPr>
          <p:nvPr/>
        </p:nvSpPr>
        <p:spPr bwMode="auto">
          <a:xfrm>
            <a:off x="6934201" y="1143000"/>
            <a:ext cx="9044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Helen </a:t>
            </a:r>
            <a:r>
              <a:rPr lang="en-US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227369" name="Text Box 41"/>
          <p:cNvSpPr txBox="1">
            <a:spLocks noChangeArrowheads="1"/>
          </p:cNvSpPr>
          <p:nvPr/>
        </p:nvSpPr>
        <p:spPr bwMode="auto">
          <a:xfrm>
            <a:off x="4716464" y="2505075"/>
            <a:ext cx="752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Tom </a:t>
            </a:r>
            <a:r>
              <a:rPr lang="en-US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227370" name="Text Box 42"/>
          <p:cNvSpPr txBox="1">
            <a:spLocks noChangeArrowheads="1"/>
          </p:cNvSpPr>
          <p:nvPr/>
        </p:nvSpPr>
        <p:spPr bwMode="auto">
          <a:xfrm>
            <a:off x="6880225" y="2505075"/>
            <a:ext cx="954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Paul </a:t>
            </a:r>
            <a:r>
              <a:rPr lang="en-US">
                <a:solidFill>
                  <a:srgbClr val="CC0000"/>
                </a:solidFill>
              </a:rPr>
              <a:t>5</a:t>
            </a:r>
          </a:p>
        </p:txBody>
      </p:sp>
      <p:sp>
        <p:nvSpPr>
          <p:cNvPr id="227371" name="Line 43"/>
          <p:cNvSpPr>
            <a:spLocks noChangeShapeType="1"/>
          </p:cNvSpPr>
          <p:nvPr/>
        </p:nvSpPr>
        <p:spPr bwMode="auto">
          <a:xfrm flipV="1">
            <a:off x="4983164" y="1407319"/>
            <a:ext cx="625475" cy="4988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2" name="Line 44"/>
          <p:cNvSpPr>
            <a:spLocks noChangeShapeType="1"/>
          </p:cNvSpPr>
          <p:nvPr/>
        </p:nvSpPr>
        <p:spPr bwMode="auto">
          <a:xfrm flipV="1">
            <a:off x="4927600" y="1407319"/>
            <a:ext cx="1817688" cy="4988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3" name="Line 45"/>
          <p:cNvSpPr>
            <a:spLocks noChangeShapeType="1"/>
          </p:cNvSpPr>
          <p:nvPr/>
        </p:nvSpPr>
        <p:spPr bwMode="auto">
          <a:xfrm flipH="1" flipV="1">
            <a:off x="6858001" y="1407319"/>
            <a:ext cx="739775" cy="398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4" name="Line 46"/>
          <p:cNvSpPr>
            <a:spLocks noChangeShapeType="1"/>
          </p:cNvSpPr>
          <p:nvPr/>
        </p:nvSpPr>
        <p:spPr bwMode="auto">
          <a:xfrm flipH="1" flipV="1">
            <a:off x="5722939" y="1407319"/>
            <a:ext cx="1874837" cy="448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5" name="Line 47"/>
          <p:cNvSpPr>
            <a:spLocks noChangeShapeType="1"/>
          </p:cNvSpPr>
          <p:nvPr/>
        </p:nvSpPr>
        <p:spPr bwMode="auto">
          <a:xfrm>
            <a:off x="4927600" y="1906192"/>
            <a:ext cx="738188" cy="648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6" name="Line 48"/>
          <p:cNvSpPr>
            <a:spLocks noChangeShapeType="1"/>
          </p:cNvSpPr>
          <p:nvPr/>
        </p:nvSpPr>
        <p:spPr bwMode="auto">
          <a:xfrm>
            <a:off x="4927600" y="1906192"/>
            <a:ext cx="1987550" cy="648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7" name="Line 49"/>
          <p:cNvSpPr>
            <a:spLocks noChangeShapeType="1"/>
          </p:cNvSpPr>
          <p:nvPr/>
        </p:nvSpPr>
        <p:spPr bwMode="auto">
          <a:xfrm flipH="1">
            <a:off x="5722939" y="1856185"/>
            <a:ext cx="1874837" cy="6988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8" name="Line 50"/>
          <p:cNvSpPr>
            <a:spLocks noChangeShapeType="1"/>
          </p:cNvSpPr>
          <p:nvPr/>
        </p:nvSpPr>
        <p:spPr bwMode="auto">
          <a:xfrm flipH="1">
            <a:off x="7029450" y="1856185"/>
            <a:ext cx="623888" cy="6488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79" name="Line 51"/>
          <p:cNvSpPr>
            <a:spLocks noChangeShapeType="1"/>
          </p:cNvSpPr>
          <p:nvPr/>
        </p:nvSpPr>
        <p:spPr bwMode="auto">
          <a:xfrm flipV="1">
            <a:off x="5665788" y="1457325"/>
            <a:ext cx="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80" name="Line 52"/>
          <p:cNvSpPr>
            <a:spLocks noChangeShapeType="1"/>
          </p:cNvSpPr>
          <p:nvPr/>
        </p:nvSpPr>
        <p:spPr bwMode="auto">
          <a:xfrm flipH="1" flipV="1">
            <a:off x="6858000" y="1457325"/>
            <a:ext cx="17145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81" name="Line 53"/>
          <p:cNvSpPr>
            <a:spLocks noChangeShapeType="1"/>
          </p:cNvSpPr>
          <p:nvPr/>
        </p:nvSpPr>
        <p:spPr bwMode="auto">
          <a:xfrm flipV="1">
            <a:off x="5722938" y="1457325"/>
            <a:ext cx="1022350" cy="1047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7382" name="Line 54"/>
          <p:cNvSpPr>
            <a:spLocks noChangeShapeType="1"/>
          </p:cNvSpPr>
          <p:nvPr/>
        </p:nvSpPr>
        <p:spPr bwMode="auto">
          <a:xfrm flipH="1" flipV="1">
            <a:off x="5665788" y="1407319"/>
            <a:ext cx="1306512" cy="1097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/>
              <a:t>Pros and Cons of Adjacency Lists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/>
              <a:t>Pros:</a:t>
            </a:r>
          </a:p>
          <a:p>
            <a:pPr lvl="1">
              <a:lnSpc>
                <a:spcPct val="90000"/>
              </a:lnSpc>
            </a:pPr>
            <a:r>
              <a:rPr lang="en-US"/>
              <a:t>Saves on space (memory): the representation takes as many memory words as there are nodes and edge.</a:t>
            </a:r>
          </a:p>
          <a:p>
            <a:pPr>
              <a:lnSpc>
                <a:spcPct val="90000"/>
              </a:lnSpc>
            </a:pPr>
            <a:r>
              <a:rPr lang="en-US"/>
              <a:t>Cons:</a:t>
            </a:r>
          </a:p>
          <a:p>
            <a:pPr lvl="1">
              <a:lnSpc>
                <a:spcPct val="90000"/>
              </a:lnSpc>
            </a:pPr>
            <a:r>
              <a:rPr lang="en-US"/>
              <a:t>It can take up to O(n) time to determine if a pair of nodes (i,j) is an edge: one would have to search the linked list L[i], which takes time proportional to the length of L[i].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The Graph Class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71550"/>
            <a:ext cx="7772400" cy="3600450"/>
          </a:xfrm>
        </p:spPr>
        <p:txBody>
          <a:bodyPr/>
          <a:lstStyle/>
          <a:p>
            <a:endParaRPr lang="en-US"/>
          </a:p>
        </p:txBody>
      </p:sp>
      <p:sp>
        <p:nvSpPr>
          <p:cNvPr id="229380" name="Rectangle 4"/>
          <p:cNvSpPr>
            <a:spLocks noChangeArrowheads="1"/>
          </p:cNvSpPr>
          <p:nvPr/>
        </p:nvSpPr>
        <p:spPr bwMode="auto">
          <a:xfrm>
            <a:off x="685800" y="800100"/>
            <a:ext cx="7924800" cy="3829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class Graph {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public: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typedef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datatype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typedef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datatype</a:t>
            </a:r>
            <a:r>
              <a:rPr lang="en-US" dirty="0">
                <a:solidFill>
                  <a:schemeClr val="bg1"/>
                </a:solidFill>
              </a:rPr>
              <a:t> * </a:t>
            </a:r>
            <a:r>
              <a:rPr lang="en-US" dirty="0" err="1">
                <a:solidFill>
                  <a:schemeClr val="bg1"/>
                </a:solidFill>
              </a:rPr>
              <a:t>datatypeptr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Graph(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n=0); // creates a graph of n nodes and no edges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bool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isEdge</a:t>
            </a:r>
            <a:r>
              <a:rPr lang="en-US" dirty="0">
                <a:solidFill>
                  <a:schemeClr val="bg1"/>
                </a:solidFill>
              </a:rPr>
              <a:t>(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j); 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void </a:t>
            </a:r>
            <a:r>
              <a:rPr lang="en-US" dirty="0" err="1">
                <a:solidFill>
                  <a:schemeClr val="bg1"/>
                </a:solidFill>
              </a:rPr>
              <a:t>setEdge</a:t>
            </a:r>
            <a:r>
              <a:rPr lang="en-US" dirty="0">
                <a:solidFill>
                  <a:schemeClr val="bg1"/>
                </a:solidFill>
              </a:rPr>
              <a:t>(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j, </a:t>
            </a:r>
            <a:r>
              <a:rPr lang="en-US" dirty="0" err="1">
                <a:solidFill>
                  <a:schemeClr val="bg1"/>
                </a:solidFill>
              </a:rPr>
              <a:t>datatype</a:t>
            </a:r>
            <a:r>
              <a:rPr lang="en-US" dirty="0">
                <a:solidFill>
                  <a:schemeClr val="bg1"/>
                </a:solidFill>
              </a:rPr>
              <a:t> x);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getNumberOfNodes</a:t>
            </a:r>
            <a:r>
              <a:rPr lang="en-US" dirty="0">
                <a:solidFill>
                  <a:schemeClr val="bg1"/>
                </a:solidFill>
              </a:rPr>
              <a:t>(){return </a:t>
            </a:r>
            <a:r>
              <a:rPr lang="en-US" dirty="0" err="1">
                <a:solidFill>
                  <a:schemeClr val="bg1"/>
                </a:solidFill>
              </a:rPr>
              <a:t>numberOfNodes</a:t>
            </a:r>
            <a:r>
              <a:rPr lang="en-US" dirty="0">
                <a:solidFill>
                  <a:schemeClr val="bg1"/>
                </a:solidFill>
              </a:rPr>
              <a:t>;}; 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private: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datatypeptr</a:t>
            </a:r>
            <a:r>
              <a:rPr lang="en-US" dirty="0">
                <a:solidFill>
                  <a:schemeClr val="bg1"/>
                </a:solidFill>
              </a:rPr>
              <a:t> *p;	//a 2-D array, i.e., an adjacency matrix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     </a:t>
            </a:r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numberOfNodes</a:t>
            </a:r>
            <a:r>
              <a:rPr lang="en-US" dirty="0">
                <a:solidFill>
                  <a:schemeClr val="bg1"/>
                </a:solidFill>
              </a:rPr>
              <a:t>;      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};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Graph Class Implementation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924800" cy="3543300"/>
          </a:xfrm>
        </p:spPr>
        <p:txBody>
          <a:bodyPr/>
          <a:lstStyle/>
          <a:p>
            <a:endParaRPr lang="en-US"/>
          </a:p>
        </p:txBody>
      </p:sp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685800" y="1028700"/>
            <a:ext cx="3810000" cy="3486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/>
              <a:t>Graph::Graph( </a:t>
            </a:r>
            <a:r>
              <a:rPr lang="en-US" b="1">
                <a:solidFill>
                  <a:schemeClr val="accent2"/>
                </a:solidFill>
              </a:rPr>
              <a:t>int</a:t>
            </a:r>
            <a:r>
              <a:rPr lang="en-US"/>
              <a:t> n){</a:t>
            </a:r>
          </a:p>
          <a:p>
            <a:pPr algn="just"/>
            <a:r>
              <a:rPr lang="en-US"/>
              <a:t>    assert(n&gt;=0);</a:t>
            </a:r>
          </a:p>
          <a:p>
            <a:pPr algn="just"/>
            <a:r>
              <a:rPr lang="en-US"/>
              <a:t>    numberOfNodes=n;</a:t>
            </a:r>
          </a:p>
          <a:p>
            <a:pPr algn="just"/>
            <a:r>
              <a:rPr lang="en-US"/>
              <a:t>    </a:t>
            </a:r>
            <a:r>
              <a:rPr lang="en-US" b="1">
                <a:solidFill>
                  <a:schemeClr val="accent2"/>
                </a:solidFill>
              </a:rPr>
              <a:t>if</a:t>
            </a:r>
            <a:r>
              <a:rPr lang="en-US"/>
              <a:t> (n==0)   </a:t>
            </a:r>
            <a:r>
              <a:rPr lang="en-US" b="1">
                <a:solidFill>
                  <a:schemeClr val="accent2"/>
                </a:solidFill>
              </a:rPr>
              <a:t>p=NULL</a:t>
            </a:r>
            <a:r>
              <a:rPr lang="en-US"/>
              <a:t>;</a:t>
            </a:r>
          </a:p>
          <a:p>
            <a:pPr algn="just"/>
            <a:r>
              <a:rPr lang="en-US"/>
              <a:t>    else{</a:t>
            </a:r>
          </a:p>
          <a:p>
            <a:pPr algn="just"/>
            <a:r>
              <a:rPr lang="en-US"/>
              <a:t>       p = </a:t>
            </a:r>
            <a:r>
              <a:rPr lang="en-US" b="1">
                <a:solidFill>
                  <a:schemeClr val="accent2"/>
                </a:solidFill>
              </a:rPr>
              <a:t>new</a:t>
            </a:r>
            <a:r>
              <a:rPr lang="en-US"/>
              <a:t> datatypeptr[n];</a:t>
            </a:r>
          </a:p>
          <a:p>
            <a:pPr algn="just"/>
            <a:r>
              <a:rPr lang="en-US"/>
              <a:t>       for (int i=0;i&lt;n;i++){</a:t>
            </a:r>
          </a:p>
          <a:p>
            <a:pPr algn="just"/>
            <a:r>
              <a:rPr lang="en-US"/>
              <a:t>           p[i] = </a:t>
            </a:r>
            <a:r>
              <a:rPr lang="en-US" b="1">
                <a:solidFill>
                  <a:schemeClr val="accent2"/>
                </a:solidFill>
              </a:rPr>
              <a:t>new</a:t>
            </a:r>
            <a:r>
              <a:rPr lang="en-US"/>
              <a:t> datatype[n];</a:t>
            </a:r>
          </a:p>
          <a:p>
            <a:pPr algn="just"/>
            <a:r>
              <a:rPr lang="en-US"/>
              <a:t>           for (</a:t>
            </a:r>
            <a:r>
              <a:rPr lang="en-US" b="1">
                <a:solidFill>
                  <a:schemeClr val="accent2"/>
                </a:solidFill>
              </a:rPr>
              <a:t>int</a:t>
            </a:r>
            <a:r>
              <a:rPr lang="en-US"/>
              <a:t> j=0;j&lt;n;j++)</a:t>
            </a:r>
          </a:p>
          <a:p>
            <a:pPr algn="just"/>
            <a:r>
              <a:rPr lang="en-US"/>
              <a:t>               p[i][j]=0;</a:t>
            </a:r>
          </a:p>
          <a:p>
            <a:pPr algn="just"/>
            <a:r>
              <a:rPr lang="en-US"/>
              <a:t>       }</a:t>
            </a:r>
          </a:p>
          <a:p>
            <a:pPr algn="just"/>
            <a:r>
              <a:rPr lang="en-US"/>
              <a:t>    }</a:t>
            </a:r>
          </a:p>
          <a:p>
            <a:pPr algn="just"/>
            <a:r>
              <a:rPr lang="en-US"/>
              <a:t>};</a:t>
            </a:r>
          </a:p>
        </p:txBody>
      </p:sp>
      <p:sp>
        <p:nvSpPr>
          <p:cNvPr id="230405" name="Rectangle 5"/>
          <p:cNvSpPr>
            <a:spLocks noChangeArrowheads="1"/>
          </p:cNvSpPr>
          <p:nvPr/>
        </p:nvSpPr>
        <p:spPr bwMode="auto">
          <a:xfrm>
            <a:off x="4648200" y="1028700"/>
            <a:ext cx="3886200" cy="1257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/>
              <a:t>bool Graph::isEdge(int i, int j){</a:t>
            </a:r>
          </a:p>
          <a:p>
            <a:pPr algn="just"/>
            <a:r>
              <a:rPr lang="en-US"/>
              <a:t>           assert(i&gt;=0 &amp;&amp; j&gt;=0);</a:t>
            </a:r>
          </a:p>
          <a:p>
            <a:pPr algn="just"/>
            <a:r>
              <a:rPr lang="en-US"/>
              <a:t>           return p[i][j] != 0; </a:t>
            </a:r>
          </a:p>
          <a:p>
            <a:pPr algn="just"/>
            <a:r>
              <a:rPr lang="en-US"/>
              <a:t>};</a:t>
            </a:r>
          </a:p>
        </p:txBody>
      </p:sp>
      <p:sp>
        <p:nvSpPr>
          <p:cNvPr id="230406" name="Rectangle 6"/>
          <p:cNvSpPr>
            <a:spLocks noChangeArrowheads="1"/>
          </p:cNvSpPr>
          <p:nvPr/>
        </p:nvSpPr>
        <p:spPr bwMode="auto">
          <a:xfrm>
            <a:off x="4648200" y="2400300"/>
            <a:ext cx="3886200" cy="142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/>
              <a:t>void Graph:;setEdge(int i, </a:t>
            </a:r>
          </a:p>
          <a:p>
            <a:pPr algn="just"/>
            <a:r>
              <a:rPr lang="en-US"/>
              <a:t>                   int j, datatype x){</a:t>
            </a:r>
          </a:p>
          <a:p>
            <a:pPr algn="just"/>
            <a:r>
              <a:rPr lang="en-US"/>
              <a:t>           assert(i&gt;=0 &amp;&amp; j&gt;=0);</a:t>
            </a:r>
          </a:p>
          <a:p>
            <a:pPr algn="just"/>
            <a:r>
              <a:rPr lang="en-US"/>
              <a:t>           p[i][j]=x;</a:t>
            </a:r>
          </a:p>
          <a:p>
            <a:pPr algn="just"/>
            <a:r>
              <a:rPr lang="en-US"/>
              <a:t>};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1435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Directed vs. Undirected Graphs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7300"/>
            <a:ext cx="7772400" cy="33147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/>
              <a:t>If the directions of the edges matter, then we show the edge directions, and the graph is called a </a:t>
            </a:r>
            <a:r>
              <a:rPr lang="en-US" i="1"/>
              <a:t>directed graph</a:t>
            </a:r>
            <a:r>
              <a:rPr lang="en-US"/>
              <a:t> (or a </a:t>
            </a:r>
            <a:r>
              <a:rPr lang="en-US" i="1"/>
              <a:t>digraph</a:t>
            </a:r>
            <a:r>
              <a:rPr lang="en-US"/>
              <a:t>)</a:t>
            </a:r>
          </a:p>
          <a:p>
            <a:pPr>
              <a:lnSpc>
                <a:spcPct val="90000"/>
              </a:lnSpc>
            </a:pPr>
            <a:r>
              <a:rPr lang="en-US"/>
              <a:t>The previous two examples are digraphs</a:t>
            </a:r>
          </a:p>
          <a:p>
            <a:pPr>
              <a:lnSpc>
                <a:spcPct val="90000"/>
              </a:lnSpc>
            </a:pPr>
            <a:r>
              <a:rPr lang="en-US"/>
              <a:t>If the relationships represented by the edges are symmetric (such as (x,y) is edge if and only if x is a sibling of y), then we don’t show the directions of the edges, and the graph is called an </a:t>
            </a:r>
            <a:r>
              <a:rPr lang="en-US" i="1"/>
              <a:t>undirected graph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602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Examples of Undirected Graphs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483220"/>
            <a:ext cx="8001000" cy="3543300"/>
          </a:xfrm>
        </p:spPr>
        <p:txBody>
          <a:bodyPr/>
          <a:lstStyle/>
          <a:p>
            <a:r>
              <a:rPr lang="en-US" dirty="0"/>
              <a:t>V=set of 6 people: John, Mary, Joe, Helen, Tom, and Paul, where the first 4 are siblings, and the last two are siblings</a:t>
            </a:r>
          </a:p>
          <a:p>
            <a:r>
              <a:rPr lang="en-US" dirty="0"/>
              <a:t>E ={(</a:t>
            </a:r>
            <a:r>
              <a:rPr lang="en-US" dirty="0" err="1"/>
              <a:t>x,y</a:t>
            </a:r>
            <a:r>
              <a:rPr lang="en-US" dirty="0"/>
              <a:t>) | x and y are siblings}</a:t>
            </a:r>
          </a:p>
        </p:txBody>
      </p:sp>
      <p:sp>
        <p:nvSpPr>
          <p:cNvPr id="215044" name="Oval 4"/>
          <p:cNvSpPr>
            <a:spLocks noChangeArrowheads="1"/>
          </p:cNvSpPr>
          <p:nvPr/>
        </p:nvSpPr>
        <p:spPr bwMode="auto">
          <a:xfrm>
            <a:off x="1752600" y="34290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45" name="Oval 5"/>
          <p:cNvSpPr>
            <a:spLocks noChangeArrowheads="1"/>
          </p:cNvSpPr>
          <p:nvPr/>
        </p:nvSpPr>
        <p:spPr bwMode="auto">
          <a:xfrm>
            <a:off x="2743200" y="2857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46" name="Oval 6"/>
          <p:cNvSpPr>
            <a:spLocks noChangeArrowheads="1"/>
          </p:cNvSpPr>
          <p:nvPr/>
        </p:nvSpPr>
        <p:spPr bwMode="auto">
          <a:xfrm>
            <a:off x="2895600" y="3642034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47" name="Oval 7"/>
          <p:cNvSpPr>
            <a:spLocks noChangeArrowheads="1"/>
          </p:cNvSpPr>
          <p:nvPr/>
        </p:nvSpPr>
        <p:spPr bwMode="auto">
          <a:xfrm>
            <a:off x="4776790" y="3644125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48" name="Oval 8"/>
          <p:cNvSpPr>
            <a:spLocks noChangeArrowheads="1"/>
          </p:cNvSpPr>
          <p:nvPr/>
        </p:nvSpPr>
        <p:spPr bwMode="auto">
          <a:xfrm>
            <a:off x="5410200" y="337185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49" name="Oval 9"/>
          <p:cNvSpPr>
            <a:spLocks noChangeArrowheads="1"/>
          </p:cNvSpPr>
          <p:nvPr/>
        </p:nvSpPr>
        <p:spPr bwMode="auto">
          <a:xfrm>
            <a:off x="4343400" y="2857500"/>
            <a:ext cx="228600" cy="114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5050" name="Text Box 10"/>
          <p:cNvSpPr txBox="1">
            <a:spLocks noChangeArrowheads="1"/>
          </p:cNvSpPr>
          <p:nvPr/>
        </p:nvSpPr>
        <p:spPr bwMode="auto">
          <a:xfrm>
            <a:off x="838201" y="3314700"/>
            <a:ext cx="6238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John</a:t>
            </a:r>
          </a:p>
        </p:txBody>
      </p:sp>
      <p:sp>
        <p:nvSpPr>
          <p:cNvPr id="215051" name="Text Box 11"/>
          <p:cNvSpPr txBox="1">
            <a:spLocks noChangeArrowheads="1"/>
          </p:cNvSpPr>
          <p:nvPr/>
        </p:nvSpPr>
        <p:spPr bwMode="auto">
          <a:xfrm>
            <a:off x="5638800" y="3257550"/>
            <a:ext cx="4956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Joe</a:t>
            </a:r>
          </a:p>
        </p:txBody>
      </p:sp>
      <p:sp>
        <p:nvSpPr>
          <p:cNvPr id="215052" name="Text Box 12"/>
          <p:cNvSpPr txBox="1">
            <a:spLocks noChangeArrowheads="1"/>
          </p:cNvSpPr>
          <p:nvPr/>
        </p:nvSpPr>
        <p:spPr bwMode="auto">
          <a:xfrm>
            <a:off x="1828800" y="2743200"/>
            <a:ext cx="6779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Mary</a:t>
            </a:r>
          </a:p>
        </p:txBody>
      </p:sp>
      <p:sp>
        <p:nvSpPr>
          <p:cNvPr id="215053" name="Text Box 13"/>
          <p:cNvSpPr txBox="1">
            <a:spLocks noChangeArrowheads="1"/>
          </p:cNvSpPr>
          <p:nvPr/>
        </p:nvSpPr>
        <p:spPr bwMode="auto">
          <a:xfrm>
            <a:off x="4724401" y="2743200"/>
            <a:ext cx="7344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Helen</a:t>
            </a:r>
          </a:p>
        </p:txBody>
      </p:sp>
      <p:sp>
        <p:nvSpPr>
          <p:cNvPr id="215054" name="Text Box 14"/>
          <p:cNvSpPr txBox="1">
            <a:spLocks noChangeArrowheads="1"/>
          </p:cNvSpPr>
          <p:nvPr/>
        </p:nvSpPr>
        <p:spPr bwMode="auto">
          <a:xfrm>
            <a:off x="2205913" y="3681709"/>
            <a:ext cx="5825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Tom</a:t>
            </a:r>
          </a:p>
        </p:txBody>
      </p:sp>
      <p:sp>
        <p:nvSpPr>
          <p:cNvPr id="215055" name="Text Box 15"/>
          <p:cNvSpPr txBox="1">
            <a:spLocks noChangeArrowheads="1"/>
          </p:cNvSpPr>
          <p:nvPr/>
        </p:nvSpPr>
        <p:spPr bwMode="auto">
          <a:xfrm>
            <a:off x="5005390" y="3742706"/>
            <a:ext cx="583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Paul</a:t>
            </a:r>
          </a:p>
        </p:txBody>
      </p:sp>
      <p:sp>
        <p:nvSpPr>
          <p:cNvPr id="215056" name="Line 16"/>
          <p:cNvSpPr>
            <a:spLocks noChangeShapeType="1"/>
          </p:cNvSpPr>
          <p:nvPr/>
        </p:nvSpPr>
        <p:spPr bwMode="auto">
          <a:xfrm>
            <a:off x="2895600" y="291465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57" name="Line 17"/>
          <p:cNvSpPr>
            <a:spLocks noChangeShapeType="1"/>
          </p:cNvSpPr>
          <p:nvPr/>
        </p:nvSpPr>
        <p:spPr bwMode="auto">
          <a:xfrm>
            <a:off x="1905000" y="348615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58" name="Line 18"/>
          <p:cNvSpPr>
            <a:spLocks noChangeShapeType="1"/>
          </p:cNvSpPr>
          <p:nvPr/>
        </p:nvSpPr>
        <p:spPr bwMode="auto">
          <a:xfrm flipV="1">
            <a:off x="1905000" y="2914650"/>
            <a:ext cx="9144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59" name="Line 19"/>
          <p:cNvSpPr>
            <a:spLocks noChangeShapeType="1"/>
          </p:cNvSpPr>
          <p:nvPr/>
        </p:nvSpPr>
        <p:spPr bwMode="auto">
          <a:xfrm>
            <a:off x="4495800" y="2914650"/>
            <a:ext cx="9906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60" name="Line 20"/>
          <p:cNvSpPr>
            <a:spLocks noChangeShapeType="1"/>
          </p:cNvSpPr>
          <p:nvPr/>
        </p:nvSpPr>
        <p:spPr bwMode="auto">
          <a:xfrm>
            <a:off x="3124200" y="3684032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61" name="Line 21"/>
          <p:cNvSpPr>
            <a:spLocks noChangeShapeType="1"/>
          </p:cNvSpPr>
          <p:nvPr/>
        </p:nvSpPr>
        <p:spPr bwMode="auto">
          <a:xfrm flipV="1">
            <a:off x="1981200" y="2914650"/>
            <a:ext cx="2438400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62" name="Line 22"/>
          <p:cNvSpPr>
            <a:spLocks noChangeShapeType="1"/>
          </p:cNvSpPr>
          <p:nvPr/>
        </p:nvSpPr>
        <p:spPr bwMode="auto">
          <a:xfrm>
            <a:off x="2895600" y="2914650"/>
            <a:ext cx="25146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5063" name="Rectangle 23"/>
          <p:cNvSpPr>
            <a:spLocks noChangeArrowheads="1"/>
          </p:cNvSpPr>
          <p:nvPr/>
        </p:nvSpPr>
        <p:spPr bwMode="auto">
          <a:xfrm>
            <a:off x="6553200" y="2343150"/>
            <a:ext cx="2362200" cy="2057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/>
              <a:t>if (x,y) is an edge:</a:t>
            </a:r>
          </a:p>
          <a:p>
            <a:pPr algn="just"/>
            <a:r>
              <a:rPr lang="en-US"/>
              <a:t>  we say that x is </a:t>
            </a:r>
          </a:p>
          <a:p>
            <a:pPr algn="just"/>
            <a:r>
              <a:rPr lang="en-US"/>
              <a:t>  </a:t>
            </a:r>
            <a:r>
              <a:rPr lang="en-US" i="1">
                <a:solidFill>
                  <a:srgbClr val="CC0000"/>
                </a:solidFill>
              </a:rPr>
              <a:t>adjacent to</a:t>
            </a:r>
            <a:r>
              <a:rPr lang="en-US"/>
              <a:t> y, &amp;</a:t>
            </a:r>
          </a:p>
          <a:p>
            <a:pPr algn="just"/>
            <a:r>
              <a:rPr lang="en-US"/>
              <a:t>  y adjacent to x.</a:t>
            </a:r>
          </a:p>
          <a:p>
            <a:pPr algn="just"/>
            <a:r>
              <a:rPr lang="en-US"/>
              <a:t>  We also say that</a:t>
            </a:r>
          </a:p>
          <a:p>
            <a:pPr algn="just"/>
            <a:r>
              <a:rPr lang="en-US"/>
              <a:t>   x and y are </a:t>
            </a:r>
          </a:p>
          <a:p>
            <a:pPr algn="just"/>
            <a:r>
              <a:rPr lang="en-US"/>
              <a:t>   </a:t>
            </a:r>
            <a:r>
              <a:rPr lang="en-US" i="1">
                <a:solidFill>
                  <a:srgbClr val="CC0000"/>
                </a:solidFill>
              </a:rPr>
              <a:t>neighbors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/>
              <a:t>Representations of Undirected Graphs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The same two representations for directed graphs can be used for undirected graphs</a:t>
            </a:r>
          </a:p>
          <a:p>
            <a:r>
              <a:rPr lang="en-US"/>
              <a:t>Adjacency matrix A: </a:t>
            </a:r>
          </a:p>
          <a:p>
            <a:pPr lvl="1"/>
            <a:r>
              <a:rPr lang="en-US"/>
              <a:t>A[i][j]=1 if (i,j) is an edge; 0 otherwise</a:t>
            </a:r>
          </a:p>
          <a:p>
            <a:r>
              <a:rPr lang="en-US"/>
              <a:t>Adjacency Lists:</a:t>
            </a:r>
          </a:p>
          <a:p>
            <a:pPr lvl="1"/>
            <a:r>
              <a:rPr lang="en-US"/>
              <a:t>L[i] is the linked list containing all the neighbors of 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Example of Representations 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342900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 dirty="0"/>
              <a:t>Linked Lists:</a:t>
            </a:r>
          </a:p>
          <a:p>
            <a:pPr>
              <a:buFontTx/>
              <a:buNone/>
            </a:pPr>
            <a:r>
              <a:rPr lang="en-US" dirty="0"/>
              <a:t>L[0]: 1, 2, 3</a:t>
            </a:r>
          </a:p>
          <a:p>
            <a:pPr>
              <a:buFontTx/>
              <a:buNone/>
            </a:pPr>
            <a:r>
              <a:rPr lang="en-US" dirty="0"/>
              <a:t>L[1]: 0, 2, 3</a:t>
            </a:r>
          </a:p>
          <a:p>
            <a:pPr>
              <a:buFontTx/>
              <a:buNone/>
            </a:pPr>
            <a:r>
              <a:rPr lang="en-US" dirty="0"/>
              <a:t>L[2]: 0, 1, 3</a:t>
            </a:r>
          </a:p>
          <a:p>
            <a:pPr>
              <a:buFontTx/>
              <a:buNone/>
            </a:pPr>
            <a:r>
              <a:rPr lang="en-US" dirty="0"/>
              <a:t>L[3]: 0, 1, 2</a:t>
            </a:r>
          </a:p>
          <a:p>
            <a:pPr>
              <a:buFontTx/>
              <a:buNone/>
            </a:pPr>
            <a:r>
              <a:rPr lang="en-US" dirty="0"/>
              <a:t>L[4]: 5</a:t>
            </a:r>
          </a:p>
          <a:p>
            <a:pPr>
              <a:buFontTx/>
              <a:buNone/>
            </a:pPr>
            <a:r>
              <a:rPr lang="en-US" dirty="0"/>
              <a:t>L[5]: 4</a:t>
            </a:r>
          </a:p>
        </p:txBody>
      </p:sp>
      <p:sp>
        <p:nvSpPr>
          <p:cNvPr id="235524" name="Oval 4"/>
          <p:cNvSpPr>
            <a:spLocks noChangeArrowheads="1"/>
          </p:cNvSpPr>
          <p:nvPr/>
        </p:nvSpPr>
        <p:spPr bwMode="auto">
          <a:xfrm>
            <a:off x="5391151" y="1601392"/>
            <a:ext cx="149225" cy="6786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25" name="Oval 5"/>
          <p:cNvSpPr>
            <a:spLocks noChangeArrowheads="1"/>
          </p:cNvSpPr>
          <p:nvPr/>
        </p:nvSpPr>
        <p:spPr bwMode="auto">
          <a:xfrm>
            <a:off x="6038851" y="1266825"/>
            <a:ext cx="150813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26" name="Oval 6"/>
          <p:cNvSpPr>
            <a:spLocks noChangeArrowheads="1"/>
          </p:cNvSpPr>
          <p:nvPr/>
        </p:nvSpPr>
        <p:spPr bwMode="auto">
          <a:xfrm>
            <a:off x="6089651" y="2037160"/>
            <a:ext cx="149225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27" name="Oval 7"/>
          <p:cNvSpPr>
            <a:spLocks noChangeArrowheads="1"/>
          </p:cNvSpPr>
          <p:nvPr/>
        </p:nvSpPr>
        <p:spPr bwMode="auto">
          <a:xfrm>
            <a:off x="7235826" y="2037160"/>
            <a:ext cx="149225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28" name="Oval 8"/>
          <p:cNvSpPr>
            <a:spLocks noChangeArrowheads="1"/>
          </p:cNvSpPr>
          <p:nvPr/>
        </p:nvSpPr>
        <p:spPr bwMode="auto">
          <a:xfrm>
            <a:off x="7783513" y="1568054"/>
            <a:ext cx="150812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29" name="Oval 9"/>
          <p:cNvSpPr>
            <a:spLocks noChangeArrowheads="1"/>
          </p:cNvSpPr>
          <p:nvPr/>
        </p:nvSpPr>
        <p:spPr bwMode="auto">
          <a:xfrm>
            <a:off x="7086601" y="1266825"/>
            <a:ext cx="149225" cy="666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30" name="Text Box 10"/>
          <p:cNvSpPr txBox="1">
            <a:spLocks noChangeArrowheads="1"/>
          </p:cNvSpPr>
          <p:nvPr/>
        </p:nvSpPr>
        <p:spPr bwMode="auto">
          <a:xfrm>
            <a:off x="4495801" y="1543050"/>
            <a:ext cx="7938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John </a:t>
            </a:r>
            <a:r>
              <a:rPr lang="en-US">
                <a:solidFill>
                  <a:srgbClr val="CC0000"/>
                </a:solidFill>
              </a:rPr>
              <a:t>2</a:t>
            </a:r>
          </a:p>
        </p:txBody>
      </p:sp>
      <p:sp>
        <p:nvSpPr>
          <p:cNvPr id="235531" name="Text Box 11"/>
          <p:cNvSpPr txBox="1">
            <a:spLocks noChangeArrowheads="1"/>
          </p:cNvSpPr>
          <p:nvPr/>
        </p:nvSpPr>
        <p:spPr bwMode="auto">
          <a:xfrm>
            <a:off x="7772400" y="1543050"/>
            <a:ext cx="6655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Joe </a:t>
            </a:r>
            <a:r>
              <a:rPr lang="en-US">
                <a:solidFill>
                  <a:srgbClr val="CC0000"/>
                </a:solidFill>
              </a:rPr>
              <a:t>3</a:t>
            </a:r>
          </a:p>
        </p:txBody>
      </p:sp>
      <p:sp>
        <p:nvSpPr>
          <p:cNvPr id="235532" name="Text Box 12"/>
          <p:cNvSpPr txBox="1">
            <a:spLocks noChangeArrowheads="1"/>
          </p:cNvSpPr>
          <p:nvPr/>
        </p:nvSpPr>
        <p:spPr bwMode="auto">
          <a:xfrm>
            <a:off x="4953000" y="1085850"/>
            <a:ext cx="8478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Mary </a:t>
            </a:r>
            <a:r>
              <a:rPr lang="en-US">
                <a:solidFill>
                  <a:srgbClr val="CC0000"/>
                </a:solidFill>
              </a:rPr>
              <a:t>0</a:t>
            </a:r>
          </a:p>
        </p:txBody>
      </p:sp>
      <p:sp>
        <p:nvSpPr>
          <p:cNvPr id="235533" name="Text Box 13"/>
          <p:cNvSpPr txBox="1">
            <a:spLocks noChangeArrowheads="1"/>
          </p:cNvSpPr>
          <p:nvPr/>
        </p:nvSpPr>
        <p:spPr bwMode="auto">
          <a:xfrm>
            <a:off x="7239001" y="1085850"/>
            <a:ext cx="9044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Helen </a:t>
            </a:r>
            <a:r>
              <a:rPr lang="en-US">
                <a:solidFill>
                  <a:srgbClr val="CC0000"/>
                </a:solidFill>
              </a:rPr>
              <a:t>1</a:t>
            </a:r>
          </a:p>
        </p:txBody>
      </p:sp>
      <p:sp>
        <p:nvSpPr>
          <p:cNvPr id="235534" name="Text Box 14"/>
          <p:cNvSpPr txBox="1">
            <a:spLocks noChangeArrowheads="1"/>
          </p:cNvSpPr>
          <p:nvPr/>
        </p:nvSpPr>
        <p:spPr bwMode="auto">
          <a:xfrm>
            <a:off x="5246689" y="2037160"/>
            <a:ext cx="752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Tom </a:t>
            </a:r>
            <a:r>
              <a:rPr lang="en-US">
                <a:solidFill>
                  <a:srgbClr val="CC0000"/>
                </a:solidFill>
              </a:rPr>
              <a:t>4</a:t>
            </a:r>
          </a:p>
        </p:txBody>
      </p:sp>
      <p:sp>
        <p:nvSpPr>
          <p:cNvPr id="235535" name="Text Box 15"/>
          <p:cNvSpPr txBox="1">
            <a:spLocks noChangeArrowheads="1"/>
          </p:cNvSpPr>
          <p:nvPr/>
        </p:nvSpPr>
        <p:spPr bwMode="auto">
          <a:xfrm>
            <a:off x="7145339" y="2037160"/>
            <a:ext cx="7536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Paul </a:t>
            </a:r>
            <a:r>
              <a:rPr lang="en-US">
                <a:solidFill>
                  <a:srgbClr val="CC0000"/>
                </a:solidFill>
              </a:rPr>
              <a:t>5</a:t>
            </a:r>
          </a:p>
        </p:txBody>
      </p:sp>
      <p:sp>
        <p:nvSpPr>
          <p:cNvPr id="235536" name="Line 16"/>
          <p:cNvSpPr>
            <a:spLocks noChangeShapeType="1"/>
          </p:cNvSpPr>
          <p:nvPr/>
        </p:nvSpPr>
        <p:spPr bwMode="auto">
          <a:xfrm>
            <a:off x="6138863" y="1300163"/>
            <a:ext cx="996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37" name="Line 17"/>
          <p:cNvSpPr>
            <a:spLocks noChangeShapeType="1"/>
          </p:cNvSpPr>
          <p:nvPr/>
        </p:nvSpPr>
        <p:spPr bwMode="auto">
          <a:xfrm>
            <a:off x="5491163" y="1634729"/>
            <a:ext cx="2343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38" name="Line 18"/>
          <p:cNvSpPr>
            <a:spLocks noChangeShapeType="1"/>
          </p:cNvSpPr>
          <p:nvPr/>
        </p:nvSpPr>
        <p:spPr bwMode="auto">
          <a:xfrm flipV="1">
            <a:off x="5491164" y="1300163"/>
            <a:ext cx="598487" cy="3345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39" name="Line 19"/>
          <p:cNvSpPr>
            <a:spLocks noChangeShapeType="1"/>
          </p:cNvSpPr>
          <p:nvPr/>
        </p:nvSpPr>
        <p:spPr bwMode="auto">
          <a:xfrm>
            <a:off x="7186613" y="1300162"/>
            <a:ext cx="647700" cy="3012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40" name="Line 20"/>
          <p:cNvSpPr>
            <a:spLocks noChangeShapeType="1"/>
          </p:cNvSpPr>
          <p:nvPr/>
        </p:nvSpPr>
        <p:spPr bwMode="auto">
          <a:xfrm>
            <a:off x="6189664" y="2070497"/>
            <a:ext cx="1095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41" name="Line 21"/>
          <p:cNvSpPr>
            <a:spLocks noChangeShapeType="1"/>
          </p:cNvSpPr>
          <p:nvPr/>
        </p:nvSpPr>
        <p:spPr bwMode="auto">
          <a:xfrm flipV="1">
            <a:off x="5540375" y="1300163"/>
            <a:ext cx="1595438" cy="3345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5542" name="Line 22"/>
          <p:cNvSpPr>
            <a:spLocks noChangeShapeType="1"/>
          </p:cNvSpPr>
          <p:nvPr/>
        </p:nvSpPr>
        <p:spPr bwMode="auto">
          <a:xfrm>
            <a:off x="6138863" y="1300162"/>
            <a:ext cx="1644650" cy="3012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3810000" y="2743200"/>
            <a:ext cx="2590800" cy="1810941"/>
            <a:chOff x="2544" y="2256"/>
            <a:chExt cx="1632" cy="1521"/>
          </a:xfrm>
        </p:grpSpPr>
        <p:sp>
          <p:nvSpPr>
            <p:cNvPr id="235544" name="Text Box 24"/>
            <p:cNvSpPr txBox="1">
              <a:spLocks noChangeArrowheads="1"/>
            </p:cNvSpPr>
            <p:nvPr/>
          </p:nvSpPr>
          <p:spPr bwMode="auto">
            <a:xfrm>
              <a:off x="2976" y="2304"/>
              <a:ext cx="892" cy="14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/>
                <a:t>0  1  1  1  0  0</a:t>
              </a:r>
            </a:p>
            <a:p>
              <a:pPr marL="457200" indent="-457200"/>
              <a:r>
                <a:rPr lang="en-US"/>
                <a:t>1  0  1  1  0  0</a:t>
              </a:r>
            </a:p>
            <a:p>
              <a:pPr marL="457200" indent="-457200"/>
              <a:r>
                <a:rPr lang="en-US"/>
                <a:t>1  1  0  1  0  0</a:t>
              </a:r>
            </a:p>
            <a:p>
              <a:pPr marL="457200" indent="-457200"/>
              <a:r>
                <a:rPr lang="en-US"/>
                <a:t>1  1  1  0  0  0</a:t>
              </a:r>
            </a:p>
            <a:p>
              <a:pPr marL="457200" indent="-457200"/>
              <a:r>
                <a:rPr lang="en-US"/>
                <a:t>0  0  0  0  0  1</a:t>
              </a:r>
            </a:p>
            <a:p>
              <a:pPr marL="457200" indent="-457200"/>
              <a:r>
                <a:rPr lang="en-US"/>
                <a:t>0  0  0  0  1  0</a:t>
              </a:r>
            </a:p>
          </p:txBody>
        </p:sp>
        <p:sp>
          <p:nvSpPr>
            <p:cNvPr id="235545" name="Line 25"/>
            <p:cNvSpPr>
              <a:spLocks noChangeShapeType="1"/>
            </p:cNvSpPr>
            <p:nvPr/>
          </p:nvSpPr>
          <p:spPr bwMode="auto">
            <a:xfrm flipH="1">
              <a:off x="2952" y="225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46" name="Line 26"/>
            <p:cNvSpPr>
              <a:spLocks noChangeShapeType="1"/>
            </p:cNvSpPr>
            <p:nvPr/>
          </p:nvSpPr>
          <p:spPr bwMode="auto">
            <a:xfrm flipH="1">
              <a:off x="2928" y="2256"/>
              <a:ext cx="24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48" name="Line 28"/>
            <p:cNvSpPr>
              <a:spLocks noChangeShapeType="1"/>
            </p:cNvSpPr>
            <p:nvPr/>
          </p:nvSpPr>
          <p:spPr bwMode="auto">
            <a:xfrm>
              <a:off x="4080" y="225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49" name="Line 29"/>
            <p:cNvSpPr>
              <a:spLocks noChangeShapeType="1"/>
            </p:cNvSpPr>
            <p:nvPr/>
          </p:nvSpPr>
          <p:spPr bwMode="auto">
            <a:xfrm>
              <a:off x="4176" y="225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50" name="Line 30"/>
            <p:cNvSpPr>
              <a:spLocks noChangeShapeType="1"/>
            </p:cNvSpPr>
            <p:nvPr/>
          </p:nvSpPr>
          <p:spPr bwMode="auto">
            <a:xfrm flipH="1" flipV="1">
              <a:off x="4032" y="369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51" name="Text Box 31"/>
            <p:cNvSpPr txBox="1">
              <a:spLocks noChangeArrowheads="1"/>
            </p:cNvSpPr>
            <p:nvPr/>
          </p:nvSpPr>
          <p:spPr bwMode="auto">
            <a:xfrm>
              <a:off x="2544" y="2640"/>
              <a:ext cx="306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A =</a:t>
              </a:r>
            </a:p>
          </p:txBody>
        </p:sp>
        <p:sp>
          <p:nvSpPr>
            <p:cNvPr id="235547" name="Line 27"/>
            <p:cNvSpPr>
              <a:spLocks noChangeShapeType="1"/>
            </p:cNvSpPr>
            <p:nvPr/>
          </p:nvSpPr>
          <p:spPr bwMode="auto">
            <a:xfrm>
              <a:off x="2928" y="369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35552" name="Rectangle 32"/>
          <p:cNvSpPr>
            <a:spLocks noChangeArrowheads="1"/>
          </p:cNvSpPr>
          <p:nvPr/>
        </p:nvSpPr>
        <p:spPr bwMode="auto">
          <a:xfrm>
            <a:off x="3733800" y="2343150"/>
            <a:ext cx="2895600" cy="2343150"/>
          </a:xfrm>
          <a:prstGeom prst="rect">
            <a:avLst/>
          </a:prstGeom>
          <a:solidFill>
            <a:schemeClr val="accent1">
              <a:alpha val="17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35553" name="Text Box 33"/>
          <p:cNvSpPr txBox="1">
            <a:spLocks noChangeArrowheads="1"/>
          </p:cNvSpPr>
          <p:nvPr/>
        </p:nvSpPr>
        <p:spPr bwMode="auto">
          <a:xfrm>
            <a:off x="4038601" y="2343150"/>
            <a:ext cx="24749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Adjacency Matrix:</a:t>
            </a:r>
          </a:p>
        </p:txBody>
      </p:sp>
      <p:sp>
        <p:nvSpPr>
          <p:cNvPr id="235556" name="Rectangle 36"/>
          <p:cNvSpPr>
            <a:spLocks noChangeArrowheads="1"/>
          </p:cNvSpPr>
          <p:nvPr/>
        </p:nvSpPr>
        <p:spPr bwMode="auto">
          <a:xfrm>
            <a:off x="685800" y="1200150"/>
            <a:ext cx="2438400" cy="3143250"/>
          </a:xfrm>
          <a:prstGeom prst="rect">
            <a:avLst/>
          </a:prstGeom>
          <a:solidFill>
            <a:schemeClr val="accent1">
              <a:alpha val="17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Definition of Some Graph Related Concepts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Let G be a directed graph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</a:t>
            </a:r>
            <a:r>
              <a:rPr lang="en-US" dirty="0" err="1"/>
              <a:t>indegree</a:t>
            </a:r>
            <a:r>
              <a:rPr lang="en-US" dirty="0"/>
              <a:t> of a node x in G is the number of edges coming to x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</a:t>
            </a:r>
            <a:r>
              <a:rPr lang="en-US" dirty="0" err="1"/>
              <a:t>outdegree</a:t>
            </a:r>
            <a:r>
              <a:rPr lang="en-US" dirty="0"/>
              <a:t> of x is the number of edges leaving x.</a:t>
            </a:r>
          </a:p>
          <a:p>
            <a:pPr>
              <a:lnSpc>
                <a:spcPct val="90000"/>
              </a:lnSpc>
            </a:pPr>
            <a:r>
              <a:rPr lang="en-US" dirty="0"/>
              <a:t>Let G be an undirected graph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degree of a node x is the number of edges that have x as one of their end nodes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 neighbors of x are the nodes adjacent to 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2900"/>
            <a:ext cx="7772400" cy="571500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tx1"/>
                </a:solidFill>
              </a:rPr>
              <a:t>Paths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3000" dirty="0"/>
              <a:t>A path in a graph G is a sequence of nodes x</a:t>
            </a:r>
            <a:r>
              <a:rPr lang="en-US" sz="3000" baseline="-25000" dirty="0"/>
              <a:t>1</a:t>
            </a:r>
            <a:r>
              <a:rPr lang="en-US" sz="3000" dirty="0"/>
              <a:t>, x</a:t>
            </a:r>
            <a:r>
              <a:rPr lang="en-US" sz="3000" baseline="-25000" dirty="0"/>
              <a:t>2</a:t>
            </a:r>
            <a:r>
              <a:rPr lang="en-US" sz="3000" dirty="0"/>
              <a:t>, …,</a:t>
            </a:r>
            <a:r>
              <a:rPr lang="en-US" sz="3000" dirty="0" err="1"/>
              <a:t>x</a:t>
            </a:r>
            <a:r>
              <a:rPr lang="en-US" sz="3000" baseline="-25000" dirty="0" err="1"/>
              <a:t>k</a:t>
            </a:r>
            <a:r>
              <a:rPr lang="en-US" sz="3000" dirty="0"/>
              <a:t>, such that there is an edge from each node the next one in the sequence</a:t>
            </a:r>
          </a:p>
          <a:p>
            <a:pPr>
              <a:lnSpc>
                <a:spcPct val="90000"/>
              </a:lnSpc>
            </a:pPr>
            <a:r>
              <a:rPr lang="en-US" sz="3000" dirty="0"/>
              <a:t>For example, in the first example graph, the sequence 3, 0, 1, 2 is a path, but the sequence 0, 3, 4 is not a path because (0,3) is not an edge</a:t>
            </a:r>
          </a:p>
          <a:p>
            <a:pPr>
              <a:lnSpc>
                <a:spcPct val="90000"/>
              </a:lnSpc>
            </a:pPr>
            <a:r>
              <a:rPr lang="en-US" sz="3000" dirty="0"/>
              <a:t>In the “sibling-of” graph, the sequence </a:t>
            </a:r>
            <a:r>
              <a:rPr lang="en-US" dirty="0"/>
              <a:t>John, Mary, Joe, Helen is a path, but the sequence Helen, Tom, Paul is not a path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2900"/>
            <a:ext cx="7772400" cy="571500"/>
          </a:xfrm>
        </p:spPr>
        <p:txBody>
          <a:bodyPr>
            <a:normAutofit fontScale="90000"/>
          </a:bodyPr>
          <a:lstStyle/>
          <a:p>
            <a:r>
              <a:rPr lang="en-US" sz="3600" b="1">
                <a:solidFill>
                  <a:schemeClr val="tx1"/>
                </a:solidFill>
              </a:rPr>
              <a:t>Graph Connectivity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/>
              <a:t>An undirected graph is said to be </a:t>
            </a:r>
            <a:r>
              <a:rPr lang="en-US" sz="2200" i="1" dirty="0"/>
              <a:t>connected</a:t>
            </a:r>
            <a:r>
              <a:rPr lang="en-US" sz="2200" dirty="0"/>
              <a:t> if there is a path between every pair of nodes. Otherwise, the graph is </a:t>
            </a:r>
            <a:r>
              <a:rPr lang="en-US" sz="2200" i="1" dirty="0"/>
              <a:t>disconnected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Informally, an undirected graph is connected if it hangs in one piece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2976" y="3107535"/>
            <a:ext cx="2819400" cy="1200150"/>
            <a:chOff x="1104" y="2400"/>
            <a:chExt cx="2448" cy="1200"/>
          </a:xfrm>
        </p:grpSpPr>
        <p:sp>
          <p:nvSpPr>
            <p:cNvPr id="218117" name="Oval 5"/>
            <p:cNvSpPr>
              <a:spLocks noChangeArrowheads="1"/>
            </p:cNvSpPr>
            <p:nvPr/>
          </p:nvSpPr>
          <p:spPr bwMode="auto">
            <a:xfrm>
              <a:off x="1104" y="288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18" name="Oval 6"/>
            <p:cNvSpPr>
              <a:spLocks noChangeArrowheads="1"/>
            </p:cNvSpPr>
            <p:nvPr/>
          </p:nvSpPr>
          <p:spPr bwMode="auto">
            <a:xfrm>
              <a:off x="1728" y="240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19" name="Oval 7"/>
            <p:cNvSpPr>
              <a:spLocks noChangeArrowheads="1"/>
            </p:cNvSpPr>
            <p:nvPr/>
          </p:nvSpPr>
          <p:spPr bwMode="auto">
            <a:xfrm>
              <a:off x="1776" y="3504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20" name="Oval 8"/>
            <p:cNvSpPr>
              <a:spLocks noChangeArrowheads="1"/>
            </p:cNvSpPr>
            <p:nvPr/>
          </p:nvSpPr>
          <p:spPr bwMode="auto">
            <a:xfrm>
              <a:off x="2880" y="3504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21" name="Oval 9"/>
            <p:cNvSpPr>
              <a:spLocks noChangeArrowheads="1"/>
            </p:cNvSpPr>
            <p:nvPr/>
          </p:nvSpPr>
          <p:spPr bwMode="auto">
            <a:xfrm>
              <a:off x="3408" y="2832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22" name="Oval 10"/>
            <p:cNvSpPr>
              <a:spLocks noChangeArrowheads="1"/>
            </p:cNvSpPr>
            <p:nvPr/>
          </p:nvSpPr>
          <p:spPr bwMode="auto">
            <a:xfrm>
              <a:off x="2736" y="240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8123" name="Line 11"/>
            <p:cNvSpPr>
              <a:spLocks noChangeShapeType="1"/>
            </p:cNvSpPr>
            <p:nvPr/>
          </p:nvSpPr>
          <p:spPr bwMode="auto">
            <a:xfrm>
              <a:off x="1824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4" name="Line 12"/>
            <p:cNvSpPr>
              <a:spLocks noChangeShapeType="1"/>
            </p:cNvSpPr>
            <p:nvPr/>
          </p:nvSpPr>
          <p:spPr bwMode="auto">
            <a:xfrm>
              <a:off x="1200" y="2928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5" name="Line 13"/>
            <p:cNvSpPr>
              <a:spLocks noChangeShapeType="1"/>
            </p:cNvSpPr>
            <p:nvPr/>
          </p:nvSpPr>
          <p:spPr bwMode="auto">
            <a:xfrm flipV="1">
              <a:off x="1200" y="244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6" name="Line 14"/>
            <p:cNvSpPr>
              <a:spLocks noChangeShapeType="1"/>
            </p:cNvSpPr>
            <p:nvPr/>
          </p:nvSpPr>
          <p:spPr bwMode="auto">
            <a:xfrm>
              <a:off x="2832" y="2448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7" name="Line 15"/>
            <p:cNvSpPr>
              <a:spLocks noChangeShapeType="1"/>
            </p:cNvSpPr>
            <p:nvPr/>
          </p:nvSpPr>
          <p:spPr bwMode="auto">
            <a:xfrm>
              <a:off x="1872" y="355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8" name="Line 16"/>
            <p:cNvSpPr>
              <a:spLocks noChangeShapeType="1"/>
            </p:cNvSpPr>
            <p:nvPr/>
          </p:nvSpPr>
          <p:spPr bwMode="auto">
            <a:xfrm flipV="1">
              <a:off x="1248" y="2448"/>
              <a:ext cx="15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8129" name="Line 17"/>
            <p:cNvSpPr>
              <a:spLocks noChangeShapeType="1"/>
            </p:cNvSpPr>
            <p:nvPr/>
          </p:nvSpPr>
          <p:spPr bwMode="auto">
            <a:xfrm>
              <a:off x="1824" y="2448"/>
              <a:ext cx="158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8130" name="Oval 18"/>
          <p:cNvSpPr>
            <a:spLocks noChangeArrowheads="1"/>
          </p:cNvSpPr>
          <p:nvPr/>
        </p:nvSpPr>
        <p:spPr bwMode="auto">
          <a:xfrm>
            <a:off x="5257800" y="3337323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1" name="Oval 19"/>
          <p:cNvSpPr>
            <a:spLocks noChangeArrowheads="1"/>
          </p:cNvSpPr>
          <p:nvPr/>
        </p:nvSpPr>
        <p:spPr bwMode="auto">
          <a:xfrm>
            <a:off x="5976938" y="2857500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2" name="Oval 20"/>
          <p:cNvSpPr>
            <a:spLocks noChangeArrowheads="1"/>
          </p:cNvSpPr>
          <p:nvPr/>
        </p:nvSpPr>
        <p:spPr bwMode="auto">
          <a:xfrm>
            <a:off x="6032500" y="3961210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3" name="Oval 21"/>
          <p:cNvSpPr>
            <a:spLocks noChangeArrowheads="1"/>
          </p:cNvSpPr>
          <p:nvPr/>
        </p:nvSpPr>
        <p:spPr bwMode="auto">
          <a:xfrm>
            <a:off x="7302500" y="3961210"/>
            <a:ext cx="166688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4" name="Oval 22"/>
          <p:cNvSpPr>
            <a:spLocks noChangeArrowheads="1"/>
          </p:cNvSpPr>
          <p:nvPr/>
        </p:nvSpPr>
        <p:spPr bwMode="auto">
          <a:xfrm>
            <a:off x="7912100" y="3289698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5" name="Oval 23"/>
          <p:cNvSpPr>
            <a:spLocks noChangeArrowheads="1"/>
          </p:cNvSpPr>
          <p:nvPr/>
        </p:nvSpPr>
        <p:spPr bwMode="auto">
          <a:xfrm>
            <a:off x="7137400" y="2857500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18136" name="Line 24"/>
          <p:cNvSpPr>
            <a:spLocks noChangeShapeType="1"/>
          </p:cNvSpPr>
          <p:nvPr/>
        </p:nvSpPr>
        <p:spPr bwMode="auto">
          <a:xfrm>
            <a:off x="6086475" y="2905125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37" name="Line 25"/>
          <p:cNvSpPr>
            <a:spLocks noChangeShapeType="1"/>
          </p:cNvSpPr>
          <p:nvPr/>
        </p:nvSpPr>
        <p:spPr bwMode="auto">
          <a:xfrm>
            <a:off x="5368925" y="3386138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38" name="Line 26"/>
          <p:cNvSpPr>
            <a:spLocks noChangeShapeType="1"/>
          </p:cNvSpPr>
          <p:nvPr/>
        </p:nvSpPr>
        <p:spPr bwMode="auto">
          <a:xfrm flipV="1">
            <a:off x="5368925" y="2905125"/>
            <a:ext cx="663575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39" name="Line 27"/>
          <p:cNvSpPr>
            <a:spLocks noChangeShapeType="1"/>
          </p:cNvSpPr>
          <p:nvPr/>
        </p:nvSpPr>
        <p:spPr bwMode="auto">
          <a:xfrm>
            <a:off x="7248525" y="2905126"/>
            <a:ext cx="71755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0" name="Line 28"/>
          <p:cNvSpPr>
            <a:spLocks noChangeShapeType="1"/>
          </p:cNvSpPr>
          <p:nvPr/>
        </p:nvSpPr>
        <p:spPr bwMode="auto">
          <a:xfrm>
            <a:off x="6142039" y="4010025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1" name="Line 29"/>
          <p:cNvSpPr>
            <a:spLocks noChangeShapeType="1"/>
          </p:cNvSpPr>
          <p:nvPr/>
        </p:nvSpPr>
        <p:spPr bwMode="auto">
          <a:xfrm flipV="1">
            <a:off x="5422901" y="2905125"/>
            <a:ext cx="1770063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2" name="Line 30"/>
          <p:cNvSpPr>
            <a:spLocks noChangeShapeType="1"/>
          </p:cNvSpPr>
          <p:nvPr/>
        </p:nvSpPr>
        <p:spPr bwMode="auto">
          <a:xfrm>
            <a:off x="6086476" y="2905126"/>
            <a:ext cx="1825625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3" name="Line 31"/>
          <p:cNvSpPr>
            <a:spLocks noChangeShapeType="1"/>
          </p:cNvSpPr>
          <p:nvPr/>
        </p:nvSpPr>
        <p:spPr bwMode="auto">
          <a:xfrm flipH="1" flipV="1">
            <a:off x="5334000" y="3429000"/>
            <a:ext cx="7620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4" name="Line 32"/>
          <p:cNvSpPr>
            <a:spLocks noChangeShapeType="1"/>
          </p:cNvSpPr>
          <p:nvPr/>
        </p:nvSpPr>
        <p:spPr bwMode="auto">
          <a:xfrm>
            <a:off x="4572000" y="2571750"/>
            <a:ext cx="0" cy="1771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8145" name="Text Box 33"/>
          <p:cNvSpPr txBox="1">
            <a:spLocks noChangeArrowheads="1"/>
          </p:cNvSpPr>
          <p:nvPr/>
        </p:nvSpPr>
        <p:spPr bwMode="auto">
          <a:xfrm>
            <a:off x="1785918" y="4393419"/>
            <a:ext cx="14562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Disconnected</a:t>
            </a:r>
          </a:p>
        </p:txBody>
      </p:sp>
      <p:sp>
        <p:nvSpPr>
          <p:cNvPr id="218146" name="Text Box 34"/>
          <p:cNvSpPr txBox="1">
            <a:spLocks noChangeArrowheads="1"/>
          </p:cNvSpPr>
          <p:nvPr/>
        </p:nvSpPr>
        <p:spPr bwMode="auto">
          <a:xfrm>
            <a:off x="5980113" y="4171950"/>
            <a:ext cx="11984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Connected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29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Connected Components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37185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If an undirected graph is not connected, then each “piece” is called a connected component. </a:t>
            </a:r>
          </a:p>
          <a:p>
            <a:pPr lvl="1"/>
            <a:r>
              <a:rPr lang="en-US" sz="2400" dirty="0"/>
              <a:t>A piece in itself is connected, but if you bring any other node to it from the graph, it is no longer connected</a:t>
            </a:r>
          </a:p>
          <a:p>
            <a:r>
              <a:rPr lang="en-US" sz="2800" dirty="0"/>
              <a:t>If the graph is connected, then the whole graph is one single connected component</a:t>
            </a:r>
          </a:p>
          <a:p>
            <a:r>
              <a:rPr lang="en-US" sz="2800" dirty="0"/>
              <a:t>Of Interest: Given any undirected graph G, </a:t>
            </a:r>
          </a:p>
          <a:p>
            <a:pPr lvl="1"/>
            <a:r>
              <a:rPr lang="en-US" sz="2400" dirty="0"/>
              <a:t>Is G connected? </a:t>
            </a:r>
          </a:p>
          <a:p>
            <a:pPr lvl="1"/>
            <a:r>
              <a:rPr lang="en-US" sz="2400" dirty="0"/>
              <a:t>If not, find its connected components.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Graph Traversal Techniques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previous connectivity problem, as well as many other graph problems, can be solved using graph traversal techniques</a:t>
            </a:r>
          </a:p>
          <a:p>
            <a:r>
              <a:rPr lang="en-US" dirty="0"/>
              <a:t>There are two standard graph traversal techniques:</a:t>
            </a:r>
          </a:p>
          <a:p>
            <a:pPr lvl="1"/>
            <a:r>
              <a:rPr lang="en-US" dirty="0"/>
              <a:t>Depth-First Search (DFS)</a:t>
            </a:r>
          </a:p>
          <a:p>
            <a:pPr lvl="1"/>
            <a:r>
              <a:rPr lang="en-US" dirty="0"/>
              <a:t>Breadth-First Search (BFS)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Graph Traversal (Contd.)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In both DFS and BFS, the nodes of the undirected graph are visited in a systematic manner so that every node is visited exactly one.</a:t>
            </a:r>
          </a:p>
          <a:p>
            <a:pPr>
              <a:lnSpc>
                <a:spcPct val="90000"/>
              </a:lnSpc>
            </a:pPr>
            <a:r>
              <a:rPr lang="en-US"/>
              <a:t>Both BFS and DFS give rise to a tree:</a:t>
            </a:r>
          </a:p>
          <a:p>
            <a:pPr lvl="1">
              <a:lnSpc>
                <a:spcPct val="90000"/>
              </a:lnSpc>
            </a:pPr>
            <a:r>
              <a:rPr lang="en-US"/>
              <a:t>When a node x is visited, it is labeled as visited, and it is added to the tree</a:t>
            </a:r>
          </a:p>
          <a:p>
            <a:pPr lvl="1">
              <a:lnSpc>
                <a:spcPct val="90000"/>
              </a:lnSpc>
            </a:pPr>
            <a:r>
              <a:rPr lang="en-US"/>
              <a:t>If the traversal got to node x from node y, y is viewed as the parent of x, and x a child of 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Depth-First Search 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85850"/>
            <a:ext cx="7772400" cy="3486150"/>
          </a:xfrm>
        </p:spPr>
        <p:txBody>
          <a:bodyPr>
            <a:normAutofit fontScale="92500" lnSpcReduction="20000"/>
          </a:bodyPr>
          <a:lstStyle/>
          <a:p>
            <a:pPr marL="533400" indent="-533400"/>
            <a:r>
              <a:rPr lang="en-US" sz="2800" dirty="0"/>
              <a:t>DFS follows the following rules: 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/>
              <a:t>Select an unvisited node x, visit it, and treat as the current node 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/>
              <a:t>Find an unvisited neighbor of the current node, visit it, and make it the new current node; 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/>
              <a:t>If the current node has no unvisited neighbors, backtrack to the its parent, and make that parent the new current node; 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/>
              <a:t>Repeat steps 3 and 4 until no more nodes can be visited. 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/>
              <a:t>If there are still unvisited nodes, repeat from step 1.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Illustration of DFS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/>
          <a:lstStyle/>
          <a:p>
            <a:endParaRPr lang="en-US"/>
          </a:p>
        </p:txBody>
      </p:sp>
      <p:sp>
        <p:nvSpPr>
          <p:cNvPr id="240644" name="Oval 4"/>
          <p:cNvSpPr>
            <a:spLocks noChangeArrowheads="1"/>
          </p:cNvSpPr>
          <p:nvPr/>
        </p:nvSpPr>
        <p:spPr bwMode="auto">
          <a:xfrm>
            <a:off x="5419725" y="1746648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45" name="Oval 5"/>
          <p:cNvSpPr>
            <a:spLocks noChangeArrowheads="1"/>
          </p:cNvSpPr>
          <p:nvPr/>
        </p:nvSpPr>
        <p:spPr bwMode="auto">
          <a:xfrm>
            <a:off x="6138863" y="1266825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46" name="Oval 6"/>
          <p:cNvSpPr>
            <a:spLocks noChangeArrowheads="1"/>
          </p:cNvSpPr>
          <p:nvPr/>
        </p:nvSpPr>
        <p:spPr bwMode="auto">
          <a:xfrm>
            <a:off x="6194425" y="2370535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47" name="Oval 7"/>
          <p:cNvSpPr>
            <a:spLocks noChangeArrowheads="1"/>
          </p:cNvSpPr>
          <p:nvPr/>
        </p:nvSpPr>
        <p:spPr bwMode="auto">
          <a:xfrm>
            <a:off x="7467600" y="23431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48" name="Oval 8"/>
          <p:cNvSpPr>
            <a:spLocks noChangeArrowheads="1"/>
          </p:cNvSpPr>
          <p:nvPr/>
        </p:nvSpPr>
        <p:spPr bwMode="auto">
          <a:xfrm>
            <a:off x="8074025" y="1699023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49" name="Oval 9"/>
          <p:cNvSpPr>
            <a:spLocks noChangeArrowheads="1"/>
          </p:cNvSpPr>
          <p:nvPr/>
        </p:nvSpPr>
        <p:spPr bwMode="auto">
          <a:xfrm>
            <a:off x="7299325" y="1266825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50" name="Line 10"/>
          <p:cNvSpPr>
            <a:spLocks noChangeShapeType="1"/>
          </p:cNvSpPr>
          <p:nvPr/>
        </p:nvSpPr>
        <p:spPr bwMode="auto">
          <a:xfrm>
            <a:off x="6248400" y="1314450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1" name="Line 11"/>
          <p:cNvSpPr>
            <a:spLocks noChangeShapeType="1"/>
          </p:cNvSpPr>
          <p:nvPr/>
        </p:nvSpPr>
        <p:spPr bwMode="auto">
          <a:xfrm>
            <a:off x="5530850" y="1795463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2" name="Line 12"/>
          <p:cNvSpPr>
            <a:spLocks noChangeShapeType="1"/>
          </p:cNvSpPr>
          <p:nvPr/>
        </p:nvSpPr>
        <p:spPr bwMode="auto">
          <a:xfrm flipV="1">
            <a:off x="5530851" y="1314450"/>
            <a:ext cx="663575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3" name="Line 13"/>
          <p:cNvSpPr>
            <a:spLocks noChangeShapeType="1"/>
          </p:cNvSpPr>
          <p:nvPr/>
        </p:nvSpPr>
        <p:spPr bwMode="auto">
          <a:xfrm>
            <a:off x="7410450" y="1314451"/>
            <a:ext cx="71755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4" name="Line 14"/>
          <p:cNvSpPr>
            <a:spLocks noChangeShapeType="1"/>
          </p:cNvSpPr>
          <p:nvPr/>
        </p:nvSpPr>
        <p:spPr bwMode="auto">
          <a:xfrm>
            <a:off x="6303964" y="2419350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6" name="Line 16"/>
          <p:cNvSpPr>
            <a:spLocks noChangeShapeType="1"/>
          </p:cNvSpPr>
          <p:nvPr/>
        </p:nvSpPr>
        <p:spPr bwMode="auto">
          <a:xfrm>
            <a:off x="6248401" y="1314451"/>
            <a:ext cx="1825625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57" name="Line 17"/>
          <p:cNvSpPr>
            <a:spLocks noChangeShapeType="1"/>
          </p:cNvSpPr>
          <p:nvPr/>
        </p:nvSpPr>
        <p:spPr bwMode="auto">
          <a:xfrm flipH="1" flipV="1">
            <a:off x="5495925" y="1838325"/>
            <a:ext cx="7620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0660" name="Oval 20"/>
          <p:cNvSpPr>
            <a:spLocks noChangeArrowheads="1"/>
          </p:cNvSpPr>
          <p:nvPr/>
        </p:nvSpPr>
        <p:spPr bwMode="auto">
          <a:xfrm>
            <a:off x="6781800" y="28003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1" name="Oval 21"/>
          <p:cNvSpPr>
            <a:spLocks noChangeArrowheads="1"/>
          </p:cNvSpPr>
          <p:nvPr/>
        </p:nvSpPr>
        <p:spPr bwMode="auto">
          <a:xfrm>
            <a:off x="7924800" y="26860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2" name="Oval 22"/>
          <p:cNvSpPr>
            <a:spLocks noChangeArrowheads="1"/>
          </p:cNvSpPr>
          <p:nvPr/>
        </p:nvSpPr>
        <p:spPr bwMode="auto">
          <a:xfrm>
            <a:off x="4419600" y="20002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3" name="Oval 23"/>
          <p:cNvSpPr>
            <a:spLocks noChangeArrowheads="1"/>
          </p:cNvSpPr>
          <p:nvPr/>
        </p:nvSpPr>
        <p:spPr bwMode="auto">
          <a:xfrm>
            <a:off x="4876800" y="24003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4" name="Oval 24"/>
          <p:cNvSpPr>
            <a:spLocks noChangeArrowheads="1"/>
          </p:cNvSpPr>
          <p:nvPr/>
        </p:nvSpPr>
        <p:spPr bwMode="auto">
          <a:xfrm>
            <a:off x="5410200" y="22288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5" name="Line 25"/>
          <p:cNvSpPr>
            <a:spLocks noChangeShapeType="1"/>
          </p:cNvSpPr>
          <p:nvPr/>
        </p:nvSpPr>
        <p:spPr bwMode="auto">
          <a:xfrm>
            <a:off x="7543800" y="2400300"/>
            <a:ext cx="5334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6" name="Line 26"/>
          <p:cNvSpPr>
            <a:spLocks noChangeShapeType="1"/>
          </p:cNvSpPr>
          <p:nvPr/>
        </p:nvSpPr>
        <p:spPr bwMode="auto">
          <a:xfrm>
            <a:off x="6248400" y="24003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7" name="Line 27"/>
          <p:cNvSpPr>
            <a:spLocks noChangeShapeType="1"/>
          </p:cNvSpPr>
          <p:nvPr/>
        </p:nvSpPr>
        <p:spPr bwMode="auto">
          <a:xfrm>
            <a:off x="6248400" y="2457450"/>
            <a:ext cx="1752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8" name="Line 28"/>
          <p:cNvSpPr>
            <a:spLocks noChangeShapeType="1"/>
          </p:cNvSpPr>
          <p:nvPr/>
        </p:nvSpPr>
        <p:spPr bwMode="auto">
          <a:xfrm flipH="1">
            <a:off x="4572000" y="177165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69" name="Line 29"/>
          <p:cNvSpPr>
            <a:spLocks noChangeShapeType="1"/>
          </p:cNvSpPr>
          <p:nvPr/>
        </p:nvSpPr>
        <p:spPr bwMode="auto">
          <a:xfrm>
            <a:off x="5486400" y="182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71" name="Line 31"/>
          <p:cNvSpPr>
            <a:spLocks noChangeShapeType="1"/>
          </p:cNvSpPr>
          <p:nvPr/>
        </p:nvSpPr>
        <p:spPr bwMode="auto">
          <a:xfrm>
            <a:off x="4495800" y="2057400"/>
            <a:ext cx="4572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72" name="Line 32"/>
          <p:cNvSpPr>
            <a:spLocks noChangeShapeType="1"/>
          </p:cNvSpPr>
          <p:nvPr/>
        </p:nvSpPr>
        <p:spPr bwMode="auto">
          <a:xfrm flipH="1">
            <a:off x="4953000" y="2286000"/>
            <a:ext cx="5334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73" name="Text Box 33"/>
          <p:cNvSpPr txBox="1">
            <a:spLocks noChangeArrowheads="1"/>
          </p:cNvSpPr>
          <p:nvPr/>
        </p:nvSpPr>
        <p:spPr bwMode="auto">
          <a:xfrm>
            <a:off x="5851525" y="10596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40674" name="Text Box 34"/>
          <p:cNvSpPr txBox="1">
            <a:spLocks noChangeArrowheads="1"/>
          </p:cNvSpPr>
          <p:nvPr/>
        </p:nvSpPr>
        <p:spPr bwMode="auto">
          <a:xfrm>
            <a:off x="7391400" y="10287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40675" name="Text Box 35"/>
          <p:cNvSpPr txBox="1">
            <a:spLocks noChangeArrowheads="1"/>
          </p:cNvSpPr>
          <p:nvPr/>
        </p:nvSpPr>
        <p:spPr bwMode="auto">
          <a:xfrm>
            <a:off x="5089525" y="15168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40676" name="Text Box 36"/>
          <p:cNvSpPr txBox="1">
            <a:spLocks noChangeArrowheads="1"/>
          </p:cNvSpPr>
          <p:nvPr/>
        </p:nvSpPr>
        <p:spPr bwMode="auto">
          <a:xfrm>
            <a:off x="7832725" y="17454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40677" name="Text Box 37"/>
          <p:cNvSpPr txBox="1">
            <a:spLocks noChangeArrowheads="1"/>
          </p:cNvSpPr>
          <p:nvPr/>
        </p:nvSpPr>
        <p:spPr bwMode="auto">
          <a:xfrm>
            <a:off x="6248400" y="21145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40678" name="Text Box 38"/>
          <p:cNvSpPr txBox="1">
            <a:spLocks noChangeArrowheads="1"/>
          </p:cNvSpPr>
          <p:nvPr/>
        </p:nvSpPr>
        <p:spPr bwMode="auto">
          <a:xfrm>
            <a:off x="6918325" y="27170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0679" name="Text Box 39"/>
          <p:cNvSpPr txBox="1">
            <a:spLocks noChangeArrowheads="1"/>
          </p:cNvSpPr>
          <p:nvPr/>
        </p:nvSpPr>
        <p:spPr bwMode="auto">
          <a:xfrm>
            <a:off x="7527925" y="20883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40680" name="Text Box 40"/>
          <p:cNvSpPr txBox="1">
            <a:spLocks noChangeArrowheads="1"/>
          </p:cNvSpPr>
          <p:nvPr/>
        </p:nvSpPr>
        <p:spPr bwMode="auto">
          <a:xfrm>
            <a:off x="8077200" y="25146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40681" name="Text Box 41"/>
          <p:cNvSpPr txBox="1">
            <a:spLocks noChangeArrowheads="1"/>
          </p:cNvSpPr>
          <p:nvPr/>
        </p:nvSpPr>
        <p:spPr bwMode="auto">
          <a:xfrm>
            <a:off x="4098925" y="18026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240682" name="Text Box 42"/>
          <p:cNvSpPr txBox="1">
            <a:spLocks noChangeArrowheads="1"/>
          </p:cNvSpPr>
          <p:nvPr/>
        </p:nvSpPr>
        <p:spPr bwMode="auto">
          <a:xfrm>
            <a:off x="5486400" y="217170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240683" name="Text Box 43"/>
          <p:cNvSpPr txBox="1">
            <a:spLocks noChangeArrowheads="1"/>
          </p:cNvSpPr>
          <p:nvPr/>
        </p:nvSpPr>
        <p:spPr bwMode="auto">
          <a:xfrm>
            <a:off x="4708525" y="2431256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11</a:t>
            </a:r>
          </a:p>
        </p:txBody>
      </p:sp>
      <p:sp>
        <p:nvSpPr>
          <p:cNvPr id="240684" name="Oval 44"/>
          <p:cNvSpPr>
            <a:spLocks noChangeArrowheads="1"/>
          </p:cNvSpPr>
          <p:nvPr/>
        </p:nvSpPr>
        <p:spPr bwMode="auto">
          <a:xfrm>
            <a:off x="2667000" y="15430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85" name="Oval 45"/>
          <p:cNvSpPr>
            <a:spLocks noChangeArrowheads="1"/>
          </p:cNvSpPr>
          <p:nvPr/>
        </p:nvSpPr>
        <p:spPr bwMode="auto">
          <a:xfrm>
            <a:off x="2286000" y="17716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86" name="Oval 46"/>
          <p:cNvSpPr>
            <a:spLocks noChangeArrowheads="1"/>
          </p:cNvSpPr>
          <p:nvPr/>
        </p:nvSpPr>
        <p:spPr bwMode="auto">
          <a:xfrm>
            <a:off x="1828800" y="20574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87" name="Oval 47"/>
          <p:cNvSpPr>
            <a:spLocks noChangeArrowheads="1"/>
          </p:cNvSpPr>
          <p:nvPr/>
        </p:nvSpPr>
        <p:spPr bwMode="auto">
          <a:xfrm>
            <a:off x="1524000" y="24003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88" name="Oval 48"/>
          <p:cNvSpPr>
            <a:spLocks noChangeArrowheads="1"/>
          </p:cNvSpPr>
          <p:nvPr/>
        </p:nvSpPr>
        <p:spPr bwMode="auto">
          <a:xfrm>
            <a:off x="1219200" y="27432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89" name="Oval 49"/>
          <p:cNvSpPr>
            <a:spLocks noChangeArrowheads="1"/>
          </p:cNvSpPr>
          <p:nvPr/>
        </p:nvSpPr>
        <p:spPr bwMode="auto">
          <a:xfrm>
            <a:off x="2133600" y="27432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0" name="Oval 50"/>
          <p:cNvSpPr>
            <a:spLocks noChangeArrowheads="1"/>
          </p:cNvSpPr>
          <p:nvPr/>
        </p:nvSpPr>
        <p:spPr bwMode="auto">
          <a:xfrm>
            <a:off x="1447800" y="30861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1" name="Oval 51"/>
          <p:cNvSpPr>
            <a:spLocks noChangeArrowheads="1"/>
          </p:cNvSpPr>
          <p:nvPr/>
        </p:nvSpPr>
        <p:spPr bwMode="auto">
          <a:xfrm>
            <a:off x="1447800" y="34290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2" name="Oval 52"/>
          <p:cNvSpPr>
            <a:spLocks noChangeArrowheads="1"/>
          </p:cNvSpPr>
          <p:nvPr/>
        </p:nvSpPr>
        <p:spPr bwMode="auto">
          <a:xfrm>
            <a:off x="2286000" y="30861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3" name="Oval 53"/>
          <p:cNvSpPr>
            <a:spLocks noChangeArrowheads="1"/>
          </p:cNvSpPr>
          <p:nvPr/>
        </p:nvSpPr>
        <p:spPr bwMode="auto">
          <a:xfrm>
            <a:off x="2438400" y="34290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4" name="Text Box 54"/>
          <p:cNvSpPr txBox="1">
            <a:spLocks noChangeArrowheads="1"/>
          </p:cNvSpPr>
          <p:nvPr/>
        </p:nvSpPr>
        <p:spPr bwMode="auto">
          <a:xfrm>
            <a:off x="2727325" y="13454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40695" name="Text Box 55"/>
          <p:cNvSpPr txBox="1">
            <a:spLocks noChangeArrowheads="1"/>
          </p:cNvSpPr>
          <p:nvPr/>
        </p:nvSpPr>
        <p:spPr bwMode="auto">
          <a:xfrm>
            <a:off x="2438400" y="16573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40696" name="Text Box 56"/>
          <p:cNvSpPr txBox="1">
            <a:spLocks noChangeArrowheads="1"/>
          </p:cNvSpPr>
          <p:nvPr/>
        </p:nvSpPr>
        <p:spPr bwMode="auto">
          <a:xfrm>
            <a:off x="1981200" y="18859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40697" name="Line 57"/>
          <p:cNvSpPr>
            <a:spLocks noChangeShapeType="1"/>
          </p:cNvSpPr>
          <p:nvPr/>
        </p:nvSpPr>
        <p:spPr bwMode="auto">
          <a:xfrm flipV="1">
            <a:off x="1905000" y="1828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8" name="Line 58"/>
          <p:cNvSpPr>
            <a:spLocks noChangeShapeType="1"/>
          </p:cNvSpPr>
          <p:nvPr/>
        </p:nvSpPr>
        <p:spPr bwMode="auto">
          <a:xfrm flipV="1">
            <a:off x="2362200" y="1600200"/>
            <a:ext cx="3810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699" name="Text Box 59"/>
          <p:cNvSpPr txBox="1">
            <a:spLocks noChangeArrowheads="1"/>
          </p:cNvSpPr>
          <p:nvPr/>
        </p:nvSpPr>
        <p:spPr bwMode="auto">
          <a:xfrm>
            <a:off x="1219200" y="22288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40700" name="Text Box 60"/>
          <p:cNvSpPr txBox="1">
            <a:spLocks noChangeArrowheads="1"/>
          </p:cNvSpPr>
          <p:nvPr/>
        </p:nvSpPr>
        <p:spPr bwMode="auto">
          <a:xfrm>
            <a:off x="914400" y="26289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40701" name="Line 61"/>
          <p:cNvSpPr>
            <a:spLocks noChangeShapeType="1"/>
          </p:cNvSpPr>
          <p:nvPr/>
        </p:nvSpPr>
        <p:spPr bwMode="auto">
          <a:xfrm flipH="1">
            <a:off x="1600200" y="2114550"/>
            <a:ext cx="3048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02" name="Line 62"/>
          <p:cNvSpPr>
            <a:spLocks noChangeShapeType="1"/>
          </p:cNvSpPr>
          <p:nvPr/>
        </p:nvSpPr>
        <p:spPr bwMode="auto">
          <a:xfrm flipV="1">
            <a:off x="1295400" y="2457450"/>
            <a:ext cx="228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04" name="Oval 64"/>
          <p:cNvSpPr>
            <a:spLocks noChangeArrowheads="1"/>
          </p:cNvSpPr>
          <p:nvPr/>
        </p:nvSpPr>
        <p:spPr bwMode="auto">
          <a:xfrm>
            <a:off x="914400" y="30861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05" name="Text Box 65"/>
          <p:cNvSpPr txBox="1">
            <a:spLocks noChangeArrowheads="1"/>
          </p:cNvSpPr>
          <p:nvPr/>
        </p:nvSpPr>
        <p:spPr bwMode="auto">
          <a:xfrm>
            <a:off x="669925" y="31170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0706" name="Line 66"/>
          <p:cNvSpPr>
            <a:spLocks noChangeShapeType="1"/>
          </p:cNvSpPr>
          <p:nvPr/>
        </p:nvSpPr>
        <p:spPr bwMode="auto">
          <a:xfrm flipV="1">
            <a:off x="990600" y="2800350"/>
            <a:ext cx="3048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07" name="Text Box 67"/>
          <p:cNvSpPr txBox="1">
            <a:spLocks noChangeArrowheads="1"/>
          </p:cNvSpPr>
          <p:nvPr/>
        </p:nvSpPr>
        <p:spPr bwMode="auto">
          <a:xfrm>
            <a:off x="1508125" y="29456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40708" name="Text Box 68"/>
          <p:cNvSpPr txBox="1">
            <a:spLocks noChangeArrowheads="1"/>
          </p:cNvSpPr>
          <p:nvPr/>
        </p:nvSpPr>
        <p:spPr bwMode="auto">
          <a:xfrm>
            <a:off x="1600200" y="33147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40710" name="Line 70"/>
          <p:cNvSpPr>
            <a:spLocks noChangeShapeType="1"/>
          </p:cNvSpPr>
          <p:nvPr/>
        </p:nvSpPr>
        <p:spPr bwMode="auto">
          <a:xfrm>
            <a:off x="1295400" y="2800350"/>
            <a:ext cx="2286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11" name="Line 71"/>
          <p:cNvSpPr>
            <a:spLocks noChangeShapeType="1"/>
          </p:cNvSpPr>
          <p:nvPr/>
        </p:nvSpPr>
        <p:spPr bwMode="auto">
          <a:xfrm>
            <a:off x="1524000" y="3143250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12" name="Text Box 72"/>
          <p:cNvSpPr txBox="1">
            <a:spLocks noChangeArrowheads="1"/>
          </p:cNvSpPr>
          <p:nvPr/>
        </p:nvSpPr>
        <p:spPr bwMode="auto">
          <a:xfrm>
            <a:off x="2346325" y="25455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240713" name="Text Box 73"/>
          <p:cNvSpPr txBox="1">
            <a:spLocks noChangeArrowheads="1"/>
          </p:cNvSpPr>
          <p:nvPr/>
        </p:nvSpPr>
        <p:spPr bwMode="auto">
          <a:xfrm>
            <a:off x="2362200" y="291465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11</a:t>
            </a:r>
          </a:p>
        </p:txBody>
      </p:sp>
      <p:sp>
        <p:nvSpPr>
          <p:cNvPr id="240714" name="Text Box 74"/>
          <p:cNvSpPr txBox="1">
            <a:spLocks noChangeArrowheads="1"/>
          </p:cNvSpPr>
          <p:nvPr/>
        </p:nvSpPr>
        <p:spPr bwMode="auto">
          <a:xfrm>
            <a:off x="2514600" y="331470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240715" name="Line 75"/>
          <p:cNvSpPr>
            <a:spLocks noChangeShapeType="1"/>
          </p:cNvSpPr>
          <p:nvPr/>
        </p:nvSpPr>
        <p:spPr bwMode="auto">
          <a:xfrm>
            <a:off x="1600200" y="2457450"/>
            <a:ext cx="609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16" name="Line 76"/>
          <p:cNvSpPr>
            <a:spLocks noChangeShapeType="1"/>
          </p:cNvSpPr>
          <p:nvPr/>
        </p:nvSpPr>
        <p:spPr bwMode="auto">
          <a:xfrm>
            <a:off x="2209800" y="2800350"/>
            <a:ext cx="1524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17" name="Line 77"/>
          <p:cNvSpPr>
            <a:spLocks noChangeShapeType="1"/>
          </p:cNvSpPr>
          <p:nvPr/>
        </p:nvSpPr>
        <p:spPr bwMode="auto">
          <a:xfrm>
            <a:off x="2438400" y="3143250"/>
            <a:ext cx="762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0718" name="Text Box 78"/>
          <p:cNvSpPr txBox="1">
            <a:spLocks noChangeArrowheads="1"/>
          </p:cNvSpPr>
          <p:nvPr/>
        </p:nvSpPr>
        <p:spPr bwMode="auto">
          <a:xfrm>
            <a:off x="1143000" y="3714750"/>
            <a:ext cx="9944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DFS Tree</a:t>
            </a:r>
          </a:p>
        </p:txBody>
      </p:sp>
      <p:sp>
        <p:nvSpPr>
          <p:cNvPr id="240719" name="Text Box 79"/>
          <p:cNvSpPr txBox="1">
            <a:spLocks noChangeArrowheads="1"/>
          </p:cNvSpPr>
          <p:nvPr/>
        </p:nvSpPr>
        <p:spPr bwMode="auto">
          <a:xfrm>
            <a:off x="5172076" y="3059906"/>
            <a:ext cx="9589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Graph 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Implementation of DFS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4450"/>
            <a:ext cx="7772400" cy="325755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Observations: </a:t>
            </a:r>
          </a:p>
          <a:p>
            <a:pPr lvl="1"/>
            <a:r>
              <a:rPr lang="en-US"/>
              <a:t>the last node visited is the first node from which to proceed. </a:t>
            </a:r>
          </a:p>
          <a:p>
            <a:pPr lvl="1"/>
            <a:r>
              <a:rPr lang="en-US"/>
              <a:t>Also, the backtracking proceeds on the basis of "last visited, first to backtrack too". </a:t>
            </a:r>
          </a:p>
          <a:p>
            <a:pPr lvl="1"/>
            <a:r>
              <a:rPr lang="en-US"/>
              <a:t>This suggests that a stack is the proper data structure to remember the current node and how to backtrack.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Illustrate DFS with a Stack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redo the DFS on the previous graph, but this time with stacks</a:t>
            </a:r>
          </a:p>
          <a:p>
            <a:r>
              <a:rPr lang="en-US" dirty="0"/>
              <a:t>In Class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0005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DFS (Pseudo Code)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DFS(input: Graph G)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Stack S; Integer x, t;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   	while (G has an unvisited node x){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visit(x); push(x,S);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while (S is not empty){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t := peek(S);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if (t has an unvisited neighbor y){ 					visit(y); push(y,S);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else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	pop(S);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2286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C++ Code for DFS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800100"/>
            <a:ext cx="7772400" cy="3771900"/>
          </a:xfrm>
        </p:spPr>
        <p:txBody>
          <a:bodyPr/>
          <a:lstStyle/>
          <a:p>
            <a:endParaRPr lang="en-US"/>
          </a:p>
        </p:txBody>
      </p:sp>
      <p:sp>
        <p:nvSpPr>
          <p:cNvPr id="244740" name="Rectangle 4"/>
          <p:cNvSpPr>
            <a:spLocks noChangeArrowheads="1"/>
          </p:cNvSpPr>
          <p:nvPr/>
        </p:nvSpPr>
        <p:spPr bwMode="auto">
          <a:xfrm>
            <a:off x="685800" y="685800"/>
            <a:ext cx="7848600" cy="4000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* </a:t>
            </a:r>
            <a:r>
              <a:rPr lang="en-US" sz="2000" dirty="0" err="1">
                <a:solidFill>
                  <a:schemeClr val="bg1"/>
                </a:solidFill>
              </a:rPr>
              <a:t>dfs</a:t>
            </a:r>
            <a:r>
              <a:rPr lang="en-US" sz="2000" dirty="0">
                <a:solidFill>
                  <a:schemeClr val="bg1"/>
                </a:solidFill>
              </a:rPr>
              <a:t>(Graph G){ // returns a parent array representing the DFS tree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 	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n=</a:t>
            </a:r>
            <a:r>
              <a:rPr lang="en-US" sz="2000" dirty="0" err="1">
                <a:solidFill>
                  <a:schemeClr val="bg1"/>
                </a:solidFill>
              </a:rPr>
              <a:t>G.getNumberOfNodes</a:t>
            </a:r>
            <a:r>
              <a:rPr lang="en-US" sz="2000" dirty="0">
                <a:solidFill>
                  <a:schemeClr val="bg1"/>
                </a:solidFill>
              </a:rPr>
              <a:t>();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	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* parent = </a:t>
            </a:r>
            <a:r>
              <a:rPr lang="en-US" sz="2000" b="1" dirty="0">
                <a:solidFill>
                  <a:schemeClr val="bg1"/>
                </a:solidFill>
              </a:rPr>
              <a:t>new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[n];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Stack S(n);  </a:t>
            </a:r>
            <a:r>
              <a:rPr lang="en-US" sz="2000" b="1" dirty="0" err="1">
                <a:solidFill>
                  <a:schemeClr val="bg1"/>
                </a:solidFill>
              </a:rPr>
              <a:t>bool</a:t>
            </a:r>
            <a:r>
              <a:rPr lang="en-US" sz="2000" dirty="0">
                <a:solidFill>
                  <a:schemeClr val="bg1"/>
                </a:solidFill>
              </a:rPr>
              <a:t> visited[n];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>
                <a:solidFill>
                  <a:schemeClr val="bg1"/>
                </a:solidFill>
              </a:rPr>
              <a:t>for</a:t>
            </a:r>
            <a:r>
              <a:rPr lang="en-US" sz="2000" dirty="0">
                <a:solidFill>
                  <a:schemeClr val="bg1"/>
                </a:solidFill>
              </a:rPr>
              <a:t> (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=0;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&lt;n;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++)	visited[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]=</a:t>
            </a:r>
            <a:r>
              <a:rPr lang="en-US" sz="2000" b="1" dirty="0">
                <a:solidFill>
                  <a:schemeClr val="bg1"/>
                </a:solidFill>
              </a:rPr>
              <a:t>false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x=0;	// begin DFS from node 0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numOfConnectedComponents</a:t>
            </a:r>
            <a:r>
              <a:rPr lang="en-US" sz="2000" dirty="0">
                <a:solidFill>
                  <a:schemeClr val="bg1"/>
                </a:solidFill>
              </a:rPr>
              <a:t>=0;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>
                <a:solidFill>
                  <a:schemeClr val="bg1"/>
                </a:solidFill>
              </a:rPr>
              <a:t>while</a:t>
            </a:r>
            <a:r>
              <a:rPr lang="en-US" sz="2000" dirty="0">
                <a:solidFill>
                  <a:schemeClr val="bg1"/>
                </a:solidFill>
              </a:rPr>
              <a:t> (x&lt;n){	// begin a new DFS from x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	    </a:t>
            </a:r>
            <a:r>
              <a:rPr lang="en-US" sz="2000" dirty="0" err="1">
                <a:solidFill>
                  <a:schemeClr val="bg1"/>
                </a:solidFill>
              </a:rPr>
              <a:t>numOfConnectedComponents</a:t>
            </a:r>
            <a:r>
              <a:rPr lang="en-US" sz="2000" dirty="0">
                <a:solidFill>
                  <a:schemeClr val="bg1"/>
                </a:solidFill>
              </a:rPr>
              <a:t>++;		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	    visited[x]=</a:t>
            </a:r>
            <a:r>
              <a:rPr lang="en-US" sz="2000" b="1" dirty="0">
                <a:solidFill>
                  <a:schemeClr val="bg1"/>
                </a:solidFill>
              </a:rPr>
              <a:t>true</a:t>
            </a:r>
            <a:r>
              <a:rPr lang="en-US" sz="2000" dirty="0">
                <a:solidFill>
                  <a:schemeClr val="bg1"/>
                </a:solidFill>
              </a:rPr>
              <a:t>;  </a:t>
            </a:r>
            <a:r>
              <a:rPr lang="en-US" sz="2000" dirty="0" err="1">
                <a:solidFill>
                  <a:schemeClr val="bg1"/>
                </a:solidFill>
              </a:rPr>
              <a:t>S.push</a:t>
            </a:r>
            <a:r>
              <a:rPr lang="en-US" sz="2000" dirty="0">
                <a:solidFill>
                  <a:schemeClr val="bg1"/>
                </a:solidFill>
              </a:rPr>
              <a:t>(x); parent[x] = -1; // x is root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   </a:t>
            </a:r>
            <a:r>
              <a:rPr lang="en-US" sz="2000" b="1" dirty="0">
                <a:solidFill>
                  <a:schemeClr val="bg1"/>
                </a:solidFill>
              </a:rPr>
              <a:t>while</a:t>
            </a:r>
            <a:r>
              <a:rPr lang="en-US" sz="2000" dirty="0">
                <a:solidFill>
                  <a:schemeClr val="bg1"/>
                </a:solidFill>
              </a:rPr>
              <a:t>(!</a:t>
            </a:r>
            <a:r>
              <a:rPr lang="en-US" sz="2000" dirty="0" err="1">
                <a:solidFill>
                  <a:schemeClr val="bg1"/>
                </a:solidFill>
              </a:rPr>
              <a:t>S.isEmpty</a:t>
            </a:r>
            <a:r>
              <a:rPr lang="en-US" sz="2000" dirty="0">
                <a:solidFill>
                  <a:schemeClr val="bg1"/>
                </a:solidFill>
              </a:rPr>
              <a:t>()) 	 // traverse the current piece</a:t>
            </a:r>
            <a:endParaRPr lang="en-US" sz="18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	// insert here the yellow box from the next slide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    x= </a:t>
            </a:r>
            <a:r>
              <a:rPr lang="en-US" sz="2000" dirty="0" err="1">
                <a:solidFill>
                  <a:schemeClr val="bg1"/>
                </a:solidFill>
              </a:rPr>
              <a:t>getNextUnvisited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visited,n,x</a:t>
            </a:r>
            <a:r>
              <a:rPr lang="en-US" sz="2000" dirty="0">
                <a:solidFill>
                  <a:schemeClr val="bg1"/>
                </a:solidFill>
              </a:rPr>
              <a:t>);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	 }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dirty="0" err="1">
                <a:solidFill>
                  <a:schemeClr val="bg1"/>
                </a:solidFill>
              </a:rPr>
              <a:t>cout</a:t>
            </a:r>
            <a:r>
              <a:rPr lang="en-US" sz="2000" dirty="0">
                <a:solidFill>
                  <a:schemeClr val="bg1"/>
                </a:solidFill>
              </a:rPr>
              <a:t>&lt;&lt;“Graph has “&lt;&lt; </a:t>
            </a:r>
            <a:r>
              <a:rPr lang="en-US" sz="2000" dirty="0" err="1">
                <a:solidFill>
                  <a:schemeClr val="bg1"/>
                </a:solidFill>
              </a:rPr>
              <a:t>numOfConnectedComponents</a:t>
            </a:r>
            <a:r>
              <a:rPr lang="en-US" sz="2000" dirty="0">
                <a:solidFill>
                  <a:schemeClr val="bg1"/>
                </a:solidFill>
              </a:rPr>
              <a:t>&lt;&lt;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		“ connected components\n”;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>
                <a:solidFill>
                  <a:schemeClr val="bg1"/>
                </a:solidFill>
              </a:rPr>
              <a:t>return</a:t>
            </a:r>
            <a:r>
              <a:rPr lang="en-US" sz="2000" dirty="0">
                <a:solidFill>
                  <a:schemeClr val="bg1"/>
                </a:solidFill>
              </a:rPr>
              <a:t> p;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285750"/>
          </a:xfrm>
        </p:spPr>
        <p:txBody>
          <a:bodyPr>
            <a:normAutofit fontScale="90000"/>
          </a:bodyPr>
          <a:lstStyle/>
          <a:p>
            <a:endParaRPr lang="en-US" sz="400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14350"/>
            <a:ext cx="7924800" cy="4057650"/>
          </a:xfrm>
        </p:spPr>
        <p:txBody>
          <a:bodyPr/>
          <a:lstStyle/>
          <a:p>
            <a:pPr>
              <a:buFontTx/>
              <a:buNone/>
            </a:pPr>
            <a:endParaRPr lang="en-US"/>
          </a:p>
        </p:txBody>
      </p:sp>
      <p:sp>
        <p:nvSpPr>
          <p:cNvPr id="245764" name="Rectangle 4"/>
          <p:cNvSpPr>
            <a:spLocks noChangeArrowheads="1"/>
          </p:cNvSpPr>
          <p:nvPr/>
        </p:nvSpPr>
        <p:spPr bwMode="auto">
          <a:xfrm>
            <a:off x="685800" y="457200"/>
            <a:ext cx="3962400" cy="2743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 sz="2000" dirty="0"/>
              <a:t>{</a:t>
            </a:r>
          </a:p>
          <a:p>
            <a:pPr lvl="1" algn="just"/>
            <a:r>
              <a:rPr lang="en-US" sz="2000" b="1" dirty="0" err="1"/>
              <a:t>int</a:t>
            </a:r>
            <a:r>
              <a:rPr lang="en-US" sz="2000" dirty="0"/>
              <a:t> t=</a:t>
            </a:r>
            <a:r>
              <a:rPr lang="en-US" sz="2000" dirty="0" err="1"/>
              <a:t>S.peek</a:t>
            </a:r>
            <a:r>
              <a:rPr lang="en-US" sz="2000" dirty="0"/>
              <a:t>( );</a:t>
            </a:r>
          </a:p>
          <a:p>
            <a:pPr lvl="1" algn="just"/>
            <a:r>
              <a:rPr lang="en-US" sz="2000" b="1" dirty="0" err="1"/>
              <a:t>int</a:t>
            </a:r>
            <a:r>
              <a:rPr lang="en-US" sz="2000" dirty="0"/>
              <a:t> y=</a:t>
            </a:r>
            <a:r>
              <a:rPr lang="en-US" sz="2000" dirty="0" err="1"/>
              <a:t>getNextUnvisitedNeighbor</a:t>
            </a:r>
            <a:r>
              <a:rPr lang="en-US" sz="2000" dirty="0"/>
              <a:t>(</a:t>
            </a:r>
          </a:p>
          <a:p>
            <a:pPr lvl="1" algn="just"/>
            <a:r>
              <a:rPr lang="en-US" sz="2000" dirty="0"/>
              <a:t>		       </a:t>
            </a:r>
            <a:r>
              <a:rPr lang="en-US" sz="2000" dirty="0" err="1"/>
              <a:t>t,G,visited,n</a:t>
            </a:r>
            <a:r>
              <a:rPr lang="en-US" sz="2000" dirty="0"/>
              <a:t>);</a:t>
            </a:r>
          </a:p>
          <a:p>
            <a:pPr lvl="1" algn="just"/>
            <a:r>
              <a:rPr lang="en-US" sz="2000" b="1" dirty="0"/>
              <a:t>if</a:t>
            </a:r>
            <a:r>
              <a:rPr lang="en-US" sz="2000" dirty="0"/>
              <a:t> (y&lt;n){</a:t>
            </a:r>
          </a:p>
          <a:p>
            <a:pPr lvl="1" algn="just"/>
            <a:r>
              <a:rPr lang="en-US" sz="2000" dirty="0"/>
              <a:t>	visited[y]=</a:t>
            </a:r>
            <a:r>
              <a:rPr lang="en-US" sz="2000" b="1" dirty="0"/>
              <a:t>true</a:t>
            </a:r>
            <a:r>
              <a:rPr lang="en-US" sz="2000" dirty="0"/>
              <a:t>;</a:t>
            </a:r>
          </a:p>
          <a:p>
            <a:pPr lvl="1" algn="just"/>
            <a:r>
              <a:rPr lang="en-US" sz="2000" dirty="0"/>
              <a:t>	</a:t>
            </a:r>
            <a:r>
              <a:rPr lang="en-US" sz="2000" dirty="0" err="1"/>
              <a:t>S.push</a:t>
            </a:r>
            <a:r>
              <a:rPr lang="en-US" sz="2000" dirty="0"/>
              <a:t>(y);</a:t>
            </a:r>
          </a:p>
          <a:p>
            <a:pPr lvl="1" algn="just"/>
            <a:r>
              <a:rPr lang="en-US" sz="2000" dirty="0"/>
              <a:t>	parent[y]=t;</a:t>
            </a:r>
          </a:p>
          <a:p>
            <a:pPr lvl="1" algn="just"/>
            <a:r>
              <a:rPr lang="en-US" sz="2000" dirty="0"/>
              <a:t>}</a:t>
            </a:r>
          </a:p>
          <a:p>
            <a:pPr lvl="1" algn="just"/>
            <a:r>
              <a:rPr lang="en-US" sz="2000" b="1" dirty="0"/>
              <a:t>else    </a:t>
            </a:r>
            <a:r>
              <a:rPr lang="en-US" sz="2000" dirty="0"/>
              <a:t>S.pop( );</a:t>
            </a:r>
            <a:r>
              <a:rPr lang="en-US" dirty="0"/>
              <a:t> </a:t>
            </a:r>
          </a:p>
          <a:p>
            <a:pPr algn="just"/>
            <a:r>
              <a:rPr lang="en-US" sz="2000" dirty="0"/>
              <a:t>}</a:t>
            </a:r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685800" y="3257550"/>
            <a:ext cx="78486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//Put this before </a:t>
            </a:r>
            <a:r>
              <a:rPr lang="en-US" sz="2000" dirty="0" err="1">
                <a:solidFill>
                  <a:schemeClr val="bg1"/>
                </a:solidFill>
              </a:rPr>
              <a:t>dfs</a:t>
            </a:r>
            <a:r>
              <a:rPr lang="en-US" sz="2000" dirty="0">
                <a:solidFill>
                  <a:schemeClr val="bg1"/>
                </a:solidFill>
              </a:rPr>
              <a:t>(…). This returns the next unvisited node, or n otherwise</a:t>
            </a:r>
            <a:endParaRPr lang="en-US" sz="18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getNextUnvisited</a:t>
            </a:r>
            <a:r>
              <a:rPr lang="en-US" sz="2000" b="1" dirty="0">
                <a:solidFill>
                  <a:schemeClr val="bg1"/>
                </a:solidFill>
              </a:rPr>
              <a:t>(</a:t>
            </a:r>
            <a:r>
              <a:rPr lang="en-US" sz="2000" b="1" dirty="0" err="1">
                <a:solidFill>
                  <a:schemeClr val="bg1"/>
                </a:solidFill>
              </a:rPr>
              <a:t>bool</a:t>
            </a:r>
            <a:r>
              <a:rPr lang="en-US" sz="2000" dirty="0">
                <a:solidFill>
                  <a:schemeClr val="bg1"/>
                </a:solidFill>
              </a:rPr>
              <a:t> visited[],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n,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lastVisited</a:t>
            </a:r>
            <a:r>
              <a:rPr lang="en-US" sz="2000" dirty="0">
                <a:solidFill>
                  <a:schemeClr val="bg1"/>
                </a:solidFill>
              </a:rPr>
              <a:t>){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j=lastVisited+1;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</a:t>
            </a:r>
            <a:r>
              <a:rPr lang="en-US" sz="2000" b="1" dirty="0">
                <a:solidFill>
                  <a:schemeClr val="bg1"/>
                </a:solidFill>
              </a:rPr>
              <a:t>while</a:t>
            </a:r>
            <a:r>
              <a:rPr lang="en-US" sz="2000" dirty="0">
                <a:solidFill>
                  <a:schemeClr val="bg1"/>
                </a:solidFill>
              </a:rPr>
              <a:t> (visited[j] &amp;&amp; j&lt;n)     j++;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</a:t>
            </a:r>
            <a:r>
              <a:rPr lang="en-US" sz="2000" b="1" dirty="0">
                <a:solidFill>
                  <a:schemeClr val="bg1"/>
                </a:solidFill>
              </a:rPr>
              <a:t>return</a:t>
            </a:r>
            <a:r>
              <a:rPr lang="en-US" sz="2000" dirty="0">
                <a:solidFill>
                  <a:schemeClr val="bg1"/>
                </a:solidFill>
              </a:rPr>
              <a:t> j;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4724400" y="457200"/>
            <a:ext cx="3810000" cy="2743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// Put this before </a:t>
            </a:r>
            <a:r>
              <a:rPr lang="en-US" sz="2000" dirty="0" err="1">
                <a:solidFill>
                  <a:schemeClr val="bg1"/>
                </a:solidFill>
              </a:rPr>
              <a:t>dfs</a:t>
            </a:r>
            <a:r>
              <a:rPr lang="en-US" sz="2000" dirty="0">
                <a:solidFill>
                  <a:schemeClr val="bg1"/>
                </a:solidFill>
              </a:rPr>
              <a:t>(…)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// returns the leftmost unvisited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// neighbor of node t. If none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// remains, returns n.</a:t>
            </a: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getNextUnvisitedNeighbor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t,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  graph G,  </a:t>
            </a:r>
            <a:r>
              <a:rPr lang="en-US" sz="2000" b="1" dirty="0" err="1">
                <a:solidFill>
                  <a:schemeClr val="bg1"/>
                </a:solidFill>
              </a:rPr>
              <a:t>bool</a:t>
            </a:r>
            <a:r>
              <a:rPr lang="en-US" sz="2000" dirty="0">
                <a:solidFill>
                  <a:schemeClr val="bg1"/>
                </a:solidFill>
              </a:rPr>
              <a:t> visited[],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n){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b="1" dirty="0">
                <a:solidFill>
                  <a:schemeClr val="bg1"/>
                </a:solidFill>
              </a:rPr>
              <a:t>for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b="1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 j=0;j&lt;</a:t>
            </a:r>
            <a:r>
              <a:rPr lang="en-US" sz="2000" dirty="0" err="1">
                <a:solidFill>
                  <a:schemeClr val="bg1"/>
                </a:solidFill>
              </a:rPr>
              <a:t>n;j</a:t>
            </a:r>
            <a:r>
              <a:rPr lang="en-US" sz="2000" dirty="0">
                <a:solidFill>
                  <a:schemeClr val="bg1"/>
                </a:solidFill>
              </a:rPr>
              <a:t>++)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 </a:t>
            </a:r>
            <a:r>
              <a:rPr lang="en-US" sz="2000" b="1" dirty="0">
                <a:solidFill>
                  <a:schemeClr val="bg1"/>
                </a:solidFill>
              </a:rPr>
              <a:t>if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G.isEdge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t,j</a:t>
            </a:r>
            <a:r>
              <a:rPr lang="en-US" sz="2000" dirty="0">
                <a:solidFill>
                  <a:schemeClr val="bg1"/>
                </a:solidFill>
              </a:rPr>
              <a:t>) &amp;&amp; !visited[j])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b="1" dirty="0">
                <a:solidFill>
                  <a:schemeClr val="bg1"/>
                </a:solidFill>
              </a:rPr>
              <a:t>return</a:t>
            </a:r>
            <a:r>
              <a:rPr lang="en-US" sz="2000" dirty="0">
                <a:solidFill>
                  <a:schemeClr val="bg1"/>
                </a:solidFill>
              </a:rPr>
              <a:t> j;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// if no unvisited neighbors left: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b="1" dirty="0">
                <a:solidFill>
                  <a:schemeClr val="bg1"/>
                </a:solidFill>
              </a:rPr>
              <a:t>return</a:t>
            </a:r>
            <a:r>
              <a:rPr lang="en-US" sz="2000" dirty="0">
                <a:solidFill>
                  <a:schemeClr val="bg1"/>
                </a:solidFill>
              </a:rPr>
              <a:t> n;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0005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Breadth-First Search 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71550"/>
            <a:ext cx="7772400" cy="3600450"/>
          </a:xfrm>
        </p:spPr>
        <p:txBody>
          <a:bodyPr>
            <a:normAutofit fontScale="92500"/>
          </a:bodyPr>
          <a:lstStyle/>
          <a:p>
            <a:pPr marL="457200" indent="-457200"/>
            <a:r>
              <a:rPr lang="en-US" sz="2800"/>
              <a:t>BFS follows the following rules: </a:t>
            </a:r>
          </a:p>
          <a:p>
            <a:pPr marL="838200" lvl="1" indent="-381000">
              <a:buFontTx/>
              <a:buAutoNum type="arabicPeriod"/>
            </a:pPr>
            <a:r>
              <a:rPr lang="en-US" sz="2400"/>
              <a:t>Select an unvisited node x, visit it, have it be the root in a BFS tree being formed. Its level is called the current level. </a:t>
            </a:r>
          </a:p>
          <a:p>
            <a:pPr marL="838200" lvl="1" indent="-381000">
              <a:buFontTx/>
              <a:buAutoNum type="arabicPeriod"/>
            </a:pPr>
            <a:r>
              <a:rPr lang="en-US" sz="2400"/>
              <a:t>From each node z in the current level, in the order in which the level nodes were visited, visit all the unvisited neighbors of z. The newly visited nodes from this level form a new level that becomes the next current level. </a:t>
            </a:r>
          </a:p>
          <a:p>
            <a:pPr marL="838200" lvl="1" indent="-381000">
              <a:buFontTx/>
              <a:buAutoNum type="arabicPeriod"/>
            </a:pPr>
            <a:r>
              <a:rPr lang="en-US" sz="2400"/>
              <a:t>Repeat step 2 until no more nodes can be visited. </a:t>
            </a:r>
          </a:p>
          <a:p>
            <a:pPr marL="838200" lvl="1" indent="-381000">
              <a:buFontTx/>
              <a:buAutoNum type="arabicPeriod"/>
            </a:pPr>
            <a:r>
              <a:rPr lang="en-US" sz="2400"/>
              <a:t>If there are still unvisited nodes, repeat from Step 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Illustration of BFS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/>
          <a:lstStyle/>
          <a:p>
            <a:endParaRPr lang="en-US"/>
          </a:p>
        </p:txBody>
      </p:sp>
      <p:sp>
        <p:nvSpPr>
          <p:cNvPr id="248836" name="Oval 4"/>
          <p:cNvSpPr>
            <a:spLocks noChangeArrowheads="1"/>
          </p:cNvSpPr>
          <p:nvPr/>
        </p:nvSpPr>
        <p:spPr bwMode="auto">
          <a:xfrm>
            <a:off x="5419725" y="1746648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37" name="Oval 5"/>
          <p:cNvSpPr>
            <a:spLocks noChangeArrowheads="1"/>
          </p:cNvSpPr>
          <p:nvPr/>
        </p:nvSpPr>
        <p:spPr bwMode="auto">
          <a:xfrm>
            <a:off x="6138863" y="1266825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38" name="Oval 6"/>
          <p:cNvSpPr>
            <a:spLocks noChangeArrowheads="1"/>
          </p:cNvSpPr>
          <p:nvPr/>
        </p:nvSpPr>
        <p:spPr bwMode="auto">
          <a:xfrm>
            <a:off x="6194425" y="2370535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39" name="Oval 7"/>
          <p:cNvSpPr>
            <a:spLocks noChangeArrowheads="1"/>
          </p:cNvSpPr>
          <p:nvPr/>
        </p:nvSpPr>
        <p:spPr bwMode="auto">
          <a:xfrm>
            <a:off x="7467600" y="23431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40" name="Oval 8"/>
          <p:cNvSpPr>
            <a:spLocks noChangeArrowheads="1"/>
          </p:cNvSpPr>
          <p:nvPr/>
        </p:nvSpPr>
        <p:spPr bwMode="auto">
          <a:xfrm>
            <a:off x="8074025" y="1699023"/>
            <a:ext cx="165100" cy="964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41" name="Oval 9"/>
          <p:cNvSpPr>
            <a:spLocks noChangeArrowheads="1"/>
          </p:cNvSpPr>
          <p:nvPr/>
        </p:nvSpPr>
        <p:spPr bwMode="auto">
          <a:xfrm>
            <a:off x="7299325" y="1266825"/>
            <a:ext cx="165100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42" name="Line 10"/>
          <p:cNvSpPr>
            <a:spLocks noChangeShapeType="1"/>
          </p:cNvSpPr>
          <p:nvPr/>
        </p:nvSpPr>
        <p:spPr bwMode="auto">
          <a:xfrm>
            <a:off x="6248400" y="1314450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3" name="Line 11"/>
          <p:cNvSpPr>
            <a:spLocks noChangeShapeType="1"/>
          </p:cNvSpPr>
          <p:nvPr/>
        </p:nvSpPr>
        <p:spPr bwMode="auto">
          <a:xfrm>
            <a:off x="5530850" y="1795463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4" name="Line 12"/>
          <p:cNvSpPr>
            <a:spLocks noChangeShapeType="1"/>
          </p:cNvSpPr>
          <p:nvPr/>
        </p:nvSpPr>
        <p:spPr bwMode="auto">
          <a:xfrm flipV="1">
            <a:off x="5530851" y="1314450"/>
            <a:ext cx="663575" cy="481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5" name="Line 13"/>
          <p:cNvSpPr>
            <a:spLocks noChangeShapeType="1"/>
          </p:cNvSpPr>
          <p:nvPr/>
        </p:nvSpPr>
        <p:spPr bwMode="auto">
          <a:xfrm>
            <a:off x="7410450" y="1314451"/>
            <a:ext cx="717550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6" name="Line 14"/>
          <p:cNvSpPr>
            <a:spLocks noChangeShapeType="1"/>
          </p:cNvSpPr>
          <p:nvPr/>
        </p:nvSpPr>
        <p:spPr bwMode="auto">
          <a:xfrm>
            <a:off x="6303964" y="2419350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7" name="Line 15"/>
          <p:cNvSpPr>
            <a:spLocks noChangeShapeType="1"/>
          </p:cNvSpPr>
          <p:nvPr/>
        </p:nvSpPr>
        <p:spPr bwMode="auto">
          <a:xfrm>
            <a:off x="6248401" y="1314451"/>
            <a:ext cx="1825625" cy="4321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8" name="Line 16"/>
          <p:cNvSpPr>
            <a:spLocks noChangeShapeType="1"/>
          </p:cNvSpPr>
          <p:nvPr/>
        </p:nvSpPr>
        <p:spPr bwMode="auto">
          <a:xfrm flipH="1" flipV="1">
            <a:off x="5495925" y="1838325"/>
            <a:ext cx="76200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48849" name="Oval 17"/>
          <p:cNvSpPr>
            <a:spLocks noChangeArrowheads="1"/>
          </p:cNvSpPr>
          <p:nvPr/>
        </p:nvSpPr>
        <p:spPr bwMode="auto">
          <a:xfrm>
            <a:off x="6781800" y="28003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0" name="Oval 18"/>
          <p:cNvSpPr>
            <a:spLocks noChangeArrowheads="1"/>
          </p:cNvSpPr>
          <p:nvPr/>
        </p:nvSpPr>
        <p:spPr bwMode="auto">
          <a:xfrm>
            <a:off x="7924800" y="26860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1" name="Oval 19"/>
          <p:cNvSpPr>
            <a:spLocks noChangeArrowheads="1"/>
          </p:cNvSpPr>
          <p:nvPr/>
        </p:nvSpPr>
        <p:spPr bwMode="auto">
          <a:xfrm>
            <a:off x="4419600" y="20002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2" name="Oval 20"/>
          <p:cNvSpPr>
            <a:spLocks noChangeArrowheads="1"/>
          </p:cNvSpPr>
          <p:nvPr/>
        </p:nvSpPr>
        <p:spPr bwMode="auto">
          <a:xfrm>
            <a:off x="4876800" y="24003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3" name="Oval 21"/>
          <p:cNvSpPr>
            <a:spLocks noChangeArrowheads="1"/>
          </p:cNvSpPr>
          <p:nvPr/>
        </p:nvSpPr>
        <p:spPr bwMode="auto">
          <a:xfrm>
            <a:off x="5410200" y="22288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4" name="Line 22"/>
          <p:cNvSpPr>
            <a:spLocks noChangeShapeType="1"/>
          </p:cNvSpPr>
          <p:nvPr/>
        </p:nvSpPr>
        <p:spPr bwMode="auto">
          <a:xfrm>
            <a:off x="7543800" y="2400300"/>
            <a:ext cx="5334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5" name="Line 23"/>
          <p:cNvSpPr>
            <a:spLocks noChangeShapeType="1"/>
          </p:cNvSpPr>
          <p:nvPr/>
        </p:nvSpPr>
        <p:spPr bwMode="auto">
          <a:xfrm>
            <a:off x="6248400" y="24003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6" name="Line 24"/>
          <p:cNvSpPr>
            <a:spLocks noChangeShapeType="1"/>
          </p:cNvSpPr>
          <p:nvPr/>
        </p:nvSpPr>
        <p:spPr bwMode="auto">
          <a:xfrm>
            <a:off x="6248400" y="2457450"/>
            <a:ext cx="17526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7" name="Line 25"/>
          <p:cNvSpPr>
            <a:spLocks noChangeShapeType="1"/>
          </p:cNvSpPr>
          <p:nvPr/>
        </p:nvSpPr>
        <p:spPr bwMode="auto">
          <a:xfrm flipH="1">
            <a:off x="4572000" y="177165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8" name="Line 26"/>
          <p:cNvSpPr>
            <a:spLocks noChangeShapeType="1"/>
          </p:cNvSpPr>
          <p:nvPr/>
        </p:nvSpPr>
        <p:spPr bwMode="auto">
          <a:xfrm>
            <a:off x="5486400" y="182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59" name="Line 27"/>
          <p:cNvSpPr>
            <a:spLocks noChangeShapeType="1"/>
          </p:cNvSpPr>
          <p:nvPr/>
        </p:nvSpPr>
        <p:spPr bwMode="auto">
          <a:xfrm>
            <a:off x="4495800" y="2057400"/>
            <a:ext cx="4572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60" name="Line 28"/>
          <p:cNvSpPr>
            <a:spLocks noChangeShapeType="1"/>
          </p:cNvSpPr>
          <p:nvPr/>
        </p:nvSpPr>
        <p:spPr bwMode="auto">
          <a:xfrm flipH="1">
            <a:off x="4953000" y="2286000"/>
            <a:ext cx="5334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61" name="Text Box 29"/>
          <p:cNvSpPr txBox="1">
            <a:spLocks noChangeArrowheads="1"/>
          </p:cNvSpPr>
          <p:nvPr/>
        </p:nvSpPr>
        <p:spPr bwMode="auto">
          <a:xfrm>
            <a:off x="5851525" y="10596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48862" name="Text Box 30"/>
          <p:cNvSpPr txBox="1">
            <a:spLocks noChangeArrowheads="1"/>
          </p:cNvSpPr>
          <p:nvPr/>
        </p:nvSpPr>
        <p:spPr bwMode="auto">
          <a:xfrm>
            <a:off x="7391400" y="10287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48863" name="Text Box 31"/>
          <p:cNvSpPr txBox="1">
            <a:spLocks noChangeArrowheads="1"/>
          </p:cNvSpPr>
          <p:nvPr/>
        </p:nvSpPr>
        <p:spPr bwMode="auto">
          <a:xfrm>
            <a:off x="5089525" y="15168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48864" name="Text Box 32"/>
          <p:cNvSpPr txBox="1">
            <a:spLocks noChangeArrowheads="1"/>
          </p:cNvSpPr>
          <p:nvPr/>
        </p:nvSpPr>
        <p:spPr bwMode="auto">
          <a:xfrm>
            <a:off x="7832725" y="17454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48865" name="Text Box 33"/>
          <p:cNvSpPr txBox="1">
            <a:spLocks noChangeArrowheads="1"/>
          </p:cNvSpPr>
          <p:nvPr/>
        </p:nvSpPr>
        <p:spPr bwMode="auto">
          <a:xfrm>
            <a:off x="6248400" y="21145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48866" name="Text Box 34"/>
          <p:cNvSpPr txBox="1">
            <a:spLocks noChangeArrowheads="1"/>
          </p:cNvSpPr>
          <p:nvPr/>
        </p:nvSpPr>
        <p:spPr bwMode="auto">
          <a:xfrm>
            <a:off x="6918325" y="27170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8867" name="Text Box 35"/>
          <p:cNvSpPr txBox="1">
            <a:spLocks noChangeArrowheads="1"/>
          </p:cNvSpPr>
          <p:nvPr/>
        </p:nvSpPr>
        <p:spPr bwMode="auto">
          <a:xfrm>
            <a:off x="7527925" y="208835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48868" name="Text Box 36"/>
          <p:cNvSpPr txBox="1">
            <a:spLocks noChangeArrowheads="1"/>
          </p:cNvSpPr>
          <p:nvPr/>
        </p:nvSpPr>
        <p:spPr bwMode="auto">
          <a:xfrm>
            <a:off x="8077200" y="25146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48869" name="Text Box 37"/>
          <p:cNvSpPr txBox="1">
            <a:spLocks noChangeArrowheads="1"/>
          </p:cNvSpPr>
          <p:nvPr/>
        </p:nvSpPr>
        <p:spPr bwMode="auto">
          <a:xfrm>
            <a:off x="4098925" y="18026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248870" name="Text Box 38"/>
          <p:cNvSpPr txBox="1">
            <a:spLocks noChangeArrowheads="1"/>
          </p:cNvSpPr>
          <p:nvPr/>
        </p:nvSpPr>
        <p:spPr bwMode="auto">
          <a:xfrm>
            <a:off x="5486400" y="217170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248871" name="Text Box 39"/>
          <p:cNvSpPr txBox="1">
            <a:spLocks noChangeArrowheads="1"/>
          </p:cNvSpPr>
          <p:nvPr/>
        </p:nvSpPr>
        <p:spPr bwMode="auto">
          <a:xfrm>
            <a:off x="4708525" y="2431256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11</a:t>
            </a:r>
          </a:p>
        </p:txBody>
      </p:sp>
      <p:sp>
        <p:nvSpPr>
          <p:cNvPr id="248872" name="Oval 40"/>
          <p:cNvSpPr>
            <a:spLocks noChangeArrowheads="1"/>
          </p:cNvSpPr>
          <p:nvPr/>
        </p:nvSpPr>
        <p:spPr bwMode="auto">
          <a:xfrm>
            <a:off x="2667000" y="15430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3" name="Oval 41"/>
          <p:cNvSpPr>
            <a:spLocks noChangeArrowheads="1"/>
          </p:cNvSpPr>
          <p:nvPr/>
        </p:nvSpPr>
        <p:spPr bwMode="auto">
          <a:xfrm>
            <a:off x="1905000" y="17716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4" name="Oval 42"/>
          <p:cNvSpPr>
            <a:spLocks noChangeArrowheads="1"/>
          </p:cNvSpPr>
          <p:nvPr/>
        </p:nvSpPr>
        <p:spPr bwMode="auto">
          <a:xfrm>
            <a:off x="3352800" y="17716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5" name="Oval 43"/>
          <p:cNvSpPr>
            <a:spLocks noChangeArrowheads="1"/>
          </p:cNvSpPr>
          <p:nvPr/>
        </p:nvSpPr>
        <p:spPr bwMode="auto">
          <a:xfrm>
            <a:off x="2743200" y="17716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6" name="Oval 44"/>
          <p:cNvSpPr>
            <a:spLocks noChangeArrowheads="1"/>
          </p:cNvSpPr>
          <p:nvPr/>
        </p:nvSpPr>
        <p:spPr bwMode="auto">
          <a:xfrm>
            <a:off x="2057400" y="21145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7" name="Oval 45"/>
          <p:cNvSpPr>
            <a:spLocks noChangeArrowheads="1"/>
          </p:cNvSpPr>
          <p:nvPr/>
        </p:nvSpPr>
        <p:spPr bwMode="auto">
          <a:xfrm>
            <a:off x="2743200" y="21145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8" name="Oval 46"/>
          <p:cNvSpPr>
            <a:spLocks noChangeArrowheads="1"/>
          </p:cNvSpPr>
          <p:nvPr/>
        </p:nvSpPr>
        <p:spPr bwMode="auto">
          <a:xfrm>
            <a:off x="1524000" y="25146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79" name="Oval 47"/>
          <p:cNvSpPr>
            <a:spLocks noChangeArrowheads="1"/>
          </p:cNvSpPr>
          <p:nvPr/>
        </p:nvSpPr>
        <p:spPr bwMode="auto">
          <a:xfrm>
            <a:off x="1981200" y="25146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80" name="Oval 48"/>
          <p:cNvSpPr>
            <a:spLocks noChangeArrowheads="1"/>
          </p:cNvSpPr>
          <p:nvPr/>
        </p:nvSpPr>
        <p:spPr bwMode="auto">
          <a:xfrm>
            <a:off x="2743200" y="25146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81" name="Oval 49"/>
          <p:cNvSpPr>
            <a:spLocks noChangeArrowheads="1"/>
          </p:cNvSpPr>
          <p:nvPr/>
        </p:nvSpPr>
        <p:spPr bwMode="auto">
          <a:xfrm>
            <a:off x="3352800" y="211455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82" name="Text Box 50"/>
          <p:cNvSpPr txBox="1">
            <a:spLocks noChangeArrowheads="1"/>
          </p:cNvSpPr>
          <p:nvPr/>
        </p:nvSpPr>
        <p:spPr bwMode="auto">
          <a:xfrm>
            <a:off x="2727325" y="134540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48883" name="Text Box 51"/>
          <p:cNvSpPr txBox="1">
            <a:spLocks noChangeArrowheads="1"/>
          </p:cNvSpPr>
          <p:nvPr/>
        </p:nvSpPr>
        <p:spPr bwMode="auto">
          <a:xfrm>
            <a:off x="1676400" y="16573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48884" name="Text Box 52"/>
          <p:cNvSpPr txBox="1">
            <a:spLocks noChangeArrowheads="1"/>
          </p:cNvSpPr>
          <p:nvPr/>
        </p:nvSpPr>
        <p:spPr bwMode="auto">
          <a:xfrm>
            <a:off x="3505200" y="16002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48887" name="Text Box 55"/>
          <p:cNvSpPr txBox="1">
            <a:spLocks noChangeArrowheads="1"/>
          </p:cNvSpPr>
          <p:nvPr/>
        </p:nvSpPr>
        <p:spPr bwMode="auto">
          <a:xfrm>
            <a:off x="2438400" y="16002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48888" name="Text Box 56"/>
          <p:cNvSpPr txBox="1">
            <a:spLocks noChangeArrowheads="1"/>
          </p:cNvSpPr>
          <p:nvPr/>
        </p:nvSpPr>
        <p:spPr bwMode="auto">
          <a:xfrm>
            <a:off x="1752600" y="19431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48891" name="Oval 59"/>
          <p:cNvSpPr>
            <a:spLocks noChangeArrowheads="1"/>
          </p:cNvSpPr>
          <p:nvPr/>
        </p:nvSpPr>
        <p:spPr bwMode="auto">
          <a:xfrm>
            <a:off x="1066800" y="2514600"/>
            <a:ext cx="166688" cy="9644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892" name="Text Box 60"/>
          <p:cNvSpPr txBox="1">
            <a:spLocks noChangeArrowheads="1"/>
          </p:cNvSpPr>
          <p:nvPr/>
        </p:nvSpPr>
        <p:spPr bwMode="auto">
          <a:xfrm>
            <a:off x="990600" y="25717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8894" name="Text Box 62"/>
          <p:cNvSpPr txBox="1">
            <a:spLocks noChangeArrowheads="1"/>
          </p:cNvSpPr>
          <p:nvPr/>
        </p:nvSpPr>
        <p:spPr bwMode="auto">
          <a:xfrm>
            <a:off x="1447800" y="25717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48895" name="Text Box 63"/>
          <p:cNvSpPr txBox="1">
            <a:spLocks noChangeArrowheads="1"/>
          </p:cNvSpPr>
          <p:nvPr/>
        </p:nvSpPr>
        <p:spPr bwMode="auto">
          <a:xfrm>
            <a:off x="1905000" y="25717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48898" name="Text Box 66"/>
          <p:cNvSpPr txBox="1">
            <a:spLocks noChangeArrowheads="1"/>
          </p:cNvSpPr>
          <p:nvPr/>
        </p:nvSpPr>
        <p:spPr bwMode="auto">
          <a:xfrm>
            <a:off x="2514600" y="194310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9</a:t>
            </a:r>
          </a:p>
        </p:txBody>
      </p:sp>
      <p:sp>
        <p:nvSpPr>
          <p:cNvPr id="248899" name="Text Box 67"/>
          <p:cNvSpPr txBox="1">
            <a:spLocks noChangeArrowheads="1"/>
          </p:cNvSpPr>
          <p:nvPr/>
        </p:nvSpPr>
        <p:spPr bwMode="auto">
          <a:xfrm>
            <a:off x="2590800" y="257175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11</a:t>
            </a:r>
          </a:p>
        </p:txBody>
      </p:sp>
      <p:sp>
        <p:nvSpPr>
          <p:cNvPr id="248900" name="Text Box 68"/>
          <p:cNvSpPr txBox="1">
            <a:spLocks noChangeArrowheads="1"/>
          </p:cNvSpPr>
          <p:nvPr/>
        </p:nvSpPr>
        <p:spPr bwMode="auto">
          <a:xfrm>
            <a:off x="3429000" y="1943100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248904" name="Text Box 72"/>
          <p:cNvSpPr txBox="1">
            <a:spLocks noChangeArrowheads="1"/>
          </p:cNvSpPr>
          <p:nvPr/>
        </p:nvSpPr>
        <p:spPr bwMode="auto">
          <a:xfrm>
            <a:off x="1905000" y="2971800"/>
            <a:ext cx="9768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BFS Tree</a:t>
            </a:r>
          </a:p>
        </p:txBody>
      </p:sp>
      <p:sp>
        <p:nvSpPr>
          <p:cNvPr id="248905" name="Text Box 73"/>
          <p:cNvSpPr txBox="1">
            <a:spLocks noChangeArrowheads="1"/>
          </p:cNvSpPr>
          <p:nvPr/>
        </p:nvSpPr>
        <p:spPr bwMode="auto">
          <a:xfrm>
            <a:off x="5181601" y="2914650"/>
            <a:ext cx="9589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Graph G</a:t>
            </a:r>
          </a:p>
        </p:txBody>
      </p:sp>
      <p:sp>
        <p:nvSpPr>
          <p:cNvPr id="248906" name="Line 74"/>
          <p:cNvSpPr>
            <a:spLocks noChangeShapeType="1"/>
          </p:cNvSpPr>
          <p:nvPr/>
        </p:nvSpPr>
        <p:spPr bwMode="auto">
          <a:xfrm flipH="1">
            <a:off x="1981200" y="1600200"/>
            <a:ext cx="7620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07" name="Line 75"/>
          <p:cNvSpPr>
            <a:spLocks noChangeShapeType="1"/>
          </p:cNvSpPr>
          <p:nvPr/>
        </p:nvSpPr>
        <p:spPr bwMode="auto">
          <a:xfrm>
            <a:off x="2743200" y="16002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08" name="Line 76"/>
          <p:cNvSpPr>
            <a:spLocks noChangeShapeType="1"/>
          </p:cNvSpPr>
          <p:nvPr/>
        </p:nvSpPr>
        <p:spPr bwMode="auto">
          <a:xfrm>
            <a:off x="2743200" y="1600200"/>
            <a:ext cx="68580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1" name="Line 79"/>
          <p:cNvSpPr>
            <a:spLocks noChangeShapeType="1"/>
          </p:cNvSpPr>
          <p:nvPr/>
        </p:nvSpPr>
        <p:spPr bwMode="auto">
          <a:xfrm flipV="1">
            <a:off x="2133600" y="1828800"/>
            <a:ext cx="68580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2" name="Line 80"/>
          <p:cNvSpPr>
            <a:spLocks noChangeShapeType="1"/>
          </p:cNvSpPr>
          <p:nvPr/>
        </p:nvSpPr>
        <p:spPr bwMode="auto">
          <a:xfrm flipV="1">
            <a:off x="2819400" y="1828800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3" name="Line 81"/>
          <p:cNvSpPr>
            <a:spLocks noChangeShapeType="1"/>
          </p:cNvSpPr>
          <p:nvPr/>
        </p:nvSpPr>
        <p:spPr bwMode="auto">
          <a:xfrm flipH="1" flipV="1">
            <a:off x="2819400" y="1828800"/>
            <a:ext cx="6096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4" name="Line 82"/>
          <p:cNvSpPr>
            <a:spLocks noChangeShapeType="1"/>
          </p:cNvSpPr>
          <p:nvPr/>
        </p:nvSpPr>
        <p:spPr bwMode="auto">
          <a:xfrm flipH="1">
            <a:off x="1143000" y="2171700"/>
            <a:ext cx="9144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5" name="Line 83"/>
          <p:cNvSpPr>
            <a:spLocks noChangeShapeType="1"/>
          </p:cNvSpPr>
          <p:nvPr/>
        </p:nvSpPr>
        <p:spPr bwMode="auto">
          <a:xfrm flipH="1">
            <a:off x="1600200" y="2171700"/>
            <a:ext cx="5334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6" name="Line 84"/>
          <p:cNvSpPr>
            <a:spLocks noChangeShapeType="1"/>
          </p:cNvSpPr>
          <p:nvPr/>
        </p:nvSpPr>
        <p:spPr bwMode="auto">
          <a:xfrm flipH="1">
            <a:off x="2057400" y="2171700"/>
            <a:ext cx="762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48917" name="Line 85"/>
          <p:cNvSpPr>
            <a:spLocks noChangeShapeType="1"/>
          </p:cNvSpPr>
          <p:nvPr/>
        </p:nvSpPr>
        <p:spPr bwMode="auto">
          <a:xfrm>
            <a:off x="2819400" y="21717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71500"/>
          </a:xfrm>
        </p:spPr>
        <p:txBody>
          <a:bodyPr>
            <a:normAutofit fontScale="90000"/>
          </a:bodyPr>
          <a:lstStyle/>
          <a:p>
            <a:r>
              <a:rPr lang="en-US" b="1"/>
              <a:t>Implementation of DFS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57300"/>
            <a:ext cx="7772400" cy="3314700"/>
          </a:xfrm>
        </p:spPr>
        <p:txBody>
          <a:bodyPr>
            <a:normAutofit fontScale="92500"/>
          </a:bodyPr>
          <a:lstStyle/>
          <a:p>
            <a:r>
              <a:rPr lang="en-US"/>
              <a:t>Observations: </a:t>
            </a:r>
          </a:p>
          <a:p>
            <a:pPr lvl="1"/>
            <a:r>
              <a:rPr lang="en-US"/>
              <a:t>the first node visited in each level is the first node from which to proceed to visit new nodes. </a:t>
            </a:r>
            <a:br>
              <a:rPr lang="en-US"/>
            </a:br>
            <a:endParaRPr lang="en-US"/>
          </a:p>
          <a:p>
            <a:r>
              <a:rPr lang="en-US"/>
              <a:t>This suggests that a queue is the proper data structure to remember the order of the steps.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Illustrate BFS with a Queue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redo the BFS on the previous graph, but this time with queues</a:t>
            </a:r>
          </a:p>
          <a:p>
            <a:r>
              <a:rPr lang="en-US"/>
              <a:t>In Class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00050"/>
          </a:xfrm>
        </p:spPr>
        <p:txBody>
          <a:bodyPr>
            <a:normAutofit fontScale="90000"/>
          </a:bodyPr>
          <a:lstStyle/>
          <a:p>
            <a:r>
              <a:rPr lang="en-US" sz="4000" b="1"/>
              <a:t>BFS (Pseudo Code)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28700"/>
            <a:ext cx="7772400" cy="35433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BFS(input: graph G)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  	Queue Q;    Integer x, z, y;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while (G has an unvisited node x)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visit(x); Enqueue(x,Q);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while (Q is not empty){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z := Dequeue(Q);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for all (unvisited neighbor y of z){					visit(y); Enqueue(y,Q);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2871</Words>
  <Application>Microsoft Office PowerPoint</Application>
  <PresentationFormat>On-screen Show (16:9)</PresentationFormat>
  <Paragraphs>379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PowerPoint Presentation</vt:lpstr>
      <vt:lpstr>Graph</vt:lpstr>
      <vt:lpstr>Examples of Graphs</vt:lpstr>
      <vt:lpstr>A “Real-life” Example of a Graph</vt:lpstr>
      <vt:lpstr>Intuition Behind Graphs</vt:lpstr>
      <vt:lpstr>Graph Representation</vt:lpstr>
      <vt:lpstr>Adjacency Matrix Representation</vt:lpstr>
      <vt:lpstr>Example of Adjacency Matrix</vt:lpstr>
      <vt:lpstr>Another Example of Adj. Matrix</vt:lpstr>
      <vt:lpstr>Pros and Cons of Adjacency Matrices</vt:lpstr>
      <vt:lpstr>Adjacency Lists Representation</vt:lpstr>
      <vt:lpstr>Example of Linked Representation</vt:lpstr>
      <vt:lpstr>Pros and Cons of Adjacency Lists</vt:lpstr>
      <vt:lpstr>The Graph Class</vt:lpstr>
      <vt:lpstr>Graph Class Implementation</vt:lpstr>
      <vt:lpstr>Directed vs. Undirected Graphs</vt:lpstr>
      <vt:lpstr>Examples of Undirected Graphs</vt:lpstr>
      <vt:lpstr>Representations of Undirected Graphs</vt:lpstr>
      <vt:lpstr>Example of Representations </vt:lpstr>
      <vt:lpstr>Definition of Some Graph Related Concepts</vt:lpstr>
      <vt:lpstr>Paths</vt:lpstr>
      <vt:lpstr>Graph Connectivity</vt:lpstr>
      <vt:lpstr>Connected Components</vt:lpstr>
      <vt:lpstr>Graph Traversal Techniques</vt:lpstr>
      <vt:lpstr>Graph Traversal (Contd.)</vt:lpstr>
      <vt:lpstr>Depth-First Search </vt:lpstr>
      <vt:lpstr>Illustration of DFS</vt:lpstr>
      <vt:lpstr>Implementation of DFS</vt:lpstr>
      <vt:lpstr>Illustrate DFS with a Stack</vt:lpstr>
      <vt:lpstr>DFS (Pseudo Code)</vt:lpstr>
      <vt:lpstr>C++ Code for DFS</vt:lpstr>
      <vt:lpstr>PowerPoint Presentation</vt:lpstr>
      <vt:lpstr>Breadth-First Search </vt:lpstr>
      <vt:lpstr>Illustration of BFS</vt:lpstr>
      <vt:lpstr>Implementation of DFS</vt:lpstr>
      <vt:lpstr>Illustrate BFS with a Queue</vt:lpstr>
      <vt:lpstr>BFS (Pseudo Code)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BHAVNEET KAUR</cp:lastModifiedBy>
  <cp:revision>22</cp:revision>
  <dcterms:created xsi:type="dcterms:W3CDTF">2024-06-10T13:50:48Z</dcterms:created>
  <dcterms:modified xsi:type="dcterms:W3CDTF">2024-06-26T08:50:42Z</dcterms:modified>
</cp:coreProperties>
</file>