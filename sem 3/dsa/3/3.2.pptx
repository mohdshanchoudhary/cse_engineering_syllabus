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7" r:id="rId2"/>
    <p:sldId id="256" r:id="rId3"/>
    <p:sldId id="258" r:id="rId4"/>
    <p:sldId id="259" r:id="rId5"/>
    <p:sldId id="262" r:id="rId6"/>
    <p:sldId id="263" r:id="rId7"/>
    <p:sldId id="260" r:id="rId8"/>
    <p:sldId id="265" r:id="rId9"/>
    <p:sldId id="266" r:id="rId10"/>
    <p:sldId id="267" r:id="rId11"/>
    <p:sldId id="264" r:id="rId12"/>
    <p:sldId id="272" r:id="rId13"/>
    <p:sldId id="261" r:id="rId14"/>
    <p:sldId id="268" r:id="rId15"/>
    <p:sldId id="273" r:id="rId16"/>
    <p:sldId id="274" r:id="rId17"/>
    <p:sldId id="275" r:id="rId18"/>
    <p:sldId id="276" r:id="rId19"/>
    <p:sldId id="277" r:id="rId20"/>
    <p:sldId id="280" r:id="rId21"/>
    <p:sldId id="281" r:id="rId22"/>
    <p:sldId id="269" r:id="rId23"/>
    <p:sldId id="278" r:id="rId24"/>
    <p:sldId id="270" r:id="rId25"/>
    <p:sldId id="279" r:id="rId26"/>
    <p:sldId id="271" r:id="rId27"/>
    <p:sldId id="283" r:id="rId28"/>
    <p:sldId id="282" r:id="rId2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0" autoAdjust="0"/>
    <p:restoredTop sz="94624" autoAdjust="0"/>
  </p:normalViewPr>
  <p:slideViewPr>
    <p:cSldViewPr>
      <p:cViewPr varScale="1">
        <p:scale>
          <a:sx n="92" d="100"/>
          <a:sy n="92" d="100"/>
        </p:scale>
        <p:origin x="-486" y="-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45E47-0404-4C92-8D97-6C3474B7350D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2D727-58B3-487D-B73F-FAFC041AD6B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7E56AF-E24C-46C1-9B23-6066F1888D57}" type="slidenum">
              <a:rPr lang="en-US"/>
              <a:pPr/>
              <a:t>21</a:t>
            </a:fld>
            <a:endParaRPr lang="en-US"/>
          </a:p>
        </p:txBody>
      </p:sp>
      <p:sp>
        <p:nvSpPr>
          <p:cNvPr id="870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r>
              <a:rPr lang="en-US" altLang="zh-TW"/>
              <a:t>Tell the students some application of spanning tree.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04789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8477-A5FE-450D-ACA6-3F53D1B2978E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1B51B-1200-412B-8BD9-E9BA636720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time-and-space-complexity-of-dijkstras-algorith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en/mst?slide=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71472" y="2500312"/>
            <a:ext cx="8118475" cy="1475185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IN" sz="4400" b="1" dirty="0" smtClean="0">
                <a:latin typeface="Times New Roman" pitchFamily="18" charset="0"/>
                <a:cs typeface="Times New Roman" pitchFamily="18" charset="0"/>
              </a:rPr>
              <a:t>reedy Technique</a:t>
            </a: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676401" y="1402557"/>
            <a:ext cx="6691313" cy="478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Topic 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3.2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442075" y="4767263"/>
            <a:ext cx="2133600" cy="273844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By:  Er.Bhavneet Kaur</a:t>
            </a:r>
          </a:p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Master Subject Co-ordinator</a:t>
            </a:r>
          </a:p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CSE 2</a:t>
            </a:r>
            <a:r>
              <a:rPr lang="en-US" baseline="3000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Year</a:t>
            </a:r>
          </a:p>
        </p:txBody>
      </p:sp>
      <p:pic>
        <p:nvPicPr>
          <p:cNvPr id="7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440531"/>
            <a:ext cx="19050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85786" y="357172"/>
            <a:ext cx="8143932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500" dirty="0"/>
              <a:t>The greedy approach is one of the techniques that follow the divide and conquer strategy. This technique is used for decoding optimisation </a:t>
            </a:r>
            <a:r>
              <a:rPr lang="en-IN" sz="2500" dirty="0" smtClean="0"/>
              <a:t>problems.</a:t>
            </a:r>
          </a:p>
          <a:p>
            <a:pPr>
              <a:buFont typeface="Arial" pitchFamily="34" charset="0"/>
              <a:buChar char="•"/>
            </a:pPr>
            <a:r>
              <a:rPr lang="en-IN" sz="2500" dirty="0" smtClean="0"/>
              <a:t>It’s a method </a:t>
            </a:r>
            <a:r>
              <a:rPr lang="en-IN" sz="2500" dirty="0"/>
              <a:t>for decoding a problem by choosing the best alternative open at that point. </a:t>
            </a:r>
            <a:endParaRPr lang="en-IN" sz="2500" dirty="0" smtClean="0"/>
          </a:p>
          <a:p>
            <a:pPr>
              <a:buFont typeface="Arial" pitchFamily="34" charset="0"/>
              <a:buChar char="•"/>
            </a:pPr>
            <a:r>
              <a:rPr lang="en-IN" sz="2500" dirty="0" smtClean="0"/>
              <a:t>This </a:t>
            </a:r>
            <a:r>
              <a:rPr lang="en-IN" sz="2500" dirty="0"/>
              <a:t>algorithm doesn’t worry whether the existing and most satisfactory result will obtain the overall optimal </a:t>
            </a:r>
            <a:r>
              <a:rPr lang="en-IN" sz="2500" dirty="0" smtClean="0"/>
              <a:t>result.</a:t>
            </a:r>
          </a:p>
          <a:p>
            <a:pPr>
              <a:buFont typeface="Arial" pitchFamily="34" charset="0"/>
              <a:buChar char="•"/>
            </a:pPr>
            <a:r>
              <a:rPr lang="en-IN" sz="2800" dirty="0" smtClean="0"/>
              <a:t>An algorithmic </a:t>
            </a:r>
            <a:r>
              <a:rPr lang="en-IN" sz="2800" dirty="0"/>
              <a:t>paradigm based on heuristic that follows local optimal choice at each step with the hope of </a:t>
            </a:r>
            <a:r>
              <a:rPr lang="en-IN" sz="2800" dirty="0" smtClean="0"/>
              <a:t>finding </a:t>
            </a:r>
            <a:r>
              <a:rPr lang="en-IN" sz="2800" dirty="0"/>
              <a:t>global optimal solution</a:t>
            </a:r>
          </a:p>
          <a:p>
            <a:pPr>
              <a:buFont typeface="Arial" pitchFamily="34" charset="0"/>
              <a:buChar char="•"/>
            </a:pPr>
            <a:endParaRPr lang="en-IN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85786" y="142858"/>
          <a:ext cx="8229600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DISADVANTAGES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concept of a greedy algorithm is clear and straightforward.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They frequently fail to provide the best answer or solution.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algorithm performs better than others in terms of efficiency 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FEATURES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candidate set − A solution is created from this set.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 selection function − Used to choose the best candidate to be added to the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solution.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 feasibility function − Used to determine whether a candidate can be used to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contribute to the solution.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An objective function − Used to assign a value to a solution or a partial solution.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 solution function − Used to indicate whether a complete solution has been </a:t>
                      </a:r>
                    </a:p>
                    <a:p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reached.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 Paths in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>
                <a:ea typeface="新細明體" pitchFamily="18" charset="-120"/>
              </a:rPr>
              <a:t>Consider a weighted directed graph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Each node x represents a city x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Each edge (x, y) has a number which represent the cost of traveling from city x to city y</a:t>
            </a:r>
          </a:p>
          <a:p>
            <a:r>
              <a:rPr lang="en-US" altLang="zh-TW" sz="2800" dirty="0" smtClean="0">
                <a:ea typeface="新細明體" pitchFamily="18" charset="-120"/>
              </a:rPr>
              <a:t>Problem: find the minimum cost to travel from city x to city y</a:t>
            </a:r>
          </a:p>
          <a:p>
            <a:r>
              <a:rPr lang="en-US" altLang="zh-TW" sz="2800" dirty="0" smtClean="0">
                <a:ea typeface="新細明體" pitchFamily="18" charset="-120"/>
              </a:rPr>
              <a:t>Solution: find the shortest path from x to 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1728788"/>
          </a:xfrm>
        </p:spPr>
        <p:txBody>
          <a:bodyPr/>
          <a:lstStyle/>
          <a:p>
            <a:r>
              <a:rPr lang="en-US" altLang="zh-TW" sz="2200" dirty="0" smtClean="0">
                <a:ea typeface="新細明體" pitchFamily="18" charset="-120"/>
              </a:rPr>
              <a:t>Given a weighted directed graph G.</a:t>
            </a:r>
          </a:p>
          <a:p>
            <a:r>
              <a:rPr lang="en-US" altLang="zh-TW" sz="2200" dirty="0" smtClean="0">
                <a:ea typeface="新細明體" pitchFamily="18" charset="-120"/>
              </a:rPr>
              <a:t>Let P be a path of G from x to y.</a:t>
            </a:r>
          </a:p>
          <a:p>
            <a:r>
              <a:rPr lang="en-US" altLang="zh-TW" sz="2200" dirty="0" smtClean="0">
                <a:ea typeface="新細明體" pitchFamily="18" charset="-120"/>
              </a:rPr>
              <a:t>cost(P) = </a:t>
            </a:r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</a:t>
            </a:r>
            <a:r>
              <a:rPr lang="en-US" altLang="zh-TW" sz="2200" baseline="-25000" dirty="0" err="1" smtClean="0">
                <a:ea typeface="新細明體" pitchFamily="18" charset="-120"/>
                <a:sym typeface="Symbol" pitchFamily="18" charset="2"/>
              </a:rPr>
              <a:t>eP</a:t>
            </a:r>
            <a:r>
              <a:rPr lang="en-US" altLang="zh-TW" sz="2200" dirty="0" err="1" smtClean="0">
                <a:ea typeface="新細明體" pitchFamily="18" charset="-120"/>
                <a:sym typeface="Symbol" pitchFamily="18" charset="2"/>
              </a:rPr>
              <a:t>weight</a:t>
            </a:r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(e)</a:t>
            </a:r>
          </a:p>
          <a:p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The shortest path is a path P which minimizes cost(P)</a:t>
            </a:r>
          </a:p>
          <a:p>
            <a:endParaRPr lang="en-US" altLang="zh-TW" dirty="0">
              <a:ea typeface="新細明體" pitchFamily="18" charset="-120"/>
              <a:sym typeface="Symbol" pitchFamily="18" charset="2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9538" y="1798639"/>
            <a:ext cx="2810669" cy="1130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742"/>
            <a:ext cx="6217453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Dijkstra’s</a:t>
            </a:r>
            <a:r>
              <a:rPr lang="en-IN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pitchFamily="18" charset="-120"/>
              </a:rPr>
              <a:t>Consider a graph G, each edge (u, v) has a weight w(u, v) &gt; 0.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pitchFamily="18" charset="-120"/>
              </a:rPr>
              <a:t>Suppose we want to find the shortest path starting from v</a:t>
            </a:r>
            <a:r>
              <a:rPr lang="en-US" altLang="zh-TW" baseline="-25000" dirty="0" smtClean="0">
                <a:ea typeface="新細明體" pitchFamily="18" charset="-120"/>
              </a:rPr>
              <a:t>1</a:t>
            </a:r>
            <a:r>
              <a:rPr lang="en-US" altLang="zh-TW" dirty="0" smtClean="0">
                <a:ea typeface="新細明體" pitchFamily="18" charset="-120"/>
              </a:rPr>
              <a:t> to any node 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endParaRPr lang="en-US" altLang="zh-TW" dirty="0" smtClean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pitchFamily="18" charset="-120"/>
              </a:rPr>
              <a:t>Let VS be a subset of nodes in G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pitchFamily="18" charset="-120"/>
              </a:rPr>
              <a:t>Let cost[v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] be the weight of the shortest path from v</a:t>
            </a:r>
            <a:r>
              <a:rPr lang="en-US" altLang="zh-TW" baseline="-25000" dirty="0" smtClean="0">
                <a:ea typeface="新細明體" pitchFamily="18" charset="-120"/>
              </a:rPr>
              <a:t>1</a:t>
            </a:r>
            <a:r>
              <a:rPr lang="en-US" altLang="zh-TW" dirty="0" smtClean="0">
                <a:ea typeface="新細明體" pitchFamily="18" charset="-120"/>
              </a:rPr>
              <a:t> to 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 that passes through nodes in VS only.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Example for </a:t>
            </a:r>
            <a:r>
              <a:rPr lang="en-US" altLang="zh-TW" dirty="0" err="1">
                <a:ea typeface="新細明體" pitchFamily="18" charset="-120"/>
              </a:rPr>
              <a:t>Dijkstra’s</a:t>
            </a:r>
            <a:r>
              <a:rPr lang="en-US" altLang="zh-TW" dirty="0">
                <a:ea typeface="新細明體" pitchFamily="18" charset="-120"/>
              </a:rPr>
              <a:t> algorithm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3733800" y="10287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99332" name="Oval 4"/>
          <p:cNvSpPr>
            <a:spLocks noChangeArrowheads="1"/>
          </p:cNvSpPr>
          <p:nvPr/>
        </p:nvSpPr>
        <p:spPr bwMode="auto">
          <a:xfrm>
            <a:off x="3825876" y="14859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9333" name="Oval 5"/>
          <p:cNvSpPr>
            <a:spLocks noChangeArrowheads="1"/>
          </p:cNvSpPr>
          <p:nvPr/>
        </p:nvSpPr>
        <p:spPr bwMode="auto">
          <a:xfrm>
            <a:off x="4968876" y="15430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4892676" y="22860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3292476" y="21717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9336" name="Line 8"/>
          <p:cNvSpPr>
            <a:spLocks noChangeShapeType="1"/>
          </p:cNvSpPr>
          <p:nvPr/>
        </p:nvSpPr>
        <p:spPr bwMode="auto">
          <a:xfrm flipH="1" flipV="1">
            <a:off x="4206875" y="1600200"/>
            <a:ext cx="762000" cy="57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 flipH="1" flipV="1">
            <a:off x="3673475" y="2286000"/>
            <a:ext cx="1219200" cy="1143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38" name="Line 10"/>
          <p:cNvSpPr>
            <a:spLocks noChangeShapeType="1"/>
          </p:cNvSpPr>
          <p:nvPr/>
        </p:nvSpPr>
        <p:spPr bwMode="auto">
          <a:xfrm flipH="1">
            <a:off x="3673475" y="1714500"/>
            <a:ext cx="1295400" cy="5715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39" name="Line 11"/>
          <p:cNvSpPr>
            <a:spLocks noChangeShapeType="1"/>
          </p:cNvSpPr>
          <p:nvPr/>
        </p:nvSpPr>
        <p:spPr bwMode="auto">
          <a:xfrm flipH="1">
            <a:off x="3597275" y="1714500"/>
            <a:ext cx="30480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40" name="Oval 12"/>
          <p:cNvSpPr>
            <a:spLocks noChangeArrowheads="1"/>
          </p:cNvSpPr>
          <p:nvPr/>
        </p:nvSpPr>
        <p:spPr bwMode="auto">
          <a:xfrm>
            <a:off x="2438401" y="16573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99341" name="Line 13"/>
          <p:cNvSpPr>
            <a:spLocks noChangeShapeType="1"/>
          </p:cNvSpPr>
          <p:nvPr/>
        </p:nvSpPr>
        <p:spPr bwMode="auto">
          <a:xfrm flipV="1">
            <a:off x="2819400" y="1657350"/>
            <a:ext cx="990600" cy="114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2057400" y="12573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2879725" y="2234804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>
            <a:off x="5410200" y="12001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5334000" y="21145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99346" name="Line 18"/>
          <p:cNvSpPr>
            <a:spLocks noChangeShapeType="1"/>
          </p:cNvSpPr>
          <p:nvPr/>
        </p:nvSpPr>
        <p:spPr bwMode="auto">
          <a:xfrm flipV="1">
            <a:off x="5105400" y="1771650"/>
            <a:ext cx="76200" cy="5143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2994025" y="14668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99348" name="Text Box 20"/>
          <p:cNvSpPr txBox="1">
            <a:spLocks noChangeArrowheads="1"/>
          </p:cNvSpPr>
          <p:nvPr/>
        </p:nvSpPr>
        <p:spPr bwMode="auto">
          <a:xfrm>
            <a:off x="4484689" y="13144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99349" name="Text Box 21"/>
          <p:cNvSpPr txBox="1">
            <a:spLocks noChangeArrowheads="1"/>
          </p:cNvSpPr>
          <p:nvPr/>
        </p:nvSpPr>
        <p:spPr bwMode="auto">
          <a:xfrm>
            <a:off x="4125914" y="180022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4989514" y="185499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99351" name="Text Box 23"/>
          <p:cNvSpPr txBox="1">
            <a:spLocks noChangeArrowheads="1"/>
          </p:cNvSpPr>
          <p:nvPr/>
        </p:nvSpPr>
        <p:spPr bwMode="auto">
          <a:xfrm>
            <a:off x="4125914" y="212407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99352" name="Text Box 24"/>
          <p:cNvSpPr txBox="1">
            <a:spLocks noChangeArrowheads="1"/>
          </p:cNvSpPr>
          <p:nvPr/>
        </p:nvSpPr>
        <p:spPr bwMode="auto">
          <a:xfrm>
            <a:off x="3621089" y="1691879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graphicFrame>
        <p:nvGraphicFramePr>
          <p:cNvPr id="99425" name="Group 97"/>
          <p:cNvGraphicFramePr>
            <a:graphicFrameLocks noGrp="1"/>
          </p:cNvGraphicFramePr>
          <p:nvPr/>
        </p:nvGraphicFramePr>
        <p:xfrm>
          <a:off x="304800" y="2743200"/>
          <a:ext cx="8305800" cy="1903809"/>
        </p:xfrm>
        <a:graphic>
          <a:graphicData uri="http://schemas.openxmlformats.org/drawingml/2006/table">
            <a:tbl>
              <a:tblPr/>
              <a:tblGrid>
                <a:gridCol w="306388"/>
                <a:gridCol w="430212"/>
                <a:gridCol w="1655763"/>
                <a:gridCol w="1181100"/>
                <a:gridCol w="1184275"/>
                <a:gridCol w="1181100"/>
                <a:gridCol w="1184275"/>
                <a:gridCol w="1182687"/>
              </a:tblGrid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Example for Dijkstra’s algorithm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3733800" y="10287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100356" name="Oval 4"/>
          <p:cNvSpPr>
            <a:spLocks noChangeArrowheads="1"/>
          </p:cNvSpPr>
          <p:nvPr/>
        </p:nvSpPr>
        <p:spPr bwMode="auto">
          <a:xfrm>
            <a:off x="3825876" y="14859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0357" name="Oval 5"/>
          <p:cNvSpPr>
            <a:spLocks noChangeArrowheads="1"/>
          </p:cNvSpPr>
          <p:nvPr/>
        </p:nvSpPr>
        <p:spPr bwMode="auto">
          <a:xfrm>
            <a:off x="4968876" y="15430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4892676" y="22860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0359" name="Oval 7"/>
          <p:cNvSpPr>
            <a:spLocks noChangeArrowheads="1"/>
          </p:cNvSpPr>
          <p:nvPr/>
        </p:nvSpPr>
        <p:spPr bwMode="auto">
          <a:xfrm>
            <a:off x="3292476" y="21717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0360" name="Line 8"/>
          <p:cNvSpPr>
            <a:spLocks noChangeShapeType="1"/>
          </p:cNvSpPr>
          <p:nvPr/>
        </p:nvSpPr>
        <p:spPr bwMode="auto">
          <a:xfrm flipH="1" flipV="1">
            <a:off x="4206875" y="1600200"/>
            <a:ext cx="762000" cy="57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61" name="Line 9"/>
          <p:cNvSpPr>
            <a:spLocks noChangeShapeType="1"/>
          </p:cNvSpPr>
          <p:nvPr/>
        </p:nvSpPr>
        <p:spPr bwMode="auto">
          <a:xfrm flipH="1" flipV="1">
            <a:off x="3673475" y="2286000"/>
            <a:ext cx="1219200" cy="114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62" name="Line 10"/>
          <p:cNvSpPr>
            <a:spLocks noChangeShapeType="1"/>
          </p:cNvSpPr>
          <p:nvPr/>
        </p:nvSpPr>
        <p:spPr bwMode="auto">
          <a:xfrm flipH="1">
            <a:off x="3673475" y="1714500"/>
            <a:ext cx="1295400" cy="5715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63" name="Line 11"/>
          <p:cNvSpPr>
            <a:spLocks noChangeShapeType="1"/>
          </p:cNvSpPr>
          <p:nvPr/>
        </p:nvSpPr>
        <p:spPr bwMode="auto">
          <a:xfrm flipH="1">
            <a:off x="3597275" y="1714500"/>
            <a:ext cx="30480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64" name="Oval 12"/>
          <p:cNvSpPr>
            <a:spLocks noChangeArrowheads="1"/>
          </p:cNvSpPr>
          <p:nvPr/>
        </p:nvSpPr>
        <p:spPr bwMode="auto">
          <a:xfrm>
            <a:off x="2438401" y="16573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100365" name="Line 13"/>
          <p:cNvSpPr>
            <a:spLocks noChangeShapeType="1"/>
          </p:cNvSpPr>
          <p:nvPr/>
        </p:nvSpPr>
        <p:spPr bwMode="auto">
          <a:xfrm flipV="1">
            <a:off x="2819400" y="1657350"/>
            <a:ext cx="990600" cy="114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66" name="Text Box 14"/>
          <p:cNvSpPr txBox="1">
            <a:spLocks noChangeArrowheads="1"/>
          </p:cNvSpPr>
          <p:nvPr/>
        </p:nvSpPr>
        <p:spPr bwMode="auto">
          <a:xfrm>
            <a:off x="2057400" y="12573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100367" name="Text Box 15"/>
          <p:cNvSpPr txBox="1">
            <a:spLocks noChangeArrowheads="1"/>
          </p:cNvSpPr>
          <p:nvPr/>
        </p:nvSpPr>
        <p:spPr bwMode="auto">
          <a:xfrm>
            <a:off x="2879725" y="2234804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100368" name="Text Box 16"/>
          <p:cNvSpPr txBox="1">
            <a:spLocks noChangeArrowheads="1"/>
          </p:cNvSpPr>
          <p:nvPr/>
        </p:nvSpPr>
        <p:spPr bwMode="auto">
          <a:xfrm>
            <a:off x="5410200" y="12001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100369" name="Text Box 17"/>
          <p:cNvSpPr txBox="1">
            <a:spLocks noChangeArrowheads="1"/>
          </p:cNvSpPr>
          <p:nvPr/>
        </p:nvSpPr>
        <p:spPr bwMode="auto">
          <a:xfrm>
            <a:off x="5334000" y="21145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00370" name="Line 18"/>
          <p:cNvSpPr>
            <a:spLocks noChangeShapeType="1"/>
          </p:cNvSpPr>
          <p:nvPr/>
        </p:nvSpPr>
        <p:spPr bwMode="auto">
          <a:xfrm flipV="1">
            <a:off x="5105400" y="1771650"/>
            <a:ext cx="76200" cy="5143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0371" name="Text Box 19"/>
          <p:cNvSpPr txBox="1">
            <a:spLocks noChangeArrowheads="1"/>
          </p:cNvSpPr>
          <p:nvPr/>
        </p:nvSpPr>
        <p:spPr bwMode="auto">
          <a:xfrm>
            <a:off x="2994025" y="14668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00372" name="Text Box 20"/>
          <p:cNvSpPr txBox="1">
            <a:spLocks noChangeArrowheads="1"/>
          </p:cNvSpPr>
          <p:nvPr/>
        </p:nvSpPr>
        <p:spPr bwMode="auto">
          <a:xfrm>
            <a:off x="4484689" y="13144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100373" name="Text Box 21"/>
          <p:cNvSpPr txBox="1">
            <a:spLocks noChangeArrowheads="1"/>
          </p:cNvSpPr>
          <p:nvPr/>
        </p:nvSpPr>
        <p:spPr bwMode="auto">
          <a:xfrm>
            <a:off x="4125914" y="180022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100374" name="Text Box 22"/>
          <p:cNvSpPr txBox="1">
            <a:spLocks noChangeArrowheads="1"/>
          </p:cNvSpPr>
          <p:nvPr/>
        </p:nvSpPr>
        <p:spPr bwMode="auto">
          <a:xfrm>
            <a:off x="4989514" y="185499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100375" name="Text Box 23"/>
          <p:cNvSpPr txBox="1">
            <a:spLocks noChangeArrowheads="1"/>
          </p:cNvSpPr>
          <p:nvPr/>
        </p:nvSpPr>
        <p:spPr bwMode="auto">
          <a:xfrm>
            <a:off x="4125914" y="212407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100376" name="Text Box 24"/>
          <p:cNvSpPr txBox="1">
            <a:spLocks noChangeArrowheads="1"/>
          </p:cNvSpPr>
          <p:nvPr/>
        </p:nvSpPr>
        <p:spPr bwMode="auto">
          <a:xfrm>
            <a:off x="3621089" y="1691879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graphicFrame>
        <p:nvGraphicFramePr>
          <p:cNvPr id="100449" name="Group 97"/>
          <p:cNvGraphicFramePr>
            <a:graphicFrameLocks noGrp="1"/>
          </p:cNvGraphicFramePr>
          <p:nvPr/>
        </p:nvGraphicFramePr>
        <p:xfrm>
          <a:off x="381000" y="2743200"/>
          <a:ext cx="8305800" cy="1903809"/>
        </p:xfrm>
        <a:graphic>
          <a:graphicData uri="http://schemas.openxmlformats.org/drawingml/2006/table">
            <a:tbl>
              <a:tblPr/>
              <a:tblGrid>
                <a:gridCol w="306388"/>
                <a:gridCol w="430212"/>
                <a:gridCol w="1655763"/>
                <a:gridCol w="1181100"/>
                <a:gridCol w="1184275"/>
                <a:gridCol w="1181100"/>
                <a:gridCol w="1184275"/>
                <a:gridCol w="1182687"/>
              </a:tblGrid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Example for Dijkstra’s algorithm</a:t>
            </a:r>
          </a:p>
        </p:txBody>
      </p:sp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3733800" y="10287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101380" name="Oval 4"/>
          <p:cNvSpPr>
            <a:spLocks noChangeArrowheads="1"/>
          </p:cNvSpPr>
          <p:nvPr/>
        </p:nvSpPr>
        <p:spPr bwMode="auto">
          <a:xfrm>
            <a:off x="3825876" y="14859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1381" name="Oval 5"/>
          <p:cNvSpPr>
            <a:spLocks noChangeArrowheads="1"/>
          </p:cNvSpPr>
          <p:nvPr/>
        </p:nvSpPr>
        <p:spPr bwMode="auto">
          <a:xfrm>
            <a:off x="4968876" y="15430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1382" name="Oval 6"/>
          <p:cNvSpPr>
            <a:spLocks noChangeArrowheads="1"/>
          </p:cNvSpPr>
          <p:nvPr/>
        </p:nvSpPr>
        <p:spPr bwMode="auto">
          <a:xfrm>
            <a:off x="4892676" y="22860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1383" name="Oval 7"/>
          <p:cNvSpPr>
            <a:spLocks noChangeArrowheads="1"/>
          </p:cNvSpPr>
          <p:nvPr/>
        </p:nvSpPr>
        <p:spPr bwMode="auto">
          <a:xfrm>
            <a:off x="3292476" y="217170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 flipH="1" flipV="1">
            <a:off x="4206875" y="1600200"/>
            <a:ext cx="762000" cy="57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 flipH="1" flipV="1">
            <a:off x="3673475" y="2286000"/>
            <a:ext cx="1219200" cy="1143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 flipH="1">
            <a:off x="3673475" y="1714500"/>
            <a:ext cx="1295400" cy="5715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87" name="Line 11"/>
          <p:cNvSpPr>
            <a:spLocks noChangeShapeType="1"/>
          </p:cNvSpPr>
          <p:nvPr/>
        </p:nvSpPr>
        <p:spPr bwMode="auto">
          <a:xfrm flipH="1">
            <a:off x="3597275" y="1714500"/>
            <a:ext cx="30480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88" name="Oval 12"/>
          <p:cNvSpPr>
            <a:spLocks noChangeArrowheads="1"/>
          </p:cNvSpPr>
          <p:nvPr/>
        </p:nvSpPr>
        <p:spPr bwMode="auto">
          <a:xfrm>
            <a:off x="2438401" y="1657350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101389" name="Line 13"/>
          <p:cNvSpPr>
            <a:spLocks noChangeShapeType="1"/>
          </p:cNvSpPr>
          <p:nvPr/>
        </p:nvSpPr>
        <p:spPr bwMode="auto">
          <a:xfrm flipV="1">
            <a:off x="2819400" y="1657350"/>
            <a:ext cx="990600" cy="114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2057400" y="12573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2879725" y="2234804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5410200" y="12001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101393" name="Text Box 17"/>
          <p:cNvSpPr txBox="1">
            <a:spLocks noChangeArrowheads="1"/>
          </p:cNvSpPr>
          <p:nvPr/>
        </p:nvSpPr>
        <p:spPr bwMode="auto">
          <a:xfrm>
            <a:off x="5334000" y="21145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solidFill>
                  <a:schemeClr val="folHlink"/>
                </a:solidFill>
                <a:latin typeface="Tahoma" pitchFamily="34" charset="0"/>
              </a:rPr>
              <a:t>v</a:t>
            </a:r>
            <a:r>
              <a:rPr kumimoji="1" lang="en-US" altLang="zh-TW" sz="3200" baseline="-250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 flipV="1">
            <a:off x="5105400" y="1771650"/>
            <a:ext cx="76200" cy="51435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 type="stealth" w="lg" len="lg"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101395" name="Text Box 19"/>
          <p:cNvSpPr txBox="1">
            <a:spLocks noChangeArrowheads="1"/>
          </p:cNvSpPr>
          <p:nvPr/>
        </p:nvSpPr>
        <p:spPr bwMode="auto">
          <a:xfrm>
            <a:off x="2994025" y="14668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5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4484689" y="1314450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2</a:t>
            </a: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4125914" y="180022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3</a:t>
            </a:r>
          </a:p>
        </p:txBody>
      </p: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4989514" y="185499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sp>
        <p:nvSpPr>
          <p:cNvPr id="101399" name="Text Box 23"/>
          <p:cNvSpPr txBox="1">
            <a:spLocks noChangeArrowheads="1"/>
          </p:cNvSpPr>
          <p:nvPr/>
        </p:nvSpPr>
        <p:spPr bwMode="auto">
          <a:xfrm>
            <a:off x="4125914" y="2124075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8</a:t>
            </a:r>
          </a:p>
        </p:txBody>
      </p:sp>
      <p:sp>
        <p:nvSpPr>
          <p:cNvPr id="101400" name="Text Box 24"/>
          <p:cNvSpPr txBox="1">
            <a:spLocks noChangeArrowheads="1"/>
          </p:cNvSpPr>
          <p:nvPr/>
        </p:nvSpPr>
        <p:spPr bwMode="auto">
          <a:xfrm>
            <a:off x="3621089" y="1691879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sz="2400">
                <a:solidFill>
                  <a:schemeClr val="folHlink"/>
                </a:solidFill>
                <a:latin typeface="Tahoma" pitchFamily="34" charset="0"/>
              </a:rPr>
              <a:t>4</a:t>
            </a:r>
          </a:p>
        </p:txBody>
      </p:sp>
      <p:graphicFrame>
        <p:nvGraphicFramePr>
          <p:cNvPr id="101481" name="Group 105"/>
          <p:cNvGraphicFramePr>
            <a:graphicFrameLocks noGrp="1"/>
          </p:cNvGraphicFramePr>
          <p:nvPr/>
        </p:nvGraphicFramePr>
        <p:xfrm>
          <a:off x="304800" y="2743200"/>
          <a:ext cx="8305800" cy="1903809"/>
        </p:xfrm>
        <a:graphic>
          <a:graphicData uri="http://schemas.openxmlformats.org/drawingml/2006/table">
            <a:tbl>
              <a:tblPr/>
              <a:tblGrid>
                <a:gridCol w="306388"/>
                <a:gridCol w="430212"/>
                <a:gridCol w="1778000"/>
                <a:gridCol w="1143000"/>
                <a:gridCol w="1100138"/>
                <a:gridCol w="1181100"/>
                <a:gridCol w="1184275"/>
                <a:gridCol w="1182687"/>
              </a:tblGrid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cost[v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∞</a:t>
                      </a:r>
                      <a:endParaRPr kumimoji="0" lang="en-US" altLang="zh-TW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8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6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[v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4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, 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3, 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16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b="1" dirty="0" smtClean="0">
                <a:ea typeface="新細明體" pitchFamily="18" charset="-120"/>
              </a:rPr>
              <a:t>Algorithm </a:t>
            </a:r>
            <a:r>
              <a:rPr lang="en-US" altLang="zh-TW" b="1" dirty="0" err="1" smtClean="0">
                <a:ea typeface="新細明體" pitchFamily="18" charset="-120"/>
              </a:rPr>
              <a:t>shortestPath</a:t>
            </a:r>
            <a:r>
              <a:rPr lang="en-US" altLang="zh-TW" b="1" dirty="0" smtClean="0">
                <a:ea typeface="新細明體" pitchFamily="18" charset="-120"/>
              </a:rPr>
              <a:t>()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n = number of nodes in the graph;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for </a:t>
            </a:r>
            <a:r>
              <a:rPr lang="en-US" altLang="zh-TW" dirty="0" err="1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 = 1 to 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cost[v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] = w(v</a:t>
            </a:r>
            <a:r>
              <a:rPr lang="en-US" altLang="zh-TW" baseline="-25000" dirty="0" smtClean="0">
                <a:ea typeface="新細明體" pitchFamily="18" charset="-120"/>
              </a:rPr>
              <a:t>1</a:t>
            </a:r>
            <a:r>
              <a:rPr lang="en-US" altLang="zh-TW" dirty="0" smtClean="0">
                <a:ea typeface="新細明體" pitchFamily="18" charset="-120"/>
              </a:rPr>
              <a:t>, 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VS = { v</a:t>
            </a:r>
            <a:r>
              <a:rPr lang="en-US" altLang="zh-TW" baseline="-25000" dirty="0" smtClean="0">
                <a:ea typeface="新細明體" pitchFamily="18" charset="-120"/>
              </a:rPr>
              <a:t>1</a:t>
            </a:r>
            <a:r>
              <a:rPr lang="en-US" altLang="zh-TW" dirty="0" smtClean="0">
                <a:ea typeface="新細明體" pitchFamily="18" charset="-120"/>
              </a:rPr>
              <a:t> 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for step = 2 to n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find the smallest cost[v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] </a:t>
            </a:r>
            <a:r>
              <a:rPr lang="en-US" altLang="zh-TW" dirty="0" err="1" smtClean="0">
                <a:ea typeface="新細明體" pitchFamily="18" charset="-120"/>
              </a:rPr>
              <a:t>s.t</a:t>
            </a:r>
            <a:r>
              <a:rPr lang="en-US" altLang="zh-TW" dirty="0" smtClean="0">
                <a:ea typeface="新細明體" pitchFamily="18" charset="-120"/>
              </a:rPr>
              <a:t>. 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 is not in VS;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include 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 to VS;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for (all nodes </a:t>
            </a:r>
            <a:r>
              <a:rPr lang="en-US" altLang="zh-TW" dirty="0" err="1" smtClean="0">
                <a:ea typeface="新細明體" pitchFamily="18" charset="-120"/>
              </a:rPr>
              <a:t>v</a:t>
            </a:r>
            <a:r>
              <a:rPr lang="en-US" altLang="zh-TW" baseline="-25000" dirty="0" err="1" smtClean="0">
                <a:ea typeface="新細明體" pitchFamily="18" charset="-120"/>
              </a:rPr>
              <a:t>j</a:t>
            </a:r>
            <a:r>
              <a:rPr lang="en-US" altLang="zh-TW" dirty="0" smtClean="0">
                <a:ea typeface="新細明體" pitchFamily="18" charset="-120"/>
              </a:rPr>
              <a:t> not in VS)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	if (cost[</a:t>
            </a:r>
            <a:r>
              <a:rPr lang="en-US" altLang="zh-TW" dirty="0" err="1" smtClean="0">
                <a:ea typeface="新細明體" pitchFamily="18" charset="-120"/>
              </a:rPr>
              <a:t>v</a:t>
            </a:r>
            <a:r>
              <a:rPr lang="en-US" altLang="zh-TW" baseline="-25000" dirty="0" err="1" smtClean="0">
                <a:ea typeface="新細明體" pitchFamily="18" charset="-120"/>
              </a:rPr>
              <a:t>j</a:t>
            </a:r>
            <a:r>
              <a:rPr lang="en-US" altLang="zh-TW" dirty="0" smtClean="0">
                <a:ea typeface="新細明體" pitchFamily="18" charset="-120"/>
              </a:rPr>
              <a:t>] &gt; cost[v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] + w(v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, </a:t>
            </a:r>
            <a:r>
              <a:rPr lang="en-US" altLang="zh-TW" dirty="0" err="1" smtClean="0">
                <a:ea typeface="新細明體" pitchFamily="18" charset="-120"/>
              </a:rPr>
              <a:t>v</a:t>
            </a:r>
            <a:r>
              <a:rPr lang="en-US" altLang="zh-TW" baseline="-25000" dirty="0" err="1" smtClean="0">
                <a:ea typeface="新細明體" pitchFamily="18" charset="-120"/>
              </a:rPr>
              <a:t>j</a:t>
            </a:r>
            <a:r>
              <a:rPr lang="en-US" altLang="zh-TW" dirty="0" smtClean="0">
                <a:ea typeface="新細明體" pitchFamily="18" charset="-120"/>
              </a:rPr>
              <a:t>))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		cost[</a:t>
            </a:r>
            <a:r>
              <a:rPr lang="en-US" altLang="zh-TW" dirty="0" err="1" smtClean="0">
                <a:ea typeface="新細明體" pitchFamily="18" charset="-120"/>
              </a:rPr>
              <a:t>v</a:t>
            </a:r>
            <a:r>
              <a:rPr lang="en-US" altLang="zh-TW" baseline="-25000" dirty="0" err="1" smtClean="0">
                <a:ea typeface="新細明體" pitchFamily="18" charset="-120"/>
              </a:rPr>
              <a:t>j</a:t>
            </a:r>
            <a:r>
              <a:rPr lang="en-US" altLang="zh-TW" dirty="0" smtClean="0">
                <a:ea typeface="新細明體" pitchFamily="18" charset="-120"/>
              </a:rPr>
              <a:t>] = cost[v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] + w(v</a:t>
            </a:r>
            <a:r>
              <a:rPr lang="en-US" altLang="zh-TW" baseline="-25000" dirty="0" smtClean="0">
                <a:ea typeface="新細明體" pitchFamily="18" charset="-120"/>
              </a:rPr>
              <a:t>i</a:t>
            </a:r>
            <a:r>
              <a:rPr lang="en-US" altLang="zh-TW" dirty="0" smtClean="0">
                <a:ea typeface="新細明體" pitchFamily="18" charset="-120"/>
              </a:rPr>
              <a:t>, </a:t>
            </a:r>
            <a:r>
              <a:rPr lang="en-US" altLang="zh-TW" dirty="0" err="1" smtClean="0">
                <a:ea typeface="新細明體" pitchFamily="18" charset="-120"/>
              </a:rPr>
              <a:t>v</a:t>
            </a:r>
            <a:r>
              <a:rPr lang="en-US" altLang="zh-TW" baseline="-25000" dirty="0" err="1" smtClean="0">
                <a:ea typeface="新細明體" pitchFamily="18" charset="-120"/>
              </a:rPr>
              <a:t>j</a:t>
            </a:r>
            <a:r>
              <a:rPr lang="en-US" altLang="zh-TW" dirty="0" smtClean="0">
                <a:ea typeface="新細明體" pitchFamily="18" charset="-12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dirty="0" smtClean="0">
                <a:ea typeface="新細明體" pitchFamily="18" charset="-120"/>
              </a:rPr>
              <a:t>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IN" dirty="0">
                <a:hlinkClick r:id="rId2"/>
              </a:rPr>
              <a:t>Complexity Analysis of </a:t>
            </a:r>
            <a:r>
              <a:rPr lang="en-IN" dirty="0" err="1">
                <a:hlinkClick r:id="rId2"/>
              </a:rPr>
              <a:t>Dijkstra</a:t>
            </a:r>
            <a:r>
              <a:rPr lang="en-IN" dirty="0">
                <a:hlinkClick r:id="rId2"/>
              </a:rPr>
              <a:t> Algorithm</a:t>
            </a:r>
            <a:r>
              <a:rPr lang="en-IN" dirty="0"/>
              <a:t>:</a:t>
            </a:r>
          </a:p>
          <a:p>
            <a:pPr fontAlgn="base"/>
            <a:r>
              <a:rPr lang="en-IN" dirty="0"/>
              <a:t>Time complexity: O((V + E) log V), where V is the number of vertices and E is the number of edges.</a:t>
            </a:r>
          </a:p>
          <a:p>
            <a:pPr fontAlgn="base"/>
            <a:r>
              <a:rPr lang="en-IN" dirty="0"/>
              <a:t>Auxiliary Space: O(V), where V is the number of vertices and E is the number of edges in the graph.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It </a:t>
            </a:r>
            <a:r>
              <a:rPr lang="en-IN" dirty="0"/>
              <a:t>is used in finding Shortest Path.</a:t>
            </a:r>
          </a:p>
          <a:p>
            <a:r>
              <a:rPr lang="en-IN" dirty="0"/>
              <a:t>It is used in geographical Maps.</a:t>
            </a:r>
          </a:p>
          <a:p>
            <a:r>
              <a:rPr lang="en-IN" dirty="0"/>
              <a:t>To find locations of Map which refers to vertices of graph.</a:t>
            </a:r>
          </a:p>
          <a:p>
            <a:r>
              <a:rPr lang="en-IN" dirty="0"/>
              <a:t>Distance between the location refers to edges.</a:t>
            </a:r>
          </a:p>
          <a:p>
            <a:r>
              <a:rPr lang="en-IN" dirty="0"/>
              <a:t>It is used in IP routing to find Open shortest Path First.</a:t>
            </a:r>
          </a:p>
          <a:p>
            <a:r>
              <a:rPr lang="en-IN" dirty="0"/>
              <a:t>It is used in the telephone network.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Huffman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Huffman Coding is a technique of compressing data to reduce its size without losing any of the </a:t>
            </a:r>
          </a:p>
          <a:p>
            <a:r>
              <a:rPr lang="en-IN" dirty="0"/>
              <a:t>details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It was first developed by David Huffman. </a:t>
            </a:r>
          </a:p>
          <a:p>
            <a:r>
              <a:rPr lang="en-IN" dirty="0"/>
              <a:t>Huffman Coding is generally useful to compress the data in which there are frequently occurring </a:t>
            </a:r>
            <a:r>
              <a:rPr lang="en-IN" dirty="0" smtClean="0"/>
              <a:t>characters.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58204" cy="43694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714362"/>
            <a:ext cx="8229600" cy="3394472"/>
          </a:xfrm>
        </p:spPr>
        <p:txBody>
          <a:bodyPr>
            <a:normAutofit fontScale="55000" lnSpcReduction="20000"/>
          </a:bodyPr>
          <a:lstStyle/>
          <a:p>
            <a:r>
              <a:rPr lang="en-IN" dirty="0" smtClean="0"/>
              <a:t>Let this string is sent over the network: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Each </a:t>
            </a:r>
            <a:r>
              <a:rPr lang="en-IN" dirty="0"/>
              <a:t>character occupies 8 bits. There are a total of 15 characters in the above string. Thus, a total </a:t>
            </a:r>
          </a:p>
          <a:p>
            <a:r>
              <a:rPr lang="en-IN" dirty="0"/>
              <a:t>of 8 * 15 = 120 bits are required to send this string. </a:t>
            </a:r>
          </a:p>
          <a:p>
            <a:r>
              <a:rPr lang="en-IN" dirty="0"/>
              <a:t>Using the Huffman Coding technique, we can compress the string to a smaller size. </a:t>
            </a:r>
          </a:p>
          <a:p>
            <a:r>
              <a:rPr lang="en-IN" dirty="0"/>
              <a:t>Huffman coding first creates a tree using the frequencies of the character and then generates code </a:t>
            </a:r>
          </a:p>
          <a:p>
            <a:r>
              <a:rPr lang="en-IN" dirty="0"/>
              <a:t>for each character. </a:t>
            </a:r>
          </a:p>
          <a:p>
            <a:r>
              <a:rPr lang="en-IN" dirty="0"/>
              <a:t>Once the data is encoded, it has to be decoded. Decoding is done using the same tree.</a:t>
            </a:r>
          </a:p>
          <a:p>
            <a:endParaRPr lang="en-IN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000114"/>
            <a:ext cx="39830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Huffman Coding prevents any ambiguity in the decoding process using the concept of prefix </a:t>
            </a:r>
          </a:p>
          <a:p>
            <a:r>
              <a:rPr lang="en-IN" dirty="0"/>
              <a:t>code </a:t>
            </a:r>
            <a:r>
              <a:rPr lang="en-IN" dirty="0" err="1"/>
              <a:t>ie</a:t>
            </a:r>
            <a:r>
              <a:rPr lang="en-IN" dirty="0"/>
              <a:t>. a code associated with a character should not be present in the prefix of any other code. </a:t>
            </a:r>
          </a:p>
          <a:p>
            <a:r>
              <a:rPr lang="en-IN" dirty="0"/>
              <a:t>The tree created above helps in maintaining the property. </a:t>
            </a:r>
          </a:p>
          <a:p>
            <a:r>
              <a:rPr lang="en-IN" dirty="0"/>
              <a:t>Huffman coding is done with the help of the following steps.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714362"/>
            <a:ext cx="7524780" cy="376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6"/>
            <a:ext cx="8072494" cy="3358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44"/>
            <a:ext cx="8072494" cy="857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9"/>
            <a:ext cx="261960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57158" y="1857370"/>
            <a:ext cx="5000660" cy="321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1450"/>
            <a:ext cx="8229600" cy="777479"/>
          </a:xfrm>
        </p:spPr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Spanning Tree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71551"/>
            <a:ext cx="8229600" cy="3623072"/>
          </a:xfrm>
        </p:spPr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Given a connected undirected graph G, a spanning tree of G is a </a:t>
            </a:r>
            <a:r>
              <a:rPr lang="en-US" altLang="zh-TW" dirty="0" err="1">
                <a:ea typeface="新細明體" pitchFamily="18" charset="-120"/>
              </a:rPr>
              <a:t>subgraph</a:t>
            </a:r>
            <a:r>
              <a:rPr lang="en-US" altLang="zh-TW" dirty="0">
                <a:ea typeface="新細明體" pitchFamily="18" charset="-120"/>
              </a:rPr>
              <a:t> of G that contains all of G’s nodes and enough of its edges to form a tree.</a:t>
            </a:r>
          </a:p>
        </p:txBody>
      </p:sp>
      <p:sp>
        <p:nvSpPr>
          <p:cNvPr id="86020" name="Oval 4"/>
          <p:cNvSpPr>
            <a:spLocks noChangeArrowheads="1"/>
          </p:cNvSpPr>
          <p:nvPr/>
        </p:nvSpPr>
        <p:spPr bwMode="auto">
          <a:xfrm>
            <a:off x="4441826" y="2965847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5584826" y="3022997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022" name="Oval 6"/>
          <p:cNvSpPr>
            <a:spLocks noChangeArrowheads="1"/>
          </p:cNvSpPr>
          <p:nvPr/>
        </p:nvSpPr>
        <p:spPr bwMode="auto">
          <a:xfrm>
            <a:off x="5508626" y="3765947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023" name="Oval 7"/>
          <p:cNvSpPr>
            <a:spLocks noChangeArrowheads="1"/>
          </p:cNvSpPr>
          <p:nvPr/>
        </p:nvSpPr>
        <p:spPr bwMode="auto">
          <a:xfrm>
            <a:off x="3908426" y="3651647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 flipH="1" flipV="1">
            <a:off x="4822825" y="3080147"/>
            <a:ext cx="762000" cy="5715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 flipH="1" flipV="1">
            <a:off x="4289425" y="3765947"/>
            <a:ext cx="1219200" cy="1143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 flipH="1">
            <a:off x="4289425" y="3194447"/>
            <a:ext cx="1295400" cy="5715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 flipH="1">
            <a:off x="4213225" y="3194447"/>
            <a:ext cx="304800" cy="4572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28" name="Oval 12"/>
          <p:cNvSpPr>
            <a:spLocks noChangeArrowheads="1"/>
          </p:cNvSpPr>
          <p:nvPr/>
        </p:nvSpPr>
        <p:spPr bwMode="auto">
          <a:xfrm>
            <a:off x="3054351" y="3137297"/>
            <a:ext cx="392113" cy="26193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86029" name="Line 13"/>
          <p:cNvSpPr>
            <a:spLocks noChangeShapeType="1"/>
          </p:cNvSpPr>
          <p:nvPr/>
        </p:nvSpPr>
        <p:spPr bwMode="auto">
          <a:xfrm flipV="1">
            <a:off x="3435350" y="3137297"/>
            <a:ext cx="990600" cy="1143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30" name="Text Box 14"/>
          <p:cNvSpPr txBox="1">
            <a:spLocks noChangeArrowheads="1"/>
          </p:cNvSpPr>
          <p:nvPr/>
        </p:nvSpPr>
        <p:spPr bwMode="auto">
          <a:xfrm>
            <a:off x="2673350" y="2737248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latin typeface="Tahoma" pitchFamily="34" charset="0"/>
              </a:rPr>
              <a:t>v</a:t>
            </a:r>
            <a:r>
              <a:rPr kumimoji="1" lang="en-US" altLang="zh-TW" sz="3200" baseline="-25000">
                <a:latin typeface="Tahoma" pitchFamily="34" charset="0"/>
              </a:rPr>
              <a:t>1</a:t>
            </a:r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3495675" y="371475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latin typeface="Tahoma" pitchFamily="34" charset="0"/>
              </a:rPr>
              <a:t>v</a:t>
            </a:r>
            <a:r>
              <a:rPr kumimoji="1" lang="en-US" altLang="zh-TW" sz="3200" baseline="-25000">
                <a:latin typeface="Tahoma" pitchFamily="34" charset="0"/>
              </a:rPr>
              <a:t>4</a:t>
            </a:r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6026150" y="2680098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latin typeface="Tahoma" pitchFamily="34" charset="0"/>
              </a:rPr>
              <a:t>v</a:t>
            </a:r>
            <a:r>
              <a:rPr kumimoji="1" lang="en-US" altLang="zh-TW" sz="3200" baseline="-25000">
                <a:latin typeface="Tahoma" pitchFamily="34" charset="0"/>
              </a:rPr>
              <a:t>3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5949950" y="3594497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latin typeface="Tahoma" pitchFamily="34" charset="0"/>
              </a:rPr>
              <a:t>v</a:t>
            </a:r>
            <a:r>
              <a:rPr kumimoji="1" lang="en-US" altLang="zh-TW" sz="3200" baseline="-25000">
                <a:latin typeface="Tahoma" pitchFamily="34" charset="0"/>
              </a:rPr>
              <a:t>5</a:t>
            </a:r>
          </a:p>
        </p:txBody>
      </p:sp>
      <p:sp>
        <p:nvSpPr>
          <p:cNvPr id="86034" name="Line 18"/>
          <p:cNvSpPr>
            <a:spLocks noChangeShapeType="1"/>
          </p:cNvSpPr>
          <p:nvPr/>
        </p:nvSpPr>
        <p:spPr bwMode="auto">
          <a:xfrm flipV="1">
            <a:off x="5721350" y="3251597"/>
            <a:ext cx="76200" cy="51435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none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35" name="Text Box 19"/>
          <p:cNvSpPr txBox="1">
            <a:spLocks noChangeArrowheads="1"/>
          </p:cNvSpPr>
          <p:nvPr/>
        </p:nvSpPr>
        <p:spPr bwMode="auto">
          <a:xfrm>
            <a:off x="4333875" y="2514600"/>
            <a:ext cx="53893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3200">
                <a:latin typeface="Tahoma" pitchFamily="34" charset="0"/>
              </a:rPr>
              <a:t>v</a:t>
            </a:r>
            <a:r>
              <a:rPr kumimoji="1" lang="en-US" altLang="zh-TW" sz="3200" baseline="-25000">
                <a:latin typeface="Tahoma" pitchFamily="34" charset="0"/>
              </a:rPr>
              <a:t>2</a:t>
            </a: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1447801" y="3876675"/>
            <a:ext cx="1539875" cy="83099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1" lang="en-US" altLang="zh-TW" sz="2400" dirty="0">
                <a:latin typeface="Tahoma" pitchFamily="34" charset="0"/>
              </a:rPr>
              <a:t>Spanning tree</a:t>
            </a:r>
          </a:p>
        </p:txBody>
      </p:sp>
      <p:sp>
        <p:nvSpPr>
          <p:cNvPr id="86037" name="Line 21"/>
          <p:cNvSpPr>
            <a:spLocks noChangeShapeType="1"/>
          </p:cNvSpPr>
          <p:nvPr/>
        </p:nvSpPr>
        <p:spPr bwMode="auto">
          <a:xfrm flipV="1">
            <a:off x="2895600" y="3362325"/>
            <a:ext cx="914400" cy="5715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stealth" w="lg" len="lg"/>
          </a:ln>
          <a:effectLst/>
        </p:spPr>
        <p:txBody>
          <a:bodyPr wrap="none"/>
          <a:lstStyle/>
          <a:p>
            <a:endParaRPr lang="en-IN"/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556125" y="4130279"/>
            <a:ext cx="4032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TW" sz="2400">
                <a:latin typeface="Tahoma" pitchFamily="34" charset="0"/>
              </a:rPr>
              <a:t>Spanning tree is not unique!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Spanning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2800" dirty="0" smtClean="0">
                <a:ea typeface="新細明體" pitchFamily="18" charset="-120"/>
              </a:rPr>
              <a:t>Consider a connected undirected graph where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Each node x represents a country x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Each edge (x, y) has a number which measures the cost of placing telephone line between country x and country y</a:t>
            </a:r>
          </a:p>
          <a:p>
            <a:r>
              <a:rPr lang="en-US" altLang="zh-TW" sz="2800" dirty="0" smtClean="0">
                <a:ea typeface="新細明體" pitchFamily="18" charset="-120"/>
              </a:rPr>
              <a:t>Problem: connecting all countries while minimizing the total cost</a:t>
            </a:r>
          </a:p>
          <a:p>
            <a:r>
              <a:rPr lang="en-US" altLang="zh-TW" sz="2800" dirty="0" smtClean="0">
                <a:ea typeface="新細明體" pitchFamily="18" charset="-120"/>
              </a:rPr>
              <a:t>Solution: find a spanning tree with minimum total weight, that is, minimum spanning tree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1943102"/>
          </a:xfrm>
        </p:spPr>
        <p:txBody>
          <a:bodyPr>
            <a:normAutofit lnSpcReduction="10000"/>
          </a:bodyPr>
          <a:lstStyle/>
          <a:p>
            <a:r>
              <a:rPr lang="en-US" altLang="zh-TW" sz="2200" dirty="0" smtClean="0">
                <a:ea typeface="新細明體" pitchFamily="18" charset="-120"/>
              </a:rPr>
              <a:t>Given a connected undirected graph G.</a:t>
            </a:r>
          </a:p>
          <a:p>
            <a:r>
              <a:rPr lang="en-US" altLang="zh-TW" sz="2200" dirty="0" smtClean="0">
                <a:ea typeface="新細明體" pitchFamily="18" charset="-120"/>
              </a:rPr>
              <a:t>Let T be a spanning tree of G.</a:t>
            </a:r>
          </a:p>
          <a:p>
            <a:r>
              <a:rPr lang="en-US" altLang="zh-TW" sz="2200" dirty="0" smtClean="0">
                <a:ea typeface="新細明體" pitchFamily="18" charset="-120"/>
              </a:rPr>
              <a:t>cost(T) = </a:t>
            </a:r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</a:t>
            </a:r>
            <a:r>
              <a:rPr lang="en-US" altLang="zh-TW" sz="2200" baseline="-25000" dirty="0" err="1" smtClean="0">
                <a:ea typeface="新細明體" pitchFamily="18" charset="-120"/>
                <a:sym typeface="Symbol" pitchFamily="18" charset="2"/>
              </a:rPr>
              <a:t>eT</a:t>
            </a:r>
            <a:r>
              <a:rPr lang="en-US" altLang="zh-TW" sz="2200" dirty="0" err="1" smtClean="0">
                <a:ea typeface="新細明體" pitchFamily="18" charset="-120"/>
                <a:sym typeface="Symbol" pitchFamily="18" charset="2"/>
              </a:rPr>
              <a:t>weight</a:t>
            </a:r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(e)</a:t>
            </a:r>
          </a:p>
          <a:p>
            <a:r>
              <a:rPr lang="en-US" altLang="zh-TW" sz="2200" dirty="0" smtClean="0">
                <a:ea typeface="新細明體" pitchFamily="18" charset="-120"/>
                <a:sym typeface="Symbol" pitchFamily="18" charset="2"/>
              </a:rPr>
              <a:t>The minimum spanning tree is a spanning tree T which minimizes cost(T)</a:t>
            </a:r>
            <a:endParaRPr lang="en-US" altLang="zh-TW" sz="2200" dirty="0" smtClean="0">
              <a:ea typeface="新細明體" pitchFamily="18" charset="-120"/>
            </a:endParaRPr>
          </a:p>
          <a:p>
            <a:endParaRPr lang="en-IN" sz="2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3214692"/>
            <a:ext cx="3503613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Prims</a:t>
            </a:r>
            <a:r>
              <a:rPr lang="en-IN" dirty="0"/>
              <a:t>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b="1" dirty="0" smtClean="0">
                <a:ea typeface="新細明體" pitchFamily="18" charset="-120"/>
              </a:rPr>
              <a:t>Algorithm </a:t>
            </a:r>
            <a:r>
              <a:rPr lang="en-US" altLang="zh-TW" sz="2800" b="1" dirty="0" err="1" smtClean="0">
                <a:ea typeface="新細明體" pitchFamily="18" charset="-120"/>
              </a:rPr>
              <a:t>PrimAlgorithm</a:t>
            </a:r>
            <a:r>
              <a:rPr lang="en-US" altLang="zh-TW" sz="2800" b="1" dirty="0" smtClean="0">
                <a:ea typeface="新細明體" pitchFamily="18" charset="-120"/>
              </a:rPr>
              <a:t>(v)</a:t>
            </a:r>
          </a:p>
          <a:p>
            <a:pPr>
              <a:lnSpc>
                <a:spcPct val="90000"/>
              </a:lnSpc>
            </a:pPr>
            <a:r>
              <a:rPr lang="en-US" altLang="zh-TW" sz="2800" dirty="0" smtClean="0">
                <a:ea typeface="新細明體" pitchFamily="18" charset="-120"/>
              </a:rPr>
              <a:t>Mark node v as visited and include it in the minimum spanning tree;</a:t>
            </a:r>
          </a:p>
          <a:p>
            <a:pPr>
              <a:lnSpc>
                <a:spcPct val="90000"/>
              </a:lnSpc>
            </a:pPr>
            <a:r>
              <a:rPr lang="en-US" altLang="zh-TW" sz="2800" dirty="0" smtClean="0">
                <a:ea typeface="新細明體" pitchFamily="18" charset="-120"/>
              </a:rPr>
              <a:t>while (there are unvisited nodes) {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 smtClean="0">
                <a:ea typeface="新細明體" pitchFamily="18" charset="-120"/>
              </a:rPr>
              <a:t>find the minimum edge (v, u) between a visited node v and an unvisited node u;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 smtClean="0">
                <a:ea typeface="新細明體" pitchFamily="18" charset="-120"/>
              </a:rPr>
              <a:t>mark u as visited;</a:t>
            </a:r>
          </a:p>
          <a:p>
            <a:pPr lvl="1">
              <a:lnSpc>
                <a:spcPct val="90000"/>
              </a:lnSpc>
            </a:pPr>
            <a:r>
              <a:rPr lang="en-US" altLang="zh-TW" sz="2400" dirty="0" smtClean="0">
                <a:ea typeface="新細明體" pitchFamily="18" charset="-120"/>
              </a:rPr>
              <a:t>add both v and (v, u) to the minimum spanning tree;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TW" sz="2800" dirty="0" smtClean="0">
                <a:ea typeface="新細明體" pitchFamily="18" charset="-120"/>
              </a:rPr>
              <a:t>	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1" y="357172"/>
            <a:ext cx="8083447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Kruskals</a:t>
            </a:r>
            <a:r>
              <a:rPr lang="en-IN" dirty="0"/>
              <a:t>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dirty="0"/>
              <a:t>Let G = (V, E) be the given graph, with | V| = n        {</a:t>
            </a:r>
          </a:p>
          <a:p>
            <a:pPr>
              <a:buNone/>
            </a:pPr>
            <a:r>
              <a:rPr lang="en-IN" dirty="0"/>
              <a:t>            Start with a graph T = (V,) consisting of only the</a:t>
            </a:r>
          </a:p>
          <a:p>
            <a:pPr>
              <a:buNone/>
            </a:pPr>
            <a:r>
              <a:rPr lang="en-IN" dirty="0"/>
              <a:t>            vertices of G and no edges; /* This can be viewed as n</a:t>
            </a:r>
          </a:p>
          <a:p>
            <a:pPr>
              <a:buNone/>
            </a:pPr>
            <a:r>
              <a:rPr lang="en-IN" dirty="0"/>
              <a:t>            connected components, each vertex being one connected component */</a:t>
            </a:r>
          </a:p>
          <a:p>
            <a:pPr>
              <a:buNone/>
            </a:pPr>
            <a:r>
              <a:rPr lang="en-IN" dirty="0"/>
              <a:t>       Arrange E in the order of increasing costs;</a:t>
            </a:r>
          </a:p>
          <a:p>
            <a:pPr>
              <a:buNone/>
            </a:pPr>
            <a:r>
              <a:rPr lang="en-IN" dirty="0"/>
              <a:t>        for (</a:t>
            </a:r>
            <a:r>
              <a:rPr lang="en-IN" dirty="0" err="1"/>
              <a:t>i</a:t>
            </a:r>
            <a:r>
              <a:rPr lang="en-IN" dirty="0"/>
              <a:t> = 1, in - 1, </a:t>
            </a:r>
            <a:r>
              <a:rPr lang="en-IN" dirty="0" err="1"/>
              <a:t>i</a:t>
            </a:r>
            <a:r>
              <a:rPr lang="en-IN" dirty="0"/>
              <a:t> + +)</a:t>
            </a:r>
          </a:p>
          <a:p>
            <a:pPr>
              <a:buNone/>
            </a:pPr>
            <a:r>
              <a:rPr lang="en-IN" dirty="0"/>
              <a:t>        { Select the next smallest cost edge;</a:t>
            </a:r>
          </a:p>
          <a:p>
            <a:pPr>
              <a:buNone/>
            </a:pPr>
            <a:r>
              <a:rPr lang="en-IN" dirty="0"/>
              <a:t>        if (the edge connects two different connected components)</a:t>
            </a:r>
          </a:p>
          <a:p>
            <a:pPr>
              <a:buNone/>
            </a:pPr>
            <a:r>
              <a:rPr lang="en-IN" dirty="0"/>
              <a:t>        add the edge to T;</a:t>
            </a:r>
          </a:p>
          <a:p>
            <a:pPr>
              <a:buNone/>
            </a:pPr>
            <a:r>
              <a:rPr lang="en-IN" dirty="0"/>
              <a:t>        }</a:t>
            </a:r>
          </a:p>
          <a:p>
            <a:pPr>
              <a:buNone/>
            </a:pPr>
            <a:r>
              <a:rPr lang="en-IN" dirty="0"/>
              <a:t>    }</a:t>
            </a: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8" name="Picture 2" descr="\begin{figure}\centerline{\psfig{figure=figures/Fkruskal.ps,width=5.5in}}\end{figure}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714362"/>
            <a:ext cx="6719858" cy="38762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Refer </a:t>
            </a:r>
            <a:r>
              <a:rPr lang="en-IN" dirty="0" smtClean="0">
                <a:hlinkClick r:id="rId2"/>
              </a:rPr>
              <a:t>https://visualgo.net/en/mst?slide=1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for better visual understanding of the algorithms.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1114</Words>
  <Application>Microsoft Office PowerPoint</Application>
  <PresentationFormat>On-screen Show (16:9)</PresentationFormat>
  <Paragraphs>259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Slide 2</vt:lpstr>
      <vt:lpstr>Slide 3</vt:lpstr>
      <vt:lpstr>Shortest Paths in Graphs</vt:lpstr>
      <vt:lpstr>Slide 5</vt:lpstr>
      <vt:lpstr>Slide 6</vt:lpstr>
      <vt:lpstr>Dijkstra’s algorithm</vt:lpstr>
      <vt:lpstr>Example for Dijkstra’s algorithm</vt:lpstr>
      <vt:lpstr>Example for Dijkstra’s algorithm</vt:lpstr>
      <vt:lpstr>Example for Dijkstra’s algorithm</vt:lpstr>
      <vt:lpstr>Slide 11</vt:lpstr>
      <vt:lpstr>Slide 12</vt:lpstr>
      <vt:lpstr>Applications</vt:lpstr>
      <vt:lpstr>Huffman Coding</vt:lpstr>
      <vt:lpstr>Working</vt:lpstr>
      <vt:lpstr>Slide 16</vt:lpstr>
      <vt:lpstr>Slide 17</vt:lpstr>
      <vt:lpstr>Slide 18</vt:lpstr>
      <vt:lpstr>Slide 19</vt:lpstr>
      <vt:lpstr>Slide 20</vt:lpstr>
      <vt:lpstr>Spanning Tree</vt:lpstr>
      <vt:lpstr>Minimum Spanning Trees</vt:lpstr>
      <vt:lpstr>Slide 23</vt:lpstr>
      <vt:lpstr>Prims algorithms</vt:lpstr>
      <vt:lpstr>Slide 25</vt:lpstr>
      <vt:lpstr>Kruskals algorithms</vt:lpstr>
      <vt:lpstr>Slide 27</vt:lpstr>
      <vt:lpstr>Slide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34</cp:revision>
  <dcterms:created xsi:type="dcterms:W3CDTF">2024-06-11T12:55:54Z</dcterms:created>
  <dcterms:modified xsi:type="dcterms:W3CDTF">2024-06-11T13:46:33Z</dcterms:modified>
</cp:coreProperties>
</file>