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56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81" r:id="rId17"/>
    <p:sldId id="282" r:id="rId18"/>
    <p:sldId id="272" r:id="rId19"/>
    <p:sldId id="261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9" d="100"/>
          <a:sy n="69" d="100"/>
        </p:scale>
        <p:origin x="-1146" y="-4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E3A99-F823-4CE9-A1CC-6F8F5759AB77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94928-A4F6-4281-A390-8744E6BFB38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B1CF9-2C6C-4A52-985D-966EADC6D73C}" type="datetimeFigureOut">
              <a:rPr lang="en-US" smtClean="0"/>
              <a:t>6/11/2024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EE4E0-0BB4-4332-B280-8B4652CF185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extended-knapsack-proble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0-1-knapsack-problem-dp-10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fractional-knapsack-proble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71474" y="2500313"/>
            <a:ext cx="8118475" cy="1475185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IN" sz="4400" b="1" dirty="0">
                <a:latin typeface="Times New Roman" pitchFamily="18" charset="0"/>
                <a:cs typeface="Times New Roman" pitchFamily="18" charset="0"/>
              </a:rPr>
              <a:t>Dynamic Programming</a:t>
            </a:r>
            <a:endParaRPr lang="en-IN" sz="4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676403" y="1402558"/>
            <a:ext cx="6691313" cy="4786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Topic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3.3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442075" y="4767264"/>
            <a:ext cx="2133600" cy="273844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By:  Er.Bhavneet Kaur</a:t>
            </a:r>
          </a:p>
          <a:p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Master Subject Co-ordinator</a:t>
            </a:r>
          </a:p>
          <a:p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CSE 2</a:t>
            </a:r>
            <a:r>
              <a:rPr lang="en-US" baseline="30000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smtClean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Year</a:t>
            </a:r>
          </a:p>
        </p:txBody>
      </p:sp>
      <p:pic>
        <p:nvPicPr>
          <p:cNvPr id="7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6213" y="440531"/>
            <a:ext cx="19050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160718"/>
            <a:ext cx="7772400" cy="1102519"/>
          </a:xfrm>
        </p:spPr>
        <p:txBody>
          <a:bodyPr/>
          <a:lstStyle/>
          <a:p>
            <a:r>
              <a:rPr lang="en-IN" dirty="0" smtClean="0"/>
              <a:t>Approach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96" y="1017974"/>
            <a:ext cx="8215370" cy="3536181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Arial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Dynamic Programming is also used in optimization problems. Like divide-and-conquer method, Dynamic Programming solves problems by combining the solutions of sub problems. </a:t>
            </a:r>
            <a:endParaRPr lang="en-IN" dirty="0">
              <a:solidFill>
                <a:schemeClr val="tx1"/>
              </a:solidFill>
            </a:endParaRPr>
          </a:p>
          <a:p>
            <a:pPr algn="just">
              <a:buFont typeface="Arial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Dynamic Programming algorithm solves each sub-problem just once and then saves its answer in a table, thereby avoiding the work of re-computing the answer every time. </a:t>
            </a:r>
          </a:p>
          <a:p>
            <a:pPr algn="just">
              <a:buFont typeface="Arial" pitchFamily="34" charset="0"/>
              <a:buChar char="•"/>
            </a:pPr>
            <a:r>
              <a:rPr lang="en-IN" dirty="0" smtClean="0">
                <a:solidFill>
                  <a:schemeClr val="tx1"/>
                </a:solidFill>
              </a:rPr>
              <a:t>Two main properties of a problem suggest that the given problem can be solved using Dynamic Programming. These properties are overlapping sub-problems and optimal substructure.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Dynamic Programming also combines solutions to sub-problems. It is mainly used where the solution of one sub-problem is needed repeatedly. The computed solutions are stored in a table, so that these don’t have to be re-computed. </a:t>
            </a:r>
          </a:p>
          <a:p>
            <a:r>
              <a:rPr lang="en-IN" dirty="0" smtClean="0"/>
              <a:t>For example, Binary Search does not have overlapping sub-problem. Whereas recursive program of Fibonacci numbers have many overlapping sub-problems.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A given problem has Optimal Substructure Property, if the optimal solution of the given problem can be obtained using optimal solutions of its sub-problems.</a:t>
            </a:r>
          </a:p>
          <a:p>
            <a:r>
              <a:rPr lang="en-IN" dirty="0" smtClean="0"/>
              <a:t> For example, the Shortest Path problem has the following optimal substructure property − If a node x lies in the shortest path from a source node u to destination node v, then the shortest path from u to v is the combination of the shortest path from u to x, and the shortest path from x to v. The standard All Pair Shortest Path algorithms like Floyd-</a:t>
            </a:r>
            <a:r>
              <a:rPr lang="en-IN" dirty="0" err="1" smtClean="0"/>
              <a:t>Warshall</a:t>
            </a:r>
            <a:r>
              <a:rPr lang="en-IN" dirty="0" smtClean="0"/>
              <a:t> and Bellman-Ford are typical examples of Dynamic Programming.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Dynamic Programming algorithm is designed using the following four steps: </a:t>
            </a:r>
          </a:p>
          <a:p>
            <a:pPr>
              <a:buNone/>
            </a:pPr>
            <a:r>
              <a:rPr lang="en-IN" dirty="0" smtClean="0"/>
              <a:t> 1. Characterize the structure of an optimal solution.</a:t>
            </a:r>
          </a:p>
          <a:p>
            <a:pPr>
              <a:buNone/>
            </a:pPr>
            <a:r>
              <a:rPr lang="en-IN" dirty="0" smtClean="0"/>
              <a:t>2. Recursively define the value of an optimal solution. </a:t>
            </a:r>
          </a:p>
          <a:p>
            <a:pPr>
              <a:buNone/>
            </a:pPr>
            <a:r>
              <a:rPr lang="en-IN" dirty="0" smtClean="0"/>
              <a:t>3. Compute the value of an optimal solution, typically in a bottom-up fashion. </a:t>
            </a:r>
          </a:p>
          <a:p>
            <a:pPr>
              <a:buNone/>
            </a:pPr>
            <a:r>
              <a:rPr lang="en-IN" dirty="0" smtClean="0"/>
              <a:t>4. Construct an optimal solution from the computed information.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 flipV="1">
            <a:off x="2786050" y="4594622"/>
            <a:ext cx="5900750" cy="4882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142844" y="0"/>
          <a:ext cx="9001156" cy="477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753"/>
                <a:gridCol w="5944403"/>
              </a:tblGrid>
              <a:tr h="264426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Divide &amp; Conquer Method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Dynamic Programming </a:t>
                      </a:r>
                      <a:endParaRPr lang="en-IN" sz="1200" dirty="0"/>
                    </a:p>
                  </a:txBody>
                  <a:tcPr/>
                </a:tc>
              </a:tr>
              <a:tr h="1850983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It deals (involves) three steps at each level of recursion: Divide the problem into a number of sub problems. Conquer the sub problems by solving them recursively. Combine the solution to the sub problems into the solution for original sub problems.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It involves the sequence of four steps: o Characterize the structure of optimal solutions. o Recursively defines the values of optimal solutions. o Compute the value of optimal solutions in a Bottom-up minimum. o Construct an Optimal Solution from computed information. </a:t>
                      </a:r>
                      <a:endParaRPr lang="en-IN" sz="1200" dirty="0"/>
                    </a:p>
                  </a:txBody>
                  <a:tcPr/>
                </a:tc>
              </a:tr>
              <a:tr h="462746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It is Recursive.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It is non Recursive. 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</a:tr>
              <a:tr h="988702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t does more work on sub problems and hence has more time consumption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It solves sub problems only once and then stores in the table. </a:t>
                      </a:r>
                      <a:endParaRPr lang="en-IN" sz="1200" dirty="0"/>
                    </a:p>
                  </a:txBody>
                  <a:tcPr/>
                </a:tc>
              </a:tr>
              <a:tr h="264426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It is a top-down approach.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It is a Bottom-up approach</a:t>
                      </a:r>
                      <a:endParaRPr lang="en-IN" sz="1200" dirty="0"/>
                    </a:p>
                  </a:txBody>
                  <a:tcPr/>
                </a:tc>
              </a:tr>
              <a:tr h="462746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In this sub problems are independent of each other. 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In this sub problems are interdependent. </a:t>
                      </a:r>
                      <a:endParaRPr lang="en-IN" sz="1200" dirty="0"/>
                    </a:p>
                  </a:txBody>
                  <a:tcPr/>
                </a:tc>
              </a:tr>
              <a:tr h="462746"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For example: Merge Sort &amp; Binary Search etc.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 smtClean="0"/>
                        <a:t>For example: Matrix Multiplication. </a:t>
                      </a:r>
                      <a:endParaRPr lang="en-IN" sz="12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Applications of dynamic programming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0/1 knapsack problem </a:t>
            </a:r>
          </a:p>
          <a:p>
            <a:r>
              <a:rPr lang="en-IN" dirty="0" smtClean="0"/>
              <a:t> All pair Shortest path problem </a:t>
            </a:r>
          </a:p>
          <a:p>
            <a:r>
              <a:rPr lang="en-IN" dirty="0" smtClean="0"/>
              <a:t> Reliability design problem </a:t>
            </a:r>
          </a:p>
          <a:p>
            <a:r>
              <a:rPr lang="en-IN" dirty="0" smtClean="0"/>
              <a:t> Longest common subsequence (LCS) </a:t>
            </a:r>
          </a:p>
          <a:p>
            <a:r>
              <a:rPr lang="en-IN" dirty="0" smtClean="0"/>
              <a:t> Flight control and robotics control  </a:t>
            </a:r>
          </a:p>
          <a:p>
            <a:r>
              <a:rPr lang="en-IN" dirty="0" smtClean="0"/>
              <a:t> Time-sharing: It schedules the job to maximize CPU usage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0/1 Knapsack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Knapsack is basically means bag. A bag of given capacity. We want to pack n items in your luggage. o The </a:t>
            </a:r>
            <a:r>
              <a:rPr lang="en-IN" dirty="0" err="1" smtClean="0"/>
              <a:t>ith</a:t>
            </a:r>
            <a:r>
              <a:rPr lang="en-IN" dirty="0" smtClean="0"/>
              <a:t> item is worth vi dollars and weight </a:t>
            </a:r>
            <a:r>
              <a:rPr lang="en-IN" dirty="0" err="1" smtClean="0"/>
              <a:t>wi</a:t>
            </a:r>
            <a:r>
              <a:rPr lang="en-IN" dirty="0" smtClean="0"/>
              <a:t> pounds. o Take as valuable a load as possible, but cannot exceed W pounds. o vi </a:t>
            </a:r>
            <a:r>
              <a:rPr lang="en-IN" dirty="0" err="1" smtClean="0"/>
              <a:t>wi</a:t>
            </a:r>
            <a:r>
              <a:rPr lang="en-IN" dirty="0" smtClean="0"/>
              <a:t> W are integers.</a:t>
            </a:r>
          </a:p>
          <a:p>
            <a:r>
              <a:rPr lang="en-IN" dirty="0" smtClean="0"/>
              <a:t> 1. W ≤ capacity 2. Value ← Max 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64292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Unbounded Knapsack (Repetition of items allowed)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749028"/>
            <a:ext cx="8229600" cy="3394472"/>
          </a:xfrm>
        </p:spPr>
        <p:txBody>
          <a:bodyPr>
            <a:normAutofit/>
          </a:bodyPr>
          <a:lstStyle/>
          <a:p>
            <a:r>
              <a:rPr lang="en-IN" sz="2000" b="1" dirty="0"/>
              <a:t>Unbounded Knapsack Problem</a:t>
            </a:r>
            <a:r>
              <a:rPr lang="en-IN" sz="2000" dirty="0"/>
              <a:t>. In this case, an item can be used infinite times. This problem can be solved efficiently using Dynamic Programming</a:t>
            </a:r>
            <a:r>
              <a:rPr lang="en-IN" sz="2000" dirty="0" smtClean="0"/>
              <a:t>.</a:t>
            </a:r>
          </a:p>
          <a:p>
            <a:r>
              <a:rPr lang="en-IN" sz="2000" dirty="0" smtClean="0"/>
              <a:t>N is always positive </a:t>
            </a:r>
            <a:r>
              <a:rPr lang="en-IN" sz="2000" dirty="0" err="1" smtClean="0"/>
              <a:t>i.e</a:t>
            </a:r>
            <a:r>
              <a:rPr lang="en-IN" sz="2000" dirty="0" smtClean="0"/>
              <a:t> greater than zero</a:t>
            </a:r>
          </a:p>
          <a:p>
            <a:pPr>
              <a:buNone/>
            </a:pPr>
            <a:endParaRPr lang="en-IN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</a:t>
            </a:r>
            <a:r>
              <a:rPr lang="en-IN" dirty="0" smtClean="0"/>
              <a:t>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sz="1800" dirty="0" smtClean="0"/>
              <a:t>Input : W = 100</a:t>
            </a:r>
            <a:br>
              <a:rPr lang="en-IN" sz="1800" dirty="0" smtClean="0"/>
            </a:br>
            <a:r>
              <a:rPr lang="en-IN" sz="1800" dirty="0" err="1" smtClean="0"/>
              <a:t>val</a:t>
            </a:r>
            <a:r>
              <a:rPr lang="en-IN" sz="1800" dirty="0" smtClean="0"/>
              <a:t>[] = {1, 30}</a:t>
            </a:r>
            <a:br>
              <a:rPr lang="en-IN" sz="1800" dirty="0" smtClean="0"/>
            </a:br>
            <a:r>
              <a:rPr lang="en-IN" sz="1800" dirty="0" smtClean="0"/>
              <a:t>wt[] = {1, 50}</a:t>
            </a:r>
            <a:br>
              <a:rPr lang="en-IN" sz="1800" dirty="0" smtClean="0"/>
            </a:br>
            <a:r>
              <a:rPr lang="en-IN" sz="1800" dirty="0" smtClean="0"/>
              <a:t>Output : 100</a:t>
            </a:r>
            <a:br>
              <a:rPr lang="en-IN" sz="1800" dirty="0" smtClean="0"/>
            </a:br>
            <a:r>
              <a:rPr lang="en-IN" sz="1800" dirty="0" smtClean="0"/>
              <a:t>There are many ways to fill knapsack.</a:t>
            </a:r>
            <a:br>
              <a:rPr lang="en-IN" sz="1800" dirty="0" smtClean="0"/>
            </a:br>
            <a:r>
              <a:rPr lang="en-IN" sz="1800" dirty="0" smtClean="0"/>
              <a:t>1) 2 instances of 50 unit weight item.</a:t>
            </a:r>
            <a:br>
              <a:rPr lang="en-IN" sz="1800" dirty="0" smtClean="0"/>
            </a:br>
            <a:r>
              <a:rPr lang="en-IN" sz="1800" dirty="0" smtClean="0"/>
              <a:t>2) 100 instances of 1 unit weight item.</a:t>
            </a:r>
            <a:br>
              <a:rPr lang="en-IN" sz="1800" dirty="0" smtClean="0"/>
            </a:br>
            <a:r>
              <a:rPr lang="en-IN" sz="1800" dirty="0" smtClean="0"/>
              <a:t>3) 1 instance of 50 unit weight item and 50</a:t>
            </a:r>
            <a:br>
              <a:rPr lang="en-IN" sz="1800" dirty="0" smtClean="0"/>
            </a:br>
            <a:r>
              <a:rPr lang="en-IN" sz="1800" dirty="0" smtClean="0"/>
              <a:t>instances of 1 unit weight items.</a:t>
            </a:r>
            <a:br>
              <a:rPr lang="en-IN" sz="1800" dirty="0" smtClean="0"/>
            </a:br>
            <a:r>
              <a:rPr lang="en-IN" sz="1800" dirty="0" smtClean="0"/>
              <a:t>We get maximum value with option 2.</a:t>
            </a:r>
            <a:br>
              <a:rPr lang="en-IN" sz="1800" dirty="0" smtClean="0"/>
            </a:br>
            <a:r>
              <a:rPr lang="en-IN" sz="1800" dirty="0" smtClean="0"/>
              <a:t>Input : W = 8</a:t>
            </a:r>
            <a:br>
              <a:rPr lang="en-IN" sz="1800" dirty="0" smtClean="0"/>
            </a:br>
            <a:r>
              <a:rPr lang="en-IN" sz="1800" dirty="0" err="1" smtClean="0"/>
              <a:t>val</a:t>
            </a:r>
            <a:r>
              <a:rPr lang="en-IN" sz="1800" dirty="0" smtClean="0"/>
              <a:t>[] = {10, 40, 50, 70}</a:t>
            </a:r>
            <a:br>
              <a:rPr lang="en-IN" sz="1800" dirty="0" smtClean="0"/>
            </a:br>
            <a:r>
              <a:rPr lang="en-IN" sz="1800" dirty="0" smtClean="0"/>
              <a:t>wt[] = {1, 3, 4, 5} </a:t>
            </a:r>
            <a:br>
              <a:rPr lang="en-IN" sz="1800" dirty="0" smtClean="0"/>
            </a:br>
            <a:r>
              <a:rPr lang="en-IN" sz="1800" dirty="0" smtClean="0"/>
              <a:t>Output : 110 </a:t>
            </a:r>
            <a:br>
              <a:rPr lang="en-IN" sz="1800" dirty="0" smtClean="0"/>
            </a:br>
            <a:r>
              <a:rPr lang="en-IN" sz="1800" dirty="0" smtClean="0"/>
              <a:t>We get maximum value with one unit of</a:t>
            </a:r>
            <a:br>
              <a:rPr lang="en-IN" sz="1800" dirty="0" smtClean="0"/>
            </a:br>
            <a:r>
              <a:rPr lang="en-IN" sz="1800" dirty="0" smtClean="0"/>
              <a:t>weight 5 and one unit of weight 3.</a:t>
            </a:r>
            <a:endParaRPr lang="en-IN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7172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IN" u="sng" dirty="0">
                <a:hlinkClick r:id="rId2"/>
              </a:rPr>
              <a:t>Bounded Knapsack Problem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 N items, each item having a given weight </a:t>
            </a:r>
            <a:r>
              <a:rPr lang="en-IN" dirty="0" err="1"/>
              <a:t>w</a:t>
            </a:r>
            <a:r>
              <a:rPr lang="en-IN" baseline="-25000" dirty="0" err="1"/>
              <a:t>i</a:t>
            </a:r>
            <a:r>
              <a:rPr lang="en-IN" dirty="0"/>
              <a:t> and a value v</a:t>
            </a:r>
            <a:r>
              <a:rPr lang="en-IN" baseline="-25000" dirty="0"/>
              <a:t>i</a:t>
            </a:r>
            <a:r>
              <a:rPr lang="en-IN" dirty="0"/>
              <a:t>, the task is to maximize the value by selecting a maximum of K items adding up to a maximum weight 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>
                <a:hlinkClick r:id="rId2"/>
              </a:rPr>
              <a:t>0/1 Knapsack Problem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We are given N items where each item has some weight (</a:t>
            </a:r>
            <a:r>
              <a:rPr lang="en-IN" dirty="0" err="1"/>
              <a:t>w</a:t>
            </a:r>
            <a:r>
              <a:rPr lang="en-IN" baseline="-25000" dirty="0" err="1"/>
              <a:t>i</a:t>
            </a:r>
            <a:r>
              <a:rPr lang="en-IN" dirty="0"/>
              <a:t>) and value (v</a:t>
            </a:r>
            <a:r>
              <a:rPr lang="en-IN" baseline="-25000" dirty="0"/>
              <a:t>i</a:t>
            </a:r>
            <a:r>
              <a:rPr lang="en-IN" dirty="0"/>
              <a:t>) associated with it. We are also given a bag with capacity W. The target is to put the items into the bag such that the sum of values associated with them is the maximum possible.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>
                <a:hlinkClick r:id="rId2"/>
              </a:rPr>
              <a:t>Fractional Knapsack Problem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the weights and values of N items, put these items in a knapsack of capacity W to get the maximum total value in the knapsack. In Fractional Knapsack, we can break items for maximizing the total value of the knapsack.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0"/>
            <a:ext cx="7325402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smtClean="0"/>
              <a:t> </a:t>
            </a:r>
            <a:r>
              <a:rPr lang="en-IN" sz="2800" dirty="0"/>
              <a:t>You are given a knapsack that can carry a maximum weight of 60. There are 4 items with weights {20, 30, 40, 70} and values {70, 80, 90, 200}. What is the maximum value of the items you can carry using the knapsack</a:t>
            </a:r>
            <a:r>
              <a:rPr lang="en-IN" sz="2800" dirty="0" smtClean="0"/>
              <a:t>?</a:t>
            </a:r>
          </a:p>
          <a:p>
            <a:pPr>
              <a:buNone/>
            </a:pPr>
            <a:r>
              <a:rPr lang="en-IN" sz="2800" dirty="0" smtClean="0"/>
              <a:t>Solution: The </a:t>
            </a:r>
            <a:r>
              <a:rPr lang="en-IN" sz="2800" dirty="0"/>
              <a:t>maximum value you can get is 160. This can be achieved by choosing the items 1 and 3 that have a total weight of 60.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Consider the following instance of knapsack problem:  The maximum weight of 12 is allowed in the knapsack. Find the value of maximum profit with the optimal solution of the fractional knapsack problem.</a:t>
            </a:r>
          </a:p>
        </p:txBody>
      </p:sp>
      <p:pic>
        <p:nvPicPr>
          <p:cNvPr id="39938" name="Picture 2" descr="Screenshot from 2017-01-31 19-16-2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643188"/>
            <a:ext cx="5683250" cy="1555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Solution:</a:t>
            </a:r>
            <a:endParaRPr lang="en-IN" dirty="0"/>
          </a:p>
        </p:txBody>
      </p:sp>
      <p:pic>
        <p:nvPicPr>
          <p:cNvPr id="40962" name="Picture 2" descr="knapsa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500048"/>
            <a:ext cx="6982040" cy="1643074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71472" y="2786064"/>
            <a:ext cx="807249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Decreasing order of P </a:t>
            </a:r>
            <a:r>
              <a:rPr lang="en-IN" dirty="0" err="1"/>
              <a:t>i</a:t>
            </a:r>
            <a:r>
              <a:rPr lang="en-IN" dirty="0"/>
              <a:t> /W </a:t>
            </a:r>
            <a:r>
              <a:rPr lang="en-IN" dirty="0" err="1"/>
              <a:t>i</a:t>
            </a:r>
            <a:r>
              <a:rPr lang="en-IN" dirty="0"/>
              <a:t> is X1, X4, X3, X5, X2 X1 --&gt; profit = 15 and weight = 2 Including X4 --&gt; profit = 15 + 16 and weight = 2 + 4 = 6 Including X3 --&gt; profit = 40 and weight = 9 Now weight left = 3 Weight of X5 = 6 --&gt; half of X5 can be included. Profit = 40 + 17/2 = 48.5.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900" dirty="0" smtClean="0"/>
              <a:t>2.</a:t>
            </a:r>
            <a:r>
              <a:rPr lang="en-IN" sz="1900" dirty="0"/>
              <a:t> A thief wants to rob a store. He is carrying a bag of capacity W. The store has ‘n’ items. Its weight is given by the ‘wt’ array and its value by the ‘</a:t>
            </a:r>
            <a:r>
              <a:rPr lang="en-IN" sz="1900" dirty="0" err="1"/>
              <a:t>val</a:t>
            </a:r>
            <a:r>
              <a:rPr lang="en-IN" sz="1900" dirty="0"/>
              <a:t>’ array. He can either include an item in its knapsack or exclude it but can’t partially have it as a fraction. We need to find the maximum value of items that the thief can steal</a:t>
            </a:r>
            <a:r>
              <a:rPr lang="en-IN" sz="1900" dirty="0" smtClean="0"/>
              <a:t>.</a:t>
            </a:r>
          </a:p>
          <a:p>
            <a:r>
              <a:rPr lang="en-IN" dirty="0" smtClean="0"/>
              <a:t>Solution:</a:t>
            </a:r>
            <a:endParaRPr lang="en-IN" dirty="0"/>
          </a:p>
        </p:txBody>
      </p:sp>
      <p:pic>
        <p:nvPicPr>
          <p:cNvPr id="2050" name="Picture 2" descr="https://lh3.googleusercontent.com/bgxCoEMMmxwuN3HgXNgYZ_o_Gxb8QSyBXXTxwSpsP7757ECoAplkpCtBdoS5LFM-3C-YhAbIhIbB9XGKxTZBGm6GB7HstnwmKf3hix_8V3zfuHLrK70bOjr01PezXrYOymoEiCaZ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620979"/>
            <a:ext cx="3357586" cy="252252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Bellman Ford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100" dirty="0" smtClean="0"/>
              <a:t>The Bellman-Ford algorithm is a way to find single source shortest paths in a graph with negative edge weights (but no negative cycles). The second for loop in this algorithm also detects negative cycles. </a:t>
            </a:r>
          </a:p>
          <a:p>
            <a:r>
              <a:rPr lang="en-IN" sz="2100" dirty="0" smtClean="0"/>
              <a:t>The first for loop relaxes each of the edges in the graph n − 1 times. We claim that after n − 1 iterations, the distances are guaranteed to be correct. Overall, the algorithm takes O(</a:t>
            </a:r>
            <a:r>
              <a:rPr lang="en-IN" sz="2100" dirty="0" err="1" smtClean="0"/>
              <a:t>mn</a:t>
            </a:r>
            <a:r>
              <a:rPr lang="en-IN" sz="2100" dirty="0" smtClean="0"/>
              <a:t>) time.</a:t>
            </a:r>
          </a:p>
          <a:p>
            <a:r>
              <a:rPr lang="en-IN" sz="2100" dirty="0"/>
              <a:t>Dynamic Programming is used in the Bellman-Ford algorithm. It begins with a starting vertex and calculates the distances between other vertices that a single edge can reach. It then searches for a path with two edges, and so on. The Bellman-Ford algorithm uses the bottom-up approach.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714362"/>
            <a:ext cx="7500716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Bellman-Ford detects negative cycles, i.e. if there is a negative cycle reachable from the source s, then for some edge (u, v), dn−1(v) &gt; dn−1(u) + w(u, v). </a:t>
            </a:r>
          </a:p>
          <a:p>
            <a:r>
              <a:rPr lang="en-IN" dirty="0" smtClean="0"/>
              <a:t>If the graph has no negative cycles, then the distance estimates on the last iteration are equal to the true shortest distances. That is, dn−1(v) = δ(s, v) for all vertices v.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Why Should You Be Cautious With Negative Weights?</a:t>
            </a:r>
          </a:p>
          <a:p>
            <a:pPr>
              <a:buNone/>
            </a:pPr>
            <a:endParaRPr lang="en-IN" dirty="0" smtClean="0"/>
          </a:p>
          <a:p>
            <a:pPr algn="just">
              <a:buNone/>
            </a:pPr>
            <a:r>
              <a:rPr lang="en-IN" dirty="0" smtClean="0"/>
              <a:t>	When </a:t>
            </a:r>
            <a:r>
              <a:rPr lang="en-IN" dirty="0"/>
              <a:t>attempting to find the shortest path, </a:t>
            </a:r>
            <a:r>
              <a:rPr lang="en-IN" dirty="0" smtClean="0"/>
              <a:t>negative weight </a:t>
            </a:r>
            <a:r>
              <a:rPr lang="en-IN" dirty="0"/>
              <a:t>cycles may produce an incorrect </a:t>
            </a:r>
            <a:r>
              <a:rPr lang="en-IN" dirty="0" err="1" smtClean="0"/>
              <a:t>result.Shortest</a:t>
            </a:r>
            <a:r>
              <a:rPr lang="en-IN" dirty="0" smtClean="0"/>
              <a:t> </a:t>
            </a:r>
            <a:r>
              <a:rPr lang="en-IN" dirty="0"/>
              <a:t>path algorithms, such as </a:t>
            </a:r>
            <a:r>
              <a:rPr lang="en-IN" dirty="0" err="1"/>
              <a:t>Dijkstra's</a:t>
            </a:r>
            <a:r>
              <a:rPr lang="en-IN" dirty="0"/>
              <a:t> Algorithm that cannot detect such a cycle, may produce incorrect results because they may go through a negative weight cycle, reducing the path length.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348" y="1200151"/>
            <a:ext cx="7972452" cy="2228855"/>
          </a:xfrm>
        </p:spPr>
        <p:txBody>
          <a:bodyPr>
            <a:normAutofit fontScale="77500" lnSpcReduction="20000"/>
          </a:bodyPr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Choose </a:t>
            </a:r>
            <a:r>
              <a:rPr lang="en-IN" dirty="0"/>
              <a:t>path value 0 for the source vertex and infinity for all other vertices.</a:t>
            </a:r>
          </a:p>
          <a:p>
            <a:endParaRPr lang="en-IN" dirty="0"/>
          </a:p>
        </p:txBody>
      </p:sp>
      <p:sp>
        <p:nvSpPr>
          <p:cNvPr id="32770" name="AutoShape 2" descr="Example-of-bellman-ford-algorithm.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2777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357208"/>
            <a:ext cx="4256087" cy="310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3238485"/>
            <a:ext cx="2818645" cy="1905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014409"/>
          </a:xfrm>
        </p:spPr>
        <p:txBody>
          <a:bodyPr>
            <a:normAutofit lnSpcReduction="10000"/>
          </a:bodyPr>
          <a:lstStyle/>
          <a:p>
            <a:r>
              <a:rPr lang="en-IN" sz="2200" dirty="0"/>
              <a:t>If the new calculated path length is less than the previous path length, go to the source vertex's </a:t>
            </a:r>
            <a:r>
              <a:rPr lang="en-IN" sz="2200" dirty="0" smtClean="0"/>
              <a:t>neighbouring </a:t>
            </a:r>
            <a:r>
              <a:rPr lang="en-IN" sz="2200" dirty="0"/>
              <a:t>Edge and relax the path length of the adjacent Vertex.</a:t>
            </a:r>
          </a:p>
          <a:p>
            <a:endParaRPr lang="en-IN" sz="2200" dirty="0"/>
          </a:p>
        </p:txBody>
      </p:sp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1857370"/>
            <a:ext cx="3367087" cy="260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371599"/>
          </a:xfrm>
        </p:spPr>
        <p:txBody>
          <a:bodyPr>
            <a:normAutofit lnSpcReduction="10000"/>
          </a:bodyPr>
          <a:lstStyle/>
          <a:p>
            <a:r>
              <a:rPr lang="en-IN" sz="2200" dirty="0"/>
              <a:t>This procedure must be repeated V-1 times, where V is the number of vertices in total. This happened because, in the worst-case scenario, any vertex's path length can be changed N times to an even shorter path length.</a:t>
            </a:r>
          </a:p>
          <a:p>
            <a:endParaRPr lang="en-IN" sz="22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143122"/>
            <a:ext cx="1643074" cy="277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371599"/>
          </a:xfrm>
        </p:spPr>
        <p:txBody>
          <a:bodyPr>
            <a:normAutofit lnSpcReduction="10000"/>
          </a:bodyPr>
          <a:lstStyle/>
          <a:p>
            <a:r>
              <a:rPr lang="en-IN" sz="2200" dirty="0"/>
              <a:t>This procedure must be repeated V-1 times, where V is the number of vertices in total. This happened because, in the worst-case scenario, any vertex's path length can be changed N times to an even shorter path length.</a:t>
            </a:r>
          </a:p>
          <a:p>
            <a:endParaRPr lang="en-IN" sz="2200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143122"/>
            <a:ext cx="1643074" cy="277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585913"/>
          </a:xfrm>
        </p:spPr>
        <p:txBody>
          <a:bodyPr>
            <a:normAutofit/>
          </a:bodyPr>
          <a:lstStyle/>
          <a:p>
            <a:r>
              <a:rPr lang="en-IN" sz="2200" dirty="0"/>
              <a:t>As a result, after V-1 iterations, you find your new path lengths and can determine in case the graph has a negative cycle or not.</a:t>
            </a:r>
          </a:p>
          <a:p>
            <a:endParaRPr lang="en-IN" sz="2200" dirty="0"/>
          </a:p>
        </p:txBody>
      </p:sp>
      <p:sp>
        <p:nvSpPr>
          <p:cNvPr id="37890" name="AutoShape 2" descr="Example-of-bellman-ford-algorithm5"/>
          <p:cNvSpPr>
            <a:spLocks noChangeAspect="1" noChangeArrowheads="1"/>
          </p:cNvSpPr>
          <p:nvPr/>
        </p:nvSpPr>
        <p:spPr bwMode="auto">
          <a:xfrm>
            <a:off x="155575" y="-136525"/>
            <a:ext cx="298450" cy="2984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2060378"/>
            <a:ext cx="3286148" cy="3083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1330</Words>
  <Application>Microsoft Office PowerPoint</Application>
  <PresentationFormat>On-screen Show (16:9)</PresentationFormat>
  <Paragraphs>80</Paragraphs>
  <Slides>27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Slide 1</vt:lpstr>
      <vt:lpstr>Approach</vt:lpstr>
      <vt:lpstr>Slide 3</vt:lpstr>
      <vt:lpstr>Slide 4</vt:lpstr>
      <vt:lpstr>Slide 5</vt:lpstr>
      <vt:lpstr>Slide 6</vt:lpstr>
      <vt:lpstr>Applications of dynamic programming </vt:lpstr>
      <vt:lpstr>0/1 Knapsack Problem</vt:lpstr>
      <vt:lpstr>Unbounded Knapsack (Repetition of items allowed) </vt:lpstr>
      <vt:lpstr>EXAMPLE</vt:lpstr>
      <vt:lpstr>Bounded Knapsack Problem </vt:lpstr>
      <vt:lpstr>0/1 Knapsack Problem </vt:lpstr>
      <vt:lpstr>Fractional Knapsack Problem </vt:lpstr>
      <vt:lpstr>Slide 14</vt:lpstr>
      <vt:lpstr>Question?</vt:lpstr>
      <vt:lpstr>Slide 16</vt:lpstr>
      <vt:lpstr>Slide 17</vt:lpstr>
      <vt:lpstr>Slide 18</vt:lpstr>
      <vt:lpstr>Bellman Ford Algorithm</vt:lpstr>
      <vt:lpstr>Slide 20</vt:lpstr>
      <vt:lpstr>Slide 21</vt:lpstr>
      <vt:lpstr>Slide 22</vt:lpstr>
      <vt:lpstr>Example </vt:lpstr>
      <vt:lpstr>Slide 24</vt:lpstr>
      <vt:lpstr>Slide 25</vt:lpstr>
      <vt:lpstr>Slide 26</vt:lpstr>
      <vt:lpstr>Slide 27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31</cp:revision>
  <dcterms:created xsi:type="dcterms:W3CDTF">2024-06-11T13:45:29Z</dcterms:created>
  <dcterms:modified xsi:type="dcterms:W3CDTF">2024-06-11T16:41:12Z</dcterms:modified>
</cp:coreProperties>
</file>