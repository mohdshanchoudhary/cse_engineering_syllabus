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7" r:id="rId2"/>
    <p:sldId id="258" r:id="rId3"/>
    <p:sldId id="259" r:id="rId4"/>
    <p:sldId id="260" r:id="rId5"/>
    <p:sldId id="261" r:id="rId6"/>
    <p:sldId id="285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7" r:id="rId21"/>
    <p:sldId id="275" r:id="rId22"/>
    <p:sldId id="276" r:id="rId23"/>
    <p:sldId id="277" r:id="rId24"/>
    <p:sldId id="278" r:id="rId25"/>
    <p:sldId id="286" r:id="rId26"/>
    <p:sldId id="279" r:id="rId27"/>
    <p:sldId id="280" r:id="rId28"/>
    <p:sldId id="281" r:id="rId29"/>
    <p:sldId id="282" r:id="rId30"/>
    <p:sldId id="283" r:id="rId31"/>
    <p:sldId id="284" r:id="rId3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86380" autoAdjust="0"/>
  </p:normalViewPr>
  <p:slideViewPr>
    <p:cSldViewPr>
      <p:cViewPr varScale="1">
        <p:scale>
          <a:sx n="105" d="100"/>
          <a:sy n="105" d="100"/>
        </p:scale>
        <p:origin x="754" y="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264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69672-C661-4C90-9381-287421832655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231B41-D139-40DF-AB5C-1C4874A877BE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41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409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615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4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660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13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659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18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72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213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784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091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C754B6D-A734-4CA2-9D7B-65FD872EF0D6}" type="datetimeFigureOut">
              <a:rPr lang="en-US" smtClean="0"/>
              <a:pPr/>
              <a:t>7/26/2024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6CB92C57-20EA-4BED-ADF6-5210ECD2B45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908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2" y="2483645"/>
            <a:ext cx="8118475" cy="1475185"/>
          </a:xfrm>
          <a:solidFill>
            <a:srgbClr val="CCECFF"/>
          </a:solidFill>
          <a:ln>
            <a:solidFill>
              <a:schemeClr val="tx1"/>
            </a:solidFill>
          </a:ln>
          <a:effectLst>
            <a:outerShdw dist="107763" dir="2700000" algn="ctr" rotWithShape="0">
              <a:schemeClr val="bg2"/>
            </a:outerShdw>
          </a:effectLst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Asymptotic Notation</a:t>
            </a:r>
            <a:br>
              <a:rPr lang="en-US" dirty="0"/>
            </a:br>
            <a:endParaRPr lang="en-US" dirty="0"/>
          </a:p>
        </p:txBody>
      </p:sp>
      <p:sp>
        <p:nvSpPr>
          <p:cNvPr id="4413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76402" y="1402558"/>
            <a:ext cx="6691313" cy="478631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>
                <a:solidFill>
                  <a:schemeClr val="tx1"/>
                </a:solidFill>
              </a:rPr>
              <a:t>Topic 1.1.1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292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442075" y="4767264"/>
            <a:ext cx="2133600" cy="273844"/>
          </a:xfrm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>
                <a:solidFill>
                  <a:srgbClr val="3333FF"/>
                </a:solidFill>
              </a:rPr>
              <a:t>By:  Er.Bhavneet Kaur</a:t>
            </a:r>
          </a:p>
          <a:p>
            <a:r>
              <a:rPr lang="en-US">
                <a:solidFill>
                  <a:srgbClr val="3333FF"/>
                </a:solidFill>
              </a:rPr>
              <a:t>Master Subject Co-ordinator</a:t>
            </a:r>
          </a:p>
          <a:p>
            <a:r>
              <a:rPr lang="en-US">
                <a:solidFill>
                  <a:srgbClr val="3333FF"/>
                </a:solidFill>
              </a:rPr>
              <a:t>CSE 2</a:t>
            </a:r>
            <a:r>
              <a:rPr lang="en-US" baseline="30000">
                <a:solidFill>
                  <a:srgbClr val="3333FF"/>
                </a:solidFill>
              </a:rPr>
              <a:t>nd</a:t>
            </a:r>
            <a:r>
              <a:rPr lang="en-US">
                <a:solidFill>
                  <a:srgbClr val="3333FF"/>
                </a:solidFill>
              </a:rPr>
              <a:t> Year</a:t>
            </a:r>
          </a:p>
        </p:txBody>
      </p:sp>
      <p:pic>
        <p:nvPicPr>
          <p:cNvPr id="12293" name="Picture 6" descr="https://ci4.googleusercontent.com/proxy/7KvR-kRK3h7JaTZdC5LfUjZeoVi7udcXN-eI91UxZqH1jXErPCYekBHdctGNLcSvYKklWK0PTg4obc4ygBkyIsS5KGzloTjlsH4tG6re3zQHs6mTTzZ5ZJ5pQHLN1ZKWTFYSRZ8YU3U27y9-9rnsEyo-yufbHI8sgJvbOXgFe0o2_ayRi1YB_x5s62_RbI1j6N4ifqiQahsNqemuyg=s0-d-e1-ft#https://docs.google.com/uc?export=download&amp;id=1R2CcZSsfQjqMnWIKGHnqT3u99QqSIUUS&amp;revid=0B3ek2dwmVFlucjN2Rk9Ncmh5N1JjN3dSNnhLY1RMTE9UWFlRPQ"/>
          <p:cNvPicPr>
            <a:picLocks noChangeAspect="1" noChangeArrowheads="1" noCrop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6213" y="440531"/>
            <a:ext cx="190500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-346389"/>
            <a:ext cx="7543800" cy="1088068"/>
          </a:xfrm>
        </p:spPr>
        <p:txBody>
          <a:bodyPr/>
          <a:lstStyle/>
          <a:p>
            <a:pPr eaLnBrk="1" hangingPunct="1"/>
            <a:r>
              <a:rPr lang="en-US" dirty="0"/>
              <a:t>Asymptotic Complexity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755576" y="1491630"/>
            <a:ext cx="7971224" cy="3017520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/>
              <a:t>Running time of an algorithm as a function of input size n for large 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Expressed using only the highest-order term in the expression for the exact running time.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sz="1500" dirty="0"/>
              <a:t>Instead of exact running time, say </a:t>
            </a:r>
            <a:r>
              <a:rPr lang="en-US" sz="1500" dirty="0">
                <a:latin typeface="Symbol" pitchFamily="18" charset="2"/>
              </a:rPr>
              <a:t>Q</a:t>
            </a:r>
            <a:r>
              <a:rPr lang="en-US" sz="1500" dirty="0"/>
              <a:t>(n</a:t>
            </a:r>
            <a:r>
              <a:rPr lang="en-US" sz="1500" baseline="30000" dirty="0"/>
              <a:t>2</a:t>
            </a:r>
            <a:r>
              <a:rPr lang="en-US" sz="1500" dirty="0"/>
              <a:t>).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/>
              <a:t>Describes behavior of function in the limit.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/>
              <a:t>Written using Asymptotic Notation.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pic>
        <p:nvPicPr>
          <p:cNvPr id="1026" name="Picture 2" descr="Complexity Analysis of Algorithms ...">
            <a:extLst>
              <a:ext uri="{FF2B5EF4-FFF2-40B4-BE49-F238E27FC236}">
                <a16:creationId xmlns:a16="http://schemas.microsoft.com/office/drawing/2014/main" id="{DEB8F85F-7BA9-2F1D-9B64-EF06D99AF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275050"/>
            <a:ext cx="259228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0"/>
            <a:ext cx="7543800" cy="1088068"/>
          </a:xfrm>
        </p:spPr>
        <p:txBody>
          <a:bodyPr/>
          <a:lstStyle/>
          <a:p>
            <a:pPr eaLnBrk="1" hangingPunct="1"/>
            <a:r>
              <a:rPr lang="en-US" dirty="0"/>
              <a:t>Asymptotic Notation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789207" y="1281112"/>
            <a:ext cx="8259763" cy="3594894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2800" dirty="0"/>
              <a:t> </a:t>
            </a:r>
            <a:r>
              <a:rPr lang="en-US" sz="2800" dirty="0">
                <a:latin typeface="Symbol" pitchFamily="18" charset="2"/>
              </a:rPr>
              <a:t>Q</a:t>
            </a:r>
            <a:r>
              <a:rPr lang="en-US" sz="2800" dirty="0"/>
              <a:t>, </a:t>
            </a:r>
            <a:r>
              <a:rPr lang="en-US" sz="2800" i="1" dirty="0"/>
              <a:t>O</a:t>
            </a:r>
            <a:r>
              <a:rPr lang="en-US" sz="2800" dirty="0"/>
              <a:t>, </a:t>
            </a:r>
            <a:r>
              <a:rPr lang="en-US" sz="2800" dirty="0">
                <a:latin typeface="Symbol" pitchFamily="18" charset="2"/>
              </a:rPr>
              <a:t>W</a:t>
            </a:r>
            <a:r>
              <a:rPr lang="en-US" sz="2800" dirty="0"/>
              <a:t>, </a:t>
            </a:r>
            <a:r>
              <a:rPr lang="en-US" sz="2800" i="1" dirty="0"/>
              <a:t>o</a:t>
            </a:r>
            <a:r>
              <a:rPr lang="en-US" sz="2800" dirty="0"/>
              <a:t>, </a:t>
            </a:r>
            <a:r>
              <a:rPr lang="en-US" sz="2800" dirty="0">
                <a:latin typeface="Symbol" pitchFamily="18" charset="2"/>
              </a:rPr>
              <a:t>w</a:t>
            </a:r>
            <a:endParaRPr lang="en-US" sz="2800" dirty="0"/>
          </a:p>
          <a:p>
            <a:pPr eaLnBrk="1" hangingPunct="1"/>
            <a:r>
              <a:rPr lang="en-US" sz="2800" dirty="0"/>
              <a:t>Defined for functions over the natural numbers.</a:t>
            </a:r>
          </a:p>
          <a:p>
            <a:pPr lvl="1" eaLnBrk="1" hangingPunct="1"/>
            <a:r>
              <a:rPr lang="en-US" sz="1500" u="sng" dirty="0"/>
              <a:t>Ex:</a:t>
            </a:r>
            <a:r>
              <a:rPr lang="en-US" sz="1500" dirty="0"/>
              <a:t> </a:t>
            </a:r>
            <a:r>
              <a:rPr lang="en-US" sz="1500" i="1" dirty="0"/>
              <a:t>f</a:t>
            </a:r>
            <a:r>
              <a:rPr lang="en-US" sz="1500" dirty="0"/>
              <a:t>(</a:t>
            </a:r>
            <a:r>
              <a:rPr lang="en-US" sz="1500" i="1" dirty="0"/>
              <a:t>n</a:t>
            </a:r>
            <a:r>
              <a:rPr lang="en-US" sz="1500" dirty="0"/>
              <a:t>)  =  </a:t>
            </a:r>
            <a:r>
              <a:rPr lang="en-US" sz="1500" dirty="0">
                <a:latin typeface="Symbol" pitchFamily="18" charset="2"/>
              </a:rPr>
              <a:t>Q</a:t>
            </a:r>
            <a:r>
              <a:rPr lang="en-US" sz="1500" dirty="0"/>
              <a:t>(</a:t>
            </a:r>
            <a:r>
              <a:rPr lang="en-US" sz="1500" i="1" dirty="0"/>
              <a:t>n</a:t>
            </a:r>
            <a:r>
              <a:rPr lang="en-US" sz="1500" baseline="30000" dirty="0"/>
              <a:t>2</a:t>
            </a:r>
            <a:r>
              <a:rPr lang="en-US" sz="1500" dirty="0"/>
              <a:t>).</a:t>
            </a:r>
          </a:p>
          <a:p>
            <a:pPr lvl="1" eaLnBrk="1" hangingPunct="1"/>
            <a:r>
              <a:rPr lang="en-US" sz="1500" dirty="0"/>
              <a:t>Describes how </a:t>
            </a:r>
            <a:r>
              <a:rPr lang="en-US" sz="1500" i="1" dirty="0"/>
              <a:t>f</a:t>
            </a:r>
            <a:r>
              <a:rPr lang="en-US" sz="1500" dirty="0"/>
              <a:t>(</a:t>
            </a:r>
            <a:r>
              <a:rPr lang="en-US" sz="1500" i="1" dirty="0"/>
              <a:t>n</a:t>
            </a:r>
            <a:r>
              <a:rPr lang="en-US" sz="1500" dirty="0"/>
              <a:t>) grows in comparison to </a:t>
            </a:r>
            <a:r>
              <a:rPr lang="en-US" sz="1500" i="1" dirty="0"/>
              <a:t>n</a:t>
            </a:r>
            <a:r>
              <a:rPr lang="en-US" sz="1500" baseline="30000" dirty="0"/>
              <a:t>2</a:t>
            </a:r>
            <a:r>
              <a:rPr lang="en-US" sz="1500" dirty="0"/>
              <a:t>.</a:t>
            </a:r>
          </a:p>
          <a:p>
            <a:pPr eaLnBrk="1" hangingPunct="1"/>
            <a:r>
              <a:rPr lang="en-US" sz="2800" dirty="0"/>
              <a:t>Define a </a:t>
            </a:r>
            <a:r>
              <a:rPr lang="en-US" sz="2800" i="1" dirty="0"/>
              <a:t>set</a:t>
            </a:r>
            <a:r>
              <a:rPr lang="en-US" sz="2800" dirty="0"/>
              <a:t> of functions; in practice used to compare two function sizes.</a:t>
            </a:r>
          </a:p>
          <a:p>
            <a:pPr eaLnBrk="1" hangingPunct="1"/>
            <a:r>
              <a:rPr lang="en-US" sz="2800" dirty="0"/>
              <a:t>The notations describe different rate-of-growth relations between the defining function and the defined set of functions.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-404009"/>
            <a:ext cx="7543800" cy="1088068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-notation</a:t>
            </a:r>
          </a:p>
        </p:txBody>
      </p:sp>
      <p:pic>
        <p:nvPicPr>
          <p:cNvPr id="24580" name="Picture 21" descr="graph_the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12160" y="1517836"/>
            <a:ext cx="2710103" cy="2107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1" name="Rectangle 22"/>
          <p:cNvSpPr>
            <a:spLocks noChangeArrowheads="1"/>
          </p:cNvSpPr>
          <p:nvPr/>
        </p:nvSpPr>
        <p:spPr bwMode="auto">
          <a:xfrm>
            <a:off x="250826" y="1465661"/>
            <a:ext cx="4870451" cy="2376035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dirty="0">
                <a:sym typeface="Symbol" pitchFamily="18" charset="2"/>
              </a:rPr>
              <a:t></a:t>
            </a:r>
            <a:r>
              <a:rPr kumimoji="1" lang="en-US" sz="2600" dirty="0"/>
              <a:t>(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)) = </a:t>
            </a:r>
            <a:r>
              <a:rPr kumimoji="1" lang="en-US" sz="3000" dirty="0"/>
              <a:t>{</a:t>
            </a:r>
            <a:r>
              <a:rPr kumimoji="1" lang="en-US" sz="2600" i="1" dirty="0"/>
              <a:t>f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 : </a:t>
            </a:r>
            <a:br>
              <a:rPr kumimoji="1" lang="en-US" sz="2600" dirty="0"/>
            </a:br>
            <a:r>
              <a:rPr kumimoji="1" lang="en-US" sz="2600" dirty="0">
                <a:sym typeface="Symbol" pitchFamily="18" charset="2"/>
              </a:rPr>
              <a:t> </a:t>
            </a:r>
            <a:r>
              <a:rPr kumimoji="1" lang="en-US" sz="2600" dirty="0"/>
              <a:t>positive constants </a:t>
            </a:r>
            <a:r>
              <a:rPr kumimoji="1" lang="en-US" sz="2600" i="1" dirty="0"/>
              <a:t>c</a:t>
            </a:r>
            <a:r>
              <a:rPr kumimoji="1" lang="en-US" sz="2600" baseline="-25000" dirty="0"/>
              <a:t>1</a:t>
            </a:r>
            <a:r>
              <a:rPr kumimoji="1" lang="en-US" sz="2600" dirty="0"/>
              <a:t>, </a:t>
            </a:r>
            <a:r>
              <a:rPr kumimoji="1" lang="en-US" sz="2600" i="1" dirty="0"/>
              <a:t>c</a:t>
            </a:r>
            <a:r>
              <a:rPr kumimoji="1" lang="en-US" sz="2600" baseline="-25000" dirty="0"/>
              <a:t>2</a:t>
            </a:r>
            <a:r>
              <a:rPr kumimoji="1" lang="en-US" sz="2600" dirty="0"/>
              <a:t>, and </a:t>
            </a:r>
            <a:r>
              <a:rPr kumimoji="1" lang="en-US" sz="2600" i="1" dirty="0"/>
              <a:t>n</a:t>
            </a:r>
            <a:r>
              <a:rPr kumimoji="1" lang="en-US" sz="2600" baseline="-25000" dirty="0"/>
              <a:t>0,</a:t>
            </a:r>
            <a:r>
              <a:rPr kumimoji="1" lang="en-US" sz="2600" dirty="0"/>
              <a:t> such that </a:t>
            </a:r>
            <a:r>
              <a:rPr kumimoji="1" lang="en-US" dirty="0">
                <a:sym typeface="Symbol" pitchFamily="18" charset="2"/>
              </a:rPr>
              <a:t></a:t>
            </a:r>
            <a:r>
              <a:rPr kumimoji="1" lang="en-US" i="1" dirty="0"/>
              <a:t>n </a:t>
            </a:r>
            <a:r>
              <a:rPr kumimoji="1" lang="en-US" dirty="0">
                <a:sym typeface="Symbol" pitchFamily="18" charset="2"/>
              </a:rPr>
              <a:t></a:t>
            </a:r>
            <a:r>
              <a:rPr kumimoji="1" lang="en-US" i="1" dirty="0"/>
              <a:t>  n</a:t>
            </a:r>
            <a:r>
              <a:rPr kumimoji="1" lang="en-US" baseline="-25000" dirty="0"/>
              <a:t>0</a:t>
            </a:r>
            <a:r>
              <a:rPr kumimoji="1" lang="en-US" dirty="0"/>
              <a:t>,</a:t>
            </a:r>
            <a:endParaRPr kumimoji="1" lang="en-US" sz="2600" dirty="0"/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dirty="0"/>
              <a:t>we have</a:t>
            </a:r>
            <a:r>
              <a:rPr kumimoji="1" lang="en-US" sz="2600" dirty="0"/>
              <a:t> 0 </a:t>
            </a:r>
            <a:r>
              <a:rPr kumimoji="1" lang="en-US" sz="2600" dirty="0">
                <a:sym typeface="Symbol" pitchFamily="18" charset="2"/>
              </a:rPr>
              <a:t></a:t>
            </a:r>
            <a:r>
              <a:rPr kumimoji="1" lang="en-US" sz="2600" dirty="0"/>
              <a:t> </a:t>
            </a:r>
            <a:r>
              <a:rPr kumimoji="1" lang="en-US" sz="2600" i="1" dirty="0"/>
              <a:t>c</a:t>
            </a:r>
            <a:r>
              <a:rPr kumimoji="1" lang="en-US" sz="2600" baseline="-25000" dirty="0"/>
              <a:t>1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 </a:t>
            </a:r>
            <a:r>
              <a:rPr kumimoji="1" lang="en-US" sz="2600" dirty="0">
                <a:sym typeface="Symbol" pitchFamily="18" charset="2"/>
              </a:rPr>
              <a:t> </a:t>
            </a:r>
            <a:r>
              <a:rPr kumimoji="1" lang="en-US" sz="2600" dirty="0"/>
              <a:t> </a:t>
            </a:r>
            <a:r>
              <a:rPr kumimoji="1" lang="en-US" sz="2600" i="1" dirty="0"/>
              <a:t>f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</a:t>
            </a:r>
            <a:r>
              <a:rPr kumimoji="1" lang="en-US" sz="2600" i="1" dirty="0"/>
              <a:t> </a:t>
            </a:r>
            <a:r>
              <a:rPr kumimoji="1" lang="en-US" sz="2600" dirty="0">
                <a:sym typeface="Symbol" pitchFamily="18" charset="2"/>
              </a:rPr>
              <a:t></a:t>
            </a:r>
            <a:r>
              <a:rPr kumimoji="1" lang="en-US" sz="2600" dirty="0"/>
              <a:t> c</a:t>
            </a:r>
            <a:r>
              <a:rPr kumimoji="1" lang="en-US" sz="2600" baseline="-25000" dirty="0"/>
              <a:t>2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</a:t>
            </a: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3000" dirty="0"/>
              <a:t>}</a:t>
            </a:r>
          </a:p>
        </p:txBody>
      </p:sp>
      <p:sp>
        <p:nvSpPr>
          <p:cNvPr id="24582" name="Rectangle 23"/>
          <p:cNvSpPr>
            <a:spLocks noChangeArrowheads="1"/>
          </p:cNvSpPr>
          <p:nvPr/>
        </p:nvSpPr>
        <p:spPr bwMode="auto">
          <a:xfrm>
            <a:off x="395536" y="634820"/>
            <a:ext cx="5197475" cy="769441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dirty="0"/>
              <a:t>For function </a:t>
            </a:r>
            <a:r>
              <a:rPr kumimoji="1" lang="en-US" sz="2200" i="1" dirty="0"/>
              <a:t>g</a:t>
            </a:r>
            <a:r>
              <a:rPr kumimoji="1" lang="en-US" sz="2200" dirty="0"/>
              <a:t>(</a:t>
            </a:r>
            <a:r>
              <a:rPr kumimoji="1" lang="en-US" sz="2200" i="1" dirty="0"/>
              <a:t>n</a:t>
            </a:r>
            <a:r>
              <a:rPr kumimoji="1" lang="en-US" sz="2200" dirty="0"/>
              <a:t>), we define </a:t>
            </a:r>
            <a:r>
              <a:rPr kumimoji="1" lang="en-US" sz="2200" dirty="0">
                <a:sym typeface="Symbol" pitchFamily="18" charset="2"/>
              </a:rPr>
              <a:t></a:t>
            </a:r>
            <a:r>
              <a:rPr kumimoji="1" lang="en-US" sz="2200" dirty="0"/>
              <a:t>(</a:t>
            </a:r>
            <a:r>
              <a:rPr kumimoji="1" lang="en-US" sz="2200" i="1" dirty="0"/>
              <a:t>g</a:t>
            </a:r>
            <a:r>
              <a:rPr kumimoji="1" lang="en-US" sz="2200" dirty="0"/>
              <a:t>(</a:t>
            </a:r>
            <a:r>
              <a:rPr kumimoji="1" lang="en-US" sz="2200" i="1" dirty="0"/>
              <a:t>n</a:t>
            </a:r>
            <a:r>
              <a:rPr kumimoji="1" lang="en-US" sz="2200" dirty="0"/>
              <a:t>)), big-Theta of </a:t>
            </a:r>
            <a:r>
              <a:rPr kumimoji="1" lang="en-US" sz="2200" i="1" dirty="0"/>
              <a:t>n</a:t>
            </a:r>
            <a:r>
              <a:rPr kumimoji="1" lang="en-US" sz="2200" dirty="0"/>
              <a:t>, as the set:</a:t>
            </a:r>
          </a:p>
        </p:txBody>
      </p:sp>
      <p:sp>
        <p:nvSpPr>
          <p:cNvPr id="24583" name="Rectangle 24"/>
          <p:cNvSpPr>
            <a:spLocks noChangeArrowheads="1"/>
          </p:cNvSpPr>
          <p:nvPr/>
        </p:nvSpPr>
        <p:spPr bwMode="auto">
          <a:xfrm>
            <a:off x="250826" y="3964495"/>
            <a:ext cx="6204071" cy="892552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kumimoji="1" lang="en-US" sz="2600" i="1" dirty="0"/>
          </a:p>
          <a:p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 is an </a:t>
            </a:r>
            <a:r>
              <a:rPr kumimoji="1" lang="en-US" sz="2600" i="1" dirty="0"/>
              <a:t>asymptotically tight bound</a:t>
            </a:r>
            <a:r>
              <a:rPr kumimoji="1" lang="en-US" sz="2600" dirty="0"/>
              <a:t> for </a:t>
            </a:r>
            <a:r>
              <a:rPr kumimoji="1" lang="en-US" sz="2600" i="1" dirty="0"/>
              <a:t>f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).</a:t>
            </a:r>
          </a:p>
        </p:txBody>
      </p:sp>
      <p:sp>
        <p:nvSpPr>
          <p:cNvPr id="24584" name="Text Box 25"/>
          <p:cNvSpPr txBox="1">
            <a:spLocks noChangeArrowheads="1"/>
          </p:cNvSpPr>
          <p:nvPr/>
        </p:nvSpPr>
        <p:spPr bwMode="auto">
          <a:xfrm>
            <a:off x="571472" y="3857634"/>
            <a:ext cx="4429156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i="1" dirty="0"/>
              <a:t>Intuitively</a:t>
            </a:r>
            <a:r>
              <a:rPr lang="en-US" dirty="0"/>
              <a:t>: Set of all functions that</a:t>
            </a:r>
          </a:p>
          <a:p>
            <a:r>
              <a:rPr lang="en-US" dirty="0"/>
              <a:t>have the same </a:t>
            </a:r>
            <a:r>
              <a:rPr lang="en-US" i="1" dirty="0"/>
              <a:t>rate of growth</a:t>
            </a:r>
            <a:r>
              <a:rPr lang="en-US" dirty="0"/>
              <a:t> as 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48829"/>
            <a:ext cx="8229600" cy="857250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-notation</a:t>
            </a:r>
          </a:p>
        </p:txBody>
      </p:sp>
      <p:pic>
        <p:nvPicPr>
          <p:cNvPr id="25604" name="Picture 3" descr="graph_the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80112" y="1459206"/>
            <a:ext cx="3492454" cy="2716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5" name="Rectangle 4"/>
          <p:cNvSpPr>
            <a:spLocks noChangeArrowheads="1"/>
          </p:cNvSpPr>
          <p:nvPr/>
        </p:nvSpPr>
        <p:spPr bwMode="auto">
          <a:xfrm>
            <a:off x="250826" y="1635646"/>
            <a:ext cx="5113262" cy="2376035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dirty="0">
                <a:solidFill>
                  <a:schemeClr val="accent1"/>
                </a:solidFill>
                <a:sym typeface="Symbol" pitchFamily="18" charset="2"/>
              </a:rPr>
              <a:t></a:t>
            </a:r>
            <a:r>
              <a:rPr kumimoji="1" lang="en-US" sz="2600" dirty="0">
                <a:solidFill>
                  <a:schemeClr val="accent1"/>
                </a:solidFill>
              </a:rPr>
              <a:t>(</a:t>
            </a:r>
            <a:r>
              <a:rPr kumimoji="1" lang="en-US" sz="2600" i="1" dirty="0">
                <a:solidFill>
                  <a:schemeClr val="accent1"/>
                </a:solidFill>
              </a:rPr>
              <a:t>g</a:t>
            </a:r>
            <a:r>
              <a:rPr kumimoji="1" lang="en-US" sz="2600" dirty="0">
                <a:solidFill>
                  <a:schemeClr val="accent1"/>
                </a:solidFill>
              </a:rPr>
              <a:t>(</a:t>
            </a:r>
            <a:r>
              <a:rPr kumimoji="1" lang="en-US" sz="2600" i="1" dirty="0">
                <a:solidFill>
                  <a:schemeClr val="accent1"/>
                </a:solidFill>
              </a:rPr>
              <a:t>n</a:t>
            </a:r>
            <a:r>
              <a:rPr kumimoji="1" lang="en-US" sz="2600" dirty="0">
                <a:solidFill>
                  <a:schemeClr val="accent1"/>
                </a:solidFill>
              </a:rPr>
              <a:t>)) =</a:t>
            </a:r>
            <a:r>
              <a:rPr kumimoji="1" lang="en-US" sz="2600" dirty="0">
                <a:solidFill>
                  <a:schemeClr val="hlink"/>
                </a:solidFill>
              </a:rPr>
              <a:t> </a:t>
            </a:r>
            <a:r>
              <a:rPr kumimoji="1" lang="en-US" sz="3000" dirty="0">
                <a:solidFill>
                  <a:schemeClr val="hlink"/>
                </a:solidFill>
              </a:rPr>
              <a:t>{</a:t>
            </a:r>
            <a:r>
              <a:rPr kumimoji="1" lang="en-US" sz="2600" i="1" dirty="0">
                <a:solidFill>
                  <a:schemeClr val="hlink"/>
                </a:solidFill>
              </a:rPr>
              <a:t>f</a:t>
            </a:r>
            <a:r>
              <a:rPr kumimoji="1" lang="en-US" sz="2600" dirty="0">
                <a:solidFill>
                  <a:schemeClr val="hlink"/>
                </a:solidFill>
              </a:rPr>
              <a:t>(</a:t>
            </a:r>
            <a:r>
              <a:rPr kumimoji="1" lang="en-US" sz="2600" i="1" dirty="0">
                <a:solidFill>
                  <a:schemeClr val="hlink"/>
                </a:solidFill>
              </a:rPr>
              <a:t>n</a:t>
            </a:r>
            <a:r>
              <a:rPr kumimoji="1" lang="en-US" sz="2600" dirty="0">
                <a:solidFill>
                  <a:schemeClr val="hlink"/>
                </a:solidFill>
              </a:rPr>
              <a:t>) : </a:t>
            </a:r>
            <a:br>
              <a:rPr kumimoji="1" lang="en-US" sz="2600" dirty="0">
                <a:solidFill>
                  <a:schemeClr val="hlink"/>
                </a:solidFill>
              </a:rPr>
            </a:br>
            <a:r>
              <a:rPr kumimoji="1" lang="en-US" sz="2600" dirty="0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dirty="0">
                <a:solidFill>
                  <a:srgbClr val="FF3300"/>
                </a:solidFill>
              </a:rPr>
              <a:t>positive constants </a:t>
            </a:r>
            <a:r>
              <a:rPr kumimoji="1" lang="en-US" sz="2600" i="1" dirty="0">
                <a:solidFill>
                  <a:srgbClr val="FF3300"/>
                </a:solidFill>
              </a:rPr>
              <a:t>c</a:t>
            </a:r>
            <a:r>
              <a:rPr kumimoji="1" lang="en-US" sz="2600" baseline="-25000" dirty="0">
                <a:solidFill>
                  <a:srgbClr val="FF3300"/>
                </a:solidFill>
              </a:rPr>
              <a:t>1</a:t>
            </a:r>
            <a:r>
              <a:rPr kumimoji="1" lang="en-US" sz="2600" dirty="0">
                <a:solidFill>
                  <a:srgbClr val="FF3300"/>
                </a:solidFill>
              </a:rPr>
              <a:t>, </a:t>
            </a:r>
            <a:r>
              <a:rPr kumimoji="1" lang="en-US" sz="2600" i="1" dirty="0">
                <a:solidFill>
                  <a:srgbClr val="FF3300"/>
                </a:solidFill>
              </a:rPr>
              <a:t>c</a:t>
            </a:r>
            <a:r>
              <a:rPr kumimoji="1" lang="en-US" sz="2600" baseline="-25000" dirty="0">
                <a:solidFill>
                  <a:srgbClr val="FF3300"/>
                </a:solidFill>
              </a:rPr>
              <a:t>2</a:t>
            </a:r>
            <a:r>
              <a:rPr kumimoji="1" lang="en-US" sz="2600" dirty="0">
                <a:solidFill>
                  <a:srgbClr val="FF3300"/>
                </a:solidFill>
              </a:rPr>
              <a:t>, and </a:t>
            </a:r>
            <a:r>
              <a:rPr kumimoji="1" lang="en-US" sz="2600" i="1" dirty="0">
                <a:solidFill>
                  <a:srgbClr val="FF3300"/>
                </a:solidFill>
              </a:rPr>
              <a:t>n</a:t>
            </a:r>
            <a:r>
              <a:rPr kumimoji="1" lang="en-US" sz="2600" baseline="-25000" dirty="0">
                <a:solidFill>
                  <a:srgbClr val="FF3300"/>
                </a:solidFill>
              </a:rPr>
              <a:t>0,</a:t>
            </a:r>
            <a:r>
              <a:rPr kumimoji="1" lang="en-US" sz="2600" dirty="0">
                <a:solidFill>
                  <a:schemeClr val="hlink"/>
                </a:solidFill>
              </a:rPr>
              <a:t> </a:t>
            </a:r>
            <a:r>
              <a:rPr kumimoji="1" lang="en-US" sz="2600" dirty="0">
                <a:solidFill>
                  <a:srgbClr val="CC0000"/>
                </a:solidFill>
              </a:rPr>
              <a:t>such that </a:t>
            </a:r>
            <a:r>
              <a:rPr kumimoji="1" lang="en-US" dirty="0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i="1" dirty="0">
                <a:solidFill>
                  <a:srgbClr val="CC0000"/>
                </a:solidFill>
              </a:rPr>
              <a:t>n </a:t>
            </a:r>
            <a:r>
              <a:rPr kumimoji="1" lang="en-US" dirty="0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i="1" dirty="0">
                <a:solidFill>
                  <a:srgbClr val="CC0000"/>
                </a:solidFill>
              </a:rPr>
              <a:t>  n</a:t>
            </a:r>
            <a:r>
              <a:rPr kumimoji="1" lang="en-US" baseline="-25000" dirty="0">
                <a:solidFill>
                  <a:srgbClr val="CC0000"/>
                </a:solidFill>
              </a:rPr>
              <a:t>0</a:t>
            </a:r>
            <a:r>
              <a:rPr kumimoji="1" lang="en-US" dirty="0">
                <a:solidFill>
                  <a:srgbClr val="CC0000"/>
                </a:solidFill>
              </a:rPr>
              <a:t>,</a:t>
            </a:r>
            <a:endParaRPr kumimoji="1" lang="en-US" sz="2600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dirty="0">
                <a:solidFill>
                  <a:schemeClr val="hlink"/>
                </a:solidFill>
              </a:rPr>
              <a:t>we have</a:t>
            </a:r>
            <a:r>
              <a:rPr kumimoji="1" lang="en-US" sz="2600" dirty="0">
                <a:solidFill>
                  <a:schemeClr val="hlink"/>
                </a:solidFill>
              </a:rPr>
              <a:t> 0 </a:t>
            </a:r>
            <a:r>
              <a:rPr kumimoji="1" lang="en-US" sz="2600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dirty="0">
                <a:solidFill>
                  <a:schemeClr val="hlink"/>
                </a:solidFill>
              </a:rPr>
              <a:t> </a:t>
            </a:r>
            <a:r>
              <a:rPr kumimoji="1" lang="en-US" sz="2600" i="1" dirty="0">
                <a:solidFill>
                  <a:schemeClr val="hlink"/>
                </a:solidFill>
              </a:rPr>
              <a:t>c</a:t>
            </a:r>
            <a:r>
              <a:rPr kumimoji="1" lang="en-US" sz="2600" baseline="-25000" dirty="0">
                <a:solidFill>
                  <a:schemeClr val="hlink"/>
                </a:solidFill>
              </a:rPr>
              <a:t>1</a:t>
            </a:r>
            <a:r>
              <a:rPr kumimoji="1" lang="en-US" sz="2600" i="1" dirty="0">
                <a:solidFill>
                  <a:schemeClr val="hlink"/>
                </a:solidFill>
              </a:rPr>
              <a:t>g</a:t>
            </a:r>
            <a:r>
              <a:rPr kumimoji="1" lang="en-US" sz="2600" dirty="0">
                <a:solidFill>
                  <a:schemeClr val="hlink"/>
                </a:solidFill>
              </a:rPr>
              <a:t>(</a:t>
            </a:r>
            <a:r>
              <a:rPr kumimoji="1" lang="en-US" sz="2600" i="1" dirty="0">
                <a:solidFill>
                  <a:schemeClr val="hlink"/>
                </a:solidFill>
              </a:rPr>
              <a:t>n</a:t>
            </a:r>
            <a:r>
              <a:rPr kumimoji="1" lang="en-US" sz="2600" dirty="0">
                <a:solidFill>
                  <a:schemeClr val="hlink"/>
                </a:solidFill>
              </a:rPr>
              <a:t>) </a:t>
            </a:r>
            <a:r>
              <a:rPr kumimoji="1" lang="en-US" sz="2600" dirty="0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sz="2600" dirty="0">
                <a:solidFill>
                  <a:schemeClr val="hlink"/>
                </a:solidFill>
              </a:rPr>
              <a:t> </a:t>
            </a:r>
            <a:r>
              <a:rPr kumimoji="1" lang="en-US" sz="2600" i="1" dirty="0">
                <a:solidFill>
                  <a:schemeClr val="hlink"/>
                </a:solidFill>
              </a:rPr>
              <a:t>f</a:t>
            </a:r>
            <a:r>
              <a:rPr kumimoji="1" lang="en-US" sz="2600" dirty="0">
                <a:solidFill>
                  <a:schemeClr val="hlink"/>
                </a:solidFill>
              </a:rPr>
              <a:t>(</a:t>
            </a:r>
            <a:r>
              <a:rPr kumimoji="1" lang="en-US" sz="2600" i="1" dirty="0">
                <a:solidFill>
                  <a:schemeClr val="hlink"/>
                </a:solidFill>
              </a:rPr>
              <a:t>n</a:t>
            </a:r>
            <a:r>
              <a:rPr kumimoji="1" lang="en-US" sz="2600" dirty="0">
                <a:solidFill>
                  <a:schemeClr val="hlink"/>
                </a:solidFill>
              </a:rPr>
              <a:t>)</a:t>
            </a:r>
            <a:r>
              <a:rPr kumimoji="1" lang="en-US" sz="2600" i="1" dirty="0">
                <a:solidFill>
                  <a:schemeClr val="hlink"/>
                </a:solidFill>
              </a:rPr>
              <a:t> </a:t>
            </a:r>
            <a:r>
              <a:rPr kumimoji="1" lang="en-US" sz="2600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dirty="0">
                <a:solidFill>
                  <a:schemeClr val="hlink"/>
                </a:solidFill>
              </a:rPr>
              <a:t> c</a:t>
            </a:r>
            <a:r>
              <a:rPr kumimoji="1" lang="en-US" sz="2600" baseline="-25000" dirty="0">
                <a:solidFill>
                  <a:schemeClr val="hlink"/>
                </a:solidFill>
              </a:rPr>
              <a:t>2</a:t>
            </a:r>
            <a:r>
              <a:rPr kumimoji="1" lang="en-US" sz="2600" i="1" dirty="0">
                <a:solidFill>
                  <a:schemeClr val="hlink"/>
                </a:solidFill>
              </a:rPr>
              <a:t>g</a:t>
            </a:r>
            <a:r>
              <a:rPr kumimoji="1" lang="en-US" sz="2600" dirty="0">
                <a:solidFill>
                  <a:schemeClr val="hlink"/>
                </a:solidFill>
              </a:rPr>
              <a:t>(</a:t>
            </a:r>
            <a:r>
              <a:rPr kumimoji="1" lang="en-US" sz="2600" i="1" dirty="0">
                <a:solidFill>
                  <a:schemeClr val="hlink"/>
                </a:solidFill>
              </a:rPr>
              <a:t>n</a:t>
            </a:r>
            <a:r>
              <a:rPr kumimoji="1" lang="en-US" sz="2600" dirty="0">
                <a:solidFill>
                  <a:schemeClr val="hlink"/>
                </a:solidFill>
              </a:rPr>
              <a:t>)</a:t>
            </a: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3000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25606" name="Rectangle 5"/>
          <p:cNvSpPr>
            <a:spLocks noChangeArrowheads="1"/>
          </p:cNvSpPr>
          <p:nvPr/>
        </p:nvSpPr>
        <p:spPr bwMode="auto">
          <a:xfrm>
            <a:off x="457200" y="594330"/>
            <a:ext cx="5482952" cy="892552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dirty="0"/>
              <a:t>For function 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), we define </a:t>
            </a:r>
            <a:r>
              <a:rPr kumimoji="1" lang="en-US" sz="2600" dirty="0">
                <a:sym typeface="Symbol" pitchFamily="18" charset="2"/>
              </a:rPr>
              <a:t></a:t>
            </a:r>
            <a:r>
              <a:rPr kumimoji="1" lang="en-US" sz="2600" dirty="0"/>
              <a:t>(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)), big-Theta of </a:t>
            </a:r>
            <a:r>
              <a:rPr kumimoji="1" lang="en-US" sz="2600" i="1" dirty="0"/>
              <a:t>n</a:t>
            </a:r>
            <a:r>
              <a:rPr kumimoji="1" lang="en-US" sz="2600" dirty="0"/>
              <a:t>, as the set:</a:t>
            </a:r>
          </a:p>
        </p:txBody>
      </p:sp>
      <p:sp>
        <p:nvSpPr>
          <p:cNvPr id="25607" name="Text Box 8"/>
          <p:cNvSpPr txBox="1">
            <a:spLocks noChangeArrowheads="1"/>
          </p:cNvSpPr>
          <p:nvPr/>
        </p:nvSpPr>
        <p:spPr bwMode="auto">
          <a:xfrm>
            <a:off x="674687" y="3925337"/>
            <a:ext cx="3897313" cy="9233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dirty="0"/>
              <a:t>Technically,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 (</a:t>
            </a:r>
            <a:r>
              <a:rPr lang="en-US" i="1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)).</a:t>
            </a:r>
          </a:p>
          <a:p>
            <a:r>
              <a:rPr lang="en-US" dirty="0">
                <a:sym typeface="Symbol" pitchFamily="18" charset="2"/>
              </a:rPr>
              <a:t>Older usage,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>
                <a:sym typeface="Symbol" pitchFamily="18" charset="2"/>
              </a:rPr>
              <a:t>= (</a:t>
            </a:r>
            <a:r>
              <a:rPr lang="en-US" i="1" dirty="0">
                <a:sym typeface="Symbol" pitchFamily="18" charset="2"/>
              </a:rPr>
              <a:t>g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)).</a:t>
            </a:r>
          </a:p>
          <a:p>
            <a:r>
              <a:rPr lang="en-US" dirty="0">
                <a:sym typeface="Symbol" pitchFamily="18" charset="2"/>
              </a:rPr>
              <a:t>I’ll accept either… </a:t>
            </a:r>
          </a:p>
        </p:txBody>
      </p:sp>
      <p:sp>
        <p:nvSpPr>
          <p:cNvPr id="25608" name="Text Box 9"/>
          <p:cNvSpPr txBox="1">
            <a:spLocks noChangeArrowheads="1"/>
          </p:cNvSpPr>
          <p:nvPr/>
        </p:nvSpPr>
        <p:spPr bwMode="auto">
          <a:xfrm>
            <a:off x="204785" y="4664001"/>
            <a:ext cx="410163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and 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are nonnegative, for large </a:t>
            </a:r>
            <a:r>
              <a:rPr lang="en-US" i="1" dirty="0"/>
              <a:t>n</a:t>
            </a:r>
            <a:r>
              <a:rPr lang="en-US" dirty="0"/>
              <a:t>. </a:t>
            </a:r>
            <a:endParaRPr lang="en-US" i="1" u="sng" dirty="0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214953"/>
            <a:ext cx="7214258" cy="44614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b="1" u="sng" dirty="0"/>
              <a:t>Exercise</a:t>
            </a:r>
          </a:p>
        </p:txBody>
      </p:sp>
      <p:sp>
        <p:nvSpPr>
          <p:cNvPr id="48132" name="Text Box 4"/>
          <p:cNvSpPr txBox="1">
            <a:spLocks noChangeArrowheads="1"/>
          </p:cNvSpPr>
          <p:nvPr/>
        </p:nvSpPr>
        <p:spPr bwMode="auto">
          <a:xfrm>
            <a:off x="1115616" y="892372"/>
            <a:ext cx="6334426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dirty="0"/>
              <a:t>Express functions in A in asymptotic notation using functions in B.</a:t>
            </a:r>
          </a:p>
        </p:txBody>
      </p:sp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971600" y="1223665"/>
            <a:ext cx="788240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sz="2800" dirty="0"/>
              <a:t> A                        	                 B                                    </a:t>
            </a:r>
          </a:p>
        </p:txBody>
      </p:sp>
      <p:sp>
        <p:nvSpPr>
          <p:cNvPr id="48134" name="Text Box 7"/>
          <p:cNvSpPr txBox="1">
            <a:spLocks noChangeArrowheads="1"/>
          </p:cNvSpPr>
          <p:nvPr/>
        </p:nvSpPr>
        <p:spPr bwMode="auto">
          <a:xfrm>
            <a:off x="654051" y="1683544"/>
            <a:ext cx="4897495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2800" b="1" dirty="0"/>
              <a:t>1. 5</a:t>
            </a:r>
            <a:r>
              <a:rPr lang="en-US" sz="2800" b="1" i="1" dirty="0"/>
              <a:t>n</a:t>
            </a:r>
            <a:r>
              <a:rPr lang="en-US" sz="2800" b="1" baseline="30000" dirty="0"/>
              <a:t>2</a:t>
            </a:r>
            <a:r>
              <a:rPr lang="en-US" sz="2800" b="1" dirty="0"/>
              <a:t> + 100</a:t>
            </a:r>
            <a:r>
              <a:rPr lang="en-US" sz="2800" b="1" i="1" dirty="0"/>
              <a:t>n              	</a:t>
            </a:r>
            <a:r>
              <a:rPr lang="en-US" sz="2800" b="1" dirty="0"/>
              <a:t>3</a:t>
            </a:r>
            <a:r>
              <a:rPr lang="en-US" sz="2800" b="1" i="1" dirty="0"/>
              <a:t>n</a:t>
            </a:r>
            <a:r>
              <a:rPr lang="en-US" sz="2800" b="1" baseline="30000" dirty="0"/>
              <a:t>2</a:t>
            </a:r>
            <a:r>
              <a:rPr lang="en-US" sz="2800" b="1" dirty="0"/>
              <a:t> + 2</a:t>
            </a:r>
          </a:p>
        </p:txBody>
      </p:sp>
      <p:sp>
        <p:nvSpPr>
          <p:cNvPr id="448520" name="Text Box 8"/>
          <p:cNvSpPr txBox="1">
            <a:spLocks noChangeArrowheads="1"/>
          </p:cNvSpPr>
          <p:nvPr/>
        </p:nvSpPr>
        <p:spPr bwMode="auto">
          <a:xfrm>
            <a:off x="561977" y="2156222"/>
            <a:ext cx="332494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dirty="0"/>
              <a:t> A </a:t>
            </a:r>
            <a:r>
              <a:rPr lang="en-US" dirty="0">
                <a:sym typeface="Symbol" pitchFamily="18" charset="2"/>
              </a:rPr>
              <a:t>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i="1" baseline="30000" dirty="0"/>
              <a:t>2</a:t>
            </a:r>
            <a:r>
              <a:rPr lang="en-US" i="1" dirty="0"/>
              <a:t>), n</a:t>
            </a:r>
            <a:r>
              <a:rPr lang="en-US" i="1" baseline="30000" dirty="0"/>
              <a:t>2</a:t>
            </a:r>
            <a:r>
              <a:rPr lang="en-US" baseline="30000" dirty="0"/>
              <a:t> </a:t>
            </a:r>
            <a:r>
              <a:rPr lang="en-US" dirty="0">
                <a:sym typeface="Symbol" pitchFamily="18" charset="2"/>
              </a:rPr>
              <a:t>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(B)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dirty="0"/>
              <a:t>A </a:t>
            </a:r>
            <a:r>
              <a:rPr lang="en-US" dirty="0">
                <a:sym typeface="Symbol" pitchFamily="18" charset="2"/>
              </a:rPr>
              <a:t></a:t>
            </a:r>
            <a:r>
              <a:rPr lang="en-US" dirty="0"/>
              <a:t>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(B)</a:t>
            </a:r>
          </a:p>
        </p:txBody>
      </p:sp>
      <p:sp>
        <p:nvSpPr>
          <p:cNvPr id="48136" name="Text Box 9"/>
          <p:cNvSpPr txBox="1">
            <a:spLocks noChangeArrowheads="1"/>
          </p:cNvSpPr>
          <p:nvPr/>
        </p:nvSpPr>
        <p:spPr bwMode="auto">
          <a:xfrm>
            <a:off x="539912" y="2483738"/>
            <a:ext cx="4985660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60000"/>
              </a:spcBef>
            </a:pPr>
            <a:r>
              <a:rPr lang="en-US" sz="2800" b="1" dirty="0"/>
              <a:t>2. log</a:t>
            </a:r>
            <a:r>
              <a:rPr lang="en-US" sz="2800" b="1" baseline="-25000" dirty="0"/>
              <a:t>3</a:t>
            </a:r>
            <a:r>
              <a:rPr lang="en-US" sz="2800" b="1" dirty="0"/>
              <a:t>(</a:t>
            </a:r>
            <a:r>
              <a:rPr lang="en-US" sz="2800" b="1" i="1" dirty="0"/>
              <a:t>n</a:t>
            </a:r>
            <a:r>
              <a:rPr lang="en-US" sz="2800" b="1" baseline="30000" dirty="0"/>
              <a:t>2</a:t>
            </a:r>
            <a:r>
              <a:rPr lang="en-US" sz="2800" b="1" dirty="0"/>
              <a:t>)          </a:t>
            </a:r>
            <a:r>
              <a:rPr lang="en-US" sz="2800" b="1" i="1" dirty="0"/>
              <a:t>		</a:t>
            </a:r>
            <a:r>
              <a:rPr lang="en-US" sz="2800" b="1" dirty="0"/>
              <a:t>log</a:t>
            </a:r>
            <a:r>
              <a:rPr lang="en-US" sz="2800" b="1" baseline="-25000" dirty="0"/>
              <a:t>2</a:t>
            </a:r>
            <a:r>
              <a:rPr lang="en-US" sz="2800" b="1" dirty="0"/>
              <a:t>(</a:t>
            </a:r>
            <a:r>
              <a:rPr lang="en-US" sz="2800" b="1" i="1" dirty="0"/>
              <a:t>n</a:t>
            </a:r>
            <a:r>
              <a:rPr lang="en-US" sz="2800" b="1" baseline="30000" dirty="0"/>
              <a:t>3</a:t>
            </a:r>
            <a:r>
              <a:rPr lang="en-US" sz="2800" b="1" dirty="0"/>
              <a:t>)</a:t>
            </a:r>
          </a:p>
        </p:txBody>
      </p:sp>
      <p:sp>
        <p:nvSpPr>
          <p:cNvPr id="448522" name="Text Box 10"/>
          <p:cNvSpPr txBox="1">
            <a:spLocks noChangeArrowheads="1"/>
          </p:cNvSpPr>
          <p:nvPr/>
        </p:nvSpPr>
        <p:spPr bwMode="auto">
          <a:xfrm>
            <a:off x="214315" y="2934891"/>
            <a:ext cx="6095579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 lvl="1">
              <a:spcAft>
                <a:spcPct val="10000"/>
              </a:spcAft>
              <a:buFont typeface="Wingdings" pitchFamily="2" charset="2"/>
              <a:buNone/>
            </a:pPr>
            <a:r>
              <a:rPr lang="en-US"/>
              <a:t>log</a:t>
            </a:r>
            <a:r>
              <a:rPr lang="en-US" i="1" baseline="-25000"/>
              <a:t>b</a:t>
            </a:r>
            <a:r>
              <a:rPr lang="en-US" i="1"/>
              <a:t>a</a:t>
            </a:r>
            <a:r>
              <a:rPr lang="en-US"/>
              <a:t> = log</a:t>
            </a:r>
            <a:r>
              <a:rPr lang="en-US" i="1" baseline="-25000"/>
              <a:t>c</a:t>
            </a:r>
            <a:r>
              <a:rPr lang="en-US" i="1"/>
              <a:t>a / </a:t>
            </a:r>
            <a:r>
              <a:rPr lang="en-US"/>
              <a:t>log</a:t>
            </a:r>
            <a:r>
              <a:rPr lang="en-US" i="1" baseline="-25000"/>
              <a:t>c</a:t>
            </a:r>
            <a:r>
              <a:rPr lang="en-US" i="1"/>
              <a:t>b</a:t>
            </a:r>
            <a:r>
              <a:rPr lang="en-US"/>
              <a:t>; A = 2lg</a:t>
            </a:r>
            <a:r>
              <a:rPr lang="en-US" i="1"/>
              <a:t>n</a:t>
            </a:r>
            <a:r>
              <a:rPr lang="en-US"/>
              <a:t> / lg3, B  = 3lg</a:t>
            </a:r>
            <a:r>
              <a:rPr lang="en-US" i="1"/>
              <a:t>n</a:t>
            </a:r>
            <a:r>
              <a:rPr lang="en-US"/>
              <a:t>, A/B =2/(3lg3)</a:t>
            </a:r>
          </a:p>
        </p:txBody>
      </p:sp>
      <p:sp>
        <p:nvSpPr>
          <p:cNvPr id="48138" name="Text Box 11"/>
          <p:cNvSpPr txBox="1">
            <a:spLocks noChangeArrowheads="1"/>
          </p:cNvSpPr>
          <p:nvPr/>
        </p:nvSpPr>
        <p:spPr bwMode="auto">
          <a:xfrm>
            <a:off x="502718" y="3267555"/>
            <a:ext cx="5014514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60000"/>
              </a:spcBef>
              <a:buFont typeface="Wingdings" pitchFamily="2" charset="2"/>
              <a:buNone/>
            </a:pPr>
            <a:r>
              <a:rPr lang="en-US" sz="2800" b="1" i="1" dirty="0"/>
              <a:t> 3. n</a:t>
            </a:r>
            <a:r>
              <a:rPr lang="en-US" sz="2800" b="1" baseline="40000" dirty="0"/>
              <a:t>lg4</a:t>
            </a:r>
            <a:r>
              <a:rPr lang="en-US" sz="2800" b="1" baseline="30000" dirty="0"/>
              <a:t> </a:t>
            </a:r>
            <a:r>
              <a:rPr lang="en-US" sz="2800" b="1" i="1" baseline="30000" dirty="0"/>
              <a:t>			          </a:t>
            </a:r>
            <a:r>
              <a:rPr lang="en-US" sz="2800" b="1" dirty="0"/>
              <a:t>3</a:t>
            </a:r>
            <a:r>
              <a:rPr lang="en-US" sz="2800" b="1" baseline="40000" dirty="0"/>
              <a:t>lg</a:t>
            </a:r>
            <a:r>
              <a:rPr lang="en-US" sz="2800" b="1" i="1" baseline="40000" dirty="0"/>
              <a:t> n</a:t>
            </a:r>
          </a:p>
        </p:txBody>
      </p:sp>
      <p:sp>
        <p:nvSpPr>
          <p:cNvPr id="448524" name="Text Box 12"/>
          <p:cNvSpPr txBox="1">
            <a:spLocks noChangeArrowheads="1"/>
          </p:cNvSpPr>
          <p:nvPr/>
        </p:nvSpPr>
        <p:spPr bwMode="auto">
          <a:xfrm>
            <a:off x="654051" y="3667125"/>
            <a:ext cx="4863832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i="1"/>
              <a:t>a</a:t>
            </a:r>
            <a:r>
              <a:rPr lang="en-US" baseline="30000"/>
              <a:t>log</a:t>
            </a:r>
            <a:r>
              <a:rPr lang="en-US" i="1" baseline="30000"/>
              <a:t> b </a:t>
            </a:r>
            <a:r>
              <a:rPr lang="en-US" i="1"/>
              <a:t>=</a:t>
            </a:r>
            <a:r>
              <a:rPr lang="en-US" i="1" baseline="30000"/>
              <a:t> </a:t>
            </a:r>
            <a:r>
              <a:rPr lang="en-US" i="1"/>
              <a:t>b</a:t>
            </a:r>
            <a:r>
              <a:rPr lang="en-US" baseline="30000"/>
              <a:t>log </a:t>
            </a:r>
            <a:r>
              <a:rPr lang="en-US" i="1" baseline="30000"/>
              <a:t>a</a:t>
            </a:r>
            <a:r>
              <a:rPr lang="en-US"/>
              <a:t>; B =3</a:t>
            </a:r>
            <a:r>
              <a:rPr lang="en-US" baseline="40000"/>
              <a:t>lg</a:t>
            </a:r>
            <a:r>
              <a:rPr lang="en-US" i="1" baseline="40000"/>
              <a:t> n</a:t>
            </a:r>
            <a:r>
              <a:rPr lang="en-US"/>
              <a:t>=</a:t>
            </a:r>
            <a:r>
              <a:rPr lang="en-US" i="1"/>
              <a:t>n</a:t>
            </a:r>
            <a:r>
              <a:rPr lang="en-US" baseline="40000"/>
              <a:t>lg</a:t>
            </a:r>
            <a:r>
              <a:rPr lang="en-US" i="1" baseline="40000"/>
              <a:t> 3</a:t>
            </a:r>
            <a:r>
              <a:rPr lang="en-US"/>
              <a:t>; A/B =</a:t>
            </a:r>
            <a:r>
              <a:rPr lang="en-US" i="1"/>
              <a:t>n</a:t>
            </a:r>
            <a:r>
              <a:rPr lang="en-US" baseline="40000"/>
              <a:t>lg(4/3) </a:t>
            </a:r>
            <a:r>
              <a:rPr lang="en-US">
                <a:sym typeface="Symbol" pitchFamily="18" charset="2"/>
              </a:rPr>
              <a:t></a:t>
            </a:r>
            <a:r>
              <a:rPr lang="en-US" baseline="40000"/>
              <a:t> </a:t>
            </a:r>
            <a:r>
              <a:rPr lang="en-US">
                <a:sym typeface="Symbol" pitchFamily="18" charset="2"/>
              </a:rPr>
              <a:t></a:t>
            </a:r>
            <a:r>
              <a:rPr lang="en-US"/>
              <a:t> as </a:t>
            </a:r>
            <a:r>
              <a:rPr lang="en-US" i="1"/>
              <a:t>n</a:t>
            </a:r>
            <a:r>
              <a:rPr lang="en-US">
                <a:sym typeface="Symbol" pitchFamily="18" charset="2"/>
              </a:rPr>
              <a:t></a:t>
            </a:r>
          </a:p>
        </p:txBody>
      </p:sp>
      <p:sp>
        <p:nvSpPr>
          <p:cNvPr id="48140" name="Text Box 13"/>
          <p:cNvSpPr txBox="1">
            <a:spLocks noChangeArrowheads="1"/>
          </p:cNvSpPr>
          <p:nvPr/>
        </p:nvSpPr>
        <p:spPr bwMode="auto">
          <a:xfrm>
            <a:off x="654049" y="3975794"/>
            <a:ext cx="5016117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pPr>
              <a:spcBef>
                <a:spcPct val="60000"/>
              </a:spcBef>
              <a:buFont typeface="Wingdings" pitchFamily="2" charset="2"/>
              <a:buNone/>
            </a:pPr>
            <a:r>
              <a:rPr lang="en-US" sz="2800" b="1" dirty="0"/>
              <a:t>4. lg</a:t>
            </a:r>
            <a:r>
              <a:rPr lang="en-US" sz="2800" b="1" baseline="30000" dirty="0"/>
              <a:t>2</a:t>
            </a:r>
            <a:r>
              <a:rPr lang="en-US" sz="2800" b="1" i="1" dirty="0"/>
              <a:t>n</a:t>
            </a:r>
            <a:r>
              <a:rPr lang="en-US" sz="2800" b="1" baseline="30000" dirty="0"/>
              <a:t>		                         </a:t>
            </a:r>
            <a:r>
              <a:rPr lang="en-US" sz="2800" b="1" i="1" dirty="0"/>
              <a:t>n</a:t>
            </a:r>
            <a:r>
              <a:rPr lang="en-US" sz="2800" b="1" baseline="30000" dirty="0"/>
              <a:t>1/2</a:t>
            </a:r>
          </a:p>
        </p:txBody>
      </p:sp>
      <p:sp>
        <p:nvSpPr>
          <p:cNvPr id="448527" name="Text Box 15"/>
          <p:cNvSpPr txBox="1">
            <a:spLocks noChangeArrowheads="1"/>
          </p:cNvSpPr>
          <p:nvPr/>
        </p:nvSpPr>
        <p:spPr bwMode="auto">
          <a:xfrm>
            <a:off x="303786" y="4332071"/>
            <a:ext cx="7958085" cy="67925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 lvl="1">
              <a:buFont typeface="Wingdings" pitchFamily="2" charset="2"/>
              <a:buNone/>
            </a:pPr>
            <a:r>
              <a:rPr lang="en-US" dirty="0" err="1"/>
              <a:t>lim</a:t>
            </a:r>
            <a:r>
              <a:rPr lang="en-US" i="1" dirty="0"/>
              <a:t> </a:t>
            </a:r>
            <a:r>
              <a:rPr lang="en-US" dirty="0">
                <a:sym typeface="Symbol" pitchFamily="18" charset="2"/>
              </a:rPr>
              <a:t>( </a:t>
            </a:r>
            <a:r>
              <a:rPr lang="en-US" dirty="0" err="1"/>
              <a:t>lg</a:t>
            </a:r>
            <a:r>
              <a:rPr lang="en-US" i="1" baseline="30000" dirty="0" err="1"/>
              <a:t>a</a:t>
            </a:r>
            <a:r>
              <a:rPr lang="en-US" baseline="30000" dirty="0"/>
              <a:t> </a:t>
            </a:r>
            <a:r>
              <a:rPr lang="en-US" i="1" dirty="0"/>
              <a:t>n</a:t>
            </a:r>
            <a:r>
              <a:rPr lang="en-US" dirty="0"/>
              <a:t> / </a:t>
            </a:r>
            <a:r>
              <a:rPr lang="en-US" i="1" dirty="0" err="1"/>
              <a:t>n</a:t>
            </a:r>
            <a:r>
              <a:rPr lang="en-US" i="1" baseline="30000" dirty="0" err="1"/>
              <a:t>b</a:t>
            </a:r>
            <a:r>
              <a:rPr lang="en-US" i="1" baseline="30000" dirty="0"/>
              <a:t> </a:t>
            </a:r>
            <a:r>
              <a:rPr lang="en-US" dirty="0"/>
              <a:t>) = 0 (here </a:t>
            </a:r>
            <a:r>
              <a:rPr lang="en-US" i="1" dirty="0"/>
              <a:t>a</a:t>
            </a:r>
            <a:r>
              <a:rPr lang="en-US" dirty="0"/>
              <a:t> = 2 and </a:t>
            </a:r>
            <a:r>
              <a:rPr lang="en-US" i="1" dirty="0"/>
              <a:t>b</a:t>
            </a:r>
            <a:r>
              <a:rPr lang="en-US" dirty="0"/>
              <a:t> = 1/2) </a:t>
            </a:r>
            <a:r>
              <a:rPr lang="en-US" dirty="0">
                <a:sym typeface="Symbol" pitchFamily="18" charset="2"/>
              </a:rPr>
              <a:t></a:t>
            </a:r>
            <a:r>
              <a:rPr lang="en-US" dirty="0"/>
              <a:t> A </a:t>
            </a:r>
            <a:r>
              <a:rPr lang="en-US" dirty="0">
                <a:sym typeface="Symbol" pitchFamily="18" charset="2"/>
              </a:rPr>
              <a:t></a:t>
            </a:r>
            <a:r>
              <a:rPr lang="en-US" dirty="0"/>
              <a:t> </a:t>
            </a:r>
            <a:r>
              <a:rPr lang="en-US" i="1" dirty="0">
                <a:latin typeface="Symbol" pitchFamily="18" charset="2"/>
                <a:sym typeface="Symbol" pitchFamily="18" charset="2"/>
              </a:rPr>
              <a:t>o </a:t>
            </a:r>
            <a:r>
              <a:rPr lang="en-US" dirty="0"/>
              <a:t>(B)</a:t>
            </a:r>
          </a:p>
          <a:p>
            <a:pPr lvl="1">
              <a:buFont typeface="Wingdings" pitchFamily="2" charset="2"/>
              <a:buNone/>
            </a:pPr>
            <a:r>
              <a:rPr lang="en-US" dirty="0"/>
              <a:t> </a:t>
            </a:r>
            <a:r>
              <a:rPr lang="en-US" sz="2000" i="1" baseline="60000" dirty="0"/>
              <a:t>n</a:t>
            </a:r>
            <a:r>
              <a:rPr lang="en-US" sz="2000" baseline="60000" dirty="0">
                <a:sym typeface="Symbol" pitchFamily="18" charset="2"/>
              </a:rPr>
              <a:t></a:t>
            </a:r>
            <a:endParaRPr lang="en-US" dirty="0"/>
          </a:p>
        </p:txBody>
      </p:sp>
      <p:sp>
        <p:nvSpPr>
          <p:cNvPr id="448528" name="Text Box 16"/>
          <p:cNvSpPr txBox="1">
            <a:spLocks noChangeArrowheads="1"/>
          </p:cNvSpPr>
          <p:nvPr/>
        </p:nvSpPr>
        <p:spPr bwMode="auto">
          <a:xfrm>
            <a:off x="6537325" y="1683544"/>
            <a:ext cx="104067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 dirty="0"/>
              <a:t>A </a:t>
            </a:r>
            <a:r>
              <a:rPr lang="en-US" b="1" dirty="0">
                <a:sym typeface="Symbol" pitchFamily="18" charset="2"/>
              </a:rPr>
              <a:t></a:t>
            </a:r>
            <a:r>
              <a:rPr lang="en-US" b="1" dirty="0"/>
              <a:t> </a:t>
            </a:r>
            <a:r>
              <a:rPr lang="en-US" b="1" dirty="0">
                <a:sym typeface="Symbol" pitchFamily="18" charset="2"/>
              </a:rPr>
              <a:t></a:t>
            </a:r>
            <a:r>
              <a:rPr lang="en-US" b="1" dirty="0"/>
              <a:t>(B)</a:t>
            </a:r>
          </a:p>
        </p:txBody>
      </p:sp>
      <p:sp>
        <p:nvSpPr>
          <p:cNvPr id="448529" name="Text Box 17"/>
          <p:cNvSpPr txBox="1">
            <a:spLocks noChangeArrowheads="1"/>
          </p:cNvSpPr>
          <p:nvPr/>
        </p:nvSpPr>
        <p:spPr bwMode="auto">
          <a:xfrm>
            <a:off x="6537325" y="2499122"/>
            <a:ext cx="1040670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/>
              <a:t>A </a:t>
            </a:r>
            <a:r>
              <a:rPr lang="en-US" b="1">
                <a:sym typeface="Symbol" pitchFamily="18" charset="2"/>
              </a:rPr>
              <a:t></a:t>
            </a:r>
            <a:r>
              <a:rPr lang="en-US" b="1"/>
              <a:t> </a:t>
            </a:r>
            <a:r>
              <a:rPr lang="en-US" b="1">
                <a:sym typeface="Symbol" pitchFamily="18" charset="2"/>
              </a:rPr>
              <a:t></a:t>
            </a:r>
            <a:r>
              <a:rPr lang="en-US" b="1"/>
              <a:t>(B)</a:t>
            </a:r>
          </a:p>
        </p:txBody>
      </p:sp>
      <p:sp>
        <p:nvSpPr>
          <p:cNvPr id="448530" name="Text Box 18"/>
          <p:cNvSpPr txBox="1">
            <a:spLocks noChangeArrowheads="1"/>
          </p:cNvSpPr>
          <p:nvPr/>
        </p:nvSpPr>
        <p:spPr bwMode="auto">
          <a:xfrm>
            <a:off x="6602415" y="3277791"/>
            <a:ext cx="1027845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/>
              <a:t>A </a:t>
            </a:r>
            <a:r>
              <a:rPr lang="en-US" b="1">
                <a:sym typeface="Symbol" pitchFamily="18" charset="2"/>
              </a:rPr>
              <a:t></a:t>
            </a:r>
            <a:r>
              <a:rPr lang="en-US" b="1"/>
              <a:t> </a:t>
            </a:r>
            <a:r>
              <a:rPr lang="en-US" b="1" i="1">
                <a:sym typeface="Symbol" pitchFamily="18" charset="2"/>
              </a:rPr>
              <a:t></a:t>
            </a:r>
            <a:r>
              <a:rPr lang="en-US" b="1"/>
              <a:t>(B)</a:t>
            </a:r>
          </a:p>
        </p:txBody>
      </p:sp>
      <p:sp>
        <p:nvSpPr>
          <p:cNvPr id="448531" name="Text Box 19"/>
          <p:cNvSpPr txBox="1">
            <a:spLocks noChangeArrowheads="1"/>
          </p:cNvSpPr>
          <p:nvPr/>
        </p:nvSpPr>
        <p:spPr bwMode="auto">
          <a:xfrm>
            <a:off x="6610351" y="4010025"/>
            <a:ext cx="1053494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b="1"/>
              <a:t>A </a:t>
            </a:r>
            <a:r>
              <a:rPr lang="en-US" b="1">
                <a:sym typeface="Symbol" pitchFamily="18" charset="2"/>
              </a:rPr>
              <a:t></a:t>
            </a:r>
            <a:r>
              <a:rPr lang="en-US" b="1"/>
              <a:t> </a:t>
            </a:r>
            <a:r>
              <a:rPr lang="en-US" b="1" i="1">
                <a:latin typeface="Symbol" pitchFamily="18" charset="2"/>
                <a:sym typeface="Symbol" pitchFamily="18" charset="2"/>
              </a:rPr>
              <a:t>o </a:t>
            </a:r>
            <a:r>
              <a:rPr lang="en-US" b="1"/>
              <a:t>(B)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20" grpId="0" autoUpdateAnimBg="0"/>
      <p:bldP spid="448522" grpId="0" autoUpdateAnimBg="0"/>
      <p:bldP spid="448524" grpId="0" autoUpdateAnimBg="0"/>
      <p:bldP spid="448527" grpId="0" autoUpdateAnimBg="0"/>
      <p:bldP spid="448528" grpId="0" autoUpdateAnimBg="0"/>
      <p:bldP spid="448529" grpId="0" autoUpdateAnimBg="0"/>
      <p:bldP spid="448530" grpId="0" autoUpdateAnimBg="0"/>
      <p:bldP spid="44853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24211"/>
            <a:ext cx="8229600" cy="857250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idx="1"/>
          </p:nvPr>
        </p:nvSpPr>
        <p:spPr>
          <a:xfrm>
            <a:off x="577056" y="2049190"/>
            <a:ext cx="7989888" cy="2907506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What constants for </a:t>
            </a:r>
            <a:r>
              <a:rPr lang="en-US" i="1" dirty="0"/>
              <a:t>n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, and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will work?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dirty="0"/>
              <a:t>10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i="1" dirty="0"/>
              <a:t> </a:t>
            </a:r>
            <a:r>
              <a:rPr lang="en-US" dirty="0"/>
              <a:t>-</a:t>
            </a:r>
            <a:r>
              <a:rPr lang="en-US" i="1" dirty="0"/>
              <a:t> </a:t>
            </a:r>
            <a:r>
              <a:rPr lang="en-US" dirty="0"/>
              <a:t>3</a:t>
            </a:r>
            <a:r>
              <a:rPr lang="en-US" i="1" dirty="0"/>
              <a:t>n =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Make </a:t>
            </a:r>
            <a:r>
              <a:rPr lang="en-US" i="1" dirty="0"/>
              <a:t>c</a:t>
            </a:r>
            <a:r>
              <a:rPr lang="en-US" baseline="-25000" dirty="0"/>
              <a:t>1</a:t>
            </a:r>
            <a:r>
              <a:rPr lang="en-US" dirty="0"/>
              <a:t> a little smaller than the leading coefficient, and </a:t>
            </a:r>
            <a:r>
              <a:rPr lang="en-US" i="1" dirty="0"/>
              <a:t>c</a:t>
            </a:r>
            <a:r>
              <a:rPr lang="en-US" baseline="-25000" dirty="0"/>
              <a:t>2</a:t>
            </a:r>
            <a:r>
              <a:rPr lang="en-US" dirty="0"/>
              <a:t> a little bigger.</a:t>
            </a:r>
          </a:p>
          <a:p>
            <a:pPr eaLnBrk="1" hangingPunct="1">
              <a:lnSpc>
                <a:spcPct val="90000"/>
              </a:lnSpc>
            </a:pPr>
            <a:r>
              <a:rPr lang="en-US" i="1" dirty="0"/>
              <a:t>To compare orders of growth, look at the leading term.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i="1" dirty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b="1" dirty="0"/>
              <a:t>Practice question: Prove that </a:t>
            </a:r>
            <a:r>
              <a:rPr lang="en-US" b="1" i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/2-3</a:t>
            </a:r>
            <a:r>
              <a:rPr lang="en-US" b="1" i="1" dirty="0"/>
              <a:t>n</a:t>
            </a:r>
            <a:r>
              <a:rPr lang="en-US" b="1" dirty="0"/>
              <a:t>= </a:t>
            </a:r>
            <a:r>
              <a:rPr lang="en-US" b="1" dirty="0">
                <a:latin typeface="Symbol" pitchFamily="18" charset="2"/>
              </a:rPr>
              <a:t>Q</a:t>
            </a:r>
            <a:r>
              <a:rPr lang="en-US" b="1" dirty="0"/>
              <a:t>(</a:t>
            </a:r>
            <a:r>
              <a:rPr lang="en-US" b="1" i="1" dirty="0"/>
              <a:t>n</a:t>
            </a:r>
            <a:r>
              <a:rPr lang="en-US" b="1" baseline="30000" dirty="0"/>
              <a:t>2</a:t>
            </a:r>
            <a:r>
              <a:rPr lang="en-US" b="1" dirty="0"/>
              <a:t>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i="1" dirty="0"/>
          </a:p>
        </p:txBody>
      </p:sp>
      <p:sp>
        <p:nvSpPr>
          <p:cNvPr id="26629" name="Rectangle 4"/>
          <p:cNvSpPr>
            <a:spLocks noChangeArrowheads="1"/>
          </p:cNvSpPr>
          <p:nvPr/>
        </p:nvSpPr>
        <p:spPr bwMode="auto">
          <a:xfrm>
            <a:off x="704851" y="835761"/>
            <a:ext cx="7567612" cy="1015663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2600">
                <a:sym typeface="Symbol" pitchFamily="18" charset="2"/>
              </a:rPr>
              <a:t></a:t>
            </a:r>
            <a:r>
              <a:rPr kumimoji="1" lang="en-US" sz="2600"/>
              <a:t>(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)) = </a:t>
            </a:r>
            <a:r>
              <a:rPr kumimoji="1" lang="en-US" sz="3000"/>
              <a:t>{</a:t>
            </a:r>
            <a:r>
              <a:rPr kumimoji="1" lang="en-US" sz="2600" i="1"/>
              <a:t>f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 : </a:t>
            </a:r>
            <a:r>
              <a:rPr kumimoji="1" lang="en-US" sz="2600">
                <a:sym typeface="Symbol" pitchFamily="18" charset="2"/>
              </a:rPr>
              <a:t> </a:t>
            </a:r>
            <a:r>
              <a:rPr kumimoji="1" lang="en-US" sz="2600"/>
              <a:t>positive constants </a:t>
            </a:r>
            <a:r>
              <a:rPr kumimoji="1" lang="en-US" sz="2600" i="1"/>
              <a:t>c</a:t>
            </a:r>
            <a:r>
              <a:rPr kumimoji="1" lang="en-US" sz="2600" baseline="-25000"/>
              <a:t>1</a:t>
            </a:r>
            <a:r>
              <a:rPr kumimoji="1" lang="en-US" sz="2600"/>
              <a:t>, </a:t>
            </a:r>
            <a:r>
              <a:rPr kumimoji="1" lang="en-US" sz="2600" i="1"/>
              <a:t>c</a:t>
            </a:r>
            <a:r>
              <a:rPr kumimoji="1" lang="en-US" sz="2600" baseline="-25000"/>
              <a:t>2</a:t>
            </a:r>
            <a:r>
              <a:rPr kumimoji="1" lang="en-US" sz="2600"/>
              <a:t>, and </a:t>
            </a:r>
            <a:r>
              <a:rPr kumimoji="1" lang="en-US" sz="2600" i="1"/>
              <a:t>n</a:t>
            </a:r>
            <a:r>
              <a:rPr kumimoji="1" lang="en-US" sz="2600" baseline="-25000"/>
              <a:t>0</a:t>
            </a:r>
            <a:r>
              <a:rPr kumimoji="1" lang="en-US" sz="2600"/>
              <a:t>, such that </a:t>
            </a:r>
            <a:r>
              <a:rPr kumimoji="1" lang="en-US" sz="2600">
                <a:sym typeface="Symbol" pitchFamily="18" charset="2"/>
              </a:rPr>
              <a:t></a:t>
            </a:r>
            <a:r>
              <a:rPr kumimoji="1" lang="en-US" sz="2600" i="1"/>
              <a:t>n </a:t>
            </a:r>
            <a:r>
              <a:rPr kumimoji="1" lang="en-US" sz="2600">
                <a:sym typeface="Symbol" pitchFamily="18" charset="2"/>
              </a:rPr>
              <a:t></a:t>
            </a:r>
            <a:r>
              <a:rPr kumimoji="1" lang="en-US" sz="2600" i="1"/>
              <a:t>  n</a:t>
            </a:r>
            <a:r>
              <a:rPr kumimoji="1" lang="en-US" sz="2600" baseline="-25000"/>
              <a:t>0</a:t>
            </a:r>
            <a:r>
              <a:rPr kumimoji="1" lang="en-US" sz="2600"/>
              <a:t>,    0 </a:t>
            </a:r>
            <a:r>
              <a:rPr kumimoji="1" lang="en-US" sz="2600">
                <a:sym typeface="Symbol" pitchFamily="18" charset="2"/>
              </a:rPr>
              <a:t></a:t>
            </a:r>
            <a:r>
              <a:rPr kumimoji="1" lang="en-US" sz="2600"/>
              <a:t> </a:t>
            </a:r>
            <a:r>
              <a:rPr kumimoji="1" lang="en-US" sz="2600" i="1"/>
              <a:t>c</a:t>
            </a:r>
            <a:r>
              <a:rPr kumimoji="1" lang="en-US" sz="2600" baseline="-25000"/>
              <a:t>1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 </a:t>
            </a:r>
            <a:r>
              <a:rPr kumimoji="1" lang="en-US" sz="2600">
                <a:sym typeface="Symbol" pitchFamily="18" charset="2"/>
              </a:rPr>
              <a:t> </a:t>
            </a:r>
            <a:r>
              <a:rPr kumimoji="1" lang="en-US" sz="2600"/>
              <a:t> </a:t>
            </a:r>
            <a:r>
              <a:rPr kumimoji="1" lang="en-US" sz="2600" i="1"/>
              <a:t>f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</a:t>
            </a:r>
            <a:r>
              <a:rPr kumimoji="1" lang="en-US" sz="2600" i="1"/>
              <a:t> </a:t>
            </a:r>
            <a:r>
              <a:rPr kumimoji="1" lang="en-US" sz="2600">
                <a:sym typeface="Symbol" pitchFamily="18" charset="2"/>
              </a:rPr>
              <a:t></a:t>
            </a:r>
            <a:r>
              <a:rPr kumimoji="1" lang="en-US" sz="2600"/>
              <a:t> c</a:t>
            </a:r>
            <a:r>
              <a:rPr kumimoji="1" lang="en-US" sz="2600" baseline="-25000"/>
              <a:t>2</a:t>
            </a:r>
            <a:r>
              <a:rPr kumimoji="1" lang="en-US" sz="2600" i="1"/>
              <a:t>g</a:t>
            </a:r>
            <a:r>
              <a:rPr kumimoji="1" lang="en-US" sz="2600"/>
              <a:t>(</a:t>
            </a:r>
            <a:r>
              <a:rPr kumimoji="1" lang="en-US" sz="2600" i="1"/>
              <a:t>n</a:t>
            </a:r>
            <a:r>
              <a:rPr kumimoji="1" lang="en-US" sz="2600"/>
              <a:t>)</a:t>
            </a:r>
            <a:r>
              <a:rPr kumimoji="1" lang="en-US" sz="300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14953"/>
            <a:ext cx="7899216" cy="5565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479235" name="Rectangle 3"/>
          <p:cNvSpPr>
            <a:spLocks noGrp="1" noChangeArrowheads="1"/>
          </p:cNvSpPr>
          <p:nvPr>
            <p:ph idx="1"/>
          </p:nvPr>
        </p:nvSpPr>
        <p:spPr>
          <a:xfrm>
            <a:off x="704851" y="1851422"/>
            <a:ext cx="7989888" cy="265152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Is 3</a:t>
            </a:r>
            <a:r>
              <a:rPr lang="en-US" i="1" dirty="0"/>
              <a:t>n</a:t>
            </a:r>
            <a:r>
              <a:rPr lang="en-US" baseline="30000" dirty="0"/>
              <a:t>3 </a:t>
            </a:r>
            <a:r>
              <a:rPr lang="en-US" dirty="0">
                <a:sym typeface="Symbol" pitchFamily="18" charset="2"/>
              </a:rPr>
              <a:t></a:t>
            </a:r>
            <a:r>
              <a:rPr lang="en-US" dirty="0"/>
              <a:t>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4</a:t>
            </a:r>
            <a:r>
              <a:rPr lang="en-US" dirty="0"/>
              <a:t>) ??</a:t>
            </a:r>
          </a:p>
          <a:p>
            <a:pPr eaLnBrk="1" hangingPunct="1"/>
            <a:r>
              <a:rPr lang="en-US" dirty="0"/>
              <a:t>How about 2</a:t>
            </a:r>
            <a:r>
              <a:rPr lang="en-US" baseline="30000" dirty="0"/>
              <a:t>2</a:t>
            </a:r>
            <a:r>
              <a:rPr lang="en-US" i="1" baseline="30000" dirty="0"/>
              <a:t>n</a:t>
            </a:r>
            <a:r>
              <a:rPr lang="en-US" dirty="0">
                <a:sym typeface="Symbol" pitchFamily="18" charset="2"/>
              </a:rPr>
              <a:t>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(2</a:t>
            </a:r>
            <a:r>
              <a:rPr lang="en-US" i="1" baseline="30000" dirty="0"/>
              <a:t>n</a:t>
            </a:r>
            <a:r>
              <a:rPr lang="en-US" dirty="0"/>
              <a:t>)??</a:t>
            </a:r>
          </a:p>
          <a:p>
            <a:pPr marL="0" indent="0" eaLnBrk="1" hangingPunct="1">
              <a:buNone/>
            </a:pPr>
            <a:endParaRPr lang="en-US" dirty="0"/>
          </a:p>
          <a:p>
            <a:pPr marL="0" indent="0" eaLnBrk="1" hangingPunct="1">
              <a:buNone/>
            </a:pPr>
            <a:r>
              <a:rPr lang="en-US" sz="3000" i="1" dirty="0"/>
              <a:t>Note: The above questions can be solved by taking  c1 and c2 values.</a:t>
            </a:r>
          </a:p>
          <a:p>
            <a:pPr eaLnBrk="1" hangingPunct="1">
              <a:buFont typeface="Wingdings" pitchFamily="2" charset="2"/>
              <a:buNone/>
            </a:pPr>
            <a:endParaRPr lang="en-US" i="1" dirty="0"/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467544" y="835759"/>
            <a:ext cx="7567612" cy="1015663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2600" dirty="0">
                <a:sym typeface="Symbol" pitchFamily="18" charset="2"/>
              </a:rPr>
              <a:t></a:t>
            </a:r>
            <a:r>
              <a:rPr kumimoji="1" lang="en-US" sz="2600" dirty="0"/>
              <a:t>(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)) = </a:t>
            </a:r>
            <a:r>
              <a:rPr kumimoji="1" lang="en-US" sz="3000" dirty="0"/>
              <a:t>{</a:t>
            </a:r>
            <a:r>
              <a:rPr kumimoji="1" lang="en-US" sz="2600" i="1" dirty="0"/>
              <a:t>f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 : </a:t>
            </a:r>
            <a:r>
              <a:rPr kumimoji="1" lang="en-US" sz="2600" dirty="0">
                <a:sym typeface="Symbol" pitchFamily="18" charset="2"/>
              </a:rPr>
              <a:t> </a:t>
            </a:r>
            <a:r>
              <a:rPr kumimoji="1" lang="en-US" sz="2600" dirty="0"/>
              <a:t>positive constants </a:t>
            </a:r>
            <a:r>
              <a:rPr kumimoji="1" lang="en-US" sz="2600" i="1" dirty="0"/>
              <a:t>c</a:t>
            </a:r>
            <a:r>
              <a:rPr kumimoji="1" lang="en-US" sz="2600" baseline="-25000" dirty="0"/>
              <a:t>1</a:t>
            </a:r>
            <a:r>
              <a:rPr kumimoji="1" lang="en-US" sz="2600" dirty="0"/>
              <a:t>, </a:t>
            </a:r>
            <a:r>
              <a:rPr kumimoji="1" lang="en-US" sz="2600" i="1" dirty="0"/>
              <a:t>c</a:t>
            </a:r>
            <a:r>
              <a:rPr kumimoji="1" lang="en-US" sz="2600" baseline="-25000" dirty="0"/>
              <a:t>2</a:t>
            </a:r>
            <a:r>
              <a:rPr kumimoji="1" lang="en-US" sz="2600" dirty="0"/>
              <a:t>, and </a:t>
            </a:r>
            <a:r>
              <a:rPr kumimoji="1" lang="en-US" sz="2600" i="1" dirty="0"/>
              <a:t>n</a:t>
            </a:r>
            <a:r>
              <a:rPr kumimoji="1" lang="en-US" sz="2600" baseline="-25000" dirty="0"/>
              <a:t>0</a:t>
            </a:r>
            <a:r>
              <a:rPr kumimoji="1" lang="en-US" sz="2600" dirty="0"/>
              <a:t>, such that </a:t>
            </a:r>
            <a:r>
              <a:rPr kumimoji="1" lang="en-US" sz="2600" dirty="0">
                <a:sym typeface="Symbol" pitchFamily="18" charset="2"/>
              </a:rPr>
              <a:t></a:t>
            </a:r>
            <a:r>
              <a:rPr kumimoji="1" lang="en-US" sz="2600" i="1" dirty="0"/>
              <a:t>n </a:t>
            </a:r>
            <a:r>
              <a:rPr kumimoji="1" lang="en-US" sz="2600" dirty="0">
                <a:sym typeface="Symbol" pitchFamily="18" charset="2"/>
              </a:rPr>
              <a:t></a:t>
            </a:r>
            <a:r>
              <a:rPr kumimoji="1" lang="en-US" sz="2600" i="1" dirty="0"/>
              <a:t>  n</a:t>
            </a:r>
            <a:r>
              <a:rPr kumimoji="1" lang="en-US" sz="2600" baseline="-25000" dirty="0"/>
              <a:t>0</a:t>
            </a:r>
            <a:r>
              <a:rPr kumimoji="1" lang="en-US" sz="2600" dirty="0"/>
              <a:t>,    0 </a:t>
            </a:r>
            <a:r>
              <a:rPr kumimoji="1" lang="en-US" sz="2600" dirty="0">
                <a:sym typeface="Symbol" pitchFamily="18" charset="2"/>
              </a:rPr>
              <a:t></a:t>
            </a:r>
            <a:r>
              <a:rPr kumimoji="1" lang="en-US" sz="2600" dirty="0"/>
              <a:t> </a:t>
            </a:r>
            <a:r>
              <a:rPr kumimoji="1" lang="en-US" sz="2600" i="1" dirty="0"/>
              <a:t>c</a:t>
            </a:r>
            <a:r>
              <a:rPr kumimoji="1" lang="en-US" sz="2600" baseline="-25000" dirty="0"/>
              <a:t>1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 </a:t>
            </a:r>
            <a:r>
              <a:rPr kumimoji="1" lang="en-US" sz="2600" dirty="0">
                <a:sym typeface="Symbol" pitchFamily="18" charset="2"/>
              </a:rPr>
              <a:t> </a:t>
            </a:r>
            <a:r>
              <a:rPr kumimoji="1" lang="en-US" sz="2600" dirty="0"/>
              <a:t> </a:t>
            </a:r>
            <a:r>
              <a:rPr kumimoji="1" lang="en-US" sz="2600" i="1" dirty="0"/>
              <a:t>f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</a:t>
            </a:r>
            <a:r>
              <a:rPr kumimoji="1" lang="en-US" sz="2600" i="1" dirty="0"/>
              <a:t> </a:t>
            </a:r>
            <a:r>
              <a:rPr kumimoji="1" lang="en-US" sz="2600" dirty="0">
                <a:sym typeface="Symbol" pitchFamily="18" charset="2"/>
              </a:rPr>
              <a:t></a:t>
            </a:r>
            <a:r>
              <a:rPr kumimoji="1" lang="en-US" sz="2600" dirty="0"/>
              <a:t> c</a:t>
            </a:r>
            <a:r>
              <a:rPr kumimoji="1" lang="en-US" sz="2600" baseline="-25000" dirty="0"/>
              <a:t>2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</a:t>
            </a:r>
            <a:r>
              <a:rPr kumimoji="1" lang="en-US" sz="3000" dirty="0"/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9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23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382923"/>
            <a:ext cx="8229600" cy="857250"/>
          </a:xfrm>
        </p:spPr>
        <p:txBody>
          <a:bodyPr/>
          <a:lstStyle/>
          <a:p>
            <a:pPr eaLnBrk="1" hangingPunct="1"/>
            <a:r>
              <a:rPr lang="en-US" i="1" dirty="0">
                <a:sym typeface="Symbol" pitchFamily="18" charset="2"/>
              </a:rPr>
              <a:t>O</a:t>
            </a:r>
            <a:r>
              <a:rPr lang="en-US" dirty="0">
                <a:sym typeface="Symbol" pitchFamily="18" charset="2"/>
              </a:rPr>
              <a:t>-notation</a:t>
            </a:r>
          </a:p>
        </p:txBody>
      </p:sp>
      <p:pic>
        <p:nvPicPr>
          <p:cNvPr id="28675" name="Picture 8" descr="graph_O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5738747" y="1524298"/>
            <a:ext cx="3030405" cy="2285084"/>
          </a:xfrm>
          <a:noFill/>
        </p:spPr>
      </p:pic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250826" y="1465661"/>
            <a:ext cx="5197475" cy="1895904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b="1" i="1" dirty="0">
                <a:solidFill>
                  <a:schemeClr val="accent1"/>
                </a:solidFill>
                <a:sym typeface="Symbol" pitchFamily="18" charset="2"/>
              </a:rPr>
              <a:t>O</a:t>
            </a:r>
            <a:r>
              <a:rPr kumimoji="1" 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 : </a:t>
            </a:r>
            <a:br>
              <a:rPr kumimoji="1" lang="en-US" sz="2600" b="1" dirty="0">
                <a:solidFill>
                  <a:schemeClr val="hlink"/>
                </a:solidFill>
              </a:rPr>
            </a:br>
            <a:r>
              <a:rPr kumimoji="1" lang="en-US" sz="2600" b="1" dirty="0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sz="2600" b="1" dirty="0">
                <a:solidFill>
                  <a:srgbClr val="FF3300"/>
                </a:solidFill>
              </a:rPr>
              <a:t> and </a:t>
            </a:r>
            <a:r>
              <a:rPr kumimoji="1" 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b="1" dirty="0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b="1" i="1" dirty="0">
                <a:solidFill>
                  <a:srgbClr val="CC0000"/>
                </a:solidFill>
              </a:rPr>
              <a:t>n </a:t>
            </a:r>
            <a:r>
              <a:rPr kumimoji="1" lang="en-US" b="1" dirty="0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b="1" i="1" dirty="0">
                <a:solidFill>
                  <a:srgbClr val="CC0000"/>
                </a:solidFill>
              </a:rPr>
              <a:t>  n</a:t>
            </a:r>
            <a:r>
              <a:rPr kumimoji="1" lang="en-US" b="1" baseline="-25000" dirty="0">
                <a:solidFill>
                  <a:srgbClr val="CC0000"/>
                </a:solidFill>
              </a:rPr>
              <a:t>0</a:t>
            </a:r>
            <a:r>
              <a:rPr kumimoji="1" lang="en-US" dirty="0">
                <a:solidFill>
                  <a:srgbClr val="CC0000"/>
                </a:solidFill>
              </a:rPr>
              <a:t>,</a:t>
            </a:r>
            <a:endParaRPr kumimoji="1" lang="en-US" sz="2600" b="1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b="1" dirty="0">
                <a:solidFill>
                  <a:schemeClr val="hlink"/>
                </a:solidFill>
              </a:rPr>
              <a:t>we have</a:t>
            </a:r>
            <a:r>
              <a:rPr kumimoji="1" 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sz="2600" b="1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 dirty="0">
                <a:solidFill>
                  <a:schemeClr val="hlink"/>
                </a:solidFill>
              </a:rPr>
              <a:t>  </a:t>
            </a:r>
            <a:r>
              <a:rPr kumimoji="1" 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</a:t>
            </a:r>
            <a:r>
              <a:rPr kumimoji="1" lang="en-US" sz="2600" b="1" i="1" dirty="0">
                <a:solidFill>
                  <a:schemeClr val="hlink"/>
                </a:solidFill>
              </a:rPr>
              <a:t> </a:t>
            </a:r>
            <a:r>
              <a:rPr kumimoji="1" lang="en-US" sz="2600" b="1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 dirty="0">
                <a:solidFill>
                  <a:schemeClr val="hlink"/>
                </a:solidFill>
              </a:rPr>
              <a:t> c</a:t>
            </a:r>
            <a:r>
              <a:rPr kumimoji="1" lang="en-US" sz="2600" b="1" i="1" dirty="0">
                <a:solidFill>
                  <a:schemeClr val="hlink"/>
                </a:solidFill>
              </a:rPr>
              <a:t>g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 </a:t>
            </a:r>
            <a:r>
              <a:rPr kumimoji="1" 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266173" y="416065"/>
            <a:ext cx="5197475" cy="892552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dirty="0"/>
              <a:t>For function 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), we define </a:t>
            </a:r>
            <a:r>
              <a:rPr kumimoji="1" lang="en-US" sz="2600" i="1" dirty="0">
                <a:sym typeface="Symbol" pitchFamily="18" charset="2"/>
              </a:rPr>
              <a:t>O</a:t>
            </a:r>
            <a:r>
              <a:rPr kumimoji="1" lang="en-US" sz="2600" dirty="0"/>
              <a:t>(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)), big-O of </a:t>
            </a:r>
            <a:r>
              <a:rPr kumimoji="1" lang="en-US" sz="2600" i="1" dirty="0"/>
              <a:t>n</a:t>
            </a:r>
            <a:r>
              <a:rPr kumimoji="1" lang="en-US" sz="2600" dirty="0"/>
              <a:t>, as the set:</a:t>
            </a:r>
          </a:p>
        </p:txBody>
      </p:sp>
      <p:sp>
        <p:nvSpPr>
          <p:cNvPr id="28679" name="Rectangle 10"/>
          <p:cNvSpPr>
            <a:spLocks noChangeArrowheads="1"/>
          </p:cNvSpPr>
          <p:nvPr/>
        </p:nvSpPr>
        <p:spPr bwMode="auto">
          <a:xfrm>
            <a:off x="244010" y="4010973"/>
            <a:ext cx="6028638" cy="492443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en-US" sz="2600" b="1" i="1" dirty="0"/>
              <a:t>g</a:t>
            </a:r>
            <a:r>
              <a:rPr kumimoji="1" lang="en-US" sz="2600" b="1" dirty="0"/>
              <a:t>(</a:t>
            </a:r>
            <a:r>
              <a:rPr kumimoji="1" lang="en-US" sz="2600" b="1" i="1" dirty="0"/>
              <a:t>n</a:t>
            </a:r>
            <a:r>
              <a:rPr kumimoji="1" lang="en-US" sz="2600" b="1" dirty="0"/>
              <a:t>) is an </a:t>
            </a:r>
            <a:r>
              <a:rPr kumimoji="1" lang="en-US" sz="2600" b="1" i="1" dirty="0">
                <a:solidFill>
                  <a:srgbClr val="CC0000"/>
                </a:solidFill>
              </a:rPr>
              <a:t>asymptotic upper bound</a:t>
            </a:r>
            <a:r>
              <a:rPr kumimoji="1" lang="en-US" sz="2600" b="1" dirty="0"/>
              <a:t> for </a:t>
            </a:r>
            <a:r>
              <a:rPr kumimoji="1" lang="en-US" sz="2600" b="1" i="1" dirty="0"/>
              <a:t>f</a:t>
            </a:r>
            <a:r>
              <a:rPr kumimoji="1" lang="en-US" sz="2600" b="1" dirty="0"/>
              <a:t>(</a:t>
            </a:r>
            <a:r>
              <a:rPr kumimoji="1" lang="en-US" sz="2600" b="1" i="1" dirty="0"/>
              <a:t>n</a:t>
            </a:r>
            <a:r>
              <a:rPr kumimoji="1" lang="en-US" sz="2600" b="1" dirty="0"/>
              <a:t>).</a:t>
            </a:r>
          </a:p>
        </p:txBody>
      </p:sp>
      <p:sp>
        <p:nvSpPr>
          <p:cNvPr id="28680" name="Text Box 11"/>
          <p:cNvSpPr txBox="1">
            <a:spLocks noChangeArrowheads="1"/>
          </p:cNvSpPr>
          <p:nvPr/>
        </p:nvSpPr>
        <p:spPr bwMode="auto">
          <a:xfrm>
            <a:off x="244010" y="3435846"/>
            <a:ext cx="4870451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b="1" i="1" dirty="0"/>
              <a:t>Intuitively</a:t>
            </a:r>
            <a:r>
              <a:rPr lang="en-US" dirty="0"/>
              <a:t>: Set of all functions whose </a:t>
            </a:r>
            <a:r>
              <a:rPr lang="en-US" i="1" dirty="0"/>
              <a:t>rate of growth</a:t>
            </a:r>
            <a:r>
              <a:rPr lang="en-US" dirty="0"/>
              <a:t> is the same as or lower than that of 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).</a:t>
            </a:r>
          </a:p>
        </p:txBody>
      </p:sp>
      <p:sp>
        <p:nvSpPr>
          <p:cNvPr id="28681" name="Text Box 12"/>
          <p:cNvSpPr txBox="1">
            <a:spLocks noChangeArrowheads="1"/>
          </p:cNvSpPr>
          <p:nvPr/>
        </p:nvSpPr>
        <p:spPr bwMode="auto">
          <a:xfrm>
            <a:off x="467544" y="4332397"/>
            <a:ext cx="4549775" cy="646331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b="1" i="1" dirty="0">
                <a:solidFill>
                  <a:schemeClr val="hlink"/>
                </a:solidFill>
              </a:rPr>
              <a:t>f</a:t>
            </a:r>
            <a:r>
              <a:rPr lang="en-US" b="1" dirty="0">
                <a:solidFill>
                  <a:schemeClr val="hlink"/>
                </a:solidFill>
              </a:rPr>
              <a:t>(</a:t>
            </a:r>
            <a:r>
              <a:rPr lang="en-US" b="1" i="1" dirty="0">
                <a:solidFill>
                  <a:schemeClr val="hlink"/>
                </a:solidFill>
              </a:rPr>
              <a:t>n</a:t>
            </a:r>
            <a:r>
              <a:rPr lang="en-US" b="1" dirty="0">
                <a:solidFill>
                  <a:schemeClr val="hlink"/>
                </a:solidFill>
              </a:rPr>
              <a:t>) = 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(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))  </a:t>
            </a:r>
            <a:r>
              <a:rPr lang="en-US" b="1" i="1" dirty="0">
                <a:solidFill>
                  <a:schemeClr val="hlink"/>
                </a:solidFill>
              </a:rPr>
              <a:t>f</a:t>
            </a:r>
            <a:r>
              <a:rPr lang="en-US" b="1" dirty="0">
                <a:solidFill>
                  <a:schemeClr val="hlink"/>
                </a:solidFill>
              </a:rPr>
              <a:t>(</a:t>
            </a:r>
            <a:r>
              <a:rPr lang="en-US" b="1" i="1" dirty="0">
                <a:solidFill>
                  <a:schemeClr val="hlink"/>
                </a:solidFill>
              </a:rPr>
              <a:t>n</a:t>
            </a:r>
            <a:r>
              <a:rPr lang="en-US" b="1" dirty="0">
                <a:solidFill>
                  <a:schemeClr val="hlink"/>
                </a:solidFill>
              </a:rPr>
              <a:t>) = 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O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)).</a:t>
            </a:r>
          </a:p>
          <a:p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(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))   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O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g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(</a:t>
            </a:r>
            <a:r>
              <a:rPr lang="en-US" b="1" i="1" dirty="0">
                <a:solidFill>
                  <a:schemeClr val="hlink"/>
                </a:solidFill>
                <a:sym typeface="Symbol" pitchFamily="18" charset="2"/>
              </a:rPr>
              <a:t>n</a:t>
            </a:r>
            <a:r>
              <a:rPr lang="en-US" b="1" dirty="0">
                <a:solidFill>
                  <a:schemeClr val="hlink"/>
                </a:solidFill>
                <a:sym typeface="Symbol" pitchFamily="18" charset="2"/>
              </a:rPr>
              <a:t>)).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214953"/>
            <a:ext cx="7543800" cy="55659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sym typeface="Symbol" pitchFamily="18" charset="2"/>
              </a:rPr>
              <a:t>Examples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2499742"/>
            <a:ext cx="8458200" cy="1186903"/>
          </a:xfrm>
        </p:spPr>
        <p:txBody>
          <a:bodyPr/>
          <a:lstStyle/>
          <a:p>
            <a:pPr eaLnBrk="1" hangingPunct="1"/>
            <a:r>
              <a:rPr lang="en-US" dirty="0"/>
              <a:t>Any linear </a:t>
            </a:r>
            <a:r>
              <a:rPr lang="en-US" i="1" dirty="0"/>
              <a:t>function</a:t>
            </a:r>
            <a:r>
              <a:rPr lang="en-US" dirty="0"/>
              <a:t> </a:t>
            </a:r>
            <a:r>
              <a:rPr lang="en-US" i="1" dirty="0"/>
              <a:t>an</a:t>
            </a:r>
            <a:r>
              <a:rPr lang="en-US" dirty="0"/>
              <a:t> + </a:t>
            </a:r>
            <a:r>
              <a:rPr lang="en-US" i="1" dirty="0"/>
              <a:t>b</a:t>
            </a:r>
            <a:r>
              <a:rPr lang="en-US" dirty="0"/>
              <a:t> is in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). </a:t>
            </a:r>
            <a:r>
              <a:rPr lang="en-US" b="1" u="sng" dirty="0">
                <a:solidFill>
                  <a:srgbClr val="CC0000"/>
                </a:solidFill>
              </a:rPr>
              <a:t>How?</a:t>
            </a:r>
            <a:endParaRPr lang="en-US" u="sng" dirty="0">
              <a:solidFill>
                <a:srgbClr val="CC0000"/>
              </a:solidFill>
            </a:endParaRPr>
          </a:p>
          <a:p>
            <a:pPr eaLnBrk="1" hangingPunct="1"/>
            <a:r>
              <a:rPr lang="en-US" dirty="0"/>
              <a:t>Show that 3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=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4</a:t>
            </a:r>
            <a:r>
              <a:rPr lang="en-US" dirty="0"/>
              <a:t>) for appropriate </a:t>
            </a:r>
            <a:r>
              <a:rPr lang="en-US" i="1" dirty="0"/>
              <a:t>c </a:t>
            </a:r>
            <a:r>
              <a:rPr lang="en-US" dirty="0"/>
              <a:t>and </a:t>
            </a:r>
            <a:r>
              <a:rPr lang="en-US" i="1" dirty="0"/>
              <a:t>n</a:t>
            </a:r>
            <a:r>
              <a:rPr lang="en-US" baseline="-25000" dirty="0"/>
              <a:t>0</a:t>
            </a:r>
            <a:r>
              <a:rPr lang="en-US" dirty="0"/>
              <a:t>.</a:t>
            </a:r>
          </a:p>
          <a:p>
            <a:pPr eaLnBrk="1" hangingPunct="1"/>
            <a:endParaRPr lang="en-US" dirty="0"/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467544" y="1303021"/>
            <a:ext cx="7645400" cy="954107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2800" b="1" i="1" dirty="0">
                <a:solidFill>
                  <a:schemeClr val="accent1"/>
                </a:solidFill>
                <a:sym typeface="Symbol" pitchFamily="18" charset="2"/>
              </a:rPr>
              <a:t>O</a:t>
            </a:r>
            <a:r>
              <a:rPr kumimoji="1" lang="en-US" sz="2800" b="1" dirty="0">
                <a:solidFill>
                  <a:schemeClr val="accent1"/>
                </a:solidFill>
              </a:rPr>
              <a:t>(</a:t>
            </a:r>
            <a:r>
              <a:rPr kumimoji="1" lang="en-US" sz="2800" b="1" i="1" dirty="0">
                <a:solidFill>
                  <a:schemeClr val="accent1"/>
                </a:solidFill>
              </a:rPr>
              <a:t>g</a:t>
            </a:r>
            <a:r>
              <a:rPr kumimoji="1" lang="en-US" sz="2800" b="1" dirty="0">
                <a:solidFill>
                  <a:schemeClr val="accent1"/>
                </a:solidFill>
              </a:rPr>
              <a:t>(</a:t>
            </a:r>
            <a:r>
              <a:rPr kumimoji="1" lang="en-US" sz="2800" b="1" i="1" dirty="0">
                <a:solidFill>
                  <a:schemeClr val="accent1"/>
                </a:solidFill>
              </a:rPr>
              <a:t>n</a:t>
            </a:r>
            <a:r>
              <a:rPr kumimoji="1" lang="en-US" sz="2800" b="1" dirty="0">
                <a:solidFill>
                  <a:schemeClr val="accent1"/>
                </a:solidFill>
              </a:rPr>
              <a:t>)) =</a:t>
            </a:r>
            <a:r>
              <a:rPr kumimoji="1" lang="en-US" sz="2800" b="1" dirty="0">
                <a:solidFill>
                  <a:schemeClr val="hlink"/>
                </a:solidFill>
              </a:rPr>
              <a:t> {</a:t>
            </a:r>
            <a:r>
              <a:rPr kumimoji="1" lang="en-US" sz="2800" b="1" i="1" dirty="0">
                <a:solidFill>
                  <a:schemeClr val="hlink"/>
                </a:solidFill>
              </a:rPr>
              <a:t>f</a:t>
            </a:r>
            <a:r>
              <a:rPr kumimoji="1" lang="en-US" sz="2800" b="1" dirty="0">
                <a:solidFill>
                  <a:schemeClr val="hlink"/>
                </a:solidFill>
              </a:rPr>
              <a:t>(</a:t>
            </a:r>
            <a:r>
              <a:rPr kumimoji="1" lang="en-US" sz="2800" b="1" i="1" dirty="0">
                <a:solidFill>
                  <a:schemeClr val="hlink"/>
                </a:solidFill>
              </a:rPr>
              <a:t>n</a:t>
            </a:r>
            <a:r>
              <a:rPr kumimoji="1" lang="en-US" sz="2800" b="1" dirty="0">
                <a:solidFill>
                  <a:schemeClr val="hlink"/>
                </a:solidFill>
              </a:rPr>
              <a:t>) : </a:t>
            </a:r>
            <a:r>
              <a:rPr kumimoji="1" lang="en-US" sz="2800" b="1" dirty="0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800" b="1" dirty="0">
                <a:solidFill>
                  <a:srgbClr val="FF3300"/>
                </a:solidFill>
              </a:rPr>
              <a:t>positive constants </a:t>
            </a:r>
            <a:r>
              <a:rPr kumimoji="1" lang="en-US" sz="2800" b="1" i="1" dirty="0">
                <a:solidFill>
                  <a:srgbClr val="FF3300"/>
                </a:solidFill>
              </a:rPr>
              <a:t>c</a:t>
            </a:r>
            <a:r>
              <a:rPr kumimoji="1" lang="en-US" sz="2800" b="1" dirty="0">
                <a:solidFill>
                  <a:srgbClr val="FF3300"/>
                </a:solidFill>
              </a:rPr>
              <a:t> and </a:t>
            </a:r>
            <a:r>
              <a:rPr kumimoji="1" lang="en-US" sz="2800" b="1" i="1" dirty="0">
                <a:solidFill>
                  <a:srgbClr val="FF3300"/>
                </a:solidFill>
              </a:rPr>
              <a:t>n</a:t>
            </a:r>
            <a:r>
              <a:rPr kumimoji="1" lang="en-US" sz="2800" b="1" baseline="-25000" dirty="0">
                <a:solidFill>
                  <a:srgbClr val="FF3300"/>
                </a:solidFill>
              </a:rPr>
              <a:t>0</a:t>
            </a:r>
            <a:r>
              <a:rPr kumimoji="1" lang="en-US" sz="2800" b="1" dirty="0">
                <a:solidFill>
                  <a:srgbClr val="FF3300"/>
                </a:solidFill>
              </a:rPr>
              <a:t>,</a:t>
            </a:r>
            <a:r>
              <a:rPr kumimoji="1" lang="en-US" sz="2800" b="1" dirty="0">
                <a:solidFill>
                  <a:schemeClr val="hlink"/>
                </a:solidFill>
              </a:rPr>
              <a:t> </a:t>
            </a:r>
            <a:r>
              <a:rPr kumimoji="1" lang="en-US" sz="2800" b="1" dirty="0">
                <a:solidFill>
                  <a:srgbClr val="CC0000"/>
                </a:solidFill>
              </a:rPr>
              <a:t>such that </a:t>
            </a:r>
            <a:r>
              <a:rPr kumimoji="1" lang="en-US" sz="2800" b="1" dirty="0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sz="2800" b="1" i="1" dirty="0">
                <a:solidFill>
                  <a:srgbClr val="CC0000"/>
                </a:solidFill>
              </a:rPr>
              <a:t>n </a:t>
            </a:r>
            <a:r>
              <a:rPr kumimoji="1" lang="en-US" sz="2800" b="1" dirty="0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sz="2800" b="1" i="1" dirty="0">
                <a:solidFill>
                  <a:srgbClr val="CC0000"/>
                </a:solidFill>
              </a:rPr>
              <a:t>  n</a:t>
            </a:r>
            <a:r>
              <a:rPr kumimoji="1" lang="en-US" sz="2800" b="1" baseline="-25000" dirty="0">
                <a:solidFill>
                  <a:srgbClr val="CC0000"/>
                </a:solidFill>
              </a:rPr>
              <a:t>0</a:t>
            </a:r>
            <a:r>
              <a:rPr kumimoji="1" lang="en-US" sz="2800" dirty="0">
                <a:solidFill>
                  <a:srgbClr val="CC0000"/>
                </a:solidFill>
              </a:rPr>
              <a:t>, </a:t>
            </a:r>
            <a:r>
              <a:rPr kumimoji="1" lang="en-US" sz="2800" b="1" dirty="0">
                <a:solidFill>
                  <a:schemeClr val="hlink"/>
                </a:solidFill>
              </a:rPr>
              <a:t>we have 0 </a:t>
            </a:r>
            <a:r>
              <a:rPr kumimoji="1" lang="en-US" sz="2800" b="1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800" b="1" dirty="0">
                <a:solidFill>
                  <a:schemeClr val="hlink"/>
                </a:solidFill>
              </a:rPr>
              <a:t>  </a:t>
            </a:r>
            <a:r>
              <a:rPr kumimoji="1" lang="en-US" sz="2800" b="1" i="1" dirty="0">
                <a:solidFill>
                  <a:schemeClr val="hlink"/>
                </a:solidFill>
              </a:rPr>
              <a:t>f</a:t>
            </a:r>
            <a:r>
              <a:rPr kumimoji="1" lang="en-US" sz="2800" b="1" dirty="0">
                <a:solidFill>
                  <a:schemeClr val="hlink"/>
                </a:solidFill>
              </a:rPr>
              <a:t>(</a:t>
            </a:r>
            <a:r>
              <a:rPr kumimoji="1" lang="en-US" sz="2800" b="1" i="1" dirty="0">
                <a:solidFill>
                  <a:schemeClr val="hlink"/>
                </a:solidFill>
              </a:rPr>
              <a:t>n</a:t>
            </a:r>
            <a:r>
              <a:rPr kumimoji="1" lang="en-US" sz="2800" b="1" dirty="0">
                <a:solidFill>
                  <a:schemeClr val="hlink"/>
                </a:solidFill>
              </a:rPr>
              <a:t>)</a:t>
            </a:r>
            <a:r>
              <a:rPr kumimoji="1" lang="en-US" sz="2800" b="1" i="1" dirty="0">
                <a:solidFill>
                  <a:schemeClr val="hlink"/>
                </a:solidFill>
              </a:rPr>
              <a:t> </a:t>
            </a:r>
            <a:r>
              <a:rPr kumimoji="1" lang="en-US" sz="2800" b="1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800" b="1" dirty="0">
                <a:solidFill>
                  <a:schemeClr val="hlink"/>
                </a:solidFill>
              </a:rPr>
              <a:t> c</a:t>
            </a:r>
            <a:r>
              <a:rPr kumimoji="1" lang="en-US" sz="2800" b="1" i="1" dirty="0">
                <a:solidFill>
                  <a:schemeClr val="hlink"/>
                </a:solidFill>
              </a:rPr>
              <a:t>g</a:t>
            </a:r>
            <a:r>
              <a:rPr kumimoji="1" lang="en-US" sz="2800" b="1" dirty="0">
                <a:solidFill>
                  <a:schemeClr val="hlink"/>
                </a:solidFill>
              </a:rPr>
              <a:t>(</a:t>
            </a:r>
            <a:r>
              <a:rPr kumimoji="1" lang="en-US" sz="2800" b="1" i="1" dirty="0">
                <a:solidFill>
                  <a:schemeClr val="hlink"/>
                </a:solidFill>
              </a:rPr>
              <a:t>n</a:t>
            </a:r>
            <a:r>
              <a:rPr kumimoji="1" lang="en-US" sz="2800" b="1" dirty="0">
                <a:solidFill>
                  <a:schemeClr val="hlink"/>
                </a:solidFill>
              </a:rPr>
              <a:t>) }</a:t>
            </a:r>
            <a:endParaRPr kumimoji="1" lang="en-US" sz="30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-353887"/>
            <a:ext cx="7543800" cy="1032446"/>
          </a:xfrm>
        </p:spPr>
        <p:txBody>
          <a:bodyPr/>
          <a:lstStyle/>
          <a:p>
            <a:pPr eaLnBrk="1" hangingPunct="1"/>
            <a:r>
              <a:rPr lang="en-US" dirty="0">
                <a:sym typeface="Symbol" pitchFamily="18" charset="2"/>
              </a:rPr>
              <a:t> -notation</a:t>
            </a:r>
          </a:p>
        </p:txBody>
      </p:sp>
      <p:sp>
        <p:nvSpPr>
          <p:cNvPr id="30724" name="Rectangle 6"/>
          <p:cNvSpPr>
            <a:spLocks noChangeArrowheads="1"/>
          </p:cNvSpPr>
          <p:nvPr/>
        </p:nvSpPr>
        <p:spPr bwMode="auto">
          <a:xfrm>
            <a:off x="270451" y="4464941"/>
            <a:ext cx="6004721" cy="492443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kumimoji="1" lang="en-US" sz="2600" b="1" i="1" dirty="0"/>
              <a:t>g</a:t>
            </a:r>
            <a:r>
              <a:rPr kumimoji="1" lang="en-US" sz="2600" b="1" dirty="0"/>
              <a:t>(</a:t>
            </a:r>
            <a:r>
              <a:rPr kumimoji="1" lang="en-US" sz="2600" b="1" i="1" dirty="0"/>
              <a:t>n</a:t>
            </a:r>
            <a:r>
              <a:rPr kumimoji="1" lang="en-US" sz="2600" b="1" dirty="0"/>
              <a:t>) is an </a:t>
            </a:r>
            <a:r>
              <a:rPr kumimoji="1" lang="en-US" sz="2600" b="1" i="1" dirty="0">
                <a:solidFill>
                  <a:srgbClr val="CC0000"/>
                </a:solidFill>
              </a:rPr>
              <a:t>asymptotic lower bound</a:t>
            </a:r>
            <a:r>
              <a:rPr kumimoji="1" lang="en-US" sz="2600" b="1" dirty="0"/>
              <a:t> for </a:t>
            </a:r>
            <a:r>
              <a:rPr kumimoji="1" lang="en-US" sz="2600" b="1" i="1" dirty="0"/>
              <a:t>f</a:t>
            </a:r>
            <a:r>
              <a:rPr kumimoji="1" lang="en-US" sz="2600" b="1" dirty="0"/>
              <a:t>(</a:t>
            </a:r>
            <a:r>
              <a:rPr kumimoji="1" lang="en-US" sz="2600" b="1" i="1" dirty="0"/>
              <a:t>n</a:t>
            </a:r>
            <a:r>
              <a:rPr kumimoji="1" lang="en-US" sz="2600" b="1" dirty="0"/>
              <a:t>).</a:t>
            </a:r>
          </a:p>
        </p:txBody>
      </p:sp>
      <p:sp>
        <p:nvSpPr>
          <p:cNvPr id="30725" name="Text Box 7"/>
          <p:cNvSpPr txBox="1">
            <a:spLocks noChangeArrowheads="1"/>
          </p:cNvSpPr>
          <p:nvPr/>
        </p:nvSpPr>
        <p:spPr bwMode="auto">
          <a:xfrm>
            <a:off x="641808" y="3538960"/>
            <a:ext cx="4037010" cy="92333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b="1" i="1" dirty="0"/>
              <a:t>Intuitively</a:t>
            </a:r>
            <a:r>
              <a:rPr lang="en-US" dirty="0"/>
              <a:t>: Set of all functions whose </a:t>
            </a:r>
            <a:r>
              <a:rPr lang="en-US" i="1" dirty="0"/>
              <a:t>rate of growth</a:t>
            </a:r>
            <a:r>
              <a:rPr lang="en-US" dirty="0"/>
              <a:t> is the same as or higher than that of 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).</a:t>
            </a:r>
          </a:p>
        </p:txBody>
      </p:sp>
      <p:pic>
        <p:nvPicPr>
          <p:cNvPr id="30726" name="Picture 10" descr="graph_Omega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6469" y="1491630"/>
            <a:ext cx="2959092" cy="2341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8" name="Rectangle 12"/>
          <p:cNvSpPr>
            <a:spLocks noChangeArrowheads="1"/>
          </p:cNvSpPr>
          <p:nvPr/>
        </p:nvSpPr>
        <p:spPr bwMode="auto">
          <a:xfrm>
            <a:off x="401511" y="1402151"/>
            <a:ext cx="4037009" cy="1895904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b="1" dirty="0">
                <a:solidFill>
                  <a:schemeClr val="accent1"/>
                </a:solidFill>
                <a:sym typeface="Symbol" pitchFamily="18" charset="2"/>
              </a:rPr>
              <a:t></a:t>
            </a:r>
            <a:r>
              <a:rPr kumimoji="1" 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sz="2600" b="1" i="1" dirty="0">
                <a:solidFill>
                  <a:schemeClr val="accent1"/>
                </a:solidFill>
              </a:rPr>
              <a:t>g</a:t>
            </a:r>
            <a:r>
              <a:rPr kumimoji="1" lang="en-US" sz="2600" b="1" dirty="0">
                <a:solidFill>
                  <a:schemeClr val="accent1"/>
                </a:solidFill>
              </a:rPr>
              <a:t>(</a:t>
            </a:r>
            <a:r>
              <a:rPr kumimoji="1" lang="en-US" sz="2600" b="1" i="1" dirty="0">
                <a:solidFill>
                  <a:schemeClr val="accent1"/>
                </a:solidFill>
              </a:rPr>
              <a:t>n</a:t>
            </a:r>
            <a:r>
              <a:rPr kumimoji="1" lang="en-US" sz="2600" b="1" dirty="0">
                <a:solidFill>
                  <a:schemeClr val="accent1"/>
                </a:solidFill>
              </a:rPr>
              <a:t>)) =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3000" b="1" dirty="0">
                <a:solidFill>
                  <a:schemeClr val="hlink"/>
                </a:solidFill>
              </a:rPr>
              <a:t>{</a:t>
            </a:r>
            <a:r>
              <a:rPr kumimoji="1" lang="en-US" sz="2600" b="1" i="1" dirty="0">
                <a:solidFill>
                  <a:schemeClr val="hlink"/>
                </a:solidFill>
              </a:rPr>
              <a:t>f</a:t>
            </a:r>
            <a:r>
              <a:rPr kumimoji="1" lang="en-US" sz="2600" b="1" dirty="0">
                <a:solidFill>
                  <a:schemeClr val="hlink"/>
                </a:solidFill>
              </a:rPr>
              <a:t>(</a:t>
            </a:r>
            <a:r>
              <a:rPr kumimoji="1" lang="en-US" sz="2600" b="1" i="1" dirty="0">
                <a:solidFill>
                  <a:schemeClr val="hlink"/>
                </a:solidFill>
              </a:rPr>
              <a:t>n</a:t>
            </a:r>
            <a:r>
              <a:rPr kumimoji="1" lang="en-US" sz="2600" b="1" dirty="0">
                <a:solidFill>
                  <a:schemeClr val="hlink"/>
                </a:solidFill>
              </a:rPr>
              <a:t>) : </a:t>
            </a:r>
            <a:br>
              <a:rPr kumimoji="1" lang="en-US" sz="2600" b="1" dirty="0">
                <a:solidFill>
                  <a:schemeClr val="hlink"/>
                </a:solidFill>
              </a:rPr>
            </a:br>
            <a:r>
              <a:rPr kumimoji="1" lang="en-US" sz="2600" b="1" dirty="0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600" b="1" dirty="0">
                <a:solidFill>
                  <a:srgbClr val="FF3300"/>
                </a:solidFill>
              </a:rPr>
              <a:t>positive constants </a:t>
            </a:r>
            <a:r>
              <a:rPr kumimoji="1" lang="en-US" sz="2600" b="1" i="1" dirty="0">
                <a:solidFill>
                  <a:srgbClr val="FF3300"/>
                </a:solidFill>
              </a:rPr>
              <a:t>c</a:t>
            </a:r>
            <a:r>
              <a:rPr kumimoji="1" lang="en-US" sz="2600" b="1" dirty="0">
                <a:solidFill>
                  <a:srgbClr val="FF3300"/>
                </a:solidFill>
              </a:rPr>
              <a:t> and </a:t>
            </a:r>
            <a:r>
              <a:rPr kumimoji="1" lang="en-US" sz="2600" b="1" i="1" dirty="0">
                <a:solidFill>
                  <a:srgbClr val="FF3300"/>
                </a:solidFill>
              </a:rPr>
              <a:t>n</a:t>
            </a:r>
            <a:r>
              <a:rPr kumimoji="1" lang="en-US" sz="2600" b="1" baseline="-25000" dirty="0">
                <a:solidFill>
                  <a:srgbClr val="FF3300"/>
                </a:solidFill>
              </a:rPr>
              <a:t>0,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sz="2600" b="1" dirty="0">
                <a:solidFill>
                  <a:srgbClr val="CC0000"/>
                </a:solidFill>
              </a:rPr>
              <a:t>such that </a:t>
            </a:r>
            <a:r>
              <a:rPr kumimoji="1" lang="en-US" b="1" dirty="0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b="1" i="1" dirty="0">
                <a:solidFill>
                  <a:srgbClr val="CC0000"/>
                </a:solidFill>
              </a:rPr>
              <a:t>n </a:t>
            </a:r>
            <a:r>
              <a:rPr kumimoji="1" lang="en-US" b="1" dirty="0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b="1" i="1" dirty="0">
                <a:solidFill>
                  <a:srgbClr val="CC0000"/>
                </a:solidFill>
              </a:rPr>
              <a:t>  n</a:t>
            </a:r>
            <a:r>
              <a:rPr kumimoji="1" lang="en-US" b="1" baseline="-25000" dirty="0">
                <a:solidFill>
                  <a:srgbClr val="CC0000"/>
                </a:solidFill>
              </a:rPr>
              <a:t>0</a:t>
            </a:r>
            <a:r>
              <a:rPr kumimoji="1" lang="en-US" dirty="0">
                <a:solidFill>
                  <a:srgbClr val="CC0000"/>
                </a:solidFill>
              </a:rPr>
              <a:t>,</a:t>
            </a:r>
            <a:endParaRPr kumimoji="1" lang="en-US" sz="2600" b="1" dirty="0">
              <a:solidFill>
                <a:srgbClr val="CC0000"/>
              </a:solidFill>
            </a:endParaRPr>
          </a:p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200" b="1" dirty="0">
                <a:solidFill>
                  <a:schemeClr val="hlink"/>
                </a:solidFill>
              </a:rPr>
              <a:t>we have</a:t>
            </a:r>
            <a:r>
              <a:rPr kumimoji="1" lang="en-US" sz="2600" b="1" dirty="0">
                <a:solidFill>
                  <a:schemeClr val="hlink"/>
                </a:solidFill>
              </a:rPr>
              <a:t> 0 </a:t>
            </a:r>
            <a:r>
              <a:rPr kumimoji="1" lang="en-US" sz="2600" b="1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600" b="1" dirty="0">
                <a:solidFill>
                  <a:schemeClr val="hlink"/>
                </a:solidFill>
              </a:rPr>
              <a:t> </a:t>
            </a:r>
            <a:r>
              <a:rPr kumimoji="1" lang="en-US" b="1" dirty="0">
                <a:solidFill>
                  <a:schemeClr val="hlink"/>
                </a:solidFill>
              </a:rPr>
              <a:t>c</a:t>
            </a:r>
            <a:r>
              <a:rPr kumimoji="1" lang="en-US" b="1" i="1" dirty="0">
                <a:solidFill>
                  <a:schemeClr val="hlink"/>
                </a:solidFill>
              </a:rPr>
              <a:t>g</a:t>
            </a:r>
            <a:r>
              <a:rPr kumimoji="1" lang="en-US" b="1" dirty="0">
                <a:solidFill>
                  <a:schemeClr val="hlink"/>
                </a:solidFill>
              </a:rPr>
              <a:t>(</a:t>
            </a:r>
            <a:r>
              <a:rPr kumimoji="1" lang="en-US" b="1" i="1" dirty="0">
                <a:solidFill>
                  <a:schemeClr val="hlink"/>
                </a:solidFill>
              </a:rPr>
              <a:t>n</a:t>
            </a:r>
            <a:r>
              <a:rPr kumimoji="1" lang="en-US" b="1" dirty="0">
                <a:solidFill>
                  <a:schemeClr val="hlink"/>
                </a:solidFill>
              </a:rPr>
              <a:t>)</a:t>
            </a:r>
            <a:r>
              <a:rPr kumimoji="1" lang="en-US" dirty="0"/>
              <a:t> </a:t>
            </a:r>
            <a:r>
              <a:rPr kumimoji="1" lang="en-US" sz="2600" b="1" dirty="0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b="1" i="1" dirty="0">
                <a:solidFill>
                  <a:schemeClr val="hlink"/>
                </a:solidFill>
              </a:rPr>
              <a:t>f</a:t>
            </a:r>
            <a:r>
              <a:rPr kumimoji="1" lang="en-US" b="1" dirty="0">
                <a:solidFill>
                  <a:schemeClr val="hlink"/>
                </a:solidFill>
              </a:rPr>
              <a:t>(</a:t>
            </a:r>
            <a:r>
              <a:rPr kumimoji="1" lang="en-US" b="1" i="1" dirty="0">
                <a:solidFill>
                  <a:schemeClr val="hlink"/>
                </a:solidFill>
              </a:rPr>
              <a:t>n</a:t>
            </a:r>
            <a:r>
              <a:rPr kumimoji="1" lang="en-US" b="1" dirty="0">
                <a:solidFill>
                  <a:schemeClr val="hlink"/>
                </a:solidFill>
              </a:rPr>
              <a:t>)</a:t>
            </a:r>
            <a:r>
              <a:rPr kumimoji="1" lang="en-US" sz="3000" b="1" dirty="0">
                <a:solidFill>
                  <a:schemeClr val="hlink"/>
                </a:solidFill>
              </a:rPr>
              <a:t>}</a:t>
            </a:r>
          </a:p>
        </p:txBody>
      </p:sp>
      <p:sp>
        <p:nvSpPr>
          <p:cNvPr id="30729" name="Rectangle 13"/>
          <p:cNvSpPr>
            <a:spLocks noChangeArrowheads="1"/>
          </p:cNvSpPr>
          <p:nvPr/>
        </p:nvSpPr>
        <p:spPr bwMode="auto">
          <a:xfrm>
            <a:off x="35496" y="739314"/>
            <a:ext cx="8806049" cy="492443"/>
          </a:xfrm>
          <a:prstGeom prst="rect">
            <a:avLst/>
          </a:prstGeom>
          <a:noFill/>
          <a:ln w="28575" cap="sq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ct val="20000"/>
              </a:spcAft>
              <a:buClr>
                <a:srgbClr val="FF6600"/>
              </a:buClr>
              <a:buSzPct val="80000"/>
              <a:buFont typeface="Wingdings" pitchFamily="2" charset="2"/>
              <a:buNone/>
            </a:pPr>
            <a:r>
              <a:rPr kumimoji="1" lang="en-US" sz="2600" dirty="0"/>
              <a:t>For function 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), we define </a:t>
            </a:r>
            <a:r>
              <a:rPr lang="en-US" dirty="0">
                <a:sym typeface="Symbol" pitchFamily="18" charset="2"/>
              </a:rPr>
              <a:t></a:t>
            </a:r>
            <a:r>
              <a:rPr kumimoji="1" lang="en-US" sz="2600" dirty="0"/>
              <a:t>(</a:t>
            </a:r>
            <a:r>
              <a:rPr kumimoji="1" lang="en-US" sz="2600" i="1" dirty="0"/>
              <a:t>g</a:t>
            </a:r>
            <a:r>
              <a:rPr kumimoji="1" lang="en-US" sz="2600" dirty="0"/>
              <a:t>(</a:t>
            </a:r>
            <a:r>
              <a:rPr kumimoji="1" lang="en-US" sz="2600" i="1" dirty="0"/>
              <a:t>n</a:t>
            </a:r>
            <a:r>
              <a:rPr kumimoji="1" lang="en-US" sz="2600" dirty="0"/>
              <a:t>)), big-Omega of </a:t>
            </a:r>
            <a:r>
              <a:rPr kumimoji="1" lang="en-US" sz="2600" i="1" dirty="0"/>
              <a:t>n</a:t>
            </a:r>
            <a:r>
              <a:rPr kumimoji="1" lang="en-US" sz="2600" dirty="0"/>
              <a:t>, as the set: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2645264"/>
            <a:ext cx="7543800" cy="1259457"/>
          </a:xfrm>
        </p:spPr>
        <p:txBody>
          <a:bodyPr/>
          <a:lstStyle/>
          <a:p>
            <a:pPr eaLnBrk="1" hangingPunct="1"/>
            <a:endParaRPr lang="en-US" dirty="0">
              <a:sym typeface="Symbol" pitchFamily="18" charset="2"/>
            </a:endParaRPr>
          </a:p>
          <a:p>
            <a:pPr eaLnBrk="1" hangingPunct="1"/>
            <a:endParaRPr lang="en-US" dirty="0">
              <a:sym typeface="Symbol" pitchFamily="18" charset="2"/>
            </a:endParaRPr>
          </a:p>
          <a:p>
            <a:pPr eaLnBrk="1" hangingPunct="1"/>
            <a:r>
              <a:rPr lang="en-US" dirty="0">
                <a:sym typeface="Symbol" pitchFamily="18" charset="2"/>
              </a:rPr>
              <a:t>n = </a:t>
            </a:r>
            <a:r>
              <a:rPr lang="el-GR" dirty="0">
                <a:sym typeface="Symbol" pitchFamily="18" charset="2"/>
              </a:rPr>
              <a:t></a:t>
            </a:r>
            <a:r>
              <a:rPr lang="en-US" dirty="0">
                <a:sym typeface="Symbol" pitchFamily="18" charset="2"/>
              </a:rPr>
              <a:t>(lg 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). Choose </a:t>
            </a:r>
            <a:r>
              <a:rPr lang="en-US" i="1" dirty="0">
                <a:sym typeface="Symbol" pitchFamily="18" charset="2"/>
              </a:rPr>
              <a:t>c</a:t>
            </a:r>
            <a:r>
              <a:rPr lang="en-US" dirty="0">
                <a:sym typeface="Symbol" pitchFamily="18" charset="2"/>
              </a:rPr>
              <a:t> and </a:t>
            </a:r>
            <a:r>
              <a:rPr lang="en-US" i="1" dirty="0"/>
              <a:t>n</a:t>
            </a:r>
            <a:r>
              <a:rPr lang="en-US" baseline="-25000" dirty="0"/>
              <a:t>0</a:t>
            </a:r>
            <a:r>
              <a:rPr lang="en-US" dirty="0"/>
              <a:t>.</a:t>
            </a:r>
            <a:endParaRPr lang="el-GR" dirty="0"/>
          </a:p>
        </p:txBody>
      </p:sp>
      <p:sp>
        <p:nvSpPr>
          <p:cNvPr id="31749" name="Rectangle 4"/>
          <p:cNvSpPr>
            <a:spLocks noChangeArrowheads="1"/>
          </p:cNvSpPr>
          <p:nvPr/>
        </p:nvSpPr>
        <p:spPr bwMode="auto">
          <a:xfrm>
            <a:off x="474305" y="1691157"/>
            <a:ext cx="8102600" cy="954107"/>
          </a:xfrm>
          <a:prstGeom prst="rect">
            <a:avLst/>
          </a:prstGeom>
          <a:solidFill>
            <a:srgbClr val="CCECFF"/>
          </a:solidFill>
          <a:ln w="19050" cap="sq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1" lang="en-US" sz="2800" dirty="0">
                <a:solidFill>
                  <a:schemeClr val="accent1"/>
                </a:solidFill>
                <a:sym typeface="Symbol" pitchFamily="18" charset="2"/>
              </a:rPr>
              <a:t></a:t>
            </a:r>
            <a:r>
              <a:rPr kumimoji="1" lang="en-US" sz="2800" dirty="0">
                <a:solidFill>
                  <a:schemeClr val="accent1"/>
                </a:solidFill>
              </a:rPr>
              <a:t>(</a:t>
            </a:r>
            <a:r>
              <a:rPr kumimoji="1" lang="en-US" sz="2800" i="1" dirty="0">
                <a:solidFill>
                  <a:schemeClr val="accent1"/>
                </a:solidFill>
              </a:rPr>
              <a:t>g</a:t>
            </a:r>
            <a:r>
              <a:rPr kumimoji="1" lang="en-US" sz="2800" dirty="0">
                <a:solidFill>
                  <a:schemeClr val="accent1"/>
                </a:solidFill>
              </a:rPr>
              <a:t>(</a:t>
            </a:r>
            <a:r>
              <a:rPr kumimoji="1" lang="en-US" sz="2800" i="1" dirty="0">
                <a:solidFill>
                  <a:schemeClr val="accent1"/>
                </a:solidFill>
              </a:rPr>
              <a:t>n</a:t>
            </a:r>
            <a:r>
              <a:rPr kumimoji="1" lang="en-US" sz="2800" dirty="0">
                <a:solidFill>
                  <a:schemeClr val="accent1"/>
                </a:solidFill>
              </a:rPr>
              <a:t>)) =</a:t>
            </a:r>
            <a:r>
              <a:rPr kumimoji="1" lang="en-US" sz="2800" dirty="0">
                <a:solidFill>
                  <a:schemeClr val="hlink"/>
                </a:solidFill>
              </a:rPr>
              <a:t> {</a:t>
            </a:r>
            <a:r>
              <a:rPr kumimoji="1" lang="en-US" sz="2800" i="1" dirty="0">
                <a:solidFill>
                  <a:schemeClr val="hlink"/>
                </a:solidFill>
              </a:rPr>
              <a:t>f</a:t>
            </a:r>
            <a:r>
              <a:rPr kumimoji="1" lang="en-US" sz="2800" dirty="0">
                <a:solidFill>
                  <a:schemeClr val="hlink"/>
                </a:solidFill>
              </a:rPr>
              <a:t>(</a:t>
            </a:r>
            <a:r>
              <a:rPr kumimoji="1" lang="en-US" sz="2800" i="1" dirty="0">
                <a:solidFill>
                  <a:schemeClr val="hlink"/>
                </a:solidFill>
              </a:rPr>
              <a:t>n</a:t>
            </a:r>
            <a:r>
              <a:rPr kumimoji="1" lang="en-US" sz="2800" dirty="0">
                <a:solidFill>
                  <a:schemeClr val="hlink"/>
                </a:solidFill>
              </a:rPr>
              <a:t>) : </a:t>
            </a:r>
            <a:r>
              <a:rPr kumimoji="1" lang="en-US" sz="2800" dirty="0">
                <a:solidFill>
                  <a:srgbClr val="FF3300"/>
                </a:solidFill>
                <a:sym typeface="Symbol" pitchFamily="18" charset="2"/>
              </a:rPr>
              <a:t> </a:t>
            </a:r>
            <a:r>
              <a:rPr kumimoji="1" lang="en-US" sz="2800" dirty="0">
                <a:solidFill>
                  <a:srgbClr val="FF3300"/>
                </a:solidFill>
              </a:rPr>
              <a:t>positive constants </a:t>
            </a:r>
            <a:r>
              <a:rPr kumimoji="1" lang="en-US" sz="2800" i="1" dirty="0">
                <a:solidFill>
                  <a:srgbClr val="FF3300"/>
                </a:solidFill>
              </a:rPr>
              <a:t>c</a:t>
            </a:r>
            <a:r>
              <a:rPr kumimoji="1" lang="en-US" sz="2800" dirty="0">
                <a:solidFill>
                  <a:srgbClr val="FF3300"/>
                </a:solidFill>
              </a:rPr>
              <a:t> and </a:t>
            </a:r>
            <a:r>
              <a:rPr kumimoji="1" lang="en-US" sz="2800" i="1" dirty="0">
                <a:solidFill>
                  <a:srgbClr val="FF3300"/>
                </a:solidFill>
              </a:rPr>
              <a:t>n</a:t>
            </a:r>
            <a:r>
              <a:rPr kumimoji="1" lang="en-US" sz="2800" baseline="-25000" dirty="0">
                <a:solidFill>
                  <a:srgbClr val="FF3300"/>
                </a:solidFill>
              </a:rPr>
              <a:t>0</a:t>
            </a:r>
            <a:r>
              <a:rPr kumimoji="1" lang="en-US" sz="2800" dirty="0">
                <a:solidFill>
                  <a:srgbClr val="FF3300"/>
                </a:solidFill>
              </a:rPr>
              <a:t>,</a:t>
            </a:r>
            <a:r>
              <a:rPr kumimoji="1" lang="en-US" sz="2800" dirty="0">
                <a:solidFill>
                  <a:schemeClr val="hlink"/>
                </a:solidFill>
              </a:rPr>
              <a:t> </a:t>
            </a:r>
            <a:r>
              <a:rPr kumimoji="1" lang="en-US" sz="2800" dirty="0">
                <a:solidFill>
                  <a:srgbClr val="CC0000"/>
                </a:solidFill>
              </a:rPr>
              <a:t>such that </a:t>
            </a:r>
            <a:r>
              <a:rPr kumimoji="1" lang="en-US" sz="2800" dirty="0">
                <a:solidFill>
                  <a:srgbClr val="CC0000"/>
                </a:solidFill>
                <a:sym typeface="Symbol" pitchFamily="18" charset="2"/>
              </a:rPr>
              <a:t></a:t>
            </a:r>
            <a:r>
              <a:rPr kumimoji="1" lang="en-US" sz="2800" i="1" dirty="0">
                <a:solidFill>
                  <a:srgbClr val="CC0000"/>
                </a:solidFill>
              </a:rPr>
              <a:t>n </a:t>
            </a:r>
            <a:r>
              <a:rPr kumimoji="1" lang="en-US" sz="2800" dirty="0">
                <a:solidFill>
                  <a:srgbClr val="CC0000"/>
                </a:solidFill>
                <a:sym typeface="Symbol" pitchFamily="18" charset="2"/>
              </a:rPr>
              <a:t></a:t>
            </a:r>
            <a:r>
              <a:rPr kumimoji="1" lang="en-US" sz="2800" i="1" dirty="0">
                <a:solidFill>
                  <a:srgbClr val="CC0000"/>
                </a:solidFill>
              </a:rPr>
              <a:t> n</a:t>
            </a:r>
            <a:r>
              <a:rPr kumimoji="1" lang="en-US" sz="2800" baseline="-25000" dirty="0">
                <a:solidFill>
                  <a:srgbClr val="CC0000"/>
                </a:solidFill>
              </a:rPr>
              <a:t>0</a:t>
            </a:r>
            <a:r>
              <a:rPr kumimoji="1" lang="en-US" sz="2800" dirty="0">
                <a:solidFill>
                  <a:srgbClr val="CC0000"/>
                </a:solidFill>
              </a:rPr>
              <a:t>, </a:t>
            </a:r>
            <a:r>
              <a:rPr kumimoji="1" lang="en-US" sz="2800" dirty="0">
                <a:solidFill>
                  <a:schemeClr val="hlink"/>
                </a:solidFill>
              </a:rPr>
              <a:t>we have 0 </a:t>
            </a:r>
            <a:r>
              <a:rPr kumimoji="1" lang="en-US" sz="2800" dirty="0">
                <a:solidFill>
                  <a:schemeClr val="hlink"/>
                </a:solidFill>
                <a:sym typeface="Symbol" pitchFamily="18" charset="2"/>
              </a:rPr>
              <a:t></a:t>
            </a:r>
            <a:r>
              <a:rPr kumimoji="1" lang="en-US" sz="2800" dirty="0">
                <a:solidFill>
                  <a:schemeClr val="hlink"/>
                </a:solidFill>
              </a:rPr>
              <a:t> c</a:t>
            </a:r>
            <a:r>
              <a:rPr kumimoji="1" lang="en-US" sz="2800" i="1" dirty="0">
                <a:solidFill>
                  <a:schemeClr val="hlink"/>
                </a:solidFill>
              </a:rPr>
              <a:t>g</a:t>
            </a:r>
            <a:r>
              <a:rPr kumimoji="1" lang="en-US" sz="2800" dirty="0">
                <a:solidFill>
                  <a:schemeClr val="hlink"/>
                </a:solidFill>
              </a:rPr>
              <a:t>(</a:t>
            </a:r>
            <a:r>
              <a:rPr kumimoji="1" lang="en-US" sz="2800" i="1" dirty="0">
                <a:solidFill>
                  <a:schemeClr val="hlink"/>
                </a:solidFill>
              </a:rPr>
              <a:t>n</a:t>
            </a:r>
            <a:r>
              <a:rPr kumimoji="1" lang="en-US" sz="2800" dirty="0">
                <a:solidFill>
                  <a:schemeClr val="hlink"/>
                </a:solidFill>
              </a:rPr>
              <a:t>)</a:t>
            </a:r>
            <a:r>
              <a:rPr kumimoji="1" lang="en-US" sz="2800" dirty="0"/>
              <a:t> </a:t>
            </a:r>
            <a:r>
              <a:rPr kumimoji="1" lang="en-US" sz="2800" dirty="0">
                <a:solidFill>
                  <a:schemeClr val="hlink"/>
                </a:solidFill>
                <a:sym typeface="Symbol" pitchFamily="18" charset="2"/>
              </a:rPr>
              <a:t> </a:t>
            </a:r>
            <a:r>
              <a:rPr kumimoji="1" lang="en-US" sz="2800" i="1" dirty="0">
                <a:solidFill>
                  <a:schemeClr val="hlink"/>
                </a:solidFill>
              </a:rPr>
              <a:t>f</a:t>
            </a:r>
            <a:r>
              <a:rPr kumimoji="1" lang="en-US" sz="2800" dirty="0">
                <a:solidFill>
                  <a:schemeClr val="hlink"/>
                </a:solidFill>
              </a:rPr>
              <a:t>(</a:t>
            </a:r>
            <a:r>
              <a:rPr kumimoji="1" lang="en-US" sz="2800" i="1" dirty="0">
                <a:solidFill>
                  <a:schemeClr val="hlink"/>
                </a:solidFill>
              </a:rPr>
              <a:t>n</a:t>
            </a:r>
            <a:r>
              <a:rPr kumimoji="1" lang="en-US" sz="2800" dirty="0">
                <a:solidFill>
                  <a:schemeClr val="hlink"/>
                </a:solidFill>
              </a:rPr>
              <a:t>)}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Relations Between </a:t>
            </a:r>
            <a:r>
              <a:rPr lang="en-US">
                <a:latin typeface="Symbol" pitchFamily="18" charset="2"/>
              </a:rPr>
              <a:t>Q</a:t>
            </a:r>
            <a:r>
              <a:rPr lang="en-US"/>
              <a:t>, </a:t>
            </a:r>
            <a:r>
              <a:rPr lang="en-US" i="1"/>
              <a:t>O, </a:t>
            </a:r>
            <a:r>
              <a:rPr lang="en-US">
                <a:latin typeface="Symbol" pitchFamily="18" charset="2"/>
              </a:rPr>
              <a:t>W</a:t>
            </a:r>
            <a:endParaRPr lang="en-US"/>
          </a:p>
        </p:txBody>
      </p:sp>
      <p:pic>
        <p:nvPicPr>
          <p:cNvPr id="32772" name="Picture 3" descr="graph_thet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504" y="1451372"/>
            <a:ext cx="2654300" cy="224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3" name="Picture 4" descr="graph_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59832" y="1451372"/>
            <a:ext cx="2654300" cy="224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774" name="Picture 5" descr="graph_Omega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56176" y="1478615"/>
            <a:ext cx="2654300" cy="2240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214953"/>
            <a:ext cx="7493456" cy="709611"/>
          </a:xfrm>
        </p:spPr>
        <p:txBody>
          <a:bodyPr/>
          <a:lstStyle/>
          <a:p>
            <a:pPr eaLnBrk="1" hangingPunct="1"/>
            <a:r>
              <a:rPr lang="en-US" dirty="0"/>
              <a:t>Relations Between </a:t>
            </a:r>
            <a:r>
              <a:rPr lang="en-US" dirty="0">
                <a:latin typeface="Symbol" pitchFamily="18" charset="2"/>
              </a:rPr>
              <a:t>Q</a:t>
            </a:r>
            <a:r>
              <a:rPr lang="en-US" dirty="0"/>
              <a:t>, </a:t>
            </a:r>
            <a:r>
              <a:rPr lang="en-US" dirty="0">
                <a:latin typeface="Symbol" pitchFamily="18" charset="2"/>
              </a:rPr>
              <a:t>W</a:t>
            </a:r>
            <a:r>
              <a:rPr lang="en-US" dirty="0"/>
              <a:t>, </a:t>
            </a:r>
            <a:r>
              <a:rPr lang="en-US" i="1" dirty="0"/>
              <a:t>O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365760" y="2643759"/>
            <a:ext cx="8458200" cy="1656183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spcBef>
                <a:spcPct val="100000"/>
              </a:spcBef>
            </a:pPr>
            <a:r>
              <a:rPr lang="en-US" sz="3000" dirty="0">
                <a:sym typeface="Symbol" pitchFamily="18" charset="2"/>
              </a:rPr>
              <a:t>I.e., 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)) = </a:t>
            </a:r>
            <a:r>
              <a:rPr lang="en-US" sz="3000" i="1" dirty="0">
                <a:sym typeface="Symbol" pitchFamily="18" charset="2"/>
              </a:rPr>
              <a:t>O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)) </a:t>
            </a:r>
            <a:r>
              <a:rPr lang="en-US" sz="3000" dirty="0">
                <a:latin typeface="Symbol" pitchFamily="18" charset="2"/>
              </a:rPr>
              <a:t>Ç</a:t>
            </a:r>
            <a:r>
              <a:rPr lang="en-US" sz="3000" dirty="0"/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))</a:t>
            </a:r>
          </a:p>
          <a:p>
            <a:pPr eaLnBrk="1" hangingPunct="1">
              <a:spcBef>
                <a:spcPct val="100000"/>
              </a:spcBef>
            </a:pPr>
            <a:r>
              <a:rPr lang="en-US" sz="3000" dirty="0"/>
              <a:t>In practice, asymptotically tight bounds are obtained from asymptotic upper and lower bounds.</a:t>
            </a:r>
          </a:p>
        </p:txBody>
      </p:sp>
      <p:sp>
        <p:nvSpPr>
          <p:cNvPr id="398340" name="Text Box 4"/>
          <p:cNvSpPr txBox="1">
            <a:spLocks noChangeArrowheads="1"/>
          </p:cNvSpPr>
          <p:nvPr/>
        </p:nvSpPr>
        <p:spPr bwMode="auto">
          <a:xfrm>
            <a:off x="539552" y="1068581"/>
            <a:ext cx="8458200" cy="1431161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900" b="1" u="sng" dirty="0">
                <a:solidFill>
                  <a:schemeClr val="hlink"/>
                </a:solidFill>
              </a:rPr>
              <a:t>Theorem :</a:t>
            </a:r>
            <a:r>
              <a:rPr lang="en-US" sz="2900" dirty="0">
                <a:solidFill>
                  <a:srgbClr val="010000"/>
                </a:solidFill>
              </a:rPr>
              <a:t>  For any two functions </a:t>
            </a:r>
            <a:r>
              <a:rPr lang="en-US" sz="2900" i="1" dirty="0">
                <a:solidFill>
                  <a:srgbClr val="010000"/>
                </a:solidFill>
              </a:rPr>
              <a:t>g</a:t>
            </a:r>
            <a:r>
              <a:rPr lang="en-US" sz="2900" dirty="0">
                <a:solidFill>
                  <a:srgbClr val="010000"/>
                </a:solidFill>
              </a:rPr>
              <a:t>(</a:t>
            </a:r>
            <a:r>
              <a:rPr lang="en-US" sz="2900" i="1" dirty="0">
                <a:solidFill>
                  <a:srgbClr val="010000"/>
                </a:solidFill>
              </a:rPr>
              <a:t>n</a:t>
            </a:r>
            <a:r>
              <a:rPr lang="en-US" sz="2900" dirty="0">
                <a:solidFill>
                  <a:srgbClr val="010000"/>
                </a:solidFill>
              </a:rPr>
              <a:t>) and </a:t>
            </a:r>
            <a:r>
              <a:rPr lang="en-US" sz="2900" i="1" dirty="0">
                <a:solidFill>
                  <a:srgbClr val="010000"/>
                </a:solidFill>
              </a:rPr>
              <a:t>f</a:t>
            </a:r>
            <a:r>
              <a:rPr lang="en-US" sz="2900" dirty="0">
                <a:solidFill>
                  <a:srgbClr val="010000"/>
                </a:solidFill>
              </a:rPr>
              <a:t>(</a:t>
            </a:r>
            <a:r>
              <a:rPr lang="en-US" sz="2900" i="1" dirty="0">
                <a:solidFill>
                  <a:srgbClr val="010000"/>
                </a:solidFill>
              </a:rPr>
              <a:t>n</a:t>
            </a:r>
            <a:r>
              <a:rPr lang="en-US" sz="2900" dirty="0">
                <a:solidFill>
                  <a:srgbClr val="010000"/>
                </a:solidFill>
              </a:rPr>
              <a:t>), </a:t>
            </a:r>
            <a:br>
              <a:rPr lang="en-US" sz="2900" dirty="0">
                <a:solidFill>
                  <a:srgbClr val="010000"/>
                </a:solidFill>
              </a:rPr>
            </a:br>
            <a:r>
              <a:rPr lang="en-US" sz="2900" dirty="0">
                <a:solidFill>
                  <a:srgbClr val="010000"/>
                </a:solidFill>
              </a:rPr>
              <a:t>           </a:t>
            </a:r>
            <a:r>
              <a:rPr lang="en-US" sz="2900" b="1" i="1" dirty="0">
                <a:solidFill>
                  <a:schemeClr val="hlink"/>
                </a:solidFill>
              </a:rPr>
              <a:t>f</a:t>
            </a:r>
            <a:r>
              <a:rPr lang="en-US" sz="2900" b="1" dirty="0">
                <a:solidFill>
                  <a:schemeClr val="hlink"/>
                </a:solidFill>
              </a:rPr>
              <a:t>(</a:t>
            </a:r>
            <a:r>
              <a:rPr lang="en-US" sz="2900" b="1" i="1" dirty="0">
                <a:solidFill>
                  <a:schemeClr val="hlink"/>
                </a:solidFill>
              </a:rPr>
              <a:t>n</a:t>
            </a:r>
            <a:r>
              <a:rPr lang="en-US" sz="2900" b="1" dirty="0">
                <a:solidFill>
                  <a:schemeClr val="hlink"/>
                </a:solidFill>
              </a:rPr>
              <a:t>) = </a:t>
            </a:r>
            <a:r>
              <a:rPr lang="en-US" sz="2900" b="1" dirty="0">
                <a:solidFill>
                  <a:schemeClr val="hlink"/>
                </a:solidFill>
                <a:sym typeface="Symbol" pitchFamily="18" charset="2"/>
              </a:rPr>
              <a:t></a:t>
            </a:r>
            <a:r>
              <a:rPr lang="en-US" sz="2900" b="1" dirty="0">
                <a:solidFill>
                  <a:schemeClr val="hlink"/>
                </a:solidFill>
              </a:rPr>
              <a:t>(</a:t>
            </a:r>
            <a:r>
              <a:rPr lang="en-US" sz="2900" b="1" i="1" dirty="0">
                <a:solidFill>
                  <a:schemeClr val="hlink"/>
                </a:solidFill>
              </a:rPr>
              <a:t>g</a:t>
            </a:r>
            <a:r>
              <a:rPr lang="en-US" sz="2900" b="1" dirty="0">
                <a:solidFill>
                  <a:schemeClr val="hlink"/>
                </a:solidFill>
              </a:rPr>
              <a:t>(</a:t>
            </a:r>
            <a:r>
              <a:rPr lang="en-US" sz="2900" b="1" i="1" dirty="0">
                <a:solidFill>
                  <a:schemeClr val="hlink"/>
                </a:solidFill>
              </a:rPr>
              <a:t>n</a:t>
            </a:r>
            <a:r>
              <a:rPr lang="en-US" sz="2900" b="1" dirty="0">
                <a:solidFill>
                  <a:schemeClr val="hlink"/>
                </a:solidFill>
              </a:rPr>
              <a:t>))</a:t>
            </a:r>
            <a:r>
              <a:rPr lang="en-US" sz="2900" dirty="0">
                <a:solidFill>
                  <a:schemeClr val="hlink"/>
                </a:solidFill>
              </a:rPr>
              <a:t> </a:t>
            </a:r>
            <a:r>
              <a:rPr lang="en-US" sz="2900" dirty="0" err="1">
                <a:solidFill>
                  <a:schemeClr val="hlink"/>
                </a:solidFill>
              </a:rPr>
              <a:t>iff</a:t>
            </a:r>
            <a:r>
              <a:rPr lang="en-US" sz="2900" dirty="0">
                <a:solidFill>
                  <a:schemeClr val="hlink"/>
                </a:solidFill>
              </a:rPr>
              <a:t> </a:t>
            </a:r>
          </a:p>
          <a:p>
            <a:pPr>
              <a:defRPr/>
            </a:pPr>
            <a:r>
              <a:rPr lang="en-US" sz="2900" b="1" i="1" dirty="0">
                <a:solidFill>
                  <a:srgbClr val="CC0000"/>
                </a:solidFill>
              </a:rPr>
              <a:t>	f</a:t>
            </a:r>
            <a:r>
              <a:rPr lang="en-US" sz="2900" b="1" dirty="0">
                <a:solidFill>
                  <a:srgbClr val="CC0000"/>
                </a:solidFill>
              </a:rPr>
              <a:t>(</a:t>
            </a:r>
            <a:r>
              <a:rPr lang="en-US" sz="2900" b="1" i="1" dirty="0">
                <a:solidFill>
                  <a:srgbClr val="CC0000"/>
                </a:solidFill>
              </a:rPr>
              <a:t>n</a:t>
            </a:r>
            <a:r>
              <a:rPr lang="en-US" sz="2900" b="1" dirty="0">
                <a:solidFill>
                  <a:srgbClr val="CC0000"/>
                </a:solidFill>
              </a:rPr>
              <a:t>) =</a:t>
            </a:r>
            <a:r>
              <a:rPr lang="en-US" sz="2900" b="1" dirty="0">
                <a:solidFill>
                  <a:srgbClr val="CC0000"/>
                </a:solidFill>
                <a:sym typeface="Symbol" pitchFamily="18" charset="2"/>
              </a:rPr>
              <a:t> </a:t>
            </a:r>
            <a:r>
              <a:rPr lang="en-US" sz="2900" b="1" i="1" dirty="0">
                <a:solidFill>
                  <a:srgbClr val="CC0000"/>
                </a:solidFill>
                <a:sym typeface="Symbol" pitchFamily="18" charset="2"/>
              </a:rPr>
              <a:t>O</a:t>
            </a:r>
            <a:r>
              <a:rPr lang="en-US" sz="2900" b="1" dirty="0">
                <a:solidFill>
                  <a:srgbClr val="CC0000"/>
                </a:solidFill>
              </a:rPr>
              <a:t>(</a:t>
            </a:r>
            <a:r>
              <a:rPr lang="en-US" sz="2900" b="1" i="1" dirty="0">
                <a:solidFill>
                  <a:srgbClr val="CC0000"/>
                </a:solidFill>
              </a:rPr>
              <a:t>g</a:t>
            </a:r>
            <a:r>
              <a:rPr lang="en-US" sz="2900" b="1" dirty="0">
                <a:solidFill>
                  <a:srgbClr val="CC0000"/>
                </a:solidFill>
              </a:rPr>
              <a:t>(</a:t>
            </a:r>
            <a:r>
              <a:rPr lang="en-US" sz="2900" b="1" i="1" dirty="0">
                <a:solidFill>
                  <a:srgbClr val="CC0000"/>
                </a:solidFill>
              </a:rPr>
              <a:t>n</a:t>
            </a:r>
            <a:r>
              <a:rPr lang="en-US" sz="2900" b="1" dirty="0">
                <a:solidFill>
                  <a:srgbClr val="CC0000"/>
                </a:solidFill>
              </a:rPr>
              <a:t>)) and </a:t>
            </a:r>
            <a:r>
              <a:rPr lang="en-US" sz="2900" b="1" i="1" dirty="0">
                <a:solidFill>
                  <a:srgbClr val="CC0000"/>
                </a:solidFill>
              </a:rPr>
              <a:t>f</a:t>
            </a:r>
            <a:r>
              <a:rPr lang="en-US" sz="2900" b="1" dirty="0">
                <a:solidFill>
                  <a:srgbClr val="CC0000"/>
                </a:solidFill>
              </a:rPr>
              <a:t>(</a:t>
            </a:r>
            <a:r>
              <a:rPr lang="en-US" sz="2900" b="1" i="1" dirty="0">
                <a:solidFill>
                  <a:srgbClr val="CC0000"/>
                </a:solidFill>
              </a:rPr>
              <a:t>n</a:t>
            </a:r>
            <a:r>
              <a:rPr lang="en-US" sz="2900" b="1" dirty="0">
                <a:solidFill>
                  <a:srgbClr val="CC0000"/>
                </a:solidFill>
              </a:rPr>
              <a:t>) = </a:t>
            </a:r>
            <a:r>
              <a:rPr lang="en-US" sz="2900" b="1" dirty="0">
                <a:solidFill>
                  <a:srgbClr val="CC0000"/>
                </a:solidFill>
                <a:sym typeface="Symbol" pitchFamily="18" charset="2"/>
              </a:rPr>
              <a:t></a:t>
            </a:r>
            <a:r>
              <a:rPr lang="en-US" sz="2900" b="1" dirty="0">
                <a:solidFill>
                  <a:srgbClr val="CC0000"/>
                </a:solidFill>
              </a:rPr>
              <a:t>(</a:t>
            </a:r>
            <a:r>
              <a:rPr lang="en-US" sz="2900" b="1" i="1" dirty="0">
                <a:solidFill>
                  <a:srgbClr val="CC0000"/>
                </a:solidFill>
              </a:rPr>
              <a:t>g</a:t>
            </a:r>
            <a:r>
              <a:rPr lang="en-US" sz="2900" b="1" dirty="0">
                <a:solidFill>
                  <a:srgbClr val="CC0000"/>
                </a:solidFill>
              </a:rPr>
              <a:t>(</a:t>
            </a:r>
            <a:r>
              <a:rPr lang="en-US" sz="2900" b="1" i="1" dirty="0">
                <a:solidFill>
                  <a:srgbClr val="CC0000"/>
                </a:solidFill>
              </a:rPr>
              <a:t>n</a:t>
            </a:r>
            <a:r>
              <a:rPr lang="en-US" sz="2900" b="1" dirty="0">
                <a:solidFill>
                  <a:srgbClr val="CC0000"/>
                </a:solidFill>
              </a:rPr>
              <a:t>))</a:t>
            </a:r>
            <a:r>
              <a:rPr lang="en-US" sz="2900" dirty="0">
                <a:solidFill>
                  <a:srgbClr val="010000"/>
                </a:solidFill>
              </a:rPr>
              <a:t>.</a:t>
            </a:r>
            <a:endParaRPr lang="en-US" sz="2900" dirty="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-134539"/>
            <a:ext cx="8229600" cy="857250"/>
          </a:xfrm>
        </p:spPr>
        <p:txBody>
          <a:bodyPr/>
          <a:lstStyle/>
          <a:p>
            <a:pPr eaLnBrk="1" hangingPunct="1"/>
            <a:r>
              <a:rPr lang="en-US" u="sng" dirty="0"/>
              <a:t>Running Times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19622"/>
            <a:ext cx="8350696" cy="335885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dirty="0"/>
              <a:t>“Running time is </a:t>
            </a:r>
            <a:r>
              <a:rPr lang="en-US" sz="2800" i="1" dirty="0"/>
              <a:t>O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))” </a:t>
            </a:r>
            <a:r>
              <a:rPr lang="en-US" sz="2800" dirty="0">
                <a:latin typeface="Symbol" pitchFamily="18" charset="2"/>
              </a:rPr>
              <a:t>Þ</a:t>
            </a:r>
            <a:r>
              <a:rPr lang="en-US" sz="2800" dirty="0"/>
              <a:t> Worst case is </a:t>
            </a:r>
            <a:r>
              <a:rPr lang="en-US" sz="2800" i="1" dirty="0"/>
              <a:t>O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i="1" dirty="0"/>
              <a:t>O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 bound on the worst-case running time </a:t>
            </a:r>
            <a:r>
              <a:rPr lang="en-US" sz="2800" dirty="0">
                <a:sym typeface="Symbol" pitchFamily="18" charset="2"/>
              </a:rPr>
              <a:t> </a:t>
            </a:r>
            <a:r>
              <a:rPr lang="en-US" sz="2800" i="1" dirty="0">
                <a:sym typeface="Symbol" pitchFamily="18" charset="2"/>
              </a:rPr>
              <a:t>O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f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)) bound on the running time of every input.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dirty="0">
                <a:latin typeface="Symbol" pitchFamily="18" charset="2"/>
              </a:rPr>
              <a:t>Q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 bound on the worst-case running time </a:t>
            </a:r>
            <a:r>
              <a:rPr lang="en-US" sz="2800" b="1" dirty="0">
                <a:sym typeface="Symbol" pitchFamily="18" charset="2"/>
              </a:rPr>
              <a:t>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>
                <a:latin typeface="Symbol" pitchFamily="18" charset="2"/>
              </a:rPr>
              <a:t>Q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f</a:t>
            </a:r>
            <a:r>
              <a:rPr lang="en-US" sz="2800" dirty="0">
                <a:sym typeface="Symbol" pitchFamily="18" charset="2"/>
              </a:rPr>
              <a:t>(</a:t>
            </a:r>
            <a:r>
              <a:rPr lang="en-US" sz="2800" i="1" dirty="0">
                <a:sym typeface="Symbol" pitchFamily="18" charset="2"/>
              </a:rPr>
              <a:t>n</a:t>
            </a:r>
            <a:r>
              <a:rPr lang="en-US" sz="2800" dirty="0">
                <a:sym typeface="Symbol" pitchFamily="18" charset="2"/>
              </a:rPr>
              <a:t>)) bound on the running time of every input.</a:t>
            </a:r>
            <a:endParaRPr lang="en-US" sz="2800" dirty="0"/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dirty="0"/>
              <a:t>“Running time is </a:t>
            </a:r>
            <a:r>
              <a:rPr lang="en-US" sz="2800" dirty="0">
                <a:latin typeface="Symbol" pitchFamily="18" charset="2"/>
              </a:rPr>
              <a:t>W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))” </a:t>
            </a:r>
            <a:r>
              <a:rPr lang="en-US" sz="2800" dirty="0">
                <a:latin typeface="Symbol" pitchFamily="18" charset="2"/>
              </a:rPr>
              <a:t>Þ</a:t>
            </a:r>
            <a:r>
              <a:rPr lang="en-US" sz="2800" dirty="0"/>
              <a:t> Best case is </a:t>
            </a:r>
            <a:r>
              <a:rPr lang="en-US" sz="2800" dirty="0">
                <a:latin typeface="Symbol" pitchFamily="18" charset="2"/>
              </a:rPr>
              <a:t>W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</a:t>
            </a:r>
            <a:r>
              <a:rPr lang="en-US" sz="2800" i="1" dirty="0"/>
              <a:t> 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800" dirty="0"/>
              <a:t>Can still say “Worst-case running time is </a:t>
            </a:r>
            <a:r>
              <a:rPr lang="en-US" sz="2800" dirty="0">
                <a:latin typeface="Symbol" pitchFamily="18" charset="2"/>
              </a:rPr>
              <a:t>W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))”</a:t>
            </a:r>
          </a:p>
          <a:p>
            <a:pPr lvl="1"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sz="2400" dirty="0"/>
              <a:t>Means worst-case running time is given by some unspecified function </a:t>
            </a:r>
            <a:r>
              <a:rPr lang="en-US" sz="2400" i="1" dirty="0"/>
              <a:t>g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 </a:t>
            </a:r>
            <a:r>
              <a:rPr lang="en-US" sz="2400" dirty="0">
                <a:latin typeface="Symbol" pitchFamily="18" charset="2"/>
              </a:rPr>
              <a:t>Î</a:t>
            </a:r>
            <a:r>
              <a:rPr lang="en-US" sz="2400" dirty="0"/>
              <a:t> </a:t>
            </a:r>
            <a:r>
              <a:rPr lang="en-US" sz="2400" dirty="0">
                <a:latin typeface="Symbol" pitchFamily="18" charset="2"/>
              </a:rPr>
              <a:t>W</a:t>
            </a:r>
            <a:r>
              <a:rPr lang="en-US" sz="2400" dirty="0"/>
              <a:t>(</a:t>
            </a:r>
            <a:r>
              <a:rPr lang="en-US" sz="2400" i="1" dirty="0"/>
              <a:t>f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dirty="0"/>
              <a:t>)).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-236562"/>
            <a:ext cx="8229600" cy="857250"/>
          </a:xfrm>
        </p:spPr>
        <p:txBody>
          <a:bodyPr/>
          <a:lstStyle/>
          <a:p>
            <a:pPr eaLnBrk="1" hangingPunct="1"/>
            <a:r>
              <a:rPr lang="en-US" dirty="0"/>
              <a:t>Example</a:t>
            </a:r>
          </a:p>
        </p:txBody>
      </p:sp>
      <p:sp>
        <p:nvSpPr>
          <p:cNvPr id="400387" name="Rectangle 1027"/>
          <p:cNvSpPr>
            <a:spLocks noGrp="1" noChangeArrowheads="1"/>
          </p:cNvSpPr>
          <p:nvPr>
            <p:ph idx="1"/>
          </p:nvPr>
        </p:nvSpPr>
        <p:spPr>
          <a:xfrm>
            <a:off x="539552" y="1275606"/>
            <a:ext cx="8496944" cy="3532585"/>
          </a:xfrm>
        </p:spPr>
        <p:txBody>
          <a:bodyPr>
            <a:noAutofit/>
          </a:bodyPr>
          <a:lstStyle/>
          <a:p>
            <a:pPr eaLnBrk="1" hangingPunct="1">
              <a:spcBef>
                <a:spcPct val="100000"/>
              </a:spcBef>
            </a:pPr>
            <a:r>
              <a:rPr lang="en-US" sz="2600" dirty="0"/>
              <a:t>Insertion sort takes </a:t>
            </a:r>
            <a:r>
              <a:rPr lang="en-US" sz="2600" dirty="0">
                <a:latin typeface="Symbol" pitchFamily="18" charset="2"/>
              </a:rPr>
              <a:t>Q</a:t>
            </a:r>
            <a:r>
              <a:rPr lang="en-US" sz="2600" dirty="0"/>
              <a:t>(n</a:t>
            </a:r>
            <a:r>
              <a:rPr lang="en-US" sz="2600" baseline="30000" dirty="0"/>
              <a:t>2</a:t>
            </a:r>
            <a:r>
              <a:rPr lang="en-US" sz="2600" dirty="0"/>
              <a:t>) in the worst case, so sorting (as a problem) is O(n</a:t>
            </a:r>
            <a:r>
              <a:rPr lang="en-US" sz="2600" baseline="30000" dirty="0"/>
              <a:t>2</a:t>
            </a:r>
            <a:r>
              <a:rPr lang="en-US" sz="2600" dirty="0"/>
              <a:t>).  </a:t>
            </a:r>
            <a:endParaRPr lang="en-US" sz="2600" u="sng" dirty="0"/>
          </a:p>
          <a:p>
            <a:pPr eaLnBrk="1" hangingPunct="1">
              <a:spcBef>
                <a:spcPct val="100000"/>
              </a:spcBef>
            </a:pPr>
            <a:r>
              <a:rPr lang="en-US" sz="2600" dirty="0"/>
              <a:t>Any sort algorithm must look at each item, so sorting is </a:t>
            </a:r>
            <a:r>
              <a:rPr lang="en-US" sz="2600" dirty="0">
                <a:latin typeface="Symbol" pitchFamily="18" charset="2"/>
              </a:rPr>
              <a:t>W</a:t>
            </a:r>
            <a:r>
              <a:rPr lang="en-US" sz="2600" dirty="0"/>
              <a:t>(n).</a:t>
            </a:r>
          </a:p>
          <a:p>
            <a:pPr eaLnBrk="1" hangingPunct="1">
              <a:spcBef>
                <a:spcPct val="100000"/>
              </a:spcBef>
            </a:pPr>
            <a:r>
              <a:rPr lang="en-US" sz="2600" dirty="0"/>
              <a:t>In fact, using (e.g.) merge sort, sorting is </a:t>
            </a:r>
            <a:r>
              <a:rPr lang="en-US" sz="2600" dirty="0">
                <a:latin typeface="Symbol" pitchFamily="18" charset="2"/>
              </a:rPr>
              <a:t>Q</a:t>
            </a:r>
            <a:r>
              <a:rPr lang="en-US" sz="2600" dirty="0"/>
              <a:t>(n lg n) in the worst case.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0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123478"/>
            <a:ext cx="7543800" cy="1088068"/>
          </a:xfrm>
        </p:spPr>
        <p:txBody>
          <a:bodyPr/>
          <a:lstStyle/>
          <a:p>
            <a:pPr eaLnBrk="1" hangingPunct="1"/>
            <a:r>
              <a:rPr lang="en-US" dirty="0"/>
              <a:t>Asymptotic Notation in Equations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19622"/>
            <a:ext cx="7772400" cy="33480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Can use asymptotic notation in equations to replace expressions containing lower-order terms.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For example,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4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 + 3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 + 2</a:t>
            </a:r>
            <a:r>
              <a:rPr lang="en-US" i="1" dirty="0"/>
              <a:t>n</a:t>
            </a:r>
            <a:r>
              <a:rPr lang="en-US" dirty="0"/>
              <a:t> + 1 = 4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 + 3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 +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dirty="0"/>
              <a:t>= 4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 +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2</a:t>
            </a:r>
            <a:r>
              <a:rPr lang="en-US" dirty="0"/>
              <a:t>) =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baseline="30000" dirty="0"/>
              <a:t>3</a:t>
            </a:r>
            <a:r>
              <a:rPr lang="en-US" dirty="0"/>
              <a:t>). </a:t>
            </a:r>
            <a:endParaRPr lang="en-US" sz="2400" u="sng" dirty="0"/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800" dirty="0"/>
              <a:t>In equations, </a:t>
            </a:r>
            <a:r>
              <a:rPr lang="en-US" sz="2800" dirty="0">
                <a:sym typeface="Symbol" pitchFamily="18" charset="2"/>
              </a:rPr>
              <a:t>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 always stands for an </a:t>
            </a:r>
            <a:r>
              <a:rPr lang="en-US" sz="2800" i="1" dirty="0"/>
              <a:t>anonymous function</a:t>
            </a:r>
            <a:r>
              <a:rPr lang="en-US" sz="2800" dirty="0"/>
              <a:t> </a:t>
            </a:r>
            <a:r>
              <a:rPr lang="en-US" sz="2800" i="1" dirty="0"/>
              <a:t>g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 </a:t>
            </a:r>
            <a:r>
              <a:rPr lang="en-US" sz="2800" dirty="0">
                <a:latin typeface="Symbol" pitchFamily="18" charset="2"/>
              </a:rPr>
              <a:t>Î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</a:t>
            </a:r>
            <a:r>
              <a:rPr lang="en-US" sz="2800" dirty="0"/>
              <a:t>(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))</a:t>
            </a: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sz="2400" dirty="0"/>
              <a:t>In the example above, </a:t>
            </a:r>
            <a:r>
              <a:rPr lang="en-US" sz="2400" dirty="0">
                <a:sym typeface="Symbol" pitchFamily="18" charset="2"/>
              </a:rPr>
              <a:t></a:t>
            </a:r>
            <a:r>
              <a:rPr lang="en-US" sz="2400" dirty="0"/>
              <a:t>(</a:t>
            </a:r>
            <a:r>
              <a:rPr lang="en-US" sz="2400" i="1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) stands for </a:t>
            </a:r>
            <a:br>
              <a:rPr lang="en-US" sz="2400" dirty="0"/>
            </a:br>
            <a:r>
              <a:rPr lang="en-US" sz="2400" dirty="0"/>
              <a:t>3</a:t>
            </a:r>
            <a:r>
              <a:rPr lang="en-US" sz="2400" i="1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+ 2</a:t>
            </a:r>
            <a:r>
              <a:rPr lang="en-US" sz="2400" i="1" dirty="0"/>
              <a:t>n</a:t>
            </a:r>
            <a:r>
              <a:rPr lang="en-US" sz="2400" dirty="0"/>
              <a:t> + 1.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3409"/>
            <a:ext cx="8363272" cy="640394"/>
          </a:xfrm>
        </p:spPr>
        <p:txBody>
          <a:bodyPr>
            <a:normAutofit/>
          </a:bodyPr>
          <a:lstStyle/>
          <a:p>
            <a:pPr eaLnBrk="1" hangingPunct="1"/>
            <a:r>
              <a:rPr lang="en-US" i="1" dirty="0">
                <a:sym typeface="Symbol" pitchFamily="18" charset="2"/>
              </a:rPr>
              <a:t>o</a:t>
            </a:r>
            <a:r>
              <a:rPr lang="en-US" dirty="0">
                <a:sym typeface="Symbol" pitchFamily="18" charset="2"/>
              </a:rPr>
              <a:t>-notation</a:t>
            </a:r>
            <a:endParaRPr lang="en-US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331790" y="2298501"/>
            <a:ext cx="8632698" cy="2361481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itchFamily="2" charset="2"/>
              <a:buNone/>
            </a:pPr>
            <a:r>
              <a:rPr lang="en-US" sz="2800" i="1" dirty="0"/>
              <a:t> 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 becomes insignificant relative to </a:t>
            </a:r>
            <a:r>
              <a:rPr lang="en-US" sz="2800" i="1" dirty="0"/>
              <a:t>g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</a:t>
            </a:r>
            <a:r>
              <a:rPr lang="en-US" sz="2800" i="1" dirty="0"/>
              <a:t> </a:t>
            </a:r>
            <a:r>
              <a:rPr lang="en-US" sz="2800" dirty="0"/>
              <a:t>as </a:t>
            </a:r>
            <a:r>
              <a:rPr lang="en-US" sz="2800" i="1" dirty="0"/>
              <a:t>n </a:t>
            </a:r>
            <a:r>
              <a:rPr lang="en-US" sz="2800" dirty="0"/>
              <a:t>approaches infinity: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itchFamily="2" charset="2"/>
              <a:buNone/>
            </a:pPr>
            <a:r>
              <a:rPr lang="en-US" sz="3100" dirty="0"/>
              <a:t>			  </a:t>
            </a:r>
            <a:r>
              <a:rPr lang="en-US" sz="3100" i="1" dirty="0" err="1"/>
              <a:t>lim</a:t>
            </a:r>
            <a:r>
              <a:rPr lang="en-US" sz="3100" i="1" dirty="0"/>
              <a:t> </a:t>
            </a:r>
            <a:r>
              <a:rPr lang="en-US" sz="3100" dirty="0">
                <a:sym typeface="Symbol" pitchFamily="18" charset="2"/>
              </a:rPr>
              <a:t>[</a:t>
            </a:r>
            <a:r>
              <a:rPr lang="en-US" sz="3100" i="1" dirty="0"/>
              <a:t>f</a:t>
            </a:r>
            <a:r>
              <a:rPr lang="en-US" sz="3100" dirty="0"/>
              <a:t>(</a:t>
            </a:r>
            <a:r>
              <a:rPr lang="en-US" sz="3100" i="1" dirty="0"/>
              <a:t>n</a:t>
            </a:r>
            <a:r>
              <a:rPr lang="en-US" sz="3100" dirty="0"/>
              <a:t>) / </a:t>
            </a:r>
            <a:r>
              <a:rPr lang="en-US" sz="3100" i="1" dirty="0"/>
              <a:t>g</a:t>
            </a:r>
            <a:r>
              <a:rPr lang="en-US" sz="3100" dirty="0"/>
              <a:t>(</a:t>
            </a:r>
            <a:r>
              <a:rPr lang="en-US" sz="3100" i="1" dirty="0"/>
              <a:t>n</a:t>
            </a:r>
            <a:r>
              <a:rPr lang="en-US" sz="3100" dirty="0"/>
              <a:t>)] = 0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3100" dirty="0"/>
              <a:t>                     </a:t>
            </a:r>
            <a:r>
              <a:rPr lang="en-US" sz="3100" i="1" baseline="60000" dirty="0"/>
              <a:t>n</a:t>
            </a:r>
            <a:r>
              <a:rPr lang="en-US" sz="3100" i="1" baseline="60000" dirty="0">
                <a:sym typeface="Symbol" pitchFamily="18" charset="2"/>
              </a:rPr>
              <a:t></a:t>
            </a:r>
            <a:r>
              <a:rPr lang="en-US" sz="3100" i="1" dirty="0"/>
              <a:t> </a:t>
            </a:r>
            <a:endParaRPr lang="en-US" sz="31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20000"/>
              </a:spcAft>
              <a:buFont typeface="Wingdings" pitchFamily="2" charset="2"/>
              <a:buNone/>
            </a:pPr>
            <a:r>
              <a:rPr lang="en-US" sz="2800" i="1" dirty="0"/>
              <a:t>g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 is an</a:t>
            </a:r>
            <a:r>
              <a:rPr lang="en-US" sz="2800" i="1" dirty="0"/>
              <a:t> upper bound</a:t>
            </a:r>
            <a:r>
              <a:rPr lang="en-US" sz="2800" dirty="0"/>
              <a:t> for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</a:t>
            </a:r>
            <a:r>
              <a:rPr lang="en-US" sz="2800" i="1" dirty="0"/>
              <a:t> </a:t>
            </a:r>
            <a:r>
              <a:rPr lang="en-US" sz="2800" dirty="0"/>
              <a:t>that is not asymptotically tight.</a:t>
            </a:r>
          </a:p>
        </p:txBody>
      </p:sp>
      <p:sp>
        <p:nvSpPr>
          <p:cNvPr id="37893" name="Text Box 22"/>
          <p:cNvSpPr txBox="1">
            <a:spLocks noChangeArrowheads="1"/>
          </p:cNvSpPr>
          <p:nvPr/>
        </p:nvSpPr>
        <p:spPr bwMode="auto">
          <a:xfrm>
            <a:off x="484189" y="636985"/>
            <a:ext cx="18473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7894" name="Text Box 23"/>
          <p:cNvSpPr txBox="1">
            <a:spLocks noChangeArrowheads="1"/>
          </p:cNvSpPr>
          <p:nvPr/>
        </p:nvSpPr>
        <p:spPr bwMode="auto">
          <a:xfrm>
            <a:off x="334540" y="1324554"/>
            <a:ext cx="7981951" cy="923330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en-US" sz="3000" i="1" dirty="0">
                <a:sym typeface="Symbol" pitchFamily="18" charset="2"/>
              </a:rPr>
              <a:t>o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)) = {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): </a:t>
            </a:r>
            <a:r>
              <a:rPr lang="en-US" sz="3000" dirty="0">
                <a:sym typeface="Symbol" pitchFamily="18" charset="2"/>
              </a:rPr>
              <a:t> </a:t>
            </a:r>
            <a:r>
              <a:rPr lang="en-US" sz="3000" i="1" dirty="0"/>
              <a:t>c</a:t>
            </a:r>
            <a:r>
              <a:rPr lang="en-US" sz="3000" dirty="0"/>
              <a:t> &gt; 0, </a:t>
            </a:r>
            <a:r>
              <a:rPr lang="en-US" sz="3000" dirty="0">
                <a:sym typeface="Symbol" pitchFamily="18" charset="2"/>
              </a:rPr>
              <a:t></a:t>
            </a:r>
            <a:r>
              <a:rPr lang="en-US" sz="3000" dirty="0"/>
              <a:t> </a:t>
            </a:r>
            <a:r>
              <a:rPr lang="en-US" sz="3000" i="1" dirty="0"/>
              <a:t>n</a:t>
            </a:r>
            <a:r>
              <a:rPr lang="en-US" sz="3000" baseline="-25000" dirty="0"/>
              <a:t>0</a:t>
            </a:r>
            <a:r>
              <a:rPr lang="en-US" sz="3000" dirty="0"/>
              <a:t> &gt; 0 such that </a:t>
            </a:r>
            <a:br>
              <a:rPr lang="en-US" sz="3000" dirty="0"/>
            </a:br>
            <a:r>
              <a:rPr lang="en-US" sz="3000" dirty="0"/>
              <a:t>		</a:t>
            </a:r>
            <a:r>
              <a:rPr lang="en-US" sz="3000" dirty="0">
                <a:sym typeface="Symbol" pitchFamily="18" charset="2"/>
              </a:rPr>
              <a:t></a:t>
            </a:r>
            <a:r>
              <a:rPr lang="en-US" sz="3000" dirty="0"/>
              <a:t> </a:t>
            </a:r>
            <a:r>
              <a:rPr lang="en-US" sz="3000" i="1" dirty="0"/>
              <a:t>n </a:t>
            </a:r>
            <a:r>
              <a:rPr lang="en-US" sz="3000" dirty="0">
                <a:sym typeface="Symbol" pitchFamily="18" charset="2"/>
              </a:rPr>
              <a:t></a:t>
            </a:r>
            <a:r>
              <a:rPr lang="en-US" sz="3000" i="1" baseline="-25000" dirty="0"/>
              <a:t>  </a:t>
            </a:r>
            <a:r>
              <a:rPr lang="en-US" sz="3000" i="1" dirty="0"/>
              <a:t>n</a:t>
            </a:r>
            <a:r>
              <a:rPr lang="en-US" sz="3000" baseline="-25000" dirty="0"/>
              <a:t>0</a:t>
            </a:r>
            <a:r>
              <a:rPr lang="en-US" sz="3000" i="1" dirty="0"/>
              <a:t>, </a:t>
            </a:r>
            <a:r>
              <a:rPr lang="en-US" sz="2600" dirty="0"/>
              <a:t>we have</a:t>
            </a:r>
            <a:r>
              <a:rPr lang="en-US" sz="3000" i="1" baseline="-25000" dirty="0"/>
              <a:t> </a:t>
            </a:r>
            <a:r>
              <a:rPr lang="en-US" sz="3000" dirty="0"/>
              <a:t>0 </a:t>
            </a:r>
            <a:r>
              <a:rPr lang="en-US" sz="3000" dirty="0">
                <a:sym typeface="Symbol" pitchFamily="18" charset="2"/>
              </a:rPr>
              <a:t></a:t>
            </a:r>
            <a:r>
              <a:rPr lang="en-US" sz="3000" dirty="0"/>
              <a:t>  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</a:t>
            </a:r>
            <a:r>
              <a:rPr lang="en-US" sz="3000" i="1" dirty="0"/>
              <a:t> </a:t>
            </a:r>
            <a:r>
              <a:rPr lang="en-US" sz="3000" dirty="0">
                <a:sym typeface="Symbol" pitchFamily="18" charset="2"/>
              </a:rPr>
              <a:t>&lt;</a:t>
            </a:r>
            <a:r>
              <a:rPr lang="en-US" sz="3000" dirty="0"/>
              <a:t> </a:t>
            </a:r>
            <a:r>
              <a:rPr lang="en-US" sz="3000" i="1" dirty="0"/>
              <a:t>cg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)}.</a:t>
            </a:r>
          </a:p>
        </p:txBody>
      </p:sp>
      <p:sp>
        <p:nvSpPr>
          <p:cNvPr id="37895" name="Text Box 24"/>
          <p:cNvSpPr txBox="1">
            <a:spLocks noChangeArrowheads="1"/>
          </p:cNvSpPr>
          <p:nvPr/>
        </p:nvSpPr>
        <p:spPr bwMode="auto">
          <a:xfrm>
            <a:off x="331790" y="669683"/>
            <a:ext cx="6897979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3200" dirty="0"/>
              <a:t>For a given function </a:t>
            </a:r>
            <a:r>
              <a:rPr lang="en-US" sz="3200" i="1" dirty="0"/>
              <a:t>g</a:t>
            </a:r>
            <a:r>
              <a:rPr lang="en-US" sz="3200" dirty="0"/>
              <a:t>(</a:t>
            </a:r>
            <a:r>
              <a:rPr lang="en-US" sz="3200" i="1" dirty="0"/>
              <a:t>n</a:t>
            </a:r>
            <a:r>
              <a:rPr lang="en-US" sz="3200" dirty="0"/>
              <a:t>), the set little-</a:t>
            </a:r>
            <a:r>
              <a:rPr lang="en-US" sz="3200" i="1" dirty="0"/>
              <a:t>o</a:t>
            </a:r>
            <a:r>
              <a:rPr lang="en-US" sz="3200" dirty="0"/>
              <a:t>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84189" y="-75603"/>
            <a:ext cx="8229600" cy="857250"/>
          </a:xfrm>
        </p:spPr>
        <p:txBody>
          <a:bodyPr/>
          <a:lstStyle/>
          <a:p>
            <a:pPr eaLnBrk="1" hangingPunct="1"/>
            <a:r>
              <a:rPr lang="en-US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i="1" dirty="0">
                <a:sym typeface="Symbol" pitchFamily="18" charset="2"/>
              </a:rPr>
              <a:t> </a:t>
            </a:r>
            <a:r>
              <a:rPr lang="en-US" dirty="0">
                <a:sym typeface="Symbol" pitchFamily="18" charset="2"/>
              </a:rPr>
              <a:t>-notation</a:t>
            </a:r>
          </a:p>
        </p:txBody>
      </p:sp>
      <p:sp>
        <p:nvSpPr>
          <p:cNvPr id="38915" name="Rectangle 1027"/>
          <p:cNvSpPr>
            <a:spLocks noGrp="1" noChangeArrowheads="1"/>
          </p:cNvSpPr>
          <p:nvPr>
            <p:ph idx="1"/>
          </p:nvPr>
        </p:nvSpPr>
        <p:spPr>
          <a:xfrm>
            <a:off x="331790" y="2456258"/>
            <a:ext cx="7981951" cy="2481263"/>
          </a:xfrm>
        </p:spPr>
        <p:txBody>
          <a:bodyPr>
            <a:normAutofit lnSpcReduction="10000"/>
          </a:bodyPr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 becomes arbitrarily large  relative to </a:t>
            </a:r>
            <a:r>
              <a:rPr lang="en-US" sz="2800" i="1" dirty="0"/>
              <a:t>g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</a:t>
            </a:r>
            <a:r>
              <a:rPr lang="en-US" sz="2800" i="1" dirty="0"/>
              <a:t> </a:t>
            </a:r>
            <a:r>
              <a:rPr lang="en-US" sz="2800" dirty="0"/>
              <a:t>as </a:t>
            </a:r>
            <a:r>
              <a:rPr lang="en-US" sz="2800" i="1" dirty="0"/>
              <a:t>n </a:t>
            </a:r>
            <a:r>
              <a:rPr lang="en-US" sz="2800" dirty="0"/>
              <a:t>approaches infinity: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3400" i="1" dirty="0"/>
              <a:t>				</a:t>
            </a:r>
            <a:r>
              <a:rPr lang="en-US" sz="3400" i="1" dirty="0" err="1"/>
              <a:t>lim</a:t>
            </a:r>
            <a:r>
              <a:rPr lang="en-US" sz="3400" i="1" dirty="0"/>
              <a:t> </a:t>
            </a:r>
            <a:r>
              <a:rPr lang="en-US" sz="3400" dirty="0">
                <a:sym typeface="Symbol" pitchFamily="18" charset="2"/>
              </a:rPr>
              <a:t>[</a:t>
            </a:r>
            <a:r>
              <a:rPr lang="en-US" sz="3400" i="1" dirty="0"/>
              <a:t>f</a:t>
            </a:r>
            <a:r>
              <a:rPr lang="en-US" sz="3400" dirty="0"/>
              <a:t>(</a:t>
            </a:r>
            <a:r>
              <a:rPr lang="en-US" sz="3400" i="1" dirty="0"/>
              <a:t>n</a:t>
            </a:r>
            <a:r>
              <a:rPr lang="en-US" sz="3400" dirty="0"/>
              <a:t>) / </a:t>
            </a:r>
            <a:r>
              <a:rPr lang="en-US" sz="3400" i="1" dirty="0"/>
              <a:t>g</a:t>
            </a:r>
            <a:r>
              <a:rPr lang="en-US" sz="3400" dirty="0"/>
              <a:t>(</a:t>
            </a:r>
            <a:r>
              <a:rPr lang="en-US" sz="3400" i="1" dirty="0"/>
              <a:t>n</a:t>
            </a:r>
            <a:r>
              <a:rPr lang="en-US" sz="3400" dirty="0"/>
              <a:t>)] = </a:t>
            </a:r>
            <a:r>
              <a:rPr lang="en-US" sz="3400" dirty="0">
                <a:sym typeface="Symbol" pitchFamily="18" charset="2"/>
              </a:rPr>
              <a:t>.</a:t>
            </a:r>
            <a:endParaRPr lang="en-US" sz="3400" dirty="0"/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sz="3400" dirty="0"/>
              <a:t>                         </a:t>
            </a:r>
            <a:r>
              <a:rPr lang="en-US" sz="3400" i="1" baseline="60000" dirty="0"/>
              <a:t>n</a:t>
            </a:r>
            <a:r>
              <a:rPr lang="en-US" sz="3400" i="1" baseline="60000" dirty="0">
                <a:sym typeface="Symbol" pitchFamily="18" charset="2"/>
              </a:rPr>
              <a:t></a:t>
            </a:r>
            <a:r>
              <a:rPr lang="en-US" sz="3400" i="1" dirty="0"/>
              <a:t> </a:t>
            </a:r>
            <a:endParaRPr lang="en-US" sz="3400" dirty="0"/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Font typeface="Wingdings" pitchFamily="2" charset="2"/>
              <a:buNone/>
            </a:pPr>
            <a:r>
              <a:rPr lang="en-US" sz="2800" i="1" dirty="0"/>
              <a:t>g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 is a</a:t>
            </a:r>
            <a:r>
              <a:rPr lang="en-US" sz="2800" i="1" dirty="0"/>
              <a:t> lower bound</a:t>
            </a:r>
            <a:r>
              <a:rPr lang="en-US" sz="2800" dirty="0"/>
              <a:t> for </a:t>
            </a:r>
            <a:r>
              <a:rPr lang="en-US" sz="2800" i="1" dirty="0"/>
              <a:t>f</a:t>
            </a:r>
            <a:r>
              <a:rPr lang="en-US" sz="2800" dirty="0"/>
              <a:t>(</a:t>
            </a:r>
            <a:r>
              <a:rPr lang="en-US" sz="2800" i="1" dirty="0"/>
              <a:t>n</a:t>
            </a:r>
            <a:r>
              <a:rPr lang="en-US" sz="2800" dirty="0"/>
              <a:t>)</a:t>
            </a:r>
            <a:r>
              <a:rPr lang="en-US" sz="2800" i="1" dirty="0"/>
              <a:t> </a:t>
            </a:r>
            <a:r>
              <a:rPr lang="en-US" sz="2800" dirty="0"/>
              <a:t>that is not asymptotically tight.</a:t>
            </a:r>
          </a:p>
        </p:txBody>
      </p:sp>
      <p:sp>
        <p:nvSpPr>
          <p:cNvPr id="38917" name="Text Box 1031"/>
          <p:cNvSpPr txBox="1">
            <a:spLocks noChangeArrowheads="1"/>
          </p:cNvSpPr>
          <p:nvPr/>
        </p:nvSpPr>
        <p:spPr bwMode="auto">
          <a:xfrm>
            <a:off x="331790" y="1219200"/>
            <a:ext cx="7981951" cy="1117229"/>
          </a:xfrm>
          <a:prstGeom prst="rect">
            <a:avLst/>
          </a:prstGeom>
          <a:solidFill>
            <a:srgbClr val="CCE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Aft>
                <a:spcPct val="20000"/>
              </a:spcAft>
              <a:buFont typeface="Wingdings" pitchFamily="2" charset="2"/>
              <a:buNone/>
            </a:pPr>
            <a:r>
              <a:rPr lang="en-US" sz="4400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3000" dirty="0"/>
              <a:t>(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)) = {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): </a:t>
            </a:r>
            <a:r>
              <a:rPr lang="en-US" sz="3000" dirty="0">
                <a:sym typeface="Symbol" pitchFamily="18" charset="2"/>
              </a:rPr>
              <a:t> </a:t>
            </a:r>
            <a:r>
              <a:rPr lang="en-US" sz="3000" i="1" dirty="0"/>
              <a:t>c</a:t>
            </a:r>
            <a:r>
              <a:rPr lang="en-US" sz="3000" dirty="0"/>
              <a:t> &gt; 0, </a:t>
            </a:r>
            <a:r>
              <a:rPr lang="en-US" sz="3000" dirty="0">
                <a:sym typeface="Symbol" pitchFamily="18" charset="2"/>
              </a:rPr>
              <a:t></a:t>
            </a:r>
            <a:r>
              <a:rPr lang="en-US" sz="3000" dirty="0"/>
              <a:t> </a:t>
            </a:r>
            <a:r>
              <a:rPr lang="en-US" sz="3000" i="1" dirty="0"/>
              <a:t>n</a:t>
            </a:r>
            <a:r>
              <a:rPr lang="en-US" sz="3000" baseline="-25000" dirty="0"/>
              <a:t>0</a:t>
            </a:r>
            <a:r>
              <a:rPr lang="en-US" sz="3000" dirty="0"/>
              <a:t> &gt; 0 such that </a:t>
            </a:r>
            <a:br>
              <a:rPr lang="en-US" sz="3000" dirty="0"/>
            </a:br>
            <a:r>
              <a:rPr lang="en-US" sz="3000" dirty="0"/>
              <a:t>		</a:t>
            </a:r>
            <a:r>
              <a:rPr lang="en-US" sz="3000" dirty="0">
                <a:sym typeface="Symbol" pitchFamily="18" charset="2"/>
              </a:rPr>
              <a:t></a:t>
            </a:r>
            <a:r>
              <a:rPr lang="en-US" sz="3000" dirty="0"/>
              <a:t> </a:t>
            </a:r>
            <a:r>
              <a:rPr lang="en-US" sz="3000" i="1" dirty="0"/>
              <a:t>n </a:t>
            </a:r>
            <a:r>
              <a:rPr lang="en-US" sz="3000" dirty="0">
                <a:sym typeface="Symbol" pitchFamily="18" charset="2"/>
              </a:rPr>
              <a:t></a:t>
            </a:r>
            <a:r>
              <a:rPr lang="en-US" sz="3000" i="1" baseline="-25000" dirty="0"/>
              <a:t>  </a:t>
            </a:r>
            <a:r>
              <a:rPr lang="en-US" sz="3000" i="1" dirty="0"/>
              <a:t>n</a:t>
            </a:r>
            <a:r>
              <a:rPr lang="en-US" sz="3000" baseline="-25000" dirty="0"/>
              <a:t>0</a:t>
            </a:r>
            <a:r>
              <a:rPr lang="en-US" sz="3000" i="1" dirty="0"/>
              <a:t>, </a:t>
            </a:r>
            <a:r>
              <a:rPr lang="en-US" sz="2600" dirty="0"/>
              <a:t>we have</a:t>
            </a:r>
            <a:r>
              <a:rPr lang="en-US" sz="3000" i="1" baseline="-25000" dirty="0"/>
              <a:t> </a:t>
            </a:r>
            <a:r>
              <a:rPr lang="en-US" sz="3000" dirty="0"/>
              <a:t>0 </a:t>
            </a:r>
            <a:r>
              <a:rPr lang="en-US" sz="3000" dirty="0">
                <a:sym typeface="Symbol" pitchFamily="18" charset="2"/>
              </a:rPr>
              <a:t></a:t>
            </a:r>
            <a:r>
              <a:rPr lang="en-US" sz="3000" dirty="0"/>
              <a:t> </a:t>
            </a:r>
            <a:r>
              <a:rPr lang="en-US" sz="3000" i="1" dirty="0"/>
              <a:t>cg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 </a:t>
            </a:r>
            <a:r>
              <a:rPr lang="en-US" sz="3000" dirty="0">
                <a:sym typeface="Symbol" pitchFamily="18" charset="2"/>
              </a:rPr>
              <a:t>&lt; </a:t>
            </a:r>
            <a:r>
              <a:rPr lang="en-US" sz="3000" dirty="0"/>
              <a:t> 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)}.</a:t>
            </a:r>
          </a:p>
        </p:txBody>
      </p:sp>
      <p:sp>
        <p:nvSpPr>
          <p:cNvPr id="38918" name="Text Box 1028"/>
          <p:cNvSpPr txBox="1">
            <a:spLocks noChangeArrowheads="1"/>
          </p:cNvSpPr>
          <p:nvPr/>
        </p:nvSpPr>
        <p:spPr bwMode="auto">
          <a:xfrm>
            <a:off x="484189" y="636985"/>
            <a:ext cx="184731" cy="3693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38919" name="Text Box 1030"/>
          <p:cNvSpPr txBox="1">
            <a:spLocks noChangeArrowheads="1"/>
          </p:cNvSpPr>
          <p:nvPr/>
        </p:nvSpPr>
        <p:spPr bwMode="auto">
          <a:xfrm>
            <a:off x="576266" y="651274"/>
            <a:ext cx="7820089" cy="5847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>
            <a:spAutoFit/>
          </a:bodyPr>
          <a:lstStyle/>
          <a:p>
            <a:r>
              <a:rPr lang="en-US" sz="3200"/>
              <a:t>For a given function </a:t>
            </a:r>
            <a:r>
              <a:rPr lang="en-US" sz="3200" i="1"/>
              <a:t>g</a:t>
            </a:r>
            <a:r>
              <a:rPr lang="en-US" sz="3200"/>
              <a:t>(</a:t>
            </a:r>
            <a:r>
              <a:rPr lang="en-US" sz="3200" i="1"/>
              <a:t>n</a:t>
            </a:r>
            <a:r>
              <a:rPr lang="en-US" sz="3200"/>
              <a:t>), the set little-omega: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283D4-51BD-200D-CCAC-E36D6C94C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4083"/>
            <a:ext cx="8229600" cy="577467"/>
          </a:xfrm>
        </p:spPr>
        <p:txBody>
          <a:bodyPr>
            <a:normAutofit fontScale="90000"/>
          </a:bodyPr>
          <a:lstStyle/>
          <a:p>
            <a:r>
              <a:rPr lang="en-IN" sz="1800" b="1" u="sng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IN" sz="1800" b="1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elationships between these notations:</a:t>
            </a:r>
            <a:br>
              <a:rPr lang="en-IN" sz="1800" b="1" u="sng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b="1" u="sn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B134D0-F0B5-874E-5C1F-7DAC5E390D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203598"/>
            <a:ext cx="4353211" cy="27363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55839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-199780"/>
            <a:ext cx="7543800" cy="1088068"/>
          </a:xfrm>
        </p:spPr>
        <p:txBody>
          <a:bodyPr/>
          <a:lstStyle/>
          <a:p>
            <a:pPr eaLnBrk="1" hangingPunct="1"/>
            <a:r>
              <a:rPr lang="en-US" b="1" u="sng" dirty="0"/>
              <a:t>Comparison of Functions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514351" y="906067"/>
            <a:ext cx="7772400" cy="3517106"/>
          </a:xfrm>
        </p:spPr>
        <p:txBody>
          <a:bodyPr>
            <a:normAutofit/>
          </a:bodyPr>
          <a:lstStyle/>
          <a:p>
            <a:pPr algn="ctr" eaLnBrk="1" hangingPunct="1">
              <a:buFont typeface="Wingdings" pitchFamily="2" charset="2"/>
              <a:buNone/>
            </a:pPr>
            <a:r>
              <a:rPr lang="en-US" i="1" dirty="0"/>
              <a:t>             f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dirty="0"/>
              <a:t> </a:t>
            </a:r>
            <a:r>
              <a:rPr lang="en-US" i="1" dirty="0"/>
              <a:t>g  </a:t>
            </a:r>
            <a:r>
              <a:rPr lang="en-US" dirty="0">
                <a:sym typeface="Symbol" pitchFamily="18" charset="2"/>
              </a:rPr>
              <a:t>  </a:t>
            </a:r>
            <a:r>
              <a:rPr lang="en-US" i="1" dirty="0"/>
              <a:t>a </a:t>
            </a:r>
            <a:r>
              <a:rPr lang="en-US" dirty="0">
                <a:sym typeface="Symbol" pitchFamily="18" charset="2"/>
              </a:rPr>
              <a:t></a:t>
            </a:r>
            <a:r>
              <a:rPr lang="en-US" i="1" dirty="0"/>
              <a:t> b</a:t>
            </a:r>
          </a:p>
          <a:p>
            <a:pPr algn="ctr" eaLnBrk="1" hangingPunct="1">
              <a:buFont typeface="Wingdings" pitchFamily="2" charset="2"/>
              <a:buNone/>
            </a:pPr>
            <a:endParaRPr lang="en-US" sz="2000" i="1" dirty="0"/>
          </a:p>
          <a:p>
            <a:pPr algn="ctr" eaLnBrk="1" hangingPunct="1">
              <a:buFont typeface="Wingdings" pitchFamily="2" charset="2"/>
              <a:buNone/>
            </a:pPr>
            <a:r>
              <a:rPr lang="en-US" i="1" dirty="0"/>
              <a:t>f 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= O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))</a:t>
            </a:r>
            <a:r>
              <a:rPr lang="en-US" i="1" dirty="0"/>
              <a:t>  </a:t>
            </a:r>
            <a:r>
              <a:rPr lang="en-US" dirty="0">
                <a:sym typeface="Symbol" pitchFamily="18" charset="2"/>
              </a:rPr>
              <a:t></a:t>
            </a:r>
            <a:r>
              <a:rPr lang="en-US" i="1" dirty="0"/>
              <a:t>  a  </a:t>
            </a:r>
            <a:r>
              <a:rPr lang="en-US" dirty="0">
                <a:sym typeface="Symbol" pitchFamily="18" charset="2"/>
              </a:rPr>
              <a:t></a:t>
            </a:r>
            <a:r>
              <a:rPr lang="en-US" i="1" dirty="0">
                <a:sym typeface="Symbol" pitchFamily="18" charset="2"/>
              </a:rPr>
              <a:t>   </a:t>
            </a:r>
            <a:r>
              <a:rPr lang="en-US" i="1" dirty="0"/>
              <a:t>b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i="1" dirty="0"/>
              <a:t>f 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= </a:t>
            </a:r>
            <a:r>
              <a:rPr lang="en-US" dirty="0">
                <a:sym typeface="Symbol" pitchFamily="18" charset="2"/>
              </a:rPr>
              <a:t>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))</a:t>
            </a:r>
            <a:r>
              <a:rPr lang="en-US" i="1" dirty="0"/>
              <a:t>  </a:t>
            </a:r>
            <a:r>
              <a:rPr lang="en-US" dirty="0">
                <a:sym typeface="Symbol" pitchFamily="18" charset="2"/>
              </a:rPr>
              <a:t></a:t>
            </a:r>
            <a:r>
              <a:rPr lang="en-US" i="1" dirty="0"/>
              <a:t>  a  </a:t>
            </a:r>
            <a:r>
              <a:rPr lang="en-US" dirty="0">
                <a:sym typeface="Symbol" pitchFamily="18" charset="2"/>
              </a:rPr>
              <a:t></a:t>
            </a:r>
            <a:r>
              <a:rPr lang="en-US" i="1" dirty="0">
                <a:sym typeface="Symbol" pitchFamily="18" charset="2"/>
              </a:rPr>
              <a:t>  </a:t>
            </a:r>
            <a:r>
              <a:rPr lang="en-US" i="1" dirty="0"/>
              <a:t>b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i="1" dirty="0"/>
              <a:t>f 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= </a:t>
            </a:r>
            <a:r>
              <a:rPr lang="en-US" dirty="0">
                <a:sym typeface="Symbol" pitchFamily="18" charset="2"/>
              </a:rPr>
              <a:t>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))</a:t>
            </a:r>
            <a:r>
              <a:rPr lang="en-US" i="1" dirty="0"/>
              <a:t>  </a:t>
            </a:r>
            <a:r>
              <a:rPr lang="en-US" dirty="0">
                <a:sym typeface="Symbol" pitchFamily="18" charset="2"/>
              </a:rPr>
              <a:t></a:t>
            </a:r>
            <a:r>
              <a:rPr lang="en-US" i="1" dirty="0"/>
              <a:t>  a  =  b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i="1" dirty="0"/>
              <a:t>f 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= o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))</a:t>
            </a:r>
            <a:r>
              <a:rPr lang="en-US" i="1" dirty="0"/>
              <a:t>  </a:t>
            </a:r>
            <a:r>
              <a:rPr lang="en-US" dirty="0">
                <a:sym typeface="Symbol" pitchFamily="18" charset="2"/>
              </a:rPr>
              <a:t></a:t>
            </a:r>
            <a:r>
              <a:rPr lang="en-US" i="1" dirty="0"/>
              <a:t>  a  </a:t>
            </a:r>
            <a:r>
              <a:rPr lang="en-US" dirty="0"/>
              <a:t>&lt;</a:t>
            </a:r>
            <a:r>
              <a:rPr lang="en-US" i="1" dirty="0"/>
              <a:t>  b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i="1" dirty="0"/>
              <a:t>f 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</a:t>
            </a:r>
            <a:r>
              <a:rPr lang="en-US" i="1" dirty="0"/>
              <a:t> = </a:t>
            </a:r>
            <a:r>
              <a:rPr lang="en-US" i="1" dirty="0">
                <a:latin typeface="Symbol" pitchFamily="18" charset="2"/>
                <a:sym typeface="Symbol" pitchFamily="18" charset="2"/>
              </a:rPr>
              <a:t>w </a:t>
            </a:r>
            <a:r>
              <a:rPr lang="en-US" dirty="0"/>
              <a:t>(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))</a:t>
            </a:r>
            <a:r>
              <a:rPr lang="en-US" i="1" dirty="0"/>
              <a:t>  </a:t>
            </a:r>
            <a:r>
              <a:rPr lang="en-US" dirty="0">
                <a:sym typeface="Symbol" pitchFamily="18" charset="2"/>
              </a:rPr>
              <a:t></a:t>
            </a:r>
            <a:r>
              <a:rPr lang="en-US" i="1" dirty="0"/>
              <a:t>  a  </a:t>
            </a:r>
            <a:r>
              <a:rPr lang="en-US" dirty="0"/>
              <a:t>&gt;</a:t>
            </a:r>
            <a:r>
              <a:rPr lang="en-US" i="1" dirty="0"/>
              <a:t>  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u="sng" dirty="0"/>
              <a:t>Limits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91630"/>
            <a:ext cx="7772400" cy="324036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3000" i="1" dirty="0" err="1"/>
              <a:t>lim</a:t>
            </a:r>
            <a:r>
              <a:rPr lang="en-US" sz="3000" i="1" dirty="0"/>
              <a:t> </a:t>
            </a:r>
            <a:r>
              <a:rPr lang="en-US" sz="3000" dirty="0">
                <a:sym typeface="Symbol" pitchFamily="18" charset="2"/>
              </a:rPr>
              <a:t>[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 / 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)] = </a:t>
            </a:r>
            <a:r>
              <a:rPr lang="en-US" sz="3000" dirty="0">
                <a:sym typeface="Symbol" pitchFamily="18" charset="2"/>
              </a:rPr>
              <a:t>0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Þ</a:t>
            </a:r>
            <a:r>
              <a:rPr lang="en-US" sz="3000" i="1" dirty="0">
                <a:sym typeface="Symbol" pitchFamily="18" charset="2"/>
              </a:rPr>
              <a:t> f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</a:t>
            </a:r>
            <a:r>
              <a:rPr lang="en-US" sz="3000" i="1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Î</a:t>
            </a:r>
            <a:r>
              <a:rPr lang="en-US" sz="3000" dirty="0">
                <a:sym typeface="Symbol" pitchFamily="18" charset="2"/>
              </a:rPr>
              <a:t> </a:t>
            </a:r>
            <a:r>
              <a:rPr lang="en-US" sz="3000" i="1" dirty="0">
                <a:latin typeface="Symbol" pitchFamily="18" charset="2"/>
                <a:sym typeface="Symbol" pitchFamily="18" charset="2"/>
              </a:rPr>
              <a:t>o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g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))</a:t>
            </a:r>
            <a:endParaRPr lang="en-US" sz="3000" i="1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i="1" dirty="0"/>
              <a:t>    </a:t>
            </a:r>
            <a:r>
              <a:rPr lang="en-US" sz="3000" i="1" baseline="40000" dirty="0"/>
              <a:t>n</a:t>
            </a:r>
            <a:r>
              <a:rPr lang="en-US" sz="3000" i="1" baseline="40000" dirty="0">
                <a:sym typeface="Symbol" pitchFamily="18" charset="2"/>
              </a:rPr>
              <a:t></a:t>
            </a:r>
            <a:endParaRPr lang="en-US" sz="3000" baseline="300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3000" i="1" dirty="0" err="1"/>
              <a:t>lim</a:t>
            </a:r>
            <a:r>
              <a:rPr lang="en-US" sz="3000" i="1" dirty="0"/>
              <a:t> </a:t>
            </a:r>
            <a:r>
              <a:rPr lang="en-US" sz="3000" dirty="0">
                <a:sym typeface="Symbol" pitchFamily="18" charset="2"/>
              </a:rPr>
              <a:t>[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 / 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)] &lt; </a:t>
            </a:r>
            <a:r>
              <a:rPr lang="en-US" sz="3000" dirty="0">
                <a:sym typeface="Symbol" pitchFamily="18" charset="2"/>
              </a:rPr>
              <a:t>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Þ</a:t>
            </a:r>
            <a:r>
              <a:rPr lang="en-US" sz="3000" i="1" dirty="0">
                <a:sym typeface="Symbol" pitchFamily="18" charset="2"/>
              </a:rPr>
              <a:t> f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</a:t>
            </a:r>
            <a:r>
              <a:rPr lang="en-US" sz="3000" i="1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Î</a:t>
            </a:r>
            <a:r>
              <a:rPr lang="en-US" sz="3000" dirty="0">
                <a:sym typeface="Symbol" pitchFamily="18" charset="2"/>
              </a:rPr>
              <a:t> </a:t>
            </a:r>
            <a:r>
              <a:rPr lang="en-US" sz="3000" i="1" dirty="0">
                <a:latin typeface="Symbol" pitchFamily="18" charset="2"/>
                <a:sym typeface="Symbol" pitchFamily="18" charset="2"/>
              </a:rPr>
              <a:t>O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g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))</a:t>
            </a:r>
            <a:endParaRPr lang="en-US" sz="3000" i="1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i="1" dirty="0"/>
              <a:t>    </a:t>
            </a:r>
            <a:r>
              <a:rPr lang="en-US" sz="3000" i="1" baseline="40000" dirty="0"/>
              <a:t>n</a:t>
            </a:r>
            <a:r>
              <a:rPr lang="en-US" sz="3000" i="1" baseline="40000" dirty="0">
                <a:sym typeface="Symbol" pitchFamily="18" charset="2"/>
              </a:rPr>
              <a:t></a:t>
            </a:r>
            <a:endParaRPr lang="en-US" sz="3000" baseline="300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3000" i="1" dirty="0"/>
              <a:t>0 &lt; </a:t>
            </a:r>
            <a:r>
              <a:rPr lang="en-US" sz="3000" i="1" dirty="0" err="1"/>
              <a:t>lim</a:t>
            </a:r>
            <a:r>
              <a:rPr lang="en-US" sz="3000" i="1" dirty="0"/>
              <a:t> </a:t>
            </a:r>
            <a:r>
              <a:rPr lang="en-US" sz="3000" dirty="0">
                <a:sym typeface="Symbol" pitchFamily="18" charset="2"/>
              </a:rPr>
              <a:t>[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 / 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)] &lt; </a:t>
            </a:r>
            <a:r>
              <a:rPr lang="en-US" sz="3000" dirty="0">
                <a:sym typeface="Symbol" pitchFamily="18" charset="2"/>
              </a:rPr>
              <a:t>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Þ</a:t>
            </a:r>
            <a:r>
              <a:rPr lang="en-US" sz="3000" i="1" dirty="0">
                <a:sym typeface="Symbol" pitchFamily="18" charset="2"/>
              </a:rPr>
              <a:t> f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</a:t>
            </a:r>
            <a:r>
              <a:rPr lang="en-US" sz="3000" i="1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Î</a:t>
            </a:r>
            <a:r>
              <a:rPr lang="en-US" sz="3000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Q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g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))</a:t>
            </a:r>
            <a:endParaRPr lang="en-US" sz="3000" i="1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i="1" dirty="0"/>
              <a:t>            </a:t>
            </a:r>
            <a:r>
              <a:rPr lang="en-US" sz="3000" i="1" baseline="40000" dirty="0"/>
              <a:t>n</a:t>
            </a:r>
            <a:r>
              <a:rPr lang="en-US" sz="3000" i="1" baseline="40000" dirty="0">
                <a:sym typeface="Symbol" pitchFamily="18" charset="2"/>
              </a:rPr>
              <a:t></a:t>
            </a:r>
            <a:endParaRPr lang="en-US" sz="3000" baseline="300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3000" i="1" dirty="0"/>
              <a:t>0 &lt; </a:t>
            </a:r>
            <a:r>
              <a:rPr lang="en-US" sz="3000" i="1" dirty="0" err="1"/>
              <a:t>lim</a:t>
            </a:r>
            <a:r>
              <a:rPr lang="en-US" sz="3000" i="1" dirty="0"/>
              <a:t> </a:t>
            </a:r>
            <a:r>
              <a:rPr lang="en-US" sz="3000" dirty="0">
                <a:sym typeface="Symbol" pitchFamily="18" charset="2"/>
              </a:rPr>
              <a:t>[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 / 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)]</a:t>
            </a:r>
            <a:r>
              <a:rPr lang="en-US" sz="3000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Þ</a:t>
            </a:r>
            <a:r>
              <a:rPr lang="en-US" sz="3000" i="1" dirty="0">
                <a:sym typeface="Symbol" pitchFamily="18" charset="2"/>
              </a:rPr>
              <a:t> f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</a:t>
            </a:r>
            <a:r>
              <a:rPr lang="en-US" sz="3000" i="1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Î W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g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))</a:t>
            </a:r>
            <a:endParaRPr lang="en-US" sz="3000" i="1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i="1" dirty="0"/>
              <a:t>            </a:t>
            </a:r>
            <a:r>
              <a:rPr lang="en-US" sz="3000" i="1" baseline="40000" dirty="0"/>
              <a:t>n</a:t>
            </a:r>
            <a:r>
              <a:rPr lang="en-US" sz="3000" i="1" baseline="40000" dirty="0">
                <a:sym typeface="Symbol" pitchFamily="18" charset="2"/>
              </a:rPr>
              <a:t></a:t>
            </a:r>
            <a:endParaRPr lang="en-US" sz="3000" baseline="300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3000" i="1" dirty="0" err="1"/>
              <a:t>lim</a:t>
            </a:r>
            <a:r>
              <a:rPr lang="en-US" sz="3000" i="1" dirty="0"/>
              <a:t> </a:t>
            </a:r>
            <a:r>
              <a:rPr lang="en-US" sz="3000" dirty="0">
                <a:sym typeface="Symbol" pitchFamily="18" charset="2"/>
              </a:rPr>
              <a:t>[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 / 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)] = </a:t>
            </a:r>
            <a:r>
              <a:rPr lang="en-US" sz="3000" dirty="0">
                <a:sym typeface="Symbol" pitchFamily="18" charset="2"/>
              </a:rPr>
              <a:t>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Þ</a:t>
            </a:r>
            <a:r>
              <a:rPr lang="en-US" sz="3000" i="1" dirty="0">
                <a:sym typeface="Symbol" pitchFamily="18" charset="2"/>
              </a:rPr>
              <a:t> f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</a:t>
            </a:r>
            <a:r>
              <a:rPr lang="en-US" sz="3000" i="1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Î</a:t>
            </a:r>
            <a:r>
              <a:rPr lang="en-US" sz="3000" dirty="0">
                <a:sym typeface="Symbol" pitchFamily="18" charset="2"/>
              </a:rPr>
              <a:t> </a:t>
            </a:r>
            <a:r>
              <a:rPr lang="en-US" sz="3000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g</a:t>
            </a:r>
            <a:r>
              <a:rPr lang="en-US" sz="3000" dirty="0">
                <a:sym typeface="Symbol" pitchFamily="18" charset="2"/>
              </a:rPr>
              <a:t>(</a:t>
            </a:r>
            <a:r>
              <a:rPr lang="en-US" sz="3000" i="1" dirty="0">
                <a:sym typeface="Symbol" pitchFamily="18" charset="2"/>
              </a:rPr>
              <a:t>n</a:t>
            </a:r>
            <a:r>
              <a:rPr lang="en-US" sz="3000" dirty="0">
                <a:sym typeface="Symbol" pitchFamily="18" charset="2"/>
              </a:rPr>
              <a:t>))</a:t>
            </a:r>
            <a:endParaRPr lang="en-US" sz="3000" i="1" dirty="0"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i="1" dirty="0"/>
              <a:t>    </a:t>
            </a:r>
            <a:r>
              <a:rPr lang="en-US" sz="3000" i="1" baseline="40000" dirty="0"/>
              <a:t>n</a:t>
            </a:r>
            <a:r>
              <a:rPr lang="en-US" sz="3000" i="1" baseline="40000" dirty="0">
                <a:sym typeface="Symbol" pitchFamily="18" charset="2"/>
              </a:rPr>
              <a:t></a:t>
            </a:r>
            <a:endParaRPr lang="en-US" sz="3000" baseline="300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sz="3000" i="1" dirty="0" err="1"/>
              <a:t>lim</a:t>
            </a:r>
            <a:r>
              <a:rPr lang="en-US" sz="3000" i="1" dirty="0"/>
              <a:t> </a:t>
            </a:r>
            <a:r>
              <a:rPr lang="en-US" sz="3000" dirty="0">
                <a:sym typeface="Symbol" pitchFamily="18" charset="2"/>
              </a:rPr>
              <a:t>[</a:t>
            </a:r>
            <a:r>
              <a:rPr lang="en-US" sz="3000" i="1" dirty="0"/>
              <a:t>f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 / </a:t>
            </a:r>
            <a:r>
              <a:rPr lang="en-US" sz="3000" i="1" dirty="0"/>
              <a:t>g</a:t>
            </a:r>
            <a:r>
              <a:rPr lang="en-US" sz="3000" dirty="0"/>
              <a:t>(</a:t>
            </a:r>
            <a:r>
              <a:rPr lang="en-US" sz="3000" i="1" dirty="0"/>
              <a:t>n</a:t>
            </a:r>
            <a:r>
              <a:rPr lang="en-US" sz="3000" dirty="0"/>
              <a:t>)] </a:t>
            </a:r>
            <a:r>
              <a:rPr lang="en-US" sz="2600" dirty="0"/>
              <a:t>undefined</a:t>
            </a:r>
            <a:r>
              <a:rPr lang="en-US" sz="3000" dirty="0">
                <a:sym typeface="Symbol" pitchFamily="18" charset="2"/>
              </a:rPr>
              <a:t> </a:t>
            </a:r>
            <a:r>
              <a:rPr lang="en-US" sz="3000" dirty="0">
                <a:latin typeface="Symbol" pitchFamily="18" charset="2"/>
                <a:sym typeface="Symbol" pitchFamily="18" charset="2"/>
              </a:rPr>
              <a:t>Þ </a:t>
            </a:r>
            <a:r>
              <a:rPr lang="en-US" sz="2600" dirty="0">
                <a:sym typeface="Symbol" pitchFamily="18" charset="2"/>
              </a:rPr>
              <a:t>can’t say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400" i="1" dirty="0"/>
              <a:t>    </a:t>
            </a:r>
            <a:r>
              <a:rPr lang="en-US" sz="3000" i="1" baseline="40000" dirty="0"/>
              <a:t>n</a:t>
            </a:r>
            <a:r>
              <a:rPr lang="en-US" sz="3000" i="1" baseline="40000" dirty="0">
                <a:sym typeface="Symbol" pitchFamily="18" charset="2"/>
              </a:rPr>
              <a:t></a:t>
            </a:r>
            <a:endParaRPr lang="en-US" sz="3000" baseline="30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214953"/>
            <a:ext cx="7543800" cy="628605"/>
          </a:xfrm>
        </p:spPr>
        <p:txBody>
          <a:bodyPr/>
          <a:lstStyle/>
          <a:p>
            <a:pPr eaLnBrk="1" hangingPunct="1"/>
            <a:r>
              <a:rPr lang="en-US" b="1" u="sng" dirty="0"/>
              <a:t>Properties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804704" y="1091315"/>
            <a:ext cx="7772400" cy="3640675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 b="1" dirty="0"/>
              <a:t>Transitivity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dirty="0">
                <a:sym typeface="Symbol" pitchFamily="18" charset="2"/>
              </a:rPr>
              <a:t></a:t>
            </a:r>
            <a:r>
              <a:rPr lang="en-US" sz="2600" dirty="0"/>
              <a:t>(</a:t>
            </a:r>
            <a:r>
              <a:rPr lang="en-US" sz="2600" i="1" dirty="0"/>
              <a:t>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&amp; 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dirty="0">
                <a:sym typeface="Symbol" pitchFamily="18" charset="2"/>
              </a:rPr>
              <a:t>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</a:t>
            </a:r>
            <a:r>
              <a:rPr lang="en-US" sz="2600" dirty="0">
                <a:sym typeface="Symbol" pitchFamily="18" charset="2"/>
              </a:rPr>
              <a:t></a:t>
            </a:r>
            <a:r>
              <a:rPr lang="en-US" sz="2600" i="1" dirty="0"/>
              <a:t> 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dirty="0">
                <a:sym typeface="Symbol" pitchFamily="18" charset="2"/>
              </a:rPr>
              <a:t>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endParaRPr lang="en-US" sz="2600" i="1" dirty="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sym typeface="Symbol" pitchFamily="18" charset="2"/>
              </a:rPr>
              <a:t>O</a:t>
            </a:r>
            <a:r>
              <a:rPr lang="en-US" sz="2600" dirty="0"/>
              <a:t>(</a:t>
            </a:r>
            <a:r>
              <a:rPr lang="en-US" sz="2600" i="1" dirty="0"/>
              <a:t>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&amp; 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sym typeface="Symbol" pitchFamily="18" charset="2"/>
              </a:rPr>
              <a:t>O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</a:t>
            </a:r>
            <a:r>
              <a:rPr lang="en-US" sz="2600" dirty="0">
                <a:sym typeface="Symbol" pitchFamily="18" charset="2"/>
              </a:rPr>
              <a:t></a:t>
            </a:r>
            <a:r>
              <a:rPr lang="en-US" sz="2600" i="1" dirty="0"/>
              <a:t> 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sym typeface="Symbol" pitchFamily="18" charset="2"/>
              </a:rPr>
              <a:t>O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endParaRPr lang="en-US" sz="2600" i="1" dirty="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dirty="0">
                <a:sym typeface="Symbol" pitchFamily="18" charset="2"/>
              </a:rPr>
              <a:t></a:t>
            </a:r>
            <a:r>
              <a:rPr lang="en-US" sz="2600" dirty="0"/>
              <a:t>(</a:t>
            </a:r>
            <a:r>
              <a:rPr lang="en-US" sz="2600" i="1" dirty="0"/>
              <a:t>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&amp; 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dirty="0">
                <a:sym typeface="Symbol" pitchFamily="18" charset="2"/>
              </a:rPr>
              <a:t>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</a:t>
            </a:r>
            <a:r>
              <a:rPr lang="en-US" sz="2600" dirty="0">
                <a:sym typeface="Symbol" pitchFamily="18" charset="2"/>
              </a:rPr>
              <a:t></a:t>
            </a:r>
            <a:r>
              <a:rPr lang="en-US" sz="2600" i="1" dirty="0"/>
              <a:t> 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dirty="0">
                <a:sym typeface="Symbol" pitchFamily="18" charset="2"/>
              </a:rPr>
              <a:t>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endParaRPr lang="en-US" sz="2600" i="1" dirty="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sym typeface="Symbol" pitchFamily="18" charset="2"/>
              </a:rPr>
              <a:t>o </a:t>
            </a:r>
            <a:r>
              <a:rPr lang="en-US" sz="2600" dirty="0"/>
              <a:t>(</a:t>
            </a:r>
            <a:r>
              <a:rPr lang="en-US" sz="2600" i="1" dirty="0"/>
              <a:t>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&amp; 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sym typeface="Symbol" pitchFamily="18" charset="2"/>
              </a:rPr>
              <a:t>o 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</a:t>
            </a:r>
            <a:r>
              <a:rPr lang="en-US" sz="2600" dirty="0">
                <a:sym typeface="Symbol" pitchFamily="18" charset="2"/>
              </a:rPr>
              <a:t></a:t>
            </a:r>
            <a:r>
              <a:rPr lang="en-US" sz="2600" i="1" dirty="0"/>
              <a:t> 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sym typeface="Symbol" pitchFamily="18" charset="2"/>
              </a:rPr>
              <a:t>o 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endParaRPr lang="en-US" sz="2600" i="1" dirty="0"/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2600" dirty="0"/>
              <a:t>(</a:t>
            </a:r>
            <a:r>
              <a:rPr lang="en-US" sz="2600" i="1" dirty="0"/>
              <a:t>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&amp; g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600" i="1" dirty="0"/>
              <a:t> </a:t>
            </a:r>
            <a:r>
              <a:rPr lang="en-US" sz="2600" dirty="0">
                <a:sym typeface="Symbol" pitchFamily="18" charset="2"/>
              </a:rPr>
              <a:t></a:t>
            </a:r>
            <a:r>
              <a:rPr lang="en-US" sz="2600" i="1" dirty="0"/>
              <a:t> 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2600" dirty="0"/>
              <a:t>(</a:t>
            </a:r>
            <a:r>
              <a:rPr lang="en-US" sz="2600" i="1" dirty="0"/>
              <a:t>h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  <a:r>
              <a:rPr lang="en-US" sz="2800" i="1" dirty="0"/>
              <a:t> 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sz="2800" dirty="0"/>
          </a:p>
          <a:p>
            <a:pPr eaLnBrk="1" hangingPunct="1">
              <a:lnSpc>
                <a:spcPct val="90000"/>
              </a:lnSpc>
            </a:pPr>
            <a:r>
              <a:rPr lang="en-US" sz="2800" b="1" dirty="0"/>
              <a:t>Reflexivity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600" i="1" dirty="0"/>
              <a:t>	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dirty="0">
                <a:sym typeface="Symbol" pitchFamily="18" charset="2"/>
              </a:rPr>
              <a:t></a:t>
            </a:r>
            <a:r>
              <a:rPr lang="en-US" sz="2600" dirty="0"/>
              <a:t>(</a:t>
            </a: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600" dirty="0"/>
              <a:t>    </a:t>
            </a: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= </a:t>
            </a:r>
            <a:r>
              <a:rPr lang="en-US" sz="2600" i="1" dirty="0">
                <a:sym typeface="Symbol" pitchFamily="18" charset="2"/>
              </a:rPr>
              <a:t>O</a:t>
            </a:r>
            <a:r>
              <a:rPr lang="en-US" sz="2600" dirty="0"/>
              <a:t>(</a:t>
            </a: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sz="2600" dirty="0"/>
              <a:t>   </a:t>
            </a: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</a:t>
            </a:r>
            <a:r>
              <a:rPr lang="en-US" sz="2600" i="1" dirty="0"/>
              <a:t>  = </a:t>
            </a:r>
            <a:r>
              <a:rPr lang="en-US" sz="2600" dirty="0">
                <a:sym typeface="Symbol" pitchFamily="18" charset="2"/>
              </a:rPr>
              <a:t></a:t>
            </a:r>
            <a:r>
              <a:rPr lang="en-US" sz="2600" dirty="0"/>
              <a:t>(</a:t>
            </a:r>
            <a:r>
              <a:rPr lang="en-US" sz="2600" i="1" dirty="0"/>
              <a:t>f</a:t>
            </a:r>
            <a:r>
              <a:rPr lang="en-US" sz="2600" dirty="0"/>
              <a:t>(</a:t>
            </a:r>
            <a:r>
              <a:rPr lang="en-US" sz="2600" i="1" dirty="0"/>
              <a:t>n</a:t>
            </a:r>
            <a:r>
              <a:rPr lang="en-US" sz="2600" dirty="0"/>
              <a:t>))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600" dirty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Properties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777240" y="1419622"/>
            <a:ext cx="7772400" cy="4069556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200" b="1" dirty="0"/>
              <a:t>Symmetry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i="1" dirty="0"/>
              <a:t>	f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dirty="0">
                <a:sym typeface="Symbol" pitchFamily="18" charset="2"/>
              </a:rPr>
              <a:t></a:t>
            </a:r>
            <a:r>
              <a:rPr lang="en-US" sz="2200" dirty="0"/>
              <a:t>(</a:t>
            </a:r>
            <a:r>
              <a:rPr lang="en-US" sz="2200" i="1" dirty="0"/>
              <a:t>g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))</a:t>
            </a:r>
            <a:r>
              <a:rPr lang="en-US" sz="2200" i="1" dirty="0"/>
              <a:t> </a:t>
            </a:r>
            <a:r>
              <a:rPr lang="en-US" sz="2200" i="1" dirty="0" err="1"/>
              <a:t>iff</a:t>
            </a:r>
            <a:r>
              <a:rPr lang="en-US" sz="2200" dirty="0"/>
              <a:t> </a:t>
            </a:r>
            <a:r>
              <a:rPr lang="en-US" sz="2200" i="1" dirty="0"/>
              <a:t>g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dirty="0">
                <a:sym typeface="Symbol" pitchFamily="18" charset="2"/>
              </a:rPr>
              <a:t></a:t>
            </a:r>
            <a:r>
              <a:rPr lang="en-US" sz="2200" dirty="0"/>
              <a:t>(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))</a:t>
            </a:r>
            <a:r>
              <a:rPr lang="en-US" sz="2200" i="1" dirty="0"/>
              <a:t> </a:t>
            </a:r>
          </a:p>
          <a:p>
            <a:pPr algn="ctr" eaLnBrk="1" hangingPunct="1">
              <a:spcBef>
                <a:spcPct val="0"/>
              </a:spcBef>
              <a:buFont typeface="Wingdings" pitchFamily="2" charset="2"/>
              <a:buNone/>
            </a:pPr>
            <a:endParaRPr lang="en-US" sz="2200" dirty="0"/>
          </a:p>
          <a:p>
            <a:pPr eaLnBrk="1" hangingPunct="1"/>
            <a:r>
              <a:rPr lang="en-US" sz="2200" b="1" dirty="0"/>
              <a:t>Complementarity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i="1" dirty="0"/>
              <a:t>     f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sym typeface="Symbol" pitchFamily="18" charset="2"/>
              </a:rPr>
              <a:t>O</a:t>
            </a:r>
            <a:r>
              <a:rPr lang="en-US" sz="2200" dirty="0"/>
              <a:t>(</a:t>
            </a:r>
            <a:r>
              <a:rPr lang="en-US" sz="2200" i="1" dirty="0"/>
              <a:t>g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))</a:t>
            </a:r>
            <a:r>
              <a:rPr lang="en-US" sz="2200" i="1" dirty="0"/>
              <a:t> </a:t>
            </a:r>
            <a:r>
              <a:rPr lang="en-US" sz="2200" i="1" dirty="0" err="1"/>
              <a:t>iff</a:t>
            </a:r>
            <a:r>
              <a:rPr lang="en-US" sz="2200" dirty="0"/>
              <a:t> </a:t>
            </a:r>
            <a:r>
              <a:rPr lang="en-US" sz="2200" i="1" dirty="0"/>
              <a:t>g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dirty="0">
                <a:sym typeface="Symbol" pitchFamily="18" charset="2"/>
              </a:rPr>
              <a:t></a:t>
            </a:r>
            <a:r>
              <a:rPr lang="en-US" sz="2200" dirty="0"/>
              <a:t>(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))</a:t>
            </a:r>
            <a:r>
              <a:rPr lang="en-US" sz="2200" i="1" dirty="0"/>
              <a:t>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200" i="1" dirty="0"/>
              <a:t>     f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</a:t>
            </a:r>
            <a:r>
              <a:rPr lang="en-US" sz="2200" i="1" dirty="0"/>
              <a:t> =  </a:t>
            </a:r>
            <a:r>
              <a:rPr lang="en-US" sz="2200" i="1" dirty="0">
                <a:sym typeface="Symbol" pitchFamily="18" charset="2"/>
              </a:rPr>
              <a:t>o</a:t>
            </a:r>
            <a:r>
              <a:rPr lang="en-US" sz="2200" dirty="0"/>
              <a:t>(</a:t>
            </a:r>
            <a:r>
              <a:rPr lang="en-US" sz="2200" i="1" dirty="0"/>
              <a:t>g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))</a:t>
            </a:r>
            <a:r>
              <a:rPr lang="en-US" sz="2200" i="1" dirty="0"/>
              <a:t> </a:t>
            </a:r>
            <a:r>
              <a:rPr lang="en-US" sz="2200" i="1" dirty="0" err="1"/>
              <a:t>iff</a:t>
            </a:r>
            <a:r>
              <a:rPr lang="en-US" sz="2200" dirty="0"/>
              <a:t> </a:t>
            </a:r>
            <a:r>
              <a:rPr lang="en-US" sz="2200" i="1" dirty="0"/>
              <a:t>g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</a:t>
            </a:r>
            <a:r>
              <a:rPr lang="en-US" sz="2200" i="1" dirty="0"/>
              <a:t> = </a:t>
            </a:r>
            <a:r>
              <a:rPr lang="en-US" sz="2200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2200" dirty="0"/>
              <a:t>((</a:t>
            </a:r>
            <a:r>
              <a:rPr lang="en-US" sz="2200" i="1" dirty="0"/>
              <a:t>f</a:t>
            </a:r>
            <a:r>
              <a:rPr lang="en-US" sz="2200" dirty="0"/>
              <a:t>(</a:t>
            </a:r>
            <a:r>
              <a:rPr lang="en-US" sz="2200" i="1" dirty="0"/>
              <a:t>n</a:t>
            </a:r>
            <a:r>
              <a:rPr lang="en-US" sz="2200" dirty="0"/>
              <a:t>))</a:t>
            </a:r>
            <a:r>
              <a:rPr lang="en-US" sz="2200" i="1" dirty="0"/>
              <a:t> 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565571"/>
          </a:xfrm>
        </p:spPr>
        <p:txBody>
          <a:bodyPr>
            <a:normAutofit/>
          </a:bodyPr>
          <a:lstStyle/>
          <a:p>
            <a:r>
              <a:rPr lang="en-US" dirty="0"/>
              <a:t>Practice Question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7" y="964395"/>
            <a:ext cx="8764368" cy="364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i="1" u="sng" dirty="0"/>
              <a:t>Common Functions : Important Theorems</a:t>
            </a:r>
          </a:p>
        </p:txBody>
      </p:sp>
      <p:sp>
        <p:nvSpPr>
          <p:cNvPr id="460803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1774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Monotonicity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is </a:t>
            </a:r>
          </a:p>
          <a:p>
            <a:pPr lvl="1" eaLnBrk="1" hangingPunct="1"/>
            <a:r>
              <a:rPr lang="en-US" b="1" dirty="0"/>
              <a:t>monotonically increasing</a:t>
            </a:r>
            <a:r>
              <a:rPr lang="en-US" dirty="0"/>
              <a:t> if </a:t>
            </a:r>
            <a:r>
              <a:rPr lang="en-US" i="1" dirty="0"/>
              <a:t>m </a:t>
            </a:r>
            <a:r>
              <a:rPr lang="en-US" dirty="0">
                <a:sym typeface="Symbol" pitchFamily="18" charset="2"/>
              </a:rPr>
              <a:t> </a:t>
            </a:r>
            <a:r>
              <a:rPr lang="en-US" i="1" dirty="0">
                <a:sym typeface="Symbol" pitchFamily="18" charset="2"/>
              </a:rPr>
              <a:t>n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) 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).</a:t>
            </a:r>
          </a:p>
          <a:p>
            <a:pPr lvl="1" eaLnBrk="1" hangingPunct="1"/>
            <a:r>
              <a:rPr lang="en-US" b="1" dirty="0"/>
              <a:t>monotonically decreasing</a:t>
            </a:r>
            <a:r>
              <a:rPr lang="en-US" dirty="0"/>
              <a:t> if </a:t>
            </a:r>
            <a:r>
              <a:rPr lang="en-US" i="1" dirty="0"/>
              <a:t>m </a:t>
            </a:r>
            <a:r>
              <a:rPr lang="en-US" dirty="0">
                <a:sym typeface="Symbol" pitchFamily="18" charset="2"/>
              </a:rPr>
              <a:t> </a:t>
            </a:r>
            <a:r>
              <a:rPr lang="en-US" i="1" dirty="0">
                <a:sym typeface="Symbol" pitchFamily="18" charset="2"/>
              </a:rPr>
              <a:t>n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) 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).</a:t>
            </a:r>
          </a:p>
          <a:p>
            <a:pPr lvl="1" eaLnBrk="1" hangingPunct="1"/>
            <a:r>
              <a:rPr lang="en-US" b="1" dirty="0"/>
              <a:t>strictly increasing</a:t>
            </a:r>
            <a:r>
              <a:rPr lang="en-US" dirty="0"/>
              <a:t> if </a:t>
            </a:r>
            <a:r>
              <a:rPr lang="en-US" i="1" dirty="0"/>
              <a:t>m </a:t>
            </a:r>
            <a:r>
              <a:rPr lang="en-US" dirty="0">
                <a:sym typeface="Symbol" pitchFamily="18" charset="2"/>
              </a:rPr>
              <a:t>&lt; </a:t>
            </a:r>
            <a:r>
              <a:rPr lang="en-US" i="1" dirty="0">
                <a:sym typeface="Symbol" pitchFamily="18" charset="2"/>
              </a:rPr>
              <a:t>n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) &lt;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).</a:t>
            </a:r>
          </a:p>
          <a:p>
            <a:pPr lvl="1" eaLnBrk="1" hangingPunct="1"/>
            <a:r>
              <a:rPr lang="en-US" b="1" dirty="0"/>
              <a:t>strictly decreasing</a:t>
            </a:r>
            <a:r>
              <a:rPr lang="en-US" dirty="0"/>
              <a:t> if </a:t>
            </a:r>
            <a:r>
              <a:rPr lang="en-US" i="1" dirty="0"/>
              <a:t>m </a:t>
            </a:r>
            <a:r>
              <a:rPr lang="en-US" dirty="0">
                <a:sym typeface="Symbol" pitchFamily="18" charset="2"/>
              </a:rPr>
              <a:t>&gt; </a:t>
            </a:r>
            <a:r>
              <a:rPr lang="en-US" i="1" dirty="0">
                <a:sym typeface="Symbol" pitchFamily="18" charset="2"/>
              </a:rPr>
              <a:t>n </a:t>
            </a:r>
            <a:r>
              <a:rPr lang="en-US" dirty="0">
                <a:sym typeface="Symbol" pitchFamily="18" charset="2"/>
              </a:rPr>
              <a:t>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m</a:t>
            </a:r>
            <a:r>
              <a:rPr lang="en-US" dirty="0">
                <a:sym typeface="Symbol" pitchFamily="18" charset="2"/>
              </a:rPr>
              <a:t>) &gt; </a:t>
            </a:r>
            <a:r>
              <a:rPr lang="en-US" i="1" dirty="0">
                <a:sym typeface="Symbol" pitchFamily="18" charset="2"/>
              </a:rPr>
              <a:t>f</a:t>
            </a:r>
            <a:r>
              <a:rPr lang="en-US" dirty="0">
                <a:sym typeface="Symbol" pitchFamily="18" charset="2"/>
              </a:rPr>
              <a:t>(</a:t>
            </a:r>
            <a:r>
              <a:rPr lang="en-US" i="1" dirty="0">
                <a:sym typeface="Symbol" pitchFamily="18" charset="2"/>
              </a:rPr>
              <a:t>n</a:t>
            </a:r>
            <a:r>
              <a:rPr lang="en-US" dirty="0">
                <a:sym typeface="Symbol" pitchFamily="18" charset="2"/>
              </a:rPr>
              <a:t>).</a:t>
            </a:r>
          </a:p>
          <a:p>
            <a:pPr marL="457200" lvl="1" indent="0" eaLnBrk="1" hangingPunct="1">
              <a:buNone/>
            </a:pPr>
            <a:endParaRPr lang="en-US" dirty="0">
              <a:sym typeface="Symbol" pitchFamily="18" charset="2"/>
            </a:endParaRPr>
          </a:p>
          <a:p>
            <a:pPr marL="457200" lvl="1" indent="0" eaLnBrk="1" hangingPunct="1">
              <a:buNone/>
            </a:pPr>
            <a:endParaRPr lang="en-US" dirty="0">
              <a:sym typeface="Symbol" pitchFamily="18" charset="2"/>
            </a:endParaRPr>
          </a:p>
          <a:p>
            <a:pPr lvl="1" eaLnBrk="1" hangingPunct="1"/>
            <a:r>
              <a:rPr lang="en-US" i="1" dirty="0"/>
              <a:t>Monotonically increasing means when </a:t>
            </a:r>
            <a:r>
              <a:rPr lang="en-US" i="1" dirty="0">
                <a:solidFill>
                  <a:srgbClr val="1F1F1F"/>
                </a:solidFill>
                <a:highlight>
                  <a:srgbClr val="FFFFFF"/>
                </a:highlight>
                <a:latin typeface="Google Sans"/>
              </a:rPr>
              <a:t>a</a:t>
            </a:r>
            <a:r>
              <a:rPr lang="en-US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 function is said to be monotonically increasing </a:t>
            </a:r>
            <a:r>
              <a:rPr lang="en-US" i="1" dirty="0">
                <a:solidFill>
                  <a:srgbClr val="040C28"/>
                </a:solidFill>
                <a:effectLst/>
                <a:latin typeface="Google Sans"/>
              </a:rPr>
              <a:t>if its graph is only increasing with increasing values of the equation</a:t>
            </a:r>
            <a:r>
              <a:rPr lang="en-US" i="1" dirty="0">
                <a:solidFill>
                  <a:srgbClr val="1F1F1F"/>
                </a:solidFill>
                <a:effectLst/>
                <a:highlight>
                  <a:srgbClr val="FFFFFF"/>
                </a:highlight>
                <a:latin typeface="Google Sans"/>
              </a:rPr>
              <a:t>.</a:t>
            </a:r>
          </a:p>
          <a:p>
            <a:pPr lvl="1" eaLnBrk="1" hangingPunct="1"/>
            <a:r>
              <a:rPr lang="en-US" i="1" dirty="0"/>
              <a:t>If f′(x)&gt;0 for all x in the interval, then the function f is strictly increasing. If f′(x)&lt;0 for all x in the interval, then the function f is strictly decreasing.</a:t>
            </a:r>
            <a:endParaRPr lang="en-US" i="1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74991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Exponentials</a:t>
            </a:r>
          </a:p>
        </p:txBody>
      </p:sp>
      <p:sp>
        <p:nvSpPr>
          <p:cNvPr id="6149" name="Rectangle 4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b="1" dirty="0"/>
              <a:t>Useful Identities:</a:t>
            </a:r>
          </a:p>
          <a:p>
            <a:pPr eaLnBrk="1" hangingPunct="1"/>
            <a:endParaRPr lang="en-US" b="1" dirty="0"/>
          </a:p>
          <a:p>
            <a:pPr eaLnBrk="1" hangingPunct="1"/>
            <a:endParaRPr lang="en-US" b="1" dirty="0"/>
          </a:p>
          <a:p>
            <a:pPr eaLnBrk="1" hangingPunct="1"/>
            <a:endParaRPr lang="en-US" b="1" dirty="0"/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Exponentials and polynomials</a:t>
            </a:r>
          </a:p>
          <a:p>
            <a:pPr eaLnBrk="1" hangingPunct="1"/>
            <a:endParaRPr lang="en-US" b="1" dirty="0"/>
          </a:p>
        </p:txBody>
      </p:sp>
      <p:graphicFrame>
        <p:nvGraphicFramePr>
          <p:cNvPr id="6146" name="Object 5"/>
          <p:cNvGraphicFramePr>
            <a:graphicFrameLocks noChangeAspect="1"/>
          </p:cNvGraphicFramePr>
          <p:nvPr/>
        </p:nvGraphicFramePr>
        <p:xfrm>
          <a:off x="1979712" y="1923678"/>
          <a:ext cx="1473200" cy="123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73120" imgH="1650960" progId="Equation.3">
                  <p:embed/>
                </p:oleObj>
              </mc:Choice>
              <mc:Fallback>
                <p:oleObj name="Equation" r:id="rId2" imgW="1473120" imgH="1650960" progId="Equation.3">
                  <p:embed/>
                  <p:pic>
                    <p:nvPicPr>
                      <p:cNvPr id="614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923678"/>
                        <a:ext cx="1473200" cy="1238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492061"/>
              </p:ext>
            </p:extLst>
          </p:nvPr>
        </p:nvGraphicFramePr>
        <p:xfrm>
          <a:off x="1789212" y="3549651"/>
          <a:ext cx="166370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63560" imgH="1244520" progId="Equation.3">
                  <p:embed/>
                </p:oleObj>
              </mc:Choice>
              <mc:Fallback>
                <p:oleObj name="Equation" r:id="rId4" imgW="1663560" imgH="1244520" progId="Equation.3">
                  <p:embed/>
                  <p:pic>
                    <p:nvPicPr>
                      <p:cNvPr id="614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9212" y="3549651"/>
                        <a:ext cx="166370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40593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90145"/>
            <a:ext cx="7543800" cy="1088068"/>
          </a:xfrm>
        </p:spPr>
        <p:txBody>
          <a:bodyPr/>
          <a:lstStyle/>
          <a:p>
            <a:pPr eaLnBrk="1" hangingPunct="1"/>
            <a:r>
              <a:rPr lang="en-US" dirty="0"/>
              <a:t>Logarithms </a:t>
            </a:r>
          </a:p>
        </p:txBody>
      </p:sp>
      <p:sp>
        <p:nvSpPr>
          <p:cNvPr id="7172" name="Rectangle 7"/>
          <p:cNvSpPr>
            <a:spLocks noGrp="1" noChangeArrowheads="1"/>
          </p:cNvSpPr>
          <p:nvPr>
            <p:ph sz="half" idx="1"/>
          </p:nvPr>
        </p:nvSpPr>
        <p:spPr>
          <a:xfrm>
            <a:off x="395536" y="1303021"/>
            <a:ext cx="3703320" cy="3017520"/>
          </a:xfrm>
        </p:spPr>
        <p:txBody>
          <a:bodyPr>
            <a:norm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i="1" dirty="0"/>
              <a:t>x</a:t>
            </a:r>
            <a:r>
              <a:rPr lang="en-US" dirty="0"/>
              <a:t> = </a:t>
            </a:r>
            <a:r>
              <a:rPr lang="en-US" dirty="0" err="1"/>
              <a:t>log</a:t>
            </a:r>
            <a:r>
              <a:rPr lang="en-US" i="1" baseline="-25000" dirty="0" err="1"/>
              <a:t>b</a:t>
            </a:r>
            <a:r>
              <a:rPr lang="en-US" i="1" dirty="0" err="1"/>
              <a:t>a</a:t>
            </a:r>
            <a:r>
              <a:rPr lang="en-US" dirty="0"/>
              <a:t> is the </a:t>
            </a:r>
            <a:br>
              <a:rPr lang="en-US" dirty="0"/>
            </a:br>
            <a:r>
              <a:rPr lang="en-US" dirty="0"/>
              <a:t>exponent for </a:t>
            </a:r>
            <a:r>
              <a:rPr lang="en-US" i="1" dirty="0"/>
              <a:t>a </a:t>
            </a:r>
            <a:r>
              <a:rPr lang="en-US" dirty="0"/>
              <a:t>= </a:t>
            </a:r>
            <a:r>
              <a:rPr lang="en-US" i="1" dirty="0"/>
              <a:t>b</a:t>
            </a:r>
            <a:r>
              <a:rPr lang="en-US" i="1" baseline="30000" dirty="0"/>
              <a:t>x</a:t>
            </a:r>
            <a:r>
              <a:rPr lang="en-US" i="1" dirty="0"/>
              <a:t>.</a:t>
            </a:r>
          </a:p>
          <a:p>
            <a:pPr eaLnBrk="1" hangingPunct="1">
              <a:buFont typeface="Wingdings" pitchFamily="2" charset="2"/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None/>
            </a:pPr>
            <a:r>
              <a:rPr lang="en-US" sz="2400" dirty="0"/>
              <a:t>Natural log:</a:t>
            </a:r>
            <a:r>
              <a:rPr lang="en-US" dirty="0"/>
              <a:t> ln</a:t>
            </a:r>
            <a:r>
              <a:rPr lang="en-US" i="1" dirty="0"/>
              <a:t> a = </a:t>
            </a:r>
            <a:r>
              <a:rPr lang="en-US" dirty="0" err="1"/>
              <a:t>log</a:t>
            </a:r>
            <a:r>
              <a:rPr lang="en-US" i="1" baseline="-25000" dirty="0" err="1"/>
              <a:t>e</a:t>
            </a:r>
            <a:r>
              <a:rPr lang="en-US" i="1" dirty="0" err="1"/>
              <a:t>a</a:t>
            </a:r>
            <a:endParaRPr lang="en-US" i="1" dirty="0"/>
          </a:p>
          <a:p>
            <a:pPr eaLnBrk="1" hangingPunct="1">
              <a:buFont typeface="Wingdings" pitchFamily="2" charset="2"/>
              <a:buNone/>
            </a:pPr>
            <a:r>
              <a:rPr lang="en-US" sz="2400" dirty="0"/>
              <a:t>Binary log:</a:t>
            </a:r>
            <a:r>
              <a:rPr lang="en-US" dirty="0"/>
              <a:t> lg</a:t>
            </a:r>
            <a:r>
              <a:rPr lang="en-US" i="1" dirty="0"/>
              <a:t> a = </a:t>
            </a:r>
            <a:r>
              <a:rPr lang="en-US" dirty="0"/>
              <a:t>log</a:t>
            </a:r>
            <a:r>
              <a:rPr lang="en-US" i="1" baseline="-25000" dirty="0"/>
              <a:t>2</a:t>
            </a:r>
            <a:r>
              <a:rPr lang="en-US" i="1" dirty="0"/>
              <a:t>a</a:t>
            </a:r>
          </a:p>
          <a:p>
            <a:pPr eaLnBrk="1" hangingPunct="1">
              <a:buFont typeface="Wingdings" pitchFamily="2" charset="2"/>
              <a:buNone/>
            </a:pPr>
            <a:endParaRPr lang="en-US" i="1" dirty="0"/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lg</a:t>
            </a:r>
            <a:r>
              <a:rPr lang="en-US" baseline="30000" dirty="0"/>
              <a:t>2</a:t>
            </a:r>
            <a:r>
              <a:rPr lang="en-US" i="1" dirty="0"/>
              <a:t>a = </a:t>
            </a:r>
            <a:r>
              <a:rPr lang="en-US" dirty="0"/>
              <a:t>(lg</a:t>
            </a:r>
            <a:r>
              <a:rPr lang="en-US" i="1" dirty="0"/>
              <a:t> a</a:t>
            </a:r>
            <a:r>
              <a:rPr lang="en-US" dirty="0"/>
              <a:t>)</a:t>
            </a:r>
            <a:r>
              <a:rPr lang="en-US" baseline="30000" dirty="0"/>
              <a:t>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dirty="0"/>
              <a:t>lg</a:t>
            </a:r>
            <a:r>
              <a:rPr lang="en-US" i="1" dirty="0"/>
              <a:t> </a:t>
            </a:r>
            <a:r>
              <a:rPr lang="en-US" dirty="0" err="1"/>
              <a:t>lg</a:t>
            </a:r>
            <a:r>
              <a:rPr lang="en-US" i="1" dirty="0"/>
              <a:t> a </a:t>
            </a:r>
            <a:r>
              <a:rPr lang="en-US" baseline="30000" dirty="0"/>
              <a:t> </a:t>
            </a:r>
            <a:r>
              <a:rPr lang="en-US" dirty="0"/>
              <a:t>=</a:t>
            </a:r>
            <a:r>
              <a:rPr lang="en-US" baseline="30000" dirty="0"/>
              <a:t>  </a:t>
            </a:r>
            <a:r>
              <a:rPr lang="en-US" dirty="0"/>
              <a:t>lg</a:t>
            </a:r>
            <a:r>
              <a:rPr lang="en-US" i="1" dirty="0"/>
              <a:t> </a:t>
            </a:r>
            <a:r>
              <a:rPr lang="en-US" dirty="0"/>
              <a:t>(lg</a:t>
            </a:r>
            <a:r>
              <a:rPr lang="en-US" i="1" dirty="0"/>
              <a:t> a</a:t>
            </a:r>
            <a:r>
              <a:rPr lang="en-US" dirty="0"/>
              <a:t>)</a:t>
            </a:r>
          </a:p>
          <a:p>
            <a:pPr eaLnBrk="1" hangingPunct="1">
              <a:buFont typeface="Wingdings" pitchFamily="2" charset="2"/>
              <a:buNone/>
            </a:pPr>
            <a:endParaRPr lang="en-US" i="1" dirty="0"/>
          </a:p>
        </p:txBody>
      </p:sp>
      <p:graphicFrame>
        <p:nvGraphicFramePr>
          <p:cNvPr id="4495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37386674"/>
              </p:ext>
            </p:extLst>
          </p:nvPr>
        </p:nvGraphicFramePr>
        <p:xfrm>
          <a:off x="3851920" y="497681"/>
          <a:ext cx="4173538" cy="4148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62040" imgH="2070000" progId="Equation.3">
                  <p:embed/>
                </p:oleObj>
              </mc:Choice>
              <mc:Fallback>
                <p:oleObj name="Equation" r:id="rId2" imgW="1562040" imgH="2070000" progId="Equation.3">
                  <p:embed/>
                  <p:pic>
                    <p:nvPicPr>
                      <p:cNvPr id="44954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497681"/>
                        <a:ext cx="4173538" cy="4148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94966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Logarithms and exponentials – Bases 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563638"/>
            <a:ext cx="8458200" cy="3886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If the base of a logarithm is changed from one constant to another, the value is altered by a constant factor.</a:t>
            </a:r>
          </a:p>
          <a:p>
            <a:pPr lvl="1" eaLnBrk="1" hangingPunct="1"/>
            <a:r>
              <a:rPr lang="en-US" u="sng" dirty="0"/>
              <a:t>Ex:</a:t>
            </a:r>
            <a:r>
              <a:rPr lang="en-US" dirty="0"/>
              <a:t> log</a:t>
            </a:r>
            <a:r>
              <a:rPr lang="en-US" baseline="-25000" dirty="0"/>
              <a:t>10</a:t>
            </a:r>
            <a:r>
              <a:rPr lang="en-US" dirty="0"/>
              <a:t> </a:t>
            </a:r>
            <a:r>
              <a:rPr lang="en-US" i="1" dirty="0"/>
              <a:t>n</a:t>
            </a:r>
            <a:r>
              <a:rPr lang="en-US" dirty="0"/>
              <a:t> * log</a:t>
            </a:r>
            <a:r>
              <a:rPr lang="en-US" baseline="-25000" dirty="0"/>
              <a:t>2</a:t>
            </a:r>
            <a:r>
              <a:rPr lang="en-US" dirty="0"/>
              <a:t>10 = log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i="1" dirty="0"/>
              <a:t>n.</a:t>
            </a:r>
          </a:p>
          <a:p>
            <a:pPr lvl="1" eaLnBrk="1" hangingPunct="1"/>
            <a:r>
              <a:rPr lang="en-US" dirty="0"/>
              <a:t>Base of logarithm is not an issue in asymptotic notation.</a:t>
            </a:r>
          </a:p>
          <a:p>
            <a:pPr eaLnBrk="1" hangingPunct="1"/>
            <a:r>
              <a:rPr lang="en-US" dirty="0"/>
              <a:t>Exponentials with different bases differ by a exponential factor (not a constant factor).</a:t>
            </a:r>
          </a:p>
          <a:p>
            <a:pPr lvl="1" eaLnBrk="1" hangingPunct="1"/>
            <a:r>
              <a:rPr lang="en-US" u="sng" dirty="0"/>
              <a:t>Ex: </a:t>
            </a:r>
            <a:r>
              <a:rPr lang="en-US" dirty="0"/>
              <a:t>2</a:t>
            </a:r>
            <a:r>
              <a:rPr lang="en-US" i="1" baseline="30000" dirty="0"/>
              <a:t>n</a:t>
            </a:r>
            <a:r>
              <a:rPr lang="en-US" i="1" dirty="0"/>
              <a:t> </a:t>
            </a:r>
            <a:r>
              <a:rPr lang="en-US" dirty="0"/>
              <a:t>= (2/3)</a:t>
            </a:r>
            <a:r>
              <a:rPr lang="en-US" i="1" baseline="30000" dirty="0"/>
              <a:t>n</a:t>
            </a:r>
            <a:r>
              <a:rPr lang="en-US" dirty="0"/>
              <a:t>*3</a:t>
            </a:r>
            <a:r>
              <a:rPr lang="en-US" i="1" baseline="30000" dirty="0"/>
              <a:t>n</a:t>
            </a:r>
            <a:r>
              <a:rPr lang="en-US" i="1" dirty="0"/>
              <a:t>.</a:t>
            </a:r>
            <a:endParaRPr lang="en-US" i="1" u="sng" dirty="0"/>
          </a:p>
        </p:txBody>
      </p:sp>
    </p:spTree>
    <p:extLst>
      <p:ext uri="{BB962C8B-B14F-4D97-AF65-F5344CB8AC3E}">
        <p14:creationId xmlns:p14="http://schemas.microsoft.com/office/powerpoint/2010/main" val="2701066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627534"/>
            <a:ext cx="8229600" cy="857250"/>
          </a:xfrm>
        </p:spPr>
        <p:txBody>
          <a:bodyPr>
            <a:normAutofit fontScale="90000"/>
          </a:bodyPr>
          <a:lstStyle/>
          <a:p>
            <a:r>
              <a:rPr lang="en-US" dirty="0"/>
              <a:t>Polylogarithms</a:t>
            </a:r>
            <a:br>
              <a:rPr lang="en-US" dirty="0"/>
            </a:br>
            <a:br>
              <a:rPr lang="en-IN" sz="4400" i="0" dirty="0">
                <a:effectLst/>
                <a:highlight>
                  <a:srgbClr val="FFFFFF"/>
                </a:highlight>
                <a:latin typeface="-apple-system"/>
              </a:rPr>
            </a:br>
            <a:endParaRPr lang="en-U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/>
            <a:r>
              <a:rPr lang="en-US" sz="2800" i="1" dirty="0"/>
              <a:t>Polylogarithms: An</a:t>
            </a:r>
            <a:r>
              <a:rPr lang="en-US" sz="2800" b="0" i="1" dirty="0">
                <a:effectLst/>
                <a:highlight>
                  <a:srgbClr val="FFFFFF"/>
                </a:highlight>
                <a:latin typeface="-apple-system"/>
              </a:rPr>
              <a:t> algorithm is said to run in polylogarithmic time if T(n) = O((log n)k), for some constant k. For example: Matrix chain ordering.</a:t>
            </a:r>
            <a:br>
              <a:rPr lang="en-US" sz="2800" i="1" dirty="0"/>
            </a:br>
            <a:r>
              <a:rPr lang="en-US" sz="2800" i="1" dirty="0"/>
              <a:t>For </a:t>
            </a:r>
            <a:r>
              <a:rPr lang="en-US" sz="2800" i="1" dirty="0" err="1"/>
              <a:t>eg</a:t>
            </a:r>
            <a:r>
              <a:rPr lang="en-US" sz="2800" i="1" dirty="0"/>
              <a:t>,</a:t>
            </a:r>
            <a:r>
              <a:rPr lang="en-IN" sz="2800" i="1" dirty="0">
                <a:effectLst/>
                <a:highlight>
                  <a:srgbClr val="FFFFFF"/>
                </a:highlight>
                <a:latin typeface="-apple-system"/>
              </a:rPr>
              <a:t> [O((log(n))^c)]</a:t>
            </a:r>
            <a:br>
              <a:rPr lang="en-IN" sz="4800" i="0" dirty="0">
                <a:effectLst/>
                <a:highlight>
                  <a:srgbClr val="FFFFFF"/>
                </a:highlight>
                <a:latin typeface="-apple-system"/>
              </a:rPr>
            </a:br>
            <a:endParaRPr lang="en-US" sz="2800" dirty="0"/>
          </a:p>
          <a:p>
            <a:pPr eaLnBrk="1" hangingPunct="1"/>
            <a:r>
              <a:rPr lang="en-US" sz="2800" dirty="0"/>
              <a:t>For </a:t>
            </a:r>
            <a:r>
              <a:rPr lang="en-US" sz="2800" i="1" dirty="0"/>
              <a:t>a </a:t>
            </a:r>
            <a:r>
              <a:rPr lang="en-US" sz="2800" dirty="0">
                <a:latin typeface="Symbol" pitchFamily="18" charset="2"/>
              </a:rPr>
              <a:t>³</a:t>
            </a:r>
            <a:r>
              <a:rPr lang="en-US" sz="2800" i="1" dirty="0"/>
              <a:t> </a:t>
            </a:r>
            <a:r>
              <a:rPr lang="en-US" sz="2800" dirty="0"/>
              <a:t>0, </a:t>
            </a:r>
            <a:r>
              <a:rPr lang="en-US" sz="2800" i="1" dirty="0"/>
              <a:t>b</a:t>
            </a:r>
            <a:r>
              <a:rPr lang="en-US" sz="2800" dirty="0"/>
              <a:t> &gt; 0,  </a:t>
            </a:r>
            <a:r>
              <a:rPr lang="en-US" sz="2800" dirty="0" err="1"/>
              <a:t>lim</a:t>
            </a:r>
            <a:r>
              <a:rPr lang="en-US" sz="2800" dirty="0"/>
              <a:t> </a:t>
            </a:r>
            <a:r>
              <a:rPr lang="en-US" sz="2400" i="1" baseline="-25000" dirty="0"/>
              <a:t>n</a:t>
            </a:r>
            <a:r>
              <a:rPr lang="en-US" sz="2400" baseline="-25000" dirty="0">
                <a:sym typeface="Symbol" pitchFamily="18" charset="2"/>
              </a:rPr>
              <a:t></a:t>
            </a:r>
            <a:r>
              <a:rPr lang="en-US" sz="2800" i="1" dirty="0"/>
              <a:t> </a:t>
            </a:r>
            <a:r>
              <a:rPr lang="en-US" sz="2800" dirty="0">
                <a:sym typeface="Symbol" pitchFamily="18" charset="2"/>
              </a:rPr>
              <a:t>( </a:t>
            </a:r>
            <a:r>
              <a:rPr lang="en-US" sz="2800" dirty="0" err="1"/>
              <a:t>lg</a:t>
            </a:r>
            <a:r>
              <a:rPr lang="en-US" sz="2800" i="1" baseline="30000" dirty="0" err="1"/>
              <a:t>a</a:t>
            </a:r>
            <a:r>
              <a:rPr lang="en-US" sz="2800" baseline="30000" dirty="0"/>
              <a:t> </a:t>
            </a:r>
            <a:r>
              <a:rPr lang="en-US" sz="2800" i="1" dirty="0"/>
              <a:t>n</a:t>
            </a:r>
            <a:r>
              <a:rPr lang="en-US" sz="2800" dirty="0"/>
              <a:t> / </a:t>
            </a:r>
            <a:r>
              <a:rPr lang="en-US" sz="2800" i="1" dirty="0" err="1"/>
              <a:t>n</a:t>
            </a:r>
            <a:r>
              <a:rPr lang="en-US" sz="2800" i="1" baseline="30000" dirty="0" err="1"/>
              <a:t>b</a:t>
            </a:r>
            <a:r>
              <a:rPr lang="en-US" sz="2800" i="1" baseline="30000" dirty="0"/>
              <a:t> </a:t>
            </a:r>
            <a:r>
              <a:rPr lang="en-US" sz="2800" dirty="0"/>
              <a:t>) = 0, </a:t>
            </a:r>
            <a:br>
              <a:rPr lang="en-US" sz="2800" dirty="0"/>
            </a:br>
            <a:r>
              <a:rPr lang="en-US" sz="2800" dirty="0"/>
              <a:t>so </a:t>
            </a:r>
            <a:r>
              <a:rPr lang="en-US" sz="2800" dirty="0" err="1"/>
              <a:t>lg</a:t>
            </a:r>
            <a:r>
              <a:rPr lang="en-US" sz="2800" i="1" baseline="30000" dirty="0" err="1"/>
              <a:t>a</a:t>
            </a:r>
            <a:r>
              <a:rPr lang="en-US" sz="2800" baseline="30000" dirty="0"/>
              <a:t> </a:t>
            </a:r>
            <a:r>
              <a:rPr lang="en-US" sz="2800" i="1" dirty="0"/>
              <a:t>n</a:t>
            </a:r>
            <a:r>
              <a:rPr lang="en-US" sz="2800" dirty="0"/>
              <a:t> = </a:t>
            </a:r>
            <a:r>
              <a:rPr lang="en-US" sz="2800" i="1" dirty="0"/>
              <a:t>o</a:t>
            </a:r>
            <a:r>
              <a:rPr lang="en-US" sz="2800" dirty="0"/>
              <a:t>(</a:t>
            </a:r>
            <a:r>
              <a:rPr lang="en-US" sz="2800" i="1" dirty="0" err="1"/>
              <a:t>n</a:t>
            </a:r>
            <a:r>
              <a:rPr lang="en-US" sz="2800" i="1" baseline="30000" dirty="0" err="1"/>
              <a:t>b</a:t>
            </a:r>
            <a:r>
              <a:rPr lang="en-US" sz="2800" dirty="0"/>
              <a:t>), and  </a:t>
            </a:r>
            <a:r>
              <a:rPr lang="en-US" sz="2800" i="1" dirty="0" err="1"/>
              <a:t>n</a:t>
            </a:r>
            <a:r>
              <a:rPr lang="en-US" sz="2800" i="1" baseline="30000" dirty="0" err="1"/>
              <a:t>b</a:t>
            </a:r>
            <a:r>
              <a:rPr lang="en-US" sz="2800" dirty="0"/>
              <a:t> = </a:t>
            </a:r>
            <a:r>
              <a:rPr lang="en-US" sz="2800" i="1" dirty="0">
                <a:latin typeface="Symbol" pitchFamily="18" charset="2"/>
                <a:sym typeface="Symbol" pitchFamily="18" charset="2"/>
              </a:rPr>
              <a:t>w</a:t>
            </a:r>
            <a:r>
              <a:rPr lang="en-US" sz="2800" dirty="0"/>
              <a:t>(</a:t>
            </a:r>
            <a:r>
              <a:rPr lang="en-US" sz="2800" dirty="0" err="1"/>
              <a:t>lg</a:t>
            </a:r>
            <a:r>
              <a:rPr lang="en-US" sz="2800" i="1" baseline="30000" dirty="0" err="1"/>
              <a:t>a</a:t>
            </a:r>
            <a:r>
              <a:rPr lang="en-US" sz="2800" baseline="30000" dirty="0"/>
              <a:t> </a:t>
            </a:r>
            <a:r>
              <a:rPr lang="en-US" sz="2800" i="1" dirty="0"/>
              <a:t>n</a:t>
            </a:r>
            <a:r>
              <a:rPr lang="en-US" sz="2800" dirty="0"/>
              <a:t> )</a:t>
            </a:r>
          </a:p>
          <a:p>
            <a:pPr marL="0" indent="0" eaLnBrk="1" hangingPunct="1">
              <a:buNone/>
            </a:pPr>
            <a:endParaRPr lang="en-US" sz="2800" dirty="0"/>
          </a:p>
          <a:p>
            <a:pPr eaLnBrk="1" hangingPunct="1"/>
            <a:r>
              <a:rPr lang="en-US" sz="2800" dirty="0"/>
              <a:t>lg(</a:t>
            </a:r>
            <a:r>
              <a:rPr lang="en-US" sz="2800" i="1" dirty="0"/>
              <a:t>n</a:t>
            </a:r>
            <a:r>
              <a:rPr lang="en-US" sz="2800" dirty="0"/>
              <a:t>!) = </a:t>
            </a:r>
            <a:r>
              <a:rPr lang="en-US" sz="2800" dirty="0">
                <a:sym typeface="Symbol" pitchFamily="18" charset="2"/>
              </a:rPr>
              <a:t></a:t>
            </a:r>
            <a:r>
              <a:rPr lang="en-US" sz="2800" dirty="0"/>
              <a:t>(</a:t>
            </a:r>
            <a:r>
              <a:rPr lang="en-US" sz="2800" i="1" dirty="0"/>
              <a:t>n </a:t>
            </a:r>
            <a:r>
              <a:rPr lang="en-US" sz="2800" dirty="0"/>
              <a:t>lg </a:t>
            </a:r>
            <a:r>
              <a:rPr lang="en-US" sz="2800" i="1" dirty="0"/>
              <a:t>n</a:t>
            </a:r>
            <a:r>
              <a:rPr lang="en-US" sz="28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39616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298</TotalTime>
  <Words>2649</Words>
  <Application>Microsoft Office PowerPoint</Application>
  <PresentationFormat>On-screen Show (16:9)</PresentationFormat>
  <Paragraphs>206</Paragraphs>
  <Slides>31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-apple-system</vt:lpstr>
      <vt:lpstr>Arial</vt:lpstr>
      <vt:lpstr>Calibri</vt:lpstr>
      <vt:lpstr>Calibri Light</vt:lpstr>
      <vt:lpstr>Google Sans</vt:lpstr>
      <vt:lpstr>Symbol</vt:lpstr>
      <vt:lpstr>Times New Roman</vt:lpstr>
      <vt:lpstr>Wingdings</vt:lpstr>
      <vt:lpstr>Retrospect</vt:lpstr>
      <vt:lpstr>Equation</vt:lpstr>
      <vt:lpstr>Asymptotic Notation </vt:lpstr>
      <vt:lpstr>Asymptotic Complexity</vt:lpstr>
      <vt:lpstr>Asymptotic Notation</vt:lpstr>
      <vt:lpstr>-notation</vt:lpstr>
      <vt:lpstr>-notation</vt:lpstr>
      <vt:lpstr>Exercise</vt:lpstr>
      <vt:lpstr>Example</vt:lpstr>
      <vt:lpstr>Example</vt:lpstr>
      <vt:lpstr>O-notation</vt:lpstr>
      <vt:lpstr>Examples</vt:lpstr>
      <vt:lpstr> -notation</vt:lpstr>
      <vt:lpstr>Example</vt:lpstr>
      <vt:lpstr>Relations Between Q, O, W</vt:lpstr>
      <vt:lpstr>Relations Between Q, W, O</vt:lpstr>
      <vt:lpstr>Running Times</vt:lpstr>
      <vt:lpstr>Example</vt:lpstr>
      <vt:lpstr>Asymptotic Notation in Equations</vt:lpstr>
      <vt:lpstr>o-notation</vt:lpstr>
      <vt:lpstr>w -notation</vt:lpstr>
      <vt:lpstr>Relationships between these notations: </vt:lpstr>
      <vt:lpstr>Comparison of Functions</vt:lpstr>
      <vt:lpstr>Limits</vt:lpstr>
      <vt:lpstr>Properties</vt:lpstr>
      <vt:lpstr>Properties</vt:lpstr>
      <vt:lpstr>Practice Question</vt:lpstr>
      <vt:lpstr>Common Functions : Important Theorems</vt:lpstr>
      <vt:lpstr>Monotonicity</vt:lpstr>
      <vt:lpstr>Exponentials</vt:lpstr>
      <vt:lpstr>Logarithms </vt:lpstr>
      <vt:lpstr>Logarithms and exponentials – Bases </vt:lpstr>
      <vt:lpstr>Polylogarithms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Asymptotic Notation</dc:title>
  <dc:creator>user</dc:creator>
  <cp:lastModifiedBy>BHAVNEET KAUR</cp:lastModifiedBy>
  <cp:revision>46</cp:revision>
  <dcterms:created xsi:type="dcterms:W3CDTF">2024-05-23T16:05:50Z</dcterms:created>
  <dcterms:modified xsi:type="dcterms:W3CDTF">2024-07-26T15:43:30Z</dcterms:modified>
</cp:coreProperties>
</file>