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69" r:id="rId4"/>
    <p:sldId id="270" r:id="rId5"/>
    <p:sldId id="271" r:id="rId6"/>
    <p:sldId id="272" r:id="rId7"/>
    <p:sldId id="268" r:id="rId8"/>
    <p:sldId id="259" r:id="rId9"/>
    <p:sldId id="260" r:id="rId10"/>
    <p:sldId id="258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233" autoAdjust="0"/>
    <p:restoredTop sz="94660"/>
  </p:normalViewPr>
  <p:slideViewPr>
    <p:cSldViewPr>
      <p:cViewPr varScale="1">
        <p:scale>
          <a:sx n="68" d="100"/>
          <a:sy n="68" d="100"/>
        </p:scale>
        <p:origin x="-14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07464-2157-4203-BBB3-1A8376C2FDF7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DDA3E-8B12-4642-8B5E-378EFCF561A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01FC5-F51F-4DB8-B65B-3DDF4A9BE50D}" type="datetimeFigureOut">
              <a:rPr lang="en-US" smtClean="0"/>
              <a:t>5/23/2024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3D652-252B-4D0A-8F9B-4B900026CE4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1" y="3311236"/>
            <a:ext cx="8118764" cy="1967346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BACK PROPAGATION METHOD</a:t>
            </a:r>
            <a:endParaRPr lang="en-US" dirty="0" smtClean="0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00100" y="2000240"/>
            <a:ext cx="6691745" cy="637309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Topic </a:t>
            </a:r>
            <a:r>
              <a:rPr lang="en-US" dirty="0" smtClean="0"/>
              <a:t>1.2.2</a:t>
            </a:r>
            <a:endParaRPr lang="en-US" dirty="0" smtClean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42365" y="6356350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>
                <a:solidFill>
                  <a:srgbClr val="3333FF"/>
                </a:solidFill>
              </a:rPr>
              <a:t>By:  </a:t>
            </a:r>
            <a:r>
              <a:rPr lang="en-US" dirty="0" err="1" smtClean="0">
                <a:solidFill>
                  <a:srgbClr val="3333FF"/>
                </a:solidFill>
              </a:rPr>
              <a:t>Er.Bhavneet</a:t>
            </a:r>
            <a:r>
              <a:rPr lang="en-US" dirty="0" smtClean="0">
                <a:solidFill>
                  <a:srgbClr val="3333FF"/>
                </a:solidFill>
              </a:rPr>
              <a:t> </a:t>
            </a:r>
            <a:r>
              <a:rPr lang="en-US" dirty="0" err="1" smtClean="0">
                <a:solidFill>
                  <a:srgbClr val="3333FF"/>
                </a:solidFill>
              </a:rPr>
              <a:t>Kaur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Master Subject Co-</a:t>
            </a:r>
            <a:r>
              <a:rPr lang="en-US" dirty="0" err="1" smtClean="0">
                <a:solidFill>
                  <a:srgbClr val="3333FF"/>
                </a:solidFill>
              </a:rPr>
              <a:t>ordinator</a:t>
            </a:r>
            <a:endParaRPr lang="en-US" dirty="0" smtClean="0">
              <a:solidFill>
                <a:srgbClr val="3333FF"/>
              </a:solidFill>
            </a:endParaRPr>
          </a:p>
          <a:p>
            <a:r>
              <a:rPr lang="en-US" dirty="0" smtClean="0">
                <a:solidFill>
                  <a:srgbClr val="3333FF"/>
                </a:solidFill>
              </a:rPr>
              <a:t>CSE 2</a:t>
            </a:r>
            <a:r>
              <a:rPr lang="en-US" baseline="30000" dirty="0" smtClean="0">
                <a:solidFill>
                  <a:srgbClr val="3333FF"/>
                </a:solidFill>
              </a:rPr>
              <a:t>nd</a:t>
            </a:r>
            <a:r>
              <a:rPr lang="en-US" dirty="0" smtClean="0">
                <a:solidFill>
                  <a:srgbClr val="3333FF"/>
                </a:solidFill>
              </a:rPr>
              <a:t> Year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12294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587375"/>
            <a:ext cx="1905000" cy="685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76288" y="0"/>
            <a:ext cx="8062912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Iteration Method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2000" y="1154113"/>
            <a:ext cx="8077200" cy="5324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Iteration method: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3200" i="0" u="none" strike="noStrike" kern="120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Expand the recurrence </a:t>
            </a:r>
            <a:r>
              <a:rPr kumimoji="0" lang="en-US" sz="2800" i="1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80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times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i="0" u="none" strike="noStrike" kern="120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Work some algebra to express as a summation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i="0" u="none" strike="noStrike" kern="120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Evaluate the summation</a:t>
            </a:r>
            <a:endParaRPr kumimoji="0" lang="en-US" sz="280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dirty="0" smtClean="0">
                <a:solidFill>
                  <a:schemeClr val="tx1"/>
                </a:solidFill>
              </a:rPr>
              <a:t>Convert the recurrence into a summation and try to bound it using known series</a:t>
            </a:r>
          </a:p>
          <a:p>
            <a:pPr lvl="1">
              <a:lnSpc>
                <a:spcPct val="130000"/>
              </a:lnSpc>
            </a:pPr>
            <a:r>
              <a:rPr lang="en-US" dirty="0" smtClean="0"/>
              <a:t>Iterate the recurrence until the initial condition is reached.</a:t>
            </a:r>
          </a:p>
          <a:p>
            <a:pPr lvl="1">
              <a:lnSpc>
                <a:spcPct val="130000"/>
              </a:lnSpc>
            </a:pPr>
            <a:r>
              <a:rPr lang="en-US" dirty="0" smtClean="0"/>
              <a:t>Use back-substitution to express the recurrence in terms of </a:t>
            </a:r>
            <a:r>
              <a:rPr lang="en-US" i="1" dirty="0" smtClean="0"/>
              <a:t>n</a:t>
            </a:r>
            <a:r>
              <a:rPr lang="en-US" dirty="0" smtClean="0"/>
              <a:t> and the initial (boundary) condition.</a:t>
            </a:r>
            <a:endParaRPr lang="el-GR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85800" y="152400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Iteration Method – Example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0838" y="1476375"/>
            <a:ext cx="8599487" cy="5076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n + 2T(n/2)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T(n) = n + 2T(n/2) 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n + 2(n/2 + 2T(n/4))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n + n + 4T(n/4)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n + n + 4(n/4 + 2T(n/8))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n + n + n + 8T(n/8)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…  = in + 2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T(n/2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kn + 2</a:t>
            </a:r>
            <a:r>
              <a:rPr kumimoji="0" lang="en-US" sz="2000" b="0" i="0" u="none" strike="noStrike" kern="1200" cap="none" spc="0" normalizeH="0" baseline="30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k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T(1)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	    = nlgn + nT(1) = </a:t>
            </a:r>
            <a:r>
              <a:rPr kumimoji="0" lang="el-GR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Θ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(nlgn)</a:t>
            </a:r>
            <a:endParaRPr kumimoji="0" lang="el-GR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743700" y="1346200"/>
            <a:ext cx="228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400" b="0">
                <a:latin typeface="Comic Sans MS" pitchFamily="66" charset="0"/>
                <a:cs typeface="Times New Roman" pitchFamily="18" charset="0"/>
              </a:rPr>
              <a:t>Assume: n = 2</a:t>
            </a:r>
            <a:r>
              <a:rPr lang="en-US" sz="2400" b="0" baseline="30000">
                <a:latin typeface="Comic Sans MS" pitchFamily="66" charset="0"/>
                <a:cs typeface="Times New Roman" pitchFamily="18" charset="0"/>
              </a:rPr>
              <a:t>k</a:t>
            </a:r>
            <a:endParaRPr lang="en-US" sz="2400" b="0"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915025" y="4119563"/>
            <a:ext cx="2906713" cy="223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n = 2</a:t>
            </a:r>
            <a:r>
              <a:rPr lang="en-US" sz="2000" b="0" baseline="30000">
                <a:latin typeface="Comic Sans MS" pitchFamily="66" charset="0"/>
                <a:cs typeface="Times New Roman" pitchFamily="18" charset="0"/>
              </a:rPr>
              <a:t>k</a:t>
            </a:r>
          </a:p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Taking lg on both sides</a:t>
            </a:r>
          </a:p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lg n = lg (2</a:t>
            </a:r>
            <a:r>
              <a:rPr lang="en-US" sz="2000" b="0" baseline="30000">
                <a:latin typeface="Comic Sans MS" pitchFamily="66" charset="0"/>
                <a:cs typeface="Times New Roman" pitchFamily="18" charset="0"/>
              </a:rPr>
              <a:t>k</a:t>
            </a:r>
            <a:r>
              <a:rPr lang="en-US" sz="2000" b="0">
                <a:latin typeface="Comic Sans MS" pitchFamily="66" charset="0"/>
                <a:cs typeface="Times New Roman" pitchFamily="18" charset="0"/>
              </a:rPr>
              <a:t> )</a:t>
            </a:r>
          </a:p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lg n = klg2</a:t>
            </a:r>
          </a:p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lg n = k x 1</a:t>
            </a:r>
          </a:p>
          <a:p>
            <a:pPr algn="l"/>
            <a:r>
              <a:rPr lang="en-US" sz="2000" b="0">
                <a:latin typeface="Comic Sans MS" pitchFamily="66" charset="0"/>
                <a:cs typeface="Times New Roman" pitchFamily="18" charset="0"/>
              </a:rPr>
              <a:t>lg n = k</a:t>
            </a:r>
          </a:p>
          <a:p>
            <a:pPr algn="l"/>
            <a:endParaRPr lang="en-US" sz="2000" b="0">
              <a:latin typeface="Comic Sans MS" pitchFamily="66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00" y="428604"/>
            <a:ext cx="7686700" cy="98903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2000" y="1154113"/>
            <a:ext cx="8077200" cy="5324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	= 	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-1)	=	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	2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-2)	=	2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	3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-3)	…	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 	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ck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 far for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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we have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ck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stop the recursion, we should have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-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0 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 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k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</a:t>
            </a:r>
            <a:r>
              <a:rPr kumimoji="0" lang="en-US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(0) = </a:t>
            </a:r>
            <a:r>
              <a:rPr kumimoji="0" lang="en-US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</a:t>
            </a:r>
            <a:endParaRPr kumimoji="0" lang="en-US" sz="2800" b="1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Thus in general 	</a:t>
            </a:r>
            <a:r>
              <a:rPr kumimoji="0" 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</a:t>
            </a:r>
            <a:r>
              <a:rPr kumimoji="0" 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259013" y="0"/>
          <a:ext cx="3911600" cy="1066800"/>
        </p:xfrm>
        <a:graphic>
          <a:graphicData uri="http://schemas.openxmlformats.org/presentationml/2006/ole">
            <p:oleObj spid="_x0000_s6146" name="Equation" r:id="rId3" imgW="167616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85800" y="1066800"/>
            <a:ext cx="8077200" cy="5324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	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	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-4)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 …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-2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 + … + 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+1) +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=					for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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stop the recursion, we should have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n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-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k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0   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k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= </a:t>
            </a:r>
            <a:r>
              <a:rPr kumimoji="0" lang="en-US" sz="2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n</a:t>
            </a: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0" y="76200"/>
          <a:ext cx="3055938" cy="833438"/>
        </p:xfrm>
        <a:graphic>
          <a:graphicData uri="http://schemas.openxmlformats.org/presentationml/2006/ole">
            <p:oleObj spid="_x0000_s7170" name="Equation" r:id="rId3" imgW="1676160" imgH="457200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71600" y="4724400"/>
          <a:ext cx="6804025" cy="1077913"/>
        </p:xfrm>
        <a:graphic>
          <a:graphicData uri="http://schemas.openxmlformats.org/presentationml/2006/ole">
            <p:oleObj spid="_x0000_s7171" name="Equation" r:id="rId4" imgW="2717640" imgH="43164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066800" y="5562600"/>
          <a:ext cx="4005263" cy="982663"/>
        </p:xfrm>
        <a:graphic>
          <a:graphicData uri="http://schemas.openxmlformats.org/presentationml/2006/ole">
            <p:oleObj spid="_x0000_s7172" name="Equation" r:id="rId5" imgW="1600200" imgH="393480" progId="Equation.3">
              <p:embed/>
            </p:oleObj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971800" y="3276600"/>
          <a:ext cx="3810000" cy="1098550"/>
        </p:xfrm>
        <a:graphic>
          <a:graphicData uri="http://schemas.openxmlformats.org/presentationml/2006/ole">
            <p:oleObj spid="_x0000_s7173" name="Equation" r:id="rId6" imgW="124452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00034" y="3429000"/>
            <a:ext cx="8118764" cy="1967346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dirty="0" smtClean="0"/>
              <a:t>MASTER THEOREM</a:t>
            </a:r>
            <a:endParaRPr kumimoji="0" 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Master Theorem</a:t>
            </a:r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612775" y="1084263"/>
            <a:ext cx="8218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eaLnBrk="0" hangingPunct="0"/>
            <a:endParaRPr lang="en-US" sz="2400" b="0">
              <a:latin typeface="Times New Roman" pitchFamily="18" charset="0"/>
            </a:endParaRPr>
          </a:p>
        </p:txBody>
      </p:sp>
      <p:sp>
        <p:nvSpPr>
          <p:cNvPr id="579588" name="Text Box 4"/>
          <p:cNvSpPr txBox="1">
            <a:spLocks noChangeArrowheads="1"/>
          </p:cNvSpPr>
          <p:nvPr/>
        </p:nvSpPr>
        <p:spPr bwMode="auto">
          <a:xfrm>
            <a:off x="193675" y="1428736"/>
            <a:ext cx="8950325" cy="37856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marL="457200" indent="-457200" algn="l" eaLnBrk="0" hangingPunct="0"/>
            <a:r>
              <a:rPr lang="en-US" sz="2400" dirty="0">
                <a:latin typeface="Times New Roman" pitchFamily="18" charset="0"/>
              </a:rPr>
              <a:t>Theorem:</a:t>
            </a:r>
            <a:endParaRPr lang="en-US" sz="2400" b="0" dirty="0">
              <a:latin typeface="Times New Roman" pitchFamily="18" charset="0"/>
            </a:endParaRPr>
          </a:p>
          <a:p>
            <a:pPr marL="457200" indent="-457200" algn="l" eaLnBrk="0" hangingPunct="0"/>
            <a:r>
              <a:rPr lang="en-US" sz="2400" b="0" dirty="0">
                <a:latin typeface="Times New Roman" pitchFamily="18" charset="0"/>
              </a:rPr>
              <a:t>Let </a:t>
            </a:r>
            <a:r>
              <a:rPr lang="en-US" b="0" i="1" dirty="0">
                <a:latin typeface="Times New Roman" pitchFamily="18" charset="0"/>
              </a:rPr>
              <a:t>a </a:t>
            </a:r>
            <a:r>
              <a:rPr lang="en-US" b="0" dirty="0">
                <a:latin typeface="Times New Roman" pitchFamily="18" charset="0"/>
                <a:sym typeface="Symbol" pitchFamily="18" charset="2"/>
              </a:rPr>
              <a:t> 1 and </a:t>
            </a:r>
            <a:r>
              <a:rPr lang="en-US" b="0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b="0" dirty="0">
                <a:latin typeface="Times New Roman" pitchFamily="18" charset="0"/>
                <a:sym typeface="Symbol" pitchFamily="18" charset="2"/>
              </a:rPr>
              <a:t> &gt; 1</a:t>
            </a:r>
            <a:r>
              <a:rPr lang="en-US" sz="2400" b="0" i="1" dirty="0">
                <a:latin typeface="Times New Roman" pitchFamily="18" charset="0"/>
              </a:rPr>
              <a:t> </a:t>
            </a:r>
            <a:r>
              <a:rPr lang="en-US" sz="2400" b="0" dirty="0">
                <a:latin typeface="Times New Roman" pitchFamily="18" charset="0"/>
              </a:rPr>
              <a:t>be constants, let </a:t>
            </a:r>
            <a:r>
              <a:rPr lang="en-US" sz="2400" b="0" i="1" dirty="0">
                <a:latin typeface="Times New Roman" pitchFamily="18" charset="0"/>
              </a:rPr>
              <a:t>f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) be a function, and </a:t>
            </a:r>
            <a:br>
              <a:rPr lang="en-US" sz="2400" b="0" dirty="0">
                <a:latin typeface="Times New Roman" pitchFamily="18" charset="0"/>
              </a:rPr>
            </a:br>
            <a:r>
              <a:rPr lang="en-US" sz="2400" b="0" dirty="0">
                <a:latin typeface="Times New Roman" pitchFamily="18" charset="0"/>
              </a:rPr>
              <a:t>Let </a:t>
            </a:r>
            <a:r>
              <a:rPr lang="en-US" sz="2400" b="0" i="1" dirty="0">
                <a:latin typeface="Times New Roman" pitchFamily="18" charset="0"/>
              </a:rPr>
              <a:t>T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) be defined on nonnegative integers by the recurrence </a:t>
            </a:r>
            <a:br>
              <a:rPr lang="en-US" sz="2400" b="0" dirty="0">
                <a:latin typeface="Times New Roman" pitchFamily="18" charset="0"/>
              </a:rPr>
            </a:br>
            <a:r>
              <a:rPr lang="en-US" sz="2400" b="0" i="1" dirty="0">
                <a:latin typeface="Times New Roman" pitchFamily="18" charset="0"/>
              </a:rPr>
              <a:t>T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) = </a:t>
            </a:r>
            <a:r>
              <a:rPr lang="en-US" sz="2400" b="0" i="1" dirty="0" err="1">
                <a:latin typeface="Times New Roman" pitchFamily="18" charset="0"/>
              </a:rPr>
              <a:t>aT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/</a:t>
            </a:r>
            <a:r>
              <a:rPr lang="en-US" sz="2400" b="0" i="1" dirty="0">
                <a:latin typeface="Times New Roman" pitchFamily="18" charset="0"/>
              </a:rPr>
              <a:t>b</a:t>
            </a:r>
            <a:r>
              <a:rPr lang="en-US" sz="2400" b="0" dirty="0">
                <a:latin typeface="Times New Roman" pitchFamily="18" charset="0"/>
              </a:rPr>
              <a:t>) + </a:t>
            </a:r>
            <a:r>
              <a:rPr lang="en-US" sz="2400" b="0" i="1" dirty="0">
                <a:latin typeface="Times New Roman" pitchFamily="18" charset="0"/>
              </a:rPr>
              <a:t>f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), where we can replace 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/</a:t>
            </a:r>
            <a:r>
              <a:rPr lang="en-US" sz="2400" b="0" i="1" dirty="0">
                <a:latin typeface="Times New Roman" pitchFamily="18" charset="0"/>
              </a:rPr>
              <a:t>b</a:t>
            </a:r>
            <a:r>
              <a:rPr lang="en-US" sz="2400" b="0" dirty="0">
                <a:latin typeface="Times New Roman" pitchFamily="18" charset="0"/>
              </a:rPr>
              <a:t> by 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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/</a:t>
            </a:r>
            <a:r>
              <a:rPr lang="en-US" sz="2400" b="0" i="1" dirty="0">
                <a:latin typeface="Times New Roman" pitchFamily="18" charset="0"/>
              </a:rPr>
              <a:t>b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 or 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/</a:t>
            </a:r>
            <a:r>
              <a:rPr lang="en-US" sz="2400" b="0" i="1" dirty="0">
                <a:latin typeface="Times New Roman" pitchFamily="18" charset="0"/>
              </a:rPr>
              <a:t>b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</a:t>
            </a:r>
            <a:r>
              <a:rPr lang="en-US" sz="2400" b="0" dirty="0">
                <a:latin typeface="Times New Roman" pitchFamily="18" charset="0"/>
              </a:rPr>
              <a:t>. </a:t>
            </a:r>
            <a:br>
              <a:rPr lang="en-US" sz="2400" b="0" dirty="0">
                <a:latin typeface="Times New Roman" pitchFamily="18" charset="0"/>
              </a:rPr>
            </a:br>
            <a:r>
              <a:rPr lang="en-US" sz="2400" b="0" i="1" dirty="0">
                <a:latin typeface="Times New Roman" pitchFamily="18" charset="0"/>
              </a:rPr>
              <a:t>T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n</a:t>
            </a:r>
            <a:r>
              <a:rPr lang="en-US" sz="2400" b="0" dirty="0">
                <a:latin typeface="Times New Roman" pitchFamily="18" charset="0"/>
              </a:rPr>
              <a:t>) can be bounded asymptotically in three cases: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400" b="0" dirty="0">
                <a:latin typeface="Times New Roman" pitchFamily="18" charset="0"/>
              </a:rPr>
              <a:t>If 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 = </a:t>
            </a:r>
            <a:r>
              <a:rPr lang="en-US" sz="2400" i="1" dirty="0">
                <a:latin typeface="Times New Roman" pitchFamily="18" charset="0"/>
              </a:rPr>
              <a:t>O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baseline="30000" dirty="0" err="1">
                <a:latin typeface="Times New Roman" pitchFamily="18" charset="0"/>
              </a:rPr>
              <a:t>log</a:t>
            </a:r>
            <a:r>
              <a:rPr lang="en-US" sz="1600" i="1" baseline="20000" dirty="0" err="1">
                <a:latin typeface="Times New Roman" pitchFamily="18" charset="0"/>
              </a:rPr>
              <a:t>b</a:t>
            </a:r>
            <a:r>
              <a:rPr lang="en-US" sz="2400" i="1" baseline="30000" dirty="0" err="1">
                <a:latin typeface="Times New Roman" pitchFamily="18" charset="0"/>
              </a:rPr>
              <a:t>a</a:t>
            </a:r>
            <a:r>
              <a:rPr lang="en-US" sz="2400" baseline="30000" dirty="0">
                <a:latin typeface="Times New Roman" pitchFamily="18" charset="0"/>
              </a:rPr>
              <a:t>–</a:t>
            </a:r>
            <a:r>
              <a:rPr lang="en-US" sz="2400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0" dirty="0">
                <a:latin typeface="Times New Roman" pitchFamily="18" charset="0"/>
              </a:rPr>
              <a:t> for some constant 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 &gt; 0, then 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(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baseline="30000" dirty="0" err="1">
                <a:latin typeface="Times New Roman" pitchFamily="18" charset="0"/>
              </a:rPr>
              <a:t>log</a:t>
            </a:r>
            <a:r>
              <a:rPr lang="en-US" sz="1600" i="1" baseline="20000" dirty="0" err="1">
                <a:latin typeface="Times New Roman" pitchFamily="18" charset="0"/>
              </a:rPr>
              <a:t>b</a:t>
            </a:r>
            <a:r>
              <a:rPr lang="en-US" sz="2400" i="1" baseline="30000" dirty="0" err="1">
                <a:latin typeface="Times New Roman" pitchFamily="18" charset="0"/>
              </a:rPr>
              <a:t>a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b="0" dirty="0">
                <a:latin typeface="Times New Roman" pitchFamily="18" charset="0"/>
              </a:rPr>
              <a:t>.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400" b="0" dirty="0">
                <a:latin typeface="Times New Roman" pitchFamily="18" charset="0"/>
              </a:rPr>
              <a:t>If 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 =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baseline="30000" dirty="0" err="1">
                <a:latin typeface="Times New Roman" pitchFamily="18" charset="0"/>
              </a:rPr>
              <a:t>log</a:t>
            </a:r>
            <a:r>
              <a:rPr lang="en-US" sz="1600" i="1" baseline="20000" dirty="0" err="1">
                <a:latin typeface="Times New Roman" pitchFamily="18" charset="0"/>
              </a:rPr>
              <a:t>b</a:t>
            </a:r>
            <a:r>
              <a:rPr lang="en-US" sz="2400" i="1" baseline="30000" dirty="0" err="1">
                <a:latin typeface="Times New Roman" pitchFamily="18" charset="0"/>
              </a:rPr>
              <a:t>a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, then 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(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baseline="30000" dirty="0" err="1">
                <a:latin typeface="Times New Roman" pitchFamily="18" charset="0"/>
              </a:rPr>
              <a:t>log</a:t>
            </a:r>
            <a:r>
              <a:rPr lang="en-US" sz="1600" i="1" baseline="20000" dirty="0" err="1">
                <a:latin typeface="Times New Roman" pitchFamily="18" charset="0"/>
              </a:rPr>
              <a:t>b</a:t>
            </a:r>
            <a:r>
              <a:rPr lang="en-US" sz="2400" i="1" baseline="30000" dirty="0" err="1">
                <a:latin typeface="Times New Roman" pitchFamily="18" charset="0"/>
              </a:rPr>
              <a:t>a</a:t>
            </a:r>
            <a:r>
              <a:rPr lang="en-US" sz="2400" dirty="0" err="1">
                <a:latin typeface="Times New Roman" pitchFamily="18" charset="0"/>
              </a:rPr>
              <a:t>lg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b="0" dirty="0">
                <a:latin typeface="Times New Roman" pitchFamily="18" charset="0"/>
              </a:rPr>
              <a:t>.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400" b="0" dirty="0">
                <a:latin typeface="Times New Roman" pitchFamily="18" charset="0"/>
              </a:rPr>
              <a:t>If  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 =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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 err="1">
                <a:latin typeface="Times New Roman" pitchFamily="18" charset="0"/>
              </a:rPr>
              <a:t>n</a:t>
            </a:r>
            <a:r>
              <a:rPr lang="en-US" sz="2400" baseline="30000" dirty="0" err="1">
                <a:latin typeface="Times New Roman" pitchFamily="18" charset="0"/>
              </a:rPr>
              <a:t>log</a:t>
            </a:r>
            <a:r>
              <a:rPr lang="en-US" sz="1600" i="1" baseline="20000" dirty="0" err="1">
                <a:latin typeface="Times New Roman" pitchFamily="18" charset="0"/>
              </a:rPr>
              <a:t>b</a:t>
            </a:r>
            <a:r>
              <a:rPr lang="en-US" sz="2400" i="1" baseline="30000" dirty="0" err="1">
                <a:latin typeface="Times New Roman" pitchFamily="18" charset="0"/>
              </a:rPr>
              <a:t>a</a:t>
            </a:r>
            <a:r>
              <a:rPr lang="en-US" sz="2400" baseline="30000" dirty="0">
                <a:latin typeface="Times New Roman" pitchFamily="18" charset="0"/>
              </a:rPr>
              <a:t>+</a:t>
            </a:r>
            <a:r>
              <a:rPr lang="en-US" sz="2400" baseline="30000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b="0" dirty="0">
                <a:latin typeface="Times New Roman" pitchFamily="18" charset="0"/>
              </a:rPr>
              <a:t> for some constant 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 &gt; 0, </a:t>
            </a:r>
            <a:br>
              <a:rPr lang="en-US" sz="2400" b="0" dirty="0">
                <a:latin typeface="Times New Roman" pitchFamily="18" charset="0"/>
                <a:sym typeface="Symbol" pitchFamily="18" charset="2"/>
              </a:rPr>
            </a:br>
            <a:r>
              <a:rPr lang="en-US" sz="2400" b="0" dirty="0">
                <a:latin typeface="Times New Roman" pitchFamily="18" charset="0"/>
                <a:sym typeface="Symbol" pitchFamily="18" charset="2"/>
              </a:rPr>
              <a:t>	and if, for some constant 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c 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&lt; 1 and all sufficiently large 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, </a:t>
            </a:r>
            <a:br>
              <a:rPr lang="en-US" sz="2400" b="0" dirty="0">
                <a:latin typeface="Times New Roman" pitchFamily="18" charset="0"/>
                <a:sym typeface="Symbol" pitchFamily="18" charset="2"/>
              </a:rPr>
            </a:br>
            <a:r>
              <a:rPr lang="en-US" sz="2400" b="0" dirty="0">
                <a:latin typeface="Times New Roman" pitchFamily="18" charset="0"/>
                <a:sym typeface="Symbol" pitchFamily="18" charset="2"/>
              </a:rPr>
              <a:t>	we have </a:t>
            </a:r>
            <a:r>
              <a:rPr lang="en-US" sz="2400" b="0" i="1" dirty="0" err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sz="2400" b="0" dirty="0" err="1">
                <a:latin typeface="Times New Roman" pitchFamily="18" charset="0"/>
                <a:sym typeface="Symbol" pitchFamily="18" charset="2"/>
              </a:rPr>
              <a:t>·</a:t>
            </a:r>
            <a:r>
              <a:rPr lang="en-US" sz="2400" b="0" i="1" dirty="0" err="1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/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)  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c f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b="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), then 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 =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))</a:t>
            </a:r>
            <a:r>
              <a:rPr lang="en-US" sz="2400" b="0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Master Theorem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24" y="1533525"/>
            <a:ext cx="7924800" cy="5324475"/>
          </a:xfrm>
        </p:spPr>
        <p:txBody>
          <a:bodyPr/>
          <a:lstStyle/>
          <a:p>
            <a:r>
              <a:rPr lang="en-US" dirty="0"/>
              <a:t>Given: a </a:t>
            </a:r>
            <a:r>
              <a:rPr lang="en-US" i="1" dirty="0"/>
              <a:t>divide and conquer</a:t>
            </a:r>
            <a:r>
              <a:rPr lang="en-US" dirty="0"/>
              <a:t> algorithm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pPr lvl="1"/>
            <a:r>
              <a:rPr lang="en-US" dirty="0"/>
              <a:t>An algorithm that divides the problem of size </a:t>
            </a:r>
            <a:r>
              <a:rPr lang="en-US" i="1" dirty="0"/>
              <a:t>n</a:t>
            </a:r>
            <a:r>
              <a:rPr lang="en-US" dirty="0"/>
              <a:t> into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dirty="0" err="1"/>
              <a:t>subproblems</a:t>
            </a:r>
            <a:r>
              <a:rPr lang="en-US" dirty="0"/>
              <a:t>, each of size 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b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  <a:p>
            <a:pPr lvl="1"/>
            <a:r>
              <a:rPr lang="en-US" dirty="0"/>
              <a:t>Let the cost of each stage (i.e., the work to divide the problem + combine solved </a:t>
            </a:r>
            <a:r>
              <a:rPr lang="en-US" dirty="0" err="1"/>
              <a:t>subproblems</a:t>
            </a:r>
            <a:r>
              <a:rPr lang="en-US" dirty="0"/>
              <a:t>) be described by the function </a:t>
            </a:r>
            <a:r>
              <a:rPr lang="en-US" i="1" dirty="0"/>
              <a:t>f</a:t>
            </a:r>
            <a:r>
              <a:rPr lang="en-US" dirty="0"/>
              <a:t>(n)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Master Method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38313"/>
            <a:ext cx="8458200" cy="5119687"/>
          </a:xfrm>
        </p:spPr>
        <p:txBody>
          <a:bodyPr/>
          <a:lstStyle/>
          <a:p>
            <a:r>
              <a:rPr lang="en-US" dirty="0"/>
              <a:t>Based on the Master theorem.</a:t>
            </a:r>
          </a:p>
          <a:p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= </a:t>
            </a:r>
            <a:r>
              <a:rPr lang="en-US" i="1" dirty="0" err="1"/>
              <a:t>aT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/</a:t>
            </a:r>
            <a:r>
              <a:rPr lang="en-US" i="1" dirty="0"/>
              <a:t>b</a:t>
            </a:r>
            <a:r>
              <a:rPr lang="en-US" dirty="0"/>
              <a:t>) +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</a:p>
          <a:p>
            <a:pPr lvl="2"/>
            <a:r>
              <a:rPr lang="en-US" i="1" dirty="0"/>
              <a:t>a </a:t>
            </a:r>
            <a:r>
              <a:rPr lang="en-US" dirty="0">
                <a:sym typeface="Symbol" pitchFamily="18" charset="2"/>
              </a:rPr>
              <a:t> 1, </a:t>
            </a:r>
            <a:r>
              <a:rPr lang="en-US" i="1" dirty="0">
                <a:sym typeface="Symbol" pitchFamily="18" charset="2"/>
              </a:rPr>
              <a:t>b</a:t>
            </a:r>
            <a:r>
              <a:rPr lang="en-US" dirty="0">
                <a:sym typeface="Symbol" pitchFamily="18" charset="2"/>
              </a:rPr>
              <a:t> &gt; 1 are constants.</a:t>
            </a:r>
          </a:p>
          <a:p>
            <a:pPr lvl="2"/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 is asymptotically positive.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Requires memorization of three cases.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Master Theorem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 T(n) = aT(n/b) + f(n) 	where a </a:t>
            </a:r>
            <a:r>
              <a:rPr lang="en-US">
                <a:cs typeface="Times New Roman" pitchFamily="18" charset="0"/>
              </a:rPr>
              <a:t>≥ 1 &amp; b &gt; 1</a:t>
            </a:r>
          </a:p>
          <a:p>
            <a:r>
              <a:rPr lang="en-US"/>
              <a:t>then</a:t>
            </a:r>
          </a:p>
          <a:p>
            <a:pPr lvl="1"/>
            <a:endParaRPr lang="en-US"/>
          </a:p>
          <a:p>
            <a:endParaRPr lang="en-US"/>
          </a:p>
        </p:txBody>
      </p:sp>
      <p:graphicFrame>
        <p:nvGraphicFramePr>
          <p:cNvPr id="581636" name="Object 4"/>
          <p:cNvGraphicFramePr>
            <a:graphicFrameLocks noChangeAspect="1"/>
          </p:cNvGraphicFramePr>
          <p:nvPr/>
        </p:nvGraphicFramePr>
        <p:xfrm>
          <a:off x="857250" y="2057400"/>
          <a:ext cx="8286750" cy="4189413"/>
        </p:xfrm>
        <a:graphic>
          <a:graphicData uri="http://schemas.openxmlformats.org/presentationml/2006/ole">
            <p:oleObj spid="_x0000_s1026" name="Equation" r:id="rId3" imgW="3568680" imgH="1676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Master Theorem</a:t>
            </a:r>
            <a:endParaRPr lang="en-GB"/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1533525"/>
            <a:ext cx="8229600" cy="53244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each of the three cases, we are comparing f(n) with </a:t>
            </a:r>
            <a:r>
              <a:rPr lang="en-US" b="1" dirty="0" err="1"/>
              <a:t>n</a:t>
            </a:r>
            <a:r>
              <a:rPr lang="en-US" b="1" baseline="30000" dirty="0" err="1"/>
              <a:t>log</a:t>
            </a:r>
            <a:r>
              <a:rPr lang="en-US" b="1" baseline="-10000" dirty="0" err="1"/>
              <a:t>b</a:t>
            </a:r>
            <a:r>
              <a:rPr lang="en-US" b="1" baseline="30000" dirty="0" err="1"/>
              <a:t>a</a:t>
            </a:r>
            <a:r>
              <a:rPr lang="en-US" b="1" baseline="30000" dirty="0"/>
              <a:t> </a:t>
            </a:r>
            <a:r>
              <a:rPr lang="en-US" dirty="0"/>
              <a:t>, the solution to the recurrence is determined by the larger of the two functions.</a:t>
            </a:r>
          </a:p>
          <a:p>
            <a:endParaRPr lang="en-US" dirty="0"/>
          </a:p>
          <a:p>
            <a:r>
              <a:rPr lang="en-US" dirty="0"/>
              <a:t>In case 1, if the function </a:t>
            </a:r>
            <a:r>
              <a:rPr lang="en-US" b="1" dirty="0" err="1"/>
              <a:t>n</a:t>
            </a:r>
            <a:r>
              <a:rPr lang="en-US" b="1" baseline="40000" dirty="0" err="1"/>
              <a:t>log</a:t>
            </a:r>
            <a:r>
              <a:rPr lang="en-US" b="1" baseline="-6000" dirty="0" err="1"/>
              <a:t>b</a:t>
            </a:r>
            <a:r>
              <a:rPr lang="en-US" b="1" baseline="40000" dirty="0" err="1"/>
              <a:t>a</a:t>
            </a:r>
            <a:r>
              <a:rPr lang="en-US" b="1" baseline="40000" dirty="0"/>
              <a:t> </a:t>
            </a:r>
            <a:r>
              <a:rPr lang="en-US" dirty="0"/>
              <a:t>is the larger, then the solution T(n) = </a:t>
            </a:r>
            <a:r>
              <a:rPr lang="el-GR" dirty="0">
                <a:cs typeface="Times New Roman" pitchFamily="18" charset="0"/>
              </a:rPr>
              <a:t>Θ</a:t>
            </a:r>
            <a:r>
              <a:rPr lang="en-US" dirty="0"/>
              <a:t>(</a:t>
            </a:r>
            <a:r>
              <a:rPr lang="en-US" b="1" dirty="0" err="1"/>
              <a:t>n</a:t>
            </a:r>
            <a:r>
              <a:rPr lang="en-US" b="1" baseline="40000" dirty="0" err="1"/>
              <a:t>log</a:t>
            </a:r>
            <a:r>
              <a:rPr lang="en-US" b="1" baseline="-2000" dirty="0" err="1"/>
              <a:t>b</a:t>
            </a:r>
            <a:r>
              <a:rPr lang="en-US" b="1" baseline="40000" dirty="0" err="1"/>
              <a:t>a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In case 3, if the function f(n) is the larger, then the solution is T(n) =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(f(n)).</a:t>
            </a:r>
          </a:p>
          <a:p>
            <a:endParaRPr lang="en-US" dirty="0"/>
          </a:p>
          <a:p>
            <a:r>
              <a:rPr lang="en-US" dirty="0"/>
              <a:t>In case 2, if the two functions are the same size, then the solution is T(n) = </a:t>
            </a:r>
            <a:r>
              <a:rPr lang="el-GR" dirty="0">
                <a:cs typeface="Times New Roman" pitchFamily="18" charset="0"/>
              </a:rPr>
              <a:t>Θ</a:t>
            </a:r>
            <a:r>
              <a:rPr lang="en-US" dirty="0"/>
              <a:t>(</a:t>
            </a:r>
            <a:r>
              <a:rPr lang="en-US" b="1" dirty="0" err="1"/>
              <a:t>n</a:t>
            </a:r>
            <a:r>
              <a:rPr lang="en-US" b="1" baseline="40000" dirty="0" err="1"/>
              <a:t>log</a:t>
            </a:r>
            <a:r>
              <a:rPr lang="en-US" b="1" baseline="-2000" dirty="0" err="1"/>
              <a:t>b</a:t>
            </a:r>
            <a:r>
              <a:rPr lang="en-US" b="1" baseline="40000" dirty="0" err="1"/>
              <a:t>a</a:t>
            </a:r>
            <a:r>
              <a:rPr lang="en-US" b="1" baseline="40000" dirty="0"/>
              <a:t> </a:t>
            </a:r>
            <a:r>
              <a:rPr lang="en-US" b="1" dirty="0" err="1"/>
              <a:t>lg</a:t>
            </a:r>
            <a:r>
              <a:rPr lang="en-US" b="1" dirty="0"/>
              <a:t> n</a:t>
            </a:r>
            <a:r>
              <a:rPr lang="en-US" dirty="0"/>
              <a:t>) = </a:t>
            </a:r>
            <a:r>
              <a:rPr lang="el-GR" dirty="0">
                <a:cs typeface="Times New Roman" pitchFamily="18" charset="0"/>
              </a:rPr>
              <a:t>Θ</a:t>
            </a:r>
            <a:r>
              <a:rPr lang="en-US" dirty="0">
                <a:cs typeface="Times New Roman" pitchFamily="18" charset="0"/>
              </a:rPr>
              <a:t>(f(n) </a:t>
            </a:r>
            <a:r>
              <a:rPr lang="en-US" dirty="0" err="1">
                <a:cs typeface="Times New Roman" pitchFamily="18" charset="0"/>
              </a:rPr>
              <a:t>lg</a:t>
            </a:r>
            <a:r>
              <a:rPr lang="en-US" dirty="0">
                <a:cs typeface="Times New Roman" pitchFamily="18" charset="0"/>
              </a:rPr>
              <a:t> n).</a:t>
            </a:r>
            <a:endParaRPr lang="en-US" dirty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Master Theorem</a:t>
            </a:r>
            <a:endParaRPr lang="en-GB"/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case 1, not only must f(n) be smaller than </a:t>
            </a:r>
            <a:r>
              <a:rPr lang="en-US" b="1"/>
              <a:t>n</a:t>
            </a:r>
            <a:r>
              <a:rPr lang="en-US" b="1" baseline="40000"/>
              <a:t>log</a:t>
            </a:r>
            <a:r>
              <a:rPr lang="en-US" b="1" baseline="-6000"/>
              <a:t>b</a:t>
            </a:r>
            <a:r>
              <a:rPr lang="en-US" b="1" baseline="40000"/>
              <a:t>a</a:t>
            </a:r>
            <a:r>
              <a:rPr lang="en-US"/>
              <a:t>, it must be polynomially smaller. That is f(n) must be asymptotically smaller than </a:t>
            </a:r>
            <a:r>
              <a:rPr lang="en-US" b="1"/>
              <a:t>n</a:t>
            </a:r>
            <a:r>
              <a:rPr lang="en-US" b="1" baseline="40000"/>
              <a:t>log</a:t>
            </a:r>
            <a:r>
              <a:rPr lang="en-US" b="1" baseline="-6000"/>
              <a:t>b</a:t>
            </a:r>
            <a:r>
              <a:rPr lang="en-US" b="1" baseline="40000"/>
              <a:t>a</a:t>
            </a:r>
            <a:r>
              <a:rPr lang="en-US"/>
              <a:t> by a factor of n</a:t>
            </a:r>
            <a:r>
              <a:rPr lang="el-GR" baseline="30000">
                <a:cs typeface="Times New Roman" pitchFamily="18" charset="0"/>
              </a:rPr>
              <a:t>ε</a:t>
            </a:r>
            <a:r>
              <a:rPr lang="en-US"/>
              <a:t> for some constant </a:t>
            </a:r>
            <a:r>
              <a:rPr lang="el-GR">
                <a:cs typeface="Times New Roman" pitchFamily="18" charset="0"/>
              </a:rPr>
              <a:t>ε</a:t>
            </a:r>
            <a:r>
              <a:rPr lang="en-US"/>
              <a:t> &gt; 0.</a:t>
            </a:r>
          </a:p>
          <a:p>
            <a:endParaRPr lang="en-US"/>
          </a:p>
          <a:p>
            <a:r>
              <a:rPr lang="en-US"/>
              <a:t>In case 3, not only must f(n) be larger than </a:t>
            </a:r>
            <a:r>
              <a:rPr lang="en-US" b="1"/>
              <a:t>n</a:t>
            </a:r>
            <a:r>
              <a:rPr lang="en-US" b="1" baseline="40000"/>
              <a:t>log</a:t>
            </a:r>
            <a:r>
              <a:rPr lang="en-US" b="1" baseline="-6000"/>
              <a:t>b</a:t>
            </a:r>
            <a:r>
              <a:rPr lang="en-US" b="1" baseline="40000"/>
              <a:t>a</a:t>
            </a:r>
            <a:r>
              <a:rPr lang="en-US"/>
              <a:t> , it must be polynomially larger and in addition satisfy the “regularity” condition that:</a:t>
            </a:r>
          </a:p>
          <a:p>
            <a:pPr>
              <a:buFont typeface="Wingdings" pitchFamily="2" charset="2"/>
              <a:buNone/>
            </a:pPr>
            <a:r>
              <a:rPr lang="en-US" i="1"/>
              <a:t>				a f(n/b) </a:t>
            </a:r>
            <a:r>
              <a:rPr lang="en-US" i="1">
                <a:cs typeface="Times New Roman" pitchFamily="18" charset="0"/>
              </a:rPr>
              <a:t>≤ c f(n).</a:t>
            </a:r>
          </a:p>
          <a:p>
            <a:endParaRPr lang="en-US" i="1">
              <a:cs typeface="Times New Roman" pitchFamily="18" charset="0"/>
            </a:endParaRPr>
          </a:p>
          <a:p>
            <a:endParaRPr lang="en-US" i="1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i="1"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i="1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/>
              <a:t>Understanding Master Theorem</a:t>
            </a:r>
            <a:endParaRPr lang="en-GB" dirty="0"/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54113"/>
            <a:ext cx="8229600" cy="53244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It is important to realize that the three cases do not cover all the possibilities for f(n).</a:t>
            </a:r>
          </a:p>
          <a:p>
            <a:endParaRPr lang="en-US" dirty="0"/>
          </a:p>
          <a:p>
            <a:r>
              <a:rPr lang="en-US" dirty="0"/>
              <a:t>There is a gap between cases 1 and 2 when f(n) is smaller than </a:t>
            </a:r>
            <a:r>
              <a:rPr lang="en-US" dirty="0" err="1"/>
              <a:t>n</a:t>
            </a:r>
            <a:r>
              <a:rPr lang="en-US" baseline="40000" dirty="0" err="1"/>
              <a:t>log</a:t>
            </a:r>
            <a:r>
              <a:rPr lang="en-US" baseline="-6000" dirty="0" err="1"/>
              <a:t>b</a:t>
            </a:r>
            <a:r>
              <a:rPr lang="en-US" baseline="40000" dirty="0" err="1"/>
              <a:t>a</a:t>
            </a:r>
            <a:r>
              <a:rPr lang="en-US" dirty="0"/>
              <a:t> but not </a:t>
            </a:r>
            <a:r>
              <a:rPr lang="en-US" dirty="0" err="1"/>
              <a:t>polynomially</a:t>
            </a:r>
            <a:r>
              <a:rPr lang="en-US" dirty="0"/>
              <a:t> smaller.</a:t>
            </a:r>
          </a:p>
          <a:p>
            <a:endParaRPr lang="en-US" dirty="0"/>
          </a:p>
          <a:p>
            <a:r>
              <a:rPr lang="en-US" dirty="0"/>
              <a:t>There is a gap between cases 2 and 3 when f(n) is larger than </a:t>
            </a:r>
            <a:r>
              <a:rPr lang="en-US" dirty="0" err="1"/>
              <a:t>n</a:t>
            </a:r>
            <a:r>
              <a:rPr lang="en-US" baseline="40000" dirty="0" err="1"/>
              <a:t>log</a:t>
            </a:r>
            <a:r>
              <a:rPr lang="en-US" baseline="-6000" dirty="0" err="1"/>
              <a:t>b</a:t>
            </a:r>
            <a:r>
              <a:rPr lang="en-US" baseline="40000" dirty="0" err="1"/>
              <a:t>a</a:t>
            </a:r>
            <a:r>
              <a:rPr lang="en-US" dirty="0"/>
              <a:t> but not </a:t>
            </a:r>
            <a:r>
              <a:rPr lang="en-US" dirty="0" err="1"/>
              <a:t>polynomially</a:t>
            </a:r>
            <a:r>
              <a:rPr lang="en-US" dirty="0"/>
              <a:t> larger.</a:t>
            </a:r>
          </a:p>
          <a:p>
            <a:endParaRPr lang="en-US" dirty="0"/>
          </a:p>
          <a:p>
            <a:r>
              <a:rPr lang="en-US" dirty="0"/>
              <a:t>If f(n) falls into one of these gaps, or if the regularity condition in case 3 fails to hold, the master method cannot be used to solve the recurrence.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Using The Master Method</a:t>
            </a:r>
            <a:br>
              <a:rPr lang="en-US" sz="3200"/>
            </a:br>
            <a:r>
              <a:rPr lang="en-US" sz="3200"/>
              <a:t>Case 1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T(n) = 9T(n/3) + n</a:t>
            </a:r>
          </a:p>
          <a:p>
            <a:pPr lvl="1"/>
            <a:r>
              <a:rPr lang="en-US" dirty="0"/>
              <a:t>a=9, b=3, f(n) = n</a:t>
            </a:r>
          </a:p>
          <a:p>
            <a:pPr lvl="1"/>
            <a:r>
              <a:rPr lang="en-US" dirty="0" err="1"/>
              <a:t>n</a:t>
            </a:r>
            <a:r>
              <a:rPr lang="en-US" baseline="30000" dirty="0" err="1"/>
              <a:t>log</a:t>
            </a:r>
            <a:r>
              <a:rPr lang="en-US" sz="1600" baseline="30000" dirty="0" err="1"/>
              <a:t>b</a:t>
            </a:r>
            <a:r>
              <a:rPr lang="en-US" baseline="30000" dirty="0"/>
              <a:t> a</a:t>
            </a:r>
            <a:r>
              <a:rPr lang="en-US" dirty="0"/>
              <a:t> = n</a:t>
            </a:r>
            <a:r>
              <a:rPr lang="en-US" baseline="30000" dirty="0"/>
              <a:t>log</a:t>
            </a:r>
            <a:r>
              <a:rPr lang="en-US" sz="1600" baseline="30000" dirty="0"/>
              <a:t>3</a:t>
            </a:r>
            <a:r>
              <a:rPr lang="en-US" baseline="30000" dirty="0"/>
              <a:t> 9</a:t>
            </a:r>
            <a:r>
              <a:rPr lang="en-US" dirty="0"/>
              <a:t> = </a:t>
            </a:r>
            <a:r>
              <a:rPr lang="en-US" dirty="0">
                <a:sym typeface="Symbol" pitchFamily="18" charset="2"/>
              </a:rPr>
              <a:t>(n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) &gt;&gt; from log</a:t>
            </a:r>
            <a:r>
              <a:rPr lang="en-US" baseline="-25000" dirty="0">
                <a:sym typeface="Symbol" pitchFamily="18" charset="2"/>
              </a:rPr>
              <a:t>3</a:t>
            </a:r>
            <a:r>
              <a:rPr lang="en-US" dirty="0">
                <a:sym typeface="Symbol" pitchFamily="18" charset="2"/>
              </a:rPr>
              <a:t>3</a:t>
            </a:r>
            <a:r>
              <a:rPr lang="en-US" baseline="30000" dirty="0">
                <a:sym typeface="Symbol" pitchFamily="18" charset="2"/>
              </a:rPr>
              <a:t>2</a:t>
            </a:r>
          </a:p>
          <a:p>
            <a:pPr lvl="1"/>
            <a:r>
              <a:rPr lang="en-US" dirty="0">
                <a:sym typeface="Symbol" pitchFamily="18" charset="2"/>
              </a:rPr>
              <a:t>Since f(n) = O(</a:t>
            </a:r>
            <a:r>
              <a:rPr lang="en-US" dirty="0"/>
              <a:t>n</a:t>
            </a:r>
            <a:r>
              <a:rPr lang="en-US" baseline="30000" dirty="0"/>
              <a:t>log</a:t>
            </a:r>
            <a:r>
              <a:rPr lang="en-US" sz="1600" baseline="30000" dirty="0"/>
              <a:t>3</a:t>
            </a:r>
            <a:r>
              <a:rPr lang="en-US" baseline="30000" dirty="0"/>
              <a:t> 9 - </a:t>
            </a:r>
            <a:r>
              <a:rPr lang="en-US" baseline="30000" dirty="0">
                <a:sym typeface="Symbol" pitchFamily="18" charset="2"/>
              </a:rPr>
              <a:t></a:t>
            </a:r>
            <a:r>
              <a:rPr lang="en-US" dirty="0">
                <a:sym typeface="Symbol" pitchFamily="18" charset="2"/>
              </a:rPr>
              <a:t>) = O(n</a:t>
            </a:r>
            <a:r>
              <a:rPr lang="en-US" baseline="30000" dirty="0">
                <a:sym typeface="Symbol" pitchFamily="18" charset="2"/>
              </a:rPr>
              <a:t>2-0.5</a:t>
            </a:r>
            <a:r>
              <a:rPr lang="en-US" dirty="0">
                <a:sym typeface="Symbol" pitchFamily="18" charset="2"/>
              </a:rPr>
              <a:t>) = O(n</a:t>
            </a:r>
            <a:r>
              <a:rPr lang="en-US" baseline="30000" dirty="0">
                <a:sym typeface="Symbol" pitchFamily="18" charset="2"/>
              </a:rPr>
              <a:t>1.5</a:t>
            </a:r>
            <a:r>
              <a:rPr lang="en-US" dirty="0">
                <a:sym typeface="Symbol" pitchFamily="18" charset="2"/>
              </a:rPr>
              <a:t>)</a:t>
            </a:r>
          </a:p>
          <a:p>
            <a:pPr lvl="1"/>
            <a:r>
              <a:rPr lang="en-US" dirty="0">
                <a:sym typeface="Symbol" pitchFamily="18" charset="2"/>
              </a:rPr>
              <a:t>where =0.5</a:t>
            </a:r>
          </a:p>
          <a:p>
            <a:pPr lvl="1"/>
            <a:r>
              <a:rPr lang="en-US" dirty="0">
                <a:sym typeface="Symbol" pitchFamily="18" charset="2"/>
              </a:rPr>
              <a:t>case 1 applies: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Thus the solution is </a:t>
            </a:r>
          </a:p>
          <a:p>
            <a:pPr lvl="2"/>
            <a:r>
              <a:rPr lang="en-US" dirty="0">
                <a:sym typeface="Symbol" pitchFamily="18" charset="2"/>
              </a:rPr>
              <a:t>T(n) = (n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)</a:t>
            </a:r>
          </a:p>
        </p:txBody>
      </p:sp>
      <p:graphicFrame>
        <p:nvGraphicFramePr>
          <p:cNvPr id="585732" name="Object 4"/>
          <p:cNvGraphicFramePr>
            <a:graphicFrameLocks noChangeAspect="1"/>
          </p:cNvGraphicFramePr>
          <p:nvPr/>
        </p:nvGraphicFramePr>
        <p:xfrm>
          <a:off x="2133600" y="3810000"/>
          <a:ext cx="5006975" cy="460375"/>
        </p:xfrm>
        <a:graphic>
          <a:graphicData uri="http://schemas.openxmlformats.org/presentationml/2006/ole">
            <p:oleObj spid="_x0000_s2050" name="Equation" r:id="rId3" imgW="248904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Using The Master Method</a:t>
            </a:r>
            <a:br>
              <a:rPr lang="en-US" sz="3200"/>
            </a:br>
            <a:r>
              <a:rPr lang="en-US" sz="3200"/>
              <a:t>Case 2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T(n) = T(2n/3) + 1</a:t>
            </a:r>
          </a:p>
          <a:p>
            <a:pPr lvl="1"/>
            <a:r>
              <a:rPr lang="en-US" dirty="0"/>
              <a:t>a=1, b=3/2, f(n) = 1</a:t>
            </a:r>
          </a:p>
          <a:p>
            <a:pPr lvl="1"/>
            <a:r>
              <a:rPr lang="en-US" dirty="0" err="1"/>
              <a:t>n</a:t>
            </a:r>
            <a:r>
              <a:rPr lang="en-US" baseline="30000" dirty="0" err="1"/>
              <a:t>log</a:t>
            </a:r>
            <a:r>
              <a:rPr lang="en-US" sz="1600" baseline="30000" dirty="0" err="1"/>
              <a:t>b</a:t>
            </a:r>
            <a:r>
              <a:rPr lang="en-US" baseline="30000" dirty="0" err="1"/>
              <a:t>a</a:t>
            </a:r>
            <a:r>
              <a:rPr lang="en-US" dirty="0"/>
              <a:t> = n</a:t>
            </a:r>
            <a:r>
              <a:rPr lang="en-US" baseline="30000" dirty="0"/>
              <a:t>log</a:t>
            </a:r>
            <a:r>
              <a:rPr lang="en-US" sz="1600" baseline="30000" dirty="0"/>
              <a:t>3/2</a:t>
            </a:r>
            <a:r>
              <a:rPr lang="en-US" baseline="30000" dirty="0"/>
              <a:t>1</a:t>
            </a:r>
            <a:r>
              <a:rPr lang="en-US" dirty="0"/>
              <a:t> = n</a:t>
            </a:r>
            <a:r>
              <a:rPr lang="en-US" baseline="30000" dirty="0"/>
              <a:t>0</a:t>
            </a:r>
            <a:r>
              <a:rPr lang="en-US" dirty="0"/>
              <a:t> = 1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Since f(n) = (</a:t>
            </a:r>
            <a:r>
              <a:rPr lang="en-US" dirty="0" err="1"/>
              <a:t>n</a:t>
            </a:r>
            <a:r>
              <a:rPr lang="en-US" baseline="30000" dirty="0" err="1"/>
              <a:t>log</a:t>
            </a:r>
            <a:r>
              <a:rPr lang="en-US" sz="1600" baseline="30000" dirty="0" err="1"/>
              <a:t>b</a:t>
            </a:r>
            <a:r>
              <a:rPr lang="en-US" baseline="30000" dirty="0" err="1"/>
              <a:t>a</a:t>
            </a:r>
            <a:r>
              <a:rPr lang="en-US" dirty="0">
                <a:sym typeface="Symbol" pitchFamily="18" charset="2"/>
              </a:rPr>
              <a:t>) = (1)</a:t>
            </a:r>
          </a:p>
          <a:p>
            <a:pPr lvl="1"/>
            <a:r>
              <a:rPr lang="en-US" dirty="0">
                <a:sym typeface="Symbol" pitchFamily="18" charset="2"/>
              </a:rPr>
              <a:t>case 2 applies: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Thus the solution is </a:t>
            </a:r>
          </a:p>
          <a:p>
            <a:pPr lvl="2"/>
            <a:r>
              <a:rPr lang="en-US" dirty="0">
                <a:sym typeface="Symbol" pitchFamily="18" charset="2"/>
              </a:rPr>
              <a:t>T(n) = (</a:t>
            </a:r>
            <a:r>
              <a:rPr lang="en-US" dirty="0" err="1">
                <a:sym typeface="Symbol" pitchFamily="18" charset="2"/>
              </a:rPr>
              <a:t>lg</a:t>
            </a:r>
            <a:r>
              <a:rPr lang="en-US" dirty="0">
                <a:sym typeface="Symbol" pitchFamily="18" charset="2"/>
              </a:rPr>
              <a:t> n)</a:t>
            </a:r>
          </a:p>
        </p:txBody>
      </p:sp>
      <p:graphicFrame>
        <p:nvGraphicFramePr>
          <p:cNvPr id="586756" name="Object 4"/>
          <p:cNvGraphicFramePr>
            <a:graphicFrameLocks noChangeAspect="1"/>
          </p:cNvGraphicFramePr>
          <p:nvPr/>
        </p:nvGraphicFramePr>
        <p:xfrm>
          <a:off x="1905000" y="3505200"/>
          <a:ext cx="5324475" cy="460375"/>
        </p:xfrm>
        <a:graphic>
          <a:graphicData uri="http://schemas.openxmlformats.org/presentationml/2006/ole">
            <p:oleObj spid="_x0000_s3074" name="Equation" r:id="rId3" imgW="257796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Using The Master Method</a:t>
            </a:r>
            <a:br>
              <a:rPr lang="en-US" sz="3200"/>
            </a:br>
            <a:r>
              <a:rPr lang="en-US" sz="3200"/>
              <a:t>Case 3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T(n) = 3T(n/4) + n </a:t>
            </a:r>
            <a:r>
              <a:rPr lang="en-US" dirty="0" err="1"/>
              <a:t>lg</a:t>
            </a:r>
            <a:r>
              <a:rPr lang="en-US" dirty="0"/>
              <a:t> n</a:t>
            </a:r>
          </a:p>
          <a:p>
            <a:pPr lvl="1"/>
            <a:r>
              <a:rPr lang="en-US" dirty="0"/>
              <a:t>a=3, b=4, f(n) = n </a:t>
            </a:r>
            <a:r>
              <a:rPr lang="en-US" dirty="0" err="1"/>
              <a:t>lg</a:t>
            </a:r>
            <a:r>
              <a:rPr lang="en-US" dirty="0"/>
              <a:t> n</a:t>
            </a:r>
          </a:p>
          <a:p>
            <a:pPr lvl="1"/>
            <a:r>
              <a:rPr lang="en-US" dirty="0" err="1"/>
              <a:t>n</a:t>
            </a:r>
            <a:r>
              <a:rPr lang="en-US" baseline="30000" dirty="0" err="1"/>
              <a:t>log</a:t>
            </a:r>
            <a:r>
              <a:rPr lang="en-US" sz="1600" baseline="30000" dirty="0" err="1"/>
              <a:t>b</a:t>
            </a:r>
            <a:r>
              <a:rPr lang="en-US" baseline="30000" dirty="0" err="1"/>
              <a:t>a</a:t>
            </a:r>
            <a:r>
              <a:rPr lang="en-US" dirty="0"/>
              <a:t> = n</a:t>
            </a:r>
            <a:r>
              <a:rPr lang="en-US" baseline="30000" dirty="0"/>
              <a:t>log</a:t>
            </a:r>
            <a:r>
              <a:rPr lang="en-US" sz="1600" baseline="30000" dirty="0"/>
              <a:t>4</a:t>
            </a:r>
            <a:r>
              <a:rPr lang="en-US" baseline="30000" dirty="0"/>
              <a:t>3</a:t>
            </a:r>
            <a:r>
              <a:rPr lang="en-US" dirty="0"/>
              <a:t> = n</a:t>
            </a:r>
            <a:r>
              <a:rPr lang="en-US" baseline="30000" dirty="0"/>
              <a:t>0.793</a:t>
            </a:r>
            <a:r>
              <a:rPr lang="en-US" dirty="0"/>
              <a:t> = n</a:t>
            </a:r>
            <a:r>
              <a:rPr lang="en-US" baseline="30000" dirty="0"/>
              <a:t>0.8</a:t>
            </a:r>
            <a:endParaRPr lang="en-US" baseline="30000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Since f(n) = </a:t>
            </a:r>
            <a:r>
              <a:rPr lang="en-US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/>
              <a:t>n</a:t>
            </a:r>
            <a:r>
              <a:rPr lang="en-US" baseline="30000" dirty="0"/>
              <a:t>log</a:t>
            </a:r>
            <a:r>
              <a:rPr lang="en-US" sz="1600" baseline="30000" dirty="0"/>
              <a:t>4</a:t>
            </a:r>
            <a:r>
              <a:rPr lang="en-US" baseline="30000" dirty="0"/>
              <a:t>3+</a:t>
            </a:r>
            <a:r>
              <a:rPr lang="en-US" baseline="30000" dirty="0">
                <a:sym typeface="Symbol" pitchFamily="18" charset="2"/>
              </a:rPr>
              <a:t></a:t>
            </a:r>
            <a:r>
              <a:rPr lang="en-US" dirty="0">
                <a:sym typeface="Symbol" pitchFamily="18" charset="2"/>
              </a:rPr>
              <a:t>) = </a:t>
            </a:r>
            <a:r>
              <a:rPr lang="en-US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/>
              <a:t>n</a:t>
            </a:r>
            <a:r>
              <a:rPr lang="en-US" baseline="30000" dirty="0"/>
              <a:t>0.8+</a:t>
            </a:r>
            <a:r>
              <a:rPr lang="en-US" baseline="30000" dirty="0">
                <a:sym typeface="Symbol" pitchFamily="18" charset="2"/>
              </a:rPr>
              <a:t>0.2</a:t>
            </a:r>
            <a:r>
              <a:rPr lang="en-US" dirty="0">
                <a:sym typeface="Symbol" pitchFamily="18" charset="2"/>
              </a:rPr>
              <a:t>)= </a:t>
            </a:r>
            <a:r>
              <a:rPr lang="en-US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/>
              <a:t>n)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where   0.2, and for sufficiently large n,</a:t>
            </a:r>
          </a:p>
          <a:p>
            <a:pPr lvl="2"/>
            <a:r>
              <a:rPr lang="en-US" dirty="0">
                <a:sym typeface="Symbol" pitchFamily="18" charset="2"/>
              </a:rPr>
              <a:t>a . f(n/b) = 3(n/4) </a:t>
            </a:r>
            <a:r>
              <a:rPr lang="en-US" dirty="0" err="1">
                <a:sym typeface="Symbol" pitchFamily="18" charset="2"/>
              </a:rPr>
              <a:t>lg</a:t>
            </a:r>
            <a:r>
              <a:rPr lang="en-US" dirty="0">
                <a:sym typeface="Symbol" pitchFamily="18" charset="2"/>
              </a:rPr>
              <a:t>(n/4) &lt; (3/4) n </a:t>
            </a:r>
            <a:r>
              <a:rPr lang="en-US" dirty="0" err="1">
                <a:sym typeface="Symbol" pitchFamily="18" charset="2"/>
              </a:rPr>
              <a:t>lg</a:t>
            </a:r>
            <a:r>
              <a:rPr lang="en-US" dirty="0">
                <a:sym typeface="Symbol" pitchFamily="18" charset="2"/>
              </a:rPr>
              <a:t> n   for c = 3/4</a:t>
            </a:r>
          </a:p>
          <a:p>
            <a:pPr lvl="1"/>
            <a:r>
              <a:rPr lang="en-US" dirty="0">
                <a:sym typeface="Symbol" pitchFamily="18" charset="2"/>
              </a:rPr>
              <a:t> case 3 applies: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sym typeface="Symbol" pitchFamily="18" charset="2"/>
              </a:rPr>
              <a:t>Thus the solution is </a:t>
            </a:r>
          </a:p>
          <a:p>
            <a:pPr lvl="2"/>
            <a:r>
              <a:rPr lang="en-US" dirty="0">
                <a:sym typeface="Symbol" pitchFamily="18" charset="2"/>
              </a:rPr>
              <a:t>T(n) = (n </a:t>
            </a:r>
            <a:r>
              <a:rPr lang="en-US" dirty="0" err="1">
                <a:sym typeface="Symbol" pitchFamily="18" charset="2"/>
              </a:rPr>
              <a:t>lg</a:t>
            </a:r>
            <a:r>
              <a:rPr lang="en-US" dirty="0">
                <a:sym typeface="Symbol" pitchFamily="18" charset="2"/>
              </a:rPr>
              <a:t> n)</a:t>
            </a:r>
          </a:p>
        </p:txBody>
      </p:sp>
      <p:graphicFrame>
        <p:nvGraphicFramePr>
          <p:cNvPr id="587780" name="Object 4"/>
          <p:cNvGraphicFramePr>
            <a:graphicFrameLocks noChangeAspect="1"/>
          </p:cNvGraphicFramePr>
          <p:nvPr/>
        </p:nvGraphicFramePr>
        <p:xfrm>
          <a:off x="2362200" y="4343400"/>
          <a:ext cx="5035550" cy="460375"/>
        </p:xfrm>
        <a:graphic>
          <a:graphicData uri="http://schemas.openxmlformats.org/presentationml/2006/ole">
            <p:oleObj spid="_x0000_s4098" name="Equation" r:id="rId3" imgW="243828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smtClean="0"/>
              <a:t>PRACTICE QUESTIONS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1.Solve </a:t>
            </a:r>
            <a:r>
              <a:rPr lang="en-IN" dirty="0"/>
              <a:t>the following recurrence relation using the iteration method: </a:t>
            </a:r>
            <a:r>
              <a:rPr lang="en-IN" i="1" dirty="0"/>
              <a:t>T</a:t>
            </a:r>
            <a:r>
              <a:rPr lang="en-IN" dirty="0"/>
              <a:t>(</a:t>
            </a:r>
            <a:r>
              <a:rPr lang="en-IN" i="1" dirty="0"/>
              <a:t>n</a:t>
            </a:r>
            <a:r>
              <a:rPr lang="en-IN" dirty="0"/>
              <a:t>)=3</a:t>
            </a:r>
            <a:r>
              <a:rPr lang="en-IN" i="1" dirty="0"/>
              <a:t>T</a:t>
            </a:r>
            <a:r>
              <a:rPr lang="en-IN" dirty="0"/>
              <a:t>(</a:t>
            </a:r>
            <a:r>
              <a:rPr lang="en-IN" i="1" dirty="0"/>
              <a:t>n</a:t>
            </a:r>
            <a:r>
              <a:rPr lang="en-IN" dirty="0"/>
              <a:t>/2)+</a:t>
            </a:r>
            <a:r>
              <a:rPr lang="en-IN" i="1" dirty="0" smtClean="0"/>
              <a:t>n</a:t>
            </a:r>
          </a:p>
          <a:p>
            <a:pPr>
              <a:buNone/>
            </a:pPr>
            <a:r>
              <a:rPr lang="en-IN" dirty="0" smtClean="0"/>
              <a:t>2. Solve the recurrence relation using the Master Theorem: 2</a:t>
            </a:r>
            <a:r>
              <a:rPr lang="en-IN" i="1" dirty="0" smtClean="0"/>
              <a:t>T</a:t>
            </a:r>
            <a:r>
              <a:rPr lang="en-IN" dirty="0" smtClean="0"/>
              <a:t>(</a:t>
            </a:r>
            <a:r>
              <a:rPr lang="en-IN" i="1" dirty="0" smtClean="0"/>
              <a:t>n</a:t>
            </a:r>
            <a:r>
              <a:rPr lang="en-IN" dirty="0" smtClean="0"/>
              <a:t>)=9</a:t>
            </a:r>
            <a:r>
              <a:rPr lang="en-IN" i="1" dirty="0" smtClean="0"/>
              <a:t>T</a:t>
            </a:r>
            <a:r>
              <a:rPr lang="en-IN" dirty="0" smtClean="0"/>
              <a:t>(</a:t>
            </a:r>
            <a:r>
              <a:rPr lang="en-IN" i="1" dirty="0" smtClean="0"/>
              <a:t>n</a:t>
            </a:r>
            <a:r>
              <a:rPr lang="en-IN" dirty="0" smtClean="0"/>
              <a:t>/3)+</a:t>
            </a:r>
            <a:r>
              <a:rPr lang="en-IN" i="1" dirty="0" smtClean="0"/>
              <a:t>n</a:t>
            </a:r>
            <a:r>
              <a:rPr lang="en-IN" dirty="0" smtClean="0"/>
              <a:t>2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793</Words>
  <Application>Microsoft Office PowerPoint</Application>
  <PresentationFormat>On-screen Show (4:3)</PresentationFormat>
  <Paragraphs>137</Paragraphs>
  <Slides>18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Microsoft Equation 3.0</vt:lpstr>
      <vt:lpstr>BACK PROPAGATION METHOD</vt:lpstr>
      <vt:lpstr>Slide 2</vt:lpstr>
      <vt:lpstr>Slide 3</vt:lpstr>
      <vt:lpstr>Slide 4</vt:lpstr>
      <vt:lpstr>Slide 5</vt:lpstr>
      <vt:lpstr>Slide 6</vt:lpstr>
      <vt:lpstr>Slide 7</vt:lpstr>
      <vt:lpstr>The Master Theorem</vt:lpstr>
      <vt:lpstr>The Master Theorem</vt:lpstr>
      <vt:lpstr>The Master Method</vt:lpstr>
      <vt:lpstr>The Master Theorem</vt:lpstr>
      <vt:lpstr>Understanding Master Theorem</vt:lpstr>
      <vt:lpstr>Understanding Master Theorem</vt:lpstr>
      <vt:lpstr>Understanding Master Theorem</vt:lpstr>
      <vt:lpstr>Using The Master Method Case 1</vt:lpstr>
      <vt:lpstr>Using The Master Method Case 2</vt:lpstr>
      <vt:lpstr>Using The Master Method Case 3</vt:lpstr>
      <vt:lpstr>PRACTICE QUESTIONS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17</cp:revision>
  <dcterms:created xsi:type="dcterms:W3CDTF">2024-05-23T15:00:47Z</dcterms:created>
  <dcterms:modified xsi:type="dcterms:W3CDTF">2024-05-23T16:03:47Z</dcterms:modified>
</cp:coreProperties>
</file>