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2"/>
  </p:notesMasterIdLst>
  <p:sldIdLst>
    <p:sldId id="257" r:id="rId2"/>
    <p:sldId id="260" r:id="rId3"/>
    <p:sldId id="256" r:id="rId4"/>
    <p:sldId id="258" r:id="rId5"/>
    <p:sldId id="259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8658" autoAdjust="0"/>
    <p:restoredTop sz="94660"/>
  </p:normalViewPr>
  <p:slideViewPr>
    <p:cSldViewPr>
      <p:cViewPr varScale="1">
        <p:scale>
          <a:sx n="68" d="100"/>
          <a:sy n="68" d="100"/>
        </p:scale>
        <p:origin x="-130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75CDAC-939F-479D-8604-941B98E4E57C}" type="datetimeFigureOut">
              <a:rPr lang="en-US" smtClean="0"/>
              <a:pPr/>
              <a:t>5/23/2024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13589F-10E5-464A-AEE5-61911FED25C1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9E320-8067-4275-B9A7-2CB773951F46}" type="datetimeFigureOut">
              <a:rPr lang="en-US" smtClean="0"/>
              <a:pPr/>
              <a:t>5/23/2024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78973-2093-4921-98F3-C41384EE70E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9E320-8067-4275-B9A7-2CB773951F46}" type="datetimeFigureOut">
              <a:rPr lang="en-US" smtClean="0"/>
              <a:pPr/>
              <a:t>5/23/2024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78973-2093-4921-98F3-C41384EE70E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9E320-8067-4275-B9A7-2CB773951F46}" type="datetimeFigureOut">
              <a:rPr lang="en-US" smtClean="0"/>
              <a:pPr/>
              <a:t>5/23/2024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78973-2093-4921-98F3-C41384EE70E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9E320-8067-4275-B9A7-2CB773951F46}" type="datetimeFigureOut">
              <a:rPr lang="en-US" smtClean="0"/>
              <a:pPr/>
              <a:t>5/23/2024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78973-2093-4921-98F3-C41384EE70E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9E320-8067-4275-B9A7-2CB773951F46}" type="datetimeFigureOut">
              <a:rPr lang="en-US" smtClean="0"/>
              <a:pPr/>
              <a:t>5/23/2024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78973-2093-4921-98F3-C41384EE70E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9E320-8067-4275-B9A7-2CB773951F46}" type="datetimeFigureOut">
              <a:rPr lang="en-US" smtClean="0"/>
              <a:pPr/>
              <a:t>5/23/2024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78973-2093-4921-98F3-C41384EE70E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9E320-8067-4275-B9A7-2CB773951F46}" type="datetimeFigureOut">
              <a:rPr lang="en-US" smtClean="0"/>
              <a:pPr/>
              <a:t>5/23/2024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78973-2093-4921-98F3-C41384EE70E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9E320-8067-4275-B9A7-2CB773951F46}" type="datetimeFigureOut">
              <a:rPr lang="en-US" smtClean="0"/>
              <a:pPr/>
              <a:t>5/23/2024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78973-2093-4921-98F3-C41384EE70E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9E320-8067-4275-B9A7-2CB773951F46}" type="datetimeFigureOut">
              <a:rPr lang="en-US" smtClean="0"/>
              <a:pPr/>
              <a:t>5/23/2024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78973-2093-4921-98F3-C41384EE70E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9E320-8067-4275-B9A7-2CB773951F46}" type="datetimeFigureOut">
              <a:rPr lang="en-US" smtClean="0"/>
              <a:pPr/>
              <a:t>5/23/2024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78973-2093-4921-98F3-C41384EE70E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9E320-8067-4275-B9A7-2CB773951F46}" type="datetimeFigureOut">
              <a:rPr lang="en-US" smtClean="0"/>
              <a:pPr/>
              <a:t>5/23/2024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78973-2093-4921-98F3-C41384EE70E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9E320-8067-4275-B9A7-2CB773951F46}" type="datetimeFigureOut">
              <a:rPr lang="en-US" smtClean="0"/>
              <a:pPr/>
              <a:t>5/23/2024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78973-2093-4921-98F3-C41384EE70E2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1" y="3311236"/>
            <a:ext cx="8118764" cy="1967346"/>
          </a:xfrm>
          <a:solidFill>
            <a:srgbClr val="CCECFF"/>
          </a:solidFill>
          <a:ln>
            <a:solidFill>
              <a:schemeClr val="tx1"/>
            </a:solidFill>
          </a:ln>
          <a:effectLst>
            <a:outerShdw dist="107763" dir="2700000" algn="ctr" rotWithShape="0">
              <a:schemeClr val="bg2"/>
            </a:outerShdw>
          </a:effectLst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Recurrence Relations</a:t>
            </a:r>
          </a:p>
        </p:txBody>
      </p:sp>
      <p:sp>
        <p:nvSpPr>
          <p:cNvPr id="4413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00100" y="2000240"/>
            <a:ext cx="6691745" cy="637309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/>
              <a:t>Topic 1.2.1</a:t>
            </a:r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442365" y="6356350"/>
            <a:ext cx="2133600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>
                <a:solidFill>
                  <a:srgbClr val="3333FF"/>
                </a:solidFill>
              </a:rPr>
              <a:t>By:  </a:t>
            </a:r>
            <a:r>
              <a:rPr lang="en-US" dirty="0" err="1" smtClean="0">
                <a:solidFill>
                  <a:srgbClr val="3333FF"/>
                </a:solidFill>
              </a:rPr>
              <a:t>Er.Bhavneet</a:t>
            </a:r>
            <a:r>
              <a:rPr lang="en-US" dirty="0" smtClean="0">
                <a:solidFill>
                  <a:srgbClr val="3333FF"/>
                </a:solidFill>
              </a:rPr>
              <a:t> </a:t>
            </a:r>
            <a:r>
              <a:rPr lang="en-US" dirty="0" err="1" smtClean="0">
                <a:solidFill>
                  <a:srgbClr val="3333FF"/>
                </a:solidFill>
              </a:rPr>
              <a:t>Kaur</a:t>
            </a:r>
            <a:endParaRPr lang="en-US" dirty="0" smtClean="0">
              <a:solidFill>
                <a:srgbClr val="3333FF"/>
              </a:solidFill>
            </a:endParaRPr>
          </a:p>
          <a:p>
            <a:r>
              <a:rPr lang="en-US" dirty="0" smtClean="0">
                <a:solidFill>
                  <a:srgbClr val="3333FF"/>
                </a:solidFill>
              </a:rPr>
              <a:t>Master Subject Co-</a:t>
            </a:r>
            <a:r>
              <a:rPr lang="en-US" dirty="0" err="1" smtClean="0">
                <a:solidFill>
                  <a:srgbClr val="3333FF"/>
                </a:solidFill>
              </a:rPr>
              <a:t>ordinator</a:t>
            </a:r>
            <a:endParaRPr lang="en-US" dirty="0" smtClean="0">
              <a:solidFill>
                <a:srgbClr val="3333FF"/>
              </a:solidFill>
            </a:endParaRPr>
          </a:p>
          <a:p>
            <a:r>
              <a:rPr lang="en-US" dirty="0" smtClean="0">
                <a:solidFill>
                  <a:srgbClr val="3333FF"/>
                </a:solidFill>
              </a:rPr>
              <a:t>CSE 2</a:t>
            </a:r>
            <a:r>
              <a:rPr lang="en-US" baseline="30000" dirty="0" smtClean="0">
                <a:solidFill>
                  <a:srgbClr val="3333FF"/>
                </a:solidFill>
              </a:rPr>
              <a:t>nd</a:t>
            </a:r>
            <a:r>
              <a:rPr lang="en-US" dirty="0" smtClean="0">
                <a:solidFill>
                  <a:srgbClr val="3333FF"/>
                </a:solidFill>
              </a:rPr>
              <a:t> Year</a:t>
            </a:r>
            <a:endParaRPr lang="en-US" dirty="0">
              <a:solidFill>
                <a:srgbClr val="3333FF"/>
              </a:solidFill>
            </a:endParaRPr>
          </a:p>
        </p:txBody>
      </p:sp>
      <p:pic>
        <p:nvPicPr>
          <p:cNvPr id="12294" name="Picture 6" descr="https://ci4.googleusercontent.com/proxy/7KvR-kRK3h7JaTZdC5LfUjZeoVi7udcXN-eI91UxZqH1jXErPCYekBHdctGNLcSvYKklWK0PTg4obc4ygBkyIsS5KGzloTjlsH4tG6re3zQHs6mTTzZ5ZJ5pQHLN1ZKWTFYSRZ8YU3U27y9-9rnsEyo-yufbHI8sgJvbOXgFe0o2_ayRi1YB_x5s62_RbI1j6N4ifqiQahsNqemuyg=s0-d-e1-ft#https://docs.google.com/uc?export=download&amp;id=1R2CcZSsfQjqMnWIKGHnqT3u99QqSIUUS&amp;revid=0B3ek2dwmVFlucjN2Rk9Ncmh5N1JjN3dSNnhLY1RMTE9UWFlRPQ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6213" y="587375"/>
            <a:ext cx="1905000" cy="685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Recurrence Relation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A recurrence is an equation or inequality that describes a function in terms of its  value on smaller inputs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r>
              <a:rPr lang="en-IN" dirty="0" smtClean="0"/>
              <a:t>A recurrence relation is an equation which is defined in terms of itself</a:t>
            </a:r>
            <a:r>
              <a:rPr lang="en-IN" smtClean="0"/>
              <a:t>. </a:t>
            </a:r>
            <a:r>
              <a:rPr lang="en-IN" smtClean="0"/>
              <a:t> </a:t>
            </a:r>
            <a:r>
              <a:rPr lang="en-IN" dirty="0" smtClean="0"/>
              <a:t>Many algorithms, particularly divide and conquer algorithms, have time complexities which are naturally </a:t>
            </a:r>
            <a:r>
              <a:rPr lang="en-IN" dirty="0" err="1" smtClean="0"/>
              <a:t>modeled</a:t>
            </a:r>
            <a:r>
              <a:rPr lang="en-IN" dirty="0" smtClean="0"/>
              <a:t> by recurrence relations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just"/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just"/>
            <a:endParaRPr lang="en-IN" dirty="0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97625"/>
            <a:ext cx="2133600" cy="323850"/>
          </a:xfrm>
        </p:spPr>
        <p:txBody>
          <a:bodyPr/>
          <a:lstStyle/>
          <a:p>
            <a:pPr algn="just"/>
            <a:fld id="{188C762D-CD61-4AA6-AF20-92154F76B6B1}" type="slidenum">
              <a:rPr lang="en-US"/>
              <a:pPr algn="just"/>
              <a:t>3</a:t>
            </a:fld>
            <a:endParaRPr lang="en-US"/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341313" y="100013"/>
            <a:ext cx="8229600" cy="906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Recurrences and Running Time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50838" y="1214438"/>
            <a:ext cx="8229600" cy="5368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An equation or inequality that describes a function in terms of its value on smaller inputs.</a:t>
            </a: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				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T(n) = T(n-1) + n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Recurrences arise when an algorithm contains recursive calls to itself</a:t>
            </a:r>
          </a:p>
          <a:p>
            <a:pPr marL="0" marR="0" lvl="0" indent="0" algn="just" defTabSz="914400" rtl="0" eaLnBrk="1" fontAlgn="auto" latinLnBrk="0" hangingPunct="1">
              <a:lnSpc>
                <a:spcPct val="16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What is the actual running time of the algorithm?</a:t>
            </a: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Need to solve the recurrence	</a:t>
            </a:r>
          </a:p>
          <a:p>
            <a:pPr marL="457200" marR="0" lvl="1" indent="0" algn="just" defTabSz="914400" rtl="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Find an explicit formula of the expression</a:t>
            </a:r>
          </a:p>
          <a:p>
            <a:pPr marL="457200" marR="0" lvl="1" indent="0" algn="just" defTabSz="914400" rtl="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Bound the recurrence by an expression that involves 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IN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</p:spPr>
        <p:txBody>
          <a:bodyPr/>
          <a:lstStyle/>
          <a:p>
            <a:pPr algn="just"/>
            <a:fld id="{C573315A-66AF-4C6F-AD35-C6CFEB016C26}" type="slidenum">
              <a:rPr lang="en-US"/>
              <a:pPr algn="just"/>
              <a:t>4</a:t>
            </a:fld>
            <a:endParaRPr 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41313" y="100013"/>
            <a:ext cx="8229600" cy="906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Example Recurrences</a:t>
            </a:r>
            <a:endParaRPr kumimoji="0" lang="en-US" sz="4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350838" y="1214438"/>
            <a:ext cx="8229600" cy="50768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T(n) = T(n-1) + n			</a:t>
            </a:r>
            <a:r>
              <a:rPr kumimoji="0" lang="el-GR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Θ</a:t>
            </a: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(n</a:t>
            </a:r>
            <a:r>
              <a:rPr kumimoji="0" lang="en-US" sz="3200" b="0" i="0" u="none" strike="noStrike" kern="1200" cap="none" spc="0" normalizeH="0" baseline="3000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)</a:t>
            </a:r>
            <a:endParaRPr kumimoji="0" lang="el-GR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Recursive algorithm that loops through the input to eliminate one item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T(n) = T(n/2) + c			</a:t>
            </a:r>
            <a:r>
              <a:rPr kumimoji="0" lang="el-GR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Θ</a:t>
            </a: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(lgn)</a:t>
            </a:r>
          </a:p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Recursive algorithm that halves the input in one step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T(n) = T(n/2) + n			</a:t>
            </a:r>
            <a:r>
              <a:rPr kumimoji="0" lang="el-GR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Θ</a:t>
            </a: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(n)</a:t>
            </a:r>
          </a:p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Recursive algorithm that halves the input but must examine every item in the input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T(n) = 2T(n/2) + 1			</a:t>
            </a:r>
            <a:r>
              <a:rPr kumimoji="0" lang="el-GR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Θ</a:t>
            </a: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(n)</a:t>
            </a:r>
          </a:p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Recursive algorithm that splits the input into 2 halves and does a constant amount of other work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</p:spPr>
        <p:txBody>
          <a:bodyPr/>
          <a:lstStyle/>
          <a:p>
            <a:fld id="{352EB520-0AEE-40EB-BC3A-8A452A5DC06B}" type="slidenum">
              <a:rPr lang="en-US"/>
              <a:pPr/>
              <a:t>5</a:t>
            </a:fld>
            <a:endParaRPr 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41313" y="100013"/>
            <a:ext cx="8229600" cy="906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Recurrent Algorithms</a:t>
            </a:r>
            <a:br>
              <a:rPr kumimoji="0" lang="en-US" sz="3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3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BINARY-SEARCH</a:t>
            </a: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350838" y="1214438"/>
            <a:ext cx="8183562" cy="5262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for an ordered array A, finds if 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  <a:sym typeface="Symbol" pitchFamily="18" charset="2"/>
              </a:rPr>
              <a:t>x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is in the array A[lo…hi]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Symbol" pitchFamily="18" charset="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DD0111"/>
                </a:solidFill>
                <a:effectLst/>
                <a:uLnTx/>
                <a:uFillTx/>
                <a:latin typeface="Monotype Corsiva" pitchFamily="66" charset="0"/>
                <a:ea typeface="+mn-ea"/>
                <a:cs typeface="+mn-cs"/>
                <a:sym typeface="Symbol" pitchFamily="18" charset="2"/>
              </a:rPr>
              <a:t>Alg.: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BINARY-SEARCH (A, lo, hi, x) 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	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	</a:t>
            </a:r>
            <a:r>
              <a: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if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(lo &gt; hi)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		</a:t>
            </a:r>
            <a:r>
              <a: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return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FALSE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	mid  (lo+hi)/2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	</a:t>
            </a:r>
            <a:r>
              <a: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if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x = A[mid]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		return TRUE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	</a:t>
            </a:r>
            <a:r>
              <a: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if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( x &lt; A[mid] )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		BINARY-SEARCH (A, lo, mid-1, x)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	</a:t>
            </a:r>
            <a:r>
              <a: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if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( x &gt; A[mid] )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		BINARY-SEARCH (A, mid+1, hi, x)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Symbol" pitchFamily="18" charset="2"/>
            </a:endParaRPr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4586288" y="2325688"/>
            <a:ext cx="4267200" cy="1662112"/>
            <a:chOff x="2736" y="1872"/>
            <a:chExt cx="2688" cy="1047"/>
          </a:xfrm>
        </p:grpSpPr>
        <p:grpSp>
          <p:nvGrpSpPr>
            <p:cNvPr id="8" name="Group 7"/>
            <p:cNvGrpSpPr>
              <a:grpSpLocks/>
            </p:cNvGrpSpPr>
            <p:nvPr/>
          </p:nvGrpSpPr>
          <p:grpSpPr bwMode="auto">
            <a:xfrm>
              <a:off x="2736" y="1872"/>
              <a:ext cx="2688" cy="480"/>
              <a:chOff x="528" y="1392"/>
              <a:chExt cx="2688" cy="480"/>
            </a:xfrm>
          </p:grpSpPr>
          <p:grpSp>
            <p:nvGrpSpPr>
              <p:cNvPr id="17" name="Group 6"/>
              <p:cNvGrpSpPr>
                <a:grpSpLocks/>
              </p:cNvGrpSpPr>
              <p:nvPr/>
            </p:nvGrpSpPr>
            <p:grpSpPr bwMode="auto">
              <a:xfrm>
                <a:off x="528" y="1584"/>
                <a:ext cx="2688" cy="288"/>
                <a:chOff x="528" y="1440"/>
                <a:chExt cx="2688" cy="288"/>
              </a:xfrm>
            </p:grpSpPr>
            <p:sp>
              <p:nvSpPr>
                <p:cNvPr id="26" name="Rectangle 7"/>
                <p:cNvSpPr>
                  <a:spLocks noChangeArrowheads="1"/>
                </p:cNvSpPr>
                <p:nvPr/>
              </p:nvSpPr>
              <p:spPr bwMode="auto">
                <a:xfrm>
                  <a:off x="2880" y="1440"/>
                  <a:ext cx="336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anchor="ctr" anchorCtr="1"/>
                <a:lstStyle/>
                <a:p>
                  <a:pPr>
                    <a:spcBef>
                      <a:spcPct val="20000"/>
                    </a:spcBef>
                  </a:pPr>
                  <a:r>
                    <a:rPr lang="en-US" sz="2400">
                      <a:solidFill>
                        <a:schemeClr val="accent2"/>
                      </a:solidFill>
                    </a:rPr>
                    <a:t>12</a:t>
                  </a:r>
                  <a:endParaRPr lang="en-US" sz="2400" baseline="-25000">
                    <a:solidFill>
                      <a:schemeClr val="accent2"/>
                    </a:solidFill>
                  </a:endParaRPr>
                </a:p>
              </p:txBody>
            </p:sp>
            <p:sp>
              <p:nvSpPr>
                <p:cNvPr id="27" name="Rectangle 8"/>
                <p:cNvSpPr>
                  <a:spLocks noChangeArrowheads="1"/>
                </p:cNvSpPr>
                <p:nvPr/>
              </p:nvSpPr>
              <p:spPr bwMode="auto">
                <a:xfrm>
                  <a:off x="2544" y="1440"/>
                  <a:ext cx="336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anchor="ctr" anchorCtr="1"/>
                <a:lstStyle/>
                <a:p>
                  <a:pPr>
                    <a:spcBef>
                      <a:spcPct val="20000"/>
                    </a:spcBef>
                  </a:pPr>
                  <a:r>
                    <a:rPr lang="en-US" sz="2400">
                      <a:solidFill>
                        <a:schemeClr val="accent2"/>
                      </a:solidFill>
                    </a:rPr>
                    <a:t>11</a:t>
                  </a:r>
                  <a:endParaRPr lang="en-US" sz="2400" baseline="-25000">
                    <a:solidFill>
                      <a:schemeClr val="accent2"/>
                    </a:solidFill>
                  </a:endParaRPr>
                </a:p>
              </p:txBody>
            </p:sp>
            <p:sp>
              <p:nvSpPr>
                <p:cNvPr id="28" name="Rectangle 9"/>
                <p:cNvSpPr>
                  <a:spLocks noChangeArrowheads="1"/>
                </p:cNvSpPr>
                <p:nvPr/>
              </p:nvSpPr>
              <p:spPr bwMode="auto">
                <a:xfrm>
                  <a:off x="2208" y="1440"/>
                  <a:ext cx="336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anchor="ctr" anchorCtr="1"/>
                <a:lstStyle/>
                <a:p>
                  <a:pPr>
                    <a:spcBef>
                      <a:spcPct val="20000"/>
                    </a:spcBef>
                  </a:pPr>
                  <a:r>
                    <a:rPr lang="en-US" sz="2400">
                      <a:solidFill>
                        <a:schemeClr val="accent2"/>
                      </a:solidFill>
                    </a:rPr>
                    <a:t>10</a:t>
                  </a:r>
                  <a:endParaRPr lang="en-US" sz="2400" baseline="-25000">
                    <a:solidFill>
                      <a:schemeClr val="accent2"/>
                    </a:solidFill>
                  </a:endParaRPr>
                </a:p>
              </p:txBody>
            </p:sp>
            <p:sp>
              <p:nvSpPr>
                <p:cNvPr id="29" name="Rectangle 10"/>
                <p:cNvSpPr>
                  <a:spLocks noChangeArrowheads="1"/>
                </p:cNvSpPr>
                <p:nvPr/>
              </p:nvSpPr>
              <p:spPr bwMode="auto">
                <a:xfrm>
                  <a:off x="1872" y="1440"/>
                  <a:ext cx="336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anchor="ctr" anchorCtr="1"/>
                <a:lstStyle/>
                <a:p>
                  <a:pPr>
                    <a:spcBef>
                      <a:spcPct val="20000"/>
                    </a:spcBef>
                  </a:pPr>
                  <a:r>
                    <a:rPr lang="en-US" sz="2400">
                      <a:solidFill>
                        <a:schemeClr val="accent2"/>
                      </a:solidFill>
                    </a:rPr>
                    <a:t>9</a:t>
                  </a:r>
                  <a:endParaRPr lang="en-US" sz="2400" baseline="-25000">
                    <a:solidFill>
                      <a:schemeClr val="accent2"/>
                    </a:solidFill>
                  </a:endParaRPr>
                </a:p>
              </p:txBody>
            </p:sp>
            <p:sp>
              <p:nvSpPr>
                <p:cNvPr id="30" name="Rectangle 11"/>
                <p:cNvSpPr>
                  <a:spLocks noChangeArrowheads="1"/>
                </p:cNvSpPr>
                <p:nvPr/>
              </p:nvSpPr>
              <p:spPr bwMode="auto">
                <a:xfrm>
                  <a:off x="1536" y="1440"/>
                  <a:ext cx="336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anchor="ctr" anchorCtr="1"/>
                <a:lstStyle/>
                <a:p>
                  <a:pPr>
                    <a:spcBef>
                      <a:spcPct val="20000"/>
                    </a:spcBef>
                  </a:pPr>
                  <a:r>
                    <a:rPr lang="en-US" sz="2400">
                      <a:solidFill>
                        <a:schemeClr val="accent2"/>
                      </a:solidFill>
                    </a:rPr>
                    <a:t>7</a:t>
                  </a:r>
                  <a:endParaRPr lang="en-US" sz="2400" baseline="-25000">
                    <a:solidFill>
                      <a:schemeClr val="accent2"/>
                    </a:solidFill>
                  </a:endParaRPr>
                </a:p>
              </p:txBody>
            </p:sp>
            <p:sp>
              <p:nvSpPr>
                <p:cNvPr id="31" name="Rectangle 12"/>
                <p:cNvSpPr>
                  <a:spLocks noChangeArrowheads="1"/>
                </p:cNvSpPr>
                <p:nvPr/>
              </p:nvSpPr>
              <p:spPr bwMode="auto">
                <a:xfrm>
                  <a:off x="1200" y="1440"/>
                  <a:ext cx="336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anchor="ctr" anchorCtr="1"/>
                <a:lstStyle/>
                <a:p>
                  <a:pPr>
                    <a:spcBef>
                      <a:spcPct val="20000"/>
                    </a:spcBef>
                  </a:pPr>
                  <a:r>
                    <a:rPr lang="en-US" sz="2400">
                      <a:solidFill>
                        <a:schemeClr val="accent2"/>
                      </a:solidFill>
                    </a:rPr>
                    <a:t>5</a:t>
                  </a:r>
                  <a:endParaRPr lang="en-US" sz="2400" baseline="-25000">
                    <a:solidFill>
                      <a:schemeClr val="accent2"/>
                    </a:solidFill>
                  </a:endParaRPr>
                </a:p>
              </p:txBody>
            </p:sp>
            <p:sp>
              <p:nvSpPr>
                <p:cNvPr id="32" name="Rectangle 13"/>
                <p:cNvSpPr>
                  <a:spLocks noChangeArrowheads="1"/>
                </p:cNvSpPr>
                <p:nvPr/>
              </p:nvSpPr>
              <p:spPr bwMode="auto">
                <a:xfrm>
                  <a:off x="864" y="1440"/>
                  <a:ext cx="336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anchor="ctr" anchorCtr="1"/>
                <a:lstStyle/>
                <a:p>
                  <a:pPr>
                    <a:spcBef>
                      <a:spcPct val="20000"/>
                    </a:spcBef>
                  </a:pPr>
                  <a:r>
                    <a:rPr lang="en-US" sz="2400">
                      <a:solidFill>
                        <a:schemeClr val="accent2"/>
                      </a:solidFill>
                    </a:rPr>
                    <a:t>3</a:t>
                  </a:r>
                  <a:endParaRPr lang="en-US" sz="2400" baseline="-25000">
                    <a:solidFill>
                      <a:schemeClr val="accent2"/>
                    </a:solidFill>
                  </a:endParaRPr>
                </a:p>
              </p:txBody>
            </p:sp>
            <p:sp>
              <p:nvSpPr>
                <p:cNvPr id="33" name="Rectangle 14"/>
                <p:cNvSpPr>
                  <a:spLocks noChangeArrowheads="1"/>
                </p:cNvSpPr>
                <p:nvPr/>
              </p:nvSpPr>
              <p:spPr bwMode="auto">
                <a:xfrm>
                  <a:off x="528" y="1440"/>
                  <a:ext cx="336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anchor="ctr" anchorCtr="1"/>
                <a:lstStyle/>
                <a:p>
                  <a:pPr>
                    <a:spcBef>
                      <a:spcPct val="20000"/>
                    </a:spcBef>
                  </a:pPr>
                  <a:r>
                    <a:rPr lang="en-US" sz="2400">
                      <a:solidFill>
                        <a:schemeClr val="accent2"/>
                      </a:solidFill>
                    </a:rPr>
                    <a:t>2</a:t>
                  </a:r>
                  <a:endParaRPr lang="en-US" sz="2400" baseline="-25000">
                    <a:solidFill>
                      <a:schemeClr val="accent2"/>
                    </a:solidFill>
                  </a:endParaRPr>
                </a:p>
              </p:txBody>
            </p:sp>
            <p:sp>
              <p:nvSpPr>
                <p:cNvPr id="34" name="Line 15"/>
                <p:cNvSpPr>
                  <a:spLocks noChangeShapeType="1"/>
                </p:cNvSpPr>
                <p:nvPr/>
              </p:nvSpPr>
              <p:spPr bwMode="auto">
                <a:xfrm>
                  <a:off x="528" y="1440"/>
                  <a:ext cx="2688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 anchorCtr="1"/>
                <a:lstStyle/>
                <a:p>
                  <a:endParaRPr lang="en-IN"/>
                </a:p>
              </p:txBody>
            </p:sp>
            <p:sp>
              <p:nvSpPr>
                <p:cNvPr id="35" name="Line 16"/>
                <p:cNvSpPr>
                  <a:spLocks noChangeShapeType="1"/>
                </p:cNvSpPr>
                <p:nvPr/>
              </p:nvSpPr>
              <p:spPr bwMode="auto">
                <a:xfrm>
                  <a:off x="528" y="1728"/>
                  <a:ext cx="2688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 anchorCtr="1"/>
                <a:lstStyle/>
                <a:p>
                  <a:endParaRPr lang="en-IN"/>
                </a:p>
              </p:txBody>
            </p:sp>
            <p:sp>
              <p:nvSpPr>
                <p:cNvPr id="36" name="Line 17"/>
                <p:cNvSpPr>
                  <a:spLocks noChangeShapeType="1"/>
                </p:cNvSpPr>
                <p:nvPr/>
              </p:nvSpPr>
              <p:spPr bwMode="auto">
                <a:xfrm>
                  <a:off x="528" y="1440"/>
                  <a:ext cx="0" cy="288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 anchorCtr="1"/>
                <a:lstStyle/>
                <a:p>
                  <a:endParaRPr lang="en-IN"/>
                </a:p>
              </p:txBody>
            </p:sp>
            <p:sp>
              <p:nvSpPr>
                <p:cNvPr id="37" name="Line 18"/>
                <p:cNvSpPr>
                  <a:spLocks noChangeShapeType="1"/>
                </p:cNvSpPr>
                <p:nvPr/>
              </p:nvSpPr>
              <p:spPr bwMode="auto">
                <a:xfrm>
                  <a:off x="864" y="1440"/>
                  <a:ext cx="0" cy="2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 anchorCtr="1"/>
                <a:lstStyle/>
                <a:p>
                  <a:endParaRPr lang="en-IN"/>
                </a:p>
              </p:txBody>
            </p:sp>
            <p:sp>
              <p:nvSpPr>
                <p:cNvPr id="38" name="Line 19"/>
                <p:cNvSpPr>
                  <a:spLocks noChangeShapeType="1"/>
                </p:cNvSpPr>
                <p:nvPr/>
              </p:nvSpPr>
              <p:spPr bwMode="auto">
                <a:xfrm>
                  <a:off x="1200" y="1440"/>
                  <a:ext cx="0" cy="2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 anchorCtr="1"/>
                <a:lstStyle/>
                <a:p>
                  <a:endParaRPr lang="en-IN"/>
                </a:p>
              </p:txBody>
            </p:sp>
            <p:sp>
              <p:nvSpPr>
                <p:cNvPr id="39" name="Line 20"/>
                <p:cNvSpPr>
                  <a:spLocks noChangeShapeType="1"/>
                </p:cNvSpPr>
                <p:nvPr/>
              </p:nvSpPr>
              <p:spPr bwMode="auto">
                <a:xfrm>
                  <a:off x="1536" y="1440"/>
                  <a:ext cx="0" cy="2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 anchorCtr="1"/>
                <a:lstStyle/>
                <a:p>
                  <a:endParaRPr lang="en-IN"/>
                </a:p>
              </p:txBody>
            </p:sp>
            <p:sp>
              <p:nvSpPr>
                <p:cNvPr id="40" name="Line 21"/>
                <p:cNvSpPr>
                  <a:spLocks noChangeShapeType="1"/>
                </p:cNvSpPr>
                <p:nvPr/>
              </p:nvSpPr>
              <p:spPr bwMode="auto">
                <a:xfrm>
                  <a:off x="1872" y="1440"/>
                  <a:ext cx="0" cy="2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 anchorCtr="1"/>
                <a:lstStyle/>
                <a:p>
                  <a:endParaRPr lang="en-IN"/>
                </a:p>
              </p:txBody>
            </p:sp>
            <p:sp>
              <p:nvSpPr>
                <p:cNvPr id="41" name="Line 22"/>
                <p:cNvSpPr>
                  <a:spLocks noChangeShapeType="1"/>
                </p:cNvSpPr>
                <p:nvPr/>
              </p:nvSpPr>
              <p:spPr bwMode="auto">
                <a:xfrm>
                  <a:off x="2208" y="1440"/>
                  <a:ext cx="0" cy="2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 anchorCtr="1"/>
                <a:lstStyle/>
                <a:p>
                  <a:endParaRPr lang="en-IN"/>
                </a:p>
              </p:txBody>
            </p:sp>
            <p:sp>
              <p:nvSpPr>
                <p:cNvPr id="42" name="Line 23"/>
                <p:cNvSpPr>
                  <a:spLocks noChangeShapeType="1"/>
                </p:cNvSpPr>
                <p:nvPr/>
              </p:nvSpPr>
              <p:spPr bwMode="auto">
                <a:xfrm>
                  <a:off x="2544" y="1440"/>
                  <a:ext cx="0" cy="2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 anchorCtr="1"/>
                <a:lstStyle/>
                <a:p>
                  <a:endParaRPr lang="en-IN"/>
                </a:p>
              </p:txBody>
            </p:sp>
            <p:sp>
              <p:nvSpPr>
                <p:cNvPr id="43" name="Line 24"/>
                <p:cNvSpPr>
                  <a:spLocks noChangeShapeType="1"/>
                </p:cNvSpPr>
                <p:nvPr/>
              </p:nvSpPr>
              <p:spPr bwMode="auto">
                <a:xfrm>
                  <a:off x="2880" y="1440"/>
                  <a:ext cx="0" cy="2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 anchorCtr="1"/>
                <a:lstStyle/>
                <a:p>
                  <a:endParaRPr lang="en-IN"/>
                </a:p>
              </p:txBody>
            </p:sp>
            <p:sp>
              <p:nvSpPr>
                <p:cNvPr id="44" name="Line 25"/>
                <p:cNvSpPr>
                  <a:spLocks noChangeShapeType="1"/>
                </p:cNvSpPr>
                <p:nvPr/>
              </p:nvSpPr>
              <p:spPr bwMode="auto">
                <a:xfrm>
                  <a:off x="3216" y="1440"/>
                  <a:ext cx="0" cy="288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 anchorCtr="1"/>
                <a:lstStyle/>
                <a:p>
                  <a:endParaRPr lang="en-IN"/>
                </a:p>
              </p:txBody>
            </p:sp>
          </p:grpSp>
          <p:sp>
            <p:nvSpPr>
              <p:cNvPr id="18" name="Text Box 26"/>
              <p:cNvSpPr txBox="1">
                <a:spLocks noChangeArrowheads="1"/>
              </p:cNvSpPr>
              <p:nvPr/>
            </p:nvSpPr>
            <p:spPr bwMode="auto">
              <a:xfrm>
                <a:off x="624" y="1392"/>
                <a:ext cx="144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000"/>
                  <a:t>1</a:t>
                </a:r>
              </a:p>
            </p:txBody>
          </p:sp>
          <p:sp>
            <p:nvSpPr>
              <p:cNvPr id="19" name="Text Box 27"/>
              <p:cNvSpPr txBox="1">
                <a:spLocks noChangeArrowheads="1"/>
              </p:cNvSpPr>
              <p:nvPr/>
            </p:nvSpPr>
            <p:spPr bwMode="auto">
              <a:xfrm>
                <a:off x="960" y="1392"/>
                <a:ext cx="144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000"/>
                  <a:t>2</a:t>
                </a:r>
              </a:p>
            </p:txBody>
          </p:sp>
          <p:sp>
            <p:nvSpPr>
              <p:cNvPr id="20" name="Text Box 28"/>
              <p:cNvSpPr txBox="1">
                <a:spLocks noChangeArrowheads="1"/>
              </p:cNvSpPr>
              <p:nvPr/>
            </p:nvSpPr>
            <p:spPr bwMode="auto">
              <a:xfrm>
                <a:off x="1296" y="1392"/>
                <a:ext cx="144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000"/>
                  <a:t>3</a:t>
                </a:r>
              </a:p>
            </p:txBody>
          </p:sp>
          <p:sp>
            <p:nvSpPr>
              <p:cNvPr id="21" name="Text Box 29"/>
              <p:cNvSpPr txBox="1">
                <a:spLocks noChangeArrowheads="1"/>
              </p:cNvSpPr>
              <p:nvPr/>
            </p:nvSpPr>
            <p:spPr bwMode="auto">
              <a:xfrm>
                <a:off x="1632" y="1392"/>
                <a:ext cx="144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000"/>
                  <a:t>4</a:t>
                </a:r>
              </a:p>
            </p:txBody>
          </p:sp>
          <p:sp>
            <p:nvSpPr>
              <p:cNvPr id="22" name="Text Box 30"/>
              <p:cNvSpPr txBox="1">
                <a:spLocks noChangeArrowheads="1"/>
              </p:cNvSpPr>
              <p:nvPr/>
            </p:nvSpPr>
            <p:spPr bwMode="auto">
              <a:xfrm>
                <a:off x="1968" y="1392"/>
                <a:ext cx="144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000"/>
                  <a:t>5</a:t>
                </a:r>
              </a:p>
            </p:txBody>
          </p:sp>
          <p:sp>
            <p:nvSpPr>
              <p:cNvPr id="23" name="Text Box 31"/>
              <p:cNvSpPr txBox="1">
                <a:spLocks noChangeArrowheads="1"/>
              </p:cNvSpPr>
              <p:nvPr/>
            </p:nvSpPr>
            <p:spPr bwMode="auto">
              <a:xfrm>
                <a:off x="2304" y="1392"/>
                <a:ext cx="144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000"/>
                  <a:t>6</a:t>
                </a:r>
              </a:p>
            </p:txBody>
          </p:sp>
          <p:sp>
            <p:nvSpPr>
              <p:cNvPr id="24" name="Text Box 32"/>
              <p:cNvSpPr txBox="1">
                <a:spLocks noChangeArrowheads="1"/>
              </p:cNvSpPr>
              <p:nvPr/>
            </p:nvSpPr>
            <p:spPr bwMode="auto">
              <a:xfrm>
                <a:off x="2640" y="1392"/>
                <a:ext cx="144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000"/>
                  <a:t>7</a:t>
                </a:r>
              </a:p>
            </p:txBody>
          </p:sp>
          <p:sp>
            <p:nvSpPr>
              <p:cNvPr id="25" name="Text Box 33"/>
              <p:cNvSpPr txBox="1">
                <a:spLocks noChangeArrowheads="1"/>
              </p:cNvSpPr>
              <p:nvPr/>
            </p:nvSpPr>
            <p:spPr bwMode="auto">
              <a:xfrm>
                <a:off x="2976" y="1392"/>
                <a:ext cx="144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000"/>
                  <a:t>8</a:t>
                </a:r>
              </a:p>
            </p:txBody>
          </p:sp>
        </p:grpSp>
        <p:grpSp>
          <p:nvGrpSpPr>
            <p:cNvPr id="9" name="Group 34"/>
            <p:cNvGrpSpPr>
              <a:grpSpLocks/>
            </p:cNvGrpSpPr>
            <p:nvPr/>
          </p:nvGrpSpPr>
          <p:grpSpPr bwMode="auto">
            <a:xfrm>
              <a:off x="3936" y="2448"/>
              <a:ext cx="660" cy="375"/>
              <a:chOff x="3936" y="2448"/>
              <a:chExt cx="660" cy="375"/>
            </a:xfrm>
          </p:grpSpPr>
          <p:sp>
            <p:nvSpPr>
              <p:cNvPr id="14" name="Text Box 35"/>
              <p:cNvSpPr txBox="1">
                <a:spLocks noChangeArrowheads="1"/>
              </p:cNvSpPr>
              <p:nvPr/>
            </p:nvSpPr>
            <p:spPr bwMode="auto">
              <a:xfrm>
                <a:off x="4224" y="2592"/>
                <a:ext cx="372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b="1"/>
                  <a:t>mid</a:t>
                </a:r>
              </a:p>
            </p:txBody>
          </p:sp>
          <p:sp>
            <p:nvSpPr>
              <p:cNvPr id="15" name="Line 36"/>
              <p:cNvSpPr>
                <a:spLocks noChangeShapeType="1"/>
              </p:cNvSpPr>
              <p:nvPr/>
            </p:nvSpPr>
            <p:spPr bwMode="auto">
              <a:xfrm flipH="1">
                <a:off x="3936" y="2736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Line 37"/>
              <p:cNvSpPr>
                <a:spLocks noChangeShapeType="1"/>
              </p:cNvSpPr>
              <p:nvPr/>
            </p:nvSpPr>
            <p:spPr bwMode="auto">
              <a:xfrm flipV="1">
                <a:off x="3936" y="2448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0" name="Text Box 38"/>
            <p:cNvSpPr txBox="1">
              <a:spLocks noChangeArrowheads="1"/>
            </p:cNvSpPr>
            <p:nvPr/>
          </p:nvSpPr>
          <p:spPr bwMode="auto">
            <a:xfrm>
              <a:off x="2784" y="2688"/>
              <a:ext cx="24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/>
                <a:t>lo</a:t>
              </a:r>
            </a:p>
          </p:txBody>
        </p:sp>
        <p:sp>
          <p:nvSpPr>
            <p:cNvPr id="11" name="Text Box 39"/>
            <p:cNvSpPr txBox="1">
              <a:spLocks noChangeArrowheads="1"/>
            </p:cNvSpPr>
            <p:nvPr/>
          </p:nvSpPr>
          <p:spPr bwMode="auto">
            <a:xfrm>
              <a:off x="5126" y="2688"/>
              <a:ext cx="24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/>
                <a:t>hi</a:t>
              </a:r>
            </a:p>
          </p:txBody>
        </p:sp>
        <p:sp>
          <p:nvSpPr>
            <p:cNvPr id="12" name="Line 40"/>
            <p:cNvSpPr>
              <a:spLocks noChangeShapeType="1"/>
            </p:cNvSpPr>
            <p:nvPr/>
          </p:nvSpPr>
          <p:spPr bwMode="auto">
            <a:xfrm flipV="1">
              <a:off x="2880" y="240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Line 41"/>
            <p:cNvSpPr>
              <a:spLocks noChangeShapeType="1"/>
            </p:cNvSpPr>
            <p:nvPr/>
          </p:nvSpPr>
          <p:spPr bwMode="auto">
            <a:xfrm flipV="1">
              <a:off x="5232" y="240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IN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</p:spPr>
        <p:txBody>
          <a:bodyPr/>
          <a:lstStyle/>
          <a:p>
            <a:pPr algn="just"/>
            <a:fld id="{65F19068-6D44-4EA0-A60E-48F613C8EDFD}" type="slidenum">
              <a:rPr lang="en-US"/>
              <a:pPr algn="just"/>
              <a:t>6</a:t>
            </a:fld>
            <a:endParaRPr 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41313" y="100013"/>
            <a:ext cx="8229600" cy="906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Example</a:t>
            </a:r>
            <a:endParaRPr kumimoji="0" lang="en-US" sz="4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350838" y="1214438"/>
            <a:ext cx="8259762" cy="1376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A[8] = {1, 2, 3, 4, 5, 7, 9, 11}</a:t>
            </a:r>
          </a:p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 = 1	hi = 8	  </a:t>
            </a: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DD011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 = 7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DD011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2438400" y="2633663"/>
            <a:ext cx="5638800" cy="457200"/>
            <a:chOff x="1536" y="1584"/>
            <a:chExt cx="3552" cy="288"/>
          </a:xfrm>
        </p:grpSpPr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3360" y="1613"/>
              <a:ext cx="172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just"/>
              <a:r>
                <a:rPr lang="en-US" sz="2000"/>
                <a:t>mid = 4, lo = 5, hi = 8</a:t>
              </a:r>
            </a:p>
          </p:txBody>
        </p:sp>
        <p:sp>
          <p:nvSpPr>
            <p:cNvPr id="9" name="Oval 6"/>
            <p:cNvSpPr>
              <a:spLocks noChangeArrowheads="1"/>
            </p:cNvSpPr>
            <p:nvPr/>
          </p:nvSpPr>
          <p:spPr bwMode="auto">
            <a:xfrm>
              <a:off x="1536" y="1584"/>
              <a:ext cx="336" cy="288"/>
            </a:xfrm>
            <a:prstGeom prst="ellipse">
              <a:avLst/>
            </a:prstGeom>
            <a:noFill/>
            <a:ln w="38100">
              <a:solidFill>
                <a:srgbClr val="DD011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just"/>
              <a:endParaRPr lang="en-IN"/>
            </a:p>
          </p:txBody>
        </p:sp>
      </p:grpSp>
      <p:grpSp>
        <p:nvGrpSpPr>
          <p:cNvPr id="10" name="Group 7"/>
          <p:cNvGrpSpPr>
            <a:grpSpLocks/>
          </p:cNvGrpSpPr>
          <p:nvPr/>
        </p:nvGrpSpPr>
        <p:grpSpPr bwMode="auto">
          <a:xfrm>
            <a:off x="3505200" y="3867148"/>
            <a:ext cx="4953000" cy="457200"/>
            <a:chOff x="2208" y="2064"/>
            <a:chExt cx="3120" cy="288"/>
          </a:xfrm>
        </p:grpSpPr>
        <p:sp>
          <p:nvSpPr>
            <p:cNvPr id="11" name="Oval 8"/>
            <p:cNvSpPr>
              <a:spLocks noChangeArrowheads="1"/>
            </p:cNvSpPr>
            <p:nvPr/>
          </p:nvSpPr>
          <p:spPr bwMode="auto">
            <a:xfrm>
              <a:off x="2208" y="2064"/>
              <a:ext cx="336" cy="288"/>
            </a:xfrm>
            <a:prstGeom prst="ellipse">
              <a:avLst/>
            </a:prstGeom>
            <a:noFill/>
            <a:ln w="38100">
              <a:solidFill>
                <a:srgbClr val="DD011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just"/>
              <a:endParaRPr lang="en-IN"/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3360" y="2093"/>
              <a:ext cx="1968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just"/>
              <a:r>
                <a:rPr lang="en-US" sz="2000"/>
                <a:t>mid = 6, A[mid] = x  Found!</a:t>
              </a:r>
            </a:p>
          </p:txBody>
        </p:sp>
      </p:grpSp>
      <p:grpSp>
        <p:nvGrpSpPr>
          <p:cNvPr id="13" name="Group 10"/>
          <p:cNvGrpSpPr>
            <a:grpSpLocks/>
          </p:cNvGrpSpPr>
          <p:nvPr/>
        </p:nvGrpSpPr>
        <p:grpSpPr bwMode="auto">
          <a:xfrm>
            <a:off x="838200" y="3867150"/>
            <a:ext cx="4267200" cy="457200"/>
            <a:chOff x="528" y="1440"/>
            <a:chExt cx="2688" cy="288"/>
          </a:xfrm>
        </p:grpSpPr>
        <p:sp>
          <p:nvSpPr>
            <p:cNvPr id="14" name="Rectangle 11"/>
            <p:cNvSpPr>
              <a:spLocks noChangeArrowheads="1"/>
            </p:cNvSpPr>
            <p:nvPr/>
          </p:nvSpPr>
          <p:spPr bwMode="auto">
            <a:xfrm>
              <a:off x="2880" y="1440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 anchorCtr="1"/>
            <a:lstStyle/>
            <a:p>
              <a:pPr algn="just"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</a:rPr>
                <a:t>11</a:t>
              </a:r>
            </a:p>
          </p:txBody>
        </p:sp>
        <p:sp>
          <p:nvSpPr>
            <p:cNvPr id="15" name="Rectangle 12"/>
            <p:cNvSpPr>
              <a:spLocks noChangeArrowheads="1"/>
            </p:cNvSpPr>
            <p:nvPr/>
          </p:nvSpPr>
          <p:spPr bwMode="auto">
            <a:xfrm>
              <a:off x="2544" y="1440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 anchorCtr="1"/>
            <a:lstStyle/>
            <a:p>
              <a:pPr algn="just"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</a:rPr>
                <a:t>9</a:t>
              </a:r>
            </a:p>
          </p:txBody>
        </p:sp>
        <p:sp>
          <p:nvSpPr>
            <p:cNvPr id="16" name="Rectangle 13"/>
            <p:cNvSpPr>
              <a:spLocks noChangeArrowheads="1"/>
            </p:cNvSpPr>
            <p:nvPr/>
          </p:nvSpPr>
          <p:spPr bwMode="auto">
            <a:xfrm>
              <a:off x="2208" y="1440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 anchorCtr="1"/>
            <a:lstStyle/>
            <a:p>
              <a:pPr algn="just"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</a:rPr>
                <a:t>7</a:t>
              </a:r>
            </a:p>
          </p:txBody>
        </p:sp>
        <p:sp>
          <p:nvSpPr>
            <p:cNvPr id="17" name="Rectangle 14"/>
            <p:cNvSpPr>
              <a:spLocks noChangeArrowheads="1"/>
            </p:cNvSpPr>
            <p:nvPr/>
          </p:nvSpPr>
          <p:spPr bwMode="auto">
            <a:xfrm>
              <a:off x="1872" y="1440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 anchorCtr="1"/>
            <a:lstStyle/>
            <a:p>
              <a:pPr algn="just"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1536" y="1440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 anchorCtr="1"/>
            <a:lstStyle/>
            <a:p>
              <a:pPr algn="just"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19" name="Rectangle 16"/>
            <p:cNvSpPr>
              <a:spLocks noChangeArrowheads="1"/>
            </p:cNvSpPr>
            <p:nvPr/>
          </p:nvSpPr>
          <p:spPr bwMode="auto">
            <a:xfrm>
              <a:off x="1200" y="1440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 anchorCtr="1"/>
            <a:lstStyle/>
            <a:p>
              <a:pPr algn="just"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20" name="Rectangle 17"/>
            <p:cNvSpPr>
              <a:spLocks noChangeArrowheads="1"/>
            </p:cNvSpPr>
            <p:nvPr/>
          </p:nvSpPr>
          <p:spPr bwMode="auto">
            <a:xfrm>
              <a:off x="864" y="1440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 anchorCtr="1"/>
            <a:lstStyle/>
            <a:p>
              <a:pPr algn="just"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21" name="Rectangle 18"/>
            <p:cNvSpPr>
              <a:spLocks noChangeArrowheads="1"/>
            </p:cNvSpPr>
            <p:nvPr/>
          </p:nvSpPr>
          <p:spPr bwMode="auto">
            <a:xfrm>
              <a:off x="528" y="1440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 anchorCtr="1"/>
            <a:lstStyle/>
            <a:p>
              <a:pPr algn="just"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22" name="Line 19"/>
            <p:cNvSpPr>
              <a:spLocks noChangeShapeType="1"/>
            </p:cNvSpPr>
            <p:nvPr/>
          </p:nvSpPr>
          <p:spPr bwMode="auto">
            <a:xfrm>
              <a:off x="528" y="1440"/>
              <a:ext cx="26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 anchorCtr="1"/>
            <a:lstStyle/>
            <a:p>
              <a:pPr algn="just"/>
              <a:endParaRPr lang="en-IN"/>
            </a:p>
          </p:txBody>
        </p:sp>
        <p:sp>
          <p:nvSpPr>
            <p:cNvPr id="23" name="Line 20"/>
            <p:cNvSpPr>
              <a:spLocks noChangeShapeType="1"/>
            </p:cNvSpPr>
            <p:nvPr/>
          </p:nvSpPr>
          <p:spPr bwMode="auto">
            <a:xfrm>
              <a:off x="528" y="1728"/>
              <a:ext cx="26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 anchorCtr="1"/>
            <a:lstStyle/>
            <a:p>
              <a:pPr algn="just"/>
              <a:endParaRPr lang="en-IN"/>
            </a:p>
          </p:txBody>
        </p:sp>
        <p:sp>
          <p:nvSpPr>
            <p:cNvPr id="24" name="Line 21"/>
            <p:cNvSpPr>
              <a:spLocks noChangeShapeType="1"/>
            </p:cNvSpPr>
            <p:nvPr/>
          </p:nvSpPr>
          <p:spPr bwMode="auto">
            <a:xfrm>
              <a:off x="528" y="1440"/>
              <a:ext cx="0" cy="28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 anchorCtr="1"/>
            <a:lstStyle/>
            <a:p>
              <a:pPr algn="just"/>
              <a:endParaRPr lang="en-IN"/>
            </a:p>
          </p:txBody>
        </p:sp>
        <p:sp>
          <p:nvSpPr>
            <p:cNvPr id="25" name="Line 22"/>
            <p:cNvSpPr>
              <a:spLocks noChangeShapeType="1"/>
            </p:cNvSpPr>
            <p:nvPr/>
          </p:nvSpPr>
          <p:spPr bwMode="auto">
            <a:xfrm>
              <a:off x="864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 anchorCtr="1"/>
            <a:lstStyle/>
            <a:p>
              <a:pPr algn="just"/>
              <a:endParaRPr lang="en-IN"/>
            </a:p>
          </p:txBody>
        </p:sp>
        <p:sp>
          <p:nvSpPr>
            <p:cNvPr id="26" name="Line 23"/>
            <p:cNvSpPr>
              <a:spLocks noChangeShapeType="1"/>
            </p:cNvSpPr>
            <p:nvPr/>
          </p:nvSpPr>
          <p:spPr bwMode="auto">
            <a:xfrm>
              <a:off x="1200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 anchorCtr="1"/>
            <a:lstStyle/>
            <a:p>
              <a:pPr algn="just"/>
              <a:endParaRPr lang="en-IN"/>
            </a:p>
          </p:txBody>
        </p:sp>
        <p:sp>
          <p:nvSpPr>
            <p:cNvPr id="27" name="Line 24"/>
            <p:cNvSpPr>
              <a:spLocks noChangeShapeType="1"/>
            </p:cNvSpPr>
            <p:nvPr/>
          </p:nvSpPr>
          <p:spPr bwMode="auto">
            <a:xfrm>
              <a:off x="1536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 anchorCtr="1"/>
            <a:lstStyle/>
            <a:p>
              <a:pPr algn="just"/>
              <a:endParaRPr lang="en-IN"/>
            </a:p>
          </p:txBody>
        </p:sp>
        <p:sp>
          <p:nvSpPr>
            <p:cNvPr id="28" name="Line 25"/>
            <p:cNvSpPr>
              <a:spLocks noChangeShapeType="1"/>
            </p:cNvSpPr>
            <p:nvPr/>
          </p:nvSpPr>
          <p:spPr bwMode="auto">
            <a:xfrm>
              <a:off x="1872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 anchorCtr="1"/>
            <a:lstStyle/>
            <a:p>
              <a:pPr algn="just"/>
              <a:endParaRPr lang="en-IN"/>
            </a:p>
          </p:txBody>
        </p:sp>
        <p:sp>
          <p:nvSpPr>
            <p:cNvPr id="29" name="Line 26"/>
            <p:cNvSpPr>
              <a:spLocks noChangeShapeType="1"/>
            </p:cNvSpPr>
            <p:nvPr/>
          </p:nvSpPr>
          <p:spPr bwMode="auto">
            <a:xfrm>
              <a:off x="2208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 anchorCtr="1"/>
            <a:lstStyle/>
            <a:p>
              <a:pPr algn="just"/>
              <a:endParaRPr lang="en-IN"/>
            </a:p>
          </p:txBody>
        </p:sp>
        <p:sp>
          <p:nvSpPr>
            <p:cNvPr id="30" name="Line 27"/>
            <p:cNvSpPr>
              <a:spLocks noChangeShapeType="1"/>
            </p:cNvSpPr>
            <p:nvPr/>
          </p:nvSpPr>
          <p:spPr bwMode="auto">
            <a:xfrm>
              <a:off x="2544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 anchorCtr="1"/>
            <a:lstStyle/>
            <a:p>
              <a:pPr algn="just"/>
              <a:endParaRPr lang="en-IN"/>
            </a:p>
          </p:txBody>
        </p:sp>
        <p:sp>
          <p:nvSpPr>
            <p:cNvPr id="31" name="Line 28"/>
            <p:cNvSpPr>
              <a:spLocks noChangeShapeType="1"/>
            </p:cNvSpPr>
            <p:nvPr/>
          </p:nvSpPr>
          <p:spPr bwMode="auto">
            <a:xfrm>
              <a:off x="2880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 anchorCtr="1"/>
            <a:lstStyle/>
            <a:p>
              <a:pPr algn="just"/>
              <a:endParaRPr lang="en-IN"/>
            </a:p>
          </p:txBody>
        </p:sp>
        <p:sp>
          <p:nvSpPr>
            <p:cNvPr id="32" name="Line 29"/>
            <p:cNvSpPr>
              <a:spLocks noChangeShapeType="1"/>
            </p:cNvSpPr>
            <p:nvPr/>
          </p:nvSpPr>
          <p:spPr bwMode="auto">
            <a:xfrm>
              <a:off x="3216" y="1440"/>
              <a:ext cx="0" cy="28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 anchorCtr="1"/>
            <a:lstStyle/>
            <a:p>
              <a:pPr algn="just"/>
              <a:endParaRPr lang="en-IN"/>
            </a:p>
          </p:txBody>
        </p:sp>
      </p:grpSp>
      <p:grpSp>
        <p:nvGrpSpPr>
          <p:cNvPr id="33" name="Group 31"/>
          <p:cNvGrpSpPr>
            <a:grpSpLocks/>
          </p:cNvGrpSpPr>
          <p:nvPr/>
        </p:nvGrpSpPr>
        <p:grpSpPr bwMode="auto">
          <a:xfrm>
            <a:off x="838200" y="2633663"/>
            <a:ext cx="4267200" cy="457200"/>
            <a:chOff x="528" y="1440"/>
            <a:chExt cx="2688" cy="288"/>
          </a:xfrm>
        </p:grpSpPr>
        <p:sp>
          <p:nvSpPr>
            <p:cNvPr id="34" name="Rectangle 32"/>
            <p:cNvSpPr>
              <a:spLocks noChangeArrowheads="1"/>
            </p:cNvSpPr>
            <p:nvPr/>
          </p:nvSpPr>
          <p:spPr bwMode="auto">
            <a:xfrm>
              <a:off x="2880" y="1440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 anchorCtr="1"/>
            <a:lstStyle/>
            <a:p>
              <a:pPr algn="just"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</a:rPr>
                <a:t>11</a:t>
              </a:r>
            </a:p>
          </p:txBody>
        </p:sp>
        <p:sp>
          <p:nvSpPr>
            <p:cNvPr id="35" name="Rectangle 33"/>
            <p:cNvSpPr>
              <a:spLocks noChangeArrowheads="1"/>
            </p:cNvSpPr>
            <p:nvPr/>
          </p:nvSpPr>
          <p:spPr bwMode="auto">
            <a:xfrm>
              <a:off x="2544" y="1440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 anchorCtr="1"/>
            <a:lstStyle/>
            <a:p>
              <a:pPr algn="just"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</a:rPr>
                <a:t>9</a:t>
              </a:r>
            </a:p>
          </p:txBody>
        </p:sp>
        <p:sp>
          <p:nvSpPr>
            <p:cNvPr id="36" name="Rectangle 34"/>
            <p:cNvSpPr>
              <a:spLocks noChangeArrowheads="1"/>
            </p:cNvSpPr>
            <p:nvPr/>
          </p:nvSpPr>
          <p:spPr bwMode="auto">
            <a:xfrm>
              <a:off x="2208" y="1440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 anchorCtr="1"/>
            <a:lstStyle/>
            <a:p>
              <a:pPr algn="just"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</a:rPr>
                <a:t>7</a:t>
              </a:r>
            </a:p>
          </p:txBody>
        </p:sp>
        <p:sp>
          <p:nvSpPr>
            <p:cNvPr id="37" name="Rectangle 35"/>
            <p:cNvSpPr>
              <a:spLocks noChangeArrowheads="1"/>
            </p:cNvSpPr>
            <p:nvPr/>
          </p:nvSpPr>
          <p:spPr bwMode="auto">
            <a:xfrm>
              <a:off x="1872" y="1440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 anchorCtr="1"/>
            <a:lstStyle/>
            <a:p>
              <a:pPr algn="just"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38" name="Rectangle 36"/>
            <p:cNvSpPr>
              <a:spLocks noChangeArrowheads="1"/>
            </p:cNvSpPr>
            <p:nvPr/>
          </p:nvSpPr>
          <p:spPr bwMode="auto">
            <a:xfrm>
              <a:off x="1536" y="1440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 anchorCtr="1"/>
            <a:lstStyle/>
            <a:p>
              <a:pPr algn="just"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39" name="Rectangle 37"/>
            <p:cNvSpPr>
              <a:spLocks noChangeArrowheads="1"/>
            </p:cNvSpPr>
            <p:nvPr/>
          </p:nvSpPr>
          <p:spPr bwMode="auto">
            <a:xfrm>
              <a:off x="1200" y="1440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 anchorCtr="1"/>
            <a:lstStyle/>
            <a:p>
              <a:pPr algn="just"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40" name="Rectangle 38"/>
            <p:cNvSpPr>
              <a:spLocks noChangeArrowheads="1"/>
            </p:cNvSpPr>
            <p:nvPr/>
          </p:nvSpPr>
          <p:spPr bwMode="auto">
            <a:xfrm>
              <a:off x="864" y="1440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 anchorCtr="1"/>
            <a:lstStyle/>
            <a:p>
              <a:pPr algn="just"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41" name="Rectangle 39"/>
            <p:cNvSpPr>
              <a:spLocks noChangeArrowheads="1"/>
            </p:cNvSpPr>
            <p:nvPr/>
          </p:nvSpPr>
          <p:spPr bwMode="auto">
            <a:xfrm>
              <a:off x="528" y="1440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 anchorCtr="1"/>
            <a:lstStyle/>
            <a:p>
              <a:pPr algn="just"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42" name="Line 40"/>
            <p:cNvSpPr>
              <a:spLocks noChangeShapeType="1"/>
            </p:cNvSpPr>
            <p:nvPr/>
          </p:nvSpPr>
          <p:spPr bwMode="auto">
            <a:xfrm>
              <a:off x="528" y="1440"/>
              <a:ext cx="26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 anchorCtr="1"/>
            <a:lstStyle/>
            <a:p>
              <a:pPr algn="just"/>
              <a:endParaRPr lang="en-IN"/>
            </a:p>
          </p:txBody>
        </p:sp>
        <p:sp>
          <p:nvSpPr>
            <p:cNvPr id="43" name="Line 41"/>
            <p:cNvSpPr>
              <a:spLocks noChangeShapeType="1"/>
            </p:cNvSpPr>
            <p:nvPr/>
          </p:nvSpPr>
          <p:spPr bwMode="auto">
            <a:xfrm>
              <a:off x="528" y="1728"/>
              <a:ext cx="26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 anchorCtr="1"/>
            <a:lstStyle/>
            <a:p>
              <a:pPr algn="just"/>
              <a:endParaRPr lang="en-IN"/>
            </a:p>
          </p:txBody>
        </p:sp>
        <p:sp>
          <p:nvSpPr>
            <p:cNvPr id="44" name="Line 42"/>
            <p:cNvSpPr>
              <a:spLocks noChangeShapeType="1"/>
            </p:cNvSpPr>
            <p:nvPr/>
          </p:nvSpPr>
          <p:spPr bwMode="auto">
            <a:xfrm>
              <a:off x="528" y="1440"/>
              <a:ext cx="0" cy="28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 anchorCtr="1"/>
            <a:lstStyle/>
            <a:p>
              <a:pPr algn="just"/>
              <a:endParaRPr lang="en-IN"/>
            </a:p>
          </p:txBody>
        </p:sp>
        <p:sp>
          <p:nvSpPr>
            <p:cNvPr id="45" name="Line 43"/>
            <p:cNvSpPr>
              <a:spLocks noChangeShapeType="1"/>
            </p:cNvSpPr>
            <p:nvPr/>
          </p:nvSpPr>
          <p:spPr bwMode="auto">
            <a:xfrm>
              <a:off x="864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 anchorCtr="1"/>
            <a:lstStyle/>
            <a:p>
              <a:pPr algn="just"/>
              <a:endParaRPr lang="en-IN"/>
            </a:p>
          </p:txBody>
        </p:sp>
        <p:sp>
          <p:nvSpPr>
            <p:cNvPr id="46" name="Line 44"/>
            <p:cNvSpPr>
              <a:spLocks noChangeShapeType="1"/>
            </p:cNvSpPr>
            <p:nvPr/>
          </p:nvSpPr>
          <p:spPr bwMode="auto">
            <a:xfrm>
              <a:off x="1200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 anchorCtr="1"/>
            <a:lstStyle/>
            <a:p>
              <a:pPr algn="just"/>
              <a:endParaRPr lang="en-IN"/>
            </a:p>
          </p:txBody>
        </p:sp>
        <p:sp>
          <p:nvSpPr>
            <p:cNvPr id="47" name="Line 45"/>
            <p:cNvSpPr>
              <a:spLocks noChangeShapeType="1"/>
            </p:cNvSpPr>
            <p:nvPr/>
          </p:nvSpPr>
          <p:spPr bwMode="auto">
            <a:xfrm>
              <a:off x="1536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 anchorCtr="1"/>
            <a:lstStyle/>
            <a:p>
              <a:pPr algn="just"/>
              <a:endParaRPr lang="en-IN"/>
            </a:p>
          </p:txBody>
        </p:sp>
        <p:sp>
          <p:nvSpPr>
            <p:cNvPr id="48" name="Line 46"/>
            <p:cNvSpPr>
              <a:spLocks noChangeShapeType="1"/>
            </p:cNvSpPr>
            <p:nvPr/>
          </p:nvSpPr>
          <p:spPr bwMode="auto">
            <a:xfrm>
              <a:off x="1872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 anchorCtr="1"/>
            <a:lstStyle/>
            <a:p>
              <a:pPr algn="just"/>
              <a:endParaRPr lang="en-IN"/>
            </a:p>
          </p:txBody>
        </p:sp>
        <p:sp>
          <p:nvSpPr>
            <p:cNvPr id="49" name="Line 47"/>
            <p:cNvSpPr>
              <a:spLocks noChangeShapeType="1"/>
            </p:cNvSpPr>
            <p:nvPr/>
          </p:nvSpPr>
          <p:spPr bwMode="auto">
            <a:xfrm>
              <a:off x="2208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 anchorCtr="1"/>
            <a:lstStyle/>
            <a:p>
              <a:pPr algn="just"/>
              <a:endParaRPr lang="en-IN"/>
            </a:p>
          </p:txBody>
        </p:sp>
        <p:sp>
          <p:nvSpPr>
            <p:cNvPr id="50" name="Line 48"/>
            <p:cNvSpPr>
              <a:spLocks noChangeShapeType="1"/>
            </p:cNvSpPr>
            <p:nvPr/>
          </p:nvSpPr>
          <p:spPr bwMode="auto">
            <a:xfrm>
              <a:off x="2544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 anchorCtr="1"/>
            <a:lstStyle/>
            <a:p>
              <a:pPr algn="just"/>
              <a:endParaRPr lang="en-IN"/>
            </a:p>
          </p:txBody>
        </p:sp>
        <p:sp>
          <p:nvSpPr>
            <p:cNvPr id="51" name="Line 49"/>
            <p:cNvSpPr>
              <a:spLocks noChangeShapeType="1"/>
            </p:cNvSpPr>
            <p:nvPr/>
          </p:nvSpPr>
          <p:spPr bwMode="auto">
            <a:xfrm>
              <a:off x="2880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 anchorCtr="1"/>
            <a:lstStyle/>
            <a:p>
              <a:pPr algn="just"/>
              <a:endParaRPr lang="en-IN"/>
            </a:p>
          </p:txBody>
        </p:sp>
        <p:sp>
          <p:nvSpPr>
            <p:cNvPr id="52" name="Line 50"/>
            <p:cNvSpPr>
              <a:spLocks noChangeShapeType="1"/>
            </p:cNvSpPr>
            <p:nvPr/>
          </p:nvSpPr>
          <p:spPr bwMode="auto">
            <a:xfrm>
              <a:off x="3216" y="1440"/>
              <a:ext cx="0" cy="28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 anchorCtr="1"/>
            <a:lstStyle/>
            <a:p>
              <a:pPr algn="just"/>
              <a:endParaRPr lang="en-IN"/>
            </a:p>
          </p:txBody>
        </p:sp>
      </p:grpSp>
      <p:sp>
        <p:nvSpPr>
          <p:cNvPr id="53" name="Text Box 51"/>
          <p:cNvSpPr txBox="1">
            <a:spLocks noChangeArrowheads="1"/>
          </p:cNvSpPr>
          <p:nvPr/>
        </p:nvSpPr>
        <p:spPr bwMode="auto">
          <a:xfrm>
            <a:off x="990600" y="2328863"/>
            <a:ext cx="228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sz="1000"/>
              <a:t>1</a:t>
            </a:r>
          </a:p>
        </p:txBody>
      </p:sp>
      <p:sp>
        <p:nvSpPr>
          <p:cNvPr id="54" name="Text Box 52"/>
          <p:cNvSpPr txBox="1">
            <a:spLocks noChangeArrowheads="1"/>
          </p:cNvSpPr>
          <p:nvPr/>
        </p:nvSpPr>
        <p:spPr bwMode="auto">
          <a:xfrm>
            <a:off x="1524000" y="2328863"/>
            <a:ext cx="228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sz="1000"/>
              <a:t>2</a:t>
            </a:r>
          </a:p>
        </p:txBody>
      </p:sp>
      <p:sp>
        <p:nvSpPr>
          <p:cNvPr id="55" name="Text Box 53"/>
          <p:cNvSpPr txBox="1">
            <a:spLocks noChangeArrowheads="1"/>
          </p:cNvSpPr>
          <p:nvPr/>
        </p:nvSpPr>
        <p:spPr bwMode="auto">
          <a:xfrm>
            <a:off x="2057400" y="2328863"/>
            <a:ext cx="228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sz="1000"/>
              <a:t>3</a:t>
            </a:r>
          </a:p>
        </p:txBody>
      </p:sp>
      <p:sp>
        <p:nvSpPr>
          <p:cNvPr id="56" name="Text Box 54"/>
          <p:cNvSpPr txBox="1">
            <a:spLocks noChangeArrowheads="1"/>
          </p:cNvSpPr>
          <p:nvPr/>
        </p:nvSpPr>
        <p:spPr bwMode="auto">
          <a:xfrm>
            <a:off x="2590800" y="2328863"/>
            <a:ext cx="228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sz="1000"/>
              <a:t>4</a:t>
            </a:r>
          </a:p>
        </p:txBody>
      </p:sp>
      <p:sp>
        <p:nvSpPr>
          <p:cNvPr id="57" name="Text Box 55"/>
          <p:cNvSpPr txBox="1">
            <a:spLocks noChangeArrowheads="1"/>
          </p:cNvSpPr>
          <p:nvPr/>
        </p:nvSpPr>
        <p:spPr bwMode="auto">
          <a:xfrm>
            <a:off x="3124200" y="2328863"/>
            <a:ext cx="228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sz="1000"/>
              <a:t>5</a:t>
            </a:r>
          </a:p>
        </p:txBody>
      </p:sp>
      <p:sp>
        <p:nvSpPr>
          <p:cNvPr id="58" name="Text Box 56"/>
          <p:cNvSpPr txBox="1">
            <a:spLocks noChangeArrowheads="1"/>
          </p:cNvSpPr>
          <p:nvPr/>
        </p:nvSpPr>
        <p:spPr bwMode="auto">
          <a:xfrm>
            <a:off x="3657600" y="2328863"/>
            <a:ext cx="228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sz="1000"/>
              <a:t>6</a:t>
            </a:r>
          </a:p>
        </p:txBody>
      </p:sp>
      <p:sp>
        <p:nvSpPr>
          <p:cNvPr id="59" name="Text Box 57"/>
          <p:cNvSpPr txBox="1">
            <a:spLocks noChangeArrowheads="1"/>
          </p:cNvSpPr>
          <p:nvPr/>
        </p:nvSpPr>
        <p:spPr bwMode="auto">
          <a:xfrm>
            <a:off x="4191000" y="2328863"/>
            <a:ext cx="228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sz="1000"/>
              <a:t>7</a:t>
            </a:r>
          </a:p>
        </p:txBody>
      </p:sp>
      <p:sp>
        <p:nvSpPr>
          <p:cNvPr id="60" name="Text Box 58"/>
          <p:cNvSpPr txBox="1">
            <a:spLocks noChangeArrowheads="1"/>
          </p:cNvSpPr>
          <p:nvPr/>
        </p:nvSpPr>
        <p:spPr bwMode="auto">
          <a:xfrm>
            <a:off x="4724400" y="2328863"/>
            <a:ext cx="228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sz="1000"/>
              <a:t>8</a:t>
            </a:r>
          </a:p>
        </p:txBody>
      </p:sp>
      <p:sp>
        <p:nvSpPr>
          <p:cNvPr id="61" name="Text Box 59"/>
          <p:cNvSpPr txBox="1">
            <a:spLocks noChangeArrowheads="1"/>
          </p:cNvSpPr>
          <p:nvPr/>
        </p:nvSpPr>
        <p:spPr bwMode="auto">
          <a:xfrm>
            <a:off x="4748213" y="3552825"/>
            <a:ext cx="228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sz="1000"/>
              <a:t>8</a:t>
            </a:r>
          </a:p>
        </p:txBody>
      </p:sp>
      <p:sp>
        <p:nvSpPr>
          <p:cNvPr id="62" name="Text Box 60"/>
          <p:cNvSpPr txBox="1">
            <a:spLocks noChangeArrowheads="1"/>
          </p:cNvSpPr>
          <p:nvPr/>
        </p:nvSpPr>
        <p:spPr bwMode="auto">
          <a:xfrm>
            <a:off x="4232275" y="3570288"/>
            <a:ext cx="228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sz="1000"/>
              <a:t>7</a:t>
            </a:r>
          </a:p>
        </p:txBody>
      </p:sp>
      <p:sp>
        <p:nvSpPr>
          <p:cNvPr id="63" name="Text Box 61"/>
          <p:cNvSpPr txBox="1">
            <a:spLocks noChangeArrowheads="1"/>
          </p:cNvSpPr>
          <p:nvPr/>
        </p:nvSpPr>
        <p:spPr bwMode="auto">
          <a:xfrm>
            <a:off x="3652838" y="3579813"/>
            <a:ext cx="228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sz="1000"/>
              <a:t>6</a:t>
            </a:r>
          </a:p>
        </p:txBody>
      </p:sp>
      <p:sp>
        <p:nvSpPr>
          <p:cNvPr id="64" name="Text Box 62"/>
          <p:cNvSpPr txBox="1">
            <a:spLocks noChangeArrowheads="1"/>
          </p:cNvSpPr>
          <p:nvPr/>
        </p:nvSpPr>
        <p:spPr bwMode="auto">
          <a:xfrm>
            <a:off x="3146425" y="3598863"/>
            <a:ext cx="228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sz="1000"/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Clr>
                <a:srgbClr val="FF0066"/>
              </a:buClr>
              <a:buFont typeface="Wingdings" pitchFamily="2" charset="2"/>
              <a:buChar char="Ø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Substitution method:</a:t>
            </a:r>
          </a:p>
          <a:p>
            <a:pPr marL="228600" lvl="2" algn="just">
              <a:buClr>
                <a:srgbClr val="FF0066"/>
              </a:buClr>
              <a:buFont typeface="Wingdings" pitchFamily="2" charset="2"/>
              <a:buChar char="Ø"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 We guess a bound and then use mathematical induction to prove that our guess is correct.</a:t>
            </a:r>
          </a:p>
          <a:p>
            <a:pPr algn="just">
              <a:buClr>
                <a:srgbClr val="FF0066"/>
              </a:buClr>
              <a:buFont typeface="Wingdings" pitchFamily="2" charset="2"/>
              <a:buChar char="Ø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Recursion-tree method:</a:t>
            </a:r>
          </a:p>
          <a:p>
            <a:pPr marL="228600" lvl="2" algn="just">
              <a:buClr>
                <a:srgbClr val="FF0066"/>
              </a:buClr>
              <a:buFont typeface="Wingdings" pitchFamily="2" charset="2"/>
              <a:buChar char="Ø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It converts the recurrence into a tree whose nodes represent the cost incurred at various levels of the recursion</a:t>
            </a:r>
          </a:p>
          <a:p>
            <a:pPr marL="228600" lvl="2" algn="just">
              <a:buClr>
                <a:srgbClr val="FF0066"/>
              </a:buClr>
              <a:buFont typeface="Wingdings" pitchFamily="2" charset="2"/>
              <a:buChar char="Ø"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 We use techniques for bounding summations to solve the recurrence.</a:t>
            </a:r>
          </a:p>
          <a:p>
            <a:pPr algn="just">
              <a:buClr>
                <a:srgbClr val="FF0066"/>
              </a:buClr>
              <a:buFont typeface="Wingdings" pitchFamily="2" charset="2"/>
              <a:buChar char="Ø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Master method:</a:t>
            </a:r>
          </a:p>
          <a:p>
            <a:pPr marL="228600" lvl="2" algn="just">
              <a:buClr>
                <a:srgbClr val="FF0066"/>
              </a:buClr>
              <a:buFont typeface="Wingdings" pitchFamily="2" charset="2"/>
              <a:buChar char="Ø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It provides bounds for recurrences of the above form.</a:t>
            </a:r>
          </a:p>
          <a:p>
            <a:pPr marL="228600" lvl="2" algn="just">
              <a:buClr>
                <a:srgbClr val="FF0066"/>
              </a:buClr>
              <a:buFont typeface="Wingdings" pitchFamily="2" charset="2"/>
              <a:buChar char="Ø"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 It requires memorization of three cases.</a:t>
            </a:r>
          </a:p>
          <a:p>
            <a:pPr marL="228600" lvl="2" algn="just">
              <a:buClr>
                <a:srgbClr val="FF0066"/>
              </a:buClr>
              <a:buFont typeface="Wingdings" pitchFamily="2" charset="2"/>
              <a:buChar char="Ø"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 Once you memorize the cases, determining asymptotic bounds for many recurrences is easy.</a:t>
            </a:r>
          </a:p>
          <a:p>
            <a:endParaRPr lang="en-IN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914400" y="500042"/>
            <a:ext cx="8229600" cy="906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Methods for Solving Recurrences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33400" lvl="0" indent="-533400">
              <a:lnSpc>
                <a:spcPct val="150000"/>
              </a:lnSpc>
              <a:buNone/>
              <a:defRPr/>
            </a:pPr>
            <a:r>
              <a:rPr lang="en-US" sz="2400" dirty="0" smtClean="0"/>
              <a:t>Convert the recurrence into a tree:</a:t>
            </a:r>
          </a:p>
          <a:p>
            <a:pPr marL="914400" lvl="1" indent="-457200">
              <a:lnSpc>
                <a:spcPct val="150000"/>
              </a:lnSpc>
              <a:defRPr/>
            </a:pPr>
            <a:r>
              <a:rPr lang="en-US" sz="2000" dirty="0" smtClean="0"/>
              <a:t>Each node represents the cost incurred at various levels of recursion</a:t>
            </a:r>
          </a:p>
          <a:p>
            <a:pPr marL="914400" lvl="1" indent="-457200">
              <a:lnSpc>
                <a:spcPct val="150000"/>
              </a:lnSpc>
              <a:defRPr/>
            </a:pPr>
            <a:r>
              <a:rPr lang="en-US" sz="2000" dirty="0" smtClean="0"/>
              <a:t>Sum up the costs of all </a:t>
            </a:r>
            <a:r>
              <a:rPr lang="en-US" sz="2000" dirty="0" smtClean="0"/>
              <a:t>levels</a:t>
            </a:r>
          </a:p>
          <a:p>
            <a:pPr marL="228600" indent="-228600" algn="just">
              <a:buClr>
                <a:srgbClr val="FF0066"/>
              </a:buClr>
              <a:buFont typeface="Wingdings" pitchFamily="2" charset="2"/>
              <a:buChar char="Ø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In a recursion-tree, </a:t>
            </a:r>
          </a:p>
          <a:p>
            <a:pPr marL="457200" lvl="2" algn="just">
              <a:buClr>
                <a:srgbClr val="FF0066"/>
              </a:buClr>
              <a:buFont typeface="Arial" pitchFamily="34" charset="0"/>
              <a:buChar char="−"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 each node represents the cost of a single sub-problem somewhere in the set of recursive function invocations.</a:t>
            </a:r>
          </a:p>
          <a:p>
            <a:pPr marL="457200" lvl="2" algn="just">
              <a:buClr>
                <a:srgbClr val="FF0066"/>
              </a:buClr>
              <a:buFont typeface="Arial" pitchFamily="34" charset="0"/>
              <a:buChar char="−"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 We sum the costs within each level of the tree to obtain a set of per-level costs.</a:t>
            </a:r>
          </a:p>
          <a:p>
            <a:pPr marL="457200" lvl="2" algn="just">
              <a:buClr>
                <a:srgbClr val="FF0066"/>
              </a:buClr>
              <a:buFont typeface="Arial" pitchFamily="34" charset="0"/>
              <a:buChar char="−"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 Then we sum all the per-level cost to determine the total cost of all levels of the recursion.</a:t>
            </a:r>
          </a:p>
          <a:p>
            <a:pPr marL="228600" indent="-228600" algn="just">
              <a:buClr>
                <a:srgbClr val="FF0066"/>
              </a:buClr>
              <a:buFont typeface="Wingdings" pitchFamily="2" charset="2"/>
              <a:buChar char="Ø"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Recursion trees are particularly useful when the recurrence describes the running time of a divide-and-conquer algorithm.</a:t>
            </a:r>
          </a:p>
          <a:p>
            <a:pPr marL="914400" lvl="1" indent="-457200">
              <a:lnSpc>
                <a:spcPct val="150000"/>
              </a:lnSpc>
              <a:buNone/>
              <a:defRPr/>
            </a:pPr>
            <a:endParaRPr lang="en-US" sz="2000" dirty="0" smtClean="0"/>
          </a:p>
          <a:p>
            <a:pPr>
              <a:buNone/>
            </a:pPr>
            <a:endParaRPr lang="en-IN" dirty="0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</p:spPr>
        <p:txBody>
          <a:bodyPr/>
          <a:lstStyle/>
          <a:p>
            <a:fld id="{87EE5479-D461-4157-9DAF-09689B0B337C}" type="slidenum">
              <a:rPr lang="en-US"/>
              <a:pPr/>
              <a:t>8</a:t>
            </a:fld>
            <a:endParaRPr 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41313" y="100013"/>
            <a:ext cx="8229600" cy="906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recursion-tree method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</p:spPr>
        <p:txBody>
          <a:bodyPr/>
          <a:lstStyle/>
          <a:p>
            <a:fld id="{36785EB8-DD51-4693-BB1A-FD89526C053A}" type="slidenum">
              <a:rPr lang="en-US"/>
              <a:pPr/>
              <a:t>9</a:t>
            </a:fld>
            <a:endParaRPr lang="en-US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2057400" y="1295400"/>
          <a:ext cx="6934200" cy="3614738"/>
        </p:xfrm>
        <a:graphic>
          <a:graphicData uri="http://schemas.openxmlformats.org/presentationml/2006/ole">
            <p:oleObj spid="_x0000_s1026" name="Paint Shop Pro Image" r:id="rId3" imgW="7619512" imgH="3970732" progId="PaintShopPro">
              <p:embed/>
            </p:oleObj>
          </a:graphicData>
        </a:graphic>
      </p:graphicFrame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341313" y="100013"/>
            <a:ext cx="8229600" cy="906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Example 1</a:t>
            </a:r>
            <a:endParaRPr kumimoji="0" lang="en-US" sz="4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Rectangle 4"/>
          <p:cNvSpPr txBox="1">
            <a:spLocks noChangeArrowheads="1"/>
          </p:cNvSpPr>
          <p:nvPr/>
        </p:nvSpPr>
        <p:spPr>
          <a:xfrm>
            <a:off x="350838" y="1138238"/>
            <a:ext cx="4602162" cy="46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W(n) = 2W(n/2) + n</a:t>
            </a:r>
            <a:r>
              <a:rPr kumimoji="0" lang="en-US" sz="2400" b="0" i="0" u="none" strike="noStrike" kern="1200" cap="none" spc="0" normalizeH="0" baseline="3000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2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tangle 5"/>
          <p:cNvSpPr txBox="1">
            <a:spLocks noChangeArrowheads="1"/>
          </p:cNvSpPr>
          <p:nvPr/>
        </p:nvSpPr>
        <p:spPr>
          <a:xfrm>
            <a:off x="304800" y="4343400"/>
            <a:ext cx="8610600" cy="2514600"/>
          </a:xfrm>
          <a:prstGeom prst="rect">
            <a:avLst/>
          </a:prstGeom>
        </p:spPr>
        <p:txBody>
          <a:bodyPr/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Subproblem size at level i is: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n/2</a:t>
            </a:r>
            <a:r>
              <a:rPr kumimoji="0" lang="en-US" sz="2000" b="0" i="0" u="none" strike="noStrike" kern="1200" cap="none" spc="0" normalizeH="0" baseline="3000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i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Subproblem size hits 1 when 1 =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n/2</a:t>
            </a:r>
            <a:r>
              <a:rPr kumimoji="0" lang="en-US" sz="2000" b="0" i="0" u="none" strike="noStrike" kern="1200" cap="none" spc="0" normalizeH="0" baseline="3000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i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Arial" pitchFamily="34" charset="0"/>
                <a:sym typeface="Symbol" pitchFamily="18" charset="2"/>
              </a:rPr>
              <a:t> i = lgn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  <a:sym typeface="Symbol" pitchFamily="18" charset="2"/>
              </a:rPr>
              <a:t>Cost of the problem at level i = (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n/2</a:t>
            </a:r>
            <a:r>
              <a:rPr kumimoji="0" lang="en-US" sz="2000" b="0" i="0" u="none" strike="noStrike" kern="1200" cap="none" spc="0" normalizeH="0" baseline="3000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i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)</a:t>
            </a:r>
            <a:r>
              <a:rPr kumimoji="0" lang="en-US" sz="2000" b="0" i="0" u="none" strike="noStrike" kern="1200" cap="none" spc="0" normalizeH="0" baseline="3000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2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    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No. of nodes at level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i = 2</a:t>
            </a:r>
            <a:r>
              <a:rPr kumimoji="0" lang="en-US" sz="2000" b="0" i="0" u="none" strike="noStrike" kern="1200" cap="none" spc="0" normalizeH="0" baseline="3000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i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sz="2000" b="0" i="0" u="none" strike="noStrike" kern="1200" cap="none" spc="0" normalizeH="0" baseline="3000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Total cost: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	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Arial" pitchFamily="34" charset="0"/>
                <a:sym typeface="Symbol" pitchFamily="18" charset="2"/>
              </a:rPr>
              <a:t>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W(n) = O(n</a:t>
            </a:r>
            <a:r>
              <a:rPr kumimoji="0" lang="en-US" sz="2000" b="0" i="0" u="none" strike="noStrike" kern="1200" cap="none" spc="0" normalizeH="0" baseline="3000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2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)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graphicFrame>
        <p:nvGraphicFramePr>
          <p:cNvPr id="9" name="Object 6"/>
          <p:cNvGraphicFramePr>
            <a:graphicFrameLocks noChangeAspect="1"/>
          </p:cNvGraphicFramePr>
          <p:nvPr/>
        </p:nvGraphicFramePr>
        <p:xfrm>
          <a:off x="1825625" y="5545138"/>
          <a:ext cx="6948488" cy="711200"/>
        </p:xfrm>
        <a:graphic>
          <a:graphicData uri="http://schemas.openxmlformats.org/presentationml/2006/ole">
            <p:oleObj spid="_x0000_s1027" name="Equation" r:id="rId4" imgW="5219640" imgH="53316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</p:spPr>
        <p:txBody>
          <a:bodyPr/>
          <a:lstStyle/>
          <a:p>
            <a:fld id="{CD29C3A9-B622-4E91-ACCA-9E26BD1F692A}" type="slidenum">
              <a:rPr lang="en-US"/>
              <a:pPr/>
              <a:t>10</a:t>
            </a:fld>
            <a:endParaRPr lang="en-US"/>
          </a:p>
        </p:txBody>
      </p:sp>
      <p:pic>
        <p:nvPicPr>
          <p:cNvPr id="5" name="Picture 2" descr="fig4_1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" y="1241425"/>
            <a:ext cx="8763000" cy="2720975"/>
          </a:xfrm>
          <a:prstGeom prst="rect">
            <a:avLst/>
          </a:prstGeom>
          <a:noFill/>
        </p:spPr>
      </p:pic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341313" y="100013"/>
            <a:ext cx="8229600" cy="906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Example 2</a:t>
            </a:r>
            <a:endParaRPr kumimoji="0" lang="en-US" sz="4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Rectangle 4"/>
          <p:cNvSpPr txBox="1">
            <a:spLocks noChangeArrowheads="1"/>
          </p:cNvSpPr>
          <p:nvPr/>
        </p:nvSpPr>
        <p:spPr>
          <a:xfrm>
            <a:off x="350838" y="1214438"/>
            <a:ext cx="8335962" cy="614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33400" marR="0" lvl="0" indent="-5334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DD0111"/>
                </a:solidFill>
                <a:effectLst/>
                <a:uLnTx/>
                <a:uFillTx/>
                <a:latin typeface="Monotype Corsiva" pitchFamily="66" charset="0"/>
                <a:ea typeface="+mn-ea"/>
                <a:cs typeface="+mn-cs"/>
              </a:rPr>
              <a:t>E.g.: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T(n) = 3T(n/4) + cn</a:t>
            </a:r>
            <a:r>
              <a:rPr kumimoji="0" lang="en-US" sz="2400" b="0" i="0" u="none" strike="noStrike" kern="1200" cap="none" spc="0" normalizeH="0" baseline="3000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2</a:t>
            </a:r>
            <a:endParaRPr kumimoji="0" lang="en-US" sz="2400" b="0" i="0" u="none" strike="noStrike" kern="1200" cap="none" spc="0" normalizeH="0" baseline="3000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304800" y="3886200"/>
            <a:ext cx="86106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457200" indent="-457200">
              <a:spcBef>
                <a:spcPct val="20000"/>
              </a:spcBef>
              <a:buFontTx/>
              <a:buChar char="•"/>
            </a:pPr>
            <a:r>
              <a:rPr lang="en-US" sz="2000" dirty="0" err="1">
                <a:solidFill>
                  <a:schemeClr val="accent2"/>
                </a:solidFill>
              </a:rPr>
              <a:t>Subproblem</a:t>
            </a:r>
            <a:r>
              <a:rPr lang="en-US" sz="2000" dirty="0">
                <a:solidFill>
                  <a:schemeClr val="accent2"/>
                </a:solidFill>
              </a:rPr>
              <a:t> size at level </a:t>
            </a:r>
            <a:r>
              <a:rPr lang="en-US" sz="2000" dirty="0" err="1">
                <a:solidFill>
                  <a:schemeClr val="accent2"/>
                </a:solidFill>
              </a:rPr>
              <a:t>i</a:t>
            </a:r>
            <a:r>
              <a:rPr lang="en-US" sz="2000" dirty="0">
                <a:solidFill>
                  <a:schemeClr val="accent2"/>
                </a:solidFill>
              </a:rPr>
              <a:t> is: </a:t>
            </a:r>
            <a:r>
              <a:rPr lang="en-US" sz="2000" dirty="0">
                <a:solidFill>
                  <a:schemeClr val="accent2"/>
                </a:solidFill>
                <a:latin typeface="Comic Sans MS" pitchFamily="66" charset="0"/>
              </a:rPr>
              <a:t>n/4</a:t>
            </a:r>
            <a:r>
              <a:rPr lang="en-US" sz="2000" baseline="30000" dirty="0">
                <a:solidFill>
                  <a:schemeClr val="accent2"/>
                </a:solidFill>
                <a:latin typeface="Comic Sans MS" pitchFamily="66" charset="0"/>
              </a:rPr>
              <a:t>i</a:t>
            </a:r>
          </a:p>
          <a:p>
            <a:pPr marL="457200" indent="-457200">
              <a:spcBef>
                <a:spcPct val="20000"/>
              </a:spcBef>
              <a:buFontTx/>
              <a:buChar char="•"/>
            </a:pPr>
            <a:r>
              <a:rPr lang="en-US" sz="2000" dirty="0" err="1">
                <a:solidFill>
                  <a:schemeClr val="accent2"/>
                </a:solidFill>
              </a:rPr>
              <a:t>Subproblem</a:t>
            </a:r>
            <a:r>
              <a:rPr lang="en-US" sz="2000" dirty="0">
                <a:solidFill>
                  <a:schemeClr val="accent2"/>
                </a:solidFill>
              </a:rPr>
              <a:t> size hits 1 when 1 = </a:t>
            </a:r>
            <a:r>
              <a:rPr lang="en-US" sz="2000" dirty="0">
                <a:solidFill>
                  <a:schemeClr val="accent2"/>
                </a:solidFill>
                <a:latin typeface="Comic Sans MS" pitchFamily="66" charset="0"/>
              </a:rPr>
              <a:t>n/4</a:t>
            </a:r>
            <a:r>
              <a:rPr lang="en-US" sz="2000" baseline="30000" dirty="0">
                <a:solidFill>
                  <a:schemeClr val="accent2"/>
                </a:solidFill>
                <a:latin typeface="Comic Sans MS" pitchFamily="66" charset="0"/>
              </a:rPr>
              <a:t>i </a:t>
            </a:r>
            <a:r>
              <a:rPr lang="en-US" sz="2000" dirty="0">
                <a:solidFill>
                  <a:schemeClr val="accent2"/>
                </a:solidFill>
                <a:latin typeface="Comic Sans MS" pitchFamily="66" charset="0"/>
                <a:cs typeface="Arial" pitchFamily="34" charset="0"/>
                <a:sym typeface="Symbol" pitchFamily="18" charset="2"/>
              </a:rPr>
              <a:t> </a:t>
            </a:r>
            <a:r>
              <a:rPr lang="en-US" sz="2000" dirty="0" err="1">
                <a:solidFill>
                  <a:schemeClr val="accent2"/>
                </a:solidFill>
                <a:latin typeface="Comic Sans MS" pitchFamily="66" charset="0"/>
                <a:cs typeface="Arial" pitchFamily="34" charset="0"/>
                <a:sym typeface="Symbol" pitchFamily="18" charset="2"/>
              </a:rPr>
              <a:t>i</a:t>
            </a:r>
            <a:r>
              <a:rPr lang="en-US" sz="2000" dirty="0">
                <a:solidFill>
                  <a:schemeClr val="accent2"/>
                </a:solidFill>
                <a:latin typeface="Comic Sans MS" pitchFamily="66" charset="0"/>
                <a:cs typeface="Arial" pitchFamily="34" charset="0"/>
                <a:sym typeface="Symbol" pitchFamily="18" charset="2"/>
              </a:rPr>
              <a:t> = log</a:t>
            </a:r>
            <a:r>
              <a:rPr lang="en-US" sz="2000" baseline="-25000" dirty="0">
                <a:solidFill>
                  <a:schemeClr val="accent2"/>
                </a:solidFill>
                <a:latin typeface="Comic Sans MS" pitchFamily="66" charset="0"/>
                <a:cs typeface="Arial" pitchFamily="34" charset="0"/>
                <a:sym typeface="Symbol" pitchFamily="18" charset="2"/>
              </a:rPr>
              <a:t>4</a:t>
            </a:r>
            <a:r>
              <a:rPr lang="en-US" sz="2000" dirty="0">
                <a:solidFill>
                  <a:schemeClr val="accent2"/>
                </a:solidFill>
                <a:latin typeface="Comic Sans MS" pitchFamily="66" charset="0"/>
                <a:cs typeface="Arial" pitchFamily="34" charset="0"/>
                <a:sym typeface="Symbol" pitchFamily="18" charset="2"/>
              </a:rPr>
              <a:t>n</a:t>
            </a:r>
          </a:p>
          <a:p>
            <a:pPr marL="457200" indent="-457200">
              <a:spcBef>
                <a:spcPct val="20000"/>
              </a:spcBef>
              <a:buFontTx/>
              <a:buChar char="•"/>
            </a:pPr>
            <a:r>
              <a:rPr lang="en-US" sz="2000" dirty="0">
                <a:solidFill>
                  <a:schemeClr val="accent2"/>
                </a:solidFill>
                <a:cs typeface="Arial" pitchFamily="34" charset="0"/>
                <a:sym typeface="Symbol" pitchFamily="18" charset="2"/>
              </a:rPr>
              <a:t>Cost of a node at level </a:t>
            </a:r>
            <a:r>
              <a:rPr lang="en-US" sz="2000" dirty="0" err="1">
                <a:solidFill>
                  <a:schemeClr val="accent2"/>
                </a:solidFill>
                <a:cs typeface="Arial" pitchFamily="34" charset="0"/>
                <a:sym typeface="Symbol" pitchFamily="18" charset="2"/>
              </a:rPr>
              <a:t>i</a:t>
            </a:r>
            <a:r>
              <a:rPr lang="en-US" sz="2000" dirty="0">
                <a:solidFill>
                  <a:schemeClr val="accent2"/>
                </a:solidFill>
                <a:cs typeface="Arial" pitchFamily="34" charset="0"/>
                <a:sym typeface="Symbol" pitchFamily="18" charset="2"/>
              </a:rPr>
              <a:t> = c(</a:t>
            </a:r>
            <a:r>
              <a:rPr lang="en-US" sz="2000" dirty="0">
                <a:solidFill>
                  <a:schemeClr val="accent2"/>
                </a:solidFill>
                <a:latin typeface="Comic Sans MS" pitchFamily="66" charset="0"/>
              </a:rPr>
              <a:t>n/4</a:t>
            </a:r>
            <a:r>
              <a:rPr lang="en-US" sz="2000" baseline="30000" dirty="0">
                <a:solidFill>
                  <a:schemeClr val="accent2"/>
                </a:solidFill>
                <a:latin typeface="Comic Sans MS" pitchFamily="66" charset="0"/>
              </a:rPr>
              <a:t>i</a:t>
            </a:r>
            <a:r>
              <a:rPr lang="en-US" sz="2000" dirty="0">
                <a:solidFill>
                  <a:schemeClr val="accent2"/>
                </a:solidFill>
                <a:latin typeface="Comic Sans MS" pitchFamily="66" charset="0"/>
              </a:rPr>
              <a:t>)</a:t>
            </a:r>
            <a:r>
              <a:rPr lang="en-US" sz="2000" baseline="30000" dirty="0">
                <a:solidFill>
                  <a:schemeClr val="accent2"/>
                </a:solidFill>
                <a:latin typeface="Comic Sans MS" pitchFamily="66" charset="0"/>
              </a:rPr>
              <a:t>2</a:t>
            </a:r>
          </a:p>
          <a:p>
            <a:pPr marL="457200" indent="-457200">
              <a:spcBef>
                <a:spcPct val="20000"/>
              </a:spcBef>
              <a:buFontTx/>
              <a:buChar char="•"/>
            </a:pPr>
            <a:r>
              <a:rPr lang="en-US" sz="2000" dirty="0">
                <a:solidFill>
                  <a:schemeClr val="accent2"/>
                </a:solidFill>
              </a:rPr>
              <a:t>Number of nodes at level </a:t>
            </a:r>
            <a:r>
              <a:rPr lang="en-US" sz="2000" dirty="0" err="1">
                <a:solidFill>
                  <a:schemeClr val="accent2"/>
                </a:solidFill>
              </a:rPr>
              <a:t>i</a:t>
            </a:r>
            <a:r>
              <a:rPr lang="en-US" sz="2000" dirty="0">
                <a:solidFill>
                  <a:schemeClr val="accent2"/>
                </a:solidFill>
              </a:rPr>
              <a:t> = 3</a:t>
            </a:r>
            <a:r>
              <a:rPr lang="en-US" sz="2000" baseline="30000" dirty="0">
                <a:solidFill>
                  <a:schemeClr val="accent2"/>
                </a:solidFill>
              </a:rPr>
              <a:t>i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Comic Sans MS" pitchFamily="66" charset="0"/>
                <a:cs typeface="Arial" pitchFamily="34" charset="0"/>
                <a:sym typeface="Symbol" pitchFamily="18" charset="2"/>
              </a:rPr>
              <a:t> </a:t>
            </a:r>
            <a:r>
              <a:rPr lang="en-US" sz="2000" dirty="0">
                <a:solidFill>
                  <a:schemeClr val="accent2"/>
                </a:solidFill>
                <a:cs typeface="Arial" pitchFamily="34" charset="0"/>
                <a:sym typeface="Symbol" pitchFamily="18" charset="2"/>
              </a:rPr>
              <a:t>last level has</a:t>
            </a:r>
            <a:r>
              <a:rPr lang="en-US" sz="2000" dirty="0">
                <a:solidFill>
                  <a:schemeClr val="accent2"/>
                </a:solidFill>
                <a:latin typeface="Comic Sans MS" pitchFamily="66" charset="0"/>
                <a:cs typeface="Arial" pitchFamily="34" charset="0"/>
                <a:sym typeface="Symbol" pitchFamily="18" charset="2"/>
              </a:rPr>
              <a:t> 3</a:t>
            </a:r>
            <a:r>
              <a:rPr lang="en-US" sz="2000" baseline="30000" dirty="0">
                <a:solidFill>
                  <a:schemeClr val="accent2"/>
                </a:solidFill>
                <a:latin typeface="Comic Sans MS" pitchFamily="66" charset="0"/>
                <a:cs typeface="Arial" pitchFamily="34" charset="0"/>
                <a:sym typeface="Symbol" pitchFamily="18" charset="2"/>
              </a:rPr>
              <a:t>log</a:t>
            </a:r>
            <a:r>
              <a:rPr lang="en-US" sz="2000" baseline="-25000" dirty="0">
                <a:solidFill>
                  <a:schemeClr val="accent2"/>
                </a:solidFill>
                <a:latin typeface="Comic Sans MS" pitchFamily="66" charset="0"/>
                <a:cs typeface="Arial" pitchFamily="34" charset="0"/>
                <a:sym typeface="Symbol" pitchFamily="18" charset="2"/>
              </a:rPr>
              <a:t>4</a:t>
            </a:r>
            <a:r>
              <a:rPr lang="en-US" sz="2000" baseline="30000" dirty="0">
                <a:solidFill>
                  <a:schemeClr val="accent2"/>
                </a:solidFill>
                <a:latin typeface="Comic Sans MS" pitchFamily="66" charset="0"/>
                <a:cs typeface="Arial" pitchFamily="34" charset="0"/>
                <a:sym typeface="Symbol" pitchFamily="18" charset="2"/>
              </a:rPr>
              <a:t>n </a:t>
            </a:r>
            <a:r>
              <a:rPr lang="en-US" sz="2000" dirty="0">
                <a:solidFill>
                  <a:schemeClr val="accent2"/>
                </a:solidFill>
                <a:latin typeface="Comic Sans MS" pitchFamily="66" charset="0"/>
                <a:cs typeface="Arial" pitchFamily="34" charset="0"/>
                <a:sym typeface="Symbol" pitchFamily="18" charset="2"/>
              </a:rPr>
              <a:t>= n</a:t>
            </a:r>
            <a:r>
              <a:rPr lang="en-US" sz="2000" baseline="30000" dirty="0">
                <a:solidFill>
                  <a:schemeClr val="accent2"/>
                </a:solidFill>
                <a:latin typeface="Comic Sans MS" pitchFamily="66" charset="0"/>
                <a:cs typeface="Arial" pitchFamily="34" charset="0"/>
                <a:sym typeface="Symbol" pitchFamily="18" charset="2"/>
              </a:rPr>
              <a:t>log</a:t>
            </a:r>
            <a:r>
              <a:rPr lang="en-US" sz="2000" baseline="-25000" dirty="0">
                <a:solidFill>
                  <a:schemeClr val="accent2"/>
                </a:solidFill>
                <a:latin typeface="Comic Sans MS" pitchFamily="66" charset="0"/>
                <a:cs typeface="Arial" pitchFamily="34" charset="0"/>
                <a:sym typeface="Symbol" pitchFamily="18" charset="2"/>
              </a:rPr>
              <a:t>4</a:t>
            </a:r>
            <a:r>
              <a:rPr lang="en-US" sz="2000" baseline="30000" dirty="0">
                <a:solidFill>
                  <a:schemeClr val="accent2"/>
                </a:solidFill>
                <a:latin typeface="Comic Sans MS" pitchFamily="66" charset="0"/>
                <a:cs typeface="Arial" pitchFamily="34" charset="0"/>
                <a:sym typeface="Symbol" pitchFamily="18" charset="2"/>
              </a:rPr>
              <a:t>3</a:t>
            </a:r>
            <a:r>
              <a:rPr lang="en-US" sz="2000" dirty="0">
                <a:solidFill>
                  <a:schemeClr val="accent2"/>
                </a:solidFill>
                <a:latin typeface="Comic Sans MS" pitchFamily="66" charset="0"/>
                <a:cs typeface="Arial" pitchFamily="34" charset="0"/>
                <a:sym typeface="Symbol" pitchFamily="18" charset="2"/>
              </a:rPr>
              <a:t> </a:t>
            </a:r>
            <a:r>
              <a:rPr lang="en-US" sz="2000" dirty="0">
                <a:solidFill>
                  <a:schemeClr val="accent2"/>
                </a:solidFill>
                <a:cs typeface="Arial" pitchFamily="34" charset="0"/>
                <a:sym typeface="Symbol" pitchFamily="18" charset="2"/>
              </a:rPr>
              <a:t>nodes</a:t>
            </a:r>
            <a:endParaRPr lang="en-US" sz="2000" dirty="0">
              <a:solidFill>
                <a:schemeClr val="accent2"/>
              </a:solidFill>
            </a:endParaRPr>
          </a:p>
          <a:p>
            <a:pPr marL="457200" indent="-457200">
              <a:spcBef>
                <a:spcPct val="20000"/>
              </a:spcBef>
              <a:buFontTx/>
              <a:buChar char="•"/>
            </a:pPr>
            <a:r>
              <a:rPr lang="en-US" sz="2000" dirty="0">
                <a:solidFill>
                  <a:schemeClr val="accent2"/>
                </a:solidFill>
              </a:rPr>
              <a:t>Total cost: </a:t>
            </a:r>
          </a:p>
          <a:p>
            <a:pPr marL="457200" indent="-457200">
              <a:spcBef>
                <a:spcPct val="20000"/>
              </a:spcBef>
              <a:buFontTx/>
              <a:buChar char="•"/>
            </a:pPr>
            <a:endParaRPr lang="en-US" sz="2000" dirty="0">
              <a:solidFill>
                <a:schemeClr val="accent2"/>
              </a:solidFill>
            </a:endParaRPr>
          </a:p>
          <a:p>
            <a:pPr marL="457200" indent="-457200">
              <a:spcBef>
                <a:spcPct val="20000"/>
              </a:spcBef>
              <a:buFontTx/>
              <a:buChar char="•"/>
            </a:pPr>
            <a:endParaRPr lang="en-US" sz="2000" dirty="0">
              <a:solidFill>
                <a:schemeClr val="accent2"/>
              </a:solidFill>
            </a:endParaRPr>
          </a:p>
          <a:p>
            <a:pPr marL="457200" indent="-457200">
              <a:spcBef>
                <a:spcPct val="20000"/>
              </a:spcBef>
            </a:pPr>
            <a:r>
              <a:rPr lang="en-US" sz="2000" dirty="0">
                <a:solidFill>
                  <a:schemeClr val="accent2"/>
                </a:solidFill>
                <a:latin typeface="Comic Sans MS" pitchFamily="66" charset="0"/>
              </a:rPr>
              <a:t>	 </a:t>
            </a:r>
            <a:r>
              <a:rPr lang="en-US" sz="2000" dirty="0">
                <a:solidFill>
                  <a:schemeClr val="accent2"/>
                </a:solidFill>
                <a:latin typeface="Comic Sans MS" pitchFamily="66" charset="0"/>
                <a:cs typeface="Arial" pitchFamily="34" charset="0"/>
                <a:sym typeface="Symbol" pitchFamily="18" charset="2"/>
              </a:rPr>
              <a:t> </a:t>
            </a:r>
            <a:r>
              <a:rPr lang="en-US" sz="2000" dirty="0">
                <a:solidFill>
                  <a:schemeClr val="accent2"/>
                </a:solidFill>
                <a:latin typeface="Comic Sans MS" pitchFamily="66" charset="0"/>
              </a:rPr>
              <a:t>T(n) = O(n</a:t>
            </a:r>
            <a:r>
              <a:rPr lang="en-US" sz="2000" baseline="30000" dirty="0">
                <a:solidFill>
                  <a:schemeClr val="accent2"/>
                </a:solidFill>
                <a:latin typeface="Comic Sans MS" pitchFamily="66" charset="0"/>
              </a:rPr>
              <a:t>2</a:t>
            </a:r>
            <a:r>
              <a:rPr lang="en-US" sz="2000" dirty="0">
                <a:solidFill>
                  <a:schemeClr val="accent2"/>
                </a:solidFill>
                <a:latin typeface="Comic Sans MS" pitchFamily="66" charset="0"/>
              </a:rPr>
              <a:t>)</a:t>
            </a:r>
          </a:p>
        </p:txBody>
      </p:sp>
      <p:graphicFrame>
        <p:nvGraphicFramePr>
          <p:cNvPr id="9" name="Object 6"/>
          <p:cNvGraphicFramePr>
            <a:graphicFrameLocks noChangeAspect="1"/>
          </p:cNvGraphicFramePr>
          <p:nvPr/>
        </p:nvGraphicFramePr>
        <p:xfrm>
          <a:off x="838200" y="5727700"/>
          <a:ext cx="7620000" cy="893763"/>
        </p:xfrm>
        <a:graphic>
          <a:graphicData uri="http://schemas.openxmlformats.org/presentationml/2006/ole">
            <p:oleObj spid="_x0000_s2050" name="Equation" r:id="rId4" imgW="5410080" imgH="63468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Words>544</Words>
  <Application>Microsoft Office PowerPoint</Application>
  <PresentationFormat>On-screen Show (4:3)</PresentationFormat>
  <Paragraphs>135</Paragraphs>
  <Slides>10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Office Theme</vt:lpstr>
      <vt:lpstr>Paint Shop Pro Image</vt:lpstr>
      <vt:lpstr>Microsoft Equation 3.0</vt:lpstr>
      <vt:lpstr>Recurrence Relations</vt:lpstr>
      <vt:lpstr>Recurrence Relation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Recurrence Relations</dc:title>
  <dc:creator>user</dc:creator>
  <cp:lastModifiedBy>user</cp:lastModifiedBy>
  <cp:revision>17</cp:revision>
  <dcterms:created xsi:type="dcterms:W3CDTF">2024-05-23T14:37:44Z</dcterms:created>
  <dcterms:modified xsi:type="dcterms:W3CDTF">2024-05-23T15:21:25Z</dcterms:modified>
</cp:coreProperties>
</file>