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2" r:id="rId1"/>
  </p:sldMasterIdLst>
  <p:notesMasterIdLst>
    <p:notesMasterId r:id="rId11"/>
  </p:notesMasterIdLst>
  <p:sldIdLst>
    <p:sldId id="257" r:id="rId2"/>
    <p:sldId id="256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307" autoAdjust="0"/>
    <p:restoredTop sz="94660"/>
  </p:normalViewPr>
  <p:slideViewPr>
    <p:cSldViewPr>
      <p:cViewPr varScale="1">
        <p:scale>
          <a:sx n="75" d="100"/>
          <a:sy n="75" d="100"/>
        </p:scale>
        <p:origin x="1651" y="4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AEC892E-1D2F-4E0A-974C-845EE4AAF3F3}" type="datetimeFigureOut">
              <a:rPr lang="en-US" smtClean="0"/>
              <a:t>7/26/2024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29091E8-028B-4F5E-A39E-B5D50EA17D01}" type="slidenum">
              <a:rPr lang="en-IN" smtClean="0"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17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29091E8-028B-4F5E-A39E-B5D50EA17D01}" type="slidenum">
              <a:rPr lang="en-IN" smtClean="0"/>
              <a:t>7</a:t>
            </a:fld>
            <a:endParaRPr lang="en-I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758952"/>
            <a:ext cx="75438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38" y="4455621"/>
            <a:ext cx="75438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AD1F44-B6A8-48F3-B27D-519A8A3C7A7E}" type="datetimeFigureOut">
              <a:rPr lang="en-US" smtClean="0"/>
              <a:t>7/26/2024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37A60F-29F6-4C2C-8E9E-ADB51484A88F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337095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AD1F44-B6A8-48F3-B27D-519A8A3C7A7E}" type="datetimeFigureOut">
              <a:rPr lang="en-US" smtClean="0"/>
              <a:t>7/26/2024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37A60F-29F6-4C2C-8E9E-ADB51484A8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74944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758952"/>
            <a:ext cx="75438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4453128"/>
            <a:ext cx="75438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AD1F44-B6A8-48F3-B27D-519A8A3C7A7E}" type="datetimeFigureOut">
              <a:rPr lang="en-US" smtClean="0"/>
              <a:t>7/26/2024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37A60F-29F6-4C2C-8E9E-ADB51484A88F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356198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60" y="1845734"/>
            <a:ext cx="370332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440" y="1845736"/>
            <a:ext cx="3703320" cy="40233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AD1F44-B6A8-48F3-B27D-519A8A3C7A7E}" type="datetimeFigureOut">
              <a:rPr lang="en-US" smtClean="0"/>
              <a:t>7/26/2024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37A60F-29F6-4C2C-8E9E-ADB51484A8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4275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" y="2582334"/>
            <a:ext cx="370332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44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2582334"/>
            <a:ext cx="370332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AD1F44-B6A8-48F3-B27D-519A8A3C7A7E}" type="datetimeFigureOut">
              <a:rPr lang="en-US" smtClean="0"/>
              <a:t>7/26/2024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37A60F-29F6-4C2C-8E9E-ADB51484A8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31001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AD1F44-B6A8-48F3-B27D-519A8A3C7A7E}" type="datetimeFigureOut">
              <a:rPr lang="en-US" smtClean="0"/>
              <a:t>7/26/2024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37A60F-29F6-4C2C-8E9E-ADB51484A8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52918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AD1F44-B6A8-48F3-B27D-519A8A3C7A7E}" type="datetimeFigureOut">
              <a:rPr lang="en-US" smtClean="0"/>
              <a:t>7/26/2024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37A60F-29F6-4C2C-8E9E-ADB51484A8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63513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3" y="0"/>
            <a:ext cx="303809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594359"/>
            <a:ext cx="24003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60237" y="731520"/>
            <a:ext cx="5009393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926080"/>
            <a:ext cx="24003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9134" y="6459786"/>
            <a:ext cx="1963883" cy="365125"/>
          </a:xfrm>
        </p:spPr>
        <p:txBody>
          <a:bodyPr/>
          <a:lstStyle>
            <a:lvl1pPr algn="l">
              <a:defRPr/>
            </a:lvl1pPr>
          </a:lstStyle>
          <a:p>
            <a:fld id="{3BAD1F44-B6A8-48F3-B27D-519A8A3C7A7E}" type="datetimeFigureOut">
              <a:rPr lang="en-US" smtClean="0"/>
              <a:t>7/26/2024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00450" y="6459786"/>
            <a:ext cx="348615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437A60F-29F6-4C2C-8E9E-ADB51484A8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57272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9141619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2" y="491507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074920"/>
            <a:ext cx="7589520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" y="0"/>
            <a:ext cx="9143989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59" y="5907024"/>
            <a:ext cx="7589520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AD1F44-B6A8-48F3-B27D-519A8A3C7A7E}" type="datetimeFigureOut">
              <a:rPr lang="en-US" smtClean="0"/>
              <a:t>7/26/2024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37A60F-29F6-4C2C-8E9E-ADB51484A8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4489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AD1F44-B6A8-48F3-B27D-519A8A3C7A7E}" type="datetimeFigureOut">
              <a:rPr lang="en-US" smtClean="0"/>
              <a:t>7/26/2024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37A60F-29F6-4C2C-8E9E-ADB51484A8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12435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414779"/>
            <a:ext cx="1971675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414779"/>
            <a:ext cx="5800725" cy="5757420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AD1F44-B6A8-48F3-B27D-519A8A3C7A7E}" type="datetimeFigureOut">
              <a:rPr lang="en-US" smtClean="0"/>
              <a:t>7/26/2024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37A60F-29F6-4C2C-8E9E-ADB51484A8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85786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00800"/>
            <a:ext cx="914400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5"/>
            <a:ext cx="9144001" cy="65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59" y="1845734"/>
            <a:ext cx="7543801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3BAD1F44-B6A8-48F3-B27D-519A8A3C7A7E}" type="datetimeFigureOut">
              <a:rPr lang="en-US" smtClean="0"/>
              <a:t>7/26/2024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C437A60F-29F6-4C2C-8E9E-ADB51484A88F}" type="slidenum">
              <a:rPr lang="en-IN" smtClean="0"/>
              <a:t>‹#›</a:t>
            </a:fld>
            <a:endParaRPr lang="en-IN"/>
          </a:p>
        </p:txBody>
      </p:sp>
      <p:cxnSp>
        <p:nvCxnSpPr>
          <p:cNvPr id="10" name="Straight Connector 9"/>
          <p:cNvCxnSpPr/>
          <p:nvPr/>
        </p:nvCxnSpPr>
        <p:spPr>
          <a:xfrm>
            <a:off x="895149" y="1737845"/>
            <a:ext cx="74752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044453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8" r:id="rId6"/>
    <p:sldLayoutId id="2147483709" r:id="rId7"/>
    <p:sldLayoutId id="2147483710" r:id="rId8"/>
    <p:sldLayoutId id="2147483711" r:id="rId9"/>
    <p:sldLayoutId id="2147483712" r:id="rId10"/>
    <p:sldLayoutId id="2147483713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34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457200" y="3311525"/>
            <a:ext cx="8118475" cy="1966913"/>
          </a:xfrm>
          <a:solidFill>
            <a:srgbClr val="CCECFF"/>
          </a:solidFill>
          <a:ln>
            <a:solidFill>
              <a:schemeClr val="tx1"/>
            </a:solidFill>
          </a:ln>
          <a:effectLst>
            <a:outerShdw dist="107763" dir="2700000" algn="ctr" rotWithShape="0">
              <a:schemeClr val="bg2"/>
            </a:outerShdw>
          </a:effectLst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/>
              <a:t>Sorting Techniques</a:t>
            </a:r>
          </a:p>
        </p:txBody>
      </p:sp>
      <p:sp>
        <p:nvSpPr>
          <p:cNvPr id="44134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676400" y="1870075"/>
            <a:ext cx="6691313" cy="638175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dirty="0">
                <a:solidFill>
                  <a:schemeClr val="tx1"/>
                </a:solidFill>
              </a:rPr>
              <a:t>Topic 1.3.1</a:t>
            </a:r>
          </a:p>
        </p:txBody>
      </p:sp>
      <p:sp>
        <p:nvSpPr>
          <p:cNvPr id="12292" name="Rectangle 4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6442075" y="6356350"/>
            <a:ext cx="2133600" cy="365125"/>
          </a:xfrm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>
                <a:solidFill>
                  <a:srgbClr val="3333FF"/>
                </a:solidFill>
              </a:rPr>
              <a:t>By:  Er.Bhavneet Kaur</a:t>
            </a:r>
          </a:p>
          <a:p>
            <a:r>
              <a:rPr lang="en-US">
                <a:solidFill>
                  <a:srgbClr val="3333FF"/>
                </a:solidFill>
              </a:rPr>
              <a:t>Master Subject Co-ordinator</a:t>
            </a:r>
          </a:p>
          <a:p>
            <a:r>
              <a:rPr lang="en-US">
                <a:solidFill>
                  <a:srgbClr val="3333FF"/>
                </a:solidFill>
              </a:rPr>
              <a:t>CSE 2</a:t>
            </a:r>
            <a:r>
              <a:rPr lang="en-US" baseline="30000">
                <a:solidFill>
                  <a:srgbClr val="3333FF"/>
                </a:solidFill>
              </a:rPr>
              <a:t>nd</a:t>
            </a:r>
            <a:r>
              <a:rPr lang="en-US">
                <a:solidFill>
                  <a:srgbClr val="3333FF"/>
                </a:solidFill>
              </a:rPr>
              <a:t> Year</a:t>
            </a:r>
          </a:p>
        </p:txBody>
      </p:sp>
      <p:pic>
        <p:nvPicPr>
          <p:cNvPr id="12293" name="Picture 6" descr="https://ci4.googleusercontent.com/proxy/7KvR-kRK3h7JaTZdC5LfUjZeoVi7udcXN-eI91UxZqH1jXErPCYekBHdctGNLcSvYKklWK0PTg4obc4ygBkyIsS5KGzloTjlsH4tG6re3zQHs6mTTzZ5ZJ5pQHLN1ZKWTFYSRZ8YU3U27y9-9rnsEyo-yufbHI8sgJvbOXgFe0o2_ayRi1YB_x5s62_RbI1j6N4ifqiQahsNqemuyg=s0-d-e1-ft#https://docs.google.com/uc?export=download&amp;id=1R2CcZSsfQjqMnWIKGHnqT3u99QqSIUUS&amp;revid=0B3ek2dwmVFlucjN2Rk9Ncmh5N1JjN3dSNnhLY1RMTE9UWFlRPQ"/>
          <p:cNvPicPr>
            <a:picLocks noChangeAspect="1" noChangeArrowheads="1" noCrop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76213" y="587375"/>
            <a:ext cx="1905000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4">
            <a:extLst>
              <a:ext uri="{FF2B5EF4-FFF2-40B4-BE49-F238E27FC236}">
                <a16:creationId xmlns:a16="http://schemas.microsoft.com/office/drawing/2014/main" id="{B72DCCC2-AE91-4634-A715-5AAB975D49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20713" y="6257751"/>
            <a:ext cx="421923" cy="274320"/>
          </a:xfrm>
        </p:spPr>
        <p:txBody>
          <a:bodyPr/>
          <a:lstStyle/>
          <a:p>
            <a:fld id="{659665DE-58FC-41F4-AC58-2C90A5E00527}" type="slidenum">
              <a:rPr lang="en-US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2</a:t>
            </a:fld>
            <a:endParaRPr lang="en-US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E93CE37C-5739-4BE8-9AC7-33B4550D61E2}"/>
              </a:ext>
            </a:extLst>
          </p:cNvPr>
          <p:cNvSpPr txBox="1">
            <a:spLocks/>
          </p:cNvSpPr>
          <p:nvPr/>
        </p:nvSpPr>
        <p:spPr>
          <a:xfrm>
            <a:off x="214282" y="0"/>
            <a:ext cx="11187259" cy="10146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Sort Approaches</a:t>
            </a:r>
            <a:endParaRPr kumimoji="0" lang="en-US" sz="44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EC7B9E15-41F9-4C4D-8C28-512F58778CF2}"/>
              </a:ext>
            </a:extLst>
          </p:cNvPr>
          <p:cNvSpPr txBox="1">
            <a:spLocks/>
          </p:cNvSpPr>
          <p:nvPr/>
        </p:nvSpPr>
        <p:spPr>
          <a:xfrm>
            <a:off x="214280" y="1107624"/>
            <a:ext cx="7470116" cy="1608952"/>
          </a:xfrm>
          <a:prstGeom prst="rect">
            <a:avLst/>
          </a:prstGeom>
          <a:ln>
            <a:solidFill>
              <a:srgbClr val="B6A479"/>
            </a:solidFill>
          </a:ln>
        </p:spPr>
        <p:txBody>
          <a:bodyPr vert="horz" lIns="91440" tIns="45720" rIns="91440" bIns="45720" rtlCol="0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In Place sort</a:t>
            </a: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A sorting algorithm is in-place if it requires only O(1) extra space to sort the array</a:t>
            </a: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Typically modifies the input collection</a:t>
            </a: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Useful to minimize memory usage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C49D663A-49AE-47EE-96C4-85F588D0A078}"/>
              </a:ext>
            </a:extLst>
          </p:cNvPr>
          <p:cNvSpPr txBox="1">
            <a:spLocks/>
          </p:cNvSpPr>
          <p:nvPr/>
        </p:nvSpPr>
        <p:spPr>
          <a:xfrm>
            <a:off x="836942" y="2781077"/>
            <a:ext cx="7767506" cy="3476674"/>
          </a:xfrm>
          <a:prstGeom prst="rect">
            <a:avLst/>
          </a:prstGeom>
          <a:ln>
            <a:solidFill>
              <a:srgbClr val="B6A479"/>
            </a:solidFill>
          </a:ln>
        </p:spPr>
        <p:txBody>
          <a:bodyPr vert="horz" lIns="45720" tIns="45720" rIns="4572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Tw Cen MT" panose="020B0602020104020603" pitchFamily="34" charset="0"/>
              <a:buChar char=" "/>
              <a:defRPr sz="2200" kern="1200">
                <a:solidFill>
                  <a:schemeClr val="tx1"/>
                </a:solidFill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lvl1pPr>
            <a:lvl2pPr marL="26517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rgbClr val="B6A479"/>
              </a:buClr>
              <a:buFont typeface="Segoe UI Semilight" panose="020B0402040204020203" pitchFamily="34" charset="0"/>
              <a:buChar char="-"/>
              <a:defRPr sz="1800" kern="1200">
                <a:solidFill>
                  <a:schemeClr val="tx1"/>
                </a:solidFill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lvl2pPr>
            <a:lvl3pPr marL="4480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rgbClr val="B6A479"/>
              </a:buClr>
              <a:buFont typeface="Segoe UI Semilight" panose="020B0402040204020203" pitchFamily="34" charset="0"/>
              <a:buChar char="-"/>
              <a:defRPr sz="1400" kern="1200">
                <a:solidFill>
                  <a:schemeClr val="tx1"/>
                </a:solidFill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lvl3pPr>
            <a:lvl4pPr marL="59436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rgbClr val="B6A479"/>
              </a:buClr>
              <a:buFont typeface="Segoe UI Semilight" panose="020B0402040204020203" pitchFamily="34" charset="0"/>
              <a:buChar char="-"/>
              <a:defRPr sz="1400" kern="1200">
                <a:solidFill>
                  <a:schemeClr val="tx1"/>
                </a:solidFill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lvl4pPr>
            <a:lvl5pPr marL="77724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rgbClr val="B6A479"/>
              </a:buClr>
              <a:buFont typeface="Segoe UI Semilight" panose="020B0402040204020203" pitchFamily="34" charset="0"/>
              <a:buChar char="-"/>
              <a:defRPr sz="1400" kern="1200">
                <a:solidFill>
                  <a:schemeClr val="tx1"/>
                </a:solidFill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lvl5pPr>
            <a:lvl6pPr marL="9144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0704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16152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624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Stable sort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sorting algorithm is stable if any equal items remain in the same relative order before and after the sort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do we care?</a:t>
            </a:r>
          </a:p>
          <a:p>
            <a:pPr lvl="1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Sometimes we want to sort based on some, but not all attributes of an item</a:t>
            </a:r>
          </a:p>
          <a:p>
            <a:pPr lvl="1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Items that “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compareTo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()” the same might not be exact duplicates</a:t>
            </a:r>
          </a:p>
          <a:p>
            <a:pPr lvl="1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Enables us to sort on one attribute first then another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etc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D03D1C8-F048-4B20-B520-5A3893CFCBE6}"/>
              </a:ext>
            </a:extLst>
          </p:cNvPr>
          <p:cNvSpPr/>
          <p:nvPr/>
        </p:nvSpPr>
        <p:spPr>
          <a:xfrm>
            <a:off x="214282" y="5012177"/>
            <a:ext cx="455765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(8, “fox”)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(9, “dog”), (4, “wolf”),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(8, “cow”)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0761ACD-1DF9-4D76-8E6A-F086E0C3FDBA}"/>
              </a:ext>
            </a:extLst>
          </p:cNvPr>
          <p:cNvSpPr/>
          <p:nvPr/>
        </p:nvSpPr>
        <p:spPr>
          <a:xfrm>
            <a:off x="214281" y="5486881"/>
            <a:ext cx="455765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[(4, “wolf”),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(8, “fox”)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(8, “cow”)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(9, “dog”)]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797039D-0948-4683-A0D7-1505689A945D}"/>
              </a:ext>
            </a:extLst>
          </p:cNvPr>
          <p:cNvSpPr/>
          <p:nvPr/>
        </p:nvSpPr>
        <p:spPr>
          <a:xfrm>
            <a:off x="214281" y="6015225"/>
            <a:ext cx="455765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[(4, “wolf”),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(8, “cow”)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(8, “fox”)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(9, “dog”)]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6A41CFB-5311-4E38-820C-7C76AD6DCACE}"/>
              </a:ext>
            </a:extLst>
          </p:cNvPr>
          <p:cNvSpPr txBox="1"/>
          <p:nvPr/>
        </p:nvSpPr>
        <p:spPr>
          <a:xfrm>
            <a:off x="5000612" y="5464004"/>
            <a:ext cx="787973" cy="369332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Stable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6A06946-575D-4670-9F46-ECDDAFF36CCA}"/>
              </a:ext>
            </a:extLst>
          </p:cNvPr>
          <p:cNvSpPr txBox="1"/>
          <p:nvPr/>
        </p:nvSpPr>
        <p:spPr>
          <a:xfrm>
            <a:off x="4891896" y="5970945"/>
            <a:ext cx="1005403" cy="3693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Unstable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/>
      <p:bldP spid="10" grpId="0"/>
      <p:bldP spid="11" grpId="0"/>
      <p:bldP spid="12" grpId="0" animBg="1"/>
      <p:bldP spid="13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4">
            <a:extLst>
              <a:ext uri="{FF2B5EF4-FFF2-40B4-BE49-F238E27FC236}">
                <a16:creationId xmlns:a16="http://schemas.microsoft.com/office/drawing/2014/main" id="{BBF13A4F-6E02-4448-9CB9-31819E92D9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81670" y="6521027"/>
            <a:ext cx="421923" cy="274320"/>
          </a:xfrm>
        </p:spPr>
        <p:txBody>
          <a:bodyPr/>
          <a:lstStyle/>
          <a:p>
            <a:fld id="{659665DE-58FC-41F4-AC58-2C90A5E00527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3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3FB60DC-7DD1-475C-8857-2356256B1050}"/>
              </a:ext>
            </a:extLst>
          </p:cNvPr>
          <p:cNvSpPr txBox="1">
            <a:spLocks/>
          </p:cNvSpPr>
          <p:nvPr/>
        </p:nvSpPr>
        <p:spPr>
          <a:xfrm>
            <a:off x="395536" y="286604"/>
            <a:ext cx="7597161" cy="87327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Divide and Conquer Technique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79B7EF3-2D97-4870-9C3B-DD02B66C1DAB}"/>
              </a:ext>
            </a:extLst>
          </p:cNvPr>
          <p:cNvSpPr txBox="1">
            <a:spLocks/>
          </p:cNvSpPr>
          <p:nvPr/>
        </p:nvSpPr>
        <p:spPr>
          <a:xfrm>
            <a:off x="179512" y="1151147"/>
            <a:ext cx="11187258" cy="4845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1. Divide your work into smaller pieces recursively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Pieces should be smaller versions of the larger problem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2. Conquer the individual pieces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Base case!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3. Combine the results back up recursively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80F2C6E-15E2-4610-BA73-B9EF62BEEACC}"/>
              </a:ext>
            </a:extLst>
          </p:cNvPr>
          <p:cNvSpPr txBox="1"/>
          <p:nvPr/>
        </p:nvSpPr>
        <p:spPr>
          <a:xfrm>
            <a:off x="1688155" y="4286222"/>
            <a:ext cx="2834430" cy="1815882"/>
          </a:xfrm>
          <a:prstGeom prst="rect">
            <a:avLst/>
          </a:prstGeom>
          <a:noFill/>
          <a:ln>
            <a:solidFill>
              <a:srgbClr val="4C3282"/>
            </a:solidFill>
          </a:ln>
        </p:spPr>
        <p:txBody>
          <a:bodyPr wrap="none" rtlCol="0">
            <a:spAutoFit/>
          </a:bodyPr>
          <a:lstStyle/>
          <a:p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divideAndConquer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(input) {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if (small enough to solve)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conquer, solve, return results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else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divide input into a smaller pieces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recurse on smaller piece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combine results and return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4">
            <a:extLst>
              <a:ext uri="{FF2B5EF4-FFF2-40B4-BE49-F238E27FC236}">
                <a16:creationId xmlns:a16="http://schemas.microsoft.com/office/drawing/2014/main" id="{04805C7B-69F2-40E0-8033-AFD4339A4B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81670" y="6521027"/>
            <a:ext cx="421923" cy="274320"/>
          </a:xfrm>
        </p:spPr>
        <p:txBody>
          <a:bodyPr/>
          <a:lstStyle/>
          <a:p>
            <a:fld id="{659665DE-58FC-41F4-AC58-2C90A5E00527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EC797CFA-F5E4-4AF0-A192-708847412D6E}"/>
              </a:ext>
            </a:extLst>
          </p:cNvPr>
          <p:cNvSpPr txBox="1">
            <a:spLocks/>
          </p:cNvSpPr>
          <p:nvPr/>
        </p:nvSpPr>
        <p:spPr>
          <a:xfrm>
            <a:off x="575239" y="263276"/>
            <a:ext cx="11187259" cy="10146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Merge Sort</a:t>
            </a:r>
          </a:p>
        </p:txBody>
      </p:sp>
      <p:graphicFrame>
        <p:nvGraphicFramePr>
          <p:cNvPr id="8" name="Content Placeholder 6">
            <a:extLst>
              <a:ext uri="{FF2B5EF4-FFF2-40B4-BE49-F238E27FC236}">
                <a16:creationId xmlns:a16="http://schemas.microsoft.com/office/drawing/2014/main" id="{9558B984-31D8-457C-A225-F6688A1F803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88892304"/>
              </p:ext>
            </p:extLst>
          </p:nvPr>
        </p:nvGraphicFramePr>
        <p:xfrm>
          <a:off x="756954" y="1382180"/>
          <a:ext cx="8057440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5744">
                  <a:extLst>
                    <a:ext uri="{9D8B030D-6E8A-4147-A177-3AD203B41FA5}">
                      <a16:colId xmlns:a16="http://schemas.microsoft.com/office/drawing/2014/main" val="983350392"/>
                    </a:ext>
                  </a:extLst>
                </a:gridCol>
                <a:gridCol w="805744">
                  <a:extLst>
                    <a:ext uri="{9D8B030D-6E8A-4147-A177-3AD203B41FA5}">
                      <a16:colId xmlns:a16="http://schemas.microsoft.com/office/drawing/2014/main" val="1314353596"/>
                    </a:ext>
                  </a:extLst>
                </a:gridCol>
                <a:gridCol w="805744">
                  <a:extLst>
                    <a:ext uri="{9D8B030D-6E8A-4147-A177-3AD203B41FA5}">
                      <a16:colId xmlns:a16="http://schemas.microsoft.com/office/drawing/2014/main" val="1726848549"/>
                    </a:ext>
                  </a:extLst>
                </a:gridCol>
                <a:gridCol w="805744">
                  <a:extLst>
                    <a:ext uri="{9D8B030D-6E8A-4147-A177-3AD203B41FA5}">
                      <a16:colId xmlns:a16="http://schemas.microsoft.com/office/drawing/2014/main" val="1921703917"/>
                    </a:ext>
                  </a:extLst>
                </a:gridCol>
                <a:gridCol w="805744">
                  <a:extLst>
                    <a:ext uri="{9D8B030D-6E8A-4147-A177-3AD203B41FA5}">
                      <a16:colId xmlns:a16="http://schemas.microsoft.com/office/drawing/2014/main" val="3051097305"/>
                    </a:ext>
                  </a:extLst>
                </a:gridCol>
                <a:gridCol w="805744">
                  <a:extLst>
                    <a:ext uri="{9D8B030D-6E8A-4147-A177-3AD203B41FA5}">
                      <a16:colId xmlns:a16="http://schemas.microsoft.com/office/drawing/2014/main" val="2072861410"/>
                    </a:ext>
                  </a:extLst>
                </a:gridCol>
                <a:gridCol w="805744">
                  <a:extLst>
                    <a:ext uri="{9D8B030D-6E8A-4147-A177-3AD203B41FA5}">
                      <a16:colId xmlns:a16="http://schemas.microsoft.com/office/drawing/2014/main" val="1356923517"/>
                    </a:ext>
                  </a:extLst>
                </a:gridCol>
                <a:gridCol w="805744">
                  <a:extLst>
                    <a:ext uri="{9D8B030D-6E8A-4147-A177-3AD203B41FA5}">
                      <a16:colId xmlns:a16="http://schemas.microsoft.com/office/drawing/2014/main" val="1527777151"/>
                    </a:ext>
                  </a:extLst>
                </a:gridCol>
                <a:gridCol w="805744">
                  <a:extLst>
                    <a:ext uri="{9D8B030D-6E8A-4147-A177-3AD203B41FA5}">
                      <a16:colId xmlns:a16="http://schemas.microsoft.com/office/drawing/2014/main" val="2267190905"/>
                    </a:ext>
                  </a:extLst>
                </a:gridCol>
                <a:gridCol w="805744">
                  <a:extLst>
                    <a:ext uri="{9D8B030D-6E8A-4147-A177-3AD203B41FA5}">
                      <a16:colId xmlns:a16="http://schemas.microsoft.com/office/drawing/2014/main" val="3060380174"/>
                    </a:ext>
                  </a:extLst>
                </a:gridCol>
              </a:tblGrid>
              <a:tr h="293109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B6A479"/>
                          </a:solidFill>
                        </a:rPr>
                        <a:t>0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B6A479"/>
                          </a:solidFill>
                        </a:rPr>
                        <a:t>1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B6A479"/>
                          </a:solidFill>
                        </a:rPr>
                        <a:t>2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B6A479"/>
                          </a:solidFill>
                        </a:rPr>
                        <a:t>3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B6A479"/>
                          </a:solidFill>
                        </a:rPr>
                        <a:t>4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B6A479"/>
                          </a:solidFill>
                        </a:rPr>
                        <a:t>5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B6A479"/>
                          </a:solidFill>
                        </a:rPr>
                        <a:t>6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B6A479"/>
                          </a:solidFill>
                        </a:rPr>
                        <a:t>7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B6A479"/>
                          </a:solidFill>
                        </a:rPr>
                        <a:t>8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B6A479"/>
                          </a:solidFill>
                        </a:rPr>
                        <a:t>9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74697627"/>
                  </a:ext>
                </a:extLst>
              </a:tr>
              <a:tr h="293109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91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57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0267970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DC8E1364-6594-4321-81E9-E31ACFC907E3}"/>
              </a:ext>
            </a:extLst>
          </p:cNvPr>
          <p:cNvSpPr txBox="1"/>
          <p:nvPr/>
        </p:nvSpPr>
        <p:spPr>
          <a:xfrm>
            <a:off x="329609" y="1425952"/>
            <a:ext cx="8050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Divide</a:t>
            </a:r>
          </a:p>
        </p:txBody>
      </p:sp>
      <p:graphicFrame>
        <p:nvGraphicFramePr>
          <p:cNvPr id="10" name="Content Placeholder 6">
            <a:extLst>
              <a:ext uri="{FF2B5EF4-FFF2-40B4-BE49-F238E27FC236}">
                <a16:creationId xmlns:a16="http://schemas.microsoft.com/office/drawing/2014/main" id="{78FB6CDE-E90A-4DA2-BFF8-13E3B6148CC6}"/>
              </a:ext>
            </a:extLst>
          </p:cNvPr>
          <p:cNvGraphicFramePr>
            <a:graphicFrameLocks/>
          </p:cNvGraphicFramePr>
          <p:nvPr/>
        </p:nvGraphicFramePr>
        <p:xfrm>
          <a:off x="1071538" y="2714620"/>
          <a:ext cx="4572030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6">
                  <a:extLst>
                    <a:ext uri="{9D8B030D-6E8A-4147-A177-3AD203B41FA5}">
                      <a16:colId xmlns:a16="http://schemas.microsoft.com/office/drawing/2014/main" val="983350392"/>
                    </a:ext>
                  </a:extLst>
                </a:gridCol>
                <a:gridCol w="914406">
                  <a:extLst>
                    <a:ext uri="{9D8B030D-6E8A-4147-A177-3AD203B41FA5}">
                      <a16:colId xmlns:a16="http://schemas.microsoft.com/office/drawing/2014/main" val="1314353596"/>
                    </a:ext>
                  </a:extLst>
                </a:gridCol>
                <a:gridCol w="914406">
                  <a:extLst>
                    <a:ext uri="{9D8B030D-6E8A-4147-A177-3AD203B41FA5}">
                      <a16:colId xmlns:a16="http://schemas.microsoft.com/office/drawing/2014/main" val="1726848549"/>
                    </a:ext>
                  </a:extLst>
                </a:gridCol>
                <a:gridCol w="914406">
                  <a:extLst>
                    <a:ext uri="{9D8B030D-6E8A-4147-A177-3AD203B41FA5}">
                      <a16:colId xmlns:a16="http://schemas.microsoft.com/office/drawing/2014/main" val="1921703917"/>
                    </a:ext>
                  </a:extLst>
                </a:gridCol>
                <a:gridCol w="914406">
                  <a:extLst>
                    <a:ext uri="{9D8B030D-6E8A-4147-A177-3AD203B41FA5}">
                      <a16:colId xmlns:a16="http://schemas.microsoft.com/office/drawing/2014/main" val="3051097305"/>
                    </a:ext>
                  </a:extLst>
                </a:gridCol>
              </a:tblGrid>
              <a:tr h="192245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B6A479"/>
                          </a:solidFill>
                        </a:rPr>
                        <a:t>0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B6A479"/>
                          </a:solidFill>
                        </a:rPr>
                        <a:t>1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B6A479"/>
                          </a:solidFill>
                        </a:rPr>
                        <a:t>2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B6A479"/>
                          </a:solidFill>
                        </a:rPr>
                        <a:t>3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B6A479"/>
                          </a:solidFill>
                        </a:rPr>
                        <a:t>4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74697627"/>
                  </a:ext>
                </a:extLst>
              </a:tr>
              <a:tr h="192245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91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57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0267970"/>
                  </a:ext>
                </a:extLst>
              </a:tr>
            </a:tbl>
          </a:graphicData>
        </a:graphic>
      </p:graphicFrame>
      <p:graphicFrame>
        <p:nvGraphicFramePr>
          <p:cNvPr id="11" name="Content Placeholder 6">
            <a:extLst>
              <a:ext uri="{FF2B5EF4-FFF2-40B4-BE49-F238E27FC236}">
                <a16:creationId xmlns:a16="http://schemas.microsoft.com/office/drawing/2014/main" id="{C82347A2-3207-43E3-89D0-EE3912B5C305}"/>
              </a:ext>
            </a:extLst>
          </p:cNvPr>
          <p:cNvGraphicFramePr>
            <a:graphicFrameLocks/>
          </p:cNvGraphicFramePr>
          <p:nvPr/>
        </p:nvGraphicFramePr>
        <p:xfrm>
          <a:off x="6286512" y="2571744"/>
          <a:ext cx="1857390" cy="1010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1478">
                  <a:extLst>
                    <a:ext uri="{9D8B030D-6E8A-4147-A177-3AD203B41FA5}">
                      <a16:colId xmlns:a16="http://schemas.microsoft.com/office/drawing/2014/main" val="2072861410"/>
                    </a:ext>
                  </a:extLst>
                </a:gridCol>
                <a:gridCol w="371478">
                  <a:extLst>
                    <a:ext uri="{9D8B030D-6E8A-4147-A177-3AD203B41FA5}">
                      <a16:colId xmlns:a16="http://schemas.microsoft.com/office/drawing/2014/main" val="1356923517"/>
                    </a:ext>
                  </a:extLst>
                </a:gridCol>
                <a:gridCol w="371478">
                  <a:extLst>
                    <a:ext uri="{9D8B030D-6E8A-4147-A177-3AD203B41FA5}">
                      <a16:colId xmlns:a16="http://schemas.microsoft.com/office/drawing/2014/main" val="1527777151"/>
                    </a:ext>
                  </a:extLst>
                </a:gridCol>
                <a:gridCol w="371478">
                  <a:extLst>
                    <a:ext uri="{9D8B030D-6E8A-4147-A177-3AD203B41FA5}">
                      <a16:colId xmlns:a16="http://schemas.microsoft.com/office/drawing/2014/main" val="2267190905"/>
                    </a:ext>
                  </a:extLst>
                </a:gridCol>
                <a:gridCol w="371478">
                  <a:extLst>
                    <a:ext uri="{9D8B030D-6E8A-4147-A177-3AD203B41FA5}">
                      <a16:colId xmlns:a16="http://schemas.microsoft.com/office/drawing/2014/main" val="306038017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B6A479"/>
                          </a:solidFill>
                        </a:rPr>
                        <a:t>5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B6A479"/>
                          </a:solidFill>
                        </a:rPr>
                        <a:t>6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B6A479"/>
                          </a:solidFill>
                        </a:rPr>
                        <a:t>7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B6A479"/>
                          </a:solidFill>
                        </a:rPr>
                        <a:t>8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B6A479"/>
                          </a:solidFill>
                        </a:rPr>
                        <a:t>9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746976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0267970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44F80A65-D8FD-4BE7-BD97-71CFD79F797B}"/>
              </a:ext>
            </a:extLst>
          </p:cNvPr>
          <p:cNvSpPr txBox="1"/>
          <p:nvPr/>
        </p:nvSpPr>
        <p:spPr>
          <a:xfrm>
            <a:off x="358461" y="3393012"/>
            <a:ext cx="10438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Conquer</a:t>
            </a:r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78C7CE57-CFB3-4316-9D3A-0FE8D037D0AA}"/>
              </a:ext>
            </a:extLst>
          </p:cNvPr>
          <p:cNvGraphicFramePr>
            <a:graphicFrameLocks noGrp="1"/>
          </p:cNvGraphicFramePr>
          <p:nvPr/>
        </p:nvGraphicFramePr>
        <p:xfrm>
          <a:off x="5549545" y="3132959"/>
          <a:ext cx="1007967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7967">
                  <a:extLst>
                    <a:ext uri="{9D8B030D-6E8A-4147-A177-3AD203B41FA5}">
                      <a16:colId xmlns:a16="http://schemas.microsoft.com/office/drawing/2014/main" val="258096422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B6A479"/>
                          </a:solidFill>
                        </a:rPr>
                        <a:t>0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709495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9329120"/>
                  </a:ext>
                </a:extLst>
              </a:tr>
            </a:tbl>
          </a:graphicData>
        </a:graphic>
      </p:graphicFrame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3448CEB1-A1AE-408C-82F5-F050E68F4485}"/>
              </a:ext>
            </a:extLst>
          </p:cNvPr>
          <p:cNvGraphicFramePr>
            <a:graphicFrameLocks noGrp="1"/>
          </p:cNvGraphicFramePr>
          <p:nvPr/>
        </p:nvGraphicFramePr>
        <p:xfrm>
          <a:off x="5553265" y="4102561"/>
          <a:ext cx="1007967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7967">
                  <a:extLst>
                    <a:ext uri="{9D8B030D-6E8A-4147-A177-3AD203B41FA5}">
                      <a16:colId xmlns:a16="http://schemas.microsoft.com/office/drawing/2014/main" val="258096422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B6A479"/>
                          </a:solidFill>
                        </a:rPr>
                        <a:t>0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709495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9329120"/>
                  </a:ext>
                </a:extLst>
              </a:tr>
            </a:tbl>
          </a:graphicData>
        </a:graphic>
      </p:graphicFrame>
      <p:graphicFrame>
        <p:nvGraphicFramePr>
          <p:cNvPr id="15" name="Content Placeholder 6">
            <a:extLst>
              <a:ext uri="{FF2B5EF4-FFF2-40B4-BE49-F238E27FC236}">
                <a16:creationId xmlns:a16="http://schemas.microsoft.com/office/drawing/2014/main" id="{100F61E7-ADAD-4FBA-892F-51EE0BC098F9}"/>
              </a:ext>
            </a:extLst>
          </p:cNvPr>
          <p:cNvGraphicFramePr>
            <a:graphicFrameLocks/>
          </p:cNvGraphicFramePr>
          <p:nvPr/>
        </p:nvGraphicFramePr>
        <p:xfrm>
          <a:off x="509711" y="4966426"/>
          <a:ext cx="3490785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8157">
                  <a:extLst>
                    <a:ext uri="{9D8B030D-6E8A-4147-A177-3AD203B41FA5}">
                      <a16:colId xmlns:a16="http://schemas.microsoft.com/office/drawing/2014/main" val="983350392"/>
                    </a:ext>
                  </a:extLst>
                </a:gridCol>
                <a:gridCol w="698157">
                  <a:extLst>
                    <a:ext uri="{9D8B030D-6E8A-4147-A177-3AD203B41FA5}">
                      <a16:colId xmlns:a16="http://schemas.microsoft.com/office/drawing/2014/main" val="1314353596"/>
                    </a:ext>
                  </a:extLst>
                </a:gridCol>
                <a:gridCol w="698157">
                  <a:extLst>
                    <a:ext uri="{9D8B030D-6E8A-4147-A177-3AD203B41FA5}">
                      <a16:colId xmlns:a16="http://schemas.microsoft.com/office/drawing/2014/main" val="1726848549"/>
                    </a:ext>
                  </a:extLst>
                </a:gridCol>
                <a:gridCol w="698157">
                  <a:extLst>
                    <a:ext uri="{9D8B030D-6E8A-4147-A177-3AD203B41FA5}">
                      <a16:colId xmlns:a16="http://schemas.microsoft.com/office/drawing/2014/main" val="1921703917"/>
                    </a:ext>
                  </a:extLst>
                </a:gridCol>
                <a:gridCol w="698157">
                  <a:extLst>
                    <a:ext uri="{9D8B030D-6E8A-4147-A177-3AD203B41FA5}">
                      <a16:colId xmlns:a16="http://schemas.microsoft.com/office/drawing/2014/main" val="3051097305"/>
                    </a:ext>
                  </a:extLst>
                </a:gridCol>
              </a:tblGrid>
              <a:tr h="241498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B6A479"/>
                          </a:solidFill>
                        </a:rPr>
                        <a:t>0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B6A479"/>
                          </a:solidFill>
                        </a:rPr>
                        <a:t>1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B6A479"/>
                          </a:solidFill>
                        </a:rPr>
                        <a:t>2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B6A479"/>
                          </a:solidFill>
                        </a:rPr>
                        <a:t>3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B6A479"/>
                          </a:solidFill>
                        </a:rPr>
                        <a:t>4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74697627"/>
                  </a:ext>
                </a:extLst>
              </a:tr>
              <a:tr h="241498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57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91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0267970"/>
                  </a:ext>
                </a:extLst>
              </a:tr>
            </a:tbl>
          </a:graphicData>
        </a:graphic>
      </p:graphicFrame>
      <p:graphicFrame>
        <p:nvGraphicFramePr>
          <p:cNvPr id="16" name="Content Placeholder 6">
            <a:extLst>
              <a:ext uri="{FF2B5EF4-FFF2-40B4-BE49-F238E27FC236}">
                <a16:creationId xmlns:a16="http://schemas.microsoft.com/office/drawing/2014/main" id="{8A9A7C2C-E4E7-4044-9983-45BC24348B3E}"/>
              </a:ext>
            </a:extLst>
          </p:cNvPr>
          <p:cNvGraphicFramePr>
            <a:graphicFrameLocks/>
          </p:cNvGraphicFramePr>
          <p:nvPr/>
        </p:nvGraphicFramePr>
        <p:xfrm>
          <a:off x="6286513" y="5010796"/>
          <a:ext cx="2143140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8628">
                  <a:extLst>
                    <a:ext uri="{9D8B030D-6E8A-4147-A177-3AD203B41FA5}">
                      <a16:colId xmlns:a16="http://schemas.microsoft.com/office/drawing/2014/main" val="2072861410"/>
                    </a:ext>
                  </a:extLst>
                </a:gridCol>
                <a:gridCol w="428628">
                  <a:extLst>
                    <a:ext uri="{9D8B030D-6E8A-4147-A177-3AD203B41FA5}">
                      <a16:colId xmlns:a16="http://schemas.microsoft.com/office/drawing/2014/main" val="1356923517"/>
                    </a:ext>
                  </a:extLst>
                </a:gridCol>
                <a:gridCol w="428628">
                  <a:extLst>
                    <a:ext uri="{9D8B030D-6E8A-4147-A177-3AD203B41FA5}">
                      <a16:colId xmlns:a16="http://schemas.microsoft.com/office/drawing/2014/main" val="1527777151"/>
                    </a:ext>
                  </a:extLst>
                </a:gridCol>
                <a:gridCol w="428628">
                  <a:extLst>
                    <a:ext uri="{9D8B030D-6E8A-4147-A177-3AD203B41FA5}">
                      <a16:colId xmlns:a16="http://schemas.microsoft.com/office/drawing/2014/main" val="2267190905"/>
                    </a:ext>
                  </a:extLst>
                </a:gridCol>
                <a:gridCol w="428628">
                  <a:extLst>
                    <a:ext uri="{9D8B030D-6E8A-4147-A177-3AD203B41FA5}">
                      <a16:colId xmlns:a16="http://schemas.microsoft.com/office/drawing/2014/main" val="3060380174"/>
                    </a:ext>
                  </a:extLst>
                </a:gridCol>
              </a:tblGrid>
              <a:tr h="227964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B6A479"/>
                          </a:solidFill>
                        </a:rPr>
                        <a:t>5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B6A479"/>
                          </a:solidFill>
                        </a:rPr>
                        <a:t>6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B6A479"/>
                          </a:solidFill>
                        </a:rPr>
                        <a:t>7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B6A479"/>
                          </a:solidFill>
                        </a:rPr>
                        <a:t>8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B6A479"/>
                          </a:solidFill>
                        </a:rPr>
                        <a:t>9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74697627"/>
                  </a:ext>
                </a:extLst>
              </a:tr>
              <a:tr h="227964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0267970"/>
                  </a:ext>
                </a:extLst>
              </a:tr>
            </a:tbl>
          </a:graphicData>
        </a:graphic>
      </p:graphicFrame>
      <p:graphicFrame>
        <p:nvGraphicFramePr>
          <p:cNvPr id="17" name="Content Placeholder 6">
            <a:extLst>
              <a:ext uri="{FF2B5EF4-FFF2-40B4-BE49-F238E27FC236}">
                <a16:creationId xmlns:a16="http://schemas.microsoft.com/office/drawing/2014/main" id="{ECBAF41D-1C61-4994-B38C-02A6CCF9595D}"/>
              </a:ext>
            </a:extLst>
          </p:cNvPr>
          <p:cNvGraphicFramePr>
            <a:graphicFrameLocks/>
          </p:cNvGraphicFramePr>
          <p:nvPr/>
        </p:nvGraphicFramePr>
        <p:xfrm>
          <a:off x="3643306" y="5852160"/>
          <a:ext cx="3429020" cy="1005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2902">
                  <a:extLst>
                    <a:ext uri="{9D8B030D-6E8A-4147-A177-3AD203B41FA5}">
                      <a16:colId xmlns:a16="http://schemas.microsoft.com/office/drawing/2014/main" val="983350392"/>
                    </a:ext>
                  </a:extLst>
                </a:gridCol>
                <a:gridCol w="342902">
                  <a:extLst>
                    <a:ext uri="{9D8B030D-6E8A-4147-A177-3AD203B41FA5}">
                      <a16:colId xmlns:a16="http://schemas.microsoft.com/office/drawing/2014/main" val="1314353596"/>
                    </a:ext>
                  </a:extLst>
                </a:gridCol>
                <a:gridCol w="342902">
                  <a:extLst>
                    <a:ext uri="{9D8B030D-6E8A-4147-A177-3AD203B41FA5}">
                      <a16:colId xmlns:a16="http://schemas.microsoft.com/office/drawing/2014/main" val="1726848549"/>
                    </a:ext>
                  </a:extLst>
                </a:gridCol>
                <a:gridCol w="342902">
                  <a:extLst>
                    <a:ext uri="{9D8B030D-6E8A-4147-A177-3AD203B41FA5}">
                      <a16:colId xmlns:a16="http://schemas.microsoft.com/office/drawing/2014/main" val="1921703917"/>
                    </a:ext>
                  </a:extLst>
                </a:gridCol>
                <a:gridCol w="342902">
                  <a:extLst>
                    <a:ext uri="{9D8B030D-6E8A-4147-A177-3AD203B41FA5}">
                      <a16:colId xmlns:a16="http://schemas.microsoft.com/office/drawing/2014/main" val="3051097305"/>
                    </a:ext>
                  </a:extLst>
                </a:gridCol>
                <a:gridCol w="342902">
                  <a:extLst>
                    <a:ext uri="{9D8B030D-6E8A-4147-A177-3AD203B41FA5}">
                      <a16:colId xmlns:a16="http://schemas.microsoft.com/office/drawing/2014/main" val="2072861410"/>
                    </a:ext>
                  </a:extLst>
                </a:gridCol>
                <a:gridCol w="342902">
                  <a:extLst>
                    <a:ext uri="{9D8B030D-6E8A-4147-A177-3AD203B41FA5}">
                      <a16:colId xmlns:a16="http://schemas.microsoft.com/office/drawing/2014/main" val="1356923517"/>
                    </a:ext>
                  </a:extLst>
                </a:gridCol>
                <a:gridCol w="342902">
                  <a:extLst>
                    <a:ext uri="{9D8B030D-6E8A-4147-A177-3AD203B41FA5}">
                      <a16:colId xmlns:a16="http://schemas.microsoft.com/office/drawing/2014/main" val="1527777151"/>
                    </a:ext>
                  </a:extLst>
                </a:gridCol>
                <a:gridCol w="342902">
                  <a:extLst>
                    <a:ext uri="{9D8B030D-6E8A-4147-A177-3AD203B41FA5}">
                      <a16:colId xmlns:a16="http://schemas.microsoft.com/office/drawing/2014/main" val="2267190905"/>
                    </a:ext>
                  </a:extLst>
                </a:gridCol>
                <a:gridCol w="342902">
                  <a:extLst>
                    <a:ext uri="{9D8B030D-6E8A-4147-A177-3AD203B41FA5}">
                      <a16:colId xmlns:a16="http://schemas.microsoft.com/office/drawing/2014/main" val="306038017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B6A479"/>
                          </a:solidFill>
                        </a:rPr>
                        <a:t>0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B6A479"/>
                          </a:solidFill>
                        </a:rPr>
                        <a:t>1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B6A479"/>
                          </a:solidFill>
                        </a:rPr>
                        <a:t>2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B6A479"/>
                          </a:solidFill>
                        </a:rPr>
                        <a:t>3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B6A479"/>
                          </a:solidFill>
                        </a:rPr>
                        <a:t>4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B6A479"/>
                          </a:solidFill>
                        </a:rPr>
                        <a:t>5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B6A479"/>
                          </a:solidFill>
                        </a:rPr>
                        <a:t>6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B6A479"/>
                          </a:solidFill>
                        </a:rPr>
                        <a:t>7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B6A479"/>
                          </a:solidFill>
                        </a:rPr>
                        <a:t>8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B6A479"/>
                          </a:solidFill>
                        </a:rPr>
                        <a:t>9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746976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57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91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0267970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1A251D6E-503E-45BB-8BD9-8C1BD2D14854}"/>
              </a:ext>
            </a:extLst>
          </p:cNvPr>
          <p:cNvSpPr txBox="1"/>
          <p:nvPr/>
        </p:nvSpPr>
        <p:spPr>
          <a:xfrm>
            <a:off x="358461" y="4653616"/>
            <a:ext cx="10839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Combine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B51B5C08-6070-4763-AF6A-3F152C4464E4}"/>
              </a:ext>
            </a:extLst>
          </p:cNvPr>
          <p:cNvCxnSpPr>
            <a:cxnSpLocks/>
          </p:cNvCxnSpPr>
          <p:nvPr/>
        </p:nvCxnSpPr>
        <p:spPr>
          <a:xfrm flipH="1">
            <a:off x="3643306" y="2069623"/>
            <a:ext cx="1142368" cy="865519"/>
          </a:xfrm>
          <a:prstGeom prst="straightConnector1">
            <a:avLst/>
          </a:prstGeom>
          <a:ln w="28575">
            <a:solidFill>
              <a:srgbClr val="B6A47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5475E889-2AD1-4664-A900-863ED52F1CA6}"/>
              </a:ext>
            </a:extLst>
          </p:cNvPr>
          <p:cNvCxnSpPr>
            <a:cxnSpLocks/>
          </p:cNvCxnSpPr>
          <p:nvPr/>
        </p:nvCxnSpPr>
        <p:spPr>
          <a:xfrm>
            <a:off x="4701947" y="2049286"/>
            <a:ext cx="1466921" cy="731642"/>
          </a:xfrm>
          <a:prstGeom prst="straightConnector1">
            <a:avLst/>
          </a:prstGeom>
          <a:ln w="28575">
            <a:solidFill>
              <a:srgbClr val="B6A47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4AA785E1-73B3-401A-A419-60AE84E8597C}"/>
              </a:ext>
            </a:extLst>
          </p:cNvPr>
          <p:cNvCxnSpPr>
            <a:cxnSpLocks/>
          </p:cNvCxnSpPr>
          <p:nvPr/>
        </p:nvCxnSpPr>
        <p:spPr>
          <a:xfrm>
            <a:off x="6053528" y="3882882"/>
            <a:ext cx="0" cy="338244"/>
          </a:xfrm>
          <a:prstGeom prst="straightConnector1">
            <a:avLst/>
          </a:prstGeom>
          <a:ln w="28575">
            <a:solidFill>
              <a:srgbClr val="B6A47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695BBDDF-DD25-4DA2-81E7-A40BAB6F848C}"/>
              </a:ext>
            </a:extLst>
          </p:cNvPr>
          <p:cNvCxnSpPr>
            <a:cxnSpLocks/>
          </p:cNvCxnSpPr>
          <p:nvPr/>
        </p:nvCxnSpPr>
        <p:spPr>
          <a:xfrm>
            <a:off x="5549545" y="5691584"/>
            <a:ext cx="494488" cy="316737"/>
          </a:xfrm>
          <a:prstGeom prst="straightConnector1">
            <a:avLst/>
          </a:prstGeom>
          <a:ln w="28575">
            <a:solidFill>
              <a:srgbClr val="B6A47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88079924-DE0C-4B93-8068-BF2A6A06176A}"/>
              </a:ext>
            </a:extLst>
          </p:cNvPr>
          <p:cNvCxnSpPr>
            <a:cxnSpLocks/>
          </p:cNvCxnSpPr>
          <p:nvPr/>
        </p:nvCxnSpPr>
        <p:spPr>
          <a:xfrm flipH="1">
            <a:off x="6314607" y="5679898"/>
            <a:ext cx="408056" cy="323785"/>
          </a:xfrm>
          <a:prstGeom prst="straightConnector1">
            <a:avLst/>
          </a:prstGeom>
          <a:ln w="28575">
            <a:solidFill>
              <a:srgbClr val="B6A47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cover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2" grpId="0"/>
      <p:bldP spid="1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5435" y="819892"/>
            <a:ext cx="7488832" cy="741894"/>
          </a:xfrm>
        </p:spPr>
        <p:txBody>
          <a:bodyPr>
            <a:normAutofit fontScale="92500" lnSpcReduction="20000"/>
          </a:bodyPr>
          <a:lstStyle/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4">
            <a:extLst>
              <a:ext uri="{FF2B5EF4-FFF2-40B4-BE49-F238E27FC236}">
                <a16:creationId xmlns:a16="http://schemas.microsoft.com/office/drawing/2014/main" id="{41193FD1-A746-4AB4-A204-7F7DD96FD2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81670" y="6521027"/>
            <a:ext cx="421923" cy="274320"/>
          </a:xfrm>
        </p:spPr>
        <p:txBody>
          <a:bodyPr/>
          <a:lstStyle/>
          <a:p>
            <a:fld id="{659665DE-58FC-41F4-AC58-2C90A5E00527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5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49CF495-9E14-4122-A0ED-C7A1ADA689B5}"/>
              </a:ext>
            </a:extLst>
          </p:cNvPr>
          <p:cNvSpPr txBox="1">
            <a:spLocks/>
          </p:cNvSpPr>
          <p:nvPr/>
        </p:nvSpPr>
        <p:spPr>
          <a:xfrm>
            <a:off x="251520" y="-194775"/>
            <a:ext cx="11187259" cy="10146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Merge Sort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8952EB5-0A41-45B7-B5EE-8E116BAB5D86}"/>
              </a:ext>
            </a:extLst>
          </p:cNvPr>
          <p:cNvSpPr txBox="1"/>
          <p:nvPr/>
        </p:nvSpPr>
        <p:spPr>
          <a:xfrm>
            <a:off x="827584" y="1712978"/>
            <a:ext cx="3501215" cy="1815882"/>
          </a:xfrm>
          <a:prstGeom prst="rect">
            <a:avLst/>
          </a:prstGeom>
          <a:noFill/>
          <a:ln>
            <a:solidFill>
              <a:srgbClr val="4C3282"/>
            </a:solidFill>
          </a:ln>
        </p:spPr>
        <p:txBody>
          <a:bodyPr wrap="none" rtlCol="0">
            <a:spAutoFit/>
          </a:bodyPr>
          <a:lstStyle/>
          <a:p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mergeSort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(input) {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if (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input.length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== 1)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return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else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smallerHalf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mergeSort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(new [0, ..., mid])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largerHalf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mergeSort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(new [mid + 1, ...])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return merge(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smallerHalf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largerHalf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7AC5295-3B0D-4228-9694-033CE3E848A8}"/>
              </a:ext>
            </a:extLst>
          </p:cNvPr>
          <p:cNvSpPr txBox="1"/>
          <p:nvPr/>
        </p:nvSpPr>
        <p:spPr>
          <a:xfrm>
            <a:off x="0" y="4071942"/>
            <a:ext cx="2064155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Worst case runtime?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Best case runtime?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Average runtime?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Stable?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In-place?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3F6F683-720E-42BA-B67C-19A0055C05DA}"/>
              </a:ext>
            </a:extLst>
          </p:cNvPr>
          <p:cNvSpPr txBox="1"/>
          <p:nvPr/>
        </p:nvSpPr>
        <p:spPr>
          <a:xfrm>
            <a:off x="3563833" y="3660607"/>
            <a:ext cx="220605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if n&lt;= 1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2T(n/2) + n otherwise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E06B793-BA17-4E94-A316-08FA7480F8A0}"/>
              </a:ext>
            </a:extLst>
          </p:cNvPr>
          <p:cNvSpPr txBox="1"/>
          <p:nvPr/>
        </p:nvSpPr>
        <p:spPr>
          <a:xfrm>
            <a:off x="2514668" y="5385948"/>
            <a:ext cx="5206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Yes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BCBFC1B-2A91-4F60-82D2-BB7374523CDE}"/>
              </a:ext>
            </a:extLst>
          </p:cNvPr>
          <p:cNvSpPr txBox="1"/>
          <p:nvPr/>
        </p:nvSpPr>
        <p:spPr>
          <a:xfrm>
            <a:off x="2529367" y="5920659"/>
            <a:ext cx="466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91581F8-037B-427B-8341-9C6AEE17A7BF}"/>
              </a:ext>
            </a:extLst>
          </p:cNvPr>
          <p:cNvSpPr txBox="1"/>
          <p:nvPr/>
        </p:nvSpPr>
        <p:spPr>
          <a:xfrm>
            <a:off x="2306126" y="3767099"/>
            <a:ext cx="8451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T(n) = </a:t>
            </a:r>
          </a:p>
        </p:txBody>
      </p:sp>
      <p:sp>
        <p:nvSpPr>
          <p:cNvPr id="26" name="Left Brace 25">
            <a:extLst>
              <a:ext uri="{FF2B5EF4-FFF2-40B4-BE49-F238E27FC236}">
                <a16:creationId xmlns:a16="http://schemas.microsoft.com/office/drawing/2014/main" id="{5EEF3E21-0742-4B3A-9E8E-998B70F99C4C}"/>
              </a:ext>
            </a:extLst>
          </p:cNvPr>
          <p:cNvSpPr/>
          <p:nvPr/>
        </p:nvSpPr>
        <p:spPr>
          <a:xfrm>
            <a:off x="3015397" y="3680962"/>
            <a:ext cx="531628" cy="595423"/>
          </a:xfrm>
          <a:prstGeom prst="lef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A70A1DCF-7DA4-43A1-A7B6-91E0C2F8F574}"/>
              </a:ext>
            </a:extLst>
          </p:cNvPr>
          <p:cNvCxnSpPr>
            <a:cxnSpLocks/>
          </p:cNvCxnSpPr>
          <p:nvPr/>
        </p:nvCxnSpPr>
        <p:spPr>
          <a:xfrm>
            <a:off x="11055137" y="2608563"/>
            <a:ext cx="112268" cy="508094"/>
          </a:xfrm>
          <a:prstGeom prst="straightConnector1">
            <a:avLst/>
          </a:prstGeom>
          <a:ln>
            <a:solidFill>
              <a:srgbClr val="B6A47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E08BFFDA-F7A1-47ED-93A7-2273D3B31BBA}"/>
              </a:ext>
            </a:extLst>
          </p:cNvPr>
          <p:cNvCxnSpPr>
            <a:cxnSpLocks/>
          </p:cNvCxnSpPr>
          <p:nvPr/>
        </p:nvCxnSpPr>
        <p:spPr>
          <a:xfrm flipH="1">
            <a:off x="10876126" y="2620919"/>
            <a:ext cx="179011" cy="514366"/>
          </a:xfrm>
          <a:prstGeom prst="straightConnector1">
            <a:avLst/>
          </a:prstGeom>
          <a:ln>
            <a:solidFill>
              <a:srgbClr val="B6A47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27432CEB-0433-9044-83FB-BFD3B22A36CC}"/>
              </a:ext>
            </a:extLst>
          </p:cNvPr>
          <p:cNvSpPr txBox="1"/>
          <p:nvPr/>
        </p:nvSpPr>
        <p:spPr>
          <a:xfrm>
            <a:off x="5599712" y="3757012"/>
            <a:ext cx="13724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O(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nlog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(n))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06C68F0-7267-9843-ADF4-D85B1C0715F6}"/>
              </a:ext>
            </a:extLst>
          </p:cNvPr>
          <p:cNvSpPr txBox="1"/>
          <p:nvPr/>
        </p:nvSpPr>
        <p:spPr>
          <a:xfrm>
            <a:off x="2436358" y="4412671"/>
            <a:ext cx="15776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Same as above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36DCFF2D-6A36-204A-882C-DE5B28BF35D8}"/>
              </a:ext>
            </a:extLst>
          </p:cNvPr>
          <p:cNvSpPr txBox="1"/>
          <p:nvPr/>
        </p:nvSpPr>
        <p:spPr>
          <a:xfrm>
            <a:off x="2428751" y="4887736"/>
            <a:ext cx="15776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Same as above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3" grpId="0"/>
      <p:bldP spid="24" grpId="0"/>
      <p:bldP spid="25" grpId="0"/>
      <p:bldP spid="26" grpId="0" animBg="1"/>
      <p:bldP spid="43" grpId="0"/>
      <p:bldP spid="44" grpId="0"/>
      <p:bldP spid="4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Slide Number Placeholder 4">
            <a:extLst>
              <a:ext uri="{FF2B5EF4-FFF2-40B4-BE49-F238E27FC236}">
                <a16:creationId xmlns:a16="http://schemas.microsoft.com/office/drawing/2014/main" id="{A4F93882-F747-4FEB-A592-B4165E1847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81670" y="6521027"/>
            <a:ext cx="421923" cy="274320"/>
          </a:xfrm>
        </p:spPr>
        <p:txBody>
          <a:bodyPr/>
          <a:lstStyle/>
          <a:p>
            <a:fld id="{659665DE-58FC-41F4-AC58-2C90A5E00527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6</a:t>
            </a:fld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66C698FE-B477-4DE5-B7DD-A5BADADFC62B}"/>
              </a:ext>
            </a:extLst>
          </p:cNvPr>
          <p:cNvSpPr txBox="1">
            <a:spLocks/>
          </p:cNvSpPr>
          <p:nvPr/>
        </p:nvSpPr>
        <p:spPr>
          <a:xfrm>
            <a:off x="575239" y="263276"/>
            <a:ext cx="11187259" cy="10146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Quick Sort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7DCFD6F6-1C3A-4156-A09A-B81F19320F1B}"/>
              </a:ext>
            </a:extLst>
          </p:cNvPr>
          <p:cNvSpPr txBox="1">
            <a:spLocks/>
          </p:cNvSpPr>
          <p:nvPr/>
        </p:nvSpPr>
        <p:spPr>
          <a:xfrm>
            <a:off x="500034" y="1000108"/>
            <a:ext cx="11187258" cy="4845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Divide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Conquer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Combine</a:t>
            </a:r>
          </a:p>
        </p:txBody>
      </p:sp>
      <p:graphicFrame>
        <p:nvGraphicFramePr>
          <p:cNvPr id="24" name="Content Placeholder 6">
            <a:extLst>
              <a:ext uri="{FF2B5EF4-FFF2-40B4-BE49-F238E27FC236}">
                <a16:creationId xmlns:a16="http://schemas.microsoft.com/office/drawing/2014/main" id="{729FE523-CCC3-41E9-AE6D-345A0BC8282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3313032"/>
              </p:ext>
            </p:extLst>
          </p:nvPr>
        </p:nvGraphicFramePr>
        <p:xfrm>
          <a:off x="500034" y="2224733"/>
          <a:ext cx="7072360" cy="87437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7236">
                  <a:extLst>
                    <a:ext uri="{9D8B030D-6E8A-4147-A177-3AD203B41FA5}">
                      <a16:colId xmlns:a16="http://schemas.microsoft.com/office/drawing/2014/main" val="983350392"/>
                    </a:ext>
                  </a:extLst>
                </a:gridCol>
                <a:gridCol w="707236">
                  <a:extLst>
                    <a:ext uri="{9D8B030D-6E8A-4147-A177-3AD203B41FA5}">
                      <a16:colId xmlns:a16="http://schemas.microsoft.com/office/drawing/2014/main" val="1314353596"/>
                    </a:ext>
                  </a:extLst>
                </a:gridCol>
                <a:gridCol w="707236">
                  <a:extLst>
                    <a:ext uri="{9D8B030D-6E8A-4147-A177-3AD203B41FA5}">
                      <a16:colId xmlns:a16="http://schemas.microsoft.com/office/drawing/2014/main" val="1726848549"/>
                    </a:ext>
                  </a:extLst>
                </a:gridCol>
                <a:gridCol w="707236">
                  <a:extLst>
                    <a:ext uri="{9D8B030D-6E8A-4147-A177-3AD203B41FA5}">
                      <a16:colId xmlns:a16="http://schemas.microsoft.com/office/drawing/2014/main" val="1921703917"/>
                    </a:ext>
                  </a:extLst>
                </a:gridCol>
                <a:gridCol w="707236">
                  <a:extLst>
                    <a:ext uri="{9D8B030D-6E8A-4147-A177-3AD203B41FA5}">
                      <a16:colId xmlns:a16="http://schemas.microsoft.com/office/drawing/2014/main" val="3051097305"/>
                    </a:ext>
                  </a:extLst>
                </a:gridCol>
                <a:gridCol w="707236">
                  <a:extLst>
                    <a:ext uri="{9D8B030D-6E8A-4147-A177-3AD203B41FA5}">
                      <a16:colId xmlns:a16="http://schemas.microsoft.com/office/drawing/2014/main" val="2072861410"/>
                    </a:ext>
                  </a:extLst>
                </a:gridCol>
                <a:gridCol w="707236">
                  <a:extLst>
                    <a:ext uri="{9D8B030D-6E8A-4147-A177-3AD203B41FA5}">
                      <a16:colId xmlns:a16="http://schemas.microsoft.com/office/drawing/2014/main" val="1356923517"/>
                    </a:ext>
                  </a:extLst>
                </a:gridCol>
                <a:gridCol w="707236">
                  <a:extLst>
                    <a:ext uri="{9D8B030D-6E8A-4147-A177-3AD203B41FA5}">
                      <a16:colId xmlns:a16="http://schemas.microsoft.com/office/drawing/2014/main" val="1527777151"/>
                    </a:ext>
                  </a:extLst>
                </a:gridCol>
                <a:gridCol w="707236">
                  <a:extLst>
                    <a:ext uri="{9D8B030D-6E8A-4147-A177-3AD203B41FA5}">
                      <a16:colId xmlns:a16="http://schemas.microsoft.com/office/drawing/2014/main" val="2267190905"/>
                    </a:ext>
                  </a:extLst>
                </a:gridCol>
                <a:gridCol w="707236">
                  <a:extLst>
                    <a:ext uri="{9D8B030D-6E8A-4147-A177-3AD203B41FA5}">
                      <a16:colId xmlns:a16="http://schemas.microsoft.com/office/drawing/2014/main" val="3060380174"/>
                    </a:ext>
                  </a:extLst>
                </a:gridCol>
              </a:tblGrid>
              <a:tr h="508617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B6A479"/>
                          </a:solidFill>
                        </a:rPr>
                        <a:t>0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B6A479"/>
                          </a:solidFill>
                        </a:rPr>
                        <a:t>1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B6A479"/>
                          </a:solidFill>
                        </a:rPr>
                        <a:t>2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B6A479"/>
                          </a:solidFill>
                        </a:rPr>
                        <a:t>3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B6A479"/>
                          </a:solidFill>
                        </a:rPr>
                        <a:t>4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B6A479"/>
                          </a:solidFill>
                        </a:rPr>
                        <a:t>5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B6A479"/>
                          </a:solidFill>
                        </a:rPr>
                        <a:t>6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B6A479"/>
                          </a:solidFill>
                        </a:rPr>
                        <a:t>7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B6A479"/>
                          </a:solidFill>
                        </a:rPr>
                        <a:t>8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B6A479"/>
                          </a:solidFill>
                        </a:rPr>
                        <a:t>9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74697627"/>
                  </a:ext>
                </a:extLst>
              </a:tr>
              <a:tr h="304501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91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57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0267970"/>
                  </a:ext>
                </a:extLst>
              </a:tr>
            </a:tbl>
          </a:graphicData>
        </a:graphic>
      </p:graphicFrame>
      <p:graphicFrame>
        <p:nvGraphicFramePr>
          <p:cNvPr id="25" name="Content Placeholder 6">
            <a:extLst>
              <a:ext uri="{FF2B5EF4-FFF2-40B4-BE49-F238E27FC236}">
                <a16:creationId xmlns:a16="http://schemas.microsoft.com/office/drawing/2014/main" id="{5237C59A-B38D-46C6-8124-C841246351E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35966249"/>
              </p:ext>
            </p:extLst>
          </p:nvPr>
        </p:nvGraphicFramePr>
        <p:xfrm>
          <a:off x="429502" y="2391451"/>
          <a:ext cx="5039835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7967">
                  <a:extLst>
                    <a:ext uri="{9D8B030D-6E8A-4147-A177-3AD203B41FA5}">
                      <a16:colId xmlns:a16="http://schemas.microsoft.com/office/drawing/2014/main" val="983350392"/>
                    </a:ext>
                  </a:extLst>
                </a:gridCol>
                <a:gridCol w="1007967">
                  <a:extLst>
                    <a:ext uri="{9D8B030D-6E8A-4147-A177-3AD203B41FA5}">
                      <a16:colId xmlns:a16="http://schemas.microsoft.com/office/drawing/2014/main" val="1314353596"/>
                    </a:ext>
                  </a:extLst>
                </a:gridCol>
                <a:gridCol w="1007967">
                  <a:extLst>
                    <a:ext uri="{9D8B030D-6E8A-4147-A177-3AD203B41FA5}">
                      <a16:colId xmlns:a16="http://schemas.microsoft.com/office/drawing/2014/main" val="1726848549"/>
                    </a:ext>
                  </a:extLst>
                </a:gridCol>
                <a:gridCol w="1007967">
                  <a:extLst>
                    <a:ext uri="{9D8B030D-6E8A-4147-A177-3AD203B41FA5}">
                      <a16:colId xmlns:a16="http://schemas.microsoft.com/office/drawing/2014/main" val="1921703917"/>
                    </a:ext>
                  </a:extLst>
                </a:gridCol>
                <a:gridCol w="1007967">
                  <a:extLst>
                    <a:ext uri="{9D8B030D-6E8A-4147-A177-3AD203B41FA5}">
                      <a16:colId xmlns:a16="http://schemas.microsoft.com/office/drawing/2014/main" val="30510973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B6A479"/>
                          </a:solidFill>
                        </a:rPr>
                        <a:t>0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B6A479"/>
                          </a:solidFill>
                        </a:rPr>
                        <a:t>1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B6A479"/>
                          </a:solidFill>
                        </a:rPr>
                        <a:t>2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B6A479"/>
                          </a:solidFill>
                        </a:rPr>
                        <a:t>3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B6A479"/>
                          </a:solidFill>
                        </a:rPr>
                        <a:t>4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746976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0267970"/>
                  </a:ext>
                </a:extLst>
              </a:tr>
            </a:tbl>
          </a:graphicData>
        </a:graphic>
      </p:graphicFrame>
      <p:graphicFrame>
        <p:nvGraphicFramePr>
          <p:cNvPr id="26" name="Content Placeholder 6">
            <a:extLst>
              <a:ext uri="{FF2B5EF4-FFF2-40B4-BE49-F238E27FC236}">
                <a16:creationId xmlns:a16="http://schemas.microsoft.com/office/drawing/2014/main" id="{D4A320F4-AB42-48DD-951E-3FB424A7AFC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22160323"/>
              </p:ext>
            </p:extLst>
          </p:nvPr>
        </p:nvGraphicFramePr>
        <p:xfrm>
          <a:off x="7000892" y="3214686"/>
          <a:ext cx="1604507" cy="1005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7044">
                  <a:extLst>
                    <a:ext uri="{9D8B030D-6E8A-4147-A177-3AD203B41FA5}">
                      <a16:colId xmlns:a16="http://schemas.microsoft.com/office/drawing/2014/main" val="983350392"/>
                    </a:ext>
                  </a:extLst>
                </a:gridCol>
                <a:gridCol w="415209">
                  <a:extLst>
                    <a:ext uri="{9D8B030D-6E8A-4147-A177-3AD203B41FA5}">
                      <a16:colId xmlns:a16="http://schemas.microsoft.com/office/drawing/2014/main" val="1314353596"/>
                    </a:ext>
                  </a:extLst>
                </a:gridCol>
                <a:gridCol w="401127">
                  <a:extLst>
                    <a:ext uri="{9D8B030D-6E8A-4147-A177-3AD203B41FA5}">
                      <a16:colId xmlns:a16="http://schemas.microsoft.com/office/drawing/2014/main" val="1726848549"/>
                    </a:ext>
                  </a:extLst>
                </a:gridCol>
                <a:gridCol w="401127">
                  <a:extLst>
                    <a:ext uri="{9D8B030D-6E8A-4147-A177-3AD203B41FA5}">
                      <a16:colId xmlns:a16="http://schemas.microsoft.com/office/drawing/2014/main" val="1921703917"/>
                    </a:ext>
                  </a:extLst>
                </a:gridCol>
              </a:tblGrid>
              <a:tr h="25355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B6A479"/>
                          </a:solidFill>
                        </a:rPr>
                        <a:t>0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B6A479"/>
                          </a:solidFill>
                        </a:rPr>
                        <a:t>1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B6A479"/>
                          </a:solidFill>
                        </a:rPr>
                        <a:t>2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B6A479"/>
                          </a:solidFill>
                        </a:rPr>
                        <a:t>3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74697627"/>
                  </a:ext>
                </a:extLst>
              </a:tr>
              <a:tr h="257071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91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57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0267970"/>
                  </a:ext>
                </a:extLst>
              </a:tr>
            </a:tbl>
          </a:graphicData>
        </a:graphic>
      </p:graphicFrame>
      <p:graphicFrame>
        <p:nvGraphicFramePr>
          <p:cNvPr id="27" name="Table 26">
            <a:extLst>
              <a:ext uri="{FF2B5EF4-FFF2-40B4-BE49-F238E27FC236}">
                <a16:creationId xmlns:a16="http://schemas.microsoft.com/office/drawing/2014/main" id="{41BF026A-A449-4846-9664-445151826E6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0013225"/>
              </p:ext>
            </p:extLst>
          </p:nvPr>
        </p:nvGraphicFramePr>
        <p:xfrm>
          <a:off x="5714696" y="2396531"/>
          <a:ext cx="1007967" cy="736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7967">
                  <a:extLst>
                    <a:ext uri="{9D8B030D-6E8A-4147-A177-3AD203B41FA5}">
                      <a16:colId xmlns:a16="http://schemas.microsoft.com/office/drawing/2014/main" val="3646319566"/>
                    </a:ext>
                  </a:extLst>
                </a:gridCol>
              </a:tblGrid>
              <a:tr h="297128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B6A479"/>
                          </a:solidFill>
                        </a:rPr>
                        <a:t>0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257153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7871644"/>
                  </a:ext>
                </a:extLst>
              </a:tr>
            </a:tbl>
          </a:graphicData>
        </a:graphic>
      </p:graphicFrame>
      <p:graphicFrame>
        <p:nvGraphicFramePr>
          <p:cNvPr id="28" name="Table 27">
            <a:extLst>
              <a:ext uri="{FF2B5EF4-FFF2-40B4-BE49-F238E27FC236}">
                <a16:creationId xmlns:a16="http://schemas.microsoft.com/office/drawing/2014/main" id="{EF8F470B-1496-48CC-A5BE-7FE0580FAA0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3673007"/>
              </p:ext>
            </p:extLst>
          </p:nvPr>
        </p:nvGraphicFramePr>
        <p:xfrm>
          <a:off x="5549545" y="3132959"/>
          <a:ext cx="1007967" cy="7844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7967">
                  <a:extLst>
                    <a:ext uri="{9D8B030D-6E8A-4147-A177-3AD203B41FA5}">
                      <a16:colId xmlns:a16="http://schemas.microsoft.com/office/drawing/2014/main" val="2580964224"/>
                    </a:ext>
                  </a:extLst>
                </a:gridCol>
              </a:tblGrid>
              <a:tr h="413607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B6A479"/>
                          </a:solidFill>
                        </a:rPr>
                        <a:t>0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709495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9329120"/>
                  </a:ext>
                </a:extLst>
              </a:tr>
            </a:tbl>
          </a:graphicData>
        </a:graphic>
      </p:graphicFrame>
      <p:graphicFrame>
        <p:nvGraphicFramePr>
          <p:cNvPr id="29" name="Table 28">
            <a:extLst>
              <a:ext uri="{FF2B5EF4-FFF2-40B4-BE49-F238E27FC236}">
                <a16:creationId xmlns:a16="http://schemas.microsoft.com/office/drawing/2014/main" id="{767CAC0E-750E-4604-A094-18C9EDEF74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5322481"/>
              </p:ext>
            </p:extLst>
          </p:nvPr>
        </p:nvGraphicFramePr>
        <p:xfrm>
          <a:off x="5553265" y="4102561"/>
          <a:ext cx="1007967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7967">
                  <a:extLst>
                    <a:ext uri="{9D8B030D-6E8A-4147-A177-3AD203B41FA5}">
                      <a16:colId xmlns:a16="http://schemas.microsoft.com/office/drawing/2014/main" val="258096422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B6A479"/>
                          </a:solidFill>
                        </a:rPr>
                        <a:t>0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709495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9329120"/>
                  </a:ext>
                </a:extLst>
              </a:tr>
            </a:tbl>
          </a:graphicData>
        </a:graphic>
      </p:graphicFrame>
      <p:graphicFrame>
        <p:nvGraphicFramePr>
          <p:cNvPr id="30" name="Content Placeholder 6">
            <a:extLst>
              <a:ext uri="{FF2B5EF4-FFF2-40B4-BE49-F238E27FC236}">
                <a16:creationId xmlns:a16="http://schemas.microsoft.com/office/drawing/2014/main" id="{5B0C7E2A-F74E-4DDC-A574-1E5954719C7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40929004"/>
              </p:ext>
            </p:extLst>
          </p:nvPr>
        </p:nvGraphicFramePr>
        <p:xfrm>
          <a:off x="509710" y="4956266"/>
          <a:ext cx="4031868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7967">
                  <a:extLst>
                    <a:ext uri="{9D8B030D-6E8A-4147-A177-3AD203B41FA5}">
                      <a16:colId xmlns:a16="http://schemas.microsoft.com/office/drawing/2014/main" val="983350392"/>
                    </a:ext>
                  </a:extLst>
                </a:gridCol>
                <a:gridCol w="1007967">
                  <a:extLst>
                    <a:ext uri="{9D8B030D-6E8A-4147-A177-3AD203B41FA5}">
                      <a16:colId xmlns:a16="http://schemas.microsoft.com/office/drawing/2014/main" val="1726848549"/>
                    </a:ext>
                  </a:extLst>
                </a:gridCol>
                <a:gridCol w="1007967">
                  <a:extLst>
                    <a:ext uri="{9D8B030D-6E8A-4147-A177-3AD203B41FA5}">
                      <a16:colId xmlns:a16="http://schemas.microsoft.com/office/drawing/2014/main" val="1921703917"/>
                    </a:ext>
                  </a:extLst>
                </a:gridCol>
                <a:gridCol w="1007967">
                  <a:extLst>
                    <a:ext uri="{9D8B030D-6E8A-4147-A177-3AD203B41FA5}">
                      <a16:colId xmlns:a16="http://schemas.microsoft.com/office/drawing/2014/main" val="30510973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B6A479"/>
                          </a:solidFill>
                        </a:rPr>
                        <a:t>0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B6A479"/>
                          </a:solidFill>
                        </a:rPr>
                        <a:t>2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B6A479"/>
                          </a:solidFill>
                        </a:rPr>
                        <a:t>3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B6A479"/>
                          </a:solidFill>
                        </a:rPr>
                        <a:t>4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746976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57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91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0267970"/>
                  </a:ext>
                </a:extLst>
              </a:tr>
            </a:tbl>
          </a:graphicData>
        </a:graphic>
      </p:graphicFrame>
      <p:graphicFrame>
        <p:nvGraphicFramePr>
          <p:cNvPr id="31" name="Content Placeholder 6">
            <a:extLst>
              <a:ext uri="{FF2B5EF4-FFF2-40B4-BE49-F238E27FC236}">
                <a16:creationId xmlns:a16="http://schemas.microsoft.com/office/drawing/2014/main" id="{C15A2C05-3AE5-4EF7-B002-681CB78AC9C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38913617"/>
              </p:ext>
            </p:extLst>
          </p:nvPr>
        </p:nvGraphicFramePr>
        <p:xfrm>
          <a:off x="6722663" y="4680420"/>
          <a:ext cx="2064180" cy="1005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2836">
                  <a:extLst>
                    <a:ext uri="{9D8B030D-6E8A-4147-A177-3AD203B41FA5}">
                      <a16:colId xmlns:a16="http://schemas.microsoft.com/office/drawing/2014/main" val="2072861410"/>
                    </a:ext>
                  </a:extLst>
                </a:gridCol>
                <a:gridCol w="412836">
                  <a:extLst>
                    <a:ext uri="{9D8B030D-6E8A-4147-A177-3AD203B41FA5}">
                      <a16:colId xmlns:a16="http://schemas.microsoft.com/office/drawing/2014/main" val="1356923517"/>
                    </a:ext>
                  </a:extLst>
                </a:gridCol>
                <a:gridCol w="412836">
                  <a:extLst>
                    <a:ext uri="{9D8B030D-6E8A-4147-A177-3AD203B41FA5}">
                      <a16:colId xmlns:a16="http://schemas.microsoft.com/office/drawing/2014/main" val="1527777151"/>
                    </a:ext>
                  </a:extLst>
                </a:gridCol>
                <a:gridCol w="412836">
                  <a:extLst>
                    <a:ext uri="{9D8B030D-6E8A-4147-A177-3AD203B41FA5}">
                      <a16:colId xmlns:a16="http://schemas.microsoft.com/office/drawing/2014/main" val="2267190905"/>
                    </a:ext>
                  </a:extLst>
                </a:gridCol>
                <a:gridCol w="412836">
                  <a:extLst>
                    <a:ext uri="{9D8B030D-6E8A-4147-A177-3AD203B41FA5}">
                      <a16:colId xmlns:a16="http://schemas.microsoft.com/office/drawing/2014/main" val="3060380174"/>
                    </a:ext>
                  </a:extLst>
                </a:gridCol>
              </a:tblGrid>
              <a:tr h="342812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B6A479"/>
                          </a:solidFill>
                        </a:rPr>
                        <a:t>5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B6A479"/>
                          </a:solidFill>
                        </a:rPr>
                        <a:t>6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B6A479"/>
                          </a:solidFill>
                        </a:rPr>
                        <a:t>7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B6A479"/>
                          </a:solidFill>
                        </a:rPr>
                        <a:t>8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B6A479"/>
                          </a:solidFill>
                        </a:rPr>
                        <a:t>9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74697627"/>
                  </a:ext>
                </a:extLst>
              </a:tr>
              <a:tr h="342812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0267970"/>
                  </a:ext>
                </a:extLst>
              </a:tr>
            </a:tbl>
          </a:graphicData>
        </a:graphic>
      </p:graphicFrame>
      <p:graphicFrame>
        <p:nvGraphicFramePr>
          <p:cNvPr id="32" name="Content Placeholder 6">
            <a:extLst>
              <a:ext uri="{FF2B5EF4-FFF2-40B4-BE49-F238E27FC236}">
                <a16:creationId xmlns:a16="http://schemas.microsoft.com/office/drawing/2014/main" id="{549A9DB5-8668-45E9-A1DE-B9642735529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61221983"/>
              </p:ext>
            </p:extLst>
          </p:nvPr>
        </p:nvGraphicFramePr>
        <p:xfrm>
          <a:off x="214282" y="5929330"/>
          <a:ext cx="77153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1530">
                  <a:extLst>
                    <a:ext uri="{9D8B030D-6E8A-4147-A177-3AD203B41FA5}">
                      <a16:colId xmlns:a16="http://schemas.microsoft.com/office/drawing/2014/main" val="983350392"/>
                    </a:ext>
                  </a:extLst>
                </a:gridCol>
                <a:gridCol w="771530">
                  <a:extLst>
                    <a:ext uri="{9D8B030D-6E8A-4147-A177-3AD203B41FA5}">
                      <a16:colId xmlns:a16="http://schemas.microsoft.com/office/drawing/2014/main" val="1314353596"/>
                    </a:ext>
                  </a:extLst>
                </a:gridCol>
                <a:gridCol w="771530">
                  <a:extLst>
                    <a:ext uri="{9D8B030D-6E8A-4147-A177-3AD203B41FA5}">
                      <a16:colId xmlns:a16="http://schemas.microsoft.com/office/drawing/2014/main" val="1726848549"/>
                    </a:ext>
                  </a:extLst>
                </a:gridCol>
                <a:gridCol w="771530">
                  <a:extLst>
                    <a:ext uri="{9D8B030D-6E8A-4147-A177-3AD203B41FA5}">
                      <a16:colId xmlns:a16="http://schemas.microsoft.com/office/drawing/2014/main" val="1921703917"/>
                    </a:ext>
                  </a:extLst>
                </a:gridCol>
                <a:gridCol w="771530">
                  <a:extLst>
                    <a:ext uri="{9D8B030D-6E8A-4147-A177-3AD203B41FA5}">
                      <a16:colId xmlns:a16="http://schemas.microsoft.com/office/drawing/2014/main" val="3051097305"/>
                    </a:ext>
                  </a:extLst>
                </a:gridCol>
                <a:gridCol w="771530">
                  <a:extLst>
                    <a:ext uri="{9D8B030D-6E8A-4147-A177-3AD203B41FA5}">
                      <a16:colId xmlns:a16="http://schemas.microsoft.com/office/drawing/2014/main" val="2072861410"/>
                    </a:ext>
                  </a:extLst>
                </a:gridCol>
                <a:gridCol w="771530">
                  <a:extLst>
                    <a:ext uri="{9D8B030D-6E8A-4147-A177-3AD203B41FA5}">
                      <a16:colId xmlns:a16="http://schemas.microsoft.com/office/drawing/2014/main" val="1356923517"/>
                    </a:ext>
                  </a:extLst>
                </a:gridCol>
                <a:gridCol w="771530">
                  <a:extLst>
                    <a:ext uri="{9D8B030D-6E8A-4147-A177-3AD203B41FA5}">
                      <a16:colId xmlns:a16="http://schemas.microsoft.com/office/drawing/2014/main" val="1527777151"/>
                    </a:ext>
                  </a:extLst>
                </a:gridCol>
                <a:gridCol w="771530">
                  <a:extLst>
                    <a:ext uri="{9D8B030D-6E8A-4147-A177-3AD203B41FA5}">
                      <a16:colId xmlns:a16="http://schemas.microsoft.com/office/drawing/2014/main" val="2267190905"/>
                    </a:ext>
                  </a:extLst>
                </a:gridCol>
                <a:gridCol w="771530">
                  <a:extLst>
                    <a:ext uri="{9D8B030D-6E8A-4147-A177-3AD203B41FA5}">
                      <a16:colId xmlns:a16="http://schemas.microsoft.com/office/drawing/2014/main" val="306038017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B6A479"/>
                          </a:solidFill>
                        </a:rPr>
                        <a:t>0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B6A479"/>
                          </a:solidFill>
                        </a:rPr>
                        <a:t>1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B6A479"/>
                          </a:solidFill>
                        </a:rPr>
                        <a:t>2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B6A479"/>
                          </a:solidFill>
                        </a:rPr>
                        <a:t>3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B6A479"/>
                          </a:solidFill>
                        </a:rPr>
                        <a:t>4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B6A479"/>
                          </a:solidFill>
                        </a:rPr>
                        <a:t>5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B6A479"/>
                          </a:solidFill>
                        </a:rPr>
                        <a:t>6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B6A479"/>
                          </a:solidFill>
                        </a:rPr>
                        <a:t>7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B6A479"/>
                          </a:solidFill>
                        </a:rPr>
                        <a:t>8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B6A479"/>
                          </a:solidFill>
                        </a:rPr>
                        <a:t>9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746976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57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91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0267970"/>
                  </a:ext>
                </a:extLst>
              </a:tr>
            </a:tbl>
          </a:graphicData>
        </a:graphic>
      </p:graphicFrame>
      <p:graphicFrame>
        <p:nvGraphicFramePr>
          <p:cNvPr id="33" name="Table 32">
            <a:extLst>
              <a:ext uri="{FF2B5EF4-FFF2-40B4-BE49-F238E27FC236}">
                <a16:creationId xmlns:a16="http://schemas.microsoft.com/office/drawing/2014/main" id="{DEF53454-4D7F-4405-A772-DD08CD23B0B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623251"/>
              </p:ext>
            </p:extLst>
          </p:nvPr>
        </p:nvGraphicFramePr>
        <p:xfrm>
          <a:off x="5643024" y="4956266"/>
          <a:ext cx="1007967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7967">
                  <a:extLst>
                    <a:ext uri="{9D8B030D-6E8A-4147-A177-3AD203B41FA5}">
                      <a16:colId xmlns:a16="http://schemas.microsoft.com/office/drawing/2014/main" val="258096422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B6A479"/>
                          </a:solidFill>
                        </a:rPr>
                        <a:t>0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709495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9329120"/>
                  </a:ext>
                </a:extLst>
              </a:tr>
            </a:tbl>
          </a:graphicData>
        </a:graphic>
      </p:graphicFrame>
      <p:sp>
        <p:nvSpPr>
          <p:cNvPr id="34" name="Rectangle 33">
            <a:extLst>
              <a:ext uri="{FF2B5EF4-FFF2-40B4-BE49-F238E27FC236}">
                <a16:creationId xmlns:a16="http://schemas.microsoft.com/office/drawing/2014/main" id="{7032228A-3DC8-413C-9121-F5B1DCDB4D41}"/>
              </a:ext>
            </a:extLst>
          </p:cNvPr>
          <p:cNvSpPr/>
          <p:nvPr/>
        </p:nvSpPr>
        <p:spPr>
          <a:xfrm>
            <a:off x="1682828" y="1835069"/>
            <a:ext cx="1008572" cy="370840"/>
          </a:xfrm>
          <a:prstGeom prst="rect">
            <a:avLst/>
          </a:prstGeom>
          <a:solidFill>
            <a:srgbClr val="FFFF00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 bwMode="auto">
          <a:xfrm>
            <a:off x="539552" y="3429000"/>
            <a:ext cx="4619625" cy="2066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A7E8EE2-BE51-4540-9628-5D8368A6D12F}"/>
              </a:ext>
            </a:extLst>
          </p:cNvPr>
          <p:cNvSpPr txBox="1"/>
          <p:nvPr/>
        </p:nvSpPr>
        <p:spPr>
          <a:xfrm>
            <a:off x="395536" y="27166"/>
            <a:ext cx="7848872" cy="2585323"/>
          </a:xfrm>
          <a:prstGeom prst="rect">
            <a:avLst/>
          </a:prstGeom>
          <a:noFill/>
          <a:ln>
            <a:solidFill>
              <a:srgbClr val="4C3282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quickSort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(input) {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if 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input.length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== 1)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return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else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pivot =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getPivot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(input)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smallerHalf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quickSort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getSmaller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(pivot, input))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largerHalf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quickSort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getBigger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(pivot, input))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return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smallerHalf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pivot +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largerHalf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4">
            <a:extLst>
              <a:ext uri="{FF2B5EF4-FFF2-40B4-BE49-F238E27FC236}">
                <a16:creationId xmlns:a16="http://schemas.microsoft.com/office/drawing/2014/main" id="{D6F2D789-ACE0-44B8-ABA2-10F9B726CE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81670" y="6521027"/>
            <a:ext cx="421923" cy="274320"/>
          </a:xfrm>
        </p:spPr>
        <p:txBody>
          <a:bodyPr/>
          <a:lstStyle/>
          <a:p>
            <a:fld id="{659665DE-58FC-41F4-AC58-2C90A5E00527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8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1506B69B-CDB5-4A69-8001-62F2205B7DC8}"/>
              </a:ext>
            </a:extLst>
          </p:cNvPr>
          <p:cNvSpPr txBox="1">
            <a:spLocks/>
          </p:cNvSpPr>
          <p:nvPr/>
        </p:nvSpPr>
        <p:spPr>
          <a:xfrm>
            <a:off x="575239" y="263276"/>
            <a:ext cx="11187259" cy="10146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Can we do better?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879645DB-728E-493A-8979-8F3ED5B3BF25}"/>
              </a:ext>
            </a:extLst>
          </p:cNvPr>
          <p:cNvSpPr txBox="1">
            <a:spLocks/>
          </p:cNvSpPr>
          <p:nvPr/>
        </p:nvSpPr>
        <p:spPr>
          <a:xfrm>
            <a:off x="395536" y="2005869"/>
            <a:ext cx="11187258" cy="4845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Pick a better pivot</a:t>
            </a:r>
          </a:p>
          <a:p>
            <a:pPr marL="459486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Pick a random number</a:t>
            </a:r>
          </a:p>
          <a:p>
            <a:pPr marL="459486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Pick the median of the first, middle and last element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Sort elements by swapping around pivot in place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1560" y="116633"/>
            <a:ext cx="7543800" cy="527994"/>
          </a:xfrm>
        </p:spPr>
        <p:txBody>
          <a:bodyPr>
            <a:normAutofit fontScale="90000"/>
          </a:bodyPr>
          <a:lstStyle/>
          <a:p>
            <a:r>
              <a:rPr lang="en-US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</a:t>
            </a:r>
            <a:endParaRPr lang="en-IN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55190" y="476672"/>
            <a:ext cx="8679338" cy="60722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TM03457515[[fn=View]]</Template>
  <TotalTime>33</TotalTime>
  <Words>650</Words>
  <Application>Microsoft Office PowerPoint</Application>
  <PresentationFormat>On-screen Show (4:3)</PresentationFormat>
  <Paragraphs>266</Paragraphs>
  <Slides>9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Calibri Light</vt:lpstr>
      <vt:lpstr>Times New Roman</vt:lpstr>
      <vt:lpstr>Retrospect</vt:lpstr>
      <vt:lpstr>Sorting Techniques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Algorithm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Sorting Techniques</dc:title>
  <dc:creator>user</dc:creator>
  <cp:lastModifiedBy>BHAVNEET KAUR</cp:lastModifiedBy>
  <cp:revision>19</cp:revision>
  <dcterms:created xsi:type="dcterms:W3CDTF">2024-05-23T18:23:58Z</dcterms:created>
  <dcterms:modified xsi:type="dcterms:W3CDTF">2024-07-26T15:29:17Z</dcterms:modified>
</cp:coreProperties>
</file>