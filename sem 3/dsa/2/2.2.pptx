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7" r:id="rId2"/>
    <p:sldId id="256" r:id="rId3"/>
    <p:sldId id="258" r:id="rId4"/>
    <p:sldId id="259" r:id="rId5"/>
    <p:sldId id="260" r:id="rId6"/>
    <p:sldId id="261" r:id="rId7"/>
    <p:sldId id="262" r:id="rId8"/>
    <p:sldId id="263" r:id="rId9"/>
    <p:sldId id="272"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9" r:id="rId26"/>
    <p:sldId id="290" r:id="rId27"/>
    <p:sldId id="280" r:id="rId28"/>
    <p:sldId id="284" r:id="rId29"/>
    <p:sldId id="285" r:id="rId30"/>
    <p:sldId id="286" r:id="rId31"/>
    <p:sldId id="287" r:id="rId32"/>
    <p:sldId id="288" r:id="rId33"/>
    <p:sldId id="291" r:id="rId34"/>
    <p:sldId id="292" r:id="rId35"/>
    <p:sldId id="281" r:id="rId36"/>
    <p:sldId id="293" r:id="rId37"/>
    <p:sldId id="294" r:id="rId38"/>
    <p:sldId id="295" r:id="rId39"/>
    <p:sldId id="282" r:id="rId40"/>
    <p:sldId id="296" r:id="rId41"/>
    <p:sldId id="297" r:id="rId42"/>
    <p:sldId id="283" r:id="rId43"/>
    <p:sldId id="29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660"/>
  </p:normalViewPr>
  <p:slideViewPr>
    <p:cSldViewPr>
      <p:cViewPr varScale="1">
        <p:scale>
          <a:sx n="61" d="100"/>
          <a:sy n="61" d="100"/>
        </p:scale>
        <p:origin x="1340" y="8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399182-3E56-4C7E-8BD2-12A7E1E69D1C}" type="datetimeFigureOut">
              <a:rPr lang="en-US" smtClean="0"/>
              <a:t>10/6/2024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E0FE14-2092-46A1-AF5D-A07CC6CACA7E}"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F7AC019-3495-4C88-BB4A-8E736B8939AE}" type="datetimeFigureOut">
              <a:rPr lang="en-US" smtClean="0"/>
              <a:t>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7AC019-3495-4C88-BB4A-8E736B8939AE}" type="datetimeFigureOut">
              <a:rPr lang="en-US" smtClean="0"/>
              <a:t>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7AC019-3495-4C88-BB4A-8E736B8939AE}" type="datetimeFigureOut">
              <a:rPr lang="en-US" smtClean="0"/>
              <a:t>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F7AC019-3495-4C88-BB4A-8E736B8939AE}" type="datetimeFigureOut">
              <a:rPr lang="en-US" smtClean="0"/>
              <a:t>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F7AC019-3495-4C88-BB4A-8E736B8939AE}" type="datetimeFigureOut">
              <a:rPr lang="en-US" smtClean="0"/>
              <a:t>10/6/2024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F7AC019-3495-4C88-BB4A-8E736B8939AE}" type="datetimeFigureOut">
              <a:rPr lang="en-US" smtClean="0"/>
              <a:t>10/6/2024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AC019-3495-4C88-BB4A-8E736B8939AE}" type="datetimeFigureOut">
              <a:rPr lang="en-US" smtClean="0"/>
              <a:t>10/6/2024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7AC019-3495-4C88-BB4A-8E736B8939AE}" type="datetimeFigureOut">
              <a:rPr lang="en-US" smtClean="0"/>
              <a:t>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7AC019-3495-4C88-BB4A-8E736B8939AE}" type="datetimeFigureOut">
              <a:rPr lang="en-US" smtClean="0"/>
              <a:t>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7AC019-3495-4C88-BB4A-8E736B8939AE}" type="datetimeFigureOut">
              <a:rPr lang="en-US" smtClean="0"/>
              <a:t>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7AC019-3495-4C88-BB4A-8E736B8939AE}" type="datetimeFigureOut">
              <a:rPr lang="en-US" smtClean="0"/>
              <a:t>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743A8F-6597-4721-8C2E-49D2C11F4DD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7AC019-3495-4C88-BB4A-8E736B8939AE}" type="datetimeFigureOut">
              <a:rPr lang="en-US" smtClean="0"/>
              <a:t>10/6/2024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743A8F-6597-4721-8C2E-49D2C11F4DD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java67.com/2020/02/top-40-binary-tree-interview-questions.html" TargetMode="External"/><Relationship Id="rId2" Type="http://schemas.openxmlformats.org/officeDocument/2006/relationships/hyperlink" Target="https://javarevisited.blogspot.com/2015/10/how-to-implement-binary-search-tree-in-java-example.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programiz.com/data-structures/tree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sp>
        <p:nvSpPr>
          <p:cNvPr id="4" name="Rectangle 2"/>
          <p:cNvSpPr txBox="1">
            <a:spLocks noChangeArrowheads="1"/>
          </p:cNvSpPr>
          <p:nvPr/>
        </p:nvSpPr>
        <p:spPr>
          <a:xfrm>
            <a:off x="500034" y="3429000"/>
            <a:ext cx="8118764" cy="1967346"/>
          </a:xfrm>
          <a:prstGeom prst="rect">
            <a:avLst/>
          </a:prstGeom>
          <a:solidFill>
            <a:srgbClr val="CCECFF"/>
          </a:solidFill>
          <a:ln>
            <a:solidFill>
              <a:schemeClr val="tx1"/>
            </a:solidFill>
          </a:ln>
          <a:effectLst>
            <a:outerShdw dist="107763" dir="2700000" algn="ctr" rotWithShape="0">
              <a:schemeClr val="bg2"/>
            </a:outerShdw>
          </a:effectLst>
        </p:spPr>
        <p:txBody>
          <a:bodyPr vert="horz" lIns="91440" tIns="45720" rIns="91440" bIns="45720" rtlCol="0" anchor="ctr">
            <a:normAutofit/>
          </a:bodyPr>
          <a:lstStyle/>
          <a:p>
            <a:pPr algn="ctr"/>
            <a:r>
              <a:rPr lang="en-IN" sz="4400" b="1" dirty="0"/>
              <a:t>Non-linear Data Structures</a:t>
            </a:r>
            <a:endParaRPr lang="en-IN" sz="4400" dirty="0"/>
          </a:p>
        </p:txBody>
      </p:sp>
      <p:sp>
        <p:nvSpPr>
          <p:cNvPr id="5" name="Rectangle 3"/>
          <p:cNvSpPr txBox="1">
            <a:spLocks noChangeArrowheads="1"/>
          </p:cNvSpPr>
          <p:nvPr/>
        </p:nvSpPr>
        <p:spPr>
          <a:xfrm>
            <a:off x="1000100" y="2000240"/>
            <a:ext cx="6691745" cy="637309"/>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tint val="75000"/>
                  </a:schemeClr>
                </a:solidFill>
                <a:effectLst/>
                <a:uLnTx/>
                <a:uFillTx/>
                <a:latin typeface="+mn-lt"/>
                <a:ea typeface="+mn-ea"/>
                <a:cs typeface="+mn-cs"/>
              </a:rPr>
              <a:t>Topic 2.2</a:t>
            </a:r>
          </a:p>
        </p:txBody>
      </p:sp>
      <p:sp>
        <p:nvSpPr>
          <p:cNvPr id="6" name="Rectangle 4"/>
          <p:cNvSpPr>
            <a:spLocks noGrp="1" noChangeArrowheads="1"/>
          </p:cNvSpPr>
          <p:nvPr>
            <p:ph type="dt" sz="half" idx="10"/>
          </p:nvPr>
        </p:nvSpPr>
        <p:spPr bwMode="auto">
          <a:xfrm>
            <a:off x="6442365" y="6356350"/>
            <a:ext cx="2133600" cy="365125"/>
          </a:xfrm>
          <a:noFill/>
          <a:ln>
            <a:miter lim="800000"/>
            <a:headEnd/>
            <a:tailEnd/>
          </a:ln>
        </p:spPr>
        <p:txBody>
          <a:bodyPr wrap="square" numCol="1" anchorCtr="0" compatLnSpc="1">
            <a:prstTxWarp prst="textNoShape">
              <a:avLst/>
            </a:prstTxWarp>
          </a:bodyPr>
          <a:lstStyle/>
          <a:p>
            <a:r>
              <a:rPr lang="en-US" dirty="0">
                <a:solidFill>
                  <a:srgbClr val="3333FF"/>
                </a:solidFill>
              </a:rPr>
              <a:t>By:  </a:t>
            </a:r>
            <a:r>
              <a:rPr lang="en-US" dirty="0" err="1">
                <a:solidFill>
                  <a:srgbClr val="3333FF"/>
                </a:solidFill>
              </a:rPr>
              <a:t>Er.Bhavneet</a:t>
            </a:r>
            <a:r>
              <a:rPr lang="en-US" dirty="0">
                <a:solidFill>
                  <a:srgbClr val="3333FF"/>
                </a:solidFill>
              </a:rPr>
              <a:t> </a:t>
            </a:r>
            <a:r>
              <a:rPr lang="en-US" dirty="0" err="1">
                <a:solidFill>
                  <a:srgbClr val="3333FF"/>
                </a:solidFill>
              </a:rPr>
              <a:t>Kaur</a:t>
            </a:r>
            <a:endParaRPr lang="en-US" dirty="0">
              <a:solidFill>
                <a:srgbClr val="3333FF"/>
              </a:solidFill>
            </a:endParaRPr>
          </a:p>
          <a:p>
            <a:r>
              <a:rPr lang="en-US" dirty="0">
                <a:solidFill>
                  <a:srgbClr val="3333FF"/>
                </a:solidFill>
              </a:rPr>
              <a:t>Master Subject Co-</a:t>
            </a:r>
            <a:r>
              <a:rPr lang="en-US" dirty="0" err="1">
                <a:solidFill>
                  <a:srgbClr val="3333FF"/>
                </a:solidFill>
              </a:rPr>
              <a:t>ordinator</a:t>
            </a:r>
            <a:endParaRPr lang="en-US" dirty="0">
              <a:solidFill>
                <a:srgbClr val="3333FF"/>
              </a:solidFill>
            </a:endParaRPr>
          </a:p>
          <a:p>
            <a:r>
              <a:rPr lang="en-US" dirty="0">
                <a:solidFill>
                  <a:srgbClr val="3333FF"/>
                </a:solidFill>
              </a:rPr>
              <a:t>CSE 2</a:t>
            </a:r>
            <a:r>
              <a:rPr lang="en-US" baseline="30000" dirty="0">
                <a:solidFill>
                  <a:srgbClr val="3333FF"/>
                </a:solidFill>
              </a:rPr>
              <a:t>nd</a:t>
            </a:r>
            <a:r>
              <a:rPr lang="en-US" dirty="0">
                <a:solidFill>
                  <a:srgbClr val="3333FF"/>
                </a:solidFill>
              </a:rPr>
              <a:t> Year</a:t>
            </a:r>
          </a:p>
        </p:txBody>
      </p:sp>
      <p:pic>
        <p:nvPicPr>
          <p:cNvPr id="7" name="Picture 6" descr="https://ci4.googleusercontent.com/proxy/7KvR-kRK3h7JaTZdC5LfUjZeoVi7udcXN-eI91UxZqH1jXErPCYekBHdctGNLcSvYKklWK0PTg4obc4ygBkyIsS5KGzloTjlsH4tG6re3zQHs6mTTzZ5ZJ5pQHLN1ZKWTFYSRZ8YU3U27y9-9rnsEyo-yufbHI8sgJvbOXgFe0o2_ayRi1YB_x5s62_RbI1j6N4ifqiQahsNqemuyg=s0-d-e1-ft#https://docs.google.com/uc?export=download&amp;id=1R2CcZSsfQjqMnWIKGHnqT3u99QqSIUUS&amp;revid=0B3ek2dwmVFlucjN2Rk9Ncmh5N1JjN3dSNnhLY1RMTE9UWFlRPQ"/>
          <p:cNvPicPr>
            <a:picLocks noChangeAspect="1" noChangeArrowheads="1" noCrop="1"/>
          </p:cNvPicPr>
          <p:nvPr/>
        </p:nvPicPr>
        <p:blipFill>
          <a:blip r:embed="rId2"/>
          <a:srcRect/>
          <a:stretch>
            <a:fillRect/>
          </a:stretch>
        </p:blipFill>
        <p:spPr bwMode="auto">
          <a:xfrm>
            <a:off x="176213" y="587375"/>
            <a:ext cx="1905000" cy="6858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sp>
        <p:nvSpPr>
          <p:cNvPr id="13313" name="Rectangle 1"/>
          <p:cNvSpPr>
            <a:spLocks noChangeArrowheads="1"/>
          </p:cNvSpPr>
          <p:nvPr/>
        </p:nvSpPr>
        <p:spPr bwMode="auto">
          <a:xfrm>
            <a:off x="0" y="-220214"/>
            <a:ext cx="184731" cy="440429"/>
          </a:xfrm>
          <a:prstGeom prst="rect">
            <a:avLst/>
          </a:prstGeom>
          <a:solidFill>
            <a:srgbClr val="FFFFFF"/>
          </a:solidFill>
          <a:ln w="9525">
            <a:noFill/>
            <a:miter lim="800000"/>
            <a:headEnd/>
            <a:tailEnd/>
          </a:ln>
          <a:effectLst/>
        </p:spPr>
        <p:txBody>
          <a:bodyPr vert="horz" wrap="none" lIns="91440" tIns="0" rIns="91440" bIns="238050" numCol="1" anchor="ctr" anchorCtr="0" compatLnSpc="1">
            <a:prstTxWarp prst="textNoShape">
              <a:avLst/>
            </a:prstTxWarp>
            <a:spAutoFit/>
          </a:bodyPr>
          <a:lstStyle/>
          <a:p>
            <a:pPr marL="0" marR="0" lvl="0" indent="0" algn="l" defTabSz="914400" rtl="0" eaLnBrk="1" fontAlgn="ctr" latinLnBrk="0" hangingPunct="1">
              <a:lnSpc>
                <a:spcPct val="100000"/>
              </a:lnSpc>
              <a:spcBef>
                <a:spcPct val="0"/>
              </a:spcBef>
              <a:spcAft>
                <a:spcPct val="0"/>
              </a:spcAft>
              <a:buClrTx/>
              <a:buSzTx/>
              <a:buFontTx/>
              <a:buNone/>
              <a:tabLst/>
            </a:pPr>
            <a:endParaRPr kumimoji="0" lang="en-US" sz="1300" b="0" i="0" u="none" strike="noStrike" cap="none" normalizeH="0" baseline="0">
              <a:ln>
                <a:noFill/>
              </a:ln>
              <a:solidFill>
                <a:srgbClr val="282828"/>
              </a:solidFill>
              <a:effectLst/>
              <a:latin typeface="Roboto"/>
              <a:cs typeface="Arial" pitchFamily="34" charset="0"/>
            </a:endParaRPr>
          </a:p>
        </p:txBody>
      </p:sp>
      <p:pic>
        <p:nvPicPr>
          <p:cNvPr id="13314" name="Picture 2" descr="https://secure.gravatar.com/avatar/28e77ef4a060c1545bf51adf797c340c?s=100&amp;d=mm&amp;r=g"/>
          <p:cNvPicPr>
            <a:picLocks noChangeAspect="1" noChangeArrowheads="1"/>
          </p:cNvPicPr>
          <p:nvPr/>
        </p:nvPicPr>
        <p:blipFill>
          <a:blip r:embed="rId2"/>
          <a:srcRect/>
          <a:stretch>
            <a:fillRect/>
          </a:stretch>
        </p:blipFill>
        <p:spPr bwMode="auto">
          <a:xfrm>
            <a:off x="123825" y="-4260850"/>
            <a:ext cx="952500" cy="952500"/>
          </a:xfrm>
          <a:prstGeom prst="rect">
            <a:avLst/>
          </a:prstGeom>
          <a:noFill/>
        </p:spPr>
      </p:pic>
      <p:sp>
        <p:nvSpPr>
          <p:cNvPr id="7" name="Rectangle 6"/>
          <p:cNvSpPr/>
          <p:nvPr/>
        </p:nvSpPr>
        <p:spPr>
          <a:xfrm>
            <a:off x="571472" y="1000108"/>
            <a:ext cx="8143932" cy="4324261"/>
          </a:xfrm>
          <a:prstGeom prst="rect">
            <a:avLst/>
          </a:prstGeom>
        </p:spPr>
        <p:txBody>
          <a:bodyPr wrap="square">
            <a:spAutoFit/>
          </a:bodyPr>
          <a:lstStyle/>
          <a:p>
            <a:pPr algn="just"/>
            <a:r>
              <a:rPr lang="en-IN" sz="2500" b="1" dirty="0">
                <a:highlight>
                  <a:srgbClr val="FFFF00"/>
                </a:highlight>
              </a:rPr>
              <a:t>What is Non Linear Data Structure?</a:t>
            </a:r>
          </a:p>
          <a:p>
            <a:pPr algn="just"/>
            <a:r>
              <a:rPr lang="en-IN" sz="2500" dirty="0">
                <a:highlight>
                  <a:srgbClr val="FFFF00"/>
                </a:highlight>
              </a:rPr>
              <a:t>Non-linear data structures are those where data items are not arranged in a sequential manner, unlike linear data structures. In these data structures, elements are stored in a hierarchical or a network-based structure that does not follow a sequential order. These data structures allow efficient searching, insertion, and deletion of elements from the structure.</a:t>
            </a:r>
          </a:p>
          <a:p>
            <a:pPr algn="just"/>
            <a:r>
              <a:rPr lang="en-IN" sz="2500" b="1" dirty="0">
                <a:highlight>
                  <a:srgbClr val="FFFF00"/>
                </a:highlight>
              </a:rPr>
              <a:t>Examples of Non Linear Data Structures:</a:t>
            </a:r>
            <a:endParaRPr lang="en-IN" sz="2500" dirty="0">
              <a:highlight>
                <a:srgbClr val="FFFF00"/>
              </a:highlight>
            </a:endParaRPr>
          </a:p>
          <a:p>
            <a:pPr algn="just"/>
            <a:r>
              <a:rPr lang="en-IN" sz="2500" dirty="0">
                <a:highlight>
                  <a:srgbClr val="FFFF00"/>
                </a:highlight>
              </a:rPr>
              <a:t>Trees</a:t>
            </a:r>
          </a:p>
          <a:p>
            <a:pPr algn="just"/>
            <a:r>
              <a:rPr lang="en-IN" sz="2500" dirty="0">
                <a:highlight>
                  <a:srgbClr val="FFFF00"/>
                </a:highlight>
              </a:rPr>
              <a:t>Graphs,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Rooted trees</a:t>
            </a:r>
          </a:p>
        </p:txBody>
      </p:sp>
      <p:sp>
        <p:nvSpPr>
          <p:cNvPr id="3" name="Content Placeholder 2"/>
          <p:cNvSpPr>
            <a:spLocks noGrp="1"/>
          </p:cNvSpPr>
          <p:nvPr>
            <p:ph idx="1"/>
          </p:nvPr>
        </p:nvSpPr>
        <p:spPr/>
        <p:txBody>
          <a:bodyPr>
            <a:normAutofit fontScale="77500" lnSpcReduction="20000"/>
          </a:bodyPr>
          <a:lstStyle/>
          <a:p>
            <a:r>
              <a:rPr lang="en-IN" dirty="0"/>
              <a:t>A </a:t>
            </a:r>
            <a:r>
              <a:rPr lang="en-IN" b="1" dirty="0"/>
              <a:t>rooted tree</a:t>
            </a:r>
            <a:r>
              <a:rPr lang="en-IN" dirty="0"/>
              <a:t> is a tree with a special vertex labelled as the "root" the of tree.</a:t>
            </a:r>
          </a:p>
          <a:p>
            <a:r>
              <a:rPr lang="en-IN" dirty="0"/>
              <a:t>The root serves as a point of reference for other vertices in the tree. In diagrams, we usually keep the root at the top and list other vertices below it.</a:t>
            </a:r>
          </a:p>
          <a:p>
            <a:r>
              <a:rPr lang="en-IN" dirty="0"/>
              <a:t>This notion is particularly useful in computer science for working with tree-based data structures.</a:t>
            </a:r>
          </a:p>
          <a:p>
            <a:r>
              <a:rPr lang="en-IN" dirty="0"/>
              <a:t>In the figure, the root vertex is shown with a black border.</a:t>
            </a:r>
          </a:p>
          <a:p>
            <a:r>
              <a:rPr lang="en-IN" dirty="0"/>
              <a:t>Below are some useful terms associated with rooted trees.</a:t>
            </a:r>
          </a:p>
          <a:p>
            <a:r>
              <a:rPr lang="en-IN" b="1" dirty="0"/>
              <a:t>Branch</a:t>
            </a:r>
            <a:r>
              <a:rPr lang="en-IN" dirty="0"/>
              <a:t> is just another name given to edges of the tree.</a:t>
            </a:r>
          </a:p>
          <a:p>
            <a:r>
              <a:rPr lang="en-IN" b="1" dirty="0"/>
              <a:t>Depth of a vertex</a:t>
            </a:r>
            <a:r>
              <a:rPr lang="en-IN" dirty="0"/>
              <a:t> is the number of branches in the path from root to the vertex. So depth of the root itself is zero.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3"/>
          <p:cNvSpPr/>
          <p:nvPr/>
        </p:nvSpPr>
        <p:spPr>
          <a:xfrm>
            <a:off x="857224" y="2500306"/>
            <a:ext cx="7643866" cy="1754326"/>
          </a:xfrm>
          <a:prstGeom prst="rect">
            <a:avLst/>
          </a:prstGeom>
        </p:spPr>
        <p:txBody>
          <a:bodyPr wrap="square">
            <a:spAutoFit/>
          </a:bodyPr>
          <a:lstStyle/>
          <a:p>
            <a:r>
              <a:rPr lang="en-IN" b="1" dirty="0"/>
              <a:t>Level of a vertex</a:t>
            </a:r>
            <a:r>
              <a:rPr lang="en-IN" dirty="0"/>
              <a:t> is number of vertex in the path from root to the vertex. This is just one more than the depth of the vertex. Level of root is 1.</a:t>
            </a:r>
          </a:p>
          <a:p>
            <a:r>
              <a:rPr lang="en-IN" b="1" dirty="0"/>
              <a:t>Note:</a:t>
            </a:r>
            <a:r>
              <a:rPr lang="en-IN" dirty="0"/>
              <a:t> There can be multiple </a:t>
            </a:r>
            <a:r>
              <a:rPr lang="en-IN" dirty="0" err="1"/>
              <a:t>childs</a:t>
            </a:r>
            <a:r>
              <a:rPr lang="en-IN" dirty="0"/>
              <a:t> of a vertex, but parent of a vertex is unique. Root is the only vertex in a tree without any parent.</a:t>
            </a:r>
          </a:p>
          <a:p>
            <a:r>
              <a:rPr lang="en-IN" dirty="0"/>
              <a:t>A </a:t>
            </a:r>
            <a:r>
              <a:rPr lang="en-IN" b="1" dirty="0"/>
              <a:t>leaf</a:t>
            </a:r>
            <a:r>
              <a:rPr lang="en-IN" dirty="0"/>
              <a:t> is a vertex without any child.</a:t>
            </a:r>
          </a:p>
          <a:p>
            <a:r>
              <a:rPr lang="en-IN" b="1" dirty="0"/>
              <a:t>Height of tree</a:t>
            </a:r>
            <a:r>
              <a:rPr lang="en-IN" dirty="0"/>
              <a:t> is the maximum value of depth for any vertex in the tree.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7" name="Content Placeholder 6">
            <a:extLst>
              <a:ext uri="{FF2B5EF4-FFF2-40B4-BE49-F238E27FC236}">
                <a16:creationId xmlns:a16="http://schemas.microsoft.com/office/drawing/2014/main" id="{8C4E63C4-9337-4F25-EC40-C9924595C809}"/>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1FC1413E-5690-1BEC-77E6-42CEF23330C4}"/>
              </a:ext>
            </a:extLst>
          </p:cNvPr>
          <p:cNvPicPr>
            <a:picLocks noChangeAspect="1"/>
          </p:cNvPicPr>
          <p:nvPr/>
        </p:nvPicPr>
        <p:blipFill>
          <a:blip r:embed="rId2"/>
          <a:stretch>
            <a:fillRect/>
          </a:stretch>
        </p:blipFill>
        <p:spPr>
          <a:xfrm>
            <a:off x="107504" y="218769"/>
            <a:ext cx="8040483" cy="61104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Binary Tree</a:t>
            </a:r>
          </a:p>
        </p:txBody>
      </p:sp>
      <p:sp>
        <p:nvSpPr>
          <p:cNvPr id="3" name="Content Placeholder 2"/>
          <p:cNvSpPr>
            <a:spLocks noGrp="1"/>
          </p:cNvSpPr>
          <p:nvPr>
            <p:ph idx="1"/>
          </p:nvPr>
        </p:nvSpPr>
        <p:spPr/>
        <p:txBody>
          <a:bodyPr>
            <a:normAutofit fontScale="92500" lnSpcReduction="20000"/>
          </a:bodyPr>
          <a:lstStyle/>
          <a:p>
            <a:r>
              <a:rPr lang="en-IN" dirty="0"/>
              <a:t>A binary tree is a hierarchal data structure in which each node has at most two children. The child nodes are called the left child and the right child.</a:t>
            </a:r>
          </a:p>
          <a:p>
            <a:r>
              <a:rPr lang="en-IN" dirty="0"/>
              <a:t>To start with, let’s describe the linked list representation of a binary tree in which each node has three fields:</a:t>
            </a:r>
          </a:p>
          <a:p>
            <a:r>
              <a:rPr lang="en-IN" dirty="0"/>
              <a:t>Pointer to store the address of the left child</a:t>
            </a:r>
          </a:p>
          <a:p>
            <a:r>
              <a:rPr lang="en-IN" dirty="0"/>
              <a:t>Data element</a:t>
            </a:r>
          </a:p>
          <a:p>
            <a:r>
              <a:rPr lang="en-IN" dirty="0"/>
              <a:t>Pointer to store the address of the right child</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9458" name="Picture 2" descr="example_bt-1"/>
          <p:cNvPicPr>
            <a:picLocks noChangeAspect="1" noChangeArrowheads="1"/>
          </p:cNvPicPr>
          <p:nvPr/>
        </p:nvPicPr>
        <p:blipFill>
          <a:blip r:embed="rId2"/>
          <a:srcRect/>
          <a:stretch>
            <a:fillRect/>
          </a:stretch>
        </p:blipFill>
        <p:spPr bwMode="auto">
          <a:xfrm>
            <a:off x="357159" y="1214422"/>
            <a:ext cx="8284060" cy="3643338"/>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Properties</a:t>
            </a:r>
            <a:br>
              <a:rPr lang="en-IN" b="1" dirty="0"/>
            </a:br>
            <a:endParaRPr lang="en-IN" dirty="0"/>
          </a:p>
        </p:txBody>
      </p:sp>
      <p:sp>
        <p:nvSpPr>
          <p:cNvPr id="3" name="Content Placeholder 2"/>
          <p:cNvSpPr>
            <a:spLocks noGrp="1"/>
          </p:cNvSpPr>
          <p:nvPr>
            <p:ph idx="1"/>
          </p:nvPr>
        </p:nvSpPr>
        <p:spPr/>
        <p:txBody>
          <a:bodyPr>
            <a:normAutofit fontScale="70000" lnSpcReduction="20000"/>
          </a:bodyPr>
          <a:lstStyle/>
          <a:p>
            <a:r>
              <a:rPr lang="en-IN" dirty="0"/>
              <a:t>A binary tree can have a maximum of  nodes at level  if the level of the root is zero.</a:t>
            </a:r>
          </a:p>
          <a:p>
            <a:r>
              <a:rPr lang="en-IN" dirty="0"/>
              <a:t>When each node of a binary tree has one or two children, the number of leaf nodes (nodes with no children) is one more than the number of nodes that have two children.</a:t>
            </a:r>
          </a:p>
          <a:p>
            <a:r>
              <a:rPr lang="en-IN" dirty="0"/>
              <a:t>There exists a maximum of  nodes in a binary tree if its height is , and the height of a leaf node is one.</a:t>
            </a:r>
          </a:p>
          <a:p>
            <a:r>
              <a:rPr lang="en-IN" dirty="0"/>
              <a:t>If there are  leaf nodes in a binary tree, then it has at least  and at most  levels.</a:t>
            </a:r>
          </a:p>
          <a:p>
            <a:r>
              <a:rPr lang="en-IN" dirty="0"/>
              <a:t>A binary tree of  nodes has  minimum number of levels or minimum height.</a:t>
            </a:r>
          </a:p>
          <a:p>
            <a:r>
              <a:rPr lang="en-IN" dirty="0"/>
              <a:t>The minimum and the maximum height of a binary tree having  nodes are  and , respectively.</a:t>
            </a:r>
          </a:p>
          <a:p>
            <a:r>
              <a:rPr lang="en-IN" b="1" dirty="0"/>
              <a:t> </a:t>
            </a:r>
            <a:r>
              <a:rPr lang="en-IN" dirty="0"/>
              <a:t>A binary tree of  nodes has  null references.</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How to implement a Binary Tree?</a:t>
            </a:r>
            <a:br>
              <a:rPr lang="en-IN" u="sng" dirty="0"/>
            </a:br>
            <a:endParaRPr lang="en-IN" dirty="0"/>
          </a:p>
        </p:txBody>
      </p:sp>
      <p:sp>
        <p:nvSpPr>
          <p:cNvPr id="3" name="Content Placeholder 2"/>
          <p:cNvSpPr>
            <a:spLocks noGrp="1"/>
          </p:cNvSpPr>
          <p:nvPr>
            <p:ph idx="1"/>
          </p:nvPr>
        </p:nvSpPr>
        <p:spPr/>
        <p:txBody>
          <a:bodyPr>
            <a:normAutofit fontScale="85000" lnSpcReduction="10000"/>
          </a:bodyPr>
          <a:lstStyle/>
          <a:p>
            <a:pPr>
              <a:buNone/>
            </a:pPr>
            <a:r>
              <a:rPr lang="en-IN" dirty="0"/>
              <a:t>We’ll use an auxiliary </a:t>
            </a:r>
            <a:r>
              <a:rPr lang="en-IN" i="1" dirty="0"/>
              <a:t>Node</a:t>
            </a:r>
            <a:r>
              <a:rPr lang="en-IN" dirty="0"/>
              <a:t> class that will store </a:t>
            </a:r>
            <a:r>
              <a:rPr lang="en-IN" i="1" dirty="0" err="1"/>
              <a:t>int</a:t>
            </a:r>
            <a:r>
              <a:rPr lang="en-IN" dirty="0"/>
              <a:t> values. And keep a reference to each child:</a:t>
            </a:r>
          </a:p>
          <a:p>
            <a:pPr>
              <a:buNone/>
            </a:pPr>
            <a:r>
              <a:rPr lang="en-IN" dirty="0"/>
              <a:t>class </a:t>
            </a:r>
            <a:r>
              <a:rPr lang="en-IN" b="1" dirty="0"/>
              <a:t>Node</a:t>
            </a:r>
            <a:r>
              <a:rPr lang="en-IN" dirty="0"/>
              <a:t> {</a:t>
            </a:r>
            <a:br>
              <a:rPr lang="en-IN" dirty="0"/>
            </a:br>
            <a:r>
              <a:rPr lang="en-IN" dirty="0" err="1"/>
              <a:t>int</a:t>
            </a:r>
            <a:r>
              <a:rPr lang="en-IN" dirty="0"/>
              <a:t> value;</a:t>
            </a:r>
            <a:br>
              <a:rPr lang="en-IN" dirty="0"/>
            </a:br>
            <a:r>
              <a:rPr lang="en-IN" dirty="0"/>
              <a:t>Node </a:t>
            </a:r>
            <a:r>
              <a:rPr lang="en-IN" dirty="0" err="1"/>
              <a:t>leftChild</a:t>
            </a:r>
            <a:r>
              <a:rPr lang="en-IN" dirty="0"/>
              <a:t>;</a:t>
            </a:r>
            <a:br>
              <a:rPr lang="en-IN" dirty="0"/>
            </a:br>
            <a:r>
              <a:rPr lang="en-IN" dirty="0"/>
              <a:t>Node </a:t>
            </a:r>
            <a:r>
              <a:rPr lang="en-IN" dirty="0" err="1"/>
              <a:t>rightChild</a:t>
            </a:r>
            <a:r>
              <a:rPr lang="en-IN" dirty="0"/>
              <a:t>; Node(</a:t>
            </a:r>
            <a:r>
              <a:rPr lang="en-IN" dirty="0" err="1"/>
              <a:t>int</a:t>
            </a:r>
            <a:r>
              <a:rPr lang="en-IN" dirty="0"/>
              <a:t> value) {</a:t>
            </a:r>
            <a:br>
              <a:rPr lang="en-IN" dirty="0"/>
            </a:br>
            <a:r>
              <a:rPr lang="en-IN" dirty="0" err="1"/>
              <a:t>this.value</a:t>
            </a:r>
            <a:r>
              <a:rPr lang="en-IN" dirty="0"/>
              <a:t> = value;</a:t>
            </a:r>
            <a:br>
              <a:rPr lang="en-IN" dirty="0"/>
            </a:br>
            <a:r>
              <a:rPr lang="en-IN" dirty="0" err="1"/>
              <a:t>rightChild</a:t>
            </a:r>
            <a:r>
              <a:rPr lang="en-IN" dirty="0"/>
              <a:t> = null;</a:t>
            </a:r>
            <a:br>
              <a:rPr lang="en-IN" dirty="0"/>
            </a:br>
            <a:r>
              <a:rPr lang="en-IN" dirty="0" err="1"/>
              <a:t>leftChild</a:t>
            </a:r>
            <a:r>
              <a:rPr lang="en-IN" dirty="0"/>
              <a:t> = null;</a:t>
            </a:r>
            <a:br>
              <a:rPr lang="en-IN" dirty="0"/>
            </a:br>
            <a:r>
              <a:rPr lang="en-IN" dirty="0"/>
              <a:t>}</a:t>
            </a:r>
            <a:br>
              <a:rPr lang="en-IN" dirty="0"/>
            </a:br>
            <a:r>
              <a:rPr lang="en-IN"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Binary Trees</a:t>
            </a:r>
            <a:br>
              <a:rPr lang="en-IN" b="1" dirty="0"/>
            </a:br>
            <a:endParaRPr lang="en-IN" dirty="0"/>
          </a:p>
        </p:txBody>
      </p:sp>
      <p:sp>
        <p:nvSpPr>
          <p:cNvPr id="3" name="Content Placeholder 2"/>
          <p:cNvSpPr>
            <a:spLocks noGrp="1"/>
          </p:cNvSpPr>
          <p:nvPr>
            <p:ph idx="1"/>
          </p:nvPr>
        </p:nvSpPr>
        <p:spPr>
          <a:xfrm>
            <a:off x="457200" y="1600201"/>
            <a:ext cx="8229600" cy="2185990"/>
          </a:xfrm>
        </p:spPr>
        <p:txBody>
          <a:bodyPr>
            <a:normAutofit fontScale="85000" lnSpcReduction="10000"/>
          </a:bodyPr>
          <a:lstStyle/>
          <a:p>
            <a:r>
              <a:rPr lang="en-IN" dirty="0"/>
              <a:t>Full Binary Tree</a:t>
            </a:r>
          </a:p>
          <a:p>
            <a:r>
              <a:rPr lang="en-IN" dirty="0"/>
              <a:t>A binary tree is said to be a full binary tree when each internal node has zero or two children:</a:t>
            </a:r>
          </a:p>
          <a:p>
            <a:pPr>
              <a:buNone/>
            </a:pPr>
            <a:br>
              <a:rPr lang="en-IN" dirty="0"/>
            </a:br>
            <a:endParaRPr lang="en-IN" dirty="0"/>
          </a:p>
        </p:txBody>
      </p:sp>
      <p:pic>
        <p:nvPicPr>
          <p:cNvPr id="21506" name="Picture 2" descr="full binary tree"/>
          <p:cNvPicPr>
            <a:picLocks noChangeAspect="1" noChangeArrowheads="1"/>
          </p:cNvPicPr>
          <p:nvPr/>
        </p:nvPicPr>
        <p:blipFill>
          <a:blip r:embed="rId2"/>
          <a:srcRect/>
          <a:stretch>
            <a:fillRect/>
          </a:stretch>
        </p:blipFill>
        <p:spPr bwMode="auto">
          <a:xfrm>
            <a:off x="642910" y="3448049"/>
            <a:ext cx="7072362" cy="2923679"/>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1"/>
            <a:ext cx="8229600" cy="2400304"/>
          </a:xfrm>
        </p:spPr>
        <p:txBody>
          <a:bodyPr>
            <a:normAutofit lnSpcReduction="10000"/>
          </a:bodyPr>
          <a:lstStyle/>
          <a:p>
            <a:r>
              <a:rPr lang="en-IN" dirty="0"/>
              <a:t>Perfect Binary Tree</a:t>
            </a:r>
          </a:p>
          <a:p>
            <a:r>
              <a:rPr lang="en-IN" dirty="0"/>
              <a:t>A perfect binary tree is a special type of binary tree in which all the leaf nodes are at the same level, and each internal node has two children:</a:t>
            </a:r>
          </a:p>
          <a:p>
            <a:pPr>
              <a:buNone/>
            </a:pPr>
            <a:endParaRPr lang="en-IN" dirty="0"/>
          </a:p>
        </p:txBody>
      </p:sp>
      <p:pic>
        <p:nvPicPr>
          <p:cNvPr id="23554" name="Picture 2" descr="perfect binary tree"/>
          <p:cNvPicPr>
            <a:picLocks noChangeAspect="1" noChangeArrowheads="1"/>
          </p:cNvPicPr>
          <p:nvPr/>
        </p:nvPicPr>
        <p:blipFill>
          <a:blip r:embed="rId2"/>
          <a:srcRect/>
          <a:stretch>
            <a:fillRect/>
          </a:stretch>
        </p:blipFill>
        <p:spPr bwMode="auto">
          <a:xfrm>
            <a:off x="357158" y="3571876"/>
            <a:ext cx="7770007" cy="2786059"/>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1"/>
            <a:ext cx="8686800" cy="2471742"/>
          </a:xfrm>
        </p:spPr>
        <p:txBody>
          <a:bodyPr>
            <a:normAutofit fontScale="92500"/>
          </a:bodyPr>
          <a:lstStyle/>
          <a:p>
            <a:r>
              <a:rPr lang="en-IN" dirty="0"/>
              <a:t>Complete Binary Tree</a:t>
            </a:r>
          </a:p>
          <a:p>
            <a:r>
              <a:rPr lang="en-IN" dirty="0"/>
              <a:t>A binary tree is referred to as a complete binary tree when all of its levels are completely filled. The only exception is possibly the lowest level in which the nodes must lean as left as possible:</a:t>
            </a:r>
          </a:p>
          <a:p>
            <a:endParaRPr lang="en-IN" dirty="0"/>
          </a:p>
        </p:txBody>
      </p:sp>
      <p:pic>
        <p:nvPicPr>
          <p:cNvPr id="24578" name="Picture 2" descr="complete binary tree"/>
          <p:cNvPicPr>
            <a:picLocks noChangeAspect="1" noChangeArrowheads="1"/>
          </p:cNvPicPr>
          <p:nvPr/>
        </p:nvPicPr>
        <p:blipFill>
          <a:blip r:embed="rId2"/>
          <a:srcRect/>
          <a:stretch>
            <a:fillRect/>
          </a:stretch>
        </p:blipFill>
        <p:spPr bwMode="auto">
          <a:xfrm>
            <a:off x="1500166" y="4071942"/>
            <a:ext cx="6000792" cy="244958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457200" y="1600201"/>
            <a:ext cx="8229600" cy="2614618"/>
          </a:xfrm>
        </p:spPr>
        <p:txBody>
          <a:bodyPr>
            <a:normAutofit lnSpcReduction="10000"/>
          </a:bodyPr>
          <a:lstStyle/>
          <a:p>
            <a:r>
              <a:rPr lang="en-IN" b="1" dirty="0"/>
              <a:t>Degenerate or Pathological Tree</a:t>
            </a:r>
          </a:p>
          <a:p>
            <a:pPr>
              <a:buNone/>
            </a:pPr>
            <a:r>
              <a:rPr lang="en-IN" dirty="0"/>
              <a:t>A degenerate or pathological tree is a type of binary tree in which each internal node has a single child, either the left child or the right child:</a:t>
            </a:r>
          </a:p>
          <a:p>
            <a:pPr>
              <a:buNone/>
            </a:pPr>
            <a:endParaRPr lang="en-IN" dirty="0"/>
          </a:p>
        </p:txBody>
      </p:sp>
      <p:pic>
        <p:nvPicPr>
          <p:cNvPr id="25602" name="Picture 2" descr="degenerate tree"/>
          <p:cNvPicPr>
            <a:picLocks noChangeAspect="1" noChangeArrowheads="1"/>
          </p:cNvPicPr>
          <p:nvPr/>
        </p:nvPicPr>
        <p:blipFill>
          <a:blip r:embed="rId2"/>
          <a:srcRect/>
          <a:stretch>
            <a:fillRect/>
          </a:stretch>
        </p:blipFill>
        <p:spPr bwMode="auto">
          <a:xfrm>
            <a:off x="3071802" y="3714752"/>
            <a:ext cx="4500594" cy="2943176"/>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14400" y="500042"/>
            <a:ext cx="8229600" cy="2828932"/>
          </a:xfrm>
        </p:spPr>
        <p:txBody>
          <a:bodyPr>
            <a:normAutofit fontScale="92500" lnSpcReduction="20000"/>
          </a:bodyPr>
          <a:lstStyle/>
          <a:p>
            <a:r>
              <a:rPr lang="en-IN" b="1" dirty="0"/>
              <a:t>Skewed Binary Tree</a:t>
            </a:r>
          </a:p>
          <a:p>
            <a:r>
              <a:rPr lang="en-IN" dirty="0"/>
              <a:t>A binary tree is said to be a skewed binary tree if all of its internal nodes have exactly one child, and either left children or right children dominate the tree. In particular, there exist two types of skewed binary trees: left-skewed binary tree and the right-skewed binary tree:</a:t>
            </a:r>
          </a:p>
        </p:txBody>
      </p:sp>
      <p:pic>
        <p:nvPicPr>
          <p:cNvPr id="26626" name="Picture 2" descr="skewed binary tree"/>
          <p:cNvPicPr>
            <a:picLocks noChangeAspect="1" noChangeArrowheads="1"/>
          </p:cNvPicPr>
          <p:nvPr/>
        </p:nvPicPr>
        <p:blipFill>
          <a:blip r:embed="rId2"/>
          <a:srcRect/>
          <a:stretch>
            <a:fillRect/>
          </a:stretch>
        </p:blipFill>
        <p:spPr bwMode="auto">
          <a:xfrm>
            <a:off x="1285852" y="3429000"/>
            <a:ext cx="7471633" cy="3071834"/>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571472" y="500042"/>
            <a:ext cx="8229600" cy="2185990"/>
          </a:xfrm>
        </p:spPr>
        <p:txBody>
          <a:bodyPr>
            <a:normAutofit fontScale="92500" lnSpcReduction="20000"/>
          </a:bodyPr>
          <a:lstStyle/>
          <a:p>
            <a:r>
              <a:rPr lang="en-IN" dirty="0"/>
              <a:t> Balanced Binary Tree</a:t>
            </a:r>
          </a:p>
          <a:p>
            <a:r>
              <a:rPr lang="en-IN" dirty="0"/>
              <a:t>A balanced binary tree is also a special type of binary tree in which the difference of height between the left and the right </a:t>
            </a:r>
            <a:r>
              <a:rPr lang="en-IN" dirty="0" err="1"/>
              <a:t>subtrees</a:t>
            </a:r>
            <a:r>
              <a:rPr lang="en-IN" dirty="0"/>
              <a:t> for each node is at most one:</a:t>
            </a:r>
          </a:p>
          <a:p>
            <a:endParaRPr lang="en-IN" dirty="0"/>
          </a:p>
        </p:txBody>
      </p:sp>
      <p:pic>
        <p:nvPicPr>
          <p:cNvPr id="27650" name="Picture 2" descr="balanced binary tree"/>
          <p:cNvPicPr>
            <a:picLocks noChangeAspect="1" noChangeArrowheads="1"/>
          </p:cNvPicPr>
          <p:nvPr/>
        </p:nvPicPr>
        <p:blipFill>
          <a:blip r:embed="rId2"/>
          <a:srcRect/>
          <a:stretch>
            <a:fillRect/>
          </a:stretch>
        </p:blipFill>
        <p:spPr bwMode="auto">
          <a:xfrm>
            <a:off x="1428728" y="2928934"/>
            <a:ext cx="6390707" cy="3286113"/>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Binary Search Tree</a:t>
            </a:r>
            <a:endParaRPr lang="en-IN" dirty="0"/>
          </a:p>
        </p:txBody>
      </p:sp>
      <p:sp>
        <p:nvSpPr>
          <p:cNvPr id="3" name="Content Placeholder 2"/>
          <p:cNvSpPr>
            <a:spLocks noGrp="1"/>
          </p:cNvSpPr>
          <p:nvPr>
            <p:ph idx="1"/>
          </p:nvPr>
        </p:nvSpPr>
        <p:spPr/>
        <p:txBody>
          <a:bodyPr>
            <a:normAutofit fontScale="85000" lnSpcReduction="20000"/>
          </a:bodyPr>
          <a:lstStyle/>
          <a:p>
            <a:r>
              <a:rPr lang="en-IN" dirty="0"/>
              <a:t> B</a:t>
            </a:r>
            <a:r>
              <a:rPr lang="en-IN" dirty="0">
                <a:hlinkClick r:id="rId2"/>
              </a:rPr>
              <a:t>inary search tree</a:t>
            </a:r>
            <a:r>
              <a:rPr lang="en-IN" dirty="0"/>
              <a:t>, also known as an ordered or sorted binary tree in computer science, is a rooted binary tree data structure in which each internal node stores a key that is larger than all keys in the node’s left </a:t>
            </a:r>
            <a:r>
              <a:rPr lang="en-IN" dirty="0" err="1"/>
              <a:t>subtree</a:t>
            </a:r>
            <a:r>
              <a:rPr lang="en-IN" dirty="0"/>
              <a:t> but less than those in the node’s right </a:t>
            </a:r>
            <a:r>
              <a:rPr lang="en-IN" dirty="0" err="1"/>
              <a:t>subtree</a:t>
            </a:r>
            <a:r>
              <a:rPr lang="en-IN" dirty="0"/>
              <a:t>.</a:t>
            </a:r>
          </a:p>
          <a:p>
            <a:pPr>
              <a:buNone/>
            </a:pPr>
            <a:r>
              <a:rPr lang="en-IN" b="1" dirty="0"/>
              <a:t>What is the difference between a Binary tree and a Binary Search Tree?</a:t>
            </a:r>
          </a:p>
          <a:p>
            <a:r>
              <a:rPr lang="en-IN" dirty="0"/>
              <a:t>A </a:t>
            </a:r>
            <a:r>
              <a:rPr lang="en-IN" dirty="0">
                <a:hlinkClick r:id="rId3"/>
              </a:rPr>
              <a:t>Binary Tree</a:t>
            </a:r>
            <a:r>
              <a:rPr lang="en-IN" dirty="0"/>
              <a:t> is a simple structure with the simple constraint that no parent can have more than two offspring, but a Binary Search Tree is a version of the binary tree that follows a certain order in which the nodes should be ordered.</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IN" dirty="0"/>
              <a:t>It is called a binary tree because each tree node has a maximum of two children.</a:t>
            </a:r>
          </a:p>
          <a:p>
            <a:r>
              <a:rPr lang="en-IN" dirty="0"/>
              <a:t>It is called a search tree because it can be used to search for the presence of a number in O(log(n)) time.</a:t>
            </a:r>
          </a:p>
          <a:p>
            <a:r>
              <a:rPr lang="en-IN" dirty="0"/>
              <a:t>The properties that separate a binary search tree from a regular </a:t>
            </a:r>
            <a:r>
              <a:rPr lang="en-IN" dirty="0">
                <a:hlinkClick r:id="rId2"/>
              </a:rPr>
              <a:t>binary tree</a:t>
            </a:r>
            <a:r>
              <a:rPr lang="en-IN" dirty="0"/>
              <a:t> is</a:t>
            </a:r>
          </a:p>
          <a:p>
            <a:r>
              <a:rPr lang="en-IN" dirty="0"/>
              <a:t>All nodes of left </a:t>
            </a:r>
            <a:r>
              <a:rPr lang="en-IN" dirty="0" err="1"/>
              <a:t>subtree</a:t>
            </a:r>
            <a:r>
              <a:rPr lang="en-IN" dirty="0"/>
              <a:t> are less than the root node</a:t>
            </a:r>
          </a:p>
          <a:p>
            <a:r>
              <a:rPr lang="en-IN" dirty="0"/>
              <a:t>All nodes of right </a:t>
            </a:r>
            <a:r>
              <a:rPr lang="en-IN" dirty="0" err="1"/>
              <a:t>subtree</a:t>
            </a:r>
            <a:r>
              <a:rPr lang="en-IN" dirty="0"/>
              <a:t> are more than the root node</a:t>
            </a:r>
          </a:p>
          <a:p>
            <a:r>
              <a:rPr lang="en-IN" dirty="0"/>
              <a:t>Both </a:t>
            </a:r>
            <a:r>
              <a:rPr lang="en-IN" dirty="0" err="1"/>
              <a:t>subtrees</a:t>
            </a:r>
            <a:r>
              <a:rPr lang="en-IN" dirty="0"/>
              <a:t> of each node are also BSTs i.e. they have the above two properties</a:t>
            </a:r>
          </a:p>
          <a:p>
            <a:endParaRPr lang="en-IN" dirty="0"/>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329642" cy="4972072"/>
          </a:xfrm>
        </p:spPr>
        <p:txBody>
          <a:bodyPr/>
          <a:lstStyle/>
          <a:p>
            <a:endParaRPr lang="en-IN" dirty="0"/>
          </a:p>
        </p:txBody>
      </p:sp>
      <p:pic>
        <p:nvPicPr>
          <p:cNvPr id="28674" name="Picture 2" descr="A tree having a right subtree with one value smaller than the root is shown to demonstrate that it is not a valid binary search tree"/>
          <p:cNvPicPr>
            <a:picLocks noChangeAspect="1" noChangeArrowheads="1"/>
          </p:cNvPicPr>
          <p:nvPr/>
        </p:nvPicPr>
        <p:blipFill>
          <a:blip r:embed="rId2"/>
          <a:srcRect/>
          <a:stretch>
            <a:fillRect/>
          </a:stretch>
        </p:blipFill>
        <p:spPr bwMode="auto">
          <a:xfrm>
            <a:off x="1071538" y="285728"/>
            <a:ext cx="6143668" cy="611632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Search Operation</a:t>
            </a:r>
          </a:p>
        </p:txBody>
      </p:sp>
      <p:sp>
        <p:nvSpPr>
          <p:cNvPr id="3" name="Content Placeholder 2"/>
          <p:cNvSpPr>
            <a:spLocks noGrp="1"/>
          </p:cNvSpPr>
          <p:nvPr>
            <p:ph idx="1"/>
          </p:nvPr>
        </p:nvSpPr>
        <p:spPr/>
        <p:txBody>
          <a:bodyPr/>
          <a:lstStyle/>
          <a:p>
            <a:r>
              <a:rPr lang="en-IN" b="1" dirty="0"/>
              <a:t>Algorithm:</a:t>
            </a:r>
            <a:endParaRPr lang="en-IN" dirty="0"/>
          </a:p>
          <a:p>
            <a:pPr>
              <a:buNone/>
            </a:pPr>
            <a:r>
              <a:rPr lang="en-IN" dirty="0"/>
              <a:t>If root == NULL return NULL; If number == root-&gt;data return root-&gt;data; If number &lt; root-&gt;data return search(root-&gt;left) If number &gt; root-&gt;data return search(root-&gt;right)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Insert Operation</a:t>
            </a:r>
            <a:br>
              <a:rPr lang="en-IN" b="1" dirty="0"/>
            </a:br>
            <a:endParaRPr lang="en-IN" dirty="0"/>
          </a:p>
        </p:txBody>
      </p:sp>
      <p:sp>
        <p:nvSpPr>
          <p:cNvPr id="3" name="Content Placeholder 2"/>
          <p:cNvSpPr>
            <a:spLocks noGrp="1"/>
          </p:cNvSpPr>
          <p:nvPr>
            <p:ph idx="1"/>
          </p:nvPr>
        </p:nvSpPr>
        <p:spPr/>
        <p:txBody>
          <a:bodyPr/>
          <a:lstStyle/>
          <a:p>
            <a:r>
              <a:rPr lang="en-IN" b="1" dirty="0"/>
              <a:t>Algorithm:</a:t>
            </a:r>
            <a:endParaRPr lang="en-IN" dirty="0"/>
          </a:p>
          <a:p>
            <a:pPr>
              <a:buNone/>
            </a:pPr>
            <a:r>
              <a:rPr lang="en-IN" dirty="0"/>
              <a:t>If node == NULL return </a:t>
            </a:r>
            <a:r>
              <a:rPr lang="en-IN" dirty="0" err="1"/>
              <a:t>createNode</a:t>
            </a:r>
            <a:r>
              <a:rPr lang="en-IN" dirty="0"/>
              <a:t>(data) if (data &lt; node-&gt;data) node-&gt;left = insert(node-&gt;left, data); else if (data &gt; node-&gt;data) node-&gt;right = insert(node-&gt;right, data); return node;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Deletion Operation</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r>
              <a:rPr lang="en-IN" b="1" dirty="0"/>
              <a:t>Case I</a:t>
            </a:r>
          </a:p>
          <a:p>
            <a:pPr>
              <a:buNone/>
            </a:pPr>
            <a:r>
              <a:rPr lang="en-IN" dirty="0"/>
              <a:t>In the first case, the node to be deleted is the leaf node. In such a case, simply delete the node from the tree.</a:t>
            </a:r>
          </a:p>
          <a:p>
            <a:r>
              <a:rPr lang="en-IN" b="1" dirty="0"/>
              <a:t>Case II</a:t>
            </a:r>
          </a:p>
          <a:p>
            <a:pPr>
              <a:buNone/>
            </a:pPr>
            <a:r>
              <a:rPr lang="en-IN" dirty="0"/>
              <a:t>In the second case, the node to be deleted lies has a single child node. In such a case follow the steps below:</a:t>
            </a:r>
          </a:p>
          <a:p>
            <a:pPr>
              <a:buNone/>
            </a:pPr>
            <a:r>
              <a:rPr lang="en-IN" dirty="0"/>
              <a:t>Replace that node with its child node.</a:t>
            </a:r>
          </a:p>
          <a:p>
            <a:pPr>
              <a:buNone/>
            </a:pPr>
            <a:r>
              <a:rPr lang="en-IN" dirty="0"/>
              <a:t>Remove the child node from its original position.</a:t>
            </a: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Case III</a:t>
            </a:r>
          </a:p>
          <a:p>
            <a:pPr>
              <a:buNone/>
            </a:pPr>
            <a:r>
              <a:rPr lang="en-IN" dirty="0"/>
              <a:t>In the third case, the node to be deleted has two children. In such a case follow the steps below:</a:t>
            </a:r>
          </a:p>
          <a:p>
            <a:pPr>
              <a:buNone/>
            </a:pPr>
            <a:r>
              <a:rPr lang="en-IN" dirty="0"/>
              <a:t>Get the </a:t>
            </a:r>
            <a:r>
              <a:rPr lang="en-IN" dirty="0" err="1"/>
              <a:t>inorder</a:t>
            </a:r>
            <a:r>
              <a:rPr lang="en-IN" dirty="0"/>
              <a:t> successor of that node.</a:t>
            </a:r>
          </a:p>
          <a:p>
            <a:pPr>
              <a:buNone/>
            </a:pPr>
            <a:r>
              <a:rPr lang="en-IN" dirty="0"/>
              <a:t>Replace the node with the </a:t>
            </a:r>
            <a:r>
              <a:rPr lang="en-IN" dirty="0" err="1"/>
              <a:t>inorder</a:t>
            </a:r>
            <a:r>
              <a:rPr lang="en-IN" dirty="0"/>
              <a:t> successor.</a:t>
            </a:r>
          </a:p>
          <a:p>
            <a:pPr>
              <a:buNone/>
            </a:pPr>
            <a:r>
              <a:rPr lang="en-IN" dirty="0"/>
              <a:t>Remove the </a:t>
            </a:r>
            <a:r>
              <a:rPr lang="en-IN" dirty="0" err="1"/>
              <a:t>inorder</a:t>
            </a:r>
            <a:r>
              <a:rPr lang="en-IN" dirty="0"/>
              <a:t> successor from its original position.</a:t>
            </a:r>
          </a:p>
          <a:p>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Binary Search Tree Complexities</a:t>
            </a:r>
            <a:br>
              <a:rPr lang="en-IN" b="1" dirty="0"/>
            </a:br>
            <a:endParaRPr lang="en-IN" dirty="0"/>
          </a:p>
        </p:txBody>
      </p:sp>
      <p:sp>
        <p:nvSpPr>
          <p:cNvPr id="3" name="Content Placeholder 2"/>
          <p:cNvSpPr>
            <a:spLocks noGrp="1"/>
          </p:cNvSpPr>
          <p:nvPr>
            <p:ph idx="1"/>
          </p:nvPr>
        </p:nvSpPr>
        <p:spPr>
          <a:xfrm>
            <a:off x="457200" y="1600201"/>
            <a:ext cx="8229600" cy="3400436"/>
          </a:xfrm>
        </p:spPr>
        <p:txBody>
          <a:bodyPr>
            <a:normAutofit/>
          </a:bodyPr>
          <a:lstStyle/>
          <a:p>
            <a:r>
              <a:rPr lang="en-IN" b="1" dirty="0"/>
              <a:t>Time Complexity</a:t>
            </a:r>
          </a:p>
          <a:p>
            <a:endParaRPr lang="en-IN" dirty="0"/>
          </a:p>
          <a:p>
            <a:endParaRPr lang="en-IN" dirty="0"/>
          </a:p>
          <a:p>
            <a:endParaRPr lang="en-IN" dirty="0"/>
          </a:p>
        </p:txBody>
      </p:sp>
      <p:pic>
        <p:nvPicPr>
          <p:cNvPr id="32771" name="Picture 3"/>
          <p:cNvPicPr>
            <a:picLocks noChangeAspect="1" noChangeArrowheads="1"/>
          </p:cNvPicPr>
          <p:nvPr/>
        </p:nvPicPr>
        <p:blipFill>
          <a:blip r:embed="rId2"/>
          <a:srcRect/>
          <a:stretch>
            <a:fillRect/>
          </a:stretch>
        </p:blipFill>
        <p:spPr bwMode="auto">
          <a:xfrm>
            <a:off x="785786" y="2428868"/>
            <a:ext cx="8284983" cy="3071834"/>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3"/>
          <p:cNvSpPr/>
          <p:nvPr/>
        </p:nvSpPr>
        <p:spPr>
          <a:xfrm>
            <a:off x="857224" y="1785926"/>
            <a:ext cx="6643734" cy="1246495"/>
          </a:xfrm>
          <a:prstGeom prst="rect">
            <a:avLst/>
          </a:prstGeom>
        </p:spPr>
        <p:txBody>
          <a:bodyPr wrap="square">
            <a:spAutoFit/>
          </a:bodyPr>
          <a:lstStyle/>
          <a:p>
            <a:r>
              <a:rPr lang="en-IN" sz="2500" dirty="0"/>
              <a:t>Here, n is the number of nodes in the tree.</a:t>
            </a:r>
          </a:p>
          <a:p>
            <a:r>
              <a:rPr lang="en-IN" sz="2500" b="1" dirty="0"/>
              <a:t>Space Complexity</a:t>
            </a:r>
          </a:p>
          <a:p>
            <a:r>
              <a:rPr lang="en-IN" sz="2500" dirty="0"/>
              <a:t>The space complexity for all the operations is 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Traversal of trees</a:t>
            </a:r>
          </a:p>
        </p:txBody>
      </p:sp>
      <p:sp>
        <p:nvSpPr>
          <p:cNvPr id="3" name="Content Placeholder 2"/>
          <p:cNvSpPr>
            <a:spLocks noGrp="1"/>
          </p:cNvSpPr>
          <p:nvPr>
            <p:ph idx="1"/>
          </p:nvPr>
        </p:nvSpPr>
        <p:spPr>
          <a:xfrm>
            <a:off x="457200" y="1600200"/>
            <a:ext cx="8229600" cy="4043377"/>
          </a:xfrm>
        </p:spPr>
        <p:txBody>
          <a:bodyPr>
            <a:normAutofit/>
          </a:bodyPr>
          <a:lstStyle/>
          <a:p>
            <a:r>
              <a:rPr lang="en-IN" b="1" dirty="0"/>
              <a:t>1. Depth First Search Traversal</a:t>
            </a:r>
          </a:p>
          <a:p>
            <a:pPr>
              <a:buNone/>
            </a:pPr>
            <a:r>
              <a:rPr lang="en-IN" dirty="0"/>
              <a:t>It is a traversal algorithm in which, starting from the Root, it explores all nodes along each branch as deeply as possible until we get to a leaf node and then return to the “trunk” of the tree (backtracking).</a:t>
            </a:r>
          </a:p>
          <a:p>
            <a:endParaRPr lang="en-IN" dirty="0"/>
          </a:p>
        </p:txBody>
      </p:sp>
      <p:sp>
        <p:nvSpPr>
          <p:cNvPr id="49154" name="AutoShape 2" descr="2022_08_image-63.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49156" name="AutoShape 4" descr="2022_08_image-63.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49158" name="AutoShape 6" descr="2022_08_image-63.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49160" name="AutoShape 8" descr="2022_08_image-63.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50180" name="AutoShape 4" descr="2022_08_image-63.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0182" name="AutoShape 6" descr="2022_08_image-63.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0184" name="AutoShape 8" descr="2022_08_image-63.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50185" name="Picture 9"/>
          <p:cNvPicPr>
            <a:picLocks noChangeAspect="1" noChangeArrowheads="1"/>
          </p:cNvPicPr>
          <p:nvPr/>
        </p:nvPicPr>
        <p:blipFill>
          <a:blip r:embed="rId2"/>
          <a:srcRect/>
          <a:stretch>
            <a:fillRect/>
          </a:stretch>
        </p:blipFill>
        <p:spPr bwMode="auto">
          <a:xfrm>
            <a:off x="1071538" y="0"/>
            <a:ext cx="5243533" cy="3254968"/>
          </a:xfrm>
          <a:prstGeom prst="rect">
            <a:avLst/>
          </a:prstGeom>
          <a:noFill/>
          <a:ln w="9525">
            <a:noFill/>
            <a:miter lim="800000"/>
            <a:headEnd/>
            <a:tailEnd/>
          </a:ln>
          <a:effectLst/>
        </p:spPr>
      </p:pic>
      <p:sp>
        <p:nvSpPr>
          <p:cNvPr id="9" name="Rectangle 8"/>
          <p:cNvSpPr/>
          <p:nvPr/>
        </p:nvSpPr>
        <p:spPr>
          <a:xfrm>
            <a:off x="428596" y="3500438"/>
            <a:ext cx="7929618" cy="1938992"/>
          </a:xfrm>
          <a:prstGeom prst="rect">
            <a:avLst/>
          </a:prstGeom>
        </p:spPr>
        <p:txBody>
          <a:bodyPr wrap="square">
            <a:spAutoFit/>
          </a:bodyPr>
          <a:lstStyle/>
          <a:p>
            <a:r>
              <a:rPr lang="en-IN" sz="2000" dirty="0"/>
              <a:t>Since the stack follows the “LIFO” (Last In First Out) or “FILO” (First In Last Out) principle, i.e., whatever comes first in the stack, is the last item to be removed from the stack. So, a stack is used to implement depth-first search traversal. Depth First Search Traversal is further categorized into three popular tree traversals- </a:t>
            </a:r>
            <a:r>
              <a:rPr lang="en-IN" sz="2000" dirty="0" err="1"/>
              <a:t>Inorder</a:t>
            </a:r>
            <a:r>
              <a:rPr lang="en-IN" sz="2000" dirty="0"/>
              <a:t> Traversal, </a:t>
            </a:r>
            <a:r>
              <a:rPr lang="en-IN" sz="2000" dirty="0" err="1"/>
              <a:t>Preorder</a:t>
            </a:r>
            <a:r>
              <a:rPr lang="en-IN" sz="2000" dirty="0"/>
              <a:t> Traversal, and </a:t>
            </a:r>
            <a:r>
              <a:rPr lang="en-IN" sz="2000" dirty="0" err="1"/>
              <a:t>Postorder</a:t>
            </a:r>
            <a:r>
              <a:rPr lang="en-IN" sz="2000" dirty="0"/>
              <a:t> Traversal.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dirty="0"/>
              <a:t>In-order Traversal</a:t>
            </a:r>
          </a:p>
          <a:p>
            <a:r>
              <a:rPr lang="en-IN" dirty="0"/>
              <a:t>If a binary tree is traversed </a:t>
            </a:r>
            <a:r>
              <a:rPr lang="en-IN" b="1" dirty="0"/>
              <a:t>in-order</a:t>
            </a:r>
            <a:r>
              <a:rPr lang="en-IN" dirty="0"/>
              <a:t>, the output will produce sorted key values in an ascending order.</a:t>
            </a:r>
          </a:p>
          <a:p>
            <a:pPr>
              <a:buNone/>
            </a:pPr>
            <a:r>
              <a:rPr lang="en-IN" dirty="0"/>
              <a:t>Step 1 − Recursively traverse left </a:t>
            </a:r>
            <a:r>
              <a:rPr lang="en-IN" dirty="0" err="1"/>
              <a:t>subtree</a:t>
            </a:r>
            <a:r>
              <a:rPr lang="en-IN" dirty="0"/>
              <a:t>.</a:t>
            </a:r>
          </a:p>
          <a:p>
            <a:pPr>
              <a:buNone/>
            </a:pPr>
            <a:r>
              <a:rPr lang="en-IN" dirty="0"/>
              <a:t> Step 2 − Visit root node. </a:t>
            </a:r>
          </a:p>
          <a:p>
            <a:pPr>
              <a:buNone/>
            </a:pPr>
            <a:r>
              <a:rPr lang="en-IN" dirty="0"/>
              <a:t>Step 3 − Recursively traverse right </a:t>
            </a:r>
            <a:r>
              <a:rPr lang="en-IN" dirty="0" err="1"/>
              <a:t>subtree</a:t>
            </a:r>
            <a:r>
              <a:rPr lang="en-IN"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1"/>
            <a:ext cx="8229600" cy="3400436"/>
          </a:xfrm>
        </p:spPr>
        <p:txBody>
          <a:bodyPr/>
          <a:lstStyle/>
          <a:p>
            <a:endParaRPr lang="en-IN" dirty="0"/>
          </a:p>
        </p:txBody>
      </p:sp>
      <p:pic>
        <p:nvPicPr>
          <p:cNvPr id="33794" name="Picture 2" descr="In-order Traversal"/>
          <p:cNvPicPr>
            <a:picLocks noChangeAspect="1" noChangeArrowheads="1"/>
          </p:cNvPicPr>
          <p:nvPr/>
        </p:nvPicPr>
        <p:blipFill>
          <a:blip r:embed="rId2"/>
          <a:srcRect/>
          <a:stretch>
            <a:fillRect/>
          </a:stretch>
        </p:blipFill>
        <p:spPr bwMode="auto">
          <a:xfrm>
            <a:off x="857224" y="0"/>
            <a:ext cx="5357850" cy="4344203"/>
          </a:xfrm>
          <a:prstGeom prst="rect">
            <a:avLst/>
          </a:prstGeom>
          <a:noFill/>
        </p:spPr>
      </p:pic>
      <p:sp>
        <p:nvSpPr>
          <p:cNvPr id="5" name="Rectangle 4"/>
          <p:cNvSpPr/>
          <p:nvPr/>
        </p:nvSpPr>
        <p:spPr>
          <a:xfrm>
            <a:off x="2000232" y="5500702"/>
            <a:ext cx="5214974" cy="369332"/>
          </a:xfrm>
          <a:prstGeom prst="rect">
            <a:avLst/>
          </a:prstGeom>
        </p:spPr>
        <p:txBody>
          <a:bodyPr wrap="square">
            <a:spAutoFit/>
          </a:bodyPr>
          <a:lstStyle/>
          <a:p>
            <a:r>
              <a:rPr lang="en-IN" b="1" dirty="0"/>
              <a:t>D → B → E → A → F → C → G</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Pre-order Traversal</a:t>
            </a:r>
          </a:p>
          <a:p>
            <a:r>
              <a:rPr lang="en-IN" dirty="0"/>
              <a:t>In this traversal method, the root node is visited first, then the left </a:t>
            </a:r>
            <a:r>
              <a:rPr lang="en-IN" dirty="0" err="1"/>
              <a:t>subtree</a:t>
            </a:r>
            <a:r>
              <a:rPr lang="en-IN" dirty="0"/>
              <a:t> and finally the right </a:t>
            </a:r>
            <a:r>
              <a:rPr lang="en-IN" dirty="0" err="1"/>
              <a:t>subtree</a:t>
            </a:r>
            <a:r>
              <a:rPr lang="en-IN" dirty="0"/>
              <a:t>.</a:t>
            </a:r>
          </a:p>
          <a:p>
            <a:r>
              <a:rPr lang="en-IN" dirty="0"/>
              <a:t>Step 1 − Visit root node. </a:t>
            </a:r>
          </a:p>
          <a:p>
            <a:r>
              <a:rPr lang="en-IN" dirty="0"/>
              <a:t>Step 2 − Recursively traverse left </a:t>
            </a:r>
            <a:r>
              <a:rPr lang="en-IN" dirty="0" err="1"/>
              <a:t>subtree</a:t>
            </a:r>
            <a:r>
              <a:rPr lang="en-IN" dirty="0"/>
              <a:t>. </a:t>
            </a:r>
          </a:p>
          <a:p>
            <a:r>
              <a:rPr lang="en-IN" dirty="0"/>
              <a:t>Step 3 − Recursively traverse right </a:t>
            </a:r>
            <a:r>
              <a:rPr lang="en-IN" dirty="0" err="1"/>
              <a:t>subtree</a:t>
            </a:r>
            <a:r>
              <a:rPr lang="en-IN"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357290" y="4857760"/>
            <a:ext cx="8229600" cy="4525963"/>
          </a:xfrm>
        </p:spPr>
        <p:txBody>
          <a:bodyPr/>
          <a:lstStyle/>
          <a:p>
            <a:r>
              <a:rPr lang="en-IN" b="1" dirty="0"/>
              <a:t>A → B → D → E → C → F → G</a:t>
            </a:r>
            <a:endParaRPr lang="en-IN" dirty="0"/>
          </a:p>
        </p:txBody>
      </p:sp>
      <p:pic>
        <p:nvPicPr>
          <p:cNvPr id="45058" name="Picture 2" descr="Pre-order Traversal"/>
          <p:cNvPicPr>
            <a:picLocks noChangeAspect="1" noChangeArrowheads="1"/>
          </p:cNvPicPr>
          <p:nvPr/>
        </p:nvPicPr>
        <p:blipFill>
          <a:blip r:embed="rId2"/>
          <a:srcRect/>
          <a:stretch>
            <a:fillRect/>
          </a:stretch>
        </p:blipFill>
        <p:spPr bwMode="auto">
          <a:xfrm>
            <a:off x="1785918" y="428604"/>
            <a:ext cx="5286412" cy="428628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Post-order Traversal</a:t>
            </a:r>
          </a:p>
          <a:p>
            <a:r>
              <a:rPr lang="en-IN" dirty="0"/>
              <a:t>In this traversal method, the root node is visited last, hence the name. First we traverse the left </a:t>
            </a:r>
            <a:r>
              <a:rPr lang="en-IN" dirty="0" err="1"/>
              <a:t>subtree</a:t>
            </a:r>
            <a:r>
              <a:rPr lang="en-IN" dirty="0"/>
              <a:t>, then the right </a:t>
            </a:r>
            <a:r>
              <a:rPr lang="en-IN" dirty="0" err="1"/>
              <a:t>subtree</a:t>
            </a:r>
            <a:r>
              <a:rPr lang="en-IN" dirty="0"/>
              <a:t> and finally the root node.</a:t>
            </a:r>
          </a:p>
          <a:p>
            <a:r>
              <a:rPr lang="en-IN" dirty="0"/>
              <a:t>Step 1 − Recursively traverse left </a:t>
            </a:r>
            <a:r>
              <a:rPr lang="en-IN" dirty="0" err="1"/>
              <a:t>subtree</a:t>
            </a:r>
            <a:r>
              <a:rPr lang="en-IN" dirty="0"/>
              <a:t>.</a:t>
            </a:r>
          </a:p>
          <a:p>
            <a:r>
              <a:rPr lang="en-IN" dirty="0"/>
              <a:t> Step 2 − Recursively traverse right </a:t>
            </a:r>
            <a:r>
              <a:rPr lang="en-IN" dirty="0" err="1"/>
              <a:t>subtree</a:t>
            </a:r>
            <a:r>
              <a:rPr lang="en-IN" dirty="0"/>
              <a:t>. Step 3 − Visit root node.</a:t>
            </a:r>
            <a:br>
              <a:rPr lang="en-IN" dirty="0"/>
            </a:b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7106" name="Picture 2" descr="Post-order Traversal"/>
          <p:cNvPicPr>
            <a:picLocks noChangeAspect="1" noChangeArrowheads="1"/>
          </p:cNvPicPr>
          <p:nvPr/>
        </p:nvPicPr>
        <p:blipFill>
          <a:blip r:embed="rId2"/>
          <a:srcRect/>
          <a:stretch>
            <a:fillRect/>
          </a:stretch>
        </p:blipFill>
        <p:spPr bwMode="auto">
          <a:xfrm>
            <a:off x="1571604" y="500042"/>
            <a:ext cx="4858975" cy="3929090"/>
          </a:xfrm>
          <a:prstGeom prst="rect">
            <a:avLst/>
          </a:prstGeom>
          <a:noFill/>
        </p:spPr>
      </p:pic>
      <p:sp>
        <p:nvSpPr>
          <p:cNvPr id="5" name="Rectangle 4"/>
          <p:cNvSpPr/>
          <p:nvPr/>
        </p:nvSpPr>
        <p:spPr>
          <a:xfrm>
            <a:off x="2643174" y="5000636"/>
            <a:ext cx="3857652" cy="369332"/>
          </a:xfrm>
          <a:prstGeom prst="rect">
            <a:avLst/>
          </a:prstGeom>
        </p:spPr>
        <p:txBody>
          <a:bodyPr wrap="square">
            <a:spAutoFit/>
          </a:bodyPr>
          <a:lstStyle/>
          <a:p>
            <a:r>
              <a:rPr lang="en-IN" b="1" dirty="0"/>
              <a:t>D → E → B → F → G → C → A</a:t>
            </a:r>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571480"/>
            <a:ext cx="8229600" cy="1143000"/>
          </a:xfrm>
        </p:spPr>
        <p:txBody>
          <a:bodyPr>
            <a:normAutofit fontScale="90000"/>
          </a:bodyPr>
          <a:lstStyle/>
          <a:p>
            <a:r>
              <a:rPr lang="en-IN" b="1" dirty="0"/>
              <a:t>2. Breadth First Search Traversal (Level Order Traversal)</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It is a traversal algorithm in which, starting from Root, it visits all nodes of the current level from left to right before moving to the next level in the tree. Since the queue follows First-In-First-Out (FIFO) principle, i.e., whatever comes first, is the first item to be removed from the queue.</a:t>
            </a:r>
            <a:br>
              <a:rPr lang="en-IN" dirty="0"/>
            </a:br>
            <a:r>
              <a:rPr lang="en-IN" dirty="0"/>
              <a:t>So, a queue is used to implement Breadth First Search/ Level Order Traversal.</a:t>
            </a:r>
          </a:p>
          <a:p>
            <a:br>
              <a:rPr lang="en-IN" dirty="0"/>
            </a:b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142976" y="4000504"/>
            <a:ext cx="7472386" cy="2697163"/>
          </a:xfrm>
        </p:spPr>
        <p:txBody>
          <a:bodyPr>
            <a:normAutofit fontScale="77500" lnSpcReduction="20000"/>
          </a:bodyPr>
          <a:lstStyle/>
          <a:p>
            <a:r>
              <a:rPr lang="en-IN" b="1" dirty="0"/>
              <a:t>Level order traversal: A B C D E</a:t>
            </a:r>
            <a:endParaRPr lang="en-IN" dirty="0"/>
          </a:p>
          <a:p>
            <a:pPr>
              <a:buNone/>
            </a:pPr>
            <a:r>
              <a:rPr lang="en-IN" dirty="0"/>
              <a:t>Add the root node to the queue.</a:t>
            </a:r>
          </a:p>
          <a:p>
            <a:pPr>
              <a:buNone/>
            </a:pPr>
            <a:r>
              <a:rPr lang="en-IN" dirty="0"/>
              <a:t>Iterate while the queue is not empty and print the value of the first node in the queue.</a:t>
            </a:r>
          </a:p>
          <a:p>
            <a:pPr>
              <a:buNone/>
            </a:pPr>
            <a:r>
              <a:rPr lang="en-IN" dirty="0"/>
              <a:t>Add the left child of a node to the queue (if it exists).</a:t>
            </a:r>
          </a:p>
          <a:p>
            <a:pPr>
              <a:buNone/>
            </a:pPr>
            <a:r>
              <a:rPr lang="en-IN" dirty="0"/>
              <a:t>Add the right child of a node to the queue (if it exists).</a:t>
            </a:r>
          </a:p>
          <a:p>
            <a:endParaRPr lang="en-IN" dirty="0"/>
          </a:p>
        </p:txBody>
      </p:sp>
      <p:sp>
        <p:nvSpPr>
          <p:cNvPr id="51203" name="AutoShape 3" descr="2022_08_image-71.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51204" name="Picture 4"/>
          <p:cNvPicPr>
            <a:picLocks noChangeAspect="1" noChangeArrowheads="1"/>
          </p:cNvPicPr>
          <p:nvPr/>
        </p:nvPicPr>
        <p:blipFill>
          <a:blip r:embed="rId2"/>
          <a:srcRect/>
          <a:stretch>
            <a:fillRect/>
          </a:stretch>
        </p:blipFill>
        <p:spPr bwMode="auto">
          <a:xfrm>
            <a:off x="1571604" y="0"/>
            <a:ext cx="4786346" cy="3620441"/>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Balanced search trees</a:t>
            </a:r>
          </a:p>
        </p:txBody>
      </p:sp>
      <p:sp>
        <p:nvSpPr>
          <p:cNvPr id="3" name="Content Placeholder 2"/>
          <p:cNvSpPr>
            <a:spLocks noGrp="1"/>
          </p:cNvSpPr>
          <p:nvPr>
            <p:ph idx="1"/>
          </p:nvPr>
        </p:nvSpPr>
        <p:spPr/>
        <p:txBody>
          <a:bodyPr>
            <a:normAutofit fontScale="85000" lnSpcReduction="20000"/>
          </a:bodyPr>
          <a:lstStyle/>
          <a:p>
            <a:pPr fontAlgn="base"/>
            <a:r>
              <a:rPr lang="en-IN" dirty="0"/>
              <a:t>A binary tree is balanced if the height of the tree is O(Log n) where n is the number of nodes. For Example, the AVL tree maintains O(Log n) height by making sure that the difference between the heights of the left and right </a:t>
            </a:r>
            <a:r>
              <a:rPr lang="en-IN" dirty="0" err="1"/>
              <a:t>subtrees</a:t>
            </a:r>
            <a:r>
              <a:rPr lang="en-IN" dirty="0"/>
              <a:t> is at most 1.</a:t>
            </a:r>
          </a:p>
          <a:p>
            <a:pPr fontAlgn="base"/>
            <a:r>
              <a:rPr lang="en-IN" dirty="0"/>
              <a:t> Red-Black trees maintain O(Log n) height by making sure that the number of Black nodes on every root-to-leaf path is the same and that there are no adjacent red nodes.</a:t>
            </a:r>
          </a:p>
          <a:p>
            <a:pPr fontAlgn="base"/>
            <a:r>
              <a:rPr lang="en-IN" dirty="0"/>
              <a:t> Balanced Binary Search trees are performance-wise good as they provide O(log n) time for search, insert and delete. </a:t>
            </a:r>
          </a:p>
          <a:p>
            <a:pPr fontAlgn="base"/>
            <a:endParaRPr lang="en-IN" dirty="0"/>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fontAlgn="base"/>
            <a:r>
              <a:rPr lang="en-IN" b="1" dirty="0"/>
              <a:t>A balanced binary tree is a binary tree that follows the 3 conditions:</a:t>
            </a:r>
          </a:p>
          <a:p>
            <a:pPr fontAlgn="base"/>
            <a:r>
              <a:rPr lang="en-IN" dirty="0"/>
              <a:t>The height of the left and right tree for any node does not differ by more than 1.</a:t>
            </a:r>
          </a:p>
          <a:p>
            <a:pPr fontAlgn="base"/>
            <a:r>
              <a:rPr lang="en-IN" dirty="0"/>
              <a:t>The left </a:t>
            </a:r>
            <a:r>
              <a:rPr lang="en-IN" dirty="0" err="1"/>
              <a:t>subtree</a:t>
            </a:r>
            <a:r>
              <a:rPr lang="en-IN" dirty="0"/>
              <a:t> of that node is also balanced.</a:t>
            </a:r>
          </a:p>
          <a:p>
            <a:pPr fontAlgn="base"/>
            <a:r>
              <a:rPr lang="en-IN" dirty="0"/>
              <a:t>The right </a:t>
            </a:r>
            <a:r>
              <a:rPr lang="en-IN" dirty="0" err="1"/>
              <a:t>subtree</a:t>
            </a:r>
            <a:r>
              <a:rPr lang="en-IN" dirty="0"/>
              <a:t> of that node is also balanced.</a:t>
            </a:r>
          </a:p>
          <a:p>
            <a:pPr fontAlgn="base"/>
            <a:r>
              <a:rPr lang="en-IN" dirty="0"/>
              <a:t>A single node is always balanced. It is also referred to as a height-balanced binary tree.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3250" name="Picture 2" descr="Lightbox"/>
          <p:cNvPicPr>
            <a:picLocks noChangeAspect="1" noChangeArrowheads="1"/>
          </p:cNvPicPr>
          <p:nvPr/>
        </p:nvPicPr>
        <p:blipFill>
          <a:blip r:embed="rId2"/>
          <a:srcRect/>
          <a:stretch>
            <a:fillRect/>
          </a:stretch>
        </p:blipFill>
        <p:spPr bwMode="auto">
          <a:xfrm>
            <a:off x="357158" y="1571612"/>
            <a:ext cx="8260618" cy="464347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fontAlgn="base"/>
            <a:r>
              <a:rPr lang="en-IN" dirty="0"/>
              <a:t>It is a type of binary tree in which the difference between the height of the left and the right </a:t>
            </a:r>
            <a:r>
              <a:rPr lang="en-IN" dirty="0" err="1"/>
              <a:t>subtree</a:t>
            </a:r>
            <a:r>
              <a:rPr lang="en-IN" dirty="0"/>
              <a:t> for each node is either 0 or 1. In the figure above, the root node having a value 0 is unbalanced with a depth of 2 units.</a:t>
            </a:r>
            <a:br>
              <a:rPr lang="en-IN" dirty="0"/>
            </a:br>
            <a:r>
              <a:rPr lang="en-IN" b="1" dirty="0"/>
              <a:t> Advantages of Balanced Binary Tree:</a:t>
            </a:r>
          </a:p>
          <a:p>
            <a:pPr fontAlgn="base"/>
            <a:r>
              <a:rPr lang="en-IN" dirty="0"/>
              <a:t>Non Destructive updates are supported by a Balanced Binary Tree with the same asymptotic effectiveness.</a:t>
            </a:r>
          </a:p>
          <a:p>
            <a:pPr fontAlgn="base"/>
            <a:r>
              <a:rPr lang="en-IN" dirty="0"/>
              <a:t>Range queries and iteration in the right sequence are made feasible by the balanced binary tree.</a:t>
            </a:r>
          </a:p>
          <a:p>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B-Tree</a:t>
            </a:r>
          </a:p>
        </p:txBody>
      </p:sp>
      <p:sp>
        <p:nvSpPr>
          <p:cNvPr id="3" name="Content Placeholder 2"/>
          <p:cNvSpPr>
            <a:spLocks noGrp="1"/>
          </p:cNvSpPr>
          <p:nvPr>
            <p:ph idx="1"/>
          </p:nvPr>
        </p:nvSpPr>
        <p:spPr/>
        <p:txBody>
          <a:bodyPr>
            <a:normAutofit fontScale="62500" lnSpcReduction="20000"/>
          </a:bodyPr>
          <a:lstStyle/>
          <a:p>
            <a:pPr fontAlgn="base"/>
            <a:r>
              <a:rPr lang="en-IN" b="1" dirty="0"/>
              <a:t>Properties of B-Tree: </a:t>
            </a:r>
          </a:p>
          <a:p>
            <a:pPr fontAlgn="base"/>
            <a:r>
              <a:rPr lang="en-IN" dirty="0"/>
              <a:t>All leaves are at the same level.</a:t>
            </a:r>
          </a:p>
          <a:p>
            <a:pPr fontAlgn="base"/>
            <a:r>
              <a:rPr lang="en-IN" dirty="0"/>
              <a:t>B-Tree is defined by the term minimum degree ‘</a:t>
            </a:r>
            <a:r>
              <a:rPr lang="en-IN" b="1" dirty="0"/>
              <a:t>t</a:t>
            </a:r>
            <a:r>
              <a:rPr lang="en-IN" dirty="0"/>
              <a:t>‘. The value of ‘</a:t>
            </a:r>
            <a:r>
              <a:rPr lang="en-IN" b="1" dirty="0"/>
              <a:t>t</a:t>
            </a:r>
            <a:r>
              <a:rPr lang="en-IN" dirty="0"/>
              <a:t>‘ depends upon disk block size.</a:t>
            </a:r>
          </a:p>
          <a:p>
            <a:pPr fontAlgn="base"/>
            <a:r>
              <a:rPr lang="en-IN" dirty="0"/>
              <a:t>Every node except the root must contain at least t-1 keys. The root may contain a minimum of </a:t>
            </a:r>
            <a:r>
              <a:rPr lang="en-IN" b="1" dirty="0"/>
              <a:t>1</a:t>
            </a:r>
            <a:r>
              <a:rPr lang="en-IN" dirty="0"/>
              <a:t> key.</a:t>
            </a:r>
          </a:p>
          <a:p>
            <a:pPr fontAlgn="base"/>
            <a:r>
              <a:rPr lang="en-IN" dirty="0"/>
              <a:t>All nodes (including root) may contain at most (</a:t>
            </a:r>
            <a:r>
              <a:rPr lang="en-IN" b="1" dirty="0"/>
              <a:t>2*t – 1</a:t>
            </a:r>
            <a:r>
              <a:rPr lang="en-IN" dirty="0"/>
              <a:t>) keys.</a:t>
            </a:r>
          </a:p>
          <a:p>
            <a:pPr fontAlgn="base"/>
            <a:r>
              <a:rPr lang="en-IN" dirty="0"/>
              <a:t>Number of children of a node is equal to the number of keys in it plus </a:t>
            </a:r>
            <a:r>
              <a:rPr lang="en-IN" b="1" dirty="0"/>
              <a:t>1</a:t>
            </a:r>
            <a:r>
              <a:rPr lang="en-IN" dirty="0"/>
              <a:t>.</a:t>
            </a:r>
          </a:p>
          <a:p>
            <a:pPr fontAlgn="base"/>
            <a:r>
              <a:rPr lang="en-IN" dirty="0"/>
              <a:t>All keys of a node are sorted in increasing order. The child between two keys </a:t>
            </a:r>
            <a:r>
              <a:rPr lang="en-IN" b="1" dirty="0"/>
              <a:t>k1</a:t>
            </a:r>
            <a:r>
              <a:rPr lang="en-IN" dirty="0"/>
              <a:t> and </a:t>
            </a:r>
            <a:r>
              <a:rPr lang="en-IN" b="1" dirty="0"/>
              <a:t>k2</a:t>
            </a:r>
            <a:r>
              <a:rPr lang="en-IN" dirty="0"/>
              <a:t> contains all keys in the range from </a:t>
            </a:r>
            <a:r>
              <a:rPr lang="en-IN" b="1" dirty="0"/>
              <a:t>k1</a:t>
            </a:r>
            <a:r>
              <a:rPr lang="en-IN" dirty="0"/>
              <a:t> and </a:t>
            </a:r>
            <a:r>
              <a:rPr lang="en-IN" b="1" dirty="0"/>
              <a:t>k2</a:t>
            </a:r>
            <a:r>
              <a:rPr lang="en-IN" dirty="0"/>
              <a:t>.</a:t>
            </a:r>
          </a:p>
          <a:p>
            <a:pPr fontAlgn="base"/>
            <a:r>
              <a:rPr lang="en-IN" dirty="0"/>
              <a:t>B-Tree grows and shrinks from the root which is unlike Binary Search Tree. Binary Search Trees grow downward and also shrink from downward.</a:t>
            </a:r>
          </a:p>
          <a:p>
            <a:pPr fontAlgn="base"/>
            <a:r>
              <a:rPr lang="en-IN" dirty="0"/>
              <a:t>Like other balanced Binary Search Trees, the time complexity to search, insert, and delete is O(log n).</a:t>
            </a:r>
          </a:p>
          <a:p>
            <a:pPr fontAlgn="base"/>
            <a:r>
              <a:rPr lang="en-IN" dirty="0"/>
              <a:t>Insertion of a Node in B-Tree happens only at Leaf Node.</a:t>
            </a:r>
          </a:p>
          <a:p>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Following is an example of a B-Tree of minimum order 5 .</a:t>
            </a:r>
          </a:p>
        </p:txBody>
      </p:sp>
      <p:pic>
        <p:nvPicPr>
          <p:cNvPr id="55298" name="Picture 2" descr="Lightbox"/>
          <p:cNvPicPr>
            <a:picLocks noChangeAspect="1" noChangeArrowheads="1"/>
          </p:cNvPicPr>
          <p:nvPr/>
        </p:nvPicPr>
        <p:blipFill>
          <a:blip r:embed="rId2"/>
          <a:srcRect/>
          <a:stretch>
            <a:fillRect/>
          </a:stretch>
        </p:blipFill>
        <p:spPr bwMode="auto">
          <a:xfrm>
            <a:off x="619125" y="3071810"/>
            <a:ext cx="8524875" cy="2095501"/>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57346" name="Picture 2"/>
          <p:cNvPicPr>
            <a:picLocks noChangeAspect="1" noChangeArrowheads="1"/>
          </p:cNvPicPr>
          <p:nvPr/>
        </p:nvPicPr>
        <p:blipFill>
          <a:blip r:embed="rId2"/>
          <a:srcRect/>
          <a:stretch>
            <a:fillRect/>
          </a:stretch>
        </p:blipFill>
        <p:spPr bwMode="auto">
          <a:xfrm>
            <a:off x="0" y="500042"/>
            <a:ext cx="8858280" cy="5786478"/>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Heap Sort</a:t>
            </a:r>
          </a:p>
        </p:txBody>
      </p:sp>
      <p:sp>
        <p:nvSpPr>
          <p:cNvPr id="3" name="Content Placeholder 2"/>
          <p:cNvSpPr>
            <a:spLocks noGrp="1"/>
          </p:cNvSpPr>
          <p:nvPr>
            <p:ph idx="1"/>
          </p:nvPr>
        </p:nvSpPr>
        <p:spPr/>
        <p:txBody>
          <a:bodyPr>
            <a:normAutofit fontScale="92500" lnSpcReduction="20000"/>
          </a:bodyPr>
          <a:lstStyle/>
          <a:p>
            <a:r>
              <a:rPr lang="en-IN" dirty="0"/>
              <a:t>Heap is a complete binary tree data structure with the property that the value of a parent node is either greater than or equal to (max heap) or less than or equal to (min-heap) the values of its children.</a:t>
            </a:r>
          </a:p>
          <a:p>
            <a:r>
              <a:rPr lang="en-IN" dirty="0"/>
              <a:t> Heaps are used for efficient algorithms in sorting, selection, and as a priority queue.</a:t>
            </a:r>
          </a:p>
          <a:p>
            <a:r>
              <a:rPr lang="en-IN" dirty="0"/>
              <a:t>Heap sort is a comparison-based sorting algorithm that sorts an array by creating a binary heap data structure. It has an average and worst-case time complexity of O(n log 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What is Heap Sort in Data Structure?</a:t>
            </a:r>
            <a:br>
              <a:rPr lang="en-IN" b="1" dirty="0"/>
            </a:br>
            <a:endParaRPr lang="en-IN" dirty="0"/>
          </a:p>
        </p:txBody>
      </p:sp>
      <p:sp>
        <p:nvSpPr>
          <p:cNvPr id="3" name="Content Placeholder 2"/>
          <p:cNvSpPr>
            <a:spLocks noGrp="1"/>
          </p:cNvSpPr>
          <p:nvPr>
            <p:ph idx="1"/>
          </p:nvPr>
        </p:nvSpPr>
        <p:spPr/>
        <p:txBody>
          <a:bodyPr>
            <a:normAutofit fontScale="85000" lnSpcReduction="10000"/>
          </a:bodyPr>
          <a:lstStyle/>
          <a:p>
            <a:r>
              <a:rPr lang="en-IN" dirty="0"/>
              <a:t>Heap sort is a comparison-based sorting algorithm that sorts an array in ascending or descending order by transforming it into a binary heap data structure.</a:t>
            </a:r>
          </a:p>
          <a:p>
            <a:r>
              <a:rPr lang="en-IN" dirty="0"/>
              <a:t> It uses the concepts of max-heap and min-heap, where in max-heap, the largest element is the root node, and in min-heap, the smallest element is the root node.</a:t>
            </a:r>
          </a:p>
          <a:p>
            <a:r>
              <a:rPr lang="en-IN" dirty="0"/>
              <a:t> The algorithm uses the binary heap structure to efficiently sort the elements.</a:t>
            </a:r>
          </a:p>
          <a:p>
            <a:r>
              <a:rPr lang="en-IN"/>
              <a:t>https://www.prepbytes.com/blog/heap/heap-sort-in-data-structure/</a:t>
            </a:r>
            <a:endParaRPr lang="en-IN" dirty="0"/>
          </a:p>
        </p:txBody>
      </p:sp>
      <p:sp>
        <p:nvSpPr>
          <p:cNvPr id="4" name="Content Placeholder 2"/>
          <p:cNvSpPr txBox="1">
            <a:spLocks/>
          </p:cNvSpPr>
          <p:nvPr/>
        </p:nvSpPr>
        <p:spPr>
          <a:xfrm>
            <a:off x="357158" y="164305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2490</Words>
  <Application>Microsoft Office PowerPoint</Application>
  <PresentationFormat>On-screen Show (4:3)</PresentationFormat>
  <Paragraphs>149</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Roboto</vt:lpstr>
      <vt:lpstr>Office Theme</vt:lpstr>
      <vt:lpstr>PowerPoint Presentation</vt:lpstr>
      <vt:lpstr>PowerPoint Presentation</vt:lpstr>
      <vt:lpstr>Rooted trees</vt:lpstr>
      <vt:lpstr>PowerPoint Presentation</vt:lpstr>
      <vt:lpstr>PowerPoint Presentation</vt:lpstr>
      <vt:lpstr>Binary Tree</vt:lpstr>
      <vt:lpstr>PowerPoint Presentation</vt:lpstr>
      <vt:lpstr>Properties </vt:lpstr>
      <vt:lpstr>How to implement a Binary Tree? </vt:lpstr>
      <vt:lpstr>Types of Binary Trees </vt:lpstr>
      <vt:lpstr>PowerPoint Presentation</vt:lpstr>
      <vt:lpstr>PowerPoint Presentation</vt:lpstr>
      <vt:lpstr>PowerPoint Presentation</vt:lpstr>
      <vt:lpstr>PowerPoint Presentation</vt:lpstr>
      <vt:lpstr>PowerPoint Presentation</vt:lpstr>
      <vt:lpstr>Binary Search Tree</vt:lpstr>
      <vt:lpstr>PowerPoint Presentation</vt:lpstr>
      <vt:lpstr>PowerPoint Presentation</vt:lpstr>
      <vt:lpstr>Search Operation</vt:lpstr>
      <vt:lpstr>Insert Operation </vt:lpstr>
      <vt:lpstr>Deletion Operation </vt:lpstr>
      <vt:lpstr>PowerPoint Presentation</vt:lpstr>
      <vt:lpstr>Binary Search Tree Complexities </vt:lpstr>
      <vt:lpstr>PowerPoint Presentation</vt:lpstr>
      <vt:lpstr>Traversal of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Breadth First Search Traversal (Level Order Traversal) </vt:lpstr>
      <vt:lpstr>PowerPoint Presentation</vt:lpstr>
      <vt:lpstr>Balanced search trees</vt:lpstr>
      <vt:lpstr>PowerPoint Presentation</vt:lpstr>
      <vt:lpstr>PowerPoint Presentation</vt:lpstr>
      <vt:lpstr>PowerPoint Presentation</vt:lpstr>
      <vt:lpstr>B-Tree</vt:lpstr>
      <vt:lpstr>PowerPoint Presentation</vt:lpstr>
      <vt:lpstr>PowerPoint Presentation</vt:lpstr>
      <vt:lpstr>Heap Sort</vt:lpstr>
      <vt:lpstr>What is Heap Sort in Data Structure?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MOHD SHAN</cp:lastModifiedBy>
  <cp:revision>58</cp:revision>
  <dcterms:created xsi:type="dcterms:W3CDTF">2024-05-27T15:54:12Z</dcterms:created>
  <dcterms:modified xsi:type="dcterms:W3CDTF">2024-10-06T13:23:27Z</dcterms:modified>
</cp:coreProperties>
</file>