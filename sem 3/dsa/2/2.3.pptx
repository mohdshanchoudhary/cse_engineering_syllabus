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D1D0C-11F0-4642-87B3-2A875A7A2298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9D2EF-76ED-4317-BAD3-D565283CB98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DAB3B-3C77-4F2A-8332-52F4283B1CAF}" type="datetimeFigureOut">
              <a:rPr lang="en-US" smtClean="0"/>
              <a:t>6/1/2024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0E929-B0B7-452C-AB9E-46566889C76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514600"/>
            <a:ext cx="8118475" cy="1966913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pc="-10" dirty="0" smtClean="0">
                <a:latin typeface="Calibri"/>
                <a:cs typeface="Calibri"/>
              </a:rPr>
              <a:t>Hashing</a:t>
            </a:r>
            <a:endParaRPr 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676400" y="1870075"/>
            <a:ext cx="6691313" cy="638175"/>
          </a:xfrm>
          <a:prstGeom prst="rect">
            <a:avLst/>
          </a:prstGeom>
        </p:spPr>
        <p:txBody>
          <a:bodyPr/>
          <a:lstStyle/>
          <a:p>
            <a:pPr eaLnBrk="1" hangingPunct="1"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Topic </a:t>
            </a:r>
            <a:r>
              <a:rPr lang="en-US" sz="2400" b="1" dirty="0" smtClean="0">
                <a:solidFill>
                  <a:schemeClr val="tx1"/>
                </a:solidFill>
              </a:rPr>
              <a:t>2.3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6400800" y="5029200"/>
            <a:ext cx="2314604" cy="140019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solidFill>
                  <a:srgbClr val="3333FF"/>
                </a:solidFill>
              </a:rPr>
              <a:t>By:  </a:t>
            </a:r>
            <a:r>
              <a:rPr lang="en-US" dirty="0" err="1" smtClean="0">
                <a:solidFill>
                  <a:srgbClr val="3333FF"/>
                </a:solidFill>
              </a:rPr>
              <a:t>Er.Bhavneet</a:t>
            </a:r>
            <a:r>
              <a:rPr lang="en-US" dirty="0" smtClean="0">
                <a:solidFill>
                  <a:srgbClr val="3333FF"/>
                </a:solidFill>
              </a:rPr>
              <a:t> </a:t>
            </a:r>
            <a:r>
              <a:rPr lang="en-US" dirty="0" err="1" smtClean="0">
                <a:solidFill>
                  <a:srgbClr val="3333FF"/>
                </a:solidFill>
              </a:rPr>
              <a:t>Kaur</a:t>
            </a:r>
            <a:endParaRPr lang="en-US" dirty="0" smtClean="0">
              <a:solidFill>
                <a:srgbClr val="3333FF"/>
              </a:solidFill>
            </a:endParaRPr>
          </a:p>
          <a:p>
            <a:r>
              <a:rPr lang="en-US" dirty="0" smtClean="0">
                <a:solidFill>
                  <a:srgbClr val="3333FF"/>
                </a:solidFill>
              </a:rPr>
              <a:t>Master Subject Co-</a:t>
            </a:r>
            <a:r>
              <a:rPr lang="en-US" dirty="0" err="1" smtClean="0">
                <a:solidFill>
                  <a:srgbClr val="3333FF"/>
                </a:solidFill>
              </a:rPr>
              <a:t>ordinator</a:t>
            </a:r>
            <a:endParaRPr lang="en-US" dirty="0" smtClean="0">
              <a:solidFill>
                <a:srgbClr val="3333FF"/>
              </a:solidFill>
            </a:endParaRPr>
          </a:p>
          <a:p>
            <a:r>
              <a:rPr lang="en-US" dirty="0" smtClean="0">
                <a:solidFill>
                  <a:srgbClr val="3333FF"/>
                </a:solidFill>
              </a:rPr>
              <a:t>CSE 2</a:t>
            </a:r>
            <a:r>
              <a:rPr lang="en-US" baseline="30000" dirty="0" smtClean="0">
                <a:solidFill>
                  <a:srgbClr val="3333FF"/>
                </a:solidFill>
              </a:rPr>
              <a:t>nd</a:t>
            </a:r>
            <a:r>
              <a:rPr lang="en-US" dirty="0" smtClean="0">
                <a:solidFill>
                  <a:srgbClr val="3333FF"/>
                </a:solidFill>
              </a:rPr>
              <a:t> Year</a:t>
            </a:r>
          </a:p>
        </p:txBody>
      </p:sp>
      <p:pic>
        <p:nvPicPr>
          <p:cNvPr id="9221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213" y="587375"/>
            <a:ext cx="1905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524000"/>
            <a:ext cx="8074025" cy="43180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b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Techniques: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Hashing: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spc="10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3200" spc="9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3200" spc="10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technique</a:t>
            </a:r>
            <a:r>
              <a:rPr sz="3200" spc="10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used</a:t>
            </a:r>
            <a:r>
              <a:rPr sz="3200" spc="10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10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Performing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Insertion,</a:t>
            </a:r>
            <a:r>
              <a:rPr sz="3200" spc="2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deletion</a:t>
            </a:r>
            <a:r>
              <a:rPr sz="3200" spc="2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&amp;</a:t>
            </a:r>
            <a:r>
              <a:rPr sz="3200" spc="2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search</a:t>
            </a:r>
            <a:r>
              <a:rPr sz="3200" spc="2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operations</a:t>
            </a:r>
            <a:r>
              <a:rPr sz="3200" spc="2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3200" spc="2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the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constant</a:t>
            </a:r>
            <a:r>
              <a:rPr sz="3200" spc="2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average</a:t>
            </a:r>
            <a:r>
              <a:rPr sz="3200" spc="2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time</a:t>
            </a:r>
            <a:r>
              <a:rPr sz="3200" spc="2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sz="3200" spc="2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implementing</a:t>
            </a:r>
            <a:r>
              <a:rPr sz="3200" spc="25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Hash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table</a:t>
            </a:r>
            <a:r>
              <a:rPr sz="3200" spc="-1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Data</a:t>
            </a:r>
            <a:r>
              <a:rPr sz="3200" spc="-1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Structure</a:t>
            </a:r>
            <a:r>
              <a:rPr sz="3200" spc="-1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4330" marR="938530" indent="-342265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used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Index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Retrieve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Items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a 	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Database.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3</a:t>
            </a:fld>
            <a:endParaRPr spc="-50"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62708"/>
            <a:ext cx="8074659" cy="565090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3200" b="1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Types</a:t>
            </a:r>
            <a:r>
              <a:rPr sz="3200" b="1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3200" b="1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</a:tabLst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Static</a:t>
            </a:r>
            <a:r>
              <a:rPr sz="32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b="1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</a:tabLst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Dynamic</a:t>
            </a:r>
            <a:r>
              <a:rPr sz="3200" b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Static</a:t>
            </a:r>
            <a:r>
              <a:rPr sz="32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b="1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marR="186055" lvl="1" indent="-51562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527685" algn="l"/>
                <a:tab pos="1058545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function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maps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search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key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value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	a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fixed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set</a:t>
            </a:r>
            <a:r>
              <a:rPr sz="3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locations.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Dynamic</a:t>
            </a:r>
            <a:r>
              <a:rPr sz="32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5780" marR="5080" lvl="1" indent="-51371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527685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4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6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Table</a:t>
            </a:r>
            <a:r>
              <a:rPr sz="3200" spc="5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can</a:t>
            </a:r>
            <a:r>
              <a:rPr sz="3200" spc="5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grow</a:t>
            </a:r>
            <a:r>
              <a:rPr sz="3200" spc="4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5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handle</a:t>
            </a:r>
            <a:r>
              <a:rPr sz="3200" spc="5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more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Items.The</a:t>
            </a:r>
            <a:r>
              <a:rPr sz="3200" spc="27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associated</a:t>
            </a:r>
            <a:r>
              <a:rPr sz="3200" spc="26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27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Function</a:t>
            </a:r>
            <a:r>
              <a:rPr sz="3200" spc="28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must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Change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as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table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grows.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35712"/>
            <a:ext cx="389318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99"/>
                </a:solidFill>
                <a:latin typeface="Calibri"/>
                <a:cs typeface="Calibri"/>
              </a:rPr>
              <a:t>Hash</a:t>
            </a:r>
            <a:r>
              <a:rPr spc="-9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000099"/>
                </a:solidFill>
                <a:latin typeface="Calibri"/>
                <a:cs typeface="Calibri"/>
              </a:rPr>
              <a:t>Table</a:t>
            </a:r>
            <a:r>
              <a:rPr spc="-8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pc="-50" dirty="0">
                <a:solidFill>
                  <a:srgbClr val="000099"/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21182"/>
            <a:ext cx="8073390" cy="5391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1160145" algn="l"/>
                <a:tab pos="2172335" algn="l"/>
                <a:tab pos="3235960" algn="l"/>
                <a:tab pos="4158615" algn="l"/>
                <a:tab pos="5857875" algn="l"/>
                <a:tab pos="6301740" algn="l"/>
                <a:tab pos="6687184" algn="l"/>
                <a:tab pos="7720965" algn="l"/>
              </a:tabLst>
            </a:pPr>
            <a:r>
              <a:rPr sz="3200" spc="-2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Hash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Table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structure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array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fixed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size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table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Keys.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associated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record.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table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partition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array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size.</a:t>
            </a:r>
            <a:endParaRPr sz="3200">
              <a:latin typeface="Calibri"/>
              <a:cs typeface="Calibri"/>
            </a:endParaRPr>
          </a:p>
          <a:p>
            <a:pPr marL="355600" marR="5715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1327785" algn="l"/>
                <a:tab pos="2643505" algn="l"/>
                <a:tab pos="3411220" algn="l"/>
                <a:tab pos="4524375" algn="l"/>
                <a:tab pos="5487670" algn="l"/>
                <a:tab pos="6312535" algn="l"/>
                <a:tab pos="7295515" algn="l"/>
              </a:tabLst>
            </a:pPr>
            <a:r>
              <a:rPr sz="3200" spc="-20" dirty="0">
                <a:latin typeface="Calibri"/>
                <a:cs typeface="Calibri"/>
              </a:rPr>
              <a:t>Each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Bucket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has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many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slots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each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slots </a:t>
            </a:r>
            <a:r>
              <a:rPr sz="3200" dirty="0">
                <a:latin typeface="Calibri"/>
                <a:cs typeface="Calibri"/>
              </a:rPr>
              <a:t>holds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records.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Hash</a:t>
            </a:r>
            <a:r>
              <a:rPr sz="3200" b="1" spc="-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Function</a:t>
            </a:r>
            <a:r>
              <a:rPr sz="3200" b="1" spc="-3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000099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54330" marR="6350" indent="-342265" algn="just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4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Hashing</a:t>
            </a:r>
            <a:r>
              <a:rPr sz="3200" spc="409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41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41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409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409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409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address 	</a:t>
            </a:r>
            <a:r>
              <a:rPr sz="3200" spc="-30" dirty="0">
                <a:latin typeface="Calibri"/>
                <a:cs typeface="Calibri"/>
              </a:rPr>
              <a:t>Transformation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	</a:t>
            </a:r>
            <a:r>
              <a:rPr sz="3200" dirty="0">
                <a:latin typeface="Calibri"/>
                <a:cs typeface="Calibri"/>
              </a:rPr>
              <a:t>complete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Relative</a:t>
            </a:r>
            <a:r>
              <a:rPr sz="3200" spc="1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Position</a:t>
            </a:r>
            <a:r>
              <a:rPr sz="3200" spc="1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1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6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6186627"/>
            <a:ext cx="8686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array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04935" y="6426809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2708"/>
            <a:ext cx="7749540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String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etc..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Formula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Hash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(Key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Value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)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=(Key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Values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%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Table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Size)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4256913"/>
            <a:ext cx="71481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Hash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(Key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Value)=Key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%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Table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Size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745634"/>
            <a:ext cx="3740785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Hash(10)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=10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%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5=0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Hash(33)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=33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%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5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=3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Hash(11)=11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%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5=1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8828" y="4842509"/>
            <a:ext cx="33064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Hash(21)=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21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%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5=1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828800"/>
            <a:ext cx="2595626" cy="2362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6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138531"/>
            <a:ext cx="7697470" cy="646430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sz="3200" b="1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Good</a:t>
            </a:r>
            <a:r>
              <a:rPr sz="3200" b="1" spc="-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Hashing</a:t>
            </a:r>
            <a:r>
              <a:rPr sz="3200" b="1" spc="-4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consist</a:t>
            </a:r>
            <a:r>
              <a:rPr sz="3200" b="1" spc="-5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Minimum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Collision.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Be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easy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quick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complete.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Distribute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Every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Use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Information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Provided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Key.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sz="3200" b="1" spc="-8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sz="3200" b="1" spc="-4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Hash</a:t>
            </a:r>
            <a:r>
              <a:rPr sz="3200" b="1" spc="-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99"/>
                </a:solidFill>
                <a:latin typeface="Calibri"/>
                <a:cs typeface="Calibri"/>
              </a:rPr>
              <a:t>Table: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Database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Symbol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Tables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Dictionaries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Network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Browse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Casher.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2708"/>
            <a:ext cx="7860665" cy="50984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Collision</a:t>
            </a:r>
            <a:r>
              <a:rPr sz="3200" b="1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212725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4104004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Collision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occurs</a:t>
            </a:r>
            <a:r>
              <a:rPr sz="3200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when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	a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values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records</a:t>
            </a:r>
            <a:r>
              <a:rPr sz="32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being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Inserted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hashes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Address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That</a:t>
            </a:r>
            <a:r>
              <a:rPr sz="32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already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contains</a:t>
            </a:r>
            <a:r>
              <a:rPr sz="32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difference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Record.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“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When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Key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values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position”.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670935" marR="5080">
              <a:lnSpc>
                <a:spcPts val="4610"/>
              </a:lnSpc>
              <a:spcBef>
                <a:spcPts val="280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Insert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11,21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table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11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=Hash(11)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=11%5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=1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670935">
              <a:lnSpc>
                <a:spcPct val="100000"/>
              </a:lnSpc>
              <a:spcBef>
                <a:spcPts val="484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21=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(21)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=21%5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=1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67093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(collision</a:t>
            </a:r>
            <a:r>
              <a:rPr sz="3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occur)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819400"/>
            <a:ext cx="3352800" cy="2667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chemeClr val="tx1"/>
                </a:solidFill>
              </a:rPr>
              <a:pPr marL="38100">
                <a:lnSpc>
                  <a:spcPts val="1240"/>
                </a:lnSpc>
              </a:pPr>
              <a:t>7</a:t>
            </a:fld>
            <a:endParaRPr spc="-25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138531"/>
            <a:ext cx="7387590" cy="5651547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Collision</a:t>
            </a:r>
            <a:r>
              <a:rPr sz="3200" b="1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Resolution</a:t>
            </a:r>
            <a:r>
              <a:rPr sz="32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Process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finding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another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Position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for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Collide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Record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said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collision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Resolution</a:t>
            </a:r>
            <a:r>
              <a:rPr sz="3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Strategy.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3200" spc="-1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categories</a:t>
            </a:r>
            <a:r>
              <a:rPr sz="32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527685" algn="l"/>
              </a:tabLst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Open</a:t>
            </a:r>
            <a:r>
              <a:rPr sz="3200" b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eg:</a:t>
            </a:r>
            <a:r>
              <a:rPr sz="32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Separate</a:t>
            </a:r>
            <a:r>
              <a:rPr sz="32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Chaining.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Font typeface="Calibri"/>
              <a:buAutoNum type="arabicPeriod" startAt="2"/>
              <a:tabLst>
                <a:tab pos="414655" algn="l"/>
              </a:tabLst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Closed</a:t>
            </a:r>
            <a:r>
              <a:rPr sz="32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b="1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marR="74612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eg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Open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Addressing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,Rehashing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Extendable</a:t>
            </a:r>
            <a:r>
              <a:rPr sz="3200" spc="-1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hashing.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9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09600" y="0"/>
            <a:ext cx="8011159" cy="4461478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Open</a:t>
            </a:r>
            <a:r>
              <a:rPr sz="32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15748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Each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Bucket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table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head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Linked</a:t>
            </a:r>
            <a:r>
              <a:rPr sz="3200" spc="-1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List.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352425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All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Elements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that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Particular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Bucket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32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Placed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on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Buckets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Linked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List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Closed</a:t>
            </a:r>
            <a:r>
              <a:rPr sz="3200" b="1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Hashing: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Ensures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that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all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elements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stored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directly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in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Table.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10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138531"/>
            <a:ext cx="7602855" cy="554895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Separate</a:t>
            </a:r>
            <a:r>
              <a:rPr sz="3200" b="1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Chaining</a:t>
            </a:r>
            <a:r>
              <a:rPr sz="3200" b="1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1101725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Separate</a:t>
            </a:r>
            <a:r>
              <a:rPr sz="32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Chaining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open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hashing Technique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785495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Pointer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fields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added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each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record Location.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this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method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table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can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never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overflow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since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linked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only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extended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upon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or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New</a:t>
            </a:r>
            <a:r>
              <a:rPr sz="3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Keys.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Example: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775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10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</a:t>
            </a:r>
            <a:r>
              <a:rPr sz="32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11</a:t>
            </a:r>
            <a:r>
              <a:rPr sz="32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</a:t>
            </a:r>
            <a:r>
              <a:rPr sz="3200" spc="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81</a:t>
            </a:r>
            <a:r>
              <a:rPr sz="32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 10 ,</a:t>
            </a:r>
            <a:r>
              <a:rPr sz="32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7 , 34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</a:t>
            </a:r>
            <a:r>
              <a:rPr sz="32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94</a:t>
            </a:r>
            <a:r>
              <a:rPr sz="32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 17</a:t>
            </a:r>
            <a:r>
              <a:rPr sz="32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 29 ,</a:t>
            </a:r>
            <a:r>
              <a:rPr sz="32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89 ,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99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7149"/>
            <a:ext cx="6705600" cy="68008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391109"/>
            <a:ext cx="8072755" cy="5200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16535" indent="57086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element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81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collides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8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same</a:t>
            </a:r>
            <a:r>
              <a:rPr sz="28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8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hash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value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place</a:t>
            </a:r>
            <a:r>
              <a:rPr sz="28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value</a:t>
            </a:r>
            <a:r>
              <a:rPr sz="28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81</a:t>
            </a:r>
            <a:r>
              <a:rPr sz="28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at</a:t>
            </a:r>
            <a:r>
              <a:rPr sz="28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this</a:t>
            </a:r>
            <a:r>
              <a:rPr sz="28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position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perform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following.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marR="5080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1926589" algn="l"/>
                <a:tab pos="2606675" algn="l"/>
                <a:tab pos="3222625" algn="l"/>
                <a:tab pos="3727450" algn="l"/>
                <a:tab pos="4752975" algn="l"/>
                <a:tab pos="6173470" algn="l"/>
                <a:tab pos="6574155" algn="l"/>
                <a:tab pos="6993890" algn="l"/>
              </a:tabLst>
            </a:pP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Traverse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list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check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whether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already present.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marR="5080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Since,</a:t>
            </a:r>
            <a:r>
              <a:rPr sz="2800" spc="1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2800" spc="1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800" spc="1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not</a:t>
            </a:r>
            <a:r>
              <a:rPr sz="2800" spc="1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already</a:t>
            </a:r>
            <a:r>
              <a:rPr sz="2800" spc="1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present,</a:t>
            </a:r>
            <a:r>
              <a:rPr sz="2800" spc="1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insert</a:t>
            </a:r>
            <a:r>
              <a:rPr sz="2800" spc="1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at</a:t>
            </a:r>
            <a:r>
              <a:rPr sz="2800" spc="1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end</a:t>
            </a:r>
            <a:r>
              <a:rPr sz="2800" spc="1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800" spc="1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list</a:t>
            </a:r>
            <a:r>
              <a:rPr sz="28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similarly,</a:t>
            </a:r>
            <a:r>
              <a:rPr sz="28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rest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elements</a:t>
            </a:r>
            <a:r>
              <a:rPr sz="28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28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inserted.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chemeClr val="tx1"/>
                </a:solidFill>
                <a:latin typeface="Calibri"/>
                <a:cs typeface="Calibri"/>
              </a:rPr>
              <a:t>Advantages: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marR="7620" lvl="1" indent="-515620">
              <a:lnSpc>
                <a:spcPct val="100000"/>
              </a:lnSpc>
              <a:spcBef>
                <a:spcPts val="670"/>
              </a:spcBef>
              <a:buFont typeface="Wingdings"/>
              <a:buChar char=""/>
              <a:tabLst>
                <a:tab pos="527685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More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number</a:t>
            </a:r>
            <a:r>
              <a:rPr sz="28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elements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can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inserted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as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 uses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8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linked</a:t>
            </a:r>
            <a:r>
              <a:rPr sz="28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list.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527685" lvl="1" indent="-514984">
              <a:lnSpc>
                <a:spcPct val="100000"/>
              </a:lnSpc>
              <a:spcBef>
                <a:spcPts val="675"/>
              </a:spcBef>
              <a:buFont typeface="Wingdings"/>
              <a:buChar char=""/>
              <a:tabLst>
                <a:tab pos="527685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Collision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resolution</a:t>
            </a:r>
            <a:r>
              <a:rPr sz="28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8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simple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efficient.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13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367322"/>
            <a:ext cx="8073390" cy="5056512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Disadvantages: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5080" indent="570865">
              <a:lnSpc>
                <a:spcPct val="100000"/>
              </a:lnSpc>
              <a:spcBef>
                <a:spcPts val="765"/>
              </a:spcBef>
              <a:tabLst>
                <a:tab pos="1320165" algn="l"/>
                <a:tab pos="2832100" algn="l"/>
                <a:tab pos="4448175" algn="l"/>
                <a:tab pos="5585460" algn="l"/>
                <a:tab pos="7181215" algn="l"/>
              </a:tabLst>
            </a:pP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requires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pointers,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which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occupies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more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memory</a:t>
            </a:r>
            <a:r>
              <a:rPr sz="32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space.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Closed</a:t>
            </a: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 hashing: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Collide</a:t>
            </a:r>
            <a:r>
              <a:rPr sz="3200" spc="2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elements</a:t>
            </a:r>
            <a:r>
              <a:rPr sz="3200" spc="2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3200" spc="2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stored</a:t>
            </a:r>
            <a:r>
              <a:rPr sz="3200" spc="2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at</a:t>
            </a:r>
            <a:r>
              <a:rPr sz="3200" spc="2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another</a:t>
            </a:r>
            <a:r>
              <a:rPr sz="3200" spc="2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slot</a:t>
            </a:r>
            <a:r>
              <a:rPr sz="3200" spc="22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in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8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table.</a:t>
            </a:r>
            <a:r>
              <a:rPr sz="3200" spc="9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Ensures</a:t>
            </a:r>
            <a:r>
              <a:rPr sz="3200" spc="8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that</a:t>
            </a:r>
            <a:r>
              <a:rPr sz="3200" spc="10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all</a:t>
            </a:r>
            <a:r>
              <a:rPr sz="3200" spc="8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elements</a:t>
            </a:r>
            <a:r>
              <a:rPr sz="3200" spc="9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stored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directly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3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table.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Eg: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Open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addressing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Rehashing</a:t>
            </a:r>
            <a:r>
              <a:rPr sz="32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3200" spc="-1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extendable</a:t>
            </a:r>
            <a:r>
              <a:rPr sz="3200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hashing.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314960"/>
            <a:ext cx="2628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chemeClr val="tx1"/>
                </a:solidFill>
                <a:latin typeface="Calibri"/>
                <a:cs typeface="Calibri"/>
              </a:rPr>
              <a:t>Open</a:t>
            </a:r>
            <a:r>
              <a:rPr sz="2800" b="1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Calibri"/>
                <a:cs typeface="Calibri"/>
              </a:rPr>
              <a:t>Addressing: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827278"/>
            <a:ext cx="7439025" cy="360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604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927100" algn="l"/>
              </a:tabLst>
            </a:pPr>
            <a:r>
              <a:rPr sz="2800" dirty="0">
                <a:latin typeface="Arial MT"/>
                <a:cs typeface="Arial MT"/>
              </a:rPr>
              <a:t>	</a:t>
            </a:r>
            <a:r>
              <a:rPr sz="2800" dirty="0">
                <a:latin typeface="Calibri"/>
                <a:cs typeface="Calibri"/>
              </a:rPr>
              <a:t>Open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closed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hashing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resolve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collision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linked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list.</a:t>
            </a:r>
            <a:endParaRPr sz="2800">
              <a:latin typeface="Calibri"/>
              <a:cs typeface="Calibri"/>
            </a:endParaRPr>
          </a:p>
          <a:p>
            <a:pPr marL="355600" marR="5080" indent="570865" algn="just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collision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occurs,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alternative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tried </a:t>
            </a:r>
            <a:r>
              <a:rPr sz="2800" dirty="0">
                <a:latin typeface="Calibri"/>
                <a:cs typeface="Calibri"/>
              </a:rPr>
              <a:t>until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empty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ho(x),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h1(x), </a:t>
            </a:r>
            <a:r>
              <a:rPr sz="2800" dirty="0">
                <a:latin typeface="Calibri"/>
                <a:cs typeface="Calibri"/>
              </a:rPr>
              <a:t>h2(x)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succession.</a:t>
            </a:r>
            <a:endParaRPr sz="2800">
              <a:latin typeface="Calibri"/>
              <a:cs typeface="Calibri"/>
            </a:endParaRPr>
          </a:p>
          <a:p>
            <a:pPr marL="355600" marR="90805" indent="570865" algn="just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collision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strategies,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7056" y="4411748"/>
            <a:ext cx="3148965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5780" indent="-51308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5780" algn="l"/>
              </a:tabLst>
            </a:pP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Probing</a:t>
            </a:r>
            <a:endParaRPr sz="2800">
              <a:latin typeface="Calibri"/>
              <a:cs typeface="Calibri"/>
            </a:endParaRPr>
          </a:p>
          <a:p>
            <a:pPr marL="525780" indent="-51308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5780" algn="l"/>
              </a:tabLst>
            </a:pPr>
            <a:r>
              <a:rPr sz="2800" dirty="0">
                <a:latin typeface="Calibri"/>
                <a:cs typeface="Calibri"/>
              </a:rPr>
              <a:t>Quadratic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Probing</a:t>
            </a:r>
            <a:endParaRPr sz="2800">
              <a:latin typeface="Calibri"/>
              <a:cs typeface="Calibri"/>
            </a:endParaRPr>
          </a:p>
          <a:p>
            <a:pPr marL="525780" indent="-51308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5780" algn="l"/>
              </a:tabLst>
            </a:pPr>
            <a:r>
              <a:rPr sz="2800" dirty="0">
                <a:latin typeface="Calibri"/>
                <a:cs typeface="Calibri"/>
              </a:rPr>
              <a:t>Double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Hashing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38531"/>
            <a:ext cx="4598035" cy="178181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dirty="0">
                <a:latin typeface="Calibri"/>
                <a:cs typeface="Calibri"/>
              </a:rPr>
              <a:t>1.Linear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Probing:</a:t>
            </a:r>
          </a:p>
          <a:p>
            <a:pPr marL="355600" marR="5080">
              <a:lnSpc>
                <a:spcPct val="120000"/>
              </a:lnSpc>
            </a:pPr>
            <a:r>
              <a:rPr b="0" dirty="0">
                <a:latin typeface="Calibri"/>
                <a:cs typeface="Calibri"/>
              </a:rPr>
              <a:t>Key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value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:18,70,65,51,13 </a:t>
            </a:r>
            <a:r>
              <a:rPr b="0" spc="-45" dirty="0">
                <a:latin typeface="Calibri"/>
                <a:cs typeface="Calibri"/>
              </a:rPr>
              <a:t>Table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size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: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7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2133600"/>
            <a:ext cx="5405120" cy="4114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33" y="0"/>
            <a:ext cx="7616966" cy="6816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00"/>
            <a:ext cx="7696200" cy="62070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314960"/>
            <a:ext cx="16408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chemeClr val="tx1"/>
                </a:solidFill>
                <a:latin typeface="Calibri"/>
                <a:cs typeface="Calibri"/>
              </a:rPr>
              <a:t>Rehashing: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827278"/>
            <a:ext cx="8072120" cy="267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922655" algn="l"/>
              </a:tabLst>
            </a:pPr>
            <a:r>
              <a:rPr sz="2800" dirty="0">
                <a:latin typeface="Calibri"/>
                <a:cs typeface="Calibri"/>
              </a:rPr>
              <a:t>	If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get’s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full.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rehashing 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twice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scan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down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355600" marR="5080" indent="570865" algn="just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original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table,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computing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sorting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558616"/>
            <a:ext cx="8072120" cy="181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922655" algn="l"/>
              </a:tabLst>
            </a:pPr>
            <a:r>
              <a:rPr sz="2800" dirty="0">
                <a:latin typeface="Calibri"/>
                <a:cs typeface="Calibri"/>
              </a:rPr>
              <a:t>	Rehashing</a:t>
            </a:r>
            <a:r>
              <a:rPr sz="2800" spc="3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expensive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operations,</a:t>
            </a:r>
            <a:r>
              <a:rPr sz="2800" spc="30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running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O(N),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Rehashing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implements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several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Quadratic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 marL="584200" algn="just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i).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Rehash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half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full.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249072"/>
            <a:ext cx="8074025" cy="467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full.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full.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17,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(i.e)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twice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old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size.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6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353695" marR="5080" indent="-341630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h(x)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Xmod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17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old 	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scanned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6,15,24,23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13 	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inserted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727" y="172218"/>
            <a:ext cx="7707672" cy="62285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11861"/>
            <a:ext cx="20980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Calibri"/>
                <a:cs typeface="Calibri"/>
              </a:rPr>
              <a:t>Advantages: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02284"/>
            <a:ext cx="7847965" cy="48044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786130" indent="-31750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"/>
              <a:tabLst>
                <a:tab pos="786130" algn="l"/>
              </a:tabLst>
            </a:pP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Programmer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does</a:t>
            </a:r>
            <a:r>
              <a:rPr sz="28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not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about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table</a:t>
            </a:r>
            <a:r>
              <a:rPr sz="28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size.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786130" indent="-31750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"/>
              <a:tabLst>
                <a:tab pos="786130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Simple</a:t>
            </a:r>
            <a:r>
              <a:rPr sz="28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8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implement.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786130" indent="-31750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"/>
              <a:tabLst>
                <a:tab pos="786130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28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can</a:t>
            </a:r>
            <a:r>
              <a:rPr sz="28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used</a:t>
            </a:r>
            <a:r>
              <a:rPr sz="28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order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data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structure</a:t>
            </a:r>
            <a:r>
              <a:rPr sz="28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as</a:t>
            </a:r>
            <a:r>
              <a:rPr sz="28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well.</a:t>
            </a: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28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ii)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Rehash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only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when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insertion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fails.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Suppose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elements</a:t>
            </a:r>
            <a:r>
              <a:rPr sz="3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13,15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,23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,24</a:t>
            </a:r>
            <a:r>
              <a:rPr sz="3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&amp;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6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insert</a:t>
            </a:r>
            <a:r>
              <a:rPr sz="32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into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</a:t>
            </a:r>
            <a:r>
              <a:rPr sz="32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open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addressing</a:t>
            </a:r>
            <a:r>
              <a:rPr sz="3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table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size.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222250" algn="ctr">
              <a:lnSpc>
                <a:spcPct val="100000"/>
              </a:lnSpc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function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h(x)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=</a:t>
            </a:r>
            <a:r>
              <a:rPr sz="3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x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mod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7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034" y="500042"/>
            <a:ext cx="7407909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If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23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inserted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Table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,the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Resulting </a:t>
            </a:r>
            <a:r>
              <a:rPr spc="-30" dirty="0">
                <a:latin typeface="Calibri"/>
                <a:cs typeface="Calibri"/>
              </a:rPr>
              <a:t>Table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over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70%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Full.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1472" y="1428736"/>
            <a:ext cx="8074025" cy="521497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869"/>
              </a:spcBef>
              <a:buAutoNum type="arabicParenR"/>
              <a:tabLst>
                <a:tab pos="527685" algn="l"/>
              </a:tabLst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Insert</a:t>
            </a:r>
            <a:r>
              <a:rPr sz="3200" b="1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chemeClr val="tx1"/>
                </a:solidFill>
                <a:latin typeface="Calibri"/>
                <a:cs typeface="Calibri"/>
              </a:rPr>
              <a:t>23: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81635">
              <a:lnSpc>
                <a:spcPct val="100000"/>
              </a:lnSpc>
              <a:spcBef>
                <a:spcPts val="770"/>
              </a:spcBef>
            </a:pP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Hash(23)=23%7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770"/>
              </a:spcBef>
            </a:pP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=2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3200" b="1" dirty="0">
                <a:solidFill>
                  <a:schemeClr val="tx1"/>
                </a:solidFill>
                <a:latin typeface="Calibri"/>
                <a:cs typeface="Calibri"/>
              </a:rPr>
              <a:t>Extendable</a:t>
            </a:r>
            <a:r>
              <a:rPr sz="3200" b="1" spc="-1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Hashing: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6415" marR="5080" lvl="1" indent="-51435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527685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Extendable</a:t>
            </a:r>
            <a:r>
              <a:rPr sz="3200" spc="34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Hashing</a:t>
            </a:r>
            <a:r>
              <a:rPr sz="3200" spc="34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Allows</a:t>
            </a:r>
            <a:r>
              <a:rPr sz="3200" spc="34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3200" spc="34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find</a:t>
            </a:r>
            <a:r>
              <a:rPr sz="3200" spc="35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3200" spc="35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be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Performed</a:t>
            </a:r>
            <a:r>
              <a:rPr sz="3200" spc="17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3200" spc="18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3200" spc="170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disk</a:t>
            </a:r>
            <a:r>
              <a:rPr sz="3200" spc="16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accesses.</a:t>
            </a:r>
            <a:r>
              <a:rPr sz="3200" spc="16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Insertion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Also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Requires</a:t>
            </a:r>
            <a:r>
              <a:rPr sz="32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few</a:t>
            </a:r>
            <a:r>
              <a:rPr sz="32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Disk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accesses.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526415" marR="5080" lvl="1" indent="-51435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527685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Let</a:t>
            </a:r>
            <a:r>
              <a:rPr sz="3200" spc="5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us</a:t>
            </a:r>
            <a:r>
              <a:rPr sz="3200" spc="5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support</a:t>
            </a:r>
            <a:r>
              <a:rPr sz="3200" spc="5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consider</a:t>
            </a:r>
            <a:r>
              <a:rPr sz="3200" spc="5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our</a:t>
            </a:r>
            <a:r>
              <a:rPr sz="3200" spc="5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data</a:t>
            </a:r>
            <a:r>
              <a:rPr sz="3200" spc="5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consist</a:t>
            </a:r>
            <a:r>
              <a:rPr sz="3200" spc="5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of 	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determined</a:t>
            </a:r>
            <a:r>
              <a:rPr sz="3200" spc="4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sz="3200" spc="4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3200" spc="4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leading</a:t>
            </a:r>
            <a:r>
              <a:rPr sz="3200" spc="4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3200" spc="4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bits</a:t>
            </a:r>
            <a:r>
              <a:rPr sz="3200" spc="4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3200" spc="4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356" y="6110427"/>
            <a:ext cx="9531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7211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11861"/>
            <a:ext cx="803211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m=4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elements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,identified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indicated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number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Parenthesis.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676400"/>
            <a:ext cx="8458200" cy="4838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14236"/>
            <a:ext cx="7315200" cy="66278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01811" y="6464985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443522"/>
            <a:ext cx="7744459" cy="334264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Advantages: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Provides</a:t>
            </a:r>
            <a:r>
              <a:rPr sz="3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quick</a:t>
            </a:r>
            <a:r>
              <a:rPr sz="3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access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times</a:t>
            </a:r>
            <a:r>
              <a:rPr sz="3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sz="3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insert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an</a:t>
            </a:r>
            <a:r>
              <a:rPr sz="3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find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operation</a:t>
            </a:r>
            <a:r>
              <a:rPr sz="3200" spc="-1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on</a:t>
            </a:r>
            <a:r>
              <a:rPr sz="3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large</a:t>
            </a:r>
            <a:r>
              <a:rPr sz="32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database.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chemeClr val="tx1"/>
                </a:solidFill>
                <a:latin typeface="Calibri"/>
                <a:cs typeface="Calibri"/>
              </a:rPr>
              <a:t>Disadvantages: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  <a:p>
            <a:pPr marL="355600" marR="645795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This</a:t>
            </a:r>
            <a:r>
              <a:rPr sz="3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algorithm</a:t>
            </a:r>
            <a:r>
              <a:rPr sz="3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does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not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work</a:t>
            </a:r>
            <a:r>
              <a:rPr sz="3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if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there</a:t>
            </a:r>
            <a:r>
              <a:rPr sz="3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chemeClr val="tx1"/>
                </a:solidFill>
                <a:latin typeface="Calibri"/>
                <a:cs typeface="Calibri"/>
              </a:rPr>
              <a:t>are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more</a:t>
            </a:r>
            <a:r>
              <a:rPr sz="3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then</a:t>
            </a:r>
            <a:r>
              <a:rPr sz="3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/>
                <a:cs typeface="Calibri"/>
              </a:rPr>
              <a:t>m</a:t>
            </a:r>
            <a:r>
              <a:rPr sz="3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tx1"/>
                </a:solidFill>
                <a:latin typeface="Calibri"/>
                <a:cs typeface="Calibri"/>
              </a:rPr>
              <a:t>duplicates.</a:t>
            </a:r>
            <a:endParaRPr sz="32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567</Words>
  <Application>Microsoft Office PowerPoint</Application>
  <PresentationFormat>On-screen Show (4:3)</PresentationFormat>
  <Paragraphs>144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Hashing</vt:lpstr>
      <vt:lpstr>Slide 2</vt:lpstr>
      <vt:lpstr>Slide 3</vt:lpstr>
      <vt:lpstr>Hash Table :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1.Linear Probing: Key value :18,70,65,51,13 Table size : 7</vt:lpstr>
      <vt:lpstr>Slide 16</vt:lpstr>
      <vt:lpstr>Slide 17</vt:lpstr>
      <vt:lpstr>Slide 18</vt:lpstr>
      <vt:lpstr>Slide 19</vt:lpstr>
      <vt:lpstr>Slide 20</vt:lpstr>
      <vt:lpstr>Advantages:</vt:lpstr>
      <vt:lpstr>Slide 22</vt:lpstr>
      <vt:lpstr>If 23 is inserted into the Table ,the Resulting Table Will be over 70% Full.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</dc:title>
  <dc:creator>user</dc:creator>
  <cp:lastModifiedBy>user</cp:lastModifiedBy>
  <cp:revision>1</cp:revision>
  <dcterms:created xsi:type="dcterms:W3CDTF">2024-06-01T14:01:56Z</dcterms:created>
  <dcterms:modified xsi:type="dcterms:W3CDTF">2024-06-01T14:04:09Z</dcterms:modified>
</cp:coreProperties>
</file>