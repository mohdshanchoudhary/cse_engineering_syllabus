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097" r:id="rId2"/>
  </p:sldMasterIdLst>
  <p:notesMasterIdLst>
    <p:notesMasterId r:id="rId53"/>
  </p:notesMasterIdLst>
  <p:sldIdLst>
    <p:sldId id="459" r:id="rId3"/>
    <p:sldId id="460" r:id="rId4"/>
    <p:sldId id="461" r:id="rId5"/>
    <p:sldId id="462" r:id="rId6"/>
    <p:sldId id="413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5" r:id="rId17"/>
    <p:sldId id="426" r:id="rId18"/>
    <p:sldId id="427" r:id="rId19"/>
    <p:sldId id="428" r:id="rId20"/>
    <p:sldId id="430" r:id="rId21"/>
    <p:sldId id="454" r:id="rId22"/>
    <p:sldId id="452" r:id="rId23"/>
    <p:sldId id="458" r:id="rId24"/>
    <p:sldId id="455" r:id="rId25"/>
    <p:sldId id="453" r:id="rId26"/>
    <p:sldId id="456" r:id="rId27"/>
    <p:sldId id="457" r:id="rId28"/>
    <p:sldId id="429" r:id="rId29"/>
    <p:sldId id="431" r:id="rId30"/>
    <p:sldId id="432" r:id="rId31"/>
    <p:sldId id="433" r:id="rId32"/>
    <p:sldId id="434" r:id="rId33"/>
    <p:sldId id="435" r:id="rId34"/>
    <p:sldId id="436" r:id="rId35"/>
    <p:sldId id="443" r:id="rId36"/>
    <p:sldId id="437" r:id="rId37"/>
    <p:sldId id="438" r:id="rId38"/>
    <p:sldId id="439" r:id="rId39"/>
    <p:sldId id="440" r:id="rId40"/>
    <p:sldId id="441" r:id="rId41"/>
    <p:sldId id="442" r:id="rId42"/>
    <p:sldId id="444" r:id="rId43"/>
    <p:sldId id="445" r:id="rId44"/>
    <p:sldId id="446" r:id="rId45"/>
    <p:sldId id="447" r:id="rId46"/>
    <p:sldId id="448" r:id="rId47"/>
    <p:sldId id="449" r:id="rId48"/>
    <p:sldId id="450" r:id="rId49"/>
    <p:sldId id="465" r:id="rId50"/>
    <p:sldId id="451" r:id="rId51"/>
    <p:sldId id="467" r:id="rId52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BC4"/>
    <a:srgbClr val="0D8BC3"/>
    <a:srgbClr val="2ED9FA"/>
    <a:srgbClr val="0BDEE3"/>
    <a:srgbClr val="07D3D3"/>
    <a:srgbClr val="07DDF3"/>
    <a:srgbClr val="57ACF3"/>
    <a:srgbClr val="3399FF"/>
    <a:srgbClr val="33CCFF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660"/>
  </p:normalViewPr>
  <p:slideViewPr>
    <p:cSldViewPr snapToGrid="0">
      <p:cViewPr varScale="1">
        <p:scale>
          <a:sx n="75" d="100"/>
          <a:sy n="75" d="100"/>
        </p:scale>
        <p:origin x="148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08BD66-0090-4264-A614-918E999BC416}" type="datetimeFigureOut">
              <a:rPr lang="en-US"/>
              <a:pPr>
                <a:defRPr/>
              </a:pPr>
              <a:t>7/18/2024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5D7673-01F9-4197-813B-D3D5701B0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8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08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63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09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70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5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21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04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76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2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70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88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76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53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21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482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852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891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5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58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08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476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73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273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607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75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78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763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598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242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205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10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488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22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988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464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7" name="Google Shape;2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B3CB12C-8EC5-4844-89BA-0E6D4C45E875}" type="slidenum">
              <a:rPr lang="en-US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22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chandigarh university 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365" y="115893"/>
            <a:ext cx="454819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157" y="115888"/>
            <a:ext cx="6376086" cy="987982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481692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7974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6DE905C-5FD8-478B-A120-69132E46541B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BE4B-7506-4E30-B2A2-DA8EEEBD4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2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E274D73-CD1F-468D-A5F5-31833A15DB10}" type="datetime1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5890C-95A5-4C66-AF69-0E2F514131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5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ACF28F3-C1A4-4432-98BA-E6467A20D643}" type="datetime1">
              <a:rPr lang="en-US" smtClean="0"/>
              <a:t>7/18/2024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09A63-014E-40C1-8AE1-2C05C5086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4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E840076-62EE-46BF-AB43-CE29EE245984}" type="datetime1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C8B8AC-37F6-49D1-840B-A73DD7487E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1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297AA1C-7C4D-4A50-AE8C-9383173E231D}" type="datetime1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8E44C-20D7-45D0-9294-0943E4C87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1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F2FEBDB-FD56-4131-ADFA-1A0CC05F05AA}" type="datetime1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D5B4D-161F-447E-822C-287C913B5E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5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6ACA447-E543-4ABE-B1AE-3EF57944C335}" type="datetime1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3A965-8E4D-4D59-922A-894ECEF074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3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E559FE5C-A098-46CD-9C6C-E18EEEC4EB4E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419EA-2E48-41C1-8B52-8AB71FBA6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8B0BD48-7BD3-473E-856E-AF9737B3281B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E9D30-6671-4A98-B002-C510EBC495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3EB906B0-79C0-4755-A845-749605ED743C}" type="datetime1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fld id="{BEC0BCEC-4877-466A-8FCC-8DE3B6353D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13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4000500"/>
            <a:ext cx="41529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6D1856-8B02-44EF-A816-E579E2FF03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2152-B41B-463C-BBBD-C534CF556A93}" type="datetime1">
              <a:rPr lang="en-US" smtClean="0"/>
              <a:t>7/18/2024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B4EA8-C45C-487D-B5E9-FAA79C3DB99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BC4459-A7E8-4B2A-998A-531C1A14BC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1BDDCF-F6BC-4736-AAB7-8F6826B0FB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2" descr="Image result for chandigarh university logo">
            <a:extLst>
              <a:ext uri="{FF2B5EF4-FFF2-40B4-BE49-F238E27FC236}">
                <a16:creationId xmlns:a16="http://schemas.microsoft.com/office/drawing/2014/main" id="{95FAC6E5-F394-76A2-EAD7-FA580099F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365" y="115893"/>
            <a:ext cx="454819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9214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17D2EB-7CAE-4DD9-9E8B-49A7BAE930E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164490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DE905C-5FD8-478B-A120-69132E46541B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B8BE4B-7506-4E30-B2A2-DA8EEEBD4BC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85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274D73-CD1F-468D-A5F5-31833A15DB10}" type="datetime1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55890C-95A5-4C66-AF69-0E2F514131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9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CF28F3-C1A4-4432-98BA-E6467A20D643}" type="datetime1">
              <a:rPr lang="en-US" smtClean="0"/>
              <a:t>7/18/2024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E09A63-014E-40C1-8AE1-2C05C50868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177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840076-62EE-46BF-AB43-CE29EE245984}" type="datetime1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C8B8AC-37F6-49D1-840B-A73DD7487E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986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97AA1C-7C4D-4A50-AE8C-9383173E231D}" type="datetime1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C8E44C-20D7-45D0-9294-0943E4C871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4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2FEBDB-FD56-4131-ADFA-1A0CC05F05AA}" type="datetime1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4D5B4D-161F-447E-822C-287C913B5E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86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ACA447-E543-4ABE-B1AE-3EF57944C335}" type="datetime1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13A965-8E4D-4D59-922A-894ECEF074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395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59FE5C-A098-46CD-9C6C-E18EEEC4EB4E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B419EA-2E48-41C1-8B52-8AB71FBA64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68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B0BD48-7BD3-473E-856E-AF9737B3281B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3E9D30-6671-4A98-B002-C510EBC495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8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118887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0868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84357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42078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08675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0518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59112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6698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37941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74766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40071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99337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48029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40489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707562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00226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418540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39614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60788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89587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516374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67634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40560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85084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32460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64455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945986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85786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365004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192621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19593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8212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75974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83868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54583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79491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39527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55821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75322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50124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268308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716489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991272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BCCA92B-83F1-4FEC-B040-1BB12FBC8CA5}" type="datetime1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685783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/>
          <a:srcRect b="23807"/>
          <a:stretch>
            <a:fillRect/>
          </a:stretch>
        </p:blipFill>
        <p:spPr bwMode="auto">
          <a:xfrm>
            <a:off x="7246961" y="40950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734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71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6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5.xml"/><Relationship Id="rId41" Type="http://schemas.openxmlformats.org/officeDocument/2006/relationships/slideLayout" Target="../slideLayouts/slideLayout57.xml"/><Relationship Id="rId54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60.xml"/><Relationship Id="rId52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4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24.xml"/><Relationship Id="rId51" Type="http://schemas.openxmlformats.org/officeDocument/2006/relationships/slideLayout" Target="../slideLayouts/slideLayout67.xml"/><Relationship Id="rId3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92946" y="134943"/>
            <a:ext cx="6293644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9588" y="131127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4217D2EB-7CAE-4DD9-9E8B-49A7BAE930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2" descr="Image result for chandigarh university logo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6" y="104775"/>
            <a:ext cx="454819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-1984772" y="293688"/>
            <a:ext cx="3860007" cy="5853112"/>
          </a:xfrm>
          <a:prstGeom prst="rtTriangle">
            <a:avLst/>
          </a:prstGeom>
          <a:solidFill>
            <a:schemeClr val="bg1">
              <a:lumMod val="85000"/>
              <a:alpha val="26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751096" y="5108575"/>
            <a:ext cx="307181" cy="1612900"/>
            <a:chOff x="83821" y="0"/>
            <a:chExt cx="219636" cy="903079"/>
          </a:xfrm>
        </p:grpSpPr>
        <p:sp>
          <p:nvSpPr>
            <p:cNvPr id="10" name="Rectangle 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graphicFrame>
          <p:nvGraphicFramePr>
            <p:cNvPr id="1040" name="Object 1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19" imgW="2169000" imgH="2169360" progId="">
                    <p:embed/>
                  </p:oleObj>
                </mc:Choice>
                <mc:Fallback>
                  <p:oleObj name="CorelDRAW" r:id="rId19" imgW="2169000" imgH="2169360" progId="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3" name="Group 16"/>
          <p:cNvGrpSpPr>
            <a:grpSpLocks/>
          </p:cNvGrpSpPr>
          <p:nvPr/>
        </p:nvGrpSpPr>
        <p:grpSpPr bwMode="auto">
          <a:xfrm rot="10800000">
            <a:off x="2" y="6251580"/>
            <a:ext cx="548879" cy="606425"/>
            <a:chOff x="5401469" y="1588"/>
            <a:chExt cx="1389063" cy="540239"/>
          </a:xfrm>
        </p:grpSpPr>
        <p:sp>
          <p:nvSpPr>
            <p:cNvPr id="1035" name="Freeform 5"/>
            <p:cNvSpPr>
              <a:spLocks/>
            </p:cNvSpPr>
            <p:nvPr/>
          </p:nvSpPr>
          <p:spPr bwMode="auto">
            <a:xfrm>
              <a:off x="5401469" y="1588"/>
              <a:ext cx="1205279" cy="540239"/>
            </a:xfrm>
            <a:custGeom>
              <a:avLst/>
              <a:gdLst>
                <a:gd name="T0" fmla="*/ 0 w 1410"/>
                <a:gd name="T1" fmla="*/ 0 h 632"/>
                <a:gd name="T2" fmla="*/ 2147483646 w 1410"/>
                <a:gd name="T3" fmla="*/ 2147483646 h 632"/>
                <a:gd name="T4" fmla="*/ 2147483646 w 1410"/>
                <a:gd name="T5" fmla="*/ 2147483646 h 632"/>
                <a:gd name="T6" fmla="*/ 2147483646 w 1410"/>
                <a:gd name="T7" fmla="*/ 0 h 632"/>
                <a:gd name="T8" fmla="*/ 0 w 1410"/>
                <a:gd name="T9" fmla="*/ 0 h 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0" h="632">
                  <a:moveTo>
                    <a:pt x="0" y="0"/>
                  </a:moveTo>
                  <a:lnTo>
                    <a:pt x="630" y="632"/>
                  </a:lnTo>
                  <a:lnTo>
                    <a:pt x="1410" y="632"/>
                  </a:lnTo>
                  <a:lnTo>
                    <a:pt x="78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C344C"/>
                </a:gs>
                <a:gs pos="100000">
                  <a:srgbClr val="D80F7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6" name="Freeform 6"/>
            <p:cNvSpPr>
              <a:spLocks/>
            </p:cNvSpPr>
            <p:nvPr/>
          </p:nvSpPr>
          <p:spPr bwMode="auto">
            <a:xfrm>
              <a:off x="6252003" y="1588"/>
              <a:ext cx="538529" cy="426549"/>
            </a:xfrm>
            <a:custGeom>
              <a:avLst/>
              <a:gdLst>
                <a:gd name="T0" fmla="*/ 0 w 630"/>
                <a:gd name="T1" fmla="*/ 0 h 499"/>
                <a:gd name="T2" fmla="*/ 2147483646 w 630"/>
                <a:gd name="T3" fmla="*/ 2147483646 h 499"/>
                <a:gd name="T4" fmla="*/ 2147483646 w 630"/>
                <a:gd name="T5" fmla="*/ 2147483646 h 499"/>
                <a:gd name="T6" fmla="*/ 2147483646 w 630"/>
                <a:gd name="T7" fmla="*/ 0 h 499"/>
                <a:gd name="T8" fmla="*/ 0 w 630"/>
                <a:gd name="T9" fmla="*/ 0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499">
                  <a:moveTo>
                    <a:pt x="0" y="0"/>
                  </a:moveTo>
                  <a:lnTo>
                    <a:pt x="498" y="499"/>
                  </a:lnTo>
                  <a:lnTo>
                    <a:pt x="630" y="499"/>
                  </a:lnTo>
                  <a:lnTo>
                    <a:pt x="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1" r:id="rId12"/>
    <p:sldLayoutId id="2147484093" r:id="rId13"/>
    <p:sldLayoutId id="2147484094" r:id="rId14"/>
    <p:sldLayoutId id="2147484095" r:id="rId15"/>
    <p:sldLayoutId id="2147484096" r:id="rId16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342892" algn="ctr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685783" algn="ctr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028675" algn="ctr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371566" algn="ctr" rtl="0" fontAlgn="base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171446" indent="-171446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4337" indent="-171446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7228" indent="-171446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00120" indent="-171446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3012" indent="-171446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17D2EB-7CAE-4DD9-9E8B-49A7BAE930E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8" r:id="rId1"/>
    <p:sldLayoutId id="2147484099" r:id="rId2"/>
    <p:sldLayoutId id="2147484100" r:id="rId3"/>
    <p:sldLayoutId id="2147484101" r:id="rId4"/>
    <p:sldLayoutId id="2147484102" r:id="rId5"/>
    <p:sldLayoutId id="2147484103" r:id="rId6"/>
    <p:sldLayoutId id="2147484104" r:id="rId7"/>
    <p:sldLayoutId id="2147484105" r:id="rId8"/>
    <p:sldLayoutId id="2147484106" r:id="rId9"/>
    <p:sldLayoutId id="2147484107" r:id="rId10"/>
    <p:sldLayoutId id="2147484108" r:id="rId11"/>
    <p:sldLayoutId id="2147484109" r:id="rId12"/>
    <p:sldLayoutId id="2147484110" r:id="rId13"/>
    <p:sldLayoutId id="2147484111" r:id="rId14"/>
    <p:sldLayoutId id="2147484112" r:id="rId15"/>
    <p:sldLayoutId id="2147484113" r:id="rId16"/>
    <p:sldLayoutId id="2147484114" r:id="rId17"/>
    <p:sldLayoutId id="2147484115" r:id="rId18"/>
    <p:sldLayoutId id="2147484116" r:id="rId19"/>
    <p:sldLayoutId id="2147484117" r:id="rId20"/>
    <p:sldLayoutId id="2147484118" r:id="rId21"/>
    <p:sldLayoutId id="2147484119" r:id="rId22"/>
    <p:sldLayoutId id="2147484120" r:id="rId23"/>
    <p:sldLayoutId id="2147484121" r:id="rId24"/>
    <p:sldLayoutId id="2147484122" r:id="rId25"/>
    <p:sldLayoutId id="2147484123" r:id="rId26"/>
    <p:sldLayoutId id="2147484124" r:id="rId27"/>
    <p:sldLayoutId id="2147484125" r:id="rId28"/>
    <p:sldLayoutId id="2147484126" r:id="rId29"/>
    <p:sldLayoutId id="2147484127" r:id="rId30"/>
    <p:sldLayoutId id="2147484128" r:id="rId31"/>
    <p:sldLayoutId id="2147484129" r:id="rId32"/>
    <p:sldLayoutId id="2147484130" r:id="rId33"/>
    <p:sldLayoutId id="2147484131" r:id="rId34"/>
    <p:sldLayoutId id="2147484132" r:id="rId35"/>
    <p:sldLayoutId id="2147484133" r:id="rId36"/>
    <p:sldLayoutId id="2147484134" r:id="rId37"/>
    <p:sldLayoutId id="2147484135" r:id="rId38"/>
    <p:sldLayoutId id="2147484136" r:id="rId39"/>
    <p:sldLayoutId id="2147484137" r:id="rId40"/>
    <p:sldLayoutId id="2147484138" r:id="rId41"/>
    <p:sldLayoutId id="2147484139" r:id="rId42"/>
    <p:sldLayoutId id="2147484140" r:id="rId43"/>
    <p:sldLayoutId id="2147484141" r:id="rId44"/>
    <p:sldLayoutId id="2147484142" r:id="rId45"/>
    <p:sldLayoutId id="2147484143" r:id="rId46"/>
    <p:sldLayoutId id="2147484144" r:id="rId47"/>
    <p:sldLayoutId id="2147484145" r:id="rId48"/>
    <p:sldLayoutId id="2147484146" r:id="rId49"/>
    <p:sldLayoutId id="2147484147" r:id="rId50"/>
    <p:sldLayoutId id="2147484148" r:id="rId51"/>
    <p:sldLayoutId id="2147484149" r:id="rId52"/>
    <p:sldLayoutId id="2147484150" r:id="rId53"/>
    <p:sldLayoutId id="2147484151" r:id="rId54"/>
    <p:sldLayoutId id="2147484152" r:id="rId5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D1AA1F-716D-ACE6-53B5-2BF7E2F52E49}"/>
              </a:ext>
            </a:extLst>
          </p:cNvPr>
          <p:cNvSpPr txBox="1"/>
          <p:nvPr/>
        </p:nvSpPr>
        <p:spPr>
          <a:xfrm>
            <a:off x="1432560" y="1181551"/>
            <a:ext cx="6441440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in Python Lab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(23CSP-201)</a:t>
            </a:r>
          </a:p>
        </p:txBody>
      </p:sp>
      <p:sp>
        <p:nvSpPr>
          <p:cNvPr id="7" name="Google Shape;77;p2">
            <a:extLst>
              <a:ext uri="{FF2B5EF4-FFF2-40B4-BE49-F238E27FC236}">
                <a16:creationId xmlns:a16="http://schemas.microsoft.com/office/drawing/2014/main" id="{1BD1F61B-0E13-D0A4-E0DE-B2AAF5AB37BC}"/>
              </a:ext>
            </a:extLst>
          </p:cNvPr>
          <p:cNvSpPr/>
          <p:nvPr/>
        </p:nvSpPr>
        <p:spPr>
          <a:xfrm>
            <a:off x="2326825" y="0"/>
            <a:ext cx="681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613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(CSE)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8BA1BA9-CFEB-8A93-466E-63DC7F3ED1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4093445"/>
          <a:ext cx="2209212" cy="1920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F8BA1BA9-CFEB-8A93-466E-63DC7F3ED1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4093445"/>
                        <a:ext cx="2209212" cy="19200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62;p1">
            <a:extLst>
              <a:ext uri="{FF2B5EF4-FFF2-40B4-BE49-F238E27FC236}">
                <a16:creationId xmlns:a16="http://schemas.microsoft.com/office/drawing/2014/main" id="{F35E5FF2-69AA-06A8-E10E-118E993ACED1}"/>
              </a:ext>
            </a:extLst>
          </p:cNvPr>
          <p:cNvSpPr txBox="1"/>
          <p:nvPr/>
        </p:nvSpPr>
        <p:spPr>
          <a:xfrm>
            <a:off x="5882640" y="5150192"/>
            <a:ext cx="283464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20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2000" b="1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1;p1">
            <a:extLst>
              <a:ext uri="{FF2B5EF4-FFF2-40B4-BE49-F238E27FC236}">
                <a16:creationId xmlns:a16="http://schemas.microsoft.com/office/drawing/2014/main" id="{A5E5A580-10B3-7F22-9F18-0B768FE9D61D}"/>
              </a:ext>
            </a:extLst>
          </p:cNvPr>
          <p:cNvSpPr/>
          <p:nvPr/>
        </p:nvSpPr>
        <p:spPr>
          <a:xfrm flipH="1">
            <a:off x="7372350" y="5334000"/>
            <a:ext cx="1774825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61;p23">
            <a:extLst>
              <a:ext uri="{FF2B5EF4-FFF2-40B4-BE49-F238E27FC236}">
                <a16:creationId xmlns:a16="http://schemas.microsoft.com/office/drawing/2014/main" id="{7D311A3E-ADD3-4716-72B8-726972EF2FA2}"/>
              </a:ext>
            </a:extLst>
          </p:cNvPr>
          <p:cNvSpPr/>
          <p:nvPr/>
        </p:nvSpPr>
        <p:spPr>
          <a:xfrm>
            <a:off x="2779776" y="11430"/>
            <a:ext cx="6364605" cy="394970"/>
          </a:xfrm>
          <a:custGeom>
            <a:avLst/>
            <a:gdLst/>
            <a:ahLst/>
            <a:cxnLst/>
            <a:rect l="l" t="t" r="r" b="b"/>
            <a:pathLst>
              <a:path w="6364605" h="394970" extrusionOk="0">
                <a:moveTo>
                  <a:pt x="6356604" y="8890"/>
                </a:moveTo>
                <a:lnTo>
                  <a:pt x="33528" y="8890"/>
                </a:lnTo>
                <a:lnTo>
                  <a:pt x="33528" y="25400"/>
                </a:lnTo>
                <a:lnTo>
                  <a:pt x="33528" y="344170"/>
                </a:lnTo>
                <a:lnTo>
                  <a:pt x="33528" y="360680"/>
                </a:lnTo>
                <a:lnTo>
                  <a:pt x="6356604" y="360680"/>
                </a:lnTo>
                <a:lnTo>
                  <a:pt x="6356604" y="344424"/>
                </a:lnTo>
                <a:lnTo>
                  <a:pt x="6356604" y="344170"/>
                </a:lnTo>
                <a:lnTo>
                  <a:pt x="6356604" y="25908"/>
                </a:lnTo>
                <a:lnTo>
                  <a:pt x="6339840" y="25908"/>
                </a:lnTo>
                <a:lnTo>
                  <a:pt x="6339840" y="344170"/>
                </a:lnTo>
                <a:lnTo>
                  <a:pt x="50292" y="344170"/>
                </a:lnTo>
                <a:lnTo>
                  <a:pt x="50292" y="25400"/>
                </a:lnTo>
                <a:lnTo>
                  <a:pt x="6356604" y="25400"/>
                </a:lnTo>
                <a:lnTo>
                  <a:pt x="6356604" y="8890"/>
                </a:lnTo>
                <a:close/>
              </a:path>
              <a:path w="6364605" h="394970" extrusionOk="0">
                <a:moveTo>
                  <a:pt x="6364224" y="378460"/>
                </a:moveTo>
                <a:lnTo>
                  <a:pt x="16764" y="378460"/>
                </a:lnTo>
                <a:lnTo>
                  <a:pt x="16764" y="0"/>
                </a:lnTo>
                <a:lnTo>
                  <a:pt x="0" y="0"/>
                </a:lnTo>
                <a:lnTo>
                  <a:pt x="0" y="378460"/>
                </a:lnTo>
                <a:lnTo>
                  <a:pt x="0" y="394970"/>
                </a:lnTo>
                <a:lnTo>
                  <a:pt x="6364224" y="394970"/>
                </a:lnTo>
                <a:lnTo>
                  <a:pt x="6364224" y="37846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14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title"/>
          </p:nvPr>
        </p:nvSpPr>
        <p:spPr>
          <a:xfrm>
            <a:off x="619125" y="533400"/>
            <a:ext cx="7886700" cy="447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5555"/>
              <a:buNone/>
            </a:pPr>
            <a:r>
              <a:rPr lang="en-US" sz="2800" u="sng" dirty="0">
                <a:solidFill>
                  <a:srgbClr val="0C0C0C"/>
                </a:solidFill>
              </a:rPr>
              <a:t>Unit 2 Content</a:t>
            </a:r>
            <a:br>
              <a:rPr lang="en-US" sz="2800" dirty="0"/>
            </a:br>
            <a:r>
              <a:rPr lang="en-US" sz="2800" dirty="0"/>
              <a:t> </a:t>
            </a:r>
            <a:endParaRPr dirty="0"/>
          </a:p>
        </p:txBody>
      </p:sp>
      <p:sp>
        <p:nvSpPr>
          <p:cNvPr id="84" name="Google Shape;84;p3"/>
          <p:cNvSpPr txBox="1">
            <a:spLocks noGrp="1"/>
          </p:cNvSpPr>
          <p:nvPr>
            <p:ph type="sldNum" idx="4294967295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A09028-1C27-2418-1289-8C40C34F6AA4}"/>
              </a:ext>
            </a:extLst>
          </p:cNvPr>
          <p:cNvGraphicFramePr>
            <a:graphicFrameLocks noGrp="1"/>
          </p:cNvGraphicFramePr>
          <p:nvPr/>
        </p:nvGraphicFramePr>
        <p:xfrm>
          <a:off x="1158240" y="1145143"/>
          <a:ext cx="7711439" cy="420917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{616DA210-FB5B-4158-B5E0-FEB733F419BA}</a:tableStyleId>
              </a:tblPr>
              <a:tblGrid>
                <a:gridCol w="1457175">
                  <a:extLst>
                    <a:ext uri="{9D8B030D-6E8A-4147-A177-3AD203B41FA5}">
                      <a16:colId xmlns:a16="http://schemas.microsoft.com/office/drawing/2014/main" val="2628341904"/>
                    </a:ext>
                  </a:extLst>
                </a:gridCol>
                <a:gridCol w="3974061">
                  <a:extLst>
                    <a:ext uri="{9D8B030D-6E8A-4147-A177-3AD203B41FA5}">
                      <a16:colId xmlns:a16="http://schemas.microsoft.com/office/drawing/2014/main" val="2174162085"/>
                    </a:ext>
                  </a:extLst>
                </a:gridCol>
                <a:gridCol w="2280203">
                  <a:extLst>
                    <a:ext uri="{9D8B030D-6E8A-4147-A177-3AD203B41FA5}">
                      <a16:colId xmlns:a16="http://schemas.microsoft.com/office/drawing/2014/main" val="781460737"/>
                    </a:ext>
                  </a:extLst>
                </a:gridCol>
              </a:tblGrid>
              <a:tr h="678666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400">
                          <a:effectLst/>
                        </a:rPr>
                        <a:t>UNIT-2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65"/>
                        </a:lnSpc>
                      </a:pPr>
                      <a:r>
                        <a:rPr lang="en-US" sz="1400">
                          <a:effectLst/>
                        </a:rPr>
                        <a:t>Operations on Strings, list, Tuples, Sets &amp; Dictionaries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460"/>
                        </a:lnSpc>
                      </a:pPr>
                      <a:endParaRPr lang="en-IN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00676091"/>
                  </a:ext>
                </a:extLst>
              </a:tr>
              <a:tr h="720201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400">
                          <a:effectLst/>
                        </a:rPr>
                        <a:t>Experiment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2.1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365"/>
                        </a:lnSpc>
                      </a:pPr>
                      <a:r>
                        <a:rPr lang="en-US" sz="1200">
                          <a:effectLst/>
                        </a:rPr>
                        <a:t>String operations and methods (indexing, slicing, len(), strip(), find(), replace(), split(), join(), etc.).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100250"/>
                  </a:ext>
                </a:extLst>
              </a:tr>
              <a:tr h="831749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400">
                          <a:effectLst/>
                        </a:rPr>
                        <a:t>Experiment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2.2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ct val="107000"/>
                        </a:lnSpc>
                      </a:pPr>
                      <a:r>
                        <a:rPr lang="en-US" sz="1200" dirty="0">
                          <a:effectLst/>
                        </a:rPr>
                        <a:t>List creation, accessing, and operations (append (), insert(), extend(), remove(), pop(), sort(), etc.).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066797"/>
                  </a:ext>
                </a:extLst>
              </a:tr>
              <a:tr h="1258361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400">
                          <a:effectLst/>
                        </a:rPr>
                        <a:t>Experiment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2.3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 marR="11557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Tuple creation, accessing, and operations: Demonstrate various methods of creating tuples, accessing tuple elements through indexing and slicing, and applying tuple methods/functions.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10506"/>
                  </a:ext>
                </a:extLst>
              </a:tr>
              <a:tr h="720201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400">
                          <a:effectLst/>
                        </a:rPr>
                        <a:t>Experiment</a:t>
                      </a:r>
                      <a:r>
                        <a:rPr lang="en-US" sz="1400" spc="-10">
                          <a:effectLst/>
                        </a:rPr>
                        <a:t> </a:t>
                      </a:r>
                      <a:r>
                        <a:rPr lang="en-US" sz="1400">
                          <a:effectLst/>
                        </a:rPr>
                        <a:t>2.4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580">
                        <a:lnSpc>
                          <a:spcPts val="1365"/>
                        </a:lnSpc>
                      </a:pPr>
                      <a:r>
                        <a:rPr lang="en-US" sz="1200" dirty="0">
                          <a:effectLst/>
                        </a:rPr>
                        <a:t>Sets and Dictionaries creation, accessing, and operations.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776664"/>
                  </a:ext>
                </a:extLst>
              </a:tr>
            </a:tbl>
          </a:graphicData>
        </a:graphic>
      </p:graphicFrame>
      <p:sp>
        <p:nvSpPr>
          <p:cNvPr id="3" name="Google Shape;261;p23">
            <a:extLst>
              <a:ext uri="{FF2B5EF4-FFF2-40B4-BE49-F238E27FC236}">
                <a16:creationId xmlns:a16="http://schemas.microsoft.com/office/drawing/2014/main" id="{5EF622AC-6613-5121-01C3-B3A67BBAAB7D}"/>
              </a:ext>
            </a:extLst>
          </p:cNvPr>
          <p:cNvSpPr/>
          <p:nvPr/>
        </p:nvSpPr>
        <p:spPr>
          <a:xfrm>
            <a:off x="2779776" y="11430"/>
            <a:ext cx="6364605" cy="394970"/>
          </a:xfrm>
          <a:custGeom>
            <a:avLst/>
            <a:gdLst/>
            <a:ahLst/>
            <a:cxnLst/>
            <a:rect l="l" t="t" r="r" b="b"/>
            <a:pathLst>
              <a:path w="6364605" h="394970" extrusionOk="0">
                <a:moveTo>
                  <a:pt x="6356604" y="8890"/>
                </a:moveTo>
                <a:lnTo>
                  <a:pt x="33528" y="8890"/>
                </a:lnTo>
                <a:lnTo>
                  <a:pt x="33528" y="25400"/>
                </a:lnTo>
                <a:lnTo>
                  <a:pt x="33528" y="344170"/>
                </a:lnTo>
                <a:lnTo>
                  <a:pt x="33528" y="360680"/>
                </a:lnTo>
                <a:lnTo>
                  <a:pt x="6356604" y="360680"/>
                </a:lnTo>
                <a:lnTo>
                  <a:pt x="6356604" y="344424"/>
                </a:lnTo>
                <a:lnTo>
                  <a:pt x="6356604" y="344170"/>
                </a:lnTo>
                <a:lnTo>
                  <a:pt x="6356604" y="25908"/>
                </a:lnTo>
                <a:lnTo>
                  <a:pt x="6339840" y="25908"/>
                </a:lnTo>
                <a:lnTo>
                  <a:pt x="6339840" y="344170"/>
                </a:lnTo>
                <a:lnTo>
                  <a:pt x="50292" y="344170"/>
                </a:lnTo>
                <a:lnTo>
                  <a:pt x="50292" y="25400"/>
                </a:lnTo>
                <a:lnTo>
                  <a:pt x="6356604" y="25400"/>
                </a:lnTo>
                <a:lnTo>
                  <a:pt x="6356604" y="8890"/>
                </a:lnTo>
                <a:close/>
              </a:path>
              <a:path w="6364605" h="394970" extrusionOk="0">
                <a:moveTo>
                  <a:pt x="6364224" y="378460"/>
                </a:moveTo>
                <a:lnTo>
                  <a:pt x="16764" y="378460"/>
                </a:lnTo>
                <a:lnTo>
                  <a:pt x="16764" y="0"/>
                </a:lnTo>
                <a:lnTo>
                  <a:pt x="0" y="0"/>
                </a:lnTo>
                <a:lnTo>
                  <a:pt x="0" y="378460"/>
                </a:lnTo>
                <a:lnTo>
                  <a:pt x="0" y="394970"/>
                </a:lnTo>
                <a:lnTo>
                  <a:pt x="6364224" y="394970"/>
                </a:lnTo>
                <a:lnTo>
                  <a:pt x="6364224" y="37846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1FCD8-9FA4-6A01-53C1-8A73A874DBBF}"/>
              </a:ext>
            </a:extLst>
          </p:cNvPr>
          <p:cNvSpPr txBox="1"/>
          <p:nvPr/>
        </p:nvSpPr>
        <p:spPr>
          <a:xfrm>
            <a:off x="2346960" y="-2203"/>
            <a:ext cx="679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13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(CSE)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>
            <a:spLocks noGrp="1"/>
          </p:cNvSpPr>
          <p:nvPr>
            <p:ph type="body" idx="1"/>
          </p:nvPr>
        </p:nvSpPr>
        <p:spPr>
          <a:xfrm>
            <a:off x="4703763" y="1028700"/>
            <a:ext cx="3668712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>
            <a:spLocks noGrp="1"/>
          </p:cNvSpPr>
          <p:nvPr>
            <p:ph type="sldNum" idx="12"/>
          </p:nvPr>
        </p:nvSpPr>
        <p:spPr>
          <a:xfrm>
            <a:off x="66294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508500" y="838200"/>
            <a:ext cx="3863975" cy="5518150"/>
          </a:xfrm>
          <a:prstGeom prst="rect">
            <a:avLst/>
          </a:prstGeom>
          <a:noFill/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444625" y="714580"/>
            <a:ext cx="274955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Outcome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2"/>
          <p:cNvCxnSpPr>
            <a:cxnSpLocks/>
          </p:cNvCxnSpPr>
          <p:nvPr/>
        </p:nvCxnSpPr>
        <p:spPr>
          <a:xfrm>
            <a:off x="4038599" y="2329068"/>
            <a:ext cx="1855575" cy="1899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" name="Google Shape;76;p2"/>
          <p:cNvSpPr/>
          <p:nvPr/>
        </p:nvSpPr>
        <p:spPr>
          <a:xfrm>
            <a:off x="5894174" y="2182813"/>
            <a:ext cx="2017712" cy="9429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be covered in this lecture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326825" y="0"/>
            <a:ext cx="681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613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(CSE)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B59663-5C97-D3F6-224F-32ED3CC25E75}"/>
              </a:ext>
            </a:extLst>
          </p:cNvPr>
          <p:cNvGraphicFramePr>
            <a:graphicFrameLocks noGrp="1"/>
          </p:cNvGraphicFramePr>
          <p:nvPr/>
        </p:nvGraphicFramePr>
        <p:xfrm>
          <a:off x="558800" y="2082801"/>
          <a:ext cx="3479799" cy="390842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{616DA210-FB5B-4158-B5E0-FEB733F419BA}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700513846"/>
                    </a:ext>
                  </a:extLst>
                </a:gridCol>
                <a:gridCol w="2870199">
                  <a:extLst>
                    <a:ext uri="{9D8B030D-6E8A-4147-A177-3AD203B41FA5}">
                      <a16:colId xmlns:a16="http://schemas.microsoft.com/office/drawing/2014/main" val="1473955338"/>
                    </a:ext>
                  </a:extLst>
                </a:gridCol>
              </a:tblGrid>
              <a:tr h="556712">
                <a:tc>
                  <a:txBody>
                    <a:bodyPr/>
                    <a:lstStyle/>
                    <a:p>
                      <a:pPr marL="67945">
                        <a:lnSpc>
                          <a:spcPts val="1360"/>
                        </a:lnSpc>
                      </a:pPr>
                      <a:r>
                        <a:rPr lang="en-US" sz="1200">
                          <a:effectLst/>
                        </a:rPr>
                        <a:t>CO1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60"/>
                        </a:lnSpc>
                      </a:pPr>
                      <a:r>
                        <a:rPr lang="en-US" sz="1100" dirty="0">
                          <a:effectLst/>
                        </a:rPr>
                        <a:t>Describe the basic fundamentals of python programming.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47419067"/>
                  </a:ext>
                </a:extLst>
              </a:tr>
              <a:tr h="560525">
                <a:tc>
                  <a:txBody>
                    <a:bodyPr/>
                    <a:lstStyle/>
                    <a:p>
                      <a:pPr marL="67945">
                        <a:lnSpc>
                          <a:spcPts val="1365"/>
                        </a:lnSpc>
                        <a:spcBef>
                          <a:spcPts val="5"/>
                        </a:spcBef>
                      </a:pPr>
                      <a:r>
                        <a:rPr lang="en-US" sz="1200">
                          <a:effectLst/>
                        </a:rPr>
                        <a:t>CO2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65"/>
                        </a:lnSpc>
                        <a:spcBef>
                          <a:spcPts val="5"/>
                        </a:spcBef>
                      </a:pPr>
                      <a:r>
                        <a:rPr lang="en-US" sz="1100">
                          <a:effectLst/>
                        </a:rPr>
                        <a:t>Apply the python programming for Arithmetic, Logical and sorting operations.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490197"/>
                  </a:ext>
                </a:extLst>
              </a:tr>
              <a:tr h="556712">
                <a:tc>
                  <a:txBody>
                    <a:bodyPr/>
                    <a:lstStyle/>
                    <a:p>
                      <a:pPr marL="67945">
                        <a:lnSpc>
                          <a:spcPts val="1360"/>
                        </a:lnSpc>
                      </a:pPr>
                      <a:r>
                        <a:rPr lang="en-US" sz="1200">
                          <a:effectLst/>
                        </a:rPr>
                        <a:t>CO3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60"/>
                        </a:lnSpc>
                      </a:pPr>
                      <a:r>
                        <a:rPr lang="en-US" sz="1100">
                          <a:effectLst/>
                        </a:rPr>
                        <a:t>Analyze python programming loops &amp; methods for data manipulation.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3492221"/>
                  </a:ext>
                </a:extLst>
              </a:tr>
              <a:tr h="1115330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200">
                          <a:effectLst/>
                        </a:rPr>
                        <a:t>CO4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7000"/>
                        </a:lnSpc>
                      </a:pPr>
                      <a:r>
                        <a:rPr lang="en-IN" sz="1100" dirty="0">
                          <a:effectLst/>
                        </a:rPr>
                        <a:t>Use the Python programming language for various programming techniques like list,</a:t>
                      </a:r>
                    </a:p>
                    <a:p>
                      <a:pPr marL="67945">
                        <a:lnSpc>
                          <a:spcPts val="1365"/>
                        </a:lnSpc>
                      </a:pPr>
                      <a:r>
                        <a:rPr lang="en-US" sz="1100" dirty="0">
                          <a:effectLst/>
                        </a:rPr>
                        <a:t>tuples, dictionaries etc.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6496924"/>
                  </a:ext>
                </a:extLst>
              </a:tr>
              <a:tr h="1119144">
                <a:tc>
                  <a:txBody>
                    <a:bodyPr/>
                    <a:lstStyle/>
                    <a:p>
                      <a:pPr marL="67945">
                        <a:lnSpc>
                          <a:spcPts val="1460"/>
                        </a:lnSpc>
                      </a:pPr>
                      <a:r>
                        <a:rPr lang="en-US" sz="1200">
                          <a:effectLst/>
                        </a:rPr>
                        <a:t>CO5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7000"/>
                        </a:lnSpc>
                      </a:pPr>
                      <a:r>
                        <a:rPr lang="en-IN" sz="1100" dirty="0">
                          <a:effectLst/>
                        </a:rPr>
                        <a:t>Develop application software using object-oriented programming techniques in the</a:t>
                      </a:r>
                    </a:p>
                    <a:p>
                      <a:pPr marL="67945">
                        <a:lnSpc>
                          <a:spcPts val="1375"/>
                        </a:lnSpc>
                      </a:pPr>
                      <a:r>
                        <a:rPr lang="en-US" sz="1100" dirty="0">
                          <a:effectLst/>
                        </a:rPr>
                        <a:t>Python language.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99869214"/>
                  </a:ext>
                </a:extLst>
              </a:tr>
            </a:tbl>
          </a:graphicData>
        </a:graphic>
      </p:graphicFrame>
      <p:cxnSp>
        <p:nvCxnSpPr>
          <p:cNvPr id="4" name="Google Shape;75;p2">
            <a:extLst>
              <a:ext uri="{FF2B5EF4-FFF2-40B4-BE49-F238E27FC236}">
                <a16:creationId xmlns:a16="http://schemas.microsoft.com/office/drawing/2014/main" id="{324B2F55-2F2D-F2F3-2E9D-64BA892F13F6}"/>
              </a:ext>
            </a:extLst>
          </p:cNvPr>
          <p:cNvCxnSpPr>
            <a:cxnSpLocks/>
          </p:cNvCxnSpPr>
          <p:nvPr/>
        </p:nvCxnSpPr>
        <p:spPr>
          <a:xfrm>
            <a:off x="4038602" y="2950672"/>
            <a:ext cx="1855572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Google Shape;261;p23">
            <a:extLst>
              <a:ext uri="{FF2B5EF4-FFF2-40B4-BE49-F238E27FC236}">
                <a16:creationId xmlns:a16="http://schemas.microsoft.com/office/drawing/2014/main" id="{AB8567D0-5531-B498-0195-0F461AE51FCF}"/>
              </a:ext>
            </a:extLst>
          </p:cNvPr>
          <p:cNvSpPr/>
          <p:nvPr/>
        </p:nvSpPr>
        <p:spPr>
          <a:xfrm>
            <a:off x="2779776" y="31750"/>
            <a:ext cx="6364605" cy="394970"/>
          </a:xfrm>
          <a:custGeom>
            <a:avLst/>
            <a:gdLst/>
            <a:ahLst/>
            <a:cxnLst/>
            <a:rect l="l" t="t" r="r" b="b"/>
            <a:pathLst>
              <a:path w="6364605" h="394970" extrusionOk="0">
                <a:moveTo>
                  <a:pt x="6356604" y="8890"/>
                </a:moveTo>
                <a:lnTo>
                  <a:pt x="33528" y="8890"/>
                </a:lnTo>
                <a:lnTo>
                  <a:pt x="33528" y="25400"/>
                </a:lnTo>
                <a:lnTo>
                  <a:pt x="33528" y="344170"/>
                </a:lnTo>
                <a:lnTo>
                  <a:pt x="33528" y="360680"/>
                </a:lnTo>
                <a:lnTo>
                  <a:pt x="6356604" y="360680"/>
                </a:lnTo>
                <a:lnTo>
                  <a:pt x="6356604" y="344424"/>
                </a:lnTo>
                <a:lnTo>
                  <a:pt x="6356604" y="344170"/>
                </a:lnTo>
                <a:lnTo>
                  <a:pt x="6356604" y="25908"/>
                </a:lnTo>
                <a:lnTo>
                  <a:pt x="6339840" y="25908"/>
                </a:lnTo>
                <a:lnTo>
                  <a:pt x="6339840" y="344170"/>
                </a:lnTo>
                <a:lnTo>
                  <a:pt x="50292" y="344170"/>
                </a:lnTo>
                <a:lnTo>
                  <a:pt x="50292" y="25400"/>
                </a:lnTo>
                <a:lnTo>
                  <a:pt x="6356604" y="25400"/>
                </a:lnTo>
                <a:lnTo>
                  <a:pt x="6356604" y="8890"/>
                </a:lnTo>
                <a:close/>
              </a:path>
              <a:path w="6364605" h="394970" extrusionOk="0">
                <a:moveTo>
                  <a:pt x="6364224" y="378460"/>
                </a:moveTo>
                <a:lnTo>
                  <a:pt x="16764" y="378460"/>
                </a:lnTo>
                <a:lnTo>
                  <a:pt x="16764" y="0"/>
                </a:lnTo>
                <a:lnTo>
                  <a:pt x="0" y="0"/>
                </a:lnTo>
                <a:lnTo>
                  <a:pt x="0" y="378460"/>
                </a:lnTo>
                <a:lnTo>
                  <a:pt x="0" y="394970"/>
                </a:lnTo>
                <a:lnTo>
                  <a:pt x="6364224" y="394970"/>
                </a:lnTo>
                <a:lnTo>
                  <a:pt x="6364224" y="37846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/>
        </p:nvSpPr>
        <p:spPr>
          <a:xfrm>
            <a:off x="2396175" y="17775"/>
            <a:ext cx="6723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13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(CSE)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>
            <a:spLocks noGrp="1"/>
          </p:cNvSpPr>
          <p:nvPr>
            <p:ph type="ftr" idx="11"/>
          </p:nvPr>
        </p:nvSpPr>
        <p:spPr>
          <a:xfrm>
            <a:off x="2475350" y="5635175"/>
            <a:ext cx="5225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University Institute of Engineering (UIE)</a:t>
            </a:r>
            <a:endParaRPr sz="1400" dirty="0"/>
          </a:p>
        </p:txBody>
      </p:sp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3444999" y="475300"/>
            <a:ext cx="3578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OBJECTIVES</a:t>
            </a:r>
            <a:endParaRPr sz="3600"/>
          </a:p>
        </p:txBody>
      </p:sp>
      <p:sp>
        <p:nvSpPr>
          <p:cNvPr id="108" name="Google Shape;108;p5"/>
          <p:cNvSpPr txBox="1"/>
          <p:nvPr/>
        </p:nvSpPr>
        <p:spPr>
          <a:xfrm>
            <a:off x="960120" y="1485900"/>
            <a:ext cx="7955280" cy="306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completion of this Chapter, students should be able to do the  following:</a:t>
            </a:r>
          </a:p>
          <a:p>
            <a:pPr marL="12700" marR="405765" lvl="0" algn="just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Proficiently manipulate strings, lists, tuples, sets, and dictionaries in Python, demonstrating a clear understanding of their unique properties and methods.</a:t>
            </a:r>
          </a:p>
          <a:p>
            <a:pPr marL="12700" marR="405765" lvl="0" algn="just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Apply appropriate data structures (strings, lists, tuples, sets, or dictionaries) to solve various programming problems, showcasing the ability to choose the most suitable structure for different scenarios.</a:t>
            </a:r>
          </a:p>
          <a:p>
            <a:pPr marL="12700" marR="405765" lvl="0" algn="just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Implement and debug code using these data structures, utilizing their respective methods and operations effectively to create efficient and readable Python programs.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61;p23">
            <a:extLst>
              <a:ext uri="{FF2B5EF4-FFF2-40B4-BE49-F238E27FC236}">
                <a16:creationId xmlns:a16="http://schemas.microsoft.com/office/drawing/2014/main" id="{C544CC9B-22E1-950A-C65E-8DDDFB5AFD3C}"/>
              </a:ext>
            </a:extLst>
          </p:cNvPr>
          <p:cNvSpPr/>
          <p:nvPr/>
        </p:nvSpPr>
        <p:spPr>
          <a:xfrm>
            <a:off x="2779776" y="11430"/>
            <a:ext cx="6364605" cy="394970"/>
          </a:xfrm>
          <a:custGeom>
            <a:avLst/>
            <a:gdLst/>
            <a:ahLst/>
            <a:cxnLst/>
            <a:rect l="l" t="t" r="r" b="b"/>
            <a:pathLst>
              <a:path w="6364605" h="394970" extrusionOk="0">
                <a:moveTo>
                  <a:pt x="6356604" y="8890"/>
                </a:moveTo>
                <a:lnTo>
                  <a:pt x="33528" y="8890"/>
                </a:lnTo>
                <a:lnTo>
                  <a:pt x="33528" y="25400"/>
                </a:lnTo>
                <a:lnTo>
                  <a:pt x="33528" y="344170"/>
                </a:lnTo>
                <a:lnTo>
                  <a:pt x="33528" y="360680"/>
                </a:lnTo>
                <a:lnTo>
                  <a:pt x="6356604" y="360680"/>
                </a:lnTo>
                <a:lnTo>
                  <a:pt x="6356604" y="344424"/>
                </a:lnTo>
                <a:lnTo>
                  <a:pt x="6356604" y="344170"/>
                </a:lnTo>
                <a:lnTo>
                  <a:pt x="6356604" y="25908"/>
                </a:lnTo>
                <a:lnTo>
                  <a:pt x="6339840" y="25908"/>
                </a:lnTo>
                <a:lnTo>
                  <a:pt x="6339840" y="344170"/>
                </a:lnTo>
                <a:lnTo>
                  <a:pt x="50292" y="344170"/>
                </a:lnTo>
                <a:lnTo>
                  <a:pt x="50292" y="25400"/>
                </a:lnTo>
                <a:lnTo>
                  <a:pt x="6356604" y="25400"/>
                </a:lnTo>
                <a:lnTo>
                  <a:pt x="6356604" y="8890"/>
                </a:lnTo>
                <a:close/>
              </a:path>
              <a:path w="6364605" h="394970" extrusionOk="0">
                <a:moveTo>
                  <a:pt x="6364224" y="378460"/>
                </a:moveTo>
                <a:lnTo>
                  <a:pt x="16764" y="378460"/>
                </a:lnTo>
                <a:lnTo>
                  <a:pt x="16764" y="0"/>
                </a:lnTo>
                <a:lnTo>
                  <a:pt x="0" y="0"/>
                </a:lnTo>
                <a:lnTo>
                  <a:pt x="0" y="378460"/>
                </a:lnTo>
                <a:lnTo>
                  <a:pt x="0" y="394970"/>
                </a:lnTo>
                <a:lnTo>
                  <a:pt x="6364224" y="394970"/>
                </a:lnTo>
                <a:lnTo>
                  <a:pt x="6364224" y="37846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>
          <a:xfrm>
            <a:off x="225808" y="1817059"/>
            <a:ext cx="8358517" cy="3710726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en-US" sz="1800" dirty="0"/>
              <a:t>In Python, data structures are used to organize and store data efficiently. Python provides a variety of built-in data structures, each with its own characteristics and use cases.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2A8231-8CB3-BCE7-F1B6-23356253C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70" y="2686050"/>
            <a:ext cx="6792686" cy="2612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574383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1800" b="1" dirty="0"/>
              <a:t>List</a:t>
            </a:r>
            <a:r>
              <a:rPr lang="en-US" sz="1800" dirty="0"/>
              <a:t>: List is an ordered collection of elements enclosed within []. </a:t>
            </a:r>
          </a:p>
          <a:p>
            <a:pPr algn="just"/>
            <a:r>
              <a:rPr lang="en-US" sz="1800" dirty="0"/>
              <a:t>A list can store a collection of data of any size.</a:t>
            </a:r>
          </a:p>
          <a:p>
            <a:r>
              <a:rPr lang="en-US" sz="1800" dirty="0"/>
              <a:t>A list is a sequence defined by the list class. </a:t>
            </a:r>
          </a:p>
          <a:p>
            <a:r>
              <a:rPr lang="en-US" sz="1800" dirty="0"/>
              <a:t>It contains the methods for creating, manipulating, and processing lists. </a:t>
            </a:r>
          </a:p>
          <a:p>
            <a:r>
              <a:rPr lang="en-US" sz="1800" dirty="0"/>
              <a:t>There are addresses assigned to every element of the list, which is called as Index.</a:t>
            </a:r>
          </a:p>
          <a:p>
            <a:r>
              <a:rPr lang="en-US" sz="1800" dirty="0"/>
              <a:t>Elements in a list can be accessed through an index.</a:t>
            </a:r>
          </a:p>
          <a:p>
            <a:r>
              <a:rPr lang="en-US" sz="1800" dirty="0"/>
              <a:t>Lists are mutable.</a:t>
            </a:r>
          </a:p>
          <a:p>
            <a:r>
              <a:rPr lang="en-US" sz="1800" dirty="0"/>
              <a:t>The elements in a list are separated by commas.</a:t>
            </a:r>
          </a:p>
          <a:p>
            <a:r>
              <a:rPr lang="en-US" sz="1800" dirty="0"/>
              <a:t>A list can contain the elements of the same type or mixed types. </a:t>
            </a:r>
          </a:p>
          <a:p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44843-A0F9-B892-BDF2-08EC143BB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9624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1800" dirty="0"/>
              <a:t> </a:t>
            </a:r>
            <a:r>
              <a:rPr lang="en-US" sz="1800" b="1" dirty="0"/>
              <a:t>List Is a Sequence Type: </a:t>
            </a:r>
            <a:r>
              <a:rPr lang="en-US" sz="1800" dirty="0"/>
              <a:t>A sequence type in Python is a collection of objects ordered by position, where each element can be accessed using an index. Strings and lists are sequence types in Python. A string is a sequence of characters, while a list is a sequence of any elements.</a:t>
            </a:r>
          </a:p>
          <a:p>
            <a:pPr algn="just"/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213DE-E713-498E-D128-4ECFC77A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29E3F-CAF4-4B6C-A797-3915ED231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704" y="2741016"/>
            <a:ext cx="4500237" cy="22664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40BD3B-6D0E-49D3-BB62-4622E08835F6}"/>
              </a:ext>
            </a:extLst>
          </p:cNvPr>
          <p:cNvSpPr txBox="1"/>
          <p:nvPr/>
        </p:nvSpPr>
        <p:spPr>
          <a:xfrm>
            <a:off x="3043198" y="5182430"/>
            <a:ext cx="2854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Operations for Sequences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55825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1800" dirty="0"/>
              <a:t> </a:t>
            </a:r>
            <a:r>
              <a:rPr lang="en-US" sz="1800" b="1" dirty="0"/>
              <a:t>Functions for Lists: </a:t>
            </a:r>
            <a:r>
              <a:rPr lang="en-US" sz="1800" dirty="0"/>
              <a:t>Several Python built-in functions can be used with lists.</a:t>
            </a:r>
          </a:p>
          <a:p>
            <a:pPr algn="just"/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E539B-BB5F-06D3-F39E-64D9CBC3C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431FDE-134B-4A7D-BDF4-6C7CC8C32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20" y="2250508"/>
            <a:ext cx="5702968" cy="27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874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1800" b="1" dirty="0"/>
              <a:t>Index Operator []: </a:t>
            </a:r>
            <a:r>
              <a:rPr lang="en-US" sz="1800" dirty="0">
                <a:latin typeface="Times-Roman"/>
              </a:rPr>
              <a:t>An element in a list can be accessed through the index operator, using the following syntax:</a:t>
            </a:r>
            <a:endParaRPr lang="en-US" sz="1800" b="1" dirty="0"/>
          </a:p>
          <a:p>
            <a:pPr algn="just"/>
            <a:r>
              <a:rPr lang="en-US" sz="1800" dirty="0" err="1"/>
              <a:t>myList</a:t>
            </a:r>
            <a:r>
              <a:rPr lang="en-US" sz="1800" dirty="0"/>
              <a:t>[index]</a:t>
            </a:r>
          </a:p>
          <a:p>
            <a:pPr algn="just"/>
            <a:r>
              <a:rPr lang="en-US" sz="1800" dirty="0"/>
              <a:t>List indexes are 0 based; that is, they range from 0 to </a:t>
            </a:r>
            <a:r>
              <a:rPr lang="en-US" sz="1800" dirty="0" err="1"/>
              <a:t>len</a:t>
            </a:r>
            <a:r>
              <a:rPr lang="en-US" sz="1800" dirty="0"/>
              <a:t>(</a:t>
            </a:r>
            <a:r>
              <a:rPr lang="en-US" sz="1800" dirty="0" err="1"/>
              <a:t>myList</a:t>
            </a:r>
            <a:r>
              <a:rPr lang="en-US" sz="1800" dirty="0"/>
              <a:t>)-1.</a:t>
            </a:r>
          </a:p>
          <a:p>
            <a:pPr algn="just"/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9DC5F4-7C3E-900C-BBDC-9E3FA696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021E7-3ABA-4D42-8ECF-4250AEF2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1" y="3156314"/>
            <a:ext cx="5847347" cy="22633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BB0927-872E-4ED0-814A-32833AF19E99}"/>
              </a:ext>
            </a:extLst>
          </p:cNvPr>
          <p:cNvSpPr txBox="1"/>
          <p:nvPr/>
        </p:nvSpPr>
        <p:spPr>
          <a:xfrm>
            <a:off x="6237173" y="3578794"/>
            <a:ext cx="1898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myList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10 elements with indexes from 0 to 9.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2062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1800" dirty="0"/>
              <a:t>Python also allows the use of negative numbers as indexes to reference positions relative to the end of the list. </a:t>
            </a:r>
          </a:p>
          <a:p>
            <a:pPr algn="just"/>
            <a:r>
              <a:rPr lang="en-US" sz="1800" dirty="0"/>
              <a:t>The actual position is obtained by adding the length of the list with the negative index. For example:</a:t>
            </a: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3DC4F-1BC3-1EA7-0D39-541CA9A6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A7B91B-0CD1-4617-97C2-34F957C0D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66" y="3248923"/>
            <a:ext cx="4894446" cy="159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7277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List Slicing [start : end]: </a:t>
            </a:r>
            <a:r>
              <a:rPr lang="en-US" sz="1800" dirty="0"/>
              <a:t>The index operator allows you to select an element at the specified index. The slicing operator returns a slice of the list using the syntax list[start : end]. The slice is a </a:t>
            </a:r>
            <a:r>
              <a:rPr lang="en-US" sz="1800" dirty="0" err="1"/>
              <a:t>sublist</a:t>
            </a:r>
            <a:r>
              <a:rPr lang="en-US" sz="1800" dirty="0"/>
              <a:t> from index start to index end – 1. Here are some examples.</a:t>
            </a: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E3CBE5-6715-C188-979D-AF66B244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1E072E-7ECA-4B41-A969-D0AAFD3E2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541" y="3429002"/>
            <a:ext cx="4432433" cy="191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383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List Slicing [start : end] </a:t>
            </a: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713FE-569B-CCA4-1D70-9561A27E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DE355-D1B5-49FA-B979-26805EEF4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507" y="2653749"/>
            <a:ext cx="5277678" cy="236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57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1800" b="1" dirty="0"/>
              <a:t>The +, *, and in/not in Operators: </a:t>
            </a: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6CF41-89B2-15FC-4723-7EDB59359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3F962-3EB2-4B20-AC15-A3B0B8ED4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47" y="2193702"/>
            <a:ext cx="4591250" cy="2280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EF1DC7-1693-4D9F-95B7-EB294B29A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704" y="2366012"/>
            <a:ext cx="2532065" cy="1263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966825-5F2F-4120-8991-032D777A9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960" y="3762027"/>
            <a:ext cx="2419553" cy="104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0593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Traversing Elements in a for Loop: </a:t>
            </a:r>
            <a:r>
              <a:rPr lang="en-US" sz="1800" dirty="0"/>
              <a:t>The elements in a Python list are </a:t>
            </a:r>
            <a:r>
              <a:rPr lang="en-US" sz="1800" dirty="0" err="1"/>
              <a:t>iterable</a:t>
            </a:r>
            <a:r>
              <a:rPr lang="en-US" sz="1800" dirty="0"/>
              <a:t>. Python supports a convenient for loop, which enables you to traverse the list sequentially without using an index variable. For example, the following code displays all the elements in the list </a:t>
            </a:r>
            <a:r>
              <a:rPr lang="en-US" sz="1800" dirty="0" err="1"/>
              <a:t>myList</a:t>
            </a:r>
            <a:r>
              <a:rPr lang="en-US" sz="1800" dirty="0"/>
              <a:t>:</a:t>
            </a:r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nl-NL" sz="1800" b="1" i="1" dirty="0"/>
              <a:t>for u in myList:</a:t>
            </a:r>
          </a:p>
          <a:p>
            <a:pPr algn="just">
              <a:lnSpc>
                <a:spcPct val="100000"/>
              </a:lnSpc>
            </a:pPr>
            <a:r>
              <a:rPr lang="nl-NL" sz="1800" b="1" i="1" dirty="0"/>
              <a:t>     print(u)</a:t>
            </a:r>
            <a:endParaRPr lang="en-IN" sz="1800" b="1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71CBB-7D40-A604-27F0-590C2CA3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FAFCE-820E-48F8-A76C-67B110B7A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943527"/>
            <a:ext cx="2606040" cy="231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65995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List Methods: append, count, extend, index, and insert methods</a:t>
            </a:r>
            <a:endParaRPr lang="en-IN" sz="1800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EE24D-C9E4-2630-35E9-A00F81B2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F728C-7E11-445D-B878-A1E49D19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95" y="2192913"/>
            <a:ext cx="5988509" cy="2495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D4B9E2-DBED-44CA-8A32-1B6F6002A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95" y="4688785"/>
            <a:ext cx="5846876" cy="80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6879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List Methods: insert, pop, remove, reverse, and sort methods</a:t>
            </a:r>
            <a:endParaRPr lang="en-IN" sz="1800" b="1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D0C8BC-1214-6788-4561-4CFC0B29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8F6E9B-9207-4BFA-A7E9-20269C145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1" y="2258669"/>
            <a:ext cx="6448377" cy="30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6474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Inputting Lists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EDCB7-4085-4EAB-7E8D-579C62F0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CC353-AE23-47D3-95CF-FF9A75CC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155" y="2423763"/>
            <a:ext cx="6201076" cy="259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7594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Copying Lists: </a:t>
            </a:r>
            <a:r>
              <a:rPr lang="en-US" sz="1800" dirty="0"/>
              <a:t>To copy the data in one list to another list, you have to copy individual elements from the source list to the target list.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You often need to duplicate a list or part of a list in a program. In such cases you could attempt to use the assignment statement (=), as follows: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list2 = list1</a:t>
            </a:r>
          </a:p>
          <a:p>
            <a:pPr algn="just">
              <a:lnSpc>
                <a:spcPct val="100000"/>
              </a:lnSpc>
            </a:pP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75F3B-0A22-2D88-0AC0-A108529A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62F5A-086D-42C8-BF90-6E54AC8E5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511" y="3239504"/>
            <a:ext cx="4981073" cy="194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590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dirty="0"/>
              <a:t>list2 = list1</a:t>
            </a:r>
          </a:p>
          <a:p>
            <a:pPr algn="just">
              <a:lnSpc>
                <a:spcPct val="100000"/>
              </a:lnSpc>
            </a:pP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E9C34-41C1-BFFB-1A13-B2BE4937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AB2F3-2761-41B2-B435-FD2F900B9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39" y="2337136"/>
            <a:ext cx="3212431" cy="2288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8F337C-7EC0-4A44-9A83-84FD0FCAB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277" y="1983409"/>
            <a:ext cx="2158465" cy="328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1541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b="1" dirty="0"/>
              <a:t>Strings: </a:t>
            </a:r>
            <a:r>
              <a:rPr lang="en-US" sz="1800" dirty="0"/>
              <a:t>Strings in python are surrounded by either single quotation marks, or double quotation marks.</a:t>
            </a:r>
          </a:p>
          <a:p>
            <a:r>
              <a:rPr lang="en-US" sz="1800" dirty="0"/>
              <a:t> 'hello' is the same as "hello".</a:t>
            </a:r>
          </a:p>
          <a:p>
            <a:r>
              <a:rPr lang="en-US" sz="1800" dirty="0"/>
              <a:t>Strings are immutable, meaning they cannot be changed once created. </a:t>
            </a:r>
          </a:p>
          <a:p>
            <a:r>
              <a:rPr lang="en-US" sz="1800" dirty="0"/>
              <a:t>Characters of a String can be accessed by using the method of Indexing. </a:t>
            </a:r>
          </a:p>
          <a:p>
            <a:r>
              <a:rPr lang="en-US" sz="1800" dirty="0"/>
              <a:t>Indexing allows negative address references to access characters from the back of the String.</a:t>
            </a:r>
          </a:p>
          <a:p>
            <a:r>
              <a:rPr lang="en-US" altLang="en-US" sz="1800" dirty="0"/>
              <a:t>We can create a string using the constructor of the </a:t>
            </a:r>
            <a:r>
              <a:rPr lang="en-US" altLang="en-US" sz="1800" dirty="0" err="1"/>
              <a:t>str</a:t>
            </a:r>
            <a:r>
              <a:rPr lang="en-US" altLang="en-US" sz="1800" dirty="0"/>
              <a:t> class as:</a:t>
            </a:r>
          </a:p>
          <a:p>
            <a:pPr>
              <a:buNone/>
            </a:pPr>
            <a:r>
              <a:rPr lang="en-US" altLang="en-US" sz="1800" dirty="0"/>
              <a:t>     s1=</a:t>
            </a:r>
            <a:r>
              <a:rPr lang="en-US" altLang="en-US" sz="1800" dirty="0" err="1"/>
              <a:t>str</a:t>
            </a:r>
            <a:r>
              <a:rPr lang="en-US" altLang="en-US" sz="1800" dirty="0"/>
              <a:t>()  #creates an empty string</a:t>
            </a:r>
          </a:p>
          <a:p>
            <a:pPr>
              <a:buNone/>
            </a:pPr>
            <a:r>
              <a:rPr lang="en-US" altLang="en-US" sz="1800" dirty="0"/>
              <a:t>     s2=</a:t>
            </a:r>
            <a:r>
              <a:rPr lang="en-US" altLang="en-US" sz="1800" dirty="0" err="1"/>
              <a:t>str</a:t>
            </a:r>
            <a:r>
              <a:rPr lang="en-US" altLang="en-US" sz="1800" dirty="0"/>
              <a:t>(“hello”)  #creates a string object for hello</a:t>
            </a:r>
          </a:p>
          <a:p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DDA12-E470-766E-3522-657EA5C3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34457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Python string methods </a:t>
            </a:r>
            <a:r>
              <a:rPr lang="en-US" sz="1800" dirty="0"/>
              <a:t>is a collection of in-built Python functions that operates on lists.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These methods allow you to manipulate and perform various operations on strings, such as finding substrings, replacing characters, converting cases, and more.</a:t>
            </a:r>
          </a:p>
          <a:p>
            <a:r>
              <a:rPr lang="en-US" sz="1800" b="1" dirty="0"/>
              <a:t>Upper</a:t>
            </a:r>
            <a:r>
              <a:rPr lang="en-US" sz="1800" dirty="0"/>
              <a:t>: </a:t>
            </a:r>
            <a:r>
              <a:rPr lang="en-US" sz="1800" dirty="0" err="1"/>
              <a:t>string.upper</a:t>
            </a:r>
            <a:r>
              <a:rPr lang="en-US" sz="1800" dirty="0"/>
              <a:t>() converts a string to uppercase.</a:t>
            </a:r>
          </a:p>
          <a:p>
            <a:r>
              <a:rPr lang="en-US" sz="1800" b="1" dirty="0"/>
              <a:t>Lower</a:t>
            </a:r>
            <a:r>
              <a:rPr lang="en-US" sz="1800" dirty="0"/>
              <a:t>: </a:t>
            </a:r>
            <a:r>
              <a:rPr lang="en-US" sz="1800" dirty="0" err="1"/>
              <a:t>string.lower</a:t>
            </a:r>
            <a:r>
              <a:rPr lang="en-US" sz="1800" dirty="0"/>
              <a:t>() converts a string to lowercase.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/>
              <a:t>Concatenation</a:t>
            </a:r>
            <a:r>
              <a:rPr lang="en-US" sz="1800" dirty="0"/>
              <a:t>: str1 + str2 combines two strings.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/>
              <a:t>Length</a:t>
            </a:r>
            <a:r>
              <a:rPr lang="en-US" sz="1800" dirty="0"/>
              <a:t>: </a:t>
            </a:r>
            <a:r>
              <a:rPr lang="en-US" sz="1800" dirty="0" err="1"/>
              <a:t>len</a:t>
            </a:r>
            <a:r>
              <a:rPr lang="en-US" sz="1800" dirty="0"/>
              <a:t>(string) returns the length of a string.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/>
              <a:t>Find</a:t>
            </a:r>
            <a:r>
              <a:rPr lang="en-US" sz="1800" dirty="0"/>
              <a:t>: </a:t>
            </a:r>
            <a:r>
              <a:rPr lang="en-US" sz="1800" dirty="0" err="1"/>
              <a:t>string.find</a:t>
            </a:r>
            <a:r>
              <a:rPr lang="en-US" sz="1800" dirty="0"/>
              <a:t>(substring) locates the index of the first occurrence of a substring.</a:t>
            </a:r>
            <a:endParaRPr lang="en-IN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3546C-1FA7-BD15-1559-F8BBC8AD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88279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Count</a:t>
            </a:r>
            <a:r>
              <a:rPr lang="en-US" sz="1800" dirty="0"/>
              <a:t>: </a:t>
            </a:r>
            <a:r>
              <a:rPr lang="en-US" sz="1800" dirty="0" err="1"/>
              <a:t>string.count</a:t>
            </a:r>
            <a:r>
              <a:rPr lang="en-US" sz="1800" dirty="0"/>
              <a:t>(substring) counts the occurrences of a substring in a string.</a:t>
            </a:r>
          </a:p>
          <a:p>
            <a:r>
              <a:rPr lang="en-US" sz="1800" b="1" dirty="0"/>
              <a:t>Replace</a:t>
            </a:r>
            <a:r>
              <a:rPr lang="en-US" sz="1800" dirty="0"/>
              <a:t>: </a:t>
            </a:r>
            <a:r>
              <a:rPr lang="en-US" sz="1800" dirty="0" err="1"/>
              <a:t>string.replace</a:t>
            </a:r>
            <a:r>
              <a:rPr lang="en-US" sz="1800" dirty="0"/>
              <a:t>(old, new) replaces occurrences of a substring with another substring.</a:t>
            </a:r>
          </a:p>
          <a:p>
            <a:r>
              <a:rPr lang="en-US" sz="1800" b="1" dirty="0"/>
              <a:t>Strip</a:t>
            </a:r>
            <a:r>
              <a:rPr lang="en-US" sz="1800" dirty="0"/>
              <a:t>: </a:t>
            </a:r>
            <a:r>
              <a:rPr lang="en-US" sz="1800" dirty="0" err="1"/>
              <a:t>string.strip</a:t>
            </a:r>
            <a:r>
              <a:rPr lang="en-US" sz="1800" dirty="0"/>
              <a:t>() removes leading and trailing whitespace.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 err="1"/>
              <a:t>StartsWith</a:t>
            </a:r>
            <a:r>
              <a:rPr lang="en-US" sz="1800" dirty="0"/>
              <a:t>: </a:t>
            </a:r>
            <a:r>
              <a:rPr lang="en-US" sz="1800" dirty="0" err="1"/>
              <a:t>string.startswith</a:t>
            </a:r>
            <a:r>
              <a:rPr lang="en-US" sz="1800" dirty="0"/>
              <a:t>(prefix) checks if a string starts with a specified prefix.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 err="1"/>
              <a:t>EndsWith</a:t>
            </a:r>
            <a:r>
              <a:rPr lang="en-US" sz="1800" dirty="0"/>
              <a:t>: </a:t>
            </a:r>
            <a:r>
              <a:rPr lang="en-US" sz="1800" dirty="0" err="1"/>
              <a:t>string.endswith</a:t>
            </a:r>
            <a:r>
              <a:rPr lang="en-US" sz="1800" dirty="0"/>
              <a:t>(suffix) checks if a string ends with a specified suffix.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/>
              <a:t>Split</a:t>
            </a:r>
            <a:r>
              <a:rPr lang="en-US" sz="1800" dirty="0"/>
              <a:t>: </a:t>
            </a:r>
            <a:r>
              <a:rPr lang="en-US" sz="1800" dirty="0" err="1"/>
              <a:t>string.split</a:t>
            </a:r>
            <a:r>
              <a:rPr lang="en-US" sz="1800" dirty="0"/>
              <a:t>(separator) splits a string into a list of substrings based on a separator.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/>
              <a:t>Join</a:t>
            </a:r>
            <a:r>
              <a:rPr lang="en-US" sz="1800" dirty="0"/>
              <a:t>: </a:t>
            </a:r>
            <a:r>
              <a:rPr lang="en-US" sz="1800" dirty="0" err="1"/>
              <a:t>separator.join</a:t>
            </a:r>
            <a:r>
              <a:rPr lang="en-US" sz="1800" dirty="0"/>
              <a:t>(list) joins a list of strings into a single string with a separator.</a:t>
            </a:r>
          </a:p>
          <a:p>
            <a:pPr algn="just">
              <a:lnSpc>
                <a:spcPct val="100000"/>
              </a:lnSpc>
            </a:pPr>
            <a:endParaRPr lang="en-IN" sz="1800" dirty="0"/>
          </a:p>
          <a:p>
            <a:pPr algn="just">
              <a:lnSpc>
                <a:spcPct val="100000"/>
              </a:lnSpc>
            </a:pP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3816B-B77E-FE73-A16D-581D3E5B9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18233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How To Index and Slice Strings in Python?</a:t>
            </a:r>
          </a:p>
          <a:p>
            <a:pPr algn="just">
              <a:lnSpc>
                <a:spcPct val="100000"/>
              </a:lnSpc>
            </a:pPr>
            <a:r>
              <a:rPr lang="en-US" sz="1800" b="1" dirty="0"/>
              <a:t>Indexing: </a:t>
            </a:r>
            <a:r>
              <a:rPr lang="en-US" sz="1800" dirty="0"/>
              <a:t>Indexing means referring to an element of an </a:t>
            </a:r>
            <a:r>
              <a:rPr lang="en-US" sz="1800" dirty="0" err="1"/>
              <a:t>iterable</a:t>
            </a:r>
            <a:r>
              <a:rPr lang="en-US" sz="1800" dirty="0"/>
              <a:t> by its position within the </a:t>
            </a:r>
            <a:r>
              <a:rPr lang="en-US" sz="1800" dirty="0" err="1"/>
              <a:t>iterable</a:t>
            </a:r>
            <a:r>
              <a:rPr lang="en-US" sz="1800" dirty="0"/>
              <a:t>. Each of a string’s characters corresponds to an index number and each character can be accessed using its index number.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83555-8B25-2735-AEFA-8951DDFA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3" y="3111503"/>
            <a:ext cx="4837510" cy="2318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119951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Slicing: </a:t>
            </a:r>
            <a:r>
              <a:rPr lang="en-US" sz="1800" dirty="0"/>
              <a:t>Slicing in Python is a feature that enables accessing parts of the sequence. In slicing a string, we create a substring, which is essentially a string that exists within another string. </a:t>
            </a:r>
            <a:endParaRPr lang="en-US" sz="1800" b="1" dirty="0"/>
          </a:p>
          <a:p>
            <a:pPr algn="just">
              <a:lnSpc>
                <a:spcPct val="100000"/>
              </a:lnSpc>
            </a:pP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D0B5AD-EE41-DCF3-3932-7690071F9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2730106"/>
            <a:ext cx="3543300" cy="2464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476412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IN" sz="1800" b="1" dirty="0"/>
              <a:t>Testing strings: </a:t>
            </a:r>
          </a:p>
          <a:p>
            <a:r>
              <a:rPr lang="en-US" sz="1800" dirty="0"/>
              <a:t>String class in python has various inbuilt methods which allows to check for different types of strings.</a:t>
            </a:r>
            <a:endParaRPr lang="en-IN" sz="1800" dirty="0"/>
          </a:p>
          <a:p>
            <a:r>
              <a:rPr lang="en-IN" sz="1800" dirty="0"/>
              <a:t>s = "welcome to python"</a:t>
            </a:r>
          </a:p>
          <a:p>
            <a:r>
              <a:rPr lang="en-IN" sz="1800" dirty="0"/>
              <a:t>print(</a:t>
            </a:r>
            <a:r>
              <a:rPr lang="en-IN" sz="1800" dirty="0" err="1"/>
              <a:t>s.isalnum</a:t>
            </a:r>
            <a:r>
              <a:rPr lang="en-IN" sz="1800" dirty="0"/>
              <a:t>())</a:t>
            </a:r>
          </a:p>
          <a:p>
            <a:r>
              <a:rPr lang="en-IN" sz="1800" dirty="0"/>
              <a:t>print("Welcome".</a:t>
            </a:r>
            <a:r>
              <a:rPr lang="en-IN" sz="1800" dirty="0" err="1"/>
              <a:t>isalpha</a:t>
            </a:r>
            <a:r>
              <a:rPr lang="en-IN" sz="1800" dirty="0"/>
              <a:t>())</a:t>
            </a:r>
          </a:p>
          <a:p>
            <a:r>
              <a:rPr lang="en-IN" sz="1800" dirty="0"/>
              <a:t>print("2012".isdigit())</a:t>
            </a:r>
          </a:p>
          <a:p>
            <a:r>
              <a:rPr lang="en-IN" sz="1800" dirty="0"/>
              <a:t>print("first Number".</a:t>
            </a:r>
            <a:r>
              <a:rPr lang="en-IN" sz="1800" dirty="0" err="1"/>
              <a:t>isidentifier</a:t>
            </a:r>
            <a:r>
              <a:rPr lang="en-IN" sz="1800" dirty="0"/>
              <a:t>())</a:t>
            </a:r>
          </a:p>
          <a:p>
            <a:r>
              <a:rPr lang="en-IN" sz="1800" dirty="0"/>
              <a:t>print(</a:t>
            </a:r>
            <a:r>
              <a:rPr lang="en-IN" sz="1800" dirty="0" err="1"/>
              <a:t>s.islower</a:t>
            </a:r>
            <a:r>
              <a:rPr lang="en-IN" sz="1800" dirty="0"/>
              <a:t>())</a:t>
            </a:r>
          </a:p>
          <a:p>
            <a:r>
              <a:rPr lang="en-IN" sz="1800" dirty="0"/>
              <a:t>print("WELCOME".</a:t>
            </a:r>
            <a:r>
              <a:rPr lang="en-IN" sz="1800" dirty="0" err="1"/>
              <a:t>isupper</a:t>
            </a:r>
            <a:r>
              <a:rPr lang="en-IN" sz="1800" dirty="0"/>
              <a:t>())</a:t>
            </a:r>
          </a:p>
          <a:p>
            <a:r>
              <a:rPr lang="en-IN" sz="1800" dirty="0"/>
              <a:t>print("  \t".</a:t>
            </a:r>
            <a:r>
              <a:rPr lang="en-IN" sz="1800" dirty="0" err="1"/>
              <a:t>isspace</a:t>
            </a:r>
            <a:r>
              <a:rPr lang="en-IN" sz="1800" dirty="0"/>
              <a:t>())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AD124-F885-3113-6160-EDE14CE6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2778125"/>
            <a:ext cx="1828800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094058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IN" sz="1800" b="1" dirty="0"/>
              <a:t>Formatting String : </a:t>
            </a:r>
          </a:p>
          <a:p>
            <a:r>
              <a:rPr lang="en-US" sz="1800" dirty="0"/>
              <a:t>s = “ string in python”</a:t>
            </a:r>
          </a:p>
          <a:p>
            <a:r>
              <a:rPr lang="en-US" sz="1800" dirty="0"/>
              <a:t>s1 = </a:t>
            </a:r>
            <a:r>
              <a:rPr lang="en-US" sz="1800" dirty="0" err="1"/>
              <a:t>s.center</a:t>
            </a:r>
            <a:r>
              <a:rPr lang="en-US" sz="1800" dirty="0"/>
              <a:t>(20)  # place the string in the center with 20 char </a:t>
            </a:r>
          </a:p>
          <a:p>
            <a:r>
              <a:rPr lang="en-US" sz="1800" dirty="0"/>
              <a:t>print(s1)</a:t>
            </a:r>
          </a:p>
          <a:p>
            <a:r>
              <a:rPr lang="en-US" sz="1800" dirty="0"/>
              <a:t>s = “ string in python”</a:t>
            </a:r>
          </a:p>
          <a:p>
            <a:r>
              <a:rPr lang="en-US" sz="1800" dirty="0"/>
              <a:t>s1 = </a:t>
            </a:r>
            <a:r>
              <a:rPr lang="en-US" sz="1800" dirty="0" err="1"/>
              <a:t>s.ljust</a:t>
            </a:r>
            <a:r>
              <a:rPr lang="en-US" sz="1800" dirty="0"/>
              <a:t>(20) # place the string in the left with 20 char </a:t>
            </a:r>
          </a:p>
          <a:p>
            <a:r>
              <a:rPr lang="en-US" sz="1800" dirty="0"/>
              <a:t>print(s1)</a:t>
            </a:r>
          </a:p>
          <a:p>
            <a:r>
              <a:rPr lang="en-US" sz="1800" dirty="0"/>
              <a:t>s = “ string in python”</a:t>
            </a:r>
          </a:p>
          <a:p>
            <a:r>
              <a:rPr lang="en-US" sz="1800" dirty="0"/>
              <a:t>s1 = </a:t>
            </a:r>
            <a:r>
              <a:rPr lang="en-US" sz="1800" dirty="0" err="1"/>
              <a:t>s.rjust</a:t>
            </a:r>
            <a:r>
              <a:rPr lang="en-US" sz="1800" dirty="0"/>
              <a:t>(20) # place the string in the right with 20 char </a:t>
            </a:r>
          </a:p>
          <a:p>
            <a:r>
              <a:rPr lang="en-US" sz="1800" dirty="0"/>
              <a:t>print(s1)</a:t>
            </a:r>
          </a:p>
          <a:p>
            <a:pPr algn="just">
              <a:lnSpc>
                <a:spcPct val="100000"/>
              </a:lnSpc>
            </a:pPr>
            <a:endParaRPr lang="en-IN" sz="18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CEBB5-9C1D-527B-A927-3D1063DF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8" y="2898774"/>
            <a:ext cx="2028825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708710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13D08-CB19-41BE-9A53-91559C102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589" y="1840706"/>
            <a:ext cx="7784983" cy="3651108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Tuples : </a:t>
            </a:r>
            <a:r>
              <a:rPr lang="en-US" sz="1800" dirty="0"/>
              <a:t>Tuples are like lists, but their elements are fixed; that is, once a tuple is created, cannot add new elements, delete elements, replace elements, or reorder the elements in the tuple. Tuple is immutable.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A tuple is very much like a list, except that its elements are fixed.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It is enclosed within ().</a:t>
            </a: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70D82-4568-406D-1986-A339A121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28109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415FBA-F75C-448E-BA80-A63053EB2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595" y="1759620"/>
            <a:ext cx="3391074" cy="4083476"/>
          </a:xfrm>
          <a:ln>
            <a:solidFill>
              <a:schemeClr val="tx1"/>
            </a:solidFill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84261A-F348-2838-C99A-62B57022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0EA59-831C-4501-9ACE-DE23CC9D3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901" y="1875124"/>
            <a:ext cx="3544503" cy="3696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606414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Cannot modify a tuple because it is immutable.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2F02F7-3A55-F03C-5764-4BA78AD3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D845B2-3B4C-478E-8E03-AA17EFDB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881" y="2459857"/>
            <a:ext cx="5998945" cy="23317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195066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Cannot modify a tuple because it is immutable.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8551EF-1F32-9D1F-C4DC-439BFC23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C8FD4-D0DC-4BA1-8FF1-33C50F36B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1" y="2293821"/>
            <a:ext cx="5861786" cy="25482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753674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1800" b="1" dirty="0"/>
              <a:t>Sets : </a:t>
            </a:r>
            <a:r>
              <a:rPr lang="en-US" sz="1800" dirty="0"/>
              <a:t>Sets are like lists storing a collection of elements. </a:t>
            </a:r>
          </a:p>
          <a:p>
            <a:pPr algn="just"/>
            <a:r>
              <a:rPr lang="en-US" sz="1800" dirty="0"/>
              <a:t>Unlike lists, however, the elements in a set are nonduplicates and are not placed in any particular order.</a:t>
            </a:r>
          </a:p>
          <a:p>
            <a:pPr algn="just"/>
            <a:r>
              <a:rPr lang="en-US" sz="1800" dirty="0"/>
              <a:t>It is enclosed within { }.</a:t>
            </a:r>
          </a:p>
          <a:p>
            <a:pPr algn="just"/>
            <a:r>
              <a:rPr lang="en-US" sz="1800" dirty="0"/>
              <a:t>A set can contain the elements of the same type or mixed types. </a:t>
            </a:r>
          </a:p>
          <a:p>
            <a:pPr algn="just"/>
            <a:r>
              <a:rPr lang="en-US" sz="1800" dirty="0"/>
              <a:t>For example, s ={1, 2, 3, "one", "two", "three"} is a set that contains numbers and strings. </a:t>
            </a:r>
          </a:p>
          <a:p>
            <a:pPr algn="just"/>
            <a:r>
              <a:rPr lang="en-US" sz="1800" dirty="0"/>
              <a:t>Set items are unchangeable, but you can remove items and add new items.</a:t>
            </a:r>
          </a:p>
          <a:p>
            <a:pPr algn="just"/>
            <a:r>
              <a:rPr lang="en-US" sz="1800" dirty="0"/>
              <a:t>Sets cannot have two items with the same value.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1176C1-F314-41BB-6615-3BDAFC03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39077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Manipulating and Accessing Sets</a:t>
            </a:r>
            <a:r>
              <a:rPr lang="en-US" sz="1800" dirty="0"/>
              <a:t>: Add an element to a set or remove an element by using the add(e) or remove(e) method. You can use the </a:t>
            </a:r>
            <a:r>
              <a:rPr lang="en-US" sz="1800" dirty="0" err="1"/>
              <a:t>len</a:t>
            </a:r>
            <a:r>
              <a:rPr lang="en-US" sz="1800" dirty="0"/>
              <a:t>, min, max, and sum functions on a set, and a for loop to traverse all elements in a set.</a:t>
            </a:r>
          </a:p>
          <a:p>
            <a:pPr algn="just"/>
            <a:r>
              <a:rPr lang="en-US" sz="1800" dirty="0"/>
              <a:t> Use in or not in operator to determine whether an element is in the set.</a:t>
            </a:r>
          </a:p>
          <a:p>
            <a:pPr algn="just"/>
            <a:endParaRPr lang="en-US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6F5D53-0EE1-2DCB-CC93-F4FFDE02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18116-3F3C-4888-83C3-38FA7AC5C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23" y="3197917"/>
            <a:ext cx="2072309" cy="16995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764ADF-2EBD-4508-9834-D14551D0E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100" y="3312390"/>
            <a:ext cx="1669775" cy="1421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EC716E-4D48-4E3D-9613-A4ECAB683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929" y="3275117"/>
            <a:ext cx="1352813" cy="1421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B0234F-DC68-4EA0-871F-AF44F6262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796" y="3320463"/>
            <a:ext cx="1618685" cy="1375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923367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Manipulating and Accessing Sets</a:t>
            </a:r>
            <a:endParaRPr lang="en-US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1DE331-F141-1D4A-8CA1-EED1A979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10D323-3FAC-44E9-A9EB-9ACE7C381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6" y="2265297"/>
            <a:ext cx="1995488" cy="1207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AD1A0C-9D96-495E-A2A4-AD5D7408F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13" y="3755139"/>
            <a:ext cx="1995487" cy="11519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76D412-45D1-41D2-B311-4AC89ACEE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287" y="2313881"/>
            <a:ext cx="2483318" cy="1207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EDB23B-CCB4-466C-A4E0-B61ED9AB1FAD}"/>
              </a:ext>
            </a:extLst>
          </p:cNvPr>
          <p:cNvSpPr txBox="1"/>
          <p:nvPr/>
        </p:nvSpPr>
        <p:spPr>
          <a:xfrm>
            <a:off x="2981324" y="3846363"/>
            <a:ext cx="4548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remove(e)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will throw a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KeyError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if the element to be removed is not in the 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98149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Manipulating and Accessing Sets</a:t>
            </a:r>
          </a:p>
          <a:p>
            <a:pPr algn="just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BB3871-88C8-4A65-5E52-FDFAD174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2A2A2-5466-4011-A29D-FDA0AC504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266" y="2568144"/>
            <a:ext cx="3400124" cy="17253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866086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Equality Test</a:t>
            </a:r>
            <a:r>
              <a:rPr lang="en-US" sz="1800" dirty="0"/>
              <a:t>: the == and != operators to test if two sets contain the same elements. For example:</a:t>
            </a:r>
          </a:p>
          <a:p>
            <a:pPr algn="just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A0DE3F-EF25-2D34-7BD5-FFB41FC2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654A5A-9735-446F-BE58-D762E5642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3" y="2665676"/>
            <a:ext cx="2717382" cy="1490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D697A-6068-4665-8E30-1AD288998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929" y="2665678"/>
            <a:ext cx="2826380" cy="14906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021470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Set Operations: </a:t>
            </a:r>
            <a:r>
              <a:rPr lang="en-US" sz="1800" dirty="0"/>
              <a:t>Python provides the methods for performing set union, intersection, difference, and symmetric difference operations.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The union of two sets is a set that contains all the elements from both sets. 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Use the union method or the | operator to perform this operation. For 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40B46E-10A6-DE41-CE7C-1425FA69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F4A98-88D7-4B0D-8303-B317AFBFB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" y="3269743"/>
            <a:ext cx="3170672" cy="16517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37F172-4CFC-41EA-938D-99E5CFABA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793" y="3269741"/>
            <a:ext cx="2936564" cy="14398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779672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Set Operations: </a:t>
            </a:r>
            <a:r>
              <a:rPr lang="en-US" sz="1800" dirty="0"/>
              <a:t>Python provides the methods for performing set union, intersection, difference, and symmetric difference operations.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The intersection of two sets is a set that contains the elements that appear in both sets. Use the intersection method or the &amp; operator to perform this operation. For 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18742F-E52F-701A-393D-A9AB6DFF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3888A-3BEC-4D91-8858-8263160CB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18" y="3328081"/>
            <a:ext cx="3031957" cy="16983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2DDEB9-9B05-4DC8-8A5F-47D8CEC0D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756" y="3402210"/>
            <a:ext cx="2589385" cy="1550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199495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Set Operations: </a:t>
            </a:r>
            <a:r>
              <a:rPr lang="en-US" sz="1800" dirty="0"/>
              <a:t>Python provides the methods for performing set union, intersection, difference, and symmetric difference operations.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The difference between set1 and set2 is a set that contains the elements in set1 but not in set2. Use the difference method or the - operator to perform this operation.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For 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D00594-D55F-3315-28BC-A45E5116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8768AB-BACB-4BE5-8150-E191BA6F8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" y="3492166"/>
            <a:ext cx="3049454" cy="15251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99B29-773A-4463-87DD-480B80D7D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919" y="3564356"/>
            <a:ext cx="2815389" cy="13364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316362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E9F3-2EA5-447B-93B6-65120D2B4AAA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b="1" dirty="0"/>
              <a:t>Set Operations: </a:t>
            </a:r>
            <a:r>
              <a:rPr lang="en-US" sz="1800" dirty="0"/>
              <a:t>Python provides the methods for performing set union, intersection, difference, and symmetric difference operations.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The symmetric difference (or exclusive or) of two sets is a set that contains the elements in either set, but not in both sets. You can use the </a:t>
            </a:r>
            <a:r>
              <a:rPr lang="en-US" sz="1800" dirty="0" err="1"/>
              <a:t>symmetric_difference</a:t>
            </a:r>
            <a:r>
              <a:rPr lang="en-US" sz="1800" dirty="0"/>
              <a:t> method or the ^ operator to perform this operation. For example: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2CF66B-9364-813B-20C8-C5FAE6F3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F1136-808C-4480-A22B-47DCCE981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32" y="3429000"/>
            <a:ext cx="3093071" cy="14997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5FAE46-D23E-4B8B-A5E5-C5E93D3A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780" y="3452608"/>
            <a:ext cx="2976497" cy="1274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970231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C661D6-CF1F-4714-ACF4-E51E2227E3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387" y="1856018"/>
            <a:ext cx="4973854" cy="3768496"/>
          </a:xfrm>
          <a:ln>
            <a:solidFill>
              <a:schemeClr val="tx1"/>
            </a:solidFill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3984FC-8D38-C64C-A9DA-773B8761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9AF95-05C1-4848-B7D8-88C6E9043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622" y="1856018"/>
            <a:ext cx="2829827" cy="37684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799671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E3F9A-1E3A-443F-8C6C-E3AAA235D44E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/>
              <a:t>Dictionaries:  </a:t>
            </a:r>
            <a:r>
              <a:rPr lang="en-US" sz="1800" dirty="0"/>
              <a:t>A dictionary is a container object that stores a collection of key/value pairs. 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It enables fast retrieval, deletion, and updating of the value by using the key.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A dictionary is an efficient data structure for such a task. 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A dictionary is a collection that stores the values along with the keys. The keys are like an index operator.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A dictionary cannot contain duplicate keys. Each key maps to one value. </a:t>
            </a:r>
          </a:p>
          <a:p>
            <a:pPr algn="just">
              <a:lnSpc>
                <a:spcPct val="100000"/>
              </a:lnSpc>
            </a:pPr>
            <a:r>
              <a:rPr lang="en-US" sz="1800" dirty="0"/>
              <a:t>A key and its corresponding value form an item (or entry) stored in a dictionary.</a:t>
            </a: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DA61E-4FB8-176C-2350-B0782A1C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707838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8E3F9A-1E3A-443F-8C6C-E3AAA235D44E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/>
              <a:t>Dictionaries: </a:t>
            </a:r>
            <a:r>
              <a:rPr lang="en-US" sz="1800" dirty="0"/>
              <a:t>The data structure is a called a “dictionary” because it resembles a word dictionary, where the words are the keys and the words’ definitions are the values.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A dictionary is also known as a map, which maps each key to a value.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Dictionary is mutable.</a:t>
            </a:r>
          </a:p>
          <a:p>
            <a:pPr>
              <a:lnSpc>
                <a:spcPct val="100000"/>
              </a:lnSpc>
            </a:pPr>
            <a:r>
              <a:rPr lang="en-IN" sz="1800" b="1" dirty="0"/>
              <a:t>Creating a Dictionary: </a:t>
            </a:r>
            <a:r>
              <a:rPr lang="en-US" sz="1800" dirty="0"/>
              <a:t>Create a dictionary by enclosing the items inside a pair of curly braces ({}). Each item consists of a key, followed by a colon, followed by a value. The items are separated by commas. </a:t>
            </a: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F16BC-4163-03A5-B34E-57D3EB24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417242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977DC8-59E2-4DAF-882C-E898C7734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2234" y="2036725"/>
            <a:ext cx="3202436" cy="1195559"/>
          </a:xfrm>
          <a:ln>
            <a:solidFill>
              <a:schemeClr val="tx1"/>
            </a:solidFill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36777C-25F5-CEF1-6A46-2931E0F4E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F74CF-DB5C-4789-8E1C-260CF211D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36727"/>
            <a:ext cx="3289434" cy="1195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DFAB5D-91D7-43AA-8E65-3B377FA61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75" y="3607715"/>
            <a:ext cx="3149353" cy="13498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5E7DAA-9C2D-4554-B17C-977ED5D99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3" y="3680728"/>
            <a:ext cx="3217244" cy="11405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362242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81E61-5CD5-4567-AD55-D35875A0C59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1800" b="1" dirty="0"/>
              <a:t>Adding a new element, changing an existing element, update, pop</a:t>
            </a:r>
          </a:p>
          <a:p>
            <a:endParaRPr lang="en-IN" sz="18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3D45D-F66D-F186-D8F1-E8F76BB8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C46FC-BB9E-4A99-B9B8-1A4A3337E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3" y="2239804"/>
            <a:ext cx="3280863" cy="1403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6CE4EA-FDDA-4862-BE9F-993A4A495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414" y="2239807"/>
            <a:ext cx="3020383" cy="1313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709335-4F81-4254-A7C4-D10EC9E1A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32" y="3765427"/>
            <a:ext cx="3425545" cy="12518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274CDA-65C9-4B54-97D1-5DBE28E48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4463" y="3686476"/>
            <a:ext cx="3014333" cy="13137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282374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81E61-5CD5-4567-AD55-D35875A0C59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1800" b="1" dirty="0"/>
              <a:t>Adding a new element, changing an existing element, update, pop, clear</a:t>
            </a:r>
          </a:p>
          <a:p>
            <a:endParaRPr lang="en-IN" sz="18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13092-C4A6-47B1-799F-AD84E004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53B11-C998-493A-A6B8-8FB1E800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3" y="2322427"/>
            <a:ext cx="4157249" cy="12631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594460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81E61-5CD5-4567-AD55-D35875A0C59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1800" b="1" dirty="0"/>
              <a:t>Difference between list, tuple, set and dictionary</a:t>
            </a:r>
          </a:p>
          <a:p>
            <a:endParaRPr lang="en-IN" sz="1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08027-4864-6F6E-6301-733D992A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95CD04D4-9CB1-41CB-8718-7AB7D0D75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977695"/>
              </p:ext>
            </p:extLst>
          </p:nvPr>
        </p:nvGraphicFramePr>
        <p:xfrm>
          <a:off x="556309" y="2120070"/>
          <a:ext cx="7839980" cy="300286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18018">
                  <a:extLst>
                    <a:ext uri="{9D8B030D-6E8A-4147-A177-3AD203B41FA5}">
                      <a16:colId xmlns:a16="http://schemas.microsoft.com/office/drawing/2014/main" val="4107606265"/>
                    </a:ext>
                  </a:extLst>
                </a:gridCol>
                <a:gridCol w="2067996">
                  <a:extLst>
                    <a:ext uri="{9D8B030D-6E8A-4147-A177-3AD203B41FA5}">
                      <a16:colId xmlns:a16="http://schemas.microsoft.com/office/drawing/2014/main" val="2881989808"/>
                    </a:ext>
                  </a:extLst>
                </a:gridCol>
                <a:gridCol w="1793971">
                  <a:extLst>
                    <a:ext uri="{9D8B030D-6E8A-4147-A177-3AD203B41FA5}">
                      <a16:colId xmlns:a16="http://schemas.microsoft.com/office/drawing/2014/main" val="833963427"/>
                    </a:ext>
                  </a:extLst>
                </a:gridCol>
                <a:gridCol w="1959995">
                  <a:extLst>
                    <a:ext uri="{9D8B030D-6E8A-4147-A177-3AD203B41FA5}">
                      <a16:colId xmlns:a16="http://schemas.microsoft.com/office/drawing/2014/main" val="31672536"/>
                    </a:ext>
                  </a:extLst>
                </a:gridCol>
              </a:tblGrid>
              <a:tr h="31750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5999393"/>
                  </a:ext>
                </a:extLst>
              </a:tr>
              <a:tr h="1103617"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is a non-homogeneous data structure that stores the elements in single row and multiple rows and columns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 is also a non-homogeneous data structure that stores single row and multiple rows and columns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data structure is also non-homogeneous data structure but stores in single row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 is also a non-homogeneous data structure which stores key value pairs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5887282"/>
                  </a:ext>
                </a:extLst>
              </a:tr>
              <a:tr h="685058"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can be represented by  [ ]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 can be represented by ( )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can be represented by { }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  can be represented by { }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60256545"/>
                  </a:ext>
                </a:extLst>
              </a:tr>
              <a:tr h="896689">
                <a:tc>
                  <a:txBody>
                    <a:bodyPr/>
                    <a:lstStyle/>
                    <a:p>
                      <a:pPr algn="just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allows duplicate elements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 allows duplicate elements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will not allow duplicate elements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will not allow duplicate elements and dictionary doesn’t allow duplicate keys.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0358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530207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81E61-5CD5-4567-AD55-D35875A0C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99" y="1750256"/>
            <a:ext cx="8015989" cy="400144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1800" b="1" dirty="0"/>
              <a:t>Difference between list, tuple, set and dictionary</a:t>
            </a:r>
          </a:p>
          <a:p>
            <a:endParaRPr lang="en-IN" sz="1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BF95-AE66-F96A-8553-2545A82A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95CD04D4-9CB1-41CB-8718-7AB7D0D75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981353"/>
              </p:ext>
            </p:extLst>
          </p:nvPr>
        </p:nvGraphicFramePr>
        <p:xfrm>
          <a:off x="556309" y="2120071"/>
          <a:ext cx="7839980" cy="300286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018018">
                  <a:extLst>
                    <a:ext uri="{9D8B030D-6E8A-4147-A177-3AD203B41FA5}">
                      <a16:colId xmlns:a16="http://schemas.microsoft.com/office/drawing/2014/main" val="4107606265"/>
                    </a:ext>
                  </a:extLst>
                </a:gridCol>
                <a:gridCol w="2067996">
                  <a:extLst>
                    <a:ext uri="{9D8B030D-6E8A-4147-A177-3AD203B41FA5}">
                      <a16:colId xmlns:a16="http://schemas.microsoft.com/office/drawing/2014/main" val="2881989808"/>
                    </a:ext>
                  </a:extLst>
                </a:gridCol>
                <a:gridCol w="1793971">
                  <a:extLst>
                    <a:ext uri="{9D8B030D-6E8A-4147-A177-3AD203B41FA5}">
                      <a16:colId xmlns:a16="http://schemas.microsoft.com/office/drawing/2014/main" val="833963427"/>
                    </a:ext>
                  </a:extLst>
                </a:gridCol>
                <a:gridCol w="1959995">
                  <a:extLst>
                    <a:ext uri="{9D8B030D-6E8A-4147-A177-3AD203B41FA5}">
                      <a16:colId xmlns:a16="http://schemas.microsoft.com/office/drawing/2014/main" val="31672536"/>
                    </a:ext>
                  </a:extLst>
                </a:gridCol>
              </a:tblGrid>
              <a:tr h="31750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5999393"/>
                  </a:ext>
                </a:extLst>
              </a:tr>
              <a:tr h="1103617"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can be created using list() function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 can be created using tuple() function.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can be created using set() function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 can be created using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function.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5887282"/>
                  </a:ext>
                </a:extLst>
              </a:tr>
              <a:tr h="685058"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is mutable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i.e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 can make any changes in list.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  is immutable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i.e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 can not make any changes in tuple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is mutable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i.e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 can make any changes in set. But elements are not duplicated.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 is mutable. But Keys are not duplicated.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60256545"/>
                  </a:ext>
                </a:extLst>
              </a:tr>
              <a:tr h="896689"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an empty list</a:t>
                      </a:r>
                    </a:p>
                    <a:p>
                      <a:pPr algn="just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l=[]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an empty Tuple</a:t>
                      </a:r>
                    </a:p>
                    <a:p>
                      <a:pPr algn="just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t=()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a set</a:t>
                      </a:r>
                    </a:p>
                    <a:p>
                      <a:pPr algn="just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a=set()</a:t>
                      </a:r>
                    </a:p>
                    <a:p>
                      <a:pPr algn="just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an empty dictionary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d={}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10358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711380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/>
        </p:nvSpPr>
        <p:spPr>
          <a:xfrm>
            <a:off x="2571750" y="17780"/>
            <a:ext cx="6548374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13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(CSE)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 txBox="1">
            <a:spLocks noGrp="1"/>
          </p:cNvSpPr>
          <p:nvPr>
            <p:ph type="ftr" idx="11"/>
          </p:nvPr>
        </p:nvSpPr>
        <p:spPr>
          <a:xfrm>
            <a:off x="2475357" y="6539204"/>
            <a:ext cx="419480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University Institute of Engineering (UIE)</a:t>
            </a:r>
            <a:endParaRPr sz="1400" dirty="0"/>
          </a:p>
        </p:txBody>
      </p:sp>
      <p:sp>
        <p:nvSpPr>
          <p:cNvPr id="241" name="Google Shape;241;p21"/>
          <p:cNvSpPr txBox="1">
            <a:spLocks noGrp="1"/>
          </p:cNvSpPr>
          <p:nvPr>
            <p:ph type="title"/>
          </p:nvPr>
        </p:nvSpPr>
        <p:spPr>
          <a:xfrm>
            <a:off x="3897623" y="691650"/>
            <a:ext cx="294390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dirty="0"/>
              <a:t>Outcomes</a:t>
            </a:r>
            <a:endParaRPr sz="2400" dirty="0"/>
          </a:p>
        </p:txBody>
      </p:sp>
      <p:sp>
        <p:nvSpPr>
          <p:cNvPr id="242" name="Google Shape;242;p21"/>
          <p:cNvSpPr txBox="1"/>
          <p:nvPr/>
        </p:nvSpPr>
        <p:spPr>
          <a:xfrm>
            <a:off x="535940" y="1765757"/>
            <a:ext cx="8301990" cy="278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635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7C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Apply Python's built-in data structures (strings, lists, tuples, sets, and dictionaries) to manipulate and organize data effectively.</a:t>
            </a:r>
          </a:p>
          <a:p>
            <a:pPr marL="354965" marR="635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7C"/>
              </a:buClr>
              <a:buSzPts val="24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4965" marR="635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7C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 appropriate methods and operations for each data structure to solve practical programming problems.</a:t>
            </a:r>
          </a:p>
          <a:p>
            <a:pPr marL="354965" marR="635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7C"/>
              </a:buClr>
              <a:buSzPts val="24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54965" marR="635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87C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and select the most suitable data structure for different programming scenarios, demonstrating understanding of their unique characteristics and performance implications.</a:t>
            </a:r>
          </a:p>
        </p:txBody>
      </p:sp>
      <p:sp>
        <p:nvSpPr>
          <p:cNvPr id="2" name="Google Shape;261;p23">
            <a:extLst>
              <a:ext uri="{FF2B5EF4-FFF2-40B4-BE49-F238E27FC236}">
                <a16:creationId xmlns:a16="http://schemas.microsoft.com/office/drawing/2014/main" id="{9248CC90-0175-2E4F-9236-D06032226D8F}"/>
              </a:ext>
            </a:extLst>
          </p:cNvPr>
          <p:cNvSpPr/>
          <p:nvPr/>
        </p:nvSpPr>
        <p:spPr>
          <a:xfrm>
            <a:off x="2779776" y="11430"/>
            <a:ext cx="6364605" cy="394970"/>
          </a:xfrm>
          <a:custGeom>
            <a:avLst/>
            <a:gdLst/>
            <a:ahLst/>
            <a:cxnLst/>
            <a:rect l="l" t="t" r="r" b="b"/>
            <a:pathLst>
              <a:path w="6364605" h="394970" extrusionOk="0">
                <a:moveTo>
                  <a:pt x="6356604" y="8890"/>
                </a:moveTo>
                <a:lnTo>
                  <a:pt x="33528" y="8890"/>
                </a:lnTo>
                <a:lnTo>
                  <a:pt x="33528" y="25400"/>
                </a:lnTo>
                <a:lnTo>
                  <a:pt x="33528" y="344170"/>
                </a:lnTo>
                <a:lnTo>
                  <a:pt x="33528" y="360680"/>
                </a:lnTo>
                <a:lnTo>
                  <a:pt x="6356604" y="360680"/>
                </a:lnTo>
                <a:lnTo>
                  <a:pt x="6356604" y="344424"/>
                </a:lnTo>
                <a:lnTo>
                  <a:pt x="6356604" y="344170"/>
                </a:lnTo>
                <a:lnTo>
                  <a:pt x="6356604" y="25908"/>
                </a:lnTo>
                <a:lnTo>
                  <a:pt x="6339840" y="25908"/>
                </a:lnTo>
                <a:lnTo>
                  <a:pt x="6339840" y="344170"/>
                </a:lnTo>
                <a:lnTo>
                  <a:pt x="50292" y="344170"/>
                </a:lnTo>
                <a:lnTo>
                  <a:pt x="50292" y="25400"/>
                </a:lnTo>
                <a:lnTo>
                  <a:pt x="6356604" y="25400"/>
                </a:lnTo>
                <a:lnTo>
                  <a:pt x="6356604" y="8890"/>
                </a:lnTo>
                <a:close/>
              </a:path>
              <a:path w="6364605" h="394970" extrusionOk="0">
                <a:moveTo>
                  <a:pt x="6364224" y="378460"/>
                </a:moveTo>
                <a:lnTo>
                  <a:pt x="16764" y="378460"/>
                </a:lnTo>
                <a:lnTo>
                  <a:pt x="16764" y="0"/>
                </a:lnTo>
                <a:lnTo>
                  <a:pt x="0" y="0"/>
                </a:lnTo>
                <a:lnTo>
                  <a:pt x="0" y="378460"/>
                </a:lnTo>
                <a:lnTo>
                  <a:pt x="0" y="394970"/>
                </a:lnTo>
                <a:lnTo>
                  <a:pt x="6364224" y="394970"/>
                </a:lnTo>
                <a:lnTo>
                  <a:pt x="6364224" y="37846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381E61-5CD5-4567-AD55-D35875A0C59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800" b="1" dirty="0"/>
              <a:t>SUGGESTED TEXTBOOKS</a:t>
            </a:r>
            <a:endParaRPr lang="en-US" sz="1800" dirty="0"/>
          </a:p>
          <a:p>
            <a:pPr algn="just"/>
            <a:r>
              <a:rPr lang="en-US" sz="1350" dirty="0"/>
              <a:t>Ashok </a:t>
            </a:r>
            <a:r>
              <a:rPr lang="en-US" sz="1350" dirty="0" err="1"/>
              <a:t>Namdev</a:t>
            </a:r>
            <a:r>
              <a:rPr lang="en-US" sz="1350" dirty="0"/>
              <a:t> </a:t>
            </a:r>
            <a:r>
              <a:rPr lang="en-US" sz="1350" dirty="0" err="1"/>
              <a:t>Kamthane</a:t>
            </a:r>
            <a:r>
              <a:rPr lang="en-US" sz="1350" dirty="0"/>
              <a:t>, Programming and Problem Solving with Python, </a:t>
            </a:r>
            <a:r>
              <a:rPr lang="en-US" sz="1350" dirty="0" err="1"/>
              <a:t>Mc</a:t>
            </a:r>
            <a:r>
              <a:rPr lang="en-US" sz="1350" dirty="0"/>
              <a:t> </a:t>
            </a:r>
            <a:r>
              <a:rPr lang="en-US" sz="1350" dirty="0" err="1"/>
              <a:t>Graw</a:t>
            </a:r>
            <a:r>
              <a:rPr lang="en-US" sz="1350" dirty="0"/>
              <a:t> Hill Education Publication, 1st Edition, November 2017.</a:t>
            </a:r>
          </a:p>
          <a:p>
            <a:pPr algn="just"/>
            <a:r>
              <a:rPr lang="en-US" sz="1350" dirty="0"/>
              <a:t>Kenneth Lambert, Fundamentals of Python :First Programs, </a:t>
            </a:r>
            <a:r>
              <a:rPr lang="en-US" sz="1350" dirty="0" err="1"/>
              <a:t>Cengage</a:t>
            </a:r>
            <a:r>
              <a:rPr lang="en-US" sz="1350" dirty="0"/>
              <a:t> Learning</a:t>
            </a:r>
          </a:p>
          <a:p>
            <a:pPr algn="just"/>
            <a:r>
              <a:rPr lang="en-US" sz="1350" dirty="0"/>
              <a:t>Allen Downey, Think Python, O'Reilly Media, 2nd Edition,2015.</a:t>
            </a:r>
          </a:p>
          <a:p>
            <a:pPr algn="just"/>
            <a:r>
              <a:rPr lang="en-US" sz="1800" b="1" dirty="0"/>
              <a:t>REFERENCE BOOKS</a:t>
            </a:r>
            <a:endParaRPr lang="en-US" sz="1800" dirty="0"/>
          </a:p>
          <a:p>
            <a:pPr algn="just"/>
            <a:r>
              <a:rPr lang="en-US" sz="1350" dirty="0" err="1"/>
              <a:t>Rajaraman</a:t>
            </a:r>
            <a:r>
              <a:rPr lang="en-US" sz="1350" dirty="0"/>
              <a:t> V,” Computer Oriented Numerical Methods”, Pearson Education.</a:t>
            </a:r>
          </a:p>
          <a:p>
            <a:pPr algn="just"/>
            <a:r>
              <a:rPr lang="en-US" sz="1350" dirty="0"/>
              <a:t>Y. Daniel Liang, Introduction to Programming Using Python, Pearson.</a:t>
            </a:r>
          </a:p>
          <a:p>
            <a:pPr algn="just"/>
            <a:r>
              <a:rPr lang="en-US" sz="1350" dirty="0"/>
              <a:t>Martin </a:t>
            </a:r>
            <a:r>
              <a:rPr lang="en-US" sz="1350" dirty="0" err="1"/>
              <a:t>C.Brown</a:t>
            </a:r>
            <a:r>
              <a:rPr lang="en-US" sz="1350" dirty="0"/>
              <a:t>, PYTHON The Complete REFERENCE, Tata McGraw-Hill</a:t>
            </a:r>
          </a:p>
          <a:p>
            <a:pPr marL="0" indent="0" algn="just">
              <a:buNone/>
            </a:pPr>
            <a:r>
              <a:rPr lang="en-US" sz="1350" dirty="0"/>
              <a:t>      Education, 4th Edition, March 2018.</a:t>
            </a:r>
          </a:p>
          <a:p>
            <a:endParaRPr lang="en-IN" sz="1800" b="1" dirty="0"/>
          </a:p>
          <a:p>
            <a:endParaRPr lang="en-IN" sz="18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B01C3B-0C1A-DE60-D451-09165D7C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University Institute of Engineering (UIE)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14413"/>
            <a:ext cx="6502400" cy="646112"/>
          </a:xfrm>
          <a:ln>
            <a:solidFill>
              <a:schemeClr val="tx1"/>
            </a:solidFill>
          </a:ln>
        </p:spPr>
        <p:txBody>
          <a:bodyPr vert="horz" wrap="square" lIns="69056" tIns="34529" rIns="69056" bIns="34529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br>
              <a:rPr lang="en-US" sz="2700" dirty="0">
                <a:solidFill>
                  <a:schemeClr val="tx1"/>
                </a:solidFill>
              </a:rPr>
            </a:br>
            <a:r>
              <a:rPr lang="en-US" sz="2700" dirty="0">
                <a:solidFill>
                  <a:schemeClr val="tx1"/>
                </a:solidFill>
              </a:rPr>
              <a:t>Python Data Structures</a:t>
            </a:r>
            <a:br>
              <a:rPr lang="en-US" sz="2700" dirty="0">
                <a:solidFill>
                  <a:schemeClr val="tx1"/>
                </a:solidFill>
              </a:rPr>
            </a:br>
            <a:endParaRPr 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0706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3"/>
          <p:cNvGrpSpPr/>
          <p:nvPr/>
        </p:nvGrpSpPr>
        <p:grpSpPr>
          <a:xfrm>
            <a:off x="0" y="11430"/>
            <a:ext cx="9144381" cy="6858000"/>
            <a:chOff x="0" y="0"/>
            <a:chExt cx="9144381" cy="6858000"/>
          </a:xfrm>
        </p:grpSpPr>
        <p:sp>
          <p:nvSpPr>
            <p:cNvPr id="258" name="Google Shape;258;p2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0" y="6356603"/>
              <a:ext cx="9144000" cy="88900"/>
            </a:xfrm>
            <a:custGeom>
              <a:avLst/>
              <a:gdLst/>
              <a:ahLst/>
              <a:cxnLst/>
              <a:rect l="l" t="t" r="r" b="b"/>
              <a:pathLst>
                <a:path w="9144000" h="88900" extrusionOk="0">
                  <a:moveTo>
                    <a:pt x="9144000" y="70713"/>
                  </a:moveTo>
                  <a:lnTo>
                    <a:pt x="0" y="70713"/>
                  </a:lnTo>
                  <a:lnTo>
                    <a:pt x="0" y="88392"/>
                  </a:lnTo>
                  <a:lnTo>
                    <a:pt x="9144000" y="88392"/>
                  </a:lnTo>
                  <a:lnTo>
                    <a:pt x="9144000" y="70713"/>
                  </a:lnTo>
                  <a:close/>
                </a:path>
                <a:path w="9144000" h="88900" extrusionOk="0">
                  <a:moveTo>
                    <a:pt x="9144000" y="0"/>
                  </a:moveTo>
                  <a:lnTo>
                    <a:pt x="0" y="0"/>
                  </a:lnTo>
                  <a:lnTo>
                    <a:pt x="0" y="53035"/>
                  </a:lnTo>
                  <a:lnTo>
                    <a:pt x="9144000" y="5303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152399" y="152400"/>
              <a:ext cx="768095" cy="12192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2779776" y="0"/>
              <a:ext cx="6364605" cy="394970"/>
            </a:xfrm>
            <a:custGeom>
              <a:avLst/>
              <a:gdLst/>
              <a:ahLst/>
              <a:cxnLst/>
              <a:rect l="l" t="t" r="r" b="b"/>
              <a:pathLst>
                <a:path w="6364605" h="394970" extrusionOk="0">
                  <a:moveTo>
                    <a:pt x="6356604" y="8890"/>
                  </a:moveTo>
                  <a:lnTo>
                    <a:pt x="33528" y="8890"/>
                  </a:lnTo>
                  <a:lnTo>
                    <a:pt x="33528" y="25400"/>
                  </a:lnTo>
                  <a:lnTo>
                    <a:pt x="33528" y="344170"/>
                  </a:lnTo>
                  <a:lnTo>
                    <a:pt x="33528" y="360680"/>
                  </a:lnTo>
                  <a:lnTo>
                    <a:pt x="6356604" y="360680"/>
                  </a:lnTo>
                  <a:lnTo>
                    <a:pt x="6356604" y="344424"/>
                  </a:lnTo>
                  <a:lnTo>
                    <a:pt x="6356604" y="344170"/>
                  </a:lnTo>
                  <a:lnTo>
                    <a:pt x="6356604" y="25908"/>
                  </a:lnTo>
                  <a:lnTo>
                    <a:pt x="6339840" y="25908"/>
                  </a:lnTo>
                  <a:lnTo>
                    <a:pt x="6339840" y="344170"/>
                  </a:lnTo>
                  <a:lnTo>
                    <a:pt x="50292" y="344170"/>
                  </a:lnTo>
                  <a:lnTo>
                    <a:pt x="50292" y="25400"/>
                  </a:lnTo>
                  <a:lnTo>
                    <a:pt x="6356604" y="25400"/>
                  </a:lnTo>
                  <a:lnTo>
                    <a:pt x="6356604" y="8890"/>
                  </a:lnTo>
                  <a:close/>
                </a:path>
                <a:path w="6364605" h="394970" extrusionOk="0">
                  <a:moveTo>
                    <a:pt x="6364224" y="378460"/>
                  </a:moveTo>
                  <a:lnTo>
                    <a:pt x="16764" y="378460"/>
                  </a:lnTo>
                  <a:lnTo>
                    <a:pt x="16764" y="0"/>
                  </a:lnTo>
                  <a:lnTo>
                    <a:pt x="0" y="0"/>
                  </a:lnTo>
                  <a:lnTo>
                    <a:pt x="0" y="378460"/>
                  </a:lnTo>
                  <a:lnTo>
                    <a:pt x="0" y="394970"/>
                  </a:lnTo>
                  <a:lnTo>
                    <a:pt x="6364224" y="394970"/>
                  </a:lnTo>
                  <a:lnTo>
                    <a:pt x="6364224" y="37846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23"/>
          <p:cNvSpPr txBox="1"/>
          <p:nvPr/>
        </p:nvSpPr>
        <p:spPr>
          <a:xfrm>
            <a:off x="2475350" y="17780"/>
            <a:ext cx="6644774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13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 (CSE)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1140225" y="1823002"/>
            <a:ext cx="6362700" cy="143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>
            <a:spLocks noGrp="1"/>
          </p:cNvSpPr>
          <p:nvPr>
            <p:ph type="ftr" idx="11"/>
          </p:nvPr>
        </p:nvSpPr>
        <p:spPr>
          <a:xfrm>
            <a:off x="2475350" y="5949096"/>
            <a:ext cx="4194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dirty="0"/>
              <a:t>University Institute of Engineering (UIE)</a:t>
            </a:r>
            <a:endParaRPr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495BB88-27AE-4681-99B1-1C780E828FE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(S\u05AA{B77A30D0-7931-4982-8668-408EA18FF74A}&quot;,&quot;C:\\Users\\LENOVO\\Desktop\\Machine Learning  May-Dec2020\\PPTsNewForma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TRUE&quot;,&quot;language&quot;:&quot;EN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1"/>
  <p:tag name="ISPRING_FIRST_PUBLI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25646</TotalTime>
  <Words>3296</Words>
  <Application>Microsoft Office PowerPoint</Application>
  <PresentationFormat>On-screen Show (4:3)</PresentationFormat>
  <Paragraphs>354</Paragraphs>
  <Slides>50</Slides>
  <Notes>49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</vt:lpstr>
      <vt:lpstr>Arial Black</vt:lpstr>
      <vt:lpstr>Calibri</vt:lpstr>
      <vt:lpstr>Calibri Light</vt:lpstr>
      <vt:lpstr>Times New Roman</vt:lpstr>
      <vt:lpstr>Times-Roman</vt:lpstr>
      <vt:lpstr>Trebuchet MS</vt:lpstr>
      <vt:lpstr>Office Theme</vt:lpstr>
      <vt:lpstr>1_Office Theme</vt:lpstr>
      <vt:lpstr>CorelDRAW</vt:lpstr>
      <vt:lpstr>PowerPoint Presentation</vt:lpstr>
      <vt:lpstr>Unit 2 Content  </vt:lpstr>
      <vt:lpstr>PowerPoint Presentation</vt:lpstr>
      <vt:lpstr>OBJECTIVES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 Python Data Structures </vt:lpstr>
      <vt:lpstr>Outcomes</vt:lpstr>
      <vt:lpstr> Python Data Structures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dell</cp:lastModifiedBy>
  <cp:revision>1270</cp:revision>
  <dcterms:created xsi:type="dcterms:W3CDTF">2019-05-03T13:26:36Z</dcterms:created>
  <dcterms:modified xsi:type="dcterms:W3CDTF">2024-07-18T04:36:50Z</dcterms:modified>
</cp:coreProperties>
</file>