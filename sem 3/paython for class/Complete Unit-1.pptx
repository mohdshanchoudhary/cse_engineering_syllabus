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1"/>
  </p:notesMasterIdLst>
  <p:handoutMasterIdLst>
    <p:handoutMasterId r:id="rId82"/>
  </p:handoutMasterIdLst>
  <p:sldIdLst>
    <p:sldId id="310" r:id="rId2"/>
    <p:sldId id="257" r:id="rId3"/>
    <p:sldId id="258" r:id="rId4"/>
    <p:sldId id="261" r:id="rId5"/>
    <p:sldId id="263" r:id="rId6"/>
    <p:sldId id="265" r:id="rId7"/>
    <p:sldId id="266" r:id="rId8"/>
    <p:sldId id="267" r:id="rId9"/>
    <p:sldId id="268" r:id="rId10"/>
    <p:sldId id="269" r:id="rId11"/>
    <p:sldId id="271" r:id="rId12"/>
    <p:sldId id="272" r:id="rId13"/>
    <p:sldId id="273" r:id="rId14"/>
    <p:sldId id="274" r:id="rId15"/>
    <p:sldId id="275" r:id="rId16"/>
    <p:sldId id="276" r:id="rId17"/>
    <p:sldId id="455" r:id="rId18"/>
    <p:sldId id="325" r:id="rId19"/>
    <p:sldId id="280" r:id="rId20"/>
    <p:sldId id="281" r:id="rId21"/>
    <p:sldId id="282"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413" r:id="rId49"/>
    <p:sldId id="414" r:id="rId50"/>
    <p:sldId id="415" r:id="rId51"/>
    <p:sldId id="418" r:id="rId52"/>
    <p:sldId id="416" r:id="rId53"/>
    <p:sldId id="420" r:id="rId54"/>
    <p:sldId id="417" r:id="rId55"/>
    <p:sldId id="419" r:id="rId56"/>
    <p:sldId id="422" r:id="rId57"/>
    <p:sldId id="421" r:id="rId58"/>
    <p:sldId id="423" r:id="rId59"/>
    <p:sldId id="424" r:id="rId60"/>
    <p:sldId id="425" r:id="rId61"/>
    <p:sldId id="426" r:id="rId62"/>
    <p:sldId id="427" r:id="rId63"/>
    <p:sldId id="428" r:id="rId64"/>
    <p:sldId id="450" r:id="rId65"/>
    <p:sldId id="451" r:id="rId66"/>
    <p:sldId id="453" r:id="rId67"/>
    <p:sldId id="429" r:id="rId68"/>
    <p:sldId id="439" r:id="rId69"/>
    <p:sldId id="452" r:id="rId70"/>
    <p:sldId id="430" r:id="rId71"/>
    <p:sldId id="449" r:id="rId72"/>
    <p:sldId id="431" r:id="rId73"/>
    <p:sldId id="445" r:id="rId74"/>
    <p:sldId id="434" r:id="rId75"/>
    <p:sldId id="435" r:id="rId76"/>
    <p:sldId id="441" r:id="rId77"/>
    <p:sldId id="277" r:id="rId78"/>
    <p:sldId id="278" r:id="rId79"/>
    <p:sldId id="279" r:id="rId80"/>
  </p:sldIdLst>
  <p:sldSz cx="9144000" cy="6858000" type="screen4x3"/>
  <p:notesSz cx="9144000" cy="6858000"/>
  <p:embeddedFontLst>
    <p:embeddedFont>
      <p:font typeface="Arial Black" panose="020B0A04020102020204" pitchFamily="34" charset="0"/>
      <p:regular r:id="rId83"/>
      <p:bold r:id="rId84"/>
    </p:embeddedFont>
    <p:embeddedFont>
      <p:font typeface="Georgia" panose="02040502050405020303" pitchFamily="18" charset="0"/>
      <p:regular r:id="rId85"/>
      <p:bold r:id="rId86"/>
      <p:italic r:id="rId87"/>
      <p:boldItalic r:id="rId88"/>
    </p:embeddedFont>
    <p:embeddedFont>
      <p:font typeface="Lucida Sans" panose="020B0602030504020204" pitchFamily="34" charset="0"/>
      <p:regular r:id="rId89"/>
      <p:bold r:id="rId90"/>
      <p:italic r:id="rId91"/>
      <p:boldItalic r:id="rId92"/>
    </p:embeddedFont>
    <p:embeddedFont>
      <p:font typeface="Times" panose="02020603050405020304" pitchFamily="18" charset="0"/>
      <p:regular r:id="rId93"/>
      <p:bold r:id="rId94"/>
      <p:italic r:id="rId95"/>
      <p:boldItalic r:id="rId96"/>
    </p:embeddedFont>
    <p:embeddedFont>
      <p:font typeface="Trebuchet MS" panose="020B0603020202020204" pitchFamily="34" charset="0"/>
      <p:regular r:id="rId97"/>
      <p:bold r:id="rId98"/>
      <p:italic r:id="rId99"/>
      <p:boldItalic r:id="rId1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1"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6" autoAdjust="0"/>
    <p:restoredTop sz="94672"/>
  </p:normalViewPr>
  <p:slideViewPr>
    <p:cSldViewPr snapToGrid="0">
      <p:cViewPr varScale="1">
        <p:scale>
          <a:sx n="71" d="100"/>
          <a:sy n="71" d="100"/>
        </p:scale>
        <p:origin x="1694" y="4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font" Target="fonts/font5.fntdata"/><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handoutMaster" Target="handoutMasters/handoutMaster1.xml"/><Relationship Id="rId90" Type="http://schemas.openxmlformats.org/officeDocument/2006/relationships/font" Target="fonts/font8.fntdata"/><Relationship Id="rId95"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18.fntdata"/><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93" Type="http://schemas.openxmlformats.org/officeDocument/2006/relationships/font" Target="fonts/font11.fntdata"/><Relationship Id="rId98"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font" Target="fonts/font17.fntdata"/><Relationship Id="rId10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5.fntdata"/><Relationship Id="rId10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B83EF8-F5ED-0F66-779B-0015939DADCD}"/>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r>
              <a:rPr lang="en-US"/>
              <a:t>Department of Computer Sciend and Engineering (CSE)</a:t>
            </a:r>
            <a:endParaRPr lang="en-IN"/>
          </a:p>
        </p:txBody>
      </p:sp>
      <p:sp>
        <p:nvSpPr>
          <p:cNvPr id="3" name="Date Placeholder 2">
            <a:extLst>
              <a:ext uri="{FF2B5EF4-FFF2-40B4-BE49-F238E27FC236}">
                <a16:creationId xmlns:a16="http://schemas.microsoft.com/office/drawing/2014/main" id="{DDEEB1C2-799F-FCFE-1004-BC17F190B59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3DC85C56-4AB8-46C6-9EE0-8DAF5DAC7D32}" type="datetimeFigureOut">
              <a:rPr lang="en-IN" smtClean="0"/>
              <a:t>23-07-2024</a:t>
            </a:fld>
            <a:endParaRPr lang="en-IN"/>
          </a:p>
        </p:txBody>
      </p:sp>
      <p:sp>
        <p:nvSpPr>
          <p:cNvPr id="4" name="Footer Placeholder 3">
            <a:extLst>
              <a:ext uri="{FF2B5EF4-FFF2-40B4-BE49-F238E27FC236}">
                <a16:creationId xmlns:a16="http://schemas.microsoft.com/office/drawing/2014/main" id="{4DC880A7-969F-EA77-58E3-0C196454F645}"/>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185E6F4-1C90-7D92-2815-363700C3BA85}"/>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8DD01FD6-3556-49DD-B02B-C6D2D86FF838}" type="slidenum">
              <a:rPr lang="en-IN" smtClean="0"/>
              <a:t>‹#›</a:t>
            </a:fld>
            <a:endParaRPr lang="en-IN"/>
          </a:p>
        </p:txBody>
      </p:sp>
    </p:spTree>
    <p:extLst>
      <p:ext uri="{BB962C8B-B14F-4D97-AF65-F5344CB8AC3E}">
        <p14:creationId xmlns:p14="http://schemas.microsoft.com/office/powerpoint/2010/main" val="71966832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580" name="Google Shape;580;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548" name="Google Shape;54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7040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115" name="Google Shape;11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123" name="Google Shape;12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 name="Google Shape;12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131" name="Google Shape;13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2" name="Google Shape;13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149" name="Google Shape;14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0" name="Google Shape;15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159" name="Google Shape;15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 name="Google Shape;160;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168" name="Google Shape;16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8" name="Google Shape;178;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186" name="Google Shape;18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 name="Google Shape;18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194" name="Google Shape;19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202" name="Google Shape;20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3" name="Google Shape;213;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
        <p:nvSpPr>
          <p:cNvPr id="220" name="Google Shape;22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1" name="Google Shape;221;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
        <p:nvSpPr>
          <p:cNvPr id="229" name="Google Shape;22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0" name="Google Shape;230;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
        <p:nvSpPr>
          <p:cNvPr id="238" name="Google Shape;23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
        <p:nvSpPr>
          <p:cNvPr id="247" name="Google Shape;24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
        <p:nvSpPr>
          <p:cNvPr id="256" name="Google Shape;25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
        <p:nvSpPr>
          <p:cNvPr id="265" name="Google Shape;26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6" name="Google Shape;266;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
        <p:nvSpPr>
          <p:cNvPr id="274" name="Google Shape;27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5" name="Google Shape;275;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
        <p:nvSpPr>
          <p:cNvPr id="282" name="Google Shape;28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3" name="Google Shape;283;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
        <p:nvSpPr>
          <p:cNvPr id="291" name="Google Shape;29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
        <p:nvSpPr>
          <p:cNvPr id="300" name="Google Shape;30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1" name="Google Shape;301;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
        <p:nvSpPr>
          <p:cNvPr id="308" name="Google Shape;30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
        <p:nvSpPr>
          <p:cNvPr id="317" name="Google Shape;31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
        <p:nvSpPr>
          <p:cNvPr id="326" name="Google Shape;32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
        <p:nvSpPr>
          <p:cNvPr id="335" name="Google Shape;33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6" name="Google Shape;33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
        <p:nvSpPr>
          <p:cNvPr id="344" name="Google Shape;34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5" name="Google Shape;345;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
        <p:nvSpPr>
          <p:cNvPr id="353" name="Google Shape;35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4" name="Google Shape;354;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
        <p:nvSpPr>
          <p:cNvPr id="362" name="Google Shape;36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
        <p:nvSpPr>
          <p:cNvPr id="371" name="Google Shape;37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2" name="Google Shape;372;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48</a:t>
            </a:fld>
            <a:endParaRPr lang="en-US"/>
          </a:p>
        </p:txBody>
      </p:sp>
    </p:spTree>
    <p:extLst>
      <p:ext uri="{BB962C8B-B14F-4D97-AF65-F5344CB8AC3E}">
        <p14:creationId xmlns:p14="http://schemas.microsoft.com/office/powerpoint/2010/main" val="19708489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49</a:t>
            </a:fld>
            <a:endParaRPr lang="en-US"/>
          </a:p>
        </p:txBody>
      </p:sp>
    </p:spTree>
    <p:extLst>
      <p:ext uri="{BB962C8B-B14F-4D97-AF65-F5344CB8AC3E}">
        <p14:creationId xmlns:p14="http://schemas.microsoft.com/office/powerpoint/2010/main" val="3389574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50</a:t>
            </a:fld>
            <a:endParaRPr lang="en-US"/>
          </a:p>
        </p:txBody>
      </p:sp>
    </p:spTree>
    <p:extLst>
      <p:ext uri="{BB962C8B-B14F-4D97-AF65-F5344CB8AC3E}">
        <p14:creationId xmlns:p14="http://schemas.microsoft.com/office/powerpoint/2010/main" val="36304187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51</a:t>
            </a:fld>
            <a:endParaRPr lang="en-US"/>
          </a:p>
        </p:txBody>
      </p:sp>
    </p:spTree>
    <p:extLst>
      <p:ext uri="{BB962C8B-B14F-4D97-AF65-F5344CB8AC3E}">
        <p14:creationId xmlns:p14="http://schemas.microsoft.com/office/powerpoint/2010/main" val="28420619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52</a:t>
            </a:fld>
            <a:endParaRPr lang="en-US"/>
          </a:p>
        </p:txBody>
      </p:sp>
    </p:spTree>
    <p:extLst>
      <p:ext uri="{BB962C8B-B14F-4D97-AF65-F5344CB8AC3E}">
        <p14:creationId xmlns:p14="http://schemas.microsoft.com/office/powerpoint/2010/main" val="8292543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53</a:t>
            </a:fld>
            <a:endParaRPr lang="en-US"/>
          </a:p>
        </p:txBody>
      </p:sp>
    </p:spTree>
    <p:extLst>
      <p:ext uri="{BB962C8B-B14F-4D97-AF65-F5344CB8AC3E}">
        <p14:creationId xmlns:p14="http://schemas.microsoft.com/office/powerpoint/2010/main" val="27746382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54</a:t>
            </a:fld>
            <a:endParaRPr lang="en-US"/>
          </a:p>
        </p:txBody>
      </p:sp>
    </p:spTree>
    <p:extLst>
      <p:ext uri="{BB962C8B-B14F-4D97-AF65-F5344CB8AC3E}">
        <p14:creationId xmlns:p14="http://schemas.microsoft.com/office/powerpoint/2010/main" val="14207098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55</a:t>
            </a:fld>
            <a:endParaRPr lang="en-US"/>
          </a:p>
        </p:txBody>
      </p:sp>
    </p:spTree>
    <p:extLst>
      <p:ext uri="{BB962C8B-B14F-4D97-AF65-F5344CB8AC3E}">
        <p14:creationId xmlns:p14="http://schemas.microsoft.com/office/powerpoint/2010/main" val="4400464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56</a:t>
            </a:fld>
            <a:endParaRPr lang="en-US"/>
          </a:p>
        </p:txBody>
      </p:sp>
    </p:spTree>
    <p:extLst>
      <p:ext uri="{BB962C8B-B14F-4D97-AF65-F5344CB8AC3E}">
        <p14:creationId xmlns:p14="http://schemas.microsoft.com/office/powerpoint/2010/main" val="38505928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57</a:t>
            </a:fld>
            <a:endParaRPr lang="en-US"/>
          </a:p>
        </p:txBody>
      </p:sp>
    </p:spTree>
    <p:extLst>
      <p:ext uri="{BB962C8B-B14F-4D97-AF65-F5344CB8AC3E}">
        <p14:creationId xmlns:p14="http://schemas.microsoft.com/office/powerpoint/2010/main" val="36214779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58</a:t>
            </a:fld>
            <a:endParaRPr lang="en-US"/>
          </a:p>
        </p:txBody>
      </p:sp>
    </p:spTree>
    <p:extLst>
      <p:ext uri="{BB962C8B-B14F-4D97-AF65-F5344CB8AC3E}">
        <p14:creationId xmlns:p14="http://schemas.microsoft.com/office/powerpoint/2010/main" val="42252402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59</a:t>
            </a:fld>
            <a:endParaRPr lang="en-US"/>
          </a:p>
        </p:txBody>
      </p:sp>
    </p:spTree>
    <p:extLst>
      <p:ext uri="{BB962C8B-B14F-4D97-AF65-F5344CB8AC3E}">
        <p14:creationId xmlns:p14="http://schemas.microsoft.com/office/powerpoint/2010/main" val="17025907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60</a:t>
            </a:fld>
            <a:endParaRPr lang="en-US"/>
          </a:p>
        </p:txBody>
      </p:sp>
    </p:spTree>
    <p:extLst>
      <p:ext uri="{BB962C8B-B14F-4D97-AF65-F5344CB8AC3E}">
        <p14:creationId xmlns:p14="http://schemas.microsoft.com/office/powerpoint/2010/main" val="26698953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61</a:t>
            </a:fld>
            <a:endParaRPr lang="en-US"/>
          </a:p>
        </p:txBody>
      </p:sp>
    </p:spTree>
    <p:extLst>
      <p:ext uri="{BB962C8B-B14F-4D97-AF65-F5344CB8AC3E}">
        <p14:creationId xmlns:p14="http://schemas.microsoft.com/office/powerpoint/2010/main" val="8899639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62</a:t>
            </a:fld>
            <a:endParaRPr lang="en-US"/>
          </a:p>
        </p:txBody>
      </p:sp>
    </p:spTree>
    <p:extLst>
      <p:ext uri="{BB962C8B-B14F-4D97-AF65-F5344CB8AC3E}">
        <p14:creationId xmlns:p14="http://schemas.microsoft.com/office/powerpoint/2010/main" val="38376465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63</a:t>
            </a:fld>
            <a:endParaRPr lang="en-US"/>
          </a:p>
        </p:txBody>
      </p:sp>
    </p:spTree>
    <p:extLst>
      <p:ext uri="{BB962C8B-B14F-4D97-AF65-F5344CB8AC3E}">
        <p14:creationId xmlns:p14="http://schemas.microsoft.com/office/powerpoint/2010/main" val="13800188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1447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8405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66</a:t>
            </a:fld>
            <a:endParaRPr lang="en-US"/>
          </a:p>
        </p:txBody>
      </p:sp>
    </p:spTree>
    <p:extLst>
      <p:ext uri="{BB962C8B-B14F-4D97-AF65-F5344CB8AC3E}">
        <p14:creationId xmlns:p14="http://schemas.microsoft.com/office/powerpoint/2010/main" val="30536610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67</a:t>
            </a:fld>
            <a:endParaRPr lang="en-US"/>
          </a:p>
        </p:txBody>
      </p:sp>
    </p:spTree>
    <p:extLst>
      <p:ext uri="{BB962C8B-B14F-4D97-AF65-F5344CB8AC3E}">
        <p14:creationId xmlns:p14="http://schemas.microsoft.com/office/powerpoint/2010/main" val="38911913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68</a:t>
            </a:fld>
            <a:endParaRPr lang="en-US"/>
          </a:p>
        </p:txBody>
      </p:sp>
    </p:spTree>
    <p:extLst>
      <p:ext uri="{BB962C8B-B14F-4D97-AF65-F5344CB8AC3E}">
        <p14:creationId xmlns:p14="http://schemas.microsoft.com/office/powerpoint/2010/main" val="34175062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29694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70</a:t>
            </a:fld>
            <a:endParaRPr lang="en-US"/>
          </a:p>
        </p:txBody>
      </p:sp>
    </p:spTree>
    <p:extLst>
      <p:ext uri="{BB962C8B-B14F-4D97-AF65-F5344CB8AC3E}">
        <p14:creationId xmlns:p14="http://schemas.microsoft.com/office/powerpoint/2010/main" val="39770726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8592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72</a:t>
            </a:fld>
            <a:endParaRPr lang="en-US"/>
          </a:p>
        </p:txBody>
      </p:sp>
    </p:spTree>
    <p:extLst>
      <p:ext uri="{BB962C8B-B14F-4D97-AF65-F5344CB8AC3E}">
        <p14:creationId xmlns:p14="http://schemas.microsoft.com/office/powerpoint/2010/main" val="9090412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73</a:t>
            </a:fld>
            <a:endParaRPr lang="en-US"/>
          </a:p>
        </p:txBody>
      </p:sp>
    </p:spTree>
    <p:extLst>
      <p:ext uri="{BB962C8B-B14F-4D97-AF65-F5344CB8AC3E}">
        <p14:creationId xmlns:p14="http://schemas.microsoft.com/office/powerpoint/2010/main" val="38033278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74</a:t>
            </a:fld>
            <a:endParaRPr lang="en-US"/>
          </a:p>
        </p:txBody>
      </p:sp>
    </p:spTree>
    <p:extLst>
      <p:ext uri="{BB962C8B-B14F-4D97-AF65-F5344CB8AC3E}">
        <p14:creationId xmlns:p14="http://schemas.microsoft.com/office/powerpoint/2010/main" val="23800661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75</a:t>
            </a:fld>
            <a:endParaRPr lang="en-US"/>
          </a:p>
        </p:txBody>
      </p:sp>
    </p:spTree>
    <p:extLst>
      <p:ext uri="{BB962C8B-B14F-4D97-AF65-F5344CB8AC3E}">
        <p14:creationId xmlns:p14="http://schemas.microsoft.com/office/powerpoint/2010/main" val="235411242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3CB12C-8EC5-4844-89BA-0E6D4C45E875}" type="slidenum">
              <a:rPr lang="en-US"/>
              <a:pPr/>
              <a:t>76</a:t>
            </a:fld>
            <a:endParaRPr lang="en-US"/>
          </a:p>
        </p:txBody>
      </p:sp>
    </p:spTree>
    <p:extLst>
      <p:ext uri="{BB962C8B-B14F-4D97-AF65-F5344CB8AC3E}">
        <p14:creationId xmlns:p14="http://schemas.microsoft.com/office/powerpoint/2010/main" val="7560770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7" name="Google Shape;237;p2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University Institute of Engineering (UIE)</a:t>
            </a:r>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University Institute of Engineering (UIE)</a:t>
            </a:r>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University Institute of Engineering (UIE)</a:t>
            </a:r>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University Institute of Engineering (UIE)</a:t>
            </a:r>
            <a:endParaRPr/>
          </a:p>
        </p:txBody>
      </p:sp>
      <p:sp>
        <p:nvSpPr>
          <p:cNvPr id="48" name="Google Shape;48;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1_Title and Content">
    <p:bg>
      <p:bgPr>
        <a:pattFill prst="pct5">
          <a:fgClr>
            <a:schemeClr val="lt1"/>
          </a:fgClr>
          <a:bgClr>
            <a:schemeClr val="bg1"/>
          </a:bgClr>
        </a:pattFill>
        <a:effectLst/>
      </p:bgPr>
    </p:bg>
    <p:spTree>
      <p:nvGrpSpPr>
        <p:cNvPr id="1" name="Shape 23"/>
        <p:cNvGrpSpPr/>
        <p:nvPr/>
      </p:nvGrpSpPr>
      <p:grpSpPr>
        <a:xfrm>
          <a:off x="0" y="0"/>
          <a:ext cx="0" cy="0"/>
          <a:chOff x="0" y="0"/>
          <a:chExt cx="0" cy="0"/>
        </a:xfrm>
      </p:grpSpPr>
      <p:sp>
        <p:nvSpPr>
          <p:cNvPr id="24" name="Google Shape;24;p33"/>
          <p:cNvSpPr txBox="1">
            <a:spLocks noGrp="1"/>
          </p:cNvSpPr>
          <p:nvPr>
            <p:ph type="body" idx="1"/>
          </p:nvPr>
        </p:nvSpPr>
        <p:spPr>
          <a:xfrm>
            <a:off x="509588" y="1311275"/>
            <a:ext cx="7886700" cy="435133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5" name="Google Shape;25;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26" name="Google Shape;26;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27" name="Google Shape;27;p33"/>
          <p:cNvSpPr txBox="1"/>
          <p:nvPr/>
        </p:nvSpPr>
        <p:spPr>
          <a:xfrm>
            <a:off x="691754" y="115888"/>
            <a:ext cx="6268605" cy="869950"/>
          </a:xfrm>
          <a:prstGeom prst="rect">
            <a:avLst/>
          </a:prstGeom>
          <a:noFill/>
          <a:ln>
            <a:noFill/>
          </a:ln>
        </p:spPr>
        <p:txBody>
          <a:bodyPr spcFirstLastPara="1" wrap="square" lIns="68569" tIns="34275" rIns="68569" bIns="34275" anchor="ctr" anchorCtr="0">
            <a:normAutofit fontScale="97500"/>
          </a:bodyPr>
          <a:lstStyle/>
          <a:p>
            <a:pPr marL="0" marR="0" lvl="0" indent="0" algn="just" rtl="0">
              <a:lnSpc>
                <a:spcPct val="90000"/>
              </a:lnSpc>
              <a:spcBef>
                <a:spcPts val="0"/>
              </a:spcBef>
              <a:spcAft>
                <a:spcPts val="0"/>
              </a:spcAft>
              <a:buClr>
                <a:srgbClr val="1F3864"/>
              </a:buClr>
              <a:buSzPct val="100000"/>
              <a:buFont typeface="Times New Roman"/>
              <a:buNone/>
            </a:pPr>
            <a:r>
              <a:rPr lang="en-US" sz="3300" b="1" i="0" u="none" strike="noStrike" cap="small">
                <a:solidFill>
                  <a:srgbClr val="1F3864"/>
                </a:solidFill>
                <a:latin typeface="Times New Roman"/>
                <a:ea typeface="Times New Roman"/>
                <a:cs typeface="Times New Roman"/>
                <a:sym typeface="Times New Roman"/>
              </a:rPr>
              <a:t> </a:t>
            </a:r>
            <a:endParaRPr sz="3000" b="1" i="0" u="none" strike="noStrike" cap="small">
              <a:solidFill>
                <a:srgbClr val="1F3864"/>
              </a:solidFill>
              <a:latin typeface="Times New Roman"/>
              <a:ea typeface="Times New Roman"/>
              <a:cs typeface="Times New Roman"/>
              <a:sym typeface="Times New Roman"/>
            </a:endParaRPr>
          </a:p>
        </p:txBody>
      </p:sp>
      <p:pic>
        <p:nvPicPr>
          <p:cNvPr id="28" name="Google Shape;28;p33" descr="C:\Users\OM\Downloads\naac-sticker.png"/>
          <p:cNvPicPr preferRelativeResize="0"/>
          <p:nvPr/>
        </p:nvPicPr>
        <p:blipFill rotWithShape="1">
          <a:blip r:embed="rId2">
            <a:alphaModFix/>
          </a:blip>
          <a:srcRect b="23806"/>
          <a:stretch/>
        </p:blipFill>
        <p:spPr>
          <a:xfrm>
            <a:off x="7246961" y="40946"/>
            <a:ext cx="1886802" cy="682387"/>
          </a:xfrm>
          <a:prstGeom prst="rect">
            <a:avLst/>
          </a:prstGeom>
          <a:noFill/>
          <a:ln>
            <a:noFill/>
          </a:ln>
        </p:spPr>
      </p:pic>
    </p:spTree>
    <p:extLst>
      <p:ext uri="{BB962C8B-B14F-4D97-AF65-F5344CB8AC3E}">
        <p14:creationId xmlns:p14="http://schemas.microsoft.com/office/powerpoint/2010/main" val="2651795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64025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106955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320914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322472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207855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997286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629270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230222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295384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199921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2564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5088916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9258164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104458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475698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777051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1500514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6516621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2404715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1164109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7421302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42357289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866599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2836347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140" y="3022219"/>
            <a:ext cx="8681719" cy="138499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356355"/>
            <a:ext cx="2057400" cy="276999"/>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Footer Placeholder 4"/>
          <p:cNvSpPr>
            <a:spLocks noGrp="1"/>
          </p:cNvSpPr>
          <p:nvPr>
            <p:ph type="ftr" sz="quarter" idx="11"/>
          </p:nvPr>
        </p:nvSpPr>
        <p:spPr>
          <a:xfrm>
            <a:off x="3028950" y="6356355"/>
            <a:ext cx="3086100" cy="307777"/>
          </a:xfrm>
          <a:prstGeom prst="rect">
            <a:avLst/>
          </a:prstGeom>
        </p:spPr>
        <p:txBody>
          <a:bodyPr/>
          <a:lstStyle>
            <a:lvl1pPr eaLnBrk="1" fontAlgn="auto" hangingPunct="1">
              <a:spcBef>
                <a:spcPts val="0"/>
              </a:spcBef>
              <a:spcAft>
                <a:spcPts val="0"/>
              </a:spcAft>
              <a:defRPr>
                <a:latin typeface="+mn-lt"/>
              </a:defRPr>
            </a:lvl1pPr>
          </a:lstStyle>
          <a:p>
            <a:pPr>
              <a:defRPr/>
            </a:pPr>
            <a:r>
              <a:rPr lang="en-US"/>
              <a:t>University Institute of Engineering (UIE)</a:t>
            </a:r>
          </a:p>
        </p:txBody>
      </p:sp>
      <p:sp>
        <p:nvSpPr>
          <p:cNvPr id="9" name="Title 1"/>
          <p:cNvSpPr txBox="1">
            <a:spLocks/>
          </p:cNvSpPr>
          <p:nvPr userDrawn="1"/>
        </p:nvSpPr>
        <p:spPr bwMode="auto">
          <a:xfrm>
            <a:off x="691754" y="115888"/>
            <a:ext cx="626860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rmAutofit fontScale="97500"/>
          </a:bodyPr>
          <a:lstStyle/>
          <a:p>
            <a:pPr marL="0" marR="0" lvl="0" indent="0" algn="just" defTabSz="685766" rtl="0" eaLnBrk="0" fontAlgn="base" latinLnBrk="0" hangingPunct="0">
              <a:lnSpc>
                <a:spcPct val="90000"/>
              </a:lnSpc>
              <a:spcBef>
                <a:spcPct val="0"/>
              </a:spcBef>
              <a:spcAft>
                <a:spcPct val="0"/>
              </a:spcAft>
              <a:buClrTx/>
              <a:buSzTx/>
              <a:buFontTx/>
              <a:buNone/>
              <a:tabLst/>
              <a:defRPr/>
            </a:pPr>
            <a:r>
              <a:rPr kumimoji="0" lang="en-US" sz="33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3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a:srcRect b="23807"/>
          <a:stretch>
            <a:fillRect/>
          </a:stretch>
        </p:blipFill>
        <p:spPr bwMode="auto">
          <a:xfrm>
            <a:off x="7246961" y="40950"/>
            <a:ext cx="1886802" cy="682387"/>
          </a:xfrm>
          <a:prstGeom prst="rect">
            <a:avLst/>
          </a:prstGeom>
          <a:noFill/>
        </p:spPr>
      </p:pic>
    </p:spTree>
    <p:extLst>
      <p:ext uri="{BB962C8B-B14F-4D97-AF65-F5344CB8AC3E}">
        <p14:creationId xmlns:p14="http://schemas.microsoft.com/office/powerpoint/2010/main" val="3942612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8_Title and Content">
  <p:cSld name="26_Title and Content">
    <p:spTree>
      <p:nvGrpSpPr>
        <p:cNvPr id="1" name="Shape 46"/>
        <p:cNvGrpSpPr/>
        <p:nvPr/>
      </p:nvGrpSpPr>
      <p:grpSpPr>
        <a:xfrm>
          <a:off x="0" y="0"/>
          <a:ext cx="0" cy="0"/>
          <a:chOff x="0" y="0"/>
          <a:chExt cx="0" cy="0"/>
        </a:xfrm>
      </p:grpSpPr>
      <p:sp>
        <p:nvSpPr>
          <p:cNvPr id="47" name="Google Shape;47;p76"/>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48" name="Google Shape;48;p76"/>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6"/>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University Institute of Engineering (UIE)</a:t>
            </a:r>
            <a:endParaRPr/>
          </a:p>
        </p:txBody>
      </p:sp>
      <p:sp>
        <p:nvSpPr>
          <p:cNvPr id="50" name="Google Shape;50;p76"/>
          <p:cNvSpPr txBox="1"/>
          <p:nvPr/>
        </p:nvSpPr>
        <p:spPr>
          <a:xfrm>
            <a:off x="691754" y="115888"/>
            <a:ext cx="6268605" cy="869950"/>
          </a:xfrm>
          <a:prstGeom prst="rect">
            <a:avLst/>
          </a:prstGeom>
          <a:noFill/>
          <a:ln>
            <a:noFill/>
          </a:ln>
        </p:spPr>
        <p:txBody>
          <a:bodyPr spcFirstLastPara="1" wrap="square" lIns="51431" tIns="25706" rIns="51431" bIns="25706" anchor="ctr" anchorCtr="0">
            <a:normAutofit fontScale="97500"/>
          </a:bodyPr>
          <a:lstStyle/>
          <a:p>
            <a:pPr marL="0" marR="0" lvl="0" indent="0" algn="just" rtl="0">
              <a:lnSpc>
                <a:spcPct val="90000"/>
              </a:lnSpc>
              <a:spcBef>
                <a:spcPts val="0"/>
              </a:spcBef>
              <a:spcAft>
                <a:spcPts val="0"/>
              </a:spcAft>
              <a:buClr>
                <a:srgbClr val="205867"/>
              </a:buClr>
              <a:buSzPct val="100000"/>
              <a:buFont typeface="Times New Roman"/>
              <a:buNone/>
            </a:pPr>
            <a:r>
              <a:rPr lang="en-US" sz="2475" b="1" i="0" u="none" strike="noStrike" cap="small">
                <a:solidFill>
                  <a:srgbClr val="205867"/>
                </a:solidFill>
                <a:latin typeface="Times New Roman"/>
                <a:ea typeface="Times New Roman"/>
                <a:cs typeface="Times New Roman"/>
                <a:sym typeface="Times New Roman"/>
              </a:rPr>
              <a:t> </a:t>
            </a:r>
            <a:endParaRPr sz="2250" b="1" i="0" u="none" strike="noStrike" cap="small">
              <a:solidFill>
                <a:srgbClr val="205867"/>
              </a:solidFill>
              <a:latin typeface="Times New Roman"/>
              <a:ea typeface="Times New Roman"/>
              <a:cs typeface="Times New Roman"/>
              <a:sym typeface="Times New Roman"/>
            </a:endParaRPr>
          </a:p>
        </p:txBody>
      </p:sp>
      <p:pic>
        <p:nvPicPr>
          <p:cNvPr id="51" name="Google Shape;51;p76" descr="C:\Users\OM\Downloads\naac-sticker.png"/>
          <p:cNvPicPr preferRelativeResize="0"/>
          <p:nvPr/>
        </p:nvPicPr>
        <p:blipFill rotWithShape="1">
          <a:blip r:embed="rId2">
            <a:alphaModFix/>
          </a:blip>
          <a:srcRect b="23806"/>
          <a:stretch/>
        </p:blipFill>
        <p:spPr>
          <a:xfrm>
            <a:off x="7246961" y="40948"/>
            <a:ext cx="1886802" cy="682387"/>
          </a:xfrm>
          <a:prstGeom prst="rect">
            <a:avLst/>
          </a:prstGeom>
          <a:noFill/>
          <a:ln>
            <a:noFill/>
          </a:ln>
        </p:spPr>
      </p:pic>
    </p:spTree>
    <p:extLst>
      <p:ext uri="{BB962C8B-B14F-4D97-AF65-F5344CB8AC3E}">
        <p14:creationId xmlns:p14="http://schemas.microsoft.com/office/powerpoint/2010/main" val="1481923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1_Title and Content">
  <p:cSld name="26_Title and Content">
    <p:spTree>
      <p:nvGrpSpPr>
        <p:cNvPr id="1" name="Shape 76"/>
        <p:cNvGrpSpPr/>
        <p:nvPr/>
      </p:nvGrpSpPr>
      <p:grpSpPr>
        <a:xfrm>
          <a:off x="0" y="0"/>
          <a:ext cx="0" cy="0"/>
          <a:chOff x="0" y="0"/>
          <a:chExt cx="0" cy="0"/>
        </a:xfrm>
      </p:grpSpPr>
      <p:sp>
        <p:nvSpPr>
          <p:cNvPr id="77" name="Google Shape;77;p81"/>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78" name="Google Shape;78;p8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University Institute of Engineering (UIE)</a:t>
            </a:r>
            <a:endParaRPr/>
          </a:p>
        </p:txBody>
      </p:sp>
      <p:sp>
        <p:nvSpPr>
          <p:cNvPr id="80" name="Google Shape;80;p81"/>
          <p:cNvSpPr txBox="1"/>
          <p:nvPr/>
        </p:nvSpPr>
        <p:spPr>
          <a:xfrm>
            <a:off x="691754" y="115888"/>
            <a:ext cx="6268605" cy="869950"/>
          </a:xfrm>
          <a:prstGeom prst="rect">
            <a:avLst/>
          </a:prstGeom>
          <a:noFill/>
          <a:ln>
            <a:noFill/>
          </a:ln>
        </p:spPr>
        <p:txBody>
          <a:bodyPr spcFirstLastPara="1" wrap="square" lIns="68569" tIns="34275" rIns="68569" bIns="34275" anchor="ctr" anchorCtr="0">
            <a:normAutofit fontScale="97500"/>
          </a:bodyPr>
          <a:lstStyle/>
          <a:p>
            <a:pPr marL="0" marR="0" lvl="0" indent="0" algn="just" rtl="0">
              <a:lnSpc>
                <a:spcPct val="90000"/>
              </a:lnSpc>
              <a:spcBef>
                <a:spcPts val="0"/>
              </a:spcBef>
              <a:spcAft>
                <a:spcPts val="0"/>
              </a:spcAft>
              <a:buClr>
                <a:srgbClr val="205867"/>
              </a:buClr>
              <a:buSzPct val="100000"/>
              <a:buFont typeface="Times New Roman"/>
              <a:buNone/>
            </a:pPr>
            <a:r>
              <a:rPr lang="en-US" sz="3300" b="1" i="0" u="none" strike="noStrike" cap="small">
                <a:solidFill>
                  <a:srgbClr val="205867"/>
                </a:solidFill>
                <a:latin typeface="Times New Roman"/>
                <a:ea typeface="Times New Roman"/>
                <a:cs typeface="Times New Roman"/>
                <a:sym typeface="Times New Roman"/>
              </a:rPr>
              <a:t> </a:t>
            </a:r>
            <a:endParaRPr sz="3000" b="1" i="0" u="none" strike="noStrike" cap="small">
              <a:solidFill>
                <a:srgbClr val="205867"/>
              </a:solidFill>
              <a:latin typeface="Times New Roman"/>
              <a:ea typeface="Times New Roman"/>
              <a:cs typeface="Times New Roman"/>
              <a:sym typeface="Times New Roman"/>
            </a:endParaRPr>
          </a:p>
        </p:txBody>
      </p:sp>
      <p:pic>
        <p:nvPicPr>
          <p:cNvPr id="81" name="Google Shape;81;p81" descr="C:\Users\OM\Downloads\naac-sticker.png"/>
          <p:cNvPicPr preferRelativeResize="0"/>
          <p:nvPr/>
        </p:nvPicPr>
        <p:blipFill rotWithShape="1">
          <a:blip r:embed="rId2">
            <a:alphaModFix/>
          </a:blip>
          <a:srcRect b="23806"/>
          <a:stretch/>
        </p:blipFill>
        <p:spPr>
          <a:xfrm>
            <a:off x="7246961" y="40946"/>
            <a:ext cx="1886802" cy="682387"/>
          </a:xfrm>
          <a:prstGeom prst="rect">
            <a:avLst/>
          </a:prstGeom>
          <a:noFill/>
          <a:ln>
            <a:noFill/>
          </a:ln>
        </p:spPr>
      </p:pic>
    </p:spTree>
    <p:extLst>
      <p:ext uri="{BB962C8B-B14F-4D97-AF65-F5344CB8AC3E}">
        <p14:creationId xmlns:p14="http://schemas.microsoft.com/office/powerpoint/2010/main" val="1930771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_Title and Content">
  <p:cSld name="26_Title and Content">
    <p:spTree>
      <p:nvGrpSpPr>
        <p:cNvPr id="1" name="Shape 21"/>
        <p:cNvGrpSpPr/>
        <p:nvPr/>
      </p:nvGrpSpPr>
      <p:grpSpPr>
        <a:xfrm>
          <a:off x="0" y="0"/>
          <a:ext cx="0" cy="0"/>
          <a:chOff x="0" y="0"/>
          <a:chExt cx="0" cy="0"/>
        </a:xfrm>
      </p:grpSpPr>
      <p:sp>
        <p:nvSpPr>
          <p:cNvPr id="22" name="Google Shape;22;p72"/>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3" name="Google Shape;23;p72"/>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72"/>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University Institute of Engineering (UIE)</a:t>
            </a:r>
            <a:endParaRPr/>
          </a:p>
        </p:txBody>
      </p:sp>
      <p:sp>
        <p:nvSpPr>
          <p:cNvPr id="25" name="Google Shape;25;p72"/>
          <p:cNvSpPr txBox="1"/>
          <p:nvPr/>
        </p:nvSpPr>
        <p:spPr>
          <a:xfrm>
            <a:off x="691754" y="115888"/>
            <a:ext cx="6268605" cy="869950"/>
          </a:xfrm>
          <a:prstGeom prst="rect">
            <a:avLst/>
          </a:prstGeom>
          <a:noFill/>
          <a:ln>
            <a:noFill/>
          </a:ln>
        </p:spPr>
        <p:txBody>
          <a:bodyPr spcFirstLastPara="1" wrap="square" lIns="51431" tIns="25706" rIns="51431" bIns="25706" anchor="ctr" anchorCtr="0">
            <a:normAutofit fontScale="97500"/>
          </a:bodyPr>
          <a:lstStyle/>
          <a:p>
            <a:pPr marL="0" marR="0" lvl="0" indent="0" algn="just" rtl="0">
              <a:lnSpc>
                <a:spcPct val="90000"/>
              </a:lnSpc>
              <a:spcBef>
                <a:spcPts val="0"/>
              </a:spcBef>
              <a:spcAft>
                <a:spcPts val="0"/>
              </a:spcAft>
              <a:buClr>
                <a:srgbClr val="205867"/>
              </a:buClr>
              <a:buSzPct val="100000"/>
              <a:buFont typeface="Times New Roman"/>
              <a:buNone/>
            </a:pPr>
            <a:r>
              <a:rPr lang="en-US" sz="2475" b="1" i="0" u="none" strike="noStrike" cap="small">
                <a:solidFill>
                  <a:srgbClr val="205867"/>
                </a:solidFill>
                <a:latin typeface="Times New Roman"/>
                <a:ea typeface="Times New Roman"/>
                <a:cs typeface="Times New Roman"/>
                <a:sym typeface="Times New Roman"/>
              </a:rPr>
              <a:t> </a:t>
            </a:r>
            <a:endParaRPr sz="2250" b="1" i="0" u="none" strike="noStrike" cap="small">
              <a:solidFill>
                <a:srgbClr val="205867"/>
              </a:solidFill>
              <a:latin typeface="Times New Roman"/>
              <a:ea typeface="Times New Roman"/>
              <a:cs typeface="Times New Roman"/>
              <a:sym typeface="Times New Roman"/>
            </a:endParaRPr>
          </a:p>
        </p:txBody>
      </p:sp>
      <p:pic>
        <p:nvPicPr>
          <p:cNvPr id="26" name="Google Shape;26;p72" descr="C:\Users\OM\Downloads\naac-sticker.png"/>
          <p:cNvPicPr preferRelativeResize="0"/>
          <p:nvPr/>
        </p:nvPicPr>
        <p:blipFill rotWithShape="1">
          <a:blip r:embed="rId2">
            <a:alphaModFix/>
          </a:blip>
          <a:srcRect b="23806"/>
          <a:stretch/>
        </p:blipFill>
        <p:spPr>
          <a:xfrm>
            <a:off x="7246961" y="40948"/>
            <a:ext cx="1886802" cy="682387"/>
          </a:xfrm>
          <a:prstGeom prst="rect">
            <a:avLst/>
          </a:prstGeom>
          <a:noFill/>
          <a:ln>
            <a:noFill/>
          </a:ln>
        </p:spPr>
      </p:pic>
    </p:spTree>
    <p:extLst>
      <p:ext uri="{BB962C8B-B14F-4D97-AF65-F5344CB8AC3E}">
        <p14:creationId xmlns:p14="http://schemas.microsoft.com/office/powerpoint/2010/main" val="2281982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3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3" r:id="rId32"/>
    <p:sldLayoutId id="2147483684" r:id="rId33"/>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www.programiz.com/python-programming/string" TargetMode="External"/><Relationship Id="rId7" Type="http://schemas.openxmlformats.org/officeDocument/2006/relationships/hyperlink" Target="https://www.programiz.com/python-programming/dictionary" TargetMode="External"/><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hyperlink" Target="https://www.programiz.com/python-programming/set" TargetMode="External"/><Relationship Id="rId5" Type="http://schemas.openxmlformats.org/officeDocument/2006/relationships/hyperlink" Target="https://www.programiz.com/python-programming/tuple" TargetMode="External"/><Relationship Id="rId4" Type="http://schemas.openxmlformats.org/officeDocument/2006/relationships/hyperlink" Target="https://www.programiz.com/python-programming/list"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8.xml"/><Relationship Id="rId1" Type="http://schemas.openxmlformats.org/officeDocument/2006/relationships/slideLayout" Target="../slideLayouts/slideLayout17.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22.xml"/><Relationship Id="rId4" Type="http://schemas.openxmlformats.org/officeDocument/2006/relationships/image" Target="../media/image50.png"/></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6.xml"/><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9.xml"/><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1.xml"/><Relationship Id="rId1" Type="http://schemas.openxmlformats.org/officeDocument/2006/relationships/slideLayout" Target="../slideLayouts/slideLayout26.xml"/><Relationship Id="rId4" Type="http://schemas.openxmlformats.org/officeDocument/2006/relationships/image" Target="../media/image5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3.xml"/><Relationship Id="rId1" Type="http://schemas.openxmlformats.org/officeDocument/2006/relationships/slideLayout" Target="../slideLayouts/slideLayout28.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4.xml"/><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5.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3.xml"/><Relationship Id="rId5" Type="http://schemas.openxmlformats.org/officeDocument/2006/relationships/image" Target="../media/image63.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D1AA1F-716D-ACE6-53B5-2BF7E2F52E49}"/>
              </a:ext>
            </a:extLst>
          </p:cNvPr>
          <p:cNvSpPr txBox="1"/>
          <p:nvPr/>
        </p:nvSpPr>
        <p:spPr>
          <a:xfrm>
            <a:off x="1432560" y="1181551"/>
            <a:ext cx="6441440" cy="3308598"/>
          </a:xfrm>
          <a:prstGeom prst="rect">
            <a:avLst/>
          </a:prstGeom>
          <a:noFill/>
        </p:spPr>
        <p:txBody>
          <a:bodyPr wrap="square">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Programming in Python Lab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(23CSP-201)</a:t>
            </a:r>
          </a:p>
        </p:txBody>
      </p:sp>
      <p:sp>
        <p:nvSpPr>
          <p:cNvPr id="7" name="Google Shape;77;p2">
            <a:extLst>
              <a:ext uri="{FF2B5EF4-FFF2-40B4-BE49-F238E27FC236}">
                <a16:creationId xmlns:a16="http://schemas.microsoft.com/office/drawing/2014/main" id="{1BD1F61B-0E13-D0A4-E0DE-B2AAF5AB37BC}"/>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8" name="Object 7">
            <a:extLst>
              <a:ext uri="{FF2B5EF4-FFF2-40B4-BE49-F238E27FC236}">
                <a16:creationId xmlns:a16="http://schemas.microsoft.com/office/drawing/2014/main" id="{F8BA1BA9-CFEB-8A93-466E-63DC7F3ED149}"/>
              </a:ext>
            </a:extLst>
          </p:cNvPr>
          <p:cNvGraphicFramePr>
            <a:graphicFrameLocks noChangeAspect="1"/>
          </p:cNvGraphicFramePr>
          <p:nvPr>
            <p:extLst>
              <p:ext uri="{D42A27DB-BD31-4B8C-83A1-F6EECF244321}">
                <p14:modId xmlns:p14="http://schemas.microsoft.com/office/powerpoint/2010/main" val="3436113284"/>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8" name="Object 7">
                        <a:extLst>
                          <a:ext uri="{FF2B5EF4-FFF2-40B4-BE49-F238E27FC236}">
                            <a16:creationId xmlns:a16="http://schemas.microsoft.com/office/drawing/2014/main" id="{F8BA1BA9-CFEB-8A93-466E-63DC7F3ED149}"/>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9" name="Google Shape;62;p1">
            <a:extLst>
              <a:ext uri="{FF2B5EF4-FFF2-40B4-BE49-F238E27FC236}">
                <a16:creationId xmlns:a16="http://schemas.microsoft.com/office/drawing/2014/main" id="{F35E5FF2-69AA-06A8-E10E-118E993ACED1}"/>
              </a:ext>
            </a:extLst>
          </p:cNvPr>
          <p:cNvSpPr txBox="1"/>
          <p:nvPr/>
        </p:nvSpPr>
        <p:spPr>
          <a:xfrm>
            <a:off x="5882640" y="5150192"/>
            <a:ext cx="283464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595959"/>
                </a:solidFill>
                <a:latin typeface="Arial"/>
                <a:ea typeface="Arial"/>
                <a:cs typeface="Arial"/>
                <a:sym typeface="Arial"/>
              </a:rPr>
              <a:t>DISCOVER . </a:t>
            </a:r>
            <a:r>
              <a:rPr lang="en-US" sz="2000" b="1" i="0" u="none" strike="noStrike" cap="none" dirty="0">
                <a:solidFill>
                  <a:srgbClr val="C00000"/>
                </a:solidFill>
                <a:latin typeface="Arial"/>
                <a:ea typeface="Arial"/>
                <a:cs typeface="Arial"/>
                <a:sym typeface="Arial"/>
              </a:rPr>
              <a:t>LEARN</a:t>
            </a:r>
            <a:r>
              <a:rPr lang="en-US" sz="2000" b="1" i="0" u="none" strike="noStrike" cap="none" dirty="0">
                <a:solidFill>
                  <a:srgbClr val="595959"/>
                </a:solidFill>
                <a:latin typeface="Arial"/>
                <a:ea typeface="Arial"/>
                <a:cs typeface="Arial"/>
                <a:sym typeface="Arial"/>
              </a:rPr>
              <a:t> . EMPOWER</a:t>
            </a:r>
            <a:endParaRPr sz="12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Arial"/>
              <a:ea typeface="Arial"/>
              <a:cs typeface="Arial"/>
              <a:sym typeface="Arial"/>
            </a:endParaRPr>
          </a:p>
        </p:txBody>
      </p:sp>
      <p:sp>
        <p:nvSpPr>
          <p:cNvPr id="10" name="Google Shape;61;p1">
            <a:extLst>
              <a:ext uri="{FF2B5EF4-FFF2-40B4-BE49-F238E27FC236}">
                <a16:creationId xmlns:a16="http://schemas.microsoft.com/office/drawing/2014/main" id="{A5E5A580-10B3-7F22-9F18-0B768FE9D61D}"/>
              </a:ext>
            </a:extLst>
          </p:cNvPr>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821CFE44-82F0-9997-3A63-3D62153B3BDB}"/>
              </a:ext>
            </a:extLst>
          </p:cNvPr>
          <p:cNvSpPr>
            <a:spLocks noGrp="1"/>
          </p:cNvSpPr>
          <p:nvPr>
            <p:ph type="ftr" idx="11"/>
          </p:nvPr>
        </p:nvSpPr>
        <p:spPr>
          <a:xfrm>
            <a:off x="2475357" y="6539204"/>
            <a:ext cx="4194809" cy="246221"/>
          </a:xfrm>
        </p:spPr>
        <p:txBody>
          <a:bodyPr/>
          <a:lstStyle/>
          <a:p>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26678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a:spLocks noGrp="1"/>
          </p:cNvSpPr>
          <p:nvPr>
            <p:ph type="body" idx="1"/>
          </p:nvPr>
        </p:nvSpPr>
        <p:spPr>
          <a:xfrm>
            <a:off x="4703763" y="1028700"/>
            <a:ext cx="3668712" cy="4873625"/>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1400"/>
              <a:buNone/>
            </a:pPr>
            <a:endParaRPr sz="2400">
              <a:latin typeface="Arial"/>
              <a:ea typeface="Arial"/>
              <a:cs typeface="Arial"/>
              <a:sym typeface="Arial"/>
            </a:endParaRPr>
          </a:p>
          <a:p>
            <a:pPr marL="0" lvl="0" indent="0" algn="l" rtl="0">
              <a:lnSpc>
                <a:spcPct val="100000"/>
              </a:lnSpc>
              <a:spcBef>
                <a:spcPts val="0"/>
              </a:spcBef>
              <a:spcAft>
                <a:spcPts val="0"/>
              </a:spcAft>
              <a:buSzPts val="1400"/>
              <a:buNone/>
            </a:pPr>
            <a:endParaRPr sz="2400">
              <a:latin typeface="Arial"/>
              <a:ea typeface="Arial"/>
              <a:cs typeface="Arial"/>
              <a:sym typeface="Arial"/>
            </a:endParaRPr>
          </a:p>
        </p:txBody>
      </p:sp>
      <p:sp>
        <p:nvSpPr>
          <p:cNvPr id="73" name="Google Shape;73;p2"/>
          <p:cNvSpPr/>
          <p:nvPr/>
        </p:nvSpPr>
        <p:spPr>
          <a:xfrm>
            <a:off x="4508500" y="838200"/>
            <a:ext cx="3863975" cy="551815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 name="Google Shape;74;p2"/>
          <p:cNvSpPr/>
          <p:nvPr/>
        </p:nvSpPr>
        <p:spPr>
          <a:xfrm>
            <a:off x="1444625" y="714580"/>
            <a:ext cx="2749550" cy="4603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Course Outcome </a:t>
            </a:r>
            <a:endParaRPr sz="1400" b="0" i="0" u="none" strike="noStrike" cap="none">
              <a:solidFill>
                <a:srgbClr val="000000"/>
              </a:solidFill>
              <a:latin typeface="Arial"/>
              <a:ea typeface="Arial"/>
              <a:cs typeface="Arial"/>
              <a:sym typeface="Arial"/>
            </a:endParaRPr>
          </a:p>
        </p:txBody>
      </p:sp>
      <p:cxnSp>
        <p:nvCxnSpPr>
          <p:cNvPr id="75" name="Google Shape;75;p2"/>
          <p:cNvCxnSpPr>
            <a:cxnSpLocks/>
          </p:cNvCxnSpPr>
          <p:nvPr/>
        </p:nvCxnSpPr>
        <p:spPr>
          <a:xfrm>
            <a:off x="4038599" y="2329068"/>
            <a:ext cx="1855575" cy="1899"/>
          </a:xfrm>
          <a:prstGeom prst="straightConnector1">
            <a:avLst/>
          </a:prstGeom>
          <a:noFill/>
          <a:ln w="9525" cap="flat" cmpd="sng">
            <a:solidFill>
              <a:srgbClr val="4A7DBA"/>
            </a:solidFill>
            <a:prstDash val="solid"/>
            <a:round/>
            <a:headEnd type="none" w="sm" len="sm"/>
            <a:tailEnd type="triangle" w="med" len="med"/>
          </a:ln>
        </p:spPr>
      </p:cxnSp>
      <p:sp>
        <p:nvSpPr>
          <p:cNvPr id="76" name="Google Shape;76;p2"/>
          <p:cNvSpPr/>
          <p:nvPr/>
        </p:nvSpPr>
        <p:spPr>
          <a:xfrm>
            <a:off x="5894174" y="2182813"/>
            <a:ext cx="2017712" cy="94297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Will be covered in this lecture</a:t>
            </a:r>
            <a:endParaRPr sz="1400" b="0" i="0" u="none" strike="noStrike" cap="none" dirty="0">
              <a:solidFill>
                <a:srgbClr val="000000"/>
              </a:solidFill>
              <a:latin typeface="Arial"/>
              <a:ea typeface="Arial"/>
              <a:cs typeface="Arial"/>
              <a:sym typeface="Arial"/>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1CB59663-5C97-D3F6-224F-32ED3CC25E75}"/>
              </a:ext>
            </a:extLst>
          </p:cNvPr>
          <p:cNvGraphicFramePr>
            <a:graphicFrameLocks noGrp="1"/>
          </p:cNvGraphicFramePr>
          <p:nvPr>
            <p:extLst>
              <p:ext uri="{D42A27DB-BD31-4B8C-83A1-F6EECF244321}">
                <p14:modId xmlns:p14="http://schemas.microsoft.com/office/powerpoint/2010/main" val="3591002808"/>
              </p:ext>
            </p:extLst>
          </p:nvPr>
        </p:nvGraphicFramePr>
        <p:xfrm>
          <a:off x="558800" y="2082801"/>
          <a:ext cx="3479799" cy="3908423"/>
        </p:xfrm>
        <a:graphic>
          <a:graphicData uri="http://schemas.openxmlformats.org/drawingml/2006/table">
            <a:tbl>
              <a:tblPr firstRow="1" firstCol="1" lastRow="1" lastCol="1" bandRow="1" bandCol="1">
                <a:tableStyleId>{616DA210-FB5B-4158-B5E0-FEB733F419BA}</a:tableStyleId>
              </a:tblPr>
              <a:tblGrid>
                <a:gridCol w="609600">
                  <a:extLst>
                    <a:ext uri="{9D8B030D-6E8A-4147-A177-3AD203B41FA5}">
                      <a16:colId xmlns:a16="http://schemas.microsoft.com/office/drawing/2014/main" val="3700513846"/>
                    </a:ext>
                  </a:extLst>
                </a:gridCol>
                <a:gridCol w="2870199">
                  <a:extLst>
                    <a:ext uri="{9D8B030D-6E8A-4147-A177-3AD203B41FA5}">
                      <a16:colId xmlns:a16="http://schemas.microsoft.com/office/drawing/2014/main" val="1473955338"/>
                    </a:ext>
                  </a:extLst>
                </a:gridCol>
              </a:tblGrid>
              <a:tr h="556712">
                <a:tc>
                  <a:txBody>
                    <a:bodyPr/>
                    <a:lstStyle/>
                    <a:p>
                      <a:pPr marL="67945">
                        <a:lnSpc>
                          <a:spcPts val="1360"/>
                        </a:lnSpc>
                      </a:pPr>
                      <a:r>
                        <a:rPr lang="en-US" sz="1200">
                          <a:effectLst/>
                        </a:rPr>
                        <a:t>CO1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0"/>
                        </a:lnSpc>
                      </a:pPr>
                      <a:r>
                        <a:rPr lang="en-US" sz="1100" dirty="0">
                          <a:effectLst/>
                        </a:rPr>
                        <a:t>Describe the basic fundamentals of python programming.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947419067"/>
                  </a:ext>
                </a:extLst>
              </a:tr>
              <a:tr h="560525">
                <a:tc>
                  <a:txBody>
                    <a:bodyPr/>
                    <a:lstStyle/>
                    <a:p>
                      <a:pPr marL="67945">
                        <a:lnSpc>
                          <a:spcPts val="1365"/>
                        </a:lnSpc>
                        <a:spcBef>
                          <a:spcPts val="5"/>
                        </a:spcBef>
                      </a:pPr>
                      <a:r>
                        <a:rPr lang="en-US" sz="1200">
                          <a:effectLst/>
                        </a:rPr>
                        <a:t>CO2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5"/>
                        </a:lnSpc>
                        <a:spcBef>
                          <a:spcPts val="5"/>
                        </a:spcBef>
                      </a:pPr>
                      <a:r>
                        <a:rPr lang="en-US" sz="1100">
                          <a:effectLst/>
                        </a:rPr>
                        <a:t>Apply the python programming for Arithmetic, Logical and sorting operations.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490197"/>
                  </a:ext>
                </a:extLst>
              </a:tr>
              <a:tr h="556712">
                <a:tc>
                  <a:txBody>
                    <a:bodyPr/>
                    <a:lstStyle/>
                    <a:p>
                      <a:pPr marL="67945">
                        <a:lnSpc>
                          <a:spcPts val="1360"/>
                        </a:lnSpc>
                      </a:pPr>
                      <a:r>
                        <a:rPr lang="en-US" sz="1200">
                          <a:effectLst/>
                        </a:rPr>
                        <a:t>CO3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0"/>
                        </a:lnSpc>
                      </a:pPr>
                      <a:r>
                        <a:rPr lang="en-US" sz="1100">
                          <a:effectLst/>
                        </a:rPr>
                        <a:t>Analyze python programming loops &amp; methods for data manipulation.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3492221"/>
                  </a:ext>
                </a:extLst>
              </a:tr>
              <a:tr h="1115330">
                <a:tc>
                  <a:txBody>
                    <a:bodyPr/>
                    <a:lstStyle/>
                    <a:p>
                      <a:pPr marL="67945">
                        <a:lnSpc>
                          <a:spcPts val="1460"/>
                        </a:lnSpc>
                      </a:pPr>
                      <a:r>
                        <a:rPr lang="en-US" sz="1200">
                          <a:effectLst/>
                        </a:rPr>
                        <a:t>CO4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ct val="107000"/>
                        </a:lnSpc>
                      </a:pPr>
                      <a:r>
                        <a:rPr lang="en-IN" sz="1100" dirty="0">
                          <a:effectLst/>
                        </a:rPr>
                        <a:t>Use the Python programming language for various programming techniques like list,</a:t>
                      </a:r>
                    </a:p>
                    <a:p>
                      <a:pPr marL="67945">
                        <a:lnSpc>
                          <a:spcPts val="1365"/>
                        </a:lnSpc>
                      </a:pPr>
                      <a:r>
                        <a:rPr lang="en-US" sz="1100" dirty="0">
                          <a:effectLst/>
                        </a:rPr>
                        <a:t>tuples, dictionaries etc.</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6496924"/>
                  </a:ext>
                </a:extLst>
              </a:tr>
              <a:tr h="1119144">
                <a:tc>
                  <a:txBody>
                    <a:bodyPr/>
                    <a:lstStyle/>
                    <a:p>
                      <a:pPr marL="67945">
                        <a:lnSpc>
                          <a:spcPts val="1460"/>
                        </a:lnSpc>
                      </a:pPr>
                      <a:r>
                        <a:rPr lang="en-US" sz="1200">
                          <a:effectLst/>
                        </a:rPr>
                        <a:t>CO5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ct val="107000"/>
                        </a:lnSpc>
                      </a:pPr>
                      <a:r>
                        <a:rPr lang="en-IN" sz="1100" dirty="0">
                          <a:effectLst/>
                        </a:rPr>
                        <a:t>Develop application software using object-oriented programming techniques in the</a:t>
                      </a:r>
                    </a:p>
                    <a:p>
                      <a:pPr marL="67945">
                        <a:lnSpc>
                          <a:spcPts val="1375"/>
                        </a:lnSpc>
                      </a:pPr>
                      <a:r>
                        <a:rPr lang="en-US" sz="1100" dirty="0">
                          <a:effectLst/>
                        </a:rPr>
                        <a:t>Python language.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799869214"/>
                  </a:ext>
                </a:extLst>
              </a:tr>
            </a:tbl>
          </a:graphicData>
        </a:graphic>
      </p:graphicFrame>
      <p:cxnSp>
        <p:nvCxnSpPr>
          <p:cNvPr id="4" name="Google Shape;75;p2">
            <a:extLst>
              <a:ext uri="{FF2B5EF4-FFF2-40B4-BE49-F238E27FC236}">
                <a16:creationId xmlns:a16="http://schemas.microsoft.com/office/drawing/2014/main" id="{324B2F55-2F2D-F2F3-2E9D-64BA892F13F6}"/>
              </a:ext>
            </a:extLst>
          </p:cNvPr>
          <p:cNvCxnSpPr>
            <a:cxnSpLocks/>
          </p:cNvCxnSpPr>
          <p:nvPr/>
        </p:nvCxnSpPr>
        <p:spPr>
          <a:xfrm>
            <a:off x="4038602" y="2950672"/>
            <a:ext cx="1855572" cy="0"/>
          </a:xfrm>
          <a:prstGeom prst="straightConnector1">
            <a:avLst/>
          </a:prstGeom>
          <a:noFill/>
          <a:ln w="9525" cap="flat" cmpd="sng">
            <a:solidFill>
              <a:srgbClr val="4A7DBA"/>
            </a:solidFill>
            <a:prstDash val="solid"/>
            <a:round/>
            <a:headEnd type="none" w="sm" len="sm"/>
            <a:tailEnd type="triangle" w="med" len="med"/>
          </a:ln>
        </p:spPr>
      </p:cxnSp>
      <p:sp>
        <p:nvSpPr>
          <p:cNvPr id="3" name="Footer Placeholder 2">
            <a:extLst>
              <a:ext uri="{FF2B5EF4-FFF2-40B4-BE49-F238E27FC236}">
                <a16:creationId xmlns:a16="http://schemas.microsoft.com/office/drawing/2014/main" id="{C91A95E9-DFC3-DBD8-A9B1-A3C3D084892E}"/>
              </a:ext>
            </a:extLst>
          </p:cNvPr>
          <p:cNvSpPr>
            <a:spLocks noGrp="1"/>
          </p:cNvSpPr>
          <p:nvPr>
            <p:ph type="ftr" idx="11"/>
          </p:nvPr>
        </p:nvSpPr>
        <p:spPr>
          <a:xfrm>
            <a:off x="2056054" y="6600830"/>
            <a:ext cx="3965089" cy="130744"/>
          </a:xfrm>
        </p:spPr>
        <p:txBody>
          <a:bodyPr/>
          <a:lstStyle/>
          <a:p>
            <a:r>
              <a:rPr lang="en-US" sz="1800" dirty="0"/>
              <a:t>University Institute of Engineering (UIE)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FCA09028-1C27-2418-1289-8C40C34F6AA4}"/>
              </a:ext>
            </a:extLst>
          </p:cNvPr>
          <p:cNvGraphicFramePr>
            <a:graphicFrameLocks noGrp="1"/>
          </p:cNvGraphicFramePr>
          <p:nvPr>
            <p:extLst>
              <p:ext uri="{D42A27DB-BD31-4B8C-83A1-F6EECF244321}">
                <p14:modId xmlns:p14="http://schemas.microsoft.com/office/powerpoint/2010/main" val="3744976508"/>
              </p:ext>
            </p:extLst>
          </p:nvPr>
        </p:nvGraphicFramePr>
        <p:xfrm>
          <a:off x="1158240" y="1145143"/>
          <a:ext cx="7711439" cy="5377018"/>
        </p:xfrm>
        <a:graphic>
          <a:graphicData uri="http://schemas.openxmlformats.org/drawingml/2006/table">
            <a:tbl>
              <a:tblPr firstRow="1" firstCol="1" lastRow="1" lastCol="1" bandRow="1" bandCol="1">
                <a:tableStyleId>{616DA210-FB5B-4158-B5E0-FEB733F419BA}</a:tableStyleId>
              </a:tblPr>
              <a:tblGrid>
                <a:gridCol w="1457175">
                  <a:extLst>
                    <a:ext uri="{9D8B030D-6E8A-4147-A177-3AD203B41FA5}">
                      <a16:colId xmlns:a16="http://schemas.microsoft.com/office/drawing/2014/main" val="2628341904"/>
                    </a:ext>
                  </a:extLst>
                </a:gridCol>
                <a:gridCol w="3974061">
                  <a:extLst>
                    <a:ext uri="{9D8B030D-6E8A-4147-A177-3AD203B41FA5}">
                      <a16:colId xmlns:a16="http://schemas.microsoft.com/office/drawing/2014/main" val="2174162085"/>
                    </a:ext>
                  </a:extLst>
                </a:gridCol>
                <a:gridCol w="103013">
                  <a:extLst>
                    <a:ext uri="{9D8B030D-6E8A-4147-A177-3AD203B41FA5}">
                      <a16:colId xmlns:a16="http://schemas.microsoft.com/office/drawing/2014/main" val="781460737"/>
                    </a:ext>
                  </a:extLst>
                </a:gridCol>
                <a:gridCol w="2177190">
                  <a:extLst>
                    <a:ext uri="{9D8B030D-6E8A-4147-A177-3AD203B41FA5}">
                      <a16:colId xmlns:a16="http://schemas.microsoft.com/office/drawing/2014/main" val="390600386"/>
                    </a:ext>
                  </a:extLst>
                </a:gridCol>
              </a:tblGrid>
              <a:tr h="194882">
                <a:tc>
                  <a:txBody>
                    <a:bodyPr/>
                    <a:lstStyle/>
                    <a:p>
                      <a:pPr marL="67945">
                        <a:lnSpc>
                          <a:spcPts val="1460"/>
                        </a:lnSpc>
                      </a:pPr>
                      <a:r>
                        <a:rPr lang="en-US" sz="1400" dirty="0">
                          <a:effectLst/>
                        </a:rPr>
                        <a:t>UNIT-1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2">
                  <a:txBody>
                    <a:bodyPr/>
                    <a:lstStyle/>
                    <a:p>
                      <a:pPr marL="67945">
                        <a:lnSpc>
                          <a:spcPts val="1460"/>
                        </a:lnSpc>
                      </a:pPr>
                      <a:r>
                        <a:rPr lang="en-US" sz="1400">
                          <a:effectLst/>
                        </a:rPr>
                        <a:t>Python Fundamentals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a:txBody>
                    <a:bodyPr/>
                    <a:lstStyle/>
                    <a:p>
                      <a:pPr marL="67945">
                        <a:lnSpc>
                          <a:spcPts val="1460"/>
                        </a:lnSpc>
                      </a:pPr>
                      <a:r>
                        <a:rPr lang="en-US" sz="800">
                          <a:effectLst/>
                        </a:rPr>
                        <a:t>16 Hours</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759540116"/>
                  </a:ext>
                </a:extLst>
              </a:tr>
              <a:tr h="534777">
                <a:tc>
                  <a:txBody>
                    <a:bodyPr/>
                    <a:lstStyle/>
                    <a:p>
                      <a:pPr marL="67945">
                        <a:lnSpc>
                          <a:spcPct val="107000"/>
                        </a:lnSpc>
                      </a:pPr>
                      <a:r>
                        <a:rPr lang="en-US" sz="1400">
                          <a:effectLst/>
                        </a:rPr>
                        <a:t>Experiment</a:t>
                      </a:r>
                      <a:r>
                        <a:rPr lang="en-US" sz="1400" spc="-10">
                          <a:effectLst/>
                        </a:rPr>
                        <a:t> </a:t>
                      </a:r>
                      <a:r>
                        <a:rPr lang="en-US" sz="1400">
                          <a:effectLst/>
                        </a:rPr>
                        <a:t>1.1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7945">
                        <a:lnSpc>
                          <a:spcPts val="1365"/>
                        </a:lnSpc>
                      </a:pPr>
                      <a:r>
                        <a:rPr lang="en-US" sz="1200" dirty="0">
                          <a:effectLst/>
                        </a:rPr>
                        <a:t>Writing Python programs, basic data types (int, float, complex, bool, string), variables, and built-in functions (id(), type(), range()).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37946763"/>
                  </a:ext>
                </a:extLst>
              </a:tr>
              <a:tr h="534777">
                <a:tc>
                  <a:txBody>
                    <a:bodyPr/>
                    <a:lstStyle/>
                    <a:p>
                      <a:pPr marL="67945">
                        <a:lnSpc>
                          <a:spcPct val="107000"/>
                        </a:lnSpc>
                      </a:pPr>
                      <a:r>
                        <a:rPr lang="en-US" sz="1400">
                          <a:effectLst/>
                        </a:rPr>
                        <a:t>Experiment</a:t>
                      </a:r>
                      <a:r>
                        <a:rPr lang="en-US" sz="1400" spc="-10">
                          <a:effectLst/>
                        </a:rPr>
                        <a:t> </a:t>
                      </a:r>
                      <a:r>
                        <a:rPr lang="en-US" sz="1400">
                          <a:effectLst/>
                        </a:rPr>
                        <a:t>1.2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7945">
                        <a:lnSpc>
                          <a:spcPts val="1365"/>
                        </a:lnSpc>
                      </a:pPr>
                      <a:r>
                        <a:rPr lang="en-US" sz="1200">
                          <a:effectLst/>
                        </a:rPr>
                        <a:t>Operators (arithmetic, relational, logical, etc.), control structures (if, if-else, loops), and control transfer statements (break, continue, pass).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86021270"/>
                  </a:ext>
                </a:extLst>
              </a:tr>
              <a:tr h="385382">
                <a:tc>
                  <a:txBody>
                    <a:bodyPr/>
                    <a:lstStyle/>
                    <a:p>
                      <a:pPr marL="67945">
                        <a:lnSpc>
                          <a:spcPts val="1460"/>
                        </a:lnSpc>
                      </a:pPr>
                      <a:r>
                        <a:rPr lang="en-US" sz="1400">
                          <a:effectLst/>
                        </a:rPr>
                        <a:t>Experiment</a:t>
                      </a:r>
                      <a:r>
                        <a:rPr lang="en-US" sz="1400" spc="-10">
                          <a:effectLst/>
                        </a:rPr>
                        <a:t> </a:t>
                      </a:r>
                      <a:r>
                        <a:rPr lang="en-US" sz="1400">
                          <a:effectLst/>
                        </a:rPr>
                        <a:t>1.3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75"/>
                        </a:lnSpc>
                      </a:pPr>
                      <a:r>
                        <a:rPr lang="en-US" sz="1200" dirty="0">
                          <a:effectLst/>
                        </a:rPr>
                        <a:t>Functions, arguments (positional, default, keyword, variable-length), return values, and scope (local/global variables).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724644077"/>
                  </a:ext>
                </a:extLst>
              </a:tr>
              <a:tr h="363157">
                <a:tc>
                  <a:txBody>
                    <a:bodyPr/>
                    <a:lstStyle/>
                    <a:p>
                      <a:pPr marL="67945">
                        <a:lnSpc>
                          <a:spcPts val="1460"/>
                        </a:lnSpc>
                      </a:pPr>
                      <a:r>
                        <a:rPr lang="en-US" sz="1400">
                          <a:effectLst/>
                        </a:rPr>
                        <a:t>UNIT-2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8580">
                        <a:lnSpc>
                          <a:spcPts val="1365"/>
                        </a:lnSpc>
                      </a:pPr>
                      <a:r>
                        <a:rPr lang="en-US" sz="1400">
                          <a:effectLst/>
                        </a:rPr>
                        <a:t>Operations on Strings, list, Tuples, Sets &amp; Dictionaries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2">
                  <a:txBody>
                    <a:bodyPr/>
                    <a:lstStyle/>
                    <a:p>
                      <a:pPr marL="68580">
                        <a:lnSpc>
                          <a:spcPts val="1460"/>
                        </a:lnSpc>
                      </a:pPr>
                      <a:r>
                        <a:rPr lang="en-US" sz="800">
                          <a:effectLst/>
                        </a:rPr>
                        <a:t>16 Hours</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2800676091"/>
                  </a:ext>
                </a:extLst>
              </a:tr>
              <a:tr h="385382">
                <a:tc>
                  <a:txBody>
                    <a:bodyPr/>
                    <a:lstStyle/>
                    <a:p>
                      <a:pPr marL="67945">
                        <a:lnSpc>
                          <a:spcPts val="1460"/>
                        </a:lnSpc>
                      </a:pPr>
                      <a:r>
                        <a:rPr lang="en-US" sz="1400">
                          <a:effectLst/>
                        </a:rPr>
                        <a:t>Experiment</a:t>
                      </a:r>
                      <a:r>
                        <a:rPr lang="en-US" sz="1400" spc="-10">
                          <a:effectLst/>
                        </a:rPr>
                        <a:t> </a:t>
                      </a:r>
                      <a:r>
                        <a:rPr lang="en-US" sz="1400">
                          <a:effectLst/>
                        </a:rPr>
                        <a:t>2.1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65"/>
                        </a:lnSpc>
                      </a:pPr>
                      <a:r>
                        <a:rPr lang="en-US" sz="1200">
                          <a:effectLst/>
                        </a:rPr>
                        <a:t>String operations and methods (indexing, slicing, len(), strip(), find(), replace(), split(), join(), etc.).</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70100250"/>
                  </a:ext>
                </a:extLst>
              </a:tr>
              <a:tr h="445072">
                <a:tc>
                  <a:txBody>
                    <a:bodyPr/>
                    <a:lstStyle/>
                    <a:p>
                      <a:pPr marL="67945">
                        <a:lnSpc>
                          <a:spcPts val="1460"/>
                        </a:lnSpc>
                      </a:pPr>
                      <a:r>
                        <a:rPr lang="en-US" sz="1400">
                          <a:effectLst/>
                        </a:rPr>
                        <a:t>Experiment</a:t>
                      </a:r>
                      <a:r>
                        <a:rPr lang="en-US" sz="1400" spc="-10">
                          <a:effectLst/>
                        </a:rPr>
                        <a:t> </a:t>
                      </a:r>
                      <a:r>
                        <a:rPr lang="en-US" sz="1400">
                          <a:effectLst/>
                        </a:rPr>
                        <a:t>2.2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ct val="107000"/>
                        </a:lnSpc>
                      </a:pPr>
                      <a:r>
                        <a:rPr lang="en-US" sz="1200" dirty="0">
                          <a:effectLst/>
                        </a:rPr>
                        <a:t>List creation, accessing, and operations (append (), insert(), extend(), remove(), pop(), sort(), etc.).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46066797"/>
                  </a:ext>
                </a:extLst>
              </a:tr>
              <a:tr h="673354">
                <a:tc>
                  <a:txBody>
                    <a:bodyPr/>
                    <a:lstStyle/>
                    <a:p>
                      <a:pPr marL="67945">
                        <a:lnSpc>
                          <a:spcPts val="1460"/>
                        </a:lnSpc>
                      </a:pPr>
                      <a:r>
                        <a:rPr lang="en-US" sz="1400">
                          <a:effectLst/>
                        </a:rPr>
                        <a:t>Experiment</a:t>
                      </a:r>
                      <a:r>
                        <a:rPr lang="en-US" sz="1400" spc="-10">
                          <a:effectLst/>
                        </a:rPr>
                        <a:t> </a:t>
                      </a:r>
                      <a:r>
                        <a:rPr lang="en-US" sz="1400">
                          <a:effectLst/>
                        </a:rPr>
                        <a:t>2.3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marR="115570">
                        <a:lnSpc>
                          <a:spcPct val="107000"/>
                        </a:lnSpc>
                        <a:spcAft>
                          <a:spcPts val="0"/>
                        </a:spcAft>
                      </a:pPr>
                      <a:r>
                        <a:rPr lang="en-US" sz="1200">
                          <a:effectLst/>
                        </a:rPr>
                        <a:t>Tuple creation, accessing, and operations: Demonstrate various methods of creating tuples, accessing tuple elements through indexing and slicing, and applying tuple methods/functions.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6710506"/>
                  </a:ext>
                </a:extLst>
              </a:tr>
              <a:tr h="385382">
                <a:tc>
                  <a:txBody>
                    <a:bodyPr/>
                    <a:lstStyle/>
                    <a:p>
                      <a:pPr marL="67945">
                        <a:lnSpc>
                          <a:spcPts val="1460"/>
                        </a:lnSpc>
                      </a:pPr>
                      <a:r>
                        <a:rPr lang="en-US" sz="1400">
                          <a:effectLst/>
                        </a:rPr>
                        <a:t>Experiment</a:t>
                      </a:r>
                      <a:r>
                        <a:rPr lang="en-US" sz="1400" spc="-10">
                          <a:effectLst/>
                        </a:rPr>
                        <a:t> </a:t>
                      </a:r>
                      <a:r>
                        <a:rPr lang="en-US" sz="1400">
                          <a:effectLst/>
                        </a:rPr>
                        <a:t>2.4</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65"/>
                        </a:lnSpc>
                      </a:pPr>
                      <a:r>
                        <a:rPr lang="en-US" sz="1200" dirty="0">
                          <a:effectLst/>
                        </a:rPr>
                        <a:t>Sets and Dictionaries creation, accessing, and operations.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20776664"/>
                  </a:ext>
                </a:extLst>
              </a:tr>
              <a:tr h="363157">
                <a:tc>
                  <a:txBody>
                    <a:bodyPr/>
                    <a:lstStyle/>
                    <a:p>
                      <a:pPr marL="67945">
                        <a:lnSpc>
                          <a:spcPts val="1460"/>
                        </a:lnSpc>
                      </a:pPr>
                      <a:r>
                        <a:rPr lang="en-US" sz="1400">
                          <a:effectLst/>
                        </a:rPr>
                        <a:t>UNIT-3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75"/>
                        </a:lnSpc>
                      </a:pPr>
                      <a:r>
                        <a:rPr lang="en-US" sz="1400">
                          <a:effectLst/>
                        </a:rPr>
                        <a:t>Searching, Sorting, OOP, and File Handling</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2">
                  <a:txBody>
                    <a:bodyPr/>
                    <a:lstStyle/>
                    <a:p>
                      <a:pPr marL="67945">
                        <a:lnSpc>
                          <a:spcPts val="1460"/>
                        </a:lnSpc>
                      </a:pPr>
                      <a:r>
                        <a:rPr lang="en-US" sz="800" dirty="0">
                          <a:effectLst/>
                        </a:rPr>
                        <a:t>16 Hours</a:t>
                      </a:r>
                      <a:endParaRPr lang="en-IN" sz="7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914506398"/>
                  </a:ext>
                </a:extLst>
              </a:tr>
              <a:tr h="363157">
                <a:tc>
                  <a:txBody>
                    <a:bodyPr/>
                    <a:lstStyle/>
                    <a:p>
                      <a:pPr marL="67945">
                        <a:lnSpc>
                          <a:spcPts val="1360"/>
                        </a:lnSpc>
                      </a:pPr>
                      <a:r>
                        <a:rPr lang="en-US" sz="1400">
                          <a:effectLst/>
                        </a:rPr>
                        <a:t>Experiment</a:t>
                      </a:r>
                      <a:r>
                        <a:rPr lang="en-US" sz="1400" spc="-10">
                          <a:effectLst/>
                        </a:rPr>
                        <a:t> </a:t>
                      </a:r>
                      <a:r>
                        <a:rPr lang="en-US" sz="1400">
                          <a:effectLst/>
                        </a:rPr>
                        <a:t>3.1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60"/>
                        </a:lnSpc>
                      </a:pPr>
                      <a:r>
                        <a:rPr lang="en-US" sz="1200" dirty="0">
                          <a:effectLst/>
                        </a:rPr>
                        <a:t>Searching algorithms (linear, binary) and sorting techniques (bubble, insertion, selection, merge, quick).</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58278668"/>
                  </a:ext>
                </a:extLst>
              </a:tr>
              <a:tr h="385382">
                <a:tc>
                  <a:txBody>
                    <a:bodyPr/>
                    <a:lstStyle/>
                    <a:p>
                      <a:pPr marL="67945">
                        <a:lnSpc>
                          <a:spcPts val="1460"/>
                        </a:lnSpc>
                      </a:pPr>
                      <a:r>
                        <a:rPr lang="en-US" sz="1400">
                          <a:effectLst/>
                        </a:rPr>
                        <a:t>Experiment</a:t>
                      </a:r>
                      <a:r>
                        <a:rPr lang="en-US" sz="1400" spc="-10">
                          <a:effectLst/>
                        </a:rPr>
                        <a:t> </a:t>
                      </a:r>
                      <a:r>
                        <a:rPr lang="en-US" sz="1400">
                          <a:effectLst/>
                        </a:rPr>
                        <a:t>3.2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65"/>
                        </a:lnSpc>
                      </a:pPr>
                      <a:r>
                        <a:rPr lang="en-US" sz="1200" dirty="0">
                          <a:effectLst/>
                        </a:rPr>
                        <a:t>Object-Oriented Programming: classes, methods, inheritance, and polymorphism.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91871478"/>
                  </a:ext>
                </a:extLst>
              </a:tr>
              <a:tr h="363157">
                <a:tc>
                  <a:txBody>
                    <a:bodyPr/>
                    <a:lstStyle/>
                    <a:p>
                      <a:pPr marL="67945">
                        <a:lnSpc>
                          <a:spcPts val="1360"/>
                        </a:lnSpc>
                      </a:pPr>
                      <a:r>
                        <a:rPr lang="en-US" sz="1400">
                          <a:effectLst/>
                        </a:rPr>
                        <a:t>Experiment</a:t>
                      </a:r>
                      <a:r>
                        <a:rPr lang="en-US" sz="1400" spc="-10">
                          <a:effectLst/>
                        </a:rPr>
                        <a:t> </a:t>
                      </a:r>
                      <a:r>
                        <a:rPr lang="en-US" sz="1400">
                          <a:effectLst/>
                        </a:rPr>
                        <a:t>3.3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gridSpan="3">
                  <a:txBody>
                    <a:bodyPr/>
                    <a:lstStyle/>
                    <a:p>
                      <a:pPr marL="68580">
                        <a:lnSpc>
                          <a:spcPts val="1360"/>
                        </a:lnSpc>
                      </a:pPr>
                      <a:r>
                        <a:rPr lang="en-US" sz="1200" dirty="0">
                          <a:effectLst/>
                        </a:rPr>
                        <a:t>File handling: reading, writing, and manipulating files in various modes.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81878039"/>
                  </a:ext>
                </a:extLst>
              </a:tr>
            </a:tbl>
          </a:graphicData>
        </a:graphic>
      </p:graphicFrame>
      <p:sp>
        <p:nvSpPr>
          <p:cNvPr id="2" name="Footer Placeholder 1">
            <a:extLst>
              <a:ext uri="{FF2B5EF4-FFF2-40B4-BE49-F238E27FC236}">
                <a16:creationId xmlns:a16="http://schemas.microsoft.com/office/drawing/2014/main" id="{DA62C0F3-7CAD-6D79-418F-3FE49FC7F2C2}"/>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5"/>
          <p:cNvSpPr txBox="1"/>
          <p:nvPr/>
        </p:nvSpPr>
        <p:spPr>
          <a:xfrm>
            <a:off x="2396175" y="17775"/>
            <a:ext cx="6723900" cy="28980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06" name="Google Shape;106;p5"/>
          <p:cNvSpPr txBox="1">
            <a:spLocks noGrp="1"/>
          </p:cNvSpPr>
          <p:nvPr>
            <p:ph type="ftr" idx="11"/>
          </p:nvPr>
        </p:nvSpPr>
        <p:spPr>
          <a:xfrm>
            <a:off x="2184894" y="6517302"/>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07" name="Google Shape;107;p5"/>
          <p:cNvSpPr txBox="1">
            <a:spLocks noGrp="1"/>
          </p:cNvSpPr>
          <p:nvPr>
            <p:ph type="title"/>
          </p:nvPr>
        </p:nvSpPr>
        <p:spPr>
          <a:xfrm>
            <a:off x="3444999" y="475300"/>
            <a:ext cx="3578400" cy="56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3600"/>
              <a:t>OBJECTIVES</a:t>
            </a:r>
            <a:endParaRPr sz="3600"/>
          </a:p>
        </p:txBody>
      </p:sp>
      <p:sp>
        <p:nvSpPr>
          <p:cNvPr id="108" name="Google Shape;108;p5"/>
          <p:cNvSpPr txBox="1"/>
          <p:nvPr/>
        </p:nvSpPr>
        <p:spPr>
          <a:xfrm>
            <a:off x="960120" y="1485900"/>
            <a:ext cx="7955280" cy="3597765"/>
          </a:xfrm>
          <a:prstGeom prst="rect">
            <a:avLst/>
          </a:prstGeom>
          <a:noFill/>
          <a:ln>
            <a:noFill/>
          </a:ln>
        </p:spPr>
        <p:txBody>
          <a:bodyPr spcFirstLastPara="1" wrap="square" lIns="0" tIns="12050" rIns="0" bIns="0" anchor="t" anchorCtr="0">
            <a:spAutoFit/>
          </a:bodyPr>
          <a:lstStyle/>
          <a:p>
            <a:pPr marL="12700" marR="5080" lvl="0" indent="0" algn="just" rtl="0">
              <a:lnSpc>
                <a:spcPct val="120000"/>
              </a:lnSpc>
              <a:spcBef>
                <a:spcPts val="0"/>
              </a:spcBef>
              <a:spcAft>
                <a:spcPts val="0"/>
              </a:spcAft>
              <a:buClr>
                <a:srgbClr val="000000"/>
              </a:buClr>
              <a:buSzPts val="2400"/>
              <a:buFont typeface="Arial"/>
              <a:buNone/>
            </a:pPr>
            <a:r>
              <a:rPr lang="en-US" sz="2000" b="0" i="0" u="none" strike="noStrike" cap="none" dirty="0">
                <a:solidFill>
                  <a:schemeClr val="dk1"/>
                </a:solidFill>
                <a:latin typeface="Arial"/>
                <a:ea typeface="Arial"/>
                <a:cs typeface="Arial"/>
                <a:sym typeface="Arial"/>
              </a:rPr>
              <a:t>At the completion of this Chapter , students should be	able to do the  following:</a:t>
            </a:r>
          </a:p>
          <a:p>
            <a:pPr marL="12700" marR="405765" lvl="0" algn="just" rtl="0">
              <a:lnSpc>
                <a:spcPct val="100000"/>
              </a:lnSpc>
              <a:spcBef>
                <a:spcPts val="580"/>
              </a:spcBef>
              <a:spcAft>
                <a:spcPts val="0"/>
              </a:spcAft>
              <a:buClr>
                <a:schemeClr val="dk1"/>
              </a:buClr>
              <a:buSzPts val="2400"/>
            </a:pPr>
            <a:r>
              <a:rPr lang="en-US" sz="2000" b="0" i="0" u="none" strike="noStrike" cap="none" dirty="0">
                <a:solidFill>
                  <a:schemeClr val="dk1"/>
                </a:solidFill>
                <a:latin typeface="Arial"/>
                <a:ea typeface="Arial"/>
                <a:cs typeface="Arial"/>
                <a:sym typeface="Arial"/>
              </a:rPr>
              <a:t>•Understand the role of Python in modern software development and its applications in various fields.</a:t>
            </a:r>
          </a:p>
          <a:p>
            <a:pPr marL="12700" marR="405765" lvl="0" algn="just" rtl="0">
              <a:lnSpc>
                <a:spcPct val="100000"/>
              </a:lnSpc>
              <a:spcBef>
                <a:spcPts val="580"/>
              </a:spcBef>
              <a:spcAft>
                <a:spcPts val="0"/>
              </a:spcAft>
              <a:buClr>
                <a:schemeClr val="dk1"/>
              </a:buClr>
              <a:buSzPts val="2400"/>
            </a:pPr>
            <a:endParaRPr lang="en-US" sz="2000" b="0" i="0" u="none" strike="noStrike" cap="none" dirty="0">
              <a:solidFill>
                <a:schemeClr val="dk1"/>
              </a:solidFill>
              <a:latin typeface="Arial"/>
              <a:ea typeface="Arial"/>
              <a:cs typeface="Arial"/>
              <a:sym typeface="Arial"/>
            </a:endParaRPr>
          </a:p>
          <a:p>
            <a:pPr marL="12700" marR="405765" lvl="0" algn="just" rtl="0">
              <a:lnSpc>
                <a:spcPct val="100000"/>
              </a:lnSpc>
              <a:spcBef>
                <a:spcPts val="580"/>
              </a:spcBef>
              <a:spcAft>
                <a:spcPts val="0"/>
              </a:spcAft>
              <a:buClr>
                <a:schemeClr val="dk1"/>
              </a:buClr>
              <a:buSzPts val="2400"/>
            </a:pPr>
            <a:r>
              <a:rPr lang="en-US" sz="2000" b="0" i="0" u="none" strike="noStrike" cap="none" dirty="0">
                <a:solidFill>
                  <a:schemeClr val="dk1"/>
                </a:solidFill>
                <a:latin typeface="Arial"/>
                <a:ea typeface="Arial"/>
                <a:cs typeface="Arial"/>
                <a:sym typeface="Arial"/>
              </a:rPr>
              <a:t>•Comprehend basic Python concepts, including data types, variables, and control structures.</a:t>
            </a:r>
          </a:p>
          <a:p>
            <a:pPr marL="12700" marR="405765" lvl="0" algn="just" rtl="0">
              <a:lnSpc>
                <a:spcPct val="100000"/>
              </a:lnSpc>
              <a:spcBef>
                <a:spcPts val="580"/>
              </a:spcBef>
              <a:spcAft>
                <a:spcPts val="0"/>
              </a:spcAft>
              <a:buClr>
                <a:schemeClr val="dk1"/>
              </a:buClr>
              <a:buSzPts val="2400"/>
            </a:pPr>
            <a:endParaRPr lang="en-US" sz="2000" b="0" i="0" u="none" strike="noStrike" cap="none" dirty="0">
              <a:solidFill>
                <a:schemeClr val="dk1"/>
              </a:solidFill>
              <a:latin typeface="Arial"/>
              <a:ea typeface="Arial"/>
              <a:cs typeface="Arial"/>
              <a:sym typeface="Arial"/>
            </a:endParaRPr>
          </a:p>
          <a:p>
            <a:pPr marL="12700" marR="405765" lvl="0" algn="just" rtl="0">
              <a:lnSpc>
                <a:spcPct val="100000"/>
              </a:lnSpc>
              <a:spcBef>
                <a:spcPts val="580"/>
              </a:spcBef>
              <a:spcAft>
                <a:spcPts val="0"/>
              </a:spcAft>
              <a:buClr>
                <a:schemeClr val="dk1"/>
              </a:buClr>
              <a:buSzPts val="2400"/>
            </a:pPr>
            <a:r>
              <a:rPr lang="en-US" sz="2000" b="0" i="0" u="none" strike="noStrike" cap="none" dirty="0">
                <a:solidFill>
                  <a:schemeClr val="dk1"/>
                </a:solidFill>
                <a:latin typeface="Arial"/>
                <a:ea typeface="Arial"/>
                <a:cs typeface="Arial"/>
                <a:sym typeface="Arial"/>
              </a:rPr>
              <a:t>•Grasp the fundamentals of Python syntax, program structure, and the execution model of the Python interpreter.</a:t>
            </a:r>
            <a:endParaRPr sz="20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8"/>
          <p:cNvSpPr txBox="1">
            <a:spLocks noGrp="1"/>
          </p:cNvSpPr>
          <p:nvPr>
            <p:ph type="body" idx="1"/>
          </p:nvPr>
        </p:nvSpPr>
        <p:spPr>
          <a:xfrm>
            <a:off x="4671224" y="2078833"/>
            <a:ext cx="2751132" cy="2741414"/>
          </a:xfrm>
          <a:prstGeom prst="rect">
            <a:avLst/>
          </a:prstGeom>
          <a:noFill/>
          <a:ln>
            <a:noFill/>
          </a:ln>
        </p:spPr>
        <p:txBody>
          <a:bodyPr spcFirstLastPara="1" wrap="square" lIns="68569" tIns="34275" rIns="68569" bIns="34275" anchor="t" anchorCtr="0">
            <a:normAutofit/>
          </a:bodyPr>
          <a:lstStyle/>
          <a:p>
            <a:pPr marL="257175" indent="-171450">
              <a:buClr>
                <a:schemeClr val="dk1"/>
              </a:buClr>
              <a:buSzPts val="1800"/>
            </a:pPr>
            <a:endParaRPr sz="1350">
              <a:latin typeface="Times New Roman"/>
              <a:ea typeface="Times New Roman"/>
              <a:cs typeface="Times New Roman"/>
              <a:sym typeface="Times New Roman"/>
            </a:endParaRPr>
          </a:p>
          <a:p>
            <a:pPr marL="257175" indent="-171450">
              <a:spcBef>
                <a:spcPts val="270"/>
              </a:spcBef>
              <a:buClr>
                <a:schemeClr val="dk1"/>
              </a:buClr>
              <a:buSzPts val="1800"/>
            </a:pPr>
            <a:endParaRPr sz="1350">
              <a:latin typeface="Times New Roman"/>
              <a:ea typeface="Times New Roman"/>
              <a:cs typeface="Times New Roman"/>
              <a:sym typeface="Times New Roman"/>
            </a:endParaRPr>
          </a:p>
        </p:txBody>
      </p:sp>
      <p:sp>
        <p:nvSpPr>
          <p:cNvPr id="467" name="Google Shape;467;p8"/>
          <p:cNvSpPr txBox="1">
            <a:spLocks noGrp="1"/>
          </p:cNvSpPr>
          <p:nvPr>
            <p:ph type="title"/>
          </p:nvPr>
        </p:nvSpPr>
        <p:spPr>
          <a:xfrm>
            <a:off x="1395711" y="2368518"/>
            <a:ext cx="2506819" cy="969466"/>
          </a:xfrm>
          <a:prstGeom prst="rect">
            <a:avLst/>
          </a:prstGeom>
          <a:noFill/>
          <a:ln>
            <a:noFill/>
          </a:ln>
        </p:spPr>
        <p:txBody>
          <a:bodyPr spcFirstLastPara="1" wrap="square" lIns="68569" tIns="34275" rIns="68569" bIns="34275" anchor="b" anchorCtr="0">
            <a:spAutoFit/>
          </a:bodyPr>
          <a:lstStyle/>
          <a:p>
            <a:pPr algn="ctr">
              <a:buClr>
                <a:schemeClr val="dk1"/>
              </a:buClr>
              <a:buSzPts val="3300"/>
            </a:pPr>
            <a:r>
              <a:rPr lang="en-US" sz="2475">
                <a:solidFill>
                  <a:schemeClr val="dk1"/>
                </a:solidFill>
                <a:latin typeface="Times New Roman"/>
                <a:ea typeface="Times New Roman"/>
                <a:cs typeface="Times New Roman"/>
                <a:sym typeface="Times New Roman"/>
              </a:rPr>
              <a:t>Problem Solving  using Python</a:t>
            </a:r>
            <a:br>
              <a:rPr lang="en-US" sz="2475">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p:txBody>
      </p:sp>
      <p:sp>
        <p:nvSpPr>
          <p:cNvPr id="468" name="Google Shape;468;p8"/>
          <p:cNvSpPr/>
          <p:nvPr/>
        </p:nvSpPr>
        <p:spPr>
          <a:xfrm>
            <a:off x="4524411" y="1971676"/>
            <a:ext cx="2897947" cy="3103960"/>
          </a:xfrm>
          <a:prstGeom prst="rect">
            <a:avLst/>
          </a:prstGeom>
          <a:noFill/>
          <a:ln w="25400" cap="flat" cmpd="sng">
            <a:solidFill>
              <a:srgbClr val="395E89"/>
            </a:solidFill>
            <a:prstDash val="solid"/>
            <a:round/>
            <a:headEnd type="none" w="sm" len="sm"/>
            <a:tailEnd type="none" w="sm" len="sm"/>
          </a:ln>
        </p:spPr>
        <p:txBody>
          <a:bodyPr spcFirstLastPara="1" wrap="square" lIns="68569" tIns="34275" rIns="68569" bIns="34275" anchor="ctr" anchorCtr="0">
            <a:noAutofit/>
          </a:bodyPr>
          <a:lstStyle/>
          <a:p>
            <a:pPr algn="ctr"/>
            <a:endParaRPr sz="1013">
              <a:solidFill>
                <a:schemeClr val="lt1"/>
              </a:solidFill>
              <a:latin typeface="Times New Roman"/>
              <a:ea typeface="Times New Roman"/>
              <a:cs typeface="Times New Roman"/>
              <a:sym typeface="Times New Roman"/>
            </a:endParaRPr>
          </a:p>
        </p:txBody>
      </p:sp>
      <p:sp>
        <p:nvSpPr>
          <p:cNvPr id="469" name="Google Shape;469;p8"/>
          <p:cNvSpPr/>
          <p:nvPr/>
        </p:nvSpPr>
        <p:spPr>
          <a:xfrm>
            <a:off x="7452719" y="5057776"/>
            <a:ext cx="250031" cy="237530"/>
          </a:xfrm>
          <a:prstGeom prst="ellipse">
            <a:avLst/>
          </a:prstGeom>
          <a:noFill/>
          <a:ln w="25400" cap="flat" cmpd="sng">
            <a:solidFill>
              <a:srgbClr val="395E89"/>
            </a:solidFill>
            <a:prstDash val="solid"/>
            <a:round/>
            <a:headEnd type="none" w="sm" len="sm"/>
            <a:tailEnd type="none" w="sm" len="sm"/>
          </a:ln>
        </p:spPr>
        <p:txBody>
          <a:bodyPr spcFirstLastPara="1" wrap="square" lIns="68569" tIns="34275" rIns="68569" bIns="34275" anchor="ctr" anchorCtr="0">
            <a:noAutofit/>
          </a:bodyPr>
          <a:lstStyle/>
          <a:p>
            <a:pPr algn="ctr"/>
            <a:endParaRPr sz="1013">
              <a:solidFill>
                <a:schemeClr val="lt1"/>
              </a:solidFill>
              <a:latin typeface="Times New Roman"/>
              <a:ea typeface="Times New Roman"/>
              <a:cs typeface="Times New Roman"/>
              <a:sym typeface="Times New Roman"/>
            </a:endParaRPr>
          </a:p>
        </p:txBody>
      </p:sp>
      <p:pic>
        <p:nvPicPr>
          <p:cNvPr id="470" name="Google Shape;470;p8"/>
          <p:cNvPicPr preferRelativeResize="0"/>
          <p:nvPr/>
        </p:nvPicPr>
        <p:blipFill rotWithShape="1">
          <a:blip r:embed="rId3">
            <a:alphaModFix/>
          </a:blip>
          <a:srcRect/>
          <a:stretch/>
        </p:blipFill>
        <p:spPr>
          <a:xfrm>
            <a:off x="4538698" y="1980159"/>
            <a:ext cx="2883659" cy="3086993"/>
          </a:xfrm>
          <a:prstGeom prst="rect">
            <a:avLst/>
          </a:prstGeom>
          <a:noFill/>
          <a:ln>
            <a:noFill/>
          </a:ln>
        </p:spPr>
      </p:pic>
      <p:pic>
        <p:nvPicPr>
          <p:cNvPr id="471" name="Google Shape;471;p8"/>
          <p:cNvPicPr preferRelativeResize="0"/>
          <p:nvPr/>
        </p:nvPicPr>
        <p:blipFill rotWithShape="1">
          <a:blip r:embed="rId4">
            <a:alphaModFix/>
          </a:blip>
          <a:srcRect/>
          <a:stretch/>
        </p:blipFill>
        <p:spPr>
          <a:xfrm>
            <a:off x="4588325" y="1988642"/>
            <a:ext cx="810963" cy="829970"/>
          </a:xfrm>
          <a:prstGeom prst="rect">
            <a:avLst/>
          </a:prstGeom>
          <a:noFill/>
          <a:ln>
            <a:noFill/>
          </a:ln>
        </p:spPr>
      </p:pic>
      <p:sp>
        <p:nvSpPr>
          <p:cNvPr id="2" name="Footer Placeholder 1">
            <a:extLst>
              <a:ext uri="{FF2B5EF4-FFF2-40B4-BE49-F238E27FC236}">
                <a16:creationId xmlns:a16="http://schemas.microsoft.com/office/drawing/2014/main" id="{610BA32B-74A5-516D-6E0E-53117C7EDE5D}"/>
              </a:ext>
            </a:extLst>
          </p:cNvPr>
          <p:cNvSpPr>
            <a:spLocks noGrp="1"/>
          </p:cNvSpPr>
          <p:nvPr>
            <p:ph type="ftr" idx="11"/>
          </p:nvPr>
        </p:nvSpPr>
        <p:spPr>
          <a:xfrm>
            <a:off x="3124199" y="6529892"/>
            <a:ext cx="3545542" cy="318901"/>
          </a:xfrm>
        </p:spPr>
        <p:txBody>
          <a:bodyPr/>
          <a:lstStyle/>
          <a:p>
            <a:r>
              <a:rPr lang="en-US" sz="1600" dirty="0"/>
              <a:t>University Institute of Engineering (UIE)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457200" y="1063229"/>
            <a:ext cx="8229600" cy="857250"/>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ctr" anchorCtr="0">
            <a:normAutofit/>
          </a:bodyPr>
          <a:lstStyle/>
          <a:p>
            <a:pPr algn="ctr">
              <a:buClr>
                <a:schemeClr val="dk1"/>
              </a:buClr>
              <a:buSzPts val="4400"/>
            </a:pPr>
            <a:r>
              <a:rPr lang="en-US" b="1">
                <a:latin typeface="Times New Roman"/>
                <a:ea typeface="Times New Roman"/>
                <a:cs typeface="Times New Roman"/>
                <a:sym typeface="Times New Roman"/>
              </a:rPr>
              <a:t>Problem Solving</a:t>
            </a:r>
            <a:endParaRPr b="1">
              <a:latin typeface="Times New Roman"/>
              <a:ea typeface="Times New Roman"/>
              <a:cs typeface="Times New Roman"/>
              <a:sym typeface="Times New Roman"/>
            </a:endParaRPr>
          </a:p>
        </p:txBody>
      </p:sp>
      <p:sp>
        <p:nvSpPr>
          <p:cNvPr id="483" name="Google Shape;483;p10"/>
          <p:cNvSpPr txBox="1">
            <a:spLocks noGrp="1"/>
          </p:cNvSpPr>
          <p:nvPr>
            <p:ph type="body" idx="1"/>
          </p:nvPr>
        </p:nvSpPr>
        <p:spPr>
          <a:xfrm>
            <a:off x="457200" y="2057401"/>
            <a:ext cx="8229600" cy="3394472"/>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a:bodyPr>
          <a:lstStyle/>
          <a:p>
            <a:pPr marL="0" indent="0" algn="just">
              <a:lnSpc>
                <a:spcPct val="150000"/>
              </a:lnSpc>
              <a:buClr>
                <a:schemeClr val="dk1"/>
              </a:buClr>
              <a:buSzPts val="3200"/>
            </a:pPr>
            <a:r>
              <a:rPr lang="en-US">
                <a:latin typeface="Times New Roman"/>
                <a:ea typeface="Times New Roman"/>
                <a:cs typeface="Times New Roman"/>
                <a:sym typeface="Times New Roman"/>
              </a:rPr>
              <a:t>Developing problem solving skills in programming is very important because the success of any task assigned to you depends on </a:t>
            </a:r>
            <a:r>
              <a:rPr lang="en-US">
                <a:solidFill>
                  <a:srgbClr val="FF0000"/>
                </a:solidFill>
                <a:latin typeface="Times New Roman"/>
                <a:ea typeface="Times New Roman"/>
                <a:cs typeface="Times New Roman"/>
                <a:sym typeface="Times New Roman"/>
              </a:rPr>
              <a:t>how accurately you define the problem to design and implement a solution</a:t>
            </a:r>
            <a:r>
              <a:rPr lang="en-US">
                <a:latin typeface="Times New Roman"/>
                <a:ea typeface="Times New Roman"/>
                <a:cs typeface="Times New Roman"/>
                <a:sym typeface="Times New Roman"/>
              </a:rPr>
              <a:t>.</a:t>
            </a:r>
            <a:endParaRPr/>
          </a:p>
          <a:p>
            <a:pPr marL="0" indent="0" algn="just">
              <a:spcBef>
                <a:spcPts val="480"/>
              </a:spcBef>
              <a:buClr>
                <a:schemeClr val="dk1"/>
              </a:buClr>
              <a:buSzPts val="3200"/>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125078BE-0DA0-BCEF-03AF-A2883F9899ED}"/>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11"/>
          <p:cNvSpPr txBox="1">
            <a:spLocks noGrp="1"/>
          </p:cNvSpPr>
          <p:nvPr>
            <p:ph type="body" idx="1"/>
          </p:nvPr>
        </p:nvSpPr>
        <p:spPr>
          <a:xfrm>
            <a:off x="683568" y="1538791"/>
            <a:ext cx="7560840" cy="3913082"/>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a:bodyPr>
          <a:lstStyle/>
          <a:p>
            <a:pPr marL="0" indent="0">
              <a:buClr>
                <a:schemeClr val="dk1"/>
              </a:buClr>
              <a:buSzPts val="3200"/>
            </a:pPr>
            <a:endParaRPr b="1"/>
          </a:p>
          <a:p>
            <a:pPr marL="0" indent="0">
              <a:spcBef>
                <a:spcPts val="480"/>
              </a:spcBef>
              <a:buClr>
                <a:schemeClr val="dk1"/>
              </a:buClr>
              <a:buSzPts val="3200"/>
            </a:pPr>
            <a:endParaRPr b="1"/>
          </a:p>
          <a:p>
            <a:pPr marL="0" indent="0" algn="ctr">
              <a:spcBef>
                <a:spcPts val="480"/>
              </a:spcBef>
              <a:buClr>
                <a:schemeClr val="dk1"/>
              </a:buClr>
              <a:buSzPts val="3200"/>
            </a:pPr>
            <a:endParaRPr b="1">
              <a:solidFill>
                <a:srgbClr val="C00000"/>
              </a:solidFill>
              <a:latin typeface="Times New Roman"/>
              <a:ea typeface="Times New Roman"/>
              <a:cs typeface="Times New Roman"/>
              <a:sym typeface="Times New Roman"/>
            </a:endParaRPr>
          </a:p>
          <a:p>
            <a:pPr marL="0" indent="0" algn="ctr">
              <a:spcBef>
                <a:spcPts val="480"/>
              </a:spcBef>
              <a:buClr>
                <a:srgbClr val="C00000"/>
              </a:buClr>
              <a:buSzPts val="3200"/>
            </a:pPr>
            <a:r>
              <a:rPr lang="en-US" b="1">
                <a:solidFill>
                  <a:srgbClr val="C00000"/>
                </a:solidFill>
                <a:latin typeface="Times New Roman"/>
                <a:ea typeface="Times New Roman"/>
                <a:cs typeface="Times New Roman"/>
                <a:sym typeface="Times New Roman"/>
              </a:rPr>
              <a:t>Why do We Need to Have Problem Solving Skills?</a:t>
            </a:r>
            <a:endParaRPr/>
          </a:p>
          <a:p>
            <a:pPr marL="257175" indent="-104775">
              <a:spcBef>
                <a:spcPts val="480"/>
              </a:spcBef>
              <a:buClr>
                <a:schemeClr val="dk1"/>
              </a:buClr>
              <a:buSzPts val="3200"/>
            </a:pPr>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7346F46-0B05-0999-7330-4DAAE24B4D5E}"/>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2"/>
          <p:cNvSpPr txBox="1">
            <a:spLocks noGrp="1"/>
          </p:cNvSpPr>
          <p:nvPr>
            <p:ph type="body" idx="1"/>
          </p:nvPr>
        </p:nvSpPr>
        <p:spPr>
          <a:xfrm>
            <a:off x="575556" y="1430779"/>
            <a:ext cx="8046894" cy="402109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a:bodyPr>
          <a:lstStyle/>
          <a:p>
            <a:pPr marL="0" indent="0">
              <a:buClr>
                <a:schemeClr val="dk1"/>
              </a:buClr>
              <a:buSzPts val="3200"/>
            </a:pPr>
            <a:endParaRPr b="1"/>
          </a:p>
          <a:p>
            <a:pPr marL="0" indent="0">
              <a:spcBef>
                <a:spcPts val="480"/>
              </a:spcBef>
              <a:buClr>
                <a:schemeClr val="dk1"/>
              </a:buClr>
              <a:buSzPts val="3200"/>
            </a:pPr>
            <a:endParaRPr b="1"/>
          </a:p>
          <a:p>
            <a:pPr marL="0" indent="0">
              <a:spcBef>
                <a:spcPts val="480"/>
              </a:spcBef>
              <a:buClr>
                <a:schemeClr val="dk1"/>
              </a:buClr>
              <a:buSzPts val="3200"/>
            </a:pPr>
            <a:endParaRPr b="1"/>
          </a:p>
          <a:p>
            <a:pPr marL="0" indent="0" algn="ctr">
              <a:spcBef>
                <a:spcPts val="480"/>
              </a:spcBef>
              <a:buClr>
                <a:srgbClr val="C00000"/>
              </a:buClr>
              <a:buSzPts val="3200"/>
            </a:pPr>
            <a:r>
              <a:rPr lang="en-US" b="1">
                <a:solidFill>
                  <a:srgbClr val="C00000"/>
                </a:solidFill>
                <a:latin typeface="Times New Roman"/>
                <a:ea typeface="Times New Roman"/>
                <a:cs typeface="Times New Roman"/>
                <a:sym typeface="Times New Roman"/>
              </a:rPr>
              <a:t>How to Develop Problem Solving Skills in Programming?</a:t>
            </a:r>
            <a:endParaRPr/>
          </a:p>
          <a:p>
            <a:pPr marL="0" indent="0">
              <a:spcBef>
                <a:spcPts val="480"/>
              </a:spcBef>
              <a:buClr>
                <a:schemeClr val="dk1"/>
              </a:buClr>
              <a:buSzPts val="3200"/>
            </a:pPr>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B7413FB0-168F-4D19-DE45-90F34F848653}"/>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13"/>
          <p:cNvSpPr txBox="1">
            <a:spLocks noGrp="1"/>
          </p:cNvSpPr>
          <p:nvPr>
            <p:ph type="body" idx="1"/>
          </p:nvPr>
        </p:nvSpPr>
        <p:spPr>
          <a:xfrm>
            <a:off x="683568" y="1376773"/>
            <a:ext cx="7776864" cy="4075100"/>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a:bodyPr>
          <a:lstStyle/>
          <a:p>
            <a:pPr marL="0" indent="0" algn="just">
              <a:lnSpc>
                <a:spcPct val="150000"/>
              </a:lnSpc>
              <a:buClr>
                <a:schemeClr val="dk1"/>
              </a:buClr>
              <a:buSzPts val="3200"/>
            </a:pPr>
            <a:endParaRPr>
              <a:latin typeface="Times New Roman"/>
              <a:ea typeface="Times New Roman"/>
              <a:cs typeface="Times New Roman"/>
              <a:sym typeface="Times New Roman"/>
            </a:endParaRPr>
          </a:p>
          <a:p>
            <a:pPr marL="0" indent="0" algn="just">
              <a:lnSpc>
                <a:spcPct val="150000"/>
              </a:lnSpc>
              <a:spcBef>
                <a:spcPts val="480"/>
              </a:spcBef>
              <a:buClr>
                <a:schemeClr val="dk1"/>
              </a:buClr>
              <a:buSzPts val="3200"/>
            </a:pPr>
            <a:r>
              <a:rPr lang="en-US">
                <a:latin typeface="Times New Roman"/>
                <a:ea typeface="Times New Roman"/>
                <a:cs typeface="Times New Roman"/>
                <a:sym typeface="Times New Roman"/>
              </a:rPr>
              <a:t>To develop problem solving skills in programming, you need to go through a series of steps. Here are the steps to follow to resolve a problem</a:t>
            </a:r>
            <a:r>
              <a:rPr lang="en-US"/>
              <a:t>:</a:t>
            </a:r>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0DD3D9E-E643-3081-F393-472B87210F49}"/>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pic>
        <p:nvPicPr>
          <p:cNvPr id="503" name="Google Shape;503;p14"/>
          <p:cNvPicPr preferRelativeResize="0"/>
          <p:nvPr/>
        </p:nvPicPr>
        <p:blipFill rotWithShape="1">
          <a:blip r:embed="rId3">
            <a:alphaModFix/>
          </a:blip>
          <a:srcRect/>
          <a:stretch/>
        </p:blipFill>
        <p:spPr>
          <a:xfrm>
            <a:off x="1277635" y="1376773"/>
            <a:ext cx="5940659" cy="3780419"/>
          </a:xfrm>
          <a:prstGeom prst="rect">
            <a:avLst/>
          </a:prstGeom>
          <a:noFill/>
          <a:ln>
            <a:noFill/>
          </a:ln>
        </p:spPr>
      </p:pic>
      <p:sp>
        <p:nvSpPr>
          <p:cNvPr id="2" name="Footer Placeholder 1">
            <a:extLst>
              <a:ext uri="{FF2B5EF4-FFF2-40B4-BE49-F238E27FC236}">
                <a16:creationId xmlns:a16="http://schemas.microsoft.com/office/drawing/2014/main" id="{61917942-B8E6-8849-C01A-CD28A2B75DC5}"/>
              </a:ext>
            </a:extLst>
          </p:cNvPr>
          <p:cNvSpPr>
            <a:spLocks noGrp="1"/>
          </p:cNvSpPr>
          <p:nvPr>
            <p:ph type="ftr" idx="11"/>
          </p:nvPr>
        </p:nvSpPr>
        <p:spPr>
          <a:xfrm>
            <a:off x="2475357" y="6539204"/>
            <a:ext cx="4194809" cy="246221"/>
          </a:xfrm>
        </p:spPr>
        <p:txBody>
          <a:bodyPr/>
          <a:lstStyle/>
          <a:p>
            <a:r>
              <a:rPr lang="en-US" sz="1600" dirty="0"/>
              <a:t>University Institute of Engineering (UIE)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16"/>
          <p:cNvSpPr txBox="1"/>
          <p:nvPr/>
        </p:nvSpPr>
        <p:spPr>
          <a:xfrm>
            <a:off x="1032733" y="944724"/>
            <a:ext cx="6131555" cy="53088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ctr"/>
            <a:r>
              <a:rPr lang="en-US" sz="3000" b="1" dirty="0">
                <a:solidFill>
                  <a:schemeClr val="dk1"/>
                </a:solidFill>
                <a:latin typeface="Times New Roman"/>
                <a:ea typeface="Times New Roman"/>
                <a:cs typeface="Times New Roman"/>
                <a:sym typeface="Times New Roman"/>
              </a:rPr>
              <a:t>Why Python is popular in industry</a:t>
            </a:r>
            <a:endParaRPr sz="3000" b="1" dirty="0">
              <a:solidFill>
                <a:schemeClr val="dk1"/>
              </a:solidFill>
              <a:latin typeface="Times New Roman"/>
              <a:ea typeface="Times New Roman"/>
              <a:cs typeface="Times New Roman"/>
              <a:sym typeface="Times New Roman"/>
            </a:endParaRPr>
          </a:p>
        </p:txBody>
      </p:sp>
      <p:sp>
        <p:nvSpPr>
          <p:cNvPr id="514" name="Google Shape;514;p16"/>
          <p:cNvSpPr txBox="1"/>
          <p:nvPr/>
        </p:nvSpPr>
        <p:spPr>
          <a:xfrm>
            <a:off x="262136" y="1572184"/>
            <a:ext cx="8694966" cy="4431952"/>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r>
              <a:rPr lang="en-US" sz="1800" b="1">
                <a:solidFill>
                  <a:srgbClr val="FF0000"/>
                </a:solidFill>
                <a:latin typeface="Times New Roman"/>
                <a:ea typeface="Times New Roman"/>
                <a:cs typeface="Times New Roman"/>
                <a:sym typeface="Times New Roman"/>
              </a:rPr>
              <a:t>Web development</a:t>
            </a:r>
            <a:r>
              <a:rPr lang="en-US" sz="1800">
                <a:solidFill>
                  <a:schemeClr val="dk1"/>
                </a:solidFill>
                <a:latin typeface="Times New Roman"/>
                <a:ea typeface="Times New Roman"/>
                <a:cs typeface="Times New Roman"/>
                <a:sym typeface="Times New Roman"/>
              </a:rPr>
              <a:t>: Python is a popular choice for web development because it is easy to use, has a large library of web frameworks, and is efficient. Some popular Python web frameworks include </a:t>
            </a:r>
            <a:r>
              <a:rPr lang="en-US" sz="1800" b="1">
                <a:solidFill>
                  <a:srgbClr val="0070C0"/>
                </a:solidFill>
                <a:latin typeface="Times New Roman"/>
                <a:ea typeface="Times New Roman"/>
                <a:cs typeface="Times New Roman"/>
                <a:sym typeface="Times New Roman"/>
              </a:rPr>
              <a:t>Django, Flask, and Pyramid</a:t>
            </a:r>
            <a:r>
              <a:rPr lang="en-US" sz="1800">
                <a:solidFill>
                  <a:schemeClr val="dk1"/>
                </a:solidFill>
                <a:latin typeface="Times New Roman"/>
                <a:ea typeface="Times New Roman"/>
                <a:cs typeface="Times New Roman"/>
                <a:sym typeface="Times New Roman"/>
              </a:rPr>
              <a:t>.</a:t>
            </a:r>
            <a:endParaRPr sz="1050"/>
          </a:p>
          <a:p>
            <a:endParaRPr sz="1800">
              <a:solidFill>
                <a:schemeClr val="dk1"/>
              </a:solidFill>
              <a:latin typeface="Times New Roman"/>
              <a:ea typeface="Times New Roman"/>
              <a:cs typeface="Times New Roman"/>
              <a:sym typeface="Times New Roman"/>
            </a:endParaRPr>
          </a:p>
          <a:p>
            <a:r>
              <a:rPr lang="en-US" sz="1800" b="1">
                <a:solidFill>
                  <a:srgbClr val="FF0000"/>
                </a:solidFill>
                <a:latin typeface="Times New Roman"/>
                <a:ea typeface="Times New Roman"/>
                <a:cs typeface="Times New Roman"/>
                <a:sym typeface="Times New Roman"/>
              </a:rPr>
              <a:t>Data science: </a:t>
            </a:r>
            <a:r>
              <a:rPr lang="en-US" sz="1800">
                <a:solidFill>
                  <a:schemeClr val="dk1"/>
                </a:solidFill>
                <a:latin typeface="Times New Roman"/>
                <a:ea typeface="Times New Roman"/>
                <a:cs typeface="Times New Roman"/>
                <a:sym typeface="Times New Roman"/>
              </a:rPr>
              <a:t>Python is a popular choice for data science because it has a number of powerful libraries for data analysis and machine learning. Some popular Python libraries for data science include </a:t>
            </a:r>
            <a:r>
              <a:rPr lang="en-US" sz="1800" b="1">
                <a:solidFill>
                  <a:srgbClr val="0070C0"/>
                </a:solidFill>
                <a:latin typeface="Times New Roman"/>
                <a:ea typeface="Times New Roman"/>
                <a:cs typeface="Times New Roman"/>
                <a:sym typeface="Times New Roman"/>
              </a:rPr>
              <a:t>NumPy, Pandas, and Scikit-learn</a:t>
            </a:r>
            <a:r>
              <a:rPr lang="en-US" sz="1800">
                <a:solidFill>
                  <a:schemeClr val="dk1"/>
                </a:solidFill>
                <a:latin typeface="Times New Roman"/>
                <a:ea typeface="Times New Roman"/>
                <a:cs typeface="Times New Roman"/>
                <a:sym typeface="Times New Roman"/>
              </a:rPr>
              <a:t>.</a:t>
            </a:r>
            <a:endParaRPr sz="1050"/>
          </a:p>
          <a:p>
            <a:endParaRPr sz="1800">
              <a:solidFill>
                <a:schemeClr val="dk1"/>
              </a:solidFill>
              <a:latin typeface="Times New Roman"/>
              <a:ea typeface="Times New Roman"/>
              <a:cs typeface="Times New Roman"/>
              <a:sym typeface="Times New Roman"/>
            </a:endParaRPr>
          </a:p>
          <a:p>
            <a:r>
              <a:rPr lang="en-US" sz="1800" b="1">
                <a:solidFill>
                  <a:srgbClr val="FF0000"/>
                </a:solidFill>
                <a:latin typeface="Times New Roman"/>
                <a:ea typeface="Times New Roman"/>
                <a:cs typeface="Times New Roman"/>
                <a:sym typeface="Times New Roman"/>
              </a:rPr>
              <a:t>Machine learning:</a:t>
            </a:r>
            <a:r>
              <a:rPr lang="en-US" sz="1800">
                <a:solidFill>
                  <a:schemeClr val="dk1"/>
                </a:solidFill>
                <a:latin typeface="Times New Roman"/>
                <a:ea typeface="Times New Roman"/>
                <a:cs typeface="Times New Roman"/>
                <a:sym typeface="Times New Roman"/>
              </a:rPr>
              <a:t> Python is a popular choice for machine learning because it has a number of powerful libraries for machine learning. Some popular Python libraries for machine learning include </a:t>
            </a:r>
            <a:r>
              <a:rPr lang="en-US" sz="1800" b="1">
                <a:solidFill>
                  <a:srgbClr val="0070C0"/>
                </a:solidFill>
                <a:latin typeface="Times New Roman"/>
                <a:ea typeface="Times New Roman"/>
                <a:cs typeface="Times New Roman"/>
                <a:sym typeface="Times New Roman"/>
              </a:rPr>
              <a:t>TensorFlow, PyTorch, and scikit-learn</a:t>
            </a:r>
            <a:r>
              <a:rPr lang="en-US" sz="1800">
                <a:solidFill>
                  <a:schemeClr val="dk1"/>
                </a:solidFill>
                <a:latin typeface="Times New Roman"/>
                <a:ea typeface="Times New Roman"/>
                <a:cs typeface="Times New Roman"/>
                <a:sym typeface="Times New Roman"/>
              </a:rPr>
              <a:t>.</a:t>
            </a:r>
            <a:endParaRPr sz="1050"/>
          </a:p>
          <a:p>
            <a:endParaRPr sz="1800">
              <a:solidFill>
                <a:schemeClr val="dk1"/>
              </a:solidFill>
              <a:latin typeface="Times New Roman"/>
              <a:ea typeface="Times New Roman"/>
              <a:cs typeface="Times New Roman"/>
              <a:sym typeface="Times New Roman"/>
            </a:endParaRPr>
          </a:p>
          <a:p>
            <a:r>
              <a:rPr lang="en-US" sz="1800" b="1">
                <a:solidFill>
                  <a:srgbClr val="FF0000"/>
                </a:solidFill>
                <a:latin typeface="Times New Roman"/>
                <a:ea typeface="Times New Roman"/>
                <a:cs typeface="Times New Roman"/>
                <a:sym typeface="Times New Roman"/>
              </a:rPr>
              <a:t>Artificial intelligence:</a:t>
            </a:r>
            <a:r>
              <a:rPr lang="en-US" sz="1800">
                <a:solidFill>
                  <a:schemeClr val="dk1"/>
                </a:solidFill>
                <a:latin typeface="Times New Roman"/>
                <a:ea typeface="Times New Roman"/>
                <a:cs typeface="Times New Roman"/>
                <a:sym typeface="Times New Roman"/>
              </a:rPr>
              <a:t> Python is a popular choice for artificial intelligence because it is easy to use and has a large library of AI libraries. Some popular Python libraries for AI include </a:t>
            </a:r>
            <a:r>
              <a:rPr lang="en-US" sz="1800" b="1">
                <a:solidFill>
                  <a:srgbClr val="0070C0"/>
                </a:solidFill>
                <a:latin typeface="Times New Roman"/>
                <a:ea typeface="Times New Roman"/>
                <a:cs typeface="Times New Roman"/>
                <a:sym typeface="Times New Roman"/>
              </a:rPr>
              <a:t>TensorFlow, PyTorch, and OpenAI Gym.</a:t>
            </a:r>
            <a:endParaRPr sz="1050"/>
          </a:p>
          <a:p>
            <a:endParaRPr sz="135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823A707C-1531-0822-8F28-5FF1B48F667B}"/>
              </a:ext>
            </a:extLst>
          </p:cNvPr>
          <p:cNvSpPr>
            <a:spLocks noGrp="1"/>
          </p:cNvSpPr>
          <p:nvPr>
            <p:ph type="ftr" idx="11"/>
          </p:nvPr>
        </p:nvSpPr>
        <p:spPr>
          <a:xfrm>
            <a:off x="3028949" y="6497619"/>
            <a:ext cx="3823671" cy="223859"/>
          </a:xfrm>
        </p:spPr>
        <p:txBody>
          <a:bodyPr/>
          <a:lstStyle/>
          <a:p>
            <a:r>
              <a:rPr lang="en-US" sz="1600" dirty="0"/>
              <a:t>University Institute of Engineering (UIE)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17"/>
          <p:cNvSpPr txBox="1"/>
          <p:nvPr/>
        </p:nvSpPr>
        <p:spPr>
          <a:xfrm>
            <a:off x="1097279" y="944724"/>
            <a:ext cx="6067009" cy="53088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ctr"/>
            <a:r>
              <a:rPr lang="en-US" sz="3000" b="1">
                <a:solidFill>
                  <a:schemeClr val="dk1"/>
                </a:solidFill>
                <a:latin typeface="Times New Roman"/>
                <a:ea typeface="Times New Roman"/>
                <a:cs typeface="Times New Roman"/>
                <a:sym typeface="Times New Roman"/>
              </a:rPr>
              <a:t>Career Opportunities</a:t>
            </a:r>
            <a:endParaRPr sz="3000" b="1">
              <a:solidFill>
                <a:schemeClr val="dk1"/>
              </a:solidFill>
              <a:latin typeface="Times New Roman"/>
              <a:ea typeface="Times New Roman"/>
              <a:cs typeface="Times New Roman"/>
              <a:sym typeface="Times New Roman"/>
            </a:endParaRPr>
          </a:p>
        </p:txBody>
      </p:sp>
      <p:sp>
        <p:nvSpPr>
          <p:cNvPr id="520" name="Google Shape;520;p17"/>
          <p:cNvSpPr txBox="1"/>
          <p:nvPr/>
        </p:nvSpPr>
        <p:spPr>
          <a:xfrm>
            <a:off x="262136" y="1592796"/>
            <a:ext cx="8694966" cy="473203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just"/>
            <a:r>
              <a:rPr lang="en-US" sz="1800">
                <a:solidFill>
                  <a:schemeClr val="dk1"/>
                </a:solidFill>
                <a:latin typeface="Times New Roman"/>
                <a:ea typeface="Times New Roman"/>
                <a:cs typeface="Times New Roman"/>
                <a:sym typeface="Times New Roman"/>
              </a:rPr>
              <a:t>Python is a versatile programming language that is used in a wide variety of industries, making it a great choice for a career. Here are some of the most popular career opportunities for Python developers:</a:t>
            </a:r>
            <a:endParaRPr sz="1050"/>
          </a:p>
          <a:p>
            <a:pPr algn="just"/>
            <a:r>
              <a:rPr lang="en-US" sz="1800" b="1">
                <a:solidFill>
                  <a:srgbClr val="FF0000"/>
                </a:solidFill>
                <a:latin typeface="Times New Roman"/>
                <a:ea typeface="Times New Roman"/>
                <a:cs typeface="Times New Roman"/>
                <a:sym typeface="Times New Roman"/>
              </a:rPr>
              <a:t>Software Engineer: </a:t>
            </a:r>
            <a:r>
              <a:rPr lang="en-US" sz="1800">
                <a:solidFill>
                  <a:schemeClr val="dk1"/>
                </a:solidFill>
                <a:latin typeface="Times New Roman"/>
                <a:ea typeface="Times New Roman"/>
                <a:cs typeface="Times New Roman"/>
                <a:sym typeface="Times New Roman"/>
              </a:rPr>
              <a:t>Software engineers are responsible for designing, developing, and testing software applications. Python is a popular language for software development, as it is easy to learn and use, and it is very versatile. Software engineers with Python skills can find jobs in a variety of industries, including healthcare, finance, and technology.</a:t>
            </a:r>
            <a:endParaRPr sz="1050"/>
          </a:p>
          <a:p>
            <a:pPr algn="just"/>
            <a:r>
              <a:rPr lang="en-US" sz="1800" b="1">
                <a:solidFill>
                  <a:srgbClr val="FF0000"/>
                </a:solidFill>
                <a:latin typeface="Times New Roman"/>
                <a:ea typeface="Times New Roman"/>
                <a:cs typeface="Times New Roman"/>
                <a:sym typeface="Times New Roman"/>
              </a:rPr>
              <a:t>Data Scientist:</a:t>
            </a:r>
            <a:r>
              <a:rPr lang="en-US" sz="1800">
                <a:solidFill>
                  <a:schemeClr val="dk1"/>
                </a:solidFill>
                <a:latin typeface="Times New Roman"/>
                <a:ea typeface="Times New Roman"/>
                <a:cs typeface="Times New Roman"/>
                <a:sym typeface="Times New Roman"/>
              </a:rPr>
              <a:t> Data scientists are responsible for collecting, analyzing, and interpreting data. Python is a popular language for data science, as it is well-suited for data manipulation and analysis. Data scientists with Python skills can find jobs in a variety of industries, including healthcare, finance, and marketing.</a:t>
            </a:r>
            <a:endParaRPr sz="1050"/>
          </a:p>
          <a:p>
            <a:pPr algn="just"/>
            <a:r>
              <a:rPr lang="en-US" sz="1800" b="1">
                <a:solidFill>
                  <a:srgbClr val="FF0000"/>
                </a:solidFill>
                <a:latin typeface="Times New Roman"/>
                <a:ea typeface="Times New Roman"/>
                <a:cs typeface="Times New Roman"/>
                <a:sym typeface="Times New Roman"/>
              </a:rPr>
              <a:t>Machine Learning Engineer:</a:t>
            </a:r>
            <a:r>
              <a:rPr lang="en-US" sz="1800">
                <a:solidFill>
                  <a:schemeClr val="dk1"/>
                </a:solidFill>
                <a:latin typeface="Times New Roman"/>
                <a:ea typeface="Times New Roman"/>
                <a:cs typeface="Times New Roman"/>
                <a:sym typeface="Times New Roman"/>
              </a:rPr>
              <a:t> Machine learning engineers are responsible for developing and deploying machine learning models. Python is a popular language for machine learning, as it is easy to use and has a large library of machine learning libraries. Machine learning engineers with Python skills can find jobs in a variety of industries, including healthcare, finance, and retail.</a:t>
            </a:r>
            <a:endParaRPr sz="1050"/>
          </a:p>
          <a:p>
            <a:endParaRPr sz="15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710FC05B-9894-232A-3E1F-79ED33C214F1}"/>
              </a:ext>
            </a:extLst>
          </p:cNvPr>
          <p:cNvSpPr>
            <a:spLocks noGrp="1"/>
          </p:cNvSpPr>
          <p:nvPr>
            <p:ph type="ftr" idx="11"/>
          </p:nvPr>
        </p:nvSpPr>
        <p:spPr>
          <a:xfrm>
            <a:off x="3028950" y="6583680"/>
            <a:ext cx="3812914" cy="137798"/>
          </a:xfrm>
        </p:spPr>
        <p:txBody>
          <a:bodyPr/>
          <a:lstStyle/>
          <a:p>
            <a:r>
              <a:rPr lang="en-US" sz="1600" dirty="0"/>
              <a:t>University Institute of Engineering (UIE)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8"/>
          <p:cNvSpPr txBox="1"/>
          <p:nvPr/>
        </p:nvSpPr>
        <p:spPr>
          <a:xfrm>
            <a:off x="1086521" y="944724"/>
            <a:ext cx="6077767" cy="53088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ctr"/>
            <a:r>
              <a:rPr lang="en-US" sz="3000" b="1">
                <a:solidFill>
                  <a:schemeClr val="dk1"/>
                </a:solidFill>
                <a:latin typeface="Times New Roman"/>
                <a:ea typeface="Times New Roman"/>
                <a:cs typeface="Times New Roman"/>
                <a:sym typeface="Times New Roman"/>
              </a:rPr>
              <a:t>Career Opportunities</a:t>
            </a:r>
            <a:endParaRPr sz="3000" b="1">
              <a:solidFill>
                <a:schemeClr val="dk1"/>
              </a:solidFill>
              <a:latin typeface="Times New Roman"/>
              <a:ea typeface="Times New Roman"/>
              <a:cs typeface="Times New Roman"/>
              <a:sym typeface="Times New Roman"/>
            </a:endParaRPr>
          </a:p>
        </p:txBody>
      </p:sp>
      <p:sp>
        <p:nvSpPr>
          <p:cNvPr id="526" name="Google Shape;526;p18"/>
          <p:cNvSpPr txBox="1"/>
          <p:nvPr/>
        </p:nvSpPr>
        <p:spPr>
          <a:xfrm>
            <a:off x="283641" y="1700808"/>
            <a:ext cx="8694966" cy="401645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just">
              <a:lnSpc>
                <a:spcPct val="150000"/>
              </a:lnSpc>
            </a:pPr>
            <a:r>
              <a:rPr lang="en-US" sz="1800" b="1">
                <a:solidFill>
                  <a:srgbClr val="FF0000"/>
                </a:solidFill>
                <a:latin typeface="Times New Roman"/>
                <a:ea typeface="Times New Roman"/>
                <a:cs typeface="Times New Roman"/>
                <a:sym typeface="Times New Roman"/>
              </a:rPr>
              <a:t>Web Developer:</a:t>
            </a:r>
            <a:r>
              <a:rPr lang="en-US" sz="1800">
                <a:solidFill>
                  <a:schemeClr val="dk1"/>
                </a:solidFill>
                <a:latin typeface="Times New Roman"/>
                <a:ea typeface="Times New Roman"/>
                <a:cs typeface="Times New Roman"/>
                <a:sym typeface="Times New Roman"/>
              </a:rPr>
              <a:t> Web developers are responsible for developing and maintaining websites and web applications. Python is a popular language for web development, as it is easy to learn and use, and it is very versatile. Web developers with Python skills can find jobs in a variety of industries, including e-commerce, media, and education.</a:t>
            </a:r>
            <a:endParaRPr sz="1050"/>
          </a:p>
          <a:p>
            <a:pPr algn="just">
              <a:lnSpc>
                <a:spcPct val="150000"/>
              </a:lnSpc>
            </a:pPr>
            <a:r>
              <a:rPr lang="en-US" sz="1800" b="1">
                <a:solidFill>
                  <a:srgbClr val="FF0000"/>
                </a:solidFill>
                <a:latin typeface="Times New Roman"/>
                <a:ea typeface="Times New Roman"/>
                <a:cs typeface="Times New Roman"/>
                <a:sym typeface="Times New Roman"/>
              </a:rPr>
              <a:t>DevOps Engineer: </a:t>
            </a:r>
            <a:r>
              <a:rPr lang="en-US" sz="1800">
                <a:solidFill>
                  <a:schemeClr val="dk1"/>
                </a:solidFill>
                <a:latin typeface="Times New Roman"/>
                <a:ea typeface="Times New Roman"/>
                <a:cs typeface="Times New Roman"/>
                <a:sym typeface="Times New Roman"/>
              </a:rPr>
              <a:t>DevOps engineers are responsible for automating the software development and deployment process. Python is a popular language for DevOps, as it is easy to use and has a large library of automation libraries. DevOps engineers with Python skills can find jobs in a variety of industries, including healthcare, finance, and technology.</a:t>
            </a:r>
            <a:endParaRPr sz="1050"/>
          </a:p>
          <a:p>
            <a:pPr algn="just">
              <a:lnSpc>
                <a:spcPct val="150000"/>
              </a:lnSpc>
            </a:pPr>
            <a:r>
              <a:rPr lang="en-US" sz="1800">
                <a:solidFill>
                  <a:schemeClr val="dk1"/>
                </a:solidFill>
                <a:latin typeface="Times New Roman"/>
                <a:ea typeface="Times New Roman"/>
                <a:cs typeface="Times New Roman"/>
                <a:sym typeface="Times New Roman"/>
              </a:rPr>
              <a:t>These are just a few of the many career opportunities that are available to Python developers</a:t>
            </a:r>
            <a:endParaRPr sz="1050"/>
          </a:p>
          <a:p>
            <a:endParaRPr sz="135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1D41D41E-9C1A-BB7F-87E8-7ECC02F54DB7}"/>
              </a:ext>
            </a:extLst>
          </p:cNvPr>
          <p:cNvSpPr>
            <a:spLocks noGrp="1"/>
          </p:cNvSpPr>
          <p:nvPr>
            <p:ph type="ftr" idx="11"/>
          </p:nvPr>
        </p:nvSpPr>
        <p:spPr>
          <a:xfrm>
            <a:off x="3028950" y="6529892"/>
            <a:ext cx="3855944" cy="215153"/>
          </a:xfrm>
        </p:spPr>
        <p:txBody>
          <a:bodyPr/>
          <a:lstStyle/>
          <a:p>
            <a:r>
              <a:rPr lang="en-US" sz="1600" dirty="0"/>
              <a:t>University Institute of Engineering (UIE)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9"/>
          <p:cNvSpPr txBox="1"/>
          <p:nvPr/>
        </p:nvSpPr>
        <p:spPr>
          <a:xfrm>
            <a:off x="1097280" y="1160748"/>
            <a:ext cx="5958996" cy="53088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ctr"/>
            <a:r>
              <a:rPr lang="en-US" sz="3000" b="1">
                <a:solidFill>
                  <a:schemeClr val="dk1"/>
                </a:solidFill>
                <a:latin typeface="Times New Roman"/>
                <a:ea typeface="Times New Roman"/>
                <a:cs typeface="Times New Roman"/>
                <a:sym typeface="Times New Roman"/>
              </a:rPr>
              <a:t>Introduction to Python</a:t>
            </a:r>
            <a:endParaRPr sz="1050"/>
          </a:p>
        </p:txBody>
      </p:sp>
      <p:sp>
        <p:nvSpPr>
          <p:cNvPr id="532" name="Google Shape;532;p19"/>
          <p:cNvSpPr txBox="1"/>
          <p:nvPr/>
        </p:nvSpPr>
        <p:spPr>
          <a:xfrm>
            <a:off x="3239803" y="4059120"/>
            <a:ext cx="6210690" cy="276969"/>
          </a:xfrm>
          <a:prstGeom prst="rect">
            <a:avLst/>
          </a:prstGeom>
          <a:noFill/>
          <a:ln>
            <a:noFill/>
          </a:ln>
        </p:spPr>
        <p:txBody>
          <a:bodyPr spcFirstLastPara="1" wrap="square" lIns="68569" tIns="34275" rIns="68569" bIns="34275" anchor="t" anchorCtr="0">
            <a:spAutoFit/>
          </a:bodyPr>
          <a:lstStyle/>
          <a:p>
            <a:endParaRPr sz="1350">
              <a:solidFill>
                <a:schemeClr val="dk1"/>
              </a:solidFill>
              <a:latin typeface="Calibri"/>
              <a:ea typeface="Calibri"/>
              <a:cs typeface="Calibri"/>
              <a:sym typeface="Calibri"/>
            </a:endParaRPr>
          </a:p>
        </p:txBody>
      </p:sp>
      <p:pic>
        <p:nvPicPr>
          <p:cNvPr id="533" name="Google Shape;533;p19" descr="Introduction To Python | All You Need To Know About Python | Edureka"/>
          <p:cNvPicPr preferRelativeResize="0"/>
          <p:nvPr/>
        </p:nvPicPr>
        <p:blipFill rotWithShape="1">
          <a:blip r:embed="rId3">
            <a:alphaModFix/>
          </a:blip>
          <a:srcRect/>
          <a:stretch/>
        </p:blipFill>
        <p:spPr>
          <a:xfrm>
            <a:off x="2249742" y="2078850"/>
            <a:ext cx="4050450" cy="3402378"/>
          </a:xfrm>
          <a:prstGeom prst="rect">
            <a:avLst/>
          </a:prstGeom>
          <a:noFill/>
          <a:ln>
            <a:noFill/>
          </a:ln>
        </p:spPr>
      </p:pic>
      <p:sp>
        <p:nvSpPr>
          <p:cNvPr id="2" name="Footer Placeholder 1">
            <a:extLst>
              <a:ext uri="{FF2B5EF4-FFF2-40B4-BE49-F238E27FC236}">
                <a16:creationId xmlns:a16="http://schemas.microsoft.com/office/drawing/2014/main" id="{2337717B-3FA1-E2E3-15D6-B9AD12541A07}"/>
              </a:ext>
            </a:extLst>
          </p:cNvPr>
          <p:cNvSpPr>
            <a:spLocks noGrp="1"/>
          </p:cNvSpPr>
          <p:nvPr>
            <p:ph type="ftr" idx="11"/>
          </p:nvPr>
        </p:nvSpPr>
        <p:spPr>
          <a:xfrm>
            <a:off x="2366682" y="6529892"/>
            <a:ext cx="3748368" cy="191586"/>
          </a:xfrm>
        </p:spPr>
        <p:txBody>
          <a:bodyPr/>
          <a:lstStyle/>
          <a:p>
            <a:r>
              <a:rPr lang="en-US" sz="1600" dirty="0"/>
              <a:t>University Institute of Engineering (UIE)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20" descr="Python Tutorial"/>
          <p:cNvPicPr preferRelativeResize="0"/>
          <p:nvPr/>
        </p:nvPicPr>
        <p:blipFill rotWithShape="1">
          <a:blip r:embed="rId3">
            <a:alphaModFix/>
          </a:blip>
          <a:srcRect/>
          <a:stretch/>
        </p:blipFill>
        <p:spPr>
          <a:xfrm>
            <a:off x="1655676" y="1322766"/>
            <a:ext cx="5778642" cy="4158462"/>
          </a:xfrm>
          <a:prstGeom prst="rect">
            <a:avLst/>
          </a:prstGeom>
          <a:noFill/>
          <a:ln>
            <a:noFill/>
          </a:ln>
        </p:spPr>
      </p:pic>
      <p:sp>
        <p:nvSpPr>
          <p:cNvPr id="2" name="Footer Placeholder 1">
            <a:extLst>
              <a:ext uri="{FF2B5EF4-FFF2-40B4-BE49-F238E27FC236}">
                <a16:creationId xmlns:a16="http://schemas.microsoft.com/office/drawing/2014/main" id="{8D38F56C-9026-469E-C000-B5B547C664EA}"/>
              </a:ext>
            </a:extLst>
          </p:cNvPr>
          <p:cNvSpPr>
            <a:spLocks noGrp="1"/>
          </p:cNvSpPr>
          <p:nvPr>
            <p:ph type="ftr" idx="11"/>
          </p:nvPr>
        </p:nvSpPr>
        <p:spPr>
          <a:xfrm>
            <a:off x="3028950" y="6648226"/>
            <a:ext cx="3608518" cy="73252"/>
          </a:xfrm>
        </p:spPr>
        <p:txBody>
          <a:bodyPr/>
          <a:lstStyle/>
          <a:p>
            <a:r>
              <a:rPr lang="en-US" sz="1600" dirty="0"/>
              <a:t>University Institute of Engineering (UIE)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pic>
        <p:nvPicPr>
          <p:cNvPr id="543" name="Google Shape;543;p21" descr="This article introduces multiple Python IDEs and evaluates their advantages  and disadvantages. Readers can refer to the list of Python IDEs listed in  this article and choose the one that suits them -"/>
          <p:cNvPicPr preferRelativeResize="0"/>
          <p:nvPr/>
        </p:nvPicPr>
        <p:blipFill rotWithShape="1">
          <a:blip r:embed="rId3">
            <a:alphaModFix/>
          </a:blip>
          <a:srcRect/>
          <a:stretch/>
        </p:blipFill>
        <p:spPr>
          <a:xfrm>
            <a:off x="274440" y="1962346"/>
            <a:ext cx="8100900" cy="3294366"/>
          </a:xfrm>
          <a:prstGeom prst="rect">
            <a:avLst/>
          </a:prstGeom>
          <a:noFill/>
          <a:ln w="9525" cap="flat" cmpd="sng">
            <a:solidFill>
              <a:schemeClr val="dk1"/>
            </a:solidFill>
            <a:prstDash val="solid"/>
            <a:round/>
            <a:headEnd type="none" w="sm" len="sm"/>
            <a:tailEnd type="none" w="sm" len="sm"/>
          </a:ln>
        </p:spPr>
      </p:pic>
      <p:sp>
        <p:nvSpPr>
          <p:cNvPr id="544" name="Google Shape;544;p21"/>
          <p:cNvSpPr txBox="1"/>
          <p:nvPr/>
        </p:nvSpPr>
        <p:spPr>
          <a:xfrm>
            <a:off x="1075764" y="1160749"/>
            <a:ext cx="6088523" cy="577051"/>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spAutoFit/>
          </a:bodyPr>
          <a:lstStyle/>
          <a:p>
            <a:pPr algn="ctr"/>
            <a:r>
              <a:rPr lang="en-US" sz="3300" b="1">
                <a:solidFill>
                  <a:schemeClr val="dk1"/>
                </a:solidFill>
                <a:latin typeface="Times New Roman"/>
                <a:ea typeface="Times New Roman"/>
                <a:cs typeface="Times New Roman"/>
                <a:sym typeface="Times New Roman"/>
              </a:rPr>
              <a:t>Python IDEs</a:t>
            </a:r>
            <a:r>
              <a:rPr lang="en-US" sz="1350">
                <a:solidFill>
                  <a:schemeClr val="dk1"/>
                </a:solidFill>
                <a:latin typeface="Calibri"/>
                <a:ea typeface="Calibri"/>
                <a:cs typeface="Calibri"/>
                <a:sym typeface="Calibri"/>
              </a:rPr>
              <a:t> </a:t>
            </a:r>
            <a:endParaRPr sz="1050"/>
          </a:p>
        </p:txBody>
      </p:sp>
      <p:sp>
        <p:nvSpPr>
          <p:cNvPr id="2" name="Footer Placeholder 1">
            <a:extLst>
              <a:ext uri="{FF2B5EF4-FFF2-40B4-BE49-F238E27FC236}">
                <a16:creationId xmlns:a16="http://schemas.microsoft.com/office/drawing/2014/main" id="{B34074D3-ABA7-0935-33BF-3242BE5B7640}"/>
              </a:ext>
            </a:extLst>
          </p:cNvPr>
          <p:cNvSpPr>
            <a:spLocks noGrp="1"/>
          </p:cNvSpPr>
          <p:nvPr>
            <p:ph type="ftr" idx="11"/>
          </p:nvPr>
        </p:nvSpPr>
        <p:spPr>
          <a:xfrm>
            <a:off x="3028950" y="6540649"/>
            <a:ext cx="3920490" cy="317351"/>
          </a:xfrm>
        </p:spPr>
        <p:txBody>
          <a:bodyPr/>
          <a:lstStyle/>
          <a:p>
            <a:r>
              <a:rPr lang="en-US" sz="1600" dirty="0"/>
              <a:t>University Institute of Engineering (UIE)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4" name="Google Shape;584;p26"/>
          <p:cNvSpPr txBox="1">
            <a:spLocks noGrp="1"/>
          </p:cNvSpPr>
          <p:nvPr>
            <p:ph type="title" idx="4294967295"/>
          </p:nvPr>
        </p:nvSpPr>
        <p:spPr>
          <a:xfrm>
            <a:off x="946672" y="1014905"/>
            <a:ext cx="6159635"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rmAutofit fontScale="90000"/>
          </a:bodyPr>
          <a:lstStyle/>
          <a:p>
            <a:pPr algn="ctr">
              <a:buClr>
                <a:schemeClr val="dk1"/>
              </a:buClr>
              <a:buSzPts val="4000"/>
            </a:pPr>
            <a:r>
              <a:rPr lang="en-US" sz="3000" dirty="0">
                <a:solidFill>
                  <a:schemeClr val="dk1"/>
                </a:solidFill>
                <a:latin typeface="Times New Roman"/>
                <a:ea typeface="Times New Roman"/>
                <a:cs typeface="Times New Roman"/>
                <a:sym typeface="Times New Roman"/>
              </a:rPr>
              <a:t>Introduction to Python Programming</a:t>
            </a:r>
            <a:endParaRPr dirty="0"/>
          </a:p>
        </p:txBody>
      </p:sp>
      <p:graphicFrame>
        <p:nvGraphicFramePr>
          <p:cNvPr id="585" name="Google Shape;585;p26"/>
          <p:cNvGraphicFramePr/>
          <p:nvPr/>
        </p:nvGraphicFramePr>
        <p:xfrm>
          <a:off x="509588" y="1840706"/>
          <a:ext cx="7886700" cy="3860456"/>
        </p:xfrm>
        <a:graphic>
          <a:graphicData uri="http://schemas.openxmlformats.org/drawingml/2006/table">
            <a:tbl>
              <a:tblPr firstRow="1" bandRow="1">
                <a:noFill/>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3860456">
                <a:tc>
                  <a:txBody>
                    <a:bodyPr/>
                    <a:lstStyle/>
                    <a:p>
                      <a:pPr marL="0" marR="0" lvl="0" indent="0" algn="l" rtl="0">
                        <a:spcBef>
                          <a:spcPts val="0"/>
                        </a:spcBef>
                        <a:spcAft>
                          <a:spcPts val="0"/>
                        </a:spcAft>
                        <a:buNone/>
                      </a:pPr>
                      <a:endParaRPr sz="1400"/>
                    </a:p>
                  </a:txBody>
                  <a:tcPr marL="68588" marR="68588" marT="34294" marB="34294"/>
                </a:tc>
                <a:tc>
                  <a:txBody>
                    <a:bodyPr/>
                    <a:lstStyle/>
                    <a:p>
                      <a:pPr marL="285750" marR="0" lvl="0" indent="-285750" algn="just" rtl="0">
                        <a:lnSpc>
                          <a:spcPct val="100000"/>
                        </a:lnSpc>
                        <a:spcBef>
                          <a:spcPts val="0"/>
                        </a:spcBef>
                        <a:spcAft>
                          <a:spcPts val="0"/>
                        </a:spcAft>
                        <a:buClr>
                          <a:schemeClr val="dk1"/>
                        </a:buClr>
                        <a:buSzPts val="2400"/>
                        <a:buFont typeface="Arial"/>
                        <a:buChar char="•"/>
                      </a:pPr>
                      <a:r>
                        <a:rPr lang="en-US" sz="1800" b="1" i="0">
                          <a:solidFill>
                            <a:schemeClr val="dk1"/>
                          </a:solidFill>
                          <a:latin typeface="Times New Roman"/>
                          <a:ea typeface="Times New Roman"/>
                          <a:cs typeface="Times New Roman"/>
                          <a:sym typeface="Times New Roman"/>
                        </a:rPr>
                        <a:t>Meaning and history</a:t>
                      </a:r>
                      <a:endParaRPr sz="1100"/>
                    </a:p>
                    <a:p>
                      <a:pPr marL="285750" marR="0" lvl="0" indent="-285750" algn="just" rtl="0">
                        <a:spcBef>
                          <a:spcPts val="0"/>
                        </a:spcBef>
                        <a:spcAft>
                          <a:spcPts val="0"/>
                        </a:spcAft>
                        <a:buClr>
                          <a:schemeClr val="dk1"/>
                        </a:buClr>
                        <a:buSzPts val="2400"/>
                        <a:buFont typeface="Arial"/>
                        <a:buChar char="•"/>
                      </a:pPr>
                      <a:r>
                        <a:rPr lang="en-US" sz="1800" b="0" i="0">
                          <a:solidFill>
                            <a:schemeClr val="dk1"/>
                          </a:solidFill>
                          <a:latin typeface="Times New Roman"/>
                          <a:ea typeface="Times New Roman"/>
                          <a:cs typeface="Times New Roman"/>
                          <a:sym typeface="Times New Roman"/>
                        </a:rPr>
                        <a:t>The Python logo, designed by Tim Parkin.</a:t>
                      </a:r>
                      <a:endParaRPr sz="1100"/>
                    </a:p>
                    <a:p>
                      <a:pPr marL="285750" marR="0" lvl="0" indent="-285750" algn="just" rtl="0">
                        <a:spcBef>
                          <a:spcPts val="0"/>
                        </a:spcBef>
                        <a:spcAft>
                          <a:spcPts val="0"/>
                        </a:spcAft>
                        <a:buClr>
                          <a:schemeClr val="dk1"/>
                        </a:buClr>
                        <a:buSzPts val="2400"/>
                        <a:buFont typeface="Arial"/>
                        <a:buChar char="•"/>
                      </a:pPr>
                      <a:r>
                        <a:rPr lang="en-US" sz="1800" b="0">
                          <a:latin typeface="Times New Roman"/>
                          <a:ea typeface="Times New Roman"/>
                          <a:cs typeface="Times New Roman"/>
                          <a:sym typeface="Times New Roman"/>
                        </a:rPr>
                        <a:t>The emblem depicts a two-colored snakes image, which was based on the ancient Mayan drawings. They usually represented a python with a shortened tail and a big head.</a:t>
                      </a:r>
                      <a:endParaRPr sz="1100"/>
                    </a:p>
                    <a:p>
                      <a:pPr marL="285750" marR="0" lvl="0" indent="-285750" algn="just" rtl="0">
                        <a:spcBef>
                          <a:spcPts val="0"/>
                        </a:spcBef>
                        <a:spcAft>
                          <a:spcPts val="0"/>
                        </a:spcAft>
                        <a:buClr>
                          <a:schemeClr val="dk1"/>
                        </a:buClr>
                        <a:buSzPts val="2400"/>
                        <a:buFont typeface="Arial"/>
                        <a:buChar char="•"/>
                      </a:pPr>
                      <a:r>
                        <a:rPr lang="en-US" sz="1800" b="0">
                          <a:latin typeface="Times New Roman"/>
                          <a:ea typeface="Times New Roman"/>
                          <a:cs typeface="Times New Roman"/>
                          <a:sym typeface="Times New Roman"/>
                        </a:rPr>
                        <a:t>The Python wordmark in all the lowercase lettering is executed in a fine and elegant sans-serif typeface, where the upper parts of “T” and “H” are diagonally cut.</a:t>
                      </a:r>
                      <a:endParaRPr sz="1800" b="0">
                        <a:latin typeface="Times New Roman"/>
                        <a:ea typeface="Times New Roman"/>
                        <a:cs typeface="Times New Roman"/>
                        <a:sym typeface="Times New Roman"/>
                      </a:endParaRPr>
                    </a:p>
                  </a:txBody>
                  <a:tcPr marL="68588" marR="68588" marT="34294" marB="34294"/>
                </a:tc>
                <a:extLst>
                  <a:ext uri="{0D108BD9-81ED-4DB2-BD59-A6C34878D82A}">
                    <a16:rowId xmlns:a16="http://schemas.microsoft.com/office/drawing/2014/main" val="10000"/>
                  </a:ext>
                </a:extLst>
              </a:tr>
            </a:tbl>
          </a:graphicData>
        </a:graphic>
      </p:graphicFrame>
      <p:pic>
        <p:nvPicPr>
          <p:cNvPr id="586" name="Google Shape;586;p26" descr="Logo&#10;&#10;Description automatically generated"/>
          <p:cNvPicPr preferRelativeResize="0"/>
          <p:nvPr/>
        </p:nvPicPr>
        <p:blipFill rotWithShape="1">
          <a:blip r:embed="rId3">
            <a:alphaModFix/>
          </a:blip>
          <a:srcRect t="7421" b="25211"/>
          <a:stretch/>
        </p:blipFill>
        <p:spPr>
          <a:xfrm>
            <a:off x="747713" y="1968968"/>
            <a:ext cx="3511466" cy="2310064"/>
          </a:xfrm>
          <a:prstGeom prst="rect">
            <a:avLst/>
          </a:prstGeom>
          <a:noFill/>
          <a:ln>
            <a:noFill/>
          </a:ln>
        </p:spPr>
      </p:pic>
      <p:sp>
        <p:nvSpPr>
          <p:cNvPr id="2" name="Footer Placeholder 1">
            <a:extLst>
              <a:ext uri="{FF2B5EF4-FFF2-40B4-BE49-F238E27FC236}">
                <a16:creationId xmlns:a16="http://schemas.microsoft.com/office/drawing/2014/main" id="{B1AC88EB-5B2B-A77C-036B-746F2C491FF6}"/>
              </a:ext>
            </a:extLst>
          </p:cNvPr>
          <p:cNvSpPr>
            <a:spLocks noGrp="1"/>
          </p:cNvSpPr>
          <p:nvPr>
            <p:ph type="ftr" idx="11"/>
          </p:nvPr>
        </p:nvSpPr>
        <p:spPr>
          <a:xfrm>
            <a:off x="3028950" y="6529892"/>
            <a:ext cx="3845186" cy="328108"/>
          </a:xfrm>
        </p:spPr>
        <p:txBody>
          <a:bodyPr/>
          <a:lstStyle/>
          <a:p>
            <a:r>
              <a:rPr lang="en-US" sz="1600" dirty="0"/>
              <a:t>University Institute of Engineering (UIE)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22"/>
          <p:cNvSpPr txBox="1">
            <a:spLocks noGrp="1"/>
          </p:cNvSpPr>
          <p:nvPr>
            <p:ph type="body" idx="1"/>
          </p:nvPr>
        </p:nvSpPr>
        <p:spPr>
          <a:xfrm>
            <a:off x="225807" y="1592797"/>
            <a:ext cx="8358517" cy="3934988"/>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t" anchorCtr="0">
            <a:normAutofit/>
          </a:bodyPr>
          <a:lstStyle/>
          <a:p>
            <a:pPr marL="257175" algn="just">
              <a:lnSpc>
                <a:spcPct val="110000"/>
              </a:lnSpc>
              <a:spcBef>
                <a:spcPts val="0"/>
              </a:spcBef>
              <a:buSzPts val="2400"/>
            </a:pPr>
            <a:r>
              <a:rPr lang="en-US" b="1" dirty="0">
                <a:latin typeface="Times New Roman"/>
                <a:ea typeface="Times New Roman"/>
                <a:cs typeface="Times New Roman"/>
                <a:sym typeface="Times New Roman"/>
              </a:rPr>
              <a:t>Introduction to Python Programming</a:t>
            </a:r>
            <a:endParaRPr dirty="0"/>
          </a:p>
          <a:p>
            <a:pPr marL="257175" algn="just">
              <a:lnSpc>
                <a:spcPct val="110000"/>
              </a:lnSpc>
              <a:spcBef>
                <a:spcPts val="360"/>
              </a:spcBef>
              <a:buSzPts val="2400"/>
            </a:pPr>
            <a:r>
              <a:rPr lang="en-US" b="1" dirty="0">
                <a:latin typeface="Times New Roman"/>
                <a:ea typeface="Times New Roman"/>
                <a:cs typeface="Times New Roman"/>
                <a:sym typeface="Times New Roman"/>
              </a:rPr>
              <a:t>Variables</a:t>
            </a:r>
            <a:endParaRPr dirty="0"/>
          </a:p>
          <a:p>
            <a:pPr marL="257175" algn="just">
              <a:lnSpc>
                <a:spcPct val="110000"/>
              </a:lnSpc>
              <a:spcBef>
                <a:spcPts val="360"/>
              </a:spcBef>
              <a:buSzPts val="2400"/>
            </a:pPr>
            <a:r>
              <a:rPr lang="en-US" b="1" dirty="0">
                <a:latin typeface="Times New Roman"/>
                <a:ea typeface="Times New Roman"/>
                <a:cs typeface="Times New Roman"/>
                <a:sym typeface="Times New Roman"/>
              </a:rPr>
              <a:t>Identifiers</a:t>
            </a:r>
            <a:endParaRPr dirty="0"/>
          </a:p>
          <a:p>
            <a:pPr marL="257175" algn="just">
              <a:lnSpc>
                <a:spcPct val="110000"/>
              </a:lnSpc>
              <a:spcBef>
                <a:spcPts val="360"/>
              </a:spcBef>
              <a:buSzPts val="2400"/>
            </a:pPr>
            <a:r>
              <a:rPr lang="en-US" b="1" dirty="0">
                <a:latin typeface="Times New Roman"/>
                <a:ea typeface="Times New Roman"/>
                <a:cs typeface="Times New Roman"/>
                <a:sym typeface="Times New Roman"/>
              </a:rPr>
              <a:t>Constants</a:t>
            </a:r>
            <a:endParaRPr b="1" dirty="0">
              <a:latin typeface="Times New Roman"/>
              <a:ea typeface="Times New Roman"/>
              <a:cs typeface="Times New Roman"/>
              <a:sym typeface="Times New Roman"/>
            </a:endParaRPr>
          </a:p>
          <a:p>
            <a:pPr marL="257175" algn="just">
              <a:lnSpc>
                <a:spcPct val="110000"/>
              </a:lnSpc>
              <a:spcBef>
                <a:spcPts val="360"/>
              </a:spcBef>
              <a:buSzPts val="2400"/>
            </a:pPr>
            <a:r>
              <a:rPr lang="en-US" b="1" dirty="0">
                <a:latin typeface="Times New Roman"/>
                <a:ea typeface="Times New Roman"/>
                <a:cs typeface="Times New Roman"/>
                <a:sym typeface="Times New Roman"/>
              </a:rPr>
              <a:t>Data types</a:t>
            </a:r>
            <a:endParaRPr dirty="0"/>
          </a:p>
          <a:p>
            <a:pPr marL="257175" algn="just">
              <a:lnSpc>
                <a:spcPct val="110000"/>
              </a:lnSpc>
              <a:spcBef>
                <a:spcPts val="360"/>
              </a:spcBef>
              <a:buSzPts val="2400"/>
            </a:pPr>
            <a:r>
              <a:rPr lang="en-US" b="1" dirty="0">
                <a:latin typeface="Times New Roman"/>
                <a:ea typeface="Times New Roman"/>
                <a:cs typeface="Times New Roman"/>
                <a:sym typeface="Times New Roman"/>
              </a:rPr>
              <a:t>Operators</a:t>
            </a:r>
            <a:endParaRPr dirty="0"/>
          </a:p>
          <a:p>
            <a:pPr marL="257175" algn="just">
              <a:lnSpc>
                <a:spcPct val="110000"/>
              </a:lnSpc>
              <a:spcBef>
                <a:spcPts val="360"/>
              </a:spcBef>
              <a:buSzPts val="2400"/>
            </a:pPr>
            <a:r>
              <a:rPr lang="en-US" b="1" dirty="0">
                <a:latin typeface="Times New Roman"/>
                <a:ea typeface="Times New Roman"/>
                <a:cs typeface="Times New Roman"/>
                <a:sym typeface="Times New Roman"/>
              </a:rPr>
              <a:t>Operator Precedence</a:t>
            </a:r>
            <a:endParaRPr dirty="0"/>
          </a:p>
          <a:p>
            <a:pPr marL="257175" indent="-142875" algn="just">
              <a:lnSpc>
                <a:spcPct val="110000"/>
              </a:lnSpc>
              <a:spcBef>
                <a:spcPts val="360"/>
              </a:spcBef>
              <a:buSzPts val="2400"/>
              <a:buNone/>
            </a:pPr>
            <a:endParaRPr b="1" dirty="0">
              <a:latin typeface="Times New Roman"/>
              <a:ea typeface="Times New Roman"/>
              <a:cs typeface="Times New Roman"/>
              <a:sym typeface="Times New Roman"/>
            </a:endParaRPr>
          </a:p>
          <a:p>
            <a:pPr marL="257175" indent="-142875" algn="just">
              <a:lnSpc>
                <a:spcPct val="110000"/>
              </a:lnSpc>
              <a:spcBef>
                <a:spcPts val="360"/>
              </a:spcBef>
              <a:buSzPts val="2400"/>
              <a:buNone/>
            </a:pPr>
            <a:endParaRPr dirty="0"/>
          </a:p>
        </p:txBody>
      </p:sp>
      <p:pic>
        <p:nvPicPr>
          <p:cNvPr id="553" name="Google Shape;553;p22"/>
          <p:cNvPicPr preferRelativeResize="0"/>
          <p:nvPr/>
        </p:nvPicPr>
        <p:blipFill rotWithShape="1">
          <a:blip r:embed="rId3">
            <a:alphaModFix/>
          </a:blip>
          <a:srcRect t="21318" r="71767" b="3783"/>
          <a:stretch/>
        </p:blipFill>
        <p:spPr>
          <a:xfrm>
            <a:off x="5082139" y="1932654"/>
            <a:ext cx="2447223" cy="2274188"/>
          </a:xfrm>
          <a:prstGeom prst="rect">
            <a:avLst/>
          </a:prstGeom>
          <a:noFill/>
          <a:ln>
            <a:noFill/>
          </a:ln>
        </p:spPr>
      </p:pic>
      <p:sp>
        <p:nvSpPr>
          <p:cNvPr id="2" name="Footer Placeholder 1">
            <a:extLst>
              <a:ext uri="{FF2B5EF4-FFF2-40B4-BE49-F238E27FC236}">
                <a16:creationId xmlns:a16="http://schemas.microsoft.com/office/drawing/2014/main" id="{9C99126F-7A13-936B-FEA3-3B11C03C31E5}"/>
              </a:ext>
            </a:extLst>
          </p:cNvPr>
          <p:cNvSpPr>
            <a:spLocks noGrp="1"/>
          </p:cNvSpPr>
          <p:nvPr>
            <p:ph type="ftr" idx="11"/>
          </p:nvPr>
        </p:nvSpPr>
        <p:spPr>
          <a:xfrm>
            <a:off x="3028948" y="6626711"/>
            <a:ext cx="3662307" cy="86061"/>
          </a:xfrm>
        </p:spPr>
        <p:txBody>
          <a:bodyPr/>
          <a:lstStyle/>
          <a:p>
            <a:r>
              <a:rPr lang="en-US" sz="1600" dirty="0"/>
              <a:t>University Institute of Engineering (UIE)</a:t>
            </a:r>
          </a:p>
        </p:txBody>
      </p:sp>
    </p:spTree>
    <p:extLst>
      <p:ext uri="{BB962C8B-B14F-4D97-AF65-F5344CB8AC3E}">
        <p14:creationId xmlns:p14="http://schemas.microsoft.com/office/powerpoint/2010/main" val="1277496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9" name="Google Shape;119;p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dirty="0">
                <a:solidFill>
                  <a:schemeClr val="dk1"/>
                </a:solidFill>
              </a:rPr>
              <a:t>Introduction to Python Programming</a:t>
            </a:r>
            <a:endParaRPr dirty="0"/>
          </a:p>
        </p:txBody>
      </p:sp>
      <p:sp>
        <p:nvSpPr>
          <p:cNvPr id="120" name="Google Shape;120;p1"/>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00000"/>
              </a:lnSpc>
              <a:spcBef>
                <a:spcPts val="0"/>
              </a:spcBef>
              <a:buSzPts val="2400"/>
            </a:pPr>
            <a:r>
              <a:rPr lang="en-US" dirty="0"/>
              <a:t>Python is a general-purpose, interpreted, object-oriented programming language.</a:t>
            </a:r>
            <a:endParaRPr dirty="0"/>
          </a:p>
          <a:p>
            <a:pPr marL="171450" indent="-171450" algn="just">
              <a:lnSpc>
                <a:spcPct val="150000"/>
              </a:lnSpc>
              <a:buSzPts val="2400"/>
            </a:pPr>
            <a:r>
              <a:rPr lang="en-US" dirty="0"/>
              <a:t>Python was created by Guido van Rossum at National Research Institute for Mathematics and Computer Science, Netherlands in 1990 and was named after the popular British comedy troupe </a:t>
            </a:r>
            <a:r>
              <a:rPr lang="en-US" b="1" i="1" dirty="0"/>
              <a:t>Monty Python’s Flying Circus</a:t>
            </a:r>
            <a:r>
              <a:rPr lang="en-US" dirty="0"/>
              <a:t>.</a:t>
            </a:r>
            <a:endParaRPr dirty="0"/>
          </a:p>
          <a:p>
            <a:pPr marL="171450" indent="-171450" algn="just">
              <a:lnSpc>
                <a:spcPct val="150000"/>
              </a:lnSpc>
              <a:buSzPts val="2400"/>
            </a:pPr>
            <a:r>
              <a:rPr lang="en-US" dirty="0"/>
              <a:t>Python is a </a:t>
            </a:r>
            <a:r>
              <a:rPr lang="en-US" i="1" dirty="0"/>
              <a:t>general-purpose programming language</a:t>
            </a:r>
            <a:r>
              <a:rPr lang="en-US" dirty="0"/>
              <a:t>.</a:t>
            </a:r>
            <a:endParaRPr dirty="0"/>
          </a:p>
          <a:p>
            <a:pPr marL="171450" indent="-171450" algn="just">
              <a:lnSpc>
                <a:spcPct val="150000"/>
              </a:lnSpc>
              <a:buSzPts val="2400"/>
            </a:pPr>
            <a:r>
              <a:rPr lang="en-US" dirty="0"/>
              <a:t>Python is </a:t>
            </a:r>
            <a:r>
              <a:rPr lang="en-US" i="1" dirty="0"/>
              <a:t>interpreted</a:t>
            </a:r>
            <a:r>
              <a:rPr lang="en-US" dirty="0"/>
              <a:t>, which means that Python code is translated and executed by an interpreter, one statement at a time.</a:t>
            </a:r>
            <a:endParaRPr dirty="0"/>
          </a:p>
          <a:p>
            <a:pPr marL="171450" indent="-57150" algn="just">
              <a:lnSpc>
                <a:spcPct val="100000"/>
              </a:lnSpc>
              <a:buSzPts val="2400"/>
              <a:buNone/>
            </a:pPr>
            <a:endParaRPr dirty="0"/>
          </a:p>
        </p:txBody>
      </p:sp>
      <p:sp>
        <p:nvSpPr>
          <p:cNvPr id="2" name="Google Shape;106;p5">
            <a:extLst>
              <a:ext uri="{FF2B5EF4-FFF2-40B4-BE49-F238E27FC236}">
                <a16:creationId xmlns:a16="http://schemas.microsoft.com/office/drawing/2014/main" id="{E10B9A11-DF96-7083-1410-0A8980A2AE3D}"/>
              </a:ext>
            </a:extLst>
          </p:cNvPr>
          <p:cNvSpPr txBox="1">
            <a:spLocks noGrp="1"/>
          </p:cNvSpPr>
          <p:nvPr>
            <p:ph type="ftr" idx="11"/>
          </p:nvPr>
        </p:nvSpPr>
        <p:spPr>
          <a:xfrm>
            <a:off x="2572168" y="6528060"/>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28" name="Google Shape;128;p2"/>
          <p:cNvSpPr txBox="1">
            <a:spLocks noGrp="1"/>
          </p:cNvSpPr>
          <p:nvPr>
            <p:ph type="body" idx="1"/>
          </p:nvPr>
        </p:nvSpPr>
        <p:spPr>
          <a:xfrm>
            <a:off x="509588" y="1840706"/>
            <a:ext cx="7861645" cy="386932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50000"/>
              </a:lnSpc>
              <a:spcBef>
                <a:spcPts val="0"/>
              </a:spcBef>
              <a:buSzPts val="2000"/>
            </a:pPr>
            <a:r>
              <a:rPr lang="en-US" sz="1500" dirty="0"/>
              <a:t>Python is an </a:t>
            </a:r>
            <a:r>
              <a:rPr lang="en-US" sz="1500" i="1" dirty="0"/>
              <a:t>object-oriented programming (OOP) language</a:t>
            </a:r>
            <a:r>
              <a:rPr lang="en-US" sz="1500" dirty="0"/>
              <a:t>. Data in Python are objects created from classes. A class is essentially a type or category that defines objects of the same kind with properties and methods for manipulating objects.</a:t>
            </a:r>
            <a:endParaRPr dirty="0"/>
          </a:p>
          <a:p>
            <a:pPr marL="171450" indent="-171450" algn="just">
              <a:lnSpc>
                <a:spcPct val="150000"/>
              </a:lnSpc>
              <a:buSzPts val="2000"/>
            </a:pPr>
            <a:r>
              <a:rPr lang="en-US" sz="1500" dirty="0"/>
              <a:t>Two versions of Python are currently coexistent: Python 2 and Python 3. The programs written in Python 3 will not run in Python 2. Python 3 is a newer version, but it is not backward-compatible with Python 2. This means that if you write a program using the Python 2 syntax, it may not work with a Python 3 interpreter.</a:t>
            </a:r>
            <a:endParaRPr dirty="0"/>
          </a:p>
          <a:p>
            <a:pPr marL="171450" indent="-171450" algn="just">
              <a:lnSpc>
                <a:spcPct val="150000"/>
              </a:lnSpc>
              <a:buSzPts val="2000"/>
            </a:pPr>
            <a:r>
              <a:rPr lang="en-US" sz="1500" dirty="0"/>
              <a:t>Python provides a tool that automatically converts code written in Python 2 into syntax Python 3 can use. Python 2 will eventually be replaced by Python 3.</a:t>
            </a:r>
            <a:endParaRPr dirty="0"/>
          </a:p>
          <a:p>
            <a:pPr marL="0" indent="0" algn="just">
              <a:lnSpc>
                <a:spcPct val="150000"/>
              </a:lnSpc>
              <a:buSzPts val="2000"/>
              <a:buNone/>
            </a:pPr>
            <a:endParaRPr sz="1500" dirty="0"/>
          </a:p>
          <a:p>
            <a:pPr marL="171450" indent="-57150" algn="just">
              <a:lnSpc>
                <a:spcPct val="150000"/>
              </a:lnSpc>
              <a:buSzPts val="2400"/>
              <a:buNone/>
            </a:pPr>
            <a:endParaRPr dirty="0"/>
          </a:p>
        </p:txBody>
      </p:sp>
      <p:sp>
        <p:nvSpPr>
          <p:cNvPr id="2" name="Google Shape;106;p5">
            <a:extLst>
              <a:ext uri="{FF2B5EF4-FFF2-40B4-BE49-F238E27FC236}">
                <a16:creationId xmlns:a16="http://schemas.microsoft.com/office/drawing/2014/main" id="{52EE9311-8950-FAF1-D6F2-B5ED693B4EC0}"/>
              </a:ext>
            </a:extLst>
          </p:cNvPr>
          <p:cNvSpPr txBox="1">
            <a:spLocks noGrp="1"/>
          </p:cNvSpPr>
          <p:nvPr>
            <p:ph type="ftr" idx="11"/>
          </p:nvPr>
        </p:nvSpPr>
        <p:spPr>
          <a:xfrm>
            <a:off x="2443077" y="6542079"/>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36" name="Google Shape;136;p3"/>
          <p:cNvSpPr txBox="1">
            <a:spLocks noGrp="1"/>
          </p:cNvSpPr>
          <p:nvPr>
            <p:ph type="body" idx="1"/>
          </p:nvPr>
        </p:nvSpPr>
        <p:spPr>
          <a:xfrm>
            <a:off x="509588" y="1840706"/>
            <a:ext cx="7861645" cy="3150842"/>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50000"/>
              </a:lnSpc>
              <a:spcBef>
                <a:spcPts val="0"/>
              </a:spcBef>
              <a:buSzPts val="2400"/>
            </a:pPr>
            <a:r>
              <a:rPr lang="en-US" dirty="0"/>
              <a:t>Python 1.0 released on January, 1994.</a:t>
            </a:r>
            <a:endParaRPr dirty="0"/>
          </a:p>
          <a:p>
            <a:pPr marL="171450" indent="-171450" algn="just">
              <a:lnSpc>
                <a:spcPct val="150000"/>
              </a:lnSpc>
              <a:buSzPts val="2400"/>
            </a:pPr>
            <a:r>
              <a:rPr lang="en-US" dirty="0"/>
              <a:t>Python 2.0 released on 16</a:t>
            </a:r>
            <a:r>
              <a:rPr lang="en-US" baseline="30000" dirty="0"/>
              <a:t>th</a:t>
            </a:r>
            <a:r>
              <a:rPr lang="en-US" dirty="0"/>
              <a:t> Oct, 2000.</a:t>
            </a:r>
            <a:endParaRPr dirty="0"/>
          </a:p>
          <a:p>
            <a:pPr marL="171450" indent="-171450" algn="just">
              <a:lnSpc>
                <a:spcPct val="150000"/>
              </a:lnSpc>
              <a:buSzPts val="2400"/>
            </a:pPr>
            <a:r>
              <a:rPr lang="en-US" dirty="0"/>
              <a:t>Python 3.0 released on 3</a:t>
            </a:r>
            <a:r>
              <a:rPr lang="en-US" baseline="30000" dirty="0"/>
              <a:t>rd</a:t>
            </a:r>
            <a:r>
              <a:rPr lang="en-US" dirty="0"/>
              <a:t> Dec, 2008.</a:t>
            </a:r>
            <a:endParaRPr dirty="0"/>
          </a:p>
          <a:p>
            <a:pPr marL="171450" indent="-171450" algn="just">
              <a:lnSpc>
                <a:spcPct val="150000"/>
              </a:lnSpc>
              <a:buSzPts val="2400"/>
            </a:pPr>
            <a:r>
              <a:rPr lang="en-US" dirty="0"/>
              <a:t>Python 3.10.2 released on 14</a:t>
            </a:r>
            <a:r>
              <a:rPr lang="en-US" baseline="30000" dirty="0"/>
              <a:t>th</a:t>
            </a:r>
            <a:r>
              <a:rPr lang="en-US" dirty="0"/>
              <a:t> Jan, 2022 .</a:t>
            </a:r>
            <a:endParaRPr dirty="0"/>
          </a:p>
          <a:p>
            <a:pPr marL="171450" indent="-171450" algn="just">
              <a:lnSpc>
                <a:spcPct val="150000"/>
              </a:lnSpc>
              <a:buSzPts val="2400"/>
            </a:pPr>
            <a:r>
              <a:rPr lang="en-US" dirty="0"/>
              <a:t>Python 3.11 released on 24</a:t>
            </a:r>
            <a:r>
              <a:rPr lang="en-US" baseline="30000" dirty="0"/>
              <a:t>th</a:t>
            </a:r>
            <a:r>
              <a:rPr lang="en-US" dirty="0"/>
              <a:t> Oct,2022.</a:t>
            </a:r>
            <a:endParaRPr dirty="0"/>
          </a:p>
          <a:p>
            <a:pPr marL="171450" indent="-171450" algn="just">
              <a:lnSpc>
                <a:spcPct val="150000"/>
              </a:lnSpc>
              <a:buSzPts val="2400"/>
            </a:pPr>
            <a:r>
              <a:rPr lang="en-US" dirty="0"/>
              <a:t>Python 3.12.4 released on 6</a:t>
            </a:r>
            <a:r>
              <a:rPr lang="en-US" baseline="30000" dirty="0"/>
              <a:t>th</a:t>
            </a:r>
            <a:r>
              <a:rPr lang="en-US" dirty="0"/>
              <a:t>  June, 2024</a:t>
            </a:r>
            <a:endParaRPr dirty="0"/>
          </a:p>
          <a:p>
            <a:pPr marL="0" indent="0" algn="just">
              <a:lnSpc>
                <a:spcPct val="150000"/>
              </a:lnSpc>
              <a:buSzPts val="2400"/>
              <a:buNone/>
            </a:pPr>
            <a:endParaRPr dirty="0"/>
          </a:p>
        </p:txBody>
      </p:sp>
      <p:pic>
        <p:nvPicPr>
          <p:cNvPr id="137" name="Google Shape;137;p3"/>
          <p:cNvPicPr preferRelativeResize="0"/>
          <p:nvPr/>
        </p:nvPicPr>
        <p:blipFill rotWithShape="1">
          <a:blip r:embed="rId3">
            <a:alphaModFix/>
          </a:blip>
          <a:srcRect/>
          <a:stretch/>
        </p:blipFill>
        <p:spPr>
          <a:xfrm>
            <a:off x="5281215" y="2312591"/>
            <a:ext cx="2607469" cy="1978819"/>
          </a:xfrm>
          <a:prstGeom prst="rect">
            <a:avLst/>
          </a:prstGeom>
          <a:noFill/>
          <a:ln>
            <a:noFill/>
          </a:ln>
        </p:spPr>
      </p:pic>
      <p:sp>
        <p:nvSpPr>
          <p:cNvPr id="2" name="Google Shape;106;p5">
            <a:extLst>
              <a:ext uri="{FF2B5EF4-FFF2-40B4-BE49-F238E27FC236}">
                <a16:creationId xmlns:a16="http://schemas.microsoft.com/office/drawing/2014/main" id="{D486FDD8-63E0-53A8-0073-5C00B43D715A}"/>
              </a:ext>
            </a:extLst>
          </p:cNvPr>
          <p:cNvSpPr txBox="1">
            <a:spLocks noGrp="1"/>
          </p:cNvSpPr>
          <p:nvPr>
            <p:ph type="ftr" idx="11"/>
          </p:nvPr>
        </p:nvSpPr>
        <p:spPr>
          <a:xfrm>
            <a:off x="2410805" y="6485029"/>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3" name="Google Shape;153;p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54" name="Google Shape;154;p5"/>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57150" algn="just">
              <a:spcBef>
                <a:spcPts val="0"/>
              </a:spcBef>
              <a:buSzPts val="2400"/>
              <a:buNone/>
            </a:pPr>
            <a:endParaRPr>
              <a:latin typeface="Times"/>
              <a:ea typeface="Times"/>
              <a:cs typeface="Times"/>
              <a:sym typeface="Times"/>
            </a:endParaRPr>
          </a:p>
          <a:p>
            <a:pPr marL="171450" indent="-57150">
              <a:buSzPts val="2400"/>
              <a:buNone/>
            </a:pPr>
            <a:endParaRPr/>
          </a:p>
        </p:txBody>
      </p:sp>
      <p:pic>
        <p:nvPicPr>
          <p:cNvPr id="155" name="Google Shape;155;p5"/>
          <p:cNvPicPr preferRelativeResize="0"/>
          <p:nvPr/>
        </p:nvPicPr>
        <p:blipFill rotWithShape="1">
          <a:blip r:embed="rId3">
            <a:alphaModFix/>
          </a:blip>
          <a:srcRect t="8168"/>
          <a:stretch/>
        </p:blipFill>
        <p:spPr>
          <a:xfrm>
            <a:off x="975762" y="1945209"/>
            <a:ext cx="7139539" cy="1710890"/>
          </a:xfrm>
          <a:prstGeom prst="rect">
            <a:avLst/>
          </a:prstGeom>
          <a:noFill/>
          <a:ln>
            <a:noFill/>
          </a:ln>
        </p:spPr>
      </p:pic>
      <p:pic>
        <p:nvPicPr>
          <p:cNvPr id="156" name="Google Shape;156;p5"/>
          <p:cNvPicPr preferRelativeResize="0"/>
          <p:nvPr/>
        </p:nvPicPr>
        <p:blipFill rotWithShape="1">
          <a:blip r:embed="rId4">
            <a:alphaModFix/>
          </a:blip>
          <a:srcRect t="12418"/>
          <a:stretch/>
        </p:blipFill>
        <p:spPr>
          <a:xfrm>
            <a:off x="909588" y="3760602"/>
            <a:ext cx="6381549" cy="1256693"/>
          </a:xfrm>
          <a:prstGeom prst="rect">
            <a:avLst/>
          </a:prstGeom>
          <a:noFill/>
          <a:ln>
            <a:noFill/>
          </a:ln>
        </p:spPr>
      </p:pic>
      <p:sp>
        <p:nvSpPr>
          <p:cNvPr id="2" name="Google Shape;106;p5">
            <a:extLst>
              <a:ext uri="{FF2B5EF4-FFF2-40B4-BE49-F238E27FC236}">
                <a16:creationId xmlns:a16="http://schemas.microsoft.com/office/drawing/2014/main" id="{88743D12-282C-FA38-FA0A-CE48252DAE19}"/>
              </a:ext>
            </a:extLst>
          </p:cNvPr>
          <p:cNvSpPr txBox="1">
            <a:spLocks noGrp="1"/>
          </p:cNvSpPr>
          <p:nvPr>
            <p:ph type="ftr" idx="11"/>
          </p:nvPr>
        </p:nvSpPr>
        <p:spPr>
          <a:xfrm>
            <a:off x="2389289" y="6549575"/>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3" name="Google Shape;163;p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64" name="Google Shape;164;p6"/>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57150" algn="just">
              <a:spcBef>
                <a:spcPts val="0"/>
              </a:spcBef>
              <a:buSzPts val="2400"/>
              <a:buNone/>
            </a:pPr>
            <a:endParaRPr>
              <a:latin typeface="Times"/>
              <a:ea typeface="Times"/>
              <a:cs typeface="Times"/>
              <a:sym typeface="Times"/>
            </a:endParaRPr>
          </a:p>
          <a:p>
            <a:pPr marL="171450" indent="-57150">
              <a:buSzPts val="2400"/>
              <a:buNone/>
            </a:pPr>
            <a:endParaRPr/>
          </a:p>
        </p:txBody>
      </p:sp>
      <p:pic>
        <p:nvPicPr>
          <p:cNvPr id="165" name="Google Shape;165;p6"/>
          <p:cNvPicPr preferRelativeResize="0"/>
          <p:nvPr/>
        </p:nvPicPr>
        <p:blipFill rotWithShape="1">
          <a:blip r:embed="rId3">
            <a:alphaModFix/>
          </a:blip>
          <a:srcRect/>
          <a:stretch/>
        </p:blipFill>
        <p:spPr>
          <a:xfrm>
            <a:off x="952902" y="2077252"/>
            <a:ext cx="6374330" cy="2526632"/>
          </a:xfrm>
          <a:prstGeom prst="rect">
            <a:avLst/>
          </a:prstGeom>
          <a:noFill/>
          <a:ln>
            <a:noFill/>
          </a:ln>
        </p:spPr>
      </p:pic>
      <p:sp>
        <p:nvSpPr>
          <p:cNvPr id="2" name="Google Shape;106;p5">
            <a:extLst>
              <a:ext uri="{FF2B5EF4-FFF2-40B4-BE49-F238E27FC236}">
                <a16:creationId xmlns:a16="http://schemas.microsoft.com/office/drawing/2014/main" id="{346203A5-9A8D-D950-D0E2-BC63B6047114}"/>
              </a:ext>
            </a:extLst>
          </p:cNvPr>
          <p:cNvSpPr txBox="1">
            <a:spLocks noGrp="1"/>
          </p:cNvSpPr>
          <p:nvPr>
            <p:ph type="ftr" idx="11"/>
          </p:nvPr>
        </p:nvSpPr>
        <p:spPr>
          <a:xfrm>
            <a:off x="2443077" y="6538818"/>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2" name="Google Shape;172;p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73" name="Google Shape;173;p7"/>
          <p:cNvSpPr txBox="1">
            <a:spLocks noGrp="1"/>
          </p:cNvSpPr>
          <p:nvPr>
            <p:ph type="body" idx="1"/>
          </p:nvPr>
        </p:nvSpPr>
        <p:spPr>
          <a:xfrm>
            <a:off x="520346" y="1851464"/>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00000"/>
              </a:lnSpc>
              <a:spcBef>
                <a:spcPts val="0"/>
              </a:spcBef>
              <a:buClr>
                <a:srgbClr val="000000"/>
              </a:buClr>
              <a:buSzPts val="2400"/>
            </a:pPr>
            <a:r>
              <a:rPr lang="en-US" b="1">
                <a:solidFill>
                  <a:srgbClr val="000000"/>
                </a:solidFill>
                <a:latin typeface="Times New Roman"/>
                <a:ea typeface="Times New Roman"/>
                <a:cs typeface="Times New Roman"/>
                <a:sym typeface="Times New Roman"/>
              </a:rPr>
              <a:t>Variable</a:t>
            </a:r>
            <a:r>
              <a:rPr lang="en-US">
                <a:solidFill>
                  <a:srgbClr val="000000"/>
                </a:solidFill>
                <a:latin typeface="Times New Roman"/>
                <a:ea typeface="Times New Roman"/>
                <a:cs typeface="Times New Roman"/>
                <a:sym typeface="Times New Roman"/>
              </a:rPr>
              <a:t>: </a:t>
            </a:r>
            <a:r>
              <a:rPr lang="en-US">
                <a:solidFill>
                  <a:srgbClr val="000000"/>
                </a:solidFill>
                <a:latin typeface="Times"/>
                <a:ea typeface="Times"/>
                <a:cs typeface="Times"/>
                <a:sym typeface="Times"/>
              </a:rPr>
              <a:t>V</a:t>
            </a:r>
            <a:r>
              <a:rPr lang="en-US">
                <a:latin typeface="Times"/>
                <a:ea typeface="Times"/>
                <a:cs typeface="Times"/>
                <a:sym typeface="Times"/>
              </a:rPr>
              <a:t>ariable is a name that references a value stored in the computer’s memory. Variables such as radius and area reference values stored in memory. Every variable has a name that refers to a value</a:t>
            </a:r>
            <a:endParaRPr/>
          </a:p>
          <a:p>
            <a:pPr marL="171450" indent="-57150" algn="just">
              <a:buSzPts val="2400"/>
              <a:buNone/>
            </a:pPr>
            <a:endParaRPr>
              <a:latin typeface="Times"/>
              <a:ea typeface="Times"/>
              <a:cs typeface="Times"/>
              <a:sym typeface="Times"/>
            </a:endParaRPr>
          </a:p>
          <a:p>
            <a:pPr marL="171450" indent="-57150">
              <a:buSzPts val="2400"/>
              <a:buNone/>
            </a:pPr>
            <a:endParaRPr/>
          </a:p>
        </p:txBody>
      </p:sp>
      <p:pic>
        <p:nvPicPr>
          <p:cNvPr id="174" name="Google Shape;174;p7"/>
          <p:cNvPicPr preferRelativeResize="0"/>
          <p:nvPr/>
        </p:nvPicPr>
        <p:blipFill rotWithShape="1">
          <a:blip r:embed="rId3">
            <a:alphaModFix/>
          </a:blip>
          <a:srcRect/>
          <a:stretch/>
        </p:blipFill>
        <p:spPr>
          <a:xfrm>
            <a:off x="1851836" y="2918197"/>
            <a:ext cx="5440329" cy="2281031"/>
          </a:xfrm>
          <a:prstGeom prst="rect">
            <a:avLst/>
          </a:prstGeom>
          <a:noFill/>
          <a:ln>
            <a:noFill/>
          </a:ln>
        </p:spPr>
      </p:pic>
      <p:sp>
        <p:nvSpPr>
          <p:cNvPr id="2" name="Footer Placeholder 1">
            <a:extLst>
              <a:ext uri="{FF2B5EF4-FFF2-40B4-BE49-F238E27FC236}">
                <a16:creationId xmlns:a16="http://schemas.microsoft.com/office/drawing/2014/main" id="{8D5ECB22-0581-5022-0416-3DB816984E4E}"/>
              </a:ext>
            </a:extLst>
          </p:cNvPr>
          <p:cNvSpPr>
            <a:spLocks noGrp="1"/>
          </p:cNvSpPr>
          <p:nvPr>
            <p:ph type="ftr" idx="11"/>
          </p:nvPr>
        </p:nvSpPr>
        <p:spPr>
          <a:xfrm>
            <a:off x="2897360" y="6492875"/>
            <a:ext cx="3086100" cy="365125"/>
          </a:xfrm>
        </p:spPr>
        <p:txBody>
          <a:bodyPr/>
          <a:lstStyle/>
          <a:p>
            <a:r>
              <a:rPr lang="en-US" dirty="0"/>
              <a:t>University Institute of Engineering (UIE)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82" name="Google Shape;182;p8"/>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00000"/>
              </a:lnSpc>
              <a:spcBef>
                <a:spcPts val="0"/>
              </a:spcBef>
              <a:buClr>
                <a:srgbClr val="000000"/>
              </a:buClr>
              <a:buSzPts val="2400"/>
            </a:pPr>
            <a:r>
              <a:rPr lang="en-US" b="1">
                <a:solidFill>
                  <a:srgbClr val="000000"/>
                </a:solidFill>
                <a:latin typeface="Times New Roman"/>
                <a:ea typeface="Times New Roman"/>
                <a:cs typeface="Times New Roman"/>
                <a:sym typeface="Times New Roman"/>
              </a:rPr>
              <a:t>Reading Input from console:</a:t>
            </a:r>
            <a:endParaRPr/>
          </a:p>
          <a:p>
            <a:pPr marL="171450" indent="-171450" algn="just">
              <a:lnSpc>
                <a:spcPct val="100000"/>
              </a:lnSpc>
              <a:buSzPts val="2400"/>
            </a:pPr>
            <a:r>
              <a:rPr lang="en-US">
                <a:latin typeface="Times"/>
                <a:ea typeface="Times"/>
                <a:cs typeface="Times"/>
                <a:sym typeface="Times"/>
              </a:rPr>
              <a:t>Reading input from the console enables the program to accept input from the user.</a:t>
            </a:r>
            <a:endParaRPr/>
          </a:p>
          <a:p>
            <a:pPr marL="171450" indent="-171450" algn="just">
              <a:lnSpc>
                <a:spcPct val="100000"/>
              </a:lnSpc>
              <a:buSzPts val="2400"/>
            </a:pPr>
            <a:r>
              <a:rPr lang="en-US" i="1">
                <a:latin typeface="Times"/>
                <a:ea typeface="Times"/>
                <a:cs typeface="Times"/>
                <a:sym typeface="Times"/>
              </a:rPr>
              <a:t>variable = input("Enter a value: ")</a:t>
            </a:r>
            <a:endParaRPr/>
          </a:p>
          <a:p>
            <a:pPr marL="171450" indent="-57150" algn="just">
              <a:lnSpc>
                <a:spcPct val="100000"/>
              </a:lnSpc>
              <a:buSzPts val="2400"/>
              <a:buNone/>
            </a:pPr>
            <a:endParaRPr i="1">
              <a:latin typeface="Times"/>
              <a:ea typeface="Times"/>
              <a:cs typeface="Times"/>
              <a:sym typeface="Times"/>
            </a:endParaRPr>
          </a:p>
          <a:p>
            <a:pPr marL="171450" indent="-57150" algn="just">
              <a:buSzPts val="2400"/>
              <a:buNone/>
            </a:pPr>
            <a:endParaRPr>
              <a:latin typeface="Times"/>
              <a:ea typeface="Times"/>
              <a:cs typeface="Times"/>
              <a:sym typeface="Times"/>
            </a:endParaRPr>
          </a:p>
          <a:p>
            <a:pPr marL="171450" indent="-57150">
              <a:buSzPts val="2400"/>
              <a:buNone/>
            </a:pPr>
            <a:endParaRPr/>
          </a:p>
        </p:txBody>
      </p:sp>
      <p:pic>
        <p:nvPicPr>
          <p:cNvPr id="183" name="Google Shape;183;p8"/>
          <p:cNvPicPr preferRelativeResize="0"/>
          <p:nvPr/>
        </p:nvPicPr>
        <p:blipFill rotWithShape="1">
          <a:blip r:embed="rId3">
            <a:alphaModFix/>
          </a:blip>
          <a:srcRect t="5307"/>
          <a:stretch/>
        </p:blipFill>
        <p:spPr>
          <a:xfrm>
            <a:off x="2566851" y="3130187"/>
            <a:ext cx="5721532" cy="2279124"/>
          </a:xfrm>
          <a:prstGeom prst="rect">
            <a:avLst/>
          </a:prstGeom>
          <a:noFill/>
          <a:ln>
            <a:noFill/>
          </a:ln>
        </p:spPr>
      </p:pic>
      <p:sp>
        <p:nvSpPr>
          <p:cNvPr id="2" name="Footer Placeholder 1">
            <a:extLst>
              <a:ext uri="{FF2B5EF4-FFF2-40B4-BE49-F238E27FC236}">
                <a16:creationId xmlns:a16="http://schemas.microsoft.com/office/drawing/2014/main" id="{B2D10D7F-2D0D-3FB3-3EF7-5E684AF73AA5}"/>
              </a:ext>
            </a:extLst>
          </p:cNvPr>
          <p:cNvSpPr>
            <a:spLocks noGrp="1"/>
          </p:cNvSpPr>
          <p:nvPr>
            <p:ph type="ftr" idx="11"/>
          </p:nvPr>
        </p:nvSpPr>
        <p:spPr>
          <a:xfrm>
            <a:off x="3028950" y="6419056"/>
            <a:ext cx="3086100" cy="365125"/>
          </a:xfrm>
        </p:spPr>
        <p:txBody>
          <a:bodyPr/>
          <a:lstStyle/>
          <a:p>
            <a:r>
              <a:rPr lang="en-US"/>
              <a:t>University Institute of Engineering (UIE)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91" name="Google Shape;191;p9"/>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00000"/>
              </a:lnSpc>
              <a:spcBef>
                <a:spcPts val="0"/>
              </a:spcBef>
              <a:buSzPts val="2400"/>
            </a:pPr>
            <a:r>
              <a:rPr lang="en-US" b="1">
                <a:latin typeface="Times"/>
                <a:ea typeface="Times"/>
                <a:cs typeface="Times"/>
                <a:sym typeface="Times"/>
              </a:rPr>
              <a:t>Identifiers: </a:t>
            </a:r>
            <a:r>
              <a:rPr lang="en-US">
                <a:latin typeface="Times"/>
                <a:ea typeface="Times"/>
                <a:cs typeface="Times"/>
                <a:sym typeface="Times"/>
              </a:rPr>
              <a:t>Identifiers are the names that identify the elements such as variables and functions in a program.</a:t>
            </a:r>
            <a:endParaRPr/>
          </a:p>
          <a:p>
            <a:pPr marL="171450" indent="-171450" algn="just">
              <a:lnSpc>
                <a:spcPct val="100000"/>
              </a:lnSpc>
              <a:buSzPts val="2400"/>
            </a:pPr>
            <a:r>
              <a:rPr lang="en-US">
                <a:latin typeface="Times"/>
                <a:ea typeface="Times"/>
                <a:cs typeface="Times"/>
                <a:sym typeface="Times"/>
              </a:rPr>
              <a:t>All identifiers must obey the following rules:</a:t>
            </a:r>
            <a:endParaRPr>
              <a:latin typeface="Times"/>
              <a:ea typeface="Times"/>
              <a:cs typeface="Times"/>
              <a:sym typeface="Times"/>
            </a:endParaRPr>
          </a:p>
          <a:p>
            <a:pPr marL="171450" indent="-171450">
              <a:buSzPts val="2400"/>
            </a:pPr>
            <a:r>
              <a:rPr lang="en-US">
                <a:latin typeface="Times"/>
                <a:ea typeface="Times"/>
                <a:cs typeface="Times"/>
                <a:sym typeface="Times"/>
              </a:rPr>
              <a:t>An identifier is a sequence of characters that consists of letters, digits, and underscores (</a:t>
            </a:r>
            <a:r>
              <a:rPr lang="en-US" b="1">
                <a:latin typeface="Lucida Sans"/>
                <a:ea typeface="Lucida Sans"/>
                <a:cs typeface="Lucida Sans"/>
                <a:sym typeface="Lucida Sans"/>
              </a:rPr>
              <a:t>_</a:t>
            </a:r>
            <a:r>
              <a:rPr lang="en-US">
                <a:latin typeface="Times"/>
                <a:ea typeface="Times"/>
                <a:cs typeface="Times"/>
                <a:sym typeface="Times"/>
              </a:rPr>
              <a:t>).</a:t>
            </a:r>
            <a:endParaRPr/>
          </a:p>
          <a:p>
            <a:pPr marL="171450" indent="-171450">
              <a:buSzPts val="2400"/>
            </a:pPr>
            <a:r>
              <a:rPr lang="en-US">
                <a:latin typeface="Times"/>
                <a:ea typeface="Times"/>
                <a:cs typeface="Times"/>
                <a:sym typeface="Times"/>
              </a:rPr>
              <a:t>An identifier must start with a letter or an underscore. It cannot start with a digit.</a:t>
            </a:r>
            <a:endParaRPr>
              <a:latin typeface="Times"/>
              <a:ea typeface="Times"/>
              <a:cs typeface="Times"/>
              <a:sym typeface="Times"/>
            </a:endParaRPr>
          </a:p>
          <a:p>
            <a:pPr marL="171450" indent="-171450">
              <a:buSzPts val="2400"/>
            </a:pPr>
            <a:r>
              <a:rPr lang="en-US">
                <a:latin typeface="Times"/>
                <a:ea typeface="Times"/>
                <a:cs typeface="Times"/>
                <a:sym typeface="Times"/>
              </a:rPr>
              <a:t>An identifier cannot be a keyword.</a:t>
            </a:r>
            <a:endParaRPr/>
          </a:p>
          <a:p>
            <a:pPr marL="171450" indent="-171450">
              <a:buSzPts val="2400"/>
            </a:pPr>
            <a:r>
              <a:rPr lang="en-US">
                <a:latin typeface="Times"/>
                <a:ea typeface="Times"/>
                <a:cs typeface="Times"/>
                <a:sym typeface="Times"/>
              </a:rPr>
              <a:t>An identifier can be of any length</a:t>
            </a:r>
            <a:r>
              <a:rPr lang="en-US" sz="1350">
                <a:latin typeface="Times"/>
                <a:ea typeface="Times"/>
                <a:cs typeface="Times"/>
                <a:sym typeface="Times"/>
              </a:rPr>
              <a:t>.</a:t>
            </a:r>
            <a:endParaRPr sz="1500">
              <a:latin typeface="Times"/>
              <a:ea typeface="Times"/>
              <a:cs typeface="Times"/>
              <a:sym typeface="Times"/>
            </a:endParaRPr>
          </a:p>
          <a:p>
            <a:pPr marL="171450" indent="-171450">
              <a:buSzPts val="2400"/>
            </a:pPr>
            <a:r>
              <a:rPr lang="en-US">
                <a:latin typeface="Times"/>
                <a:ea typeface="Times"/>
                <a:cs typeface="Times"/>
                <a:sym typeface="Times"/>
              </a:rPr>
              <a:t>Python is case sensitive, area, Area, and AREA are all different identifiers.</a:t>
            </a:r>
            <a:endParaRPr/>
          </a:p>
          <a:p>
            <a:pPr marL="0" indent="0" algn="just">
              <a:buSzPts val="2400"/>
              <a:buNone/>
            </a:pPr>
            <a:endParaRPr>
              <a:latin typeface="Times"/>
              <a:ea typeface="Times"/>
              <a:cs typeface="Times"/>
              <a:sym typeface="Times"/>
            </a:endParaRPr>
          </a:p>
          <a:p>
            <a:pPr marL="171450" indent="-57150">
              <a:buSzPts val="2400"/>
              <a:buNone/>
            </a:pPr>
            <a:endParaRPr/>
          </a:p>
        </p:txBody>
      </p:sp>
      <p:sp>
        <p:nvSpPr>
          <p:cNvPr id="2" name="Footer Placeholder 1">
            <a:extLst>
              <a:ext uri="{FF2B5EF4-FFF2-40B4-BE49-F238E27FC236}">
                <a16:creationId xmlns:a16="http://schemas.microsoft.com/office/drawing/2014/main" id="{A6A834B3-D0A5-EE44-42BE-5D36F36A9C87}"/>
              </a:ext>
            </a:extLst>
          </p:cNvPr>
          <p:cNvSpPr>
            <a:spLocks noGrp="1"/>
          </p:cNvSpPr>
          <p:nvPr>
            <p:ph type="ftr" idx="11"/>
          </p:nvPr>
        </p:nvSpPr>
        <p:spPr>
          <a:xfrm>
            <a:off x="3028950" y="6492875"/>
            <a:ext cx="3086100" cy="365125"/>
          </a:xfrm>
        </p:spPr>
        <p:txBody>
          <a:bodyPr/>
          <a:lstStyle/>
          <a:p>
            <a:r>
              <a:rPr lang="en-US" dirty="0"/>
              <a:t>University Institute of Engineering (UIE)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1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199" name="Google Shape;199;p10"/>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a:t>Named Constants</a:t>
            </a:r>
            <a:r>
              <a:rPr lang="en-US"/>
              <a:t>: A named constant is an identifier that represents a permanent value.</a:t>
            </a:r>
            <a:endParaRPr/>
          </a:p>
          <a:p>
            <a:pPr marL="171450" indent="-171450" algn="just">
              <a:buSzPts val="2400"/>
            </a:pPr>
            <a:r>
              <a:rPr lang="en-US"/>
              <a:t>The value of a variable may change during the execution of a program, but a named constant (or simply constant) represents permanent data that never changes.</a:t>
            </a:r>
            <a:endParaRPr/>
          </a:p>
          <a:p>
            <a:pPr marL="171450" indent="-171450">
              <a:buSzPts val="2400"/>
            </a:pPr>
            <a:r>
              <a:rPr lang="en-US"/>
              <a:t>Python does not have a special syntax for naming constants.</a:t>
            </a:r>
            <a:endParaRPr/>
          </a:p>
          <a:p>
            <a:pPr marL="171450" indent="-171450" algn="just">
              <a:lnSpc>
                <a:spcPct val="150000"/>
              </a:lnSpc>
              <a:buSzPts val="2400"/>
            </a:pPr>
            <a:r>
              <a:rPr lang="en-US"/>
              <a:t>If you have to change the constant’s value (e.g., from 3.14 to 3.14159 for PI), you need to change it only in a single location in the source code.</a:t>
            </a:r>
            <a:endParaRPr/>
          </a:p>
          <a:p>
            <a:pPr marL="171450" indent="-171450" algn="just">
              <a:lnSpc>
                <a:spcPct val="150000"/>
              </a:lnSpc>
              <a:buSzPts val="2400"/>
            </a:pPr>
            <a:r>
              <a:rPr lang="en-US"/>
              <a:t>Descriptive names make the program easy to read.</a:t>
            </a:r>
            <a:endParaRPr/>
          </a:p>
          <a:p>
            <a:pPr marL="171450" indent="-57150">
              <a:buSzPts val="2400"/>
              <a:buNone/>
            </a:pPr>
            <a:endParaRPr/>
          </a:p>
        </p:txBody>
      </p:sp>
      <p:sp>
        <p:nvSpPr>
          <p:cNvPr id="2" name="Footer Placeholder 1">
            <a:extLst>
              <a:ext uri="{FF2B5EF4-FFF2-40B4-BE49-F238E27FC236}">
                <a16:creationId xmlns:a16="http://schemas.microsoft.com/office/drawing/2014/main" id="{D8C07AB0-7CA3-B199-EEBD-8CCC6BF9807A}"/>
              </a:ext>
            </a:extLst>
          </p:cNvPr>
          <p:cNvSpPr>
            <a:spLocks noGrp="1"/>
          </p:cNvSpPr>
          <p:nvPr>
            <p:ph type="ftr" idx="11"/>
          </p:nvPr>
        </p:nvSpPr>
        <p:spPr>
          <a:xfrm>
            <a:off x="3028950" y="6492875"/>
            <a:ext cx="3086100" cy="365125"/>
          </a:xfrm>
        </p:spPr>
        <p:txBody>
          <a:bodyPr/>
          <a:lstStyle/>
          <a:p>
            <a:r>
              <a:rPr lang="en-US"/>
              <a:t>University Institute of Engineering (UIE)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6" name="Google Shape;206;p1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07" name="Google Shape;207;p11"/>
          <p:cNvSpPr txBox="1">
            <a:spLocks noGrp="1"/>
          </p:cNvSpPr>
          <p:nvPr>
            <p:ph type="body" idx="1"/>
          </p:nvPr>
        </p:nvSpPr>
        <p:spPr>
          <a:xfrm>
            <a:off x="496525" y="1834174"/>
            <a:ext cx="7861645" cy="378448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spcBef>
                <a:spcPts val="0"/>
              </a:spcBef>
              <a:buSzPts val="2400"/>
              <a:buNone/>
            </a:pPr>
            <a:r>
              <a:rPr lang="en-US" b="1"/>
              <a:t> Data Types in Python:</a:t>
            </a:r>
            <a:endParaRPr/>
          </a:p>
          <a:p>
            <a:pPr marL="171450" indent="-171450">
              <a:buSzPts val="2400"/>
            </a:pPr>
            <a:r>
              <a:rPr lang="en-US" b="1"/>
              <a:t>int</a:t>
            </a:r>
            <a:r>
              <a:rPr lang="en-US"/>
              <a:t>: Represents integer values. Example: x = 5</a:t>
            </a:r>
            <a:endParaRPr/>
          </a:p>
          <a:p>
            <a:pPr marL="171450" indent="-171450">
              <a:buSzPts val="2400"/>
            </a:pPr>
            <a:r>
              <a:rPr lang="en-US" b="1"/>
              <a:t>float</a:t>
            </a:r>
            <a:r>
              <a:rPr lang="en-US"/>
              <a:t>: Represents floating-point numbers (decimal values). Example: y = 3.14</a:t>
            </a:r>
            <a:endParaRPr/>
          </a:p>
          <a:p>
            <a:pPr marL="171450" indent="-171450">
              <a:buSzPts val="2400"/>
            </a:pPr>
            <a:r>
              <a:rPr lang="en-US" b="1"/>
              <a:t>complex</a:t>
            </a:r>
            <a:r>
              <a:rPr lang="en-US"/>
              <a:t>: These numbers have a real part and an imaginary part. Example: a + bj</a:t>
            </a:r>
            <a:endParaRPr/>
          </a:p>
          <a:p>
            <a:pPr marL="171450" indent="-171450">
              <a:buSzPts val="2400"/>
            </a:pPr>
            <a:r>
              <a:rPr lang="en-US" b="1"/>
              <a:t>boolean:</a:t>
            </a:r>
            <a:r>
              <a:rPr lang="en-US"/>
              <a:t> Booleans represent True or False.</a:t>
            </a:r>
            <a:endParaRPr/>
          </a:p>
          <a:p>
            <a:pPr marL="171450" indent="-171450">
              <a:buSzPts val="2400"/>
            </a:pPr>
            <a:r>
              <a:rPr lang="en-US" b="1"/>
              <a:t>string: </a:t>
            </a:r>
            <a:r>
              <a:rPr lang="en-US"/>
              <a:t>These</a:t>
            </a:r>
            <a:r>
              <a:rPr lang="en-US" b="1"/>
              <a:t> </a:t>
            </a:r>
            <a:r>
              <a:rPr lang="en-US"/>
              <a:t>are sequences of characters enclosed in single, double, or triple quotes.</a:t>
            </a:r>
            <a:endParaRPr/>
          </a:p>
          <a:p>
            <a:pPr marL="171450" indent="-57150">
              <a:buSzPts val="2400"/>
              <a:buNone/>
            </a:pPr>
            <a:endParaRPr/>
          </a:p>
        </p:txBody>
      </p:sp>
      <p:pic>
        <p:nvPicPr>
          <p:cNvPr id="208" name="Google Shape;208;p11"/>
          <p:cNvPicPr preferRelativeResize="0"/>
          <p:nvPr/>
        </p:nvPicPr>
        <p:blipFill rotWithShape="1">
          <a:blip r:embed="rId3">
            <a:alphaModFix/>
          </a:blip>
          <a:srcRect/>
          <a:stretch/>
        </p:blipFill>
        <p:spPr>
          <a:xfrm>
            <a:off x="2869202" y="3800033"/>
            <a:ext cx="4476750" cy="1428750"/>
          </a:xfrm>
          <a:prstGeom prst="rect">
            <a:avLst/>
          </a:prstGeom>
          <a:noFill/>
          <a:ln>
            <a:noFill/>
          </a:ln>
        </p:spPr>
      </p:pic>
      <p:pic>
        <p:nvPicPr>
          <p:cNvPr id="209" name="Google Shape;209;p11"/>
          <p:cNvPicPr preferRelativeResize="0"/>
          <p:nvPr/>
        </p:nvPicPr>
        <p:blipFill rotWithShape="1">
          <a:blip r:embed="rId4">
            <a:alphaModFix/>
          </a:blip>
          <a:srcRect/>
          <a:stretch/>
        </p:blipFill>
        <p:spPr>
          <a:xfrm>
            <a:off x="2869202" y="5228783"/>
            <a:ext cx="4476750" cy="285750"/>
          </a:xfrm>
          <a:prstGeom prst="rect">
            <a:avLst/>
          </a:prstGeom>
          <a:noFill/>
          <a:ln>
            <a:noFill/>
          </a:ln>
        </p:spPr>
      </p:pic>
      <p:sp>
        <p:nvSpPr>
          <p:cNvPr id="2" name="Footer Placeholder 1">
            <a:extLst>
              <a:ext uri="{FF2B5EF4-FFF2-40B4-BE49-F238E27FC236}">
                <a16:creationId xmlns:a16="http://schemas.microsoft.com/office/drawing/2014/main" id="{4A69C686-3F0E-2772-9AA4-F72A14D3254E}"/>
              </a:ext>
            </a:extLst>
          </p:cNvPr>
          <p:cNvSpPr>
            <a:spLocks noGrp="1"/>
          </p:cNvSpPr>
          <p:nvPr>
            <p:ph type="ftr" idx="11"/>
          </p:nvPr>
        </p:nvSpPr>
        <p:spPr>
          <a:xfrm>
            <a:off x="3028950" y="6474970"/>
            <a:ext cx="3086100" cy="365125"/>
          </a:xfrm>
        </p:spPr>
        <p:txBody>
          <a:bodyPr/>
          <a:lstStyle/>
          <a:p>
            <a:r>
              <a:rPr lang="en-US" dirty="0"/>
              <a:t>University Institute of Engineering (UIE)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6" name="Google Shape;216;p1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17" name="Google Shape;217;p12"/>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Functions in Python: </a:t>
            </a:r>
            <a:r>
              <a:rPr lang="en-US"/>
              <a:t>A function is a block of code which only runs when it is called. You can pass data, known as parameters, into a function. A function can return data as a result.</a:t>
            </a:r>
            <a:endParaRPr/>
          </a:p>
          <a:p>
            <a:pPr marL="171450" indent="-171450">
              <a:buSzPts val="2400"/>
            </a:pPr>
            <a:r>
              <a:rPr lang="en-US" b="1"/>
              <a:t>id():</a:t>
            </a:r>
            <a:r>
              <a:rPr lang="en-US"/>
              <a:t>The id() function returns a unique identifier for a given object.  This identifier is unique and constant for the object during its lifetime.</a:t>
            </a:r>
            <a:endParaRPr/>
          </a:p>
          <a:p>
            <a:pPr marL="171450" indent="-171450">
              <a:buSzPts val="2400"/>
            </a:pPr>
            <a:r>
              <a:rPr lang="en-US" b="1"/>
              <a:t>type():</a:t>
            </a:r>
            <a:r>
              <a:rPr lang="en-US"/>
              <a:t> The type() function in Python is used to determine the type of an object. This function returns the type of the specified object.</a:t>
            </a:r>
            <a:endParaRPr/>
          </a:p>
          <a:p>
            <a:pPr marL="171450" indent="-171450">
              <a:buSzPts val="2400"/>
            </a:pPr>
            <a:r>
              <a:rPr lang="en-US" b="1"/>
              <a:t>return(): </a:t>
            </a:r>
            <a:r>
              <a:rPr lang="en-US"/>
              <a:t>The range() function generates a sequence of numbers, which is often used for looping a specific number of times in for loops. It can take one, two, or three arguments: range(stop), range(start, stop), or range(start, stop, step).</a:t>
            </a:r>
            <a:endParaRPr b="1"/>
          </a:p>
          <a:p>
            <a:pPr marL="0" indent="0">
              <a:buSzPts val="2400"/>
              <a:buNone/>
            </a:pPr>
            <a:endParaRPr b="1"/>
          </a:p>
        </p:txBody>
      </p:sp>
      <p:sp>
        <p:nvSpPr>
          <p:cNvPr id="2" name="Footer Placeholder 1">
            <a:extLst>
              <a:ext uri="{FF2B5EF4-FFF2-40B4-BE49-F238E27FC236}">
                <a16:creationId xmlns:a16="http://schemas.microsoft.com/office/drawing/2014/main" id="{357AC058-3380-BC2C-4A23-3FD92F3822C8}"/>
              </a:ext>
            </a:extLst>
          </p:cNvPr>
          <p:cNvSpPr>
            <a:spLocks noGrp="1"/>
          </p:cNvSpPr>
          <p:nvPr>
            <p:ph type="ftr" idx="11"/>
          </p:nvPr>
        </p:nvSpPr>
        <p:spPr>
          <a:xfrm>
            <a:off x="3028950" y="6492875"/>
            <a:ext cx="3086100" cy="365125"/>
          </a:xfrm>
        </p:spPr>
        <p:txBody>
          <a:bodyPr/>
          <a:lstStyle/>
          <a:p>
            <a:r>
              <a:rPr lang="en-US"/>
              <a:t>University Institute of Engineering (UIE)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4" name="Google Shape;224;p1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25" name="Google Shape;225;p13"/>
          <p:cNvSpPr txBox="1">
            <a:spLocks noGrp="1"/>
          </p:cNvSpPr>
          <p:nvPr>
            <p:ph type="body" idx="1"/>
          </p:nvPr>
        </p:nvSpPr>
        <p:spPr>
          <a:xfrm>
            <a:off x="509588" y="1840706"/>
            <a:ext cx="7861645" cy="3973899"/>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lgn="ctr">
              <a:spcBef>
                <a:spcPts val="0"/>
              </a:spcBef>
              <a:buSzPts val="2400"/>
              <a:buNone/>
            </a:pPr>
            <a:r>
              <a:rPr lang="en-US" b="1"/>
              <a:t>Operators in Python</a:t>
            </a:r>
            <a:endParaRPr/>
          </a:p>
          <a:p>
            <a:pPr marL="0" indent="0" algn="just">
              <a:buSzPts val="2400"/>
              <a:buNone/>
            </a:pPr>
            <a:r>
              <a:rPr lang="en-US"/>
              <a:t>In Python, operators are special symbols or keywords that perform operations on variables and values. They are used to perform computations, comparisons, and logical operations.</a:t>
            </a:r>
            <a:endParaRPr/>
          </a:p>
          <a:p>
            <a:pPr marL="0" indent="0" algn="just">
              <a:buSzPts val="2400"/>
              <a:buNone/>
            </a:pPr>
            <a:r>
              <a:rPr lang="en-US"/>
              <a:t> i) Arithmetic Operators </a:t>
            </a:r>
            <a:endParaRPr/>
          </a:p>
          <a:p>
            <a:pPr marL="0" indent="0" algn="just">
              <a:buSzPts val="2400"/>
              <a:buNone/>
            </a:pPr>
            <a:r>
              <a:rPr lang="en-US"/>
              <a:t>ii) Relational Operators </a:t>
            </a:r>
            <a:endParaRPr/>
          </a:p>
          <a:p>
            <a:pPr marL="0" indent="0" algn="just">
              <a:buSzPts val="2400"/>
              <a:buNone/>
            </a:pPr>
            <a:r>
              <a:rPr lang="en-US"/>
              <a:t>iii) Assignment Operator </a:t>
            </a:r>
            <a:endParaRPr/>
          </a:p>
          <a:p>
            <a:pPr marL="0" indent="0" algn="just">
              <a:buSzPts val="2400"/>
              <a:buNone/>
            </a:pPr>
            <a:r>
              <a:rPr lang="en-US"/>
              <a:t>iv) Logical Operators </a:t>
            </a:r>
            <a:endParaRPr/>
          </a:p>
          <a:p>
            <a:pPr marL="0" indent="0" algn="just">
              <a:buSzPts val="2400"/>
              <a:buNone/>
            </a:pPr>
            <a:r>
              <a:rPr lang="en-US"/>
              <a:t>v) Bitwise Operators </a:t>
            </a:r>
            <a:endParaRPr/>
          </a:p>
          <a:p>
            <a:pPr marL="0" indent="0" algn="just">
              <a:buSzPts val="2400"/>
              <a:buNone/>
            </a:pPr>
            <a:r>
              <a:rPr lang="en-US"/>
              <a:t>vi) Ternary Operator </a:t>
            </a:r>
            <a:endParaRPr/>
          </a:p>
          <a:p>
            <a:pPr marL="0" indent="0" algn="just">
              <a:buSzPts val="2400"/>
              <a:buNone/>
            </a:pPr>
            <a:r>
              <a:rPr lang="en-US"/>
              <a:t>vii) Membership Operators </a:t>
            </a:r>
            <a:endParaRPr/>
          </a:p>
          <a:p>
            <a:pPr marL="0" indent="0" algn="just">
              <a:buSzPts val="2400"/>
              <a:buNone/>
            </a:pPr>
            <a:r>
              <a:rPr lang="en-US"/>
              <a:t>viii) Identity Operators</a:t>
            </a:r>
            <a:endParaRPr/>
          </a:p>
          <a:p>
            <a:pPr marL="0" indent="0" algn="ctr">
              <a:buSzPts val="2400"/>
              <a:buNone/>
            </a:pPr>
            <a:endParaRPr b="1"/>
          </a:p>
        </p:txBody>
      </p:sp>
      <p:pic>
        <p:nvPicPr>
          <p:cNvPr id="226" name="Google Shape;226;p13"/>
          <p:cNvPicPr preferRelativeResize="0"/>
          <p:nvPr/>
        </p:nvPicPr>
        <p:blipFill rotWithShape="1">
          <a:blip r:embed="rId3">
            <a:alphaModFix/>
          </a:blip>
          <a:srcRect/>
          <a:stretch/>
        </p:blipFill>
        <p:spPr>
          <a:xfrm>
            <a:off x="4404916" y="3208337"/>
            <a:ext cx="3521869" cy="2028825"/>
          </a:xfrm>
          <a:prstGeom prst="rect">
            <a:avLst/>
          </a:prstGeom>
          <a:noFill/>
          <a:ln>
            <a:noFill/>
          </a:ln>
        </p:spPr>
      </p:pic>
      <p:sp>
        <p:nvSpPr>
          <p:cNvPr id="2" name="Footer Placeholder 1">
            <a:extLst>
              <a:ext uri="{FF2B5EF4-FFF2-40B4-BE49-F238E27FC236}">
                <a16:creationId xmlns:a16="http://schemas.microsoft.com/office/drawing/2014/main" id="{E5CE8883-FEF4-F79D-B16C-8D4C16CEB513}"/>
              </a:ext>
            </a:extLst>
          </p:cNvPr>
          <p:cNvSpPr>
            <a:spLocks noGrp="1"/>
          </p:cNvSpPr>
          <p:nvPr>
            <p:ph type="ftr" idx="11"/>
          </p:nvPr>
        </p:nvSpPr>
        <p:spPr>
          <a:xfrm>
            <a:off x="3028950" y="6492875"/>
            <a:ext cx="3086100" cy="365125"/>
          </a:xfrm>
        </p:spPr>
        <p:txBody>
          <a:bodyPr/>
          <a:lstStyle/>
          <a:p>
            <a:r>
              <a:rPr lang="en-US" dirty="0"/>
              <a:t>University Institute of Engineering (UIE)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1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34" name="Google Shape;234;p14"/>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a:t>Arithmetic Operators</a:t>
            </a:r>
            <a:r>
              <a:rPr lang="en-US"/>
              <a:t>: Arithmetic operators are used to perform mathematical operations like addition, subtraction, multiplication, etc.</a:t>
            </a:r>
            <a:endParaRPr/>
          </a:p>
        </p:txBody>
      </p:sp>
      <p:pic>
        <p:nvPicPr>
          <p:cNvPr id="235" name="Google Shape;235;p14"/>
          <p:cNvPicPr preferRelativeResize="0"/>
          <p:nvPr/>
        </p:nvPicPr>
        <p:blipFill rotWithShape="1">
          <a:blip r:embed="rId3">
            <a:alphaModFix/>
          </a:blip>
          <a:srcRect/>
          <a:stretch/>
        </p:blipFill>
        <p:spPr>
          <a:xfrm>
            <a:off x="2028418" y="2594169"/>
            <a:ext cx="4486275" cy="2743200"/>
          </a:xfrm>
          <a:prstGeom prst="rect">
            <a:avLst/>
          </a:prstGeom>
          <a:noFill/>
          <a:ln>
            <a:noFill/>
          </a:ln>
        </p:spPr>
      </p:pic>
      <p:sp>
        <p:nvSpPr>
          <p:cNvPr id="2" name="Footer Placeholder 1">
            <a:extLst>
              <a:ext uri="{FF2B5EF4-FFF2-40B4-BE49-F238E27FC236}">
                <a16:creationId xmlns:a16="http://schemas.microsoft.com/office/drawing/2014/main" id="{44BADEF4-B8FB-BCCB-D3EB-A7B63493744C}"/>
              </a:ext>
            </a:extLst>
          </p:cNvPr>
          <p:cNvSpPr>
            <a:spLocks noGrp="1"/>
          </p:cNvSpPr>
          <p:nvPr>
            <p:ph type="ftr" idx="11"/>
          </p:nvPr>
        </p:nvSpPr>
        <p:spPr>
          <a:xfrm>
            <a:off x="3028950" y="6492875"/>
            <a:ext cx="3086100" cy="365125"/>
          </a:xfrm>
        </p:spPr>
        <p:txBody>
          <a:bodyPr/>
          <a:lstStyle/>
          <a:p>
            <a:r>
              <a:rPr lang="en-US" dirty="0"/>
              <a:t>University Institute of Engineering (UIE)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43" name="Google Shape;243;p15"/>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a:t>Relation Operators: </a:t>
            </a:r>
            <a:r>
              <a:rPr lang="en-US"/>
              <a:t>Relational operators are used to compare two values. A </a:t>
            </a:r>
            <a:r>
              <a:rPr lang="en-US" b="1"/>
              <a:t>relational operator</a:t>
            </a:r>
            <a:r>
              <a:rPr lang="en-US"/>
              <a:t> is a programming language construct or operator that tests or defines some kind of relation between two entities. These include numerical equality (e.g., 5 = 5) and inequalities (e.g., 4 ≥ 3).</a:t>
            </a:r>
            <a:endParaRPr/>
          </a:p>
        </p:txBody>
      </p:sp>
      <p:pic>
        <p:nvPicPr>
          <p:cNvPr id="244" name="Google Shape;244;p15"/>
          <p:cNvPicPr preferRelativeResize="0"/>
          <p:nvPr/>
        </p:nvPicPr>
        <p:blipFill rotWithShape="1">
          <a:blip r:embed="rId3">
            <a:alphaModFix/>
          </a:blip>
          <a:srcRect/>
          <a:stretch/>
        </p:blipFill>
        <p:spPr>
          <a:xfrm>
            <a:off x="2675096" y="3205061"/>
            <a:ext cx="2605088" cy="1900238"/>
          </a:xfrm>
          <a:prstGeom prst="rect">
            <a:avLst/>
          </a:prstGeom>
          <a:noFill/>
          <a:ln>
            <a:noFill/>
          </a:ln>
        </p:spPr>
      </p:pic>
      <p:sp>
        <p:nvSpPr>
          <p:cNvPr id="2" name="Google Shape;106;p5">
            <a:extLst>
              <a:ext uri="{FF2B5EF4-FFF2-40B4-BE49-F238E27FC236}">
                <a16:creationId xmlns:a16="http://schemas.microsoft.com/office/drawing/2014/main" id="{204BD759-2021-CF3B-E956-426A600C4713}"/>
              </a:ext>
            </a:extLst>
          </p:cNvPr>
          <p:cNvSpPr txBox="1">
            <a:spLocks noGrp="1"/>
          </p:cNvSpPr>
          <p:nvPr>
            <p:ph type="ftr" idx="11"/>
          </p:nvPr>
        </p:nvSpPr>
        <p:spPr>
          <a:xfrm>
            <a:off x="2507623" y="6469654"/>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52" name="Google Shape;252;p16"/>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50000"/>
              </a:lnSpc>
              <a:spcBef>
                <a:spcPts val="0"/>
              </a:spcBef>
              <a:buSzPts val="2400"/>
            </a:pPr>
            <a:r>
              <a:rPr lang="en-US" b="1"/>
              <a:t>Assignment Operators</a:t>
            </a:r>
            <a:r>
              <a:rPr lang="en-US"/>
              <a:t>: The operators +, -, *, /, //, %, and ** can be combined with the assignment operator (=) to form augmented assignment operators.</a:t>
            </a:r>
            <a:endParaRPr/>
          </a:p>
          <a:p>
            <a:pPr marL="0" indent="0" algn="just">
              <a:lnSpc>
                <a:spcPct val="150000"/>
              </a:lnSpc>
              <a:buSzPts val="2400"/>
              <a:buNone/>
            </a:pPr>
            <a:endParaRPr/>
          </a:p>
        </p:txBody>
      </p:sp>
      <p:pic>
        <p:nvPicPr>
          <p:cNvPr id="253" name="Google Shape;253;p16"/>
          <p:cNvPicPr preferRelativeResize="0"/>
          <p:nvPr/>
        </p:nvPicPr>
        <p:blipFill rotWithShape="1">
          <a:blip r:embed="rId3">
            <a:alphaModFix/>
          </a:blip>
          <a:srcRect/>
          <a:stretch/>
        </p:blipFill>
        <p:spPr>
          <a:xfrm>
            <a:off x="2009639" y="2691527"/>
            <a:ext cx="4772025" cy="2757488"/>
          </a:xfrm>
          <a:prstGeom prst="rect">
            <a:avLst/>
          </a:prstGeom>
          <a:noFill/>
          <a:ln>
            <a:noFill/>
          </a:ln>
        </p:spPr>
      </p:pic>
      <p:sp>
        <p:nvSpPr>
          <p:cNvPr id="2" name="Google Shape;106;p5">
            <a:extLst>
              <a:ext uri="{FF2B5EF4-FFF2-40B4-BE49-F238E27FC236}">
                <a16:creationId xmlns:a16="http://schemas.microsoft.com/office/drawing/2014/main" id="{AF5EDE68-CB9E-630D-A66B-56D04656AEA4}"/>
              </a:ext>
            </a:extLst>
          </p:cNvPr>
          <p:cNvSpPr txBox="1">
            <a:spLocks noGrp="1"/>
          </p:cNvSpPr>
          <p:nvPr>
            <p:ph type="ftr" idx="11"/>
          </p:nvPr>
        </p:nvSpPr>
        <p:spPr>
          <a:xfrm>
            <a:off x="2357016" y="6549575"/>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1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61" name="Google Shape;261;p17"/>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Logical Operator: </a:t>
            </a:r>
            <a:r>
              <a:rPr lang="en-US"/>
              <a:t>Logical operators are used to check whether an expression is True or False. They are used in decision-making. The primary logical operators in Python are and, or, and not. These operators allow you to create complex conditional statements by combining simpler conditions.</a:t>
            </a:r>
            <a:endParaRPr b="1"/>
          </a:p>
        </p:txBody>
      </p:sp>
      <p:pic>
        <p:nvPicPr>
          <p:cNvPr id="262" name="Google Shape;262;p17"/>
          <p:cNvPicPr preferRelativeResize="0"/>
          <p:nvPr/>
        </p:nvPicPr>
        <p:blipFill rotWithShape="1">
          <a:blip r:embed="rId3">
            <a:alphaModFix/>
          </a:blip>
          <a:srcRect/>
          <a:stretch/>
        </p:blipFill>
        <p:spPr>
          <a:xfrm>
            <a:off x="1959905" y="3021637"/>
            <a:ext cx="4662488" cy="1862138"/>
          </a:xfrm>
          <a:prstGeom prst="rect">
            <a:avLst/>
          </a:prstGeom>
          <a:noFill/>
          <a:ln>
            <a:noFill/>
          </a:ln>
        </p:spPr>
      </p:pic>
      <p:sp>
        <p:nvSpPr>
          <p:cNvPr id="2" name="Google Shape;106;p5">
            <a:extLst>
              <a:ext uri="{FF2B5EF4-FFF2-40B4-BE49-F238E27FC236}">
                <a16:creationId xmlns:a16="http://schemas.microsoft.com/office/drawing/2014/main" id="{36D2811E-00DE-2922-62DF-C89E841E9CC0}"/>
              </a:ext>
            </a:extLst>
          </p:cNvPr>
          <p:cNvSpPr txBox="1">
            <a:spLocks noGrp="1"/>
          </p:cNvSpPr>
          <p:nvPr>
            <p:ph type="ftr" idx="11"/>
          </p:nvPr>
        </p:nvSpPr>
        <p:spPr>
          <a:xfrm>
            <a:off x="2464592" y="6544701"/>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1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70" name="Google Shape;270;p18"/>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Bitwise operator: </a:t>
            </a:r>
            <a:r>
              <a:rPr lang="en-US"/>
              <a:t>Bitwise operators act on operands as if they were strings of binary digits. They operate bit by bit, hence the name.</a:t>
            </a:r>
            <a:endParaRPr/>
          </a:p>
          <a:p>
            <a:pPr marL="171450" indent="-171450">
              <a:buSzPts val="2400"/>
            </a:pPr>
            <a:r>
              <a:rPr lang="en-US"/>
              <a:t>For example, </a:t>
            </a:r>
            <a:r>
              <a:rPr lang="en-US" b="1"/>
              <a:t>2</a:t>
            </a:r>
            <a:r>
              <a:rPr lang="en-US"/>
              <a:t> is 10 in binary, and </a:t>
            </a:r>
            <a:r>
              <a:rPr lang="en-US" b="1"/>
              <a:t>7</a:t>
            </a:r>
            <a:r>
              <a:rPr lang="en-US"/>
              <a:t> is 111.</a:t>
            </a:r>
            <a:endParaRPr/>
          </a:p>
          <a:p>
            <a:pPr marL="171450" indent="-57150">
              <a:buSzPts val="2400"/>
              <a:buNone/>
            </a:pPr>
            <a:endParaRPr/>
          </a:p>
          <a:p>
            <a:pPr marL="171450" indent="-57150">
              <a:buSzPts val="2400"/>
              <a:buNone/>
            </a:pPr>
            <a:endParaRPr b="1"/>
          </a:p>
        </p:txBody>
      </p:sp>
      <p:pic>
        <p:nvPicPr>
          <p:cNvPr id="271" name="Google Shape;271;p18"/>
          <p:cNvPicPr preferRelativeResize="0"/>
          <p:nvPr/>
        </p:nvPicPr>
        <p:blipFill rotWithShape="1">
          <a:blip r:embed="rId3">
            <a:alphaModFix/>
          </a:blip>
          <a:srcRect/>
          <a:stretch/>
        </p:blipFill>
        <p:spPr>
          <a:xfrm>
            <a:off x="2145234" y="2806031"/>
            <a:ext cx="4605338" cy="2371725"/>
          </a:xfrm>
          <a:prstGeom prst="rect">
            <a:avLst/>
          </a:prstGeom>
          <a:noFill/>
          <a:ln>
            <a:noFill/>
          </a:ln>
        </p:spPr>
      </p:pic>
      <p:sp>
        <p:nvSpPr>
          <p:cNvPr id="2" name="Google Shape;106;p5">
            <a:extLst>
              <a:ext uri="{FF2B5EF4-FFF2-40B4-BE49-F238E27FC236}">
                <a16:creationId xmlns:a16="http://schemas.microsoft.com/office/drawing/2014/main" id="{46254A4D-7ADF-0C42-6A44-226F6F77E83C}"/>
              </a:ext>
            </a:extLst>
          </p:cNvPr>
          <p:cNvSpPr txBox="1">
            <a:spLocks noGrp="1"/>
          </p:cNvSpPr>
          <p:nvPr>
            <p:ph type="ftr" idx="11"/>
          </p:nvPr>
        </p:nvSpPr>
        <p:spPr>
          <a:xfrm>
            <a:off x="2421562" y="6538817"/>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8" name="Google Shape;278;p1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79" name="Google Shape;279;p19"/>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50000"/>
              </a:lnSpc>
              <a:spcBef>
                <a:spcPts val="0"/>
              </a:spcBef>
              <a:buSzPts val="2400"/>
            </a:pPr>
            <a:r>
              <a:rPr lang="en-US" b="1"/>
              <a:t>Ternary Operator: </a:t>
            </a:r>
            <a:r>
              <a:rPr lang="en-US"/>
              <a:t>The ternary operator in Python, also known as the conditional expression, provides a concise way to evaluate a condition and choose between two outcomes. This operator can be written in a single line, making your code shorter and more readable.</a:t>
            </a:r>
            <a:endParaRPr/>
          </a:p>
          <a:p>
            <a:pPr marL="171450" indent="-171450" algn="just">
              <a:lnSpc>
                <a:spcPct val="150000"/>
              </a:lnSpc>
              <a:buSzPts val="2400"/>
            </a:pPr>
            <a:r>
              <a:rPr lang="en-US" b="1"/>
              <a:t>Syntax:</a:t>
            </a:r>
            <a:r>
              <a:rPr lang="en-US"/>
              <a:t>  </a:t>
            </a:r>
            <a:r>
              <a:rPr lang="en-US" i="1"/>
              <a:t>true_value</a:t>
            </a:r>
            <a:r>
              <a:rPr lang="en-US"/>
              <a:t> if </a:t>
            </a:r>
            <a:r>
              <a:rPr lang="en-US" i="1"/>
              <a:t>condition</a:t>
            </a:r>
            <a:r>
              <a:rPr lang="en-US"/>
              <a:t> else </a:t>
            </a:r>
            <a:r>
              <a:rPr lang="en-US" i="1"/>
              <a:t>false_value</a:t>
            </a:r>
            <a:endParaRPr b="1"/>
          </a:p>
        </p:txBody>
      </p:sp>
      <p:sp>
        <p:nvSpPr>
          <p:cNvPr id="2" name="Google Shape;106;p5">
            <a:extLst>
              <a:ext uri="{FF2B5EF4-FFF2-40B4-BE49-F238E27FC236}">
                <a16:creationId xmlns:a16="http://schemas.microsoft.com/office/drawing/2014/main" id="{4173CE28-263D-2A26-2F40-B01E583A28DF}"/>
              </a:ext>
            </a:extLst>
          </p:cNvPr>
          <p:cNvSpPr txBox="1">
            <a:spLocks noGrp="1"/>
          </p:cNvSpPr>
          <p:nvPr>
            <p:ph type="ftr" idx="11"/>
          </p:nvPr>
        </p:nvSpPr>
        <p:spPr>
          <a:xfrm>
            <a:off x="2410804" y="6538818"/>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2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87" name="Google Shape;287;p20"/>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a:t>Membership Operators: </a:t>
            </a:r>
            <a:r>
              <a:rPr lang="en-US"/>
              <a:t>In Python, in and not in are the membership operators. They are used to test whether a value or variable is found in a sequence (</a:t>
            </a:r>
            <a:r>
              <a:rPr lang="en-US" u="sng">
                <a:solidFill>
                  <a:schemeClr val="hlink"/>
                </a:solidFill>
                <a:hlinkClick r:id="rId3"/>
              </a:rPr>
              <a:t>string</a:t>
            </a:r>
            <a:r>
              <a:rPr lang="en-US"/>
              <a:t>, </a:t>
            </a:r>
            <a:r>
              <a:rPr lang="en-US" u="sng">
                <a:solidFill>
                  <a:schemeClr val="hlink"/>
                </a:solidFill>
                <a:hlinkClick r:id="rId4"/>
              </a:rPr>
              <a:t>list</a:t>
            </a:r>
            <a:r>
              <a:rPr lang="en-US"/>
              <a:t>, </a:t>
            </a:r>
            <a:r>
              <a:rPr lang="en-US" u="sng">
                <a:solidFill>
                  <a:schemeClr val="hlink"/>
                </a:solidFill>
                <a:hlinkClick r:id="rId5"/>
              </a:rPr>
              <a:t>tuple</a:t>
            </a:r>
            <a:r>
              <a:rPr lang="en-US"/>
              <a:t>, </a:t>
            </a:r>
            <a:r>
              <a:rPr lang="en-US" u="sng">
                <a:solidFill>
                  <a:schemeClr val="hlink"/>
                </a:solidFill>
                <a:hlinkClick r:id="rId6"/>
              </a:rPr>
              <a:t>set</a:t>
            </a:r>
            <a:r>
              <a:rPr lang="en-US"/>
              <a:t> and </a:t>
            </a:r>
            <a:r>
              <a:rPr lang="en-US" u="sng">
                <a:solidFill>
                  <a:schemeClr val="hlink"/>
                </a:solidFill>
                <a:hlinkClick r:id="rId7"/>
              </a:rPr>
              <a:t>dictionary</a:t>
            </a:r>
            <a:r>
              <a:rPr lang="en-US"/>
              <a:t>).</a:t>
            </a:r>
            <a:endParaRPr b="1"/>
          </a:p>
        </p:txBody>
      </p:sp>
      <p:pic>
        <p:nvPicPr>
          <p:cNvPr id="288" name="Google Shape;288;p20"/>
          <p:cNvPicPr preferRelativeResize="0"/>
          <p:nvPr/>
        </p:nvPicPr>
        <p:blipFill rotWithShape="1">
          <a:blip r:embed="rId8">
            <a:alphaModFix/>
          </a:blip>
          <a:srcRect/>
          <a:stretch/>
        </p:blipFill>
        <p:spPr>
          <a:xfrm>
            <a:off x="1968069" y="3204652"/>
            <a:ext cx="5233988" cy="985838"/>
          </a:xfrm>
          <a:prstGeom prst="rect">
            <a:avLst/>
          </a:prstGeom>
          <a:noFill/>
          <a:ln>
            <a:noFill/>
          </a:ln>
        </p:spPr>
      </p:pic>
      <p:sp>
        <p:nvSpPr>
          <p:cNvPr id="2" name="Google Shape;106;p5">
            <a:extLst>
              <a:ext uri="{FF2B5EF4-FFF2-40B4-BE49-F238E27FC236}">
                <a16:creationId xmlns:a16="http://schemas.microsoft.com/office/drawing/2014/main" id="{EF877A5E-959E-BD0A-6C14-7C441AE8B134}"/>
              </a:ext>
            </a:extLst>
          </p:cNvPr>
          <p:cNvSpPr txBox="1">
            <a:spLocks noGrp="1"/>
          </p:cNvSpPr>
          <p:nvPr>
            <p:ph type="ftr" idx="11"/>
          </p:nvPr>
        </p:nvSpPr>
        <p:spPr>
          <a:xfrm>
            <a:off x="2400046" y="6504751"/>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5" name="Google Shape;295;p2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296" name="Google Shape;296;p21"/>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a:t>Identity Operators: </a:t>
            </a:r>
            <a:r>
              <a:rPr lang="en-US"/>
              <a:t>Identity operators are used to compare the objects, not if they are equal, but if they are actually the same object, with the same memory location:</a:t>
            </a:r>
            <a:endParaRPr b="1"/>
          </a:p>
        </p:txBody>
      </p:sp>
      <p:pic>
        <p:nvPicPr>
          <p:cNvPr id="297" name="Google Shape;297;p21"/>
          <p:cNvPicPr preferRelativeResize="0"/>
          <p:nvPr/>
        </p:nvPicPr>
        <p:blipFill rotWithShape="1">
          <a:blip r:embed="rId3">
            <a:alphaModFix/>
          </a:blip>
          <a:srcRect/>
          <a:stretch/>
        </p:blipFill>
        <p:spPr>
          <a:xfrm>
            <a:off x="1519636" y="2881313"/>
            <a:ext cx="5659040" cy="1628775"/>
          </a:xfrm>
          <a:prstGeom prst="rect">
            <a:avLst/>
          </a:prstGeom>
          <a:noFill/>
          <a:ln>
            <a:noFill/>
          </a:ln>
        </p:spPr>
      </p:pic>
      <p:sp>
        <p:nvSpPr>
          <p:cNvPr id="2" name="Google Shape;106;p5">
            <a:extLst>
              <a:ext uri="{FF2B5EF4-FFF2-40B4-BE49-F238E27FC236}">
                <a16:creationId xmlns:a16="http://schemas.microsoft.com/office/drawing/2014/main" id="{D68D47F2-A795-F940-7870-7F82FDA1E066}"/>
              </a:ext>
            </a:extLst>
          </p:cNvPr>
          <p:cNvSpPr txBox="1">
            <a:spLocks noGrp="1"/>
          </p:cNvSpPr>
          <p:nvPr>
            <p:ph type="ftr" idx="11"/>
          </p:nvPr>
        </p:nvSpPr>
        <p:spPr>
          <a:xfrm>
            <a:off x="2529139" y="6512099"/>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Shape 302"/>
        <p:cNvGrpSpPr/>
        <p:nvPr/>
      </p:nvGrpSpPr>
      <p:grpSpPr>
        <a:xfrm>
          <a:off x="0" y="0"/>
          <a:ext cx="0" cy="0"/>
          <a:chOff x="0" y="0"/>
          <a:chExt cx="0" cy="0"/>
        </a:xfrm>
      </p:grpSpPr>
      <p:sp>
        <p:nvSpPr>
          <p:cNvPr id="304" name="Google Shape;304;p22"/>
          <p:cNvSpPr txBox="1">
            <a:spLocks noGrp="1"/>
          </p:cNvSpPr>
          <p:nvPr>
            <p:ph type="title" idx="4294967295"/>
          </p:nvPr>
        </p:nvSpPr>
        <p:spPr>
          <a:xfrm>
            <a:off x="603031" y="959643"/>
            <a:ext cx="6483569" cy="701648"/>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dirty="0">
                <a:solidFill>
                  <a:schemeClr val="dk1"/>
                </a:solidFill>
              </a:rPr>
              <a:t>Introduction to Python Programming</a:t>
            </a:r>
            <a:endParaRPr dirty="0"/>
          </a:p>
        </p:txBody>
      </p:sp>
      <p:sp>
        <p:nvSpPr>
          <p:cNvPr id="305" name="Google Shape;305;p22"/>
          <p:cNvSpPr txBox="1">
            <a:spLocks noGrp="1"/>
          </p:cNvSpPr>
          <p:nvPr>
            <p:ph type="body" idx="1"/>
          </p:nvPr>
        </p:nvSpPr>
        <p:spPr>
          <a:xfrm>
            <a:off x="509588" y="1840705"/>
            <a:ext cx="7861645" cy="3869215"/>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b="1" dirty="0"/>
              <a:t>Conditional Statements: </a:t>
            </a:r>
            <a:r>
              <a:rPr lang="en-US" dirty="0"/>
              <a:t>Conditional statements in Python allow you to execute different blocks of code based on whether a specific condition is true or false. The three main types of conditional statements in Python: if, if-else, and if-</a:t>
            </a:r>
            <a:r>
              <a:rPr lang="en-US" dirty="0" err="1"/>
              <a:t>elif</a:t>
            </a:r>
            <a:r>
              <a:rPr lang="en-US" dirty="0"/>
              <a:t>-else.</a:t>
            </a:r>
            <a:endParaRPr dirty="0"/>
          </a:p>
          <a:p>
            <a:pPr marL="171450" indent="-171450">
              <a:buSzPts val="2400"/>
            </a:pPr>
            <a:r>
              <a:rPr lang="en-US" dirty="0"/>
              <a:t>Python supports the usual logical conditions from mathematics:</a:t>
            </a:r>
            <a:endParaRPr dirty="0"/>
          </a:p>
          <a:p>
            <a:pPr marL="171450" indent="-171450">
              <a:buSzPts val="2400"/>
            </a:pPr>
            <a:r>
              <a:rPr lang="en-US" dirty="0"/>
              <a:t>Equals: a == b</a:t>
            </a:r>
            <a:endParaRPr dirty="0"/>
          </a:p>
          <a:p>
            <a:pPr marL="171450" indent="-171450">
              <a:buSzPts val="2400"/>
            </a:pPr>
            <a:r>
              <a:rPr lang="en-US" dirty="0"/>
              <a:t>Not Equals: a != b</a:t>
            </a:r>
            <a:endParaRPr dirty="0"/>
          </a:p>
          <a:p>
            <a:pPr marL="171450" indent="-171450">
              <a:buSzPts val="2400"/>
            </a:pPr>
            <a:r>
              <a:rPr lang="en-US" dirty="0"/>
              <a:t>Less than: a &lt; b</a:t>
            </a:r>
            <a:endParaRPr dirty="0"/>
          </a:p>
          <a:p>
            <a:pPr marL="171450" indent="-171450">
              <a:buSzPts val="2400"/>
            </a:pPr>
            <a:r>
              <a:rPr lang="en-US" dirty="0"/>
              <a:t>Less than or equal to: a &lt;= b</a:t>
            </a:r>
            <a:endParaRPr dirty="0"/>
          </a:p>
          <a:p>
            <a:pPr marL="171450" indent="-171450">
              <a:buSzPts val="2400"/>
            </a:pPr>
            <a:r>
              <a:rPr lang="en-US" dirty="0"/>
              <a:t>Greater than: a &gt; b</a:t>
            </a:r>
            <a:endParaRPr dirty="0"/>
          </a:p>
          <a:p>
            <a:pPr marL="171450" indent="-171450">
              <a:buSzPts val="2400"/>
            </a:pPr>
            <a:r>
              <a:rPr lang="en-US" dirty="0"/>
              <a:t>Greater than or equal to: a &gt;= b</a:t>
            </a:r>
            <a:endParaRPr dirty="0"/>
          </a:p>
          <a:p>
            <a:pPr marL="171450" indent="-171450">
              <a:buSzPts val="2400"/>
            </a:pPr>
            <a:r>
              <a:rPr lang="en-US" dirty="0"/>
              <a:t>An "if statement" is written by using the ‘if’ keyword.</a:t>
            </a:r>
            <a:endParaRPr dirty="0"/>
          </a:p>
          <a:p>
            <a:pPr marL="0" indent="0" algn="just">
              <a:buSzPts val="2400"/>
              <a:buNone/>
            </a:pPr>
            <a:endParaRPr b="1" dirty="0"/>
          </a:p>
        </p:txBody>
      </p:sp>
      <p:sp>
        <p:nvSpPr>
          <p:cNvPr id="2" name="Google Shape;106;p5">
            <a:extLst>
              <a:ext uri="{FF2B5EF4-FFF2-40B4-BE49-F238E27FC236}">
                <a16:creationId xmlns:a16="http://schemas.microsoft.com/office/drawing/2014/main" id="{91E5AD6C-8F85-08DE-4335-6D2B593E40FE}"/>
              </a:ext>
            </a:extLst>
          </p:cNvPr>
          <p:cNvSpPr txBox="1">
            <a:spLocks noGrp="1"/>
          </p:cNvSpPr>
          <p:nvPr>
            <p:ph type="ftr" idx="11"/>
          </p:nvPr>
        </p:nvSpPr>
        <p:spPr>
          <a:xfrm>
            <a:off x="2463397" y="6570419"/>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2" name="Google Shape;312;p2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13" name="Google Shape;313;p23"/>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If statement: </a:t>
            </a:r>
            <a:r>
              <a:rPr lang="en-US"/>
              <a:t>The if statement is used to execute a block of code only if a specified condition is true.</a:t>
            </a:r>
            <a:endParaRPr/>
          </a:p>
          <a:p>
            <a:pPr marL="171450" indent="-171450">
              <a:buSzPts val="2400"/>
            </a:pPr>
            <a:r>
              <a:rPr lang="en-US" b="1"/>
              <a:t>Syntax:</a:t>
            </a:r>
            <a:endParaRPr/>
          </a:p>
          <a:p>
            <a:pPr marL="0" indent="0">
              <a:buSzPts val="2400"/>
              <a:buNone/>
            </a:pPr>
            <a:r>
              <a:rPr lang="en-US"/>
              <a:t>   if condition:</a:t>
            </a:r>
            <a:endParaRPr/>
          </a:p>
          <a:p>
            <a:pPr marL="0" indent="0">
              <a:buSzPts val="2400"/>
              <a:buNone/>
            </a:pPr>
            <a:r>
              <a:rPr lang="en-US"/>
              <a:t>     # Code to execute if condition is true</a:t>
            </a:r>
            <a:endParaRPr/>
          </a:p>
          <a:p>
            <a:pPr marL="171450" indent="-57150" algn="just">
              <a:buSzPts val="2400"/>
              <a:buNone/>
            </a:pPr>
            <a:endParaRPr b="1"/>
          </a:p>
        </p:txBody>
      </p:sp>
      <p:pic>
        <p:nvPicPr>
          <p:cNvPr id="314" name="Google Shape;314;p23"/>
          <p:cNvPicPr preferRelativeResize="0"/>
          <p:nvPr/>
        </p:nvPicPr>
        <p:blipFill rotWithShape="1">
          <a:blip r:embed="rId3">
            <a:alphaModFix/>
          </a:blip>
          <a:srcRect/>
          <a:stretch/>
        </p:blipFill>
        <p:spPr>
          <a:xfrm>
            <a:off x="4539853" y="3380980"/>
            <a:ext cx="3378994" cy="1721644"/>
          </a:xfrm>
          <a:prstGeom prst="rect">
            <a:avLst/>
          </a:prstGeom>
          <a:noFill/>
          <a:ln>
            <a:noFill/>
          </a:ln>
        </p:spPr>
      </p:pic>
      <p:sp>
        <p:nvSpPr>
          <p:cNvPr id="2" name="Google Shape;106;p5">
            <a:extLst>
              <a:ext uri="{FF2B5EF4-FFF2-40B4-BE49-F238E27FC236}">
                <a16:creationId xmlns:a16="http://schemas.microsoft.com/office/drawing/2014/main" id="{F3602EA1-265E-8410-5BEA-CCB8BD8D2235}"/>
              </a:ext>
            </a:extLst>
          </p:cNvPr>
          <p:cNvSpPr txBox="1">
            <a:spLocks noGrp="1"/>
          </p:cNvSpPr>
          <p:nvPr>
            <p:ph type="ftr" idx="11"/>
          </p:nvPr>
        </p:nvSpPr>
        <p:spPr>
          <a:xfrm>
            <a:off x="2475350" y="6535176"/>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1" name="Google Shape;321;p2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22" name="Google Shape;322;p24"/>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Elif statement: </a:t>
            </a:r>
            <a:r>
              <a:rPr lang="en-US"/>
              <a:t>The elif keyword is pythons way of saying "if the previous conditions were not true, then try this condition".</a:t>
            </a:r>
            <a:endParaRPr/>
          </a:p>
          <a:p>
            <a:pPr marL="171450" indent="-171450">
              <a:buSzPts val="2400"/>
            </a:pPr>
            <a:r>
              <a:rPr lang="en-US" b="1"/>
              <a:t>Syntax</a:t>
            </a:r>
            <a:r>
              <a:rPr lang="en-US"/>
              <a:t>:</a:t>
            </a:r>
            <a:endParaRPr/>
          </a:p>
          <a:p>
            <a:pPr marL="0" indent="0">
              <a:buSzPts val="2400"/>
              <a:buNone/>
            </a:pPr>
            <a:r>
              <a:rPr lang="en-US"/>
              <a:t>    if (condition): </a:t>
            </a:r>
            <a:endParaRPr/>
          </a:p>
          <a:p>
            <a:pPr marL="0" indent="0">
              <a:buSzPts val="2400"/>
              <a:buNone/>
            </a:pPr>
            <a:r>
              <a:rPr lang="en-US"/>
              <a:t>       #statement</a:t>
            </a:r>
            <a:endParaRPr/>
          </a:p>
          <a:p>
            <a:pPr marL="0" indent="0">
              <a:buSzPts val="2400"/>
              <a:buNone/>
            </a:pPr>
            <a:r>
              <a:rPr lang="en-US"/>
              <a:t>    elif (condition): </a:t>
            </a:r>
            <a:endParaRPr/>
          </a:p>
          <a:p>
            <a:pPr marL="0" indent="0">
              <a:buSzPts val="2400"/>
              <a:buNone/>
            </a:pPr>
            <a:r>
              <a:rPr lang="en-US"/>
              <a:t>       #statement</a:t>
            </a:r>
            <a:endParaRPr/>
          </a:p>
          <a:p>
            <a:pPr marL="0" indent="0">
              <a:buSzPts val="2400"/>
              <a:buNone/>
            </a:pPr>
            <a:r>
              <a:rPr lang="en-US"/>
              <a:t>      </a:t>
            </a:r>
            <a:endParaRPr/>
          </a:p>
          <a:p>
            <a:pPr marL="0" indent="0">
              <a:buSzPts val="2400"/>
              <a:buNone/>
            </a:pPr>
            <a:r>
              <a:rPr lang="en-US"/>
              <a:t>   </a:t>
            </a:r>
            <a:endParaRPr b="1"/>
          </a:p>
        </p:txBody>
      </p:sp>
      <p:pic>
        <p:nvPicPr>
          <p:cNvPr id="323" name="Google Shape;323;p24"/>
          <p:cNvPicPr preferRelativeResize="0"/>
          <p:nvPr/>
        </p:nvPicPr>
        <p:blipFill rotWithShape="1">
          <a:blip r:embed="rId3">
            <a:alphaModFix/>
          </a:blip>
          <a:srcRect/>
          <a:stretch/>
        </p:blipFill>
        <p:spPr>
          <a:xfrm>
            <a:off x="5098654" y="2937273"/>
            <a:ext cx="2921794" cy="1593056"/>
          </a:xfrm>
          <a:prstGeom prst="rect">
            <a:avLst/>
          </a:prstGeom>
          <a:noFill/>
          <a:ln>
            <a:noFill/>
          </a:ln>
        </p:spPr>
      </p:pic>
      <p:sp>
        <p:nvSpPr>
          <p:cNvPr id="2" name="Google Shape;106;p5">
            <a:extLst>
              <a:ext uri="{FF2B5EF4-FFF2-40B4-BE49-F238E27FC236}">
                <a16:creationId xmlns:a16="http://schemas.microsoft.com/office/drawing/2014/main" id="{9C4F6F63-F0B9-1C41-3A1E-3D6360A123A4}"/>
              </a:ext>
            </a:extLst>
          </p:cNvPr>
          <p:cNvSpPr txBox="1">
            <a:spLocks noGrp="1"/>
          </p:cNvSpPr>
          <p:nvPr>
            <p:ph type="ftr" idx="11"/>
          </p:nvPr>
        </p:nvSpPr>
        <p:spPr>
          <a:xfrm>
            <a:off x="2485954" y="6568059"/>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30" name="Google Shape;330;p2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31" name="Google Shape;331;p25"/>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If-else statement: </a:t>
            </a:r>
            <a:r>
              <a:rPr lang="en-US"/>
              <a:t>The if-else statement is used to execute one block of code if the condition is true, and another block if the condition is false.</a:t>
            </a:r>
            <a:endParaRPr/>
          </a:p>
          <a:p>
            <a:pPr marL="171450" indent="-171450">
              <a:buSzPts val="2400"/>
            </a:pPr>
            <a:r>
              <a:rPr lang="en-US" b="1"/>
              <a:t>Syntax:</a:t>
            </a:r>
            <a:endParaRPr/>
          </a:p>
          <a:p>
            <a:pPr marL="0" indent="0">
              <a:buSzPts val="2400"/>
              <a:buNone/>
            </a:pPr>
            <a:r>
              <a:rPr lang="en-US"/>
              <a:t>   if condition:</a:t>
            </a:r>
            <a:endParaRPr/>
          </a:p>
          <a:p>
            <a:pPr marL="0" indent="0">
              <a:buSzPts val="2400"/>
              <a:buNone/>
            </a:pPr>
            <a:r>
              <a:rPr lang="en-US"/>
              <a:t>      # Code to execute if condition is true </a:t>
            </a:r>
            <a:endParaRPr/>
          </a:p>
          <a:p>
            <a:pPr marL="0" indent="0">
              <a:buSzPts val="2400"/>
              <a:buNone/>
            </a:pPr>
            <a:r>
              <a:rPr lang="en-US"/>
              <a:t>   else:</a:t>
            </a:r>
            <a:endParaRPr/>
          </a:p>
          <a:p>
            <a:pPr marL="0" indent="0">
              <a:buSzPts val="2400"/>
              <a:buNone/>
            </a:pPr>
            <a:r>
              <a:rPr lang="en-US"/>
              <a:t>      # Code to execute if condition is false</a:t>
            </a:r>
            <a:endParaRPr/>
          </a:p>
          <a:p>
            <a:pPr marL="171450" indent="-57150" algn="just">
              <a:buSzPts val="2400"/>
              <a:buNone/>
            </a:pPr>
            <a:endParaRPr b="1"/>
          </a:p>
        </p:txBody>
      </p:sp>
      <p:pic>
        <p:nvPicPr>
          <p:cNvPr id="332" name="Google Shape;332;p25"/>
          <p:cNvPicPr preferRelativeResize="0"/>
          <p:nvPr/>
        </p:nvPicPr>
        <p:blipFill rotWithShape="1">
          <a:blip r:embed="rId3">
            <a:alphaModFix/>
          </a:blip>
          <a:srcRect/>
          <a:stretch/>
        </p:blipFill>
        <p:spPr>
          <a:xfrm>
            <a:off x="4648598" y="3050381"/>
            <a:ext cx="3364706" cy="1557338"/>
          </a:xfrm>
          <a:prstGeom prst="rect">
            <a:avLst/>
          </a:prstGeom>
          <a:noFill/>
          <a:ln>
            <a:noFill/>
          </a:ln>
        </p:spPr>
      </p:pic>
      <p:sp>
        <p:nvSpPr>
          <p:cNvPr id="2" name="Google Shape;106;p5">
            <a:extLst>
              <a:ext uri="{FF2B5EF4-FFF2-40B4-BE49-F238E27FC236}">
                <a16:creationId xmlns:a16="http://schemas.microsoft.com/office/drawing/2014/main" id="{AFC4D58D-2F05-097D-0FF2-E1ED157F594E}"/>
              </a:ext>
            </a:extLst>
          </p:cNvPr>
          <p:cNvSpPr txBox="1">
            <a:spLocks noGrp="1"/>
          </p:cNvSpPr>
          <p:nvPr>
            <p:ph type="ftr" idx="11"/>
          </p:nvPr>
        </p:nvSpPr>
        <p:spPr>
          <a:xfrm>
            <a:off x="2335500" y="6573445"/>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9" name="Google Shape;339;p2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40" name="Google Shape;340;p26"/>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Iterative statement: </a:t>
            </a:r>
            <a:r>
              <a:rPr lang="en-US"/>
              <a:t>In Python, iterative statements, also known as loops, are used to execute a block of code repeatedly as long as a specified condition is true. There are several types of iterative statements available in Python, including for loops, while loops, and nested loops.</a:t>
            </a:r>
            <a:endParaRPr/>
          </a:p>
          <a:p>
            <a:pPr marL="171450" indent="-171450">
              <a:buSzPts val="2400"/>
            </a:pPr>
            <a:r>
              <a:rPr lang="en-US" b="1"/>
              <a:t>for Loop: </a:t>
            </a:r>
            <a:r>
              <a:rPr lang="en-US"/>
              <a:t>The for loop is used to iterate over a sequence (such as a list, tuple, string, or range) and execute a block of code for each item in the sequence.</a:t>
            </a:r>
            <a:endParaRPr/>
          </a:p>
          <a:p>
            <a:pPr marL="171450" indent="-171450">
              <a:buSzPts val="2400"/>
            </a:pPr>
            <a:r>
              <a:rPr lang="en-US" b="1"/>
              <a:t>Syntax:</a:t>
            </a:r>
            <a:endParaRPr/>
          </a:p>
          <a:p>
            <a:pPr marL="0" indent="0">
              <a:buSzPts val="2400"/>
              <a:buNone/>
            </a:pPr>
            <a:r>
              <a:rPr lang="en-US"/>
              <a:t>  for item in sequence: </a:t>
            </a:r>
            <a:endParaRPr/>
          </a:p>
          <a:p>
            <a:pPr marL="0" indent="0">
              <a:buSzPts val="2400"/>
              <a:buNone/>
            </a:pPr>
            <a:r>
              <a:rPr lang="en-US"/>
              <a:t>      # Code to execute for each item</a:t>
            </a:r>
            <a:endParaRPr/>
          </a:p>
          <a:p>
            <a:pPr marL="0" indent="0">
              <a:buSzPts val="2400"/>
              <a:buNone/>
            </a:pPr>
            <a:endParaRPr b="1"/>
          </a:p>
        </p:txBody>
      </p:sp>
      <p:pic>
        <p:nvPicPr>
          <p:cNvPr id="341" name="Google Shape;341;p26"/>
          <p:cNvPicPr preferRelativeResize="0"/>
          <p:nvPr/>
        </p:nvPicPr>
        <p:blipFill rotWithShape="1">
          <a:blip r:embed="rId3">
            <a:alphaModFix/>
          </a:blip>
          <a:srcRect/>
          <a:stretch/>
        </p:blipFill>
        <p:spPr>
          <a:xfrm>
            <a:off x="4101704" y="3765154"/>
            <a:ext cx="3607594" cy="1435894"/>
          </a:xfrm>
          <a:prstGeom prst="rect">
            <a:avLst/>
          </a:prstGeom>
          <a:noFill/>
          <a:ln>
            <a:noFill/>
          </a:ln>
        </p:spPr>
      </p:pic>
      <p:sp>
        <p:nvSpPr>
          <p:cNvPr id="2" name="Google Shape;106;p5">
            <a:extLst>
              <a:ext uri="{FF2B5EF4-FFF2-40B4-BE49-F238E27FC236}">
                <a16:creationId xmlns:a16="http://schemas.microsoft.com/office/drawing/2014/main" id="{8A032590-10D1-E115-4260-80E112D7A1EC}"/>
              </a:ext>
            </a:extLst>
          </p:cNvPr>
          <p:cNvSpPr txBox="1">
            <a:spLocks noGrp="1"/>
          </p:cNvSpPr>
          <p:nvPr>
            <p:ph type="ftr" idx="11"/>
          </p:nvPr>
        </p:nvSpPr>
        <p:spPr>
          <a:xfrm>
            <a:off x="2483898" y="6485030"/>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46"/>
        <p:cNvGrpSpPr/>
        <p:nvPr/>
      </p:nvGrpSpPr>
      <p:grpSpPr>
        <a:xfrm>
          <a:off x="0" y="0"/>
          <a:ext cx="0" cy="0"/>
          <a:chOff x="0" y="0"/>
          <a:chExt cx="0" cy="0"/>
        </a:xfrm>
      </p:grpSpPr>
      <p:sp>
        <p:nvSpPr>
          <p:cNvPr id="348" name="Google Shape;348;p2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49" name="Google Shape;349;p27"/>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While loop: </a:t>
            </a:r>
            <a:r>
              <a:rPr lang="en-US"/>
              <a:t>The while loop is used to execute a block of code as long as a specified condition is true.</a:t>
            </a:r>
            <a:endParaRPr/>
          </a:p>
          <a:p>
            <a:pPr marL="171450" indent="-171450">
              <a:buSzPts val="2400"/>
            </a:pPr>
            <a:r>
              <a:rPr lang="en-US" b="1"/>
              <a:t>Syntax:</a:t>
            </a:r>
            <a:endParaRPr/>
          </a:p>
          <a:p>
            <a:pPr marL="0" indent="0">
              <a:buSzPts val="2400"/>
              <a:buNone/>
            </a:pPr>
            <a:r>
              <a:rPr lang="en-US"/>
              <a:t> while condition: </a:t>
            </a:r>
            <a:endParaRPr/>
          </a:p>
          <a:p>
            <a:pPr marL="0" indent="0">
              <a:buSzPts val="2400"/>
              <a:buNone/>
            </a:pPr>
            <a:r>
              <a:rPr lang="en-US"/>
              <a:t>     # Code to execute as long as condition is true</a:t>
            </a:r>
            <a:endParaRPr/>
          </a:p>
          <a:p>
            <a:pPr marL="171450" indent="-57150">
              <a:buSzPts val="2400"/>
              <a:buNone/>
            </a:pPr>
            <a:endParaRPr b="1"/>
          </a:p>
        </p:txBody>
      </p:sp>
      <p:pic>
        <p:nvPicPr>
          <p:cNvPr id="350" name="Google Shape;350;p27"/>
          <p:cNvPicPr preferRelativeResize="0"/>
          <p:nvPr/>
        </p:nvPicPr>
        <p:blipFill rotWithShape="1">
          <a:blip r:embed="rId3">
            <a:alphaModFix/>
          </a:blip>
          <a:srcRect/>
          <a:stretch/>
        </p:blipFill>
        <p:spPr>
          <a:xfrm>
            <a:off x="5255023" y="3150394"/>
            <a:ext cx="2736056" cy="1585913"/>
          </a:xfrm>
          <a:prstGeom prst="rect">
            <a:avLst/>
          </a:prstGeom>
          <a:noFill/>
          <a:ln>
            <a:noFill/>
          </a:ln>
        </p:spPr>
      </p:pic>
      <p:sp>
        <p:nvSpPr>
          <p:cNvPr id="2" name="Google Shape;106;p5">
            <a:extLst>
              <a:ext uri="{FF2B5EF4-FFF2-40B4-BE49-F238E27FC236}">
                <a16:creationId xmlns:a16="http://schemas.microsoft.com/office/drawing/2014/main" id="{1E5118CD-03EA-08EC-181D-CD5041A5A010}"/>
              </a:ext>
            </a:extLst>
          </p:cNvPr>
          <p:cNvSpPr txBox="1">
            <a:spLocks noGrp="1"/>
          </p:cNvSpPr>
          <p:nvPr>
            <p:ph type="ftr" idx="11"/>
          </p:nvPr>
        </p:nvSpPr>
        <p:spPr>
          <a:xfrm>
            <a:off x="2475350" y="6333227"/>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355"/>
        <p:cNvGrpSpPr/>
        <p:nvPr/>
      </p:nvGrpSpPr>
      <p:grpSpPr>
        <a:xfrm>
          <a:off x="0" y="0"/>
          <a:ext cx="0" cy="0"/>
          <a:chOff x="0" y="0"/>
          <a:chExt cx="0" cy="0"/>
        </a:xfrm>
      </p:grpSpPr>
      <p:sp>
        <p:nvSpPr>
          <p:cNvPr id="357" name="Google Shape;357;p2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58" name="Google Shape;358;p28"/>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b="1"/>
              <a:t>Control transfer statements: </a:t>
            </a:r>
            <a:r>
              <a:rPr lang="en-US"/>
              <a:t>Control transfer statements in Python are used to alter the flow of execution within loops and conditional statements. The main control transfer statements are break, continue, and pass.</a:t>
            </a:r>
            <a:endParaRPr/>
          </a:p>
          <a:p>
            <a:pPr marL="0" indent="0">
              <a:buSzPts val="2400"/>
              <a:buNone/>
            </a:pPr>
            <a:r>
              <a:rPr lang="en-US" b="1"/>
              <a:t> i) break Statement: </a:t>
            </a:r>
            <a:r>
              <a:rPr lang="en-US"/>
              <a:t>The break statement is used to exit a loop prematurely, regardless of whether the loop's condition is still true.</a:t>
            </a:r>
            <a:endParaRPr/>
          </a:p>
          <a:p>
            <a:pPr marL="171450" indent="-171450">
              <a:buSzPts val="2400"/>
            </a:pPr>
            <a:r>
              <a:rPr lang="en-US" b="1"/>
              <a:t>Syntax:</a:t>
            </a:r>
            <a:endParaRPr/>
          </a:p>
          <a:p>
            <a:pPr marL="0" indent="0">
              <a:buSzPts val="2400"/>
              <a:buNone/>
            </a:pPr>
            <a:r>
              <a:rPr lang="en-US"/>
              <a:t>  for item in sequence:</a:t>
            </a:r>
            <a:endParaRPr/>
          </a:p>
          <a:p>
            <a:pPr marL="0" indent="0">
              <a:buSzPts val="2400"/>
              <a:buNone/>
            </a:pPr>
            <a:r>
              <a:rPr lang="en-US"/>
              <a:t>       if condition: </a:t>
            </a:r>
            <a:endParaRPr/>
          </a:p>
          <a:p>
            <a:pPr marL="0" indent="0">
              <a:buSzPts val="2400"/>
              <a:buNone/>
            </a:pPr>
            <a:r>
              <a:rPr lang="en-US"/>
              <a:t>            break</a:t>
            </a:r>
            <a:endParaRPr/>
          </a:p>
          <a:p>
            <a:pPr marL="0" indent="0">
              <a:buSzPts val="2400"/>
              <a:buNone/>
            </a:pPr>
            <a:endParaRPr b="1"/>
          </a:p>
        </p:txBody>
      </p:sp>
      <p:pic>
        <p:nvPicPr>
          <p:cNvPr id="359" name="Google Shape;359;p28"/>
          <p:cNvPicPr preferRelativeResize="0"/>
          <p:nvPr/>
        </p:nvPicPr>
        <p:blipFill rotWithShape="1">
          <a:blip r:embed="rId3">
            <a:alphaModFix/>
          </a:blip>
          <a:srcRect/>
          <a:stretch/>
        </p:blipFill>
        <p:spPr>
          <a:xfrm>
            <a:off x="5607844" y="3102769"/>
            <a:ext cx="2386013" cy="2100263"/>
          </a:xfrm>
          <a:prstGeom prst="rect">
            <a:avLst/>
          </a:prstGeom>
          <a:noFill/>
          <a:ln>
            <a:noFill/>
          </a:ln>
        </p:spPr>
      </p:pic>
      <p:sp>
        <p:nvSpPr>
          <p:cNvPr id="2" name="Google Shape;106;p5">
            <a:extLst>
              <a:ext uri="{FF2B5EF4-FFF2-40B4-BE49-F238E27FC236}">
                <a16:creationId xmlns:a16="http://schemas.microsoft.com/office/drawing/2014/main" id="{B36EE1A2-F914-7BEF-DB9F-F0A56BAD5C36}"/>
              </a:ext>
            </a:extLst>
          </p:cNvPr>
          <p:cNvSpPr txBox="1">
            <a:spLocks noGrp="1"/>
          </p:cNvSpPr>
          <p:nvPr>
            <p:ph type="ftr" idx="11"/>
          </p:nvPr>
        </p:nvSpPr>
        <p:spPr>
          <a:xfrm>
            <a:off x="2475350" y="6053528"/>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6" name="Google Shape;366;p2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67" name="Google Shape;367;p29"/>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spcBef>
                <a:spcPts val="0"/>
              </a:spcBef>
              <a:buSzPts val="2400"/>
              <a:buNone/>
            </a:pPr>
            <a:r>
              <a:rPr lang="en-US" b="1"/>
              <a:t> ii) Continue Statement: </a:t>
            </a:r>
            <a:r>
              <a:rPr lang="en-US"/>
              <a:t>The continue statement is used to skip the current iteration of a loop and proceed to the next iteration.</a:t>
            </a:r>
            <a:endParaRPr/>
          </a:p>
          <a:p>
            <a:pPr marL="171450" indent="-171450">
              <a:buSzPts val="2400"/>
            </a:pPr>
            <a:r>
              <a:rPr lang="en-US" b="1"/>
              <a:t>Syntax:</a:t>
            </a:r>
            <a:endParaRPr/>
          </a:p>
          <a:p>
            <a:pPr marL="0" indent="0">
              <a:buSzPts val="2400"/>
              <a:buNone/>
            </a:pPr>
            <a:r>
              <a:rPr lang="en-US"/>
              <a:t>   for item in sequence: </a:t>
            </a:r>
            <a:endParaRPr/>
          </a:p>
          <a:p>
            <a:pPr marL="0" indent="0">
              <a:buSzPts val="2400"/>
              <a:buNone/>
            </a:pPr>
            <a:r>
              <a:rPr lang="en-US"/>
              <a:t>          if condition:</a:t>
            </a:r>
            <a:endParaRPr/>
          </a:p>
          <a:p>
            <a:pPr marL="0" indent="0">
              <a:buSzPts val="2400"/>
              <a:buNone/>
            </a:pPr>
            <a:r>
              <a:rPr lang="en-US"/>
              <a:t>              continue</a:t>
            </a:r>
            <a:endParaRPr/>
          </a:p>
          <a:p>
            <a:pPr marL="0" indent="0">
              <a:buSzPts val="2400"/>
              <a:buNone/>
            </a:pPr>
            <a:endParaRPr b="1"/>
          </a:p>
        </p:txBody>
      </p:sp>
      <p:pic>
        <p:nvPicPr>
          <p:cNvPr id="368" name="Google Shape;368;p29"/>
          <p:cNvPicPr preferRelativeResize="0"/>
          <p:nvPr/>
        </p:nvPicPr>
        <p:blipFill rotWithShape="1">
          <a:blip r:embed="rId3">
            <a:alphaModFix/>
          </a:blip>
          <a:srcRect/>
          <a:stretch/>
        </p:blipFill>
        <p:spPr>
          <a:xfrm>
            <a:off x="2501901" y="3383359"/>
            <a:ext cx="5708650" cy="1564481"/>
          </a:xfrm>
          <a:prstGeom prst="rect">
            <a:avLst/>
          </a:prstGeom>
          <a:noFill/>
          <a:ln>
            <a:noFill/>
          </a:ln>
        </p:spPr>
      </p:pic>
      <p:sp>
        <p:nvSpPr>
          <p:cNvPr id="2" name="Google Shape;106;p5">
            <a:extLst>
              <a:ext uri="{FF2B5EF4-FFF2-40B4-BE49-F238E27FC236}">
                <a16:creationId xmlns:a16="http://schemas.microsoft.com/office/drawing/2014/main" id="{3FB4400E-2B3B-39D0-B7A0-43F1FFC88D32}"/>
              </a:ext>
            </a:extLst>
          </p:cNvPr>
          <p:cNvSpPr txBox="1">
            <a:spLocks noGrp="1"/>
          </p:cNvSpPr>
          <p:nvPr>
            <p:ph type="ftr" idx="11"/>
          </p:nvPr>
        </p:nvSpPr>
        <p:spPr>
          <a:xfrm>
            <a:off x="2501901" y="6490493"/>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5" name="Google Shape;375;p3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pPr algn="ctr">
              <a:lnSpc>
                <a:spcPct val="90000"/>
              </a:lnSpc>
            </a:pPr>
            <a:r>
              <a:rPr lang="en-US" sz="2700">
                <a:solidFill>
                  <a:schemeClr val="dk1"/>
                </a:solidFill>
              </a:rPr>
              <a:t>Introduction to Python Programming</a:t>
            </a:r>
            <a:endParaRPr/>
          </a:p>
        </p:txBody>
      </p:sp>
      <p:sp>
        <p:nvSpPr>
          <p:cNvPr id="376" name="Google Shape;376;p30"/>
          <p:cNvSpPr txBox="1">
            <a:spLocks noGrp="1"/>
          </p:cNvSpPr>
          <p:nvPr>
            <p:ph type="body" idx="1"/>
          </p:nvPr>
        </p:nvSpPr>
        <p:spPr>
          <a:xfrm>
            <a:off x="509588" y="1840706"/>
            <a:ext cx="7861645" cy="3630786"/>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spcBef>
                <a:spcPts val="0"/>
              </a:spcBef>
              <a:buSzPts val="2400"/>
              <a:buNone/>
            </a:pPr>
            <a:r>
              <a:rPr lang="en-US" b="1"/>
              <a:t>iii) Pass Statement: </a:t>
            </a:r>
            <a:r>
              <a:rPr lang="en-US"/>
              <a:t>The pass statement is a null operation that does nothing. It is typically used as a placeholder when a statement is syntactically required but no action is needed.</a:t>
            </a:r>
            <a:endParaRPr/>
          </a:p>
          <a:p>
            <a:pPr marL="171450" indent="-171450">
              <a:buSzPts val="2400"/>
            </a:pPr>
            <a:r>
              <a:rPr lang="en-US" b="1"/>
              <a:t>Syntax:</a:t>
            </a:r>
            <a:endParaRPr/>
          </a:p>
          <a:p>
            <a:pPr marL="0" indent="0">
              <a:buSzPts val="2400"/>
              <a:buNone/>
            </a:pPr>
            <a:r>
              <a:rPr lang="en-US"/>
              <a:t>  if condition:</a:t>
            </a:r>
            <a:endParaRPr/>
          </a:p>
          <a:p>
            <a:pPr marL="0" indent="0">
              <a:buSzPts val="2400"/>
              <a:buNone/>
            </a:pPr>
            <a:r>
              <a:rPr lang="en-US"/>
              <a:t>          pass</a:t>
            </a:r>
            <a:endParaRPr/>
          </a:p>
          <a:p>
            <a:pPr marL="0" indent="0">
              <a:buSzPts val="2400"/>
              <a:buNone/>
            </a:pPr>
            <a:endParaRPr b="1"/>
          </a:p>
        </p:txBody>
      </p:sp>
      <p:pic>
        <p:nvPicPr>
          <p:cNvPr id="377" name="Google Shape;377;p30"/>
          <p:cNvPicPr preferRelativeResize="0"/>
          <p:nvPr/>
        </p:nvPicPr>
        <p:blipFill rotWithShape="1">
          <a:blip r:embed="rId3">
            <a:alphaModFix/>
          </a:blip>
          <a:srcRect/>
          <a:stretch/>
        </p:blipFill>
        <p:spPr>
          <a:xfrm>
            <a:off x="3641726" y="2979341"/>
            <a:ext cx="3829050" cy="1864519"/>
          </a:xfrm>
          <a:prstGeom prst="rect">
            <a:avLst/>
          </a:prstGeom>
          <a:noFill/>
          <a:ln>
            <a:noFill/>
          </a:ln>
        </p:spPr>
      </p:pic>
      <p:sp>
        <p:nvSpPr>
          <p:cNvPr id="2" name="Google Shape;106;p5">
            <a:extLst>
              <a:ext uri="{FF2B5EF4-FFF2-40B4-BE49-F238E27FC236}">
                <a16:creationId xmlns:a16="http://schemas.microsoft.com/office/drawing/2014/main" id="{71329C74-CFA8-2ECB-631C-0512E502FEA7}"/>
              </a:ext>
            </a:extLst>
          </p:cNvPr>
          <p:cNvSpPr txBox="1">
            <a:spLocks noGrp="1"/>
          </p:cNvSpPr>
          <p:nvPr>
            <p:ph type="ftr" idx="11"/>
          </p:nvPr>
        </p:nvSpPr>
        <p:spPr>
          <a:xfrm>
            <a:off x="2518380" y="6610127"/>
            <a:ext cx="52254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392741" y="2641372"/>
            <a:ext cx="8358517" cy="2202624"/>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dirty="0"/>
              <a:t>Function provide a way to break problems or processes down into smaller and independent blocks of code.</a:t>
            </a:r>
          </a:p>
          <a:p>
            <a:pPr algn="just" eaLnBrk="1" hangingPunct="1">
              <a:lnSpc>
                <a:spcPct val="110000"/>
              </a:lnSpc>
            </a:pPr>
            <a:r>
              <a:rPr lang="en-US" dirty="0"/>
              <a:t>Functions can be used to define reusable code and organize and simplify code.</a:t>
            </a:r>
          </a:p>
          <a:p>
            <a:pPr algn="just" eaLnBrk="1" hangingPunct="1">
              <a:lnSpc>
                <a:spcPct val="110000"/>
              </a:lnSpc>
            </a:pPr>
            <a:r>
              <a:rPr lang="en-US" dirty="0"/>
              <a:t>Function is a block of code which performs a specific task.</a:t>
            </a:r>
          </a:p>
          <a:p>
            <a:pPr algn="just" eaLnBrk="1" hangingPunct="1">
              <a:lnSpc>
                <a:spcPct val="110000"/>
              </a:lnSpc>
            </a:pPr>
            <a:r>
              <a:rPr lang="en-US" dirty="0"/>
              <a:t>Function improves efficiency and reduces errors because of </a:t>
            </a:r>
            <a:r>
              <a:rPr lang="en-US" dirty="0">
                <a:solidFill>
                  <a:srgbClr val="FF0000"/>
                </a:solidFill>
              </a:rPr>
              <a:t>the reusability </a:t>
            </a:r>
            <a:r>
              <a:rPr lang="en-US" dirty="0"/>
              <a:t>of a code.</a:t>
            </a:r>
          </a:p>
          <a:p>
            <a:pPr algn="just" eaLnBrk="1" hangingPunct="1">
              <a:lnSpc>
                <a:spcPct val="110000"/>
              </a:lnSpc>
            </a:pPr>
            <a:r>
              <a:rPr lang="en-US" dirty="0">
                <a:solidFill>
                  <a:srgbClr val="FF0000"/>
                </a:solidFill>
              </a:rPr>
              <a:t>Code readability</a:t>
            </a:r>
          </a:p>
          <a:p>
            <a:pPr algn="just" eaLnBrk="1" hangingPunct="1">
              <a:lnSpc>
                <a:spcPct val="110000"/>
              </a:lnSpc>
            </a:pPr>
            <a:endParaRPr lang="en-US" dirty="0"/>
          </a:p>
        </p:txBody>
      </p:sp>
      <p:sp>
        <p:nvSpPr>
          <p:cNvPr id="52227" name="Rectangle 2"/>
          <p:cNvSpPr>
            <a:spLocks noGrp="1" noChangeArrowheads="1"/>
          </p:cNvSpPr>
          <p:nvPr>
            <p:ph type="title" idx="4294967295"/>
          </p:nvPr>
        </p:nvSpPr>
        <p:spPr>
          <a:xfrm>
            <a:off x="1581373" y="887734"/>
            <a:ext cx="5524933"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2" name="Footer Placeholder 1">
            <a:extLst>
              <a:ext uri="{FF2B5EF4-FFF2-40B4-BE49-F238E27FC236}">
                <a16:creationId xmlns:a16="http://schemas.microsoft.com/office/drawing/2014/main" id="{1598D9EC-BCF3-946F-CA33-9CB016F7F031}"/>
              </a:ext>
            </a:extLst>
          </p:cNvPr>
          <p:cNvSpPr>
            <a:spLocks noGrp="1"/>
          </p:cNvSpPr>
          <p:nvPr>
            <p:ph type="ftr" sz="quarter" idx="11"/>
          </p:nvPr>
        </p:nvSpPr>
        <p:spPr>
          <a:xfrm>
            <a:off x="3028950" y="6540649"/>
            <a:ext cx="4077356" cy="246221"/>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70574383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236567" y="2105167"/>
            <a:ext cx="8358517" cy="2756622"/>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00000"/>
              </a:lnSpc>
            </a:pPr>
            <a:r>
              <a:rPr lang="en-US" b="1" dirty="0"/>
              <a:t>Types of Functions : </a:t>
            </a:r>
            <a:r>
              <a:rPr lang="en-US" dirty="0"/>
              <a:t>Python support two types of functions:</a:t>
            </a:r>
          </a:p>
          <a:p>
            <a:pPr algn="just" eaLnBrk="1" hangingPunct="1">
              <a:lnSpc>
                <a:spcPct val="100000"/>
              </a:lnSpc>
            </a:pPr>
            <a:endParaRPr lang="en-US" dirty="0"/>
          </a:p>
          <a:p>
            <a:pPr algn="just" eaLnBrk="1" hangingPunct="1">
              <a:lnSpc>
                <a:spcPct val="110000"/>
              </a:lnSpc>
            </a:pPr>
            <a:r>
              <a:rPr lang="en-US" b="1" dirty="0"/>
              <a:t>Built-in function </a:t>
            </a:r>
            <a:r>
              <a:rPr lang="en-US" dirty="0"/>
              <a:t>: The functions which are come along with Python itself are called a built-in function or predefined function. Some of them are listed below.</a:t>
            </a:r>
          </a:p>
          <a:p>
            <a:pPr algn="just" eaLnBrk="1" hangingPunct="1">
              <a:lnSpc>
                <a:spcPct val="110000"/>
              </a:lnSpc>
            </a:pPr>
            <a:r>
              <a:rPr lang="en-US" i="1" dirty="0"/>
              <a:t>range(), id(), type(), print(), input(), eval() etc.</a:t>
            </a:r>
          </a:p>
          <a:p>
            <a:pPr marL="0" indent="0" algn="just">
              <a:lnSpc>
                <a:spcPct val="110000"/>
              </a:lnSpc>
            </a:pPr>
            <a:endParaRPr lang="en-US" i="1" dirty="0"/>
          </a:p>
          <a:p>
            <a:pPr algn="just" eaLnBrk="1" hangingPunct="1">
              <a:lnSpc>
                <a:spcPct val="110000"/>
              </a:lnSpc>
            </a:pPr>
            <a:r>
              <a:rPr lang="en-US" b="1" dirty="0"/>
              <a:t>User-defined function</a:t>
            </a:r>
            <a:r>
              <a:rPr lang="en-US" dirty="0"/>
              <a:t>: Functions which are created by programmer explicitly according to the requirement are called a user-defined function. </a:t>
            </a:r>
          </a:p>
          <a:p>
            <a:pPr algn="just" eaLnBrk="1" hangingPunct="1">
              <a:lnSpc>
                <a:spcPct val="110000"/>
              </a:lnSpc>
            </a:pPr>
            <a:endParaRPr lang="en-US" dirty="0"/>
          </a:p>
        </p:txBody>
      </p:sp>
      <p:sp>
        <p:nvSpPr>
          <p:cNvPr id="52227" name="Rectangle 2"/>
          <p:cNvSpPr>
            <a:spLocks noGrp="1" noChangeArrowheads="1"/>
          </p:cNvSpPr>
          <p:nvPr>
            <p:ph type="title" idx="4294967295"/>
          </p:nvPr>
        </p:nvSpPr>
        <p:spPr>
          <a:xfrm>
            <a:off x="1656677" y="887734"/>
            <a:ext cx="5449629"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2" name="Footer Placeholder 1">
            <a:extLst>
              <a:ext uri="{FF2B5EF4-FFF2-40B4-BE49-F238E27FC236}">
                <a16:creationId xmlns:a16="http://schemas.microsoft.com/office/drawing/2014/main" id="{803189EA-BA3C-C2E7-6922-DC540AC9BC69}"/>
              </a:ext>
            </a:extLst>
          </p:cNvPr>
          <p:cNvSpPr>
            <a:spLocks noGrp="1"/>
          </p:cNvSpPr>
          <p:nvPr>
            <p:ph type="ftr" sz="quarter" idx="11"/>
          </p:nvPr>
        </p:nvSpPr>
        <p:spPr>
          <a:xfrm>
            <a:off x="3028950" y="6540649"/>
            <a:ext cx="3490184" cy="30814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236828876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225809" y="2237591"/>
            <a:ext cx="8369551" cy="3421419"/>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00000"/>
              </a:lnSpc>
            </a:pPr>
            <a:r>
              <a:rPr lang="en-US" b="1" dirty="0"/>
              <a:t>Defining a Function</a:t>
            </a:r>
            <a:r>
              <a:rPr lang="en-US" dirty="0"/>
              <a:t>: A function definition consists of the function’s name, parameters, and body.</a:t>
            </a:r>
          </a:p>
          <a:p>
            <a:pPr algn="just" eaLnBrk="1" hangingPunct="1">
              <a:lnSpc>
                <a:spcPct val="100000"/>
              </a:lnSpc>
            </a:pPr>
            <a:r>
              <a:rPr lang="en-US" dirty="0"/>
              <a:t>The syntax for defining a function is as follows:</a:t>
            </a:r>
          </a:p>
          <a:p>
            <a:pPr algn="just" eaLnBrk="1" hangingPunct="1">
              <a:lnSpc>
                <a:spcPct val="100000"/>
              </a:lnSpc>
            </a:pPr>
            <a:r>
              <a:rPr lang="en-US" i="1" dirty="0"/>
              <a:t>def </a:t>
            </a:r>
            <a:r>
              <a:rPr lang="en-US" i="1" dirty="0" err="1"/>
              <a:t>functionName</a:t>
            </a:r>
            <a:r>
              <a:rPr lang="en-US" i="1" dirty="0"/>
              <a:t>(list of parameters):</a:t>
            </a:r>
          </a:p>
          <a:p>
            <a:pPr algn="just" eaLnBrk="1" hangingPunct="1">
              <a:lnSpc>
                <a:spcPct val="100000"/>
              </a:lnSpc>
            </a:pPr>
            <a:r>
              <a:rPr lang="en-US" i="1" dirty="0"/>
              <a:t># Function body</a:t>
            </a:r>
          </a:p>
          <a:p>
            <a:pPr algn="just" eaLnBrk="1" hangingPunct="1">
              <a:lnSpc>
                <a:spcPct val="100000"/>
              </a:lnSpc>
            </a:pPr>
            <a:r>
              <a:rPr lang="en-US" b="1" dirty="0"/>
              <a:t>def</a:t>
            </a:r>
            <a:r>
              <a:rPr lang="en-US" dirty="0"/>
              <a:t>: def is a keyword for defining a function.</a:t>
            </a:r>
          </a:p>
          <a:p>
            <a:pPr algn="just" eaLnBrk="1" hangingPunct="1">
              <a:lnSpc>
                <a:spcPct val="100000"/>
              </a:lnSpc>
            </a:pPr>
            <a:r>
              <a:rPr lang="en-US" b="1" dirty="0" err="1"/>
              <a:t>FunctionName</a:t>
            </a:r>
            <a:r>
              <a:rPr lang="en-US" dirty="0"/>
              <a:t>: Function name is the name of the function that can be give any name to function. A function name to uniquely identify the function.</a:t>
            </a:r>
          </a:p>
          <a:p>
            <a:pPr algn="just" eaLnBrk="1" hangingPunct="1">
              <a:lnSpc>
                <a:spcPct val="100000"/>
              </a:lnSpc>
            </a:pPr>
            <a:r>
              <a:rPr lang="en-US" b="1" dirty="0"/>
              <a:t>List of parameters</a:t>
            </a:r>
            <a:r>
              <a:rPr lang="en-US" dirty="0"/>
              <a:t>: Arguments through which pass values to a function. They are optional.</a:t>
            </a:r>
          </a:p>
          <a:p>
            <a:pPr algn="just" eaLnBrk="1" hangingPunct="1">
              <a:lnSpc>
                <a:spcPct val="100000"/>
              </a:lnSpc>
            </a:pPr>
            <a:r>
              <a:rPr lang="en-US" dirty="0"/>
              <a:t>A colon (:) to mark the end of the function header.</a:t>
            </a:r>
          </a:p>
          <a:p>
            <a:pPr algn="just" eaLnBrk="1" hangingPunct="1">
              <a:lnSpc>
                <a:spcPct val="110000"/>
              </a:lnSpc>
            </a:pPr>
            <a:endParaRPr lang="en-US" dirty="0"/>
          </a:p>
        </p:txBody>
      </p:sp>
      <p:sp>
        <p:nvSpPr>
          <p:cNvPr id="52227" name="Rectangle 2"/>
          <p:cNvSpPr>
            <a:spLocks noGrp="1" noChangeArrowheads="1"/>
          </p:cNvSpPr>
          <p:nvPr>
            <p:ph type="title" idx="4294967295"/>
          </p:nvPr>
        </p:nvSpPr>
        <p:spPr>
          <a:xfrm>
            <a:off x="1237129" y="887734"/>
            <a:ext cx="5869178"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2" name="Footer Placeholder 1">
            <a:extLst>
              <a:ext uri="{FF2B5EF4-FFF2-40B4-BE49-F238E27FC236}">
                <a16:creationId xmlns:a16="http://schemas.microsoft.com/office/drawing/2014/main" id="{A15BB28D-EF9A-40E1-DAD3-DB7B73713BCD}"/>
              </a:ext>
            </a:extLst>
          </p:cNvPr>
          <p:cNvSpPr>
            <a:spLocks noGrp="1"/>
          </p:cNvSpPr>
          <p:nvPr>
            <p:ph type="ftr" sz="quarter" idx="11"/>
          </p:nvPr>
        </p:nvSpPr>
        <p:spPr>
          <a:xfrm>
            <a:off x="3028949" y="6519134"/>
            <a:ext cx="3350335" cy="329664"/>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62731586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225809" y="2130013"/>
            <a:ext cx="8315763" cy="3726118"/>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b="1" dirty="0"/>
              <a:t>Calling a Function</a:t>
            </a:r>
            <a:r>
              <a:rPr lang="en-US" dirty="0"/>
              <a:t>: Calling a function executes the code in the function.</a:t>
            </a:r>
          </a:p>
          <a:p>
            <a:pPr algn="just" eaLnBrk="1" hangingPunct="1">
              <a:lnSpc>
                <a:spcPct val="110000"/>
              </a:lnSpc>
            </a:pPr>
            <a:r>
              <a:rPr lang="en-US" dirty="0"/>
              <a:t>To call a function, use the name of the function with the parenthesis, and if the function accepts parameters, then pass those parameters in the parenthesis.</a:t>
            </a:r>
          </a:p>
          <a:p>
            <a:pPr algn="just" eaLnBrk="1" hangingPunct="1">
              <a:lnSpc>
                <a:spcPct val="110000"/>
              </a:lnSpc>
            </a:pPr>
            <a:r>
              <a:rPr lang="en-US" dirty="0"/>
              <a:t>A called function returns control to the caller when its return statement is executed or the function is finished.</a:t>
            </a:r>
          </a:p>
          <a:p>
            <a:pPr algn="just" eaLnBrk="1" hangingPunct="1">
              <a:lnSpc>
                <a:spcPct val="110000"/>
              </a:lnSpc>
            </a:pPr>
            <a:r>
              <a:rPr lang="en-US" b="1" dirty="0"/>
              <a:t>Return Statement</a:t>
            </a:r>
            <a:r>
              <a:rPr lang="en-US" dirty="0"/>
              <a:t>: The return statement is used to exit a function and go back to the place from where it was called. </a:t>
            </a:r>
            <a:r>
              <a:rPr lang="en-US" b="1" i="1" dirty="0"/>
              <a:t>Syntax of return:   </a:t>
            </a:r>
            <a:r>
              <a:rPr lang="en-US" b="1" dirty="0"/>
              <a:t>return [</a:t>
            </a:r>
            <a:r>
              <a:rPr lang="en-US" b="1" dirty="0" err="1"/>
              <a:t>expression_list</a:t>
            </a:r>
            <a:r>
              <a:rPr lang="en-US" b="1" dirty="0"/>
              <a:t>]</a:t>
            </a:r>
          </a:p>
          <a:p>
            <a:pPr algn="just" eaLnBrk="1" hangingPunct="1">
              <a:lnSpc>
                <a:spcPct val="110000"/>
              </a:lnSpc>
            </a:pPr>
            <a:r>
              <a:rPr lang="en-US" dirty="0"/>
              <a:t>This statement can contain an expression that gets evaluated and the value is returned. </a:t>
            </a:r>
          </a:p>
          <a:p>
            <a:pPr algn="just" eaLnBrk="1" hangingPunct="1">
              <a:lnSpc>
                <a:spcPct val="110000"/>
              </a:lnSpc>
            </a:pPr>
            <a:r>
              <a:rPr lang="en-US" dirty="0"/>
              <a:t>If there is no expression in the statement or the return statement itself is not present inside a function, then the function will return the nothing object.</a:t>
            </a:r>
          </a:p>
          <a:p>
            <a:pPr algn="just" eaLnBrk="1" hangingPunct="1">
              <a:lnSpc>
                <a:spcPct val="110000"/>
              </a:lnSpc>
            </a:pPr>
            <a:endParaRPr lang="en-US" b="1" i="1" dirty="0"/>
          </a:p>
        </p:txBody>
      </p:sp>
      <p:sp>
        <p:nvSpPr>
          <p:cNvPr id="52227" name="Rectangle 2"/>
          <p:cNvSpPr>
            <a:spLocks noGrp="1" noChangeArrowheads="1"/>
          </p:cNvSpPr>
          <p:nvPr>
            <p:ph type="title" idx="4294967295"/>
          </p:nvPr>
        </p:nvSpPr>
        <p:spPr>
          <a:xfrm>
            <a:off x="1667435" y="887734"/>
            <a:ext cx="5438872"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2" name="Footer Placeholder 1">
            <a:extLst>
              <a:ext uri="{FF2B5EF4-FFF2-40B4-BE49-F238E27FC236}">
                <a16:creationId xmlns:a16="http://schemas.microsoft.com/office/drawing/2014/main" id="{53FC68F9-E3F3-350F-5096-37EA84914B98}"/>
              </a:ext>
            </a:extLst>
          </p:cNvPr>
          <p:cNvSpPr>
            <a:spLocks noGrp="1"/>
          </p:cNvSpPr>
          <p:nvPr>
            <p:ph type="ftr" sz="quarter" idx="11"/>
          </p:nvPr>
        </p:nvSpPr>
        <p:spPr>
          <a:xfrm>
            <a:off x="3028950" y="6529892"/>
            <a:ext cx="3436396" cy="318906"/>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236463573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100034" y="2299029"/>
            <a:ext cx="8358517" cy="374431"/>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b="1" dirty="0"/>
              <a:t>Example: </a:t>
            </a:r>
          </a:p>
        </p:txBody>
      </p:sp>
      <p:sp>
        <p:nvSpPr>
          <p:cNvPr id="52227" name="Rectangle 2"/>
          <p:cNvSpPr>
            <a:spLocks noGrp="1" noChangeArrowheads="1"/>
          </p:cNvSpPr>
          <p:nvPr>
            <p:ph type="title" idx="4294967295"/>
          </p:nvPr>
        </p:nvSpPr>
        <p:spPr>
          <a:xfrm>
            <a:off x="1452281" y="887734"/>
            <a:ext cx="5654025"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pic>
        <p:nvPicPr>
          <p:cNvPr id="5" name="Picture 4">
            <a:extLst>
              <a:ext uri="{FF2B5EF4-FFF2-40B4-BE49-F238E27FC236}">
                <a16:creationId xmlns:a16="http://schemas.microsoft.com/office/drawing/2014/main" id="{A4C60B89-E844-4BD0-8311-FF17B9712EDA}"/>
              </a:ext>
            </a:extLst>
          </p:cNvPr>
          <p:cNvPicPr>
            <a:picLocks noChangeAspect="1"/>
          </p:cNvPicPr>
          <p:nvPr/>
        </p:nvPicPr>
        <p:blipFill>
          <a:blip r:embed="rId3"/>
          <a:stretch>
            <a:fillRect/>
          </a:stretch>
        </p:blipFill>
        <p:spPr>
          <a:xfrm>
            <a:off x="1085105" y="3133286"/>
            <a:ext cx="6388376" cy="2176670"/>
          </a:xfrm>
          <a:prstGeom prst="rect">
            <a:avLst/>
          </a:prstGeom>
          <a:ln>
            <a:solidFill>
              <a:schemeClr val="tx1"/>
            </a:solidFill>
          </a:ln>
        </p:spPr>
      </p:pic>
      <p:sp>
        <p:nvSpPr>
          <p:cNvPr id="2" name="Footer Placeholder 1">
            <a:extLst>
              <a:ext uri="{FF2B5EF4-FFF2-40B4-BE49-F238E27FC236}">
                <a16:creationId xmlns:a16="http://schemas.microsoft.com/office/drawing/2014/main" id="{6A00A657-9FCC-AD3A-5A09-D187E9739B08}"/>
              </a:ext>
            </a:extLst>
          </p:cNvPr>
          <p:cNvSpPr>
            <a:spLocks noGrp="1"/>
          </p:cNvSpPr>
          <p:nvPr>
            <p:ph type="ftr" sz="quarter" idx="11"/>
          </p:nvPr>
        </p:nvSpPr>
        <p:spPr>
          <a:xfrm>
            <a:off x="3028950" y="6508376"/>
            <a:ext cx="3619276" cy="340422"/>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50706565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261399" y="2129031"/>
            <a:ext cx="8358517" cy="374431"/>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b="1" dirty="0"/>
              <a:t>Example: </a:t>
            </a:r>
          </a:p>
        </p:txBody>
      </p:sp>
      <p:sp>
        <p:nvSpPr>
          <p:cNvPr id="52227" name="Rectangle 2"/>
          <p:cNvSpPr>
            <a:spLocks noGrp="1" noChangeArrowheads="1"/>
          </p:cNvSpPr>
          <p:nvPr>
            <p:ph type="title" idx="4294967295"/>
          </p:nvPr>
        </p:nvSpPr>
        <p:spPr>
          <a:xfrm>
            <a:off x="1775011" y="887734"/>
            <a:ext cx="5331295"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pic>
        <p:nvPicPr>
          <p:cNvPr id="3" name="Picture 2">
            <a:extLst>
              <a:ext uri="{FF2B5EF4-FFF2-40B4-BE49-F238E27FC236}">
                <a16:creationId xmlns:a16="http://schemas.microsoft.com/office/drawing/2014/main" id="{0F7143E9-61B2-42CB-8ED3-14F6A3D9D7A9}"/>
              </a:ext>
            </a:extLst>
          </p:cNvPr>
          <p:cNvPicPr>
            <a:picLocks noChangeAspect="1"/>
          </p:cNvPicPr>
          <p:nvPr/>
        </p:nvPicPr>
        <p:blipFill>
          <a:blip r:embed="rId3"/>
          <a:stretch>
            <a:fillRect/>
          </a:stretch>
        </p:blipFill>
        <p:spPr>
          <a:xfrm>
            <a:off x="1206767" y="2805054"/>
            <a:ext cx="6908533" cy="3104147"/>
          </a:xfrm>
          <a:prstGeom prst="rect">
            <a:avLst/>
          </a:prstGeom>
          <a:ln>
            <a:solidFill>
              <a:schemeClr val="tx1"/>
            </a:solidFill>
          </a:ln>
        </p:spPr>
      </p:pic>
      <p:sp>
        <p:nvSpPr>
          <p:cNvPr id="2" name="Footer Placeholder 1">
            <a:extLst>
              <a:ext uri="{FF2B5EF4-FFF2-40B4-BE49-F238E27FC236}">
                <a16:creationId xmlns:a16="http://schemas.microsoft.com/office/drawing/2014/main" id="{F6AC8E8C-75EA-625D-6D83-661EAE166133}"/>
              </a:ext>
            </a:extLst>
          </p:cNvPr>
          <p:cNvSpPr>
            <a:spLocks noGrp="1"/>
          </p:cNvSpPr>
          <p:nvPr>
            <p:ph type="ftr" sz="quarter" idx="11"/>
          </p:nvPr>
        </p:nvSpPr>
        <p:spPr>
          <a:xfrm>
            <a:off x="3028950" y="6497619"/>
            <a:ext cx="3554730" cy="35117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52010632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392741" y="2752975"/>
            <a:ext cx="8358517" cy="1897925"/>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b="1" dirty="0"/>
              <a:t>Formal Parameters</a:t>
            </a:r>
            <a:r>
              <a:rPr lang="en-US" dirty="0"/>
              <a:t>: The variables in the function header are known as formal parameters or simply parameters.</a:t>
            </a:r>
          </a:p>
          <a:p>
            <a:pPr algn="just" eaLnBrk="1" hangingPunct="1">
              <a:lnSpc>
                <a:spcPct val="110000"/>
              </a:lnSpc>
            </a:pPr>
            <a:r>
              <a:rPr lang="en-US" b="1" dirty="0"/>
              <a:t>Actual Parameter </a:t>
            </a:r>
            <a:r>
              <a:rPr lang="en-US" dirty="0"/>
              <a:t>: When a function is invoked, you pass a value to the parameter. This value is referred to as an actual parameter or argument. Parameters are optional; that is, a function may not have any parameter.</a:t>
            </a:r>
          </a:p>
          <a:p>
            <a:pPr algn="just" eaLnBrk="1" hangingPunct="1">
              <a:lnSpc>
                <a:spcPct val="110000"/>
              </a:lnSpc>
            </a:pPr>
            <a:endParaRPr lang="en-US" dirty="0"/>
          </a:p>
        </p:txBody>
      </p:sp>
      <p:sp>
        <p:nvSpPr>
          <p:cNvPr id="52227" name="Rectangle 2"/>
          <p:cNvSpPr>
            <a:spLocks noGrp="1" noChangeArrowheads="1"/>
          </p:cNvSpPr>
          <p:nvPr>
            <p:ph type="title" idx="4294967295"/>
          </p:nvPr>
        </p:nvSpPr>
        <p:spPr>
          <a:xfrm>
            <a:off x="1054852" y="956487"/>
            <a:ext cx="6503276" cy="1316227"/>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br>
              <a:rPr lang="en-US" sz="2700" dirty="0">
                <a:solidFill>
                  <a:schemeClr val="tx1"/>
                </a:solidFill>
              </a:rPr>
            </a:br>
            <a:endParaRPr lang="en-US" sz="2700" dirty="0">
              <a:solidFill>
                <a:schemeClr val="tx1"/>
              </a:solidFill>
            </a:endParaRPr>
          </a:p>
        </p:txBody>
      </p:sp>
      <p:sp>
        <p:nvSpPr>
          <p:cNvPr id="2" name="Footer Placeholder 1">
            <a:extLst>
              <a:ext uri="{FF2B5EF4-FFF2-40B4-BE49-F238E27FC236}">
                <a16:creationId xmlns:a16="http://schemas.microsoft.com/office/drawing/2014/main" id="{C96A519B-0E2A-A702-C1DB-A8DF922062C2}"/>
              </a:ext>
            </a:extLst>
          </p:cNvPr>
          <p:cNvSpPr>
            <a:spLocks noGrp="1"/>
          </p:cNvSpPr>
          <p:nvPr>
            <p:ph type="ftr" sz="quarter" idx="11"/>
          </p:nvPr>
        </p:nvSpPr>
        <p:spPr>
          <a:xfrm>
            <a:off x="3028949" y="6497619"/>
            <a:ext cx="3414881" cy="35117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4280847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idx="1"/>
          </p:nvPr>
        </p:nvSpPr>
        <p:spPr>
          <a:xfrm>
            <a:off x="925158" y="2194559"/>
            <a:ext cx="7605656" cy="3726118"/>
          </a:xfrm>
          <a:ln>
            <a:solidFill>
              <a:schemeClr val="tx1"/>
            </a:solidFill>
          </a:ln>
        </p:spPr>
        <p:txBody>
          <a:bodyPr spcFirstLastPara="1" vert="horz" wrap="square" lIns="69056" tIns="34529" rIns="69056" bIns="34529" numCol="1" anchor="t" anchorCtr="0" compatLnSpc="1">
            <a:prstTxWarp prst="textNoShape">
              <a:avLst/>
            </a:prstTxWarp>
            <a:spAutoFit/>
          </a:bodyPr>
          <a:lstStyle/>
          <a:p>
            <a:pPr algn="just" eaLnBrk="1" hangingPunct="1">
              <a:lnSpc>
                <a:spcPct val="110000"/>
              </a:lnSpc>
            </a:pPr>
            <a:r>
              <a:rPr lang="en-US" b="1" dirty="0"/>
              <a:t>Scope and Lifetime of Variables: </a:t>
            </a:r>
            <a:r>
              <a:rPr lang="en-US" dirty="0"/>
              <a:t>Scope of a variable is the portion of a program where the variable is recognized. Parameters and variables defined inside a function are not visible from outside the function. Hence, they have a local scope.</a:t>
            </a:r>
          </a:p>
          <a:p>
            <a:pPr algn="just" eaLnBrk="1" hangingPunct="1">
              <a:lnSpc>
                <a:spcPct val="110000"/>
              </a:lnSpc>
            </a:pPr>
            <a:r>
              <a:rPr lang="en-US" dirty="0"/>
              <a:t>The lifetime of a variable is the period throughout which the variable exits in the memory. The lifetime of variables inside a function is as long as the function executes.</a:t>
            </a:r>
          </a:p>
          <a:p>
            <a:pPr algn="just" eaLnBrk="1" hangingPunct="1">
              <a:lnSpc>
                <a:spcPct val="110000"/>
              </a:lnSpc>
            </a:pPr>
            <a:r>
              <a:rPr lang="en-US" dirty="0"/>
              <a:t>They are destroyed once we return from the function. Hence, a function does not remember the value of a variable from its previous calls.</a:t>
            </a:r>
          </a:p>
          <a:p>
            <a:pPr algn="just" eaLnBrk="1" hangingPunct="1">
              <a:lnSpc>
                <a:spcPct val="110000"/>
              </a:lnSpc>
            </a:pPr>
            <a:r>
              <a:rPr lang="en-US" dirty="0"/>
              <a:t>A Global variable is a variable that declares outside of the function. The scope of a global variable is broad. It is accessible in all functions of the same module.</a:t>
            </a:r>
          </a:p>
        </p:txBody>
      </p:sp>
      <p:sp>
        <p:nvSpPr>
          <p:cNvPr id="52227" name="Rectangle 2"/>
          <p:cNvSpPr>
            <a:spLocks noGrp="1" noChangeArrowheads="1"/>
          </p:cNvSpPr>
          <p:nvPr>
            <p:ph type="title" idx="4294967295"/>
          </p:nvPr>
        </p:nvSpPr>
        <p:spPr>
          <a:xfrm>
            <a:off x="1269401" y="887734"/>
            <a:ext cx="5836905"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2" name="Footer Placeholder 1">
            <a:extLst>
              <a:ext uri="{FF2B5EF4-FFF2-40B4-BE49-F238E27FC236}">
                <a16:creationId xmlns:a16="http://schemas.microsoft.com/office/drawing/2014/main" id="{017EBA7D-7287-CE58-B027-54ABDD2246DE}"/>
              </a:ext>
            </a:extLst>
          </p:cNvPr>
          <p:cNvSpPr>
            <a:spLocks noGrp="1"/>
          </p:cNvSpPr>
          <p:nvPr>
            <p:ph type="ftr" sz="quarter" idx="11"/>
          </p:nvPr>
        </p:nvSpPr>
        <p:spPr>
          <a:xfrm>
            <a:off x="3028949" y="6497619"/>
            <a:ext cx="3640792" cy="35117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96346205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194099" y="887734"/>
            <a:ext cx="5912208"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1194099" y="2200667"/>
            <a:ext cx="6027821" cy="419548"/>
          </a:xfrm>
          <a:ln>
            <a:solidFill>
              <a:schemeClr val="tx1"/>
            </a:solidFill>
          </a:ln>
        </p:spPr>
        <p:txBody>
          <a:bodyPr/>
          <a:lstStyle/>
          <a:p>
            <a:r>
              <a:rPr lang="en-IN" b="1" dirty="0"/>
              <a:t>Example of local and global variables: </a:t>
            </a:r>
          </a:p>
        </p:txBody>
      </p:sp>
      <p:pic>
        <p:nvPicPr>
          <p:cNvPr id="6" name="Picture 5">
            <a:extLst>
              <a:ext uri="{FF2B5EF4-FFF2-40B4-BE49-F238E27FC236}">
                <a16:creationId xmlns:a16="http://schemas.microsoft.com/office/drawing/2014/main" id="{3E12C7A2-4932-48D4-B02C-7DAE4FA1D493}"/>
              </a:ext>
            </a:extLst>
          </p:cNvPr>
          <p:cNvPicPr>
            <a:picLocks noChangeAspect="1"/>
          </p:cNvPicPr>
          <p:nvPr/>
        </p:nvPicPr>
        <p:blipFill>
          <a:blip r:embed="rId3"/>
          <a:stretch>
            <a:fillRect/>
          </a:stretch>
        </p:blipFill>
        <p:spPr>
          <a:xfrm>
            <a:off x="1194099" y="3032420"/>
            <a:ext cx="6027821" cy="2497756"/>
          </a:xfrm>
          <a:prstGeom prst="rect">
            <a:avLst/>
          </a:prstGeom>
          <a:ln>
            <a:solidFill>
              <a:schemeClr val="tx1"/>
            </a:solidFill>
          </a:ln>
        </p:spPr>
      </p:pic>
      <p:sp>
        <p:nvSpPr>
          <p:cNvPr id="2" name="Footer Placeholder 1">
            <a:extLst>
              <a:ext uri="{FF2B5EF4-FFF2-40B4-BE49-F238E27FC236}">
                <a16:creationId xmlns:a16="http://schemas.microsoft.com/office/drawing/2014/main" id="{F5A19674-FB19-9720-236C-56FC07F85748}"/>
              </a:ext>
            </a:extLst>
          </p:cNvPr>
          <p:cNvSpPr>
            <a:spLocks noGrp="1"/>
          </p:cNvSpPr>
          <p:nvPr>
            <p:ph type="ftr" sz="quarter" idx="11"/>
          </p:nvPr>
        </p:nvSpPr>
        <p:spPr>
          <a:xfrm>
            <a:off x="3028950" y="6508376"/>
            <a:ext cx="3361092" cy="340422"/>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856475634"/>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B06DE4-8CE1-482F-86FB-7ACA89343B76}"/>
              </a:ext>
            </a:extLst>
          </p:cNvPr>
          <p:cNvPicPr>
            <a:picLocks noGrp="1" noChangeAspect="1"/>
          </p:cNvPicPr>
          <p:nvPr>
            <p:ph idx="1"/>
          </p:nvPr>
        </p:nvPicPr>
        <p:blipFill>
          <a:blip r:embed="rId3"/>
          <a:stretch>
            <a:fillRect/>
          </a:stretch>
        </p:blipFill>
        <p:spPr>
          <a:xfrm>
            <a:off x="301902" y="1955387"/>
            <a:ext cx="2961065" cy="3233233"/>
          </a:xfrm>
          <a:ln>
            <a:solidFill>
              <a:schemeClr val="tx1"/>
            </a:solidFill>
          </a:ln>
        </p:spPr>
      </p:pic>
      <p:sp>
        <p:nvSpPr>
          <p:cNvPr id="52227" name="Rectangle 2"/>
          <p:cNvSpPr>
            <a:spLocks noGrp="1" noChangeArrowheads="1"/>
          </p:cNvSpPr>
          <p:nvPr>
            <p:ph type="title" idx="4294967295"/>
          </p:nvPr>
        </p:nvSpPr>
        <p:spPr>
          <a:xfrm>
            <a:off x="1108037" y="887734"/>
            <a:ext cx="5998269"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pic>
        <p:nvPicPr>
          <p:cNvPr id="7" name="Picture 6">
            <a:extLst>
              <a:ext uri="{FF2B5EF4-FFF2-40B4-BE49-F238E27FC236}">
                <a16:creationId xmlns:a16="http://schemas.microsoft.com/office/drawing/2014/main" id="{D058C903-F4BC-4797-81DF-EC67454732A6}"/>
              </a:ext>
            </a:extLst>
          </p:cNvPr>
          <p:cNvPicPr>
            <a:picLocks noChangeAspect="1"/>
          </p:cNvPicPr>
          <p:nvPr/>
        </p:nvPicPr>
        <p:blipFill>
          <a:blip r:embed="rId4"/>
          <a:stretch>
            <a:fillRect/>
          </a:stretch>
        </p:blipFill>
        <p:spPr>
          <a:xfrm>
            <a:off x="3446575" y="1955386"/>
            <a:ext cx="4734168" cy="3457020"/>
          </a:xfrm>
          <a:prstGeom prst="rect">
            <a:avLst/>
          </a:prstGeom>
          <a:ln>
            <a:solidFill>
              <a:schemeClr val="tx1"/>
            </a:solidFill>
          </a:ln>
        </p:spPr>
      </p:pic>
      <p:sp>
        <p:nvSpPr>
          <p:cNvPr id="2" name="Footer Placeholder 1">
            <a:extLst>
              <a:ext uri="{FF2B5EF4-FFF2-40B4-BE49-F238E27FC236}">
                <a16:creationId xmlns:a16="http://schemas.microsoft.com/office/drawing/2014/main" id="{34BE4107-DD64-0740-058C-E698E467FBE5}"/>
              </a:ext>
            </a:extLst>
          </p:cNvPr>
          <p:cNvSpPr>
            <a:spLocks noGrp="1"/>
          </p:cNvSpPr>
          <p:nvPr>
            <p:ph type="ftr" sz="quarter" idx="11"/>
          </p:nvPr>
        </p:nvSpPr>
        <p:spPr>
          <a:xfrm>
            <a:off x="3028950" y="6476104"/>
            <a:ext cx="3490184" cy="372694"/>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684451618"/>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56058" y="728125"/>
            <a:ext cx="6030542"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909589" y="1840709"/>
            <a:ext cx="7103444" cy="224760"/>
          </a:xfrm>
          <a:ln>
            <a:solidFill>
              <a:schemeClr val="tx1"/>
            </a:solidFill>
          </a:ln>
        </p:spPr>
        <p:txBody>
          <a:bodyPr/>
          <a:lstStyle/>
          <a:p>
            <a:r>
              <a:rPr lang="en-IN" b="1" dirty="0"/>
              <a:t>Example of local and global variables: </a:t>
            </a:r>
          </a:p>
        </p:txBody>
      </p:sp>
      <p:pic>
        <p:nvPicPr>
          <p:cNvPr id="3" name="Picture 2">
            <a:extLst>
              <a:ext uri="{FF2B5EF4-FFF2-40B4-BE49-F238E27FC236}">
                <a16:creationId xmlns:a16="http://schemas.microsoft.com/office/drawing/2014/main" id="{71AD15E0-5FCC-4010-958D-E17A543F9C4B}"/>
              </a:ext>
            </a:extLst>
          </p:cNvPr>
          <p:cNvPicPr>
            <a:picLocks noChangeAspect="1"/>
          </p:cNvPicPr>
          <p:nvPr/>
        </p:nvPicPr>
        <p:blipFill>
          <a:blip r:embed="rId3"/>
          <a:stretch>
            <a:fillRect/>
          </a:stretch>
        </p:blipFill>
        <p:spPr>
          <a:xfrm>
            <a:off x="909589" y="2192758"/>
            <a:ext cx="7103444" cy="3486752"/>
          </a:xfrm>
          <a:prstGeom prst="rect">
            <a:avLst/>
          </a:prstGeom>
          <a:ln>
            <a:solidFill>
              <a:schemeClr val="tx1"/>
            </a:solidFill>
          </a:ln>
        </p:spPr>
      </p:pic>
      <p:sp>
        <p:nvSpPr>
          <p:cNvPr id="2" name="Footer Placeholder 1">
            <a:extLst>
              <a:ext uri="{FF2B5EF4-FFF2-40B4-BE49-F238E27FC236}">
                <a16:creationId xmlns:a16="http://schemas.microsoft.com/office/drawing/2014/main" id="{278C3ED7-57D9-0364-B6CA-78742598941A}"/>
              </a:ext>
            </a:extLst>
          </p:cNvPr>
          <p:cNvSpPr>
            <a:spLocks noGrp="1"/>
          </p:cNvSpPr>
          <p:nvPr>
            <p:ph type="ftr" sz="quarter" idx="11"/>
          </p:nvPr>
        </p:nvSpPr>
        <p:spPr>
          <a:xfrm>
            <a:off x="3028949" y="6572922"/>
            <a:ext cx="3457911" cy="275876"/>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69327297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109158" y="711864"/>
            <a:ext cx="6503276"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830997"/>
          </a:xfrm>
          <a:ln>
            <a:solidFill>
              <a:schemeClr val="tx1"/>
            </a:solidFill>
          </a:ln>
        </p:spPr>
        <p:txBody>
          <a:bodyPr/>
          <a:lstStyle/>
          <a:p>
            <a:pPr algn="just">
              <a:lnSpc>
                <a:spcPct val="100000"/>
              </a:lnSpc>
            </a:pPr>
            <a:r>
              <a:rPr lang="en-IN" b="1" dirty="0"/>
              <a:t>Docstring: </a:t>
            </a:r>
            <a:r>
              <a:rPr lang="en-US" dirty="0"/>
              <a:t>Python docstrings are strings used right after the definition of a function, method, class, or module. They are used to document the code.</a:t>
            </a:r>
          </a:p>
          <a:p>
            <a:pPr algn="just">
              <a:lnSpc>
                <a:spcPct val="100000"/>
              </a:lnSpc>
            </a:pPr>
            <a:r>
              <a:rPr lang="en-US" dirty="0"/>
              <a:t>To access the docstrings using the </a:t>
            </a:r>
            <a:r>
              <a:rPr lang="en-IN" dirty="0"/>
              <a:t>__doc__ attribute.</a:t>
            </a:r>
          </a:p>
        </p:txBody>
      </p:sp>
      <p:pic>
        <p:nvPicPr>
          <p:cNvPr id="5" name="Picture 4">
            <a:extLst>
              <a:ext uri="{FF2B5EF4-FFF2-40B4-BE49-F238E27FC236}">
                <a16:creationId xmlns:a16="http://schemas.microsoft.com/office/drawing/2014/main" id="{9D2B8C25-FDF9-4AAE-9B6B-60706A4F0CBD}"/>
              </a:ext>
            </a:extLst>
          </p:cNvPr>
          <p:cNvPicPr>
            <a:picLocks noChangeAspect="1"/>
          </p:cNvPicPr>
          <p:nvPr/>
        </p:nvPicPr>
        <p:blipFill>
          <a:blip r:embed="rId3"/>
          <a:stretch>
            <a:fillRect/>
          </a:stretch>
        </p:blipFill>
        <p:spPr>
          <a:xfrm>
            <a:off x="603033" y="2899818"/>
            <a:ext cx="3757763" cy="2258593"/>
          </a:xfrm>
          <a:prstGeom prst="rect">
            <a:avLst/>
          </a:prstGeom>
          <a:ln>
            <a:solidFill>
              <a:schemeClr val="tx1"/>
            </a:solidFill>
          </a:ln>
        </p:spPr>
      </p:pic>
      <p:pic>
        <p:nvPicPr>
          <p:cNvPr id="7" name="Picture 6">
            <a:extLst>
              <a:ext uri="{FF2B5EF4-FFF2-40B4-BE49-F238E27FC236}">
                <a16:creationId xmlns:a16="http://schemas.microsoft.com/office/drawing/2014/main" id="{A7470B92-380C-4AAA-917A-CEB4A92F9023}"/>
              </a:ext>
            </a:extLst>
          </p:cNvPr>
          <p:cNvPicPr>
            <a:picLocks noChangeAspect="1"/>
          </p:cNvPicPr>
          <p:nvPr/>
        </p:nvPicPr>
        <p:blipFill>
          <a:blip r:embed="rId4"/>
          <a:stretch>
            <a:fillRect/>
          </a:stretch>
        </p:blipFill>
        <p:spPr>
          <a:xfrm>
            <a:off x="4452937" y="2899818"/>
            <a:ext cx="3881024" cy="2258593"/>
          </a:xfrm>
          <a:prstGeom prst="rect">
            <a:avLst/>
          </a:prstGeom>
          <a:ln>
            <a:solidFill>
              <a:schemeClr val="tx1"/>
            </a:solidFill>
          </a:ln>
        </p:spPr>
      </p:pic>
      <p:sp>
        <p:nvSpPr>
          <p:cNvPr id="2" name="Footer Placeholder 1">
            <a:extLst>
              <a:ext uri="{FF2B5EF4-FFF2-40B4-BE49-F238E27FC236}">
                <a16:creationId xmlns:a16="http://schemas.microsoft.com/office/drawing/2014/main" id="{55FE136D-CEB1-9FA3-A4AD-888D504D4F3A}"/>
              </a:ext>
            </a:extLst>
          </p:cNvPr>
          <p:cNvSpPr>
            <a:spLocks noGrp="1"/>
          </p:cNvSpPr>
          <p:nvPr>
            <p:ph type="ftr" sz="quarter" idx="11"/>
          </p:nvPr>
        </p:nvSpPr>
        <p:spPr>
          <a:xfrm>
            <a:off x="3028950" y="6519134"/>
            <a:ext cx="3382608" cy="329664"/>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14378962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104501" y="887734"/>
            <a:ext cx="6001806"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609399" y="1932303"/>
            <a:ext cx="7886700" cy="553998"/>
          </a:xfrm>
          <a:ln>
            <a:solidFill>
              <a:schemeClr val="tx1"/>
            </a:solidFill>
          </a:ln>
        </p:spPr>
        <p:txBody>
          <a:bodyPr/>
          <a:lstStyle/>
          <a:p>
            <a:pPr algn="just">
              <a:lnSpc>
                <a:spcPct val="100000"/>
              </a:lnSpc>
            </a:pPr>
            <a:r>
              <a:rPr lang="en-IN" b="1" dirty="0"/>
              <a:t>                   Difference between comments and docstring</a:t>
            </a:r>
          </a:p>
          <a:p>
            <a:pPr algn="just">
              <a:lnSpc>
                <a:spcPct val="100000"/>
              </a:lnSpc>
            </a:pPr>
            <a:endParaRPr lang="en-IN" dirty="0"/>
          </a:p>
        </p:txBody>
      </p:sp>
      <p:pic>
        <p:nvPicPr>
          <p:cNvPr id="3" name="Picture 2">
            <a:extLst>
              <a:ext uri="{FF2B5EF4-FFF2-40B4-BE49-F238E27FC236}">
                <a16:creationId xmlns:a16="http://schemas.microsoft.com/office/drawing/2014/main" id="{8A1309DA-E73D-4350-98A6-028747E03BE8}"/>
              </a:ext>
            </a:extLst>
          </p:cNvPr>
          <p:cNvPicPr>
            <a:picLocks noChangeAspect="1"/>
          </p:cNvPicPr>
          <p:nvPr/>
        </p:nvPicPr>
        <p:blipFill>
          <a:blip r:embed="rId3"/>
          <a:stretch>
            <a:fillRect/>
          </a:stretch>
        </p:blipFill>
        <p:spPr>
          <a:xfrm>
            <a:off x="990199" y="2630141"/>
            <a:ext cx="7125101" cy="3446195"/>
          </a:xfrm>
          <a:prstGeom prst="rect">
            <a:avLst/>
          </a:prstGeom>
          <a:ln>
            <a:solidFill>
              <a:schemeClr val="tx1"/>
            </a:solidFill>
          </a:ln>
        </p:spPr>
      </p:pic>
      <p:sp>
        <p:nvSpPr>
          <p:cNvPr id="2" name="Footer Placeholder 1">
            <a:extLst>
              <a:ext uri="{FF2B5EF4-FFF2-40B4-BE49-F238E27FC236}">
                <a16:creationId xmlns:a16="http://schemas.microsoft.com/office/drawing/2014/main" id="{F113E291-D9EB-69A3-89F6-E0B1CA6D72B9}"/>
              </a:ext>
            </a:extLst>
          </p:cNvPr>
          <p:cNvSpPr>
            <a:spLocks noGrp="1"/>
          </p:cNvSpPr>
          <p:nvPr>
            <p:ph type="ftr" sz="quarter" idx="11"/>
          </p:nvPr>
        </p:nvSpPr>
        <p:spPr>
          <a:xfrm>
            <a:off x="3028950" y="6476104"/>
            <a:ext cx="3630034" cy="372694"/>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78166112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603031" y="887734"/>
            <a:ext cx="6503276"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1107996"/>
          </a:xfrm>
          <a:ln>
            <a:solidFill>
              <a:schemeClr val="tx1"/>
            </a:solidFill>
          </a:ln>
        </p:spPr>
        <p:txBody>
          <a:bodyPr/>
          <a:lstStyle/>
          <a:p>
            <a:pPr algn="just">
              <a:lnSpc>
                <a:spcPct val="100000"/>
              </a:lnSpc>
            </a:pPr>
            <a:r>
              <a:rPr lang="en-US" b="1" dirty="0"/>
              <a:t>Return Value From a Function: </a:t>
            </a:r>
            <a:r>
              <a:rPr lang="en-US" dirty="0"/>
              <a:t>In Python, to return value from the function, a return statement is used. It returns the value of the expression following the returns keyword. The return statement should be inside of the function block. (function with list)</a:t>
            </a:r>
            <a:endParaRPr lang="en-IN" dirty="0"/>
          </a:p>
        </p:txBody>
      </p:sp>
      <p:pic>
        <p:nvPicPr>
          <p:cNvPr id="6" name="Picture 5">
            <a:extLst>
              <a:ext uri="{FF2B5EF4-FFF2-40B4-BE49-F238E27FC236}">
                <a16:creationId xmlns:a16="http://schemas.microsoft.com/office/drawing/2014/main" id="{8A610EFE-802C-4B8E-AFF4-897E59531511}"/>
              </a:ext>
            </a:extLst>
          </p:cNvPr>
          <p:cNvPicPr>
            <a:picLocks noChangeAspect="1"/>
          </p:cNvPicPr>
          <p:nvPr/>
        </p:nvPicPr>
        <p:blipFill>
          <a:blip r:embed="rId3"/>
          <a:stretch>
            <a:fillRect/>
          </a:stretch>
        </p:blipFill>
        <p:spPr>
          <a:xfrm>
            <a:off x="1082530" y="3059026"/>
            <a:ext cx="6865454" cy="2702408"/>
          </a:xfrm>
          <a:prstGeom prst="rect">
            <a:avLst/>
          </a:prstGeom>
          <a:ln>
            <a:solidFill>
              <a:schemeClr val="tx1"/>
            </a:solidFill>
          </a:ln>
        </p:spPr>
      </p:pic>
      <p:sp>
        <p:nvSpPr>
          <p:cNvPr id="2" name="Footer Placeholder 1">
            <a:extLst>
              <a:ext uri="{FF2B5EF4-FFF2-40B4-BE49-F238E27FC236}">
                <a16:creationId xmlns:a16="http://schemas.microsoft.com/office/drawing/2014/main" id="{3AC0D4D5-E31C-A9B5-B097-D70002C32711}"/>
              </a:ext>
            </a:extLst>
          </p:cNvPr>
          <p:cNvSpPr>
            <a:spLocks noGrp="1"/>
          </p:cNvSpPr>
          <p:nvPr>
            <p:ph type="ftr" sz="quarter" idx="11"/>
          </p:nvPr>
        </p:nvSpPr>
        <p:spPr>
          <a:xfrm>
            <a:off x="3028950" y="6508376"/>
            <a:ext cx="3425638" cy="340422"/>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20207536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974560" y="887734"/>
            <a:ext cx="7024035"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553998"/>
          </a:xfrm>
          <a:ln>
            <a:solidFill>
              <a:schemeClr val="tx1"/>
            </a:solidFill>
          </a:ln>
        </p:spPr>
        <p:txBody>
          <a:bodyPr/>
          <a:lstStyle/>
          <a:p>
            <a:pPr algn="just">
              <a:lnSpc>
                <a:spcPct val="100000"/>
              </a:lnSpc>
            </a:pPr>
            <a:r>
              <a:rPr lang="en-US" b="1" dirty="0"/>
              <a:t>Return Multiple Values:</a:t>
            </a:r>
            <a:r>
              <a:rPr lang="en-US" dirty="0"/>
              <a:t> It return multiple values from a function. Use the return statement by separating each expression by a comma.</a:t>
            </a:r>
            <a:endParaRPr lang="en-IN" dirty="0"/>
          </a:p>
        </p:txBody>
      </p:sp>
      <p:pic>
        <p:nvPicPr>
          <p:cNvPr id="3" name="Picture 2">
            <a:extLst>
              <a:ext uri="{FF2B5EF4-FFF2-40B4-BE49-F238E27FC236}">
                <a16:creationId xmlns:a16="http://schemas.microsoft.com/office/drawing/2014/main" id="{6EF6FC07-ED00-40D5-A358-021F33982D68}"/>
              </a:ext>
            </a:extLst>
          </p:cNvPr>
          <p:cNvPicPr>
            <a:picLocks noChangeAspect="1"/>
          </p:cNvPicPr>
          <p:nvPr/>
        </p:nvPicPr>
        <p:blipFill>
          <a:blip r:embed="rId3"/>
          <a:stretch>
            <a:fillRect/>
          </a:stretch>
        </p:blipFill>
        <p:spPr>
          <a:xfrm>
            <a:off x="974561" y="2517556"/>
            <a:ext cx="7024035" cy="3169172"/>
          </a:xfrm>
          <a:prstGeom prst="rect">
            <a:avLst/>
          </a:prstGeom>
          <a:ln>
            <a:solidFill>
              <a:schemeClr val="tx1"/>
            </a:solidFill>
          </a:ln>
        </p:spPr>
      </p:pic>
      <p:sp>
        <p:nvSpPr>
          <p:cNvPr id="2" name="Footer Placeholder 1">
            <a:extLst>
              <a:ext uri="{FF2B5EF4-FFF2-40B4-BE49-F238E27FC236}">
                <a16:creationId xmlns:a16="http://schemas.microsoft.com/office/drawing/2014/main" id="{BB432072-2767-6941-E00B-C6F92EFBBC5D}"/>
              </a:ext>
            </a:extLst>
          </p:cNvPr>
          <p:cNvSpPr>
            <a:spLocks noGrp="1"/>
          </p:cNvSpPr>
          <p:nvPr>
            <p:ph type="ftr" sz="quarter" idx="11"/>
          </p:nvPr>
        </p:nvSpPr>
        <p:spPr>
          <a:xfrm>
            <a:off x="3028949" y="6443831"/>
            <a:ext cx="3404123" cy="404967"/>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746227081"/>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11219" y="887734"/>
            <a:ext cx="6095087"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553998"/>
          </a:xfrm>
          <a:ln>
            <a:solidFill>
              <a:schemeClr val="tx1"/>
            </a:solidFill>
          </a:ln>
        </p:spPr>
        <p:txBody>
          <a:bodyPr/>
          <a:lstStyle/>
          <a:p>
            <a:pPr algn="just">
              <a:lnSpc>
                <a:spcPct val="100000"/>
              </a:lnSpc>
            </a:pPr>
            <a:r>
              <a:rPr lang="en-US" b="1" dirty="0"/>
              <a:t>pass Statement in function: </a:t>
            </a:r>
            <a:r>
              <a:rPr lang="en-US" dirty="0"/>
              <a:t>When the interpreter finds a pass statement in the program, it returns no operation.</a:t>
            </a:r>
            <a:endParaRPr lang="en-IN" dirty="0"/>
          </a:p>
        </p:txBody>
      </p:sp>
      <p:pic>
        <p:nvPicPr>
          <p:cNvPr id="5" name="Picture 4">
            <a:extLst>
              <a:ext uri="{FF2B5EF4-FFF2-40B4-BE49-F238E27FC236}">
                <a16:creationId xmlns:a16="http://schemas.microsoft.com/office/drawing/2014/main" id="{6D5B89A7-6FEB-4DF2-AF25-4E8AE2C14F37}"/>
              </a:ext>
            </a:extLst>
          </p:cNvPr>
          <p:cNvPicPr>
            <a:picLocks noChangeAspect="1"/>
          </p:cNvPicPr>
          <p:nvPr/>
        </p:nvPicPr>
        <p:blipFill>
          <a:blip r:embed="rId3"/>
          <a:stretch>
            <a:fillRect/>
          </a:stretch>
        </p:blipFill>
        <p:spPr>
          <a:xfrm>
            <a:off x="864704" y="2735748"/>
            <a:ext cx="6723822" cy="1595231"/>
          </a:xfrm>
          <a:prstGeom prst="rect">
            <a:avLst/>
          </a:prstGeom>
          <a:ln>
            <a:solidFill>
              <a:schemeClr val="tx1"/>
            </a:solidFill>
          </a:ln>
        </p:spPr>
      </p:pic>
      <p:sp>
        <p:nvSpPr>
          <p:cNvPr id="2" name="TextBox 1"/>
          <p:cNvSpPr txBox="1"/>
          <p:nvPr/>
        </p:nvSpPr>
        <p:spPr>
          <a:xfrm>
            <a:off x="864704" y="4669492"/>
            <a:ext cx="5408349" cy="253916"/>
          </a:xfrm>
          <a:prstGeom prst="rect">
            <a:avLst/>
          </a:prstGeom>
          <a:noFill/>
        </p:spPr>
        <p:txBody>
          <a:bodyPr wrap="square" rtlCol="0">
            <a:spAutoFit/>
          </a:bodyPr>
          <a:lstStyle/>
          <a:p>
            <a:endParaRPr lang="en-IN" sz="1050" dirty="0"/>
          </a:p>
        </p:txBody>
      </p:sp>
      <p:sp>
        <p:nvSpPr>
          <p:cNvPr id="3" name="Footer Placeholder 2">
            <a:extLst>
              <a:ext uri="{FF2B5EF4-FFF2-40B4-BE49-F238E27FC236}">
                <a16:creationId xmlns:a16="http://schemas.microsoft.com/office/drawing/2014/main" id="{70D0E363-D92D-D7D8-FF1E-AEE0B5882B54}"/>
              </a:ext>
            </a:extLst>
          </p:cNvPr>
          <p:cNvSpPr>
            <a:spLocks noGrp="1"/>
          </p:cNvSpPr>
          <p:nvPr>
            <p:ph type="ftr" sz="quarter" idx="11"/>
          </p:nvPr>
        </p:nvSpPr>
        <p:spPr>
          <a:xfrm>
            <a:off x="3028949" y="6486861"/>
            <a:ext cx="3597761" cy="361937"/>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209022046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989704" y="1162943"/>
            <a:ext cx="7615817" cy="428628"/>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pPr algn="ctr"/>
            <a:r>
              <a:rPr lang="en-IN" sz="3000" dirty="0">
                <a:latin typeface="Casper"/>
              </a:rPr>
              <a:t>Call by Value</a:t>
            </a:r>
          </a:p>
        </p:txBody>
      </p:sp>
      <p:sp>
        <p:nvSpPr>
          <p:cNvPr id="83" name="Google Shape;83;p17"/>
          <p:cNvSpPr txBox="1">
            <a:spLocks noGrp="1"/>
          </p:cNvSpPr>
          <p:nvPr>
            <p:ph idx="1"/>
          </p:nvPr>
        </p:nvSpPr>
        <p:spPr>
          <a:xfrm>
            <a:off x="124985" y="1821647"/>
            <a:ext cx="3429024" cy="3477311"/>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r>
              <a:rPr lang="en-IN" sz="1950" dirty="0">
                <a:latin typeface="Casper"/>
              </a:rPr>
              <a:t>When the object you are passing to the function is immutable than it means we are passing arguments using Call by value. </a:t>
            </a:r>
          </a:p>
          <a:p>
            <a:endParaRPr lang="en-IN" sz="1950" dirty="0">
              <a:latin typeface="Casper"/>
            </a:endParaRPr>
          </a:p>
          <a:p>
            <a:pPr>
              <a:buNone/>
            </a:pPr>
            <a:endParaRPr lang="en-IN" sz="1950" dirty="0">
              <a:solidFill>
                <a:srgbClr val="000000"/>
              </a:solidFill>
              <a:latin typeface="Casper"/>
            </a:endParaRPr>
          </a:p>
        </p:txBody>
      </p:sp>
      <p:sp>
        <p:nvSpPr>
          <p:cNvPr id="5" name="Rectangle 4"/>
          <p:cNvSpPr/>
          <p:nvPr/>
        </p:nvSpPr>
        <p:spPr>
          <a:xfrm>
            <a:off x="3768323" y="1928802"/>
            <a:ext cx="5250693" cy="3393237"/>
          </a:xfrm>
          <a:prstGeom prst="rect">
            <a:avLst/>
          </a:prstGeom>
          <a:ln>
            <a:solidFill>
              <a:schemeClr val="tx1"/>
            </a:solidFill>
          </a:ln>
        </p:spPr>
        <p:txBody>
          <a:bodyPr wrap="square">
            <a:spAutoFit/>
          </a:bodyPr>
          <a:lstStyle/>
          <a:p>
            <a:r>
              <a:rPr lang="en-IN" sz="1950" dirty="0">
                <a:latin typeface="Casper"/>
              </a:rPr>
              <a:t>def </a:t>
            </a:r>
            <a:r>
              <a:rPr lang="en-IN" sz="1950" dirty="0" err="1">
                <a:latin typeface="Casper"/>
              </a:rPr>
              <a:t>myFunction</a:t>
            </a:r>
            <a:r>
              <a:rPr lang="en-IN" sz="1950" dirty="0">
                <a:latin typeface="Casper"/>
              </a:rPr>
              <a:t>(name1):</a:t>
            </a:r>
          </a:p>
          <a:p>
            <a:r>
              <a:rPr lang="en-IN" sz="1950" dirty="0">
                <a:latin typeface="Casper"/>
              </a:rPr>
              <a:t>    name1 = "Hello India"</a:t>
            </a:r>
          </a:p>
          <a:p>
            <a:r>
              <a:rPr lang="en-IN" sz="1950" dirty="0">
                <a:latin typeface="Casper"/>
              </a:rPr>
              <a:t>    print("Inside Function:",name1)</a:t>
            </a:r>
          </a:p>
          <a:p>
            <a:endParaRPr lang="en-IN" sz="1950" dirty="0">
              <a:latin typeface="Casper"/>
            </a:endParaRPr>
          </a:p>
          <a:p>
            <a:r>
              <a:rPr lang="en-IN" sz="1950" dirty="0">
                <a:latin typeface="Casper"/>
              </a:rPr>
              <a:t>name = "Deepak Vats"</a:t>
            </a:r>
          </a:p>
          <a:p>
            <a:r>
              <a:rPr lang="en-IN" sz="1950" dirty="0" err="1">
                <a:latin typeface="Casper"/>
              </a:rPr>
              <a:t>myFunction</a:t>
            </a:r>
            <a:r>
              <a:rPr lang="en-IN" sz="1950" dirty="0">
                <a:latin typeface="Casper"/>
              </a:rPr>
              <a:t>(name)</a:t>
            </a:r>
          </a:p>
          <a:p>
            <a:r>
              <a:rPr lang="en-IN" sz="1950" dirty="0">
                <a:latin typeface="Casper"/>
              </a:rPr>
              <a:t>print("Outside Function:",name)</a:t>
            </a:r>
          </a:p>
          <a:p>
            <a:endParaRPr lang="en-IN" sz="1950" dirty="0">
              <a:latin typeface="Casper"/>
            </a:endParaRPr>
          </a:p>
          <a:p>
            <a:r>
              <a:rPr lang="en-IN" sz="1950" b="1" dirty="0">
                <a:solidFill>
                  <a:srgbClr val="FF0000"/>
                </a:solidFill>
                <a:latin typeface="Casper"/>
              </a:rPr>
              <a:t>OUTPUT:</a:t>
            </a:r>
          </a:p>
          <a:p>
            <a:r>
              <a:rPr lang="en-IN" sz="1950" dirty="0">
                <a:latin typeface="Casper"/>
              </a:rPr>
              <a:t>Inside Function: Hello India</a:t>
            </a:r>
          </a:p>
          <a:p>
            <a:r>
              <a:rPr lang="en-IN" sz="1950" dirty="0">
                <a:latin typeface="Casper"/>
              </a:rPr>
              <a:t>Outside Function: Deepak Vats</a:t>
            </a:r>
          </a:p>
        </p:txBody>
      </p:sp>
      <p:sp>
        <p:nvSpPr>
          <p:cNvPr id="2" name="Footer Placeholder 1">
            <a:extLst>
              <a:ext uri="{FF2B5EF4-FFF2-40B4-BE49-F238E27FC236}">
                <a16:creationId xmlns:a16="http://schemas.microsoft.com/office/drawing/2014/main" id="{989D95A5-D64D-F180-85F8-A0557E08D6A0}"/>
              </a:ext>
            </a:extLst>
          </p:cNvPr>
          <p:cNvSpPr>
            <a:spLocks noGrp="1"/>
          </p:cNvSpPr>
          <p:nvPr>
            <p:ph type="ftr" idx="11"/>
          </p:nvPr>
        </p:nvSpPr>
        <p:spPr>
          <a:xfrm>
            <a:off x="2475357" y="6539204"/>
            <a:ext cx="4194809" cy="246221"/>
          </a:xfrm>
        </p:spPr>
        <p:txBody>
          <a:bodyPr/>
          <a:lstStyle/>
          <a:p>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260499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1011219" y="1101174"/>
            <a:ext cx="7745580" cy="623413"/>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pPr algn="ctr"/>
            <a:r>
              <a:rPr lang="en-IN" sz="3000" dirty="0">
                <a:latin typeface="Casper"/>
              </a:rPr>
              <a:t>Call by Reference</a:t>
            </a:r>
          </a:p>
        </p:txBody>
      </p:sp>
      <p:sp>
        <p:nvSpPr>
          <p:cNvPr id="83" name="Google Shape;83;p17"/>
          <p:cNvSpPr txBox="1">
            <a:spLocks noGrp="1"/>
          </p:cNvSpPr>
          <p:nvPr>
            <p:ph idx="1"/>
          </p:nvPr>
        </p:nvSpPr>
        <p:spPr>
          <a:xfrm>
            <a:off x="165326" y="1906663"/>
            <a:ext cx="3429024" cy="3293588"/>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pPr algn="just">
              <a:lnSpc>
                <a:spcPct val="200000"/>
              </a:lnSpc>
            </a:pPr>
            <a:r>
              <a:rPr lang="en-IN" sz="1950" dirty="0">
                <a:latin typeface="Casper"/>
              </a:rPr>
              <a:t>When the object you are passing to the function is mutable than it means we are passing arguments using Call by reference. </a:t>
            </a:r>
          </a:p>
          <a:p>
            <a:endParaRPr lang="en-IN" sz="1950" dirty="0">
              <a:latin typeface="Casper"/>
            </a:endParaRPr>
          </a:p>
          <a:p>
            <a:pPr>
              <a:buNone/>
            </a:pPr>
            <a:endParaRPr lang="en-IN" sz="1950" dirty="0">
              <a:solidFill>
                <a:srgbClr val="000000"/>
              </a:solidFill>
              <a:latin typeface="Casper"/>
            </a:endParaRPr>
          </a:p>
        </p:txBody>
      </p:sp>
      <p:sp>
        <p:nvSpPr>
          <p:cNvPr id="5" name="Rectangle 4"/>
          <p:cNvSpPr/>
          <p:nvPr/>
        </p:nvSpPr>
        <p:spPr>
          <a:xfrm>
            <a:off x="3738068" y="1906663"/>
            <a:ext cx="5250693" cy="3116238"/>
          </a:xfrm>
          <a:prstGeom prst="rect">
            <a:avLst/>
          </a:prstGeom>
          <a:ln>
            <a:solidFill>
              <a:schemeClr val="tx1"/>
            </a:solidFill>
          </a:ln>
        </p:spPr>
        <p:txBody>
          <a:bodyPr wrap="square">
            <a:spAutoFit/>
          </a:bodyPr>
          <a:lstStyle/>
          <a:p>
            <a:r>
              <a:rPr lang="en-IN" sz="1950" dirty="0">
                <a:latin typeface="Casper"/>
              </a:rPr>
              <a:t>def </a:t>
            </a:r>
            <a:r>
              <a:rPr lang="en-IN" sz="1950" dirty="0" err="1">
                <a:latin typeface="Casper"/>
              </a:rPr>
              <a:t>myFunction</a:t>
            </a:r>
            <a:r>
              <a:rPr lang="en-IN" sz="1950" dirty="0">
                <a:latin typeface="Casper"/>
              </a:rPr>
              <a:t>(myList1):</a:t>
            </a:r>
          </a:p>
          <a:p>
            <a:r>
              <a:rPr lang="en-IN" sz="1950" dirty="0">
                <a:latin typeface="Casper"/>
              </a:rPr>
              <a:t>    myList1.append(1004)</a:t>
            </a:r>
          </a:p>
          <a:p>
            <a:r>
              <a:rPr lang="en-IN" sz="1950" dirty="0">
                <a:latin typeface="Casper"/>
              </a:rPr>
              <a:t>    </a:t>
            </a:r>
            <a:r>
              <a:rPr lang="en-IN" sz="1500" dirty="0">
                <a:latin typeface="Casper"/>
              </a:rPr>
              <a:t>print("Inside Function </a:t>
            </a:r>
            <a:r>
              <a:rPr lang="en-IN" sz="1500" dirty="0" err="1">
                <a:latin typeface="Casper"/>
              </a:rPr>
              <a:t>myList</a:t>
            </a:r>
            <a:r>
              <a:rPr lang="en-IN" sz="1500" dirty="0">
                <a:latin typeface="Casper"/>
              </a:rPr>
              <a:t> is:",myList1)</a:t>
            </a:r>
            <a:endParaRPr lang="en-IN" sz="1950" dirty="0">
              <a:latin typeface="Casper"/>
            </a:endParaRPr>
          </a:p>
          <a:p>
            <a:endParaRPr lang="en-IN" sz="1950" dirty="0">
              <a:latin typeface="Casper"/>
            </a:endParaRPr>
          </a:p>
          <a:p>
            <a:r>
              <a:rPr lang="en-IN" sz="1950" dirty="0" err="1">
                <a:latin typeface="Casper"/>
              </a:rPr>
              <a:t>myList</a:t>
            </a:r>
            <a:r>
              <a:rPr lang="en-IN" sz="1950" dirty="0">
                <a:latin typeface="Casper"/>
              </a:rPr>
              <a:t> = [1001, 1002, 1003]</a:t>
            </a:r>
          </a:p>
          <a:p>
            <a:r>
              <a:rPr lang="en-IN" sz="1950" dirty="0" err="1">
                <a:latin typeface="Casper"/>
              </a:rPr>
              <a:t>myFunction</a:t>
            </a:r>
            <a:r>
              <a:rPr lang="en-IN" sz="1950" dirty="0">
                <a:latin typeface="Casper"/>
              </a:rPr>
              <a:t>(</a:t>
            </a:r>
            <a:r>
              <a:rPr lang="en-IN" sz="1950" dirty="0" err="1">
                <a:latin typeface="Casper"/>
              </a:rPr>
              <a:t>myList</a:t>
            </a:r>
            <a:r>
              <a:rPr lang="en-IN" sz="1950" dirty="0">
                <a:latin typeface="Casper"/>
              </a:rPr>
              <a:t>)</a:t>
            </a:r>
          </a:p>
          <a:p>
            <a:r>
              <a:rPr lang="en-IN" sz="1050" dirty="0">
                <a:latin typeface="Casper"/>
              </a:rPr>
              <a:t>print("Outside Function </a:t>
            </a:r>
            <a:r>
              <a:rPr lang="en-IN" sz="1050" dirty="0" err="1">
                <a:latin typeface="Casper"/>
              </a:rPr>
              <a:t>myList</a:t>
            </a:r>
            <a:r>
              <a:rPr lang="en-IN" sz="1050" dirty="0">
                <a:latin typeface="Casper"/>
              </a:rPr>
              <a:t> is:",</a:t>
            </a:r>
            <a:r>
              <a:rPr lang="en-IN" sz="1050" dirty="0" err="1">
                <a:latin typeface="Casper"/>
              </a:rPr>
              <a:t>myList</a:t>
            </a:r>
            <a:r>
              <a:rPr lang="en-IN" sz="1050" dirty="0">
                <a:latin typeface="Casper"/>
              </a:rPr>
              <a:t>)</a:t>
            </a:r>
            <a:endParaRPr lang="en-IN" sz="1950" dirty="0">
              <a:latin typeface="Casper"/>
            </a:endParaRPr>
          </a:p>
          <a:p>
            <a:endParaRPr lang="en-IN" sz="1950" dirty="0">
              <a:latin typeface="Casper"/>
            </a:endParaRPr>
          </a:p>
          <a:p>
            <a:r>
              <a:rPr lang="en-IN" sz="1950" b="1" dirty="0">
                <a:solidFill>
                  <a:srgbClr val="FF0000"/>
                </a:solidFill>
                <a:latin typeface="Casper"/>
              </a:rPr>
              <a:t>OUTPUT:</a:t>
            </a:r>
          </a:p>
          <a:p>
            <a:r>
              <a:rPr lang="en-IN" sz="1500" dirty="0">
                <a:latin typeface="Casper"/>
              </a:rPr>
              <a:t>Inside Function </a:t>
            </a:r>
            <a:r>
              <a:rPr lang="en-IN" sz="1500" dirty="0" err="1">
                <a:latin typeface="Casper"/>
              </a:rPr>
              <a:t>myList</a:t>
            </a:r>
            <a:r>
              <a:rPr lang="en-IN" sz="1500" dirty="0">
                <a:latin typeface="Casper"/>
              </a:rPr>
              <a:t> is: [1001, 1002, 1003, 1004]</a:t>
            </a:r>
            <a:endParaRPr lang="en-IN" sz="1950" dirty="0">
              <a:latin typeface="Casper"/>
            </a:endParaRPr>
          </a:p>
          <a:p>
            <a:r>
              <a:rPr lang="en-IN" sz="1500" dirty="0">
                <a:latin typeface="Casper"/>
              </a:rPr>
              <a:t>Outside Function </a:t>
            </a:r>
            <a:r>
              <a:rPr lang="en-IN" sz="1500" dirty="0" err="1">
                <a:latin typeface="Casper"/>
              </a:rPr>
              <a:t>myList</a:t>
            </a:r>
            <a:r>
              <a:rPr lang="en-IN" sz="1500" dirty="0">
                <a:latin typeface="Casper"/>
              </a:rPr>
              <a:t> is: [1001, 1002, 1003, 1004]</a:t>
            </a:r>
            <a:endParaRPr lang="en-IN" sz="1950" dirty="0">
              <a:latin typeface="Casper"/>
            </a:endParaRPr>
          </a:p>
        </p:txBody>
      </p:sp>
      <p:sp>
        <p:nvSpPr>
          <p:cNvPr id="2" name="Footer Placeholder 1">
            <a:extLst>
              <a:ext uri="{FF2B5EF4-FFF2-40B4-BE49-F238E27FC236}">
                <a16:creationId xmlns:a16="http://schemas.microsoft.com/office/drawing/2014/main" id="{47EFF271-936F-16C3-B580-FBEA8634015B}"/>
              </a:ext>
            </a:extLst>
          </p:cNvPr>
          <p:cNvSpPr>
            <a:spLocks noGrp="1"/>
          </p:cNvSpPr>
          <p:nvPr>
            <p:ph type="ftr" idx="11"/>
          </p:nvPr>
        </p:nvSpPr>
        <p:spPr>
          <a:xfrm>
            <a:off x="2475357" y="6539204"/>
            <a:ext cx="4194809" cy="246221"/>
          </a:xfrm>
        </p:spPr>
        <p:txBody>
          <a:bodyPr/>
          <a:lstStyle/>
          <a:p>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455505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22187" y="887734"/>
            <a:ext cx="6084119"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8"/>
            <a:ext cx="7886700" cy="276999"/>
          </a:xfrm>
          <a:ln>
            <a:solidFill>
              <a:schemeClr val="tx1"/>
            </a:solidFill>
          </a:ln>
        </p:spPr>
        <p:txBody>
          <a:bodyPr/>
          <a:lstStyle/>
          <a:p>
            <a:pPr algn="just">
              <a:lnSpc>
                <a:spcPct val="100000"/>
              </a:lnSpc>
            </a:pPr>
            <a:r>
              <a:rPr lang="en-IN" b="1" dirty="0"/>
              <a:t>Positional Arguments</a:t>
            </a:r>
            <a:r>
              <a:rPr lang="en-IN" dirty="0"/>
              <a:t>:</a:t>
            </a:r>
          </a:p>
        </p:txBody>
      </p:sp>
      <p:pic>
        <p:nvPicPr>
          <p:cNvPr id="2" name="Picture 1"/>
          <p:cNvPicPr>
            <a:picLocks noChangeAspect="1"/>
          </p:cNvPicPr>
          <p:nvPr/>
        </p:nvPicPr>
        <p:blipFill>
          <a:blip r:embed="rId3"/>
          <a:stretch>
            <a:fillRect/>
          </a:stretch>
        </p:blipFill>
        <p:spPr>
          <a:xfrm>
            <a:off x="1022188" y="3689617"/>
            <a:ext cx="4279106" cy="1614488"/>
          </a:xfrm>
          <a:prstGeom prst="rect">
            <a:avLst/>
          </a:prstGeom>
        </p:spPr>
      </p:pic>
      <p:pic>
        <p:nvPicPr>
          <p:cNvPr id="5" name="Picture 4"/>
          <p:cNvPicPr>
            <a:picLocks noChangeAspect="1"/>
          </p:cNvPicPr>
          <p:nvPr/>
        </p:nvPicPr>
        <p:blipFill>
          <a:blip r:embed="rId4"/>
          <a:stretch>
            <a:fillRect/>
          </a:stretch>
        </p:blipFill>
        <p:spPr>
          <a:xfrm>
            <a:off x="5945108" y="3537784"/>
            <a:ext cx="1807369" cy="2014538"/>
          </a:xfrm>
          <a:prstGeom prst="rect">
            <a:avLst/>
          </a:prstGeom>
        </p:spPr>
      </p:pic>
      <p:sp>
        <p:nvSpPr>
          <p:cNvPr id="6" name="TextBox 5"/>
          <p:cNvSpPr txBox="1"/>
          <p:nvPr/>
        </p:nvSpPr>
        <p:spPr>
          <a:xfrm>
            <a:off x="736227" y="2279276"/>
            <a:ext cx="7231156" cy="900246"/>
          </a:xfrm>
          <a:prstGeom prst="rect">
            <a:avLst/>
          </a:prstGeom>
          <a:noFill/>
          <a:ln>
            <a:solidFill>
              <a:schemeClr val="tx1"/>
            </a:solidFill>
          </a:ln>
        </p:spPr>
        <p:txBody>
          <a:bodyPr wrap="square" rtlCol="0">
            <a:spAutoFit/>
          </a:bodyPr>
          <a:lstStyle/>
          <a:p>
            <a:r>
              <a:rPr lang="en-US" sz="1050" dirty="0"/>
              <a:t>Position-only arguments mean whenever we pass the arguments in the order we have defined function parameters in which if you change the argument position then you may get the unexpected output. We should use positional Arguments whenever we know the order of argument to be passed. So now, we will call the function by using the position-only arguments in two ways and In both cases, we will be getting different outputs from which one will be correct and another one will be </a:t>
            </a:r>
            <a:r>
              <a:rPr lang="en-US" sz="1050" dirty="0" err="1"/>
              <a:t>incorrect.Example</a:t>
            </a:r>
            <a:r>
              <a:rPr lang="en-US" sz="1050" dirty="0"/>
              <a:t>: </a:t>
            </a:r>
            <a:endParaRPr lang="en-IN" sz="1050" dirty="0"/>
          </a:p>
        </p:txBody>
      </p:sp>
      <p:sp>
        <p:nvSpPr>
          <p:cNvPr id="3" name="Footer Placeholder 2">
            <a:extLst>
              <a:ext uri="{FF2B5EF4-FFF2-40B4-BE49-F238E27FC236}">
                <a16:creationId xmlns:a16="http://schemas.microsoft.com/office/drawing/2014/main" id="{A6BFF183-4124-23E5-E792-B07EA70784B0}"/>
              </a:ext>
            </a:extLst>
          </p:cNvPr>
          <p:cNvSpPr>
            <a:spLocks noGrp="1"/>
          </p:cNvSpPr>
          <p:nvPr>
            <p:ph type="ftr" sz="quarter" idx="11"/>
          </p:nvPr>
        </p:nvSpPr>
        <p:spPr>
          <a:xfrm>
            <a:off x="3028950" y="6486861"/>
            <a:ext cx="3382608" cy="361937"/>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20080824"/>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21975" y="887734"/>
            <a:ext cx="6084331"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830997"/>
          </a:xfrm>
          <a:ln>
            <a:solidFill>
              <a:schemeClr val="tx1"/>
            </a:solidFill>
          </a:ln>
        </p:spPr>
        <p:txBody>
          <a:bodyPr/>
          <a:lstStyle/>
          <a:p>
            <a:pPr algn="just">
              <a:lnSpc>
                <a:spcPct val="100000"/>
              </a:lnSpc>
            </a:pPr>
            <a:r>
              <a:rPr lang="en-IN" b="1" dirty="0"/>
              <a:t>Default Arguments</a:t>
            </a:r>
            <a:r>
              <a:rPr lang="en-IN" dirty="0"/>
              <a:t>: </a:t>
            </a:r>
            <a:r>
              <a:rPr lang="en-US" dirty="0"/>
              <a:t>Function arguments can have default values in Python. Default value to an argument in function definition using the = assignment operator. </a:t>
            </a:r>
            <a:endParaRPr lang="en-IN" dirty="0"/>
          </a:p>
        </p:txBody>
      </p:sp>
      <p:pic>
        <p:nvPicPr>
          <p:cNvPr id="3" name="Picture 2">
            <a:extLst>
              <a:ext uri="{FF2B5EF4-FFF2-40B4-BE49-F238E27FC236}">
                <a16:creationId xmlns:a16="http://schemas.microsoft.com/office/drawing/2014/main" id="{0DB1D1F2-B0A0-4A38-9102-C3AB913D8D3F}"/>
              </a:ext>
            </a:extLst>
          </p:cNvPr>
          <p:cNvPicPr>
            <a:picLocks noChangeAspect="1"/>
          </p:cNvPicPr>
          <p:nvPr/>
        </p:nvPicPr>
        <p:blipFill>
          <a:blip r:embed="rId3"/>
          <a:stretch>
            <a:fillRect/>
          </a:stretch>
        </p:blipFill>
        <p:spPr>
          <a:xfrm>
            <a:off x="1256098" y="2791930"/>
            <a:ext cx="6030684" cy="2832584"/>
          </a:xfrm>
          <a:prstGeom prst="rect">
            <a:avLst/>
          </a:prstGeom>
          <a:ln>
            <a:solidFill>
              <a:schemeClr val="tx1"/>
            </a:solidFill>
          </a:ln>
        </p:spPr>
      </p:pic>
      <p:sp>
        <p:nvSpPr>
          <p:cNvPr id="2" name="Footer Placeholder 1">
            <a:extLst>
              <a:ext uri="{FF2B5EF4-FFF2-40B4-BE49-F238E27FC236}">
                <a16:creationId xmlns:a16="http://schemas.microsoft.com/office/drawing/2014/main" id="{A881CEBC-6EE1-D454-B342-5C7964158048}"/>
              </a:ext>
            </a:extLst>
          </p:cNvPr>
          <p:cNvSpPr>
            <a:spLocks noGrp="1"/>
          </p:cNvSpPr>
          <p:nvPr>
            <p:ph type="ftr" sz="quarter" idx="11"/>
          </p:nvPr>
        </p:nvSpPr>
        <p:spPr>
          <a:xfrm>
            <a:off x="3028949" y="6508376"/>
            <a:ext cx="3952764" cy="340422"/>
          </a:xfrm>
        </p:spPr>
        <p:txBody>
          <a:bodyPr/>
          <a:lstStyle/>
          <a:p>
            <a:pPr>
              <a:defRPr/>
            </a:pPr>
            <a:r>
              <a:rPr lang="en-US" sz="1600" dirty="0"/>
              <a:t>University Institute of Engineering (UIE)</a:t>
            </a:r>
          </a:p>
        </p:txBody>
      </p:sp>
    </p:spTree>
    <p:extLst>
      <p:ext uri="{BB962C8B-B14F-4D97-AF65-F5344CB8AC3E}">
        <p14:creationId xmlns:p14="http://schemas.microsoft.com/office/powerpoint/2010/main" val="39934693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00461" y="887734"/>
            <a:ext cx="6723530"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8"/>
            <a:ext cx="7886700" cy="276999"/>
          </a:xfrm>
          <a:ln>
            <a:solidFill>
              <a:schemeClr val="tx1"/>
            </a:solidFill>
          </a:ln>
        </p:spPr>
        <p:txBody>
          <a:bodyPr/>
          <a:lstStyle/>
          <a:p>
            <a:pPr algn="just">
              <a:lnSpc>
                <a:spcPct val="100000"/>
              </a:lnSpc>
            </a:pPr>
            <a:r>
              <a:rPr lang="en-IN" b="1" dirty="0"/>
              <a:t>Default Arguments</a:t>
            </a:r>
            <a:endParaRPr lang="en-IN" dirty="0"/>
          </a:p>
        </p:txBody>
      </p:sp>
      <p:pic>
        <p:nvPicPr>
          <p:cNvPr id="5" name="Picture 4">
            <a:extLst>
              <a:ext uri="{FF2B5EF4-FFF2-40B4-BE49-F238E27FC236}">
                <a16:creationId xmlns:a16="http://schemas.microsoft.com/office/drawing/2014/main" id="{31B2A2B4-3A5D-437A-A557-5F9A1704C419}"/>
              </a:ext>
            </a:extLst>
          </p:cNvPr>
          <p:cNvPicPr>
            <a:picLocks noChangeAspect="1"/>
          </p:cNvPicPr>
          <p:nvPr/>
        </p:nvPicPr>
        <p:blipFill>
          <a:blip r:embed="rId3"/>
          <a:stretch>
            <a:fillRect/>
          </a:stretch>
        </p:blipFill>
        <p:spPr>
          <a:xfrm>
            <a:off x="747714" y="2243290"/>
            <a:ext cx="7453012" cy="3381224"/>
          </a:xfrm>
          <a:prstGeom prst="rect">
            <a:avLst/>
          </a:prstGeom>
          <a:ln>
            <a:solidFill>
              <a:schemeClr val="tx1"/>
            </a:solidFill>
          </a:ln>
        </p:spPr>
      </p:pic>
      <p:sp>
        <p:nvSpPr>
          <p:cNvPr id="2" name="Footer Placeholder 1">
            <a:extLst>
              <a:ext uri="{FF2B5EF4-FFF2-40B4-BE49-F238E27FC236}">
                <a16:creationId xmlns:a16="http://schemas.microsoft.com/office/drawing/2014/main" id="{0B8A3571-3F29-A8BD-BD76-A838E28531F7}"/>
              </a:ext>
            </a:extLst>
          </p:cNvPr>
          <p:cNvSpPr>
            <a:spLocks noGrp="1"/>
          </p:cNvSpPr>
          <p:nvPr>
            <p:ph type="ftr" sz="quarter" idx="11"/>
          </p:nvPr>
        </p:nvSpPr>
        <p:spPr>
          <a:xfrm>
            <a:off x="3028950" y="6519134"/>
            <a:ext cx="3543972" cy="623944"/>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8474669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1032734" y="1089212"/>
            <a:ext cx="7529683" cy="502359"/>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pPr>
              <a:buClr>
                <a:schemeClr val="lt2"/>
              </a:buClr>
              <a:buSzPts val="4200"/>
            </a:pPr>
            <a:r>
              <a:rPr lang="en-IN" b="1" dirty="0">
                <a:solidFill>
                  <a:schemeClr val="tx1"/>
                </a:solidFill>
                <a:latin typeface="Casper"/>
              </a:rPr>
              <a:t>Keyword Arguments</a:t>
            </a:r>
            <a:br>
              <a:rPr lang="en-US" dirty="0"/>
            </a:br>
            <a:endParaRPr dirty="0"/>
          </a:p>
        </p:txBody>
      </p:sp>
      <p:sp>
        <p:nvSpPr>
          <p:cNvPr id="83" name="Google Shape;83;p17"/>
          <p:cNvSpPr txBox="1">
            <a:spLocks noGrp="1"/>
          </p:cNvSpPr>
          <p:nvPr>
            <p:ph idx="1"/>
          </p:nvPr>
        </p:nvSpPr>
        <p:spPr>
          <a:xfrm>
            <a:off x="235922" y="1851902"/>
            <a:ext cx="3429024" cy="3447055"/>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r>
              <a:rPr lang="en-IN" sz="1950" dirty="0">
                <a:latin typeface="Casper"/>
              </a:rPr>
              <a:t>You can also send arguments with the </a:t>
            </a:r>
            <a:r>
              <a:rPr lang="en-IN" sz="1950" i="1" dirty="0">
                <a:latin typeface="Casper"/>
              </a:rPr>
              <a:t>key</a:t>
            </a:r>
            <a:r>
              <a:rPr lang="en-IN" sz="1950" dirty="0">
                <a:latin typeface="Casper"/>
              </a:rPr>
              <a:t> = </a:t>
            </a:r>
            <a:r>
              <a:rPr lang="en-IN" sz="1950" i="1" dirty="0">
                <a:latin typeface="Casper"/>
              </a:rPr>
              <a:t>value</a:t>
            </a:r>
            <a:r>
              <a:rPr lang="en-IN" sz="1950" dirty="0">
                <a:latin typeface="Casper"/>
              </a:rPr>
              <a:t> syntax.</a:t>
            </a:r>
          </a:p>
          <a:p>
            <a:r>
              <a:rPr lang="en-IN" sz="1950" dirty="0">
                <a:latin typeface="Casper"/>
              </a:rPr>
              <a:t>This way the order of the arguments does not matter.</a:t>
            </a:r>
          </a:p>
          <a:p>
            <a:pPr>
              <a:buNone/>
            </a:pPr>
            <a:endParaRPr lang="en-IN" sz="1950" dirty="0">
              <a:solidFill>
                <a:srgbClr val="000000"/>
              </a:solidFill>
              <a:latin typeface="Casper"/>
            </a:endParaRPr>
          </a:p>
        </p:txBody>
      </p:sp>
      <p:sp>
        <p:nvSpPr>
          <p:cNvPr id="5" name="Rectangle 4"/>
          <p:cNvSpPr/>
          <p:nvPr/>
        </p:nvSpPr>
        <p:spPr>
          <a:xfrm>
            <a:off x="3768323" y="1928803"/>
            <a:ext cx="5250693" cy="3093154"/>
          </a:xfrm>
          <a:prstGeom prst="rect">
            <a:avLst/>
          </a:prstGeom>
          <a:ln>
            <a:solidFill>
              <a:schemeClr val="tx1"/>
            </a:solidFill>
          </a:ln>
        </p:spPr>
        <p:txBody>
          <a:bodyPr wrap="square">
            <a:spAutoFit/>
          </a:bodyPr>
          <a:lstStyle/>
          <a:p>
            <a:r>
              <a:rPr lang="en-IN" sz="1950" dirty="0">
                <a:latin typeface="Casper"/>
              </a:rPr>
              <a:t>def </a:t>
            </a:r>
            <a:r>
              <a:rPr lang="en-IN" sz="1950" dirty="0" err="1">
                <a:latin typeface="Casper"/>
              </a:rPr>
              <a:t>myFunction</a:t>
            </a:r>
            <a:r>
              <a:rPr lang="en-IN" sz="1950" dirty="0">
                <a:latin typeface="Casper"/>
              </a:rPr>
              <a:t>(</a:t>
            </a:r>
            <a:r>
              <a:rPr lang="en-IN" sz="1950" dirty="0" err="1">
                <a:latin typeface="Casper"/>
              </a:rPr>
              <a:t>fname,lname</a:t>
            </a:r>
            <a:r>
              <a:rPr lang="en-IN" sz="1950" dirty="0">
                <a:latin typeface="Casper"/>
              </a:rPr>
              <a:t>):</a:t>
            </a:r>
          </a:p>
          <a:p>
            <a:r>
              <a:rPr lang="en-IN" sz="1950" dirty="0">
                <a:latin typeface="Casper"/>
              </a:rPr>
              <a:t>    print("</a:t>
            </a:r>
            <a:r>
              <a:rPr lang="en-IN" sz="1950" dirty="0" err="1">
                <a:latin typeface="Casper"/>
              </a:rPr>
              <a:t>Fname</a:t>
            </a:r>
            <a:r>
              <a:rPr lang="en-IN" sz="1950" dirty="0">
                <a:latin typeface="Casper"/>
              </a:rPr>
              <a:t>:",</a:t>
            </a:r>
            <a:r>
              <a:rPr lang="en-IN" sz="1950" dirty="0" err="1">
                <a:latin typeface="Casper"/>
              </a:rPr>
              <a:t>fname</a:t>
            </a:r>
            <a:r>
              <a:rPr lang="en-IN" sz="1950" dirty="0">
                <a:latin typeface="Casper"/>
              </a:rPr>
              <a:t>)</a:t>
            </a:r>
          </a:p>
          <a:p>
            <a:r>
              <a:rPr lang="en-IN" sz="1950" dirty="0">
                <a:latin typeface="Casper"/>
              </a:rPr>
              <a:t>    print("</a:t>
            </a:r>
            <a:r>
              <a:rPr lang="en-IN" sz="1950" dirty="0" err="1">
                <a:latin typeface="Casper"/>
              </a:rPr>
              <a:t>Lname</a:t>
            </a:r>
            <a:r>
              <a:rPr lang="en-IN" sz="1950" dirty="0">
                <a:latin typeface="Casper"/>
              </a:rPr>
              <a:t>:",</a:t>
            </a:r>
            <a:r>
              <a:rPr lang="en-IN" sz="1950" dirty="0" err="1">
                <a:latin typeface="Casper"/>
              </a:rPr>
              <a:t>lname</a:t>
            </a:r>
            <a:r>
              <a:rPr lang="en-IN" sz="1950" dirty="0">
                <a:latin typeface="Casper"/>
              </a:rPr>
              <a:t>)</a:t>
            </a:r>
          </a:p>
          <a:p>
            <a:endParaRPr lang="en-IN" sz="1950" dirty="0">
              <a:latin typeface="Casper"/>
            </a:endParaRPr>
          </a:p>
          <a:p>
            <a:endParaRPr lang="en-IN" sz="1950" dirty="0">
              <a:latin typeface="Casper"/>
            </a:endParaRPr>
          </a:p>
          <a:p>
            <a:r>
              <a:rPr lang="en-IN" sz="1950" dirty="0" err="1">
                <a:latin typeface="Casper"/>
              </a:rPr>
              <a:t>myFunction</a:t>
            </a:r>
            <a:r>
              <a:rPr lang="en-IN" sz="1950" dirty="0">
                <a:latin typeface="Casper"/>
              </a:rPr>
              <a:t>(</a:t>
            </a:r>
            <a:r>
              <a:rPr lang="en-IN" sz="1950" dirty="0" err="1">
                <a:latin typeface="Casper"/>
              </a:rPr>
              <a:t>lname</a:t>
            </a:r>
            <a:r>
              <a:rPr lang="en-IN" sz="1950" dirty="0">
                <a:latin typeface="Casper"/>
              </a:rPr>
              <a:t>="</a:t>
            </a:r>
            <a:r>
              <a:rPr lang="en-IN" sz="1950" dirty="0" err="1">
                <a:latin typeface="Casper"/>
              </a:rPr>
              <a:t>Vats",fname</a:t>
            </a:r>
            <a:r>
              <a:rPr lang="en-IN" sz="1950" dirty="0">
                <a:latin typeface="Casper"/>
              </a:rPr>
              <a:t>="Deepak")</a:t>
            </a:r>
          </a:p>
          <a:p>
            <a:endParaRPr lang="en-IN" sz="1950" dirty="0">
              <a:latin typeface="Casper"/>
            </a:endParaRPr>
          </a:p>
          <a:p>
            <a:r>
              <a:rPr lang="en-IN" sz="1950" b="1" dirty="0">
                <a:latin typeface="Casper"/>
              </a:rPr>
              <a:t>Note:</a:t>
            </a:r>
            <a:r>
              <a:rPr lang="en-IN" sz="1950" dirty="0">
                <a:solidFill>
                  <a:srgbClr val="FF0000"/>
                </a:solidFill>
                <a:latin typeface="Casper"/>
              </a:rPr>
              <a:t> </a:t>
            </a:r>
            <a:r>
              <a:rPr lang="en-IN" sz="1950" dirty="0">
                <a:latin typeface="Casper"/>
              </a:rPr>
              <a:t>Here </a:t>
            </a:r>
            <a:r>
              <a:rPr lang="en-IN" sz="1950" b="1" dirty="0" err="1">
                <a:solidFill>
                  <a:srgbClr val="C00000"/>
                </a:solidFill>
                <a:latin typeface="Casper"/>
              </a:rPr>
              <a:t>myFunction</a:t>
            </a:r>
            <a:r>
              <a:rPr lang="en-IN" sz="1950" b="1" dirty="0">
                <a:solidFill>
                  <a:srgbClr val="C00000"/>
                </a:solidFill>
                <a:latin typeface="Casper"/>
              </a:rPr>
              <a:t>()</a:t>
            </a:r>
            <a:r>
              <a:rPr lang="en-IN" sz="1950" dirty="0">
                <a:latin typeface="Casper"/>
              </a:rPr>
              <a:t> is called by passing </a:t>
            </a:r>
            <a:r>
              <a:rPr lang="en-IN" sz="1950" b="1" dirty="0" err="1">
                <a:solidFill>
                  <a:srgbClr val="C00000"/>
                </a:solidFill>
                <a:latin typeface="Casper"/>
              </a:rPr>
              <a:t>lname</a:t>
            </a:r>
            <a:r>
              <a:rPr lang="en-IN" sz="1950" dirty="0">
                <a:latin typeface="Casper"/>
              </a:rPr>
              <a:t> argument at first place even through it is the second argument in Function definition.</a:t>
            </a:r>
          </a:p>
        </p:txBody>
      </p:sp>
      <p:sp>
        <p:nvSpPr>
          <p:cNvPr id="2" name="Footer Placeholder 1">
            <a:extLst>
              <a:ext uri="{FF2B5EF4-FFF2-40B4-BE49-F238E27FC236}">
                <a16:creationId xmlns:a16="http://schemas.microsoft.com/office/drawing/2014/main" id="{C568591D-692E-DC81-E996-A2C74522407F}"/>
              </a:ext>
            </a:extLst>
          </p:cNvPr>
          <p:cNvSpPr>
            <a:spLocks noGrp="1"/>
          </p:cNvSpPr>
          <p:nvPr>
            <p:ph type="ftr" idx="11"/>
          </p:nvPr>
        </p:nvSpPr>
        <p:spPr>
          <a:xfrm>
            <a:off x="2475357" y="6539204"/>
            <a:ext cx="4194809" cy="246221"/>
          </a:xfrm>
        </p:spPr>
        <p:txBody>
          <a:bodyPr/>
          <a:lstStyle/>
          <a:p>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5553245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21975" y="887734"/>
            <a:ext cx="6084331"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969496"/>
          </a:xfrm>
          <a:ln>
            <a:solidFill>
              <a:schemeClr val="tx1"/>
            </a:solidFill>
          </a:ln>
        </p:spPr>
        <p:txBody>
          <a:bodyPr/>
          <a:lstStyle/>
          <a:p>
            <a:pPr algn="just">
              <a:lnSpc>
                <a:spcPct val="100000"/>
              </a:lnSpc>
            </a:pPr>
            <a:r>
              <a:rPr lang="en-IN" b="1" dirty="0"/>
              <a:t>Arbitrary Arguments: </a:t>
            </a:r>
            <a:r>
              <a:rPr lang="en-US" sz="1500" dirty="0"/>
              <a:t>Sometimes, we do not know in advance the number of arguments that will be passed into a function. Python allows us to handle this kind of situation through function calls with an arbitrary number of arguments. In the function definition, we use an asterisk (*) before the parameter name to denote this kind of argument.</a:t>
            </a:r>
            <a:endParaRPr lang="en-IN" sz="1500" dirty="0"/>
          </a:p>
        </p:txBody>
      </p:sp>
      <p:pic>
        <p:nvPicPr>
          <p:cNvPr id="5" name="Picture 4">
            <a:extLst>
              <a:ext uri="{FF2B5EF4-FFF2-40B4-BE49-F238E27FC236}">
                <a16:creationId xmlns:a16="http://schemas.microsoft.com/office/drawing/2014/main" id="{F5F44BB2-AFD4-4A34-9C74-A53906096674}"/>
              </a:ext>
            </a:extLst>
          </p:cNvPr>
          <p:cNvPicPr>
            <a:picLocks noChangeAspect="1"/>
          </p:cNvPicPr>
          <p:nvPr/>
        </p:nvPicPr>
        <p:blipFill>
          <a:blip r:embed="rId3"/>
          <a:stretch>
            <a:fillRect/>
          </a:stretch>
        </p:blipFill>
        <p:spPr>
          <a:xfrm>
            <a:off x="1537638" y="2921870"/>
            <a:ext cx="5568671" cy="2764857"/>
          </a:xfrm>
          <a:prstGeom prst="rect">
            <a:avLst/>
          </a:prstGeom>
          <a:ln>
            <a:solidFill>
              <a:schemeClr val="tx1"/>
            </a:solidFill>
          </a:ln>
        </p:spPr>
      </p:pic>
      <p:sp>
        <p:nvSpPr>
          <p:cNvPr id="2" name="Footer Placeholder 1">
            <a:extLst>
              <a:ext uri="{FF2B5EF4-FFF2-40B4-BE49-F238E27FC236}">
                <a16:creationId xmlns:a16="http://schemas.microsoft.com/office/drawing/2014/main" id="{8C674549-489C-0E6C-032C-35696AD883FF}"/>
              </a:ext>
            </a:extLst>
          </p:cNvPr>
          <p:cNvSpPr>
            <a:spLocks noGrp="1"/>
          </p:cNvSpPr>
          <p:nvPr>
            <p:ph type="ftr" sz="quarter" idx="11"/>
          </p:nvPr>
        </p:nvSpPr>
        <p:spPr>
          <a:xfrm>
            <a:off x="3028949" y="6497619"/>
            <a:ext cx="3576245" cy="35117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762556958"/>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884541" y="1028702"/>
            <a:ext cx="7983197" cy="593127"/>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pPr algn="ctr"/>
            <a:r>
              <a:rPr lang="en-IN" sz="3000" dirty="0">
                <a:latin typeface="Casper"/>
              </a:rPr>
              <a:t>Arbitrary Keyword Arguments, **</a:t>
            </a:r>
            <a:r>
              <a:rPr lang="en-IN" sz="3000" dirty="0" err="1">
                <a:latin typeface="Casper"/>
              </a:rPr>
              <a:t>kwargs</a:t>
            </a:r>
            <a:endParaRPr lang="en-IN" sz="3000" dirty="0">
              <a:latin typeface="Casper"/>
            </a:endParaRPr>
          </a:p>
        </p:txBody>
      </p:sp>
      <p:sp>
        <p:nvSpPr>
          <p:cNvPr id="83" name="Google Shape;83;p17"/>
          <p:cNvSpPr txBox="1">
            <a:spLocks noGrp="1"/>
          </p:cNvSpPr>
          <p:nvPr>
            <p:ph idx="1"/>
          </p:nvPr>
        </p:nvSpPr>
        <p:spPr>
          <a:xfrm>
            <a:off x="124985" y="1821646"/>
            <a:ext cx="3429024" cy="4018388"/>
          </a:xfrm>
          <a:prstGeom prst="rect">
            <a:avLst/>
          </a:prstGeom>
          <a:noFill/>
          <a:ln>
            <a:solidFill>
              <a:schemeClr val="tx1"/>
            </a:solidFill>
          </a:ln>
        </p:spPr>
        <p:txBody>
          <a:bodyPr spcFirstLastPara="1" vert="horz" wrap="square" lIns="68569" tIns="34275" rIns="68569" bIns="34275" numCol="1" anchor="t" anchorCtr="0" compatLnSpc="1">
            <a:prstTxWarp prst="textNoShape">
              <a:avLst/>
            </a:prstTxWarp>
            <a:noAutofit/>
          </a:bodyPr>
          <a:lstStyle/>
          <a:p>
            <a:r>
              <a:rPr lang="en-IN" sz="1950" dirty="0">
                <a:latin typeface="Casper"/>
              </a:rPr>
              <a:t>If you do not know how many keyword arguments that will be passed into your function, add two asterisk: ** before the parameter name in the function definition.</a:t>
            </a:r>
          </a:p>
          <a:p>
            <a:r>
              <a:rPr lang="en-IN" sz="1950" dirty="0">
                <a:latin typeface="Casper"/>
              </a:rPr>
              <a:t>This way the function will receive a </a:t>
            </a:r>
            <a:r>
              <a:rPr lang="en-IN" sz="1950" i="1" dirty="0">
                <a:latin typeface="Casper"/>
              </a:rPr>
              <a:t>dictionary</a:t>
            </a:r>
            <a:r>
              <a:rPr lang="en-IN" sz="1950" dirty="0">
                <a:latin typeface="Casper"/>
              </a:rPr>
              <a:t> of arguments, and can access the items accordingly.</a:t>
            </a:r>
          </a:p>
          <a:p>
            <a:endParaRPr lang="en-IN" sz="1950" dirty="0">
              <a:latin typeface="Casper"/>
            </a:endParaRPr>
          </a:p>
          <a:p>
            <a:pPr>
              <a:buNone/>
            </a:pPr>
            <a:endParaRPr lang="en-IN" sz="1950" dirty="0">
              <a:solidFill>
                <a:srgbClr val="000000"/>
              </a:solidFill>
              <a:latin typeface="Casper"/>
            </a:endParaRPr>
          </a:p>
        </p:txBody>
      </p:sp>
      <p:sp>
        <p:nvSpPr>
          <p:cNvPr id="5" name="Rectangle 4"/>
          <p:cNvSpPr/>
          <p:nvPr/>
        </p:nvSpPr>
        <p:spPr>
          <a:xfrm>
            <a:off x="3768323" y="1928803"/>
            <a:ext cx="5250693" cy="2977738"/>
          </a:xfrm>
          <a:prstGeom prst="rect">
            <a:avLst/>
          </a:prstGeom>
          <a:ln>
            <a:solidFill>
              <a:schemeClr val="tx1"/>
            </a:solidFill>
          </a:ln>
        </p:spPr>
        <p:txBody>
          <a:bodyPr wrap="square">
            <a:spAutoFit/>
          </a:bodyPr>
          <a:lstStyle/>
          <a:p>
            <a:r>
              <a:rPr lang="en-IN" sz="1950" dirty="0">
                <a:latin typeface="Casper"/>
              </a:rPr>
              <a:t>def </a:t>
            </a:r>
            <a:r>
              <a:rPr lang="en-IN" sz="1950" dirty="0" err="1">
                <a:latin typeface="Casper"/>
              </a:rPr>
              <a:t>myFunction</a:t>
            </a:r>
            <a:r>
              <a:rPr lang="en-IN" sz="1950" dirty="0">
                <a:latin typeface="Casper"/>
              </a:rPr>
              <a:t>(**name):</a:t>
            </a:r>
          </a:p>
          <a:p>
            <a:r>
              <a:rPr lang="en-IN" sz="1950" dirty="0">
                <a:latin typeface="Casper"/>
              </a:rPr>
              <a:t>    for </a:t>
            </a:r>
            <a:r>
              <a:rPr lang="en-IN" sz="1950" dirty="0" err="1">
                <a:latin typeface="Casper"/>
              </a:rPr>
              <a:t>i</a:t>
            </a:r>
            <a:r>
              <a:rPr lang="en-IN" sz="1950" dirty="0">
                <a:latin typeface="Casper"/>
              </a:rPr>
              <a:t> in name:</a:t>
            </a:r>
          </a:p>
          <a:p>
            <a:r>
              <a:rPr lang="en-IN" sz="1950" dirty="0">
                <a:latin typeface="Casper"/>
              </a:rPr>
              <a:t>        print(name[</a:t>
            </a:r>
            <a:r>
              <a:rPr lang="en-IN" sz="1950" dirty="0" err="1">
                <a:latin typeface="Casper"/>
              </a:rPr>
              <a:t>i</a:t>
            </a:r>
            <a:r>
              <a:rPr lang="en-IN" sz="1950" dirty="0">
                <a:latin typeface="Casper"/>
              </a:rPr>
              <a:t>])</a:t>
            </a:r>
          </a:p>
          <a:p>
            <a:endParaRPr lang="en-IN" sz="1950" dirty="0">
              <a:latin typeface="Casper"/>
            </a:endParaRPr>
          </a:p>
          <a:p>
            <a:endParaRPr lang="en-IN" sz="1950" dirty="0">
              <a:latin typeface="Casper"/>
            </a:endParaRPr>
          </a:p>
          <a:p>
            <a:r>
              <a:rPr lang="en-IN" sz="1050" dirty="0" err="1">
                <a:latin typeface="Casper"/>
              </a:rPr>
              <a:t>myFunction</a:t>
            </a:r>
            <a:r>
              <a:rPr lang="en-IN" sz="1050" dirty="0">
                <a:latin typeface="Casper"/>
              </a:rPr>
              <a:t>(</a:t>
            </a:r>
            <a:r>
              <a:rPr lang="en-IN" sz="1050" dirty="0" err="1">
                <a:latin typeface="Casper"/>
              </a:rPr>
              <a:t>lname</a:t>
            </a:r>
            <a:r>
              <a:rPr lang="en-IN" sz="1050" dirty="0">
                <a:latin typeface="Casper"/>
              </a:rPr>
              <a:t>="</a:t>
            </a:r>
            <a:r>
              <a:rPr lang="en-IN" sz="1050" dirty="0" err="1">
                <a:latin typeface="Casper"/>
              </a:rPr>
              <a:t>Vats",fname</a:t>
            </a:r>
            <a:r>
              <a:rPr lang="en-IN" sz="1050" dirty="0">
                <a:latin typeface="Casper"/>
              </a:rPr>
              <a:t>="Deepak")</a:t>
            </a:r>
          </a:p>
          <a:p>
            <a:endParaRPr lang="en-IN" sz="1050" dirty="0">
              <a:latin typeface="Casper"/>
            </a:endParaRPr>
          </a:p>
          <a:p>
            <a:r>
              <a:rPr lang="en-IN" sz="1050" b="1" dirty="0" err="1">
                <a:latin typeface="Casper"/>
              </a:rPr>
              <a:t>myFunction</a:t>
            </a:r>
            <a:r>
              <a:rPr lang="en-IN" sz="1050" b="1" dirty="0">
                <a:latin typeface="Casper"/>
              </a:rPr>
              <a:t>(</a:t>
            </a:r>
            <a:r>
              <a:rPr lang="en-IN" sz="1050" b="1" dirty="0" err="1">
                <a:latin typeface="Casper"/>
              </a:rPr>
              <a:t>lname</a:t>
            </a:r>
            <a:r>
              <a:rPr lang="en-IN" sz="1050" b="1" dirty="0">
                <a:latin typeface="Casper"/>
              </a:rPr>
              <a:t>="</a:t>
            </a:r>
            <a:r>
              <a:rPr lang="en-IN" sz="1050" b="1" dirty="0" err="1">
                <a:latin typeface="Casper"/>
              </a:rPr>
              <a:t>Vats",fname</a:t>
            </a:r>
            <a:r>
              <a:rPr lang="en-IN" sz="1050" b="1" dirty="0">
                <a:latin typeface="Casper"/>
              </a:rPr>
              <a:t>="</a:t>
            </a:r>
            <a:r>
              <a:rPr lang="en-IN" sz="1050" b="1" dirty="0" err="1">
                <a:latin typeface="Casper"/>
              </a:rPr>
              <a:t>Deepak",UID</a:t>
            </a:r>
            <a:r>
              <a:rPr lang="en-IN" sz="1050" b="1" dirty="0">
                <a:latin typeface="Casper"/>
              </a:rPr>
              <a:t> = "191001")</a:t>
            </a:r>
            <a:endParaRPr lang="en-IN" sz="1950" b="1" dirty="0">
              <a:latin typeface="Casper"/>
            </a:endParaRPr>
          </a:p>
          <a:p>
            <a:endParaRPr lang="en-IN" sz="1950" b="1" dirty="0">
              <a:latin typeface="Casper"/>
            </a:endParaRPr>
          </a:p>
          <a:p>
            <a:r>
              <a:rPr lang="en-IN" sz="1950" b="1" dirty="0">
                <a:latin typeface="Casper"/>
              </a:rPr>
              <a:t>Note:</a:t>
            </a:r>
            <a:r>
              <a:rPr lang="en-IN" sz="1950" dirty="0">
                <a:solidFill>
                  <a:srgbClr val="FF0000"/>
                </a:solidFill>
                <a:latin typeface="Casper"/>
              </a:rPr>
              <a:t> </a:t>
            </a:r>
            <a:r>
              <a:rPr lang="en-IN" sz="1950" dirty="0">
                <a:latin typeface="Casper"/>
              </a:rPr>
              <a:t>Here </a:t>
            </a:r>
            <a:r>
              <a:rPr lang="en-IN" sz="1950" b="1" dirty="0" err="1">
                <a:solidFill>
                  <a:srgbClr val="C00000"/>
                </a:solidFill>
                <a:latin typeface="Casper"/>
              </a:rPr>
              <a:t>myFunction</a:t>
            </a:r>
            <a:r>
              <a:rPr lang="en-IN" sz="1950" b="1" dirty="0">
                <a:solidFill>
                  <a:srgbClr val="C00000"/>
                </a:solidFill>
                <a:latin typeface="Casper"/>
              </a:rPr>
              <a:t>()</a:t>
            </a:r>
            <a:r>
              <a:rPr lang="en-IN" sz="1950" dirty="0">
                <a:latin typeface="Casper"/>
              </a:rPr>
              <a:t> is called by passing arbitrary</a:t>
            </a:r>
            <a:r>
              <a:rPr lang="en-IN" sz="1950" dirty="0">
                <a:solidFill>
                  <a:srgbClr val="C00000"/>
                </a:solidFill>
                <a:latin typeface="Casper"/>
              </a:rPr>
              <a:t> </a:t>
            </a:r>
            <a:r>
              <a:rPr lang="en-IN" sz="1950" dirty="0">
                <a:latin typeface="Casper"/>
              </a:rPr>
              <a:t>number of </a:t>
            </a:r>
            <a:r>
              <a:rPr lang="en-IN" sz="1950" b="1" dirty="0">
                <a:solidFill>
                  <a:srgbClr val="C00000"/>
                </a:solidFill>
                <a:latin typeface="Casper"/>
              </a:rPr>
              <a:t>keyword arguments</a:t>
            </a:r>
            <a:r>
              <a:rPr lang="en-IN" sz="1950" dirty="0">
                <a:latin typeface="Casper"/>
              </a:rPr>
              <a:t>.</a:t>
            </a:r>
          </a:p>
        </p:txBody>
      </p:sp>
      <p:sp>
        <p:nvSpPr>
          <p:cNvPr id="2" name="Footer Placeholder 1">
            <a:extLst>
              <a:ext uri="{FF2B5EF4-FFF2-40B4-BE49-F238E27FC236}">
                <a16:creationId xmlns:a16="http://schemas.microsoft.com/office/drawing/2014/main" id="{B49C4205-3658-B3B1-C976-9346F2FE95BA}"/>
              </a:ext>
            </a:extLst>
          </p:cNvPr>
          <p:cNvSpPr>
            <a:spLocks noGrp="1"/>
          </p:cNvSpPr>
          <p:nvPr>
            <p:ph type="ftr" idx="11"/>
          </p:nvPr>
        </p:nvSpPr>
        <p:spPr>
          <a:xfrm>
            <a:off x="2475357" y="6539204"/>
            <a:ext cx="4194809" cy="246221"/>
          </a:xfrm>
        </p:spPr>
        <p:txBody>
          <a:bodyPr/>
          <a:lstStyle/>
          <a:p>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8161159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75765" y="887734"/>
            <a:ext cx="6030542"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7"/>
            <a:ext cx="7886700" cy="1384995"/>
          </a:xfrm>
          <a:ln>
            <a:solidFill>
              <a:schemeClr val="tx1"/>
            </a:solidFill>
          </a:ln>
        </p:spPr>
        <p:txBody>
          <a:bodyPr/>
          <a:lstStyle/>
          <a:p>
            <a:pPr algn="just">
              <a:lnSpc>
                <a:spcPct val="100000"/>
              </a:lnSpc>
            </a:pPr>
            <a:r>
              <a:rPr lang="en-IN" b="1" dirty="0"/>
              <a:t>Recursive Function: </a:t>
            </a:r>
            <a:r>
              <a:rPr lang="en-US" dirty="0"/>
              <a:t>A recursive function is a function that calls itself, again and again.</a:t>
            </a:r>
          </a:p>
          <a:p>
            <a:pPr algn="just">
              <a:lnSpc>
                <a:spcPct val="100000"/>
              </a:lnSpc>
            </a:pPr>
            <a:r>
              <a:rPr lang="en-US" dirty="0"/>
              <a:t>Consider, calculating the factorial of a number is a repetitive activity, in that case, we can call a function again and again, which calculates factorial.</a:t>
            </a:r>
          </a:p>
          <a:p>
            <a:pPr algn="just">
              <a:lnSpc>
                <a:spcPct val="100000"/>
              </a:lnSpc>
            </a:pPr>
            <a:endParaRPr lang="en-IN" dirty="0"/>
          </a:p>
        </p:txBody>
      </p:sp>
      <p:pic>
        <p:nvPicPr>
          <p:cNvPr id="7" name="Picture 6">
            <a:extLst>
              <a:ext uri="{FF2B5EF4-FFF2-40B4-BE49-F238E27FC236}">
                <a16:creationId xmlns:a16="http://schemas.microsoft.com/office/drawing/2014/main" id="{2884B8F0-151C-4725-927F-E4165E8538C9}"/>
              </a:ext>
            </a:extLst>
          </p:cNvPr>
          <p:cNvPicPr>
            <a:picLocks noChangeAspect="1"/>
          </p:cNvPicPr>
          <p:nvPr/>
        </p:nvPicPr>
        <p:blipFill>
          <a:blip r:embed="rId3"/>
          <a:stretch>
            <a:fillRect/>
          </a:stretch>
        </p:blipFill>
        <p:spPr>
          <a:xfrm>
            <a:off x="747715" y="3288750"/>
            <a:ext cx="4377740" cy="2000934"/>
          </a:xfrm>
          <a:prstGeom prst="rect">
            <a:avLst/>
          </a:prstGeom>
          <a:ln>
            <a:solidFill>
              <a:schemeClr val="tx1"/>
            </a:solidFill>
          </a:ln>
        </p:spPr>
      </p:pic>
      <p:pic>
        <p:nvPicPr>
          <p:cNvPr id="9" name="Picture 8">
            <a:extLst>
              <a:ext uri="{FF2B5EF4-FFF2-40B4-BE49-F238E27FC236}">
                <a16:creationId xmlns:a16="http://schemas.microsoft.com/office/drawing/2014/main" id="{69BD6CFA-CCCA-4601-9620-D995C73C3255}"/>
              </a:ext>
            </a:extLst>
          </p:cNvPr>
          <p:cNvPicPr>
            <a:picLocks noChangeAspect="1"/>
          </p:cNvPicPr>
          <p:nvPr/>
        </p:nvPicPr>
        <p:blipFill>
          <a:blip r:embed="rId4"/>
          <a:stretch>
            <a:fillRect/>
          </a:stretch>
        </p:blipFill>
        <p:spPr>
          <a:xfrm>
            <a:off x="5567595" y="3288749"/>
            <a:ext cx="2654788" cy="2000934"/>
          </a:xfrm>
          <a:prstGeom prst="rect">
            <a:avLst/>
          </a:prstGeom>
          <a:ln>
            <a:solidFill>
              <a:schemeClr val="tx1"/>
            </a:solidFill>
          </a:ln>
        </p:spPr>
      </p:pic>
      <p:sp>
        <p:nvSpPr>
          <p:cNvPr id="2" name="Footer Placeholder 1">
            <a:extLst>
              <a:ext uri="{FF2B5EF4-FFF2-40B4-BE49-F238E27FC236}">
                <a16:creationId xmlns:a16="http://schemas.microsoft.com/office/drawing/2014/main" id="{BF1044BB-3C42-38EF-3120-96631E89AC42}"/>
              </a:ext>
            </a:extLst>
          </p:cNvPr>
          <p:cNvSpPr>
            <a:spLocks noGrp="1"/>
          </p:cNvSpPr>
          <p:nvPr>
            <p:ph type="ftr" sz="quarter" idx="11"/>
          </p:nvPr>
        </p:nvSpPr>
        <p:spPr>
          <a:xfrm>
            <a:off x="3028949" y="6486861"/>
            <a:ext cx="3640792" cy="361937"/>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205441765"/>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32733" y="887734"/>
            <a:ext cx="6073573"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628650" y="2425368"/>
            <a:ext cx="7886700" cy="2769989"/>
          </a:xfrm>
          <a:ln>
            <a:solidFill>
              <a:schemeClr val="tx1"/>
            </a:solidFill>
          </a:ln>
        </p:spPr>
        <p:txBody>
          <a:bodyPr/>
          <a:lstStyle/>
          <a:p>
            <a:pPr algn="just">
              <a:lnSpc>
                <a:spcPct val="100000"/>
              </a:lnSpc>
            </a:pPr>
            <a:r>
              <a:rPr lang="en-IN" b="1" dirty="0"/>
              <a:t>Lambda Functions: </a:t>
            </a:r>
            <a:r>
              <a:rPr lang="en-US" dirty="0"/>
              <a:t>In Python, an anonymous function is a functions that is defined without a name. </a:t>
            </a:r>
          </a:p>
          <a:p>
            <a:pPr algn="just">
              <a:lnSpc>
                <a:spcPct val="100000"/>
              </a:lnSpc>
            </a:pPr>
            <a:r>
              <a:rPr lang="en-US" dirty="0"/>
              <a:t>While normal functions are defined using the def keyword in Python, anonymous functions are defined using the lambda keyword. </a:t>
            </a:r>
          </a:p>
          <a:p>
            <a:pPr algn="just">
              <a:lnSpc>
                <a:spcPct val="100000"/>
              </a:lnSpc>
            </a:pPr>
            <a:r>
              <a:rPr lang="en-US" dirty="0"/>
              <a:t>Hence, anonymous functions are also called lambda functions.</a:t>
            </a:r>
          </a:p>
          <a:p>
            <a:pPr algn="just">
              <a:lnSpc>
                <a:spcPct val="100000"/>
              </a:lnSpc>
            </a:pPr>
            <a:r>
              <a:rPr lang="en-US" b="1" i="1" dirty="0"/>
              <a:t>Syntax: Lambda arguments: expression</a:t>
            </a:r>
          </a:p>
          <a:p>
            <a:pPr algn="just">
              <a:lnSpc>
                <a:spcPct val="100000"/>
              </a:lnSpc>
            </a:pPr>
            <a:r>
              <a:rPr lang="en-US" dirty="0"/>
              <a:t>Lambda functions can have any number of arguments but only one expression. The expression is evaluated and returned. </a:t>
            </a:r>
          </a:p>
          <a:p>
            <a:pPr algn="just">
              <a:lnSpc>
                <a:spcPct val="100000"/>
              </a:lnSpc>
            </a:pPr>
            <a:r>
              <a:rPr lang="en-US" dirty="0"/>
              <a:t>Lambda functions can be used wherever function objects are required.</a:t>
            </a:r>
          </a:p>
          <a:p>
            <a:pPr algn="just">
              <a:lnSpc>
                <a:spcPct val="100000"/>
              </a:lnSpc>
            </a:pPr>
            <a:endParaRPr lang="en-IN" dirty="0"/>
          </a:p>
        </p:txBody>
      </p:sp>
      <p:sp>
        <p:nvSpPr>
          <p:cNvPr id="2" name="Footer Placeholder 1">
            <a:extLst>
              <a:ext uri="{FF2B5EF4-FFF2-40B4-BE49-F238E27FC236}">
                <a16:creationId xmlns:a16="http://schemas.microsoft.com/office/drawing/2014/main" id="{ED02B1D1-2B99-E71E-5548-687FA447006C}"/>
              </a:ext>
            </a:extLst>
          </p:cNvPr>
          <p:cNvSpPr>
            <a:spLocks noGrp="1"/>
          </p:cNvSpPr>
          <p:nvPr>
            <p:ph type="ftr" sz="quarter" idx="11"/>
          </p:nvPr>
        </p:nvSpPr>
        <p:spPr>
          <a:xfrm>
            <a:off x="3028949" y="6465346"/>
            <a:ext cx="3414881" cy="383452"/>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42057268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21975" y="887734"/>
            <a:ext cx="6084331"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8"/>
            <a:ext cx="7886700" cy="276999"/>
          </a:xfrm>
          <a:ln>
            <a:solidFill>
              <a:schemeClr val="tx1"/>
            </a:solidFill>
          </a:ln>
        </p:spPr>
        <p:txBody>
          <a:bodyPr/>
          <a:lstStyle/>
          <a:p>
            <a:pPr algn="just">
              <a:lnSpc>
                <a:spcPct val="100000"/>
              </a:lnSpc>
            </a:pPr>
            <a:r>
              <a:rPr lang="en-IN" b="1" dirty="0"/>
              <a:t>Lambda Functions</a:t>
            </a:r>
            <a:endParaRPr lang="en-IN" dirty="0"/>
          </a:p>
        </p:txBody>
      </p:sp>
      <p:pic>
        <p:nvPicPr>
          <p:cNvPr id="3" name="Picture 2">
            <a:extLst>
              <a:ext uri="{FF2B5EF4-FFF2-40B4-BE49-F238E27FC236}">
                <a16:creationId xmlns:a16="http://schemas.microsoft.com/office/drawing/2014/main" id="{35610E3D-C000-4111-949B-F664EE01C7BE}"/>
              </a:ext>
            </a:extLst>
          </p:cNvPr>
          <p:cNvPicPr>
            <a:picLocks noChangeAspect="1"/>
          </p:cNvPicPr>
          <p:nvPr/>
        </p:nvPicPr>
        <p:blipFill>
          <a:blip r:embed="rId3"/>
          <a:stretch>
            <a:fillRect/>
          </a:stretch>
        </p:blipFill>
        <p:spPr>
          <a:xfrm>
            <a:off x="747714" y="2206491"/>
            <a:ext cx="2636561" cy="1371599"/>
          </a:xfrm>
          <a:prstGeom prst="rect">
            <a:avLst/>
          </a:prstGeom>
          <a:ln>
            <a:solidFill>
              <a:schemeClr val="tx1"/>
            </a:solidFill>
          </a:ln>
        </p:spPr>
      </p:pic>
      <p:pic>
        <p:nvPicPr>
          <p:cNvPr id="10" name="Picture 9">
            <a:extLst>
              <a:ext uri="{FF2B5EF4-FFF2-40B4-BE49-F238E27FC236}">
                <a16:creationId xmlns:a16="http://schemas.microsoft.com/office/drawing/2014/main" id="{EF08FF3E-17D6-475F-833A-44452AEE4147}"/>
              </a:ext>
            </a:extLst>
          </p:cNvPr>
          <p:cNvPicPr>
            <a:picLocks noChangeAspect="1"/>
          </p:cNvPicPr>
          <p:nvPr/>
        </p:nvPicPr>
        <p:blipFill>
          <a:blip r:embed="rId4"/>
          <a:stretch>
            <a:fillRect/>
          </a:stretch>
        </p:blipFill>
        <p:spPr>
          <a:xfrm>
            <a:off x="3719444" y="3757504"/>
            <a:ext cx="3727451" cy="1460177"/>
          </a:xfrm>
          <a:prstGeom prst="rect">
            <a:avLst/>
          </a:prstGeom>
          <a:ln>
            <a:solidFill>
              <a:schemeClr val="tx1"/>
            </a:solidFill>
          </a:ln>
        </p:spPr>
      </p:pic>
      <p:pic>
        <p:nvPicPr>
          <p:cNvPr id="12" name="Picture 11">
            <a:extLst>
              <a:ext uri="{FF2B5EF4-FFF2-40B4-BE49-F238E27FC236}">
                <a16:creationId xmlns:a16="http://schemas.microsoft.com/office/drawing/2014/main" id="{29360004-1494-4B48-8E9C-833976E16989}"/>
              </a:ext>
            </a:extLst>
          </p:cNvPr>
          <p:cNvPicPr>
            <a:picLocks noChangeAspect="1"/>
          </p:cNvPicPr>
          <p:nvPr/>
        </p:nvPicPr>
        <p:blipFill>
          <a:blip r:embed="rId5"/>
          <a:stretch>
            <a:fillRect/>
          </a:stretch>
        </p:blipFill>
        <p:spPr>
          <a:xfrm>
            <a:off x="800957" y="3810639"/>
            <a:ext cx="2530075" cy="1407040"/>
          </a:xfrm>
          <a:prstGeom prst="rect">
            <a:avLst/>
          </a:prstGeom>
          <a:ln>
            <a:solidFill>
              <a:schemeClr val="tx1"/>
            </a:solidFill>
          </a:ln>
        </p:spPr>
      </p:pic>
      <p:pic>
        <p:nvPicPr>
          <p:cNvPr id="14" name="Picture 13">
            <a:extLst>
              <a:ext uri="{FF2B5EF4-FFF2-40B4-BE49-F238E27FC236}">
                <a16:creationId xmlns:a16="http://schemas.microsoft.com/office/drawing/2014/main" id="{38E27919-75C8-4667-899C-CFC733CFF654}"/>
              </a:ext>
            </a:extLst>
          </p:cNvPr>
          <p:cNvPicPr>
            <a:picLocks noChangeAspect="1"/>
          </p:cNvPicPr>
          <p:nvPr/>
        </p:nvPicPr>
        <p:blipFill>
          <a:blip r:embed="rId6"/>
          <a:stretch>
            <a:fillRect/>
          </a:stretch>
        </p:blipFill>
        <p:spPr>
          <a:xfrm>
            <a:off x="3719445" y="2206490"/>
            <a:ext cx="3727451" cy="1371599"/>
          </a:xfrm>
          <a:prstGeom prst="rect">
            <a:avLst/>
          </a:prstGeom>
          <a:ln>
            <a:solidFill>
              <a:schemeClr val="tx1"/>
            </a:solidFill>
          </a:ln>
        </p:spPr>
      </p:pic>
      <p:sp>
        <p:nvSpPr>
          <p:cNvPr id="2" name="Footer Placeholder 1">
            <a:extLst>
              <a:ext uri="{FF2B5EF4-FFF2-40B4-BE49-F238E27FC236}">
                <a16:creationId xmlns:a16="http://schemas.microsoft.com/office/drawing/2014/main" id="{8FF9D93A-7DD5-2177-5EAB-CCED9AF183F8}"/>
              </a:ext>
            </a:extLst>
          </p:cNvPr>
          <p:cNvSpPr>
            <a:spLocks noGrp="1"/>
          </p:cNvSpPr>
          <p:nvPr>
            <p:ph type="ftr" sz="quarter" idx="11"/>
          </p:nvPr>
        </p:nvSpPr>
        <p:spPr>
          <a:xfrm>
            <a:off x="3028949" y="6454588"/>
            <a:ext cx="3457911" cy="394210"/>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17321251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11219" y="887734"/>
            <a:ext cx="6095088"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9588" y="1840708"/>
            <a:ext cx="7886700" cy="276999"/>
          </a:xfrm>
          <a:ln>
            <a:solidFill>
              <a:schemeClr val="tx1"/>
            </a:solidFill>
          </a:ln>
        </p:spPr>
        <p:txBody>
          <a:bodyPr/>
          <a:lstStyle/>
          <a:p>
            <a:pPr algn="just">
              <a:lnSpc>
                <a:spcPct val="100000"/>
              </a:lnSpc>
            </a:pPr>
            <a:r>
              <a:rPr lang="en-US" b="1" dirty="0"/>
              <a:t>difference between def() and lambda() function</a:t>
            </a:r>
            <a:endParaRPr lang="en-IN" dirty="0"/>
          </a:p>
        </p:txBody>
      </p:sp>
      <p:pic>
        <p:nvPicPr>
          <p:cNvPr id="5" name="Picture 4">
            <a:extLst>
              <a:ext uri="{FF2B5EF4-FFF2-40B4-BE49-F238E27FC236}">
                <a16:creationId xmlns:a16="http://schemas.microsoft.com/office/drawing/2014/main" id="{D02D83FA-608B-4CD0-B218-1680154B762F}"/>
              </a:ext>
            </a:extLst>
          </p:cNvPr>
          <p:cNvPicPr>
            <a:picLocks noChangeAspect="1"/>
          </p:cNvPicPr>
          <p:nvPr/>
        </p:nvPicPr>
        <p:blipFill>
          <a:blip r:embed="rId3"/>
          <a:stretch>
            <a:fillRect/>
          </a:stretch>
        </p:blipFill>
        <p:spPr>
          <a:xfrm>
            <a:off x="842344" y="2295983"/>
            <a:ext cx="6567281" cy="3115875"/>
          </a:xfrm>
          <a:prstGeom prst="rect">
            <a:avLst/>
          </a:prstGeom>
          <a:ln>
            <a:solidFill>
              <a:schemeClr val="tx1"/>
            </a:solidFill>
          </a:ln>
        </p:spPr>
      </p:pic>
      <p:sp>
        <p:nvSpPr>
          <p:cNvPr id="2" name="Footer Placeholder 1">
            <a:extLst>
              <a:ext uri="{FF2B5EF4-FFF2-40B4-BE49-F238E27FC236}">
                <a16:creationId xmlns:a16="http://schemas.microsoft.com/office/drawing/2014/main" id="{BA3BE9D5-5663-364F-619E-B2ADF824E19F}"/>
              </a:ext>
            </a:extLst>
          </p:cNvPr>
          <p:cNvSpPr>
            <a:spLocks noGrp="1"/>
          </p:cNvSpPr>
          <p:nvPr>
            <p:ph type="ftr" sz="quarter" idx="11"/>
          </p:nvPr>
        </p:nvSpPr>
        <p:spPr>
          <a:xfrm>
            <a:off x="3028950" y="6497619"/>
            <a:ext cx="3500942" cy="351179"/>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22021683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021975" y="887734"/>
            <a:ext cx="6084331" cy="900729"/>
          </a:xfrm>
          <a:ln>
            <a:solidFill>
              <a:schemeClr val="tx1"/>
            </a:solidFill>
          </a:ln>
        </p:spPr>
        <p:txBody>
          <a:bodyPr spcFirstLastPara="1" vert="horz" wrap="square" lIns="69056" tIns="34529" rIns="69056" bIns="34529" numCol="1" anchor="ctr" anchorCtr="0" compatLnSpc="1">
            <a:prstTxWarp prst="textNoShape">
              <a:avLst/>
            </a:prstTxWarp>
            <a:spAutoFit/>
          </a:bodyPr>
          <a:lstStyle/>
          <a:p>
            <a:pPr eaLnBrk="1" hangingPunct="1"/>
            <a:br>
              <a:rPr lang="en-US" sz="2700" dirty="0">
                <a:solidFill>
                  <a:schemeClr val="tx1"/>
                </a:solidFill>
              </a:rPr>
            </a:br>
            <a:r>
              <a:rPr lang="en-US" sz="2700" dirty="0">
                <a:solidFill>
                  <a:schemeClr val="tx1"/>
                </a:solidFill>
              </a:rPr>
              <a:t>        Python Function</a:t>
            </a:r>
          </a:p>
        </p:txBody>
      </p:sp>
      <p:sp>
        <p:nvSpPr>
          <p:cNvPr id="4" name="Content Placeholder 3">
            <a:extLst>
              <a:ext uri="{FF2B5EF4-FFF2-40B4-BE49-F238E27FC236}">
                <a16:creationId xmlns:a16="http://schemas.microsoft.com/office/drawing/2014/main" id="{733DFD72-5BAD-48B7-A483-374C23A331D5}"/>
              </a:ext>
            </a:extLst>
          </p:cNvPr>
          <p:cNvSpPr>
            <a:spLocks noGrp="1"/>
          </p:cNvSpPr>
          <p:nvPr>
            <p:ph idx="1"/>
          </p:nvPr>
        </p:nvSpPr>
        <p:spPr>
          <a:xfrm>
            <a:off x="505609" y="2151529"/>
            <a:ext cx="7890679" cy="1074174"/>
          </a:xfrm>
          <a:ln>
            <a:solidFill>
              <a:schemeClr val="tx1"/>
            </a:solidFill>
          </a:ln>
        </p:spPr>
        <p:txBody>
          <a:bodyPr/>
          <a:lstStyle/>
          <a:p>
            <a:pPr algn="just">
              <a:lnSpc>
                <a:spcPct val="100000"/>
              </a:lnSpc>
            </a:pPr>
            <a:r>
              <a:rPr lang="en-IN" b="1" dirty="0"/>
              <a:t>Nested Function: </a:t>
            </a:r>
            <a:r>
              <a:rPr lang="en-US" dirty="0"/>
              <a:t>A nested function is simply a function within another function, and is sometimes called an "inner function". </a:t>
            </a:r>
          </a:p>
          <a:p>
            <a:pPr algn="just">
              <a:lnSpc>
                <a:spcPct val="100000"/>
              </a:lnSpc>
            </a:pPr>
            <a:r>
              <a:rPr lang="en-IN" dirty="0"/>
              <a:t>Defining an Inner Function: </a:t>
            </a:r>
            <a:r>
              <a:rPr lang="en-US" dirty="0"/>
              <a:t>o define an inner function in Python, we simply create a function inside another function using the Python’s def keyword.</a:t>
            </a:r>
          </a:p>
          <a:p>
            <a:pPr algn="just">
              <a:lnSpc>
                <a:spcPct val="100000"/>
              </a:lnSpc>
            </a:pPr>
            <a:endParaRPr lang="en-IN" dirty="0"/>
          </a:p>
        </p:txBody>
      </p:sp>
      <p:pic>
        <p:nvPicPr>
          <p:cNvPr id="3" name="Picture 2">
            <a:extLst>
              <a:ext uri="{FF2B5EF4-FFF2-40B4-BE49-F238E27FC236}">
                <a16:creationId xmlns:a16="http://schemas.microsoft.com/office/drawing/2014/main" id="{2B0F5622-F842-44D6-A047-83DC0AF4EC67}"/>
              </a:ext>
            </a:extLst>
          </p:cNvPr>
          <p:cNvPicPr>
            <a:picLocks noChangeAspect="1"/>
          </p:cNvPicPr>
          <p:nvPr/>
        </p:nvPicPr>
        <p:blipFill>
          <a:blip r:embed="rId3"/>
          <a:stretch>
            <a:fillRect/>
          </a:stretch>
        </p:blipFill>
        <p:spPr>
          <a:xfrm>
            <a:off x="1385737" y="3253582"/>
            <a:ext cx="4607558" cy="2158274"/>
          </a:xfrm>
          <a:prstGeom prst="rect">
            <a:avLst/>
          </a:prstGeom>
          <a:ln>
            <a:solidFill>
              <a:schemeClr val="tx1"/>
            </a:solidFill>
          </a:ln>
        </p:spPr>
      </p:pic>
      <p:sp>
        <p:nvSpPr>
          <p:cNvPr id="2" name="Footer Placeholder 1">
            <a:extLst>
              <a:ext uri="{FF2B5EF4-FFF2-40B4-BE49-F238E27FC236}">
                <a16:creationId xmlns:a16="http://schemas.microsoft.com/office/drawing/2014/main" id="{4DDA198C-D978-528B-5BB4-B9E513A54579}"/>
              </a:ext>
            </a:extLst>
          </p:cNvPr>
          <p:cNvSpPr>
            <a:spLocks noGrp="1"/>
          </p:cNvSpPr>
          <p:nvPr>
            <p:ph type="ftr" sz="quarter" idx="11"/>
          </p:nvPr>
        </p:nvSpPr>
        <p:spPr>
          <a:xfrm>
            <a:off x="3028949" y="6443831"/>
            <a:ext cx="3414881" cy="404967"/>
          </a:xfrm>
        </p:spPr>
        <p:txBody>
          <a:bodyPr/>
          <a:lstStyle/>
          <a:p>
            <a:pPr>
              <a:defRPr/>
            </a:pPr>
            <a:r>
              <a:rPr lang="en-US" sz="1600" dirty="0">
                <a:latin typeface="Calibri" panose="020F0502020204030204" pitchFamily="34" charset="0"/>
                <a:ea typeface="Calibri" panose="020F0502020204030204" pitchFamily="34" charset="0"/>
                <a:cs typeface="Calibri" panose="020F0502020204030204" pitchFamily="34" charset="0"/>
              </a:rPr>
              <a:t>University Institute of Engineering (UIE)</a:t>
            </a:r>
          </a:p>
        </p:txBody>
      </p:sp>
    </p:spTree>
    <p:extLst>
      <p:ext uri="{BB962C8B-B14F-4D97-AF65-F5344CB8AC3E}">
        <p14:creationId xmlns:p14="http://schemas.microsoft.com/office/powerpoint/2010/main" val="3634335838"/>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p:nvPr/>
        </p:nvSpPr>
        <p:spPr>
          <a:xfrm>
            <a:off x="2571750" y="17780"/>
            <a:ext cx="65483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0" name="Google Shape;240;p2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1" name="Google Shape;241;p21"/>
          <p:cNvSpPr txBox="1">
            <a:spLocks noGrp="1"/>
          </p:cNvSpPr>
          <p:nvPr>
            <p:ph type="title"/>
          </p:nvPr>
        </p:nvSpPr>
        <p:spPr>
          <a:xfrm>
            <a:off x="3897623" y="691650"/>
            <a:ext cx="29439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Outcomes</a:t>
            </a:r>
            <a:endParaRPr sz="2400" dirty="0"/>
          </a:p>
        </p:txBody>
      </p:sp>
      <p:sp>
        <p:nvSpPr>
          <p:cNvPr id="242" name="Google Shape;242;p21"/>
          <p:cNvSpPr txBox="1"/>
          <p:nvPr/>
        </p:nvSpPr>
        <p:spPr>
          <a:xfrm>
            <a:off x="535940" y="1765757"/>
            <a:ext cx="8301990" cy="3090590"/>
          </a:xfrm>
          <a:prstGeom prst="rect">
            <a:avLst/>
          </a:prstGeom>
          <a:noFill/>
          <a:ln>
            <a:noFill/>
          </a:ln>
        </p:spPr>
        <p:txBody>
          <a:bodyPr spcFirstLastPara="1" wrap="square" lIns="0" tIns="12700" rIns="0" bIns="0" anchor="t" anchorCtr="0">
            <a:spAutoFit/>
          </a:bodyPr>
          <a:lstStyle/>
          <a:p>
            <a:pPr marL="12065" marR="6350" lvl="0" algn="just" rtl="0">
              <a:lnSpc>
                <a:spcPct val="100000"/>
              </a:lnSpc>
              <a:spcBef>
                <a:spcPts val="0"/>
              </a:spcBef>
              <a:spcAft>
                <a:spcPts val="0"/>
              </a:spcAft>
              <a:buClr>
                <a:srgbClr val="1F487C"/>
              </a:buClr>
              <a:buSzPts val="2400"/>
            </a:pPr>
            <a:endParaRPr lang="en-US" sz="20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2000" i="0" u="none" strike="noStrike" cap="none" dirty="0">
                <a:solidFill>
                  <a:schemeClr val="tx1"/>
                </a:solidFill>
                <a:latin typeface="Trebuchet MS"/>
                <a:ea typeface="Trebuchet MS"/>
                <a:cs typeface="Trebuchet MS"/>
                <a:sym typeface="Trebuchet MS"/>
              </a:rPr>
              <a:t>•Understand and apply Python's basic data </a:t>
            </a:r>
            <a:r>
              <a:rPr lang="en-US" sz="2000" i="0" u="none" strike="noStrike" cap="none">
                <a:solidFill>
                  <a:schemeClr val="tx1"/>
                </a:solidFill>
                <a:latin typeface="Trebuchet MS"/>
                <a:ea typeface="Trebuchet MS"/>
                <a:cs typeface="Trebuchet MS"/>
                <a:sym typeface="Trebuchet MS"/>
              </a:rPr>
              <a:t>types and </a:t>
            </a:r>
            <a:r>
              <a:rPr lang="en-US" sz="2000" i="0" u="none" strike="noStrike" cap="none" dirty="0">
                <a:solidFill>
                  <a:schemeClr val="tx1"/>
                </a:solidFill>
                <a:latin typeface="Trebuchet MS"/>
                <a:ea typeface="Trebuchet MS"/>
                <a:cs typeface="Trebuchet MS"/>
                <a:sym typeface="Trebuchet MS"/>
              </a:rPr>
              <a:t>variables, demonstrating the ability to use built-in functions like id(), type(), and range().</a:t>
            </a:r>
          </a:p>
          <a:p>
            <a:pPr marL="12065" marR="6350" lvl="0" algn="just" rtl="0">
              <a:lnSpc>
                <a:spcPct val="100000"/>
              </a:lnSpc>
              <a:spcBef>
                <a:spcPts val="0"/>
              </a:spcBef>
              <a:spcAft>
                <a:spcPts val="0"/>
              </a:spcAft>
              <a:buClr>
                <a:srgbClr val="1F487C"/>
              </a:buClr>
              <a:buSzPts val="2400"/>
            </a:pPr>
            <a:endParaRPr lang="en-US" sz="20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2000" i="0" u="none" strike="noStrike" cap="none" dirty="0">
                <a:solidFill>
                  <a:schemeClr val="tx1"/>
                </a:solidFill>
                <a:latin typeface="Trebuchet MS"/>
                <a:ea typeface="Trebuchet MS"/>
                <a:cs typeface="Trebuchet MS"/>
                <a:sym typeface="Trebuchet MS"/>
              </a:rPr>
              <a:t>•Comprehend and utilize Python's operators and control structures, including the proper use of control transfer statements.</a:t>
            </a:r>
          </a:p>
          <a:p>
            <a:pPr marL="12065" marR="6350" lvl="0" algn="just" rtl="0">
              <a:lnSpc>
                <a:spcPct val="100000"/>
              </a:lnSpc>
              <a:spcBef>
                <a:spcPts val="0"/>
              </a:spcBef>
              <a:spcAft>
                <a:spcPts val="0"/>
              </a:spcAft>
              <a:buClr>
                <a:srgbClr val="1F487C"/>
              </a:buClr>
              <a:buSzPts val="2400"/>
            </a:pPr>
            <a:endParaRPr lang="en-US" sz="20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2000" i="0" u="none" strike="noStrike" cap="none" dirty="0">
                <a:solidFill>
                  <a:schemeClr val="tx1"/>
                </a:solidFill>
                <a:latin typeface="Trebuchet MS"/>
                <a:ea typeface="Trebuchet MS"/>
                <a:cs typeface="Trebuchet MS"/>
                <a:sym typeface="Trebuchet MS"/>
              </a:rPr>
              <a:t>•Design and implement functions in Python, demonstrating proficiency in using different types of arguments.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2" name="Google Shape;252;p22"/>
          <p:cNvSpPr txBox="1"/>
          <p:nvPr/>
        </p:nvSpPr>
        <p:spPr>
          <a:xfrm>
            <a:off x="537900" y="1999600"/>
            <a:ext cx="8606100" cy="2505814"/>
          </a:xfrm>
          <a:prstGeom prst="rect">
            <a:avLst/>
          </a:prstGeom>
          <a:noFill/>
          <a:ln>
            <a:noFill/>
          </a:ln>
        </p:spPr>
        <p:txBody>
          <a:bodyPr spcFirstLastPara="1" wrap="square" lIns="0" tIns="12700" rIns="0" bIns="0" anchor="t" anchorCtr="0">
            <a:spAutoFit/>
          </a:bodyPr>
          <a:lstStyle/>
          <a:p>
            <a:pPr marL="342900" marR="910590" lvl="0" indent="-342900" algn="just" fontAlgn="base">
              <a:buFont typeface="Arial" panose="020B0604020202020204" pitchFamily="34" charset="0"/>
              <a:buChar char="•"/>
              <a:tabLst>
                <a:tab pos="457200" algn="l"/>
              </a:tabLst>
            </a:pPr>
            <a:r>
              <a:rPr lang="en-IN" sz="1800" dirty="0">
                <a:solidFill>
                  <a:srgbClr val="252525"/>
                </a:solidFill>
                <a:effectLst/>
                <a:latin typeface="Times New Roman" panose="02020603050405020304" pitchFamily="18" charset="0"/>
                <a:ea typeface="Times New Roman" panose="02020603050405020304" pitchFamily="18" charset="0"/>
              </a:rPr>
              <a:t>Ashok Namdev </a:t>
            </a:r>
            <a:r>
              <a:rPr lang="en-IN" sz="1800" dirty="0" err="1">
                <a:solidFill>
                  <a:srgbClr val="252525"/>
                </a:solidFill>
                <a:effectLst/>
                <a:latin typeface="Times New Roman" panose="02020603050405020304" pitchFamily="18" charset="0"/>
                <a:ea typeface="Times New Roman" panose="02020603050405020304" pitchFamily="18" charset="0"/>
              </a:rPr>
              <a:t>Kamthane</a:t>
            </a:r>
            <a:r>
              <a:rPr lang="en-IN" sz="1800" dirty="0">
                <a:solidFill>
                  <a:srgbClr val="252525"/>
                </a:solidFill>
                <a:effectLst/>
                <a:latin typeface="Times New Roman" panose="02020603050405020304" pitchFamily="18" charset="0"/>
                <a:ea typeface="Times New Roman" panose="02020603050405020304" pitchFamily="18" charset="0"/>
              </a:rPr>
              <a:t>, </a:t>
            </a:r>
            <a:r>
              <a:rPr lang="en-IN" sz="1800" i="1" dirty="0">
                <a:solidFill>
                  <a:srgbClr val="252525"/>
                </a:solidFill>
                <a:effectLst/>
                <a:latin typeface="Times New Roman" panose="02020603050405020304" pitchFamily="18" charset="0"/>
                <a:ea typeface="Times New Roman" panose="02020603050405020304" pitchFamily="18" charset="0"/>
              </a:rPr>
              <a:t>Programming and Problem Solving with Python</a:t>
            </a:r>
            <a:r>
              <a:rPr lang="en-IN" sz="1800" dirty="0">
                <a:solidFill>
                  <a:srgbClr val="252525"/>
                </a:solidFill>
                <a:effectLst/>
                <a:latin typeface="Times New Roman" panose="02020603050405020304" pitchFamily="18" charset="0"/>
                <a:ea typeface="Times New Roman" panose="02020603050405020304" pitchFamily="18" charset="0"/>
              </a:rPr>
              <a:t>, Mc Graw Hill Education Publication,</a:t>
            </a:r>
            <a:r>
              <a:rPr lang="en-IN" sz="1800" dirty="0">
                <a:solidFill>
                  <a:srgbClr val="2B2B2B"/>
                </a:solidFill>
                <a:effectLst/>
                <a:latin typeface="Times New Roman" panose="02020603050405020304" pitchFamily="18" charset="0"/>
                <a:ea typeface="Times New Roman" panose="02020603050405020304" pitchFamily="18" charset="0"/>
              </a:rPr>
              <a:t>1</a:t>
            </a:r>
            <a:r>
              <a:rPr lang="en-IN" sz="1800" baseline="30000" dirty="0">
                <a:solidFill>
                  <a:srgbClr val="2B2B2B"/>
                </a:solidFill>
                <a:effectLst/>
                <a:latin typeface="Times New Roman" panose="02020603050405020304" pitchFamily="18" charset="0"/>
                <a:ea typeface="Times New Roman" panose="02020603050405020304" pitchFamily="18" charset="0"/>
              </a:rPr>
              <a:t>st</a:t>
            </a:r>
            <a:r>
              <a:rPr lang="en-IN" sz="1800" dirty="0">
                <a:solidFill>
                  <a:srgbClr val="2B2B2B"/>
                </a:solidFill>
                <a:effectLst/>
                <a:latin typeface="Times New Roman" panose="02020603050405020304" pitchFamily="18" charset="0"/>
                <a:ea typeface="Times New Roman" panose="02020603050405020304" pitchFamily="18" charset="0"/>
              </a:rPr>
              <a:t> Edition, November 2017</a:t>
            </a:r>
            <a:r>
              <a:rPr lang="en-IN" sz="1800" dirty="0">
                <a:solidFill>
                  <a:srgbClr val="252525"/>
                </a:solidFill>
                <a:effectLst/>
                <a:latin typeface="Times New Roman" panose="02020603050405020304" pitchFamily="18" charset="0"/>
                <a:ea typeface="Times New Roman" panose="02020603050405020304" pitchFamily="18" charset="0"/>
              </a:rPr>
              <a:t>.</a:t>
            </a:r>
          </a:p>
          <a:p>
            <a:pPr marR="910590" lvl="0" algn="just" fontAlgn="base">
              <a:tabLst>
                <a:tab pos="4572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lgn="just" fontAlgn="base">
              <a:buFont typeface="Arial" panose="020B0604020202020204" pitchFamily="34" charset="0"/>
              <a:buChar char="•"/>
              <a:tabLst>
                <a:tab pos="457200" algn="l"/>
              </a:tabLst>
            </a:pPr>
            <a:r>
              <a:rPr lang="en-IN" sz="1800" dirty="0">
                <a:solidFill>
                  <a:srgbClr val="252525"/>
                </a:solidFill>
                <a:effectLst/>
                <a:latin typeface="Times New Roman" panose="02020603050405020304" pitchFamily="18" charset="0"/>
                <a:ea typeface="Times New Roman" panose="02020603050405020304" pitchFamily="18" charset="0"/>
              </a:rPr>
              <a:t>Kenneth Lambert, </a:t>
            </a:r>
            <a:r>
              <a:rPr lang="en-IN" sz="1800" i="1" dirty="0">
                <a:solidFill>
                  <a:srgbClr val="252525"/>
                </a:solidFill>
                <a:effectLst/>
                <a:latin typeface="Times New Roman" panose="02020603050405020304" pitchFamily="18" charset="0"/>
                <a:ea typeface="Times New Roman" panose="02020603050405020304" pitchFamily="18" charset="0"/>
              </a:rPr>
              <a:t>Fundamentals of Python :First </a:t>
            </a:r>
            <a:r>
              <a:rPr lang="en-IN" sz="1800" i="1" dirty="0" err="1">
                <a:solidFill>
                  <a:srgbClr val="252525"/>
                </a:solidFill>
                <a:effectLst/>
                <a:latin typeface="Times New Roman" panose="02020603050405020304" pitchFamily="18" charset="0"/>
                <a:ea typeface="Times New Roman" panose="02020603050405020304" pitchFamily="18" charset="0"/>
              </a:rPr>
              <a:t>Programs,</a:t>
            </a:r>
            <a:r>
              <a:rPr lang="en-IN" sz="1800" dirty="0" err="1">
                <a:solidFill>
                  <a:srgbClr val="252525"/>
                </a:solidFill>
                <a:effectLst/>
                <a:latin typeface="Times New Roman" panose="02020603050405020304" pitchFamily="18" charset="0"/>
                <a:ea typeface="Times New Roman" panose="02020603050405020304" pitchFamily="18" charset="0"/>
              </a:rPr>
              <a:t>Cengage</a:t>
            </a:r>
            <a:r>
              <a:rPr lang="en-IN" sz="1800" dirty="0">
                <a:solidFill>
                  <a:srgbClr val="252525"/>
                </a:solidFill>
                <a:effectLst/>
                <a:latin typeface="Times New Roman" panose="02020603050405020304" pitchFamily="18" charset="0"/>
                <a:ea typeface="Times New Roman" panose="02020603050405020304" pitchFamily="18" charset="0"/>
              </a:rPr>
              <a:t> Learning.</a:t>
            </a:r>
          </a:p>
          <a:p>
            <a:pPr lvl="0" algn="just" fontAlgn="base">
              <a:tabLst>
                <a:tab pos="4572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lgn="just" fontAlgn="base">
              <a:buFont typeface="Arial" panose="020B0604020202020204" pitchFamily="34" charset="0"/>
              <a:buChar char="•"/>
              <a:tabLst>
                <a:tab pos="457200" algn="l"/>
              </a:tabLst>
            </a:pPr>
            <a:r>
              <a:rPr lang="en-IN" sz="1800" dirty="0">
                <a:solidFill>
                  <a:srgbClr val="252525"/>
                </a:solidFill>
                <a:effectLst/>
                <a:latin typeface="Times New Roman" panose="02020603050405020304" pitchFamily="18" charset="0"/>
                <a:ea typeface="Times New Roman" panose="02020603050405020304" pitchFamily="18" charset="0"/>
              </a:rPr>
              <a:t>Allen Downey, </a:t>
            </a:r>
            <a:r>
              <a:rPr lang="en-IN" sz="1800" i="1" dirty="0">
                <a:solidFill>
                  <a:srgbClr val="252525"/>
                </a:solidFill>
                <a:effectLst/>
                <a:latin typeface="Times New Roman" panose="02020603050405020304" pitchFamily="18" charset="0"/>
                <a:ea typeface="Times New Roman" panose="02020603050405020304" pitchFamily="18" charset="0"/>
              </a:rPr>
              <a:t>Think Python</a:t>
            </a:r>
            <a:r>
              <a:rPr lang="en-IN" sz="1800" dirty="0">
                <a:solidFill>
                  <a:srgbClr val="252525"/>
                </a:solidFill>
                <a:effectLst/>
                <a:latin typeface="Times New Roman" panose="02020603050405020304" pitchFamily="18" charset="0"/>
                <a:ea typeface="Times New Roman" panose="02020603050405020304" pitchFamily="18" charset="0"/>
              </a:rPr>
              <a:t>, O'Reilly Media, 2</a:t>
            </a:r>
            <a:r>
              <a:rPr lang="en-IN" sz="1800" baseline="30000" dirty="0">
                <a:solidFill>
                  <a:srgbClr val="252525"/>
                </a:solidFill>
                <a:effectLst/>
                <a:latin typeface="Times New Roman" panose="02020603050405020304" pitchFamily="18" charset="0"/>
                <a:ea typeface="Times New Roman" panose="02020603050405020304" pitchFamily="18" charset="0"/>
              </a:rPr>
              <a:t>nd</a:t>
            </a:r>
            <a:r>
              <a:rPr lang="en-IN" sz="1800" dirty="0">
                <a:solidFill>
                  <a:srgbClr val="252525"/>
                </a:solidFill>
                <a:effectLst/>
                <a:latin typeface="Times New Roman" panose="02020603050405020304" pitchFamily="18" charset="0"/>
                <a:ea typeface="Times New Roman" panose="02020603050405020304" pitchFamily="18" charset="0"/>
              </a:rPr>
              <a:t>Edition,2015.</a:t>
            </a:r>
          </a:p>
          <a:p>
            <a:pPr lvl="0" algn="just" fontAlgn="base">
              <a:tabLst>
                <a:tab pos="457200" algn="l"/>
              </a:tabLst>
            </a:pPr>
            <a:endParaRPr lang="en-IN" sz="1800" dirty="0">
              <a:effectLst/>
              <a:latin typeface="Calibri" panose="020F0502020204030204" pitchFamily="34" charset="0"/>
              <a:ea typeface="Calibri" panose="020F0502020204030204" pitchFamily="34" charset="0"/>
            </a:endParaRPr>
          </a:p>
          <a:p>
            <a:pPr marL="342900" lvl="0" indent="-342900" algn="just" fontAlgn="base">
              <a:buFont typeface="Arial" panose="020B0604020202020204" pitchFamily="34" charset="0"/>
              <a:buChar char="•"/>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rPr>
              <a:t>Rajaraman V</a:t>
            </a:r>
            <a:r>
              <a:rPr lang="en-IN" sz="1800" i="1" dirty="0">
                <a:solidFill>
                  <a:srgbClr val="000000"/>
                </a:solidFill>
                <a:effectLst/>
                <a:latin typeface="Times New Roman" panose="02020603050405020304" pitchFamily="18" charset="0"/>
                <a:ea typeface="Times New Roman" panose="02020603050405020304" pitchFamily="18" charset="0"/>
              </a:rPr>
              <a:t>,” Computer Oriented Numerical Methods”, </a:t>
            </a:r>
            <a:r>
              <a:rPr lang="en-IN" sz="1800" dirty="0">
                <a:solidFill>
                  <a:srgbClr val="000000"/>
                </a:solidFill>
                <a:effectLst/>
                <a:latin typeface="Times New Roman" panose="02020603050405020304" pitchFamily="18" charset="0"/>
                <a:ea typeface="Times New Roman" panose="02020603050405020304" pitchFamily="18" charset="0"/>
              </a:rPr>
              <a:t>Pearson Education.</a:t>
            </a:r>
          </a:p>
          <a:p>
            <a:pPr lvl="0" algn="just" fontAlgn="base">
              <a:tabLst>
                <a:tab pos="457200" algn="l"/>
              </a:tabLst>
            </a:pP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3023191" y="6547559"/>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5345</Words>
  <Application>Microsoft Office PowerPoint</Application>
  <PresentationFormat>On-screen Show (4:3)</PresentationFormat>
  <Paragraphs>532</Paragraphs>
  <Slides>79</Slides>
  <Notes>78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90" baseType="lpstr">
      <vt:lpstr>Calibri</vt:lpstr>
      <vt:lpstr>Trebuchet MS</vt:lpstr>
      <vt:lpstr>Arial Black</vt:lpstr>
      <vt:lpstr>Georgia</vt:lpstr>
      <vt:lpstr>Casper</vt:lpstr>
      <vt:lpstr>Times New Roman</vt:lpstr>
      <vt:lpstr>Lucida Sans</vt:lpstr>
      <vt:lpstr>Times</vt:lpstr>
      <vt:lpstr>Arial</vt:lpstr>
      <vt:lpstr>Office Theme</vt:lpstr>
      <vt:lpstr>CorelDRAW</vt:lpstr>
      <vt:lpstr>PowerPoint Presentation</vt:lpstr>
      <vt:lpstr>PowerPoint Presentation</vt:lpstr>
      <vt:lpstr>Contents of the Syllabus  </vt:lpstr>
      <vt:lpstr>OBJECTIVES</vt:lpstr>
      <vt:lpstr>Problem Solving  using Python </vt:lpstr>
      <vt:lpstr>Problem Solving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Python Programming</vt:lpstr>
      <vt:lpstr>PowerPoint Presentation</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Introduction to Python Programming</vt:lpstr>
      <vt:lpstr> Python Function</vt:lpstr>
      <vt:lpstr> Python Function</vt:lpstr>
      <vt:lpstr> Python Function</vt:lpstr>
      <vt:lpstr> Python Function</vt:lpstr>
      <vt:lpstr> Python Function</vt:lpstr>
      <vt:lpstr> Python Function</vt:lpstr>
      <vt:lpstr> Python Function </vt:lpstr>
      <vt:lpstr> Python Function</vt:lpstr>
      <vt:lpstr> Python Function</vt:lpstr>
      <vt:lpstr> Python Function</vt:lpstr>
      <vt:lpstr> Python Function</vt:lpstr>
      <vt:lpstr> Python Function</vt:lpstr>
      <vt:lpstr> Python Function</vt:lpstr>
      <vt:lpstr> Python Function</vt:lpstr>
      <vt:lpstr> Python Function</vt:lpstr>
      <vt:lpstr> Python Function</vt:lpstr>
      <vt:lpstr>Call by Value</vt:lpstr>
      <vt:lpstr>Call by Reference</vt:lpstr>
      <vt:lpstr> Python Function</vt:lpstr>
      <vt:lpstr> Python Function</vt:lpstr>
      <vt:lpstr> Python Function</vt:lpstr>
      <vt:lpstr>Keyword Arguments </vt:lpstr>
      <vt:lpstr> Python Function</vt:lpstr>
      <vt:lpstr>Arbitrary Keyword Arguments, **kwargs</vt:lpstr>
      <vt:lpstr> Python Function</vt:lpstr>
      <vt:lpstr> Python Function</vt:lpstr>
      <vt:lpstr> Python Function</vt:lpstr>
      <vt:lpstr> Python Function</vt:lpstr>
      <vt:lpstr>         Python Function</vt:lpstr>
      <vt:lpstr>Outcomes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dell</cp:lastModifiedBy>
  <cp:revision>41</cp:revision>
  <dcterms:created xsi:type="dcterms:W3CDTF">2019-12-13T04:20:25Z</dcterms:created>
  <dcterms:modified xsi:type="dcterms:W3CDTF">2024-07-23T08:41:50Z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