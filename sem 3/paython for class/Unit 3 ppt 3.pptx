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0"/>
  </p:notesMasterIdLst>
  <p:sldIdLst>
    <p:sldId id="459" r:id="rId2"/>
    <p:sldId id="460" r:id="rId3"/>
    <p:sldId id="461" r:id="rId4"/>
    <p:sldId id="462"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465" r:id="rId48"/>
    <p:sldId id="467" r:id="rId4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RAX6vTWDqxJM93zAaep9dz4ytp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67C014-7AB7-4B0E-ACB5-F64541499EC4}">
  <a:tblStyle styleId="{2A67C014-7AB7-4B0E-ACB5-F64541499EC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714"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 name="Google Shape;69;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3" name="Google Shape;103;p5: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
        <p:nvSpPr>
          <p:cNvPr id="115" name="Google Shape;11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
        <p:nvSpPr>
          <p:cNvPr id="124" name="Google Shape;12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 name="Google Shape;12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
        <p:nvSpPr>
          <p:cNvPr id="133" name="Google Shape;13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4" name="Google Shape;134;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141" name="Google Shape;14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2" name="Google Shape;14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
        <p:nvSpPr>
          <p:cNvPr id="150" name="Google Shape;150;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1" name="Google Shape;151;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159" name="Google Shape;159;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0" name="Google Shape;160;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8" name="Google Shape;168;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176" name="Google Shape;17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7" name="Google Shape;177;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184" name="Google Shape;18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85" name="Google Shape;185;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192" name="Google Shape;19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201" name="Google Shape;201;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
        <p:nvSpPr>
          <p:cNvPr id="209" name="Google Shape;209;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0" name="Google Shape;210;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
        <p:nvSpPr>
          <p:cNvPr id="217" name="Google Shape;21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8" name="Google Shape;218;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
        <p:nvSpPr>
          <p:cNvPr id="226" name="Google Shape;22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7" name="Google Shape;227;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
        <p:nvSpPr>
          <p:cNvPr id="234" name="Google Shape;23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5" name="Google Shape;235;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
        <p:nvSpPr>
          <p:cNvPr id="242" name="Google Shape;242;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3" name="Google Shape;24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
        <p:nvSpPr>
          <p:cNvPr id="251" name="Google Shape;251;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2" name="Google Shape;252;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
        <p:nvSpPr>
          <p:cNvPr id="260" name="Google Shape;260;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1" name="Google Shape;261;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
        <p:nvSpPr>
          <p:cNvPr id="268" name="Google Shape;26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9" name="Google Shape;269;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
        <p:nvSpPr>
          <p:cNvPr id="277" name="Google Shape;27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8" name="Google Shape;278;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
        <p:nvSpPr>
          <p:cNvPr id="285" name="Google Shape;28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6" name="Google Shape;286;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
        <p:nvSpPr>
          <p:cNvPr id="293" name="Google Shape;29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4" name="Google Shape;294;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
        <p:nvSpPr>
          <p:cNvPr id="301" name="Google Shape;301;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2" name="Google Shape;302;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
        <p:nvSpPr>
          <p:cNvPr id="309" name="Google Shape;309;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0" name="Google Shape;310;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
        <p:nvSpPr>
          <p:cNvPr id="317" name="Google Shape;31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8" name="Google Shape;318;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
        <p:nvSpPr>
          <p:cNvPr id="325" name="Google Shape;32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6" name="Google Shape;326;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
        <p:nvSpPr>
          <p:cNvPr id="334" name="Google Shape;33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5" name="Google Shape;335;p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
        <p:nvSpPr>
          <p:cNvPr id="342" name="Google Shape;342;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3" name="Google Shape;343;p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
        <p:nvSpPr>
          <p:cNvPr id="350" name="Google Shape;350;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1" name="Google Shape;351;p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
        <p:nvSpPr>
          <p:cNvPr id="358" name="Google Shape;35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9" name="Google Shape;359;p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
        <p:nvSpPr>
          <p:cNvPr id="367" name="Google Shape;36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8" name="Google Shape;368;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
        <p:nvSpPr>
          <p:cNvPr id="375" name="Google Shape;37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6" name="Google Shape;376;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
        <p:nvSpPr>
          <p:cNvPr id="383" name="Google Shape;383;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4" name="Google Shape;384;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
        <p:nvSpPr>
          <p:cNvPr id="391" name="Google Shape;391;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2" name="Google Shape;392;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
        <p:nvSpPr>
          <p:cNvPr id="399" name="Google Shape;39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0" name="Google Shape;400;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
        <p:nvSpPr>
          <p:cNvPr id="407" name="Google Shape;407;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8" name="Google Shape;408;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
        <p:nvSpPr>
          <p:cNvPr id="415" name="Google Shape;41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6" name="Google Shape;416;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
        <p:nvSpPr>
          <p:cNvPr id="423" name="Google Shape;423;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4" name="Google Shape;424;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
        <p:nvSpPr>
          <p:cNvPr id="431" name="Google Shape;431;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2" name="Google Shape;432;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
        <p:nvSpPr>
          <p:cNvPr id="439" name="Google Shape;439;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0" name="Google Shape;440;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
        <p:nvSpPr>
          <p:cNvPr id="447" name="Google Shape;447;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8" name="Google Shape;448;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
        <p:nvSpPr>
          <p:cNvPr id="455" name="Google Shape;45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56" name="Google Shape;456;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7" name="Google Shape;237;p21: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5" name="Google Shape;255;p23: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5"/>
          <p:cNvSpPr txBox="1">
            <a:spLocks noGrp="1"/>
          </p:cNvSpPr>
          <p:nvPr>
            <p:ph type="body" idx="1"/>
          </p:nvPr>
        </p:nvSpPr>
        <p:spPr>
          <a:xfrm>
            <a:off x="509588" y="1311275"/>
            <a:ext cx="7886700" cy="435133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5" name="Google Shape;25;p4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26" name="Google Shape;26;p4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27" name="Google Shape;27;p45"/>
          <p:cNvSpPr txBox="1"/>
          <p:nvPr/>
        </p:nvSpPr>
        <p:spPr>
          <a:xfrm>
            <a:off x="691754" y="115888"/>
            <a:ext cx="6268605" cy="869950"/>
          </a:xfrm>
          <a:prstGeom prst="rect">
            <a:avLst/>
          </a:prstGeom>
          <a:noFill/>
          <a:ln>
            <a:noFill/>
          </a:ln>
        </p:spPr>
        <p:txBody>
          <a:bodyPr spcFirstLastPara="1" wrap="square" lIns="68569" tIns="34275" rIns="68569" bIns="34275" anchor="ctr" anchorCtr="0">
            <a:normAutofit fontScale="97500"/>
          </a:bodyPr>
          <a:lstStyle/>
          <a:p>
            <a:pPr marL="0" marR="0" lvl="0" indent="0" algn="just" rtl="0">
              <a:lnSpc>
                <a:spcPct val="90000"/>
              </a:lnSpc>
              <a:spcBef>
                <a:spcPts val="0"/>
              </a:spcBef>
              <a:spcAft>
                <a:spcPts val="0"/>
              </a:spcAft>
              <a:buClr>
                <a:srgbClr val="1F3864"/>
              </a:buClr>
              <a:buSzPct val="100000"/>
              <a:buFont typeface="Times New Roman"/>
              <a:buNone/>
            </a:pPr>
            <a:r>
              <a:rPr lang="en-US" sz="3300" b="1" i="0" u="none" strike="noStrike" cap="small">
                <a:solidFill>
                  <a:srgbClr val="1F3864"/>
                </a:solidFill>
                <a:latin typeface="Times New Roman"/>
                <a:ea typeface="Times New Roman"/>
                <a:cs typeface="Times New Roman"/>
                <a:sym typeface="Times New Roman"/>
              </a:rPr>
              <a:t> </a:t>
            </a:r>
            <a:endParaRPr sz="3000" b="1" i="0" u="none" strike="noStrike" cap="small">
              <a:solidFill>
                <a:srgbClr val="1F3864"/>
              </a:solidFill>
              <a:latin typeface="Times New Roman"/>
              <a:ea typeface="Times New Roman"/>
              <a:cs typeface="Times New Roman"/>
              <a:sym typeface="Times New Roman"/>
            </a:endParaRPr>
          </a:p>
        </p:txBody>
      </p:sp>
      <p:pic>
        <p:nvPicPr>
          <p:cNvPr id="28" name="Google Shape;28;p45" descr="C:\Users\OM\Downloads\naac-sticker.png"/>
          <p:cNvPicPr preferRelativeResize="0"/>
          <p:nvPr/>
        </p:nvPicPr>
        <p:blipFill rotWithShape="1">
          <a:blip r:embed="rId2">
            <a:alphaModFix/>
          </a:blip>
          <a:srcRect b="23806"/>
          <a:stretch/>
        </p:blipFill>
        <p:spPr>
          <a:xfrm>
            <a:off x="7246961" y="40946"/>
            <a:ext cx="1886802" cy="68238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rotWithShape="1">
          <a:blip r:embed="rId2">
            <a:alphaModFix/>
          </a:blip>
          <a:tile tx="0" ty="0" sx="100000" sy="100000" flip="none" algn="tl"/>
        </a:blipFill>
        <a:effectLst/>
      </p:bgPr>
    </p:bg>
    <p:spTree>
      <p:nvGrpSpPr>
        <p:cNvPr id="1" name="Shape 29"/>
        <p:cNvGrpSpPr/>
        <p:nvPr/>
      </p:nvGrpSpPr>
      <p:grpSpPr>
        <a:xfrm>
          <a:off x="0" y="0"/>
          <a:ext cx="0" cy="0"/>
          <a:chOff x="0" y="0"/>
          <a:chExt cx="0" cy="0"/>
        </a:xfrm>
      </p:grpSpPr>
      <p:pic>
        <p:nvPicPr>
          <p:cNvPr id="30" name="Google Shape;30;p46" descr="Image result for chandigarh university logo"/>
          <p:cNvPicPr preferRelativeResize="0"/>
          <p:nvPr/>
        </p:nvPicPr>
        <p:blipFill rotWithShape="1">
          <a:blip r:embed="rId3">
            <a:alphaModFix/>
          </a:blip>
          <a:srcRect/>
          <a:stretch/>
        </p:blipFill>
        <p:spPr>
          <a:xfrm>
            <a:off x="8615363" y="115889"/>
            <a:ext cx="454819" cy="935037"/>
          </a:xfrm>
          <a:prstGeom prst="rect">
            <a:avLst/>
          </a:prstGeom>
          <a:noFill/>
          <a:ln>
            <a:noFill/>
          </a:ln>
        </p:spPr>
      </p:pic>
      <p:sp>
        <p:nvSpPr>
          <p:cNvPr id="31" name="Google Shape;31;p46"/>
          <p:cNvSpPr txBox="1">
            <a:spLocks noGrp="1"/>
          </p:cNvSpPr>
          <p:nvPr>
            <p:ph type="ctrTitle"/>
          </p:nvPr>
        </p:nvSpPr>
        <p:spPr>
          <a:xfrm>
            <a:off x="698157" y="115888"/>
            <a:ext cx="6376086" cy="987982"/>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sz="2400"/>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32" name="Google Shape;32;p46"/>
          <p:cNvSpPr txBox="1">
            <a:spLocks noGrp="1"/>
          </p:cNvSpPr>
          <p:nvPr>
            <p:ph type="subTitle" idx="1"/>
          </p:nvPr>
        </p:nvSpPr>
        <p:spPr>
          <a:xfrm>
            <a:off x="1143000" y="2481692"/>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47"/>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4500"/>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35" name="Google Shape;35;p47"/>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6" name="Google Shape;36;p4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37" name="Google Shape;37;p4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38" name="Google Shape;38;p4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48"/>
          <p:cNvSpPr txBox="1">
            <a:spLocks noGrp="1"/>
          </p:cNvSpPr>
          <p:nvPr>
            <p:ph type="title"/>
          </p:nvPr>
        </p:nvSpPr>
        <p:spPr>
          <a:xfrm>
            <a:off x="692944" y="134939"/>
            <a:ext cx="6293644" cy="90487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41" name="Google Shape;41;p48"/>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2" name="Google Shape;42;p48"/>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3" name="Google Shape;43;p4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44" name="Google Shape;44;p4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45" name="Google Shape;45;p4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49"/>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48" name="Google Shape;48;p49"/>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9" name="Google Shape;49;p49"/>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0" name="Google Shape;50;p49"/>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51" name="Google Shape;51;p49"/>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2" name="Google Shape;52;p4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3" name="Google Shape;53;p4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54" name="Google Shape;54;p4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50"/>
          <p:cNvSpPr txBox="1">
            <a:spLocks noGrp="1"/>
          </p:cNvSpPr>
          <p:nvPr>
            <p:ph type="title"/>
          </p:nvPr>
        </p:nvSpPr>
        <p:spPr>
          <a:xfrm>
            <a:off x="692944" y="134939"/>
            <a:ext cx="6293644" cy="90487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57" name="Google Shape;57;p5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58" name="Google Shape;58;p5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59" name="Google Shape;59;p5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5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62" name="Google Shape;62;p5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63" name="Google Shape;63;p5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52"/>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400"/>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66" name="Google Shape;66;p52"/>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7" name="Google Shape;67;p52"/>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8" name="Google Shape;68;p5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69" name="Google Shape;69;p5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70" name="Google Shape;70;p5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53"/>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SzPts val="1400"/>
              <a:buNone/>
              <a:defRPr sz="2400"/>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73" name="Google Shape;73;p53"/>
          <p:cNvSpPr>
            <a:spLocks noGrp="1"/>
          </p:cNvSpPr>
          <p:nvPr>
            <p:ph type="pic" idx="2"/>
          </p:nvPr>
        </p:nvSpPr>
        <p:spPr>
          <a:xfrm>
            <a:off x="3887391" y="987426"/>
            <a:ext cx="4629150" cy="4873625"/>
          </a:xfrm>
          <a:prstGeom prst="rect">
            <a:avLst/>
          </a:prstGeom>
          <a:noFill/>
          <a:ln>
            <a:noFill/>
          </a:ln>
        </p:spPr>
      </p:sp>
      <p:sp>
        <p:nvSpPr>
          <p:cNvPr id="74" name="Google Shape;74;p53"/>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75" name="Google Shape;75;p5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76" name="Google Shape;76;p5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77" name="Google Shape;77;p5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54"/>
          <p:cNvSpPr txBox="1">
            <a:spLocks noGrp="1"/>
          </p:cNvSpPr>
          <p:nvPr>
            <p:ph type="title"/>
          </p:nvPr>
        </p:nvSpPr>
        <p:spPr>
          <a:xfrm>
            <a:off x="692944" y="134939"/>
            <a:ext cx="6293644" cy="90487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80" name="Google Shape;80;p54"/>
          <p:cNvSpPr txBox="1">
            <a:spLocks noGrp="1"/>
          </p:cNvSpPr>
          <p:nvPr>
            <p:ph type="body" idx="1"/>
          </p:nvPr>
        </p:nvSpPr>
        <p:spPr>
          <a:xfrm rot="5400000">
            <a:off x="2277269" y="-456406"/>
            <a:ext cx="4351338" cy="78867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5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82" name="Google Shape;82;p5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83" name="Google Shape;83;p5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55"/>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86" name="Google Shape;86;p55"/>
          <p:cNvSpPr txBox="1">
            <a:spLocks noGrp="1"/>
          </p:cNvSpPr>
          <p:nvPr>
            <p:ph type="body" idx="1"/>
          </p:nvPr>
        </p:nvSpPr>
        <p:spPr>
          <a:xfrm rot="5400000">
            <a:off x="623094" y="370682"/>
            <a:ext cx="5811838" cy="5800725"/>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7" name="Google Shape;87;p5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88" name="Google Shape;88;p5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89" name="Google Shape;89;p5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2_Title Slide">
  <p:cSld name="2_Title Slide">
    <p:spTree>
      <p:nvGrpSpPr>
        <p:cNvPr id="1" name="Shape 90"/>
        <p:cNvGrpSpPr/>
        <p:nvPr/>
      </p:nvGrpSpPr>
      <p:grpSpPr>
        <a:xfrm>
          <a:off x="0" y="0"/>
          <a:ext cx="0" cy="0"/>
          <a:chOff x="0" y="0"/>
          <a:chExt cx="0" cy="0"/>
        </a:xfrm>
      </p:grpSpPr>
      <p:sp>
        <p:nvSpPr>
          <p:cNvPr id="91" name="Google Shape;91;p56"/>
          <p:cNvSpPr txBox="1">
            <a:spLocks noGrp="1"/>
          </p:cNvSpPr>
          <p:nvPr>
            <p:ph type="dt" idx="10"/>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92" name="Google Shape;92;p56"/>
          <p:cNvSpPr txBox="1">
            <a:spLocks noGrp="1"/>
          </p:cNvSpPr>
          <p:nvPr>
            <p:ph type="ftr" idx="11"/>
          </p:nvPr>
        </p:nvSpPr>
        <p:spPr>
          <a:xfrm>
            <a:off x="0" y="0"/>
            <a:ext cx="0" cy="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93" name="Google Shape;93;p5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888888"/>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888888"/>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888888"/>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888888"/>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888888"/>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888888"/>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888888"/>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888888"/>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888888"/>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94"/>
        <p:cNvGrpSpPr/>
        <p:nvPr/>
      </p:nvGrpSpPr>
      <p:grpSpPr>
        <a:xfrm>
          <a:off x="0" y="0"/>
          <a:ext cx="0" cy="0"/>
          <a:chOff x="0" y="0"/>
          <a:chExt cx="0" cy="0"/>
        </a:xfrm>
      </p:grpSpPr>
      <p:sp>
        <p:nvSpPr>
          <p:cNvPr id="95" name="Google Shape;95;p57"/>
          <p:cNvSpPr txBox="1">
            <a:spLocks noGrp="1"/>
          </p:cNvSpPr>
          <p:nvPr>
            <p:ph type="title"/>
          </p:nvPr>
        </p:nvSpPr>
        <p:spPr>
          <a:xfrm>
            <a:off x="304800" y="381000"/>
            <a:ext cx="8402638" cy="609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96" name="Google Shape;96;p57"/>
          <p:cNvSpPr txBox="1">
            <a:spLocks noGrp="1"/>
          </p:cNvSpPr>
          <p:nvPr>
            <p:ph type="body" idx="1"/>
          </p:nvPr>
        </p:nvSpPr>
        <p:spPr>
          <a:xfrm>
            <a:off x="304800" y="1371600"/>
            <a:ext cx="4152900" cy="51054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97" name="Google Shape;97;p57"/>
          <p:cNvSpPr txBox="1">
            <a:spLocks noGrp="1"/>
          </p:cNvSpPr>
          <p:nvPr>
            <p:ph type="body" idx="2"/>
          </p:nvPr>
        </p:nvSpPr>
        <p:spPr>
          <a:xfrm>
            <a:off x="4610100" y="1371600"/>
            <a:ext cx="4152900" cy="24765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98" name="Google Shape;98;p57"/>
          <p:cNvSpPr txBox="1">
            <a:spLocks noGrp="1"/>
          </p:cNvSpPr>
          <p:nvPr>
            <p:ph type="body" idx="3"/>
          </p:nvPr>
        </p:nvSpPr>
        <p:spPr>
          <a:xfrm>
            <a:off x="4610100" y="4000500"/>
            <a:ext cx="4152900" cy="24765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99" name="Google Shape;99;p5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00"/>
        <p:cNvGrpSpPr/>
        <p:nvPr/>
      </p:nvGrpSpPr>
      <p:grpSpPr>
        <a:xfrm>
          <a:off x="0" y="0"/>
          <a:ext cx="0" cy="0"/>
          <a:chOff x="0" y="0"/>
          <a:chExt cx="0" cy="0"/>
        </a:xfrm>
      </p:grpSpPr>
      <p:sp>
        <p:nvSpPr>
          <p:cNvPr id="101" name="Google Shape;101;p5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02" name="Google Shape;102;p5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350">
                <a:solidFill>
                  <a:schemeClr val="dk1"/>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r>
              <a:rPr lang="en-US"/>
              <a:t>University Institute of Engineering (UIE)</a:t>
            </a:r>
            <a:endParaRPr/>
          </a:p>
        </p:txBody>
      </p:sp>
      <p:sp>
        <p:nvSpPr>
          <p:cNvPr id="103" name="Google Shape;103;p5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marR="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marR="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marR="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marR="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marR="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marR="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marR="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marR="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104"/>
        <p:cNvGrpSpPr/>
        <p:nvPr/>
      </p:nvGrpSpPr>
      <p:grpSpPr>
        <a:xfrm>
          <a:off x="0" y="0"/>
          <a:ext cx="0" cy="0"/>
          <a:chOff x="0" y="0"/>
          <a:chExt cx="0" cy="0"/>
        </a:xfrm>
      </p:grpSpPr>
      <p:sp>
        <p:nvSpPr>
          <p:cNvPr id="105" name="Google Shape;105;p59"/>
          <p:cNvSpPr txBox="1">
            <a:spLocks noGrp="1"/>
          </p:cNvSpPr>
          <p:nvPr>
            <p:ph type="title"/>
          </p:nvPr>
        </p:nvSpPr>
        <p:spPr>
          <a:xfrm>
            <a:off x="692944" y="134939"/>
            <a:ext cx="6293644" cy="90487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106" name="Google Shape;106;p59"/>
          <p:cNvSpPr txBox="1">
            <a:spLocks noGrp="1"/>
          </p:cNvSpPr>
          <p:nvPr>
            <p:ph type="body" idx="1"/>
          </p:nvPr>
        </p:nvSpPr>
        <p:spPr>
          <a:xfrm>
            <a:off x="509588" y="1311275"/>
            <a:ext cx="7886700" cy="4351338"/>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107" name="Google Shape;107;p5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transition>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08"/>
        <p:cNvGrpSpPr/>
        <p:nvPr/>
      </p:nvGrpSpPr>
      <p:grpSpPr>
        <a:xfrm>
          <a:off x="0" y="0"/>
          <a:ext cx="0" cy="0"/>
          <a:chOff x="0" y="0"/>
          <a:chExt cx="0" cy="0"/>
        </a:xfrm>
      </p:grpSpPr>
      <p:sp>
        <p:nvSpPr>
          <p:cNvPr id="109" name="Google Shape;109;p60"/>
          <p:cNvSpPr txBox="1">
            <a:spLocks noGrp="1"/>
          </p:cNvSpPr>
          <p:nvPr>
            <p:ph type="title"/>
          </p:nvPr>
        </p:nvSpPr>
        <p:spPr>
          <a:xfrm>
            <a:off x="304800" y="381000"/>
            <a:ext cx="8402638" cy="6096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SzPts val="1400"/>
              <a:buNone/>
              <a:defRPr/>
            </a:lvl1pPr>
            <a:lvl2pPr lvl="1" algn="ctr">
              <a:lnSpc>
                <a:spcPct val="90000"/>
              </a:lnSpc>
              <a:spcBef>
                <a:spcPts val="0"/>
              </a:spcBef>
              <a:spcAft>
                <a:spcPts val="0"/>
              </a:spcAft>
              <a:buSzPts val="1400"/>
              <a:buNone/>
              <a:defRPr/>
            </a:lvl2pPr>
            <a:lvl3pPr lvl="2" algn="ctr">
              <a:lnSpc>
                <a:spcPct val="90000"/>
              </a:lnSpc>
              <a:spcBef>
                <a:spcPts val="0"/>
              </a:spcBef>
              <a:spcAft>
                <a:spcPts val="0"/>
              </a:spcAft>
              <a:buSzPts val="1400"/>
              <a:buNone/>
              <a:defRPr/>
            </a:lvl3pPr>
            <a:lvl4pPr lvl="3" algn="ctr">
              <a:lnSpc>
                <a:spcPct val="90000"/>
              </a:lnSpc>
              <a:spcBef>
                <a:spcPts val="0"/>
              </a:spcBef>
              <a:spcAft>
                <a:spcPts val="0"/>
              </a:spcAft>
              <a:buSzPts val="1400"/>
              <a:buNone/>
              <a:defRPr/>
            </a:lvl4pPr>
            <a:lvl5pPr lvl="4" algn="ctr">
              <a:lnSpc>
                <a:spcPct val="90000"/>
              </a:lnSpc>
              <a:spcBef>
                <a:spcPts val="0"/>
              </a:spcBef>
              <a:spcAft>
                <a:spcPts val="0"/>
              </a:spcAft>
              <a:buSzPts val="1400"/>
              <a:buNone/>
              <a:defRPr/>
            </a:lvl5pPr>
            <a:lvl6pPr lvl="5" algn="ctr">
              <a:lnSpc>
                <a:spcPct val="90000"/>
              </a:lnSpc>
              <a:spcBef>
                <a:spcPts val="0"/>
              </a:spcBef>
              <a:spcAft>
                <a:spcPts val="0"/>
              </a:spcAft>
              <a:buSzPts val="1400"/>
              <a:buNone/>
              <a:defRPr/>
            </a:lvl6pPr>
            <a:lvl7pPr lvl="6" algn="ctr">
              <a:lnSpc>
                <a:spcPct val="90000"/>
              </a:lnSpc>
              <a:spcBef>
                <a:spcPts val="0"/>
              </a:spcBef>
              <a:spcAft>
                <a:spcPts val="0"/>
              </a:spcAft>
              <a:buSzPts val="1400"/>
              <a:buNone/>
              <a:defRPr/>
            </a:lvl7pPr>
            <a:lvl8pPr lvl="7" algn="ctr">
              <a:lnSpc>
                <a:spcPct val="90000"/>
              </a:lnSpc>
              <a:spcBef>
                <a:spcPts val="0"/>
              </a:spcBef>
              <a:spcAft>
                <a:spcPts val="0"/>
              </a:spcAft>
              <a:buSzPts val="1400"/>
              <a:buNone/>
              <a:defRPr/>
            </a:lvl8pPr>
            <a:lvl9pPr lvl="8" algn="ctr">
              <a:lnSpc>
                <a:spcPct val="90000"/>
              </a:lnSpc>
              <a:spcBef>
                <a:spcPts val="0"/>
              </a:spcBef>
              <a:spcAft>
                <a:spcPts val="0"/>
              </a:spcAft>
              <a:buSzPts val="1400"/>
              <a:buNone/>
              <a:defRPr/>
            </a:lvl9pPr>
          </a:lstStyle>
          <a:p>
            <a:endParaRPr/>
          </a:p>
        </p:txBody>
      </p:sp>
      <p:sp>
        <p:nvSpPr>
          <p:cNvPr id="110" name="Google Shape;110;p60"/>
          <p:cNvSpPr txBox="1">
            <a:spLocks noGrp="1"/>
          </p:cNvSpPr>
          <p:nvPr>
            <p:ph type="body" idx="1"/>
          </p:nvPr>
        </p:nvSpPr>
        <p:spPr>
          <a:xfrm>
            <a:off x="304800" y="1371600"/>
            <a:ext cx="4152900" cy="51054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111" name="Google Shape;111;p60"/>
          <p:cNvSpPr txBox="1">
            <a:spLocks noGrp="1"/>
          </p:cNvSpPr>
          <p:nvPr>
            <p:ph type="body" idx="2"/>
          </p:nvPr>
        </p:nvSpPr>
        <p:spPr>
          <a:xfrm>
            <a:off x="4610100" y="1371600"/>
            <a:ext cx="4152900" cy="5105400"/>
          </a:xfrm>
          <a:prstGeom prst="rect">
            <a:avLst/>
          </a:prstGeom>
          <a:noFill/>
          <a:ln>
            <a:noFill/>
          </a:ln>
        </p:spPr>
        <p:txBody>
          <a:bodyPr spcFirstLastPara="1" wrap="square" lIns="91425" tIns="45700" rIns="91425" bIns="45700" anchor="t" anchorCtr="0">
            <a:no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112" name="Google Shape;112;p6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900" b="1">
                <a:solidFill>
                  <a:srgbClr val="002060"/>
                </a:solidFill>
                <a:latin typeface="Times New Roman"/>
                <a:ea typeface="Times New Roman"/>
                <a:cs typeface="Times New Roman"/>
                <a:sym typeface="Times New Roman"/>
              </a:defRPr>
            </a:lvl1pPr>
            <a:lvl2pPr marL="0" lvl="1" indent="0" algn="r">
              <a:spcBef>
                <a:spcPts val="0"/>
              </a:spcBef>
              <a:spcAft>
                <a:spcPts val="0"/>
              </a:spcAft>
              <a:buNone/>
              <a:defRPr sz="900" b="1">
                <a:solidFill>
                  <a:srgbClr val="002060"/>
                </a:solidFill>
                <a:latin typeface="Times New Roman"/>
                <a:ea typeface="Times New Roman"/>
                <a:cs typeface="Times New Roman"/>
                <a:sym typeface="Times New Roman"/>
              </a:defRPr>
            </a:lvl2pPr>
            <a:lvl3pPr marL="0" lvl="2" indent="0" algn="r">
              <a:spcBef>
                <a:spcPts val="0"/>
              </a:spcBef>
              <a:spcAft>
                <a:spcPts val="0"/>
              </a:spcAft>
              <a:buNone/>
              <a:defRPr sz="900" b="1">
                <a:solidFill>
                  <a:srgbClr val="002060"/>
                </a:solidFill>
                <a:latin typeface="Times New Roman"/>
                <a:ea typeface="Times New Roman"/>
                <a:cs typeface="Times New Roman"/>
                <a:sym typeface="Times New Roman"/>
              </a:defRPr>
            </a:lvl3pPr>
            <a:lvl4pPr marL="0" lvl="3" indent="0" algn="r">
              <a:spcBef>
                <a:spcPts val="0"/>
              </a:spcBef>
              <a:spcAft>
                <a:spcPts val="0"/>
              </a:spcAft>
              <a:buNone/>
              <a:defRPr sz="900" b="1">
                <a:solidFill>
                  <a:srgbClr val="002060"/>
                </a:solidFill>
                <a:latin typeface="Times New Roman"/>
                <a:ea typeface="Times New Roman"/>
                <a:cs typeface="Times New Roman"/>
                <a:sym typeface="Times New Roman"/>
              </a:defRPr>
            </a:lvl4pPr>
            <a:lvl5pPr marL="0" lvl="4" indent="0" algn="r">
              <a:spcBef>
                <a:spcPts val="0"/>
              </a:spcBef>
              <a:spcAft>
                <a:spcPts val="0"/>
              </a:spcAft>
              <a:buNone/>
              <a:defRPr sz="900" b="1">
                <a:solidFill>
                  <a:srgbClr val="002060"/>
                </a:solidFill>
                <a:latin typeface="Times New Roman"/>
                <a:ea typeface="Times New Roman"/>
                <a:cs typeface="Times New Roman"/>
                <a:sym typeface="Times New Roman"/>
              </a:defRPr>
            </a:lvl5pPr>
            <a:lvl6pPr marL="0" lvl="5" indent="0" algn="r">
              <a:spcBef>
                <a:spcPts val="0"/>
              </a:spcBef>
              <a:spcAft>
                <a:spcPts val="0"/>
              </a:spcAft>
              <a:buNone/>
              <a:defRPr sz="900" b="1">
                <a:solidFill>
                  <a:srgbClr val="002060"/>
                </a:solidFill>
                <a:latin typeface="Times New Roman"/>
                <a:ea typeface="Times New Roman"/>
                <a:cs typeface="Times New Roman"/>
                <a:sym typeface="Times New Roman"/>
              </a:defRPr>
            </a:lvl6pPr>
            <a:lvl7pPr marL="0" lvl="6" indent="0" algn="r">
              <a:spcBef>
                <a:spcPts val="0"/>
              </a:spcBef>
              <a:spcAft>
                <a:spcPts val="0"/>
              </a:spcAft>
              <a:buNone/>
              <a:defRPr sz="900" b="1">
                <a:solidFill>
                  <a:srgbClr val="002060"/>
                </a:solidFill>
                <a:latin typeface="Times New Roman"/>
                <a:ea typeface="Times New Roman"/>
                <a:cs typeface="Times New Roman"/>
                <a:sym typeface="Times New Roman"/>
              </a:defRPr>
            </a:lvl7pPr>
            <a:lvl8pPr marL="0" lvl="7" indent="0" algn="r">
              <a:spcBef>
                <a:spcPts val="0"/>
              </a:spcBef>
              <a:spcAft>
                <a:spcPts val="0"/>
              </a:spcAft>
              <a:buNone/>
              <a:defRPr sz="900" b="1">
                <a:solidFill>
                  <a:srgbClr val="002060"/>
                </a:solidFill>
                <a:latin typeface="Times New Roman"/>
                <a:ea typeface="Times New Roman"/>
                <a:cs typeface="Times New Roman"/>
                <a:sym typeface="Times New Roman"/>
              </a:defRPr>
            </a:lvl8pPr>
            <a:lvl9pPr marL="0" lvl="8" indent="0" algn="r">
              <a:spcBef>
                <a:spcPts val="0"/>
              </a:spcBef>
              <a:spcAft>
                <a:spcPts val="0"/>
              </a:spcAft>
              <a:buNone/>
              <a:defRPr sz="900" b="1">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4"/>
          <p:cNvSpPr txBox="1">
            <a:spLocks noGrp="1"/>
          </p:cNvSpPr>
          <p:nvPr>
            <p:ph type="title"/>
          </p:nvPr>
        </p:nvSpPr>
        <p:spPr>
          <a:xfrm>
            <a:off x="692944" y="134939"/>
            <a:ext cx="6293644" cy="904875"/>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1pPr>
            <a:lvl2pPr marR="0" lvl="1"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2pPr>
            <a:lvl3pPr marR="0" lvl="2"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3pPr>
            <a:lvl4pPr marR="0" lvl="3"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4pPr>
            <a:lvl5pPr marR="0" lvl="4"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5pPr>
            <a:lvl6pPr marR="0" lvl="5"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6pPr>
            <a:lvl7pPr marR="0" lvl="6"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7pPr>
            <a:lvl8pPr marR="0" lvl="7"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8pPr>
            <a:lvl9pPr marR="0" lvl="8" algn="ctr" rtl="0">
              <a:lnSpc>
                <a:spcPct val="90000"/>
              </a:lnSpc>
              <a:spcBef>
                <a:spcPts val="0"/>
              </a:spcBef>
              <a:spcAft>
                <a:spcPts val="0"/>
              </a:spcAft>
              <a:buSzPts val="1400"/>
              <a:buNone/>
              <a:defRPr sz="3200" b="1" i="0" u="none" strike="noStrike" cap="none">
                <a:solidFill>
                  <a:srgbClr val="002060"/>
                </a:solidFill>
                <a:latin typeface="Times New Roman"/>
                <a:ea typeface="Times New Roman"/>
                <a:cs typeface="Times New Roman"/>
                <a:sym typeface="Times New Roman"/>
              </a:defRPr>
            </a:lvl9pPr>
          </a:lstStyle>
          <a:p>
            <a:endParaRPr/>
          </a:p>
        </p:txBody>
      </p:sp>
      <p:sp>
        <p:nvSpPr>
          <p:cNvPr id="11" name="Google Shape;11;p44"/>
          <p:cNvSpPr txBox="1">
            <a:spLocks noGrp="1"/>
          </p:cNvSpPr>
          <p:nvPr>
            <p:ph type="body" idx="1"/>
          </p:nvPr>
        </p:nvSpPr>
        <p:spPr>
          <a:xfrm>
            <a:off x="509588" y="1311275"/>
            <a:ext cx="78867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4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1pPr>
            <a:lvl2pPr marL="0" marR="0" lvl="1"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2pPr>
            <a:lvl3pPr marL="0" marR="0" lvl="2"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3pPr>
            <a:lvl4pPr marL="0" marR="0" lvl="3"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4pPr>
            <a:lvl5pPr marL="0" marR="0" lvl="4"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5pPr>
            <a:lvl6pPr marL="0" marR="0" lvl="5"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6pPr>
            <a:lvl7pPr marL="0" marR="0" lvl="6"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7pPr>
            <a:lvl8pPr marL="0" marR="0" lvl="7"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8pPr>
            <a:lvl9pPr marL="0" marR="0" lvl="8" indent="0" algn="r" rtl="0">
              <a:spcBef>
                <a:spcPts val="0"/>
              </a:spcBef>
              <a:spcAft>
                <a:spcPts val="0"/>
              </a:spcAft>
              <a:buNone/>
              <a:defRPr sz="900" b="1" i="0" u="none" strike="noStrike" cap="none">
                <a:solidFill>
                  <a:srgbClr val="002060"/>
                </a:solidFill>
                <a:latin typeface="Times New Roman"/>
                <a:ea typeface="Times New Roman"/>
                <a:cs typeface="Times New Roman"/>
                <a:sym typeface="Times New Roman"/>
              </a:defRPr>
            </a:lvl9pPr>
          </a:lstStyle>
          <a:p>
            <a:fld id="{00000000-1234-1234-1234-123412341234}" type="slidenum">
              <a:rPr lang="en-US" smtClean="0"/>
              <a:pPr/>
              <a:t>‹#›</a:t>
            </a:fld>
            <a:endParaRPr lang="en-US"/>
          </a:p>
        </p:txBody>
      </p:sp>
      <p:pic>
        <p:nvPicPr>
          <p:cNvPr id="13" name="Google Shape;13;p44" descr="Image result for chandigarh university logo"/>
          <p:cNvPicPr preferRelativeResize="0"/>
          <p:nvPr/>
        </p:nvPicPr>
        <p:blipFill rotWithShape="1">
          <a:blip r:embed="rId18">
            <a:alphaModFix/>
          </a:blip>
          <a:srcRect/>
          <a:stretch/>
        </p:blipFill>
        <p:spPr>
          <a:xfrm>
            <a:off x="83344" y="104775"/>
            <a:ext cx="454819" cy="935038"/>
          </a:xfrm>
          <a:prstGeom prst="rect">
            <a:avLst/>
          </a:prstGeom>
          <a:noFill/>
          <a:ln>
            <a:noFill/>
          </a:ln>
        </p:spPr>
      </p:pic>
      <p:sp>
        <p:nvSpPr>
          <p:cNvPr id="14" name="Google Shape;14;p44"/>
          <p:cNvSpPr/>
          <p:nvPr/>
        </p:nvSpPr>
        <p:spPr>
          <a:xfrm flipH="1">
            <a:off x="-1984772" y="293688"/>
            <a:ext cx="3860007" cy="5853112"/>
          </a:xfrm>
          <a:prstGeom prst="rtTriangle">
            <a:avLst/>
          </a:prstGeom>
          <a:solidFill>
            <a:srgbClr val="D8D8D8">
              <a:alpha val="25882"/>
            </a:srgbClr>
          </a:solidFill>
          <a:ln>
            <a:noFill/>
          </a:ln>
        </p:spPr>
        <p:txBody>
          <a:bodyPr spcFirstLastPara="1" wrap="square" lIns="68569" tIns="34275" rIns="68569" bIns="34275"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grpSp>
        <p:nvGrpSpPr>
          <p:cNvPr id="15" name="Google Shape;15;p44"/>
          <p:cNvGrpSpPr/>
          <p:nvPr/>
        </p:nvGrpSpPr>
        <p:grpSpPr>
          <a:xfrm>
            <a:off x="8751094" y="5108575"/>
            <a:ext cx="307181" cy="1612900"/>
            <a:chOff x="83821" y="0"/>
            <a:chExt cx="219636" cy="903079"/>
          </a:xfrm>
        </p:grpSpPr>
        <p:sp>
          <p:nvSpPr>
            <p:cNvPr id="16" name="Google Shape;16;p44"/>
            <p:cNvSpPr/>
            <p:nvPr/>
          </p:nvSpPr>
          <p:spPr>
            <a:xfrm>
              <a:off x="83821" y="0"/>
              <a:ext cx="219636" cy="210659"/>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7" name="Google Shape;17;p44"/>
            <p:cNvSpPr/>
            <p:nvPr/>
          </p:nvSpPr>
          <p:spPr>
            <a:xfrm>
              <a:off x="84673" y="408874"/>
              <a:ext cx="218784" cy="494205"/>
            </a:xfrm>
            <a:prstGeom prst="rect">
              <a:avLst/>
            </a:prstGeom>
            <a:solidFill>
              <a:srgbClr val="0C0C0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sp>
          <p:nvSpPr>
            <p:cNvPr id="18" name="Google Shape;18;p44"/>
            <p:cNvSpPr/>
            <p:nvPr/>
          </p:nvSpPr>
          <p:spPr>
            <a:xfrm>
              <a:off x="83821" y="210659"/>
              <a:ext cx="217933" cy="22132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chemeClr val="lt1"/>
                </a:solidFill>
                <a:latin typeface="Calibri"/>
                <a:ea typeface="Calibri"/>
                <a:cs typeface="Calibri"/>
                <a:sym typeface="Calibri"/>
              </a:endParaRPr>
            </a:p>
          </p:txBody>
        </p:sp>
        <p:graphicFrame>
          <p:nvGraphicFramePr>
            <p:cNvPr id="19" name="Google Shape;19;p44"/>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r:id="rId19" imgW="183878" imgH="183422" progId="">
                    <p:embed/>
                  </p:oleObj>
                </mc:Choice>
                <mc:Fallback>
                  <p:oleObj r:id="rId19" imgW="183878" imgH="183422" progId="">
                    <p:embed/>
                    <p:pic>
                      <p:nvPicPr>
                        <p:cNvPr id="19" name="Google Shape;19;p44"/>
                        <p:cNvPicPr preferRelativeResize="0"/>
                        <p:nvPr/>
                      </p:nvPicPr>
                      <p:blipFill rotWithShape="1">
                        <a:blip r:embed="rId20">
                          <a:alphaModFix/>
                        </a:blip>
                        <a:srcRect/>
                        <a:stretch/>
                      </p:blipFill>
                      <p:spPr>
                        <a:xfrm>
                          <a:off x="100420" y="236973"/>
                          <a:ext cx="183878" cy="183422"/>
                        </a:xfrm>
                        <a:prstGeom prst="rect">
                          <a:avLst/>
                        </a:prstGeom>
                        <a:noFill/>
                        <a:ln>
                          <a:noFill/>
                        </a:ln>
                      </p:spPr>
                    </p:pic>
                  </p:oleObj>
                </mc:Fallback>
              </mc:AlternateContent>
            </a:graphicData>
          </a:graphic>
        </p:graphicFrame>
      </p:grpSp>
      <p:grpSp>
        <p:nvGrpSpPr>
          <p:cNvPr id="20" name="Google Shape;20;p44"/>
          <p:cNvGrpSpPr/>
          <p:nvPr/>
        </p:nvGrpSpPr>
        <p:grpSpPr>
          <a:xfrm rot="10800000">
            <a:off x="0" y="6251576"/>
            <a:ext cx="548879" cy="606425"/>
            <a:chOff x="5401469" y="1588"/>
            <a:chExt cx="1389063" cy="540239"/>
          </a:xfrm>
        </p:grpSpPr>
        <p:sp>
          <p:nvSpPr>
            <p:cNvPr id="21" name="Google Shape;21;p44"/>
            <p:cNvSpPr/>
            <p:nvPr/>
          </p:nvSpPr>
          <p:spPr>
            <a:xfrm>
              <a:off x="5401469" y="1588"/>
              <a:ext cx="1205279" cy="540239"/>
            </a:xfrm>
            <a:custGeom>
              <a:avLst/>
              <a:gdLst/>
              <a:ahLst/>
              <a:cxnLst/>
              <a:rect l="l" t="t" r="r" b="b"/>
              <a:pathLst>
                <a:path w="1410" h="632" extrusionOk="0">
                  <a:moveTo>
                    <a:pt x="0" y="0"/>
                  </a:moveTo>
                  <a:lnTo>
                    <a:pt x="630" y="632"/>
                  </a:lnTo>
                  <a:lnTo>
                    <a:pt x="1410" y="632"/>
                  </a:lnTo>
                  <a:lnTo>
                    <a:pt x="780" y="0"/>
                  </a:lnTo>
                  <a:lnTo>
                    <a:pt x="0" y="0"/>
                  </a:lnTo>
                  <a:close/>
                </a:path>
              </a:pathLst>
            </a:custGeom>
            <a:gradFill>
              <a:gsLst>
                <a:gs pos="0">
                  <a:srgbClr val="0C344C"/>
                </a:gs>
                <a:gs pos="100000">
                  <a:srgbClr val="D80F79"/>
                </a:gs>
              </a:gsLst>
              <a:lin ang="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sp>
          <p:nvSpPr>
            <p:cNvPr id="22" name="Google Shape;22;p44"/>
            <p:cNvSpPr/>
            <p:nvPr/>
          </p:nvSpPr>
          <p:spPr>
            <a:xfrm>
              <a:off x="6252003" y="1588"/>
              <a:ext cx="538529" cy="426549"/>
            </a:xfrm>
            <a:custGeom>
              <a:avLst/>
              <a:gdLst/>
              <a:ahLst/>
              <a:cxnLst/>
              <a:rect l="l" t="t" r="r" b="b"/>
              <a:pathLst>
                <a:path w="630" h="499" extrusionOk="0">
                  <a:moveTo>
                    <a:pt x="0" y="0"/>
                  </a:moveTo>
                  <a:lnTo>
                    <a:pt x="498" y="499"/>
                  </a:lnTo>
                  <a:lnTo>
                    <a:pt x="630" y="499"/>
                  </a:lnTo>
                  <a:lnTo>
                    <a:pt x="132" y="0"/>
                  </a:lnTo>
                  <a:lnTo>
                    <a:pt x="0" y="0"/>
                  </a:lnTo>
                  <a:close/>
                </a:path>
              </a:pathLst>
            </a:custGeom>
            <a:solidFill>
              <a:srgbClr val="BFBEB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350">
                <a:solidFill>
                  <a:schemeClr val="dk1"/>
                </a:solidFill>
                <a:latin typeface="Calibri"/>
                <a:ea typeface="Calibri"/>
                <a:cs typeface="Calibri"/>
                <a:sym typeface="Calibri"/>
              </a:endParaRPr>
            </a:p>
          </p:txBody>
        </p:sp>
      </p:grpSp>
      <p:pic>
        <p:nvPicPr>
          <p:cNvPr id="1025" name="Picture 1">
            <a:extLst>
              <a:ext uri="{FF2B5EF4-FFF2-40B4-BE49-F238E27FC236}">
                <a16:creationId xmlns:a16="http://schemas.microsoft.com/office/drawing/2014/main" id="{6F04892A-BA4A-7B98-CD32-7AD570FBFFB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675" y="228600"/>
            <a:ext cx="133350" cy="177800"/>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__init__-in-python/"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www.geeksforgeeks.org/reading-and-writing-csv-files-in-python"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7.xml"/><Relationship Id="rId5" Type="http://schemas.openxmlformats.org/officeDocument/2006/relationships/image" Target="../media/image19.jp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D1AA1F-716D-ACE6-53B5-2BF7E2F52E49}"/>
              </a:ext>
            </a:extLst>
          </p:cNvPr>
          <p:cNvSpPr txBox="1"/>
          <p:nvPr/>
        </p:nvSpPr>
        <p:spPr>
          <a:xfrm>
            <a:off x="1432560" y="1181551"/>
            <a:ext cx="6441440" cy="3308598"/>
          </a:xfrm>
          <a:prstGeom prst="rect">
            <a:avLst/>
          </a:prstGeom>
          <a:noFill/>
        </p:spPr>
        <p:txBody>
          <a:bodyPr wrap="square">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 CSE</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Programming in Python Lab </a:t>
            </a: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(23CSP-201)</a:t>
            </a:r>
          </a:p>
        </p:txBody>
      </p:sp>
      <p:sp>
        <p:nvSpPr>
          <p:cNvPr id="7" name="Google Shape;77;p2">
            <a:extLst>
              <a:ext uri="{FF2B5EF4-FFF2-40B4-BE49-F238E27FC236}">
                <a16:creationId xmlns:a16="http://schemas.microsoft.com/office/drawing/2014/main" id="{1BD1F61B-0E13-D0A4-E0DE-B2AAF5AB37BC}"/>
              </a:ext>
            </a:extLst>
          </p:cNvPr>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8" name="Object 7">
            <a:extLst>
              <a:ext uri="{FF2B5EF4-FFF2-40B4-BE49-F238E27FC236}">
                <a16:creationId xmlns:a16="http://schemas.microsoft.com/office/drawing/2014/main" id="{F8BA1BA9-CFEB-8A93-466E-63DC7F3ED149}"/>
              </a:ext>
            </a:extLst>
          </p:cNvPr>
          <p:cNvGraphicFramePr>
            <a:graphicFrameLocks noChangeAspect="1"/>
          </p:cNvGraphicFramePr>
          <p:nvPr/>
        </p:nvGraphicFramePr>
        <p:xfrm>
          <a:off x="76788" y="4093445"/>
          <a:ext cx="2209212" cy="1920006"/>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8" name="Object 7">
                        <a:extLst>
                          <a:ext uri="{FF2B5EF4-FFF2-40B4-BE49-F238E27FC236}">
                            <a16:creationId xmlns:a16="http://schemas.microsoft.com/office/drawing/2014/main" id="{F8BA1BA9-CFEB-8A93-466E-63DC7F3ED149}"/>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4093445"/>
                        <a:ext cx="2209212" cy="1920006"/>
                      </a:xfrm>
                      <a:prstGeom prst="rect">
                        <a:avLst/>
                      </a:prstGeom>
                      <a:noFill/>
                    </p:spPr>
                  </p:pic>
                </p:oleObj>
              </mc:Fallback>
            </mc:AlternateContent>
          </a:graphicData>
        </a:graphic>
      </p:graphicFrame>
      <p:sp>
        <p:nvSpPr>
          <p:cNvPr id="9" name="Google Shape;62;p1">
            <a:extLst>
              <a:ext uri="{FF2B5EF4-FFF2-40B4-BE49-F238E27FC236}">
                <a16:creationId xmlns:a16="http://schemas.microsoft.com/office/drawing/2014/main" id="{F35E5FF2-69AA-06A8-E10E-118E993ACED1}"/>
              </a:ext>
            </a:extLst>
          </p:cNvPr>
          <p:cNvSpPr txBox="1"/>
          <p:nvPr/>
        </p:nvSpPr>
        <p:spPr>
          <a:xfrm>
            <a:off x="5882640" y="5150192"/>
            <a:ext cx="283464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595959"/>
                </a:solidFill>
                <a:latin typeface="Arial"/>
                <a:ea typeface="Arial"/>
                <a:cs typeface="Arial"/>
                <a:sym typeface="Arial"/>
              </a:rPr>
              <a:t>DISCOVER . </a:t>
            </a:r>
            <a:r>
              <a:rPr lang="en-US" sz="2000" b="1" i="0" u="none" strike="noStrike" cap="none" dirty="0">
                <a:solidFill>
                  <a:srgbClr val="C00000"/>
                </a:solidFill>
                <a:latin typeface="Arial"/>
                <a:ea typeface="Arial"/>
                <a:cs typeface="Arial"/>
                <a:sym typeface="Arial"/>
              </a:rPr>
              <a:t>LEARN</a:t>
            </a:r>
            <a:r>
              <a:rPr lang="en-US" sz="2000" b="1" i="0" u="none" strike="noStrike" cap="none" dirty="0">
                <a:solidFill>
                  <a:srgbClr val="595959"/>
                </a:solidFill>
                <a:latin typeface="Arial"/>
                <a:ea typeface="Arial"/>
                <a:cs typeface="Arial"/>
                <a:sym typeface="Arial"/>
              </a:rPr>
              <a:t> . EMPOWER</a:t>
            </a:r>
            <a:endParaRPr sz="12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1" i="0" u="none" strike="noStrike" cap="none" dirty="0">
              <a:solidFill>
                <a:schemeClr val="dk1"/>
              </a:solidFill>
              <a:latin typeface="Arial"/>
              <a:ea typeface="Arial"/>
              <a:cs typeface="Arial"/>
              <a:sym typeface="Arial"/>
            </a:endParaRPr>
          </a:p>
        </p:txBody>
      </p:sp>
      <p:sp>
        <p:nvSpPr>
          <p:cNvPr id="10" name="Google Shape;61;p1">
            <a:extLst>
              <a:ext uri="{FF2B5EF4-FFF2-40B4-BE49-F238E27FC236}">
                <a16:creationId xmlns:a16="http://schemas.microsoft.com/office/drawing/2014/main" id="{A5E5A580-10B3-7F22-9F18-0B768FE9D61D}"/>
              </a:ext>
            </a:extLst>
          </p:cNvPr>
          <p:cNvSpPr/>
          <p:nvPr/>
        </p:nvSpPr>
        <p:spPr>
          <a:xfrm flipH="1">
            <a:off x="7372350" y="5334000"/>
            <a:ext cx="1774825" cy="16002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 name="Google Shape;261;p23">
            <a:extLst>
              <a:ext uri="{FF2B5EF4-FFF2-40B4-BE49-F238E27FC236}">
                <a16:creationId xmlns:a16="http://schemas.microsoft.com/office/drawing/2014/main" id="{7D311A3E-ADD3-4716-72B8-726972EF2FA2}"/>
              </a:ext>
            </a:extLst>
          </p:cNvPr>
          <p:cNvSpPr/>
          <p:nvPr/>
        </p:nvSpPr>
        <p:spPr>
          <a:xfrm>
            <a:off x="2779776" y="1143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 name="Footer Placeholder 2">
            <a:extLst>
              <a:ext uri="{FF2B5EF4-FFF2-40B4-BE49-F238E27FC236}">
                <a16:creationId xmlns:a16="http://schemas.microsoft.com/office/drawing/2014/main" id="{7B6E1FE7-FB59-3B30-5250-BA4D8E57AFF6}"/>
              </a:ext>
            </a:extLst>
          </p:cNvPr>
          <p:cNvSpPr>
            <a:spLocks noGrp="1"/>
          </p:cNvSpPr>
          <p:nvPr>
            <p:ph type="ftr" idx="11"/>
          </p:nvPr>
        </p:nvSpPr>
        <p:spPr/>
        <p:txBody>
          <a:bodyPr/>
          <a:lstStyle/>
          <a:p>
            <a:r>
              <a:rPr lang="en-US"/>
              <a:t>University Institute of Engineering (UIE)</a:t>
            </a:r>
          </a:p>
        </p:txBody>
      </p:sp>
    </p:spTree>
    <p:extLst>
      <p:ext uri="{BB962C8B-B14F-4D97-AF65-F5344CB8AC3E}">
        <p14:creationId xmlns:p14="http://schemas.microsoft.com/office/powerpoint/2010/main" val="407014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619125" y="533400"/>
            <a:ext cx="7886700" cy="447676"/>
          </a:xfrm>
          <a:prstGeom prst="rect">
            <a:avLst/>
          </a:prstGeom>
          <a:noFill/>
          <a:ln>
            <a:noFill/>
          </a:ln>
        </p:spPr>
        <p:txBody>
          <a:bodyPr spcFirstLastPara="1" wrap="square" lIns="0" tIns="0" rIns="0" bIns="0" anchor="t" anchorCtr="0">
            <a:normAutofit fontScale="90000"/>
          </a:bodyPr>
          <a:lstStyle/>
          <a:p>
            <a:pPr marL="0" lvl="0" indent="0" algn="ctr" rtl="0">
              <a:lnSpc>
                <a:spcPct val="100000"/>
              </a:lnSpc>
              <a:spcBef>
                <a:spcPts val="0"/>
              </a:spcBef>
              <a:spcAft>
                <a:spcPts val="0"/>
              </a:spcAft>
              <a:buSzPct val="55555"/>
              <a:buNone/>
            </a:pPr>
            <a:r>
              <a:rPr lang="en-US" sz="2800" u="sng" dirty="0">
                <a:solidFill>
                  <a:srgbClr val="0C0C0C"/>
                </a:solidFill>
              </a:rPr>
              <a:t>Unit 3 Content</a:t>
            </a:r>
            <a:br>
              <a:rPr lang="en-US" sz="2800" dirty="0"/>
            </a:br>
            <a:r>
              <a:rPr lang="en-US" sz="2800" dirty="0"/>
              <a:t> </a:t>
            </a:r>
            <a:endParaRPr dirty="0"/>
          </a:p>
        </p:txBody>
      </p:sp>
      <p:sp>
        <p:nvSpPr>
          <p:cNvPr id="3" name="Google Shape;261;p23">
            <a:extLst>
              <a:ext uri="{FF2B5EF4-FFF2-40B4-BE49-F238E27FC236}">
                <a16:creationId xmlns:a16="http://schemas.microsoft.com/office/drawing/2014/main" id="{5EF622AC-6613-5121-01C3-B3A67BBAAB7D}"/>
              </a:ext>
            </a:extLst>
          </p:cNvPr>
          <p:cNvSpPr/>
          <p:nvPr/>
        </p:nvSpPr>
        <p:spPr>
          <a:xfrm>
            <a:off x="2779776" y="1143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 name="TextBox 5">
            <a:extLst>
              <a:ext uri="{FF2B5EF4-FFF2-40B4-BE49-F238E27FC236}">
                <a16:creationId xmlns:a16="http://schemas.microsoft.com/office/drawing/2014/main" id="{9A71FCD8-9FA4-6A01-53C1-8A73A874DBBF}"/>
              </a:ext>
            </a:extLst>
          </p:cNvPr>
          <p:cNvSpPr txBox="1"/>
          <p:nvPr/>
        </p:nvSpPr>
        <p:spPr>
          <a:xfrm>
            <a:off x="2346960" y="-2203"/>
            <a:ext cx="6797040" cy="369332"/>
          </a:xfrm>
          <a:prstGeom prst="rect">
            <a:avLst/>
          </a:prstGeom>
          <a:noFill/>
        </p:spPr>
        <p:txBody>
          <a:bodyPr wrap="square">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p>
        </p:txBody>
      </p:sp>
      <p:graphicFrame>
        <p:nvGraphicFramePr>
          <p:cNvPr id="4" name="Table 3">
            <a:extLst>
              <a:ext uri="{FF2B5EF4-FFF2-40B4-BE49-F238E27FC236}">
                <a16:creationId xmlns:a16="http://schemas.microsoft.com/office/drawing/2014/main" id="{F953B7F3-A046-AC44-CA81-B697F32D3052}"/>
              </a:ext>
            </a:extLst>
          </p:cNvPr>
          <p:cNvGraphicFramePr>
            <a:graphicFrameLocks noGrp="1"/>
          </p:cNvGraphicFramePr>
          <p:nvPr>
            <p:extLst>
              <p:ext uri="{D42A27DB-BD31-4B8C-83A1-F6EECF244321}">
                <p14:modId xmlns:p14="http://schemas.microsoft.com/office/powerpoint/2010/main" val="3408114847"/>
              </p:ext>
            </p:extLst>
          </p:nvPr>
        </p:nvGraphicFramePr>
        <p:xfrm>
          <a:off x="1968817" y="1506071"/>
          <a:ext cx="6537008" cy="3575043"/>
        </p:xfrm>
        <a:graphic>
          <a:graphicData uri="http://schemas.openxmlformats.org/drawingml/2006/table">
            <a:tbl>
              <a:tblPr firstRow="1" firstCol="1" lastRow="1" lastCol="1" bandRow="1" bandCol="1">
                <a:tableStyleId>{616DA210-FB5B-4158-B5E0-FEB733F419BA}</a:tableStyleId>
              </a:tblPr>
              <a:tblGrid>
                <a:gridCol w="1326650">
                  <a:extLst>
                    <a:ext uri="{9D8B030D-6E8A-4147-A177-3AD203B41FA5}">
                      <a16:colId xmlns:a16="http://schemas.microsoft.com/office/drawing/2014/main" val="1699871617"/>
                    </a:ext>
                  </a:extLst>
                </a:gridCol>
                <a:gridCol w="5210358">
                  <a:extLst>
                    <a:ext uri="{9D8B030D-6E8A-4147-A177-3AD203B41FA5}">
                      <a16:colId xmlns:a16="http://schemas.microsoft.com/office/drawing/2014/main" val="1624311164"/>
                    </a:ext>
                  </a:extLst>
                </a:gridCol>
              </a:tblGrid>
              <a:tr h="645458">
                <a:tc>
                  <a:txBody>
                    <a:bodyPr/>
                    <a:lstStyle/>
                    <a:p>
                      <a:pPr marL="67945" algn="l">
                        <a:lnSpc>
                          <a:spcPts val="1460"/>
                        </a:lnSpc>
                      </a:pPr>
                      <a:r>
                        <a:rPr lang="en-US" sz="1400" dirty="0">
                          <a:effectLst/>
                          <a:latin typeface="+mj-lt"/>
                        </a:rPr>
                        <a:t>UNIT-3</a:t>
                      </a:r>
                      <a:endParaRPr lang="en-IN" sz="1200" dirty="0">
                        <a:effectLst/>
                        <a:latin typeface="+mj-lt"/>
                        <a:ea typeface="Calibri" panose="020F0502020204030204" pitchFamily="34" charset="0"/>
                        <a:cs typeface="Times New Roman" panose="02020603050405020304" pitchFamily="18" charset="0"/>
                      </a:endParaRPr>
                    </a:p>
                  </a:txBody>
                  <a:tcPr marL="0" marR="0" marT="0" marB="0"/>
                </a:tc>
                <a:tc>
                  <a:txBody>
                    <a:bodyPr/>
                    <a:lstStyle/>
                    <a:p>
                      <a:pPr marL="67945" algn="l">
                        <a:lnSpc>
                          <a:spcPts val="1375"/>
                        </a:lnSpc>
                      </a:pPr>
                      <a:r>
                        <a:rPr lang="en-US" sz="1400" dirty="0">
                          <a:effectLst/>
                          <a:latin typeface="+mj-lt"/>
                        </a:rPr>
                        <a:t>Searching, Sorting, OOP, and File Handling</a:t>
                      </a:r>
                      <a:endParaRPr lang="en-IN" sz="1200" dirty="0">
                        <a:effectLst/>
                        <a:latin typeface="+mj-lt"/>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147765505"/>
                  </a:ext>
                </a:extLst>
              </a:tr>
              <a:tr h="961364">
                <a:tc>
                  <a:txBody>
                    <a:bodyPr/>
                    <a:lstStyle/>
                    <a:p>
                      <a:pPr marL="67945" algn="l">
                        <a:lnSpc>
                          <a:spcPts val="1360"/>
                        </a:lnSpc>
                      </a:pPr>
                      <a:r>
                        <a:rPr lang="en-US" sz="1400">
                          <a:effectLst/>
                          <a:latin typeface="+mj-lt"/>
                        </a:rPr>
                        <a:t>Experiment</a:t>
                      </a:r>
                      <a:r>
                        <a:rPr lang="en-US" sz="1400" spc="-10">
                          <a:effectLst/>
                          <a:latin typeface="+mj-lt"/>
                        </a:rPr>
                        <a:t> </a:t>
                      </a:r>
                      <a:r>
                        <a:rPr lang="en-US" sz="1400">
                          <a:effectLst/>
                          <a:latin typeface="+mj-lt"/>
                        </a:rPr>
                        <a:t>3.1</a:t>
                      </a:r>
                      <a:endParaRPr lang="en-IN" sz="1200">
                        <a:effectLst/>
                        <a:latin typeface="+mj-lt"/>
                        <a:ea typeface="Calibri" panose="020F0502020204030204" pitchFamily="34" charset="0"/>
                        <a:cs typeface="Times New Roman" panose="02020603050405020304" pitchFamily="18" charset="0"/>
                      </a:endParaRPr>
                    </a:p>
                  </a:txBody>
                  <a:tcPr marL="0" marR="0" marT="0" marB="0"/>
                </a:tc>
                <a:tc>
                  <a:txBody>
                    <a:bodyPr/>
                    <a:lstStyle/>
                    <a:p>
                      <a:pPr marL="68580" algn="l">
                        <a:lnSpc>
                          <a:spcPts val="1360"/>
                        </a:lnSpc>
                      </a:pPr>
                      <a:r>
                        <a:rPr lang="en-US" sz="1200" dirty="0">
                          <a:effectLst/>
                          <a:latin typeface="+mj-lt"/>
                        </a:rPr>
                        <a:t>Searching algorithms (linear, binary) and sorting techniques (bubble, insertion, selection, merge, quick).</a:t>
                      </a:r>
                      <a:endParaRPr lang="en-IN" sz="1200" dirty="0">
                        <a:effectLst/>
                        <a:latin typeface="+mj-lt"/>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99278279"/>
                  </a:ext>
                </a:extLst>
              </a:tr>
              <a:tr h="1006857">
                <a:tc>
                  <a:txBody>
                    <a:bodyPr/>
                    <a:lstStyle/>
                    <a:p>
                      <a:pPr marL="67945" algn="l">
                        <a:lnSpc>
                          <a:spcPts val="1460"/>
                        </a:lnSpc>
                      </a:pPr>
                      <a:r>
                        <a:rPr lang="en-US" sz="1400">
                          <a:effectLst/>
                          <a:latin typeface="+mj-lt"/>
                        </a:rPr>
                        <a:t>Experiment</a:t>
                      </a:r>
                      <a:r>
                        <a:rPr lang="en-US" sz="1400" spc="-10">
                          <a:effectLst/>
                          <a:latin typeface="+mj-lt"/>
                        </a:rPr>
                        <a:t> </a:t>
                      </a:r>
                      <a:r>
                        <a:rPr lang="en-US" sz="1400">
                          <a:effectLst/>
                          <a:latin typeface="+mj-lt"/>
                        </a:rPr>
                        <a:t>3.2</a:t>
                      </a:r>
                      <a:endParaRPr lang="en-IN" sz="1200">
                        <a:effectLst/>
                        <a:latin typeface="+mj-lt"/>
                        <a:ea typeface="Calibri" panose="020F0502020204030204" pitchFamily="34" charset="0"/>
                        <a:cs typeface="Times New Roman" panose="02020603050405020304" pitchFamily="18" charset="0"/>
                      </a:endParaRPr>
                    </a:p>
                  </a:txBody>
                  <a:tcPr marL="0" marR="0" marT="0" marB="0"/>
                </a:tc>
                <a:tc>
                  <a:txBody>
                    <a:bodyPr/>
                    <a:lstStyle/>
                    <a:p>
                      <a:pPr marL="68580" algn="l">
                        <a:lnSpc>
                          <a:spcPts val="1365"/>
                        </a:lnSpc>
                      </a:pPr>
                      <a:r>
                        <a:rPr lang="en-US" sz="1200" dirty="0">
                          <a:effectLst/>
                          <a:latin typeface="+mj-lt"/>
                        </a:rPr>
                        <a:t>Object-Oriented Programming: classes, methods, inheritance, and polymorphism.</a:t>
                      </a:r>
                      <a:endParaRPr lang="en-IN" sz="1200" dirty="0">
                        <a:effectLst/>
                        <a:latin typeface="+mj-lt"/>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053242153"/>
                  </a:ext>
                </a:extLst>
              </a:tr>
              <a:tr h="961364">
                <a:tc>
                  <a:txBody>
                    <a:bodyPr/>
                    <a:lstStyle/>
                    <a:p>
                      <a:pPr marL="67945" algn="l">
                        <a:lnSpc>
                          <a:spcPts val="1360"/>
                        </a:lnSpc>
                      </a:pPr>
                      <a:r>
                        <a:rPr lang="en-US" sz="1400">
                          <a:effectLst/>
                          <a:latin typeface="+mj-lt"/>
                        </a:rPr>
                        <a:t>Experiment</a:t>
                      </a:r>
                      <a:r>
                        <a:rPr lang="en-US" sz="1400" spc="-10">
                          <a:effectLst/>
                          <a:latin typeface="+mj-lt"/>
                        </a:rPr>
                        <a:t> </a:t>
                      </a:r>
                      <a:r>
                        <a:rPr lang="en-US" sz="1400">
                          <a:effectLst/>
                          <a:latin typeface="+mj-lt"/>
                        </a:rPr>
                        <a:t>3.3</a:t>
                      </a:r>
                      <a:endParaRPr lang="en-IN" sz="1200">
                        <a:effectLst/>
                        <a:latin typeface="+mj-lt"/>
                        <a:ea typeface="Calibri" panose="020F0502020204030204" pitchFamily="34" charset="0"/>
                        <a:cs typeface="Times New Roman" panose="02020603050405020304" pitchFamily="18" charset="0"/>
                      </a:endParaRPr>
                    </a:p>
                  </a:txBody>
                  <a:tcPr marL="0" marR="0" marT="0" marB="0"/>
                </a:tc>
                <a:tc>
                  <a:txBody>
                    <a:bodyPr/>
                    <a:lstStyle/>
                    <a:p>
                      <a:pPr marL="68580" algn="l">
                        <a:lnSpc>
                          <a:spcPts val="1360"/>
                        </a:lnSpc>
                      </a:pPr>
                      <a:r>
                        <a:rPr lang="en-US" sz="1200" dirty="0">
                          <a:effectLst/>
                          <a:latin typeface="+mj-lt"/>
                        </a:rPr>
                        <a:t>File handling: reading, writing, and manipulating files in various modes.</a:t>
                      </a:r>
                      <a:endParaRPr lang="en-IN" sz="1200" dirty="0">
                        <a:effectLst/>
                        <a:latin typeface="+mj-lt"/>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556173187"/>
                  </a:ext>
                </a:extLst>
              </a:tr>
            </a:tbl>
          </a:graphicData>
        </a:graphic>
      </p:graphicFrame>
    </p:spTree>
  </p:cSld>
  <p:clrMapOvr>
    <a:masterClrMapping/>
  </p:clrMapOvr>
  <p:transition>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a:spLocks noGrp="1"/>
          </p:cNvSpPr>
          <p:nvPr>
            <p:ph type="body" idx="1"/>
          </p:nvPr>
        </p:nvSpPr>
        <p:spPr>
          <a:xfrm>
            <a:off x="4703763" y="1028700"/>
            <a:ext cx="3668712" cy="4873625"/>
          </a:xfrm>
          <a:prstGeom prst="rect">
            <a:avLst/>
          </a:prstGeom>
          <a:noFill/>
          <a:ln>
            <a:noFill/>
          </a:ln>
        </p:spPr>
        <p:txBody>
          <a:bodyPr spcFirstLastPara="1" wrap="square" lIns="91425" tIns="45700" rIns="91425" bIns="45700" anchor="t" anchorCtr="0">
            <a:spAutoFit/>
          </a:bodyPr>
          <a:lstStyle/>
          <a:p>
            <a:pPr marL="0" lvl="0" indent="0" algn="l" rtl="0">
              <a:lnSpc>
                <a:spcPct val="100000"/>
              </a:lnSpc>
              <a:spcBef>
                <a:spcPts val="0"/>
              </a:spcBef>
              <a:spcAft>
                <a:spcPts val="0"/>
              </a:spcAft>
              <a:buSzPts val="1400"/>
              <a:buNone/>
            </a:pPr>
            <a:endParaRPr sz="2400">
              <a:latin typeface="Arial"/>
              <a:ea typeface="Arial"/>
              <a:cs typeface="Arial"/>
              <a:sym typeface="Arial"/>
            </a:endParaRPr>
          </a:p>
          <a:p>
            <a:pPr marL="0" lvl="0" indent="0" algn="l" rtl="0">
              <a:lnSpc>
                <a:spcPct val="100000"/>
              </a:lnSpc>
              <a:spcBef>
                <a:spcPts val="0"/>
              </a:spcBef>
              <a:spcAft>
                <a:spcPts val="0"/>
              </a:spcAft>
              <a:buSzPts val="1400"/>
              <a:buNone/>
            </a:pPr>
            <a:endParaRPr sz="2400">
              <a:latin typeface="Arial"/>
              <a:ea typeface="Arial"/>
              <a:cs typeface="Arial"/>
              <a:sym typeface="Arial"/>
            </a:endParaRPr>
          </a:p>
        </p:txBody>
      </p:sp>
      <p:sp>
        <p:nvSpPr>
          <p:cNvPr id="73" name="Google Shape;73;p2"/>
          <p:cNvSpPr/>
          <p:nvPr/>
        </p:nvSpPr>
        <p:spPr>
          <a:xfrm>
            <a:off x="4508500" y="838200"/>
            <a:ext cx="3863975" cy="5518150"/>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 name="Google Shape;74;p2"/>
          <p:cNvSpPr/>
          <p:nvPr/>
        </p:nvSpPr>
        <p:spPr>
          <a:xfrm>
            <a:off x="1444625" y="714580"/>
            <a:ext cx="2749550" cy="4603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Course Outcome </a:t>
            </a:r>
            <a:endParaRPr sz="1400" b="0" i="0" u="none" strike="noStrike" cap="none">
              <a:solidFill>
                <a:srgbClr val="000000"/>
              </a:solidFill>
              <a:latin typeface="Arial"/>
              <a:ea typeface="Arial"/>
              <a:cs typeface="Arial"/>
              <a:sym typeface="Arial"/>
            </a:endParaRPr>
          </a:p>
        </p:txBody>
      </p:sp>
      <p:sp>
        <p:nvSpPr>
          <p:cNvPr id="76" name="Google Shape;76;p2"/>
          <p:cNvSpPr/>
          <p:nvPr/>
        </p:nvSpPr>
        <p:spPr>
          <a:xfrm>
            <a:off x="6208499" y="3410416"/>
            <a:ext cx="2017712" cy="942975"/>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Calibri"/>
                <a:ea typeface="Calibri"/>
                <a:cs typeface="Calibri"/>
                <a:sym typeface="Calibri"/>
              </a:rPr>
              <a:t>Will be covered in this lecture</a:t>
            </a:r>
            <a:endParaRPr sz="1400" b="0" i="0" u="none" strike="noStrike" cap="none" dirty="0">
              <a:solidFill>
                <a:srgbClr val="000000"/>
              </a:solidFill>
              <a:latin typeface="Arial"/>
              <a:ea typeface="Arial"/>
              <a:cs typeface="Arial"/>
              <a:sym typeface="Arial"/>
            </a:endParaRPr>
          </a:p>
        </p:txBody>
      </p:sp>
      <p:sp>
        <p:nvSpPr>
          <p:cNvPr id="77" name="Google Shape;77;p2"/>
          <p:cNvSpPr/>
          <p:nvPr/>
        </p:nvSpPr>
        <p:spPr>
          <a:xfrm>
            <a:off x="2326825" y="0"/>
            <a:ext cx="6817200" cy="369300"/>
          </a:xfrm>
          <a:prstGeom prst="rect">
            <a:avLst/>
          </a:prstGeom>
          <a:noFill/>
          <a:ln>
            <a:noFill/>
          </a:ln>
        </p:spPr>
        <p:txBody>
          <a:bodyPr spcFirstLastPara="1" wrap="square" lIns="91425" tIns="45700" rIns="91425" bIns="4570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1CB59663-5C97-D3F6-224F-32ED3CC25E75}"/>
              </a:ext>
            </a:extLst>
          </p:cNvPr>
          <p:cNvGraphicFramePr>
            <a:graphicFrameLocks noGrp="1"/>
          </p:cNvGraphicFramePr>
          <p:nvPr/>
        </p:nvGraphicFramePr>
        <p:xfrm>
          <a:off x="558800" y="2082801"/>
          <a:ext cx="3479799" cy="3908423"/>
        </p:xfrm>
        <a:graphic>
          <a:graphicData uri="http://schemas.openxmlformats.org/drawingml/2006/table">
            <a:tbl>
              <a:tblPr firstRow="1" firstCol="1" lastRow="1" lastCol="1" bandRow="1" bandCol="1">
                <a:tableStyleId>{616DA210-FB5B-4158-B5E0-FEB733F419BA}</a:tableStyleId>
              </a:tblPr>
              <a:tblGrid>
                <a:gridCol w="609600">
                  <a:extLst>
                    <a:ext uri="{9D8B030D-6E8A-4147-A177-3AD203B41FA5}">
                      <a16:colId xmlns:a16="http://schemas.microsoft.com/office/drawing/2014/main" val="3700513846"/>
                    </a:ext>
                  </a:extLst>
                </a:gridCol>
                <a:gridCol w="2870199">
                  <a:extLst>
                    <a:ext uri="{9D8B030D-6E8A-4147-A177-3AD203B41FA5}">
                      <a16:colId xmlns:a16="http://schemas.microsoft.com/office/drawing/2014/main" val="1473955338"/>
                    </a:ext>
                  </a:extLst>
                </a:gridCol>
              </a:tblGrid>
              <a:tr h="556712">
                <a:tc>
                  <a:txBody>
                    <a:bodyPr/>
                    <a:lstStyle/>
                    <a:p>
                      <a:pPr marL="67945">
                        <a:lnSpc>
                          <a:spcPts val="1360"/>
                        </a:lnSpc>
                      </a:pPr>
                      <a:r>
                        <a:rPr lang="en-US" sz="1200">
                          <a:effectLst/>
                        </a:rPr>
                        <a:t>CO1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0"/>
                        </a:lnSpc>
                      </a:pPr>
                      <a:r>
                        <a:rPr lang="en-US" sz="1100" dirty="0">
                          <a:effectLst/>
                        </a:rPr>
                        <a:t>Describe the basic fundamentals of python programming.</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947419067"/>
                  </a:ext>
                </a:extLst>
              </a:tr>
              <a:tr h="560525">
                <a:tc>
                  <a:txBody>
                    <a:bodyPr/>
                    <a:lstStyle/>
                    <a:p>
                      <a:pPr marL="67945">
                        <a:lnSpc>
                          <a:spcPts val="1365"/>
                        </a:lnSpc>
                        <a:spcBef>
                          <a:spcPts val="5"/>
                        </a:spcBef>
                      </a:pPr>
                      <a:r>
                        <a:rPr lang="en-US" sz="1200">
                          <a:effectLst/>
                        </a:rPr>
                        <a:t>CO2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5"/>
                        </a:lnSpc>
                        <a:spcBef>
                          <a:spcPts val="5"/>
                        </a:spcBef>
                      </a:pPr>
                      <a:r>
                        <a:rPr lang="en-US" sz="1100">
                          <a:effectLst/>
                        </a:rPr>
                        <a:t>Apply the python programming for Arithmetic, Logical and sorting operations.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490197"/>
                  </a:ext>
                </a:extLst>
              </a:tr>
              <a:tr h="556712">
                <a:tc>
                  <a:txBody>
                    <a:bodyPr/>
                    <a:lstStyle/>
                    <a:p>
                      <a:pPr marL="67945">
                        <a:lnSpc>
                          <a:spcPts val="1360"/>
                        </a:lnSpc>
                      </a:pPr>
                      <a:r>
                        <a:rPr lang="en-US" sz="1200">
                          <a:effectLst/>
                        </a:rPr>
                        <a:t>CO3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ts val="1360"/>
                        </a:lnSpc>
                      </a:pPr>
                      <a:r>
                        <a:rPr lang="en-US" sz="1100">
                          <a:effectLst/>
                        </a:rPr>
                        <a:t>Analyze python programming loops &amp; methods for data manipulation.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33492221"/>
                  </a:ext>
                </a:extLst>
              </a:tr>
              <a:tr h="1115330">
                <a:tc>
                  <a:txBody>
                    <a:bodyPr/>
                    <a:lstStyle/>
                    <a:p>
                      <a:pPr marL="67945">
                        <a:lnSpc>
                          <a:spcPts val="1460"/>
                        </a:lnSpc>
                      </a:pPr>
                      <a:r>
                        <a:rPr lang="en-US" sz="1200">
                          <a:effectLst/>
                        </a:rPr>
                        <a:t>CO4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ct val="107000"/>
                        </a:lnSpc>
                      </a:pPr>
                      <a:r>
                        <a:rPr lang="en-IN" sz="1100" dirty="0">
                          <a:effectLst/>
                        </a:rPr>
                        <a:t>Use the Python programming language for various programming techniques like list,</a:t>
                      </a:r>
                    </a:p>
                    <a:p>
                      <a:pPr marL="67945">
                        <a:lnSpc>
                          <a:spcPts val="1365"/>
                        </a:lnSpc>
                      </a:pPr>
                      <a:r>
                        <a:rPr lang="en-US" sz="1100" dirty="0">
                          <a:effectLst/>
                        </a:rPr>
                        <a:t>tuples, dictionaries etc.</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366496924"/>
                  </a:ext>
                </a:extLst>
              </a:tr>
              <a:tr h="1119144">
                <a:tc>
                  <a:txBody>
                    <a:bodyPr/>
                    <a:lstStyle/>
                    <a:p>
                      <a:pPr marL="67945">
                        <a:lnSpc>
                          <a:spcPts val="1460"/>
                        </a:lnSpc>
                      </a:pPr>
                      <a:r>
                        <a:rPr lang="en-US" sz="1200">
                          <a:effectLst/>
                        </a:rPr>
                        <a:t>CO5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67945">
                        <a:lnSpc>
                          <a:spcPct val="107000"/>
                        </a:lnSpc>
                      </a:pPr>
                      <a:r>
                        <a:rPr lang="en-IN" sz="1100" dirty="0">
                          <a:effectLst/>
                        </a:rPr>
                        <a:t>Develop application software using object-oriented programming techniques in the</a:t>
                      </a:r>
                    </a:p>
                    <a:p>
                      <a:pPr marL="67945">
                        <a:lnSpc>
                          <a:spcPts val="1375"/>
                        </a:lnSpc>
                      </a:pPr>
                      <a:r>
                        <a:rPr lang="en-US" sz="1100" dirty="0">
                          <a:effectLst/>
                        </a:rPr>
                        <a:t>Python language.</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799869214"/>
                  </a:ext>
                </a:extLst>
              </a:tr>
            </a:tbl>
          </a:graphicData>
        </a:graphic>
      </p:graphicFrame>
      <p:cxnSp>
        <p:nvCxnSpPr>
          <p:cNvPr id="4" name="Google Shape;75;p2">
            <a:extLst>
              <a:ext uri="{FF2B5EF4-FFF2-40B4-BE49-F238E27FC236}">
                <a16:creationId xmlns:a16="http://schemas.microsoft.com/office/drawing/2014/main" id="{324B2F55-2F2D-F2F3-2E9D-64BA892F13F6}"/>
              </a:ext>
            </a:extLst>
          </p:cNvPr>
          <p:cNvCxnSpPr>
            <a:cxnSpLocks/>
          </p:cNvCxnSpPr>
          <p:nvPr/>
        </p:nvCxnSpPr>
        <p:spPr>
          <a:xfrm>
            <a:off x="4038599" y="3597275"/>
            <a:ext cx="2169900" cy="167901"/>
          </a:xfrm>
          <a:prstGeom prst="straightConnector1">
            <a:avLst/>
          </a:prstGeom>
          <a:noFill/>
          <a:ln w="9525" cap="flat" cmpd="sng">
            <a:solidFill>
              <a:srgbClr val="4A7DBA"/>
            </a:solidFill>
            <a:prstDash val="solid"/>
            <a:round/>
            <a:headEnd type="none" w="sm" len="sm"/>
            <a:tailEnd type="triangle" w="med" len="med"/>
          </a:ln>
        </p:spPr>
      </p:cxnSp>
      <p:sp>
        <p:nvSpPr>
          <p:cNvPr id="3" name="Google Shape;261;p23">
            <a:extLst>
              <a:ext uri="{FF2B5EF4-FFF2-40B4-BE49-F238E27FC236}">
                <a16:creationId xmlns:a16="http://schemas.microsoft.com/office/drawing/2014/main" id="{AB8567D0-5531-B498-0195-0F461AE51FCF}"/>
              </a:ext>
            </a:extLst>
          </p:cNvPr>
          <p:cNvSpPr/>
          <p:nvPr/>
        </p:nvSpPr>
        <p:spPr>
          <a:xfrm>
            <a:off x="2779776" y="3175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5" name="Footer Placeholder 4">
            <a:extLst>
              <a:ext uri="{FF2B5EF4-FFF2-40B4-BE49-F238E27FC236}">
                <a16:creationId xmlns:a16="http://schemas.microsoft.com/office/drawing/2014/main" id="{F72DAB35-F6F7-9B19-630D-603F1B714870}"/>
              </a:ext>
            </a:extLst>
          </p:cNvPr>
          <p:cNvSpPr>
            <a:spLocks noGrp="1"/>
          </p:cNvSpPr>
          <p:nvPr>
            <p:ph type="ftr" idx="11"/>
          </p:nvPr>
        </p:nvSpPr>
        <p:spPr/>
        <p:txBody>
          <a:bodyPr/>
          <a:lstStyle/>
          <a:p>
            <a:r>
              <a:rPr lang="en-US"/>
              <a:t>University Institute of Engineering (UIE)</a:t>
            </a:r>
          </a:p>
        </p:txBody>
      </p:sp>
      <p:cxnSp>
        <p:nvCxnSpPr>
          <p:cNvPr id="6" name="Google Shape;75;p2">
            <a:extLst>
              <a:ext uri="{FF2B5EF4-FFF2-40B4-BE49-F238E27FC236}">
                <a16:creationId xmlns:a16="http://schemas.microsoft.com/office/drawing/2014/main" id="{FB63D9A1-C7AF-BB34-E85F-BD61C9318AAB}"/>
              </a:ext>
            </a:extLst>
          </p:cNvPr>
          <p:cNvCxnSpPr>
            <a:cxnSpLocks/>
          </p:cNvCxnSpPr>
          <p:nvPr/>
        </p:nvCxnSpPr>
        <p:spPr>
          <a:xfrm>
            <a:off x="3967780" y="2971276"/>
            <a:ext cx="2240719" cy="1065736"/>
          </a:xfrm>
          <a:prstGeom prst="straightConnector1">
            <a:avLst/>
          </a:prstGeom>
          <a:noFill/>
          <a:ln w="9525" cap="flat" cmpd="sng">
            <a:solidFill>
              <a:srgbClr val="4A7DBA"/>
            </a:solidFill>
            <a:prstDash val="solid"/>
            <a:round/>
            <a:headEnd type="none" w="sm" len="sm"/>
            <a:tailEnd type="triangle" w="med" len="med"/>
          </a:ln>
        </p:spPr>
      </p:cxnSp>
      <p:cxnSp>
        <p:nvCxnSpPr>
          <p:cNvPr id="7" name="Google Shape;75;p2">
            <a:extLst>
              <a:ext uri="{FF2B5EF4-FFF2-40B4-BE49-F238E27FC236}">
                <a16:creationId xmlns:a16="http://schemas.microsoft.com/office/drawing/2014/main" id="{C11886D2-3206-ED67-FEA9-57088CC60797}"/>
              </a:ext>
            </a:extLst>
          </p:cNvPr>
          <p:cNvCxnSpPr>
            <a:cxnSpLocks/>
          </p:cNvCxnSpPr>
          <p:nvPr/>
        </p:nvCxnSpPr>
        <p:spPr>
          <a:xfrm flipV="1">
            <a:off x="4038599" y="4106640"/>
            <a:ext cx="2169900" cy="973385"/>
          </a:xfrm>
          <a:prstGeom prst="straightConnector1">
            <a:avLst/>
          </a:prstGeom>
          <a:noFill/>
          <a:ln w="9525" cap="flat" cmpd="sng">
            <a:solidFill>
              <a:srgbClr val="4A7DBA"/>
            </a:solidFill>
            <a:prstDash val="solid"/>
            <a:round/>
            <a:headEnd type="none" w="sm" len="sm"/>
            <a:tailEnd type="triangle" w="med" len="med"/>
          </a:ln>
        </p:spPr>
      </p:cxnSp>
      <p:cxnSp>
        <p:nvCxnSpPr>
          <p:cNvPr id="8" name="Google Shape;75;p2">
            <a:extLst>
              <a:ext uri="{FF2B5EF4-FFF2-40B4-BE49-F238E27FC236}">
                <a16:creationId xmlns:a16="http://schemas.microsoft.com/office/drawing/2014/main" id="{60CF47D0-E736-7CA6-31F3-ACFAEBE2CBD4}"/>
              </a:ext>
            </a:extLst>
          </p:cNvPr>
          <p:cNvCxnSpPr>
            <a:cxnSpLocks/>
          </p:cNvCxnSpPr>
          <p:nvPr/>
        </p:nvCxnSpPr>
        <p:spPr>
          <a:xfrm flipV="1">
            <a:off x="4038599" y="3527597"/>
            <a:ext cx="2174606" cy="708614"/>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5"/>
          <p:cNvSpPr txBox="1"/>
          <p:nvPr/>
        </p:nvSpPr>
        <p:spPr>
          <a:xfrm>
            <a:off x="2396175" y="17775"/>
            <a:ext cx="6723900" cy="28980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106" name="Google Shape;106;p5"/>
          <p:cNvSpPr txBox="1">
            <a:spLocks noGrp="1"/>
          </p:cNvSpPr>
          <p:nvPr>
            <p:ph type="ftr" idx="11"/>
          </p:nvPr>
        </p:nvSpPr>
        <p:spPr>
          <a:xfrm>
            <a:off x="3028950" y="6356351"/>
            <a:ext cx="3086100" cy="365125"/>
          </a:xfrm>
          <a:prstGeom prst="rect">
            <a:avLst/>
          </a:prstGeom>
          <a:noFill/>
          <a:ln>
            <a:noFill/>
          </a:ln>
        </p:spPr>
        <p:txBody>
          <a:bodyPr spcFirstLastPara="1" vert="horz" wrap="square" lIns="91440" tIns="45720" rIns="91440" bIns="45720" rtlCol="0" anchor="ctr" anchorCtr="0">
            <a:spAutoFit/>
          </a:bodyPr>
          <a:lstStyle>
            <a:defPPr>
              <a:defRPr lang="en-US"/>
            </a:defPPr>
            <a:lvl1pPr algn="ctr" rtl="0" eaLnBrk="0" fontAlgn="base" hangingPunct="0">
              <a:spcBef>
                <a:spcPct val="0"/>
              </a:spcBef>
              <a:spcAft>
                <a:spcPct val="0"/>
              </a:spcAft>
              <a:defRPr sz="1200" kern="1200">
                <a:solidFill>
                  <a:schemeClr val="tx1">
                    <a:tint val="75000"/>
                  </a:schemeClr>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12700" lvl="0" indent="0" algn="l" rtl="0">
              <a:lnSpc>
                <a:spcPct val="100250"/>
              </a:lnSpc>
              <a:spcBef>
                <a:spcPts val="0"/>
              </a:spcBef>
              <a:spcAft>
                <a:spcPts val="0"/>
              </a:spcAft>
              <a:buSzPts val="1400"/>
              <a:buNone/>
            </a:pPr>
            <a:r>
              <a:rPr lang="en-US" sz="1400"/>
              <a:t>University Institute of Engineering (UIE)</a:t>
            </a:r>
            <a:endParaRPr sz="1400" dirty="0"/>
          </a:p>
        </p:txBody>
      </p:sp>
      <p:sp>
        <p:nvSpPr>
          <p:cNvPr id="107" name="Google Shape;107;p5"/>
          <p:cNvSpPr txBox="1">
            <a:spLocks noGrp="1"/>
          </p:cNvSpPr>
          <p:nvPr>
            <p:ph type="title"/>
          </p:nvPr>
        </p:nvSpPr>
        <p:spPr>
          <a:xfrm>
            <a:off x="3444999" y="475300"/>
            <a:ext cx="3578400" cy="567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3600"/>
              <a:t>OBJECTIVES</a:t>
            </a:r>
            <a:endParaRPr sz="3600"/>
          </a:p>
        </p:txBody>
      </p:sp>
      <p:sp>
        <p:nvSpPr>
          <p:cNvPr id="108" name="Google Shape;108;p5"/>
          <p:cNvSpPr txBox="1"/>
          <p:nvPr/>
        </p:nvSpPr>
        <p:spPr>
          <a:xfrm>
            <a:off x="960120" y="1485900"/>
            <a:ext cx="7955280" cy="4130218"/>
          </a:xfrm>
          <a:prstGeom prst="rect">
            <a:avLst/>
          </a:prstGeom>
          <a:noFill/>
          <a:ln>
            <a:noFill/>
          </a:ln>
        </p:spPr>
        <p:txBody>
          <a:bodyPr spcFirstLastPara="1" wrap="square" lIns="0" tIns="12050" rIns="0" bIns="0" anchor="t" anchorCtr="0">
            <a:spAutoFit/>
          </a:bodyPr>
          <a:lstStyle/>
          <a:p>
            <a:pPr marL="12700" marR="5080" lvl="0" indent="0" algn="just" rtl="0">
              <a:lnSpc>
                <a:spcPct val="120000"/>
              </a:lnSpc>
              <a:spcBef>
                <a:spcPts val="0"/>
              </a:spcBef>
              <a:spcAft>
                <a:spcPts val="0"/>
              </a:spcAft>
              <a:buClr>
                <a:srgbClr val="000000"/>
              </a:buClr>
              <a:buSzPts val="2400"/>
              <a:buFont typeface="Arial"/>
              <a:buNone/>
            </a:pPr>
            <a:r>
              <a:rPr lang="en-US" sz="1800" b="0" i="0" u="none" strike="noStrike" cap="none" dirty="0">
                <a:solidFill>
                  <a:schemeClr val="dk1"/>
                </a:solidFill>
                <a:latin typeface="Arial"/>
                <a:ea typeface="Arial"/>
                <a:cs typeface="Arial"/>
                <a:sym typeface="Arial"/>
              </a:rPr>
              <a:t>At the completion of this Chapter, students should be able to do the  following:</a:t>
            </a:r>
          </a:p>
          <a:p>
            <a:pPr marL="12700" marR="405765" lvl="0" algn="just" rtl="0">
              <a:lnSpc>
                <a:spcPct val="100000"/>
              </a:lnSpc>
              <a:spcBef>
                <a:spcPts val="580"/>
              </a:spcBef>
              <a:spcAft>
                <a:spcPts val="0"/>
              </a:spcAft>
              <a:buClr>
                <a:schemeClr val="dk1"/>
              </a:buClr>
              <a:buSzPts val="2400"/>
            </a:pPr>
            <a:r>
              <a:rPr lang="en-US" sz="1800" b="0" i="0" u="none" strike="noStrike" cap="none" dirty="0">
                <a:solidFill>
                  <a:schemeClr val="dk1"/>
                </a:solidFill>
                <a:latin typeface="Arial"/>
                <a:ea typeface="Arial"/>
                <a:cs typeface="Arial"/>
                <a:sym typeface="Arial"/>
              </a:rPr>
              <a:t>1. Implement and compare searching algorithms (linear, binary) and sorting techniques (bubble, insertion, selection, merge, quick) in Python.</a:t>
            </a:r>
          </a:p>
          <a:p>
            <a:pPr marL="12700" marR="405765" lvl="0" algn="just" rtl="0">
              <a:lnSpc>
                <a:spcPct val="100000"/>
              </a:lnSpc>
              <a:spcBef>
                <a:spcPts val="580"/>
              </a:spcBef>
              <a:spcAft>
                <a:spcPts val="0"/>
              </a:spcAft>
              <a:buClr>
                <a:schemeClr val="dk1"/>
              </a:buClr>
              <a:buSzPts val="2400"/>
            </a:pPr>
            <a:r>
              <a:rPr lang="en-US" sz="1800" b="0" i="0" u="none" strike="noStrike" cap="none" dirty="0">
                <a:solidFill>
                  <a:schemeClr val="dk1"/>
                </a:solidFill>
                <a:latin typeface="Arial"/>
                <a:ea typeface="Arial"/>
                <a:cs typeface="Arial"/>
                <a:sym typeface="Arial"/>
              </a:rPr>
              <a:t>2. Apply Object-Oriented Programming concepts including classes, methods, inheritance, and polymorphism to create efficient Python programs.</a:t>
            </a:r>
          </a:p>
          <a:p>
            <a:pPr marL="12700" marR="405765" lvl="0" algn="just" rtl="0">
              <a:lnSpc>
                <a:spcPct val="100000"/>
              </a:lnSpc>
              <a:spcBef>
                <a:spcPts val="580"/>
              </a:spcBef>
              <a:spcAft>
                <a:spcPts val="0"/>
              </a:spcAft>
              <a:buClr>
                <a:schemeClr val="dk1"/>
              </a:buClr>
              <a:buSzPts val="2400"/>
            </a:pPr>
            <a:r>
              <a:rPr lang="en-US" sz="1800" b="0" i="0" u="none" strike="noStrike" cap="none" dirty="0">
                <a:solidFill>
                  <a:schemeClr val="dk1"/>
                </a:solidFill>
                <a:latin typeface="Arial"/>
                <a:ea typeface="Arial"/>
                <a:cs typeface="Arial"/>
                <a:sym typeface="Arial"/>
              </a:rPr>
              <a:t>3. Perform file handling operations in Python, including reading, writing, and manipulating files in various modes.</a:t>
            </a:r>
          </a:p>
          <a:p>
            <a:pPr marL="12700" marR="405765" lvl="0" algn="just" rtl="0">
              <a:lnSpc>
                <a:spcPct val="100000"/>
              </a:lnSpc>
              <a:spcBef>
                <a:spcPts val="580"/>
              </a:spcBef>
              <a:spcAft>
                <a:spcPts val="0"/>
              </a:spcAft>
              <a:buClr>
                <a:schemeClr val="dk1"/>
              </a:buClr>
              <a:buSzPts val="2400"/>
            </a:pPr>
            <a:r>
              <a:rPr lang="en-US" sz="1800" b="0" i="0" u="none" strike="noStrike" cap="none" dirty="0">
                <a:solidFill>
                  <a:schemeClr val="dk1"/>
                </a:solidFill>
                <a:latin typeface="Arial"/>
                <a:ea typeface="Arial"/>
                <a:cs typeface="Arial"/>
                <a:sym typeface="Arial"/>
              </a:rPr>
              <a:t>4. Develop practical applications that integrate searching, sorting, OOP, and file handling to solve programming problems.</a:t>
            </a:r>
          </a:p>
          <a:p>
            <a:pPr marL="12700" marR="405765" lvl="0" algn="just" rtl="0">
              <a:lnSpc>
                <a:spcPct val="100000"/>
              </a:lnSpc>
              <a:spcBef>
                <a:spcPts val="580"/>
              </a:spcBef>
              <a:spcAft>
                <a:spcPts val="0"/>
              </a:spcAft>
              <a:buClr>
                <a:schemeClr val="dk1"/>
              </a:buClr>
              <a:buSzPts val="2400"/>
            </a:pPr>
            <a:r>
              <a:rPr lang="en-US" sz="1800" b="0" i="0" u="none" strike="noStrike" cap="none" dirty="0">
                <a:solidFill>
                  <a:schemeClr val="dk1"/>
                </a:solidFill>
                <a:latin typeface="Arial"/>
                <a:ea typeface="Arial"/>
                <a:cs typeface="Arial"/>
                <a:sym typeface="Arial"/>
              </a:rPr>
              <a:t>5. Analyze the efficiency of implemented algorithms and choose appropriate techniques for different scenarios.</a:t>
            </a:r>
          </a:p>
          <a:p>
            <a:pPr marL="12700" marR="405765" lvl="0" algn="just" rtl="0">
              <a:lnSpc>
                <a:spcPct val="100000"/>
              </a:lnSpc>
              <a:spcBef>
                <a:spcPts val="580"/>
              </a:spcBef>
              <a:spcAft>
                <a:spcPts val="0"/>
              </a:spcAft>
              <a:buClr>
                <a:schemeClr val="dk1"/>
              </a:buClr>
              <a:buSzPts val="2400"/>
            </a:pPr>
            <a:endParaRPr lang="en-US" sz="1800" b="0" i="0" u="none" strike="noStrike" cap="none" dirty="0">
              <a:solidFill>
                <a:schemeClr val="dk1"/>
              </a:solidFill>
              <a:latin typeface="Arial"/>
              <a:ea typeface="Arial"/>
              <a:cs typeface="Arial"/>
              <a:sym typeface="Arial"/>
            </a:endParaRPr>
          </a:p>
        </p:txBody>
      </p:sp>
      <p:sp>
        <p:nvSpPr>
          <p:cNvPr id="2" name="Google Shape;261;p23">
            <a:extLst>
              <a:ext uri="{FF2B5EF4-FFF2-40B4-BE49-F238E27FC236}">
                <a16:creationId xmlns:a16="http://schemas.microsoft.com/office/drawing/2014/main" id="{C544CC9B-22E1-950A-C65E-8DDDFB5AFD3C}"/>
              </a:ext>
            </a:extLst>
          </p:cNvPr>
          <p:cNvSpPr/>
          <p:nvPr/>
        </p:nvSpPr>
        <p:spPr>
          <a:xfrm>
            <a:off x="2779776" y="1143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
          <p:cNvSpPr txBox="1">
            <a:spLocks noGrp="1"/>
          </p:cNvSpPr>
          <p:nvPr>
            <p:ph type="body" idx="1"/>
          </p:nvPr>
        </p:nvSpPr>
        <p:spPr>
          <a:xfrm>
            <a:off x="225807" y="1817058"/>
            <a:ext cx="8358517" cy="371072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t" anchorCtr="0">
            <a:noAutofit/>
          </a:bodyPr>
          <a:lstStyle/>
          <a:p>
            <a:pPr marL="171450" indent="-171450" algn="just">
              <a:lnSpc>
                <a:spcPct val="110000"/>
              </a:lnSpc>
              <a:spcBef>
                <a:spcPts val="0"/>
              </a:spcBef>
              <a:buSzPts val="2400"/>
            </a:pPr>
            <a:r>
              <a:rPr lang="en-US" sz="1800" dirty="0"/>
              <a:t>In Python object-oriented Programming (OOPs) is a programming paradigm that uses objects and classes in programming. It aims to implement real-world entities like inheritance, polymorphisms, encapsulation, etc. in the programming. </a:t>
            </a:r>
            <a:endParaRPr sz="1800" dirty="0"/>
          </a:p>
          <a:p>
            <a:pPr marL="171450" indent="-171450">
              <a:buSzPts val="2400"/>
            </a:pPr>
            <a:r>
              <a:rPr lang="en-US" sz="1800" b="1" dirty="0"/>
              <a:t>OOPs Concepts in Python</a:t>
            </a:r>
            <a:endParaRPr dirty="0"/>
          </a:p>
          <a:p>
            <a:pPr marL="171450" indent="-171450">
              <a:buSzPts val="2400"/>
            </a:pPr>
            <a:r>
              <a:rPr lang="en-US" sz="1800" dirty="0"/>
              <a:t>Class </a:t>
            </a:r>
            <a:endParaRPr dirty="0"/>
          </a:p>
          <a:p>
            <a:pPr marL="171450" indent="-171450">
              <a:buSzPts val="2400"/>
            </a:pPr>
            <a:r>
              <a:rPr lang="en-US" sz="1800" dirty="0"/>
              <a:t>Objects </a:t>
            </a:r>
            <a:endParaRPr dirty="0"/>
          </a:p>
          <a:p>
            <a:pPr marL="171450" indent="-171450">
              <a:buSzPts val="2400"/>
            </a:pPr>
            <a:r>
              <a:rPr lang="en-US" sz="1800" dirty="0"/>
              <a:t>Polymorphism </a:t>
            </a:r>
            <a:endParaRPr dirty="0"/>
          </a:p>
          <a:p>
            <a:pPr marL="171450" indent="-171450">
              <a:buSzPts val="2400"/>
            </a:pPr>
            <a:r>
              <a:rPr lang="en-US" sz="1800" dirty="0"/>
              <a:t>Encapsulation </a:t>
            </a:r>
            <a:endParaRPr dirty="0"/>
          </a:p>
          <a:p>
            <a:pPr marL="171450" indent="-171450">
              <a:buSzPts val="2400"/>
            </a:pPr>
            <a:r>
              <a:rPr lang="en-US" sz="1800" dirty="0"/>
              <a:t>Inheritance </a:t>
            </a:r>
            <a:endParaRPr dirty="0"/>
          </a:p>
          <a:p>
            <a:pPr marL="171450" indent="-171450">
              <a:buSzPts val="2400"/>
            </a:pPr>
            <a:r>
              <a:rPr lang="en-US" sz="1800" dirty="0"/>
              <a:t>Data Abstraction </a:t>
            </a:r>
            <a:endParaRPr dirty="0"/>
          </a:p>
          <a:p>
            <a:pPr marL="171450" indent="-57150">
              <a:lnSpc>
                <a:spcPct val="110000"/>
              </a:lnSpc>
              <a:buSzPts val="2400"/>
              <a:buNone/>
            </a:pPr>
            <a:endParaRPr sz="1800" dirty="0"/>
          </a:p>
          <a:p>
            <a:pPr marL="171450" indent="-57150" algn="just">
              <a:lnSpc>
                <a:spcPct val="110000"/>
              </a:lnSpc>
              <a:buSzPts val="2400"/>
              <a:buNone/>
            </a:pPr>
            <a:endParaRPr sz="1800" dirty="0"/>
          </a:p>
        </p:txBody>
      </p:sp>
      <p:sp>
        <p:nvSpPr>
          <p:cNvPr id="120" name="Google Shape;120;p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r>
              <a:rPr lang="en-US" sz="2400" dirty="0">
                <a:solidFill>
                  <a:schemeClr val="dk1"/>
                </a:solidFill>
              </a:rPr>
              <a:t>Object Oriented Programming &amp; File Handling</a:t>
            </a:r>
            <a:br>
              <a:rPr lang="en-US" sz="2700" dirty="0">
                <a:solidFill>
                  <a:schemeClr val="dk1"/>
                </a:solidFill>
              </a:rPr>
            </a:br>
            <a:endParaRPr sz="2700" dirty="0">
              <a:solidFill>
                <a:schemeClr val="dk1"/>
              </a:solidFill>
            </a:endParaRPr>
          </a:p>
        </p:txBody>
      </p:sp>
      <p:pic>
        <p:nvPicPr>
          <p:cNvPr id="121" name="Google Shape;121;p1"/>
          <p:cNvPicPr preferRelativeResize="0"/>
          <p:nvPr/>
        </p:nvPicPr>
        <p:blipFill rotWithShape="1">
          <a:blip r:embed="rId3">
            <a:alphaModFix/>
          </a:blip>
          <a:srcRect/>
          <a:stretch/>
        </p:blipFill>
        <p:spPr>
          <a:xfrm>
            <a:off x="5511800" y="2834643"/>
            <a:ext cx="2444750" cy="2404749"/>
          </a:xfrm>
          <a:prstGeom prst="rect">
            <a:avLst/>
          </a:prstGeom>
          <a:noFill/>
          <a:ln>
            <a:noFill/>
          </a:ln>
        </p:spPr>
      </p:pic>
      <p:sp>
        <p:nvSpPr>
          <p:cNvPr id="2" name="Footer Placeholder 1">
            <a:extLst>
              <a:ext uri="{FF2B5EF4-FFF2-40B4-BE49-F238E27FC236}">
                <a16:creationId xmlns:a16="http://schemas.microsoft.com/office/drawing/2014/main" id="{21929715-20CA-34EF-7023-DEFC8DD1573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8" name="Google Shape;128;p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r>
              <a:rPr lang="en-US" sz="2400" dirty="0">
                <a:solidFill>
                  <a:schemeClr val="dk1"/>
                </a:solidFill>
              </a:rPr>
              <a:t>Object Oriented Programming &amp;File Handling</a:t>
            </a:r>
            <a:br>
              <a:rPr lang="en-US" sz="3000" dirty="0">
                <a:solidFill>
                  <a:schemeClr val="dk1"/>
                </a:solidFill>
              </a:rPr>
            </a:br>
            <a:endParaRPr sz="2700" dirty="0">
              <a:solidFill>
                <a:schemeClr val="dk1"/>
              </a:solidFill>
            </a:endParaRPr>
          </a:p>
        </p:txBody>
      </p:sp>
      <p:sp>
        <p:nvSpPr>
          <p:cNvPr id="129" name="Google Shape;129;p2"/>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dirty="0"/>
              <a:t>Python Class: </a:t>
            </a:r>
            <a:r>
              <a:rPr lang="en-US" sz="1800" dirty="0"/>
              <a:t>A class is a collection of objects. A class contains the blueprints or the prototype from which the objects are being created. It is a logical entity that contains some attributes and methods. </a:t>
            </a:r>
            <a:endParaRPr sz="1800" dirty="0"/>
          </a:p>
          <a:p>
            <a:pPr marL="171450" indent="-171450">
              <a:buSzPts val="2400"/>
            </a:pPr>
            <a:r>
              <a:rPr lang="en-US" sz="1800" b="1" dirty="0"/>
              <a:t>Key points on Python class:</a:t>
            </a:r>
            <a:r>
              <a:rPr lang="en-US" sz="1800" dirty="0"/>
              <a:t>  </a:t>
            </a:r>
            <a:endParaRPr dirty="0"/>
          </a:p>
          <a:p>
            <a:pPr marL="171450" indent="-171450">
              <a:buSzPts val="2400"/>
            </a:pPr>
            <a:r>
              <a:rPr lang="en-US" sz="1800" dirty="0"/>
              <a:t>Classes are created by keyword class.</a:t>
            </a:r>
            <a:endParaRPr dirty="0"/>
          </a:p>
          <a:p>
            <a:pPr marL="171450" indent="-171450">
              <a:buSzPts val="2400"/>
            </a:pPr>
            <a:r>
              <a:rPr lang="en-US" sz="1800" dirty="0"/>
              <a:t>Attributes are the variables that belong to a class.</a:t>
            </a:r>
            <a:endParaRPr sz="1800" dirty="0"/>
          </a:p>
        </p:txBody>
      </p:sp>
      <p:pic>
        <p:nvPicPr>
          <p:cNvPr id="130" name="Google Shape;130;p2"/>
          <p:cNvPicPr preferRelativeResize="0"/>
          <p:nvPr/>
        </p:nvPicPr>
        <p:blipFill rotWithShape="1">
          <a:blip r:embed="rId3">
            <a:alphaModFix/>
          </a:blip>
          <a:srcRect/>
          <a:stretch/>
        </p:blipFill>
        <p:spPr>
          <a:xfrm>
            <a:off x="5857875" y="2863850"/>
            <a:ext cx="2328863" cy="1714500"/>
          </a:xfrm>
          <a:prstGeom prst="rect">
            <a:avLst/>
          </a:prstGeom>
          <a:noFill/>
          <a:ln>
            <a:noFill/>
          </a:ln>
        </p:spPr>
      </p:pic>
      <p:sp>
        <p:nvSpPr>
          <p:cNvPr id="2" name="Footer Placeholder 1">
            <a:extLst>
              <a:ext uri="{FF2B5EF4-FFF2-40B4-BE49-F238E27FC236}">
                <a16:creationId xmlns:a16="http://schemas.microsoft.com/office/drawing/2014/main" id="{04BCD4B2-7E4A-6A8A-A279-5AEEA652ADBE}"/>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7" name="Google Shape;137;p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r>
              <a:rPr lang="en-US" sz="2400" dirty="0">
                <a:solidFill>
                  <a:schemeClr val="dk1"/>
                </a:solidFill>
              </a:rPr>
              <a:t>Object Oriented Programming &amp;File Handling</a:t>
            </a:r>
            <a:br>
              <a:rPr lang="en-US" sz="3000" dirty="0">
                <a:solidFill>
                  <a:schemeClr val="dk1"/>
                </a:solidFill>
              </a:rPr>
            </a:br>
            <a:endParaRPr dirty="0">
              <a:solidFill>
                <a:schemeClr val="dk1"/>
              </a:solidFill>
            </a:endParaRPr>
          </a:p>
        </p:txBody>
      </p:sp>
      <p:sp>
        <p:nvSpPr>
          <p:cNvPr id="138" name="Google Shape;138;p3"/>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a:t> </a:t>
            </a:r>
            <a:r>
              <a:rPr lang="en-US" sz="1800" b="1"/>
              <a:t>Python Objects</a:t>
            </a:r>
            <a:r>
              <a:rPr lang="en-US" sz="1800"/>
              <a:t>: In object oriented programming Python, The object is an entity that has a state and behavior associated with it. It may be any real-world object like a mouse, keyboard, chair, table, pen, etc. Integers, strings, floating-point numbers, even arrays, and dictionaries, are all objects.</a:t>
            </a:r>
            <a:endParaRPr/>
          </a:p>
          <a:p>
            <a:pPr marL="171450" indent="-171450" algn="just">
              <a:buSzPts val="2400"/>
            </a:pPr>
            <a:r>
              <a:rPr lang="en-US" sz="1800" b="1"/>
              <a:t>Creating an Object:</a:t>
            </a:r>
            <a:endParaRPr sz="1800" b="1"/>
          </a:p>
          <a:p>
            <a:pPr marL="0" indent="0" algn="just">
              <a:buSzPts val="2400"/>
              <a:buNone/>
            </a:pPr>
            <a:r>
              <a:rPr lang="en-US" sz="1800" b="1"/>
              <a:t>   </a:t>
            </a:r>
            <a:r>
              <a:rPr lang="en-US" sz="1800"/>
              <a:t>This will create an object named obj of the class Dog.</a:t>
            </a:r>
            <a:endParaRPr/>
          </a:p>
          <a:p>
            <a:pPr marL="171450" indent="-171450" algn="just">
              <a:buSzPts val="2400"/>
            </a:pPr>
            <a:r>
              <a:rPr lang="en-US" sz="1800"/>
              <a:t> obj = Dog()</a:t>
            </a:r>
            <a:endParaRPr/>
          </a:p>
          <a:p>
            <a:pPr marL="171450" indent="-171450" algn="just">
              <a:buSzPts val="2400"/>
            </a:pPr>
            <a:r>
              <a:rPr lang="en-US" sz="1800" b="1"/>
              <a:t>The Python _init_ Method : </a:t>
            </a:r>
            <a:r>
              <a:rPr lang="en-US" sz="1800"/>
              <a:t>The </a:t>
            </a:r>
            <a:r>
              <a:rPr lang="en-US" sz="1800" u="sng">
                <a:solidFill>
                  <a:schemeClr val="hlink"/>
                </a:solidFill>
                <a:hlinkClick r:id="rId3"/>
              </a:rPr>
              <a:t>_init_ method</a:t>
            </a:r>
            <a:r>
              <a:rPr lang="en-US" sz="1800"/>
              <a:t> is similar to constructors in C++ and Java. It is run as soon as an object of a class is instantiated. The method is useful to do any initialization you want to do with your object.</a:t>
            </a:r>
            <a:endParaRPr sz="1800" b="1"/>
          </a:p>
          <a:p>
            <a:pPr marL="0" indent="0" algn="just">
              <a:buSzPts val="2400"/>
              <a:buNone/>
            </a:pPr>
            <a:endParaRPr sz="1800" b="1"/>
          </a:p>
        </p:txBody>
      </p:sp>
      <p:sp>
        <p:nvSpPr>
          <p:cNvPr id="2" name="Footer Placeholder 1">
            <a:extLst>
              <a:ext uri="{FF2B5EF4-FFF2-40B4-BE49-F238E27FC236}">
                <a16:creationId xmlns:a16="http://schemas.microsoft.com/office/drawing/2014/main" id="{1665218A-9752-D0D5-3B1A-CD81645F3764}"/>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2700" dirty="0">
                <a:solidFill>
                  <a:schemeClr val="dk1"/>
                </a:solidFill>
              </a:rPr>
            </a:br>
            <a:br>
              <a:rPr lang="en-US" sz="2700" dirty="0">
                <a:solidFill>
                  <a:schemeClr val="dk1"/>
                </a:solidFill>
              </a:rPr>
            </a:br>
            <a:br>
              <a:rPr lang="en-US" sz="4950" dirty="0">
                <a:solidFill>
                  <a:schemeClr val="dk1"/>
                </a:solidFill>
              </a:rPr>
            </a:br>
            <a:r>
              <a:rPr lang="en-US" sz="2400" dirty="0">
                <a:solidFill>
                  <a:schemeClr val="dk1"/>
                </a:solidFill>
              </a:rPr>
              <a:t>Object Oriented Programming &amp;File Handling</a:t>
            </a:r>
            <a:br>
              <a:rPr lang="en-US" sz="4950" dirty="0">
                <a:solidFill>
                  <a:schemeClr val="dk1"/>
                </a:solidFill>
              </a:rPr>
            </a:br>
            <a:br>
              <a:rPr lang="en-US" sz="3600" dirty="0">
                <a:solidFill>
                  <a:schemeClr val="dk1"/>
                </a:solidFill>
              </a:rPr>
            </a:br>
            <a:br>
              <a:rPr lang="en-US" sz="3300" dirty="0">
                <a:solidFill>
                  <a:schemeClr val="dk1"/>
                </a:solidFill>
              </a:rPr>
            </a:br>
            <a:br>
              <a:rPr lang="en-US" sz="2700" dirty="0">
                <a:solidFill>
                  <a:schemeClr val="dk1"/>
                </a:solidFill>
              </a:rPr>
            </a:br>
            <a:endParaRPr sz="2700" dirty="0">
              <a:solidFill>
                <a:schemeClr val="dk1"/>
              </a:solidFill>
            </a:endParaRPr>
          </a:p>
        </p:txBody>
      </p:sp>
      <p:sp>
        <p:nvSpPr>
          <p:cNvPr id="146" name="Google Shape;146;p4"/>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buNone/>
            </a:pPr>
            <a:r>
              <a:rPr lang="en-US" sz="1500" b="1"/>
              <a:t>For example, # Python _init_ Method</a:t>
            </a:r>
            <a:endParaRPr sz="1500" b="1"/>
          </a:p>
          <a:p>
            <a:pPr marL="171450" indent="-171450">
              <a:buSzPts val="2000"/>
              <a:buNone/>
            </a:pPr>
            <a:r>
              <a:rPr lang="en-US" sz="1500"/>
              <a:t>class circle:</a:t>
            </a:r>
            <a:endParaRPr/>
          </a:p>
          <a:p>
            <a:pPr marL="171450" indent="-171450">
              <a:buSzPts val="2000"/>
              <a:buNone/>
            </a:pPr>
            <a:r>
              <a:rPr lang="en-US" sz="1500"/>
              <a:t>    pi=0</a:t>
            </a:r>
            <a:endParaRPr/>
          </a:p>
          <a:p>
            <a:pPr marL="171450" indent="-171450">
              <a:buSzPts val="2000"/>
              <a:buNone/>
            </a:pPr>
            <a:r>
              <a:rPr lang="en-US" sz="1500"/>
              <a:t>    r=0</a:t>
            </a:r>
            <a:endParaRPr/>
          </a:p>
          <a:p>
            <a:pPr marL="171450" indent="-171450">
              <a:buSzPts val="2000"/>
              <a:buNone/>
            </a:pPr>
            <a:r>
              <a:rPr lang="en-US" sz="1500"/>
              <a:t>    def __init__(self):                                                     </a:t>
            </a:r>
            <a:r>
              <a:rPr lang="en-US" sz="1500" b="1"/>
              <a:t>                            </a:t>
            </a:r>
            <a:endParaRPr sz="1500" b="1"/>
          </a:p>
          <a:p>
            <a:pPr marL="171450" indent="-171450">
              <a:buSzPts val="2000"/>
              <a:buNone/>
            </a:pPr>
            <a:r>
              <a:rPr lang="en-US" sz="1500"/>
              <a:t>        self.pi=3.14                                                            </a:t>
            </a:r>
            <a:endParaRPr sz="1500"/>
          </a:p>
          <a:p>
            <a:pPr marL="171450" indent="-171450">
              <a:buSzPts val="2000"/>
              <a:buNone/>
            </a:pPr>
            <a:r>
              <a:rPr lang="en-US" sz="1500"/>
              <a:t>        self.r=5                                                                   </a:t>
            </a:r>
            <a:endParaRPr sz="1500"/>
          </a:p>
          <a:p>
            <a:pPr marL="171450" indent="-171450">
              <a:buSzPts val="2000"/>
              <a:buNone/>
            </a:pPr>
            <a:r>
              <a:rPr lang="en-US" sz="1500"/>
              <a:t>    def area(self):</a:t>
            </a:r>
            <a:endParaRPr/>
          </a:p>
          <a:p>
            <a:pPr marL="171450" indent="-171450">
              <a:buSzPts val="2000"/>
              <a:buNone/>
            </a:pPr>
            <a:r>
              <a:rPr lang="en-US" sz="1500"/>
              <a:t>        print(self.r)</a:t>
            </a:r>
            <a:endParaRPr/>
          </a:p>
          <a:p>
            <a:pPr marL="171450" indent="-171450">
              <a:buSzPts val="2000"/>
              <a:buNone/>
            </a:pPr>
            <a:r>
              <a:rPr lang="en-US" sz="1500"/>
              <a:t>        return self.pi*self.r**2</a:t>
            </a:r>
            <a:endParaRPr/>
          </a:p>
          <a:p>
            <a:pPr marL="171450" indent="-171450">
              <a:buSzPts val="2000"/>
              <a:buNone/>
            </a:pPr>
            <a:r>
              <a:rPr lang="en-US" sz="1500"/>
              <a:t>ob1=circle()</a:t>
            </a:r>
            <a:endParaRPr/>
          </a:p>
          <a:p>
            <a:pPr marL="171450" indent="-171450">
              <a:buSzPts val="2000"/>
              <a:buNone/>
            </a:pPr>
            <a:r>
              <a:rPr lang="en-US" sz="1500"/>
              <a:t>print(ob1.area())</a:t>
            </a:r>
            <a:endParaRPr/>
          </a:p>
          <a:p>
            <a:pPr marL="0" indent="0" algn="just">
              <a:lnSpc>
                <a:spcPct val="150000"/>
              </a:lnSpc>
              <a:buSzPts val="2400"/>
              <a:buNone/>
            </a:pPr>
            <a:endParaRPr sz="1800"/>
          </a:p>
        </p:txBody>
      </p:sp>
      <p:pic>
        <p:nvPicPr>
          <p:cNvPr id="147" name="Google Shape;147;p4"/>
          <p:cNvPicPr preferRelativeResize="0"/>
          <p:nvPr/>
        </p:nvPicPr>
        <p:blipFill rotWithShape="1">
          <a:blip r:embed="rId3">
            <a:alphaModFix/>
          </a:blip>
          <a:srcRect/>
          <a:stretch/>
        </p:blipFill>
        <p:spPr>
          <a:xfrm>
            <a:off x="5920581" y="3719512"/>
            <a:ext cx="2014538" cy="1343025"/>
          </a:xfrm>
          <a:prstGeom prst="rect">
            <a:avLst/>
          </a:prstGeom>
          <a:noFill/>
          <a:ln>
            <a:noFill/>
          </a:ln>
        </p:spPr>
      </p:pic>
      <p:sp>
        <p:nvSpPr>
          <p:cNvPr id="2" name="Footer Placeholder 1">
            <a:extLst>
              <a:ext uri="{FF2B5EF4-FFF2-40B4-BE49-F238E27FC236}">
                <a16:creationId xmlns:a16="http://schemas.microsoft.com/office/drawing/2014/main" id="{796ACB3C-0E2A-1014-56F1-42F3B2D97E25}"/>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2700" dirty="0">
                <a:solidFill>
                  <a:schemeClr val="dk1"/>
                </a:solidFill>
              </a:rPr>
            </a:br>
            <a:br>
              <a:rPr lang="en-US" sz="2700" dirty="0">
                <a:solidFill>
                  <a:schemeClr val="dk1"/>
                </a:solidFill>
              </a:rPr>
            </a:br>
            <a:br>
              <a:rPr lang="en-US" sz="4950" dirty="0">
                <a:solidFill>
                  <a:schemeClr val="dk1"/>
                </a:solidFill>
              </a:rPr>
            </a:br>
            <a:r>
              <a:rPr lang="en-US" sz="2400" dirty="0">
                <a:solidFill>
                  <a:schemeClr val="dk1"/>
                </a:solidFill>
              </a:rPr>
              <a:t>Object Oriented Programming &amp;File Handling</a:t>
            </a:r>
            <a:br>
              <a:rPr lang="en-US" sz="4950" dirty="0">
                <a:solidFill>
                  <a:schemeClr val="dk1"/>
                </a:solidFill>
              </a:rPr>
            </a:br>
            <a:br>
              <a:rPr lang="en-US" sz="3600" dirty="0">
                <a:solidFill>
                  <a:schemeClr val="dk1"/>
                </a:solidFill>
              </a:rPr>
            </a:br>
            <a:br>
              <a:rPr lang="en-US" sz="3300" dirty="0">
                <a:solidFill>
                  <a:schemeClr val="dk1"/>
                </a:solidFill>
              </a:rPr>
            </a:br>
            <a:br>
              <a:rPr lang="en-US" sz="2700" dirty="0">
                <a:solidFill>
                  <a:schemeClr val="dk1"/>
                </a:solidFill>
              </a:rPr>
            </a:br>
            <a:endParaRPr sz="2700" dirty="0">
              <a:solidFill>
                <a:schemeClr val="dk1"/>
              </a:solidFill>
            </a:endParaRPr>
          </a:p>
        </p:txBody>
      </p:sp>
      <p:sp>
        <p:nvSpPr>
          <p:cNvPr id="155" name="Google Shape;155;p5"/>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b="1"/>
              <a:t>__del__() (Destructor Method):</a:t>
            </a:r>
            <a:br>
              <a:rPr lang="en-US" sz="1800" b="1"/>
            </a:br>
            <a:br>
              <a:rPr lang="en-US" sz="1800" b="1"/>
            </a:br>
            <a:r>
              <a:rPr lang="en-US" sz="1500"/>
              <a:t>class demo:</a:t>
            </a:r>
            <a:endParaRPr/>
          </a:p>
          <a:p>
            <a:pPr marL="171450" indent="-171450">
              <a:buSzPts val="2000"/>
              <a:buNone/>
            </a:pPr>
            <a:r>
              <a:rPr lang="en-US" sz="1500"/>
              <a:t>    def __init__(self):</a:t>
            </a:r>
            <a:endParaRPr/>
          </a:p>
          <a:p>
            <a:pPr marL="171450" indent="-171450">
              <a:buSzPts val="2000"/>
              <a:buNone/>
            </a:pPr>
            <a:r>
              <a:rPr lang="en-US" sz="1500"/>
              <a:t>        print("welcome")</a:t>
            </a:r>
            <a:endParaRPr/>
          </a:p>
          <a:p>
            <a:pPr marL="171450" indent="-171450">
              <a:buSzPts val="2000"/>
              <a:buNone/>
            </a:pPr>
            <a:r>
              <a:rPr lang="en-US" sz="1500"/>
              <a:t>    def __del__(self):</a:t>
            </a:r>
            <a:endParaRPr/>
          </a:p>
          <a:p>
            <a:pPr marL="171450" indent="-171450">
              <a:buSzPts val="2000"/>
              <a:buNone/>
            </a:pPr>
            <a:r>
              <a:rPr lang="en-US" sz="1500"/>
              <a:t>        print("destructor executed successfully")                                      </a:t>
            </a:r>
            <a:endParaRPr/>
          </a:p>
          <a:p>
            <a:pPr marL="171450" indent="-171450">
              <a:buSzPts val="2000"/>
              <a:buNone/>
            </a:pPr>
            <a:r>
              <a:rPr lang="en-US" sz="1500"/>
              <a:t>ob1=demo()</a:t>
            </a:r>
            <a:endParaRPr/>
          </a:p>
          <a:p>
            <a:pPr marL="171450" indent="-171450">
              <a:buSzPts val="2000"/>
              <a:buNone/>
            </a:pPr>
            <a:r>
              <a:rPr lang="en-US" sz="1500"/>
              <a:t>ob2=ob1</a:t>
            </a:r>
            <a:endParaRPr/>
          </a:p>
          <a:p>
            <a:pPr marL="171450" indent="-171450">
              <a:buSzPts val="2000"/>
              <a:buNone/>
            </a:pPr>
            <a:r>
              <a:rPr lang="en-US" sz="1500"/>
              <a:t>del ob1          #you can delete an object by using del keyword</a:t>
            </a:r>
            <a:endParaRPr/>
          </a:p>
          <a:p>
            <a:pPr marL="171450" indent="-171450">
              <a:buSzPts val="2000"/>
              <a:buNone/>
            </a:pPr>
            <a:r>
              <a:rPr lang="en-US" sz="1500"/>
              <a:t>del ob2</a:t>
            </a:r>
            <a:endParaRPr/>
          </a:p>
          <a:p>
            <a:pPr marL="0" indent="0">
              <a:buSzPts val="2400"/>
              <a:buNone/>
            </a:pPr>
            <a:endParaRPr sz="1800" b="1"/>
          </a:p>
        </p:txBody>
      </p:sp>
      <p:pic>
        <p:nvPicPr>
          <p:cNvPr id="156" name="Google Shape;156;p5"/>
          <p:cNvPicPr preferRelativeResize="0"/>
          <p:nvPr/>
        </p:nvPicPr>
        <p:blipFill rotWithShape="1">
          <a:blip r:embed="rId3">
            <a:alphaModFix/>
          </a:blip>
          <a:srcRect/>
          <a:stretch/>
        </p:blipFill>
        <p:spPr>
          <a:xfrm>
            <a:off x="5636419" y="3597673"/>
            <a:ext cx="2328863" cy="850106"/>
          </a:xfrm>
          <a:prstGeom prst="rect">
            <a:avLst/>
          </a:prstGeom>
          <a:noFill/>
          <a:ln>
            <a:noFill/>
          </a:ln>
        </p:spPr>
      </p:pic>
      <p:sp>
        <p:nvSpPr>
          <p:cNvPr id="2" name="Footer Placeholder 1">
            <a:extLst>
              <a:ext uri="{FF2B5EF4-FFF2-40B4-BE49-F238E27FC236}">
                <a16:creationId xmlns:a16="http://schemas.microsoft.com/office/drawing/2014/main" id="{FE5B1477-3243-02E2-739E-28B711FCE77E}"/>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3" name="Google Shape;163;p6"/>
          <p:cNvSpPr txBox="1">
            <a:spLocks noGrp="1"/>
          </p:cNvSpPr>
          <p:nvPr>
            <p:ph type="title" idx="4294967295"/>
          </p:nvPr>
        </p:nvSpPr>
        <p:spPr>
          <a:xfrm>
            <a:off x="583981" y="103395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164" name="Google Shape;164;p6"/>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Self Parameter and Adding Methods to a class: </a:t>
            </a:r>
            <a:r>
              <a:rPr lang="en-US" sz="1800"/>
              <a:t>There is only one difference between class methods and ordinary functions. The self parameter is used in the implementation of the method, but it is not used when the method is called. </a:t>
            </a:r>
            <a:endParaRPr sz="1800"/>
          </a:p>
          <a:p>
            <a:pPr marL="171450" indent="-171450">
              <a:lnSpc>
                <a:spcPct val="80000"/>
              </a:lnSpc>
              <a:buSzPts val="2400"/>
              <a:buNone/>
            </a:pPr>
            <a:r>
              <a:rPr lang="en-US" sz="1800" b="1"/>
              <a:t>Example:</a:t>
            </a:r>
            <a:endParaRPr/>
          </a:p>
          <a:p>
            <a:pPr marL="171450" indent="-171450">
              <a:buSzPts val="2000"/>
              <a:buNone/>
            </a:pPr>
            <a:r>
              <a:rPr lang="en-US" sz="1500"/>
              <a:t>class demo:</a:t>
            </a:r>
            <a:endParaRPr/>
          </a:p>
          <a:p>
            <a:pPr marL="171450" indent="-171450">
              <a:buSzPts val="2000"/>
              <a:buNone/>
            </a:pPr>
            <a:r>
              <a:rPr lang="en-US" sz="1500"/>
              <a:t>    def display(self):</a:t>
            </a:r>
            <a:endParaRPr/>
          </a:p>
          <a:p>
            <a:pPr marL="171450" indent="-171450">
              <a:buSzPts val="2000"/>
              <a:buNone/>
            </a:pPr>
            <a:r>
              <a:rPr lang="en-US" sz="1500"/>
              <a:t>        print("welcome")</a:t>
            </a:r>
            <a:endParaRPr sz="1500"/>
          </a:p>
          <a:p>
            <a:pPr marL="171450" indent="-171450">
              <a:buSzPts val="2000"/>
              <a:buNone/>
            </a:pPr>
            <a:r>
              <a:rPr lang="en-US" sz="1500"/>
              <a:t>ob1=demo()</a:t>
            </a:r>
            <a:endParaRPr/>
          </a:p>
          <a:p>
            <a:pPr marL="171450" indent="-171450">
              <a:buSzPts val="2000"/>
              <a:buNone/>
            </a:pPr>
            <a:r>
              <a:rPr lang="en-US" sz="1500"/>
              <a:t>ob1.display()</a:t>
            </a:r>
            <a:endParaRPr/>
          </a:p>
          <a:p>
            <a:pPr marL="171450" indent="-171450">
              <a:buSzPts val="2400"/>
              <a:buNone/>
            </a:pPr>
            <a:r>
              <a:rPr lang="en-US" sz="1800" b="1"/>
              <a:t>Output:</a:t>
            </a:r>
            <a:endParaRPr/>
          </a:p>
          <a:p>
            <a:pPr marL="171450" indent="-171450">
              <a:buSzPts val="2400"/>
              <a:buNone/>
            </a:pPr>
            <a:r>
              <a:rPr lang="en-US" sz="1800" b="1"/>
              <a:t>welcome</a:t>
            </a:r>
            <a:endParaRPr/>
          </a:p>
          <a:p>
            <a:pPr marL="171450" indent="-57150">
              <a:buSzPts val="2400"/>
              <a:buNone/>
            </a:pPr>
            <a:endParaRPr sz="1800"/>
          </a:p>
        </p:txBody>
      </p:sp>
      <p:sp>
        <p:nvSpPr>
          <p:cNvPr id="2" name="Footer Placeholder 1">
            <a:extLst>
              <a:ext uri="{FF2B5EF4-FFF2-40B4-BE49-F238E27FC236}">
                <a16:creationId xmlns:a16="http://schemas.microsoft.com/office/drawing/2014/main" id="{A2E18BC0-6373-C4D0-C8EA-A6008229FDF8}"/>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300" dirty="0">
                <a:solidFill>
                  <a:schemeClr val="dk1"/>
                </a:solidFill>
              </a:rPr>
            </a:br>
            <a:r>
              <a:rPr lang="en-US" sz="2400" dirty="0">
                <a:solidFill>
                  <a:schemeClr val="dk1"/>
                </a:solidFill>
              </a:rPr>
              <a:t>Object Oriented Programming &amp;File Handling</a:t>
            </a:r>
            <a:br>
              <a:rPr lang="en-US" sz="3300" dirty="0">
                <a:solidFill>
                  <a:schemeClr val="dk1"/>
                </a:solidFill>
              </a:rPr>
            </a:br>
            <a:endParaRPr sz="2700" dirty="0">
              <a:solidFill>
                <a:schemeClr val="dk1"/>
              </a:solidFill>
            </a:endParaRPr>
          </a:p>
        </p:txBody>
      </p:sp>
      <p:sp>
        <p:nvSpPr>
          <p:cNvPr id="172" name="Google Shape;172;p7"/>
          <p:cNvSpPr txBox="1">
            <a:spLocks noGrp="1"/>
          </p:cNvSpPr>
          <p:nvPr>
            <p:ph type="body" idx="1"/>
          </p:nvPr>
        </p:nvSpPr>
        <p:spPr>
          <a:xfrm>
            <a:off x="400050" y="1840706"/>
            <a:ext cx="7996238" cy="358219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Use of Self:</a:t>
            </a:r>
            <a:endParaRPr sz="1800" b="1"/>
          </a:p>
          <a:p>
            <a:pPr marL="171450" indent="-171450">
              <a:buSzPts val="2000"/>
              <a:buNone/>
            </a:pPr>
            <a:r>
              <a:rPr lang="en-US" sz="1500"/>
              <a:t>class demo:</a:t>
            </a:r>
            <a:endParaRPr/>
          </a:p>
          <a:p>
            <a:pPr marL="171450" indent="-171450">
              <a:buSzPts val="2000"/>
              <a:buNone/>
            </a:pPr>
            <a:r>
              <a:rPr lang="en-US" sz="1500"/>
              <a:t>    x=5</a:t>
            </a:r>
            <a:endParaRPr/>
          </a:p>
          <a:p>
            <a:pPr marL="171450" indent="-171450">
              <a:buSzPts val="2000"/>
              <a:buNone/>
            </a:pPr>
            <a:r>
              <a:rPr lang="en-US" sz="1500"/>
              <a:t>    def display(self,x):</a:t>
            </a:r>
            <a:endParaRPr/>
          </a:p>
          <a:p>
            <a:pPr marL="171450" indent="-171450">
              <a:buSzPts val="2000"/>
              <a:buNone/>
            </a:pPr>
            <a:r>
              <a:rPr lang="en-US" sz="1500"/>
              <a:t>        x=x+30</a:t>
            </a:r>
            <a:endParaRPr/>
          </a:p>
          <a:p>
            <a:pPr marL="171450" indent="-171450">
              <a:buSzPts val="2000"/>
              <a:buNone/>
            </a:pPr>
            <a:r>
              <a:rPr lang="en-US" sz="1500"/>
              <a:t>        print("local" ,x)</a:t>
            </a:r>
            <a:endParaRPr/>
          </a:p>
          <a:p>
            <a:pPr marL="171450" indent="-171450">
              <a:buSzPts val="2000"/>
              <a:buNone/>
            </a:pPr>
            <a:r>
              <a:rPr lang="en-US" sz="1500"/>
              <a:t>        print("instance variable", self.x)</a:t>
            </a:r>
            <a:endParaRPr/>
          </a:p>
          <a:p>
            <a:pPr marL="171450" indent="-171450">
              <a:buSzPts val="2000"/>
              <a:buNone/>
            </a:pPr>
            <a:r>
              <a:rPr lang="en-US" sz="1500"/>
              <a:t>ob1=demo()</a:t>
            </a:r>
            <a:endParaRPr/>
          </a:p>
          <a:p>
            <a:pPr marL="171450" indent="-171450">
              <a:buSzPts val="2000"/>
              <a:buNone/>
            </a:pPr>
            <a:r>
              <a:rPr lang="en-US" sz="1500"/>
              <a:t>ob1.display(50)</a:t>
            </a:r>
            <a:endParaRPr sz="1500"/>
          </a:p>
          <a:p>
            <a:pPr marL="171450" indent="-171450">
              <a:buSzPts val="2000"/>
              <a:buNone/>
            </a:pPr>
            <a:endParaRPr sz="1500" b="1"/>
          </a:p>
          <a:p>
            <a:pPr marL="0" indent="0" algn="just">
              <a:buSzPts val="2000"/>
              <a:buNone/>
            </a:pPr>
            <a:endParaRPr sz="1500"/>
          </a:p>
        </p:txBody>
      </p:sp>
      <p:pic>
        <p:nvPicPr>
          <p:cNvPr id="173" name="Google Shape;173;p7"/>
          <p:cNvPicPr preferRelativeResize="0"/>
          <p:nvPr/>
        </p:nvPicPr>
        <p:blipFill rotWithShape="1">
          <a:blip r:embed="rId3">
            <a:alphaModFix/>
          </a:blip>
          <a:srcRect/>
          <a:stretch/>
        </p:blipFill>
        <p:spPr>
          <a:xfrm>
            <a:off x="6079728" y="3493294"/>
            <a:ext cx="2064544" cy="957263"/>
          </a:xfrm>
          <a:prstGeom prst="rect">
            <a:avLst/>
          </a:prstGeom>
          <a:noFill/>
          <a:ln>
            <a:noFill/>
          </a:ln>
        </p:spPr>
      </p:pic>
      <p:sp>
        <p:nvSpPr>
          <p:cNvPr id="2" name="Footer Placeholder 1">
            <a:extLst>
              <a:ext uri="{FF2B5EF4-FFF2-40B4-BE49-F238E27FC236}">
                <a16:creationId xmlns:a16="http://schemas.microsoft.com/office/drawing/2014/main" id="{8DCCA2D9-DAD7-BA50-E539-A7ADD456509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300" dirty="0">
                <a:solidFill>
                  <a:schemeClr val="dk1"/>
                </a:solidFill>
              </a:rPr>
            </a:br>
            <a:r>
              <a:rPr lang="en-US" sz="2400" dirty="0">
                <a:solidFill>
                  <a:schemeClr val="dk1"/>
                </a:solidFill>
              </a:rPr>
              <a:t>Object Oriented Programming &amp;File Handling</a:t>
            </a:r>
            <a:br>
              <a:rPr lang="en-US" sz="3300" dirty="0">
                <a:solidFill>
                  <a:schemeClr val="dk1"/>
                </a:solidFill>
              </a:rPr>
            </a:br>
            <a:endParaRPr sz="2700" dirty="0">
              <a:solidFill>
                <a:schemeClr val="dk1"/>
              </a:solidFill>
            </a:endParaRPr>
          </a:p>
        </p:txBody>
      </p:sp>
      <p:sp>
        <p:nvSpPr>
          <p:cNvPr id="181" name="Google Shape;181;p8"/>
          <p:cNvSpPr txBox="1">
            <a:spLocks noGrp="1"/>
          </p:cNvSpPr>
          <p:nvPr>
            <p:ph type="body" idx="1"/>
          </p:nvPr>
        </p:nvSpPr>
        <p:spPr>
          <a:xfrm>
            <a:off x="400050" y="1840706"/>
            <a:ext cx="7996238" cy="358219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b="1"/>
              <a:t>Passing an Object as Parameter to a Method:</a:t>
            </a:r>
            <a:br>
              <a:rPr lang="en-US" sz="1800" b="1"/>
            </a:br>
            <a:r>
              <a:rPr lang="en-US" sz="1800"/>
              <a:t>class test:</a:t>
            </a:r>
            <a:endParaRPr/>
          </a:p>
          <a:p>
            <a:pPr marL="171450" indent="-171450">
              <a:buSzPts val="2400"/>
              <a:buNone/>
            </a:pPr>
            <a:r>
              <a:rPr lang="en-US" sz="1800"/>
              <a:t>    a=0</a:t>
            </a:r>
            <a:endParaRPr/>
          </a:p>
          <a:p>
            <a:pPr marL="171450" indent="-171450">
              <a:buSzPts val="2400"/>
              <a:buNone/>
            </a:pPr>
            <a:r>
              <a:rPr lang="en-US" sz="1800"/>
              <a:t>    b=0</a:t>
            </a:r>
            <a:endParaRPr/>
          </a:p>
          <a:p>
            <a:pPr marL="171450" indent="-171450">
              <a:buSzPts val="2400"/>
              <a:buNone/>
            </a:pPr>
            <a:r>
              <a:rPr lang="en-US" sz="1800"/>
              <a:t>    def __init__(self,x,y):</a:t>
            </a:r>
            <a:endParaRPr/>
          </a:p>
          <a:p>
            <a:pPr marL="171450" indent="-171450">
              <a:buSzPts val="2400"/>
              <a:buNone/>
            </a:pPr>
            <a:r>
              <a:rPr lang="en-US" sz="1800"/>
              <a:t>        self.a=x</a:t>
            </a:r>
            <a:endParaRPr/>
          </a:p>
          <a:p>
            <a:pPr marL="171450" indent="-171450">
              <a:buSzPts val="2400"/>
              <a:buNone/>
            </a:pPr>
            <a:r>
              <a:rPr lang="en-US" sz="1800"/>
              <a:t>        self.b=y</a:t>
            </a:r>
            <a:endParaRPr/>
          </a:p>
          <a:p>
            <a:pPr marL="171450" indent="-171450">
              <a:buSzPts val="2400"/>
              <a:buNone/>
            </a:pPr>
            <a:r>
              <a:rPr lang="en-US" sz="1800"/>
              <a:t>    def equals(self,obj):</a:t>
            </a:r>
            <a:endParaRPr/>
          </a:p>
          <a:p>
            <a:pPr marL="171450" indent="-171450">
              <a:buSzPts val="2400"/>
              <a:buNone/>
            </a:pPr>
            <a:r>
              <a:rPr lang="en-US" sz="1800"/>
              <a:t>        if obj.a==self.a and obj.b==self.b:</a:t>
            </a:r>
            <a:endParaRPr/>
          </a:p>
          <a:p>
            <a:pPr marL="171450" indent="-171450">
              <a:buSzPts val="2400"/>
              <a:buNone/>
            </a:pPr>
            <a:r>
              <a:rPr lang="en-US" sz="1800"/>
              <a:t>            </a:t>
            </a:r>
            <a:endParaRPr sz="1500"/>
          </a:p>
        </p:txBody>
      </p:sp>
      <p:sp>
        <p:nvSpPr>
          <p:cNvPr id="2" name="Footer Placeholder 1">
            <a:extLst>
              <a:ext uri="{FF2B5EF4-FFF2-40B4-BE49-F238E27FC236}">
                <a16:creationId xmlns:a16="http://schemas.microsoft.com/office/drawing/2014/main" id="{6BE0A28A-80FA-2509-1014-C879B0433C38}"/>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8" name="Google Shape;188;p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300" dirty="0">
                <a:solidFill>
                  <a:schemeClr val="dk1"/>
                </a:solidFill>
              </a:rPr>
            </a:br>
            <a:r>
              <a:rPr lang="en-US" sz="2400" dirty="0">
                <a:solidFill>
                  <a:schemeClr val="dk1"/>
                </a:solidFill>
              </a:rPr>
              <a:t>Object Oriented Programming &amp;File Handling</a:t>
            </a:r>
            <a:br>
              <a:rPr lang="en-US" sz="3300" dirty="0">
                <a:solidFill>
                  <a:schemeClr val="dk1"/>
                </a:solidFill>
              </a:rPr>
            </a:br>
            <a:endParaRPr sz="2700" dirty="0">
              <a:solidFill>
                <a:schemeClr val="dk1"/>
              </a:solidFill>
            </a:endParaRPr>
          </a:p>
        </p:txBody>
      </p:sp>
      <p:sp>
        <p:nvSpPr>
          <p:cNvPr id="189" name="Google Shape;189;p9"/>
          <p:cNvSpPr txBox="1">
            <a:spLocks noGrp="1"/>
          </p:cNvSpPr>
          <p:nvPr>
            <p:ph type="body" idx="1"/>
          </p:nvPr>
        </p:nvSpPr>
        <p:spPr>
          <a:xfrm>
            <a:off x="400050" y="1840706"/>
            <a:ext cx="7996238" cy="358219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a:t>    </a:t>
            </a:r>
            <a:r>
              <a:rPr lang="en-US" sz="1500"/>
              <a:t>return True</a:t>
            </a:r>
            <a:endParaRPr/>
          </a:p>
          <a:p>
            <a:pPr marL="171450" indent="-171450">
              <a:buSzPts val="2000"/>
              <a:buNone/>
            </a:pPr>
            <a:r>
              <a:rPr lang="en-US" sz="1500"/>
              <a:t>        else:</a:t>
            </a:r>
            <a:endParaRPr/>
          </a:p>
          <a:p>
            <a:pPr marL="171450" indent="-171450">
              <a:buSzPts val="2000"/>
              <a:buNone/>
            </a:pPr>
            <a:r>
              <a:rPr lang="en-US" sz="1500"/>
              <a:t>            return False</a:t>
            </a:r>
            <a:endParaRPr/>
          </a:p>
          <a:p>
            <a:pPr marL="0" indent="0">
              <a:buSzPts val="2000"/>
              <a:buNone/>
            </a:pPr>
            <a:r>
              <a:rPr lang="en-US" sz="1500"/>
              <a:t>obj1=test(20,30)                                                                                             </a:t>
            </a:r>
            <a:r>
              <a:rPr lang="en-US" sz="1500" b="1"/>
              <a:t>Output:</a:t>
            </a:r>
            <a:endParaRPr/>
          </a:p>
          <a:p>
            <a:pPr marL="171450" indent="-171450">
              <a:buSzPts val="2000"/>
              <a:buNone/>
            </a:pPr>
            <a:r>
              <a:rPr lang="en-US" sz="1500"/>
              <a:t>obj2=test(20,30)                                                                                              </a:t>
            </a:r>
            <a:r>
              <a:rPr lang="en-US" sz="1500" b="1"/>
              <a:t>True</a:t>
            </a:r>
            <a:endParaRPr sz="1500" b="1"/>
          </a:p>
          <a:p>
            <a:pPr marL="171450" indent="-171450">
              <a:buSzPts val="2000"/>
              <a:buNone/>
            </a:pPr>
            <a:r>
              <a:rPr lang="en-US" sz="1500"/>
              <a:t>obj3=test(10,9)                                                                                                </a:t>
            </a:r>
            <a:r>
              <a:rPr lang="en-US" sz="1500" b="1"/>
              <a:t>False</a:t>
            </a:r>
            <a:endParaRPr sz="1500" b="1"/>
          </a:p>
          <a:p>
            <a:pPr marL="171450" indent="-171450">
              <a:buSzPts val="2000"/>
              <a:buNone/>
            </a:pPr>
            <a:r>
              <a:rPr lang="en-US" sz="1500"/>
              <a:t>print(obj1.equals(obj2))</a:t>
            </a:r>
            <a:endParaRPr/>
          </a:p>
          <a:p>
            <a:pPr marL="171450" indent="-171450">
              <a:buSzPts val="2000"/>
              <a:buNone/>
            </a:pPr>
            <a:r>
              <a:rPr lang="en-US" sz="1500"/>
              <a:t>print(obj1.equals(obj3))</a:t>
            </a:r>
            <a:endParaRPr sz="1500" b="1"/>
          </a:p>
          <a:p>
            <a:pPr marL="0" indent="0" algn="just">
              <a:buNone/>
            </a:pPr>
            <a:endParaRPr sz="1350"/>
          </a:p>
          <a:p>
            <a:pPr marL="171450" indent="-171450">
              <a:buSzPts val="2000"/>
              <a:buNone/>
            </a:pPr>
            <a:endParaRPr sz="1500"/>
          </a:p>
        </p:txBody>
      </p:sp>
      <p:sp>
        <p:nvSpPr>
          <p:cNvPr id="2" name="Footer Placeholder 1">
            <a:extLst>
              <a:ext uri="{FF2B5EF4-FFF2-40B4-BE49-F238E27FC236}">
                <a16:creationId xmlns:a16="http://schemas.microsoft.com/office/drawing/2014/main" id="{5C55A4A6-2970-BF9C-009D-DA27209BCA3A}"/>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1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197" name="Google Shape;197;p10"/>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a:t>Python Inheritance</a:t>
            </a:r>
            <a:r>
              <a:rPr lang="en-US" sz="1800"/>
              <a:t>: Inheritance is the capability of one class to derive or inherit the properties from another class. The class that derives properties is called the derived class or child class and the class from which the properties are being derived is called the base class or parent class. </a:t>
            </a:r>
            <a:endParaRPr sz="1800"/>
          </a:p>
          <a:p>
            <a:pPr marL="171450" indent="-171450">
              <a:buSzPts val="2400"/>
            </a:pPr>
            <a:r>
              <a:rPr lang="en-US" sz="1800" b="1"/>
              <a:t>Types of Inheritance:</a:t>
            </a:r>
            <a:endParaRPr sz="1800" b="1"/>
          </a:p>
          <a:p>
            <a:pPr marL="171450" indent="-171450">
              <a:buSzPts val="2400"/>
            </a:pPr>
            <a:r>
              <a:rPr lang="en-US" sz="1800"/>
              <a:t>Single Inheritance</a:t>
            </a:r>
            <a:endParaRPr/>
          </a:p>
          <a:p>
            <a:pPr marL="171450" indent="-171450">
              <a:buSzPts val="2400"/>
            </a:pPr>
            <a:r>
              <a:rPr lang="en-US" sz="1800"/>
              <a:t>Multilevel Inheritance</a:t>
            </a:r>
            <a:endParaRPr/>
          </a:p>
          <a:p>
            <a:pPr marL="171450" indent="-171450">
              <a:buSzPts val="2400"/>
            </a:pPr>
            <a:r>
              <a:rPr lang="en-US" sz="1800"/>
              <a:t>Hierarchical Inheritance</a:t>
            </a:r>
            <a:endParaRPr sz="1800"/>
          </a:p>
          <a:p>
            <a:pPr marL="171450" indent="-171450">
              <a:buSzPts val="2400"/>
            </a:pPr>
            <a:r>
              <a:rPr lang="en-US" sz="1800"/>
              <a:t>Multiple Inheritance</a:t>
            </a:r>
            <a:endParaRPr sz="1800"/>
          </a:p>
        </p:txBody>
      </p:sp>
      <p:pic>
        <p:nvPicPr>
          <p:cNvPr id="198" name="Google Shape;198;p10"/>
          <p:cNvPicPr preferRelativeResize="0"/>
          <p:nvPr/>
        </p:nvPicPr>
        <p:blipFill rotWithShape="1">
          <a:blip r:embed="rId3">
            <a:alphaModFix/>
          </a:blip>
          <a:srcRect/>
          <a:stretch/>
        </p:blipFill>
        <p:spPr>
          <a:xfrm>
            <a:off x="4832350" y="2889864"/>
            <a:ext cx="3143250" cy="2368364"/>
          </a:xfrm>
          <a:prstGeom prst="rect">
            <a:avLst/>
          </a:prstGeom>
          <a:noFill/>
          <a:ln>
            <a:noFill/>
          </a:ln>
        </p:spPr>
      </p:pic>
      <p:sp>
        <p:nvSpPr>
          <p:cNvPr id="2" name="Footer Placeholder 1">
            <a:extLst>
              <a:ext uri="{FF2B5EF4-FFF2-40B4-BE49-F238E27FC236}">
                <a16:creationId xmlns:a16="http://schemas.microsoft.com/office/drawing/2014/main" id="{BEB4074C-F922-0B26-E254-B3251E3E511B}"/>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Google Shape;205;p1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06" name="Google Shape;206;p11"/>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Parent class</a:t>
            </a:r>
            <a:r>
              <a:rPr lang="en-US" sz="1800"/>
              <a:t> is the class being inherited from, also called base class.</a:t>
            </a:r>
            <a:endParaRPr/>
          </a:p>
          <a:p>
            <a:pPr marL="171450" indent="-171450">
              <a:buSzPts val="2400"/>
            </a:pPr>
            <a:r>
              <a:rPr lang="en-US" sz="1800" b="1"/>
              <a:t>Child class</a:t>
            </a:r>
            <a:r>
              <a:rPr lang="en-US" sz="1800"/>
              <a:t> is the class that inherits from another class, also called derived class.</a:t>
            </a:r>
            <a:endParaRPr sz="1800"/>
          </a:p>
          <a:p>
            <a:pPr marL="171450" indent="-171450">
              <a:buSzPts val="2400"/>
            </a:pPr>
            <a:r>
              <a:rPr lang="en-US" sz="1800" b="1"/>
              <a:t>Single level</a:t>
            </a:r>
            <a:endParaRPr/>
          </a:p>
          <a:p>
            <a:pPr marL="171450" indent="-171450">
              <a:buSzPts val="2400"/>
              <a:buNone/>
            </a:pPr>
            <a:r>
              <a:rPr lang="en-US" sz="1800"/>
              <a:t>class A:</a:t>
            </a:r>
            <a:endParaRPr/>
          </a:p>
          <a:p>
            <a:pPr marL="171450" indent="-171450">
              <a:buSzPts val="2400"/>
              <a:buNone/>
            </a:pPr>
            <a:r>
              <a:rPr lang="en-US" sz="1800"/>
              <a:t>    print("hello in base class")</a:t>
            </a:r>
            <a:endParaRPr/>
          </a:p>
          <a:p>
            <a:pPr marL="171450" indent="-171450">
              <a:buSzPts val="2400"/>
              <a:buNone/>
            </a:pPr>
            <a:r>
              <a:rPr lang="en-US" sz="1800"/>
              <a:t>class B(A):</a:t>
            </a:r>
            <a:endParaRPr/>
          </a:p>
          <a:p>
            <a:pPr marL="171450" indent="-171450">
              <a:buSzPts val="2400"/>
              <a:buNone/>
            </a:pPr>
            <a:r>
              <a:rPr lang="en-US" sz="1800"/>
              <a:t>    print("in derived class")</a:t>
            </a:r>
            <a:endParaRPr/>
          </a:p>
          <a:p>
            <a:pPr marL="171450" indent="-171450">
              <a:buSzPts val="2400"/>
              <a:buNone/>
            </a:pPr>
            <a:r>
              <a:rPr lang="en-US" sz="1800"/>
              <a:t>ob=B()</a:t>
            </a:r>
            <a:endParaRPr/>
          </a:p>
          <a:p>
            <a:pPr marL="171450" indent="-171450">
              <a:buSzPts val="2400"/>
              <a:buNone/>
            </a:pPr>
            <a:r>
              <a:rPr lang="en-US" sz="1800" b="1"/>
              <a:t>Output:</a:t>
            </a:r>
            <a:endParaRPr/>
          </a:p>
          <a:p>
            <a:pPr marL="171450" indent="-171450">
              <a:buSzPts val="2400"/>
              <a:buNone/>
            </a:pPr>
            <a:r>
              <a:rPr lang="en-US" sz="1800" b="1"/>
              <a:t>hello in base class</a:t>
            </a:r>
            <a:endParaRPr/>
          </a:p>
          <a:p>
            <a:pPr marL="171450" indent="-171450">
              <a:buSzPts val="2400"/>
              <a:buNone/>
            </a:pPr>
            <a:r>
              <a:rPr lang="en-US" sz="1800" b="1"/>
              <a:t>in derived class</a:t>
            </a:r>
            <a:endParaRPr/>
          </a:p>
          <a:p>
            <a:pPr marL="171450" indent="-57150" algn="just">
              <a:buSzPts val="2400"/>
              <a:buNone/>
            </a:pPr>
            <a:endParaRPr sz="1800"/>
          </a:p>
        </p:txBody>
      </p:sp>
      <p:sp>
        <p:nvSpPr>
          <p:cNvPr id="2" name="Footer Placeholder 1">
            <a:extLst>
              <a:ext uri="{FF2B5EF4-FFF2-40B4-BE49-F238E27FC236}">
                <a16:creationId xmlns:a16="http://schemas.microsoft.com/office/drawing/2014/main" id="{EE4104EB-93C6-86DA-CB18-520A48A3856D}"/>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3" name="Google Shape;213;p1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14" name="Google Shape;214;p12"/>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b="1"/>
              <a:t>Multiple Inheritance: </a:t>
            </a:r>
            <a:endParaRPr/>
          </a:p>
          <a:p>
            <a:pPr marL="171450" indent="-171450">
              <a:buNone/>
            </a:pPr>
            <a:r>
              <a:rPr lang="en-US" sz="1350"/>
              <a:t>class A:</a:t>
            </a:r>
            <a:endParaRPr/>
          </a:p>
          <a:p>
            <a:pPr marL="171450" indent="-171450">
              <a:buNone/>
            </a:pPr>
            <a:r>
              <a:rPr lang="en-US" sz="1350"/>
              <a:t>    name =' '</a:t>
            </a:r>
            <a:endParaRPr/>
          </a:p>
          <a:p>
            <a:pPr marL="171450" indent="-171450">
              <a:buNone/>
            </a:pPr>
            <a:r>
              <a:rPr lang="en-US" sz="1350"/>
              <a:t>class B:</a:t>
            </a:r>
            <a:endParaRPr/>
          </a:p>
          <a:p>
            <a:pPr marL="171450" indent="-171450">
              <a:buNone/>
            </a:pPr>
            <a:r>
              <a:rPr lang="en-US" sz="1350"/>
              <a:t>    age=0</a:t>
            </a:r>
            <a:endParaRPr/>
          </a:p>
          <a:p>
            <a:pPr marL="171450" indent="-171450">
              <a:buNone/>
            </a:pPr>
            <a:r>
              <a:rPr lang="en-US" sz="1350"/>
              <a:t>class C(A,B):                             </a:t>
            </a:r>
            <a:r>
              <a:rPr lang="en-US" sz="1350" b="1"/>
              <a:t>#When two or more classes are used for deriving a new class</a:t>
            </a:r>
            <a:endParaRPr/>
          </a:p>
          <a:p>
            <a:pPr marL="171450" indent="-171450">
              <a:buNone/>
            </a:pPr>
            <a:r>
              <a:rPr lang="en-US" sz="1350"/>
              <a:t>    weight=' '</a:t>
            </a:r>
            <a:endParaRPr/>
          </a:p>
          <a:p>
            <a:pPr marL="171450" indent="-171450">
              <a:buNone/>
            </a:pPr>
            <a:r>
              <a:rPr lang="en-US" sz="1350"/>
              <a:t>    def read(self):</a:t>
            </a:r>
            <a:endParaRPr/>
          </a:p>
          <a:p>
            <a:pPr marL="171450" indent="-171450">
              <a:buNone/>
            </a:pPr>
            <a:r>
              <a:rPr lang="en-US" sz="1350"/>
              <a:t>        self.name=input("enter name")</a:t>
            </a:r>
            <a:endParaRPr/>
          </a:p>
          <a:p>
            <a:pPr marL="171450" indent="-171450">
              <a:buNone/>
            </a:pPr>
            <a:r>
              <a:rPr lang="en-US" sz="1350"/>
              <a:t>        self.age=int(input("enter age"))</a:t>
            </a:r>
            <a:endParaRPr/>
          </a:p>
          <a:p>
            <a:pPr marL="171450" indent="-171450">
              <a:buNone/>
            </a:pPr>
            <a:r>
              <a:rPr lang="en-US" sz="1350"/>
              <a:t>        self.weight=int(input("enter weight"))</a:t>
            </a:r>
            <a:endParaRPr sz="1350"/>
          </a:p>
        </p:txBody>
      </p:sp>
      <p:sp>
        <p:nvSpPr>
          <p:cNvPr id="2" name="Footer Placeholder 1">
            <a:extLst>
              <a:ext uri="{FF2B5EF4-FFF2-40B4-BE49-F238E27FC236}">
                <a16:creationId xmlns:a16="http://schemas.microsoft.com/office/drawing/2014/main" id="{A21355D8-8FF2-C04C-FF89-208242E6E89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1" name="Google Shape;221;p1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22" name="Google Shape;222;p13"/>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a:t> </a:t>
            </a:r>
            <a:r>
              <a:rPr lang="en-US" sz="1350"/>
              <a:t>def display(self):</a:t>
            </a:r>
            <a:endParaRPr/>
          </a:p>
          <a:p>
            <a:pPr marL="171450" indent="-171450">
              <a:buNone/>
            </a:pPr>
            <a:r>
              <a:rPr lang="en-US" sz="1350"/>
              <a:t>        print(self.name)</a:t>
            </a:r>
            <a:endParaRPr/>
          </a:p>
          <a:p>
            <a:pPr marL="171450" indent="-171450">
              <a:buNone/>
            </a:pPr>
            <a:r>
              <a:rPr lang="en-US" sz="1350"/>
              <a:t>        print(self.age)</a:t>
            </a:r>
            <a:endParaRPr/>
          </a:p>
          <a:p>
            <a:pPr marL="171450" indent="-171450">
              <a:buNone/>
            </a:pPr>
            <a:r>
              <a:rPr lang="en-US" sz="1350"/>
              <a:t>        print(self.weight)                                              </a:t>
            </a:r>
            <a:endParaRPr/>
          </a:p>
          <a:p>
            <a:pPr marL="171450" indent="-171450">
              <a:buNone/>
            </a:pPr>
            <a:r>
              <a:rPr lang="en-US" sz="1350"/>
              <a:t>ob1=C()</a:t>
            </a:r>
            <a:endParaRPr/>
          </a:p>
          <a:p>
            <a:pPr marL="171450" indent="-171450">
              <a:buNone/>
            </a:pPr>
            <a:r>
              <a:rPr lang="en-US" sz="1350"/>
              <a:t>ob1.read()</a:t>
            </a:r>
            <a:endParaRPr/>
          </a:p>
          <a:p>
            <a:pPr marL="171450" indent="-171450">
              <a:buNone/>
            </a:pPr>
            <a:r>
              <a:rPr lang="en-US" sz="1350"/>
              <a:t>ob1.display()                                                   </a:t>
            </a:r>
            <a:endParaRPr/>
          </a:p>
          <a:p>
            <a:pPr marL="171450" indent="-57150" algn="just">
              <a:buSzPts val="2400"/>
              <a:buNone/>
            </a:pPr>
            <a:endParaRPr sz="1800"/>
          </a:p>
        </p:txBody>
      </p:sp>
      <p:pic>
        <p:nvPicPr>
          <p:cNvPr id="223" name="Google Shape;223;p13"/>
          <p:cNvPicPr preferRelativeResize="0"/>
          <p:nvPr/>
        </p:nvPicPr>
        <p:blipFill rotWithShape="1">
          <a:blip r:embed="rId3">
            <a:alphaModFix/>
          </a:blip>
          <a:srcRect/>
          <a:stretch/>
        </p:blipFill>
        <p:spPr>
          <a:xfrm>
            <a:off x="5277248" y="2672556"/>
            <a:ext cx="1578769" cy="1900238"/>
          </a:xfrm>
          <a:prstGeom prst="rect">
            <a:avLst/>
          </a:prstGeom>
          <a:noFill/>
          <a:ln>
            <a:noFill/>
          </a:ln>
        </p:spPr>
      </p:pic>
      <p:sp>
        <p:nvSpPr>
          <p:cNvPr id="2" name="Footer Placeholder 1">
            <a:extLst>
              <a:ext uri="{FF2B5EF4-FFF2-40B4-BE49-F238E27FC236}">
                <a16:creationId xmlns:a16="http://schemas.microsoft.com/office/drawing/2014/main" id="{0396C117-5069-E895-A213-B950E3AD6562}"/>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0" name="Google Shape;230;p1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31" name="Google Shape;231;p14"/>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b="1"/>
              <a:t>Method Overriding:</a:t>
            </a:r>
            <a:br>
              <a:rPr lang="en-US" sz="1800" b="1"/>
            </a:br>
            <a:r>
              <a:rPr lang="en-US" sz="1800"/>
              <a:t>class A:</a:t>
            </a:r>
            <a:endParaRPr/>
          </a:p>
          <a:p>
            <a:pPr marL="171450" indent="-171450">
              <a:buSzPts val="2400"/>
              <a:buNone/>
            </a:pPr>
            <a:r>
              <a:rPr lang="en-US" sz="1800"/>
              <a:t>    def display(self):</a:t>
            </a:r>
            <a:endParaRPr/>
          </a:p>
          <a:p>
            <a:pPr marL="171450" indent="-171450">
              <a:buSzPts val="2400"/>
              <a:buNone/>
            </a:pPr>
            <a:r>
              <a:rPr lang="en-US" sz="1800"/>
              <a:t>        print("base class")</a:t>
            </a:r>
            <a:endParaRPr/>
          </a:p>
          <a:p>
            <a:pPr marL="171450" indent="-171450">
              <a:buSzPts val="2400"/>
              <a:buNone/>
            </a:pPr>
            <a:r>
              <a:rPr lang="en-US" sz="1800"/>
              <a:t>class B(A):</a:t>
            </a:r>
            <a:endParaRPr/>
          </a:p>
          <a:p>
            <a:pPr marL="171450" indent="-171450">
              <a:buSzPts val="2400"/>
              <a:buNone/>
            </a:pPr>
            <a:r>
              <a:rPr lang="en-US" sz="1800"/>
              <a:t>    def display(self):            </a:t>
            </a:r>
            <a:r>
              <a:rPr lang="en-US" sz="1800" b="1"/>
              <a:t>#Method Overriding (same name and same header)</a:t>
            </a:r>
            <a:endParaRPr/>
          </a:p>
          <a:p>
            <a:pPr marL="171450" indent="-171450">
              <a:buSzPts val="2400"/>
              <a:buNone/>
            </a:pPr>
            <a:r>
              <a:rPr lang="en-US" sz="1800"/>
              <a:t>        print("derived class")</a:t>
            </a:r>
            <a:endParaRPr/>
          </a:p>
          <a:p>
            <a:pPr marL="171450" indent="-171450">
              <a:buSzPts val="2400"/>
              <a:buNone/>
            </a:pPr>
            <a:r>
              <a:rPr lang="en-US" sz="1800"/>
              <a:t>ob=B()</a:t>
            </a:r>
            <a:endParaRPr/>
          </a:p>
          <a:p>
            <a:pPr marL="171450" indent="-171450">
              <a:buSzPts val="2400"/>
              <a:buNone/>
            </a:pPr>
            <a:r>
              <a:rPr lang="en-US" sz="1800"/>
              <a:t>ob.display() </a:t>
            </a:r>
            <a:br>
              <a:rPr lang="en-US" sz="1800"/>
            </a:br>
            <a:r>
              <a:rPr lang="en-US" sz="1800" b="1"/>
              <a:t>Output: derived class</a:t>
            </a:r>
            <a:endParaRPr/>
          </a:p>
          <a:p>
            <a:pPr marL="171450" indent="-171450">
              <a:buSzPts val="2400"/>
              <a:buNone/>
            </a:pPr>
            <a:r>
              <a:rPr lang="en-US" sz="1800" b="1"/>
              <a:t>#can use super().method_name to access overridden method</a:t>
            </a:r>
            <a:endParaRPr sz="1800" b="1"/>
          </a:p>
        </p:txBody>
      </p:sp>
      <p:sp>
        <p:nvSpPr>
          <p:cNvPr id="2" name="Footer Placeholder 1">
            <a:extLst>
              <a:ext uri="{FF2B5EF4-FFF2-40B4-BE49-F238E27FC236}">
                <a16:creationId xmlns:a16="http://schemas.microsoft.com/office/drawing/2014/main" id="{68F02667-A7E7-9D5B-3538-350727DD3810}"/>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8" name="Google Shape;238;p1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2800" dirty="0">
                <a:solidFill>
                  <a:schemeClr val="dk1"/>
                </a:solidFill>
              </a:rPr>
            </a:br>
            <a:r>
              <a:rPr lang="en-US" sz="2400" dirty="0">
                <a:solidFill>
                  <a:schemeClr val="dk1"/>
                </a:solidFill>
              </a:rPr>
              <a:t>Object Oriented Programming &amp;File Handling</a:t>
            </a:r>
            <a:br>
              <a:rPr lang="en-US" sz="2800" dirty="0">
                <a:solidFill>
                  <a:schemeClr val="dk1"/>
                </a:solidFill>
              </a:rPr>
            </a:br>
            <a:br>
              <a:rPr lang="en-US" sz="2700" dirty="0">
                <a:solidFill>
                  <a:schemeClr val="dk1"/>
                </a:solidFill>
              </a:rPr>
            </a:br>
            <a:endParaRPr sz="2700" dirty="0">
              <a:solidFill>
                <a:schemeClr val="dk1"/>
              </a:solidFill>
            </a:endParaRPr>
          </a:p>
        </p:txBody>
      </p:sp>
      <p:sp>
        <p:nvSpPr>
          <p:cNvPr id="239" name="Google Shape;239;p15"/>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a:t> </a:t>
            </a:r>
            <a:r>
              <a:rPr lang="en-US" sz="1800" b="1"/>
              <a:t>Multilevel Inheritance: </a:t>
            </a:r>
            <a:br>
              <a:rPr lang="en-US" sz="1800" b="1"/>
            </a:br>
            <a:r>
              <a:rPr lang="en-US" sz="1350"/>
              <a:t>class A:</a:t>
            </a:r>
            <a:endParaRPr/>
          </a:p>
          <a:p>
            <a:pPr marL="171450" indent="-171450">
              <a:buNone/>
            </a:pPr>
            <a:r>
              <a:rPr lang="en-US" sz="1350"/>
              <a:t>    name =' '</a:t>
            </a:r>
            <a:endParaRPr/>
          </a:p>
          <a:p>
            <a:pPr marL="171450" indent="-171450">
              <a:buNone/>
            </a:pPr>
            <a:r>
              <a:rPr lang="en-US" sz="1350"/>
              <a:t>class B(A):                                   </a:t>
            </a:r>
            <a:endParaRPr/>
          </a:p>
          <a:p>
            <a:pPr marL="171450" indent="-171450">
              <a:buNone/>
            </a:pPr>
            <a:r>
              <a:rPr lang="en-US" sz="1350"/>
              <a:t>    age=0</a:t>
            </a:r>
            <a:endParaRPr/>
          </a:p>
          <a:p>
            <a:pPr marL="171450" indent="-171450">
              <a:buNone/>
            </a:pPr>
            <a:r>
              <a:rPr lang="en-US" sz="1350"/>
              <a:t>class C(B):                  </a:t>
            </a:r>
            <a:endParaRPr sz="1350" b="1"/>
          </a:p>
          <a:p>
            <a:pPr marL="171450" indent="-171450">
              <a:buNone/>
            </a:pPr>
            <a:r>
              <a:rPr lang="en-US" sz="1350"/>
              <a:t>    weight=' '</a:t>
            </a:r>
            <a:endParaRPr/>
          </a:p>
          <a:p>
            <a:pPr marL="171450" indent="-171450">
              <a:buNone/>
            </a:pPr>
            <a:r>
              <a:rPr lang="en-US" sz="1350"/>
              <a:t>    def read(self):</a:t>
            </a:r>
            <a:endParaRPr/>
          </a:p>
          <a:p>
            <a:pPr marL="171450" indent="-171450">
              <a:buNone/>
            </a:pPr>
            <a:r>
              <a:rPr lang="en-US" sz="1350"/>
              <a:t>        self.name=input("enter name")</a:t>
            </a:r>
            <a:endParaRPr/>
          </a:p>
          <a:p>
            <a:pPr marL="171450" indent="-171450">
              <a:buNone/>
            </a:pPr>
            <a:r>
              <a:rPr lang="en-US" sz="1350"/>
              <a:t>        self.age=int(input("enter age"))</a:t>
            </a:r>
            <a:endParaRPr/>
          </a:p>
          <a:p>
            <a:pPr marL="171450" indent="-171450">
              <a:buNone/>
            </a:pPr>
            <a:r>
              <a:rPr lang="en-US" sz="1350"/>
              <a:t>        self.weight=int(input("enter weight"))</a:t>
            </a:r>
            <a:endParaRPr/>
          </a:p>
          <a:p>
            <a:pPr marL="171450" indent="-171450">
              <a:buNone/>
            </a:pPr>
            <a:r>
              <a:rPr lang="en-US" sz="1350"/>
              <a:t>    </a:t>
            </a:r>
            <a:br>
              <a:rPr lang="en-US" sz="1800" b="1"/>
            </a:br>
            <a:endParaRPr sz="1800"/>
          </a:p>
        </p:txBody>
      </p:sp>
      <p:sp>
        <p:nvSpPr>
          <p:cNvPr id="2" name="Footer Placeholder 1">
            <a:extLst>
              <a:ext uri="{FF2B5EF4-FFF2-40B4-BE49-F238E27FC236}">
                <a16:creationId xmlns:a16="http://schemas.microsoft.com/office/drawing/2014/main" id="{2DDC46D0-A0D4-9141-3EA0-393F1DDE4AF5}"/>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1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47" name="Google Shape;247;p16"/>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buNone/>
            </a:pPr>
            <a:r>
              <a:rPr lang="en-US" sz="1800"/>
              <a:t> </a:t>
            </a:r>
            <a:br>
              <a:rPr lang="en-US" sz="1800"/>
            </a:br>
            <a:r>
              <a:rPr lang="en-US" sz="1800"/>
              <a:t> </a:t>
            </a:r>
            <a:r>
              <a:rPr lang="en-US" sz="1500"/>
              <a:t>def display(self):</a:t>
            </a:r>
            <a:endParaRPr/>
          </a:p>
          <a:p>
            <a:pPr marL="171450" indent="-171450">
              <a:buSzPts val="2000"/>
              <a:buNone/>
            </a:pPr>
            <a:r>
              <a:rPr lang="en-US" sz="1500"/>
              <a:t>        print(self.name)</a:t>
            </a:r>
            <a:endParaRPr/>
          </a:p>
          <a:p>
            <a:pPr marL="171450" indent="-171450">
              <a:buSzPts val="2000"/>
              <a:buNone/>
            </a:pPr>
            <a:r>
              <a:rPr lang="en-US" sz="1500"/>
              <a:t>        print(self.age)</a:t>
            </a:r>
            <a:endParaRPr/>
          </a:p>
          <a:p>
            <a:pPr marL="171450" indent="-171450">
              <a:buSzPts val="2000"/>
              <a:buNone/>
            </a:pPr>
            <a:r>
              <a:rPr lang="en-US" sz="1500"/>
              <a:t>        print(self.weight)</a:t>
            </a:r>
            <a:br>
              <a:rPr lang="en-US" sz="1800" b="1"/>
            </a:br>
            <a:endParaRPr sz="1800"/>
          </a:p>
        </p:txBody>
      </p:sp>
      <p:pic>
        <p:nvPicPr>
          <p:cNvPr id="248" name="Google Shape;248;p16"/>
          <p:cNvPicPr preferRelativeResize="0"/>
          <p:nvPr/>
        </p:nvPicPr>
        <p:blipFill rotWithShape="1">
          <a:blip r:embed="rId3">
            <a:alphaModFix/>
          </a:blip>
          <a:srcRect/>
          <a:stretch/>
        </p:blipFill>
        <p:spPr>
          <a:xfrm>
            <a:off x="5348288" y="2847975"/>
            <a:ext cx="2371725" cy="1828800"/>
          </a:xfrm>
          <a:prstGeom prst="rect">
            <a:avLst/>
          </a:prstGeom>
          <a:noFill/>
          <a:ln>
            <a:noFill/>
          </a:ln>
        </p:spPr>
      </p:pic>
      <p:sp>
        <p:nvSpPr>
          <p:cNvPr id="2" name="Footer Placeholder 1">
            <a:extLst>
              <a:ext uri="{FF2B5EF4-FFF2-40B4-BE49-F238E27FC236}">
                <a16:creationId xmlns:a16="http://schemas.microsoft.com/office/drawing/2014/main" id="{96C14B99-6549-CB3F-CBD3-8374F8F2E0F2}"/>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5" name="Google Shape;255;p1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r>
              <a:rPr lang="en-US" sz="2400" dirty="0">
                <a:solidFill>
                  <a:schemeClr val="dk1"/>
                </a:solidFill>
              </a:rPr>
              <a:t>Object Oriented Programming &amp;File Handling</a:t>
            </a:r>
            <a:br>
              <a:rPr lang="en-US" sz="3600" dirty="0">
                <a:solidFill>
                  <a:schemeClr val="dk1"/>
                </a:solidFill>
              </a:rPr>
            </a:br>
            <a:br>
              <a:rPr lang="en-US" sz="2700" dirty="0">
                <a:solidFill>
                  <a:schemeClr val="dk1"/>
                </a:solidFill>
              </a:rPr>
            </a:br>
            <a:endParaRPr sz="2700" dirty="0">
              <a:solidFill>
                <a:schemeClr val="dk1"/>
              </a:solidFill>
            </a:endParaRPr>
          </a:p>
        </p:txBody>
      </p:sp>
      <p:sp>
        <p:nvSpPr>
          <p:cNvPr id="256" name="Google Shape;256;p17"/>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buNone/>
            </a:pPr>
            <a:r>
              <a:rPr lang="en-US" sz="1500"/>
              <a:t>class A:</a:t>
            </a:r>
            <a:endParaRPr/>
          </a:p>
          <a:p>
            <a:pPr marL="171450" indent="-171450">
              <a:buSzPts val="2000"/>
              <a:buNone/>
            </a:pPr>
            <a:r>
              <a:rPr lang="en-US" sz="1500"/>
              <a:t>    def display(self):</a:t>
            </a:r>
            <a:endParaRPr/>
          </a:p>
          <a:p>
            <a:pPr marL="171450" indent="-171450">
              <a:buSzPts val="2000"/>
              <a:buNone/>
            </a:pPr>
            <a:r>
              <a:rPr lang="en-US" sz="1500"/>
              <a:t>        print("base class")</a:t>
            </a:r>
            <a:endParaRPr/>
          </a:p>
          <a:p>
            <a:pPr marL="171450" indent="-171450">
              <a:buSzPts val="2000"/>
              <a:buNone/>
            </a:pPr>
            <a:r>
              <a:rPr lang="en-US" sz="1500"/>
              <a:t>class B(A):</a:t>
            </a:r>
            <a:endParaRPr/>
          </a:p>
          <a:p>
            <a:pPr marL="171450" indent="-171450">
              <a:buSzPts val="2000"/>
              <a:buNone/>
            </a:pPr>
            <a:r>
              <a:rPr lang="en-US" sz="1500"/>
              <a:t>    def display(self):</a:t>
            </a:r>
            <a:endParaRPr/>
          </a:p>
          <a:p>
            <a:pPr marL="171450" indent="-171450">
              <a:buSzPts val="2000"/>
              <a:buNone/>
            </a:pPr>
            <a:r>
              <a:rPr lang="en-US" sz="1500"/>
              <a:t>        print("derived class")</a:t>
            </a:r>
            <a:endParaRPr/>
          </a:p>
          <a:p>
            <a:pPr marL="171450" indent="-171450">
              <a:buSzPts val="2000"/>
              <a:buNone/>
            </a:pPr>
            <a:r>
              <a:rPr lang="en-US" sz="1500" b="1"/>
              <a:t>        super().display()</a:t>
            </a:r>
            <a:endParaRPr/>
          </a:p>
          <a:p>
            <a:pPr marL="171450" indent="-171450">
              <a:buSzPts val="2000"/>
              <a:buNone/>
            </a:pPr>
            <a:r>
              <a:rPr lang="en-US" sz="1500"/>
              <a:t>ob=B()</a:t>
            </a:r>
            <a:endParaRPr/>
          </a:p>
          <a:p>
            <a:pPr marL="171450" indent="-171450">
              <a:buSzPts val="2000"/>
              <a:buNone/>
            </a:pPr>
            <a:r>
              <a:rPr lang="en-US" sz="1500"/>
              <a:t>ob.display()</a:t>
            </a:r>
            <a:endParaRPr sz="1500" b="1"/>
          </a:p>
        </p:txBody>
      </p:sp>
      <p:pic>
        <p:nvPicPr>
          <p:cNvPr id="257" name="Google Shape;257;p17"/>
          <p:cNvPicPr preferRelativeResize="0"/>
          <p:nvPr/>
        </p:nvPicPr>
        <p:blipFill rotWithShape="1">
          <a:blip r:embed="rId3">
            <a:alphaModFix/>
          </a:blip>
          <a:srcRect/>
          <a:stretch/>
        </p:blipFill>
        <p:spPr>
          <a:xfrm>
            <a:off x="629444" y="4637485"/>
            <a:ext cx="2543175" cy="650081"/>
          </a:xfrm>
          <a:prstGeom prst="rect">
            <a:avLst/>
          </a:prstGeom>
          <a:noFill/>
          <a:ln>
            <a:noFill/>
          </a:ln>
        </p:spPr>
      </p:pic>
      <p:sp>
        <p:nvSpPr>
          <p:cNvPr id="2" name="Footer Placeholder 1">
            <a:extLst>
              <a:ext uri="{FF2B5EF4-FFF2-40B4-BE49-F238E27FC236}">
                <a16:creationId xmlns:a16="http://schemas.microsoft.com/office/drawing/2014/main" id="{C84E5CF3-37B8-95EB-831F-D5C12E34A30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4" name="Google Shape;264;p1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265" name="Google Shape;265;p18"/>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50000"/>
              </a:lnSpc>
              <a:spcBef>
                <a:spcPts val="0"/>
              </a:spcBef>
              <a:buSzPts val="2400"/>
            </a:pPr>
            <a:r>
              <a:rPr lang="en-US" sz="1800" b="1"/>
              <a:t>Python Polymorphism</a:t>
            </a:r>
            <a:r>
              <a:rPr lang="en-US" sz="1800"/>
              <a:t>: In object oriented Programming Python, Polymorphism simply means having many forms. For example, we need to determine if the given species of birds fly or not, using polymorphism we can do this using a single function.</a:t>
            </a:r>
            <a:endParaRPr/>
          </a:p>
        </p:txBody>
      </p:sp>
      <p:sp>
        <p:nvSpPr>
          <p:cNvPr id="2" name="Footer Placeholder 1">
            <a:extLst>
              <a:ext uri="{FF2B5EF4-FFF2-40B4-BE49-F238E27FC236}">
                <a16:creationId xmlns:a16="http://schemas.microsoft.com/office/drawing/2014/main" id="{B6D33511-5F72-FEE5-4C66-6F63D7E8F518}"/>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2" name="Google Shape;272;p1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000" dirty="0">
                <a:solidFill>
                  <a:schemeClr val="dk1"/>
                </a:solidFill>
              </a:rPr>
            </a:br>
            <a:r>
              <a:rPr lang="en-US" sz="2400" dirty="0">
                <a:solidFill>
                  <a:schemeClr val="dk1"/>
                </a:solidFill>
              </a:rPr>
              <a:t>Object Oriented Programming &amp;File Handling</a:t>
            </a:r>
            <a:br>
              <a:rPr lang="en-US" sz="40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273" name="Google Shape;273;p19"/>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lgn="just">
              <a:lnSpc>
                <a:spcPct val="150000"/>
              </a:lnSpc>
              <a:spcBef>
                <a:spcPts val="0"/>
              </a:spcBef>
              <a:buSzPts val="2400"/>
              <a:buNone/>
            </a:pPr>
            <a:r>
              <a:rPr lang="en-US" sz="1800" b="1"/>
              <a:t>Sorting: </a:t>
            </a:r>
            <a:r>
              <a:rPr lang="en-US" sz="1800"/>
              <a:t>Sorting is the process of arranging data in a particular order, typically in ascending or descending sequence. This is a fundamental operation in computer science and data processing, as it helps in efficiently managing and retrieving data.</a:t>
            </a:r>
            <a:endParaRPr sz="1800" b="1"/>
          </a:p>
          <a:p>
            <a:pPr marL="171450" indent="-171450" algn="just">
              <a:lnSpc>
                <a:spcPct val="150000"/>
              </a:lnSpc>
              <a:buSzPts val="2000"/>
            </a:pPr>
            <a:r>
              <a:rPr lang="en-US" sz="1500"/>
              <a:t>Selection Sort</a:t>
            </a:r>
            <a:endParaRPr/>
          </a:p>
          <a:p>
            <a:pPr marL="171450" indent="-171450" algn="just">
              <a:lnSpc>
                <a:spcPct val="150000"/>
              </a:lnSpc>
              <a:buSzPts val="2000"/>
            </a:pPr>
            <a:r>
              <a:rPr lang="en-US" sz="1500"/>
              <a:t>Bubble Sort </a:t>
            </a:r>
            <a:endParaRPr sz="1500"/>
          </a:p>
          <a:p>
            <a:pPr marL="171450" indent="-171450" algn="just">
              <a:lnSpc>
                <a:spcPct val="150000"/>
              </a:lnSpc>
              <a:buSzPts val="2000"/>
            </a:pPr>
            <a:r>
              <a:rPr lang="en-US" sz="1500"/>
              <a:t>Insertion Sort</a:t>
            </a:r>
            <a:endParaRPr/>
          </a:p>
          <a:p>
            <a:pPr marL="171450" indent="-171450" algn="just">
              <a:lnSpc>
                <a:spcPct val="150000"/>
              </a:lnSpc>
              <a:buSzPts val="2000"/>
            </a:pPr>
            <a:r>
              <a:rPr lang="en-US" sz="1500"/>
              <a:t>Merge Sort </a:t>
            </a:r>
            <a:endParaRPr/>
          </a:p>
          <a:p>
            <a:pPr marL="171450" indent="-171450" algn="just">
              <a:lnSpc>
                <a:spcPct val="150000"/>
              </a:lnSpc>
              <a:buSzPts val="2000"/>
            </a:pPr>
            <a:r>
              <a:rPr lang="en-US" sz="1500"/>
              <a:t>Quick Sort</a:t>
            </a:r>
            <a:endParaRPr sz="1500"/>
          </a:p>
        </p:txBody>
      </p:sp>
      <p:pic>
        <p:nvPicPr>
          <p:cNvPr id="274" name="Google Shape;274;p19"/>
          <p:cNvPicPr preferRelativeResize="0"/>
          <p:nvPr/>
        </p:nvPicPr>
        <p:blipFill rotWithShape="1">
          <a:blip r:embed="rId3">
            <a:alphaModFix/>
          </a:blip>
          <a:srcRect/>
          <a:stretch/>
        </p:blipFill>
        <p:spPr>
          <a:xfrm>
            <a:off x="3937000" y="3225801"/>
            <a:ext cx="3892550" cy="2253455"/>
          </a:xfrm>
          <a:prstGeom prst="rect">
            <a:avLst/>
          </a:prstGeom>
          <a:noFill/>
          <a:ln>
            <a:noFill/>
          </a:ln>
        </p:spPr>
      </p:pic>
      <p:sp>
        <p:nvSpPr>
          <p:cNvPr id="2" name="Footer Placeholder 1">
            <a:extLst>
              <a:ext uri="{FF2B5EF4-FFF2-40B4-BE49-F238E27FC236}">
                <a16:creationId xmlns:a16="http://schemas.microsoft.com/office/drawing/2014/main" id="{283570C4-FD91-E675-BD96-6860DC49545C}"/>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1" name="Google Shape;281;p2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282" name="Google Shape;282;p20"/>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Linear Search:</a:t>
            </a:r>
            <a:r>
              <a:rPr lang="en-US" sz="1500" b="1" i="1"/>
              <a:t> </a:t>
            </a:r>
            <a:r>
              <a:rPr lang="en-US" sz="1800"/>
              <a:t>Linear Search</a:t>
            </a:r>
            <a:r>
              <a:rPr lang="en-US" sz="1800" b="1"/>
              <a:t> </a:t>
            </a:r>
            <a:r>
              <a:rPr lang="en-US" sz="1800"/>
              <a:t>is a method for searching an element in a collection of elements. In Linear Search, each element of the collection is visited one by one in a sequential fashion to find the desired element. Linear Search is also known as </a:t>
            </a:r>
            <a:r>
              <a:rPr lang="en-US" sz="1800" b="1"/>
              <a:t>Sequential Search.</a:t>
            </a:r>
            <a:endParaRPr/>
          </a:p>
          <a:p>
            <a:pPr marL="171450" indent="-171450">
              <a:buSzPts val="2400"/>
            </a:pPr>
            <a:r>
              <a:rPr lang="en-US" sz="1800" b="1"/>
              <a:t>Time Complexity:</a:t>
            </a:r>
            <a:endParaRPr sz="1800"/>
          </a:p>
          <a:p>
            <a:pPr marL="171450" indent="-171450">
              <a:buSzPts val="2400"/>
            </a:pPr>
            <a:r>
              <a:rPr lang="en-US" sz="1800" b="1"/>
              <a:t>Best Case:</a:t>
            </a:r>
            <a:r>
              <a:rPr lang="en-US" sz="1800"/>
              <a:t> In the best case, the key might be present at the first index. So the best case complexity is O(1)</a:t>
            </a:r>
            <a:endParaRPr/>
          </a:p>
          <a:p>
            <a:pPr marL="171450" indent="-171450">
              <a:buSzPts val="2400"/>
            </a:pPr>
            <a:r>
              <a:rPr lang="en-US" sz="1800" b="1"/>
              <a:t>Worst Case:</a:t>
            </a:r>
            <a:r>
              <a:rPr lang="en-US" sz="1800"/>
              <a:t> In the worst case, the key might be present at the last index i.e., opposite to the end from which the search has started in the list. So the worst-case complexity is O(N) where N is the size of the list.</a:t>
            </a:r>
            <a:endParaRPr/>
          </a:p>
          <a:p>
            <a:pPr marL="171450" indent="-171450">
              <a:buSzPts val="2400"/>
            </a:pPr>
            <a:r>
              <a:rPr lang="en-US" sz="1800" b="1"/>
              <a:t>Average Case:</a:t>
            </a:r>
            <a:r>
              <a:rPr lang="en-US" sz="1800"/>
              <a:t> O(N)</a:t>
            </a:r>
            <a:endParaRPr/>
          </a:p>
          <a:p>
            <a:pPr marL="0" indent="0">
              <a:buSzPts val="2400"/>
              <a:buNone/>
            </a:pPr>
            <a:endParaRPr sz="1800"/>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3CF83E26-C789-AC92-1A8A-47139E291B13}"/>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9" name="Google Shape;289;p2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290" name="Google Shape;290;p21"/>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Binary Search:</a:t>
            </a:r>
            <a:r>
              <a:rPr lang="en-US" sz="1500" b="1" i="1"/>
              <a:t> </a:t>
            </a:r>
            <a:r>
              <a:rPr lang="en-US" sz="1800"/>
              <a:t>Binary search is a search algorithm used to find the position of a target value within a </a:t>
            </a:r>
            <a:r>
              <a:rPr lang="en-US" sz="1800" b="1"/>
              <a:t>sorted </a:t>
            </a:r>
            <a:r>
              <a:rPr lang="en-US" sz="1800"/>
              <a:t>array. It works by repeatedly dividing the search interval in half until the target value is found or the interval is empty. The search interval is halved by comparing the target element with the middle value of the search space.</a:t>
            </a:r>
            <a:endParaRPr sz="1800" b="1"/>
          </a:p>
          <a:p>
            <a:pPr marL="171450" indent="-171450">
              <a:buSzPts val="2800"/>
            </a:pPr>
            <a:r>
              <a:rPr lang="en-US" b="1"/>
              <a:t>Time Complexity:</a:t>
            </a:r>
            <a:r>
              <a:rPr lang="en-US"/>
              <a:t> </a:t>
            </a:r>
            <a:endParaRPr/>
          </a:p>
          <a:p>
            <a:pPr marL="171450" indent="-171450">
              <a:buSzPts val="2400"/>
            </a:pPr>
            <a:r>
              <a:rPr lang="en-US" sz="1800"/>
              <a:t>Best Case: O(1)</a:t>
            </a:r>
            <a:endParaRPr/>
          </a:p>
          <a:p>
            <a:pPr marL="171450" indent="-171450">
              <a:buSzPts val="2400"/>
            </a:pPr>
            <a:r>
              <a:rPr lang="en-US" sz="1800"/>
              <a:t>Average Case: O(log N)</a:t>
            </a:r>
            <a:endParaRPr/>
          </a:p>
          <a:p>
            <a:pPr marL="171450" indent="-171450">
              <a:buSzPts val="2400"/>
            </a:pPr>
            <a:r>
              <a:rPr lang="en-US" sz="1800"/>
              <a:t>Worst Case: O(log N)</a:t>
            </a:r>
            <a:endParaRPr/>
          </a:p>
          <a:p>
            <a:pPr marL="0" indent="0">
              <a:buSzPts val="2400"/>
              <a:buNone/>
            </a:pPr>
            <a:endParaRPr sz="1800"/>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B4F60353-BBAB-7D39-ABF3-C54B1C97AE3C}"/>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7" name="Google Shape;297;p2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298" name="Google Shape;298;p22"/>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0" indent="0" algn="just">
              <a:lnSpc>
                <a:spcPct val="150000"/>
              </a:lnSpc>
              <a:spcBef>
                <a:spcPts val="0"/>
              </a:spcBef>
              <a:buSzPts val="2400"/>
              <a:buNone/>
            </a:pPr>
            <a:r>
              <a:rPr lang="en-US" sz="1800" b="1"/>
              <a:t>Selection Sort:</a:t>
            </a:r>
            <a:r>
              <a:rPr lang="en-US" sz="1500" b="1" i="1"/>
              <a:t> </a:t>
            </a:r>
            <a:r>
              <a:rPr lang="en-US" sz="1800"/>
              <a:t>It is a simple and efficient sorting algorithm that works by repeatedly selecting the smallest (or largest) element from the unsorted portion of the list and moving it to the sorted portion of the list. </a:t>
            </a:r>
            <a:endParaRPr sz="1800"/>
          </a:p>
          <a:p>
            <a:pPr marL="171450" indent="-171450">
              <a:buSzPts val="2400"/>
            </a:pPr>
            <a:r>
              <a:rPr lang="en-US" sz="1800" b="1"/>
              <a:t>Time Complexity:</a:t>
            </a:r>
            <a:r>
              <a:rPr lang="en-US" sz="1800"/>
              <a:t> The time complexity of Selection Sort is </a:t>
            </a:r>
            <a:r>
              <a:rPr lang="en-US" sz="1800" b="1"/>
              <a:t>O(N</a:t>
            </a:r>
            <a:r>
              <a:rPr lang="en-US" sz="1800" b="1" baseline="30000"/>
              <a:t>2</a:t>
            </a:r>
            <a:r>
              <a:rPr lang="en-US" sz="1800" b="1"/>
              <a:t>)</a:t>
            </a:r>
            <a:r>
              <a:rPr lang="en-US" sz="1800"/>
              <a:t> as there are two nested loops:</a:t>
            </a:r>
            <a:endParaRPr/>
          </a:p>
          <a:p>
            <a:pPr marL="171450" indent="-171450">
              <a:buSzPts val="2400"/>
            </a:pPr>
            <a:r>
              <a:rPr lang="en-US" sz="1800"/>
              <a:t>One loop to select an element of Array one by one = O(N)</a:t>
            </a:r>
            <a:endParaRPr/>
          </a:p>
          <a:p>
            <a:pPr marL="171450" indent="-171450">
              <a:buSzPts val="2400"/>
            </a:pPr>
            <a:r>
              <a:rPr lang="en-US" sz="1800"/>
              <a:t>Another loop to compare that element with every other Array element = O(N)</a:t>
            </a:r>
            <a:endParaRPr/>
          </a:p>
          <a:p>
            <a:pPr marL="171450" indent="-171450">
              <a:buSzPts val="2400"/>
            </a:pPr>
            <a:r>
              <a:rPr lang="en-US" sz="1800"/>
              <a:t>Therefore overall complexity = O(N) * O(N) = O(N*N) = O(N</a:t>
            </a:r>
            <a:r>
              <a:rPr lang="en-US" sz="1800" baseline="30000"/>
              <a:t>2</a:t>
            </a:r>
            <a:r>
              <a:rPr lang="en-US" sz="1800"/>
              <a:t>)</a:t>
            </a:r>
            <a:endParaRPr/>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00D284DA-AAB5-30FD-50E1-5CE5A210BF23}"/>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5" name="Google Shape;305;p2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000" dirty="0">
                <a:solidFill>
                  <a:schemeClr val="dk1"/>
                </a:solidFill>
              </a:rPr>
            </a:br>
            <a:r>
              <a:rPr lang="en-US" sz="2400" dirty="0">
                <a:solidFill>
                  <a:schemeClr val="dk1"/>
                </a:solidFill>
              </a:rPr>
              <a:t>Object Oriented Programming &amp;File Handling</a:t>
            </a:r>
            <a:br>
              <a:rPr lang="en-US" sz="40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306" name="Google Shape;306;p23"/>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a:t>Insertion Sort:</a:t>
            </a:r>
            <a:r>
              <a:rPr lang="en-US" sz="1500" b="1" i="1"/>
              <a:t> </a:t>
            </a:r>
            <a:r>
              <a:rPr lang="en-US" sz="1800"/>
              <a:t>It is a simple sorting algorithm that works by building a sorted array one element at a time. It is considered an “</a:t>
            </a:r>
            <a:r>
              <a:rPr lang="en-US" sz="1800" b="1"/>
              <a:t>in-place</a:t>
            </a:r>
            <a:r>
              <a:rPr lang="en-US" sz="1800"/>
              <a:t>” sorting algorithm, meaning it doesn’t require any additional memory space beyond the original array.</a:t>
            </a:r>
            <a:endParaRPr/>
          </a:p>
          <a:p>
            <a:pPr marL="171450" indent="-171450">
              <a:buSzPts val="2400"/>
            </a:pPr>
            <a:r>
              <a:rPr lang="en-US" sz="1800" b="1"/>
              <a:t>Time Complexity of Insertion Sort</a:t>
            </a:r>
            <a:endParaRPr/>
          </a:p>
          <a:p>
            <a:pPr marL="171450" indent="-171450">
              <a:buSzPts val="2400"/>
            </a:pPr>
            <a:r>
              <a:rPr lang="en-US" sz="1800" b="1"/>
              <a:t>Best case:</a:t>
            </a:r>
            <a:r>
              <a:rPr lang="en-US" sz="1800"/>
              <a:t> </a:t>
            </a:r>
            <a:r>
              <a:rPr lang="en-US" sz="1800" b="1"/>
              <a:t>O(n)</a:t>
            </a:r>
            <a:r>
              <a:rPr lang="en-US" sz="1800"/>
              <a:t>, If the list is already sorted, where n is the number of elements in the list.</a:t>
            </a:r>
            <a:endParaRPr/>
          </a:p>
          <a:p>
            <a:pPr marL="171450" indent="-171450">
              <a:buSzPts val="2400"/>
            </a:pPr>
            <a:r>
              <a:rPr lang="en-US" sz="1800" b="1"/>
              <a:t>Average case:</a:t>
            </a:r>
            <a:r>
              <a:rPr lang="en-US" sz="1800"/>
              <a:t> </a:t>
            </a:r>
            <a:r>
              <a:rPr lang="en-US" sz="1800" b="1"/>
              <a:t>O(n</a:t>
            </a:r>
            <a:r>
              <a:rPr lang="en-US" sz="1800" b="1" baseline="30000"/>
              <a:t>2</a:t>
            </a:r>
            <a:r>
              <a:rPr lang="en-US" sz="1800" b="1"/>
              <a:t>)</a:t>
            </a:r>
            <a:r>
              <a:rPr lang="en-US" sz="1800"/>
              <a:t>, If the list is randomly ordered</a:t>
            </a:r>
            <a:endParaRPr/>
          </a:p>
          <a:p>
            <a:pPr marL="171450" indent="-171450">
              <a:buSzPts val="2400"/>
            </a:pPr>
            <a:r>
              <a:rPr lang="en-US" sz="1800" b="1"/>
              <a:t>Worst case:</a:t>
            </a:r>
            <a:r>
              <a:rPr lang="en-US" sz="1800"/>
              <a:t> </a:t>
            </a:r>
            <a:r>
              <a:rPr lang="en-US" sz="1800" b="1"/>
              <a:t>O(n</a:t>
            </a:r>
            <a:r>
              <a:rPr lang="en-US" sz="1800" b="1" baseline="30000"/>
              <a:t>2</a:t>
            </a:r>
            <a:r>
              <a:rPr lang="en-US" sz="1800" b="1"/>
              <a:t>)</a:t>
            </a:r>
            <a:r>
              <a:rPr lang="en-US" sz="1800"/>
              <a:t>, If the list is in reverse order</a:t>
            </a:r>
            <a:endParaRPr/>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CF8484D6-6DE8-2DB4-1A4E-2A8EA18E3516}"/>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3" name="Google Shape;313;p2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000" dirty="0">
                <a:solidFill>
                  <a:schemeClr val="dk1"/>
                </a:solidFill>
              </a:rPr>
            </a:br>
            <a:r>
              <a:rPr lang="en-US" sz="2400" dirty="0">
                <a:solidFill>
                  <a:schemeClr val="dk1"/>
                </a:solidFill>
              </a:rPr>
              <a:t>Object Oriented Programming &amp;File Handling</a:t>
            </a:r>
            <a:br>
              <a:rPr lang="en-US" sz="40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314" name="Google Shape;314;p24"/>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a:t>Merge Sort: </a:t>
            </a:r>
            <a:r>
              <a:rPr lang="en-US" sz="1800"/>
              <a:t>It is a sorting algorithm that follows the </a:t>
            </a:r>
            <a:r>
              <a:rPr lang="en-US" sz="1800" b="1"/>
              <a:t>divide-and-conquer</a:t>
            </a:r>
            <a:r>
              <a:rPr lang="en-US" sz="1800"/>
              <a:t> approach. It works by recursively dividing the input array into smaller subarrays and sorting those subarrays then merging them back together to obtain the sorted array.</a:t>
            </a:r>
            <a:endParaRPr/>
          </a:p>
          <a:p>
            <a:pPr marL="171450" indent="-171450">
              <a:buSzPts val="2400"/>
            </a:pPr>
            <a:r>
              <a:rPr lang="en-US" sz="1800" b="1"/>
              <a:t>Time Complexity:</a:t>
            </a:r>
            <a:endParaRPr sz="1800"/>
          </a:p>
          <a:p>
            <a:pPr marL="171450" indent="-171450">
              <a:buSzPts val="2400"/>
            </a:pPr>
            <a:r>
              <a:rPr lang="en-US" sz="1800" b="1"/>
              <a:t>Best Case: </a:t>
            </a:r>
            <a:r>
              <a:rPr lang="en-US" sz="1800"/>
              <a:t>O(n log n), When the array is already sorted or nearly sorted.</a:t>
            </a:r>
            <a:endParaRPr/>
          </a:p>
          <a:p>
            <a:pPr marL="171450" indent="-171450">
              <a:buSzPts val="2400"/>
            </a:pPr>
            <a:r>
              <a:rPr lang="en-US" sz="1800" b="1"/>
              <a:t>Average Case:</a:t>
            </a:r>
            <a:r>
              <a:rPr lang="en-US" sz="1800"/>
              <a:t> O(n log n), When the array is randomly ordered.</a:t>
            </a:r>
            <a:endParaRPr/>
          </a:p>
          <a:p>
            <a:pPr marL="171450" indent="-171450">
              <a:buSzPts val="2400"/>
            </a:pPr>
            <a:r>
              <a:rPr lang="en-US" sz="1800" b="1"/>
              <a:t>Worst Case: </a:t>
            </a:r>
            <a:r>
              <a:rPr lang="en-US" sz="1800"/>
              <a:t>O(n log n), When the array is sorted in reverse order.</a:t>
            </a:r>
            <a:endParaRPr/>
          </a:p>
          <a:p>
            <a:pPr marL="171450" indent="-171450">
              <a:buSzPts val="2400"/>
            </a:pPr>
            <a:r>
              <a:rPr lang="en-US" sz="1800" b="1"/>
              <a:t>Space Complexity: </a:t>
            </a:r>
            <a:r>
              <a:rPr lang="en-US" sz="1800"/>
              <a:t>O(n), Additional space is required for the temporary array used during merging.</a:t>
            </a:r>
            <a:endParaRPr/>
          </a:p>
          <a:p>
            <a:pPr marL="0" indent="0" algn="just">
              <a:buSzPts val="2400"/>
              <a:buNone/>
            </a:pPr>
            <a:endParaRPr sz="1800"/>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1CEC1DB7-0BFD-2435-475A-C248FCFBCBB0}"/>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1" name="Google Shape;321;p2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300" dirty="0">
                <a:solidFill>
                  <a:schemeClr val="dk1"/>
                </a:solidFill>
              </a:rPr>
            </a:br>
            <a:br>
              <a:rPr lang="en-US" sz="3000" dirty="0">
                <a:solidFill>
                  <a:schemeClr val="dk1"/>
                </a:solidFill>
              </a:rPr>
            </a:br>
            <a:endParaRPr sz="2700" dirty="0">
              <a:solidFill>
                <a:schemeClr val="dk1"/>
              </a:solidFill>
            </a:endParaRPr>
          </a:p>
        </p:txBody>
      </p:sp>
      <p:sp>
        <p:nvSpPr>
          <p:cNvPr id="322" name="Google Shape;322;p25"/>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a:t>Quick Sort: </a:t>
            </a:r>
            <a:r>
              <a:rPr lang="en-US" sz="1800"/>
              <a:t>It is a sorting algorithm based on the Divide and Conquer algorithm that picks an element as a pivot and partitions the given array around the picked pivot by placing the pivot in its correct position in the sorted array</a:t>
            </a:r>
            <a:r>
              <a:rPr lang="en-US" sz="1800" i="1"/>
              <a:t>.</a:t>
            </a:r>
            <a:endParaRPr/>
          </a:p>
          <a:p>
            <a:pPr marL="171450" indent="-171450">
              <a:buSzPts val="2400"/>
            </a:pPr>
            <a:r>
              <a:rPr lang="en-US" sz="1800" b="1"/>
              <a:t>Time Complexity:</a:t>
            </a:r>
            <a:endParaRPr sz="1800"/>
          </a:p>
          <a:p>
            <a:pPr marL="171450" indent="-171450">
              <a:buSzPts val="2400"/>
            </a:pPr>
            <a:r>
              <a:rPr lang="en-US" sz="1800" b="1"/>
              <a:t>Best Case</a:t>
            </a:r>
            <a:r>
              <a:rPr lang="en-US" sz="1800"/>
              <a:t>: Ω (N log (N))</a:t>
            </a:r>
            <a:br>
              <a:rPr lang="en-US" sz="1800"/>
            </a:br>
            <a:r>
              <a:rPr lang="en-US" sz="1800"/>
              <a:t>The best-case scenario for quicksort occur when the pivot chosen at the each step divides the array into roughly equal halves.</a:t>
            </a:r>
            <a:endParaRPr/>
          </a:p>
          <a:p>
            <a:pPr marL="171450" indent="-171450">
              <a:buSzPts val="2400"/>
            </a:pPr>
            <a:r>
              <a:rPr lang="en-US" sz="1800" b="1"/>
              <a:t>Average Case: θ ( N log (N))</a:t>
            </a:r>
            <a:br>
              <a:rPr lang="en-US" sz="1800"/>
            </a:br>
            <a:r>
              <a:rPr lang="en-US" sz="1800"/>
              <a:t>Quicksort’s average-case performance is usually very good in practice, making it one of the fastest sorting Algorithm.</a:t>
            </a:r>
            <a:endParaRPr/>
          </a:p>
          <a:p>
            <a:pPr marL="171450" indent="-171450">
              <a:buSzPts val="2400"/>
            </a:pPr>
            <a:r>
              <a:rPr lang="en-US" sz="1800" b="1"/>
              <a:t>Worst Case: O(N2)</a:t>
            </a:r>
            <a:br>
              <a:rPr lang="en-US" sz="1800"/>
            </a:br>
            <a:r>
              <a:rPr lang="en-US" sz="1800"/>
              <a:t>The worst-case Scenario for Quicksort occur when the pivot at each step consistently results in highly unbalanced partitions. </a:t>
            </a:r>
            <a:endParaRPr sz="1800"/>
          </a:p>
          <a:p>
            <a:pPr marL="0" indent="0" algn="just">
              <a:lnSpc>
                <a:spcPct val="150000"/>
              </a:lnSpc>
              <a:buSzPts val="2400"/>
              <a:buNone/>
            </a:pPr>
            <a:endParaRPr sz="1800"/>
          </a:p>
        </p:txBody>
      </p:sp>
      <p:sp>
        <p:nvSpPr>
          <p:cNvPr id="2" name="Footer Placeholder 1">
            <a:extLst>
              <a:ext uri="{FF2B5EF4-FFF2-40B4-BE49-F238E27FC236}">
                <a16:creationId xmlns:a16="http://schemas.microsoft.com/office/drawing/2014/main" id="{7C61F8BA-01D8-54C3-3183-61D8BD7D2223}"/>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2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000" dirty="0">
                <a:solidFill>
                  <a:schemeClr val="dk1"/>
                </a:solidFill>
              </a:rPr>
            </a:br>
            <a:br>
              <a:rPr lang="en-US" sz="4500" dirty="0">
                <a:solidFill>
                  <a:schemeClr val="dk1"/>
                </a:solidFill>
              </a:rPr>
            </a:br>
            <a:r>
              <a:rPr lang="en-US" sz="2400" dirty="0">
                <a:solidFill>
                  <a:schemeClr val="dk1"/>
                </a:solidFill>
              </a:rPr>
              <a:t>Object Oriented Programming &amp;File Handling</a:t>
            </a:r>
            <a:br>
              <a:rPr lang="en-US" sz="4500" dirty="0">
                <a:solidFill>
                  <a:schemeClr val="dk1"/>
                </a:solidFill>
              </a:rPr>
            </a:br>
            <a:br>
              <a:rPr lang="en-US" sz="3000" dirty="0">
                <a:solidFill>
                  <a:schemeClr val="dk1"/>
                </a:solidFill>
              </a:rPr>
            </a:br>
            <a:endParaRPr sz="2700" dirty="0">
              <a:solidFill>
                <a:schemeClr val="dk1"/>
              </a:solidFill>
            </a:endParaRPr>
          </a:p>
        </p:txBody>
      </p:sp>
      <p:sp>
        <p:nvSpPr>
          <p:cNvPr id="330" name="Google Shape;330;p26"/>
          <p:cNvSpPr txBox="1">
            <a:spLocks noGrp="1"/>
          </p:cNvSpPr>
          <p:nvPr>
            <p:ph type="body" idx="1"/>
          </p:nvPr>
        </p:nvSpPr>
        <p:spPr>
          <a:xfrm>
            <a:off x="509588" y="1840706"/>
            <a:ext cx="7784983" cy="365110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pPr>
            <a:r>
              <a:rPr lang="en-US" sz="1800" b="1"/>
              <a:t>Summary of Time Complexities</a:t>
            </a:r>
            <a:endParaRPr sz="1800" b="1"/>
          </a:p>
          <a:p>
            <a:pPr marL="171450" indent="-57150" algn="just">
              <a:buSzPts val="2400"/>
              <a:buNone/>
            </a:pPr>
            <a:endParaRPr sz="1800"/>
          </a:p>
        </p:txBody>
      </p:sp>
      <p:graphicFrame>
        <p:nvGraphicFramePr>
          <p:cNvPr id="331" name="Google Shape;331;p26"/>
          <p:cNvGraphicFramePr/>
          <p:nvPr/>
        </p:nvGraphicFramePr>
        <p:xfrm>
          <a:off x="1377950" y="2647949"/>
          <a:ext cx="6096000" cy="2255584"/>
        </p:xfrm>
        <a:graphic>
          <a:graphicData uri="http://schemas.openxmlformats.org/drawingml/2006/table">
            <a:tbl>
              <a:tblPr firstRow="1" bandRow="1">
                <a:noFill/>
                <a:tableStyleId>{2A67C014-7AB7-4B0E-ACB5-F64541499EC4}</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278138">
                <a:tc>
                  <a:txBody>
                    <a:bodyPr/>
                    <a:lstStyle/>
                    <a:p>
                      <a:pPr marL="0" marR="0" lvl="0" indent="0" algn="l" rtl="0">
                        <a:spcBef>
                          <a:spcPts val="0"/>
                        </a:spcBef>
                        <a:spcAft>
                          <a:spcPts val="0"/>
                        </a:spcAft>
                        <a:buNone/>
                      </a:pPr>
                      <a:r>
                        <a:rPr lang="en-US" sz="1400" u="none" strike="noStrike" cap="none"/>
                        <a:t>Algorithm</a:t>
                      </a:r>
                      <a:endParaRPr sz="800"/>
                    </a:p>
                  </a:txBody>
                  <a:tcPr marL="68588" marR="68588" marT="34294" marB="34294" anchor="ctr"/>
                </a:tc>
                <a:tc>
                  <a:txBody>
                    <a:bodyPr/>
                    <a:lstStyle/>
                    <a:p>
                      <a:pPr marL="0" marR="0" lvl="0" indent="0" algn="l" rtl="0">
                        <a:spcBef>
                          <a:spcPts val="0"/>
                        </a:spcBef>
                        <a:spcAft>
                          <a:spcPts val="0"/>
                        </a:spcAft>
                        <a:buNone/>
                      </a:pPr>
                      <a:r>
                        <a:rPr lang="en-US" sz="1400"/>
                        <a:t>Best Case</a:t>
                      </a:r>
                      <a:endParaRPr sz="800"/>
                    </a:p>
                  </a:txBody>
                  <a:tcPr marL="68588" marR="68588" marT="34294" marB="34294" anchor="ctr"/>
                </a:tc>
                <a:tc>
                  <a:txBody>
                    <a:bodyPr/>
                    <a:lstStyle/>
                    <a:p>
                      <a:pPr marL="0" marR="0" lvl="0" indent="0" algn="l" rtl="0">
                        <a:spcBef>
                          <a:spcPts val="0"/>
                        </a:spcBef>
                        <a:spcAft>
                          <a:spcPts val="0"/>
                        </a:spcAft>
                        <a:buNone/>
                      </a:pPr>
                      <a:r>
                        <a:rPr lang="en-US" sz="1400"/>
                        <a:t>Average Case</a:t>
                      </a:r>
                      <a:endParaRPr sz="800"/>
                    </a:p>
                  </a:txBody>
                  <a:tcPr marL="68588" marR="68588" marT="34294" marB="34294" anchor="ctr"/>
                </a:tc>
                <a:tc>
                  <a:txBody>
                    <a:bodyPr/>
                    <a:lstStyle/>
                    <a:p>
                      <a:pPr marL="0" marR="0" lvl="0" indent="0" algn="l" rtl="0">
                        <a:spcBef>
                          <a:spcPts val="0"/>
                        </a:spcBef>
                        <a:spcAft>
                          <a:spcPts val="0"/>
                        </a:spcAft>
                        <a:buNone/>
                      </a:pPr>
                      <a:r>
                        <a:rPr lang="en-US" sz="1400"/>
                        <a:t>Worst Case</a:t>
                      </a:r>
                      <a:endParaRPr sz="800"/>
                    </a:p>
                  </a:txBody>
                  <a:tcPr marL="68588" marR="68588" marT="34294" marB="34294" anchor="ctr"/>
                </a:tc>
                <a:extLst>
                  <a:ext uri="{0D108BD9-81ED-4DB2-BD59-A6C34878D82A}">
                    <a16:rowId xmlns:a16="http://schemas.microsoft.com/office/drawing/2014/main" val="10000"/>
                  </a:ext>
                </a:extLst>
              </a:tr>
              <a:tr h="278138">
                <a:tc>
                  <a:txBody>
                    <a:bodyPr/>
                    <a:lstStyle/>
                    <a:p>
                      <a:pPr marL="0" marR="0" lvl="0" indent="0" algn="l" rtl="0">
                        <a:spcBef>
                          <a:spcPts val="0"/>
                        </a:spcBef>
                        <a:spcAft>
                          <a:spcPts val="0"/>
                        </a:spcAft>
                        <a:buNone/>
                      </a:pPr>
                      <a:r>
                        <a:rPr lang="en-US" sz="1400"/>
                        <a:t>Linear Search</a:t>
                      </a:r>
                      <a:endParaRPr sz="800"/>
                    </a:p>
                  </a:txBody>
                  <a:tcPr marL="68588" marR="68588" marT="34294" marB="34294" anchor="ctr"/>
                </a:tc>
                <a:tc>
                  <a:txBody>
                    <a:bodyPr/>
                    <a:lstStyle/>
                    <a:p>
                      <a:pPr marL="0" marR="0" lvl="0" indent="0" algn="l" rtl="0">
                        <a:spcBef>
                          <a:spcPts val="0"/>
                        </a:spcBef>
                        <a:spcAft>
                          <a:spcPts val="0"/>
                        </a:spcAft>
                        <a:buNone/>
                      </a:pPr>
                      <a:r>
                        <a:rPr lang="en-US" sz="1400"/>
                        <a:t>O(1)</a:t>
                      </a:r>
                      <a:endParaRPr sz="800"/>
                    </a:p>
                  </a:txBody>
                  <a:tcPr marL="68588" marR="68588" marT="34294" marB="34294" anchor="ctr"/>
                </a:tc>
                <a:tc>
                  <a:txBody>
                    <a:bodyPr/>
                    <a:lstStyle/>
                    <a:p>
                      <a:pPr marL="0" marR="0" lvl="0" indent="0" algn="l" rtl="0">
                        <a:spcBef>
                          <a:spcPts val="0"/>
                        </a:spcBef>
                        <a:spcAft>
                          <a:spcPts val="0"/>
                        </a:spcAft>
                        <a:buNone/>
                      </a:pPr>
                      <a:r>
                        <a:rPr lang="en-US" sz="1400"/>
                        <a:t>O(n)</a:t>
                      </a:r>
                      <a:endParaRPr sz="800"/>
                    </a:p>
                  </a:txBody>
                  <a:tcPr marL="68588" marR="68588" marT="34294" marB="34294" anchor="ctr"/>
                </a:tc>
                <a:tc>
                  <a:txBody>
                    <a:bodyPr/>
                    <a:lstStyle/>
                    <a:p>
                      <a:pPr marL="0" marR="0" lvl="0" indent="0" algn="l" rtl="0">
                        <a:spcBef>
                          <a:spcPts val="0"/>
                        </a:spcBef>
                        <a:spcAft>
                          <a:spcPts val="0"/>
                        </a:spcAft>
                        <a:buNone/>
                      </a:pPr>
                      <a:r>
                        <a:rPr lang="en-US" sz="1400"/>
                        <a:t>O(n)</a:t>
                      </a:r>
                      <a:endParaRPr sz="800"/>
                    </a:p>
                  </a:txBody>
                  <a:tcPr marL="68588" marR="68588" marT="34294" marB="34294" anchor="ctr"/>
                </a:tc>
                <a:extLst>
                  <a:ext uri="{0D108BD9-81ED-4DB2-BD59-A6C34878D82A}">
                    <a16:rowId xmlns:a16="http://schemas.microsoft.com/office/drawing/2014/main" val="10001"/>
                  </a:ext>
                </a:extLst>
              </a:tr>
              <a:tr h="278138">
                <a:tc>
                  <a:txBody>
                    <a:bodyPr/>
                    <a:lstStyle/>
                    <a:p>
                      <a:pPr marL="0" marR="0" lvl="0" indent="0" algn="l" rtl="0">
                        <a:spcBef>
                          <a:spcPts val="0"/>
                        </a:spcBef>
                        <a:spcAft>
                          <a:spcPts val="0"/>
                        </a:spcAft>
                        <a:buNone/>
                      </a:pPr>
                      <a:r>
                        <a:rPr lang="en-US" sz="1400"/>
                        <a:t>Binary Search</a:t>
                      </a:r>
                      <a:endParaRPr sz="800"/>
                    </a:p>
                  </a:txBody>
                  <a:tcPr marL="68588" marR="68588" marT="34294" marB="34294" anchor="ctr"/>
                </a:tc>
                <a:tc>
                  <a:txBody>
                    <a:bodyPr/>
                    <a:lstStyle/>
                    <a:p>
                      <a:pPr marL="0" marR="0" lvl="0" indent="0" algn="l" rtl="0">
                        <a:spcBef>
                          <a:spcPts val="0"/>
                        </a:spcBef>
                        <a:spcAft>
                          <a:spcPts val="0"/>
                        </a:spcAft>
                        <a:buNone/>
                      </a:pPr>
                      <a:r>
                        <a:rPr lang="en-US" sz="1400"/>
                        <a:t>O(1)</a:t>
                      </a:r>
                      <a:endParaRPr sz="800"/>
                    </a:p>
                  </a:txBody>
                  <a:tcPr marL="68588" marR="68588" marT="34294" marB="34294" anchor="ctr"/>
                </a:tc>
                <a:tc>
                  <a:txBody>
                    <a:bodyPr/>
                    <a:lstStyle/>
                    <a:p>
                      <a:pPr marL="0" marR="0" lvl="0" indent="0" algn="l" rtl="0">
                        <a:spcBef>
                          <a:spcPts val="0"/>
                        </a:spcBef>
                        <a:spcAft>
                          <a:spcPts val="0"/>
                        </a:spcAft>
                        <a:buNone/>
                      </a:pPr>
                      <a:r>
                        <a:rPr lang="en-US" sz="1400"/>
                        <a:t>O(log n)</a:t>
                      </a:r>
                      <a:endParaRPr sz="800"/>
                    </a:p>
                  </a:txBody>
                  <a:tcPr marL="68588" marR="68588" marT="34294" marB="34294" anchor="ctr"/>
                </a:tc>
                <a:tc>
                  <a:txBody>
                    <a:bodyPr/>
                    <a:lstStyle/>
                    <a:p>
                      <a:pPr marL="0" marR="0" lvl="0" indent="0" algn="l" rtl="0">
                        <a:spcBef>
                          <a:spcPts val="0"/>
                        </a:spcBef>
                        <a:spcAft>
                          <a:spcPts val="0"/>
                        </a:spcAft>
                        <a:buNone/>
                      </a:pPr>
                      <a:r>
                        <a:rPr lang="en-US" sz="1400"/>
                        <a:t>O(log n)</a:t>
                      </a:r>
                      <a:endParaRPr sz="800"/>
                    </a:p>
                  </a:txBody>
                  <a:tcPr marL="68588" marR="68588" marT="34294" marB="34294" anchor="ctr"/>
                </a:tc>
                <a:extLst>
                  <a:ext uri="{0D108BD9-81ED-4DB2-BD59-A6C34878D82A}">
                    <a16:rowId xmlns:a16="http://schemas.microsoft.com/office/drawing/2014/main" val="10002"/>
                  </a:ext>
                </a:extLst>
              </a:tr>
              <a:tr h="278138">
                <a:tc>
                  <a:txBody>
                    <a:bodyPr/>
                    <a:lstStyle/>
                    <a:p>
                      <a:pPr marL="0" marR="0" lvl="0" indent="0" algn="l" rtl="0">
                        <a:spcBef>
                          <a:spcPts val="0"/>
                        </a:spcBef>
                        <a:spcAft>
                          <a:spcPts val="0"/>
                        </a:spcAft>
                        <a:buNone/>
                      </a:pPr>
                      <a:r>
                        <a:rPr lang="en-US" sz="1400"/>
                        <a:t>Selection Sort</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extLst>
                  <a:ext uri="{0D108BD9-81ED-4DB2-BD59-A6C34878D82A}">
                    <a16:rowId xmlns:a16="http://schemas.microsoft.com/office/drawing/2014/main" val="10003"/>
                  </a:ext>
                </a:extLst>
              </a:tr>
              <a:tr h="278138">
                <a:tc>
                  <a:txBody>
                    <a:bodyPr/>
                    <a:lstStyle/>
                    <a:p>
                      <a:pPr marL="0" marR="0" lvl="0" indent="0" algn="l" rtl="0">
                        <a:spcBef>
                          <a:spcPts val="0"/>
                        </a:spcBef>
                        <a:spcAft>
                          <a:spcPts val="0"/>
                        </a:spcAft>
                        <a:buNone/>
                      </a:pPr>
                      <a:r>
                        <a:rPr lang="en-US" sz="1400"/>
                        <a:t>Bubble Sort</a:t>
                      </a:r>
                      <a:endParaRPr sz="800"/>
                    </a:p>
                  </a:txBody>
                  <a:tcPr marL="68588" marR="68588" marT="34294" marB="34294" anchor="ctr"/>
                </a:tc>
                <a:tc>
                  <a:txBody>
                    <a:bodyPr/>
                    <a:lstStyle/>
                    <a:p>
                      <a:pPr marL="0" marR="0" lvl="0" indent="0" algn="l" rtl="0">
                        <a:spcBef>
                          <a:spcPts val="0"/>
                        </a:spcBef>
                        <a:spcAft>
                          <a:spcPts val="0"/>
                        </a:spcAft>
                        <a:buNone/>
                      </a:pPr>
                      <a:r>
                        <a:rPr lang="en-US" sz="1400"/>
                        <a:t>O(n)</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extLst>
                  <a:ext uri="{0D108BD9-81ED-4DB2-BD59-A6C34878D82A}">
                    <a16:rowId xmlns:a16="http://schemas.microsoft.com/office/drawing/2014/main" val="10004"/>
                  </a:ext>
                </a:extLst>
              </a:tr>
              <a:tr h="278138">
                <a:tc>
                  <a:txBody>
                    <a:bodyPr/>
                    <a:lstStyle/>
                    <a:p>
                      <a:pPr marL="0" marR="0" lvl="0" indent="0" algn="l" rtl="0">
                        <a:spcBef>
                          <a:spcPts val="0"/>
                        </a:spcBef>
                        <a:spcAft>
                          <a:spcPts val="0"/>
                        </a:spcAft>
                        <a:buNone/>
                      </a:pPr>
                      <a:r>
                        <a:rPr lang="en-US" sz="1400"/>
                        <a:t>Insertion Sort</a:t>
                      </a:r>
                      <a:endParaRPr sz="800"/>
                    </a:p>
                  </a:txBody>
                  <a:tcPr marL="68588" marR="68588" marT="34294" marB="34294" anchor="ctr"/>
                </a:tc>
                <a:tc>
                  <a:txBody>
                    <a:bodyPr/>
                    <a:lstStyle/>
                    <a:p>
                      <a:pPr marL="0" marR="0" lvl="0" indent="0" algn="l" rtl="0">
                        <a:spcBef>
                          <a:spcPts val="0"/>
                        </a:spcBef>
                        <a:spcAft>
                          <a:spcPts val="0"/>
                        </a:spcAft>
                        <a:buNone/>
                      </a:pPr>
                      <a:r>
                        <a:rPr lang="en-US" sz="1400"/>
                        <a:t>O(n)</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extLst>
                  <a:ext uri="{0D108BD9-81ED-4DB2-BD59-A6C34878D82A}">
                    <a16:rowId xmlns:a16="http://schemas.microsoft.com/office/drawing/2014/main" val="10005"/>
                  </a:ext>
                </a:extLst>
              </a:tr>
              <a:tr h="278138">
                <a:tc>
                  <a:txBody>
                    <a:bodyPr/>
                    <a:lstStyle/>
                    <a:p>
                      <a:pPr marL="0" marR="0" lvl="0" indent="0" algn="l" rtl="0">
                        <a:spcBef>
                          <a:spcPts val="0"/>
                        </a:spcBef>
                        <a:spcAft>
                          <a:spcPts val="0"/>
                        </a:spcAft>
                        <a:buNone/>
                      </a:pPr>
                      <a:r>
                        <a:rPr lang="en-US" sz="1400"/>
                        <a:t>Merge Sort</a:t>
                      </a:r>
                      <a:endParaRPr sz="800"/>
                    </a:p>
                  </a:txBody>
                  <a:tcPr marL="68588" marR="68588" marT="34294" marB="34294" anchor="ctr"/>
                </a:tc>
                <a:tc>
                  <a:txBody>
                    <a:bodyPr/>
                    <a:lstStyle/>
                    <a:p>
                      <a:pPr marL="0" marR="0" lvl="0" indent="0" algn="l" rtl="0">
                        <a:spcBef>
                          <a:spcPts val="0"/>
                        </a:spcBef>
                        <a:spcAft>
                          <a:spcPts val="0"/>
                        </a:spcAft>
                        <a:buNone/>
                      </a:pPr>
                      <a:r>
                        <a:rPr lang="en-US" sz="1400"/>
                        <a:t>O(n log n)</a:t>
                      </a:r>
                      <a:endParaRPr sz="800"/>
                    </a:p>
                  </a:txBody>
                  <a:tcPr marL="68588" marR="68588" marT="34294" marB="34294" anchor="ctr"/>
                </a:tc>
                <a:tc>
                  <a:txBody>
                    <a:bodyPr/>
                    <a:lstStyle/>
                    <a:p>
                      <a:pPr marL="0" marR="0" lvl="0" indent="0" algn="l" rtl="0">
                        <a:spcBef>
                          <a:spcPts val="0"/>
                        </a:spcBef>
                        <a:spcAft>
                          <a:spcPts val="0"/>
                        </a:spcAft>
                        <a:buNone/>
                      </a:pPr>
                      <a:r>
                        <a:rPr lang="en-US" sz="1400"/>
                        <a:t>O(n log n)</a:t>
                      </a:r>
                      <a:endParaRPr sz="800"/>
                    </a:p>
                  </a:txBody>
                  <a:tcPr marL="68588" marR="68588" marT="34294" marB="34294" anchor="ctr"/>
                </a:tc>
                <a:tc>
                  <a:txBody>
                    <a:bodyPr/>
                    <a:lstStyle/>
                    <a:p>
                      <a:pPr marL="0" marR="0" lvl="0" indent="0" algn="l" rtl="0">
                        <a:spcBef>
                          <a:spcPts val="0"/>
                        </a:spcBef>
                        <a:spcAft>
                          <a:spcPts val="0"/>
                        </a:spcAft>
                        <a:buNone/>
                      </a:pPr>
                      <a:r>
                        <a:rPr lang="en-US" sz="1400"/>
                        <a:t>O(n log n)</a:t>
                      </a:r>
                      <a:endParaRPr sz="800"/>
                    </a:p>
                  </a:txBody>
                  <a:tcPr marL="68588" marR="68588" marT="34294" marB="34294" anchor="ctr"/>
                </a:tc>
                <a:extLst>
                  <a:ext uri="{0D108BD9-81ED-4DB2-BD59-A6C34878D82A}">
                    <a16:rowId xmlns:a16="http://schemas.microsoft.com/office/drawing/2014/main" val="10006"/>
                  </a:ext>
                </a:extLst>
              </a:tr>
              <a:tr h="278138">
                <a:tc>
                  <a:txBody>
                    <a:bodyPr/>
                    <a:lstStyle/>
                    <a:p>
                      <a:pPr marL="0" marR="0" lvl="0" indent="0" algn="l" rtl="0">
                        <a:spcBef>
                          <a:spcPts val="0"/>
                        </a:spcBef>
                        <a:spcAft>
                          <a:spcPts val="0"/>
                        </a:spcAft>
                        <a:buNone/>
                      </a:pPr>
                      <a:r>
                        <a:rPr lang="en-US" sz="1400"/>
                        <a:t>Quick Sort</a:t>
                      </a:r>
                      <a:endParaRPr sz="800"/>
                    </a:p>
                  </a:txBody>
                  <a:tcPr marL="68588" marR="68588" marT="34294" marB="34294" anchor="ctr"/>
                </a:tc>
                <a:tc>
                  <a:txBody>
                    <a:bodyPr/>
                    <a:lstStyle/>
                    <a:p>
                      <a:pPr marL="0" marR="0" lvl="0" indent="0" algn="l" rtl="0">
                        <a:spcBef>
                          <a:spcPts val="0"/>
                        </a:spcBef>
                        <a:spcAft>
                          <a:spcPts val="0"/>
                        </a:spcAft>
                        <a:buNone/>
                      </a:pPr>
                      <a:r>
                        <a:rPr lang="en-US" sz="1400"/>
                        <a:t>O(n log n)</a:t>
                      </a:r>
                      <a:endParaRPr sz="800"/>
                    </a:p>
                  </a:txBody>
                  <a:tcPr marL="68588" marR="68588" marT="34294" marB="34294" anchor="ctr"/>
                </a:tc>
                <a:tc>
                  <a:txBody>
                    <a:bodyPr/>
                    <a:lstStyle/>
                    <a:p>
                      <a:pPr marL="0" marR="0" lvl="0" indent="0" algn="l" rtl="0">
                        <a:spcBef>
                          <a:spcPts val="0"/>
                        </a:spcBef>
                        <a:spcAft>
                          <a:spcPts val="0"/>
                        </a:spcAft>
                        <a:buNone/>
                      </a:pPr>
                      <a:r>
                        <a:rPr lang="en-US" sz="1400"/>
                        <a:t>O(n log n)</a:t>
                      </a:r>
                      <a:endParaRPr sz="800"/>
                    </a:p>
                  </a:txBody>
                  <a:tcPr marL="68588" marR="68588" marT="34294" marB="34294" anchor="ctr"/>
                </a:tc>
                <a:tc>
                  <a:txBody>
                    <a:bodyPr/>
                    <a:lstStyle/>
                    <a:p>
                      <a:pPr marL="0" marR="0" lvl="0" indent="0" algn="l" rtl="0">
                        <a:spcBef>
                          <a:spcPts val="0"/>
                        </a:spcBef>
                        <a:spcAft>
                          <a:spcPts val="0"/>
                        </a:spcAft>
                        <a:buNone/>
                      </a:pPr>
                      <a:r>
                        <a:rPr lang="en-US" sz="1400"/>
                        <a:t>O(n^2)</a:t>
                      </a:r>
                      <a:endParaRPr sz="800"/>
                    </a:p>
                  </a:txBody>
                  <a:tcPr marL="68588" marR="68588" marT="34294" marB="34294" anchor="ctr"/>
                </a:tc>
                <a:extLst>
                  <a:ext uri="{0D108BD9-81ED-4DB2-BD59-A6C34878D82A}">
                    <a16:rowId xmlns:a16="http://schemas.microsoft.com/office/drawing/2014/main" val="10007"/>
                  </a:ext>
                </a:extLst>
              </a:tr>
            </a:tbl>
          </a:graphicData>
        </a:graphic>
      </p:graphicFrame>
      <p:sp>
        <p:nvSpPr>
          <p:cNvPr id="2" name="Footer Placeholder 1">
            <a:extLst>
              <a:ext uri="{FF2B5EF4-FFF2-40B4-BE49-F238E27FC236}">
                <a16:creationId xmlns:a16="http://schemas.microsoft.com/office/drawing/2014/main" id="{F8880282-5553-7892-F553-34863F0E40F0}"/>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8" name="Google Shape;338;p2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300" dirty="0">
                <a:solidFill>
                  <a:schemeClr val="dk1"/>
                </a:solidFill>
              </a:rPr>
            </a:br>
            <a:br>
              <a:rPr lang="en-US" sz="4950" dirty="0">
                <a:solidFill>
                  <a:schemeClr val="dk1"/>
                </a:solidFill>
              </a:rPr>
            </a:br>
            <a:r>
              <a:rPr lang="en-US" sz="2400" dirty="0">
                <a:solidFill>
                  <a:schemeClr val="dk1"/>
                </a:solidFill>
              </a:rPr>
              <a:t>Object Oriented Programming &amp;File Handling</a:t>
            </a:r>
            <a:br>
              <a:rPr lang="en-US" sz="4950" dirty="0">
                <a:solidFill>
                  <a:schemeClr val="dk1"/>
                </a:solidFill>
              </a:rPr>
            </a:br>
            <a:br>
              <a:rPr lang="en-US" sz="3600" dirty="0">
                <a:solidFill>
                  <a:schemeClr val="dk1"/>
                </a:solidFill>
              </a:rPr>
            </a:br>
            <a:br>
              <a:rPr lang="en-US" sz="3300" dirty="0">
                <a:solidFill>
                  <a:schemeClr val="dk1"/>
                </a:solidFill>
              </a:rPr>
            </a:br>
            <a:endParaRPr sz="2700" dirty="0">
              <a:solidFill>
                <a:schemeClr val="dk1"/>
              </a:solidFill>
            </a:endParaRPr>
          </a:p>
        </p:txBody>
      </p:sp>
      <p:sp>
        <p:nvSpPr>
          <p:cNvPr id="339" name="Google Shape;339;p27"/>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lnSpc>
                <a:spcPct val="100000"/>
              </a:lnSpc>
              <a:spcBef>
                <a:spcPts val="0"/>
              </a:spcBef>
              <a:buSzPts val="2400"/>
            </a:pPr>
            <a:r>
              <a:rPr lang="en-US" sz="1800" b="1"/>
              <a:t>File Handling: </a:t>
            </a:r>
            <a:r>
              <a:rPr lang="en-US" sz="1800"/>
              <a:t>The concept of file handling has stretched over various other languages, but the implementation is either complicated or lengthy, but alike other concepts of Python, this concept here is also easy and short.</a:t>
            </a:r>
            <a:endParaRPr/>
          </a:p>
          <a:p>
            <a:pPr marL="171450" indent="-171450" algn="just">
              <a:lnSpc>
                <a:spcPct val="100000"/>
              </a:lnSpc>
              <a:buSzPts val="2400"/>
            </a:pPr>
            <a:r>
              <a:rPr lang="en-US" sz="1800"/>
              <a:t>Python treats file differently as text or binary and this is important. Each line of code includes a sequence of characters and they form text file. Each line of a file is terminated with a special character, called the EOL or End of Line characters like comma {,} or newline character.</a:t>
            </a:r>
            <a:endParaRPr/>
          </a:p>
          <a:p>
            <a:pPr marL="0" indent="0" algn="just">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31124F3E-7725-769B-6545-1DA6A0E19EA5}"/>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347" name="Google Shape;347;p28"/>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Advantages of File Handling in Python</a:t>
            </a:r>
            <a:endParaRPr/>
          </a:p>
          <a:p>
            <a:pPr marL="171450" indent="-171450">
              <a:buSzPts val="2400"/>
            </a:pPr>
            <a:r>
              <a:rPr lang="en-US" sz="1800" b="1"/>
              <a:t>Versatility</a:t>
            </a:r>
            <a:r>
              <a:rPr lang="en-US" sz="1800"/>
              <a:t>: File handling in Python allows you to perform a wide range of operations, such as creating, reading, writing, appending, renaming, and deleting files.</a:t>
            </a:r>
            <a:endParaRPr/>
          </a:p>
          <a:p>
            <a:pPr marL="171450" indent="-171450">
              <a:buSzPts val="2400"/>
            </a:pPr>
            <a:r>
              <a:rPr lang="en-US" sz="1800" b="1"/>
              <a:t>Flexibility</a:t>
            </a:r>
            <a:r>
              <a:rPr lang="en-US" sz="1800"/>
              <a:t>: File handling in Python is highly flexible, as it allows you to work with different file types (e.g. text files, binary files, </a:t>
            </a:r>
            <a:r>
              <a:rPr lang="en-US" sz="1800" u="sng">
                <a:solidFill>
                  <a:schemeClr val="hlink"/>
                </a:solidFill>
                <a:hlinkClick r:id="rId3"/>
              </a:rPr>
              <a:t>CSV files</a:t>
            </a:r>
            <a:r>
              <a:rPr lang="en-US" sz="1800"/>
              <a:t>, etc.), and to perform different operations on files (e.g. read, write, append, etc.).</a:t>
            </a:r>
            <a:endParaRPr/>
          </a:p>
          <a:p>
            <a:pPr marL="171450" indent="-171450">
              <a:buSzPts val="2400"/>
            </a:pPr>
            <a:r>
              <a:rPr lang="en-US" sz="1800" b="1"/>
              <a:t>User</a:t>
            </a:r>
            <a:r>
              <a:rPr lang="en-US" sz="1800"/>
              <a:t>–</a:t>
            </a:r>
            <a:r>
              <a:rPr lang="en-US" sz="1800" b="1"/>
              <a:t>friendly</a:t>
            </a:r>
            <a:r>
              <a:rPr lang="en-US" sz="1800"/>
              <a:t>: Python provides a user-friendly interface for file handling, making it easy to create, read, and manipulate files.</a:t>
            </a:r>
            <a:endParaRPr/>
          </a:p>
          <a:p>
            <a:pPr marL="171450" indent="-171450">
              <a:buSzPts val="2400"/>
            </a:pPr>
            <a:r>
              <a:rPr lang="en-US" sz="1800" b="1"/>
              <a:t>Cross-platform</a:t>
            </a:r>
            <a:r>
              <a:rPr lang="en-US" sz="1800"/>
              <a:t>: Python file-handling functions work across different platforms (e.g. Windows, Mac, Linux), allowing for seamless integration and compatibility.</a:t>
            </a:r>
            <a:endParaRPr/>
          </a:p>
          <a:p>
            <a:pPr marL="171450" indent="-5715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99CEBE01-32DC-7CD2-70AF-B8BEA85E412A}"/>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4" name="Google Shape;354;p2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355" name="Google Shape;355;p29"/>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Disadvantages of File Handling in Python</a:t>
            </a:r>
            <a:endParaRPr/>
          </a:p>
          <a:p>
            <a:pPr marL="171450" indent="-171450">
              <a:buSzPts val="2400"/>
            </a:pPr>
            <a:r>
              <a:rPr lang="en-US" sz="1800" b="1"/>
              <a:t>Error-prone:</a:t>
            </a:r>
            <a:r>
              <a:rPr lang="en-US" sz="1800"/>
              <a:t> File handling operations in Python can be prone to errors, especially if the code is not carefully written or if there are issues with the file system (e.g. file permissions, file locks, etc.).</a:t>
            </a:r>
            <a:endParaRPr/>
          </a:p>
          <a:p>
            <a:pPr marL="171450" indent="-171450">
              <a:buSzPts val="2400"/>
            </a:pPr>
            <a:r>
              <a:rPr lang="en-US" sz="1800" b="1"/>
              <a:t>Security risks</a:t>
            </a:r>
            <a:r>
              <a:rPr lang="en-US" sz="1800"/>
              <a:t>: File handling in Python can also pose security risks, especially if the program accepts user input that can be used to access or modify sensitive files on the system.</a:t>
            </a:r>
            <a:endParaRPr/>
          </a:p>
          <a:p>
            <a:pPr marL="171450" indent="-171450">
              <a:buSzPts val="2400"/>
            </a:pPr>
            <a:r>
              <a:rPr lang="en-US" sz="1800" b="1"/>
              <a:t>Complexity</a:t>
            </a:r>
            <a:r>
              <a:rPr lang="en-US" sz="1800"/>
              <a:t>: File handling in Python can be complex, especially when working with more advanced file formats or operations. Careful attention must be paid to the code to ensure that files are handled properly and securely.</a:t>
            </a:r>
            <a:endParaRPr/>
          </a:p>
          <a:p>
            <a:pPr marL="0" indent="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B4DB360B-3B72-6A38-A9E9-A590FB625C08}"/>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2" name="Google Shape;362;p3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363" name="Google Shape;363;p30"/>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Need: </a:t>
            </a:r>
            <a:r>
              <a:rPr lang="en-US" sz="1800"/>
              <a:t>All programs need the input to process and output to display data. And everything needs a file as name storage compartments on computers that are managed by OS. Though variables provide us a way to store data while the program runs, if we want out data to persist even after the termination of the program, we have to save it to a file.</a:t>
            </a:r>
            <a:endParaRPr/>
          </a:p>
          <a:p>
            <a:pPr marL="0" indent="0">
              <a:buSzPts val="2400"/>
              <a:buNone/>
            </a:pPr>
            <a:endParaRPr sz="1800" b="1"/>
          </a:p>
          <a:p>
            <a:pPr marL="171450" indent="-57150">
              <a:buSzPts val="2400"/>
              <a:buNone/>
            </a:pPr>
            <a:endParaRPr sz="1800" b="1"/>
          </a:p>
        </p:txBody>
      </p:sp>
      <p:pic>
        <p:nvPicPr>
          <p:cNvPr id="364" name="Google Shape;364;p30"/>
          <p:cNvPicPr preferRelativeResize="0"/>
          <p:nvPr/>
        </p:nvPicPr>
        <p:blipFill rotWithShape="1">
          <a:blip r:embed="rId3">
            <a:alphaModFix/>
          </a:blip>
          <a:srcRect/>
          <a:stretch/>
        </p:blipFill>
        <p:spPr>
          <a:xfrm>
            <a:off x="5149850" y="3201194"/>
            <a:ext cx="2482850" cy="1439194"/>
          </a:xfrm>
          <a:prstGeom prst="rect">
            <a:avLst/>
          </a:prstGeom>
          <a:noFill/>
          <a:ln>
            <a:noFill/>
          </a:ln>
        </p:spPr>
      </p:pic>
      <p:sp>
        <p:nvSpPr>
          <p:cNvPr id="2" name="Footer Placeholder 1">
            <a:extLst>
              <a:ext uri="{FF2B5EF4-FFF2-40B4-BE49-F238E27FC236}">
                <a16:creationId xmlns:a16="http://schemas.microsoft.com/office/drawing/2014/main" id="{F4E4DF0E-D24A-12E9-337E-21411E61517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1" name="Google Shape;371;p3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4400" dirty="0">
                <a:solidFill>
                  <a:schemeClr val="dk1"/>
                </a:solidFill>
              </a:rPr>
            </a:br>
            <a:r>
              <a:rPr lang="en-US" sz="2400" dirty="0">
                <a:solidFill>
                  <a:schemeClr val="dk1"/>
                </a:solidFill>
              </a:rPr>
              <a:t>Object Oriented Programming &amp;File Handling</a:t>
            </a:r>
            <a:br>
              <a:rPr lang="en-US" sz="4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372" name="Google Shape;372;p31"/>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Open() function:</a:t>
            </a:r>
            <a:r>
              <a:rPr lang="en-US" sz="1800"/>
              <a:t>The key function for working with files in Python is the open() function.</a:t>
            </a:r>
            <a:endParaRPr/>
          </a:p>
          <a:p>
            <a:pPr marL="171450" indent="-171450">
              <a:buSzPts val="2400"/>
            </a:pPr>
            <a:r>
              <a:rPr lang="en-US" sz="1800"/>
              <a:t>It takes two parameters; </a:t>
            </a:r>
            <a:r>
              <a:rPr lang="en-US" sz="1800" i="1"/>
              <a:t>filename</a:t>
            </a:r>
            <a:r>
              <a:rPr lang="en-US" sz="1800"/>
              <a:t>, and </a:t>
            </a:r>
            <a:r>
              <a:rPr lang="en-US" sz="1800" i="1"/>
              <a:t>mode</a:t>
            </a:r>
            <a:r>
              <a:rPr lang="en-US" sz="1800"/>
              <a:t>.</a:t>
            </a:r>
            <a:endParaRPr/>
          </a:p>
          <a:p>
            <a:pPr marL="171450" indent="-171450">
              <a:buSzPts val="2400"/>
            </a:pPr>
            <a:r>
              <a:rPr lang="en-US" sz="1800"/>
              <a:t>There are four different methods (modes) for opening a file:</a:t>
            </a:r>
            <a:endParaRPr/>
          </a:p>
          <a:p>
            <a:pPr marL="171450" indent="-171450">
              <a:buSzPts val="2400"/>
            </a:pPr>
            <a:r>
              <a:rPr lang="en-US" sz="1800"/>
              <a:t>“r”: Read - Default value. Opens a file for reading, error if the file does not exist.</a:t>
            </a:r>
            <a:endParaRPr/>
          </a:p>
          <a:p>
            <a:pPr marL="171450" indent="-171450">
              <a:buSzPts val="2400"/>
            </a:pPr>
            <a:r>
              <a:rPr lang="en-US" sz="1800"/>
              <a:t>“a”: Append - Opens a file for appending and will append at the end of the file., creates the file if it does not exist.</a:t>
            </a:r>
            <a:endParaRPr/>
          </a:p>
          <a:p>
            <a:pPr marL="171450" indent="-171450">
              <a:buSzPts val="2400"/>
            </a:pPr>
            <a:r>
              <a:rPr lang="en-US" sz="1800"/>
              <a:t>“w”: Write - Opens a file for writing and will overwrite the content of the file if file already exists, creates the file if it does not exist</a:t>
            </a:r>
            <a:endParaRPr sz="1800"/>
          </a:p>
        </p:txBody>
      </p:sp>
      <p:sp>
        <p:nvSpPr>
          <p:cNvPr id="2" name="Footer Placeholder 1">
            <a:extLst>
              <a:ext uri="{FF2B5EF4-FFF2-40B4-BE49-F238E27FC236}">
                <a16:creationId xmlns:a16="http://schemas.microsoft.com/office/drawing/2014/main" id="{8647B2FB-04CF-21AB-E5EE-4753E568F6A9}"/>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9" name="Google Shape;379;p3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380" name="Google Shape;380;p32"/>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a:t>“x”: Create - Creates the specified file, returns an error if the file exists.</a:t>
            </a:r>
            <a:endParaRPr/>
          </a:p>
          <a:p>
            <a:pPr marL="171450" indent="-171450">
              <a:buSzPts val="2400"/>
            </a:pPr>
            <a:r>
              <a:rPr lang="en-US" sz="1800"/>
              <a:t>“r+” : for both read and write</a:t>
            </a:r>
            <a:endParaRPr/>
          </a:p>
          <a:p>
            <a:pPr marL="171450" indent="-171450">
              <a:buSzPts val="2400"/>
            </a:pPr>
            <a:r>
              <a:rPr lang="en-US" sz="1800"/>
              <a:t>“rb” : for reading binary data</a:t>
            </a:r>
            <a:endParaRPr/>
          </a:p>
          <a:p>
            <a:pPr marL="171450" indent="-171450">
              <a:buSzPts val="2400"/>
            </a:pPr>
            <a:r>
              <a:rPr lang="en-US" sz="1800"/>
              <a:t>In addition you can specify if the file should be handled as binary or text mode</a:t>
            </a:r>
            <a:endParaRPr/>
          </a:p>
          <a:p>
            <a:pPr marL="171450" indent="-171450">
              <a:buSzPts val="2400"/>
            </a:pPr>
            <a:r>
              <a:rPr lang="en-US" sz="1800"/>
              <a:t>“t”: Text - Default value. Text mode</a:t>
            </a:r>
            <a:endParaRPr/>
          </a:p>
          <a:p>
            <a:pPr marL="171450" indent="-171450">
              <a:buSzPts val="2400"/>
            </a:pPr>
            <a:r>
              <a:rPr lang="en-US" sz="1800"/>
              <a:t>“b” : Binary - Binary mode (e.g. images)</a:t>
            </a:r>
            <a:endParaRPr/>
          </a:p>
          <a:p>
            <a:pPr marL="171450" indent="-171450">
              <a:buSzPts val="2400"/>
            </a:pPr>
            <a:r>
              <a:rPr lang="en-US" sz="1800"/>
              <a:t>To open a file for reading it is enough to specify the name of the file:</a:t>
            </a:r>
            <a:endParaRPr/>
          </a:p>
          <a:p>
            <a:pPr marL="171450" indent="-171450">
              <a:buSzPts val="2400"/>
            </a:pPr>
            <a:r>
              <a:rPr lang="en-US" sz="1800"/>
              <a:t>ob1=open("demo.txt")  # file will be opened in read mode.</a:t>
            </a:r>
            <a:endParaRPr/>
          </a:p>
          <a:p>
            <a:pPr marL="171450" indent="-171450">
              <a:buSzPts val="2400"/>
            </a:pPr>
            <a:r>
              <a:rPr lang="en-US" sz="1800"/>
              <a:t>ob1= open("demofile.txt", "rt") </a:t>
            </a:r>
            <a:endParaRPr/>
          </a:p>
          <a:p>
            <a:pPr marL="171450" indent="-57150">
              <a:buSzPts val="2400"/>
              <a:buNone/>
            </a:pPr>
            <a:endParaRPr sz="1800" b="1"/>
          </a:p>
          <a:p>
            <a:pPr marL="0" indent="0">
              <a:buSzPts val="2400"/>
              <a:buNone/>
            </a:pPr>
            <a:endParaRPr sz="1800"/>
          </a:p>
        </p:txBody>
      </p:sp>
      <p:sp>
        <p:nvSpPr>
          <p:cNvPr id="2" name="Footer Placeholder 1">
            <a:extLst>
              <a:ext uri="{FF2B5EF4-FFF2-40B4-BE49-F238E27FC236}">
                <a16:creationId xmlns:a16="http://schemas.microsoft.com/office/drawing/2014/main" id="{FFDB4229-532B-4285-9738-229309451091}"/>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7" name="Google Shape;387;p33"/>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3600" dirty="0">
                <a:solidFill>
                  <a:schemeClr val="dk1"/>
                </a:solidFill>
              </a:rPr>
            </a:br>
            <a:br>
              <a:rPr lang="en-US" sz="495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388" name="Google Shape;388;p33"/>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read() function: </a:t>
            </a:r>
            <a:endParaRPr/>
          </a:p>
          <a:p>
            <a:pPr marL="171450" indent="-171450">
              <a:buSzPts val="2000"/>
            </a:pPr>
            <a:r>
              <a:rPr lang="en-US" sz="1500"/>
              <a:t>If you want to read content from the file then read() function is used. </a:t>
            </a:r>
            <a:endParaRPr/>
          </a:p>
          <a:p>
            <a:pPr marL="171450" indent="-171450">
              <a:buSzPts val="2000"/>
            </a:pPr>
            <a:r>
              <a:rPr lang="en-US" sz="1500"/>
              <a:t>str read(int no) returns a specified no of characters from a file. if  argument is omitted then entire content of file is read</a:t>
            </a:r>
            <a:endParaRPr/>
          </a:p>
          <a:p>
            <a:pPr marL="171450" indent="-171450">
              <a:buSzPts val="2000"/>
              <a:buNone/>
            </a:pPr>
            <a:r>
              <a:rPr lang="en-US" sz="1500" b="1"/>
              <a:t>Example:</a:t>
            </a:r>
            <a:endParaRPr/>
          </a:p>
          <a:p>
            <a:pPr marL="171450" indent="-171450">
              <a:buSzPts val="2000"/>
            </a:pPr>
            <a:r>
              <a:rPr lang="en-US" sz="1500"/>
              <a:t>print(f.read(</a:t>
            </a:r>
            <a:r>
              <a:rPr lang="en-US" sz="1500" b="1"/>
              <a:t>5</a:t>
            </a:r>
            <a:r>
              <a:rPr lang="en-US" sz="1500"/>
              <a:t>))</a:t>
            </a:r>
            <a:endParaRPr/>
          </a:p>
          <a:p>
            <a:pPr marL="171450" indent="-171450">
              <a:buSzPts val="2000"/>
            </a:pPr>
            <a:r>
              <a:rPr lang="en-US" sz="1500"/>
              <a:t>You can return one line by using the readline() method. </a:t>
            </a:r>
            <a:endParaRPr/>
          </a:p>
          <a:p>
            <a:pPr marL="171450" indent="-171450">
              <a:buSzPts val="2000"/>
            </a:pPr>
            <a:r>
              <a:rPr lang="en-US" sz="1500"/>
              <a:t>str readline()   returns the next line of a file as a string</a:t>
            </a:r>
            <a:endParaRPr/>
          </a:p>
          <a:p>
            <a:pPr marL="171450" indent="-171450">
              <a:buSzPts val="2000"/>
            </a:pPr>
            <a:r>
              <a:rPr lang="en-US" sz="1500" b="1"/>
              <a:t>Close Files  </a:t>
            </a:r>
            <a:r>
              <a:rPr lang="en-US" sz="1500"/>
              <a:t>It is a good practice to always close the file when you are done with it.</a:t>
            </a:r>
            <a:endParaRPr sz="1500" b="1"/>
          </a:p>
          <a:p>
            <a:pPr marL="171450" indent="-171450">
              <a:buSzPts val="2000"/>
            </a:pPr>
            <a:r>
              <a:rPr lang="en-US" sz="1500"/>
              <a:t>f.close()</a:t>
            </a:r>
            <a:endParaRPr/>
          </a:p>
          <a:p>
            <a:pPr marL="171450" indent="-171450">
              <a:buSzPts val="2000"/>
            </a:pPr>
            <a:r>
              <a:rPr lang="en-US" sz="1500"/>
              <a:t>list readlines()  returns a list containing all the lines in a file</a:t>
            </a:r>
            <a:endParaRPr/>
          </a:p>
          <a:p>
            <a:pPr marL="0" indent="0">
              <a:buSzPts val="2000"/>
              <a:buNone/>
            </a:pPr>
            <a:endParaRPr sz="1500" b="1"/>
          </a:p>
          <a:p>
            <a:pPr marL="171450" indent="-76200">
              <a:buSzPts val="2000"/>
              <a:buNone/>
            </a:pPr>
            <a:endParaRPr sz="1500"/>
          </a:p>
        </p:txBody>
      </p:sp>
      <p:sp>
        <p:nvSpPr>
          <p:cNvPr id="2" name="Footer Placeholder 1">
            <a:extLst>
              <a:ext uri="{FF2B5EF4-FFF2-40B4-BE49-F238E27FC236}">
                <a16:creationId xmlns:a16="http://schemas.microsoft.com/office/drawing/2014/main" id="{07A6082A-84BD-7BA8-7A2F-3D72A173D12E}"/>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5" name="Google Shape;395;p34"/>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4400" dirty="0">
                <a:solidFill>
                  <a:schemeClr val="dk1"/>
                </a:solidFill>
              </a:rPr>
            </a:br>
            <a:r>
              <a:rPr lang="en-US" sz="2400" dirty="0">
                <a:solidFill>
                  <a:schemeClr val="dk1"/>
                </a:solidFill>
              </a:rPr>
              <a:t>Object Oriented Programming &amp;File Handling</a:t>
            </a:r>
            <a:br>
              <a:rPr lang="en-US" sz="4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396" name="Google Shape;396;p34"/>
          <p:cNvSpPr txBox="1">
            <a:spLocks noGrp="1"/>
          </p:cNvSpPr>
          <p:nvPr>
            <p:ph type="body" idx="1"/>
          </p:nvPr>
        </p:nvSpPr>
        <p:spPr>
          <a:xfrm>
            <a:off x="514350" y="1840706"/>
            <a:ext cx="7881938" cy="348059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pPr>
            <a:r>
              <a:rPr lang="en-US" sz="1500" b="1"/>
              <a:t>Example: Creating a function that will open a file named demo in write mode then writing some text in file reading the text from file and printing the content.</a:t>
            </a:r>
            <a:endParaRPr/>
          </a:p>
          <a:p>
            <a:pPr marL="171450" indent="-171450">
              <a:buSzPts val="2000"/>
              <a:buNone/>
            </a:pPr>
            <a:r>
              <a:rPr lang="en-US" sz="1500"/>
              <a:t>def fun():</a:t>
            </a:r>
            <a:endParaRPr/>
          </a:p>
          <a:p>
            <a:pPr marL="171450" indent="-171450">
              <a:buSzPts val="2000"/>
              <a:buNone/>
            </a:pPr>
            <a:r>
              <a:rPr lang="en-US" sz="1500"/>
              <a:t>    ob1=open("t.txt","w")</a:t>
            </a:r>
            <a:endParaRPr/>
          </a:p>
          <a:p>
            <a:pPr marL="171450" indent="-171450">
              <a:buSzPts val="2000"/>
              <a:buNone/>
            </a:pPr>
            <a:r>
              <a:rPr lang="en-US" sz="1500"/>
              <a:t>    ob1.write("hello\n")                    </a:t>
            </a:r>
            <a:r>
              <a:rPr lang="en-US" sz="1500" b="1"/>
              <a:t>#write(str)</a:t>
            </a:r>
            <a:endParaRPr/>
          </a:p>
          <a:p>
            <a:pPr marL="171450" indent="-171450">
              <a:buSzPts val="2000"/>
              <a:buNone/>
            </a:pPr>
            <a:r>
              <a:rPr lang="en-US" sz="1500"/>
              <a:t>    ob1.write("world")</a:t>
            </a:r>
            <a:endParaRPr/>
          </a:p>
          <a:p>
            <a:pPr marL="171450" indent="-171450">
              <a:buSzPts val="2000"/>
              <a:buNone/>
            </a:pPr>
            <a:r>
              <a:rPr lang="en-US" sz="1500"/>
              <a:t>    ob1.close()</a:t>
            </a:r>
            <a:endParaRPr/>
          </a:p>
          <a:p>
            <a:pPr marL="171450" indent="-171450">
              <a:buSzPts val="2000"/>
              <a:buNone/>
            </a:pPr>
            <a:r>
              <a:rPr lang="en-US" sz="1500"/>
              <a:t>    ob1=open("t.txt","r")</a:t>
            </a:r>
            <a:endParaRPr/>
          </a:p>
          <a:p>
            <a:pPr marL="171450" indent="-171450">
              <a:buSzPts val="2000"/>
              <a:buNone/>
            </a:pPr>
            <a:r>
              <a:rPr lang="en-US" sz="1500"/>
              <a:t>    text=ob1.read()</a:t>
            </a:r>
            <a:endParaRPr/>
          </a:p>
          <a:p>
            <a:pPr marL="171450" indent="-171450">
              <a:buSzPts val="2000"/>
              <a:buNone/>
            </a:pPr>
            <a:r>
              <a:rPr lang="en-US" sz="1500"/>
              <a:t>    print(text)</a:t>
            </a:r>
            <a:endParaRPr/>
          </a:p>
          <a:p>
            <a:pPr marL="171450" indent="-171450">
              <a:buSzPts val="2000"/>
              <a:buNone/>
            </a:pPr>
            <a:r>
              <a:rPr lang="en-US" sz="1500"/>
              <a:t>    ob1.close()</a:t>
            </a:r>
            <a:endParaRPr/>
          </a:p>
          <a:p>
            <a:pPr marL="171450" indent="-171450">
              <a:buSzPts val="2000"/>
              <a:buNone/>
            </a:pPr>
            <a:r>
              <a:rPr lang="en-US" sz="1500"/>
              <a:t>fun()</a:t>
            </a:r>
            <a:endParaRPr/>
          </a:p>
          <a:p>
            <a:pPr marL="0" indent="0">
              <a:buSzPts val="2400"/>
              <a:buNone/>
            </a:pPr>
            <a:endParaRPr sz="1800" b="1"/>
          </a:p>
        </p:txBody>
      </p:sp>
      <p:sp>
        <p:nvSpPr>
          <p:cNvPr id="2" name="Footer Placeholder 1">
            <a:extLst>
              <a:ext uri="{FF2B5EF4-FFF2-40B4-BE49-F238E27FC236}">
                <a16:creationId xmlns:a16="http://schemas.microsoft.com/office/drawing/2014/main" id="{EA2F2804-DAD5-EBCF-9F09-78DEB20B2B1A}"/>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3" name="Google Shape;403;p35"/>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4400" dirty="0">
                <a:solidFill>
                  <a:schemeClr val="dk1"/>
                </a:solidFill>
              </a:rPr>
            </a:br>
            <a:r>
              <a:rPr lang="en-US" sz="2400" dirty="0">
                <a:solidFill>
                  <a:schemeClr val="dk1"/>
                </a:solidFill>
              </a:rPr>
              <a:t>Object Oriented Programming &amp;File Handling</a:t>
            </a:r>
            <a:br>
              <a:rPr lang="en-US" sz="4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404" name="Google Shape;404;p35"/>
          <p:cNvSpPr txBox="1">
            <a:spLocks noGrp="1"/>
          </p:cNvSpPr>
          <p:nvPr>
            <p:ph type="body" idx="1"/>
          </p:nvPr>
        </p:nvSpPr>
        <p:spPr>
          <a:xfrm>
            <a:off x="482601" y="1797050"/>
            <a:ext cx="7926388" cy="3771900"/>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pPr>
            <a:r>
              <a:rPr lang="en-US" sz="1500" b="1"/>
              <a:t>Appending in file: </a:t>
            </a:r>
            <a:r>
              <a:rPr lang="en-US" sz="1500"/>
              <a:t>Open the file "demo.txt" and append content to the file.</a:t>
            </a:r>
            <a:endParaRPr/>
          </a:p>
          <a:p>
            <a:pPr marL="171450" indent="-171450">
              <a:buSzPts val="2000"/>
              <a:buNone/>
            </a:pPr>
            <a:r>
              <a:rPr lang="en-US" sz="1500"/>
              <a:t>f = open("demo.txt", "a")</a:t>
            </a:r>
            <a:endParaRPr/>
          </a:p>
          <a:p>
            <a:pPr marL="171450" indent="-171450">
              <a:buSzPts val="2000"/>
              <a:buNone/>
            </a:pPr>
            <a:r>
              <a:rPr lang="en-US" sz="1500"/>
              <a:t>f.write("Now the file has more content!")</a:t>
            </a:r>
            <a:endParaRPr/>
          </a:p>
          <a:p>
            <a:pPr marL="171450" indent="-171450">
              <a:buSzPts val="2000"/>
              <a:buNone/>
            </a:pPr>
            <a:r>
              <a:rPr lang="en-US" sz="1500"/>
              <a:t>f.close()</a:t>
            </a:r>
            <a:endParaRPr/>
          </a:p>
          <a:p>
            <a:pPr marL="171450" indent="-171450">
              <a:buSzPts val="2000"/>
            </a:pPr>
            <a:r>
              <a:rPr lang="en-US" sz="1500"/>
              <a:t>#open and read the file after the appending:</a:t>
            </a:r>
            <a:endParaRPr/>
          </a:p>
          <a:p>
            <a:pPr marL="171450" indent="-171450">
              <a:buSzPts val="2000"/>
            </a:pPr>
            <a:r>
              <a:rPr lang="en-US" sz="1500"/>
              <a:t>f = open("demo.txt", "r")</a:t>
            </a:r>
            <a:endParaRPr/>
          </a:p>
          <a:p>
            <a:pPr marL="171450" indent="-171450">
              <a:buSzPts val="2000"/>
            </a:pPr>
            <a:r>
              <a:rPr lang="en-US" sz="1500"/>
              <a:t>print(f.read())</a:t>
            </a:r>
            <a:endParaRPr sz="1500"/>
          </a:p>
          <a:p>
            <a:pPr marL="171450" indent="-171450">
              <a:buSzPts val="2000"/>
            </a:pPr>
            <a:r>
              <a:rPr lang="en-US" sz="1500" b="1"/>
              <a:t>Create a New File: </a:t>
            </a:r>
            <a:r>
              <a:rPr lang="en-US" sz="1500"/>
              <a:t> To create a file in python use open command either with “x”, “a” or “w” mode.</a:t>
            </a:r>
            <a:endParaRPr/>
          </a:p>
          <a:p>
            <a:pPr marL="171450" indent="-171450">
              <a:buSzPts val="2000"/>
            </a:pPr>
            <a:r>
              <a:rPr lang="en-US" sz="1500" b="1"/>
              <a:t>Delete a File: </a:t>
            </a:r>
            <a:r>
              <a:rPr lang="en-US" sz="1500"/>
              <a:t>To delete a file, you must import the OS module, and run its os.remove() function.</a:t>
            </a:r>
            <a:endParaRPr/>
          </a:p>
          <a:p>
            <a:pPr marL="171450" indent="-171450">
              <a:buSzPts val="2000"/>
            </a:pPr>
            <a:r>
              <a:rPr lang="en-US" sz="1500" b="1"/>
              <a:t>Example</a:t>
            </a:r>
            <a:endParaRPr/>
          </a:p>
          <a:p>
            <a:pPr marL="171450" indent="-171450">
              <a:buSzPts val="2000"/>
            </a:pPr>
            <a:r>
              <a:rPr lang="en-US" sz="1500"/>
              <a:t>import os</a:t>
            </a:r>
            <a:br>
              <a:rPr lang="en-US" sz="1500"/>
            </a:br>
            <a:r>
              <a:rPr lang="en-US" sz="1500"/>
              <a:t>os.remove("demo.txt") </a:t>
            </a:r>
            <a:endParaRPr sz="1500" b="1"/>
          </a:p>
          <a:p>
            <a:pPr marL="171450" indent="-171450">
              <a:buSzPts val="2400"/>
              <a:buNone/>
            </a:pPr>
            <a:endParaRPr sz="1800"/>
          </a:p>
          <a:p>
            <a:pPr marL="171450" indent="-57150">
              <a:buSzPts val="2400"/>
              <a:buNone/>
            </a:pPr>
            <a:endParaRPr sz="1800" b="1"/>
          </a:p>
          <a:p>
            <a:pPr marL="0" indent="0">
              <a:buSzPts val="2400"/>
              <a:buNone/>
            </a:pPr>
            <a:endParaRPr sz="1800"/>
          </a:p>
        </p:txBody>
      </p:sp>
      <p:sp>
        <p:nvSpPr>
          <p:cNvPr id="2" name="Footer Placeholder 1">
            <a:extLst>
              <a:ext uri="{FF2B5EF4-FFF2-40B4-BE49-F238E27FC236}">
                <a16:creationId xmlns:a16="http://schemas.microsoft.com/office/drawing/2014/main" id="{052EA940-4C36-6539-CD8C-7C56E3202CF0}"/>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1" name="Google Shape;411;p36"/>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4400" dirty="0">
                <a:solidFill>
                  <a:schemeClr val="dk1"/>
                </a:solidFill>
              </a:rPr>
            </a:br>
            <a:r>
              <a:rPr lang="en-US" sz="2400" dirty="0">
                <a:solidFill>
                  <a:schemeClr val="dk1"/>
                </a:solidFill>
              </a:rPr>
              <a:t>Object Oriented Programming &amp;File Handling</a:t>
            </a:r>
            <a:br>
              <a:rPr lang="en-US" sz="4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412" name="Google Shape;412;p36"/>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pPr>
            <a:r>
              <a:rPr lang="en-US" sz="1500" b="1"/>
              <a:t>Check if File exist: </a:t>
            </a:r>
            <a:r>
              <a:rPr lang="en-US" sz="1500"/>
              <a:t>To avoid getting an error, you might want to check if the file exists before you try to delete it.</a:t>
            </a:r>
            <a:endParaRPr/>
          </a:p>
          <a:p>
            <a:pPr marL="171450" indent="-171450">
              <a:buSzPts val="2000"/>
            </a:pPr>
            <a:r>
              <a:rPr lang="en-US" sz="1500" b="1"/>
              <a:t>Example:</a:t>
            </a:r>
            <a:endParaRPr/>
          </a:p>
          <a:p>
            <a:pPr marL="171450" indent="-171450">
              <a:buSzPts val="2000"/>
            </a:pPr>
            <a:r>
              <a:rPr lang="en-US" sz="1500"/>
              <a:t>import os</a:t>
            </a:r>
            <a:br>
              <a:rPr lang="en-US" sz="1500"/>
            </a:br>
            <a:r>
              <a:rPr lang="en-US" sz="1500"/>
              <a:t>if os.path.exists("demo.txt"):</a:t>
            </a:r>
            <a:br>
              <a:rPr lang="en-US" sz="1500"/>
            </a:br>
            <a:r>
              <a:rPr lang="en-US" sz="1500"/>
              <a:t>  os.remove("demofile.txt")</a:t>
            </a:r>
            <a:br>
              <a:rPr lang="en-US" sz="1500"/>
            </a:br>
            <a:r>
              <a:rPr lang="en-US" sz="1500"/>
              <a:t>else:</a:t>
            </a:r>
            <a:br>
              <a:rPr lang="en-US" sz="1500"/>
            </a:br>
            <a:r>
              <a:rPr lang="en-US" sz="1500"/>
              <a:t>  print("The file does not exist") </a:t>
            </a:r>
            <a:endParaRPr sz="1500" b="1"/>
          </a:p>
          <a:p>
            <a:pPr marL="0" indent="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A3B1CACB-5096-1582-6EBF-9C7305CD970D}"/>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9" name="Google Shape;419;p37"/>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420" name="Google Shape;420;p37"/>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Writing numbers to a file:</a:t>
            </a:r>
            <a:endParaRPr/>
          </a:p>
          <a:p>
            <a:pPr marL="171450" indent="-171450">
              <a:buSzPts val="2000"/>
              <a:buNone/>
            </a:pPr>
            <a:r>
              <a:rPr lang="en-US" sz="1500"/>
              <a:t>#Writing numbers to a file</a:t>
            </a:r>
            <a:endParaRPr/>
          </a:p>
          <a:p>
            <a:pPr marL="171450" indent="-171450">
              <a:buSzPts val="2000"/>
              <a:buNone/>
            </a:pPr>
            <a:r>
              <a:rPr lang="en-US" sz="1500"/>
              <a:t>def fun():</a:t>
            </a:r>
            <a:endParaRPr/>
          </a:p>
          <a:p>
            <a:pPr marL="171450" indent="-171450">
              <a:buSzPts val="2000"/>
              <a:buNone/>
            </a:pPr>
            <a:r>
              <a:rPr lang="en-US" sz="1500"/>
              <a:t>    ob1=open("demo1.txt","w")</a:t>
            </a:r>
            <a:endParaRPr/>
          </a:p>
          <a:p>
            <a:pPr marL="171450" indent="-171450">
              <a:buSzPts val="2000"/>
              <a:buNone/>
            </a:pPr>
            <a:r>
              <a:rPr lang="en-US" sz="1500"/>
              <a:t>    for i in range(50):</a:t>
            </a:r>
            <a:endParaRPr/>
          </a:p>
          <a:p>
            <a:pPr marL="171450" indent="-171450">
              <a:buSzPts val="2000"/>
              <a:buNone/>
            </a:pPr>
            <a:r>
              <a:rPr lang="en-US" sz="1500"/>
              <a:t>        i=str(i)</a:t>
            </a:r>
            <a:endParaRPr/>
          </a:p>
          <a:p>
            <a:pPr marL="171450" indent="-171450">
              <a:buSzPts val="2000"/>
              <a:buNone/>
            </a:pPr>
            <a:r>
              <a:rPr lang="en-US" sz="1500"/>
              <a:t>        ob1.write(i)</a:t>
            </a:r>
            <a:endParaRPr/>
          </a:p>
          <a:p>
            <a:pPr marL="171450" indent="-171450">
              <a:buSzPts val="2000"/>
              <a:buNone/>
            </a:pPr>
            <a:r>
              <a:rPr lang="en-US" sz="1500"/>
              <a:t>        ob1.write(" ")               #write(str)</a:t>
            </a:r>
            <a:endParaRPr/>
          </a:p>
          <a:p>
            <a:pPr marL="171450" indent="-171450">
              <a:buSzPts val="2000"/>
              <a:buNone/>
            </a:pPr>
            <a:r>
              <a:rPr lang="en-US" sz="1500"/>
              <a:t>    ob1.close()</a:t>
            </a:r>
            <a:endParaRPr/>
          </a:p>
          <a:p>
            <a:pPr marL="171450" indent="-171450">
              <a:buSzPts val="2000"/>
              <a:buNone/>
            </a:pPr>
            <a:r>
              <a:rPr lang="en-US" sz="1500"/>
              <a:t>fun()</a:t>
            </a:r>
            <a:endParaRPr sz="1500"/>
          </a:p>
          <a:p>
            <a:pPr marL="171450" indent="-57150">
              <a:buSzPts val="2400"/>
              <a:buNone/>
            </a:pPr>
            <a:endParaRPr sz="1800"/>
          </a:p>
          <a:p>
            <a:pPr marL="171450" indent="-5715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B6C565AB-8BA6-BCC4-A70A-D36C264EA15A}"/>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7" name="Google Shape;427;p38"/>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428" name="Google Shape;428;p38"/>
          <p:cNvSpPr txBox="1">
            <a:spLocks noGrp="1"/>
          </p:cNvSpPr>
          <p:nvPr>
            <p:ph type="body" idx="1"/>
          </p:nvPr>
        </p:nvSpPr>
        <p:spPr>
          <a:xfrm>
            <a:off x="447574" y="1831809"/>
            <a:ext cx="7948714" cy="3847698"/>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pPr>
            <a:r>
              <a:rPr lang="en-US" sz="1500" b="1"/>
              <a:t>Copy Content from one File to Another</a:t>
            </a:r>
            <a:endParaRPr/>
          </a:p>
          <a:p>
            <a:pPr marL="0" indent="0">
              <a:buSzPts val="2000"/>
              <a:buNone/>
            </a:pPr>
            <a:r>
              <a:rPr lang="en-US" sz="1500"/>
              <a:t>def fun():</a:t>
            </a:r>
            <a:endParaRPr/>
          </a:p>
          <a:p>
            <a:pPr marL="171450" indent="-171450">
              <a:buSzPts val="2000"/>
              <a:buNone/>
            </a:pPr>
            <a:r>
              <a:rPr lang="en-US" sz="1500"/>
              <a:t>    ob1=open("demo.txt","r")</a:t>
            </a:r>
            <a:endParaRPr/>
          </a:p>
          <a:p>
            <a:pPr marL="171450" indent="-171450">
              <a:buSzPts val="2000"/>
              <a:buNone/>
            </a:pPr>
            <a:r>
              <a:rPr lang="en-US" sz="1500"/>
              <a:t>    ob2=open("demo2.txt","w")</a:t>
            </a:r>
            <a:endParaRPr/>
          </a:p>
          <a:p>
            <a:pPr marL="171450" indent="-171450">
              <a:buSzPts val="2000"/>
              <a:buNone/>
            </a:pPr>
            <a:r>
              <a:rPr lang="en-US" sz="1500"/>
              <a:t>    for i in ob1:</a:t>
            </a:r>
            <a:endParaRPr/>
          </a:p>
          <a:p>
            <a:pPr marL="171450" indent="-171450">
              <a:buSzPts val="2000"/>
              <a:buNone/>
            </a:pPr>
            <a:r>
              <a:rPr lang="en-US" sz="1500"/>
              <a:t>        ob2.write(i)</a:t>
            </a:r>
            <a:endParaRPr/>
          </a:p>
          <a:p>
            <a:pPr marL="171450" indent="-171450">
              <a:buSzPts val="2000"/>
              <a:buNone/>
            </a:pPr>
            <a:r>
              <a:rPr lang="en-US" sz="1500"/>
              <a:t>    ob2.close()</a:t>
            </a:r>
            <a:endParaRPr/>
          </a:p>
          <a:p>
            <a:pPr marL="171450" indent="-171450">
              <a:buSzPts val="2000"/>
              <a:buNone/>
            </a:pPr>
            <a:r>
              <a:rPr lang="en-US" sz="1500"/>
              <a:t>    ob2=open("demo2.txt","r")</a:t>
            </a:r>
            <a:endParaRPr/>
          </a:p>
          <a:p>
            <a:pPr marL="171450" indent="-171450">
              <a:buSzPts val="2000"/>
              <a:buNone/>
            </a:pPr>
            <a:r>
              <a:rPr lang="en-US" sz="1500"/>
              <a:t>    text=ob2.read()     </a:t>
            </a:r>
            <a:endParaRPr/>
          </a:p>
          <a:p>
            <a:pPr marL="171450" indent="-171450">
              <a:buSzPts val="2000"/>
              <a:buNone/>
            </a:pPr>
            <a:r>
              <a:rPr lang="en-US" sz="1500"/>
              <a:t>    print(text)</a:t>
            </a:r>
            <a:endParaRPr/>
          </a:p>
          <a:p>
            <a:pPr marL="171450" indent="-171450">
              <a:buSzPts val="2000"/>
              <a:buNone/>
            </a:pPr>
            <a:r>
              <a:rPr lang="en-US" sz="1500"/>
              <a:t>    ob1.close()</a:t>
            </a:r>
            <a:endParaRPr/>
          </a:p>
          <a:p>
            <a:pPr marL="171450" indent="-171450">
              <a:buSzPts val="2000"/>
              <a:buNone/>
            </a:pPr>
            <a:r>
              <a:rPr lang="en-US" sz="1500"/>
              <a:t>    ob2.close()</a:t>
            </a:r>
            <a:endParaRPr/>
          </a:p>
          <a:p>
            <a:pPr marL="171450" indent="-171450">
              <a:buSzPts val="2000"/>
              <a:buNone/>
            </a:pPr>
            <a:r>
              <a:rPr lang="en-US" sz="1500"/>
              <a:t>fun()</a:t>
            </a:r>
            <a:endParaRPr/>
          </a:p>
          <a:p>
            <a:pPr marL="171450" indent="-5715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0820D1A7-EF1D-6213-8F94-65E84D03B006}"/>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5" name="Google Shape;435;p39"/>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436" name="Google Shape;436;p39"/>
          <p:cNvSpPr txBox="1">
            <a:spLocks noGrp="1"/>
          </p:cNvSpPr>
          <p:nvPr>
            <p:ph type="body" idx="1"/>
          </p:nvPr>
        </p:nvSpPr>
        <p:spPr>
          <a:xfrm>
            <a:off x="459056" y="1869582"/>
            <a:ext cx="7886700" cy="3521167"/>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000"/>
            </a:pPr>
            <a:r>
              <a:rPr lang="en-US" sz="1500" b="1"/>
              <a:t>SEEK FUNCTION: </a:t>
            </a:r>
            <a:r>
              <a:rPr lang="en-US" sz="1500"/>
              <a:t>file_object.seek(offset,whence) whence (by default 0) indicates the point of reference (0 beginning of file, 1 current position, 2 end of the file), offset indicates the no of bytes.</a:t>
            </a:r>
            <a:endParaRPr/>
          </a:p>
          <a:p>
            <a:pPr marL="171450" indent="-171450" algn="just">
              <a:buSzPts val="2000"/>
              <a:buNone/>
            </a:pPr>
            <a:r>
              <a:rPr lang="en-US" sz="1500"/>
              <a:t>Example:</a:t>
            </a:r>
            <a:endParaRPr/>
          </a:p>
          <a:p>
            <a:pPr marL="171450" indent="-171450" algn="just">
              <a:buSzPts val="2000"/>
              <a:buNone/>
            </a:pPr>
            <a:r>
              <a:rPr lang="en-US" sz="1500"/>
              <a:t>ob=open("test.txt",'w+')</a:t>
            </a:r>
            <a:endParaRPr/>
          </a:p>
          <a:p>
            <a:pPr marL="171450" indent="-171450" algn="just">
              <a:buSzPts val="2000"/>
              <a:buNone/>
            </a:pPr>
            <a:r>
              <a:rPr lang="en-US" sz="1500"/>
              <a:t>print(ob.write('oh!god!save earth!'))</a:t>
            </a:r>
            <a:endParaRPr/>
          </a:p>
          <a:p>
            <a:pPr marL="171450" indent="-171450" algn="just">
              <a:buSzPts val="2000"/>
              <a:buNone/>
            </a:pPr>
            <a:r>
              <a:rPr lang="en-US" sz="1500"/>
              <a:t>ob.seek(3)</a:t>
            </a:r>
            <a:endParaRPr/>
          </a:p>
          <a:p>
            <a:pPr marL="171450" indent="-171450" algn="just">
              <a:buSzPts val="2000"/>
              <a:buNone/>
            </a:pPr>
            <a:r>
              <a:rPr lang="en-US" sz="1500"/>
              <a:t>print(ob.readline())</a:t>
            </a:r>
            <a:endParaRPr/>
          </a:p>
          <a:p>
            <a:pPr marL="171450" indent="-171450" algn="just">
              <a:buSzPts val="2000"/>
              <a:buNone/>
            </a:pPr>
            <a:r>
              <a:rPr lang="en-US" sz="1500"/>
              <a:t>ob.seek(0)</a:t>
            </a:r>
            <a:endParaRPr/>
          </a:p>
          <a:p>
            <a:pPr marL="171450" indent="-171450" algn="just">
              <a:buSzPts val="2000"/>
              <a:buNone/>
            </a:pPr>
            <a:r>
              <a:rPr lang="en-US" sz="1500"/>
              <a:t>ob.truncate()                       </a:t>
            </a:r>
            <a:r>
              <a:rPr lang="en-US" sz="1500" b="1"/>
              <a:t># to delete entire data but not the file  fileobject.truncate()</a:t>
            </a:r>
            <a:endParaRPr/>
          </a:p>
          <a:p>
            <a:pPr marL="171450" indent="-171450" algn="just">
              <a:buSzPts val="2000"/>
              <a:buNone/>
            </a:pPr>
            <a:r>
              <a:rPr lang="en-US" sz="1500"/>
              <a:t>print(ob.readline())</a:t>
            </a:r>
            <a:endParaRPr/>
          </a:p>
          <a:p>
            <a:pPr marL="171450" indent="-171450" algn="just">
              <a:buSzPts val="2000"/>
              <a:buNone/>
            </a:pPr>
            <a:r>
              <a:rPr lang="en-US" sz="1500" b="1"/>
              <a:t>Output:</a:t>
            </a:r>
            <a:endParaRPr/>
          </a:p>
          <a:p>
            <a:pPr marL="171450" indent="-171450" algn="just">
              <a:buSzPts val="2000"/>
              <a:buNone/>
            </a:pPr>
            <a:r>
              <a:rPr lang="en-US" sz="1500" b="1"/>
              <a:t>god!save earth!</a:t>
            </a:r>
            <a:endParaRPr/>
          </a:p>
          <a:p>
            <a:pPr marL="171450" indent="-5715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9F4A573A-C607-3048-18C5-C07845822C54}"/>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3" name="Google Shape;443;p40"/>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endParaRPr sz="2700" dirty="0">
              <a:solidFill>
                <a:schemeClr val="dk1"/>
              </a:solidFill>
            </a:endParaRPr>
          </a:p>
        </p:txBody>
      </p:sp>
      <p:sp>
        <p:nvSpPr>
          <p:cNvPr id="444" name="Google Shape;444;p40"/>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000"/>
            </a:pPr>
            <a:r>
              <a:rPr lang="en-US" sz="1500" b="1"/>
              <a:t>OS MODULE FUNCTIONS:</a:t>
            </a:r>
            <a:endParaRPr/>
          </a:p>
          <a:p>
            <a:pPr marL="171450" indent="-171450" algn="just">
              <a:buSzPts val="2000"/>
              <a:buNone/>
            </a:pPr>
            <a:r>
              <a:rPr lang="en-US" sz="1500"/>
              <a:t>&gt;&gt;&gt; import os</a:t>
            </a:r>
            <a:endParaRPr sz="1500"/>
          </a:p>
          <a:p>
            <a:pPr marL="171450" indent="-171450" algn="just">
              <a:buSzPts val="2000"/>
              <a:buNone/>
            </a:pPr>
            <a:r>
              <a:rPr lang="en-US" sz="1500"/>
              <a:t>&gt;&gt;&gt; os.getcwd()                              #get current working directory</a:t>
            </a:r>
            <a:endParaRPr/>
          </a:p>
          <a:p>
            <a:pPr marL="171450" indent="-171450" algn="just">
              <a:buSzPts val="2000"/>
              <a:buNone/>
            </a:pPr>
            <a:r>
              <a:rPr lang="en-US" sz="1500"/>
              <a:t>'C:\\Users\\hp\\Desktop\\Python'</a:t>
            </a:r>
            <a:endParaRPr/>
          </a:p>
          <a:p>
            <a:pPr marL="171450" indent="-171450" algn="just">
              <a:buSzPts val="2000"/>
              <a:buNone/>
            </a:pPr>
            <a:r>
              <a:rPr lang="en-US" sz="1500"/>
              <a:t>&gt;&gt;&gt; os.chdir('C:\\Users\\hp\\Desktop')             #to change the directory</a:t>
            </a:r>
            <a:endParaRPr/>
          </a:p>
          <a:p>
            <a:pPr marL="171450" indent="-171450" algn="just">
              <a:buSzPts val="2000"/>
              <a:buNone/>
            </a:pPr>
            <a:r>
              <a:rPr lang="en-US" sz="1500"/>
              <a:t>&gt;&gt;&gt; os.getcwd()</a:t>
            </a:r>
            <a:endParaRPr/>
          </a:p>
          <a:p>
            <a:pPr marL="171450" indent="-171450" algn="just">
              <a:buSzPts val="2000"/>
              <a:buNone/>
            </a:pPr>
            <a:r>
              <a:rPr lang="en-US" sz="1500"/>
              <a:t>'C:\\Users\\hp\\Desktop'</a:t>
            </a:r>
            <a:endParaRPr/>
          </a:p>
          <a:p>
            <a:pPr marL="171450" indent="-171450" algn="just">
              <a:buSzPts val="2000"/>
              <a:buNone/>
            </a:pPr>
            <a:r>
              <a:rPr lang="en-US" sz="1500"/>
              <a:t>&gt;&gt;&gt; os.mkdir('prac')                                      #to make new directory</a:t>
            </a:r>
            <a:endParaRPr/>
          </a:p>
          <a:p>
            <a:pPr marL="171450" indent="-171450" algn="just">
              <a:buSzPts val="2000"/>
              <a:buNone/>
            </a:pPr>
            <a:r>
              <a:rPr lang="en-US" sz="1500"/>
              <a:t>&gt;&gt;&gt; os.chdir('C:\\Users\\hp\\Desktop\\prac')</a:t>
            </a:r>
            <a:endParaRPr/>
          </a:p>
          <a:p>
            <a:pPr marL="171450" indent="-171450" algn="just">
              <a:buSzPts val="2000"/>
              <a:buNone/>
            </a:pPr>
            <a:r>
              <a:rPr lang="en-US" sz="1500"/>
              <a:t>&gt;&gt;&gt; os.listdir('C:\\Users\\hp\\Desktop\\python')                 #to list directories and files</a:t>
            </a:r>
            <a:endParaRPr/>
          </a:p>
          <a:p>
            <a:pPr marL="0" indent="0">
              <a:buSzPts val="2400"/>
              <a:buNone/>
            </a:pPr>
            <a:endParaRPr sz="1800" b="1"/>
          </a:p>
        </p:txBody>
      </p:sp>
      <p:sp>
        <p:nvSpPr>
          <p:cNvPr id="2" name="Footer Placeholder 1">
            <a:extLst>
              <a:ext uri="{FF2B5EF4-FFF2-40B4-BE49-F238E27FC236}">
                <a16:creationId xmlns:a16="http://schemas.microsoft.com/office/drawing/2014/main" id="{08B92A63-6382-D97C-7E24-00F2EE46DEA8}"/>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1" name="Google Shape;451;p41"/>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2700" dirty="0">
                <a:solidFill>
                  <a:schemeClr val="dk1"/>
                </a:solidFill>
              </a:rPr>
            </a:br>
            <a:br>
              <a:rPr lang="en-US" sz="36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540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452" name="Google Shape;452;p41"/>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lgn="just">
              <a:spcBef>
                <a:spcPts val="0"/>
              </a:spcBef>
              <a:buSzPts val="2400"/>
              <a:buNone/>
            </a:pPr>
            <a:r>
              <a:rPr lang="en-US" sz="1800"/>
              <a:t>&gt;&gt;&gt; os.rename('prac','test')                                                   #to rename the directory</a:t>
            </a:r>
            <a:endParaRPr/>
          </a:p>
          <a:p>
            <a:pPr marL="171450" indent="-171450" algn="just">
              <a:buSzPts val="2400"/>
              <a:buNone/>
            </a:pPr>
            <a:r>
              <a:rPr lang="en-US" sz="1800"/>
              <a:t>&gt;&gt;&gt; os.rmdir('C:\\Users\\hp\\Desktop\\test')                    #is used to remove a empty directory</a:t>
            </a:r>
            <a:endParaRPr/>
          </a:p>
          <a:p>
            <a:pPr marL="171450" indent="-171450" algn="just">
              <a:buSzPts val="2400"/>
              <a:buNone/>
            </a:pPr>
            <a:r>
              <a:rPr lang="en-US" sz="1800"/>
              <a:t>&gt;&gt;&gt; os.remove('C:\\Users\\hp\\Desktop\\Python\\demo.txt')       #is used to remove a file</a:t>
            </a:r>
            <a:endParaRPr/>
          </a:p>
          <a:p>
            <a:pPr marL="171450" indent="-171450" algn="just">
              <a:buSzPts val="2400"/>
              <a:buNone/>
            </a:pPr>
            <a:r>
              <a:rPr lang="en-US" sz="1800"/>
              <a:t>&gt;&gt;&gt; import shutil</a:t>
            </a:r>
            <a:endParaRPr sz="1800"/>
          </a:p>
          <a:p>
            <a:pPr marL="171450" indent="-171450" algn="just">
              <a:buSzPts val="2400"/>
              <a:buNone/>
            </a:pPr>
            <a:r>
              <a:rPr lang="en-US" sz="1800"/>
              <a:t>&gt;&gt;&gt; shutil.rmtree('C:\\Users\\hp\\Desktop\\test')                #delete an entire directory tree</a:t>
            </a:r>
            <a:endParaRPr/>
          </a:p>
          <a:p>
            <a:pPr marL="0" indent="0">
              <a:buSzPts val="2400"/>
              <a:buNone/>
            </a:pPr>
            <a:endParaRPr sz="1800" b="1"/>
          </a:p>
        </p:txBody>
      </p:sp>
      <p:sp>
        <p:nvSpPr>
          <p:cNvPr id="2" name="Footer Placeholder 1">
            <a:extLst>
              <a:ext uri="{FF2B5EF4-FFF2-40B4-BE49-F238E27FC236}">
                <a16:creationId xmlns:a16="http://schemas.microsoft.com/office/drawing/2014/main" id="{C1B74A1B-1505-A536-308E-FC6E98144D64}"/>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9" name="Google Shape;459;p42"/>
          <p:cNvSpPr txBox="1">
            <a:spLocks noGrp="1"/>
          </p:cNvSpPr>
          <p:nvPr>
            <p:ph type="title" idx="4294967295"/>
          </p:nvPr>
        </p:nvSpPr>
        <p:spPr>
          <a:xfrm>
            <a:off x="603031" y="1014905"/>
            <a:ext cx="6503276" cy="646386"/>
          </a:xfrm>
          <a:prstGeom prst="rect">
            <a:avLst/>
          </a:prstGeom>
          <a:noFill/>
          <a:ln w="9525" cap="flat" cmpd="sng">
            <a:solidFill>
              <a:schemeClr val="dk1"/>
            </a:solidFill>
            <a:prstDash val="solid"/>
            <a:round/>
            <a:headEnd type="none" w="sm" len="sm"/>
            <a:tailEnd type="none" w="sm" len="sm"/>
          </a:ln>
        </p:spPr>
        <p:txBody>
          <a:bodyPr spcFirstLastPara="1" wrap="square" lIns="69056" tIns="34519" rIns="69056" bIns="34519" anchor="ctr" anchorCtr="0">
            <a:noAutofit/>
          </a:bodyPr>
          <a:lstStyle/>
          <a:p>
            <a:br>
              <a:rPr lang="en-US" sz="3600" dirty="0">
                <a:solidFill>
                  <a:schemeClr val="dk1"/>
                </a:solidFill>
              </a:rPr>
            </a:br>
            <a:br>
              <a:rPr lang="en-US" sz="5400" dirty="0">
                <a:solidFill>
                  <a:schemeClr val="dk1"/>
                </a:solidFill>
              </a:rPr>
            </a:br>
            <a:br>
              <a:rPr lang="en-US" sz="5400" dirty="0">
                <a:solidFill>
                  <a:schemeClr val="dk1"/>
                </a:solidFill>
              </a:rPr>
            </a:br>
            <a:r>
              <a:rPr lang="en-US" sz="2400" dirty="0">
                <a:solidFill>
                  <a:schemeClr val="dk1"/>
                </a:solidFill>
              </a:rPr>
              <a:t>Object Oriented Programming &amp;File Handling</a:t>
            </a:r>
            <a:br>
              <a:rPr lang="en-US" sz="4950" dirty="0">
                <a:solidFill>
                  <a:schemeClr val="dk1"/>
                </a:solidFill>
              </a:rPr>
            </a:br>
            <a:br>
              <a:rPr lang="en-US" sz="4050" dirty="0">
                <a:solidFill>
                  <a:schemeClr val="dk1"/>
                </a:solidFill>
              </a:rPr>
            </a:br>
            <a:br>
              <a:rPr lang="en-US" sz="3600" dirty="0">
                <a:solidFill>
                  <a:schemeClr val="dk1"/>
                </a:solidFill>
              </a:rPr>
            </a:br>
            <a:br>
              <a:rPr lang="en-US" sz="2700" dirty="0">
                <a:solidFill>
                  <a:schemeClr val="dk1"/>
                </a:solidFill>
              </a:rPr>
            </a:br>
            <a:endParaRPr sz="2700" dirty="0">
              <a:solidFill>
                <a:schemeClr val="dk1"/>
              </a:solidFill>
            </a:endParaRPr>
          </a:p>
        </p:txBody>
      </p:sp>
      <p:sp>
        <p:nvSpPr>
          <p:cNvPr id="460" name="Google Shape;460;p42"/>
          <p:cNvSpPr txBox="1">
            <a:spLocks noGrp="1"/>
          </p:cNvSpPr>
          <p:nvPr>
            <p:ph type="body" idx="1"/>
          </p:nvPr>
        </p:nvSpPr>
        <p:spPr>
          <a:xfrm>
            <a:off x="509588" y="1840706"/>
            <a:ext cx="7886700" cy="3263504"/>
          </a:xfrm>
          <a:prstGeom prst="rect">
            <a:avLst/>
          </a:prstGeom>
          <a:noFill/>
          <a:ln w="9525" cap="flat" cmpd="sng">
            <a:solidFill>
              <a:schemeClr val="dk1"/>
            </a:solidFill>
            <a:prstDash val="solid"/>
            <a:round/>
            <a:headEnd type="none" w="sm" len="sm"/>
            <a:tailEnd type="none" w="sm" len="sm"/>
          </a:ln>
        </p:spPr>
        <p:txBody>
          <a:bodyPr spcFirstLastPara="1" wrap="square" lIns="68569" tIns="34275" rIns="68569" bIns="34275" anchor="t" anchorCtr="0">
            <a:noAutofit/>
          </a:bodyPr>
          <a:lstStyle/>
          <a:p>
            <a:pPr marL="171450" indent="-171450">
              <a:spcBef>
                <a:spcPts val="0"/>
              </a:spcBef>
              <a:buSzPts val="2400"/>
            </a:pPr>
            <a:r>
              <a:rPr lang="en-US" sz="1800" b="1"/>
              <a:t>SUGGESTED TEXTBOOKS</a:t>
            </a:r>
            <a:endParaRPr sz="1800"/>
          </a:p>
          <a:p>
            <a:pPr marL="171450" indent="-171450" algn="just"/>
            <a:r>
              <a:rPr lang="en-US" sz="1350"/>
              <a:t>Ashok Namdev Kamthane, Programming and Problem Solving with Python, Mc Graw Hill Education Publication, 1st Edition, November 2017.</a:t>
            </a:r>
            <a:endParaRPr/>
          </a:p>
          <a:p>
            <a:pPr marL="171450" indent="-171450" algn="just"/>
            <a:r>
              <a:rPr lang="en-US" sz="1350"/>
              <a:t>Kenneth Lambert, Fundamentals of Python :First Programs, Cengage Learning</a:t>
            </a:r>
            <a:endParaRPr sz="1350"/>
          </a:p>
          <a:p>
            <a:pPr marL="171450" indent="-171450" algn="just"/>
            <a:r>
              <a:rPr lang="en-US" sz="1350"/>
              <a:t>Allen Downey, Think Python, O'Reilly Media, 2nd Edition,2015.</a:t>
            </a:r>
            <a:endParaRPr/>
          </a:p>
          <a:p>
            <a:pPr marL="171450" indent="-171450" algn="just">
              <a:buSzPts val="2400"/>
            </a:pPr>
            <a:r>
              <a:rPr lang="en-US" sz="1800" b="1"/>
              <a:t>REFERENCE BOOKS</a:t>
            </a:r>
            <a:endParaRPr sz="1800"/>
          </a:p>
          <a:p>
            <a:pPr marL="171450" indent="-171450" algn="just"/>
            <a:r>
              <a:rPr lang="en-US" sz="1350"/>
              <a:t>Rajaraman V,” Computer Oriented Numerical Methods”, Pearson Education.</a:t>
            </a:r>
            <a:endParaRPr/>
          </a:p>
          <a:p>
            <a:pPr marL="171450" indent="-171450" algn="just"/>
            <a:r>
              <a:rPr lang="en-US" sz="1350"/>
              <a:t>Y. Daniel Liang, Introduction to Programming Using Python, Pearson.</a:t>
            </a:r>
            <a:endParaRPr sz="1350"/>
          </a:p>
          <a:p>
            <a:pPr marL="171450" indent="-171450" algn="just"/>
            <a:r>
              <a:rPr lang="en-US" sz="1350"/>
              <a:t>Martin C.Brown, PYTHON The Complete REFERENCE, Tata McGraw-Hill</a:t>
            </a:r>
            <a:endParaRPr/>
          </a:p>
          <a:p>
            <a:pPr marL="0" indent="0" algn="just">
              <a:buNone/>
            </a:pPr>
            <a:r>
              <a:rPr lang="en-US" sz="1350"/>
              <a:t>      Education, 4th Edition, March 2018.</a:t>
            </a:r>
            <a:endParaRPr sz="1350"/>
          </a:p>
          <a:p>
            <a:pPr marL="171450" indent="-57150">
              <a:buSzPts val="2400"/>
              <a:buNone/>
            </a:pPr>
            <a:endParaRPr sz="1800" b="1"/>
          </a:p>
          <a:p>
            <a:pPr marL="171450" indent="-57150">
              <a:buSzPts val="2400"/>
              <a:buNone/>
            </a:pPr>
            <a:endParaRPr sz="1800" b="1"/>
          </a:p>
        </p:txBody>
      </p:sp>
      <p:sp>
        <p:nvSpPr>
          <p:cNvPr id="2" name="Footer Placeholder 1">
            <a:extLst>
              <a:ext uri="{FF2B5EF4-FFF2-40B4-BE49-F238E27FC236}">
                <a16:creationId xmlns:a16="http://schemas.microsoft.com/office/drawing/2014/main" id="{AF083490-CF3E-93C8-21A2-84F0296C5E46}"/>
              </a:ext>
            </a:extLst>
          </p:cNvPr>
          <p:cNvSpPr>
            <a:spLocks noGrp="1"/>
          </p:cNvSpPr>
          <p:nvPr>
            <p:ph type="ftr" idx="11"/>
          </p:nvPr>
        </p:nvSpPr>
        <p:spPr/>
        <p:txBody>
          <a:bodyPr/>
          <a:lstStyle/>
          <a:p>
            <a:r>
              <a:rPr lang="en-US"/>
              <a:t>University Institute of Engineering (UIE)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1"/>
          <p:cNvSpPr txBox="1"/>
          <p:nvPr/>
        </p:nvSpPr>
        <p:spPr>
          <a:xfrm>
            <a:off x="2571750" y="17780"/>
            <a:ext cx="65483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40" name="Google Shape;240;p21"/>
          <p:cNvSpPr txBox="1">
            <a:spLocks noGrp="1"/>
          </p:cNvSpPr>
          <p:nvPr>
            <p:ph type="ftr" idx="11"/>
          </p:nvPr>
        </p:nvSpPr>
        <p:spPr>
          <a:xfrm>
            <a:off x="3028950" y="6356351"/>
            <a:ext cx="3086100" cy="365125"/>
          </a:xfrm>
          <a:prstGeom prst="rect">
            <a:avLst/>
          </a:prstGeom>
          <a:noFill/>
          <a:ln>
            <a:noFill/>
          </a:ln>
        </p:spPr>
        <p:txBody>
          <a:bodyPr spcFirstLastPara="1" vert="horz" wrap="square" lIns="91440" tIns="45720" rIns="91440" bIns="45720" rtlCol="0" anchor="ctr" anchorCtr="0">
            <a:spAutoFit/>
          </a:bodyPr>
          <a:lstStyle>
            <a:defPPr>
              <a:defRPr lang="en-US"/>
            </a:defPPr>
            <a:lvl1pPr algn="ctr" rtl="0" eaLnBrk="0" fontAlgn="base" hangingPunct="0">
              <a:spcBef>
                <a:spcPct val="0"/>
              </a:spcBef>
              <a:spcAft>
                <a:spcPct val="0"/>
              </a:spcAft>
              <a:defRPr sz="1200" kern="1200">
                <a:solidFill>
                  <a:schemeClr val="tx1">
                    <a:tint val="75000"/>
                  </a:schemeClr>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pPr marL="12700" lvl="0" indent="0" algn="l" rtl="0">
              <a:lnSpc>
                <a:spcPct val="100250"/>
              </a:lnSpc>
              <a:spcBef>
                <a:spcPts val="0"/>
              </a:spcBef>
              <a:spcAft>
                <a:spcPts val="0"/>
              </a:spcAft>
              <a:buSzPts val="1400"/>
              <a:buNone/>
            </a:pPr>
            <a:r>
              <a:rPr lang="en-US" sz="1400"/>
              <a:t>University Institute of Engineering (UIE)</a:t>
            </a:r>
            <a:endParaRPr sz="1400" dirty="0"/>
          </a:p>
        </p:txBody>
      </p:sp>
      <p:sp>
        <p:nvSpPr>
          <p:cNvPr id="241" name="Google Shape;241;p21"/>
          <p:cNvSpPr txBox="1">
            <a:spLocks noGrp="1"/>
          </p:cNvSpPr>
          <p:nvPr>
            <p:ph type="title"/>
          </p:nvPr>
        </p:nvSpPr>
        <p:spPr>
          <a:xfrm>
            <a:off x="4091260" y="722847"/>
            <a:ext cx="29439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en-US" sz="2400" dirty="0"/>
              <a:t>Outcomes</a:t>
            </a:r>
            <a:endParaRPr sz="2400" dirty="0"/>
          </a:p>
        </p:txBody>
      </p:sp>
      <p:sp>
        <p:nvSpPr>
          <p:cNvPr id="242" name="Google Shape;242;p21"/>
          <p:cNvSpPr txBox="1"/>
          <p:nvPr/>
        </p:nvSpPr>
        <p:spPr>
          <a:xfrm>
            <a:off x="546699" y="1114917"/>
            <a:ext cx="8301990" cy="4475584"/>
          </a:xfrm>
          <a:prstGeom prst="rect">
            <a:avLst/>
          </a:prstGeom>
          <a:noFill/>
          <a:ln>
            <a:noFill/>
          </a:ln>
        </p:spPr>
        <p:txBody>
          <a:bodyPr spcFirstLastPara="1" wrap="square" lIns="0" tIns="12700" rIns="0" bIns="0" anchor="t" anchorCtr="0">
            <a:spAutoFit/>
          </a:bodyPr>
          <a:lstStyle/>
          <a:p>
            <a:pPr marL="12065" marR="6350" lvl="0" algn="just" rtl="0">
              <a:lnSpc>
                <a:spcPct val="100000"/>
              </a:lnSpc>
              <a:spcBef>
                <a:spcPts val="0"/>
              </a:spcBef>
              <a:spcAft>
                <a:spcPts val="0"/>
              </a:spcAft>
              <a:buClr>
                <a:srgbClr val="1F487C"/>
              </a:buClr>
              <a:buSzPts val="2400"/>
            </a:pPr>
            <a:endParaRPr lang="en-US" sz="18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1800" i="0" u="none" strike="noStrike" cap="none" dirty="0">
                <a:solidFill>
                  <a:schemeClr val="tx1"/>
                </a:solidFill>
                <a:latin typeface="Trebuchet MS"/>
                <a:ea typeface="Trebuchet MS"/>
                <a:cs typeface="Trebuchet MS"/>
                <a:sym typeface="Trebuchet MS"/>
              </a:rPr>
              <a:t>• Implement Object-Oriented Programming concepts including classes, methods, inheritance, and polymorphism to create modular and reusable Python code.</a:t>
            </a:r>
          </a:p>
          <a:p>
            <a:pPr marL="12065" marR="6350" lvl="0" algn="just" rtl="0">
              <a:lnSpc>
                <a:spcPct val="100000"/>
              </a:lnSpc>
              <a:spcBef>
                <a:spcPts val="0"/>
              </a:spcBef>
              <a:spcAft>
                <a:spcPts val="0"/>
              </a:spcAft>
              <a:buClr>
                <a:srgbClr val="1F487C"/>
              </a:buClr>
              <a:buSzPts val="2400"/>
            </a:pPr>
            <a:endParaRPr lang="en-US" sz="18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1800" i="0" u="none" strike="noStrike" cap="none" dirty="0">
                <a:solidFill>
                  <a:schemeClr val="tx1"/>
                </a:solidFill>
                <a:latin typeface="Trebuchet MS"/>
                <a:ea typeface="Trebuchet MS"/>
                <a:cs typeface="Trebuchet MS"/>
                <a:sym typeface="Trebuchet MS"/>
              </a:rPr>
              <a:t>• Perform file handling operations in Python, including reading from and writing to files in various modes, to effectively manage and manipulate data persistence.</a:t>
            </a:r>
          </a:p>
          <a:p>
            <a:pPr marL="12065" marR="6350" lvl="0" algn="just" rtl="0">
              <a:lnSpc>
                <a:spcPct val="100000"/>
              </a:lnSpc>
              <a:spcBef>
                <a:spcPts val="0"/>
              </a:spcBef>
              <a:spcAft>
                <a:spcPts val="0"/>
              </a:spcAft>
              <a:buClr>
                <a:srgbClr val="1F487C"/>
              </a:buClr>
              <a:buSzPts val="2400"/>
            </a:pPr>
            <a:endParaRPr lang="en-US" sz="18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1800" i="0" u="none" strike="noStrike" cap="none" dirty="0">
                <a:solidFill>
                  <a:schemeClr val="tx1"/>
                </a:solidFill>
                <a:latin typeface="Trebuchet MS"/>
                <a:ea typeface="Trebuchet MS"/>
                <a:cs typeface="Trebuchet MS"/>
                <a:sym typeface="Trebuchet MS"/>
              </a:rPr>
              <a:t>• Analyze and select the most suitable searching and sorting algorithms for different programming scenarios, demonstrating understanding of their efficiency and use cases.</a:t>
            </a:r>
          </a:p>
          <a:p>
            <a:pPr marL="12065" marR="6350" lvl="0" algn="just" rtl="0">
              <a:lnSpc>
                <a:spcPct val="100000"/>
              </a:lnSpc>
              <a:spcBef>
                <a:spcPts val="0"/>
              </a:spcBef>
              <a:spcAft>
                <a:spcPts val="0"/>
              </a:spcAft>
              <a:buClr>
                <a:srgbClr val="1F487C"/>
              </a:buClr>
              <a:buSzPts val="2400"/>
            </a:pPr>
            <a:endParaRPr lang="en-US" sz="1800" i="0" u="none" strike="noStrike" cap="none" dirty="0">
              <a:solidFill>
                <a:schemeClr val="tx1"/>
              </a:solidFill>
              <a:latin typeface="Trebuchet MS"/>
              <a:ea typeface="Trebuchet MS"/>
              <a:cs typeface="Trebuchet MS"/>
              <a:sym typeface="Trebuchet MS"/>
            </a:endParaRPr>
          </a:p>
          <a:p>
            <a:pPr marL="12065" marR="6350" lvl="0" algn="just" rtl="0">
              <a:lnSpc>
                <a:spcPct val="100000"/>
              </a:lnSpc>
              <a:spcBef>
                <a:spcPts val="0"/>
              </a:spcBef>
              <a:spcAft>
                <a:spcPts val="0"/>
              </a:spcAft>
              <a:buClr>
                <a:srgbClr val="1F487C"/>
              </a:buClr>
              <a:buSzPts val="2400"/>
            </a:pPr>
            <a:r>
              <a:rPr lang="en-US" sz="1800" i="0" u="none" strike="noStrike" cap="none" dirty="0">
                <a:solidFill>
                  <a:schemeClr val="tx1"/>
                </a:solidFill>
                <a:latin typeface="Trebuchet MS"/>
                <a:ea typeface="Trebuchet MS"/>
                <a:cs typeface="Trebuchet MS"/>
                <a:sym typeface="Trebuchet MS"/>
              </a:rPr>
              <a:t>• Develop practical applications that integrate searching, sorting, OOP principles, and file handling to solve complex programming problems in Python.</a:t>
            </a:r>
          </a:p>
          <a:p>
            <a:pPr marL="12065" marR="6350" lvl="0" algn="just" rtl="0">
              <a:lnSpc>
                <a:spcPct val="100000"/>
              </a:lnSpc>
              <a:spcBef>
                <a:spcPts val="0"/>
              </a:spcBef>
              <a:spcAft>
                <a:spcPts val="0"/>
              </a:spcAft>
              <a:buClr>
                <a:srgbClr val="1F487C"/>
              </a:buClr>
              <a:buSzPts val="2400"/>
            </a:pPr>
            <a:endParaRPr lang="en-US" sz="2000" i="0" u="none" strike="noStrike" cap="none" dirty="0">
              <a:solidFill>
                <a:schemeClr val="tx1"/>
              </a:solidFill>
              <a:latin typeface="Trebuchet MS"/>
              <a:ea typeface="Trebuchet MS"/>
              <a:cs typeface="Trebuchet MS"/>
              <a:sym typeface="Trebuchet MS"/>
            </a:endParaRPr>
          </a:p>
        </p:txBody>
      </p:sp>
      <p:sp>
        <p:nvSpPr>
          <p:cNvPr id="2" name="Google Shape;261;p23">
            <a:extLst>
              <a:ext uri="{FF2B5EF4-FFF2-40B4-BE49-F238E27FC236}">
                <a16:creationId xmlns:a16="http://schemas.microsoft.com/office/drawing/2014/main" id="{9248CC90-0175-2E4F-9236-D06032226D8F}"/>
              </a:ext>
            </a:extLst>
          </p:cNvPr>
          <p:cNvSpPr/>
          <p:nvPr/>
        </p:nvSpPr>
        <p:spPr>
          <a:xfrm>
            <a:off x="2779776" y="1143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grpSp>
        <p:nvGrpSpPr>
          <p:cNvPr id="257" name="Google Shape;257;p23"/>
          <p:cNvGrpSpPr/>
          <p:nvPr/>
        </p:nvGrpSpPr>
        <p:grpSpPr>
          <a:xfrm>
            <a:off x="0" y="11430"/>
            <a:ext cx="9144381" cy="6858000"/>
            <a:chOff x="0" y="0"/>
            <a:chExt cx="9144381" cy="6858000"/>
          </a:xfrm>
        </p:grpSpPr>
        <p:sp>
          <p:nvSpPr>
            <p:cNvPr id="258" name="Google Shape;258;p23"/>
            <p:cNvSpPr/>
            <p:nvPr/>
          </p:nvSpPr>
          <p:spPr>
            <a:xfrm>
              <a:off x="0" y="0"/>
              <a:ext cx="9144000" cy="6858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59" name="Google Shape;259;p23"/>
            <p:cNvSpPr/>
            <p:nvPr/>
          </p:nvSpPr>
          <p:spPr>
            <a:xfrm>
              <a:off x="0" y="6356603"/>
              <a:ext cx="9144000" cy="88900"/>
            </a:xfrm>
            <a:custGeom>
              <a:avLst/>
              <a:gdLst/>
              <a:ahLst/>
              <a:cxnLst/>
              <a:rect l="l" t="t" r="r" b="b"/>
              <a:pathLst>
                <a:path w="9144000" h="88900" extrusionOk="0">
                  <a:moveTo>
                    <a:pt x="9144000" y="70713"/>
                  </a:moveTo>
                  <a:lnTo>
                    <a:pt x="0" y="70713"/>
                  </a:lnTo>
                  <a:lnTo>
                    <a:pt x="0" y="88392"/>
                  </a:lnTo>
                  <a:lnTo>
                    <a:pt x="9144000" y="88392"/>
                  </a:lnTo>
                  <a:lnTo>
                    <a:pt x="9144000" y="70713"/>
                  </a:lnTo>
                  <a:close/>
                </a:path>
                <a:path w="9144000" h="88900" extrusionOk="0">
                  <a:moveTo>
                    <a:pt x="9144000" y="0"/>
                  </a:moveTo>
                  <a:lnTo>
                    <a:pt x="0" y="0"/>
                  </a:lnTo>
                  <a:lnTo>
                    <a:pt x="0" y="53035"/>
                  </a:lnTo>
                  <a:lnTo>
                    <a:pt x="9144000" y="53035"/>
                  </a:lnTo>
                  <a:lnTo>
                    <a:pt x="9144000" y="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0" name="Google Shape;260;p23"/>
            <p:cNvSpPr/>
            <p:nvPr/>
          </p:nvSpPr>
          <p:spPr>
            <a:xfrm>
              <a:off x="152399" y="152400"/>
              <a:ext cx="768095" cy="12192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23"/>
            <p:cNvSpPr/>
            <p:nvPr/>
          </p:nvSpPr>
          <p:spPr>
            <a:xfrm>
              <a:off x="2779776" y="0"/>
              <a:ext cx="6364605" cy="394970"/>
            </a:xfrm>
            <a:custGeom>
              <a:avLst/>
              <a:gdLst/>
              <a:ahLst/>
              <a:cxnLst/>
              <a:rect l="l" t="t" r="r" b="b"/>
              <a:pathLst>
                <a:path w="6364605" h="394970" extrusionOk="0">
                  <a:moveTo>
                    <a:pt x="6356604" y="8890"/>
                  </a:moveTo>
                  <a:lnTo>
                    <a:pt x="33528" y="8890"/>
                  </a:lnTo>
                  <a:lnTo>
                    <a:pt x="33528" y="25400"/>
                  </a:lnTo>
                  <a:lnTo>
                    <a:pt x="33528" y="344170"/>
                  </a:lnTo>
                  <a:lnTo>
                    <a:pt x="33528" y="360680"/>
                  </a:lnTo>
                  <a:lnTo>
                    <a:pt x="6356604" y="360680"/>
                  </a:lnTo>
                  <a:lnTo>
                    <a:pt x="6356604" y="344424"/>
                  </a:lnTo>
                  <a:lnTo>
                    <a:pt x="6356604" y="344170"/>
                  </a:lnTo>
                  <a:lnTo>
                    <a:pt x="6356604" y="25908"/>
                  </a:lnTo>
                  <a:lnTo>
                    <a:pt x="6339840" y="25908"/>
                  </a:lnTo>
                  <a:lnTo>
                    <a:pt x="6339840" y="344170"/>
                  </a:lnTo>
                  <a:lnTo>
                    <a:pt x="50292" y="344170"/>
                  </a:lnTo>
                  <a:lnTo>
                    <a:pt x="50292" y="25400"/>
                  </a:lnTo>
                  <a:lnTo>
                    <a:pt x="6356604" y="25400"/>
                  </a:lnTo>
                  <a:lnTo>
                    <a:pt x="6356604" y="8890"/>
                  </a:lnTo>
                  <a:close/>
                </a:path>
                <a:path w="6364605" h="394970" extrusionOk="0">
                  <a:moveTo>
                    <a:pt x="6364224" y="378460"/>
                  </a:moveTo>
                  <a:lnTo>
                    <a:pt x="16764" y="378460"/>
                  </a:lnTo>
                  <a:lnTo>
                    <a:pt x="16764" y="0"/>
                  </a:lnTo>
                  <a:lnTo>
                    <a:pt x="0" y="0"/>
                  </a:lnTo>
                  <a:lnTo>
                    <a:pt x="0" y="378460"/>
                  </a:lnTo>
                  <a:lnTo>
                    <a:pt x="0" y="394970"/>
                  </a:lnTo>
                  <a:lnTo>
                    <a:pt x="6364224" y="394970"/>
                  </a:lnTo>
                  <a:lnTo>
                    <a:pt x="6364224" y="378460"/>
                  </a:lnTo>
                  <a:close/>
                </a:path>
              </a:pathLst>
            </a:custGeom>
            <a:solidFill>
              <a:srgbClr val="C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2" name="Google Shape;262;p23"/>
          <p:cNvSpPr txBox="1"/>
          <p:nvPr/>
        </p:nvSpPr>
        <p:spPr>
          <a:xfrm>
            <a:off x="2475350" y="17780"/>
            <a:ext cx="6644774" cy="299720"/>
          </a:xfrm>
          <a:prstGeom prst="rect">
            <a:avLst/>
          </a:prstGeom>
          <a:noFill/>
          <a:ln>
            <a:noFill/>
          </a:ln>
        </p:spPr>
        <p:txBody>
          <a:bodyPr spcFirstLastPara="1" wrap="square" lIns="0" tIns="12700" rIns="0" bIns="0" anchor="t" anchorCtr="0">
            <a:spAutoFit/>
          </a:bodyPr>
          <a:lstStyle/>
          <a:p>
            <a:pPr marL="56134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Department of Computer Science and Engineering (CSE)</a:t>
            </a:r>
            <a:endParaRPr sz="1800" b="0" i="0" u="none" strike="noStrike" cap="none" dirty="0">
              <a:solidFill>
                <a:schemeClr val="dk1"/>
              </a:solidFill>
              <a:latin typeface="Arial"/>
              <a:ea typeface="Arial"/>
              <a:cs typeface="Arial"/>
              <a:sym typeface="Arial"/>
            </a:endParaRPr>
          </a:p>
        </p:txBody>
      </p:sp>
      <p:sp>
        <p:nvSpPr>
          <p:cNvPr id="263" name="Google Shape;263;p23"/>
          <p:cNvSpPr/>
          <p:nvPr/>
        </p:nvSpPr>
        <p:spPr>
          <a:xfrm>
            <a:off x="1140225" y="1823002"/>
            <a:ext cx="6362700" cy="14355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23"/>
          <p:cNvSpPr txBox="1">
            <a:spLocks noGrp="1"/>
          </p:cNvSpPr>
          <p:nvPr>
            <p:ph type="ftr" idx="11"/>
          </p:nvPr>
        </p:nvSpPr>
        <p:spPr>
          <a:xfrm>
            <a:off x="2475350" y="5949096"/>
            <a:ext cx="4194900" cy="215444"/>
          </a:xfrm>
          <a:prstGeom prst="rect">
            <a:avLst/>
          </a:prstGeom>
          <a:noFill/>
          <a:ln>
            <a:noFill/>
          </a:ln>
        </p:spPr>
        <p:txBody>
          <a:bodyPr spcFirstLastPara="1" wrap="square" lIns="0" tIns="0" rIns="0" bIns="0" anchor="t" anchorCtr="0">
            <a:spAutoFit/>
          </a:bodyPr>
          <a:lstStyle/>
          <a:p>
            <a:pPr marL="12700" lvl="0" indent="0" algn="l" rtl="0">
              <a:lnSpc>
                <a:spcPct val="100250"/>
              </a:lnSpc>
              <a:spcBef>
                <a:spcPts val="0"/>
              </a:spcBef>
              <a:spcAft>
                <a:spcPts val="0"/>
              </a:spcAft>
              <a:buSzPts val="1400"/>
              <a:buNone/>
            </a:pPr>
            <a:r>
              <a:rPr lang="en-US" sz="1400" dirty="0"/>
              <a:t>University Institute of Engineering (UIE)</a:t>
            </a:r>
            <a:endParaRPr sz="14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4965</Words>
  <Application>Microsoft Office PowerPoint</Application>
  <PresentationFormat>On-screen Show (4:3)</PresentationFormat>
  <Paragraphs>516</Paragraphs>
  <Slides>48</Slides>
  <Notes>47</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48</vt:i4>
      </vt:variant>
    </vt:vector>
  </HeadingPairs>
  <TitlesOfParts>
    <vt:vector size="55" baseType="lpstr">
      <vt:lpstr>Arial</vt:lpstr>
      <vt:lpstr>Arial Black</vt:lpstr>
      <vt:lpstr>Calibri</vt:lpstr>
      <vt:lpstr>Times New Roman</vt:lpstr>
      <vt:lpstr>Trebuchet MS</vt:lpstr>
      <vt:lpstr>Office Theme</vt:lpstr>
      <vt:lpstr>CorelDRAW</vt:lpstr>
      <vt:lpstr>PowerPoint Presentation</vt:lpstr>
      <vt:lpstr>Unit 3 Content  </vt:lpstr>
      <vt:lpstr>PowerPoint Presentation</vt:lpstr>
      <vt:lpstr>OBJECTIVES</vt:lpstr>
      <vt:lpstr> Object Oriented Programming &amp; 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   Object Oriented Programming &amp;File Handling    </vt:lpstr>
      <vt:lpstr>Outcomes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Harmanjit Singh Gahir</dc:creator>
  <cp:lastModifiedBy>dell</cp:lastModifiedBy>
  <cp:revision>6</cp:revision>
  <dcterms:created xsi:type="dcterms:W3CDTF">2019-05-03T13:26:36Z</dcterms:created>
  <dcterms:modified xsi:type="dcterms:W3CDTF">2024-07-18T10:05:03Z</dcterms:modified>
</cp:coreProperties>
</file>