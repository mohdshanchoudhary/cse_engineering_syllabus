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4" r:id="rId3"/>
    <p:sldId id="257" r:id="rId4"/>
    <p:sldId id="265" r:id="rId5"/>
    <p:sldId id="258" r:id="rId6"/>
    <p:sldId id="266" r:id="rId7"/>
    <p:sldId id="259" r:id="rId8"/>
    <p:sldId id="267" r:id="rId9"/>
    <p:sldId id="260" r:id="rId10"/>
    <p:sldId id="268" r:id="rId11"/>
    <p:sldId id="261" r:id="rId12"/>
    <p:sldId id="269" r:id="rId13"/>
    <p:sldId id="262" r:id="rId14"/>
    <p:sldId id="270" r:id="rId15"/>
    <p:sldId id="271" r:id="rId16"/>
    <p:sldId id="263" r:id="rId17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534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0773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3312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9449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5107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5182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523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5711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8584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6500" y="264177"/>
            <a:ext cx="15468600" cy="9530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4" algn="ctr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Data 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pes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322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identi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ssoci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ndling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ring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riables,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stor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that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use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listed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void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int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Ch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loat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Double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Unsi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int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short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long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Unsi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lo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838200"/>
            <a:ext cx="13723836" cy="8914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void Data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void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</a:p>
          <a:p>
            <a:pPr marL="29219" marR="4078957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rn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 th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do n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t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with an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</a:t>
            </a:r>
          </a:p>
          <a:p>
            <a:pPr marL="2921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3;</a:t>
            </a:r>
          </a:p>
          <a:p>
            <a:pPr marL="555159" marR="10831443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3.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.   //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5.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indent="-514350">
              <a:spcBef>
                <a:spcPts val="1438"/>
              </a:spcBef>
              <a:buAutoNum type="arabicPeriod" startAt="7"/>
            </a:pP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1069509" indent="-514350">
              <a:spcBef>
                <a:spcPts val="1438"/>
              </a:spcBef>
              <a:buAutoNum type="arabicPeriod" startAt="7"/>
            </a:pP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1069509" indent="-514350">
              <a:spcBef>
                <a:spcPts val="1438"/>
              </a:spcBef>
              <a:buAutoNum type="arabicPeriod" startAt="7"/>
            </a:pP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1069509" indent="-514350">
              <a:spcBef>
                <a:spcPts val="1438"/>
              </a:spcBef>
              <a:buAutoNum type="arabicPeriod" startAt="7"/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2673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92200" y="535216"/>
            <a:ext cx="15773400" cy="8915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Data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whole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ke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5,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6,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10,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123,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They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</a:p>
          <a:p>
            <a:pPr marL="29219" marR="17531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nted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store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int is 2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(16 bits).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Minimal </a:t>
            </a:r>
            <a:r>
              <a:rPr sz="2761" spc="-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ng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32768 to 32767 or -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(2^ 15)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12" dirty="0">
                <a:latin typeface="Times New Roman"/>
                <a:cs typeface="Times New Roman"/>
              </a:rPr>
              <a:t>((</a:t>
            </a:r>
            <a:r>
              <a:rPr sz="2761" dirty="0">
                <a:latin typeface="Times New Roman"/>
                <a:cs typeface="Times New Roman"/>
              </a:rPr>
              <a:t>2 ^ 15) -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1)</a:t>
            </a:r>
          </a:p>
          <a:p>
            <a:pPr marL="29219" algn="just">
              <a:spcBef>
                <a:spcPts val="1438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ino UNO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rds,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store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2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tes.</a:t>
            </a:r>
          </a:p>
          <a:p>
            <a:pPr marL="29219" marR="14609" algn="just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like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Z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MKR1000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SAMD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uino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32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bits.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Minimal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nge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would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(2^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31)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(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2 ^ 31)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1)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-</a:t>
            </a:r>
            <a:r>
              <a:rPr sz="2761" dirty="0">
                <a:latin typeface="Times New Roman"/>
                <a:cs typeface="Times New Roman"/>
              </a:rPr>
              <a:t>2,147,</a:t>
            </a:r>
            <a:r>
              <a:rPr sz="2761" spc="23" dirty="0">
                <a:latin typeface="Times New Roman"/>
                <a:cs typeface="Times New Roman"/>
              </a:rPr>
              <a:t>4</a:t>
            </a:r>
            <a:r>
              <a:rPr sz="2761" dirty="0">
                <a:latin typeface="Times New Roman"/>
                <a:cs typeface="Times New Roman"/>
              </a:rPr>
              <a:t>83,648 to 2,147,483,647.</a:t>
            </a:r>
          </a:p>
          <a:p>
            <a:pPr marL="29219" marR="20453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spc="46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 bit is flag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the ne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ive numb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024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s:</a:t>
            </a:r>
          </a:p>
          <a:p>
            <a:pPr marL="29219" marR="10799302" indent="525940">
              <a:lnSpc>
                <a:spcPct val="143300"/>
              </a:lnSpc>
              <a:spcBef>
                <a:spcPts val="35"/>
              </a:spcBef>
            </a:pPr>
            <a:r>
              <a:rPr lang="en-US" sz="2761" dirty="0">
                <a:latin typeface="Times New Roman"/>
                <a:cs typeface="Times New Roman"/>
              </a:rPr>
              <a:t>1.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v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; 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</a:p>
          <a:p>
            <a:pPr marL="29219" algn="just">
              <a:spcBef>
                <a:spcPts val="1461"/>
              </a:spcBef>
            </a:pPr>
            <a:r>
              <a:rPr lang="en-US" sz="2761" b="1" dirty="0">
                <a:latin typeface="Times New Roman"/>
                <a:cs typeface="Times New Roman"/>
              </a:rPr>
              <a:t>va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</a:p>
          <a:p>
            <a:pPr marL="29219" marR="7859881">
              <a:lnSpc>
                <a:spcPts val="4785"/>
              </a:lnSpc>
              <a:spcBef>
                <a:spcPts val="368"/>
              </a:spcBef>
            </a:pPr>
            <a:r>
              <a:rPr lang="en-US" sz="2761" b="1" dirty="0">
                <a:latin typeface="Times New Roman"/>
                <a:cs typeface="Times New Roman"/>
              </a:rPr>
              <a:t>val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e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ss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  <a:endParaRPr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68400" y="381000"/>
            <a:ext cx="15316200" cy="94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spcBef>
                <a:spcPts val="1024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1079638" indent="-524479">
              <a:spcBef>
                <a:spcPts val="1024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a;</a:t>
            </a:r>
            <a:endParaRPr sz="276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3;</a:t>
            </a:r>
          </a:p>
          <a:p>
            <a:pPr marL="29219" marR="24836">
              <a:spcBef>
                <a:spcPts val="380"/>
              </a:spcBef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identifi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omes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hold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lues.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with an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ple in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</a:t>
            </a:r>
          </a:p>
          <a:p>
            <a:pPr marL="29219" algn="just">
              <a:spcBef>
                <a:spcPts val="1056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Sum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0;</a:t>
            </a:r>
          </a:p>
          <a:p>
            <a:pPr marL="555159" marR="10846052"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846052"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endParaRPr lang="en-US" sz="2761" dirty="0">
              <a:latin typeface="Times New Roman"/>
              <a:cs typeface="Times New Roman"/>
            </a:endParaRPr>
          </a:p>
          <a:p>
            <a:pPr marL="1069509" indent="-514350">
              <a:spcBef>
                <a:spcPts val="1461"/>
              </a:spcBef>
              <a:buAutoNum type="arabicPeriod" startAt="5"/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1069509" indent="-514350">
              <a:spcBef>
                <a:spcPts val="1461"/>
              </a:spcBef>
              <a:buAutoNum type="arabicPeriod" startAt="5"/>
            </a:pPr>
            <a:r>
              <a:rPr lang="en-US" sz="2761" b="1" dirty="0">
                <a:latin typeface="Times New Roman"/>
                <a:cs typeface="Times New Roman"/>
              </a:rPr>
              <a:t>void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 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</a:p>
          <a:p>
            <a:pPr marL="1069509" indent="-514350">
              <a:spcBef>
                <a:spcPts val="1461"/>
              </a:spcBef>
              <a:buAutoNum type="arabicPeriod" startAt="5"/>
            </a:pP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1069509" indent="-514350">
              <a:spcBef>
                <a:spcPts val="1461"/>
              </a:spcBef>
              <a:buAutoNum type="arabicPeriod" startAt="5"/>
            </a:pPr>
            <a:r>
              <a:rPr lang="en-US" sz="2761" dirty="0">
                <a:latin typeface="Times New Roman"/>
                <a:cs typeface="Times New Roman"/>
              </a:rPr>
              <a:t>Sum+</a:t>
            </a:r>
            <a:r>
              <a:rPr lang="en-US" sz="2761" spc="-23" dirty="0">
                <a:latin typeface="Times New Roman"/>
                <a:cs typeface="Times New Roman"/>
              </a:rPr>
              <a:t>+</a:t>
            </a:r>
            <a:r>
              <a:rPr lang="en-US" sz="2761" dirty="0">
                <a:latin typeface="Times New Roman"/>
                <a:cs typeface="Times New Roman"/>
              </a:rPr>
              <a:t>;  // on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loop, it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dds 1 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Sum int</a:t>
            </a:r>
          </a:p>
          <a:p>
            <a:pPr marL="1069509" indent="-514350">
              <a:spcBef>
                <a:spcPts val="1461"/>
              </a:spcBef>
              <a:buAutoNum type="arabicPeriod" startAt="5"/>
            </a:pP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Sum);  // </a:t>
            </a:r>
            <a:r>
              <a:rPr lang="en-US" sz="2761" spc="-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prints the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ur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state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Sum 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</a:p>
          <a:p>
            <a:pPr marL="1069509" indent="-514350">
              <a:spcBef>
                <a:spcPts val="1461"/>
              </a:spcBef>
              <a:buAutoNum type="arabicPeriod" startAt="5"/>
            </a:pP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(150</a:t>
            </a:r>
            <a:r>
              <a:rPr lang="en-US" sz="2761" spc="-12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);  //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1.5 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onds</a:t>
            </a:r>
          </a:p>
          <a:p>
            <a:pPr marL="1069509" indent="-514350">
              <a:spcBef>
                <a:spcPts val="1461"/>
              </a:spcBef>
              <a:buAutoNum type="arabicPeriod" startAt="5"/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5612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990600"/>
            <a:ext cx="13729679" cy="83135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83"/>
              </a:lnSpc>
            </a:pP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h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 Data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tore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t.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An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identifi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lar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omes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liter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ten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inside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quote.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</a:p>
          <a:p>
            <a:pPr marL="29219" marR="13149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id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eca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mb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ls,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lette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tc.,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res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nted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ssoci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numb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that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ter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-35" dirty="0">
                <a:latin typeface="Times New Roman"/>
                <a:cs typeface="Times New Roman"/>
              </a:rPr>
              <a:t>m</a:t>
            </a:r>
            <a:r>
              <a:rPr sz="2761" b="1" spc="35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m </a:t>
            </a:r>
            <a:r>
              <a:rPr sz="2761" b="1" spc="-32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of </a:t>
            </a:r>
            <a:r>
              <a:rPr sz="2761" b="1" spc="-24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8 </a:t>
            </a:r>
            <a:r>
              <a:rPr sz="2761" b="1" spc="-28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bit</a:t>
            </a:r>
            <a:r>
              <a:rPr sz="2761" b="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unsi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8 bits or 1 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te.</a:t>
            </a:r>
          </a:p>
          <a:p>
            <a:pPr marL="29219">
              <a:spcBef>
                <a:spcPts val="1461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ter '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'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II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65.</a:t>
            </a:r>
          </a:p>
          <a:p>
            <a:pPr marL="29219" marR="5554511">
              <a:lnSpc>
                <a:spcPts val="4785"/>
              </a:lnSpc>
              <a:spcBef>
                <a:spcPts val="368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2, it will 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II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6</a:t>
            </a:r>
            <a:r>
              <a:rPr sz="2761" spc="-12" dirty="0">
                <a:latin typeface="Times New Roman"/>
                <a:cs typeface="Times New Roman"/>
              </a:rPr>
              <a:t>7</a:t>
            </a:r>
            <a:r>
              <a:rPr sz="2761" dirty="0">
                <a:latin typeface="Times New Roman"/>
                <a:cs typeface="Times New Roman"/>
              </a:rPr>
              <a:t>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29219" indent="525940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har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va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</a:p>
          <a:p>
            <a:pPr marL="29219">
              <a:spcBef>
                <a:spcPts val="1461"/>
              </a:spcBef>
            </a:pPr>
            <a:r>
              <a:rPr sz="2761" b="1" dirty="0">
                <a:latin typeface="Times New Roman"/>
                <a:cs typeface="Times New Roman"/>
              </a:rPr>
              <a:t>val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49400" y="1676400"/>
            <a:ext cx="13729679" cy="23581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8897152">
              <a:lnSpc>
                <a:spcPct val="143300"/>
              </a:lnSpc>
              <a:spcBef>
                <a:spcPts val="1599"/>
              </a:spcBef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with an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indent="525940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har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</a:t>
            </a:r>
            <a:r>
              <a:rPr sz="2761" spc="-35" dirty="0">
                <a:latin typeface="Times New Roman"/>
                <a:cs typeface="Times New Roman"/>
              </a:rPr>
              <a:t>';</a:t>
            </a:r>
            <a:endParaRPr sz="2761" dirty="0">
              <a:latin typeface="Times New Roman"/>
              <a:cs typeface="Times New Roman"/>
            </a:endParaRPr>
          </a:p>
          <a:p>
            <a:pPr marL="29219" marR="4867867" indent="525940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har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66 ;  // both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lent</a:t>
            </a:r>
          </a:p>
        </p:txBody>
      </p:sp>
    </p:spTree>
    <p:extLst>
      <p:ext uri="{BB962C8B-B14F-4D97-AF65-F5344CB8AC3E}">
        <p14:creationId xmlns:p14="http://schemas.microsoft.com/office/powerpoint/2010/main" val="1641816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530600" y="752576"/>
            <a:ext cx="13182600" cy="8772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 dirty="0"/>
          </a:p>
        </p:txBody>
      </p:sp>
      <p:sp>
        <p:nvSpPr>
          <p:cNvPr id="4" name="object 4"/>
          <p:cNvSpPr txBox="1"/>
          <p:nvPr/>
        </p:nvSpPr>
        <p:spPr>
          <a:xfrm>
            <a:off x="2075214" y="13925910"/>
            <a:ext cx="5658124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val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endParaRPr sz="2761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DA85F-62D1-36C6-A74F-8D6171F92B61}"/>
              </a:ext>
            </a:extLst>
          </p:cNvPr>
          <p:cNvSpPr txBox="1"/>
          <p:nvPr/>
        </p:nvSpPr>
        <p:spPr>
          <a:xfrm>
            <a:off x="1168400" y="533400"/>
            <a:ext cx="7543800" cy="1238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19" marR="4867867" lvl="0" algn="l" defTabSz="914400" rtl="0" eaLnBrk="1" fontAlgn="auto" latinLnBrk="0" hangingPunct="1">
              <a:lnSpc>
                <a:spcPct val="143300"/>
              </a:lnSpc>
              <a:spcBef>
                <a:spcPts val="23"/>
              </a:spcBef>
              <a:spcAft>
                <a:spcPts val="0"/>
              </a:spcAft>
              <a:buClrTx/>
              <a:buSzTx/>
              <a:tabLst>
                <a:tab pos="1081099" algn="l"/>
              </a:tabLst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AS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II</a:t>
            </a: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table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 sho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b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low: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143000"/>
            <a:ext cx="13734062" cy="76480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Float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Data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loatin</a:t>
            </a:r>
            <a:r>
              <a:rPr sz="2761" spc="46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point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number.</a:t>
            </a:r>
          </a:p>
          <a:p>
            <a:pPr marL="29219" marR="11688" algn="just">
              <a:lnSpc>
                <a:spcPct val="143800"/>
              </a:lnSpc>
              <a:spcBef>
                <a:spcPts val="12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4.567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ting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point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13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teg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13.0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flo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point 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 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Due 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their 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solu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ion, 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ppro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onti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lues.</a:t>
            </a:r>
          </a:p>
          <a:p>
            <a:pPr marL="29219" algn="just">
              <a:spcBef>
                <a:spcPts val="1438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loating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point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pon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m.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</a:t>
            </a:r>
            <a:r>
              <a:rPr sz="2761" spc="-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large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 marL="29219" marR="16070" algn="just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3.4028235E</a:t>
            </a:r>
            <a:r>
              <a:rPr sz="2761" spc="-23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38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mall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3.4028235E</a:t>
            </a:r>
            <a:r>
              <a:rPr sz="2761" spc="-23" dirty="0">
                <a:latin typeface="Times New Roman"/>
                <a:cs typeface="Times New Roman"/>
              </a:rPr>
              <a:t>+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23" dirty="0">
                <a:latin typeface="Times New Roman"/>
                <a:cs typeface="Times New Roman"/>
              </a:rPr>
              <a:t>8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32 bits.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29219" marR="10521722" indent="525940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loat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l;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 algn="just">
              <a:spcBef>
                <a:spcPts val="1024"/>
              </a:spcBef>
            </a:pPr>
            <a:r>
              <a:rPr sz="2761" b="1" dirty="0">
                <a:latin typeface="Times New Roman"/>
                <a:cs typeface="Times New Roman"/>
              </a:rPr>
              <a:t>va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024"/>
              </a:spcBef>
            </a:pPr>
            <a:r>
              <a:rPr lang="en-US" sz="2761" b="1" dirty="0" err="1">
                <a:latin typeface="Times New Roman"/>
                <a:cs typeface="Times New Roman"/>
              </a:rPr>
              <a:t>val</a:t>
            </a:r>
            <a:r>
              <a:rPr lang="en-US" sz="2761" b="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ssi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</a:p>
        </p:txBody>
      </p:sp>
    </p:spTree>
    <p:extLst>
      <p:ext uri="{BB962C8B-B14F-4D97-AF65-F5344CB8AC3E}">
        <p14:creationId xmlns:p14="http://schemas.microsoft.com/office/powerpoint/2010/main" val="1318045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400" y="762000"/>
            <a:ext cx="13732601" cy="9143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8901533">
              <a:lnSpc>
                <a:spcPct val="144200"/>
              </a:lnSpc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with an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;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loat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 marR="10752552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5.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marR="9832156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 (960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); 7.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 marR="10869427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8.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9.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10.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 ;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 startAt="11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b =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/2 ;  // b is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nnot hold fr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1.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 startAt="11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(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loat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2.0 ;  // 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ow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ontains 1.5.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 startAt="11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// 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</a:t>
            </a:r>
            <a:r>
              <a:rPr sz="2761" spc="23" dirty="0">
                <a:latin typeface="Times New Roman"/>
                <a:cs typeface="Times New Roman"/>
              </a:rPr>
              <a:t>.</a:t>
            </a:r>
            <a:r>
              <a:rPr sz="2761" dirty="0">
                <a:latin typeface="Times New Roman"/>
                <a:cs typeface="Times New Roman"/>
              </a:rPr>
              <a:t>0 inst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2.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14.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6500" y="574522"/>
            <a:ext cx="15468600" cy="90590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 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point to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</a:t>
            </a:r>
            <a:r>
              <a:rPr sz="2761" spc="12" dirty="0">
                <a:latin typeface="Times New Roman"/>
                <a:cs typeface="Times New Roman"/>
              </a:rPr>
              <a:t>er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ise, it will be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nside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14.0 is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side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numb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, while 14 is an integ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 marL="2921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point 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 be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inte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loat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3.6 ;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0.6 ; // output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4371"/>
              </a:lnSpc>
            </a:pPr>
            <a:endParaRPr lang="en-US" sz="3681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>
              <a:lnSpc>
                <a:spcPts val="4371"/>
              </a:lnSpc>
            </a:pP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Dou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le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Data 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lang="en-US"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</a:t>
            </a:r>
            <a:endParaRPr lang="en-US"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double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58" dirty="0">
                <a:latin typeface="Times New Roman"/>
                <a:cs typeface="Times New Roman"/>
              </a:rPr>
              <a:t>t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pe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lso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ndling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flo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point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numbe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cc</a:t>
            </a:r>
            <a:r>
              <a:rPr lang="en-US" sz="2761" dirty="0">
                <a:latin typeface="Times New Roman"/>
                <a:cs typeface="Times New Roman"/>
              </a:rPr>
              <a:t>upies</a:t>
            </a:r>
          </a:p>
          <a:p>
            <a:pPr marL="29219" marR="18992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twice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much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memo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flo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t.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stor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flo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ting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point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numbe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ision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nds f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 do</a:t>
            </a:r>
            <a:r>
              <a:rPr lang="en-US" sz="2761" spc="-12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ble pr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sion floating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point n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mbe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</a:p>
          <a:p>
            <a:pPr marL="29219" marR="2431012">
              <a:lnSpc>
                <a:spcPct val="143300"/>
              </a:lnSpc>
              <a:spcBef>
                <a:spcPts val="23"/>
              </a:spcBef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o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upies 4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tes in </a:t>
            </a:r>
            <a:r>
              <a:rPr lang="en-US" sz="2761" dirty="0" err="1">
                <a:latin typeface="Times New Roman"/>
                <a:cs typeface="Times New Roman"/>
              </a:rPr>
              <a:t>A</a:t>
            </a:r>
            <a:r>
              <a:rPr lang="en-US" sz="2761" spc="12" dirty="0" err="1">
                <a:latin typeface="Times New Roman"/>
                <a:cs typeface="Times New Roman"/>
              </a:rPr>
              <a:t>T</a:t>
            </a:r>
            <a:r>
              <a:rPr lang="en-US" sz="2761" dirty="0" err="1">
                <a:latin typeface="Times New Roman"/>
                <a:cs typeface="Times New Roman"/>
              </a:rPr>
              <a:t>mega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U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O bo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rds,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while 8 </a:t>
            </a:r>
            <a:r>
              <a:rPr lang="en-US" sz="2761" spc="12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tes on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Du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is: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1.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double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v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wh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</a:p>
          <a:p>
            <a:pPr marL="29219"/>
            <a:r>
              <a:rPr lang="en-US" sz="2761" b="1" dirty="0">
                <a:latin typeface="Times New Roman"/>
                <a:cs typeface="Times New Roman"/>
              </a:rPr>
              <a:t>va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</a:p>
          <a:p>
            <a:pPr marL="29219">
              <a:spcBef>
                <a:spcPts val="1438"/>
              </a:spcBef>
            </a:pPr>
            <a:r>
              <a:rPr lang="en-US" sz="2761" b="1" dirty="0" err="1">
                <a:latin typeface="Times New Roman"/>
                <a:cs typeface="Times New Roman"/>
              </a:rPr>
              <a:t>val</a:t>
            </a:r>
            <a:r>
              <a:rPr lang="en-US" sz="2761" b="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ssi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  <a:endParaRPr kumimoji="0" lang="en-US" sz="276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53145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44600" y="609600"/>
            <a:ext cx="15163800" cy="8781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ts val="4383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Unsi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ned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Data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lnSpc>
                <a:spcPts val="3278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ts val="3278"/>
              </a:lnSpc>
            </a:pPr>
            <a:r>
              <a:rPr sz="2761" dirty="0">
                <a:latin typeface="Times New Roman"/>
                <a:cs typeface="Times New Roman"/>
              </a:rPr>
              <a:t>The unsi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positive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ge</a:t>
            </a:r>
          </a:p>
          <a:p>
            <a:pPr marL="29219" marR="4473412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of u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int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fr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 0 to 65,535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 to (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2 ^ 16)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1).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Due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4 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or 3</a:t>
            </a:r>
            <a:r>
              <a:rPr sz="2761" spc="46" dirty="0">
                <a:latin typeface="Times New Roman"/>
                <a:cs typeface="Times New Roman"/>
              </a:rPr>
              <a:t>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bits.</a:t>
            </a:r>
          </a:p>
          <a:p>
            <a:pPr>
              <a:spcBef>
                <a:spcPts val="2"/>
              </a:spcBef>
            </a:pPr>
            <a:endParaRPr sz="3796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6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46" dirty="0">
                <a:latin typeface="Times New Roman"/>
                <a:cs typeface="Times New Roman"/>
              </a:rPr>
              <a:t>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15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 bit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positive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'1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29219" marR="9437701" indent="525940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l;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 algn="just">
              <a:spcBef>
                <a:spcPts val="1024"/>
              </a:spcBef>
            </a:pPr>
            <a:r>
              <a:rPr sz="2761" b="1" dirty="0">
                <a:latin typeface="Times New Roman"/>
                <a:cs typeface="Times New Roman"/>
              </a:rPr>
              <a:t>va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</a:p>
          <a:p>
            <a:pPr marL="29219" marR="8084867">
              <a:lnSpc>
                <a:spcPct val="143300"/>
              </a:lnSpc>
              <a:spcBef>
                <a:spcPts val="35"/>
              </a:spcBef>
            </a:pPr>
            <a:r>
              <a:rPr sz="2761" b="1" dirty="0">
                <a:latin typeface="Times New Roman"/>
                <a:cs typeface="Times New Roman"/>
              </a:rPr>
              <a:t>val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 </a:t>
            </a:r>
            <a:r>
              <a:rPr sz="2761" dirty="0">
                <a:latin typeface="Times New Roman"/>
                <a:cs typeface="Times New Roman"/>
              </a:rPr>
              <a:t>pino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44600" y="914400"/>
            <a:ext cx="13734062" cy="7496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h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ort Data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short is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12" dirty="0">
                <a:latin typeface="Times New Roman"/>
                <a:cs typeface="Times New Roman"/>
              </a:rPr>
              <a:t>da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stor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two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35" dirty="0">
                <a:latin typeface="Times New Roman"/>
                <a:cs typeface="Times New Roman"/>
              </a:rPr>
              <a:t>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of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ta.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short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32768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3</a:t>
            </a:r>
            <a:r>
              <a:rPr sz="2761" dirty="0">
                <a:latin typeface="Times New Roman"/>
                <a:cs typeface="Times New Roman"/>
              </a:rPr>
              <a:t>2767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(2^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15)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2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^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15)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1</a:t>
            </a:r>
            <a:r>
              <a:rPr sz="2761" dirty="0">
                <a:latin typeface="Times New Roman"/>
                <a:cs typeface="Times New Roman"/>
              </a:rPr>
              <a:t>).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ARM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A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ino</a:t>
            </a:r>
            <a:r>
              <a:rPr sz="2761" spc="-23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usual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of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>
              <a:spcBef>
                <a:spcPts val="1035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29219" marR="10422378" indent="525940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sho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l;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461"/>
              </a:spcBef>
            </a:pPr>
            <a:r>
              <a:rPr sz="2761" b="1" dirty="0">
                <a:latin typeface="Times New Roman"/>
                <a:cs typeface="Times New Roman"/>
              </a:rPr>
              <a:t>va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</a:p>
          <a:p>
            <a:pPr marL="29219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val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the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sho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pino</a:t>
            </a:r>
            <a:r>
              <a:rPr lang="en-US" sz="2761" spc="12" dirty="0" err="1">
                <a:latin typeface="Times New Roman"/>
                <a:cs typeface="Times New Roman"/>
              </a:rPr>
              <a:t>f</a:t>
            </a:r>
            <a:r>
              <a:rPr lang="en-US" sz="2761" spc="-35" dirty="0" err="1">
                <a:latin typeface="Times New Roman"/>
                <a:cs typeface="Times New Roman"/>
              </a:rPr>
              <a:t>L</a:t>
            </a:r>
            <a:r>
              <a:rPr lang="en-US" sz="2761" dirty="0" err="1">
                <a:latin typeface="Times New Roman"/>
                <a:cs typeface="Times New Roman"/>
              </a:rPr>
              <a:t>ED</a:t>
            </a:r>
            <a:r>
              <a:rPr lang="en-US" sz="2761" dirty="0">
                <a:latin typeface="Times New Roman"/>
                <a:cs typeface="Times New Roman"/>
              </a:rPr>
              <a:t>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8 ;</a:t>
            </a:r>
          </a:p>
        </p:txBody>
      </p:sp>
    </p:spTree>
    <p:extLst>
      <p:ext uri="{BB962C8B-B14F-4D97-AF65-F5344CB8AC3E}">
        <p14:creationId xmlns:p14="http://schemas.microsoft.com/office/powerpoint/2010/main" val="2457183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075212" y="13978841"/>
            <a:ext cx="2026287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  <a:endParaRPr sz="2761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20800" y="1219200"/>
            <a:ext cx="13735523" cy="75151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83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long Data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long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tend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ore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(32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bits).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2</a:t>
            </a:r>
            <a:r>
              <a:rPr sz="2761" spc="23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147,483,648 to 2,147,483,647.</a:t>
            </a:r>
          </a:p>
          <a:p>
            <a:pPr marL="29219" marR="16070">
              <a:lnSpc>
                <a:spcPct val="143300"/>
              </a:lnSpc>
              <a:spcBef>
                <a:spcPts val="23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hile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using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should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follo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 the numb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to be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29219" marR="10562629" indent="525940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l;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024"/>
              </a:spcBef>
            </a:pPr>
            <a:r>
              <a:rPr sz="2761" b="1" dirty="0">
                <a:latin typeface="Times New Roman"/>
                <a:cs typeface="Times New Roman"/>
              </a:rPr>
              <a:t>va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</a:p>
          <a:p>
            <a:pPr marL="29219" marR="8089250">
              <a:lnSpc>
                <a:spcPct val="143300"/>
              </a:lnSpc>
              <a:spcBef>
                <a:spcPts val="23"/>
              </a:spcBef>
            </a:pPr>
            <a:r>
              <a:rPr sz="2761" b="1" dirty="0">
                <a:latin typeface="Times New Roman"/>
                <a:cs typeface="Times New Roman"/>
              </a:rPr>
              <a:t>val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lo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18600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75214" y="12246707"/>
            <a:ext cx="10522971" cy="15918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83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Da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</a:t>
            </a:r>
            <a:endParaRPr sz="3681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sz="2761" dirty="0">
                <a:latin typeface="Times New Roman"/>
                <a:cs typeface="Times New Roman"/>
              </a:rPr>
              <a:t>1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 bits.</a:t>
            </a:r>
            <a:endParaRPr sz="2761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un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numb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 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hich sto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 0 to 255.</a:t>
            </a:r>
            <a:endParaRPr sz="276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990600"/>
            <a:ext cx="13726758" cy="6913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Unsi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ned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lo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Da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red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tend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bles,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</a:t>
            </a:r>
          </a:p>
          <a:p>
            <a:pPr marL="29219" marR="16070">
              <a:lnSpc>
                <a:spcPts val="4785"/>
              </a:lnSpc>
              <a:spcBef>
                <a:spcPts val="368"/>
              </a:spcBef>
            </a:pP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tes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(32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bits).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like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makes their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0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4,294,967,295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(2^32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-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1).</a:t>
            </a:r>
          </a:p>
          <a:p>
            <a:pPr marL="2921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29219" marR="9198107" indent="525940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b="1" dirty="0">
                <a:latin typeface="Times New Roman"/>
                <a:cs typeface="Times New Roman"/>
              </a:rPr>
              <a:t>lo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l;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461"/>
              </a:spcBef>
            </a:pPr>
            <a:r>
              <a:rPr sz="2761" b="1" dirty="0">
                <a:latin typeface="Times New Roman"/>
                <a:cs typeface="Times New Roman"/>
              </a:rPr>
              <a:t>va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</a:p>
          <a:p>
            <a:pPr marL="29219" marR="8080484">
              <a:lnSpc>
                <a:spcPts val="4785"/>
              </a:lnSpc>
              <a:spcBef>
                <a:spcPts val="368"/>
              </a:spcBef>
            </a:pPr>
            <a:r>
              <a:rPr sz="2761" b="1" dirty="0">
                <a:latin typeface="Times New Roman"/>
                <a:cs typeface="Times New Roman"/>
              </a:rPr>
              <a:t>val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mple</a:t>
            </a:r>
          </a:p>
          <a:p>
            <a:pPr marL="555159">
              <a:spcBef>
                <a:spcPts val="1035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b="1" dirty="0">
                <a:latin typeface="Times New Roman"/>
                <a:cs typeface="Times New Roman"/>
              </a:rPr>
              <a:t>lo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nTt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me;</a:t>
            </a:r>
          </a:p>
        </p:txBody>
      </p:sp>
    </p:spTree>
    <p:extLst>
      <p:ext uri="{BB962C8B-B14F-4D97-AF65-F5344CB8AC3E}">
        <p14:creationId xmlns:p14="http://schemas.microsoft.com/office/powerpoint/2010/main" val="1998262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49400" y="1295400"/>
            <a:ext cx="10522971" cy="6335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83"/>
              </a:lnSpc>
            </a:pP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lang="en-US"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te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Da</a:t>
            </a:r>
            <a:r>
              <a:rPr lang="en-US"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lang="en-US"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</a:t>
            </a:r>
            <a:endParaRPr lang="en-US" sz="368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lang="en-US" sz="2761" dirty="0">
                <a:latin typeface="Times New Roman"/>
                <a:cs typeface="Times New Roman"/>
              </a:rPr>
              <a:t>1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8 bits.</a:t>
            </a:r>
          </a:p>
          <a:p>
            <a:pPr marL="29219">
              <a:spcBef>
                <a:spcPts val="1438"/>
              </a:spcBef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is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onsid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un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numb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r, </a:t>
            </a:r>
            <a:r>
              <a:rPr lang="en-US" sz="2761" spc="-23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hich sto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lues 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rom 0 to 255.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is:</a:t>
            </a:r>
          </a:p>
          <a:p>
            <a:pPr marL="29219" marR="2715896" indent="525940">
              <a:lnSpc>
                <a:spcPct val="143300"/>
              </a:lnSpc>
            </a:pPr>
            <a:r>
              <a:rPr lang="en-US" sz="2761" dirty="0">
                <a:latin typeface="Times New Roman"/>
                <a:cs typeface="Times New Roman"/>
              </a:rPr>
              <a:t>1.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byte</a:t>
            </a:r>
            <a:r>
              <a:rPr lang="en-US" sz="2761" b="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 err="1">
                <a:latin typeface="Times New Roman"/>
                <a:cs typeface="Times New Roman"/>
              </a:rPr>
              <a:t>v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; 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461"/>
              </a:spcBef>
            </a:pPr>
            <a:r>
              <a:rPr lang="en-US" sz="2761" b="1" dirty="0">
                <a:latin typeface="Times New Roman"/>
                <a:cs typeface="Times New Roman"/>
              </a:rPr>
              <a:t>va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b="1" dirty="0">
                <a:latin typeface="Times New Roman"/>
                <a:cs typeface="Times New Roman"/>
              </a:rPr>
              <a:t>value</a:t>
            </a:r>
            <a:r>
              <a:rPr lang="en-US" sz="2761" b="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ss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to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</a:p>
          <a:p>
            <a:pPr marL="555159">
              <a:spcBef>
                <a:spcPts val="1024"/>
              </a:spcBef>
            </a:pPr>
            <a:r>
              <a:rPr lang="en-US" sz="2761" dirty="0">
                <a:latin typeface="Times New Roman"/>
                <a:cs typeface="Times New Roman"/>
              </a:rPr>
              <a:t>1.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byte</a:t>
            </a:r>
            <a:r>
              <a:rPr lang="en-US" sz="2761" b="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20;</a:t>
            </a:r>
          </a:p>
          <a:p>
            <a:pPr marL="29219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4569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1371600"/>
            <a:ext cx="15011400" cy="5080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83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word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Data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endParaRPr lang="en-US" sz="2761" spc="-46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its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65535.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is:</a:t>
            </a:r>
          </a:p>
          <a:p>
            <a:pPr marL="29219" marR="10467667" indent="525940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l;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9219">
              <a:spcBef>
                <a:spcPts val="1024"/>
              </a:spcBef>
            </a:pPr>
            <a:r>
              <a:rPr sz="2761" b="1" dirty="0">
                <a:latin typeface="Times New Roman"/>
                <a:cs typeface="Times New Roman"/>
              </a:rPr>
              <a:t>va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</a:p>
          <a:p>
            <a:pPr marL="29219" marR="8071718">
              <a:lnSpc>
                <a:spcPct val="143300"/>
              </a:lnSpc>
              <a:spcBef>
                <a:spcPts val="23"/>
              </a:spcBef>
            </a:pPr>
            <a:r>
              <a:rPr sz="2761" b="1" dirty="0">
                <a:latin typeface="Times New Roman"/>
                <a:cs typeface="Times New Roman"/>
              </a:rPr>
              <a:t>val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8071718">
              <a:lnSpc>
                <a:spcPct val="143300"/>
              </a:lnSpc>
              <a:spcBef>
                <a:spcPts val="23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 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2000;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1668</Words>
  <Application>Microsoft Office PowerPoint</Application>
  <PresentationFormat>Custom</PresentationFormat>
  <Paragraphs>168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12</cp:revision>
  <dcterms:created xsi:type="dcterms:W3CDTF">2024-06-25T17:27:50Z</dcterms:created>
  <dcterms:modified xsi:type="dcterms:W3CDTF">2024-06-26T06:47:27Z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