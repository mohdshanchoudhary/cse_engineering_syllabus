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6" r:id="rId3"/>
    <p:sldId id="257" r:id="rId4"/>
    <p:sldId id="258" r:id="rId5"/>
    <p:sldId id="267" r:id="rId6"/>
    <p:sldId id="268" r:id="rId7"/>
    <p:sldId id="259" r:id="rId8"/>
    <p:sldId id="269" r:id="rId9"/>
    <p:sldId id="260" r:id="rId10"/>
    <p:sldId id="27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69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0484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5876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468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861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6786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809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836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82591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23109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9022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1066800"/>
            <a:ext cx="15392400" cy="8302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ing</a:t>
            </a:r>
            <a:endParaRPr sz="3681" dirty="0">
              <a:latin typeface="Times New Roman"/>
              <a:cs typeface="Times New Roman"/>
            </a:endParaRPr>
          </a:p>
          <a:p>
            <a:pPr marL="29219" marR="20453" algn="just">
              <a:lnSpc>
                <a:spcPct val="1438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t,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onsists of </a:t>
            </a:r>
            <a:r>
              <a:rPr sz="2761" b="1" dirty="0">
                <a:latin typeface="Times New Roman"/>
                <a:cs typeface="Times New Roman"/>
              </a:rPr>
              <a:t>nu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s, spa</a:t>
            </a:r>
            <a:r>
              <a:rPr sz="2761" b="1" spc="-12" dirty="0">
                <a:latin typeface="Times New Roman"/>
                <a:cs typeface="Times New Roman"/>
              </a:rPr>
              <a:t>ce</a:t>
            </a:r>
            <a:r>
              <a:rPr sz="2761" b="1" dirty="0">
                <a:latin typeface="Times New Roman"/>
                <a:cs typeface="Times New Roman"/>
              </a:rPr>
              <a:t>s,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ec</a:t>
            </a:r>
            <a:r>
              <a:rPr sz="2761" b="1" dirty="0">
                <a:latin typeface="Times New Roman"/>
                <a:cs typeface="Times New Roman"/>
              </a:rPr>
              <a:t>ial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II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s: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Str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10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 indent="525940">
              <a:spcBef>
                <a:spcPts val="1438"/>
              </a:spcBef>
              <a:tabLst>
                <a:tab pos="1079638" algn="l"/>
              </a:tabLst>
            </a:pPr>
            <a:r>
              <a:rPr sz="2301" spc="-23" dirty="0">
                <a:latin typeface="Courier New"/>
                <a:cs typeface="Courier New"/>
              </a:rPr>
              <a:t>o</a:t>
            </a:r>
            <a:r>
              <a:rPr sz="2301" spc="-23" dirty="0">
                <a:latin typeface="Times New Roman"/>
                <a:cs typeface="Times New Roman"/>
              </a:rPr>
              <a:t>	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Stri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A[8]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};</a:t>
            </a:r>
          </a:p>
          <a:p>
            <a:pPr marL="29219" algn="just">
              <a:spcBef>
                <a:spcPts val="1461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add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it null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555159">
              <a:spcBef>
                <a:spcPts val="1438"/>
              </a:spcBef>
              <a:tabLst>
                <a:tab pos="1079638" algn="l"/>
              </a:tabLst>
            </a:pPr>
            <a:r>
              <a:rPr sz="2301" spc="-23" dirty="0">
                <a:latin typeface="Courier New"/>
                <a:cs typeface="Courier New"/>
              </a:rPr>
              <a:t>o</a:t>
            </a:r>
            <a:r>
              <a:rPr sz="2301" spc="-23" dirty="0">
                <a:latin typeface="Times New Roman"/>
                <a:cs typeface="Times New Roman"/>
              </a:rPr>
              <a:t>	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Stri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8]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{'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',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'</a:t>
            </a:r>
            <a:r>
              <a:rPr sz="2761" spc="-58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};</a:t>
            </a:r>
          </a:p>
          <a:p>
            <a:pPr marL="29219" algn="just">
              <a:spcBef>
                <a:spcPts val="1461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de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tra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Str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10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; = 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Str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6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; = 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Str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[]</a:t>
            </a:r>
            <a:r>
              <a:rPr sz="2761" dirty="0">
                <a:latin typeface="Times New Roman"/>
                <a:cs typeface="Times New Roman"/>
              </a:rPr>
              <a:t>; = 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lcom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312973"/>
            <a:ext cx="15773400" cy="8995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ontains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lare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(1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tra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null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ter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nd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).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spcBef>
                <a:spcPts val="12"/>
              </a:spcBef>
            </a:pPr>
            <a:endParaRPr sz="2761" dirty="0">
              <a:latin typeface="Times New Roman"/>
              <a:cs typeface="Times New Roman"/>
            </a:endParaRPr>
          </a:p>
          <a:p>
            <a:pPr marL="29219" algn="just"/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R="7529708" algn="ctr">
              <a:spcBef>
                <a:spcPts val="1438"/>
              </a:spcBef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len]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stri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/>
            <a:endParaRPr lang="en-US" sz="2761" spc="12" dirty="0">
              <a:latin typeface="Times New Roman"/>
              <a:cs typeface="Times New Roman"/>
            </a:endParaRPr>
          </a:p>
          <a:p>
            <a:pPr marL="29219" marR="11688" algn="just"/>
            <a:endParaRPr lang="en-US" sz="2761" spc="12" dirty="0">
              <a:latin typeface="Times New Roman"/>
              <a:cs typeface="Times New Roman"/>
            </a:endParaRPr>
          </a:p>
          <a:p>
            <a:pPr marL="29219" marR="11688" algn="just"/>
            <a:endParaRPr lang="en-US" sz="2761" spc="12" dirty="0">
              <a:latin typeface="Times New Roman"/>
              <a:cs typeface="Times New Roman"/>
            </a:endParaRPr>
          </a:p>
          <a:p>
            <a:pPr marL="29219" marR="11688" algn="just"/>
            <a:endParaRPr lang="en-US" sz="2761" spc="12" dirty="0">
              <a:latin typeface="Times New Roman"/>
              <a:cs typeface="Times New Roman"/>
            </a:endParaRPr>
          </a:p>
          <a:p>
            <a:pPr marL="29219" marR="11688" algn="just"/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string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double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tes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like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rd </a:t>
            </a:r>
            <a:r>
              <a:rPr lang="en-US" sz="2761" spc="-104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"</a:t>
            </a:r>
            <a:r>
              <a:rPr lang="en-US" sz="2761" b="1" spc="12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x</a:t>
            </a:r>
            <a:r>
              <a:rPr lang="en-US" sz="2761" b="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"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bov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ompiler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utom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eac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 </a:t>
            </a:r>
            <a:r>
              <a:rPr lang="en-US" sz="2761" spc="-104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further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nds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null 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ha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ter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-12" dirty="0">
                <a:latin typeface="Times New Roman"/>
                <a:cs typeface="Times New Roman"/>
              </a:rPr>
              <a:t> e</a:t>
            </a:r>
            <a:r>
              <a:rPr lang="en-US" sz="2761" dirty="0">
                <a:latin typeface="Times New Roman"/>
                <a:cs typeface="Times New Roman"/>
              </a:rPr>
              <a:t>nd.</a:t>
            </a:r>
          </a:p>
          <a:p>
            <a:pPr marL="29219" algn="just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The null character has the value 0 in the ASCII table. It is defined using two characters (\ and \0). The  backslash  (\)  represents  the  special  character  when  used  in  conjunction  with  other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ksla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known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23" dirty="0">
                <a:latin typeface="Times New Roman"/>
                <a:cs typeface="Times New Roman"/>
              </a:rPr>
              <a:t>s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ape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null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 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ompiler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rmin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strin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lang="en-US" sz="2761" b="1" dirty="0">
                <a:latin typeface="Times New Roman"/>
                <a:cs typeface="Times New Roman"/>
              </a:rPr>
              <a:t>No</a:t>
            </a:r>
            <a:r>
              <a:rPr lang="en-US" sz="2761" b="1" spc="-23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:</a:t>
            </a:r>
            <a:r>
              <a:rPr lang="en-US" sz="2761" b="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w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inside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double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quotes,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while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inside sin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le quot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</p:txBody>
      </p:sp>
      <p:sp>
        <p:nvSpPr>
          <p:cNvPr id="4" name="object 4"/>
          <p:cNvSpPr/>
          <p:nvPr/>
        </p:nvSpPr>
        <p:spPr>
          <a:xfrm>
            <a:off x="2692400" y="3886200"/>
            <a:ext cx="7123754" cy="152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047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2200" y="990600"/>
            <a:ext cx="14637986" cy="7736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How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al.print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(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)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ial.println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(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)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works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with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strin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?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know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how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intln()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 with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>
              <a:lnSpc>
                <a:spcPct val="150000"/>
              </a:lnSpc>
              <a:spcBef>
                <a:spcPts val="9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Serial.print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(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)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with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stri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g.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lnSpc>
                <a:spcPct val="150000"/>
              </a:lnSpc>
              <a:spcBef>
                <a:spcPts val="1610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20;</a:t>
            </a:r>
          </a:p>
          <a:p>
            <a:pPr marL="1079638" indent="-524479">
              <a:lnSpc>
                <a:spcPct val="150000"/>
              </a:lnSpc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len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th]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lnSpc>
                <a:spcPct val="150000"/>
              </a:lnSpc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m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20]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He</a:t>
            </a:r>
            <a:r>
              <a:rPr sz="2761" dirty="0">
                <a:latin typeface="Times New Roman"/>
                <a:cs typeface="Times New Roman"/>
              </a:rPr>
              <a:t>llo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 marR="8647330">
              <a:lnSpc>
                <a:spcPct val="1500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</a:p>
          <a:p>
            <a:pPr marL="555159" marR="8647330">
              <a:lnSpc>
                <a:spcPct val="1500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8647330">
              <a:lnSpc>
                <a:spcPct val="1500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	</a:t>
            </a: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8647330">
              <a:lnSpc>
                <a:spcPct val="1500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0" y="492896"/>
            <a:ext cx="12496800" cy="6805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loop()   {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=0;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&lt;l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th;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i+1) </a:t>
            </a: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b="1" dirty="0">
                <a:latin typeface="Times New Roman"/>
                <a:cs typeface="Times New Roman"/>
              </a:rPr>
              <a:t>       i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12" dirty="0" err="1">
                <a:latin typeface="Times New Roman"/>
                <a:cs typeface="Times New Roman"/>
              </a:rPr>
              <a:t>m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Stri</a:t>
            </a:r>
            <a:r>
              <a:rPr lang="en-US" sz="2761" spc="23" dirty="0" err="1">
                <a:latin typeface="Times New Roman"/>
                <a:cs typeface="Times New Roman"/>
              </a:rPr>
              <a:t>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= '</a:t>
            </a:r>
            <a:r>
              <a:rPr lang="en-US" sz="2761" spc="-23" dirty="0">
                <a:latin typeface="Times New Roman"/>
                <a:cs typeface="Times New Roman"/>
              </a:rPr>
              <a:t>\</a:t>
            </a:r>
            <a:r>
              <a:rPr lang="en-US" sz="2761" spc="23" dirty="0">
                <a:latin typeface="Times New Roman"/>
                <a:cs typeface="Times New Roman"/>
              </a:rPr>
              <a:t>0</a:t>
            </a:r>
            <a:r>
              <a:rPr lang="en-US" sz="2761" spc="-35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)   {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           // it will </a:t>
            </a:r>
            <a:r>
              <a:rPr lang="en-US" sz="2761" spc="-35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top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printing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it s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s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null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ter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          </a:t>
            </a:r>
            <a:r>
              <a:rPr lang="en-US" sz="2761" b="1" dirty="0">
                <a:latin typeface="Times New Roman"/>
                <a:cs typeface="Times New Roman"/>
              </a:rPr>
              <a:t>b</a:t>
            </a:r>
            <a:r>
              <a:rPr lang="en-US" sz="2761" b="1" spc="-12" dirty="0">
                <a:latin typeface="Times New Roman"/>
                <a:cs typeface="Times New Roman"/>
              </a:rPr>
              <a:t>re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12" dirty="0">
                <a:latin typeface="Times New Roman"/>
                <a:cs typeface="Times New Roman"/>
              </a:rPr>
              <a:t>k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      }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 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12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Stri</a:t>
            </a:r>
            <a:r>
              <a:rPr lang="en-US" sz="2761" spc="23" dirty="0" err="1">
                <a:latin typeface="Times New Roman"/>
                <a:cs typeface="Times New Roman"/>
              </a:rPr>
              <a:t>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spc="-12" dirty="0">
                <a:latin typeface="Times New Roman"/>
                <a:cs typeface="Times New Roman"/>
              </a:rPr>
              <a:t>   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(500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69509" indent="-514350">
              <a:spcBef>
                <a:spcPts val="1024"/>
              </a:spcBef>
              <a:buAutoNum type="arabicPeriod" startAt="8"/>
            </a:pP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print </a:t>
            </a:r>
            <a:r>
              <a:rPr sz="2761" b="1" dirty="0">
                <a:latin typeface="Times New Roman"/>
                <a:cs typeface="Times New Roman"/>
              </a:rPr>
              <a:t>Hello 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times,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</a:t>
            </a:r>
            <a:r>
              <a:rPr lang="en-US" sz="2761" dirty="0">
                <a:latin typeface="Times New Roman"/>
                <a:cs typeface="Times New Roman"/>
              </a:rPr>
              <a:t>here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5" name="object 5"/>
          <p:cNvSpPr/>
          <p:nvPr/>
        </p:nvSpPr>
        <p:spPr>
          <a:xfrm>
            <a:off x="10769600" y="5761284"/>
            <a:ext cx="4961267" cy="3804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2200" y="533400"/>
            <a:ext cx="15316200" cy="9217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4500"/>
              </a:lnSpc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Serial.prin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ln()</a:t>
            </a:r>
            <a:r>
              <a:rPr sz="2991" spc="184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wi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2991" spc="184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ing.</a:t>
            </a:r>
            <a:r>
              <a:rPr sz="2991" spc="184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println()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or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to print.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an 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sier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 st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n()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 will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len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th]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 marR="10924943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24943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	</a:t>
            </a: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24943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24943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7.	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Stri</a:t>
            </a:r>
            <a:r>
              <a:rPr lang="en-US" sz="2761" spc="23" dirty="0" err="1">
                <a:latin typeface="Times New Roman"/>
                <a:cs typeface="Times New Roman"/>
              </a:rPr>
              <a:t>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 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9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 algn="just">
              <a:spcBef>
                <a:spcPts val="1484"/>
              </a:spcBef>
            </a:pPr>
            <a:endParaRPr lang="en-US" sz="2761" b="1" dirty="0">
              <a:latin typeface="Times New Roman"/>
              <a:cs typeface="Times New Roman"/>
            </a:endParaRPr>
          </a:p>
          <a:p>
            <a:pPr marL="29219" algn="just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Output: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same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 for previous one.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2728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1143000"/>
            <a:ext cx="14935200" cy="7687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y 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ings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st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 while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rki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rge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ts,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so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isk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pointe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3041686">
              <a:lnSpc>
                <a:spcPct val="143300"/>
              </a:lnSpc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r*. 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o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fine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ar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 point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s un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with an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1079638" marR="11688" indent="-524479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har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*</a:t>
            </a:r>
            <a:r>
              <a:rPr lang="en-US" sz="2761" dirty="0" err="1">
                <a:latin typeface="Times New Roman"/>
                <a:cs typeface="Times New Roman"/>
              </a:rPr>
              <a:t>Str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spc="-23" dirty="0" err="1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ome to string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G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stri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 A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Here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str </a:t>
            </a:r>
            <a:r>
              <a:rPr lang="en-US" sz="2761" dirty="0" err="1">
                <a:latin typeface="Times New Roman"/>
                <a:cs typeface="Times New Roman"/>
              </a:rPr>
              <a:t>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stri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C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Here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string 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, "H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string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Here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stri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 is string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"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};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555159" marR="972696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(9600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555159" marR="9726968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4508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7459" y="990600"/>
            <a:ext cx="13715070" cy="4424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9509" indent="-514350">
              <a:spcBef>
                <a:spcPts val="1024"/>
              </a:spcBef>
              <a:buAutoNum type="arabicPeriod" startAt="5"/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024"/>
              </a:spcBef>
              <a:buAutoNum type="arabicPeriod" startAt="5"/>
            </a:pPr>
            <a:r>
              <a:rPr lang="en-US" sz="2761" b="1" spc="12" dirty="0">
                <a:latin typeface="Times New Roman"/>
                <a:cs typeface="Times New Roman"/>
              </a:rPr>
              <a:t>  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8; 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024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(Str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]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024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024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024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518"/>
              </a:spcBef>
            </a:pPr>
            <a:endParaRPr lang="en-US" sz="2761" b="1" dirty="0">
              <a:latin typeface="Times New Roman"/>
              <a:cs typeface="Times New Roman"/>
            </a:endParaRP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03719" y="5638800"/>
            <a:ext cx="6381275" cy="3663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914400"/>
            <a:ext cx="15011400" cy="7556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Object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500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An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riable,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hich</a:t>
            </a:r>
            <a:r>
              <a:rPr sz="2761" b="1" spc="33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poi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ts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to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32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ation </a:t>
            </a:r>
            <a:r>
              <a:rPr sz="2761" b="1" spc="-33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that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hol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s </a:t>
            </a:r>
            <a:r>
              <a:rPr sz="2761" b="1" spc="-33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so</a:t>
            </a:r>
            <a:r>
              <a:rPr sz="2761" b="1" spc="-35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34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dat</a:t>
            </a:r>
            <a:r>
              <a:rPr sz="2761" b="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ssoci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object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11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un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 to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 some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29219" algn="just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b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gi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(</a:t>
            </a:r>
            <a:r>
              <a:rPr lang="en-US" sz="2761" b="1" spc="-23" dirty="0">
                <a:latin typeface="Times New Roman"/>
                <a:cs typeface="Times New Roman"/>
              </a:rPr>
              <a:t>)</a:t>
            </a:r>
            <a:r>
              <a:rPr lang="en-US" sz="2761" b="1" dirty="0">
                <a:latin typeface="Times New Roman"/>
                <a:cs typeface="Times New Roman"/>
              </a:rPr>
              <a:t>,</a:t>
            </a:r>
            <a:r>
              <a:rPr lang="en-US" sz="2761" b="1" spc="46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p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23" dirty="0">
                <a:latin typeface="Times New Roman"/>
                <a:cs typeface="Times New Roman"/>
              </a:rPr>
              <a:t>(</a:t>
            </a:r>
            <a:r>
              <a:rPr lang="en-US" sz="2761" b="1" dirty="0">
                <a:latin typeface="Times New Roman"/>
                <a:cs typeface="Times New Roman"/>
              </a:rPr>
              <a:t>),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b="1" dirty="0" err="1">
                <a:latin typeface="Times New Roman"/>
                <a:cs typeface="Times New Roman"/>
              </a:rPr>
              <a:t>p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tln</a:t>
            </a:r>
            <a:r>
              <a:rPr lang="en-US" sz="2761" b="1" dirty="0">
                <a:latin typeface="Times New Roman"/>
                <a:cs typeface="Times New Roman"/>
              </a:rPr>
              <a:t>()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ns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obje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riod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ft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print(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tc.)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ssi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some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within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obj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t.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mb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be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a 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 or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ble.</a:t>
            </a:r>
          </a:p>
          <a:p>
            <a:pPr marL="29219" marR="14609" algn="just">
              <a:lnSpc>
                <a:spcPct val="1500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nthes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ft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print()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23" dirty="0" err="1">
                <a:latin typeface="Times New Roman"/>
                <a:cs typeface="Times New Roman"/>
              </a:rPr>
              <a:t>p</a:t>
            </a:r>
            <a:r>
              <a:rPr lang="en-US" sz="2761" dirty="0" err="1">
                <a:latin typeface="Times New Roman"/>
                <a:cs typeface="Times New Roman"/>
              </a:rPr>
              <a:t>rintln</a:t>
            </a:r>
            <a:r>
              <a:rPr lang="en-US" sz="2761" dirty="0">
                <a:latin typeface="Times New Roman"/>
                <a:cs typeface="Times New Roman"/>
              </a:rPr>
              <a:t>()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function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min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the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ing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 the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l.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nnot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lone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lobal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ope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Thus,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lar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with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bje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as </a:t>
            </a:r>
            <a:r>
              <a:rPr lang="en-US" sz="2761" dirty="0" err="1">
                <a:latin typeface="Times New Roman"/>
                <a:cs typeface="Times New Roman"/>
              </a:rPr>
              <a:t>Se</a:t>
            </a:r>
            <a:r>
              <a:rPr lang="en-US" sz="2761" spc="-12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ial.p</a:t>
            </a:r>
            <a:r>
              <a:rPr lang="en-US" sz="2761" spc="-12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int</a:t>
            </a:r>
            <a:r>
              <a:rPr lang="en-US" sz="2761" dirty="0">
                <a:latin typeface="Times New Roman"/>
                <a:cs typeface="Times New Roman"/>
              </a:rPr>
              <a:t>()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7054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5100" y="457200"/>
            <a:ext cx="15011400" cy="8919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String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Ob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j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ect</a:t>
            </a:r>
            <a:endParaRPr sz="299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tore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ular 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String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upp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produc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lass.</a:t>
            </a:r>
          </a:p>
          <a:p>
            <a:pPr marL="29219" algn="just">
              <a:lnSpc>
                <a:spcPct val="150000"/>
              </a:lnSpc>
              <a:spcBef>
                <a:spcPts val="1461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 dif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da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lnSpc>
                <a:spcPct val="150000"/>
              </a:lnSpc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 b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1079638" indent="-524479">
              <a:lnSpc>
                <a:spcPct val="150000"/>
              </a:lnSpc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</a:p>
          <a:p>
            <a:pPr marL="1079638" indent="-524479">
              <a:lnSpc>
                <a:spcPct val="150000"/>
              </a:lnSpc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</a:p>
          <a:p>
            <a:pPr marL="1079638" indent="-524479">
              <a:lnSpc>
                <a:spcPct val="150000"/>
              </a:lnSpc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chara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within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quo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1079638" indent="-524479">
              <a:lnSpc>
                <a:spcPct val="150000"/>
              </a:lnSpc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string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losed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doubl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quotes.</a:t>
            </a:r>
          </a:p>
          <a:p>
            <a:pPr marL="1079638" indent="-524479">
              <a:lnSpc>
                <a:spcPct val="150000"/>
              </a:lnSpc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and double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068788"/>
            <a:ext cx="15011400" cy="7920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marR="3726869" indent="-105188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num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ult 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1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String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g(15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 marR="2921889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nsists of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pres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ntation 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5. To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 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10,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</a:p>
          <a:p>
            <a:pPr marR="6498281" algn="ctr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g(15,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 marR="314103">
              <a:lnSpc>
                <a:spcPts val="4785"/>
              </a:lnSpc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will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 us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 ''F'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conversion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15.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B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R="6613696" algn="ctr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g(15,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111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58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15.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555159">
              <a:spcBef>
                <a:spcPts val="1426"/>
              </a:spcBef>
            </a:pPr>
            <a:r>
              <a:rPr sz="2761" dirty="0">
                <a:latin typeface="Times New Roman"/>
                <a:cs typeface="Times New Roman"/>
              </a:rPr>
              <a:t>1. 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(v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26"/>
              </a:spcBef>
            </a:pPr>
            <a:r>
              <a:rPr lang="en-US" sz="2761" dirty="0">
                <a:latin typeface="Times New Roman"/>
                <a:cs typeface="Times New Roman"/>
              </a:rPr>
              <a:t>2. Strin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(v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lue,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555159">
              <a:spcBef>
                <a:spcPts val="1426"/>
              </a:spcBef>
            </a:pPr>
            <a:r>
              <a:rPr lang="en-US" sz="2761" dirty="0">
                <a:latin typeface="Times New Roman"/>
                <a:cs typeface="Times New Roman"/>
              </a:rPr>
              <a:t>3. Strin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(v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lue, </a:t>
            </a:r>
            <a:r>
              <a:rPr lang="en-US" sz="2761" dirty="0" err="1">
                <a:latin typeface="Times New Roman"/>
                <a:cs typeface="Times New Roman"/>
              </a:rPr>
              <a:t>Pl</a:t>
            </a:r>
            <a:r>
              <a:rPr lang="en-US" sz="2761" spc="12" dirty="0" err="1">
                <a:latin typeface="Times New Roman"/>
                <a:cs typeface="Times New Roman"/>
              </a:rPr>
              <a:t>a</a:t>
            </a:r>
            <a:r>
              <a:rPr lang="en-US" sz="2761" spc="-12" dirty="0" err="1">
                <a:latin typeface="Times New Roman"/>
                <a:cs typeface="Times New Roman"/>
              </a:rPr>
              <a:t>ce</a:t>
            </a:r>
            <a:r>
              <a:rPr lang="en-US" sz="2761" dirty="0" err="1">
                <a:latin typeface="Times New Roman"/>
                <a:cs typeface="Times New Roman"/>
              </a:rPr>
              <a:t>so</a:t>
            </a:r>
            <a:r>
              <a:rPr lang="en-US" sz="2761" spc="12" dirty="0" err="1">
                <a:latin typeface="Times New Roman"/>
                <a:cs typeface="Times New Roman"/>
              </a:rPr>
              <a:t>f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spc="12" dirty="0" err="1">
                <a:latin typeface="Times New Roman"/>
                <a:cs typeface="Times New Roman"/>
              </a:rPr>
              <a:t>D</a:t>
            </a:r>
            <a:r>
              <a:rPr lang="en-US" sz="2761" spc="-12" dirty="0" err="1">
                <a:latin typeface="Times New Roman"/>
                <a:cs typeface="Times New Roman"/>
              </a:rPr>
              <a:t>ec</a:t>
            </a:r>
            <a:r>
              <a:rPr lang="en-US" sz="2761" dirty="0" err="1">
                <a:latin typeface="Times New Roman"/>
                <a:cs typeface="Times New Roman"/>
              </a:rPr>
              <a:t>im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5245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447800"/>
            <a:ext cx="15011400" cy="5253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where,</a:t>
            </a:r>
          </a:p>
          <a:p>
            <a:pPr marL="29219">
              <a:spcBef>
                <a:spcPts val="1024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024"/>
              </a:spcBef>
            </a:pPr>
            <a:r>
              <a:rPr lang="en-US" sz="2761" b="1" dirty="0">
                <a:latin typeface="Times New Roman"/>
                <a:cs typeface="Times New Roman"/>
              </a:rPr>
              <a:t>val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si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nif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ue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fo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mat or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a stri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20453">
              <a:lnSpc>
                <a:spcPct val="1438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</a:t>
            </a:r>
            <a:r>
              <a:rPr lang="en-US" sz="2761" spc="46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unsi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int,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r,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loat,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double, unsi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lo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, 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, int,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stri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b="1" dirty="0">
                <a:latin typeface="Times New Roman"/>
                <a:cs typeface="Times New Roman"/>
              </a:rPr>
              <a:t>bas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: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mat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lue.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X, B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option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to includ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b="1" spc="-35" dirty="0" err="1">
                <a:latin typeface="Times New Roman"/>
                <a:cs typeface="Times New Roman"/>
              </a:rPr>
              <a:t>P</a:t>
            </a:r>
            <a:r>
              <a:rPr lang="en-US" sz="2761" b="1" dirty="0" err="1">
                <a:latin typeface="Times New Roman"/>
                <a:cs typeface="Times New Roman"/>
              </a:rPr>
              <a:t>la</a:t>
            </a:r>
            <a:r>
              <a:rPr lang="en-US" sz="2761" b="1" spc="12" dirty="0" err="1">
                <a:latin typeface="Times New Roman"/>
                <a:cs typeface="Times New Roman"/>
              </a:rPr>
              <a:t>c</a:t>
            </a:r>
            <a:r>
              <a:rPr lang="en-US" sz="2761" b="1" spc="-12" dirty="0" err="1">
                <a:latin typeface="Times New Roman"/>
                <a:cs typeface="Times New Roman"/>
              </a:rPr>
              <a:t>e</a:t>
            </a:r>
            <a:r>
              <a:rPr lang="en-US" sz="2761" b="1" dirty="0" err="1">
                <a:latin typeface="Times New Roman"/>
                <a:cs typeface="Times New Roman"/>
              </a:rPr>
              <a:t>so</a:t>
            </a:r>
            <a:r>
              <a:rPr lang="en-US" sz="2761" b="1" spc="12" dirty="0" err="1">
                <a:latin typeface="Times New Roman"/>
                <a:cs typeface="Times New Roman"/>
              </a:rPr>
              <a:t>f</a:t>
            </a:r>
            <a:r>
              <a:rPr lang="en-US" sz="2761" b="1" dirty="0" err="1">
                <a:latin typeface="Times New Roman"/>
                <a:cs typeface="Times New Roman"/>
              </a:rPr>
              <a:t>aD</a:t>
            </a:r>
            <a:r>
              <a:rPr lang="en-US" sz="2761" b="1" spc="-23" dirty="0" err="1">
                <a:latin typeface="Times New Roman"/>
                <a:cs typeface="Times New Roman"/>
              </a:rPr>
              <a:t>e</a:t>
            </a:r>
            <a:r>
              <a:rPr lang="en-US" sz="2761" b="1" spc="-12" dirty="0" err="1">
                <a:latin typeface="Times New Roman"/>
                <a:cs typeface="Times New Roman"/>
              </a:rPr>
              <a:t>c</a:t>
            </a:r>
            <a:r>
              <a:rPr lang="en-US" sz="2761" b="1" spc="23" dirty="0" err="1">
                <a:latin typeface="Times New Roman"/>
                <a:cs typeface="Times New Roman"/>
              </a:rPr>
              <a:t>i</a:t>
            </a:r>
            <a:r>
              <a:rPr lang="en-US" sz="2761" b="1" spc="-46" dirty="0" err="1">
                <a:latin typeface="Times New Roman"/>
                <a:cs typeface="Times New Roman"/>
              </a:rPr>
              <a:t>m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12" dirty="0" err="1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pla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double 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  <a:p>
            <a:pPr marL="555159">
              <a:spcBef>
                <a:spcPts val="1426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3274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1219200"/>
            <a:ext cx="13732601" cy="6732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Functions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with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Object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ions 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lnSpc>
                <a:spcPts val="3520"/>
              </a:lnSpc>
              <a:spcBef>
                <a:spcPts val="2114"/>
              </a:spcBef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charAT()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used to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cce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thisStrin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(n)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thisSt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n </a:t>
            </a:r>
            <a:r>
              <a:rPr sz="2761" dirty="0">
                <a:latin typeface="Times New Roman"/>
                <a:cs typeface="Times New Roman"/>
              </a:rPr>
              <a:t>is also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 marR="2045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unsi</a:t>
            </a: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-27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nth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stri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451857"/>
            <a:ext cx="14935200" cy="915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23" dirty="0" err="1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dirty="0" err="1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69" dirty="0" err="1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 err="1">
                <a:solidFill>
                  <a:srgbClr val="2E5395"/>
                </a:solidFill>
                <a:latin typeface="Times New Roman"/>
                <a:cs typeface="Times New Roman"/>
              </a:rPr>
              <a:t>pareTo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ompare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II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</a:p>
          <a:p>
            <a:pPr marL="29219" marR="11282874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thisStrin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(m</a:t>
            </a:r>
            <a:r>
              <a:rPr sz="2761" spc="-69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b="1" dirty="0">
                <a:latin typeface="Times New Roman"/>
                <a:cs typeface="Times New Roman"/>
              </a:rPr>
              <a:t>thisSt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23" dirty="0">
                <a:latin typeface="Times New Roman"/>
                <a:cs typeface="Times New Roman"/>
              </a:rPr>
              <a:t>y</a:t>
            </a:r>
            <a:r>
              <a:rPr sz="2761" b="1" dirty="0">
                <a:latin typeface="Times New Roman"/>
                <a:cs typeface="Times New Roman"/>
              </a:rPr>
              <a:t>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de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gative </a:t>
            </a:r>
            <a:r>
              <a:rPr sz="2761" b="1" spc="-27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nu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thisString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positive n</a:t>
            </a:r>
            <a:r>
              <a:rPr sz="2761" b="1" spc="35" dirty="0">
                <a:latin typeface="Times New Roman"/>
                <a:cs typeface="Times New Roman"/>
              </a:rPr>
              <a:t>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 </a:t>
            </a:r>
            <a:r>
              <a:rPr sz="2761" dirty="0">
                <a:latin typeface="Times New Roman"/>
                <a:cs typeface="Times New Roman"/>
              </a:rPr>
              <a:t>if thisString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 after </a:t>
            </a:r>
            <a:r>
              <a:rPr sz="2761" spc="12" dirty="0" err="1">
                <a:latin typeface="Times New Roman"/>
                <a:cs typeface="Times New Roman"/>
              </a:rPr>
              <a:t>m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dirty="0" err="1">
                <a:latin typeface="Times New Roman"/>
                <a:cs typeface="Times New Roman"/>
              </a:rPr>
              <a:t>Stri</a:t>
            </a:r>
            <a:r>
              <a:rPr sz="2761" spc="23" dirty="0" err="1">
                <a:latin typeface="Times New Roman"/>
                <a:cs typeface="Times New Roman"/>
              </a:rPr>
              <a:t>n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lang="en-US" sz="2991" spc="-23" dirty="0" err="1">
                <a:solidFill>
                  <a:srgbClr val="2E5395"/>
                </a:solidFill>
                <a:latin typeface="Times New Roman"/>
                <a:cs typeface="Times New Roman"/>
              </a:rPr>
              <a:t>end</a:t>
            </a:r>
            <a:r>
              <a:rPr lang="en-US" sz="2991" dirty="0" err="1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lang="en-US" sz="2991" spc="-69" dirty="0" err="1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lang="en-US" sz="2991" spc="-12" dirty="0" err="1">
                <a:solidFill>
                  <a:srgbClr val="2E5395"/>
                </a:solidFill>
                <a:latin typeface="Times New Roman"/>
                <a:cs typeface="Times New Roman"/>
              </a:rPr>
              <a:t>ith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lang="en-US"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sts that if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35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ds </a:t>
            </a:r>
            <a:r>
              <a:rPr lang="en-US" sz="2761" dirty="0">
                <a:latin typeface="Times New Roman"/>
                <a:cs typeface="Times New Roman"/>
              </a:rPr>
              <a:t>with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of other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 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is:</a:t>
            </a:r>
          </a:p>
          <a:p>
            <a:pPr marL="1079638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thisStrin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.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nds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ith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12" dirty="0" err="1">
                <a:latin typeface="Times New Roman"/>
                <a:cs typeface="Times New Roman"/>
              </a:rPr>
              <a:t>m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spc="35" dirty="0" err="1">
                <a:latin typeface="Times New Roman"/>
                <a:cs typeface="Times New Roman"/>
              </a:rPr>
              <a:t>S</a:t>
            </a:r>
            <a:r>
              <a:rPr lang="en-US" sz="2761" dirty="0" err="1">
                <a:latin typeface="Times New Roman"/>
                <a:cs typeface="Times New Roman"/>
              </a:rPr>
              <a:t>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b="1" dirty="0" err="1">
                <a:latin typeface="Times New Roman"/>
                <a:cs typeface="Times New Roman"/>
              </a:rPr>
              <a:t>thisSt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g</a:t>
            </a: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b="1" spc="-46" dirty="0" err="1">
                <a:latin typeface="Times New Roman"/>
                <a:cs typeface="Times New Roman"/>
              </a:rPr>
              <a:t>m</a:t>
            </a:r>
            <a:r>
              <a:rPr lang="en-US" sz="2761" b="1" spc="23" dirty="0" err="1">
                <a:latin typeface="Times New Roman"/>
                <a:cs typeface="Times New Roman"/>
              </a:rPr>
              <a:t>y</a:t>
            </a:r>
            <a:r>
              <a:rPr lang="en-US" sz="2761" b="1" dirty="0" err="1">
                <a:latin typeface="Times New Roman"/>
                <a:cs typeface="Times New Roman"/>
              </a:rPr>
              <a:t>St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g</a:t>
            </a: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de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lar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 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23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ue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 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spc="23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is</a:t>
            </a:r>
            <a:r>
              <a:rPr lang="en-US" sz="2761" spc="12" dirty="0" err="1">
                <a:latin typeface="Times New Roman"/>
                <a:cs typeface="Times New Roman"/>
              </a:rPr>
              <a:t>S</a:t>
            </a:r>
            <a:r>
              <a:rPr lang="en-US" sz="2761" dirty="0" err="1">
                <a:latin typeface="Times New Roman"/>
                <a:cs typeface="Times New Roman"/>
              </a:rPr>
              <a:t>tring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nds 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Stri</a:t>
            </a:r>
            <a:r>
              <a:rPr lang="en-US" sz="2761" spc="23" dirty="0" err="1">
                <a:latin typeface="Times New Roman"/>
                <a:cs typeface="Times New Roman"/>
              </a:rPr>
              <a:t>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 Otherwise, it will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alse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385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854200" y="1447800"/>
            <a:ext cx="13726757" cy="7757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start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ith()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sts that if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st</a:t>
            </a:r>
            <a:r>
              <a:rPr sz="2761" b="1" spc="12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ts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of other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n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29219">
              <a:spcBef>
                <a:spcPts val="1426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thisStrin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ith(</a:t>
            </a:r>
            <a:r>
              <a:rPr sz="2761" spc="12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b="1" dirty="0">
                <a:latin typeface="Times New Roman"/>
                <a:cs typeface="Times New Roman"/>
              </a:rPr>
              <a:t>thisSt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23" dirty="0">
                <a:latin typeface="Times New Roman"/>
                <a:cs typeface="Times New Roman"/>
              </a:rPr>
              <a:t>y</a:t>
            </a:r>
            <a:r>
              <a:rPr sz="2761" b="1" dirty="0">
                <a:latin typeface="Times New Roman"/>
                <a:cs typeface="Times New Roman"/>
              </a:rPr>
              <a:t>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de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ue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tring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58" dirty="0" err="1">
                <a:latin typeface="Times New Roman"/>
                <a:cs typeface="Times New Roman"/>
              </a:rPr>
              <a:t>m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dirty="0" err="1">
                <a:latin typeface="Times New Roman"/>
                <a:cs typeface="Times New Roman"/>
              </a:rPr>
              <a:t>Stri</a:t>
            </a:r>
            <a:r>
              <a:rPr sz="2761" spc="23" dirty="0" err="1">
                <a:latin typeface="Times New Roman"/>
                <a:cs typeface="Times New Roman"/>
              </a:rPr>
              <a:t>n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lang="en-US" sz="2761" dirty="0">
                <a:latin typeface="Times New Roman"/>
                <a:cs typeface="Times New Roman"/>
              </a:rPr>
              <a:t> Otherwise, it will</a:t>
            </a:r>
            <a:r>
              <a:rPr sz="2761" dirty="0">
                <a:latin typeface="Times New Roman"/>
                <a:cs typeface="Times New Roman"/>
              </a:rPr>
              <a:t>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alse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532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lang="en-US" sz="2991" spc="-35" dirty="0" err="1">
                <a:solidFill>
                  <a:srgbClr val="2E5395"/>
                </a:solidFill>
                <a:latin typeface="Times New Roman"/>
                <a:cs typeface="Times New Roman"/>
              </a:rPr>
              <a:t>toLowerC</a:t>
            </a:r>
            <a:r>
              <a:rPr lang="en-US" sz="2991" dirty="0" err="1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2991" spc="-23" dirty="0" err="1">
                <a:solidFill>
                  <a:srgbClr val="2E5395"/>
                </a:solidFill>
                <a:latin typeface="Times New Roman"/>
                <a:cs typeface="Times New Roman"/>
              </a:rPr>
              <a:t>se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lang="en-US" sz="2991" dirty="0">
              <a:latin typeface="Times New Roman"/>
              <a:cs typeface="Times New Roman"/>
            </a:endParaRPr>
          </a:p>
          <a:p>
            <a:pPr marL="29219">
              <a:lnSpc>
                <a:spcPts val="3255"/>
              </a:lnSpc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low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rsi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 of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Stri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is:</a:t>
            </a:r>
          </a:p>
          <a:p>
            <a:pPr marR="7995747" algn="ctr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thisStrin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.t</a:t>
            </a:r>
            <a:r>
              <a:rPr lang="en-US" sz="2761" spc="23" dirty="0" err="1">
                <a:latin typeface="Times New Roman"/>
                <a:cs typeface="Times New Roman"/>
              </a:rPr>
              <a:t>o</a:t>
            </a:r>
            <a:r>
              <a:rPr lang="en-US" sz="2761" spc="-69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owerC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b="1" dirty="0" err="1">
                <a:latin typeface="Times New Roman"/>
                <a:cs typeface="Times New Roman"/>
              </a:rPr>
              <a:t>thisSt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g</a:t>
            </a: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lar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625600" y="1447800"/>
            <a:ext cx="13726758" cy="732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35" dirty="0" err="1">
                <a:solidFill>
                  <a:srgbClr val="2E5395"/>
                </a:solidFill>
                <a:latin typeface="Times New Roman"/>
                <a:cs typeface="Times New Roman"/>
              </a:rPr>
              <a:t>toUpperC</a:t>
            </a:r>
            <a:r>
              <a:rPr sz="2991" dirty="0" err="1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23" dirty="0" err="1">
                <a:solidFill>
                  <a:srgbClr val="2E5395"/>
                </a:solidFill>
                <a:latin typeface="Times New Roman"/>
                <a:cs typeface="Times New Roman"/>
              </a:rPr>
              <a:t>se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upp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R="8033734" algn="ctr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thisStrin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.toUpp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b="1" dirty="0">
                <a:latin typeface="Times New Roman"/>
                <a:cs typeface="Times New Roman"/>
              </a:rPr>
              <a:t>thisSt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17"/>
              </a:spcBef>
            </a:pPr>
            <a:endParaRPr sz="3106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equals()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ison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quite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nsitive,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</a:p>
          <a:p>
            <a:pPr marL="29219" marR="6626844">
              <a:lnSpc>
                <a:spcPct val="143300"/>
              </a:lnSpc>
              <a:spcBef>
                <a:spcPts val="23"/>
              </a:spcBef>
            </a:pP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not equ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String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ARD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/>
            <a:r>
              <a:rPr lang="en-US" sz="2761" dirty="0" err="1">
                <a:latin typeface="Times New Roman"/>
                <a:cs typeface="Times New Roman"/>
              </a:rPr>
              <a:t>thisStrin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.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qu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ls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58" dirty="0" err="1">
                <a:latin typeface="Times New Roman"/>
                <a:cs typeface="Times New Roman"/>
              </a:rPr>
              <a:t>m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Str</a:t>
            </a:r>
            <a:r>
              <a:rPr lang="en-US" sz="2761" spc="23" dirty="0" err="1">
                <a:latin typeface="Times New Roman"/>
                <a:cs typeface="Times New Roman"/>
              </a:rPr>
              <a:t>i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b="1" dirty="0" err="1">
                <a:latin typeface="Times New Roman"/>
                <a:cs typeface="Times New Roman"/>
              </a:rPr>
              <a:t>thisSt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g</a:t>
            </a: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b="1" spc="-46" dirty="0" err="1">
                <a:latin typeface="Times New Roman"/>
                <a:cs typeface="Times New Roman"/>
              </a:rPr>
              <a:t>m</a:t>
            </a:r>
            <a:r>
              <a:rPr lang="en-US" sz="2761" b="1" spc="23" dirty="0" err="1">
                <a:latin typeface="Times New Roman"/>
                <a:cs typeface="Times New Roman"/>
              </a:rPr>
              <a:t>y</a:t>
            </a:r>
            <a:r>
              <a:rPr lang="en-US" sz="2761" b="1" dirty="0" err="1">
                <a:latin typeface="Times New Roman"/>
                <a:cs typeface="Times New Roman"/>
              </a:rPr>
              <a:t>St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g</a:t>
            </a: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vari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</a:t>
            </a:r>
          </a:p>
          <a:p>
            <a:pPr marL="29219">
              <a:spcBef>
                <a:spcPts val="1461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will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23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ue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 </a:t>
            </a:r>
            <a:r>
              <a:rPr lang="en-US" sz="2761" dirty="0" err="1">
                <a:latin typeface="Times New Roman"/>
                <a:cs typeface="Times New Roman"/>
              </a:rPr>
              <a:t>thisString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 to </a:t>
            </a: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ise, it will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alse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9873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201115"/>
            <a:ext cx="15316200" cy="9656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600" spc="-23" dirty="0" err="1">
                <a:solidFill>
                  <a:srgbClr val="2E5395"/>
                </a:solidFill>
                <a:latin typeface="Times New Roman"/>
                <a:cs typeface="Times New Roman"/>
              </a:rPr>
              <a:t>get</a:t>
            </a:r>
            <a:r>
              <a:rPr sz="2600" spc="12" dirty="0" err="1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2600" spc="-81" dirty="0" err="1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600" spc="-12" dirty="0" err="1">
                <a:solidFill>
                  <a:srgbClr val="2E5395"/>
                </a:solidFill>
                <a:latin typeface="Times New Roman"/>
                <a:cs typeface="Times New Roman"/>
              </a:rPr>
              <a:t>tes</a:t>
            </a:r>
            <a:r>
              <a:rPr sz="2600" spc="-12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sz="2600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600" spc="-46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 cop</a:t>
            </a:r>
            <a:r>
              <a:rPr sz="2600" spc="23" dirty="0">
                <a:latin typeface="Times New Roman"/>
                <a:cs typeface="Times New Roman"/>
              </a:rPr>
              <a:t>i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 the </a:t>
            </a:r>
            <a:r>
              <a:rPr sz="2600" spc="-23" dirty="0">
                <a:latin typeface="Times New Roman"/>
                <a:cs typeface="Times New Roman"/>
              </a:rPr>
              <a:t>c</a:t>
            </a:r>
            <a:r>
              <a:rPr sz="2600" spc="23" dirty="0">
                <a:latin typeface="Times New Roman"/>
                <a:cs typeface="Times New Roman"/>
              </a:rPr>
              <a:t>h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ra</a:t>
            </a:r>
            <a:r>
              <a:rPr sz="2600" spc="-12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23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s </a:t>
            </a:r>
            <a:r>
              <a:rPr sz="2600" spc="23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f the String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 the</a:t>
            </a:r>
            <a:r>
              <a:rPr sz="2600" spc="-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suppli</a:t>
            </a:r>
            <a:r>
              <a:rPr sz="2600" spc="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bu</a:t>
            </a:r>
            <a:r>
              <a:rPr sz="2600" spc="-12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r.</a:t>
            </a:r>
          </a:p>
          <a:p>
            <a:pPr marL="29219">
              <a:spcBef>
                <a:spcPts val="1438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3" dirty="0">
                <a:latin typeface="Times New Roman"/>
                <a:cs typeface="Times New Roman"/>
              </a:rPr>
              <a:t> </a:t>
            </a:r>
            <a:r>
              <a:rPr sz="2600" spc="23" dirty="0">
                <a:latin typeface="Times New Roman"/>
                <a:cs typeface="Times New Roman"/>
              </a:rPr>
              <a:t>s</a:t>
            </a:r>
            <a:r>
              <a:rPr sz="2600" spc="-58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23" dirty="0">
                <a:latin typeface="Times New Roman"/>
                <a:cs typeface="Times New Roman"/>
              </a:rPr>
              <a:t>t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is:</a:t>
            </a:r>
          </a:p>
          <a:p>
            <a:pPr marL="1079638">
              <a:spcBef>
                <a:spcPts val="1461"/>
              </a:spcBef>
            </a:pPr>
            <a:r>
              <a:rPr sz="2600" dirty="0">
                <a:latin typeface="Times New Roman"/>
                <a:cs typeface="Times New Roman"/>
              </a:rPr>
              <a:t>thisStrin</a:t>
            </a:r>
            <a:r>
              <a:rPr sz="2600" spc="-3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-35" dirty="0">
                <a:latin typeface="Times New Roman"/>
                <a:cs typeface="Times New Roman"/>
              </a:rPr>
              <a:t>g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spc="23" dirty="0">
                <a:latin typeface="Times New Roman"/>
                <a:cs typeface="Times New Roman"/>
              </a:rPr>
              <a:t>tB</a:t>
            </a:r>
            <a:r>
              <a:rPr sz="2600" spc="-58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tes</a:t>
            </a:r>
            <a:r>
              <a:rPr sz="2600" spc="-12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23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23" dirty="0">
                <a:latin typeface="Times New Roman"/>
                <a:cs typeface="Times New Roman"/>
              </a:rPr>
              <a:t>f</a:t>
            </a:r>
            <a:r>
              <a:rPr sz="2600" spc="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r,</a:t>
            </a:r>
            <a:r>
              <a:rPr sz="2600" spc="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len</a:t>
            </a:r>
            <a:r>
              <a:rPr sz="2600" spc="-3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23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38"/>
              </a:spcBef>
            </a:pPr>
            <a:r>
              <a:rPr sz="2600" dirty="0">
                <a:latin typeface="Times New Roman"/>
                <a:cs typeface="Times New Roman"/>
              </a:rPr>
              <a:t>wh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72"/>
              </a:spcBef>
            </a:pPr>
            <a:r>
              <a:rPr sz="2600" b="1" dirty="0">
                <a:latin typeface="Times New Roman"/>
                <a:cs typeface="Times New Roman"/>
              </a:rPr>
              <a:t>thisSt</a:t>
            </a:r>
            <a:r>
              <a:rPr sz="2600" b="1" spc="-23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i</a:t>
            </a:r>
            <a:r>
              <a:rPr sz="2600" b="1" spc="12" dirty="0">
                <a:latin typeface="Times New Roman"/>
                <a:cs typeface="Times New Roman"/>
              </a:rPr>
              <a:t>n</a:t>
            </a:r>
            <a:r>
              <a:rPr sz="2600" b="1" dirty="0">
                <a:latin typeface="Times New Roman"/>
                <a:cs typeface="Times New Roman"/>
              </a:rPr>
              <a:t>g </a:t>
            </a:r>
            <a:r>
              <a:rPr sz="2600" dirty="0">
                <a:latin typeface="Times New Roman"/>
                <a:cs typeface="Times New Roman"/>
              </a:rPr>
              <a:t>is the</a:t>
            </a:r>
            <a:r>
              <a:rPr sz="2600" spc="-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2" dirty="0">
                <a:latin typeface="Times New Roman"/>
                <a:cs typeface="Times New Roman"/>
              </a:rPr>
              <a:t>ec</a:t>
            </a:r>
            <a:r>
              <a:rPr sz="2600" dirty="0">
                <a:latin typeface="Times New Roman"/>
                <a:cs typeface="Times New Roman"/>
              </a:rPr>
              <a:t>la</a:t>
            </a:r>
            <a:r>
              <a:rPr sz="2600" spc="-23" dirty="0">
                <a:latin typeface="Times New Roman"/>
                <a:cs typeface="Times New Roman"/>
              </a:rPr>
              <a:t>r</a:t>
            </a:r>
            <a:r>
              <a:rPr sz="2600" spc="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v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ri</a:t>
            </a:r>
            <a:r>
              <a:rPr sz="2600" spc="-23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ble</a:t>
            </a:r>
          </a:p>
          <a:p>
            <a:pPr marL="29219" marR="1782352">
              <a:lnSpc>
                <a:spcPts val="4785"/>
              </a:lnSpc>
              <a:spcBef>
                <a:spcPts val="368"/>
              </a:spcBef>
            </a:pPr>
            <a:r>
              <a:rPr sz="2600" b="1" dirty="0">
                <a:latin typeface="Times New Roman"/>
                <a:cs typeface="Times New Roman"/>
              </a:rPr>
              <a:t>buff</a:t>
            </a:r>
            <a:r>
              <a:rPr sz="2600" b="1" spc="-12" dirty="0">
                <a:latin typeface="Times New Roman"/>
                <a:cs typeface="Times New Roman"/>
              </a:rPr>
              <a:t>er</a:t>
            </a:r>
            <a:r>
              <a:rPr sz="2600" dirty="0">
                <a:latin typeface="Times New Roman"/>
                <a:cs typeface="Times New Roman"/>
              </a:rPr>
              <a:t>: The</a:t>
            </a:r>
            <a:r>
              <a:rPr sz="2600" spc="-12" dirty="0">
                <a:latin typeface="Times New Roman"/>
                <a:cs typeface="Times New Roman"/>
              </a:rPr>
              <a:t> c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ra</a:t>
            </a:r>
            <a:r>
              <a:rPr sz="2600" spc="-12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23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spc="12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2" dirty="0">
                <a:latin typeface="Times New Roman"/>
                <a:cs typeface="Times New Roman"/>
              </a:rPr>
              <a:t> c</a:t>
            </a:r>
            <a:r>
              <a:rPr sz="2600" dirty="0">
                <a:latin typeface="Times New Roman"/>
                <a:cs typeface="Times New Roman"/>
              </a:rPr>
              <a:t>opied into the</a:t>
            </a:r>
            <a:r>
              <a:rPr sz="2600" spc="-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buff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r.</a:t>
            </a:r>
            <a:r>
              <a:rPr sz="2600" spc="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qui</a:t>
            </a:r>
            <a:r>
              <a:rPr sz="2600" spc="12" dirty="0">
                <a:latin typeface="Times New Roman"/>
                <a:cs typeface="Times New Roman"/>
              </a:rPr>
              <a:t>r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d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ta </a:t>
            </a:r>
            <a:r>
              <a:rPr sz="2600" spc="46" dirty="0">
                <a:latin typeface="Times New Roman"/>
                <a:cs typeface="Times New Roman"/>
              </a:rPr>
              <a:t>t</a:t>
            </a:r>
            <a:r>
              <a:rPr sz="2600" spc="-58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pe</a:t>
            </a:r>
            <a:r>
              <a:rPr sz="2600" spc="-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byt</a:t>
            </a:r>
            <a:r>
              <a:rPr sz="2600" b="1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lang="en-US" sz="2600" dirty="0">
              <a:latin typeface="Times New Roman"/>
              <a:cs typeface="Times New Roman"/>
            </a:endParaRPr>
          </a:p>
          <a:p>
            <a:pPr marL="29219" marR="1782352">
              <a:lnSpc>
                <a:spcPts val="4785"/>
              </a:lnSpc>
              <a:spcBef>
                <a:spcPts val="368"/>
              </a:spcBef>
            </a:pPr>
            <a:r>
              <a:rPr sz="2600" b="1" dirty="0">
                <a:latin typeface="Times New Roman"/>
                <a:cs typeface="Times New Roman"/>
              </a:rPr>
              <a:t>length</a:t>
            </a:r>
            <a:r>
              <a:rPr sz="2600" dirty="0">
                <a:latin typeface="Times New Roman"/>
                <a:cs typeface="Times New Roman"/>
              </a:rPr>
              <a:t>: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spc="-69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 si</a:t>
            </a:r>
            <a:r>
              <a:rPr sz="2600" spc="-3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nif</a:t>
            </a:r>
            <a:r>
              <a:rPr sz="2600" spc="23" dirty="0">
                <a:latin typeface="Times New Roman"/>
                <a:cs typeface="Times New Roman"/>
              </a:rPr>
              <a:t>i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 the si</a:t>
            </a:r>
            <a:r>
              <a:rPr sz="2600" spc="12" dirty="0">
                <a:latin typeface="Times New Roman"/>
                <a:cs typeface="Times New Roman"/>
              </a:rPr>
              <a:t>z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 the</a:t>
            </a:r>
            <a:r>
              <a:rPr sz="2600" spc="-23" dirty="0">
                <a:latin typeface="Times New Roman"/>
                <a:cs typeface="Times New Roman"/>
              </a:rPr>
              <a:t> </a:t>
            </a:r>
            <a:r>
              <a:rPr sz="2600" spc="12" dirty="0">
                <a:latin typeface="Times New Roman"/>
                <a:cs typeface="Times New Roman"/>
              </a:rPr>
              <a:t>b</a:t>
            </a:r>
            <a:r>
              <a:rPr sz="2600" dirty="0">
                <a:latin typeface="Times New Roman"/>
                <a:cs typeface="Times New Roman"/>
              </a:rPr>
              <a:t>uf</a:t>
            </a:r>
            <a:r>
              <a:rPr sz="2600" spc="-23" dirty="0">
                <a:latin typeface="Times New Roman"/>
                <a:cs typeface="Times New Roman"/>
              </a:rPr>
              <a:t>f</a:t>
            </a:r>
            <a:r>
              <a:rPr sz="2600" spc="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r. </a:t>
            </a:r>
            <a:r>
              <a:rPr sz="2600" spc="-12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he</a:t>
            </a:r>
            <a:r>
              <a:rPr sz="2600" spc="-12" dirty="0">
                <a:latin typeface="Times New Roman"/>
                <a:cs typeface="Times New Roman"/>
              </a:rPr>
              <a:t> </a:t>
            </a:r>
            <a:r>
              <a:rPr sz="2600" spc="12" dirty="0">
                <a:latin typeface="Times New Roman"/>
                <a:cs typeface="Times New Roman"/>
              </a:rPr>
              <a:t>r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q</a:t>
            </a:r>
            <a:r>
              <a:rPr sz="2600" spc="23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ir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d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ta </a:t>
            </a:r>
            <a:r>
              <a:rPr sz="2600" spc="46" dirty="0">
                <a:latin typeface="Times New Roman"/>
                <a:cs typeface="Times New Roman"/>
              </a:rPr>
              <a:t>t</a:t>
            </a:r>
            <a:r>
              <a:rPr sz="2600" spc="-58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pe</a:t>
            </a:r>
            <a:r>
              <a:rPr sz="2600" spc="-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unsig</a:t>
            </a:r>
            <a:r>
              <a:rPr sz="2600" b="1" spc="12" dirty="0">
                <a:latin typeface="Times New Roman"/>
                <a:cs typeface="Times New Roman"/>
              </a:rPr>
              <a:t>n</a:t>
            </a:r>
            <a:r>
              <a:rPr sz="2600" b="1" spc="-12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d i</a:t>
            </a:r>
            <a:r>
              <a:rPr sz="2600" b="1" spc="12" dirty="0">
                <a:latin typeface="Times New Roman"/>
                <a:cs typeface="Times New Roman"/>
              </a:rPr>
              <a:t>nt</a:t>
            </a:r>
            <a:r>
              <a:rPr sz="26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110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600" spc="-35" dirty="0">
                <a:solidFill>
                  <a:srgbClr val="2E5395"/>
                </a:solidFill>
                <a:latin typeface="Times New Roman"/>
                <a:cs typeface="Times New Roman"/>
              </a:rPr>
              <a:t>lastIndex</a:t>
            </a:r>
            <a:r>
              <a:rPr sz="2600" spc="-23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600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2600" spc="-23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sz="2600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600" spc="-46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 lo</a:t>
            </a:r>
            <a:r>
              <a:rPr sz="2600" spc="12" dirty="0">
                <a:latin typeface="Times New Roman"/>
                <a:cs typeface="Times New Roman"/>
              </a:rPr>
              <a:t>c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tes a</a:t>
            </a:r>
            <a:r>
              <a:rPr sz="2600" spc="-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Stri</a:t>
            </a:r>
            <a:r>
              <a:rPr sz="2600" spc="23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 </a:t>
            </a:r>
            <a:r>
              <a:rPr sz="2600" spc="-23" dirty="0">
                <a:latin typeface="Times New Roman"/>
                <a:cs typeface="Times New Roman"/>
              </a:rPr>
              <a:t>c</a:t>
            </a:r>
            <a:r>
              <a:rPr sz="2600" spc="23" dirty="0">
                <a:latin typeface="Times New Roman"/>
                <a:cs typeface="Times New Roman"/>
              </a:rPr>
              <a:t>h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spc="12" dirty="0">
                <a:latin typeface="Times New Roman"/>
                <a:cs typeface="Times New Roman"/>
              </a:rPr>
              <a:t>r</a:t>
            </a:r>
            <a:r>
              <a:rPr sz="2600" spc="-12" dirty="0">
                <a:latin typeface="Times New Roman"/>
                <a:cs typeface="Times New Roman"/>
              </a:rPr>
              <a:t>ac</a:t>
            </a:r>
            <a:r>
              <a:rPr sz="2600" dirty="0">
                <a:latin typeface="Times New Roman"/>
                <a:cs typeface="Times New Roman"/>
              </a:rPr>
              <a:t>ter</a:t>
            </a:r>
            <a:r>
              <a:rPr sz="2600" spc="-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within the oth</a:t>
            </a:r>
            <a:r>
              <a:rPr sz="2600" spc="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Strin</a:t>
            </a:r>
            <a:r>
              <a:rPr sz="2600" spc="-3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38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3" dirty="0">
                <a:latin typeface="Times New Roman"/>
                <a:cs typeface="Times New Roman"/>
              </a:rPr>
              <a:t> </a:t>
            </a:r>
            <a:r>
              <a:rPr sz="2600" spc="23" dirty="0">
                <a:latin typeface="Times New Roman"/>
                <a:cs typeface="Times New Roman"/>
              </a:rPr>
              <a:t>s</a:t>
            </a:r>
            <a:r>
              <a:rPr sz="2600" spc="-58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23" dirty="0">
                <a:latin typeface="Times New Roman"/>
                <a:cs typeface="Times New Roman"/>
              </a:rPr>
              <a:t>t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is:</a:t>
            </a:r>
          </a:p>
          <a:p>
            <a:pPr marL="29219" indent="525940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600" dirty="0">
                <a:latin typeface="Times New Roman"/>
                <a:cs typeface="Times New Roman"/>
              </a:rPr>
              <a:t>thisStrin</a:t>
            </a:r>
            <a:r>
              <a:rPr sz="2600" spc="-3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.las</a:t>
            </a:r>
            <a:r>
              <a:rPr sz="2600" spc="23" dirty="0">
                <a:latin typeface="Times New Roman"/>
                <a:cs typeface="Times New Roman"/>
              </a:rPr>
              <a:t>t</a:t>
            </a:r>
            <a:r>
              <a:rPr sz="2600" spc="-69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23" dirty="0">
                <a:latin typeface="Times New Roman"/>
                <a:cs typeface="Times New Roman"/>
              </a:rPr>
              <a:t>d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spc="23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-23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(value)</a:t>
            </a:r>
          </a:p>
          <a:p>
            <a:pPr marL="29219" marR="7574997" indent="525940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600" dirty="0">
                <a:latin typeface="Times New Roman"/>
                <a:cs typeface="Times New Roman"/>
              </a:rPr>
              <a:t>thisStrin</a:t>
            </a:r>
            <a:r>
              <a:rPr sz="2600" spc="-3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.las</a:t>
            </a:r>
            <a:r>
              <a:rPr sz="2600" spc="23" dirty="0">
                <a:latin typeface="Times New Roman"/>
                <a:cs typeface="Times New Roman"/>
              </a:rPr>
              <a:t>t</a:t>
            </a:r>
            <a:r>
              <a:rPr sz="2600" spc="-69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23" dirty="0">
                <a:latin typeface="Times New Roman"/>
                <a:cs typeface="Times New Roman"/>
              </a:rPr>
              <a:t>d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spc="23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-23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(value,</a:t>
            </a:r>
            <a:r>
              <a:rPr sz="2600" spc="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23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om) wh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024"/>
              </a:spcBef>
            </a:pPr>
            <a:r>
              <a:rPr sz="2600" b="1" dirty="0">
                <a:latin typeface="Times New Roman"/>
                <a:cs typeface="Times New Roman"/>
              </a:rPr>
              <a:t>thisSt</a:t>
            </a:r>
            <a:r>
              <a:rPr sz="2600" b="1" spc="-23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i</a:t>
            </a:r>
            <a:r>
              <a:rPr sz="2600" b="1" spc="12" dirty="0">
                <a:latin typeface="Times New Roman"/>
                <a:cs typeface="Times New Roman"/>
              </a:rPr>
              <a:t>n</a:t>
            </a:r>
            <a:r>
              <a:rPr sz="2600" b="1" dirty="0">
                <a:latin typeface="Times New Roman"/>
                <a:cs typeface="Times New Roman"/>
              </a:rPr>
              <a:t>g </a:t>
            </a:r>
            <a:r>
              <a:rPr sz="2600" dirty="0">
                <a:latin typeface="Times New Roman"/>
                <a:cs typeface="Times New Roman"/>
              </a:rPr>
              <a:t>is the</a:t>
            </a:r>
            <a:r>
              <a:rPr sz="2600" spc="-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2" dirty="0">
                <a:latin typeface="Times New Roman"/>
                <a:cs typeface="Times New Roman"/>
              </a:rPr>
              <a:t>ec</a:t>
            </a:r>
            <a:r>
              <a:rPr sz="2600" dirty="0">
                <a:latin typeface="Times New Roman"/>
                <a:cs typeface="Times New Roman"/>
              </a:rPr>
              <a:t>la</a:t>
            </a:r>
            <a:r>
              <a:rPr sz="2600" spc="-23" dirty="0">
                <a:latin typeface="Times New Roman"/>
                <a:cs typeface="Times New Roman"/>
              </a:rPr>
              <a:t>r</a:t>
            </a:r>
            <a:r>
              <a:rPr sz="2600" spc="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v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ri</a:t>
            </a:r>
            <a:r>
              <a:rPr sz="2600" spc="-23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ble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600" b="1" dirty="0">
                <a:latin typeface="Times New Roman"/>
                <a:cs typeface="Times New Roman"/>
              </a:rPr>
              <a:t>val</a:t>
            </a:r>
            <a:r>
              <a:rPr sz="2600" b="1" spc="12" dirty="0">
                <a:latin typeface="Times New Roman"/>
                <a:cs typeface="Times New Roman"/>
              </a:rPr>
              <a:t>u</a:t>
            </a:r>
            <a:r>
              <a:rPr sz="2600" b="1" spc="-12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12" dirty="0">
                <a:latin typeface="Times New Roman"/>
                <a:cs typeface="Times New Roman"/>
              </a:rPr>
              <a:t> </a:t>
            </a:r>
            <a:r>
              <a:rPr sz="2600" spc="-69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 in</a:t>
            </a:r>
            <a:r>
              <a:rPr sz="2600" spc="-12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lu</a:t>
            </a:r>
            <a:r>
              <a:rPr sz="2600" spc="23" dirty="0">
                <a:latin typeface="Times New Roman"/>
                <a:cs typeface="Times New Roman"/>
              </a:rPr>
              <a:t>d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 the p</a:t>
            </a:r>
            <a:r>
              <a:rPr sz="2600" spc="-23" dirty="0">
                <a:latin typeface="Times New Roman"/>
                <a:cs typeface="Times New Roman"/>
              </a:rPr>
              <a:t>a</a:t>
            </a:r>
            <a:r>
              <a:rPr sz="2600" spc="12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ti</a:t>
            </a:r>
            <a:r>
              <a:rPr sz="2600" spc="-12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ular</a:t>
            </a:r>
            <a:r>
              <a:rPr sz="2600" spc="-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lue to s</a:t>
            </a:r>
            <a:r>
              <a:rPr sz="2600" spc="12" dirty="0">
                <a:latin typeface="Times New Roman"/>
                <a:cs typeface="Times New Roman"/>
              </a:rPr>
              <a:t>e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23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for. The</a:t>
            </a:r>
            <a:r>
              <a:rPr sz="2600" spc="-23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qui</a:t>
            </a:r>
            <a:r>
              <a:rPr sz="2600" spc="12" dirty="0">
                <a:latin typeface="Times New Roman"/>
                <a:cs typeface="Times New Roman"/>
              </a:rPr>
              <a:t>r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d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ta </a:t>
            </a:r>
            <a:r>
              <a:rPr sz="2600" spc="46" dirty="0">
                <a:latin typeface="Times New Roman"/>
                <a:cs typeface="Times New Roman"/>
              </a:rPr>
              <a:t>t</a:t>
            </a:r>
            <a:r>
              <a:rPr sz="2600" spc="-58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re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St</a:t>
            </a:r>
            <a:r>
              <a:rPr sz="2600" b="1" spc="-23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i</a:t>
            </a:r>
            <a:r>
              <a:rPr sz="2600" b="1" spc="12" dirty="0">
                <a:latin typeface="Times New Roman"/>
                <a:cs typeface="Times New Roman"/>
              </a:rPr>
              <a:t>n</a:t>
            </a:r>
            <a:r>
              <a:rPr sz="2600" b="1" dirty="0">
                <a:latin typeface="Times New Roman"/>
                <a:cs typeface="Times New Roman"/>
              </a:rPr>
              <a:t>g 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b="1" spc="-12" dirty="0">
                <a:latin typeface="Times New Roman"/>
                <a:cs typeface="Times New Roman"/>
              </a:rPr>
              <a:t>c</a:t>
            </a:r>
            <a:r>
              <a:rPr sz="2600" b="1" dirty="0">
                <a:latin typeface="Times New Roman"/>
                <a:cs typeface="Times New Roman"/>
              </a:rPr>
              <a:t>ha</a:t>
            </a:r>
            <a:r>
              <a:rPr sz="2600" b="1" spc="-12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lang="en-US" sz="2600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600" b="1" spc="12" dirty="0">
                <a:latin typeface="Times New Roman"/>
                <a:cs typeface="Times New Roman"/>
              </a:rPr>
              <a:t>f</a:t>
            </a:r>
            <a:r>
              <a:rPr sz="2600" b="1" spc="-12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o</a:t>
            </a:r>
            <a:r>
              <a:rPr sz="2600" b="1" spc="-3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: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spc="-46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 is d</a:t>
            </a:r>
            <a:r>
              <a:rPr sz="2600" spc="-12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fin</a:t>
            </a:r>
            <a:r>
              <a:rPr sz="2600" spc="-23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23" dirty="0">
                <a:latin typeface="Times New Roman"/>
                <a:cs typeface="Times New Roman"/>
              </a:rPr>
              <a:t> </a:t>
            </a:r>
            <a:r>
              <a:rPr sz="2600" spc="-12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 the</a:t>
            </a:r>
            <a:r>
              <a:rPr sz="2600" spc="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index</a:t>
            </a:r>
            <a:r>
              <a:rPr sz="2600" spc="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 wo</a:t>
            </a:r>
            <a:r>
              <a:rPr sz="2600" spc="-12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k b</a:t>
            </a:r>
            <a:r>
              <a:rPr sz="2600" spc="-12" dirty="0">
                <a:latin typeface="Times New Roman"/>
                <a:cs typeface="Times New Roman"/>
              </a:rPr>
              <a:t>ac</a:t>
            </a:r>
            <a:r>
              <a:rPr sz="2600" dirty="0">
                <a:latin typeface="Times New Roman"/>
                <a:cs typeface="Times New Roman"/>
              </a:rPr>
              <a:t>kw</a:t>
            </a:r>
            <a:r>
              <a:rPr sz="2600" spc="-23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rd</a:t>
            </a:r>
            <a:r>
              <a:rPr sz="2600" spc="12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23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502223"/>
            <a:ext cx="14630400" cy="9053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substring()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ubstring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indent="525940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thisStrin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.substrin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rom)</a:t>
            </a:r>
          </a:p>
          <a:p>
            <a:pPr marL="29219" marR="8431111" indent="525940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thisStrin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.substrin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(from,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to)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thisSt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>
              <a:spcBef>
                <a:spcPts val="1426"/>
              </a:spcBef>
            </a:pP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35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,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wh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bstring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</a:t>
            </a:r>
          </a:p>
          <a:p>
            <a:pPr marL="29219">
              <a:spcBef>
                <a:spcPts val="1461"/>
              </a:spcBef>
            </a:pPr>
            <a:r>
              <a:rPr sz="2761" b="1" spc="-12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index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end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substring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optional.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543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lang="en-US" sz="2991" spc="-23" dirty="0" err="1">
                <a:solidFill>
                  <a:srgbClr val="2E5395"/>
                </a:solidFill>
                <a:latin typeface="Times New Roman"/>
                <a:cs typeface="Times New Roman"/>
              </a:rPr>
              <a:t>toInt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lang="en-US" sz="299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con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rts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lid String in</a:t>
            </a:r>
            <a:r>
              <a:rPr lang="en-US" sz="2761" spc="12" dirty="0">
                <a:latin typeface="Times New Roman"/>
                <a:cs typeface="Times New Roman"/>
              </a:rPr>
              <a:t> Arduino</a:t>
            </a:r>
            <a:r>
              <a:rPr lang="en-US" sz="2761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is:</a:t>
            </a:r>
          </a:p>
          <a:p>
            <a:pPr marR="9212716" algn="ctr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thisStrin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.t</a:t>
            </a:r>
            <a:r>
              <a:rPr lang="en-US" sz="2761" spc="23" dirty="0" err="1">
                <a:latin typeface="Times New Roman"/>
                <a:cs typeface="Times New Roman"/>
              </a:rPr>
              <a:t>o</a:t>
            </a:r>
            <a:r>
              <a:rPr lang="en-US" sz="2761" spc="-69" dirty="0" err="1">
                <a:latin typeface="Times New Roman"/>
                <a:cs typeface="Times New Roman"/>
              </a:rPr>
              <a:t>I</a:t>
            </a:r>
            <a:r>
              <a:rPr lang="en-US" sz="2761" dirty="0" err="1">
                <a:latin typeface="Times New Roman"/>
                <a:cs typeface="Times New Roman"/>
              </a:rPr>
              <a:t>nt</a:t>
            </a:r>
            <a:r>
              <a:rPr lang="en-US" sz="2761" dirty="0">
                <a:latin typeface="Times New Roman"/>
                <a:cs typeface="Times New Roman"/>
              </a:rPr>
              <a:t>()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b="1" dirty="0" err="1">
                <a:latin typeface="Times New Roman"/>
                <a:cs typeface="Times New Roman"/>
              </a:rPr>
              <a:t>thisSt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g</a:t>
            </a: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lo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ro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inval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String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58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ot 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 with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nu</a:t>
            </a:r>
            <a:r>
              <a:rPr lang="en-US" sz="2761" spc="12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4264044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914400"/>
            <a:ext cx="13735523" cy="8142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23" dirty="0" err="1">
                <a:solidFill>
                  <a:srgbClr val="2E5395"/>
                </a:solidFill>
                <a:latin typeface="Times New Roman"/>
                <a:cs typeface="Times New Roman"/>
              </a:rPr>
              <a:t>toFloat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con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lid String in 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to 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loat.</a:t>
            </a:r>
          </a:p>
          <a:p>
            <a:pPr marL="29219" marR="5773653">
              <a:lnSpc>
                <a:spcPts val="4785"/>
              </a:lnSpc>
              <a:spcBef>
                <a:spcPts val="36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String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15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50.00"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indent="10504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thisStrin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.to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loat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b="1" dirty="0">
                <a:latin typeface="Times New Roman"/>
                <a:cs typeface="Times New Roman"/>
              </a:rPr>
              <a:t>thisSt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 marR="20453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loat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rns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invalid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with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15"/>
              </a:spcBef>
            </a:pP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520"/>
              </a:lnSpc>
              <a:buClr>
                <a:srgbClr val="2E5395"/>
              </a:buClr>
              <a:buFont typeface="Symbol"/>
              <a:buChar char=""/>
              <a:tabLst>
                <a:tab pos="1081099" algn="l"/>
              </a:tabLst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tr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()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modifi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Stri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moving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tra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R="9285763" algn="ctr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thisStrin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.trim()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b="1" dirty="0">
                <a:latin typeface="Times New Roman"/>
                <a:cs typeface="Times New Roman"/>
              </a:rPr>
              <a:t>thisSt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143000"/>
            <a:ext cx="13735523" cy="7916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32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mples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55"/>
              </a:lnSpc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Stri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with two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29219" marR="9231708">
              <a:lnSpc>
                <a:spcPts val="4785"/>
              </a:lnSpc>
              <a:spcBef>
                <a:spcPts val="311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024"/>
              </a:spcBef>
              <a:buAutoNum type="arabicPeriod" startAt="2"/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024"/>
              </a:spcBef>
              <a:buAutoNum type="arabicPeriod" startAt="2"/>
            </a:pPr>
            <a:r>
              <a:rPr lang="en-US" sz="2761" dirty="0">
                <a:latin typeface="Times New Roman"/>
                <a:cs typeface="Times New Roman"/>
              </a:rPr>
              <a:t>    String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thisString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lcome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69509" indent="-514350">
              <a:spcBef>
                <a:spcPts val="1024"/>
              </a:spcBef>
              <a:buAutoNum type="arabicPeriod" startAt="2"/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thisStrin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.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12" dirty="0">
                <a:latin typeface="Times New Roman"/>
                <a:cs typeface="Times New Roman"/>
              </a:rPr>
              <a:t>8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69509" indent="-514350">
              <a:spcBef>
                <a:spcPts val="1024"/>
              </a:spcBef>
              <a:buAutoNum type="arabicPeriod" startAt="2"/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1069509" indent="-514350">
              <a:spcBef>
                <a:spcPts val="1024"/>
              </a:spcBef>
              <a:buAutoNum type="arabicPeriod" startAt="2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loop()   {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Output: 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 is 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ter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ind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8, 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is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)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un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</a:p>
        </p:txBody>
      </p:sp>
    </p:spTree>
    <p:extLst>
      <p:ext uri="{BB962C8B-B14F-4D97-AF65-F5344CB8AC3E}">
        <p14:creationId xmlns:p14="http://schemas.microsoft.com/office/powerpoint/2010/main" val="541085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685800"/>
            <a:ext cx="14478000" cy="8899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84"/>
              </a:spcBef>
            </a:pPr>
            <a:r>
              <a:rPr sz="2761" b="1" spc="-12" dirty="0" err="1">
                <a:latin typeface="Times New Roman"/>
                <a:cs typeface="Times New Roman"/>
              </a:rPr>
              <a:t>c</a:t>
            </a:r>
            <a:r>
              <a:rPr sz="2761" b="1" dirty="0" err="1">
                <a:latin typeface="Times New Roman"/>
                <a:cs typeface="Times New Roman"/>
              </a:rPr>
              <a:t>on</a:t>
            </a:r>
            <a:r>
              <a:rPr sz="2761" b="1" spc="-12" dirty="0" err="1">
                <a:latin typeface="Times New Roman"/>
                <a:cs typeface="Times New Roman"/>
              </a:rPr>
              <a:t>c</a:t>
            </a:r>
            <a:r>
              <a:rPr sz="2761" b="1" dirty="0" err="1">
                <a:latin typeface="Times New Roman"/>
                <a:cs typeface="Times New Roman"/>
              </a:rPr>
              <a:t>at</a:t>
            </a:r>
            <a:r>
              <a:rPr sz="2761" b="1" spc="-23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-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The</a:t>
            </a:r>
            <a:r>
              <a:rPr sz="2761" b="1" spc="-12" dirty="0">
                <a:latin typeface="Times New Roman"/>
                <a:cs typeface="Times New Roman"/>
              </a:rPr>
              <a:t> c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at() fun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 is 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to 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the 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gs.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543569" indent="-514350">
              <a:spcBef>
                <a:spcPts val="1403"/>
              </a:spcBef>
              <a:buAutoNum type="arabicPeriod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dirty="0">
                <a:latin typeface="Times New Roman"/>
                <a:cs typeface="Times New Roman"/>
              </a:rPr>
              <a:t> setup()   {</a:t>
            </a:r>
          </a:p>
          <a:p>
            <a:pPr marL="543569" indent="-514350">
              <a:spcBef>
                <a:spcPts val="1403"/>
              </a:spcBef>
              <a:buAutoNum type="arabicPeriod"/>
            </a:pPr>
            <a:r>
              <a:rPr lang="en-US" sz="2761" dirty="0" err="1">
                <a:latin typeface="Times New Roman"/>
                <a:cs typeface="Times New Roman"/>
              </a:rPr>
              <a:t>Serial.begin</a:t>
            </a:r>
            <a:r>
              <a:rPr lang="en-US" sz="2761" dirty="0">
                <a:latin typeface="Times New Roman"/>
                <a:cs typeface="Times New Roman"/>
              </a:rPr>
              <a:t>(9600);</a:t>
            </a:r>
          </a:p>
          <a:p>
            <a:pPr marL="543569" indent="-514350">
              <a:spcBef>
                <a:spcPts val="1403"/>
              </a:spcBef>
              <a:buAutoNum type="arabicPeriod"/>
            </a:pPr>
            <a:r>
              <a:rPr lang="en-US" sz="2761" dirty="0">
                <a:latin typeface="Times New Roman"/>
                <a:cs typeface="Times New Roman"/>
              </a:rPr>
              <a:t>String </a:t>
            </a:r>
            <a:r>
              <a:rPr lang="en-US" sz="2761" dirty="0" err="1">
                <a:latin typeface="Times New Roman"/>
                <a:cs typeface="Times New Roman"/>
              </a:rPr>
              <a:t>thisString</a:t>
            </a:r>
            <a:r>
              <a:rPr lang="en-US" sz="2761" dirty="0">
                <a:latin typeface="Times New Roman"/>
                <a:cs typeface="Times New Roman"/>
              </a:rPr>
              <a:t> = “Welcome to Arduino”;</a:t>
            </a:r>
          </a:p>
          <a:p>
            <a:pPr marL="543569" indent="-514350">
              <a:spcBef>
                <a:spcPts val="1403"/>
              </a:spcBef>
              <a:buFontTx/>
              <a:buAutoNum type="arabicPeriod"/>
            </a:pPr>
            <a:r>
              <a:rPr lang="en-US" sz="2761" dirty="0" err="1">
                <a:latin typeface="Times New Roman"/>
                <a:cs typeface="Times New Roman"/>
              </a:rPr>
              <a:t>thisStrin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.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on</a:t>
            </a:r>
            <a:r>
              <a:rPr lang="en-US" sz="2761" spc="-12" dirty="0" err="1">
                <a:latin typeface="Times New Roman"/>
                <a:cs typeface="Times New Roman"/>
              </a:rPr>
              <a:t>ca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Stri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Obj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t");</a:t>
            </a:r>
          </a:p>
          <a:p>
            <a:pPr marL="543569" indent="-514350">
              <a:spcBef>
                <a:spcPts val="1403"/>
              </a:spcBef>
              <a:buFontTx/>
              <a:buAutoNum type="arabicPeriod"/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thisStrin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543569" indent="-514350">
              <a:spcBef>
                <a:spcPts val="1403"/>
              </a:spcBef>
              <a:buFontTx/>
              <a:buAutoNum type="arabicPeriod"/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543569" indent="-514350">
              <a:spcBef>
                <a:spcPts val="1403"/>
              </a:spcBef>
              <a:buFontTx/>
              <a:buAutoNum type="arabicPeriod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dirty="0">
                <a:latin typeface="Times New Roman"/>
                <a:cs typeface="Times New Roman"/>
              </a:rPr>
              <a:t> loop()   {   }</a:t>
            </a:r>
            <a:endParaRPr lang="en-US" sz="2761" b="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lang="en-US" sz="2761" b="1" dirty="0">
                <a:latin typeface="Times New Roman"/>
                <a:cs typeface="Times New Roman"/>
              </a:rPr>
              <a:t>Output:</a:t>
            </a:r>
          </a:p>
          <a:p>
            <a:pPr marL="29219">
              <a:spcBef>
                <a:spcPts val="140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lang="en-US" sz="2761" dirty="0">
                <a:latin typeface="Times New Roman"/>
                <a:cs typeface="Times New Roman"/>
              </a:rPr>
              <a:t>Simil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l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use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String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obj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ll.</a:t>
            </a:r>
          </a:p>
        </p:txBody>
      </p:sp>
      <p:sp>
        <p:nvSpPr>
          <p:cNvPr id="8" name="object 8"/>
          <p:cNvSpPr/>
          <p:nvPr/>
        </p:nvSpPr>
        <p:spPr>
          <a:xfrm>
            <a:off x="3073400" y="7086600"/>
            <a:ext cx="5504726" cy="17341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2222</Words>
  <Application>Microsoft Office PowerPoint</Application>
  <PresentationFormat>Custom</PresentationFormat>
  <Paragraphs>233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2</cp:revision>
  <dcterms:created xsi:type="dcterms:W3CDTF">2024-06-25T17:28:19Z</dcterms:created>
  <dcterms:modified xsi:type="dcterms:W3CDTF">2024-06-27T06:20:02Z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