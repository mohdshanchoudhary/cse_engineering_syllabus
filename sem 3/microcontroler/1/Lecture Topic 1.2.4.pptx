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8" r:id="rId3"/>
    <p:sldId id="257" r:id="rId4"/>
    <p:sldId id="269" r:id="rId5"/>
    <p:sldId id="258" r:id="rId6"/>
    <p:sldId id="270" r:id="rId7"/>
    <p:sldId id="259" r:id="rId8"/>
    <p:sldId id="271" r:id="rId9"/>
    <p:sldId id="260" r:id="rId10"/>
    <p:sldId id="272" r:id="rId11"/>
    <p:sldId id="261" r:id="rId12"/>
    <p:sldId id="273" r:id="rId13"/>
    <p:sldId id="274" r:id="rId14"/>
    <p:sldId id="262" r:id="rId15"/>
    <p:sldId id="275" r:id="rId16"/>
    <p:sldId id="263" r:id="rId17"/>
    <p:sldId id="276" r:id="rId18"/>
    <p:sldId id="264" r:id="rId19"/>
    <p:sldId id="277" r:id="rId20"/>
    <p:sldId id="265" r:id="rId21"/>
    <p:sldId id="278" r:id="rId22"/>
    <p:sldId id="266" r:id="rId23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72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7964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126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08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4043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6859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1335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31867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2896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8404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16343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39306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aaP5WIG7ro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youtube.com/watch?v=DPsiTe0KAlI" TargetMode="External"/><Relationship Id="rId4" Type="http://schemas.openxmlformats.org/officeDocument/2006/relationships/hyperlink" Target="https://www.youtube.com/watch?v=dM2swIpGk0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1447800"/>
            <a:ext cx="14104586" cy="5505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indent="4876633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Counters</a:t>
            </a:r>
            <a:endParaRPr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Introduction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2588"/>
              </a:spcBef>
            </a:pP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s/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</a:p>
          <a:p>
            <a:pPr marL="1227193" indent="-525940">
              <a:spcBef>
                <a:spcPts val="1438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fer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sz="2761" dirty="0">
                <a:latin typeface="Times New Roman"/>
                <a:cs typeface="Times New Roman"/>
              </a:rPr>
              <a:t>Cr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</a:p>
          <a:p>
            <a:pPr marL="1227193" indent="-525940">
              <a:spcBef>
                <a:spcPts val="1438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 properti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riodic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</a:t>
            </a:r>
          </a:p>
          <a:p>
            <a:pPr marL="1227193" indent="-525940">
              <a:spcBef>
                <a:spcPts val="1438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</a:p>
        </p:txBody>
      </p:sp>
      <p:sp>
        <p:nvSpPr>
          <p:cNvPr id="4" name="object 4"/>
          <p:cNvSpPr/>
          <p:nvPr/>
        </p:nvSpPr>
        <p:spPr>
          <a:xfrm>
            <a:off x="4945986" y="7315200"/>
            <a:ext cx="7616214" cy="2362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7D566-BA3A-CFD2-B0E9-692065A33C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00" y="228600"/>
            <a:ext cx="1750285" cy="27826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87500" y="990600"/>
            <a:ext cx="14973300" cy="86179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8051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two 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 Timer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1.</a:t>
            </a:r>
          </a:p>
          <a:p>
            <a:pPr marL="29219" marR="11688" algn="just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Timer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8051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ounter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tor.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 ir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tive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ther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tor: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fr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endParaRPr sz="2646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sz="2761" i="1" dirty="0">
                <a:latin typeface="Times New Roman"/>
                <a:cs typeface="Times New Roman"/>
              </a:rPr>
              <a:t>If 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aster CLK</a:t>
            </a:r>
            <a:r>
              <a:rPr sz="2761" i="1" spc="-23" dirty="0">
                <a:latin typeface="Times New Roman"/>
                <a:cs typeface="Times New Roman"/>
              </a:rPr>
              <a:t>=</a:t>
            </a:r>
            <a:r>
              <a:rPr sz="2761" i="1" dirty="0">
                <a:latin typeface="Times New Roman"/>
                <a:cs typeface="Times New Roman"/>
              </a:rPr>
              <a:t>12 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Hz,</a:t>
            </a:r>
            <a:endParaRPr sz="2761" dirty="0">
              <a:latin typeface="Times New Roman"/>
              <a:cs typeface="Times New Roman"/>
            </a:endParaRPr>
          </a:p>
          <a:p>
            <a:pPr marL="29219" marR="6508508">
              <a:lnSpc>
                <a:spcPct val="150000"/>
              </a:lnSpc>
              <a:spcBef>
                <a:spcPts val="368"/>
              </a:spcBef>
            </a:pPr>
            <a:r>
              <a:rPr sz="2761" i="1" dirty="0">
                <a:latin typeface="Times New Roman"/>
                <a:cs typeface="Times New Roman"/>
              </a:rPr>
              <a:t>Tim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 Clock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frequ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y</a:t>
            </a:r>
            <a:r>
              <a:rPr sz="2761" i="1" spc="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= 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aster CLK/12 =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1 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Hz Tim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 Clock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P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riod = 1</a:t>
            </a:r>
            <a:r>
              <a:rPr sz="2761" i="1" spc="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mi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ro se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ond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1024"/>
              </a:spcBef>
            </a:pPr>
            <a:r>
              <a:rPr sz="2761" i="1" dirty="0">
                <a:latin typeface="Times New Roman"/>
                <a:cs typeface="Times New Roman"/>
              </a:rPr>
              <a:t>This indicat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 that one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</a:t>
            </a:r>
            <a:r>
              <a:rPr sz="2761" i="1" spc="-23" dirty="0">
                <a:latin typeface="Times New Roman"/>
                <a:cs typeface="Times New Roman"/>
              </a:rPr>
              <a:t>n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r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m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nt in 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ount will ta</a:t>
            </a:r>
            <a:r>
              <a:rPr sz="2761" i="1" spc="-12" dirty="0">
                <a:latin typeface="Times New Roman"/>
                <a:cs typeface="Times New Roman"/>
              </a:rPr>
              <a:t>k</a:t>
            </a:r>
            <a:r>
              <a:rPr sz="2761" i="1" dirty="0">
                <a:latin typeface="Times New Roman"/>
                <a:cs typeface="Times New Roman"/>
              </a:rPr>
              <a:t>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1 mi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ro se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ond.</a:t>
            </a:r>
            <a:endParaRPr lang="en-US" sz="2761" i="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1024"/>
              </a:spcBef>
            </a:pPr>
            <a:endParaRPr lang="en-US" sz="2761" i="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1024"/>
              </a:spcBef>
            </a:pPr>
            <a:r>
              <a:rPr lang="en-US" sz="2761" spc="23" dirty="0">
                <a:latin typeface="Times New Roman"/>
                <a:cs typeface="Times New Roman"/>
              </a:rPr>
              <a:t>The two timers in 8051 share two SFRs (TMOD and TCON) which control the timers, and each timer also has two SFRs dedicated solely to itself (TH0/TL0 and TH1/TL1).</a:t>
            </a:r>
            <a:endParaRPr sz="2761" spc="23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5712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2133600"/>
            <a:ext cx="13734062" cy="5875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S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Rs in 8051.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36576" algn="l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spc="-10" dirty="0">
                <a:latin typeface="Times New Roman"/>
                <a:cs typeface="Times New Roman"/>
              </a:rPr>
              <a:t>SFR Name		 Description		SFR Address</a:t>
            </a:r>
          </a:p>
          <a:p>
            <a:pPr marL="36576" algn="l" fontAlgn="t">
              <a:lnSpc>
                <a:spcPct val="150000"/>
              </a:lnSpc>
              <a:spcBef>
                <a:spcPts val="625"/>
              </a:spcBef>
              <a:spcAft>
                <a:spcPts val="0"/>
              </a:spcAft>
            </a:pPr>
            <a:r>
              <a:rPr lang="en-US" sz="2800" spc="-10" dirty="0">
                <a:latin typeface="Times New Roman"/>
                <a:cs typeface="Times New Roman"/>
              </a:rPr>
              <a:t>    TH0	      Timer 0 High Byte	     8Ch</a:t>
            </a:r>
          </a:p>
          <a:p>
            <a:pPr marL="36576" marR="521208" algn="l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spc="-10" dirty="0">
                <a:latin typeface="Times New Roman"/>
                <a:cs typeface="Times New Roman"/>
              </a:rPr>
              <a:t>    TL0	      Timer 0 Low Byte	     8Ah</a:t>
            </a:r>
          </a:p>
          <a:p>
            <a:pPr marL="36576" marR="521208" algn="l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spc="-10" dirty="0">
                <a:latin typeface="Times New Roman"/>
                <a:cs typeface="Times New Roman"/>
              </a:rPr>
              <a:t>    TH1	      Timer 1 High Byte	     8Dh</a:t>
            </a:r>
          </a:p>
          <a:p>
            <a:pPr marL="36576" marR="393192" algn="l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spc="-10" dirty="0">
                <a:latin typeface="Times New Roman"/>
                <a:cs typeface="Times New Roman"/>
              </a:rPr>
              <a:t>    TL1	      Timer 1 Low Byte	     8Bh</a:t>
            </a:r>
          </a:p>
          <a:p>
            <a:pPr marL="36576" marR="393192" algn="l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spc="-10" dirty="0">
                <a:latin typeface="Times New Roman"/>
                <a:cs typeface="Times New Roman"/>
              </a:rPr>
              <a:t>    TCON	         Timer Control	     88h</a:t>
            </a:r>
          </a:p>
          <a:p>
            <a:pPr marL="36576" algn="l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spc="-10" dirty="0">
                <a:latin typeface="Times New Roman"/>
                <a:cs typeface="Times New Roman"/>
              </a:rPr>
              <a:t>    TMOD               Timer Mode		     89h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771649" y="838200"/>
            <a:ext cx="3104444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Register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1649" y="1752600"/>
            <a:ext cx="13197881" cy="78959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72112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153662"/>
            <a:ext cx="3003641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TCON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Regist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54200" y="2133600"/>
            <a:ext cx="13253419" cy="6487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54200" y="685800"/>
            <a:ext cx="5820285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er/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unter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ntrol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ic.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63800" y="2667000"/>
            <a:ext cx="12425046" cy="59444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925232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5600" y="1600200"/>
            <a:ext cx="13736984" cy="7953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lang="en-US" sz="2761" dirty="0">
                <a:latin typeface="Times New Roman"/>
                <a:cs typeface="Times New Roman"/>
              </a:rPr>
              <a:t>Time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op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 in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ur di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mod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s. Th</a:t>
            </a:r>
            <a:r>
              <a:rPr lang="en-US" sz="2761" spc="35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follows.</a:t>
            </a:r>
          </a:p>
          <a:p>
            <a:pPr marL="29219" algn="just"/>
            <a:endParaRPr lang="en-US" sz="2761" b="1" i="1" dirty="0">
              <a:latin typeface="Times New Roman"/>
              <a:cs typeface="Times New Roman"/>
            </a:endParaRPr>
          </a:p>
          <a:p>
            <a:pPr marL="29219" algn="just"/>
            <a:r>
              <a:rPr sz="2761" b="1" i="1" dirty="0">
                <a:latin typeface="Times New Roman"/>
                <a:cs typeface="Times New Roman"/>
              </a:rPr>
              <a:t>Ti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r Mod</a:t>
            </a:r>
            <a:r>
              <a:rPr sz="2761" b="1" i="1" spc="-12" dirty="0">
                <a:latin typeface="Times New Roman"/>
                <a:cs typeface="Times New Roman"/>
              </a:rPr>
              <a:t>e-</a:t>
            </a:r>
            <a:r>
              <a:rPr sz="2761" b="1" i="1" dirty="0">
                <a:latin typeface="Times New Roman"/>
                <a:cs typeface="Times New Roman"/>
              </a:rPr>
              <a:t>0.</a:t>
            </a:r>
            <a:r>
              <a:rPr sz="2761" b="1" i="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this mod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the timer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" dirty="0">
                <a:latin typeface="Times New Roman"/>
                <a:cs typeface="Times New Roman"/>
              </a:rPr>
              <a:t>3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UP count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llows.</a:t>
            </a:r>
          </a:p>
          <a:p>
            <a:pPr algn="ctr">
              <a:spcBef>
                <a:spcPts val="1461"/>
              </a:spcBef>
            </a:pPr>
            <a:endParaRPr lang="en-US" sz="2761" i="1" dirty="0">
              <a:latin typeface="Times New Roman"/>
              <a:cs typeface="Times New Roman"/>
            </a:endParaRPr>
          </a:p>
          <a:p>
            <a:pPr algn="ctr">
              <a:spcBef>
                <a:spcPts val="1461"/>
              </a:spcBef>
            </a:pPr>
            <a:endParaRPr lang="en-US" sz="2761" i="1" dirty="0">
              <a:latin typeface="Times New Roman"/>
              <a:cs typeface="Times New Roman"/>
            </a:endParaRPr>
          </a:p>
          <a:p>
            <a:pPr algn="ctr">
              <a:spcBef>
                <a:spcPts val="1461"/>
              </a:spcBef>
            </a:pPr>
            <a:endParaRPr lang="en-US" sz="2761" i="1" dirty="0">
              <a:latin typeface="Times New Roman"/>
              <a:cs typeface="Times New Roman"/>
            </a:endParaRPr>
          </a:p>
          <a:p>
            <a:pPr algn="ctr">
              <a:spcBef>
                <a:spcPts val="1461"/>
              </a:spcBef>
            </a:pPr>
            <a:endParaRPr lang="en-US" sz="2761" i="1" dirty="0">
              <a:latin typeface="Times New Roman"/>
              <a:cs typeface="Times New Roman"/>
            </a:endParaRPr>
          </a:p>
          <a:p>
            <a:pPr algn="ctr">
              <a:spcBef>
                <a:spcPts val="1461"/>
              </a:spcBef>
            </a:pPr>
            <a:r>
              <a:rPr sz="2761" i="1" dirty="0">
                <a:latin typeface="Times New Roman"/>
                <a:cs typeface="Times New Roman"/>
              </a:rPr>
              <a:t>Fig. Op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ration of </a:t>
            </a:r>
            <a:r>
              <a:rPr sz="2761" i="1" spc="12" dirty="0">
                <a:latin typeface="Times New Roman"/>
                <a:cs typeface="Times New Roman"/>
              </a:rPr>
              <a:t>T</a:t>
            </a:r>
            <a:r>
              <a:rPr sz="2761" i="1" dirty="0">
                <a:latin typeface="Times New Roman"/>
                <a:cs typeface="Times New Roman"/>
              </a:rPr>
              <a:t>im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 on Mod</a:t>
            </a:r>
            <a:r>
              <a:rPr sz="2761" i="1" spc="-12" dirty="0">
                <a:latin typeface="Times New Roman"/>
                <a:cs typeface="Times New Roman"/>
              </a:rPr>
              <a:t>e-</a:t>
            </a:r>
            <a:r>
              <a:rPr sz="2761" i="1" dirty="0">
                <a:latin typeface="Times New Roman"/>
                <a:cs typeface="Times New Roman"/>
              </a:rPr>
              <a:t>0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13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ount.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</a:p>
          <a:p>
            <a:pPr marL="29219" marR="13149" algn="just">
              <a:lnSpc>
                <a:spcPct val="143800"/>
              </a:lnSpc>
              <a:spcBef>
                <a:spcPts val="12"/>
              </a:spcBef>
            </a:pP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X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nored.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rolls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X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la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pulse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obtain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vious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TR1/0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G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ontinu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up.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TR1/0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ful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sure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width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 pulse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input.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7C7E9D46-F0F1-B53B-9359-8AF42A23C67D}"/>
              </a:ext>
            </a:extLst>
          </p:cNvPr>
          <p:cNvSpPr txBox="1"/>
          <p:nvPr/>
        </p:nvSpPr>
        <p:spPr>
          <a:xfrm>
            <a:off x="1625600" y="738687"/>
            <a:ext cx="3263684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ER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MO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DES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10" name="object 8"/>
          <p:cNvSpPr/>
          <p:nvPr/>
        </p:nvSpPr>
        <p:spPr>
          <a:xfrm>
            <a:off x="2758640" y="3657600"/>
            <a:ext cx="12364320" cy="1609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46120" y="743857"/>
            <a:ext cx="15490879" cy="8726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300"/>
              </a:lnSpc>
              <a:spcBef>
                <a:spcPts val="1599"/>
              </a:spcBef>
            </a:pPr>
            <a:r>
              <a:rPr sz="2761" b="1" i="1" dirty="0">
                <a:latin typeface="Times New Roman"/>
                <a:cs typeface="Times New Roman"/>
              </a:rPr>
              <a:t>Ti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r</a:t>
            </a:r>
            <a:r>
              <a:rPr sz="2761" b="1" i="1" spc="81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Mod</a:t>
            </a:r>
            <a:r>
              <a:rPr sz="2761" b="1" i="1" spc="-12" dirty="0">
                <a:latin typeface="Times New Roman"/>
                <a:cs typeface="Times New Roman"/>
              </a:rPr>
              <a:t>e-</a:t>
            </a:r>
            <a:r>
              <a:rPr sz="2761" b="1" i="1" dirty="0">
                <a:latin typeface="Times New Roman"/>
                <a:cs typeface="Times New Roman"/>
              </a:rPr>
              <a:t>1.</a:t>
            </a:r>
            <a:r>
              <a:rPr sz="2761" b="1" i="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</a:t>
            </a:r>
            <a:r>
              <a:rPr sz="2761" spc="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pt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35" dirty="0">
                <a:latin typeface="Times New Roman"/>
                <a:cs typeface="Times New Roman"/>
              </a:rPr>
              <a:t>6</a:t>
            </a:r>
            <a:r>
              <a:rPr sz="2761" dirty="0">
                <a:latin typeface="Times New Roman"/>
                <a:cs typeface="Times New Roman"/>
              </a:rPr>
              <a:t>- bit mode.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300"/>
              </a:lnSpc>
              <a:spcBef>
                <a:spcPts val="1599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300"/>
              </a:lnSpc>
              <a:spcBef>
                <a:spcPts val="1599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4401826"/>
            <a:r>
              <a:rPr lang="en-US" sz="2761" i="1" dirty="0">
                <a:latin typeface="Times New Roman"/>
                <a:cs typeface="Times New Roman"/>
              </a:rPr>
              <a:t>Fig: </a:t>
            </a:r>
            <a:r>
              <a:rPr lang="en-US" sz="2761" i="1" spc="-12" dirty="0">
                <a:latin typeface="Times New Roman"/>
                <a:cs typeface="Times New Roman"/>
              </a:rPr>
              <a:t>O</a:t>
            </a:r>
            <a:r>
              <a:rPr lang="en-US" sz="2761" i="1" dirty="0">
                <a:latin typeface="Times New Roman"/>
                <a:cs typeface="Times New Roman"/>
              </a:rPr>
              <a:t>p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ration of </a:t>
            </a:r>
            <a:r>
              <a:rPr lang="en-US" sz="2761" i="1" spc="12" dirty="0">
                <a:latin typeface="Times New Roman"/>
                <a:cs typeface="Times New Roman"/>
              </a:rPr>
              <a:t>T</a:t>
            </a:r>
            <a:r>
              <a:rPr lang="en-US" sz="2761" i="1" dirty="0">
                <a:latin typeface="Times New Roman"/>
                <a:cs typeface="Times New Roman"/>
              </a:rPr>
              <a:t>im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r in Mode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1</a:t>
            </a:r>
            <a:endParaRPr lang="en-US" sz="2761" dirty="0">
              <a:latin typeface="Times New Roman"/>
              <a:cs typeface="Times New Roman"/>
            </a:endParaRPr>
          </a:p>
          <a:p>
            <a:pPr>
              <a:spcBef>
                <a:spcPts val="101"/>
              </a:spcBef>
            </a:pPr>
            <a:endParaRPr lang="en-US" sz="4026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r>
              <a:rPr lang="en-US" sz="2761" b="1" i="1" dirty="0">
                <a:latin typeface="Times New Roman"/>
                <a:cs typeface="Times New Roman"/>
              </a:rPr>
              <a:t>Ti</a:t>
            </a:r>
            <a:r>
              <a:rPr lang="en-US" sz="2761" b="1" i="1" spc="23" dirty="0">
                <a:latin typeface="Times New Roman"/>
                <a:cs typeface="Times New Roman"/>
              </a:rPr>
              <a:t>m</a:t>
            </a:r>
            <a:r>
              <a:rPr lang="en-US" sz="2761" b="1" i="1" spc="-12" dirty="0">
                <a:latin typeface="Times New Roman"/>
                <a:cs typeface="Times New Roman"/>
              </a:rPr>
              <a:t>e</a:t>
            </a:r>
            <a:r>
              <a:rPr lang="en-US" sz="2761" b="1" i="1" dirty="0">
                <a:latin typeface="Times New Roman"/>
                <a:cs typeface="Times New Roman"/>
              </a:rPr>
              <a:t>r </a:t>
            </a:r>
            <a:r>
              <a:rPr lang="en-US" sz="2761" b="1" i="1" spc="138" dirty="0">
                <a:latin typeface="Times New Roman"/>
                <a:cs typeface="Times New Roman"/>
              </a:rPr>
              <a:t> </a:t>
            </a:r>
            <a:r>
              <a:rPr lang="en-US" sz="2761" b="1" i="1" dirty="0">
                <a:latin typeface="Times New Roman"/>
                <a:cs typeface="Times New Roman"/>
              </a:rPr>
              <a:t>Mod</a:t>
            </a:r>
            <a:r>
              <a:rPr lang="en-US" sz="2761" b="1" i="1" spc="-12" dirty="0">
                <a:latin typeface="Times New Roman"/>
                <a:cs typeface="Times New Roman"/>
              </a:rPr>
              <a:t>e-</a:t>
            </a:r>
            <a:r>
              <a:rPr lang="en-US" sz="2761" b="1" i="1" dirty="0">
                <a:latin typeface="Times New Roman"/>
                <a:cs typeface="Times New Roman"/>
              </a:rPr>
              <a:t>2 </a:t>
            </a:r>
            <a:r>
              <a:rPr lang="en-US" sz="2761" b="1" i="1" spc="127" dirty="0">
                <a:latin typeface="Times New Roman"/>
                <a:cs typeface="Times New Roman"/>
              </a:rPr>
              <a:t> </a:t>
            </a:r>
            <a:r>
              <a:rPr lang="en-US" sz="2761" b="1" i="1" dirty="0">
                <a:latin typeface="Times New Roman"/>
                <a:cs typeface="Times New Roman"/>
              </a:rPr>
              <a:t>(Aut</a:t>
            </a:r>
            <a:r>
              <a:rPr lang="en-US" sz="2761" b="1" i="1" spc="12" dirty="0">
                <a:latin typeface="Times New Roman"/>
                <a:cs typeface="Times New Roman"/>
              </a:rPr>
              <a:t>o</a:t>
            </a:r>
            <a:r>
              <a:rPr lang="en-US" sz="2761" b="1" i="1" spc="-12" dirty="0">
                <a:latin typeface="Times New Roman"/>
                <a:cs typeface="Times New Roman"/>
              </a:rPr>
              <a:t>-</a:t>
            </a:r>
            <a:r>
              <a:rPr lang="en-US" sz="2761" b="1" i="1" spc="-23" dirty="0">
                <a:latin typeface="Times New Roman"/>
                <a:cs typeface="Times New Roman"/>
              </a:rPr>
              <a:t>R</a:t>
            </a:r>
            <a:r>
              <a:rPr lang="en-US" sz="2761" b="1" i="1" spc="-12" dirty="0">
                <a:latin typeface="Times New Roman"/>
                <a:cs typeface="Times New Roman"/>
              </a:rPr>
              <a:t>e</a:t>
            </a:r>
            <a:r>
              <a:rPr lang="en-US" sz="2761" b="1" i="1" dirty="0">
                <a:latin typeface="Times New Roman"/>
                <a:cs typeface="Times New Roman"/>
              </a:rPr>
              <a:t>load </a:t>
            </a:r>
            <a:r>
              <a:rPr lang="en-US" sz="2761" b="1" i="1" spc="138" dirty="0">
                <a:latin typeface="Times New Roman"/>
                <a:cs typeface="Times New Roman"/>
              </a:rPr>
              <a:t> </a:t>
            </a:r>
            <a:r>
              <a:rPr lang="en-US" sz="2761" b="1" i="1" dirty="0">
                <a:latin typeface="Times New Roman"/>
                <a:cs typeface="Times New Roman"/>
              </a:rPr>
              <a:t>Mod</a:t>
            </a:r>
            <a:r>
              <a:rPr lang="en-US" sz="2761" b="1" i="1" spc="-12" dirty="0">
                <a:latin typeface="Times New Roman"/>
                <a:cs typeface="Times New Roman"/>
              </a:rPr>
              <a:t>e</a:t>
            </a:r>
            <a:r>
              <a:rPr lang="en-US" sz="2761" b="1" i="1" dirty="0">
                <a:latin typeface="Times New Roman"/>
                <a:cs typeface="Times New Roman"/>
              </a:rPr>
              <a:t>). </a:t>
            </a:r>
            <a:r>
              <a:rPr lang="en-US" sz="2761" b="1" i="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ounte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/tim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tion.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Counting 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orm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while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lue.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mode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timer ov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lows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i.e. 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omes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FH,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X.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load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 50H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12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mode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ount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50H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FF</a:t>
            </a:r>
            <a:r>
              <a:rPr lang="en-US" sz="2761" dirty="0">
                <a:latin typeface="Times New Roman"/>
                <a:cs typeface="Times New Roman"/>
              </a:rPr>
              <a:t>H.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50H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load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 This mode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ful in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ppli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tions like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time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mplin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1688" algn="just">
              <a:lnSpc>
                <a:spcPct val="1438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ctr">
              <a:lnSpc>
                <a:spcPct val="143800"/>
              </a:lnSpc>
            </a:pPr>
            <a:r>
              <a:rPr lang="en-US" sz="2761" i="1" dirty="0">
                <a:latin typeface="Times New Roman"/>
                <a:cs typeface="Times New Roman"/>
              </a:rPr>
              <a:t>Fig: </a:t>
            </a:r>
            <a:r>
              <a:rPr lang="en-US" sz="2761" i="1" spc="-12" dirty="0">
                <a:latin typeface="Times New Roman"/>
                <a:cs typeface="Times New Roman"/>
              </a:rPr>
              <a:t>O</a:t>
            </a:r>
            <a:r>
              <a:rPr lang="en-US" sz="2761" i="1" dirty="0">
                <a:latin typeface="Times New Roman"/>
                <a:cs typeface="Times New Roman"/>
              </a:rPr>
              <a:t>p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ration of </a:t>
            </a:r>
            <a:r>
              <a:rPr lang="en-US" sz="2761" i="1" spc="12" dirty="0">
                <a:latin typeface="Times New Roman"/>
                <a:cs typeface="Times New Roman"/>
              </a:rPr>
              <a:t>T</a:t>
            </a:r>
            <a:r>
              <a:rPr lang="en-US" sz="2761" i="1" dirty="0">
                <a:latin typeface="Times New Roman"/>
                <a:cs typeface="Times New Roman"/>
              </a:rPr>
              <a:t>im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r in Mode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2</a:t>
            </a:r>
            <a:endParaRPr lang="en-US" sz="276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68600" y="1335663"/>
            <a:ext cx="11833412" cy="15599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7"/>
          <p:cNvSpPr/>
          <p:nvPr/>
        </p:nvSpPr>
        <p:spPr>
          <a:xfrm>
            <a:off x="4319111" y="6386143"/>
            <a:ext cx="8436819" cy="24572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7454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945903"/>
            <a:ext cx="15240000" cy="7705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4200"/>
              </a:lnSpc>
            </a:pPr>
            <a:r>
              <a:rPr sz="2761" b="1" i="1" dirty="0">
                <a:latin typeface="Times New Roman"/>
                <a:cs typeface="Times New Roman"/>
              </a:rPr>
              <a:t>Ti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r</a:t>
            </a:r>
            <a:r>
              <a:rPr sz="2761" b="1" i="1" spc="138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Mod</a:t>
            </a:r>
            <a:r>
              <a:rPr sz="2761" b="1" i="1" spc="-12" dirty="0">
                <a:latin typeface="Times New Roman"/>
                <a:cs typeface="Times New Roman"/>
              </a:rPr>
              <a:t>e-</a:t>
            </a:r>
            <a:r>
              <a:rPr sz="2761" b="1" i="1" dirty="0">
                <a:latin typeface="Times New Roman"/>
                <a:cs typeface="Times New Roman"/>
              </a:rPr>
              <a:t>3.</a:t>
            </a:r>
            <a:r>
              <a:rPr sz="2761" b="1" i="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holds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ount.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ff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69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TR1=0. Time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0 in mod</a:t>
            </a:r>
            <a:r>
              <a:rPr sz="2761" spc="-12" dirty="0">
                <a:latin typeface="Times New Roman"/>
                <a:cs typeface="Times New Roman"/>
              </a:rPr>
              <a:t>e-</a:t>
            </a:r>
            <a:r>
              <a:rPr sz="2761" dirty="0">
                <a:latin typeface="Times New Roman"/>
                <a:cs typeface="Times New Roman"/>
              </a:rPr>
              <a:t>3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stabl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two sep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ounte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4401826"/>
            <a:r>
              <a:rPr lang="en-US" sz="2761" i="1" dirty="0">
                <a:latin typeface="Times New Roman"/>
                <a:cs typeface="Times New Roman"/>
              </a:rPr>
              <a:t>Fig: </a:t>
            </a:r>
            <a:r>
              <a:rPr lang="en-US" sz="2761" i="1" spc="-12" dirty="0">
                <a:latin typeface="Times New Roman"/>
                <a:cs typeface="Times New Roman"/>
              </a:rPr>
              <a:t>O</a:t>
            </a:r>
            <a:r>
              <a:rPr lang="en-US" sz="2761" i="1" dirty="0">
                <a:latin typeface="Times New Roman"/>
                <a:cs typeface="Times New Roman"/>
              </a:rPr>
              <a:t>p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ration of </a:t>
            </a:r>
            <a:r>
              <a:rPr lang="en-US" sz="2761" i="1" spc="12" dirty="0">
                <a:latin typeface="Times New Roman"/>
                <a:cs typeface="Times New Roman"/>
              </a:rPr>
              <a:t>T</a:t>
            </a:r>
            <a:r>
              <a:rPr lang="en-US" sz="2761" i="1" dirty="0">
                <a:latin typeface="Times New Roman"/>
                <a:cs typeface="Times New Roman"/>
              </a:rPr>
              <a:t>im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r in Mode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3</a:t>
            </a:r>
            <a:endParaRPr lang="en-US" sz="276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1599"/>
              </a:spcBef>
            </a:pPr>
            <a:r>
              <a:rPr lang="en-US" sz="2761" dirty="0">
                <a:latin typeface="Times New Roman"/>
                <a:cs typeface="Times New Roman"/>
              </a:rPr>
              <a:t>Control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bits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R1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1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0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bits)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H0)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od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3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while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TR0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T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0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to Tim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0 low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8 bits (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0).</a:t>
            </a:r>
          </a:p>
          <a:p>
            <a:pPr marL="29219" marR="11688">
              <a:lnSpc>
                <a:spcPct val="144200"/>
              </a:lnSpc>
            </a:pPr>
            <a:endParaRPr sz="2761" dirty="0">
              <a:latin typeface="Times New Roman"/>
              <a:cs typeface="Times New Roman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69D7E89-39C4-BA0A-355E-35FABD035F0A}"/>
              </a:ext>
            </a:extLst>
          </p:cNvPr>
          <p:cNvGrpSpPr>
            <a:grpSpLocks/>
          </p:cNvGrpSpPr>
          <p:nvPr/>
        </p:nvGrpSpPr>
        <p:grpSpPr bwMode="auto">
          <a:xfrm>
            <a:off x="4749800" y="2286000"/>
            <a:ext cx="7443787" cy="3274695"/>
            <a:chOff x="0" y="0"/>
            <a:chExt cx="5685" cy="263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DD30EDC-03D8-6439-E9FF-B9FC331BE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685" cy="12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F35346-F690-394C-A914-19EA19725D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" y="1269"/>
              <a:ext cx="5625" cy="1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44600" y="838200"/>
            <a:ext cx="13726758" cy="8153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8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0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51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Ass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bly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101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80</a:t>
            </a:r>
            <a:r>
              <a:rPr sz="2761" spc="23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import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know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gist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ulations 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s follows.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mode, 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Clo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 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riod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1/Timer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Clock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					 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1/(M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ster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Clock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35" dirty="0">
                <a:latin typeface="Times New Roman"/>
                <a:cs typeface="Times New Roman"/>
              </a:rPr>
              <a:t>c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/12)</a:t>
            </a: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555159" indent="-525940">
              <a:buSzPct val="91666"/>
              <a:buFont typeface="Cambria"/>
              <a:buAutoNum type="alphaLcPeriod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Mode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 (16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time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/count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r)</a:t>
            </a:r>
          </a:p>
          <a:p>
            <a:pPr marL="555159" marR="11688" algn="just">
              <a:lnSpc>
                <a:spcPct val="1438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load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46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65536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–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d/Timer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lock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riod) Conv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rt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nswer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into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load 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onto  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spc="-12" dirty="0" err="1">
                <a:latin typeface="Times New Roman"/>
                <a:cs typeface="Times New Roman"/>
              </a:rPr>
              <a:t>H</a:t>
            </a:r>
            <a:r>
              <a:rPr lang="en-US" sz="2761" dirty="0" err="1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 err="1">
                <a:latin typeface="Times New Roman"/>
                <a:cs typeface="Times New Roman"/>
              </a:rPr>
              <a:t>T</a:t>
            </a:r>
            <a:r>
              <a:rPr lang="en-US" sz="2761" spc="-69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 </a:t>
            </a:r>
            <a:r>
              <a:rPr lang="en-US" sz="2761" i="1" spc="-46" dirty="0">
                <a:latin typeface="Times New Roman"/>
                <a:cs typeface="Times New Roman"/>
              </a:rPr>
              <a:t>(</a:t>
            </a:r>
            <a:r>
              <a:rPr lang="en-US" sz="2761" i="1" dirty="0">
                <a:latin typeface="Times New Roman"/>
                <a:cs typeface="Times New Roman"/>
              </a:rPr>
              <a:t>6553</a:t>
            </a:r>
            <a:r>
              <a:rPr lang="en-US" sz="2761" i="1" spc="23" dirty="0">
                <a:latin typeface="Times New Roman"/>
                <a:cs typeface="Times New Roman"/>
              </a:rPr>
              <a:t>6</a:t>
            </a:r>
            <a:r>
              <a:rPr lang="en-US" sz="2761" i="1" dirty="0">
                <a:latin typeface="Times New Roman"/>
                <a:cs typeface="Times New Roman"/>
              </a:rPr>
              <a:t>D =</a:t>
            </a:r>
            <a:r>
              <a:rPr lang="en-US" sz="2761" i="1" spc="-23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FF</a:t>
            </a:r>
            <a:r>
              <a:rPr lang="en-US" sz="2761" i="1" spc="-12" dirty="0">
                <a:latin typeface="Times New Roman"/>
                <a:cs typeface="Times New Roman"/>
              </a:rPr>
              <a:t>F</a:t>
            </a:r>
            <a:r>
              <a:rPr lang="en-US" sz="2761" i="1" spc="12" dirty="0">
                <a:latin typeface="Times New Roman"/>
                <a:cs typeface="Times New Roman"/>
              </a:rPr>
              <a:t>F</a:t>
            </a:r>
            <a:r>
              <a:rPr lang="en-US" sz="2761" i="1" dirty="0">
                <a:latin typeface="Times New Roman"/>
                <a:cs typeface="Times New Roman"/>
              </a:rPr>
              <a:t>H</a:t>
            </a:r>
            <a:r>
              <a:rPr lang="en-US" sz="2761" i="1" spc="-23" dirty="0">
                <a:latin typeface="Times New Roman"/>
                <a:cs typeface="Times New Roman"/>
              </a:rPr>
              <a:t>+</a:t>
            </a:r>
            <a:r>
              <a:rPr lang="en-US" sz="2761" i="1" spc="23" dirty="0">
                <a:latin typeface="Times New Roman"/>
                <a:cs typeface="Times New Roman"/>
              </a:rPr>
              <a:t>1</a:t>
            </a:r>
            <a:r>
              <a:rPr lang="en-US" sz="2761" i="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indent="-525940">
              <a:spcBef>
                <a:spcPts val="1438"/>
              </a:spcBef>
              <a:buSzPct val="91666"/>
              <a:buFont typeface="Cambria"/>
              <a:buAutoNum type="alphaLcPeriod" startAt="2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Mode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 (13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/count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r)</a:t>
            </a:r>
          </a:p>
          <a:p>
            <a:pPr marL="555159" marR="13149" lvl="0" indent="0" algn="just" defTabSz="914400" rtl="0" eaLnBrk="1" fontAlgn="auto" latinLnBrk="0" hangingPunct="1">
              <a:lnSpc>
                <a:spcPct val="14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load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im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8192 </a:t>
            </a:r>
            <a:r>
              <a:rPr kumimoji="0" lang="en-US" sz="2761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–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 </a:t>
            </a:r>
            <a:r>
              <a:rPr kumimoji="0" lang="en-US" sz="2761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quir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d/Timer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lock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riod) Conv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rt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nswer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into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im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 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load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onto  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69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r. </a:t>
            </a:r>
            <a:r>
              <a:rPr kumimoji="0" lang="en-US" sz="2761" b="0" i="1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en-US" sz="276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819</a:t>
            </a:r>
            <a:r>
              <a:rPr kumimoji="0" lang="en-US" sz="2761" b="0" i="1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</a:t>
            </a:r>
            <a:r>
              <a:rPr kumimoji="0" lang="en-US" sz="276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=</a:t>
            </a:r>
            <a:r>
              <a:rPr kumimoji="0" lang="en-US" sz="2761" b="0" i="1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1FF</a:t>
            </a:r>
            <a:r>
              <a:rPr kumimoji="0" lang="en-US" sz="2761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1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+</a:t>
            </a:r>
            <a:r>
              <a:rPr kumimoji="0" lang="en-US" sz="2761" b="0" i="1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lang="en-US" sz="276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</a:t>
            </a:r>
            <a:endParaRPr kumimoji="0" lang="en-US" sz="276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0613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5850" y="1752600"/>
            <a:ext cx="15709900" cy="4073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438"/>
              </a:spcBef>
              <a:tabLst>
                <a:tab pos="553698" algn="l"/>
              </a:tabLst>
            </a:pPr>
            <a:r>
              <a:rPr sz="2531" spc="12" dirty="0">
                <a:latin typeface="Cambria"/>
                <a:cs typeface="Cambria"/>
              </a:rPr>
              <a:t>c</a:t>
            </a:r>
            <a:r>
              <a:rPr sz="2531" dirty="0">
                <a:latin typeface="Cambria"/>
                <a:cs typeface="Cambria"/>
              </a:rPr>
              <a:t>.</a:t>
            </a:r>
            <a:r>
              <a:rPr sz="2531" dirty="0">
                <a:latin typeface="Times New Roman"/>
                <a:cs typeface="Times New Roman"/>
              </a:rPr>
              <a:t>	</a:t>
            </a:r>
            <a:r>
              <a:rPr sz="2761" dirty="0">
                <a:latin typeface="Times New Roman"/>
                <a:cs typeface="Times New Roman"/>
              </a:rPr>
              <a:t>Mode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 (8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loa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555159" marR="11688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load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256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–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d/Timer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riod) Conv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Upon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ting the 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this value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load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555159" algn="just">
              <a:spcBef>
                <a:spcPts val="1438"/>
              </a:spcBef>
            </a:pPr>
            <a:r>
              <a:rPr sz="2761" i="1" spc="-46" dirty="0">
                <a:latin typeface="Times New Roman"/>
                <a:cs typeface="Times New Roman"/>
              </a:rPr>
              <a:t>(</a:t>
            </a:r>
            <a:r>
              <a:rPr sz="2761" i="1" dirty="0">
                <a:latin typeface="Times New Roman"/>
                <a:cs typeface="Times New Roman"/>
              </a:rPr>
              <a:t>25</a:t>
            </a:r>
            <a:r>
              <a:rPr sz="2761" i="1" spc="23" dirty="0">
                <a:latin typeface="Times New Roman"/>
                <a:cs typeface="Times New Roman"/>
              </a:rPr>
              <a:t>6</a:t>
            </a:r>
            <a:r>
              <a:rPr sz="2761" i="1" dirty="0">
                <a:latin typeface="Times New Roman"/>
                <a:cs typeface="Times New Roman"/>
              </a:rPr>
              <a:t>D =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FF</a:t>
            </a:r>
            <a:r>
              <a:rPr sz="2761" i="1" spc="12" dirty="0">
                <a:latin typeface="Times New Roman"/>
                <a:cs typeface="Times New Roman"/>
              </a:rPr>
              <a:t>H</a:t>
            </a:r>
            <a:r>
              <a:rPr sz="2761" i="1" spc="-23" dirty="0">
                <a:latin typeface="Times New Roman"/>
                <a:cs typeface="Times New Roman"/>
              </a:rPr>
              <a:t>+</a:t>
            </a:r>
            <a:r>
              <a:rPr sz="2761" i="1" spc="23" dirty="0">
                <a:latin typeface="Times New Roman"/>
                <a:cs typeface="Times New Roman"/>
              </a:rPr>
              <a:t>1</a:t>
            </a:r>
            <a:r>
              <a:rPr sz="2761" i="1" dirty="0">
                <a:latin typeface="Times New Roman"/>
                <a:cs typeface="Times New Roman"/>
              </a:rPr>
              <a:t>)</a:t>
            </a:r>
            <a:endParaRPr lang="en-US" sz="2761" i="1" dirty="0">
              <a:latin typeface="Times New Roman"/>
              <a:cs typeface="Times New Roman"/>
            </a:endParaRPr>
          </a:p>
          <a:p>
            <a:pPr marL="555159" algn="just">
              <a:spcBef>
                <a:spcPts val="1438"/>
              </a:spcBef>
            </a:pPr>
            <a:endParaRPr lang="en-US" sz="2761" i="1" dirty="0">
              <a:latin typeface="Times New Roman"/>
              <a:cs typeface="Times New Roman"/>
            </a:endParaRPr>
          </a:p>
          <a:p>
            <a:pPr marL="555159" algn="just">
              <a:spcBef>
                <a:spcPts val="1438"/>
              </a:spcBef>
            </a:pPr>
            <a:endParaRPr lang="en-US" sz="2761" i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92200" y="728759"/>
            <a:ext cx="15544800" cy="8600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f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or pro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ti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8051</a:t>
            </a:r>
            <a:endParaRPr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2588"/>
              </a:spcBef>
            </a:pP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ode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1:</a:t>
            </a:r>
            <a:endParaRPr sz="2761" dirty="0">
              <a:latin typeface="Times New Roman"/>
              <a:cs typeface="Times New Roman"/>
            </a:endParaRPr>
          </a:p>
          <a:p>
            <a:pPr marL="2528895" marR="13149" indent="-525940">
              <a:lnSpc>
                <a:spcPts val="4785"/>
              </a:lnSpc>
              <a:spcBef>
                <a:spcPts val="368"/>
              </a:spcBef>
              <a:buSzPct val="91666"/>
              <a:buFont typeface="Times New Roman"/>
              <a:buAutoNum type="arabicPeriod"/>
              <a:tabLst>
                <a:tab pos="2530356" algn="l"/>
              </a:tabLst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MOD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indi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(0 or 1) is to be u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timer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 is sel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ted.</a:t>
            </a:r>
          </a:p>
          <a:p>
            <a:pPr marL="2528895" indent="-525940">
              <a:spcBef>
                <a:spcPts val="1024"/>
              </a:spcBef>
              <a:buSzPct val="91666"/>
              <a:buFont typeface="Times New Roman"/>
              <a:buAutoNum type="arabicPeriod"/>
              <a:tabLst>
                <a:tab pos="2530356" algn="l"/>
              </a:tabLst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count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lues.</a:t>
            </a:r>
          </a:p>
          <a:p>
            <a:pPr marL="2528895" marR="11688" indent="-525940">
              <a:lnSpc>
                <a:spcPct val="143500"/>
              </a:lnSpc>
              <a:spcBef>
                <a:spcPts val="23"/>
              </a:spcBef>
              <a:buSzPct val="91666"/>
              <a:buFont typeface="Times New Roman"/>
              <a:buAutoNum type="arabicPeriod"/>
              <a:tabLst>
                <a:tab pos="2530356" algn="l"/>
              </a:tabLst>
            </a:pP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“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TR0”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timer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“</a:t>
            </a:r>
            <a:r>
              <a:rPr sz="2761" dirty="0">
                <a:latin typeface="Times New Roman"/>
                <a:cs typeface="Times New Roman"/>
              </a:rPr>
              <a:t>SETB TR1”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timer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1.</a:t>
            </a:r>
          </a:p>
          <a:p>
            <a:pPr marL="2528895" marR="11688" indent="-525940">
              <a:lnSpc>
                <a:spcPct val="143300"/>
              </a:lnSpc>
              <a:spcBef>
                <a:spcPts val="23"/>
              </a:spcBef>
              <a:buSzPct val="91666"/>
              <a:buFont typeface="Times New Roman"/>
              <a:buAutoNum type="arabicPeriod"/>
              <a:tabLst>
                <a:tab pos="2530356" algn="l"/>
              </a:tabLst>
            </a:pP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monitoring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flag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“</a:t>
            </a:r>
            <a:r>
              <a:rPr sz="2761" dirty="0">
                <a:latin typeface="Times New Roman"/>
                <a:cs typeface="Times New Roman"/>
              </a:rPr>
              <a:t>JNB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”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it is 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ised.  </a:t>
            </a:r>
            <a:r>
              <a:rPr sz="2761" spc="-12" dirty="0">
                <a:latin typeface="Times New Roman"/>
                <a:cs typeface="Times New Roman"/>
              </a:rPr>
              <a:t>Ge</a:t>
            </a:r>
            <a:r>
              <a:rPr sz="2761" dirty="0">
                <a:latin typeface="Times New Roman"/>
                <a:cs typeface="Times New Roman"/>
              </a:rPr>
              <a:t>t out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wh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 hi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h.</a:t>
            </a:r>
          </a:p>
          <a:p>
            <a:pPr marL="2528895" marR="11688" indent="-525940">
              <a:lnSpc>
                <a:spcPct val="143300"/>
              </a:lnSpc>
              <a:spcBef>
                <a:spcPts val="23"/>
              </a:spcBef>
              <a:buSzPct val="91666"/>
              <a:buFont typeface="Times New Roman"/>
              <a:buAutoNum type="arabicPeriod"/>
              <a:tabLst>
                <a:tab pos="2530356" algn="l"/>
              </a:tabLst>
            </a:pPr>
            <a:r>
              <a:rPr sz="2761" dirty="0">
                <a:latin typeface="Times New Roman"/>
                <a:cs typeface="Times New Roman"/>
              </a:rPr>
              <a:t>Stop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“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R TR0”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“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R TR1</a:t>
            </a:r>
            <a:r>
              <a:rPr sz="2761" spc="-12" dirty="0">
                <a:latin typeface="Times New Roman"/>
                <a:cs typeface="Times New Roman"/>
              </a:rPr>
              <a:t>”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timer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1,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528895" marR="14609" indent="-525940">
              <a:lnSpc>
                <a:spcPct val="143300"/>
              </a:lnSpc>
              <a:spcBef>
                <a:spcPts val="23"/>
              </a:spcBef>
              <a:buSzPct val="91666"/>
              <a:buFont typeface="Times New Roman"/>
              <a:buAutoNum type="arabicPeriod"/>
              <a:tabLst>
                <a:tab pos="2530356" algn="l"/>
              </a:tabLst>
            </a:pPr>
            <a:r>
              <a:rPr sz="2761" dirty="0">
                <a:latin typeface="Times New Roman"/>
                <a:cs typeface="Times New Roman"/>
              </a:rPr>
              <a:t>Cle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TF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la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round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“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0”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“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R T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-12" dirty="0">
                <a:latin typeface="Times New Roman"/>
                <a:cs typeface="Times New Roman"/>
              </a:rPr>
              <a:t>”</a:t>
            </a:r>
            <a:r>
              <a:rPr sz="2761" dirty="0">
                <a:latin typeface="Times New Roman"/>
                <a:cs typeface="Times New Roman"/>
              </a:rPr>
              <a:t>,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0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ti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1,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528895" indent="-525940">
              <a:spcBef>
                <a:spcPts val="1461"/>
              </a:spcBef>
              <a:buSzPct val="91666"/>
              <a:buFont typeface="Times New Roman"/>
              <a:buAutoNum type="arabicPeriod"/>
              <a:tabLst>
                <a:tab pos="2530356" algn="l"/>
              </a:tabLst>
            </a:pPr>
            <a:r>
              <a:rPr sz="2761" dirty="0">
                <a:latin typeface="Times New Roman"/>
                <a:cs typeface="Times New Roman"/>
              </a:rPr>
              <a:t>Go b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to step 2 to load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in.</a:t>
            </a:r>
          </a:p>
        </p:txBody>
      </p:sp>
    </p:spTree>
    <p:extLst>
      <p:ext uri="{BB962C8B-B14F-4D97-AF65-F5344CB8AC3E}">
        <p14:creationId xmlns:p14="http://schemas.microsoft.com/office/powerpoint/2010/main" val="517758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92200" y="990600"/>
            <a:ext cx="15544800" cy="8332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f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or pro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ti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8051</a:t>
            </a:r>
            <a:endParaRPr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ode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0:</a:t>
            </a:r>
            <a:endParaRPr sz="2761" dirty="0">
              <a:latin typeface="Times New Roman"/>
              <a:cs typeface="Times New Roman"/>
            </a:endParaRP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mming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hniques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mentioned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r/tim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</a:t>
            </a:r>
            <a:r>
              <a:rPr lang="en-US" sz="2761" dirty="0">
                <a:latin typeface="Times New Roman"/>
                <a:cs typeface="Times New Roman"/>
              </a:rPr>
              <a:t> 0.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in the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lue.</a:t>
            </a:r>
          </a:p>
          <a:p>
            <a:pPr marL="29219">
              <a:spcBef>
                <a:spcPts val="1461"/>
              </a:spcBef>
            </a:pPr>
            <a:endParaRPr lang="en-US" sz="2761" i="1" spc="-12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ode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2:</a:t>
            </a:r>
            <a:endParaRPr sz="2761" dirty="0">
              <a:latin typeface="Times New Roman"/>
              <a:cs typeface="Times New Roman"/>
            </a:endParaRPr>
          </a:p>
          <a:p>
            <a:pPr marL="555159" marR="27758">
              <a:lnSpc>
                <a:spcPts val="4785"/>
              </a:lnSpc>
              <a:spcBef>
                <a:spcPts val="368"/>
              </a:spcBef>
              <a:tabLst>
                <a:tab pos="1081099" algn="l"/>
              </a:tabLst>
            </a:pPr>
            <a:r>
              <a:rPr lang="en-US" sz="2761" spc="-35" dirty="0">
                <a:latin typeface="Times New Roman"/>
                <a:cs typeface="Times New Roman"/>
              </a:rPr>
              <a:t>      1.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TM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(0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d;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timer mode 2.</a:t>
            </a:r>
            <a:endParaRPr lang="en-US" sz="2761" dirty="0">
              <a:latin typeface="Times New Roman"/>
              <a:cs typeface="Times New Roman"/>
            </a:endParaRPr>
          </a:p>
          <a:p>
            <a:pPr marL="1607039" marR="11688" indent="-525940">
              <a:lnSpc>
                <a:spcPct val="143300"/>
              </a:lnSpc>
              <a:buFont typeface="Times New Roman"/>
              <a:buAutoNum type="arabicPeriod" startAt="2"/>
              <a:tabLst>
                <a:tab pos="1608500" algn="l"/>
              </a:tabLst>
            </a:pP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initi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ount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69" dirty="0">
                <a:latin typeface="Times New Roman"/>
                <a:cs typeface="Times New Roman"/>
              </a:rPr>
              <a:t>8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bit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lid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ge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 00 to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FH.  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rt the time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1607039" marR="11688" indent="-525940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 startAt="2"/>
              <a:tabLst>
                <a:tab pos="1608500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monitori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flag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“</a:t>
            </a: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NB 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tar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”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instr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ised. </a:t>
            </a:r>
            <a:r>
              <a:rPr lang="en-US" sz="2761" spc="-12" dirty="0">
                <a:latin typeface="Times New Roman"/>
                <a:cs typeface="Times New Roman"/>
              </a:rPr>
              <a:t>Ge</a:t>
            </a:r>
            <a:r>
              <a:rPr lang="en-US" sz="2761" dirty="0">
                <a:latin typeface="Times New Roman"/>
                <a:cs typeface="Times New Roman"/>
              </a:rPr>
              <a:t>t out of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p 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T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hi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h.</a:t>
            </a:r>
          </a:p>
          <a:p>
            <a:pPr marL="1607039" indent="-525940">
              <a:spcBef>
                <a:spcPts val="1461"/>
              </a:spcBef>
              <a:buFont typeface="Times New Roman"/>
              <a:buAutoNum type="arabicPeriod" startAt="2"/>
              <a:tabLst>
                <a:tab pos="1608500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Cle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1607039" indent="-525940">
              <a:spcBef>
                <a:spcPts val="1438"/>
              </a:spcBef>
              <a:buFont typeface="Times New Roman"/>
              <a:buAutoNum type="arabicPeriod" startAt="2"/>
              <a:tabLst>
                <a:tab pos="1608500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Go b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 to step 4, sin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mode 2 is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ut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load.</a:t>
            </a:r>
          </a:p>
        </p:txBody>
      </p:sp>
    </p:spTree>
    <p:extLst>
      <p:ext uri="{BB962C8B-B14F-4D97-AF65-F5344CB8AC3E}">
        <p14:creationId xmlns:p14="http://schemas.microsoft.com/office/powerpoint/2010/main" val="127983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685800"/>
            <a:ext cx="14257070" cy="82863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 marR="14609" indent="-527401">
              <a:spcBef>
                <a:spcPts val="1622"/>
              </a:spcBef>
            </a:pPr>
            <a:r>
              <a:rPr sz="2760" b="1" i="1" dirty="0">
                <a:latin typeface="Cambria"/>
                <a:cs typeface="Cambria"/>
              </a:rPr>
              <a:t>1.</a:t>
            </a:r>
            <a:r>
              <a:rPr sz="2760" b="1" i="1" dirty="0">
                <a:latin typeface="Times New Roman"/>
                <a:cs typeface="Times New Roman"/>
              </a:rPr>
              <a:t>  </a:t>
            </a:r>
            <a:r>
              <a:rPr sz="2760" b="1" i="1" spc="207" dirty="0">
                <a:latin typeface="Times New Roman"/>
                <a:cs typeface="Times New Roman"/>
              </a:rPr>
              <a:t> </a:t>
            </a:r>
            <a:r>
              <a:rPr sz="2760" b="1" i="1" dirty="0">
                <a:latin typeface="Times New Roman"/>
                <a:cs typeface="Times New Roman"/>
              </a:rPr>
              <a:t>Write a program</a:t>
            </a:r>
            <a:r>
              <a:rPr sz="2760" b="1" i="1" spc="23" dirty="0">
                <a:latin typeface="Times New Roman"/>
                <a:cs typeface="Times New Roman"/>
              </a:rPr>
              <a:t> </a:t>
            </a:r>
            <a:r>
              <a:rPr sz="2760" b="1" i="1" dirty="0">
                <a:latin typeface="Times New Roman"/>
                <a:cs typeface="Times New Roman"/>
              </a:rPr>
              <a:t>to con</a:t>
            </a:r>
            <a:r>
              <a:rPr sz="2760" b="1" i="1" spc="-23" dirty="0">
                <a:latin typeface="Times New Roman"/>
                <a:cs typeface="Times New Roman"/>
              </a:rPr>
              <a:t>ti</a:t>
            </a:r>
            <a:r>
              <a:rPr sz="2760" b="1" i="1" dirty="0">
                <a:latin typeface="Times New Roman"/>
                <a:cs typeface="Times New Roman"/>
              </a:rPr>
              <a:t>nuously g</a:t>
            </a:r>
            <a:r>
              <a:rPr sz="2760" b="1" i="1" spc="-23" dirty="0">
                <a:latin typeface="Times New Roman"/>
                <a:cs typeface="Times New Roman"/>
              </a:rPr>
              <a:t>e</a:t>
            </a:r>
            <a:r>
              <a:rPr sz="2760" b="1" i="1" dirty="0">
                <a:latin typeface="Times New Roman"/>
                <a:cs typeface="Times New Roman"/>
              </a:rPr>
              <a:t>n</a:t>
            </a:r>
            <a:r>
              <a:rPr sz="2760" b="1" i="1" spc="-12" dirty="0">
                <a:latin typeface="Times New Roman"/>
                <a:cs typeface="Times New Roman"/>
              </a:rPr>
              <a:t>e</a:t>
            </a:r>
            <a:r>
              <a:rPr sz="2760" b="1" i="1" dirty="0">
                <a:latin typeface="Times New Roman"/>
                <a:cs typeface="Times New Roman"/>
              </a:rPr>
              <a:t>rate a squ</a:t>
            </a:r>
            <a:r>
              <a:rPr sz="2760" b="1" i="1" spc="-35" dirty="0">
                <a:latin typeface="Times New Roman"/>
                <a:cs typeface="Times New Roman"/>
              </a:rPr>
              <a:t>a</a:t>
            </a:r>
            <a:r>
              <a:rPr sz="2760" b="1" i="1" dirty="0">
                <a:latin typeface="Times New Roman"/>
                <a:cs typeface="Times New Roman"/>
              </a:rPr>
              <a:t>re</a:t>
            </a:r>
            <a:r>
              <a:rPr sz="2760" b="1" i="1" spc="-12" dirty="0">
                <a:latin typeface="Times New Roman"/>
                <a:cs typeface="Times New Roman"/>
              </a:rPr>
              <a:t> </a:t>
            </a:r>
            <a:r>
              <a:rPr sz="2760" b="1" i="1" dirty="0">
                <a:latin typeface="Times New Roman"/>
                <a:cs typeface="Times New Roman"/>
              </a:rPr>
              <a:t>wa</a:t>
            </a:r>
            <a:r>
              <a:rPr sz="2760" b="1" i="1" spc="-12" dirty="0">
                <a:latin typeface="Times New Roman"/>
                <a:cs typeface="Times New Roman"/>
              </a:rPr>
              <a:t>v</a:t>
            </a:r>
            <a:r>
              <a:rPr sz="2760" b="1" i="1" dirty="0">
                <a:latin typeface="Times New Roman"/>
                <a:cs typeface="Times New Roman"/>
              </a:rPr>
              <a:t>e</a:t>
            </a:r>
            <a:r>
              <a:rPr sz="2760" b="1" i="1" spc="-12" dirty="0">
                <a:latin typeface="Times New Roman"/>
                <a:cs typeface="Times New Roman"/>
              </a:rPr>
              <a:t> </a:t>
            </a:r>
            <a:r>
              <a:rPr sz="2760" b="1" i="1" dirty="0">
                <a:latin typeface="Times New Roman"/>
                <a:cs typeface="Times New Roman"/>
              </a:rPr>
              <a:t>of</a:t>
            </a:r>
            <a:r>
              <a:rPr sz="2760" b="1" i="1" spc="12" dirty="0">
                <a:latin typeface="Times New Roman"/>
                <a:cs typeface="Times New Roman"/>
              </a:rPr>
              <a:t> </a:t>
            </a:r>
            <a:r>
              <a:rPr sz="2760" b="1" i="1" dirty="0">
                <a:latin typeface="Times New Roman"/>
                <a:cs typeface="Times New Roman"/>
              </a:rPr>
              <a:t>2 kHz fr</a:t>
            </a:r>
            <a:r>
              <a:rPr sz="2760" b="1" i="1" spc="-23" dirty="0">
                <a:latin typeface="Times New Roman"/>
                <a:cs typeface="Times New Roman"/>
              </a:rPr>
              <a:t>e</a:t>
            </a:r>
            <a:r>
              <a:rPr sz="2760" b="1" i="1" dirty="0">
                <a:latin typeface="Times New Roman"/>
                <a:cs typeface="Times New Roman"/>
              </a:rPr>
              <a:t>qu</a:t>
            </a:r>
            <a:r>
              <a:rPr sz="2760" b="1" i="1" spc="12" dirty="0">
                <a:latin typeface="Times New Roman"/>
                <a:cs typeface="Times New Roman"/>
              </a:rPr>
              <a:t>e</a:t>
            </a:r>
            <a:r>
              <a:rPr sz="2760" b="1" i="1" dirty="0">
                <a:latin typeface="Times New Roman"/>
                <a:cs typeface="Times New Roman"/>
              </a:rPr>
              <a:t>n</a:t>
            </a:r>
            <a:r>
              <a:rPr sz="2760" b="1" i="1" spc="-12" dirty="0">
                <a:latin typeface="Times New Roman"/>
                <a:cs typeface="Times New Roman"/>
              </a:rPr>
              <a:t>c</a:t>
            </a:r>
            <a:r>
              <a:rPr sz="2760" b="1" i="1" dirty="0">
                <a:latin typeface="Times New Roman"/>
                <a:cs typeface="Times New Roman"/>
              </a:rPr>
              <a:t>y</a:t>
            </a:r>
            <a:r>
              <a:rPr sz="2760" b="1" i="1" spc="-12" dirty="0">
                <a:latin typeface="Times New Roman"/>
                <a:cs typeface="Times New Roman"/>
              </a:rPr>
              <a:t> </a:t>
            </a:r>
            <a:r>
              <a:rPr sz="2760" b="1" i="1" dirty="0">
                <a:latin typeface="Times New Roman"/>
                <a:cs typeface="Times New Roman"/>
              </a:rPr>
              <a:t>on pin</a:t>
            </a:r>
            <a:r>
              <a:rPr sz="2760" b="1" i="1" spc="12" dirty="0">
                <a:latin typeface="Times New Roman"/>
                <a:cs typeface="Times New Roman"/>
              </a:rPr>
              <a:t> </a:t>
            </a:r>
            <a:r>
              <a:rPr sz="2760" b="1" i="1" dirty="0">
                <a:latin typeface="Times New Roman"/>
                <a:cs typeface="Times New Roman"/>
              </a:rPr>
              <a:t>P1.5 usi</a:t>
            </a:r>
            <a:r>
              <a:rPr sz="2760" b="1" i="1" spc="12" dirty="0">
                <a:latin typeface="Times New Roman"/>
                <a:cs typeface="Times New Roman"/>
              </a:rPr>
              <a:t>n</a:t>
            </a:r>
            <a:r>
              <a:rPr sz="2760" b="1" i="1" dirty="0">
                <a:latin typeface="Times New Roman"/>
                <a:cs typeface="Times New Roman"/>
              </a:rPr>
              <a:t>g t</a:t>
            </a:r>
            <a:r>
              <a:rPr sz="2760" b="1" i="1" spc="-23" dirty="0">
                <a:latin typeface="Times New Roman"/>
                <a:cs typeface="Times New Roman"/>
              </a:rPr>
              <a:t>i</a:t>
            </a:r>
            <a:r>
              <a:rPr sz="2760" b="1" i="1" spc="23" dirty="0">
                <a:latin typeface="Times New Roman"/>
                <a:cs typeface="Times New Roman"/>
              </a:rPr>
              <a:t>m</a:t>
            </a:r>
            <a:r>
              <a:rPr sz="2760" b="1" i="1" spc="-12" dirty="0">
                <a:latin typeface="Times New Roman"/>
                <a:cs typeface="Times New Roman"/>
              </a:rPr>
              <a:t>e</a:t>
            </a:r>
            <a:r>
              <a:rPr sz="2760" b="1" i="1" dirty="0">
                <a:latin typeface="Times New Roman"/>
                <a:cs typeface="Times New Roman"/>
              </a:rPr>
              <a:t>r 1. Ass</a:t>
            </a:r>
            <a:r>
              <a:rPr sz="2760" b="1" i="1" spc="-12" dirty="0">
                <a:latin typeface="Times New Roman"/>
                <a:cs typeface="Times New Roman"/>
              </a:rPr>
              <a:t>u</a:t>
            </a:r>
            <a:r>
              <a:rPr sz="2760" b="1" i="1" spc="23" dirty="0">
                <a:latin typeface="Times New Roman"/>
                <a:cs typeface="Times New Roman"/>
              </a:rPr>
              <a:t>m</a:t>
            </a:r>
            <a:r>
              <a:rPr sz="2760" b="1" i="1" dirty="0">
                <a:latin typeface="Times New Roman"/>
                <a:cs typeface="Times New Roman"/>
              </a:rPr>
              <a:t>e</a:t>
            </a:r>
            <a:r>
              <a:rPr sz="2760" b="1" i="1" spc="-12" dirty="0">
                <a:latin typeface="Times New Roman"/>
                <a:cs typeface="Times New Roman"/>
              </a:rPr>
              <a:t> </a:t>
            </a:r>
            <a:r>
              <a:rPr sz="2760" b="1" i="1" spc="-23" dirty="0">
                <a:latin typeface="Times New Roman"/>
                <a:cs typeface="Times New Roman"/>
              </a:rPr>
              <a:t>t</a:t>
            </a:r>
            <a:r>
              <a:rPr sz="2760" b="1" i="1" dirty="0">
                <a:latin typeface="Times New Roman"/>
                <a:cs typeface="Times New Roman"/>
              </a:rPr>
              <a:t>he</a:t>
            </a:r>
            <a:r>
              <a:rPr sz="2760" b="1" i="1" spc="-12" dirty="0">
                <a:latin typeface="Times New Roman"/>
                <a:cs typeface="Times New Roman"/>
              </a:rPr>
              <a:t> c</a:t>
            </a:r>
            <a:r>
              <a:rPr sz="2760" b="1" i="1" dirty="0">
                <a:latin typeface="Times New Roman"/>
                <a:cs typeface="Times New Roman"/>
              </a:rPr>
              <a:t>r</a:t>
            </a:r>
            <a:r>
              <a:rPr sz="2760" b="1" i="1" spc="-12" dirty="0">
                <a:latin typeface="Times New Roman"/>
                <a:cs typeface="Times New Roman"/>
              </a:rPr>
              <a:t>y</a:t>
            </a:r>
            <a:r>
              <a:rPr sz="2760" b="1" i="1" dirty="0">
                <a:latin typeface="Times New Roman"/>
                <a:cs typeface="Times New Roman"/>
              </a:rPr>
              <a:t>stal os</a:t>
            </a:r>
            <a:r>
              <a:rPr sz="2760" b="1" i="1" spc="-12" dirty="0">
                <a:latin typeface="Times New Roman"/>
                <a:cs typeface="Times New Roman"/>
              </a:rPr>
              <a:t>c</a:t>
            </a:r>
            <a:r>
              <a:rPr sz="2760" b="1" i="1" dirty="0">
                <a:latin typeface="Times New Roman"/>
                <a:cs typeface="Times New Roman"/>
              </a:rPr>
              <a:t>illator fr</a:t>
            </a:r>
            <a:r>
              <a:rPr sz="2760" b="1" i="1" spc="-23" dirty="0">
                <a:latin typeface="Times New Roman"/>
                <a:cs typeface="Times New Roman"/>
              </a:rPr>
              <a:t>e</a:t>
            </a:r>
            <a:r>
              <a:rPr sz="2760" b="1" i="1" dirty="0">
                <a:latin typeface="Times New Roman"/>
                <a:cs typeface="Times New Roman"/>
              </a:rPr>
              <a:t>qu</a:t>
            </a:r>
            <a:r>
              <a:rPr sz="2760" b="1" i="1" spc="-12" dirty="0">
                <a:latin typeface="Times New Roman"/>
                <a:cs typeface="Times New Roman"/>
              </a:rPr>
              <a:t>e</a:t>
            </a:r>
            <a:r>
              <a:rPr sz="2760" b="1" i="1" dirty="0">
                <a:latin typeface="Times New Roman"/>
                <a:cs typeface="Times New Roman"/>
              </a:rPr>
              <a:t>n</a:t>
            </a:r>
            <a:r>
              <a:rPr sz="2760" b="1" i="1" spc="-12" dirty="0">
                <a:latin typeface="Times New Roman"/>
                <a:cs typeface="Times New Roman"/>
              </a:rPr>
              <a:t>c</a:t>
            </a:r>
            <a:r>
              <a:rPr sz="2760" b="1" i="1" dirty="0">
                <a:latin typeface="Times New Roman"/>
                <a:cs typeface="Times New Roman"/>
              </a:rPr>
              <a:t>y</a:t>
            </a:r>
            <a:r>
              <a:rPr sz="2760" b="1" i="1" spc="-12" dirty="0">
                <a:latin typeface="Times New Roman"/>
                <a:cs typeface="Times New Roman"/>
              </a:rPr>
              <a:t> </a:t>
            </a:r>
            <a:r>
              <a:rPr sz="2760" b="1" i="1" dirty="0">
                <a:latin typeface="Times New Roman"/>
                <a:cs typeface="Times New Roman"/>
              </a:rPr>
              <a:t>to be 12 MHz.</a:t>
            </a:r>
            <a:endParaRPr sz="2760" dirty="0">
              <a:latin typeface="Times New Roman"/>
              <a:cs typeface="Times New Roman"/>
            </a:endParaRPr>
          </a:p>
          <a:p>
            <a:endParaRPr sz="2760" dirty="0">
              <a:latin typeface="Times New Roman"/>
              <a:cs typeface="Times New Roman"/>
            </a:endParaRPr>
          </a:p>
          <a:p>
            <a:pPr>
              <a:spcBef>
                <a:spcPts val="71"/>
              </a:spcBef>
            </a:pPr>
            <a:endParaRPr sz="2760" dirty="0">
              <a:latin typeface="Times New Roman"/>
              <a:cs typeface="Times New Roman"/>
            </a:endParaRPr>
          </a:p>
          <a:p>
            <a:pPr marL="555159"/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p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riod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of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squ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re</a:t>
            </a:r>
            <a:r>
              <a:rPr sz="2760" spc="11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ve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is</a:t>
            </a:r>
            <a:r>
              <a:rPr sz="2760" spc="11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=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1/(2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kHz)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=</a:t>
            </a:r>
            <a:r>
              <a:rPr sz="2760" spc="69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500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μs.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h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h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lf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pulse</a:t>
            </a:r>
            <a:r>
              <a:rPr sz="2760" spc="69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=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250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μs.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v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lue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n</a:t>
            </a:r>
          </a:p>
          <a:p>
            <a:pPr marL="555159">
              <a:spcBef>
                <a:spcPts val="1438"/>
              </a:spcBef>
            </a:pPr>
            <a:r>
              <a:rPr sz="2760" dirty="0">
                <a:latin typeface="Times New Roman"/>
                <a:cs typeface="Times New Roman"/>
              </a:rPr>
              <a:t>for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250 μs is: 250 </a:t>
            </a:r>
            <a:r>
              <a:rPr sz="2760" spc="12" dirty="0">
                <a:latin typeface="Times New Roman"/>
                <a:cs typeface="Times New Roman"/>
              </a:rPr>
              <a:t>μ</a:t>
            </a:r>
            <a:r>
              <a:rPr sz="2760" dirty="0">
                <a:latin typeface="Times New Roman"/>
                <a:cs typeface="Times New Roman"/>
              </a:rPr>
              <a:t>s /1 </a:t>
            </a:r>
            <a:r>
              <a:rPr sz="2760" spc="-12" dirty="0">
                <a:latin typeface="Times New Roman"/>
                <a:cs typeface="Times New Roman"/>
              </a:rPr>
              <a:t>μ</a:t>
            </a:r>
            <a:r>
              <a:rPr sz="2760" dirty="0">
                <a:latin typeface="Times New Roman"/>
                <a:cs typeface="Times New Roman"/>
              </a:rPr>
              <a:t>s =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250</a:t>
            </a:r>
          </a:p>
          <a:p>
            <a:pPr marL="555159">
              <a:spcBef>
                <a:spcPts val="1461"/>
              </a:spcBef>
            </a:pPr>
            <a:r>
              <a:rPr sz="2760" dirty="0">
                <a:latin typeface="Times New Roman"/>
                <a:cs typeface="Times New Roman"/>
              </a:rPr>
              <a:t>65536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-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250 =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F</a:t>
            </a:r>
            <a:r>
              <a:rPr sz="2760" spc="-23" dirty="0">
                <a:latin typeface="Times New Roman"/>
                <a:cs typeface="Times New Roman"/>
              </a:rPr>
              <a:t>F</a:t>
            </a:r>
            <a:r>
              <a:rPr sz="2760" dirty="0">
                <a:latin typeface="Times New Roman"/>
                <a:cs typeface="Times New Roman"/>
              </a:rPr>
              <a:t>06H.</a:t>
            </a:r>
          </a:p>
          <a:p>
            <a:pPr marL="555159">
              <a:spcBef>
                <a:spcPts val="1438"/>
              </a:spcBef>
            </a:pPr>
            <a:r>
              <a:rPr sz="2760" spc="12" dirty="0">
                <a:latin typeface="Times New Roman"/>
                <a:cs typeface="Times New Roman"/>
              </a:rPr>
              <a:t>T</a:t>
            </a:r>
            <a:r>
              <a:rPr sz="2760" dirty="0">
                <a:latin typeface="Times New Roman"/>
                <a:cs typeface="Times New Roman"/>
              </a:rPr>
              <a:t>L</a:t>
            </a:r>
            <a:r>
              <a:rPr sz="2760" spc="-3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=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06H 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nd </a:t>
            </a:r>
            <a:r>
              <a:rPr sz="2760" spc="12" dirty="0">
                <a:latin typeface="Times New Roman"/>
                <a:cs typeface="Times New Roman"/>
              </a:rPr>
              <a:t>T</a:t>
            </a:r>
            <a:r>
              <a:rPr sz="2760" dirty="0">
                <a:latin typeface="Times New Roman"/>
                <a:cs typeface="Times New Roman"/>
              </a:rPr>
              <a:t>H =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spc="23" dirty="0">
                <a:latin typeface="Times New Roman"/>
                <a:cs typeface="Times New Roman"/>
              </a:rPr>
              <a:t>0</a:t>
            </a:r>
            <a:r>
              <a:rPr sz="2760" spc="-23" dirty="0">
                <a:latin typeface="Times New Roman"/>
                <a:cs typeface="Times New Roman"/>
              </a:rPr>
              <a:t>F</a:t>
            </a:r>
            <a:r>
              <a:rPr sz="2760" dirty="0">
                <a:latin typeface="Times New Roman"/>
                <a:cs typeface="Times New Roman"/>
              </a:rPr>
              <a:t>FH.</a:t>
            </a:r>
            <a:endParaRPr lang="en-US" sz="2760" dirty="0">
              <a:latin typeface="Times New Roman"/>
              <a:cs typeface="Times New Roman"/>
            </a:endParaRPr>
          </a:p>
          <a:p>
            <a:pPr marL="36576" algn="l" fontAlgn="t">
              <a:spcBef>
                <a:spcPts val="0"/>
              </a:spcBef>
              <a:spcAft>
                <a:spcPts val="0"/>
              </a:spcAft>
            </a:pPr>
            <a:endParaRPr lang="en-US" sz="2760" dirty="0">
              <a:latin typeface="Times New Roman"/>
              <a:cs typeface="Times New Roman"/>
            </a:endParaRPr>
          </a:p>
          <a:p>
            <a:pPr marL="36576" fontAlgn="t"/>
            <a:r>
              <a:rPr lang="en-US" sz="2760" dirty="0">
                <a:latin typeface="Times New Roman"/>
                <a:cs typeface="Times New Roman"/>
              </a:rPr>
              <a:t>		     MOV TMOD, #10	; Timer 1, mode 1</a:t>
            </a:r>
          </a:p>
          <a:p>
            <a:pPr marL="310896" marR="0" lvl="0" indent="0" algn="l" defTabSz="914400" rtl="0" eaLnBrk="1" fontAlgn="t" latinLnBrk="0" hangingPunct="1">
              <a:spcBef>
                <a:spcPts val="6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60" dirty="0">
                <a:latin typeface="Times New Roman"/>
                <a:cs typeface="Times New Roman"/>
              </a:rPr>
              <a:t>       AGAIN: MOV TL1, #06H	; TL0 = 06H</a:t>
            </a:r>
          </a:p>
          <a:p>
            <a:pPr marL="192024" algn="l" fontAlgn="t">
              <a:spcBef>
                <a:spcPts val="0"/>
              </a:spcBef>
              <a:spcAft>
                <a:spcPts val="0"/>
              </a:spcAft>
            </a:pPr>
            <a:r>
              <a:rPr lang="en-US" sz="2760" dirty="0">
                <a:latin typeface="Times New Roman"/>
                <a:cs typeface="Times New Roman"/>
              </a:rPr>
              <a:t>		    MOV TH1, #0FFH	; TH0 = FFH</a:t>
            </a:r>
          </a:p>
          <a:p>
            <a:pPr marL="192024" algn="l" fontAlgn="t">
              <a:spcBef>
                <a:spcPts val="0"/>
              </a:spcBef>
              <a:spcAft>
                <a:spcPts val="0"/>
              </a:spcAft>
            </a:pPr>
            <a:r>
              <a:rPr lang="en-US" sz="2760" dirty="0">
                <a:latin typeface="Times New Roman"/>
                <a:cs typeface="Times New Roman"/>
              </a:rPr>
              <a:t>		    SETB TR1		; Start timer 1</a:t>
            </a:r>
          </a:p>
          <a:p>
            <a:pPr marL="36576" algn="l" fontAlgn="t">
              <a:spcBef>
                <a:spcPts val="0"/>
              </a:spcBef>
              <a:spcAft>
                <a:spcPts val="0"/>
              </a:spcAft>
            </a:pPr>
            <a:r>
              <a:rPr lang="en-US" sz="2760" dirty="0">
                <a:latin typeface="Times New Roman"/>
                <a:cs typeface="Times New Roman"/>
              </a:rPr>
              <a:t>	BACK: JNB TF1, BACK		; Stay until timer rolls over</a:t>
            </a:r>
          </a:p>
          <a:p>
            <a:pPr marL="192024" marR="109728" fontAlgn="t"/>
            <a:r>
              <a:rPr lang="en-US" sz="2760" dirty="0">
                <a:latin typeface="Times New Roman"/>
                <a:cs typeface="Times New Roman"/>
              </a:rPr>
              <a:t>		   CLR TR1			; Stop timer 1</a:t>
            </a:r>
          </a:p>
          <a:p>
            <a:pPr marL="192024" marR="109728" algn="l" fontAlgn="t">
              <a:spcBef>
                <a:spcPts val="0"/>
              </a:spcBef>
              <a:spcAft>
                <a:spcPts val="0"/>
              </a:spcAft>
            </a:pPr>
            <a:r>
              <a:rPr lang="en-US" sz="2760" dirty="0">
                <a:latin typeface="Times New Roman"/>
                <a:cs typeface="Times New Roman"/>
              </a:rPr>
              <a:t>		   CPL P1.5			; Complement P1.5 to get Hi, Lo</a:t>
            </a:r>
          </a:p>
          <a:p>
            <a:pPr marL="192024" marR="36576" fontAlgn="t"/>
            <a:r>
              <a:rPr lang="en-US" sz="2760" dirty="0">
                <a:latin typeface="Times New Roman"/>
                <a:cs typeface="Times New Roman"/>
              </a:rPr>
              <a:t>		   CLR TF1			; Clear timer flag 1</a:t>
            </a:r>
          </a:p>
          <a:p>
            <a:pPr marL="192024" marR="36576" algn="l" fontAlgn="t">
              <a:spcBef>
                <a:spcPts val="0"/>
              </a:spcBef>
              <a:spcAft>
                <a:spcPts val="0"/>
              </a:spcAft>
            </a:pPr>
            <a:r>
              <a:rPr lang="en-US" sz="2760" dirty="0">
                <a:latin typeface="Times New Roman"/>
                <a:cs typeface="Times New Roman"/>
              </a:rPr>
              <a:t>		   SJMP AGAIN	 	; Reload timer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16000" y="685800"/>
            <a:ext cx="15316200" cy="7560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 marR="17531" indent="-527401" algn="just">
              <a:lnSpc>
                <a:spcPct val="143800"/>
              </a:lnSpc>
            </a:pPr>
            <a:r>
              <a:rPr sz="2531" b="1" i="1" dirty="0">
                <a:latin typeface="Cambria"/>
                <a:cs typeface="Cambria"/>
              </a:rPr>
              <a:t>2.</a:t>
            </a:r>
            <a:r>
              <a:rPr sz="2531" b="1" i="1" dirty="0">
                <a:latin typeface="Times New Roman"/>
                <a:cs typeface="Times New Roman"/>
              </a:rPr>
              <a:t>  </a:t>
            </a:r>
            <a:r>
              <a:rPr sz="2531" b="1" i="1" spc="207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Write </a:t>
            </a:r>
            <a:r>
              <a:rPr sz="2761" b="1" i="1" spc="-127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a </a:t>
            </a:r>
            <a:r>
              <a:rPr sz="2761" b="1" i="1" spc="-115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progr</a:t>
            </a:r>
            <a:r>
              <a:rPr sz="2761" b="1" i="1" spc="-23" dirty="0">
                <a:latin typeface="Times New Roman"/>
                <a:cs typeface="Times New Roman"/>
              </a:rPr>
              <a:t>a</a:t>
            </a:r>
            <a:r>
              <a:rPr sz="2761" b="1" i="1" dirty="0">
                <a:latin typeface="Times New Roman"/>
                <a:cs typeface="Times New Roman"/>
              </a:rPr>
              <a:t>m </a:t>
            </a:r>
            <a:r>
              <a:rPr sz="2761" b="1" i="1" spc="-9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s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gment </a:t>
            </a:r>
            <a:r>
              <a:rPr sz="2761" b="1" i="1" spc="-115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t</a:t>
            </a:r>
            <a:r>
              <a:rPr sz="2761" b="1" i="1" spc="12" dirty="0">
                <a:latin typeface="Times New Roman"/>
                <a:cs typeface="Times New Roman"/>
              </a:rPr>
              <a:t>h</a:t>
            </a:r>
            <a:r>
              <a:rPr sz="2761" b="1" i="1" dirty="0">
                <a:latin typeface="Times New Roman"/>
                <a:cs typeface="Times New Roman"/>
              </a:rPr>
              <a:t>at </a:t>
            </a:r>
            <a:r>
              <a:rPr sz="2761" b="1" i="1" spc="-115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us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s </a:t>
            </a:r>
            <a:r>
              <a:rPr sz="2761" b="1" i="1" spc="-115" dirty="0">
                <a:latin typeface="Times New Roman"/>
                <a:cs typeface="Times New Roman"/>
              </a:rPr>
              <a:t> </a:t>
            </a:r>
            <a:r>
              <a:rPr sz="2761" b="1" i="1" spc="-23" dirty="0">
                <a:latin typeface="Times New Roman"/>
                <a:cs typeface="Times New Roman"/>
              </a:rPr>
              <a:t>ti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r </a:t>
            </a:r>
            <a:r>
              <a:rPr sz="2761" b="1" i="1" spc="-115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1 </a:t>
            </a:r>
            <a:r>
              <a:rPr sz="2761" b="1" i="1" spc="-115" dirty="0">
                <a:latin typeface="Times New Roman"/>
                <a:cs typeface="Times New Roman"/>
              </a:rPr>
              <a:t> </a:t>
            </a:r>
            <a:r>
              <a:rPr sz="2761" b="1" i="1" spc="-23" dirty="0">
                <a:latin typeface="Times New Roman"/>
                <a:cs typeface="Times New Roman"/>
              </a:rPr>
              <a:t>i</a:t>
            </a:r>
            <a:r>
              <a:rPr sz="2761" b="1" i="1" dirty="0">
                <a:latin typeface="Times New Roman"/>
                <a:cs typeface="Times New Roman"/>
              </a:rPr>
              <a:t>n </a:t>
            </a:r>
            <a:r>
              <a:rPr sz="2761" b="1" i="1" spc="-138" dirty="0">
                <a:latin typeface="Times New Roman"/>
                <a:cs typeface="Times New Roman"/>
              </a:rPr>
              <a:t> 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dirty="0">
                <a:latin typeface="Times New Roman"/>
                <a:cs typeface="Times New Roman"/>
              </a:rPr>
              <a:t>ode </a:t>
            </a:r>
            <a:r>
              <a:rPr sz="2761" b="1" i="1" spc="-127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2 </a:t>
            </a:r>
            <a:r>
              <a:rPr sz="2761" b="1" i="1" spc="-115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to </a:t>
            </a:r>
            <a:r>
              <a:rPr sz="2761" b="1" i="1" spc="-115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toggle </a:t>
            </a:r>
            <a:r>
              <a:rPr sz="2761" b="1" i="1" spc="-127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P1.0 </a:t>
            </a:r>
            <a:r>
              <a:rPr sz="2761" b="1" i="1" spc="-127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on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e </a:t>
            </a:r>
            <a:r>
              <a:rPr sz="2761" b="1" i="1" spc="-127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wh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n</a:t>
            </a:r>
            <a:r>
              <a:rPr sz="2761" b="1" i="1" spc="-12" dirty="0">
                <a:latin typeface="Times New Roman"/>
                <a:cs typeface="Times New Roman"/>
              </a:rPr>
              <a:t>eve</a:t>
            </a:r>
            <a:r>
              <a:rPr sz="2761" b="1" i="1" dirty="0">
                <a:latin typeface="Times New Roman"/>
                <a:cs typeface="Times New Roman"/>
              </a:rPr>
              <a:t>r </a:t>
            </a:r>
            <a:r>
              <a:rPr sz="2761" b="1" i="1" spc="-115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t</a:t>
            </a:r>
            <a:r>
              <a:rPr sz="2761" b="1" i="1" spc="12" dirty="0">
                <a:latin typeface="Times New Roman"/>
                <a:cs typeface="Times New Roman"/>
              </a:rPr>
              <a:t>h</a:t>
            </a:r>
            <a:r>
              <a:rPr sz="2761" b="1" i="1" dirty="0">
                <a:latin typeface="Times New Roman"/>
                <a:cs typeface="Times New Roman"/>
              </a:rPr>
              <a:t>e 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ounter</a:t>
            </a:r>
            <a:r>
              <a:rPr sz="2761" b="1" i="1" spc="24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r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a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h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s</a:t>
            </a:r>
            <a:r>
              <a:rPr sz="2761" b="1" i="1" spc="24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a</a:t>
            </a:r>
            <a:r>
              <a:rPr sz="2761" b="1" i="1" spc="262" dirty="0">
                <a:latin typeface="Times New Roman"/>
                <a:cs typeface="Times New Roman"/>
              </a:rPr>
              <a:t> 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ount</a:t>
            </a:r>
            <a:r>
              <a:rPr sz="2761" b="1" i="1" spc="24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of</a:t>
            </a:r>
            <a:r>
              <a:rPr sz="2761" b="1" i="1" spc="230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100.  </a:t>
            </a:r>
            <a:r>
              <a:rPr sz="2761" b="1" i="1" spc="-138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Ass</a:t>
            </a:r>
            <a:r>
              <a:rPr sz="2761" b="1" i="1" spc="12" dirty="0">
                <a:latin typeface="Times New Roman"/>
                <a:cs typeface="Times New Roman"/>
              </a:rPr>
              <a:t>u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dirty="0">
                <a:latin typeface="Times New Roman"/>
                <a:cs typeface="Times New Roman"/>
              </a:rPr>
              <a:t>e</a:t>
            </a:r>
            <a:r>
              <a:rPr sz="2761" b="1" i="1" spc="230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t</a:t>
            </a:r>
            <a:r>
              <a:rPr sz="2761" b="1" i="1" spc="12" dirty="0">
                <a:latin typeface="Times New Roman"/>
                <a:cs typeface="Times New Roman"/>
              </a:rPr>
              <a:t>h</a:t>
            </a:r>
            <a:r>
              <a:rPr sz="2761" b="1" i="1" dirty="0">
                <a:latin typeface="Times New Roman"/>
                <a:cs typeface="Times New Roman"/>
              </a:rPr>
              <a:t>e</a:t>
            </a:r>
            <a:r>
              <a:rPr sz="2761" b="1" i="1" spc="230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t</a:t>
            </a:r>
            <a:r>
              <a:rPr sz="2761" b="1" i="1" spc="-23" dirty="0">
                <a:latin typeface="Times New Roman"/>
                <a:cs typeface="Times New Roman"/>
              </a:rPr>
              <a:t>i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r</a:t>
            </a:r>
            <a:r>
              <a:rPr sz="2761" b="1" i="1" spc="242" dirty="0">
                <a:latin typeface="Times New Roman"/>
                <a:cs typeface="Times New Roman"/>
              </a:rPr>
              <a:t> 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lock</a:t>
            </a:r>
            <a:r>
              <a:rPr sz="2761" b="1" i="1" spc="230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is</a:t>
            </a:r>
            <a:r>
              <a:rPr sz="2761" b="1" i="1" spc="253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taken</a:t>
            </a:r>
            <a:r>
              <a:rPr sz="2761" b="1" i="1" spc="24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from</a:t>
            </a:r>
            <a:r>
              <a:rPr sz="2761" b="1" i="1" spc="262" dirty="0">
                <a:latin typeface="Times New Roman"/>
                <a:cs typeface="Times New Roman"/>
              </a:rPr>
              <a:t> 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xternal</a:t>
            </a:r>
            <a:r>
              <a:rPr sz="2761" b="1" i="1" spc="253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sour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e</a:t>
            </a:r>
            <a:r>
              <a:rPr sz="2761" b="1" i="1" spc="230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P3.5 (</a:t>
            </a:r>
            <a:r>
              <a:rPr sz="2761" b="1" i="1" spc="-12" dirty="0">
                <a:latin typeface="Times New Roman"/>
                <a:cs typeface="Times New Roman"/>
              </a:rPr>
              <a:t>T</a:t>
            </a:r>
            <a:r>
              <a:rPr sz="2761" b="1" i="1" dirty="0">
                <a:latin typeface="Times New Roman"/>
                <a:cs typeface="Times New Roman"/>
              </a:rPr>
              <a:t>1).</a:t>
            </a: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64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555159" marR="11688">
              <a:lnSpc>
                <a:spcPct val="1441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TMOD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H.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TH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256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156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 9CH</a:t>
            </a:r>
            <a:endParaRPr lang="en-US" sz="2761" dirty="0">
              <a:latin typeface="Times New Roman"/>
              <a:cs typeface="Times New Roman"/>
            </a:endParaRPr>
          </a:p>
          <a:p>
            <a:pPr marL="45720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MOV	TMOD, #60h	; Counter1, mode 2, C/T’= 1</a:t>
            </a:r>
          </a:p>
          <a:p>
            <a:pPr marL="45720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MOV	TH1, #9Ch		; Counting 100 pulses</a:t>
            </a:r>
          </a:p>
          <a:p>
            <a:pPr marL="45720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SETB	P3.5			; Make T1 input</a:t>
            </a:r>
          </a:p>
          <a:p>
            <a:pPr marL="45720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SETB	TR1			; Start timer 1</a:t>
            </a: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BACK: JNB TF1, BACK		; Keep doing it if TF = 0</a:t>
            </a:r>
          </a:p>
          <a:p>
            <a:pPr marL="45720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CPL	P1.0			; Toggle port bit</a:t>
            </a:r>
          </a:p>
          <a:p>
            <a:pPr marL="45720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CLR	TF1			; Clear timer overflow flag</a:t>
            </a:r>
          </a:p>
          <a:p>
            <a:pPr marL="45720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SJMP    BACK		; Keep doing it</a:t>
            </a:r>
          </a:p>
        </p:txBody>
      </p:sp>
    </p:spTree>
    <p:extLst>
      <p:ext uri="{BB962C8B-B14F-4D97-AF65-F5344CB8AC3E}">
        <p14:creationId xmlns:p14="http://schemas.microsoft.com/office/powerpoint/2010/main" val="242187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549400" y="609600"/>
            <a:ext cx="15087600" cy="8722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INTERRUP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 algn="just">
              <a:spcBef>
                <a:spcPts val="2450"/>
              </a:spcBef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Basics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nter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upts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900"/>
              </a:lnSpc>
              <a:spcBef>
                <a:spcPts val="596"/>
              </a:spcBef>
            </a:pP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riph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rvice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rupt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vice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routin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interrupt 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routine,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turns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main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</a:p>
          <a:p>
            <a:pPr>
              <a:spcBef>
                <a:spcPts val="30"/>
              </a:spcBef>
            </a:pPr>
            <a:endParaRPr sz="2991" dirty="0">
              <a:latin typeface="Times New Roman"/>
              <a:cs typeface="Times New Roman"/>
            </a:endParaRPr>
          </a:p>
          <a:p>
            <a:pPr marL="29219" algn="just"/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Steps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taken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pro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es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or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while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ocessing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an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interrupt:</a:t>
            </a:r>
            <a:endParaRPr sz="2991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1227193" indent="-525940">
              <a:buFont typeface="Times New Roman"/>
              <a:buAutoNum type="arabicPeriod"/>
              <a:tabLst>
                <a:tab pos="1228654" algn="l"/>
              </a:tabLst>
            </a:pPr>
            <a:r>
              <a:rPr sz="2761" i="1" dirty="0">
                <a:latin typeface="Times New Roman"/>
                <a:cs typeface="Times New Roman"/>
              </a:rPr>
              <a:t>It 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ompl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tes the</a:t>
            </a:r>
            <a:r>
              <a:rPr sz="2761" i="1" spc="12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ex</a:t>
            </a:r>
            <a:r>
              <a:rPr sz="2761" i="1" spc="12" dirty="0">
                <a:latin typeface="Times New Roman"/>
                <a:cs typeface="Times New Roman"/>
              </a:rPr>
              <a:t>e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ution of the</a:t>
            </a:r>
            <a:r>
              <a:rPr sz="2761" i="1" spc="-12" dirty="0">
                <a:latin typeface="Times New Roman"/>
                <a:cs typeface="Times New Roman"/>
              </a:rPr>
              <a:t> c</a:t>
            </a:r>
            <a:r>
              <a:rPr sz="2761" i="1" dirty="0">
                <a:latin typeface="Times New Roman"/>
                <a:cs typeface="Times New Roman"/>
              </a:rPr>
              <a:t>urrent instru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tion.</a:t>
            </a:r>
            <a:endParaRPr sz="2761" dirty="0">
              <a:latin typeface="Times New Roman"/>
              <a:cs typeface="Times New Roman"/>
            </a:endParaRPr>
          </a:p>
          <a:p>
            <a:pPr marL="1227193" indent="-525940">
              <a:spcBef>
                <a:spcPts val="1438"/>
              </a:spcBef>
              <a:buFont typeface="Times New Roman"/>
              <a:buAutoNum type="arabicPeriod"/>
              <a:tabLst>
                <a:tab pos="1228654" algn="l"/>
              </a:tabLst>
            </a:pPr>
            <a:r>
              <a:rPr sz="2761" i="1" dirty="0">
                <a:latin typeface="Times New Roman"/>
                <a:cs typeface="Times New Roman"/>
              </a:rPr>
              <a:t>P</a:t>
            </a:r>
            <a:r>
              <a:rPr sz="2761" i="1" spc="12" dirty="0">
                <a:latin typeface="Times New Roman"/>
                <a:cs typeface="Times New Roman"/>
              </a:rPr>
              <a:t>S</a:t>
            </a:r>
            <a:r>
              <a:rPr sz="2761" i="1" dirty="0">
                <a:latin typeface="Times New Roman"/>
                <a:cs typeface="Times New Roman"/>
              </a:rPr>
              <a:t>W</a:t>
            </a:r>
            <a:r>
              <a:rPr sz="2761" i="1" spc="-6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is push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 to sta</a:t>
            </a:r>
            <a:r>
              <a:rPr sz="2761" i="1" spc="12" dirty="0">
                <a:latin typeface="Times New Roman"/>
                <a:cs typeface="Times New Roman"/>
              </a:rPr>
              <a:t>c</a:t>
            </a:r>
            <a:r>
              <a:rPr sz="2761" i="1" spc="-12" dirty="0">
                <a:latin typeface="Times New Roman"/>
                <a:cs typeface="Times New Roman"/>
              </a:rPr>
              <a:t>k</a:t>
            </a:r>
            <a:r>
              <a:rPr sz="2761" i="1" dirty="0">
                <a:latin typeface="Times New Roman"/>
                <a:cs typeface="Times New Roman"/>
              </a:rPr>
              <a:t>.</a:t>
            </a:r>
            <a:endParaRPr sz="2761" dirty="0">
              <a:latin typeface="Times New Roman"/>
              <a:cs typeface="Times New Roman"/>
            </a:endParaRPr>
          </a:p>
          <a:p>
            <a:pPr marL="1227193" indent="-525940">
              <a:spcBef>
                <a:spcPts val="1461"/>
              </a:spcBef>
              <a:buFont typeface="Times New Roman"/>
              <a:buAutoNum type="arabicPeriod"/>
              <a:tabLst>
                <a:tab pos="1228654" algn="l"/>
              </a:tabLst>
            </a:pPr>
            <a:r>
              <a:rPr sz="2761" i="1" dirty="0">
                <a:latin typeface="Times New Roman"/>
                <a:cs typeface="Times New Roman"/>
              </a:rPr>
              <a:t>PC cont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nt is pushed to sta</a:t>
            </a:r>
            <a:r>
              <a:rPr sz="2761" i="1" spc="-12" dirty="0">
                <a:latin typeface="Times New Roman"/>
                <a:cs typeface="Times New Roman"/>
              </a:rPr>
              <a:t>ck</a:t>
            </a:r>
            <a:r>
              <a:rPr sz="2761" i="1" dirty="0">
                <a:latin typeface="Times New Roman"/>
                <a:cs typeface="Times New Roman"/>
              </a:rPr>
              <a:t>.</a:t>
            </a:r>
            <a:endParaRPr sz="2761" dirty="0">
              <a:latin typeface="Times New Roman"/>
              <a:cs typeface="Times New Roman"/>
            </a:endParaRPr>
          </a:p>
          <a:p>
            <a:pPr marL="1227193" indent="-525940">
              <a:spcBef>
                <a:spcPts val="1438"/>
              </a:spcBef>
              <a:buFont typeface="Times New Roman"/>
              <a:buAutoNum type="arabicPeriod"/>
              <a:tabLst>
                <a:tab pos="1228654" algn="l"/>
              </a:tabLst>
            </a:pPr>
            <a:r>
              <a:rPr sz="2761" i="1" dirty="0">
                <a:latin typeface="Times New Roman"/>
                <a:cs typeface="Times New Roman"/>
              </a:rPr>
              <a:t>Int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rrupt flag is r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t.</a:t>
            </a:r>
            <a:endParaRPr sz="2761" dirty="0">
              <a:latin typeface="Times New Roman"/>
              <a:cs typeface="Times New Roman"/>
            </a:endParaRPr>
          </a:p>
          <a:p>
            <a:pPr marL="1227193" indent="-525940">
              <a:spcBef>
                <a:spcPts val="1461"/>
              </a:spcBef>
              <a:buFont typeface="Times New Roman"/>
              <a:buAutoNum type="arabicPeriod"/>
              <a:tabLst>
                <a:tab pos="1228654" algn="l"/>
              </a:tabLst>
            </a:pPr>
            <a:r>
              <a:rPr sz="2761" i="1" dirty="0">
                <a:latin typeface="Times New Roman"/>
                <a:cs typeface="Times New Roman"/>
              </a:rPr>
              <a:t>PC is load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 with ISR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a</a:t>
            </a:r>
            <a:r>
              <a:rPr sz="2761" i="1" spc="-35" dirty="0">
                <a:latin typeface="Times New Roman"/>
                <a:cs typeface="Times New Roman"/>
              </a:rPr>
              <a:t>d</a:t>
            </a:r>
            <a:r>
              <a:rPr sz="2761" i="1" dirty="0">
                <a:latin typeface="Times New Roman"/>
                <a:cs typeface="Times New Roman"/>
              </a:rPr>
              <a:t>dr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ss.</a:t>
            </a: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549400" y="609600"/>
            <a:ext cx="15087600" cy="8710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INTERRUP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 marR="23375" algn="just">
              <a:lnSpc>
                <a:spcPct val="143300"/>
              </a:lnSpc>
              <a:spcBef>
                <a:spcPts val="1599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SR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followin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284170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285631" algn="l"/>
              </a:tabLst>
            </a:pPr>
            <a:r>
              <a:rPr sz="2761" i="1" dirty="0">
                <a:latin typeface="Times New Roman"/>
                <a:cs typeface="Times New Roman"/>
              </a:rPr>
              <a:t>P</a:t>
            </a:r>
            <a:r>
              <a:rPr sz="2761" i="1" spc="-12" dirty="0">
                <a:latin typeface="Times New Roman"/>
                <a:cs typeface="Times New Roman"/>
              </a:rPr>
              <a:t>O</a:t>
            </a:r>
            <a:r>
              <a:rPr sz="2761" i="1" dirty="0">
                <a:latin typeface="Times New Roman"/>
                <a:cs typeface="Times New Roman"/>
              </a:rPr>
              <a:t>P the</a:t>
            </a:r>
            <a:r>
              <a:rPr sz="2761" i="1" spc="-12" dirty="0">
                <a:latin typeface="Times New Roman"/>
                <a:cs typeface="Times New Roman"/>
              </a:rPr>
              <a:t> c</a:t>
            </a:r>
            <a:r>
              <a:rPr sz="2761" i="1" dirty="0">
                <a:latin typeface="Times New Roman"/>
                <a:cs typeface="Times New Roman"/>
              </a:rPr>
              <a:t>urrent sta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k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</a:t>
            </a:r>
            <a:r>
              <a:rPr sz="2761" i="1" spc="23" dirty="0">
                <a:latin typeface="Times New Roman"/>
                <a:cs typeface="Times New Roman"/>
              </a:rPr>
              <a:t>o</a:t>
            </a:r>
            <a:r>
              <a:rPr sz="2761" i="1" dirty="0">
                <a:latin typeface="Times New Roman"/>
                <a:cs typeface="Times New Roman"/>
              </a:rPr>
              <a:t>p to the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PC.</a:t>
            </a:r>
            <a:endParaRPr sz="2761" dirty="0">
              <a:latin typeface="Times New Roman"/>
              <a:cs typeface="Times New Roman"/>
            </a:endParaRPr>
          </a:p>
          <a:p>
            <a:pPr marL="1284170" indent="-525940">
              <a:spcBef>
                <a:spcPts val="1438"/>
              </a:spcBef>
              <a:buSzPct val="91666"/>
              <a:buFont typeface="Cambria"/>
              <a:buAutoNum type="arabicPeriod"/>
              <a:tabLst>
                <a:tab pos="1285631" algn="l"/>
              </a:tabLst>
            </a:pPr>
            <a:r>
              <a:rPr sz="2761" i="1" dirty="0">
                <a:latin typeface="Times New Roman"/>
                <a:cs typeface="Times New Roman"/>
              </a:rPr>
              <a:t>P</a:t>
            </a:r>
            <a:r>
              <a:rPr sz="2761" i="1" spc="-12" dirty="0">
                <a:latin typeface="Times New Roman"/>
                <a:cs typeface="Times New Roman"/>
              </a:rPr>
              <a:t>O</a:t>
            </a:r>
            <a:r>
              <a:rPr sz="2761" i="1" dirty="0">
                <a:latin typeface="Times New Roman"/>
                <a:cs typeface="Times New Roman"/>
              </a:rPr>
              <a:t>P the</a:t>
            </a:r>
            <a:r>
              <a:rPr sz="2761" i="1" spc="-12" dirty="0">
                <a:latin typeface="Times New Roman"/>
                <a:cs typeface="Times New Roman"/>
              </a:rPr>
              <a:t> c</a:t>
            </a:r>
            <a:r>
              <a:rPr sz="2761" i="1" dirty="0">
                <a:latin typeface="Times New Roman"/>
                <a:cs typeface="Times New Roman"/>
              </a:rPr>
              <a:t>urrent sta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k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</a:t>
            </a:r>
            <a:r>
              <a:rPr sz="2761" i="1" spc="23" dirty="0">
                <a:latin typeface="Times New Roman"/>
                <a:cs typeface="Times New Roman"/>
              </a:rPr>
              <a:t>o</a:t>
            </a:r>
            <a:r>
              <a:rPr sz="2761" i="1" dirty="0">
                <a:latin typeface="Times New Roman"/>
                <a:cs typeface="Times New Roman"/>
              </a:rPr>
              <a:t>p to P</a:t>
            </a:r>
            <a:r>
              <a:rPr sz="2761" i="1" spc="23" dirty="0">
                <a:latin typeface="Times New Roman"/>
                <a:cs typeface="Times New Roman"/>
              </a:rPr>
              <a:t>S</a:t>
            </a:r>
            <a:r>
              <a:rPr sz="2761" i="1" spc="-69" dirty="0">
                <a:latin typeface="Times New Roman"/>
                <a:cs typeface="Times New Roman"/>
              </a:rPr>
              <a:t>W</a:t>
            </a:r>
            <a:r>
              <a:rPr sz="2761" i="1" dirty="0">
                <a:latin typeface="Times New Roman"/>
                <a:cs typeface="Times New Roman"/>
              </a:rPr>
              <a:t>.</a:t>
            </a:r>
            <a:endParaRPr lang="en-US" sz="2761" i="1" dirty="0">
              <a:latin typeface="Times New Roman"/>
              <a:cs typeface="Times New Roman"/>
            </a:endParaRPr>
          </a:p>
          <a:p>
            <a:pPr marL="758230">
              <a:spcBef>
                <a:spcPts val="1438"/>
              </a:spcBef>
              <a:buSzPct val="91666"/>
              <a:tabLst>
                <a:tab pos="1285631" algn="l"/>
              </a:tabLst>
            </a:pPr>
            <a:endParaRPr lang="en-US" sz="2761" i="1" dirty="0">
              <a:latin typeface="Times New Roman"/>
              <a:cs typeface="Times New Roman"/>
            </a:endParaRPr>
          </a:p>
          <a:p>
            <a:pPr marL="29219"/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Classi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ication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lang="en-US"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lang="en-US"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terru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pts.</a:t>
            </a:r>
            <a:endParaRPr lang="en-US"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3681" dirty="0">
              <a:latin typeface="Times New Roman"/>
              <a:cs typeface="Times New Roman"/>
            </a:endParaRPr>
          </a:p>
          <a:p>
            <a:pPr marL="1284170" indent="-525940">
              <a:spcBef>
                <a:spcPts val="2646"/>
              </a:spcBef>
              <a:buSzPct val="91666"/>
              <a:buFont typeface="Cambria"/>
              <a:buAutoNum type="arabicPeriod"/>
              <a:tabLst>
                <a:tab pos="1285631" algn="l"/>
              </a:tabLst>
            </a:pPr>
            <a:r>
              <a:rPr lang="en-US" sz="2761" b="1" i="1" dirty="0">
                <a:latin typeface="Times New Roman"/>
                <a:cs typeface="Times New Roman"/>
              </a:rPr>
              <a:t>External and </a:t>
            </a:r>
            <a:r>
              <a:rPr lang="en-US" sz="2761" b="1" i="1" spc="-23" dirty="0">
                <a:latin typeface="Times New Roman"/>
                <a:cs typeface="Times New Roman"/>
              </a:rPr>
              <a:t>i</a:t>
            </a:r>
            <a:r>
              <a:rPr lang="en-US" sz="2761" b="1" i="1" dirty="0">
                <a:latin typeface="Times New Roman"/>
                <a:cs typeface="Times New Roman"/>
              </a:rPr>
              <a:t>nternal </a:t>
            </a:r>
            <a:r>
              <a:rPr lang="en-US" sz="2761" b="1" i="1" spc="-23" dirty="0">
                <a:latin typeface="Times New Roman"/>
                <a:cs typeface="Times New Roman"/>
              </a:rPr>
              <a:t>in</a:t>
            </a:r>
            <a:r>
              <a:rPr lang="en-US" sz="2761" b="1" i="1" dirty="0">
                <a:latin typeface="Times New Roman"/>
                <a:cs typeface="Times New Roman"/>
              </a:rPr>
              <a:t>terrupts.</a:t>
            </a:r>
            <a:endParaRPr lang="en-US" sz="2761" dirty="0">
              <a:latin typeface="Times New Roman"/>
              <a:cs typeface="Times New Roman"/>
            </a:endParaRPr>
          </a:p>
          <a:p>
            <a:pPr marL="1284170" marR="24836">
              <a:lnSpc>
                <a:spcPts val="4785"/>
              </a:lnSpc>
              <a:spcBef>
                <a:spcPts val="311"/>
              </a:spcBef>
            </a:pP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upts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ose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initi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ted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riph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vic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thro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pins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the mic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</a:p>
          <a:p>
            <a:pPr marL="1284170">
              <a:spcBef>
                <a:spcPts val="1024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rupts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ose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tiv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rip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ic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</a:p>
          <a:p>
            <a:pPr marL="1284170">
              <a:spcBef>
                <a:spcPts val="1472"/>
              </a:spcBef>
            </a:pPr>
            <a:r>
              <a:rPr lang="en-US" sz="2761" dirty="0">
                <a:latin typeface="Times New Roman"/>
                <a:cs typeface="Times New Roman"/>
              </a:rPr>
              <a:t>like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s, se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ial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ler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tc.)</a:t>
            </a:r>
          </a:p>
        </p:txBody>
      </p:sp>
    </p:spTree>
    <p:extLst>
      <p:ext uri="{BB962C8B-B14F-4D97-AF65-F5344CB8AC3E}">
        <p14:creationId xmlns:p14="http://schemas.microsoft.com/office/powerpoint/2010/main" val="1005038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762000"/>
            <a:ext cx="14554200" cy="773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4170" indent="-525940">
              <a:spcBef>
                <a:spcPts val="1484"/>
              </a:spcBef>
              <a:buSzPct val="91666"/>
              <a:buFont typeface="Cambria"/>
              <a:buAutoNum type="arabicPeriod" startAt="2"/>
              <a:tabLst>
                <a:tab pos="1285631" algn="l"/>
              </a:tabLst>
            </a:pPr>
            <a:r>
              <a:rPr sz="2761" b="1" i="1" dirty="0">
                <a:latin typeface="Times New Roman"/>
                <a:cs typeface="Times New Roman"/>
              </a:rPr>
              <a:t>Maskable</a:t>
            </a:r>
            <a:r>
              <a:rPr sz="2761" b="1" i="1" spc="-1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and no</a:t>
            </a:r>
            <a:r>
              <a:rPr sz="2761" b="1" i="1" spc="23" dirty="0">
                <a:latin typeface="Times New Roman"/>
                <a:cs typeface="Times New Roman"/>
              </a:rPr>
              <a:t>n</a:t>
            </a:r>
            <a:r>
              <a:rPr sz="2761" b="1" i="1" spc="-46" dirty="0">
                <a:latin typeface="Times New Roman"/>
                <a:cs typeface="Times New Roman"/>
              </a:rPr>
              <a:t>-</a:t>
            </a:r>
            <a:r>
              <a:rPr sz="2761" b="1" i="1" spc="23" dirty="0">
                <a:latin typeface="Times New Roman"/>
                <a:cs typeface="Times New Roman"/>
              </a:rPr>
              <a:t>m</a:t>
            </a:r>
            <a:r>
              <a:rPr sz="2761" b="1" i="1" dirty="0">
                <a:latin typeface="Times New Roman"/>
                <a:cs typeface="Times New Roman"/>
              </a:rPr>
              <a:t>as</a:t>
            </a:r>
            <a:r>
              <a:rPr sz="2761" b="1" i="1" spc="-35" dirty="0">
                <a:latin typeface="Times New Roman"/>
                <a:cs typeface="Times New Roman"/>
              </a:rPr>
              <a:t>k</a:t>
            </a:r>
            <a:r>
              <a:rPr sz="2761" b="1" i="1" dirty="0">
                <a:latin typeface="Times New Roman"/>
                <a:cs typeface="Times New Roman"/>
              </a:rPr>
              <a:t>able interrupts.</a:t>
            </a:r>
            <a:endParaRPr sz="2761" dirty="0">
              <a:latin typeface="Times New Roman"/>
              <a:cs typeface="Times New Roman"/>
            </a:endParaRPr>
          </a:p>
          <a:p>
            <a:pPr marL="1284170" marR="29219">
              <a:lnSpc>
                <a:spcPts val="4739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pts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disabl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mask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284170" marR="11688">
              <a:lnSpc>
                <a:spcPts val="4739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-12" dirty="0">
                <a:latin typeface="Times New Roman"/>
                <a:cs typeface="Times New Roman"/>
              </a:rPr>
              <a:t>n-</a:t>
            </a:r>
            <a:r>
              <a:rPr sz="2761" dirty="0">
                <a:latin typeface="Times New Roman"/>
                <a:cs typeface="Times New Roman"/>
              </a:rPr>
              <a:t>mask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those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nnot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disable it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</a:p>
          <a:p>
            <a:pPr marL="1284170" indent="-525940">
              <a:spcBef>
                <a:spcPts val="1114"/>
              </a:spcBef>
              <a:buSzPct val="91666"/>
              <a:buFont typeface="Cambria"/>
              <a:buAutoNum type="arabicPeriod" startAt="3"/>
              <a:tabLst>
                <a:tab pos="1285631" algn="l"/>
              </a:tabLst>
            </a:pPr>
            <a:r>
              <a:rPr sz="2761" b="1" i="1" spc="-23" dirty="0">
                <a:latin typeface="Times New Roman"/>
                <a:cs typeface="Times New Roman"/>
              </a:rPr>
              <a:t>V</a:t>
            </a:r>
            <a:r>
              <a:rPr sz="2761" b="1" i="1" spc="-12" dirty="0">
                <a:latin typeface="Times New Roman"/>
                <a:cs typeface="Times New Roman"/>
              </a:rPr>
              <a:t>ec</a:t>
            </a:r>
            <a:r>
              <a:rPr sz="2761" b="1" i="1" dirty="0">
                <a:latin typeface="Times New Roman"/>
                <a:cs typeface="Times New Roman"/>
              </a:rPr>
              <a:t>to</a:t>
            </a:r>
            <a:r>
              <a:rPr sz="2761" b="1" i="1" spc="23" dirty="0">
                <a:latin typeface="Times New Roman"/>
                <a:cs typeface="Times New Roman"/>
              </a:rPr>
              <a:t>r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d and no</a:t>
            </a:r>
            <a:r>
              <a:rPr sz="2761" b="1" i="1" spc="23" dirty="0">
                <a:latin typeface="Times New Roman"/>
                <a:cs typeface="Times New Roman"/>
              </a:rPr>
              <a:t>n</a:t>
            </a:r>
            <a:r>
              <a:rPr sz="2761" b="1" i="1" spc="-12" dirty="0">
                <a:latin typeface="Times New Roman"/>
                <a:cs typeface="Times New Roman"/>
              </a:rPr>
              <a:t>-vec</a:t>
            </a:r>
            <a:r>
              <a:rPr sz="2761" b="1" i="1" dirty="0">
                <a:latin typeface="Times New Roman"/>
                <a:cs typeface="Times New Roman"/>
              </a:rPr>
              <a:t>to</a:t>
            </a:r>
            <a:r>
              <a:rPr sz="2761" b="1" i="1" spc="23" dirty="0">
                <a:latin typeface="Times New Roman"/>
                <a:cs typeface="Times New Roman"/>
              </a:rPr>
              <a:t>r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d i</a:t>
            </a:r>
            <a:r>
              <a:rPr sz="2761" b="1" i="1" spc="12" dirty="0">
                <a:latin typeface="Times New Roman"/>
                <a:cs typeface="Times New Roman"/>
              </a:rPr>
              <a:t>n</a:t>
            </a:r>
            <a:r>
              <a:rPr sz="2761" b="1" i="1" dirty="0">
                <a:latin typeface="Times New Roman"/>
                <a:cs typeface="Times New Roman"/>
              </a:rPr>
              <a:t>terrupt.</a:t>
            </a:r>
            <a:endParaRPr sz="2761" dirty="0">
              <a:latin typeface="Times New Roman"/>
              <a:cs typeface="Times New Roman"/>
            </a:endParaRPr>
          </a:p>
          <a:p>
            <a:pPr marL="1284170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ISR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tor.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</a:p>
          <a:p>
            <a:pPr marL="1284170" marR="17531">
              <a:lnSpc>
                <a:spcPct val="143500"/>
              </a:lnSpc>
              <a:spcBef>
                <a:spcPts val="23"/>
              </a:spcBef>
            </a:pP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upts,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vided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riph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follows.</a:t>
            </a:r>
          </a:p>
          <a:p>
            <a:pPr marL="3595384" lvl="1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3596845" algn="l"/>
              </a:tabLst>
            </a:pPr>
            <a:r>
              <a:rPr sz="2761" dirty="0">
                <a:latin typeface="Times New Roman"/>
                <a:cs typeface="Times New Roman"/>
              </a:rPr>
              <a:t>Mic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ives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 fr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devi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3595384" marR="16070" lvl="1" indent="-525940">
              <a:lnSpc>
                <a:spcPts val="4785"/>
              </a:lnSpc>
              <a:spcBef>
                <a:spcPts val="368"/>
              </a:spcBef>
              <a:buSzPct val="91666"/>
              <a:buFont typeface="Calibri"/>
              <a:buChar char="●"/>
              <a:tabLst>
                <a:tab pos="3596845" algn="l"/>
              </a:tabLst>
            </a:pPr>
            <a:r>
              <a:rPr sz="2761" dirty="0">
                <a:latin typeface="Times New Roman"/>
                <a:cs typeface="Times New Roman"/>
              </a:rPr>
              <a:t>Controll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nowl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INTA) 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 of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inst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  <a:p>
            <a:pPr marL="3595384" lvl="1" indent="-525940">
              <a:spcBef>
                <a:spcPts val="1024"/>
              </a:spcBef>
              <a:buSzPct val="91666"/>
              <a:buFont typeface="Calibri"/>
              <a:buChar char="●"/>
              <a:tabLst>
                <a:tab pos="3596845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ripher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devi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 ve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tor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the mic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914400"/>
            <a:ext cx="15087600" cy="2433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805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1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nter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upt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ucture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108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8051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five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upts.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They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mask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upts.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inte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rupt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inte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rupts.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823853"/>
              </p:ext>
            </p:extLst>
          </p:nvPr>
        </p:nvGraphicFramePr>
        <p:xfrm>
          <a:off x="4064000" y="4408675"/>
          <a:ext cx="9067800" cy="1241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594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Interrupt so</a:t>
                      </a: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b="1" i="1" spc="-1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pe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spc="-1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tor add</a:t>
                      </a:r>
                      <a:r>
                        <a:rPr sz="2800" b="1" i="1" spc="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ss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Priority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56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inte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rupt 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na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l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0003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Hi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st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107299"/>
              </p:ext>
            </p:extLst>
          </p:nvPr>
        </p:nvGraphicFramePr>
        <p:xfrm>
          <a:off x="4064000" y="5649725"/>
          <a:ext cx="9067800" cy="24024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088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Timer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 int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upt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rn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000B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987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inte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rupt 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86995">
                        <a:lnSpc>
                          <a:spcPct val="1442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nal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0013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594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Timer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1 int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upt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rn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001B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594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ri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inte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rupt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rn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0023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st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93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609600"/>
            <a:ext cx="15163799" cy="2210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8051 mak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use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to d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l with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rupts.</a:t>
            </a:r>
          </a:p>
          <a:p>
            <a:pPr>
              <a:spcBef>
                <a:spcPts val="124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555159" marR="11688" indent="-525940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1.   </a:t>
            </a:r>
            <a:r>
              <a:rPr sz="2761" b="1" dirty="0">
                <a:latin typeface="Times New Roman"/>
                <a:cs typeface="Times New Roman"/>
              </a:rPr>
              <a:t>IE </a:t>
            </a:r>
            <a:r>
              <a:rPr sz="2761" b="1" spc="-8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gist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. </a:t>
            </a:r>
            <a:r>
              <a:rPr sz="2761" b="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bling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disabling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upts.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stru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ture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low.</a:t>
            </a:r>
          </a:p>
        </p:txBody>
      </p:sp>
      <p:sp>
        <p:nvSpPr>
          <p:cNvPr id="5" name="object 5"/>
          <p:cNvSpPr/>
          <p:nvPr/>
        </p:nvSpPr>
        <p:spPr>
          <a:xfrm>
            <a:off x="1778000" y="3124200"/>
            <a:ext cx="12755261" cy="59254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92200" y="990600"/>
            <a:ext cx="12011643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2.   </a:t>
            </a:r>
            <a:r>
              <a:rPr sz="2761" b="1" dirty="0">
                <a:latin typeface="Times New Roman"/>
                <a:cs typeface="Times New Roman"/>
              </a:rPr>
              <a:t>IP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gist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us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upts.</a:t>
            </a:r>
          </a:p>
        </p:txBody>
      </p:sp>
      <p:sp>
        <p:nvSpPr>
          <p:cNvPr id="2" name="object 3"/>
          <p:cNvSpPr/>
          <p:nvPr/>
        </p:nvSpPr>
        <p:spPr>
          <a:xfrm>
            <a:off x="1473200" y="1828800"/>
            <a:ext cx="12709961" cy="58728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448349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533400"/>
            <a:ext cx="15468600" cy="903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489" indent="-1037271">
              <a:buClr>
                <a:srgbClr val="2E5395"/>
              </a:buClr>
              <a:buFont typeface="Times New Roman"/>
              <a:buAutoNum type="alphaUcPeriod"/>
              <a:tabLst>
                <a:tab pos="1067948" algn="l"/>
              </a:tabLst>
            </a:pPr>
            <a:r>
              <a:rPr sz="2760" spc="-35" dirty="0">
                <a:solidFill>
                  <a:srgbClr val="2E5395"/>
                </a:solidFill>
                <a:latin typeface="Times New Roman"/>
                <a:cs typeface="Times New Roman"/>
              </a:rPr>
              <a:t>TEXTBO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OKS/REFE</a:t>
            </a:r>
            <a:r>
              <a:rPr sz="2760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760" spc="-35" dirty="0">
                <a:solidFill>
                  <a:srgbClr val="2E5395"/>
                </a:solidFill>
                <a:latin typeface="Times New Roman"/>
                <a:cs typeface="Times New Roman"/>
              </a:rPr>
              <a:t>ENCE</a:t>
            </a:r>
            <a:r>
              <a:rPr sz="2760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0" spc="-12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2760" spc="-35" dirty="0">
                <a:solidFill>
                  <a:srgbClr val="2E5395"/>
                </a:solidFill>
                <a:latin typeface="Times New Roman"/>
                <a:cs typeface="Times New Roman"/>
              </a:rPr>
              <a:t>OOKS</a:t>
            </a:r>
            <a:endParaRPr sz="2760" dirty="0">
              <a:latin typeface="Times New Roman"/>
              <a:cs typeface="Times New Roman"/>
            </a:endParaRPr>
          </a:p>
          <a:p>
            <a:pPr marL="2885365" lvl="1" indent="-676417">
              <a:spcBef>
                <a:spcPts val="3002"/>
              </a:spcBef>
              <a:buClr>
                <a:srgbClr val="2E5395"/>
              </a:buClr>
              <a:buFont typeface="Times New Roman"/>
              <a:buAutoNum type="romanLcPeriod"/>
              <a:tabLst>
                <a:tab pos="2886826" algn="l"/>
              </a:tabLst>
            </a:pP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760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XTBOO</a:t>
            </a:r>
            <a:r>
              <a:rPr sz="2760" dirty="0">
                <a:solidFill>
                  <a:srgbClr val="2E5395"/>
                </a:solidFill>
                <a:latin typeface="Times New Roman"/>
                <a:cs typeface="Times New Roman"/>
              </a:rPr>
              <a:t>K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2760" dirty="0">
              <a:latin typeface="Times New Roman"/>
              <a:cs typeface="Times New Roman"/>
            </a:endParaRPr>
          </a:p>
          <a:p>
            <a:pPr marL="29219">
              <a:spcBef>
                <a:spcPts val="1610"/>
              </a:spcBef>
            </a:pPr>
            <a:r>
              <a:rPr sz="2760" b="1" dirty="0">
                <a:latin typeface="Times New Roman"/>
                <a:cs typeface="Times New Roman"/>
              </a:rPr>
              <a:t>T1 </a:t>
            </a:r>
            <a:r>
              <a:rPr sz="2760" dirty="0">
                <a:latin typeface="Times New Roman"/>
                <a:cs typeface="Times New Roman"/>
              </a:rPr>
              <a:t>K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nn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th </a:t>
            </a:r>
            <a:r>
              <a:rPr sz="2760" spc="46" dirty="0">
                <a:latin typeface="Times New Roman"/>
                <a:cs typeface="Times New Roman"/>
              </a:rPr>
              <a:t>A</a:t>
            </a:r>
            <a:r>
              <a:rPr sz="2760" spc="-58" dirty="0">
                <a:latin typeface="Times New Roman"/>
                <a:cs typeface="Times New Roman"/>
              </a:rPr>
              <a:t>y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la,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</a:t>
            </a:r>
            <a:r>
              <a:rPr sz="2760" spc="12" dirty="0">
                <a:latin typeface="Times New Roman"/>
                <a:cs typeface="Times New Roman"/>
              </a:rPr>
              <a:t>h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8051 Mi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ro</a:t>
            </a:r>
            <a:r>
              <a:rPr sz="2760" spc="-23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ontroll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r, C</a:t>
            </a:r>
            <a:r>
              <a:rPr sz="2760" spc="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ge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spc="-35" dirty="0">
                <a:latin typeface="Times New Roman"/>
                <a:cs typeface="Times New Roman"/>
              </a:rPr>
              <a:t>L</a:t>
            </a:r>
            <a:r>
              <a:rPr sz="2760" spc="12" dirty="0">
                <a:latin typeface="Times New Roman"/>
                <a:cs typeface="Times New Roman"/>
              </a:rPr>
              <a:t>e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rni</a:t>
            </a:r>
            <a:r>
              <a:rPr sz="2760" spc="12" dirty="0">
                <a:latin typeface="Times New Roman"/>
                <a:cs typeface="Times New Roman"/>
              </a:rPr>
              <a:t>n</a:t>
            </a:r>
            <a:r>
              <a:rPr sz="2760" dirty="0">
                <a:latin typeface="Times New Roman"/>
                <a:cs typeface="Times New Roman"/>
              </a:rPr>
              <a:t>g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spc="-46" dirty="0">
                <a:latin typeface="Times New Roman"/>
                <a:cs typeface="Times New Roman"/>
              </a:rPr>
              <a:t>I</a:t>
            </a:r>
            <a:r>
              <a:rPr sz="2760" dirty="0">
                <a:latin typeface="Times New Roman"/>
                <a:cs typeface="Times New Roman"/>
              </a:rPr>
              <a:t>ndia, </a:t>
            </a:r>
            <a:r>
              <a:rPr sz="2760" spc="12" dirty="0">
                <a:latin typeface="Times New Roman"/>
                <a:cs typeface="Times New Roman"/>
              </a:rPr>
              <a:t>3r</a:t>
            </a:r>
            <a:r>
              <a:rPr sz="2760" dirty="0">
                <a:latin typeface="Times New Roman"/>
                <a:cs typeface="Times New Roman"/>
              </a:rPr>
              <a:t>d Edition, Nov 2007</a:t>
            </a:r>
          </a:p>
          <a:p>
            <a:pPr marL="29219">
              <a:spcBef>
                <a:spcPts val="1438"/>
              </a:spcBef>
            </a:pPr>
            <a:r>
              <a:rPr sz="2760" b="1" dirty="0">
                <a:latin typeface="Times New Roman"/>
                <a:cs typeface="Times New Roman"/>
              </a:rPr>
              <a:t>T2 </a:t>
            </a:r>
            <a:r>
              <a:rPr sz="2760" spc="-23" dirty="0">
                <a:latin typeface="Times New Roman"/>
                <a:cs typeface="Times New Roman"/>
              </a:rPr>
              <a:t>B</a:t>
            </a:r>
            <a:r>
              <a:rPr sz="2760" dirty="0">
                <a:latin typeface="Times New Roman"/>
                <a:cs typeface="Times New Roman"/>
              </a:rPr>
              <a:t>. K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nta R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o,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Em</a:t>
            </a:r>
            <a:r>
              <a:rPr sz="2760" spc="23" dirty="0">
                <a:latin typeface="Times New Roman"/>
                <a:cs typeface="Times New Roman"/>
              </a:rPr>
              <a:t>b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d</a:t>
            </a:r>
            <a:r>
              <a:rPr sz="2760" dirty="0">
                <a:latin typeface="Times New Roman"/>
                <a:cs typeface="Times New Roman"/>
              </a:rPr>
              <a:t>d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d </a:t>
            </a:r>
            <a:r>
              <a:rPr sz="2760" spc="35" dirty="0">
                <a:latin typeface="Times New Roman"/>
                <a:cs typeface="Times New Roman"/>
              </a:rPr>
              <a:t>S</a:t>
            </a:r>
            <a:r>
              <a:rPr sz="2760" spc="-58" dirty="0">
                <a:latin typeface="Times New Roman"/>
                <a:cs typeface="Times New Roman"/>
              </a:rPr>
              <a:t>y</a:t>
            </a:r>
            <a:r>
              <a:rPr sz="2760" dirty="0">
                <a:latin typeface="Times New Roman"/>
                <a:cs typeface="Times New Roman"/>
              </a:rPr>
              <a:t>stems, </a:t>
            </a:r>
            <a:r>
              <a:rPr sz="2760" spc="12" dirty="0">
                <a:latin typeface="Times New Roman"/>
                <a:cs typeface="Times New Roman"/>
              </a:rPr>
              <a:t>PH</a:t>
            </a:r>
            <a:r>
              <a:rPr sz="2760" spc="-46" dirty="0">
                <a:latin typeface="Times New Roman"/>
                <a:cs typeface="Times New Roman"/>
              </a:rPr>
              <a:t>I</a:t>
            </a:r>
            <a:r>
              <a:rPr sz="2760" dirty="0">
                <a:latin typeface="Times New Roman"/>
                <a:cs typeface="Times New Roman"/>
              </a:rPr>
              <a:t>, 1st E</a:t>
            </a:r>
            <a:r>
              <a:rPr sz="2760" spc="12" dirty="0">
                <a:latin typeface="Times New Roman"/>
                <a:cs typeface="Times New Roman"/>
              </a:rPr>
              <a:t>d</a:t>
            </a:r>
            <a:r>
              <a:rPr sz="2760" dirty="0">
                <a:latin typeface="Times New Roman"/>
                <a:cs typeface="Times New Roman"/>
              </a:rPr>
              <a:t>ition,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spc="23" dirty="0">
                <a:latin typeface="Times New Roman"/>
                <a:cs typeface="Times New Roman"/>
              </a:rPr>
              <a:t>J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nu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spc="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5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2011</a:t>
            </a:r>
          </a:p>
          <a:p>
            <a:pPr marL="29219" marR="856113">
              <a:spcBef>
                <a:spcPts val="23"/>
              </a:spcBef>
            </a:pPr>
            <a:r>
              <a:rPr sz="2760" b="1" dirty="0">
                <a:latin typeface="Times New Roman"/>
                <a:cs typeface="Times New Roman"/>
              </a:rPr>
              <a:t>T3 </a:t>
            </a:r>
            <a:r>
              <a:rPr sz="2760" spc="23" dirty="0">
                <a:latin typeface="Times New Roman"/>
                <a:cs typeface="Times New Roman"/>
              </a:rPr>
              <a:t>J</a:t>
            </a:r>
            <a:r>
              <a:rPr sz="2760" dirty="0">
                <a:latin typeface="Times New Roman"/>
                <a:cs typeface="Times New Roman"/>
              </a:rPr>
              <a:t>ohn </a:t>
            </a:r>
            <a:r>
              <a:rPr sz="2760" spc="-23" dirty="0">
                <a:latin typeface="Times New Roman"/>
                <a:cs typeface="Times New Roman"/>
              </a:rPr>
              <a:t>B</a:t>
            </a:r>
            <a:r>
              <a:rPr sz="2760" spc="-35" dirty="0">
                <a:latin typeface="Times New Roman"/>
                <a:cs typeface="Times New Roman"/>
              </a:rPr>
              <a:t>o</a:t>
            </a:r>
            <a:r>
              <a:rPr sz="2760" spc="23" dirty="0">
                <a:latin typeface="Times New Roman"/>
                <a:cs typeface="Times New Roman"/>
              </a:rPr>
              <a:t>x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ll, A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duino </a:t>
            </a:r>
            <a:r>
              <a:rPr sz="2760" spc="12" dirty="0">
                <a:latin typeface="Times New Roman"/>
                <a:cs typeface="Times New Roman"/>
              </a:rPr>
              <a:t>W</a:t>
            </a:r>
            <a:r>
              <a:rPr sz="2760" dirty="0">
                <a:latin typeface="Times New Roman"/>
                <a:cs typeface="Times New Roman"/>
              </a:rPr>
              <a:t>orkshop: A </a:t>
            </a:r>
            <a:r>
              <a:rPr sz="2760" spc="-12" dirty="0">
                <a:latin typeface="Times New Roman"/>
                <a:cs typeface="Times New Roman"/>
              </a:rPr>
              <a:t>Ha</a:t>
            </a:r>
            <a:r>
              <a:rPr sz="2760" dirty="0">
                <a:latin typeface="Times New Roman"/>
                <a:cs typeface="Times New Roman"/>
              </a:rPr>
              <a:t>nd</a:t>
            </a:r>
            <a:r>
              <a:rPr sz="2760" spc="12" dirty="0">
                <a:latin typeface="Times New Roman"/>
                <a:cs typeface="Times New Roman"/>
              </a:rPr>
              <a:t>s</a:t>
            </a:r>
            <a:r>
              <a:rPr sz="2760" spc="-12" dirty="0">
                <a:latin typeface="Times New Roman"/>
                <a:cs typeface="Times New Roman"/>
              </a:rPr>
              <a:t>-</a:t>
            </a:r>
            <a:r>
              <a:rPr sz="2760" dirty="0">
                <a:latin typeface="Times New Roman"/>
                <a:cs typeface="Times New Roman"/>
              </a:rPr>
              <a:t>On</a:t>
            </a:r>
            <a:r>
              <a:rPr sz="2760" spc="35" dirty="0">
                <a:latin typeface="Times New Roman"/>
                <a:cs typeface="Times New Roman"/>
              </a:rPr>
              <a:t> </a:t>
            </a:r>
            <a:r>
              <a:rPr sz="2760" spc="-69" dirty="0">
                <a:latin typeface="Times New Roman"/>
                <a:cs typeface="Times New Roman"/>
              </a:rPr>
              <a:t>I</a:t>
            </a:r>
            <a:r>
              <a:rPr sz="2760" dirty="0">
                <a:latin typeface="Times New Roman"/>
                <a:cs typeface="Times New Roman"/>
              </a:rPr>
              <a:t>ntrod</a:t>
            </a:r>
            <a:r>
              <a:rPr sz="2760" spc="12" dirty="0">
                <a:latin typeface="Times New Roman"/>
                <a:cs typeface="Times New Roman"/>
              </a:rPr>
              <a:t>u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tion with 65 </a:t>
            </a:r>
            <a:r>
              <a:rPr sz="2760" spc="12" dirty="0">
                <a:latin typeface="Times New Roman"/>
                <a:cs typeface="Times New Roman"/>
              </a:rPr>
              <a:t>P</a:t>
            </a:r>
            <a:r>
              <a:rPr sz="2760" dirty="0">
                <a:latin typeface="Times New Roman"/>
                <a:cs typeface="Times New Roman"/>
              </a:rPr>
              <a:t>roj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ts, No Sta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h Pr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ss, 1st Ed</a:t>
            </a:r>
            <a:r>
              <a:rPr sz="2760" spc="12" dirty="0">
                <a:latin typeface="Times New Roman"/>
                <a:cs typeface="Times New Roman"/>
              </a:rPr>
              <a:t>i</a:t>
            </a:r>
            <a:r>
              <a:rPr sz="2760" dirty="0">
                <a:latin typeface="Times New Roman"/>
                <a:cs typeface="Times New Roman"/>
              </a:rPr>
              <a:t>tion, M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58" dirty="0">
                <a:latin typeface="Times New Roman"/>
                <a:cs typeface="Times New Roman"/>
              </a:rPr>
              <a:t> </a:t>
            </a:r>
            <a:r>
              <a:rPr sz="2760" spc="23" dirty="0">
                <a:latin typeface="Times New Roman"/>
                <a:cs typeface="Times New Roman"/>
              </a:rPr>
              <a:t>2</a:t>
            </a:r>
            <a:r>
              <a:rPr sz="2760" dirty="0">
                <a:latin typeface="Times New Roman"/>
                <a:cs typeface="Times New Roman"/>
              </a:rPr>
              <a:t>013</a:t>
            </a:r>
          </a:p>
          <a:p>
            <a:pPr>
              <a:spcBef>
                <a:spcPts val="30"/>
              </a:spcBef>
            </a:pPr>
            <a:endParaRPr sz="2760" dirty="0">
              <a:latin typeface="Times New Roman"/>
              <a:cs typeface="Times New Roman"/>
            </a:endParaRPr>
          </a:p>
          <a:p>
            <a:pPr marL="2897053" lvl="1" indent="-783066">
              <a:buClr>
                <a:srgbClr val="2E5395"/>
              </a:buClr>
              <a:buFont typeface="Times New Roman"/>
              <a:buAutoNum type="romanLcPeriod" startAt="2"/>
              <a:tabLst>
                <a:tab pos="2898514" algn="l"/>
              </a:tabLst>
            </a:pP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RE</a:t>
            </a:r>
            <a:r>
              <a:rPr sz="2760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ERENCE</a:t>
            </a:r>
            <a:r>
              <a:rPr sz="2760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BOO</a:t>
            </a:r>
            <a:r>
              <a:rPr sz="2760" dirty="0">
                <a:solidFill>
                  <a:srgbClr val="2E5395"/>
                </a:solidFill>
                <a:latin typeface="Times New Roman"/>
                <a:cs typeface="Times New Roman"/>
              </a:rPr>
              <a:t>K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2760" dirty="0">
              <a:latin typeface="Times New Roman"/>
              <a:cs typeface="Times New Roman"/>
            </a:endParaRPr>
          </a:p>
          <a:p>
            <a:pPr marL="29219" marR="715863">
              <a:spcBef>
                <a:spcPts val="104"/>
              </a:spcBef>
            </a:pPr>
            <a:r>
              <a:rPr sz="2760" b="1" spc="-12" dirty="0">
                <a:latin typeface="Times New Roman"/>
                <a:cs typeface="Times New Roman"/>
              </a:rPr>
              <a:t>R</a:t>
            </a:r>
            <a:r>
              <a:rPr sz="2760" b="1" dirty="0">
                <a:latin typeface="Times New Roman"/>
                <a:cs typeface="Times New Roman"/>
              </a:rPr>
              <a:t>1 </a:t>
            </a:r>
            <a:r>
              <a:rPr sz="2760" spc="-23" dirty="0">
                <a:latin typeface="Times New Roman"/>
                <a:cs typeface="Times New Roman"/>
              </a:rPr>
              <a:t>B</a:t>
            </a:r>
            <a:r>
              <a:rPr sz="2760" dirty="0">
                <a:latin typeface="Times New Roman"/>
                <a:cs typeface="Times New Roman"/>
              </a:rPr>
              <a:t>. R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m, </a:t>
            </a:r>
            <a:r>
              <a:rPr sz="2760" spc="-12" dirty="0">
                <a:latin typeface="Times New Roman"/>
                <a:cs typeface="Times New Roman"/>
              </a:rPr>
              <a:t>F</a:t>
            </a:r>
            <a:r>
              <a:rPr sz="2760" dirty="0">
                <a:latin typeface="Times New Roman"/>
                <a:cs typeface="Times New Roman"/>
              </a:rPr>
              <a:t>un</a:t>
            </a:r>
            <a:r>
              <a:rPr sz="2760" spc="23" dirty="0">
                <a:latin typeface="Times New Roman"/>
                <a:cs typeface="Times New Roman"/>
              </a:rPr>
              <a:t>d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ment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ls of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Mic</a:t>
            </a:r>
            <a:r>
              <a:rPr sz="2760" spc="-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oproc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ssors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spc="23" dirty="0">
                <a:latin typeface="Times New Roman"/>
                <a:cs typeface="Times New Roman"/>
              </a:rPr>
              <a:t>n</a:t>
            </a:r>
            <a:r>
              <a:rPr sz="2760" dirty="0">
                <a:latin typeface="Times New Roman"/>
                <a:cs typeface="Times New Roman"/>
              </a:rPr>
              <a:t>d Mic</a:t>
            </a:r>
            <a:r>
              <a:rPr sz="2760" spc="-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o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ontroll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rs, </a:t>
            </a:r>
            <a:r>
              <a:rPr sz="2760" spc="-12" dirty="0">
                <a:latin typeface="Times New Roman"/>
                <a:cs typeface="Times New Roman"/>
              </a:rPr>
              <a:t>D</a:t>
            </a:r>
            <a:r>
              <a:rPr sz="2760" dirty="0">
                <a:latin typeface="Times New Roman"/>
                <a:cs typeface="Times New Roman"/>
              </a:rPr>
              <a:t>RP,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8th Edition, Nov 2021</a:t>
            </a:r>
          </a:p>
          <a:p>
            <a:pPr marL="29219">
              <a:spcBef>
                <a:spcPts val="1438"/>
              </a:spcBef>
            </a:pPr>
            <a:r>
              <a:rPr sz="2760" b="1" spc="-12" dirty="0">
                <a:latin typeface="Times New Roman"/>
                <a:cs typeface="Times New Roman"/>
              </a:rPr>
              <a:t>R</a:t>
            </a:r>
            <a:r>
              <a:rPr sz="2760" b="1" dirty="0">
                <a:latin typeface="Times New Roman"/>
                <a:cs typeface="Times New Roman"/>
              </a:rPr>
              <a:t>2 </a:t>
            </a:r>
            <a:r>
              <a:rPr sz="2760" dirty="0">
                <a:latin typeface="Times New Roman"/>
                <a:cs typeface="Times New Roman"/>
              </a:rPr>
              <a:t>M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ssimo </a:t>
            </a:r>
            <a:r>
              <a:rPr sz="2760" spc="-23" dirty="0">
                <a:latin typeface="Times New Roman"/>
                <a:cs typeface="Times New Roman"/>
              </a:rPr>
              <a:t>B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12" dirty="0">
                <a:latin typeface="Times New Roman"/>
                <a:cs typeface="Times New Roman"/>
              </a:rPr>
              <a:t>z</a:t>
            </a:r>
            <a:r>
              <a:rPr sz="2760" dirty="0">
                <a:latin typeface="Times New Roman"/>
                <a:cs typeface="Times New Roman"/>
              </a:rPr>
              <a:t>i, G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tting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Sta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ted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with A</a:t>
            </a:r>
            <a:r>
              <a:rPr sz="2760" spc="-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duino, M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ke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Communi</a:t>
            </a:r>
            <a:r>
              <a:rPr sz="2760" spc="35" dirty="0">
                <a:latin typeface="Times New Roman"/>
                <a:cs typeface="Times New Roman"/>
              </a:rPr>
              <a:t>t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3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L</a:t>
            </a:r>
            <a:r>
              <a:rPr sz="2760" spc="-69" dirty="0">
                <a:latin typeface="Times New Roman"/>
                <a:cs typeface="Times New Roman"/>
              </a:rPr>
              <a:t>L</a:t>
            </a:r>
            <a:r>
              <a:rPr sz="2760" dirty="0">
                <a:latin typeface="Times New Roman"/>
                <a:cs typeface="Times New Roman"/>
              </a:rPr>
              <a:t>C,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3rd 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dition, </a:t>
            </a:r>
            <a:r>
              <a:rPr sz="2760" spc="23" dirty="0">
                <a:latin typeface="Times New Roman"/>
                <a:cs typeface="Times New Roman"/>
              </a:rPr>
              <a:t>J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 2015</a:t>
            </a:r>
          </a:p>
          <a:p>
            <a:pPr marL="29219" marR="340400">
              <a:spcBef>
                <a:spcPts val="23"/>
              </a:spcBef>
            </a:pPr>
            <a:r>
              <a:rPr sz="2760" b="1" spc="-12" dirty="0">
                <a:latin typeface="Times New Roman"/>
                <a:cs typeface="Times New Roman"/>
              </a:rPr>
              <a:t>R</a:t>
            </a:r>
            <a:r>
              <a:rPr sz="2760" b="1" dirty="0">
                <a:latin typeface="Times New Roman"/>
                <a:cs typeface="Times New Roman"/>
              </a:rPr>
              <a:t>3 </a:t>
            </a:r>
            <a:r>
              <a:rPr sz="2760" spc="23" dirty="0">
                <a:latin typeface="Times New Roman"/>
                <a:cs typeface="Times New Roman"/>
              </a:rPr>
              <a:t>J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m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23" dirty="0">
                <a:latin typeface="Times New Roman"/>
                <a:cs typeface="Times New Roman"/>
              </a:rPr>
              <a:t> B</a:t>
            </a:r>
            <a:r>
              <a:rPr sz="2760" dirty="0">
                <a:latin typeface="Times New Roman"/>
                <a:cs typeface="Times New Roman"/>
              </a:rPr>
              <a:t>lum, E</a:t>
            </a:r>
            <a:r>
              <a:rPr sz="2760" spc="12" dirty="0">
                <a:latin typeface="Times New Roman"/>
                <a:cs typeface="Times New Roman"/>
              </a:rPr>
              <a:t>x</a:t>
            </a:r>
            <a:r>
              <a:rPr sz="2760" dirty="0">
                <a:latin typeface="Times New Roman"/>
                <a:cs typeface="Times New Roman"/>
              </a:rPr>
              <a:t>plo</a:t>
            </a:r>
            <a:r>
              <a:rPr sz="2760" spc="-35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ing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A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duino: Tools and </a:t>
            </a:r>
            <a:r>
              <a:rPr sz="2760" spc="12" dirty="0">
                <a:latin typeface="Times New Roman"/>
                <a:cs typeface="Times New Roman"/>
              </a:rPr>
              <a:t>T</a:t>
            </a:r>
            <a:r>
              <a:rPr sz="2760" spc="-12" dirty="0">
                <a:latin typeface="Times New Roman"/>
                <a:cs typeface="Times New Roman"/>
              </a:rPr>
              <a:t>ec</a:t>
            </a:r>
            <a:r>
              <a:rPr sz="2760" dirty="0">
                <a:latin typeface="Times New Roman"/>
                <a:cs typeface="Times New Roman"/>
              </a:rPr>
              <a:t>hniques </a:t>
            </a:r>
            <a:r>
              <a:rPr sz="2760" spc="-12" dirty="0">
                <a:latin typeface="Times New Roman"/>
                <a:cs typeface="Times New Roman"/>
              </a:rPr>
              <a:t>f</a:t>
            </a:r>
            <a:r>
              <a:rPr sz="2760" dirty="0">
                <a:latin typeface="Times New Roman"/>
                <a:cs typeface="Times New Roman"/>
              </a:rPr>
              <a:t>or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12" dirty="0">
                <a:latin typeface="Times New Roman"/>
                <a:cs typeface="Times New Roman"/>
              </a:rPr>
              <a:t>n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dirty="0">
                <a:latin typeface="Times New Roman"/>
                <a:cs typeface="Times New Roman"/>
              </a:rPr>
              <a:t>ine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ri</a:t>
            </a:r>
            <a:r>
              <a:rPr sz="2760" spc="12" dirty="0">
                <a:latin typeface="Times New Roman"/>
                <a:cs typeface="Times New Roman"/>
              </a:rPr>
              <a:t>n</a:t>
            </a:r>
            <a:r>
              <a:rPr sz="2760" dirty="0">
                <a:latin typeface="Times New Roman"/>
                <a:cs typeface="Times New Roman"/>
              </a:rPr>
              <a:t>g</a:t>
            </a:r>
            <a:r>
              <a:rPr sz="2760" spc="-35" dirty="0">
                <a:latin typeface="Times New Roman"/>
                <a:cs typeface="Times New Roman"/>
              </a:rPr>
              <a:t> </a:t>
            </a:r>
            <a:r>
              <a:rPr sz="2760" spc="12" dirty="0">
                <a:latin typeface="Times New Roman"/>
                <a:cs typeface="Times New Roman"/>
              </a:rPr>
              <a:t>W</a:t>
            </a:r>
            <a:r>
              <a:rPr sz="2760" dirty="0">
                <a:latin typeface="Times New Roman"/>
                <a:cs typeface="Times New Roman"/>
              </a:rPr>
              <a:t>i</a:t>
            </a:r>
            <a:r>
              <a:rPr sz="2760" spc="12" dirty="0">
                <a:latin typeface="Times New Roman"/>
                <a:cs typeface="Times New Roman"/>
              </a:rPr>
              <a:t>z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rd</a:t>
            </a:r>
            <a:r>
              <a:rPr sz="2760" spc="35" dirty="0">
                <a:latin typeface="Times New Roman"/>
                <a:cs typeface="Times New Roman"/>
              </a:rPr>
              <a:t>r</a:t>
            </a:r>
            <a:r>
              <a:rPr sz="2760" spc="-58" dirty="0">
                <a:latin typeface="Times New Roman"/>
                <a:cs typeface="Times New Roman"/>
              </a:rPr>
              <a:t>y</a:t>
            </a:r>
            <a:r>
              <a:rPr sz="2760" dirty="0">
                <a:latin typeface="Times New Roman"/>
                <a:cs typeface="Times New Roman"/>
              </a:rPr>
              <a:t>, </a:t>
            </a:r>
            <a:r>
              <a:rPr sz="2760" spc="12" dirty="0">
                <a:latin typeface="Times New Roman"/>
                <a:cs typeface="Times New Roman"/>
              </a:rPr>
              <a:t>W</a:t>
            </a:r>
            <a:r>
              <a:rPr sz="2760" dirty="0">
                <a:latin typeface="Times New Roman"/>
                <a:cs typeface="Times New Roman"/>
              </a:rPr>
              <a:t>il</a:t>
            </a:r>
            <a:r>
              <a:rPr sz="2760" spc="12" dirty="0">
                <a:latin typeface="Times New Roman"/>
                <a:cs typeface="Times New Roman"/>
              </a:rPr>
              <a:t>e</a:t>
            </a:r>
            <a:r>
              <a:rPr sz="2760" spc="-58" dirty="0">
                <a:latin typeface="Times New Roman"/>
                <a:cs typeface="Times New Roman"/>
              </a:rPr>
              <a:t>y</a:t>
            </a:r>
            <a:r>
              <a:rPr sz="2760" dirty="0">
                <a:latin typeface="Times New Roman"/>
                <a:cs typeface="Times New Roman"/>
              </a:rPr>
              <a:t>, 1st Edition, Aug</a:t>
            </a:r>
            <a:r>
              <a:rPr sz="2760" spc="-3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2013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marR="340400">
              <a:spcBef>
                <a:spcPts val="23"/>
              </a:spcBef>
            </a:pPr>
            <a:endParaRPr lang="en-US" sz="2760" dirty="0">
              <a:latin typeface="Times New Roman"/>
              <a:cs typeface="Times New Roman"/>
            </a:endParaRPr>
          </a:p>
          <a:p>
            <a:pPr marL="438283" indent="-409064">
              <a:buFont typeface="Times New Roman"/>
              <a:buAutoNum type="alphaUcPeriod" startAt="2"/>
              <a:tabLst>
                <a:tab pos="439744" algn="l"/>
              </a:tabLst>
            </a:pPr>
            <a:r>
              <a:rPr lang="en-US" sz="2760" b="1" dirty="0">
                <a:latin typeface="Times New Roman"/>
                <a:cs typeface="Times New Roman"/>
              </a:rPr>
              <a:t>Vid</a:t>
            </a:r>
            <a:r>
              <a:rPr lang="en-US" sz="2760" b="1" spc="-12" dirty="0">
                <a:latin typeface="Times New Roman"/>
                <a:cs typeface="Times New Roman"/>
              </a:rPr>
              <a:t>e</a:t>
            </a:r>
            <a:r>
              <a:rPr lang="en-US" sz="2760" b="1" dirty="0">
                <a:latin typeface="Times New Roman"/>
                <a:cs typeface="Times New Roman"/>
              </a:rPr>
              <a:t>o Li</a:t>
            </a:r>
            <a:r>
              <a:rPr lang="en-US" sz="2760" b="1" spc="-12" dirty="0">
                <a:latin typeface="Times New Roman"/>
                <a:cs typeface="Times New Roman"/>
              </a:rPr>
              <a:t>n</a:t>
            </a:r>
            <a:r>
              <a:rPr lang="en-US" sz="2760" b="1" dirty="0">
                <a:latin typeface="Times New Roman"/>
                <a:cs typeface="Times New Roman"/>
              </a:rPr>
              <a:t>ks:</a:t>
            </a:r>
          </a:p>
          <a:p>
            <a:pPr marL="29219">
              <a:tabLst>
                <a:tab pos="439744" algn="l"/>
              </a:tabLst>
            </a:pPr>
            <a:endParaRPr lang="en-US" sz="2760" dirty="0">
              <a:latin typeface="Times New Roman"/>
              <a:cs typeface="Times New Roman"/>
            </a:endParaRPr>
          </a:p>
          <a:p>
            <a:pPr marL="379846" lvl="1" indent="-350627"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/>
                <a:cs typeface="Times New Roman"/>
                <a:hlinkClick r:id="rId3"/>
              </a:rPr>
              <a:t>https://www.youtube.com/watch?v=OaaP5WIG7ro</a:t>
            </a:r>
            <a:endParaRPr lang="en-US" sz="2760" dirty="0">
              <a:latin typeface="Times New Roman"/>
              <a:cs typeface="Times New Roman"/>
            </a:endParaRPr>
          </a:p>
          <a:p>
            <a:pPr marL="379846" lvl="1" indent="-350627"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/>
                <a:cs typeface="Times New Roman"/>
                <a:hlinkClick r:id="rId4"/>
              </a:rPr>
              <a:t>https://www.youtube.com/watch?v=dM2swIpGk0Y</a:t>
            </a:r>
            <a:endParaRPr lang="en-US" sz="2760" dirty="0">
              <a:latin typeface="Times New Roman"/>
              <a:cs typeface="Times New Roman"/>
            </a:endParaRPr>
          </a:p>
          <a:p>
            <a:pPr marL="379846" lvl="1" indent="-350627"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/>
                <a:cs typeface="Times New Roman"/>
                <a:hlinkClick r:id="rId5"/>
              </a:rPr>
              <a:t>https://www.youtube.com/watch?v=DPsiTe0KAlI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lvl="1">
              <a:tabLst>
                <a:tab pos="379846" algn="l"/>
              </a:tabLst>
            </a:pPr>
            <a:endParaRPr lang="en-US" sz="276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2093</Words>
  <Application>Microsoft Office PowerPoint</Application>
  <PresentationFormat>Custom</PresentationFormat>
  <Paragraphs>200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12</cp:revision>
  <dcterms:created xsi:type="dcterms:W3CDTF">2024-06-07T12:26:03Z</dcterms:created>
  <dcterms:modified xsi:type="dcterms:W3CDTF">2024-07-29T07:19:50Z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2024-06-07T00:00:00Z</vt:filetime>
  </property>
  <property fmtid="{D5CDD505-2E9C-101B-9397-08002B2CF9AE}" pid="3" name="LastSaved">
    <vt:filetime>2024-06-07T00:00:00Z</vt:filetime>
  </property>
</Properties>
</file>