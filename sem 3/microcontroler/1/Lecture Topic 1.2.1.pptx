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6" r:id="rId2"/>
    <p:sldId id="256" r:id="rId3"/>
    <p:sldId id="267" r:id="rId4"/>
    <p:sldId id="268" r:id="rId5"/>
    <p:sldId id="277" r:id="rId6"/>
    <p:sldId id="258" r:id="rId7"/>
    <p:sldId id="269" r:id="rId8"/>
    <p:sldId id="259" r:id="rId9"/>
    <p:sldId id="260" r:id="rId10"/>
    <p:sldId id="270" r:id="rId11"/>
    <p:sldId id="261" r:id="rId12"/>
    <p:sldId id="279" r:id="rId13"/>
    <p:sldId id="262" r:id="rId14"/>
    <p:sldId id="283" r:id="rId15"/>
    <p:sldId id="271" r:id="rId16"/>
    <p:sldId id="263" r:id="rId17"/>
    <p:sldId id="272" r:id="rId18"/>
    <p:sldId id="273" r:id="rId19"/>
    <p:sldId id="281" r:id="rId20"/>
    <p:sldId id="264" r:id="rId21"/>
    <p:sldId id="274" r:id="rId22"/>
    <p:sldId id="265" r:id="rId23"/>
    <p:sldId id="275" r:id="rId24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4173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5715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586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9674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7903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9472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06064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3513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36665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29758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34392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4036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xR3YtCV-n0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youtube.com/watch?v=jHztC3jFw20" TargetMode="External"/><Relationship Id="rId4" Type="http://schemas.openxmlformats.org/officeDocument/2006/relationships/hyperlink" Target="https://www.youtube.com/watch?v=OaaP5WIG7r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271A5E-B06F-08C5-6261-030C8E9F49AB}"/>
              </a:ext>
            </a:extLst>
          </p:cNvPr>
          <p:cNvSpPr txBox="1"/>
          <p:nvPr/>
        </p:nvSpPr>
        <p:spPr>
          <a:xfrm>
            <a:off x="4292600" y="3429000"/>
            <a:ext cx="894397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spc="-23" dirty="0">
                <a:solidFill>
                  <a:srgbClr val="2E5395"/>
                </a:solidFill>
                <a:latin typeface="Times New Roman"/>
                <a:cs typeface="Times New Roman"/>
              </a:rPr>
              <a:t>UNIT 1</a:t>
            </a:r>
          </a:p>
          <a:p>
            <a:pPr algn="ctr">
              <a:lnSpc>
                <a:spcPct val="100000"/>
              </a:lnSpc>
            </a:pPr>
            <a:endParaRPr lang="en-US" sz="4400" spc="-23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lang="en-US" sz="4400" spc="-23" dirty="0">
                <a:solidFill>
                  <a:srgbClr val="2E5395"/>
                </a:solidFill>
                <a:latin typeface="Times New Roman"/>
                <a:cs typeface="Times New Roman"/>
              </a:rPr>
              <a:t>Chapter 1.2</a:t>
            </a:r>
            <a:endParaRPr lang="en-US" sz="4400" dirty="0">
              <a:latin typeface="Times New Roman"/>
              <a:cs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77D566-BA3A-CFD2-B0E9-692065A33C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1200" y="228600"/>
            <a:ext cx="1750285" cy="278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112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3769" y="2667000"/>
            <a:ext cx="13734062" cy="39657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8051 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icroc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ntroller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3221"/>
              </a:spcBef>
            </a:pPr>
            <a:r>
              <a:rPr sz="2761" dirty="0">
                <a:latin typeface="Times New Roman"/>
                <a:cs typeface="Times New Roman"/>
              </a:rPr>
              <a:t>8051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ntel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1981.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built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40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(du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inline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),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4kb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ROM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tor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128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RAM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104" dirty="0">
                <a:latin typeface="Times New Roman"/>
                <a:cs typeface="Times New Roman"/>
              </a:rPr>
              <a:t>6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time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onsists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four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35" dirty="0">
                <a:latin typeface="Times New Roman"/>
                <a:cs typeface="Times New Roman"/>
              </a:rPr>
              <a:t>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ports,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-c</a:t>
            </a:r>
            <a:r>
              <a:rPr sz="2761" dirty="0">
                <a:latin typeface="Times New Roman"/>
                <a:cs typeface="Times New Roman"/>
              </a:rPr>
              <a:t>hip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stal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ving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stal fr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12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MHz.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075201" y="1078002"/>
            <a:ext cx="13732601" cy="8042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Basic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er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inology</a:t>
            </a:r>
            <a:endParaRPr sz="3681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700"/>
              </a:lnSpc>
              <a:spcBef>
                <a:spcPts val="1622"/>
              </a:spcBef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ific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olve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task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oft</a:t>
            </a:r>
            <a:r>
              <a:rPr sz="2761" spc="-12" dirty="0">
                <a:latin typeface="Times New Roman"/>
                <a:cs typeface="Times New Roman"/>
              </a:rPr>
              <a:t>wa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oll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ms.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bina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hine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tions.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ma</a:t>
            </a:r>
            <a:r>
              <a:rPr sz="2761" i="1" spc="-23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hine language</a:t>
            </a:r>
            <a:r>
              <a:rPr sz="2761" i="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obje</a:t>
            </a:r>
            <a:r>
              <a:rPr sz="2761" i="1" spc="-23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t</a:t>
            </a:r>
            <a:r>
              <a:rPr sz="2761" i="1" spc="138" dirty="0">
                <a:latin typeface="Times New Roman"/>
                <a:cs typeface="Times New Roman"/>
              </a:rPr>
              <a:t> 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od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An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ass</a:t>
            </a:r>
            <a:r>
              <a:rPr sz="2761" i="1" spc="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mbly</a:t>
            </a:r>
            <a:r>
              <a:rPr sz="2761" i="1" spc="9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language</a:t>
            </a:r>
            <a:r>
              <a:rPr sz="2761" i="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monic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ntation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ma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hine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hine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pro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ssemb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source</a:t>
            </a:r>
            <a:r>
              <a:rPr sz="2761" i="1" spc="35" dirty="0">
                <a:latin typeface="Times New Roman"/>
                <a:cs typeface="Times New Roman"/>
              </a:rPr>
              <a:t> 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od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The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)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nsla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obj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hine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)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i="1" dirty="0">
                <a:latin typeface="Times New Roman"/>
                <a:cs typeface="Times New Roman"/>
              </a:rPr>
              <a:t>asse</a:t>
            </a: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bler.</a:t>
            </a:r>
            <a:endParaRPr sz="2761">
              <a:latin typeface="Times New Roman"/>
              <a:cs typeface="Times New Roman"/>
            </a:endParaRPr>
          </a:p>
          <a:p>
            <a:pPr marL="29219" marR="13149" algn="just">
              <a:lnSpc>
                <a:spcPct val="1436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46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itten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high</a:t>
            </a:r>
            <a:r>
              <a:rPr sz="2761" i="1" spc="58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le</a:t>
            </a:r>
            <a:r>
              <a:rPr sz="2761" i="1" spc="-23" dirty="0">
                <a:latin typeface="Times New Roman"/>
                <a:cs typeface="Times New Roman"/>
              </a:rPr>
              <a:t>v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l</a:t>
            </a:r>
            <a:r>
              <a:rPr sz="2761" i="1" spc="58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languages</a:t>
            </a:r>
            <a:r>
              <a:rPr sz="2761" i="1" spc="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+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hine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using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ompiler</a:t>
            </a:r>
            <a:r>
              <a:rPr sz="2761" i="1" spc="69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or</a:t>
            </a:r>
            <a:r>
              <a:rPr sz="2761" i="1" spc="81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int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rpret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Compiler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ntire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46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nslate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into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obje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 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 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input and t</a:t>
            </a:r>
            <a:r>
              <a:rPr sz="2761" spc="-12" dirty="0">
                <a:latin typeface="Times New Roman"/>
                <a:cs typeface="Times New Roman"/>
              </a:rPr>
              <a:t>ra</a:t>
            </a:r>
            <a:r>
              <a:rPr sz="2761" dirty="0">
                <a:latin typeface="Times New Roman"/>
                <a:cs typeface="Times New Roman"/>
              </a:rPr>
              <a:t>nslate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into obje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co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nd then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utes.</a:t>
            </a:r>
            <a:endParaRPr sz="276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47634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49400" y="952892"/>
            <a:ext cx="15087600" cy="8152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748070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The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8051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chite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ture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spcBef>
                <a:spcPts val="3094"/>
              </a:spcBef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80</a:t>
            </a:r>
            <a:r>
              <a:rPr sz="2761" spc="-12" dirty="0">
                <a:latin typeface="Times New Roman"/>
                <a:cs typeface="Times New Roman"/>
              </a:rPr>
              <a:t>5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are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iven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low.</a:t>
            </a:r>
          </a:p>
          <a:p>
            <a:pPr marL="1227193" indent="-525940">
              <a:spcBef>
                <a:spcPts val="1438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sz="2761" dirty="0">
                <a:latin typeface="Times New Roman"/>
                <a:cs typeface="Times New Roman"/>
              </a:rPr>
              <a:t>Ei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 bit CPU</a:t>
            </a:r>
          </a:p>
          <a:p>
            <a:pPr marL="1227193" indent="-525940">
              <a:spcBef>
                <a:spcPts val="1461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hip clo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os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illator</a:t>
            </a:r>
          </a:p>
          <a:p>
            <a:pPr marL="1227193" indent="-525940">
              <a:spcBef>
                <a:spcPts val="1438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sz="2761" dirty="0">
                <a:latin typeface="Times New Roman"/>
                <a:cs typeface="Times New Roman"/>
              </a:rPr>
              <a:t>4K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tes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[RO</a:t>
            </a:r>
            <a:r>
              <a:rPr sz="2761" i="1" spc="-69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]</a:t>
            </a:r>
            <a:endParaRPr sz="2761" dirty="0">
              <a:latin typeface="Times New Roman"/>
              <a:cs typeface="Times New Roman"/>
            </a:endParaRPr>
          </a:p>
          <a:p>
            <a:pPr marL="1227193" indent="-525940">
              <a:spcBef>
                <a:spcPts val="1461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sz="2761" dirty="0">
                <a:latin typeface="Times New Roman"/>
                <a:cs typeface="Times New Roman"/>
              </a:rPr>
              <a:t>128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tes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data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[R</a:t>
            </a:r>
            <a:r>
              <a:rPr sz="2761" i="1" spc="12" dirty="0">
                <a:latin typeface="Times New Roman"/>
                <a:cs typeface="Times New Roman"/>
              </a:rPr>
              <a:t>A</a:t>
            </a:r>
            <a:r>
              <a:rPr sz="2761" i="1" spc="-69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]</a:t>
            </a:r>
            <a:endParaRPr lang="en-US" sz="2761" i="1" dirty="0">
              <a:latin typeface="Times New Roman"/>
              <a:cs typeface="Times New Roman"/>
            </a:endParaRPr>
          </a:p>
          <a:p>
            <a:pPr marL="1227193" indent="-525940">
              <a:spcBef>
                <a:spcPts val="1461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64 K</a:t>
            </a:r>
            <a:r>
              <a:rPr lang="en-US" sz="2761" spc="12" dirty="0">
                <a:latin typeface="Times New Roman"/>
                <a:cs typeface="Times New Roman"/>
              </a:rPr>
              <a:t>b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tes 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 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pr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 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mo</a:t>
            </a:r>
            <a:r>
              <a:rPr lang="en-US" sz="2761" spc="46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 s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ace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1227193" indent="-525940">
              <a:spcBef>
                <a:spcPts val="1461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64 K</a:t>
            </a:r>
            <a:r>
              <a:rPr lang="en-US" sz="2761" spc="12" dirty="0">
                <a:latin typeface="Times New Roman"/>
                <a:cs typeface="Times New Roman"/>
              </a:rPr>
              <a:t>b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tes 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 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da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memo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</a:t>
            </a:r>
            <a:r>
              <a:rPr lang="en-US" sz="2761" spc="12" dirty="0">
                <a:latin typeface="Times New Roman"/>
                <a:cs typeface="Times New Roman"/>
              </a:rPr>
              <a:t>re</a:t>
            </a:r>
            <a:r>
              <a:rPr lang="en-US" sz="2761" dirty="0">
                <a:latin typeface="Times New Roman"/>
                <a:cs typeface="Times New Roman"/>
              </a:rPr>
              <a:t>ss spac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1227193" indent="-525940">
              <a:spcBef>
                <a:spcPts val="1461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32 bi dir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/O lin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(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be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fo</a:t>
            </a:r>
            <a:r>
              <a:rPr lang="en-US" sz="2761" spc="12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r 8 </a:t>
            </a:r>
            <a:r>
              <a:rPr lang="en-US" sz="2761" spc="12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it ports or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32 individual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ssable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/O lin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s)</a:t>
            </a:r>
          </a:p>
          <a:p>
            <a:pPr marL="1227193" indent="-525940">
              <a:spcBef>
                <a:spcPts val="1461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o 16 </a:t>
            </a: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it Tim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r/Count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r: T0, 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1</a:t>
            </a:r>
          </a:p>
          <a:p>
            <a:pPr marL="1227193" indent="-525940">
              <a:spcBef>
                <a:spcPts val="1461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ull Dupl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data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ive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/t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nsmitt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</a:p>
          <a:p>
            <a:pPr marL="1227193" indent="-525940">
              <a:spcBef>
                <a:spcPts val="1461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our R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</a:t>
            </a:r>
            <a:r>
              <a:rPr lang="en-US" sz="2761" spc="12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nks with 8 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 in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b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nk.</a:t>
            </a:r>
          </a:p>
          <a:p>
            <a:pPr marL="1227193" indent="-525940">
              <a:spcBef>
                <a:spcPts val="1461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16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bit Pro</a:t>
            </a:r>
            <a:r>
              <a:rPr lang="en-US" sz="2761" spc="-46" dirty="0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ounter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PC)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 pointer </a:t>
            </a:r>
            <a:r>
              <a:rPr lang="en-US" sz="2761" spc="12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DPTR)</a:t>
            </a:r>
          </a:p>
        </p:txBody>
      </p:sp>
    </p:spTree>
    <p:extLst>
      <p:ext uri="{BB962C8B-B14F-4D97-AF65-F5344CB8AC3E}">
        <p14:creationId xmlns:p14="http://schemas.microsoft.com/office/powerpoint/2010/main" val="482250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49400" y="952892"/>
            <a:ext cx="15087600" cy="7343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748070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The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8051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chite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ture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spcBef>
                <a:spcPts val="3094"/>
              </a:spcBef>
            </a:pPr>
            <a:r>
              <a:rPr lang="en-US" sz="2761" dirty="0">
                <a:latin typeface="Times New Roman"/>
                <a:cs typeface="Times New Roman"/>
              </a:rPr>
              <a:t>Other 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80</a:t>
            </a:r>
            <a:r>
              <a:rPr sz="2761" spc="-12" dirty="0">
                <a:latin typeface="Times New Roman"/>
                <a:cs typeface="Times New Roman"/>
              </a:rPr>
              <a:t>5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are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iven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low.</a:t>
            </a:r>
          </a:p>
          <a:p>
            <a:pPr marL="1227193" indent="-525940">
              <a:spcBef>
                <a:spcPts val="1461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8 </a:t>
            </a: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it Prog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 </a:t>
            </a:r>
            <a:r>
              <a:rPr lang="en-US" sz="2761" spc="12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tatus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ord </a:t>
            </a:r>
            <a:r>
              <a:rPr lang="en-US" sz="2761" spc="-23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PS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</a:p>
          <a:p>
            <a:pPr marL="1227193" indent="-525940">
              <a:spcBef>
                <a:spcPts val="1461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8 </a:t>
            </a: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it Sta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 Point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</a:p>
          <a:p>
            <a:pPr marL="1227193" indent="-525940">
              <a:spcBef>
                <a:spcPts val="1461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ive ve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tor int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upt str</a:t>
            </a:r>
            <a:r>
              <a:rPr lang="en-US" sz="2761" spc="12" dirty="0">
                <a:latin typeface="Times New Roman"/>
                <a:cs typeface="Times New Roman"/>
              </a:rPr>
              <a:t>u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ture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(RESET not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onsi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int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upt.)</a:t>
            </a:r>
          </a:p>
          <a:p>
            <a:pPr marL="1227193" indent="-525940">
              <a:spcBef>
                <a:spcPts val="1461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8051 CPU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onsists of 8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bit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U 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ith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ss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iat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 like a</a:t>
            </a:r>
            <a:r>
              <a:rPr lang="en-US" sz="2761" spc="-12" dirty="0">
                <a:latin typeface="Times New Roman"/>
                <a:cs typeface="Times New Roman"/>
              </a:rPr>
              <a:t>cc</a:t>
            </a:r>
            <a:r>
              <a:rPr lang="en-US" sz="2761" dirty="0">
                <a:latin typeface="Times New Roman"/>
                <a:cs typeface="Times New Roman"/>
              </a:rPr>
              <a:t>umul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‘A’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 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r,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PS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, SP, 1</a:t>
            </a:r>
            <a:r>
              <a:rPr lang="en-US" sz="2761" spc="12" dirty="0">
                <a:latin typeface="Times New Roman"/>
                <a:cs typeface="Times New Roman"/>
              </a:rPr>
              <a:t>6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bit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pro</a:t>
            </a:r>
            <a:r>
              <a:rPr lang="en-US" sz="2761" spc="-12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 count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r, st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k 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oint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r.</a:t>
            </a:r>
          </a:p>
          <a:p>
            <a:pPr marL="1227193" indent="-525940">
              <a:spcBef>
                <a:spcPts val="1461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U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rm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rithm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tic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nd l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ic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un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tions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23" dirty="0">
                <a:latin typeface="Times New Roman"/>
                <a:cs typeface="Times New Roman"/>
              </a:rPr>
              <a:t>8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bit 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bles.</a:t>
            </a:r>
          </a:p>
          <a:p>
            <a:pPr marL="1227193" indent="-525940">
              <a:spcBef>
                <a:spcPts val="1461"/>
              </a:spcBef>
              <a:buSzPct val="91666"/>
              <a:buFont typeface="Calibri"/>
              <a:buChar char="●"/>
              <a:tabLst>
                <a:tab pos="1228654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8051 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128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of inte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RAM 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hich is divided into</a:t>
            </a:r>
          </a:p>
          <a:p>
            <a:pPr marL="1605578" lvl="1" indent="-525940">
              <a:spcBef>
                <a:spcPts val="1438"/>
              </a:spcBef>
              <a:buSzPct val="91666"/>
              <a:buFont typeface="Courier New"/>
              <a:buChar char="o"/>
              <a:tabLst>
                <a:tab pos="1607039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orking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 [00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–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]</a:t>
            </a:r>
          </a:p>
          <a:p>
            <a:pPr marL="1605578" lvl="1" indent="-525940">
              <a:spcBef>
                <a:spcPts val="1461"/>
              </a:spcBef>
              <a:buSzPct val="91666"/>
              <a:buFont typeface="Courier New"/>
              <a:buChar char="o"/>
              <a:tabLst>
                <a:tab pos="1607039" algn="l"/>
              </a:tabLst>
            </a:pP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it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 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mo</a:t>
            </a:r>
            <a:r>
              <a:rPr lang="en-US" sz="2761" spc="46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20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– 2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]</a:t>
            </a:r>
          </a:p>
          <a:p>
            <a:pPr marL="1605578" lvl="1" indent="-525940">
              <a:spcBef>
                <a:spcPts val="1438"/>
              </a:spcBef>
              <a:buSzPct val="91666"/>
              <a:buFont typeface="Courier New"/>
              <a:buChar char="o"/>
              <a:tabLst>
                <a:tab pos="160703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purpose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memo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(S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p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 mem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  <a:r>
              <a:rPr lang="en-US" sz="2761" spc="12" dirty="0">
                <a:latin typeface="Times New Roman"/>
                <a:cs typeface="Times New Roman"/>
              </a:rPr>
              <a:t> [</a:t>
            </a:r>
            <a:r>
              <a:rPr lang="en-US" sz="2761" dirty="0">
                <a:latin typeface="Times New Roman"/>
                <a:cs typeface="Times New Roman"/>
              </a:rPr>
              <a:t>3</a:t>
            </a:r>
            <a:r>
              <a:rPr lang="en-US" sz="2761" spc="23" dirty="0">
                <a:latin typeface="Times New Roman"/>
                <a:cs typeface="Times New Roman"/>
              </a:rPr>
              <a:t>0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7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673014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216400" y="714936"/>
            <a:ext cx="8758419" cy="86285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6600" y="762000"/>
            <a:ext cx="13076650" cy="54286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8307" marR="20453" indent="-525940" algn="just">
              <a:lnSpc>
                <a:spcPct val="143800"/>
              </a:lnSpc>
              <a:buSzPct val="91666"/>
              <a:buFont typeface="Calibri"/>
              <a:buChar char="●"/>
              <a:tabLst>
                <a:tab pos="569768" algn="l"/>
              </a:tabLst>
            </a:pPr>
            <a:r>
              <a:rPr sz="2761" dirty="0">
                <a:latin typeface="Times New Roman"/>
                <a:cs typeface="Times New Roman"/>
              </a:rPr>
              <a:t>8051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ROM.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ddress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0000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-23" dirty="0">
                <a:latin typeface="Times New Roman"/>
                <a:cs typeface="Times New Roman"/>
              </a:rPr>
              <a:t>FFF</a:t>
            </a:r>
            <a:r>
              <a:rPr sz="2761" dirty="0">
                <a:latin typeface="Times New Roman"/>
                <a:cs typeface="Times New Roman"/>
              </a:rPr>
              <a:t>h.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prog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tes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8051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ill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3698" marR="17531" indent="-524479" algn="just">
              <a:lnSpc>
                <a:spcPct val="143600"/>
              </a:lnSpc>
              <a:spcBef>
                <a:spcPts val="23"/>
              </a:spcBef>
              <a:buSzPct val="91666"/>
              <a:buFont typeface="Calibri"/>
              <a:buChar char="●"/>
              <a:tabLst>
                <a:tab pos="555159" algn="l"/>
              </a:tabLst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umul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rithm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tic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tions. 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umul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long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Ac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umul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division.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togeth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MATH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3698" marR="11688" indent="-524479" algn="just">
              <a:lnSpc>
                <a:spcPct val="143300"/>
              </a:lnSpc>
              <a:spcBef>
                <a:spcPts val="23"/>
              </a:spcBef>
              <a:buSzPct val="91666"/>
              <a:buFont typeface="Calibri"/>
              <a:buChar char="●"/>
              <a:tabLst>
                <a:tab pos="555159" algn="l"/>
              </a:tabLst>
            </a:pPr>
            <a:r>
              <a:rPr sz="2761" dirty="0">
                <a:latin typeface="Times New Roman"/>
                <a:cs typeface="Times New Roman"/>
              </a:rPr>
              <a:t>PSW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(Pro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Status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ord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35" dirty="0">
                <a:latin typeface="Times New Roman"/>
                <a:cs typeface="Times New Roman"/>
              </a:rPr>
              <a:t>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ontains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rithm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tic status of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U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the </a:t>
            </a:r>
            <a:r>
              <a:rPr sz="2761" spc="12" dirty="0">
                <a:latin typeface="Times New Roman"/>
                <a:cs typeface="Times New Roman"/>
              </a:rPr>
              <a:t>ba</a:t>
            </a:r>
            <a:r>
              <a:rPr sz="2761" dirty="0">
                <a:latin typeface="Times New Roman"/>
                <a:cs typeface="Times New Roman"/>
              </a:rPr>
              <a:t>nk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bits of 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nks.</a:t>
            </a:r>
          </a:p>
        </p:txBody>
      </p:sp>
      <p:graphicFrame>
        <p:nvGraphicFramePr>
          <p:cNvPr id="4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970630"/>
              </p:ext>
            </p:extLst>
          </p:nvPr>
        </p:nvGraphicFramePr>
        <p:xfrm>
          <a:off x="4978400" y="6934200"/>
          <a:ext cx="6705325" cy="6211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8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8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1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86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00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56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21156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CY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AC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F0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RS1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RS0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OV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-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P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49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79426" y="730429"/>
            <a:ext cx="547843" cy="1765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3800"/>
              </a:lnSpc>
            </a:pPr>
            <a:r>
              <a:rPr sz="2761" dirty="0">
                <a:latin typeface="Times New Roman"/>
                <a:cs typeface="Times New Roman"/>
              </a:rPr>
              <a:t>CY </a:t>
            </a:r>
            <a:r>
              <a:rPr sz="2761" spc="-12" dirty="0">
                <a:latin typeface="Times New Roman"/>
                <a:cs typeface="Times New Roman"/>
              </a:rPr>
              <a:t>AC </a:t>
            </a:r>
            <a:r>
              <a:rPr sz="2761" spc="-23" dirty="0">
                <a:latin typeface="Times New Roman"/>
                <a:cs typeface="Times New Roman"/>
              </a:rPr>
              <a:t>F0</a:t>
            </a: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600" y="813390"/>
            <a:ext cx="6299466" cy="3546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2816" indent="-613597">
              <a:buFont typeface="Times New Roman"/>
              <a:buChar char="-"/>
              <a:tabLst>
                <a:tab pos="644277" algn="l"/>
              </a:tabLst>
            </a:pP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flag</a:t>
            </a:r>
          </a:p>
          <a:p>
            <a:pPr marL="642816" indent="-613597">
              <a:spcBef>
                <a:spcPts val="1461"/>
              </a:spcBef>
              <a:buFont typeface="Times New Roman"/>
              <a:buChar char="-"/>
              <a:tabLst>
                <a:tab pos="644277" algn="l"/>
              </a:tabLst>
            </a:pP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iliary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flag</a:t>
            </a:r>
          </a:p>
          <a:p>
            <a:pPr marL="642816" marR="11688" indent="-613597">
              <a:lnSpc>
                <a:spcPts val="4785"/>
              </a:lnSpc>
              <a:spcBef>
                <a:spcPts val="368"/>
              </a:spcBef>
              <a:buFont typeface="Times New Roman"/>
              <a:buChar char="-"/>
              <a:tabLst>
                <a:tab pos="644277" algn="l"/>
              </a:tabLst>
            </a:pP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to the user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p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rpose</a:t>
            </a:r>
            <a:endParaRPr lang="en-US" sz="2761" dirty="0">
              <a:latin typeface="Times New Roman"/>
              <a:cs typeface="Times New Roman"/>
            </a:endParaRPr>
          </a:p>
          <a:p>
            <a:pPr marL="642816" marR="11688" indent="-613597">
              <a:lnSpc>
                <a:spcPts val="4785"/>
              </a:lnSpc>
              <a:spcBef>
                <a:spcPts val="368"/>
              </a:spcBef>
              <a:buFont typeface="Times New Roman"/>
              <a:buChar char="-"/>
              <a:tabLst>
                <a:tab pos="644277" algn="l"/>
              </a:tabLst>
            </a:pP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b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nk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bits</a:t>
            </a:r>
          </a:p>
          <a:p>
            <a:pPr marL="642816" indent="-613597">
              <a:spcBef>
                <a:spcPts val="1024"/>
              </a:spcBef>
              <a:buFont typeface="Times New Roman"/>
              <a:buChar char="-"/>
              <a:tabLst>
                <a:tab pos="644277" algn="l"/>
              </a:tabLst>
            </a:pPr>
            <a:r>
              <a:rPr sz="2761" dirty="0">
                <a:latin typeface="Times New Roman"/>
                <a:cs typeface="Times New Roman"/>
              </a:rPr>
              <a:t>ov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low</a:t>
            </a:r>
          </a:p>
          <a:p>
            <a:pPr marL="642816" indent="-613597">
              <a:spcBef>
                <a:spcPts val="1461"/>
              </a:spcBef>
              <a:buFont typeface="Times New Roman"/>
              <a:buChar char="-"/>
              <a:tabLst>
                <a:tab pos="644277" algn="l"/>
              </a:tabLst>
            </a:pP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39544" y="2673913"/>
            <a:ext cx="1652295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RS1, RS0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242719" y="3180255"/>
            <a:ext cx="563913" cy="11535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4200"/>
              </a:lnSpc>
            </a:pPr>
            <a:r>
              <a:rPr sz="2761" spc="-12" dirty="0">
                <a:latin typeface="Times New Roman"/>
                <a:cs typeface="Times New Roman"/>
              </a:rPr>
              <a:t>OV </a:t>
            </a:r>
            <a:r>
              <a:rPr sz="2761" dirty="0">
                <a:latin typeface="Times New Roman"/>
                <a:cs typeface="Times New Roman"/>
              </a:rPr>
              <a:t>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73200" y="4724400"/>
            <a:ext cx="15392400" cy="4699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3698" marR="11688" indent="-524479">
              <a:lnSpc>
                <a:spcPct val="143800"/>
              </a:lnSpc>
              <a:buSzPct val="91666"/>
              <a:buFont typeface="Calibri"/>
              <a:buChar char="●"/>
              <a:tabLst>
                <a:tab pos="555159" algn="l"/>
              </a:tabLst>
            </a:pP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Point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SP)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– it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ontains the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of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item on the top 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k. Sta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side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inte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RAM. 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t, 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P is in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07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 th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the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ult sta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will 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12" dirty="0">
                <a:latin typeface="Times New Roman"/>
                <a:cs typeface="Times New Roman"/>
              </a:rPr>
              <a:t>fr</a:t>
            </a:r>
            <a:r>
              <a:rPr sz="2761" dirty="0">
                <a:latin typeface="Times New Roman"/>
                <a:cs typeface="Times New Roman"/>
              </a:rPr>
              <a:t>om add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08 onw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rds.</a:t>
            </a:r>
          </a:p>
          <a:p>
            <a:pPr marL="553698" marR="147555" indent="-524479">
              <a:lnSpc>
                <a:spcPct val="143800"/>
              </a:lnSpc>
              <a:spcBef>
                <a:spcPts val="12"/>
              </a:spcBef>
              <a:buSzPct val="91666"/>
              <a:buFont typeface="Calibri"/>
              <a:buChar char="●"/>
              <a:tabLst>
                <a:tab pos="555159" algn="l"/>
              </a:tabLst>
            </a:pP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Pointer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PTR) – 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PH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pointer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35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. This is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is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fu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nish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info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f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and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prog</a:t>
            </a:r>
            <a:r>
              <a:rPr sz="2761" spc="-12" dirty="0">
                <a:latin typeface="Times New Roman"/>
                <a:cs typeface="Times New Roman"/>
              </a:rPr>
              <a:t>ra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da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3698" indent="-524479">
              <a:spcBef>
                <a:spcPts val="1438"/>
              </a:spcBef>
              <a:buSzPct val="91666"/>
              <a:buFont typeface="Calibri"/>
              <a:buChar char="●"/>
              <a:tabLst>
                <a:tab pos="555159" algn="l"/>
              </a:tabLst>
            </a:pP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46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Counter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(PC) –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PC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ontains the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of 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 instru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to be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uted.  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C will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to 0000. A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ter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PC will inc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5283200" y="1600200"/>
            <a:ext cx="6802018" cy="8011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8" name="object 8"/>
          <p:cNvSpPr txBox="1"/>
          <p:nvPr/>
        </p:nvSpPr>
        <p:spPr>
          <a:xfrm>
            <a:off x="7465806" y="465592"/>
            <a:ext cx="2436806" cy="566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Pin Diagr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endParaRPr sz="368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0" y="381000"/>
            <a:ext cx="3576320" cy="566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Pinout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Descripti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endParaRPr sz="3681" dirty="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545742"/>
              </p:ext>
            </p:extLst>
          </p:nvPr>
        </p:nvGraphicFramePr>
        <p:xfrm>
          <a:off x="1517645" y="1215838"/>
          <a:ext cx="14003029" cy="78630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2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0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7088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Pins 1</a:t>
                      </a:r>
                      <a:r>
                        <a:rPr sz="2800" b="1" i="1" spc="-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spc="-1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b="1" dirty="0">
                          <a:latin typeface="Times New Roman"/>
                          <a:cs typeface="Times New Roman"/>
                        </a:rPr>
                        <a:t>ORT 1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. Ea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h of th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ins c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 be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fi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 input or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 output.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 It is bidirectional. It is used for variety of interfacing tasks.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3321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Pin 9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89535">
                        <a:lnSpc>
                          <a:spcPct val="1436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RESE</a:t>
                      </a:r>
                      <a:r>
                        <a:rPr sz="2800" b="1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. A lo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ic one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on this pin disabl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 the mi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ro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ontroll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nd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rs t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ontents of most re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ist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rs.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 oth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ords, the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positive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volt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ge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on this pin 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ts the mi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ro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ontroll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r.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pp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ic z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ro to this pin, the p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 st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rts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ution f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om the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inni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8043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Pins10</a:t>
                      </a:r>
                      <a:r>
                        <a:rPr sz="2800" b="1" i="1" spc="-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17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196850">
                        <a:lnSpc>
                          <a:spcPct val="143500"/>
                        </a:lnSpc>
                      </a:pPr>
                      <a:r>
                        <a:rPr sz="2800" b="1" spc="-1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b="1" dirty="0">
                          <a:latin typeface="Times New Roman"/>
                          <a:cs typeface="Times New Roman"/>
                        </a:rPr>
                        <a:t>ORT 3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. Simil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 to po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1, 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h of t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pins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rve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 input or output.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sides,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ll of th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 have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lt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rn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tive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fu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tions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366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Pin 10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877569">
                        <a:lnSpc>
                          <a:spcPct val="1433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b="1" dirty="0">
                          <a:latin typeface="Times New Roman"/>
                          <a:cs typeface="Times New Roman"/>
                        </a:rPr>
                        <a:t>D.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ri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 a</a:t>
                      </a:r>
                      <a:r>
                        <a:rPr sz="2800" spc="2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hron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us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ommunic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tion input or Se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ial </a:t>
                      </a:r>
                      <a:r>
                        <a:rPr sz="2800" spc="2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hron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us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ommunic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tion output.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366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Pin 11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1970" marR="748030" indent="-457834">
                        <a:lnSpc>
                          <a:spcPct val="143300"/>
                        </a:lnSpc>
                        <a:tabLst>
                          <a:tab pos="3265804" algn="l"/>
                          <a:tab pos="4180204" algn="l"/>
                        </a:tabLst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TX</a:t>
                      </a: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b="1" dirty="0">
                          <a:latin typeface="Times New Roman"/>
                          <a:cs typeface="Times New Roman"/>
                        </a:rPr>
                        <a:t>.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ri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  </a:t>
                      </a:r>
                      <a:r>
                        <a:rPr sz="28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hron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us </a:t>
                      </a:r>
                      <a:r>
                        <a:rPr sz="28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ommunic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tion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output or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ri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rono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ommunication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lock output.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0952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Pin 12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INT0.</a:t>
                      </a:r>
                      <a:r>
                        <a:rPr sz="28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nterrupt 0 input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087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422280"/>
              </p:ext>
            </p:extLst>
          </p:nvPr>
        </p:nvGraphicFramePr>
        <p:xfrm>
          <a:off x="1168400" y="990600"/>
          <a:ext cx="15544799" cy="83703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32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Pin 13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INT1.</a:t>
                      </a:r>
                      <a:r>
                        <a:rPr sz="28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nterrupt 1 input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Pin 14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T0.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Counter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lock input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Pin 15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T1.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Counter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lock input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Pin 16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. 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rite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to 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 (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dditional)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RAM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Pin 17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b="1" dirty="0">
                          <a:latin typeface="Times New Roman"/>
                          <a:cs typeface="Times New Roman"/>
                        </a:rPr>
                        <a:t>.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rom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 RAM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808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Pin 18, 19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491490">
                        <a:lnSpc>
                          <a:spcPct val="1435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XTAL2, XTAL1.</a:t>
                      </a:r>
                      <a:r>
                        <a:rPr sz="28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nt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 oscillator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input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nd output. A qu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rtz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spc="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stal whi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h sp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ifi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op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ti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fr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1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is usu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spc="1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onn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 to th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pins.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92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Pin 20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b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. 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roun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6364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Pin 21</a:t>
                      </a:r>
                      <a:r>
                        <a:rPr sz="2800" b="1" i="1" spc="-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28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151765">
                        <a:lnSpc>
                          <a:spcPct val="143800"/>
                        </a:lnSpc>
                      </a:pPr>
                      <a:r>
                        <a:rPr sz="2800" b="1" spc="-1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b="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b="1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b="1" dirty="0">
                          <a:latin typeface="Times New Roman"/>
                          <a:cs typeface="Times New Roman"/>
                        </a:rPr>
                        <a:t>t 2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 t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is no int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ntion to use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e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 m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mo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then th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port pins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re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onfi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 in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uts/outputs. 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 m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mo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is us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d, t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800" spc="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ddr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ss 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te, i.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ddr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 A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A15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ill appe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 this port. Ev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  thou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memo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 with c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of 6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Kb is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not us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d, whi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h me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ns t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not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ll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ht port bits 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 for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its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ddr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ssi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, the r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of th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 a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not a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il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ble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 inputs/outputs.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695D7B-E952-F4ED-A107-C70512ECD0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768156"/>
              </p:ext>
            </p:extLst>
          </p:nvPr>
        </p:nvGraphicFramePr>
        <p:xfrm>
          <a:off x="1405885" y="1222338"/>
          <a:ext cx="15069829" cy="78807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0650">
                  <a:extLst>
                    <a:ext uri="{9D8B030D-6E8A-4147-A177-3AD203B41FA5}">
                      <a16:colId xmlns:a16="http://schemas.microsoft.com/office/drawing/2014/main" val="2347790032"/>
                    </a:ext>
                  </a:extLst>
                </a:gridCol>
                <a:gridCol w="13119179">
                  <a:extLst>
                    <a:ext uri="{9D8B030D-6E8A-4147-A177-3AD203B41FA5}">
                      <a16:colId xmlns:a16="http://schemas.microsoft.com/office/drawing/2014/main" val="2732966107"/>
                    </a:ext>
                  </a:extLst>
                </a:gridCol>
              </a:tblGrid>
              <a:tr h="1224221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Pin 29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92710">
                        <a:lnSpc>
                          <a:spcPct val="144200"/>
                        </a:lnSpc>
                      </a:pPr>
                      <a:r>
                        <a:rPr sz="2800" b="1" spc="-1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b="1" dirty="0">
                          <a:latin typeface="Times New Roman"/>
                          <a:cs typeface="Times New Roman"/>
                        </a:rPr>
                        <a:t>SEN.</a:t>
                      </a:r>
                      <a:r>
                        <a:rPr lang="en-US" sz="2800" b="1" dirty="0">
                          <a:latin typeface="Times New Roman"/>
                          <a:cs typeface="Times New Roman"/>
                        </a:rPr>
                        <a:t> Program Store Enable.</a:t>
                      </a:r>
                      <a:r>
                        <a:rPr sz="28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 ROM is used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or sto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ing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ram th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 a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lo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ic z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ro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(0)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pp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rs on it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time the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mi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ro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ntroll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ds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2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 from m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mo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1937575"/>
                  </a:ext>
                </a:extLst>
              </a:tr>
              <a:tr h="303987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Pin 30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111760">
                        <a:lnSpc>
                          <a:spcPct val="1435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ALE.</a:t>
                      </a:r>
                      <a:r>
                        <a:rPr lang="en-US" sz="2800" b="1" dirty="0">
                          <a:latin typeface="Times New Roman"/>
                          <a:cs typeface="Times New Roman"/>
                        </a:rPr>
                        <a:t> Address Latch Enable.</a:t>
                      </a:r>
                      <a:r>
                        <a:rPr sz="28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Prior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to 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ding from 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 m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mo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, the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mi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ro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ontroll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 puts the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ddr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ss 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 (A0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A7)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P0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nd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tiv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tes the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output. A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ivi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 f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om the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 pin, the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e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 l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tch l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tc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 the s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 of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P0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nd us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 it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 a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memo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hip add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ss.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mm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ft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 th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t, the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A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 pin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is r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turn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 its pr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vious l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ic st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nd P0 is now us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 a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ta 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0249490"/>
                  </a:ext>
                </a:extLst>
              </a:tr>
              <a:tr h="3349633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Pin 31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219075">
                        <a:lnSpc>
                          <a:spcPct val="1439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lang="en-US" sz="2800" b="1" dirty="0">
                          <a:latin typeface="Times New Roman"/>
                          <a:cs typeface="Times New Roman"/>
                        </a:rPr>
                        <a:t> External Enable.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pp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lo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ro to this pin, P2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nd P3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nd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ss tr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nsmission with no 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rd to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th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 th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is i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 m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mo</a:t>
                      </a:r>
                      <a:r>
                        <a:rPr sz="2800" spc="2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or 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t.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ns that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 there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is a p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 w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itten to the mic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ontroll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r, it will not be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uted.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nst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d, the p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gr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 w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spc="1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ten to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 ROM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ill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e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uted.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pp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spc="-4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ic one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to the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EA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pin, the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mi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ro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ontroll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will use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both m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mori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s, first int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rn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then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 (if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ists).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884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5869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179878"/>
              </p:ext>
            </p:extLst>
          </p:nvPr>
        </p:nvGraphicFramePr>
        <p:xfrm>
          <a:off x="1939285" y="2590800"/>
          <a:ext cx="14003029" cy="32887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2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0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7357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1" dirty="0">
                          <a:latin typeface="Times New Roman"/>
                          <a:cs typeface="Times New Roman"/>
                        </a:rPr>
                        <a:t>Pin 32</a:t>
                      </a:r>
                      <a:r>
                        <a:rPr lang="en-US" sz="2800" b="1" i="1" spc="-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en-US" sz="2800" b="1" i="1" dirty="0">
                          <a:latin typeface="Times New Roman"/>
                          <a:cs typeface="Times New Roman"/>
                        </a:rPr>
                        <a:t>39</a:t>
                      </a:r>
                      <a:endParaRPr lang="en-US"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321945">
                        <a:lnSpc>
                          <a:spcPct val="144200"/>
                        </a:lnSpc>
                      </a:pPr>
                      <a:r>
                        <a:rPr lang="en-US" sz="2800" b="1" spc="-1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lang="en-US" sz="2800" b="1" dirty="0">
                          <a:latin typeface="Times New Roman"/>
                          <a:cs typeface="Times New Roman"/>
                        </a:rPr>
                        <a:t>ORT 0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. 8-bit Port. Simil</a:t>
                      </a:r>
                      <a:r>
                        <a:rPr lang="en-US"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r to P2, </a:t>
                      </a:r>
                      <a:r>
                        <a:rPr lang="en-US" sz="2800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f </a:t>
                      </a:r>
                      <a:r>
                        <a:rPr lang="en-US"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lang="en-US" sz="2800" spc="1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lang="en-US" sz="28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lang="en-US"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l m</a:t>
                      </a:r>
                      <a:r>
                        <a:rPr lang="en-US"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mo</a:t>
                      </a:r>
                      <a:r>
                        <a:rPr lang="en-US" sz="2800" spc="2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lang="en-US"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is not used, th</a:t>
                      </a:r>
                      <a:r>
                        <a:rPr lang="en-US" sz="2800" spc="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se</a:t>
                      </a:r>
                      <a:r>
                        <a:rPr lang="en-US"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pins </a:t>
                      </a:r>
                      <a:r>
                        <a:rPr lang="en-US" sz="2800" spc="-5" dirty="0"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n </a:t>
                      </a:r>
                      <a:r>
                        <a:rPr lang="en-US" sz="2800" spc="1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lang="en-US"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800" spc="1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lang="en-US"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lang="en-US"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lang="en-US" sz="28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lang="en-US"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lang="en-US" sz="28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lang="en-US"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lang="en-US"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l inputs/outputs. Oth</a:t>
                      </a:r>
                      <a:r>
                        <a:rPr lang="en-US"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lang="en-US" sz="2800" spc="-1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ise, P0 is </a:t>
                      </a:r>
                      <a:r>
                        <a:rPr lang="en-US" sz="28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onf</a:t>
                      </a:r>
                      <a:r>
                        <a:rPr lang="en-US" sz="2800" spc="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sz="28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ured </a:t>
                      </a:r>
                      <a:r>
                        <a:rPr lang="en-US"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lang="en-US"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ddr</a:t>
                      </a:r>
                      <a:r>
                        <a:rPr lang="en-US"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ss output (</a:t>
                      </a:r>
                      <a:r>
                        <a:rPr lang="en-US"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lang="en-US" sz="2800" spc="3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lang="en-US" sz="2800" spc="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A7)</a:t>
                      </a:r>
                      <a:r>
                        <a:rPr lang="en-US"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wh</a:t>
                      </a:r>
                      <a:r>
                        <a:rPr lang="en-US"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lang="en-US" sz="2800" dirty="0">
                          <a:latin typeface="Times New Roman"/>
                          <a:cs typeface="Times New Roman"/>
                        </a:rPr>
                        <a:t>n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 pin is driv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 high (1)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ta output (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ta 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us)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wh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 the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A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 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in is driv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 low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0).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109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Pin 40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VCC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.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5V p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 supp</a:t>
                      </a:r>
                      <a:r>
                        <a:rPr sz="2800" spc="2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EC0CB-0264-339A-94FB-9E094D5EC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0400" y="3505200"/>
            <a:ext cx="15092044" cy="1231106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spc="-12" dirty="0">
                <a:solidFill>
                  <a:srgbClr val="2E5395"/>
                </a:solidFill>
                <a:latin typeface="Times New Roman"/>
                <a:cs typeface="Times New Roman"/>
              </a:rPr>
              <a:t>Internal </a:t>
            </a:r>
            <a:r>
              <a:rPr lang="en-US" sz="4000" spc="-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lang="en-US" sz="4000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lang="en-US" sz="4000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lang="en-US" sz="4000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4000" spc="-23" dirty="0">
                <a:solidFill>
                  <a:srgbClr val="2E5395"/>
                </a:solidFill>
                <a:latin typeface="Times New Roman"/>
                <a:cs typeface="Times New Roman"/>
              </a:rPr>
              <a:t>org</a:t>
            </a:r>
            <a:r>
              <a:rPr lang="en-US" sz="4000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lang="en-US" sz="4000" spc="-23" dirty="0">
                <a:solidFill>
                  <a:srgbClr val="2E5395"/>
                </a:solidFill>
                <a:latin typeface="Times New Roman"/>
                <a:cs typeface="Times New Roman"/>
              </a:rPr>
              <a:t>niz</a:t>
            </a:r>
            <a:r>
              <a:rPr lang="en-US" sz="4000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lang="en-US" sz="4000" spc="-12" dirty="0">
                <a:solidFill>
                  <a:srgbClr val="2E5395"/>
                </a:solidFill>
                <a:latin typeface="Times New Roman"/>
                <a:cs typeface="Times New Roman"/>
              </a:rPr>
              <a:t>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spc="-23" dirty="0">
                <a:solidFill>
                  <a:srgbClr val="2E5395"/>
                </a:solidFill>
                <a:latin typeface="Times New Roman"/>
                <a:cs typeface="Times New Roman"/>
              </a:rPr>
              <a:t>External</a:t>
            </a:r>
            <a:r>
              <a:rPr lang="en-US" sz="4000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4000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lang="en-US" sz="4000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lang="en-US" sz="4000" spc="-23" dirty="0">
                <a:solidFill>
                  <a:srgbClr val="2E5395"/>
                </a:solidFill>
                <a:latin typeface="Times New Roman"/>
                <a:cs typeface="Times New Roman"/>
              </a:rPr>
              <a:t>mo</a:t>
            </a:r>
            <a:r>
              <a:rPr lang="en-US" sz="4000" spc="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lang="en-US" sz="4000" spc="-23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lang="en-US" sz="4000" spc="-69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4000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lang="en-US" sz="4000" spc="-23" dirty="0">
                <a:solidFill>
                  <a:srgbClr val="2E5395"/>
                </a:solidFill>
                <a:latin typeface="Times New Roman"/>
                <a:cs typeface="Times New Roman"/>
              </a:rPr>
              <a:t>nte</a:t>
            </a:r>
            <a:r>
              <a:rPr lang="en-US" sz="4000" dirty="0">
                <a:solidFill>
                  <a:srgbClr val="2E5395"/>
                </a:solidFill>
                <a:latin typeface="Times New Roman"/>
                <a:cs typeface="Times New Roman"/>
              </a:rPr>
              <a:t>rf</a:t>
            </a:r>
            <a:r>
              <a:rPr lang="en-US" sz="4000" spc="-23" dirty="0">
                <a:solidFill>
                  <a:srgbClr val="2E5395"/>
                </a:solidFill>
                <a:latin typeface="Times New Roman"/>
                <a:cs typeface="Times New Roman"/>
              </a:rPr>
              <a:t>acing</a:t>
            </a:r>
            <a:endParaRPr lang="en-US" sz="4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7BAFCD-B552-FAB1-31B2-94CDBCA91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006" y="1632744"/>
            <a:ext cx="16094075" cy="677108"/>
          </a:xfrm>
        </p:spPr>
        <p:txBody>
          <a:bodyPr/>
          <a:lstStyle/>
          <a:p>
            <a:pPr algn="ctr"/>
            <a:r>
              <a:rPr lang="en-US" sz="4400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lang="en-US" sz="4400" spc="-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lang="en-US" sz="4400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lang="en-US" sz="4400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lang="en-US" sz="4400" spc="-23" dirty="0">
                <a:solidFill>
                  <a:srgbClr val="2E5395"/>
                </a:solidFill>
                <a:latin typeface="Times New Roman"/>
                <a:cs typeface="Times New Roman"/>
              </a:rPr>
              <a:t>ry</a:t>
            </a:r>
            <a:r>
              <a:rPr lang="en-US" sz="4400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4400" spc="-23" dirty="0">
                <a:solidFill>
                  <a:srgbClr val="2E5395"/>
                </a:solidFill>
                <a:latin typeface="Times New Roman"/>
                <a:cs typeface="Times New Roman"/>
              </a:rPr>
              <a:t>Organiza</a:t>
            </a:r>
            <a:r>
              <a:rPr lang="en-US" sz="4400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lang="en-US" sz="4400" spc="-23" dirty="0">
                <a:solidFill>
                  <a:srgbClr val="2E5395"/>
                </a:solidFill>
                <a:latin typeface="Times New Roman"/>
                <a:cs typeface="Times New Roman"/>
              </a:rPr>
              <a:t>ion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349136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075232" y="227073"/>
            <a:ext cx="8978784" cy="460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Internal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org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niz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tion</a:t>
            </a:r>
            <a:endParaRPr sz="299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75232" y="756847"/>
            <a:ext cx="11797650" cy="88443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4251225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0400" y="775086"/>
            <a:ext cx="13734062" cy="85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3800"/>
              </a:lnSpc>
            </a:pP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R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sz="2761" spc="-35" dirty="0">
                <a:solidFill>
                  <a:srgbClr val="1F3762"/>
                </a:solidFill>
                <a:latin typeface="Times New Roman"/>
                <a:cs typeface="Times New Roman"/>
              </a:rPr>
              <a:t>g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ist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r</a:t>
            </a:r>
            <a:r>
              <a:rPr sz="2761" spc="173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spc="-23" dirty="0">
                <a:solidFill>
                  <a:srgbClr val="1F3762"/>
                </a:solidFill>
                <a:latin typeface="Times New Roman"/>
                <a:cs typeface="Times New Roman"/>
              </a:rPr>
              <a:t>B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a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nks:</a:t>
            </a:r>
            <a:r>
              <a:rPr sz="2761" spc="161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00h</a:t>
            </a:r>
            <a:r>
              <a:rPr sz="2761" spc="161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to</a:t>
            </a:r>
            <a:r>
              <a:rPr sz="2761" spc="161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spc="-35" dirty="0">
                <a:solidFill>
                  <a:srgbClr val="1F3762"/>
                </a:solidFill>
                <a:latin typeface="Times New Roman"/>
                <a:cs typeface="Times New Roman"/>
              </a:rPr>
              <a:t>1</a:t>
            </a:r>
            <a:r>
              <a:rPr sz="2761" spc="-23" dirty="0">
                <a:solidFill>
                  <a:srgbClr val="1F3762"/>
                </a:solidFill>
                <a:latin typeface="Times New Roman"/>
                <a:cs typeface="Times New Roman"/>
              </a:rPr>
              <a:t>F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h.</a:t>
            </a:r>
            <a:r>
              <a:rPr sz="2761" spc="184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8051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purp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R0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throu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R7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(R0,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R1, R2,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R3,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R4,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R5,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R6,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R7).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four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nks.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nk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thro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 RS1, RS0 bits of P</a:t>
            </a:r>
            <a:r>
              <a:rPr sz="2761" spc="-12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. On 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t,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ult 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nk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 will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ted.</a:t>
            </a:r>
          </a:p>
          <a:p>
            <a:pPr>
              <a:spcBef>
                <a:spcPts val="129"/>
              </a:spcBef>
            </a:pPr>
            <a:endParaRPr sz="4026" dirty="0">
              <a:latin typeface="Times New Roman"/>
              <a:cs typeface="Times New Roman"/>
            </a:endParaRPr>
          </a:p>
          <a:p>
            <a:pPr marL="29219" marR="17531" algn="just">
              <a:lnSpc>
                <a:spcPct val="143800"/>
              </a:lnSpc>
            </a:pPr>
            <a:r>
              <a:rPr sz="2761" spc="-23" dirty="0">
                <a:solidFill>
                  <a:srgbClr val="1F3762"/>
                </a:solidFill>
                <a:latin typeface="Times New Roman"/>
                <a:cs typeface="Times New Roman"/>
              </a:rPr>
              <a:t>B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it</a:t>
            </a:r>
            <a:r>
              <a:rPr sz="2761" spc="196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Addr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ssable</a:t>
            </a:r>
            <a:r>
              <a:rPr sz="2761" spc="196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RAM:</a:t>
            </a:r>
            <a:r>
              <a:rPr sz="2761" spc="184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spc="23" dirty="0">
                <a:solidFill>
                  <a:srgbClr val="1F3762"/>
                </a:solidFill>
                <a:latin typeface="Times New Roman"/>
                <a:cs typeface="Times New Roman"/>
              </a:rPr>
              <a:t>2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0h</a:t>
            </a:r>
            <a:r>
              <a:rPr sz="2761" spc="184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to</a:t>
            </a:r>
            <a:r>
              <a:rPr sz="2761" spc="196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2</a:t>
            </a:r>
            <a:r>
              <a:rPr sz="2761" spc="-23" dirty="0">
                <a:solidFill>
                  <a:srgbClr val="1F3762"/>
                </a:solidFill>
                <a:latin typeface="Times New Roman"/>
                <a:cs typeface="Times New Roman"/>
              </a:rPr>
              <a:t>F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h.</a:t>
            </a:r>
            <a:r>
              <a:rPr sz="2761" spc="253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8051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ports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ial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hich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llows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bit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where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individual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RAM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 the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128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00h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7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h.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riable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 or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R. 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29219" marR="8165219">
              <a:lnSpc>
                <a:spcPts val="4785"/>
              </a:lnSpc>
              <a:spcBef>
                <a:spcPts val="368"/>
              </a:spcBef>
            </a:pPr>
            <a:r>
              <a:rPr sz="2761" i="1" dirty="0">
                <a:latin typeface="Times New Roman"/>
                <a:cs typeface="Times New Roman"/>
              </a:rPr>
              <a:t>SETB 25h;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ts the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bit 25h </a:t>
            </a:r>
            <a:r>
              <a:rPr sz="2761" i="1" spc="-46" dirty="0">
                <a:latin typeface="Times New Roman"/>
                <a:cs typeface="Times New Roman"/>
              </a:rPr>
              <a:t>(</a:t>
            </a:r>
            <a:r>
              <a:rPr sz="2761" i="1" spc="23" dirty="0">
                <a:latin typeface="Times New Roman"/>
                <a:cs typeface="Times New Roman"/>
              </a:rPr>
              <a:t>b</a:t>
            </a:r>
            <a:r>
              <a:rPr sz="2761" i="1" spc="-12" dirty="0">
                <a:latin typeface="Times New Roman"/>
                <a:cs typeface="Times New Roman"/>
              </a:rPr>
              <a:t>ec</a:t>
            </a:r>
            <a:r>
              <a:rPr sz="2761" i="1" dirty="0">
                <a:latin typeface="Times New Roman"/>
                <a:cs typeface="Times New Roman"/>
              </a:rPr>
              <a:t>o</a:t>
            </a:r>
            <a:r>
              <a:rPr sz="2761" i="1" spc="12" dirty="0">
                <a:latin typeface="Times New Roman"/>
                <a:cs typeface="Times New Roman"/>
              </a:rPr>
              <a:t>m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s </a:t>
            </a:r>
            <a:r>
              <a:rPr sz="2761" i="1" spc="23" dirty="0">
                <a:latin typeface="Times New Roman"/>
                <a:cs typeface="Times New Roman"/>
              </a:rPr>
              <a:t>1</a:t>
            </a:r>
            <a:r>
              <a:rPr sz="2761" i="1" dirty="0">
                <a:latin typeface="Times New Roman"/>
                <a:cs typeface="Times New Roman"/>
              </a:rPr>
              <a:t>) CLR 25h;</a:t>
            </a:r>
            <a:r>
              <a:rPr sz="2761" i="1" spc="-12" dirty="0">
                <a:latin typeface="Times New Roman"/>
                <a:cs typeface="Times New Roman"/>
              </a:rPr>
              <a:t> c</a:t>
            </a:r>
            <a:r>
              <a:rPr sz="2761" i="1" dirty="0">
                <a:latin typeface="Times New Roman"/>
                <a:cs typeface="Times New Roman"/>
              </a:rPr>
              <a:t>lears bit 25h </a:t>
            </a:r>
            <a:r>
              <a:rPr sz="2761" i="1" spc="-46" dirty="0">
                <a:latin typeface="Times New Roman"/>
                <a:cs typeface="Times New Roman"/>
              </a:rPr>
              <a:t>(</a:t>
            </a:r>
            <a:r>
              <a:rPr sz="2761" i="1" spc="23" dirty="0">
                <a:latin typeface="Times New Roman"/>
                <a:cs typeface="Times New Roman"/>
              </a:rPr>
              <a:t>b</a:t>
            </a:r>
            <a:r>
              <a:rPr sz="2761" i="1" spc="-12" dirty="0">
                <a:latin typeface="Times New Roman"/>
                <a:cs typeface="Times New Roman"/>
              </a:rPr>
              <a:t>ec</a:t>
            </a:r>
            <a:r>
              <a:rPr sz="2761" i="1" dirty="0">
                <a:latin typeface="Times New Roman"/>
                <a:cs typeface="Times New Roman"/>
              </a:rPr>
              <a:t>o</a:t>
            </a:r>
            <a:r>
              <a:rPr sz="2761" i="1" spc="12" dirty="0">
                <a:latin typeface="Times New Roman"/>
                <a:cs typeface="Times New Roman"/>
              </a:rPr>
              <a:t>m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s </a:t>
            </a:r>
            <a:r>
              <a:rPr sz="2761" i="1" spc="23" dirty="0">
                <a:latin typeface="Times New Roman"/>
                <a:cs typeface="Times New Roman"/>
              </a:rPr>
              <a:t>0</a:t>
            </a:r>
            <a:r>
              <a:rPr sz="2761" i="1" dirty="0">
                <a:latin typeface="Times New Roman"/>
                <a:cs typeface="Times New Roman"/>
              </a:rPr>
              <a:t>)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024"/>
              </a:spcBef>
            </a:pPr>
            <a:r>
              <a:rPr sz="2761" i="1" dirty="0">
                <a:latin typeface="Times New Roman"/>
                <a:cs typeface="Times New Roman"/>
              </a:rPr>
              <a:t>Note, bit 25h is a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tually</a:t>
            </a:r>
            <a:r>
              <a:rPr sz="2761" i="1" spc="-35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bit 5 of Int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rnal RAM</a:t>
            </a:r>
            <a:r>
              <a:rPr sz="2761" i="1" spc="-2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location 24h.</a:t>
            </a:r>
            <a:endParaRPr sz="2761" dirty="0">
              <a:latin typeface="Times New Roman"/>
              <a:cs typeface="Times New Roman"/>
            </a:endParaRPr>
          </a:p>
          <a:p>
            <a:pPr marL="29219" marR="23375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Add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ssable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RAM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just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RAM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-35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20h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2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3769" y="1981200"/>
            <a:ext cx="13734062" cy="54565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243978">
              <a:lnSpc>
                <a:spcPct val="143800"/>
              </a:lnSpc>
            </a:pP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G</a:t>
            </a:r>
            <a:r>
              <a:rPr sz="2761" spc="-23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n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sz="2761" spc="12" dirty="0">
                <a:solidFill>
                  <a:srgbClr val="1F3762"/>
                </a:solidFill>
                <a:latin typeface="Times New Roman"/>
                <a:cs typeface="Times New Roman"/>
              </a:rPr>
              <a:t>r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a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l </a:t>
            </a:r>
            <a:r>
              <a:rPr sz="2761" spc="12" dirty="0">
                <a:solidFill>
                  <a:srgbClr val="1F3762"/>
                </a:solidFill>
                <a:latin typeface="Times New Roman"/>
                <a:cs typeface="Times New Roman"/>
              </a:rPr>
              <a:t>P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urpose</a:t>
            </a:r>
            <a:r>
              <a:rPr sz="2761" spc="-23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RAM: 30h to 7</a:t>
            </a:r>
            <a:r>
              <a:rPr sz="2761" spc="-23" dirty="0">
                <a:solidFill>
                  <a:srgbClr val="1F3762"/>
                </a:solidFill>
                <a:latin typeface="Times New Roman"/>
                <a:cs typeface="Times New Roman"/>
              </a:rPr>
              <a:t>F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h.</a:t>
            </a:r>
            <a:r>
              <a:rPr sz="2761" spc="12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if 80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RAM 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purp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sto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should ta</a:t>
            </a:r>
            <a:r>
              <a:rPr sz="2761" spc="12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spc="12" dirty="0">
                <a:latin typeface="Times New Roman"/>
                <a:cs typeface="Times New Roman"/>
              </a:rPr>
              <a:t>ar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while using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0</a:t>
            </a:r>
            <a:r>
              <a:rPr sz="2761" spc="35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- 2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h sin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ult 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sp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sta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sp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bit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ssable sp</a:t>
            </a:r>
            <a:r>
              <a:rPr sz="2761" spc="-12" dirty="0">
                <a:latin typeface="Times New Roman"/>
                <a:cs typeface="Times New Roman"/>
              </a:rPr>
              <a:t>ace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ood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use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purpose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30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– 7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h.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pu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po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 RAM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ssed u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dire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or indir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modes.</a:t>
            </a:r>
          </a:p>
          <a:p>
            <a:pPr>
              <a:spcBef>
                <a:spcPts val="129"/>
              </a:spcBef>
            </a:pPr>
            <a:endParaRPr sz="4026" dirty="0">
              <a:latin typeface="Times New Roman"/>
              <a:cs typeface="Times New Roman"/>
            </a:endParaRPr>
          </a:p>
          <a:p>
            <a:pPr marL="29219" marR="382767">
              <a:lnSpc>
                <a:spcPct val="143800"/>
              </a:lnSpc>
            </a:pP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S</a:t>
            </a:r>
            <a:r>
              <a:rPr sz="2761" spc="-23" dirty="0">
                <a:solidFill>
                  <a:srgbClr val="1F3762"/>
                </a:solidFill>
                <a:latin typeface="Times New Roman"/>
                <a:cs typeface="Times New Roman"/>
              </a:rPr>
              <a:t>F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R M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a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p.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of Sp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ial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(S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Rs)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ontains import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 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su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umul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tor, 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/O Port 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tch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point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 </a:t>
            </a:r>
            <a:r>
              <a:rPr sz="2761" spc="-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Pointe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, PS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 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rs. Some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ssable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942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4200" y="1981200"/>
            <a:ext cx="13734062" cy="2438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External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mo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nte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rf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acing</a:t>
            </a:r>
            <a:endParaRPr sz="2991" dirty="0">
              <a:latin typeface="Times New Roman"/>
              <a:cs typeface="Times New Roman"/>
            </a:endParaRPr>
          </a:p>
          <a:p>
            <a:pPr>
              <a:spcBef>
                <a:spcPts val="2"/>
              </a:spcBef>
            </a:pPr>
            <a:endParaRPr sz="2646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rf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16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RAM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32 K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 of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EPROM to 8051</a:t>
            </a:r>
          </a:p>
          <a:p>
            <a:pPr marL="29219" marR="970067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Numb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of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lines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16 </a:t>
            </a:r>
            <a:r>
              <a:rPr sz="2761" spc="-23" dirty="0">
                <a:latin typeface="Times New Roman"/>
                <a:cs typeface="Times New Roman"/>
              </a:rPr>
              <a:t>K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 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14 lin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3</a:t>
            </a:r>
            <a:r>
              <a:rPr sz="2761" spc="-12" dirty="0">
                <a:latin typeface="Times New Roman"/>
                <a:cs typeface="Times New Roman"/>
              </a:rPr>
              <a:t>2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of memo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15 lin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</p:txBody>
      </p:sp>
    </p:spTree>
    <p:extLst>
      <p:ext uri="{BB962C8B-B14F-4D97-AF65-F5344CB8AC3E}">
        <p14:creationId xmlns:p14="http://schemas.microsoft.com/office/powerpoint/2010/main" val="2667396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92306" y="1016724"/>
            <a:ext cx="13734062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 of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shown 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low.</a:t>
            </a:r>
          </a:p>
        </p:txBody>
      </p:sp>
      <p:sp>
        <p:nvSpPr>
          <p:cNvPr id="4" name="object 4"/>
          <p:cNvSpPr/>
          <p:nvPr/>
        </p:nvSpPr>
        <p:spPr>
          <a:xfrm>
            <a:off x="2171669" y="2667000"/>
            <a:ext cx="13601094" cy="63842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2335540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800" y="1143000"/>
            <a:ext cx="13732601" cy="7256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3700"/>
              </a:lnSpc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ple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multipl</a:t>
            </a:r>
            <a:r>
              <a:rPr sz="2761" spc="-35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ing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done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h.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nitial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his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69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put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 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dire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23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memo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ter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bus.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Still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lf.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nds on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marR="11688" algn="just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(both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low)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RAM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ding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ta.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PSEN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troller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EA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low)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lw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roun</a:t>
            </a:r>
            <a:r>
              <a:rPr sz="2761" spc="-12" dirty="0">
                <a:latin typeface="Times New Roman"/>
                <a:cs typeface="Times New Roman"/>
              </a:rPr>
              <a:t>de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46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ise,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</a:p>
          <a:p>
            <a:pPr marL="29219" marR="17531" algn="just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prog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cee</a:t>
            </a:r>
            <a:r>
              <a:rPr sz="2761" dirty="0">
                <a:latin typeface="Times New Roman"/>
                <a:cs typeface="Times New Roman"/>
              </a:rPr>
              <a:t>ds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witch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memo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01800" y="1752600"/>
            <a:ext cx="13736984" cy="56086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STACK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600"/>
              </a:lnSpc>
              <a:spcBef>
                <a:spcPts val="1657"/>
              </a:spcBef>
            </a:pP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last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st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8051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RAM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k.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ontain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led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nstru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PUSH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POP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12" dirty="0">
                <a:latin typeface="Times New Roman"/>
                <a:cs typeface="Times New Roman"/>
              </a:rPr>
              <a:t>er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tions.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pla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k,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inc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(pr</a:t>
            </a:r>
            <a:r>
              <a:rPr sz="2761" spc="9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inc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As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tri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om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stack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rom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k,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then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 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nts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point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il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spc="-92" dirty="0">
                <a:latin typeface="Times New Roman"/>
                <a:cs typeface="Times New Roman"/>
              </a:rPr>
              <a:t>y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stor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(post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nt).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point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07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8051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ts.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So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that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ult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memo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rts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om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08 onw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rds </a:t>
            </a:r>
            <a:r>
              <a:rPr lang="en-US" sz="2761" spc="-23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to avoid o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rwriting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def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ult 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nk i.e., b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nk 0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8304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92332" y="773664"/>
            <a:ext cx="13729679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2761" dirty="0">
                <a:latin typeface="Times New Roman"/>
                <a:cs typeface="Times New Roman"/>
              </a:rPr>
              <a:t>E.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 Show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 for the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ollowin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35194" y="2079492"/>
            <a:ext cx="2521539" cy="1765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3800"/>
              </a:lnSpc>
            </a:pPr>
            <a:r>
              <a:rPr sz="2761" dirty="0">
                <a:latin typeface="Times New Roman"/>
                <a:cs typeface="Times New Roman"/>
              </a:rPr>
              <a:t>MOV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R6, #25H MOV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R1, #12H MOV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R4, #0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3H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78400" y="1467721"/>
            <a:ext cx="1520813" cy="23771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4000"/>
              </a:lnSpc>
            </a:pP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23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]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07 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6</a:t>
            </a:r>
            <a:r>
              <a:rPr sz="2761" spc="12" dirty="0">
                <a:latin typeface="Times New Roman"/>
                <a:cs typeface="Times New Roman"/>
              </a:rPr>
              <a:t>]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25H 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1</a:t>
            </a:r>
            <a:r>
              <a:rPr sz="2761" spc="12" dirty="0">
                <a:latin typeface="Times New Roman"/>
                <a:cs typeface="Times New Roman"/>
              </a:rPr>
              <a:t>]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12H 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4</a:t>
            </a:r>
            <a:r>
              <a:rPr sz="2761" spc="12" dirty="0">
                <a:latin typeface="Times New Roman"/>
                <a:cs typeface="Times New Roman"/>
              </a:rPr>
              <a:t>]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3H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770100" y="1600200"/>
            <a:ext cx="6701217" cy="2263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i="1" dirty="0">
                <a:latin typeface="Times New Roman"/>
                <a:cs typeface="Times New Roman"/>
              </a:rPr>
              <a:t>//CONTE</a:t>
            </a:r>
            <a:r>
              <a:rPr sz="2761" i="1" spc="-23" dirty="0">
                <a:latin typeface="Times New Roman"/>
                <a:cs typeface="Times New Roman"/>
              </a:rPr>
              <a:t>N</a:t>
            </a:r>
            <a:r>
              <a:rPr sz="2761" i="1" dirty="0">
                <a:latin typeface="Times New Roman"/>
                <a:cs typeface="Times New Roman"/>
              </a:rPr>
              <a:t>T OF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SP </a:t>
            </a:r>
            <a:r>
              <a:rPr sz="2761" i="1" spc="-12" dirty="0">
                <a:latin typeface="Times New Roman"/>
                <a:cs typeface="Times New Roman"/>
              </a:rPr>
              <a:t>I</a:t>
            </a:r>
            <a:r>
              <a:rPr sz="2761" i="1" dirty="0">
                <a:latin typeface="Times New Roman"/>
                <a:cs typeface="Times New Roman"/>
              </a:rPr>
              <a:t>S 07 </a:t>
            </a:r>
            <a:r>
              <a:rPr sz="2761" i="1" spc="-12" dirty="0">
                <a:latin typeface="Times New Roman"/>
                <a:cs typeface="Times New Roman"/>
              </a:rPr>
              <a:t>(</a:t>
            </a:r>
            <a:r>
              <a:rPr sz="2761" i="1" dirty="0">
                <a:latin typeface="Times New Roman"/>
                <a:cs typeface="Times New Roman"/>
              </a:rPr>
              <a:t>D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FA</a:t>
            </a:r>
            <a:r>
              <a:rPr sz="2761" i="1" spc="-12" dirty="0">
                <a:latin typeface="Times New Roman"/>
                <a:cs typeface="Times New Roman"/>
              </a:rPr>
              <a:t>U</a:t>
            </a:r>
            <a:r>
              <a:rPr sz="2761" i="1" dirty="0">
                <a:latin typeface="Times New Roman"/>
                <a:cs typeface="Times New Roman"/>
              </a:rPr>
              <a:t>LT VALU</a:t>
            </a:r>
            <a:r>
              <a:rPr sz="2761" i="1" spc="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)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72"/>
              </a:spcBef>
            </a:pPr>
            <a:r>
              <a:rPr sz="2761" dirty="0">
                <a:latin typeface="Times New Roman"/>
                <a:cs typeface="Times New Roman"/>
              </a:rPr>
              <a:t>//CO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R6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23" dirty="0">
                <a:latin typeface="Times New Roman"/>
                <a:cs typeface="Times New Roman"/>
              </a:rPr>
              <a:t>2</a:t>
            </a:r>
            <a:r>
              <a:rPr sz="2761" dirty="0">
                <a:latin typeface="Times New Roman"/>
                <a:cs typeface="Times New Roman"/>
              </a:rPr>
              <a:t>5H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//CO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R1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23" dirty="0">
                <a:latin typeface="Times New Roman"/>
                <a:cs typeface="Times New Roman"/>
              </a:rPr>
              <a:t>1</a:t>
            </a:r>
            <a:r>
              <a:rPr sz="2761" dirty="0">
                <a:latin typeface="Times New Roman"/>
                <a:cs typeface="Times New Roman"/>
              </a:rPr>
              <a:t>2H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//CO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R4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 F3H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599178"/>
              </p:ext>
            </p:extLst>
          </p:nvPr>
        </p:nvGraphicFramePr>
        <p:xfrm>
          <a:off x="2006617" y="4648200"/>
          <a:ext cx="12439300" cy="1852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7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3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2934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PUSH 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6555">
                        <a:lnSpc>
                          <a:spcPct val="100000"/>
                        </a:lnSpc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8295">
                        <a:lnSpc>
                          <a:spcPct val="100000"/>
                        </a:lnSpc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08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06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25H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//CO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08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5H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506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PUSH 1</a:t>
                      </a:r>
                    </a:p>
                    <a:p>
                      <a:pPr marL="349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PUSH 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6555" marR="320675">
                        <a:lnSpc>
                          <a:spcPct val="144200"/>
                        </a:lnSpc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09 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8295">
                        <a:lnSpc>
                          <a:spcPct val="100000"/>
                        </a:lnSpc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09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01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12H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2829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0A]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3H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//CO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09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2H</a:t>
                      </a:r>
                    </a:p>
                    <a:p>
                      <a:pPr marL="7937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//CO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0A</a:t>
                      </a:r>
                      <a:r>
                        <a:rPr sz="28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F3H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88395"/>
              </p:ext>
            </p:extLst>
          </p:nvPr>
        </p:nvGraphicFramePr>
        <p:xfrm>
          <a:off x="2024082" y="6934200"/>
          <a:ext cx="12213608" cy="1852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0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5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0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26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2934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POP 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1165">
                        <a:lnSpc>
                          <a:spcPct val="100000"/>
                        </a:lnSpc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06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0A]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3H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//CO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06</a:t>
                      </a:r>
                      <a:r>
                        <a:rPr sz="28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3H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506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POP 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POP 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1165">
                        <a:lnSpc>
                          <a:spcPct val="100000"/>
                        </a:lnSpc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01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09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12H</a:t>
                      </a:r>
                    </a:p>
                    <a:p>
                      <a:pPr marL="43116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04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08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25H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0" marR="182880">
                        <a:lnSpc>
                          <a:spcPct val="100000"/>
                        </a:lnSpc>
                      </a:pP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08 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//CO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01</a:t>
                      </a:r>
                      <a:r>
                        <a:rPr sz="28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 12H</a:t>
                      </a:r>
                    </a:p>
                    <a:p>
                      <a:pPr marL="19050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//CO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04</a:t>
                      </a:r>
                      <a:r>
                        <a:rPr sz="28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 25H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701800" y="372287"/>
            <a:ext cx="14630400" cy="9686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33544" indent="-904325">
              <a:buClr>
                <a:srgbClr val="2E5395"/>
              </a:buClr>
              <a:buFont typeface="Calibri Light"/>
              <a:buAutoNum type="alphaUcPeriod"/>
              <a:tabLst>
                <a:tab pos="935004" algn="l"/>
              </a:tabLst>
            </a:pPr>
            <a:r>
              <a:rPr sz="3681" spc="-35" dirty="0">
                <a:solidFill>
                  <a:srgbClr val="2E5395"/>
                </a:solidFill>
                <a:latin typeface="Calibri Light"/>
                <a:cs typeface="Calibri Light"/>
              </a:rPr>
              <a:t>TEX</a:t>
            </a:r>
            <a:r>
              <a:rPr sz="3681" spc="-12" dirty="0">
                <a:solidFill>
                  <a:srgbClr val="2E5395"/>
                </a:solidFill>
                <a:latin typeface="Calibri Light"/>
                <a:cs typeface="Calibri Light"/>
              </a:rPr>
              <a:t>T</a:t>
            </a:r>
            <a:r>
              <a:rPr sz="3681" spc="-35" dirty="0">
                <a:solidFill>
                  <a:srgbClr val="2E5395"/>
                </a:solidFill>
                <a:latin typeface="Calibri Light"/>
                <a:cs typeface="Calibri Light"/>
              </a:rPr>
              <a:t>BO</a:t>
            </a:r>
            <a:r>
              <a:rPr sz="3681" spc="-23" dirty="0">
                <a:solidFill>
                  <a:srgbClr val="2E5395"/>
                </a:solidFill>
                <a:latin typeface="Calibri Light"/>
                <a:cs typeface="Calibri Light"/>
              </a:rPr>
              <a:t>O</a:t>
            </a:r>
            <a:r>
              <a:rPr sz="3681" spc="-35" dirty="0">
                <a:solidFill>
                  <a:srgbClr val="2E5395"/>
                </a:solidFill>
                <a:latin typeface="Calibri Light"/>
                <a:cs typeface="Calibri Light"/>
              </a:rPr>
              <a:t>KS/</a:t>
            </a:r>
            <a:r>
              <a:rPr sz="3681" dirty="0">
                <a:solidFill>
                  <a:srgbClr val="2E5395"/>
                </a:solidFill>
                <a:latin typeface="Calibri Light"/>
                <a:cs typeface="Calibri Light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Calibri Light"/>
                <a:cs typeface="Calibri Light"/>
              </a:rPr>
              <a:t>EFERENCE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Calibri Light"/>
                <a:cs typeface="Calibri Light"/>
              </a:rPr>
              <a:t>BO</a:t>
            </a:r>
            <a:r>
              <a:rPr sz="3681" spc="-23" dirty="0">
                <a:solidFill>
                  <a:srgbClr val="2E5395"/>
                </a:solidFill>
                <a:latin typeface="Calibri Light"/>
                <a:cs typeface="Calibri Light"/>
              </a:rPr>
              <a:t>O</a:t>
            </a:r>
            <a:r>
              <a:rPr sz="3681" spc="-35" dirty="0">
                <a:solidFill>
                  <a:srgbClr val="2E5395"/>
                </a:solidFill>
                <a:latin typeface="Calibri Light"/>
                <a:cs typeface="Calibri Light"/>
              </a:rPr>
              <a:t>KS</a:t>
            </a:r>
            <a:endParaRPr lang="en-US" sz="3681" spc="-35" dirty="0">
              <a:solidFill>
                <a:srgbClr val="2E5395"/>
              </a:solidFill>
              <a:latin typeface="Calibri Light"/>
              <a:cs typeface="Calibri Light"/>
            </a:endParaRPr>
          </a:p>
          <a:p>
            <a:pPr marL="29219">
              <a:buClr>
                <a:srgbClr val="2E5395"/>
              </a:buClr>
              <a:tabLst>
                <a:tab pos="935004" algn="l"/>
              </a:tabLst>
            </a:pPr>
            <a:endParaRPr sz="3681" dirty="0">
              <a:latin typeface="Calibri Light"/>
              <a:cs typeface="Calibri Light"/>
            </a:endParaRPr>
          </a:p>
          <a:p>
            <a:pPr marL="2609247" lvl="1" indent="-610675">
              <a:buClr>
                <a:srgbClr val="2E5395"/>
              </a:buClr>
              <a:buFont typeface="Calibri Light"/>
              <a:buAutoNum type="romanLcPeriod"/>
              <a:tabLst>
                <a:tab pos="2610708" algn="l"/>
              </a:tabLst>
            </a:pPr>
            <a:r>
              <a:rPr sz="2991" spc="-35" dirty="0">
                <a:solidFill>
                  <a:srgbClr val="2E5395"/>
                </a:solidFill>
                <a:latin typeface="Calibri Light"/>
                <a:cs typeface="Calibri Light"/>
              </a:rPr>
              <a:t>TEXT</a:t>
            </a:r>
            <a:r>
              <a:rPr sz="2991" dirty="0">
                <a:solidFill>
                  <a:srgbClr val="2E5395"/>
                </a:solidFill>
                <a:latin typeface="Calibri Light"/>
                <a:cs typeface="Calibri Light"/>
              </a:rPr>
              <a:t>B</a:t>
            </a:r>
            <a:r>
              <a:rPr sz="2991" spc="-23" dirty="0">
                <a:solidFill>
                  <a:srgbClr val="2E5395"/>
                </a:solidFill>
                <a:latin typeface="Calibri Light"/>
                <a:cs typeface="Calibri Light"/>
              </a:rPr>
              <a:t>OO</a:t>
            </a:r>
            <a:r>
              <a:rPr sz="2991" spc="-46" dirty="0">
                <a:solidFill>
                  <a:srgbClr val="2E5395"/>
                </a:solidFill>
                <a:latin typeface="Calibri Light"/>
                <a:cs typeface="Calibri Light"/>
              </a:rPr>
              <a:t>K</a:t>
            </a:r>
            <a:r>
              <a:rPr sz="2991" spc="-23" dirty="0">
                <a:solidFill>
                  <a:srgbClr val="2E5395"/>
                </a:solidFill>
                <a:latin typeface="Calibri Light"/>
                <a:cs typeface="Calibri Light"/>
              </a:rPr>
              <a:t>S</a:t>
            </a:r>
            <a:endParaRPr sz="2646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b="1" dirty="0">
                <a:latin typeface="Times New Roman"/>
                <a:cs typeface="Times New Roman"/>
              </a:rPr>
              <a:t>T1 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th 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la,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8051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 C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rni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ndia, </a:t>
            </a:r>
            <a:r>
              <a:rPr sz="2761" spc="12" dirty="0">
                <a:latin typeface="Times New Roman"/>
                <a:cs typeface="Times New Roman"/>
              </a:rPr>
              <a:t>3r</a:t>
            </a:r>
            <a:r>
              <a:rPr sz="2761" dirty="0">
                <a:latin typeface="Times New Roman"/>
                <a:cs typeface="Times New Roman"/>
              </a:rPr>
              <a:t>d Edition, Nov 2007</a:t>
            </a:r>
          </a:p>
          <a:p>
            <a:pPr marL="29219">
              <a:lnSpc>
                <a:spcPts val="3175"/>
              </a:lnSpc>
            </a:pPr>
            <a:r>
              <a:rPr sz="2761" b="1" dirty="0">
                <a:latin typeface="Times New Roman"/>
                <a:cs typeface="Times New Roman"/>
              </a:rPr>
              <a:t>T2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. K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nta 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o,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Em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35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, 1st E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ition,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2011</a:t>
            </a:r>
          </a:p>
          <a:p>
            <a:pPr marL="29219" marR="856113">
              <a:lnSpc>
                <a:spcPts val="3175"/>
              </a:lnSpc>
              <a:spcBef>
                <a:spcPts val="150"/>
              </a:spcBef>
            </a:pPr>
            <a:r>
              <a:rPr sz="2761" b="1" dirty="0">
                <a:latin typeface="Times New Roman"/>
                <a:cs typeface="Times New Roman"/>
              </a:rPr>
              <a:t>T3 </a:t>
            </a: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ohn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-35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ll,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orkshop: A </a:t>
            </a:r>
            <a:r>
              <a:rPr sz="2761" spc="-12" dirty="0">
                <a:latin typeface="Times New Roman"/>
                <a:cs typeface="Times New Roman"/>
              </a:rPr>
              <a:t>Ha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ntrod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with 65 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roj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ts, No Sta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ss, 1st Edition, 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2</a:t>
            </a:r>
            <a:r>
              <a:rPr sz="2761" dirty="0">
                <a:latin typeface="Times New Roman"/>
                <a:cs typeface="Times New Roman"/>
              </a:rPr>
              <a:t>013</a:t>
            </a:r>
          </a:p>
          <a:p>
            <a:pPr>
              <a:spcBef>
                <a:spcPts val="85"/>
              </a:spcBef>
            </a:pPr>
            <a:endParaRPr sz="2991" dirty="0">
              <a:latin typeface="Times New Roman"/>
              <a:cs typeface="Times New Roman"/>
            </a:endParaRPr>
          </a:p>
          <a:p>
            <a:pPr marL="2604864" lvl="1" indent="-689566">
              <a:buClr>
                <a:srgbClr val="2E5395"/>
              </a:buClr>
              <a:buFont typeface="Calibri Light"/>
              <a:buAutoNum type="romanLcPeriod" startAt="2"/>
              <a:tabLst>
                <a:tab pos="2606325" algn="l"/>
              </a:tabLst>
            </a:pPr>
            <a:r>
              <a:rPr sz="2991" spc="-46" dirty="0">
                <a:solidFill>
                  <a:srgbClr val="2E5395"/>
                </a:solidFill>
                <a:latin typeface="Calibri Light"/>
                <a:cs typeface="Calibri Light"/>
              </a:rPr>
              <a:t>R</a:t>
            </a:r>
            <a:r>
              <a:rPr sz="2991" spc="-23" dirty="0">
                <a:solidFill>
                  <a:srgbClr val="2E5395"/>
                </a:solidFill>
                <a:latin typeface="Calibri Light"/>
                <a:cs typeface="Calibri Light"/>
              </a:rPr>
              <a:t>E</a:t>
            </a:r>
            <a:r>
              <a:rPr sz="2991" spc="-12" dirty="0">
                <a:solidFill>
                  <a:srgbClr val="2E5395"/>
                </a:solidFill>
                <a:latin typeface="Calibri Light"/>
                <a:cs typeface="Calibri Light"/>
              </a:rPr>
              <a:t>F</a:t>
            </a:r>
            <a:r>
              <a:rPr sz="2991" dirty="0">
                <a:solidFill>
                  <a:srgbClr val="2E5395"/>
                </a:solidFill>
                <a:latin typeface="Calibri Light"/>
                <a:cs typeface="Calibri Light"/>
              </a:rPr>
              <a:t>E</a:t>
            </a:r>
            <a:r>
              <a:rPr sz="2991" spc="-12" dirty="0">
                <a:solidFill>
                  <a:srgbClr val="2E5395"/>
                </a:solidFill>
                <a:latin typeface="Calibri Light"/>
                <a:cs typeface="Calibri Light"/>
              </a:rPr>
              <a:t>R</a:t>
            </a:r>
            <a:r>
              <a:rPr sz="2991" spc="-23" dirty="0">
                <a:solidFill>
                  <a:srgbClr val="2E5395"/>
                </a:solidFill>
                <a:latin typeface="Calibri Light"/>
                <a:cs typeface="Calibri Light"/>
              </a:rPr>
              <a:t>ENCE</a:t>
            </a:r>
            <a:r>
              <a:rPr sz="2991" spc="-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35" dirty="0">
                <a:solidFill>
                  <a:srgbClr val="2E5395"/>
                </a:solidFill>
                <a:latin typeface="Calibri Light"/>
                <a:cs typeface="Calibri Light"/>
              </a:rPr>
              <a:t>B</a:t>
            </a:r>
            <a:r>
              <a:rPr sz="2991" spc="-23" dirty="0">
                <a:solidFill>
                  <a:srgbClr val="2E5395"/>
                </a:solidFill>
                <a:latin typeface="Calibri Light"/>
                <a:cs typeface="Calibri Light"/>
              </a:rPr>
              <a:t>OO</a:t>
            </a:r>
            <a:r>
              <a:rPr sz="2991" spc="-46" dirty="0">
                <a:solidFill>
                  <a:srgbClr val="2E5395"/>
                </a:solidFill>
                <a:latin typeface="Calibri Light"/>
                <a:cs typeface="Calibri Light"/>
              </a:rPr>
              <a:t>K</a:t>
            </a:r>
            <a:r>
              <a:rPr sz="2991" spc="-23" dirty="0">
                <a:solidFill>
                  <a:srgbClr val="2E5395"/>
                </a:solidFill>
                <a:latin typeface="Calibri Light"/>
                <a:cs typeface="Calibri Light"/>
              </a:rPr>
              <a:t>S</a:t>
            </a:r>
            <a:endParaRPr sz="2991" dirty="0">
              <a:latin typeface="Calibri Light"/>
              <a:cs typeface="Calibri Light"/>
            </a:endParaRPr>
          </a:p>
          <a:p>
            <a:pPr marL="29219" marR="714402">
              <a:lnSpc>
                <a:spcPts val="3175"/>
              </a:lnSpc>
            </a:pP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1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. 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m, 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 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Mic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oproc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ssors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Mic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ontrollers, 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RP,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8th Edition, Nov 2021</a:t>
            </a:r>
          </a:p>
          <a:p>
            <a:pPr marL="29219">
              <a:lnSpc>
                <a:spcPts val="3094"/>
              </a:lnSpc>
            </a:pP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2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ssimo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i, G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tting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duino, 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Communi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3rd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dition, </a:t>
            </a: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2015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ts val="3175"/>
              </a:lnSpc>
            </a:pP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3 </a:t>
            </a:r>
            <a:r>
              <a:rPr lang="en-US" sz="2761" spc="23" dirty="0">
                <a:latin typeface="Times New Roman"/>
                <a:cs typeface="Times New Roman"/>
              </a:rPr>
              <a:t>J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lum, E</a:t>
            </a:r>
            <a:r>
              <a:rPr lang="en-US" sz="2761" spc="12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plo</a:t>
            </a:r>
            <a:r>
              <a:rPr lang="en-US" sz="2761" spc="-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duino: Tools and </a:t>
            </a: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hniques </a:t>
            </a:r>
            <a:r>
              <a:rPr lang="en-US" sz="2761" spc="-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ine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il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, 1st Edition, Aug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2013</a:t>
            </a:r>
          </a:p>
          <a:p>
            <a:pPr>
              <a:lnSpc>
                <a:spcPct val="10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3681" spc="-35" dirty="0">
                <a:solidFill>
                  <a:srgbClr val="2E5395"/>
                </a:solidFill>
                <a:latin typeface="Calibri Light"/>
                <a:cs typeface="Calibri Light"/>
              </a:rPr>
              <a:t>B</a:t>
            </a:r>
            <a:r>
              <a:rPr lang="en-US" sz="3681" spc="-12" dirty="0">
                <a:solidFill>
                  <a:srgbClr val="2E5395"/>
                </a:solidFill>
                <a:latin typeface="Calibri Light"/>
                <a:cs typeface="Calibri Light"/>
              </a:rPr>
              <a:t>.</a:t>
            </a:r>
            <a:r>
              <a:rPr lang="en-US" sz="3681" spc="-9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spc="-23" dirty="0">
                <a:solidFill>
                  <a:srgbClr val="2E5395"/>
                </a:solidFill>
                <a:latin typeface="Calibri Light"/>
                <a:cs typeface="Calibri Light"/>
              </a:rPr>
              <a:t>Vi</a:t>
            </a:r>
            <a:r>
              <a:rPr lang="en-US" sz="3681" spc="-46" dirty="0">
                <a:solidFill>
                  <a:srgbClr val="2E5395"/>
                </a:solidFill>
                <a:latin typeface="Calibri Light"/>
                <a:cs typeface="Calibri Light"/>
              </a:rPr>
              <a:t>d</a:t>
            </a:r>
            <a:r>
              <a:rPr lang="en-US" sz="3681" spc="-35" dirty="0">
                <a:solidFill>
                  <a:srgbClr val="2E5395"/>
                </a:solidFill>
                <a:latin typeface="Calibri Light"/>
                <a:cs typeface="Calibri Light"/>
              </a:rPr>
              <a:t>e</a:t>
            </a:r>
            <a:r>
              <a:rPr lang="en-US" sz="3681" spc="-23" dirty="0">
                <a:solidFill>
                  <a:srgbClr val="2E5395"/>
                </a:solidFill>
                <a:latin typeface="Calibri Light"/>
                <a:cs typeface="Calibri Light"/>
              </a:rPr>
              <a:t>o</a:t>
            </a:r>
            <a:r>
              <a:rPr lang="en-US" sz="3681" spc="-9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dirty="0">
                <a:solidFill>
                  <a:srgbClr val="2E5395"/>
                </a:solidFill>
                <a:latin typeface="Calibri Light"/>
                <a:cs typeface="Calibri Light"/>
              </a:rPr>
              <a:t>L</a:t>
            </a:r>
            <a:r>
              <a:rPr lang="en-US" sz="3681" spc="-12" dirty="0">
                <a:solidFill>
                  <a:srgbClr val="2E5395"/>
                </a:solidFill>
                <a:latin typeface="Calibri Light"/>
                <a:cs typeface="Calibri Light"/>
              </a:rPr>
              <a:t>i</a:t>
            </a:r>
            <a:r>
              <a:rPr lang="en-US" sz="3681" spc="-46" dirty="0">
                <a:solidFill>
                  <a:srgbClr val="2E5395"/>
                </a:solidFill>
                <a:latin typeface="Calibri Light"/>
                <a:cs typeface="Calibri Light"/>
              </a:rPr>
              <a:t>n</a:t>
            </a:r>
            <a:r>
              <a:rPr lang="en-US" sz="3681" spc="-23" dirty="0">
                <a:solidFill>
                  <a:srgbClr val="2E5395"/>
                </a:solidFill>
                <a:latin typeface="Calibri Light"/>
                <a:cs typeface="Calibri Light"/>
              </a:rPr>
              <a:t>ks:</a:t>
            </a:r>
            <a:endParaRPr lang="en-US" sz="3681" dirty="0">
              <a:latin typeface="Calibri Light"/>
              <a:cs typeface="Calibri Light"/>
            </a:endParaRPr>
          </a:p>
          <a:p>
            <a:pPr marL="379846" indent="-350627">
              <a:spcBef>
                <a:spcPts val="3186"/>
              </a:spcBef>
              <a:buFont typeface="Times New Roman"/>
              <a:buAutoNum type="arabicPeriod"/>
              <a:tabLst>
                <a:tab pos="379846" algn="l"/>
              </a:tabLst>
            </a:pPr>
            <a:r>
              <a:rPr lang="en-US" sz="2760" dirty="0">
                <a:latin typeface="Times New Roman"/>
                <a:cs typeface="Times New Roman"/>
                <a:hlinkClick r:id="rId3"/>
              </a:rPr>
              <a:t>https://www.youtube.com/watch?v=ZxR3YtCV-n0</a:t>
            </a:r>
            <a:endParaRPr lang="en-US" sz="2760" dirty="0">
              <a:latin typeface="Times New Roman"/>
              <a:cs typeface="Times New Roman"/>
            </a:endParaRPr>
          </a:p>
          <a:p>
            <a:pPr marL="379846" indent="-350627">
              <a:spcBef>
                <a:spcPts val="3186"/>
              </a:spcBef>
              <a:buFont typeface="Times New Roman"/>
              <a:buAutoNum type="arabicPeriod"/>
              <a:tabLst>
                <a:tab pos="379846" algn="l"/>
              </a:tabLst>
            </a:pPr>
            <a:r>
              <a:rPr lang="en-US" sz="2760" dirty="0">
                <a:latin typeface="Times New Roman"/>
                <a:cs typeface="Times New Roman"/>
                <a:hlinkClick r:id="rId4"/>
              </a:rPr>
              <a:t>https://www.youtube.com/watch?v=OaaP5WIG7ro</a:t>
            </a:r>
            <a:endParaRPr lang="en-US" sz="2760" dirty="0">
              <a:latin typeface="Times New Roman"/>
              <a:cs typeface="Times New Roman"/>
            </a:endParaRPr>
          </a:p>
          <a:p>
            <a:pPr marL="379846" indent="-350627">
              <a:spcBef>
                <a:spcPts val="3186"/>
              </a:spcBef>
              <a:buFont typeface="Times New Roman"/>
              <a:buAutoNum type="arabicPeriod"/>
              <a:tabLst>
                <a:tab pos="379846" algn="l"/>
              </a:tabLst>
            </a:pPr>
            <a:r>
              <a:rPr lang="en-US" sz="2760" dirty="0">
                <a:latin typeface="Times New Roman"/>
                <a:cs typeface="Times New Roman"/>
                <a:hlinkClick r:id="rId5"/>
              </a:rPr>
              <a:t>https://www.youtube.com/watch?v=jHztC3jFw20</a:t>
            </a:r>
            <a:endParaRPr lang="en-US" sz="276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5427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2460</Words>
  <Application>Microsoft Office PowerPoint</Application>
  <PresentationFormat>Custom</PresentationFormat>
  <Paragraphs>164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Memory Organization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7</cp:revision>
  <dcterms:created xsi:type="dcterms:W3CDTF">2024-06-07T08:12:59Z</dcterms:created>
  <dcterms:modified xsi:type="dcterms:W3CDTF">2024-07-29T07:22:40Z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2024-06-07T00:00:00Z</vt:filetime>
  </property>
  <property fmtid="{D5CDD505-2E9C-101B-9397-08002B2CF9AE}" pid="3" name="LastSaved">
    <vt:filetime>2024-06-07T00:00:00Z</vt:filetime>
  </property>
</Properties>
</file>