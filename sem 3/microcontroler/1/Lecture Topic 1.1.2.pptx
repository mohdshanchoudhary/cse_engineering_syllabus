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2" r:id="rId2"/>
    <p:sldId id="256" r:id="rId3"/>
    <p:sldId id="260" r:id="rId4"/>
    <p:sldId id="261" r:id="rId5"/>
    <p:sldId id="257" r:id="rId6"/>
    <p:sldId id="263" r:id="rId7"/>
    <p:sldId id="264" r:id="rId8"/>
    <p:sldId id="258" r:id="rId9"/>
    <p:sldId id="265" r:id="rId10"/>
    <p:sldId id="259" r:id="rId11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487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6947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3202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4849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4536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0564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7C2C76-DFAF-072A-A24C-CC4A8744E7BE}"/>
              </a:ext>
            </a:extLst>
          </p:cNvPr>
          <p:cNvSpPr txBox="1"/>
          <p:nvPr/>
        </p:nvSpPr>
        <p:spPr>
          <a:xfrm>
            <a:off x="4471988" y="4706035"/>
            <a:ext cx="894397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1</a:t>
            </a:r>
          </a:p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1.1</a:t>
            </a:r>
          </a:p>
          <a:p>
            <a:pPr algn="ctr"/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Microcontrollers</a:t>
            </a:r>
            <a:endParaRPr lang="en-US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77D566-BA3A-CFD2-B0E9-692065A33C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000" y="76200"/>
            <a:ext cx="1750285" cy="278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740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5405" y="838200"/>
            <a:ext cx="13650790" cy="7922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96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ic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roc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ntrollers</a:t>
            </a:r>
            <a:endParaRPr sz="3681" dirty="0">
              <a:latin typeface="Times New Roman"/>
              <a:cs typeface="Times New Roman"/>
            </a:endParaRPr>
          </a:p>
          <a:p>
            <a:pPr marL="29219" algn="just">
              <a:spcBef>
                <a:spcPts val="3071"/>
              </a:spcBef>
            </a:pPr>
            <a:r>
              <a:rPr sz="2761" dirty="0">
                <a:latin typeface="Times New Roman"/>
                <a:cs typeface="Times New Roman"/>
              </a:rPr>
              <a:t>Mic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are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div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into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on 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rchit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bits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ts.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ollowing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 of their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−</a:t>
            </a:r>
          </a:p>
          <a:p>
            <a:pPr marL="29219" algn="just">
              <a:lnSpc>
                <a:spcPts val="3543"/>
              </a:lnSpc>
              <a:spcBef>
                <a:spcPts val="1864"/>
              </a:spcBef>
            </a:pP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Bit</a:t>
            </a:r>
            <a:endParaRPr sz="2991" dirty="0">
              <a:latin typeface="Times New Roman"/>
              <a:cs typeface="Times New Roman"/>
            </a:endParaRPr>
          </a:p>
          <a:p>
            <a:pPr marL="29219" algn="just">
              <a:lnSpc>
                <a:spcPts val="3267"/>
              </a:lnSpc>
            </a:pP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on bit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n, the mic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is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urth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divided into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1079638" indent="-524479" algn="just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−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his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mic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 arithm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tic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nd</a:t>
            </a:r>
          </a:p>
          <a:p>
            <a:pPr marL="1079638" marR="501102" algn="just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 like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dition, subtr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 mult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 division,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ntel 8031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8051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 bits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 marL="1079638" indent="-524479" algn="just">
              <a:spcBef>
                <a:spcPts val="1024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−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mi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pe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thm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tic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nd</a:t>
            </a:r>
          </a:p>
          <a:p>
            <a:pPr marL="1079638" marR="11688" algn="just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 where 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ura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rform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ntel 8096 is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 marL="1079638" marR="303876" indent="-524479" algn="just">
              <a:lnSpc>
                <a:spcPct val="143300"/>
              </a:lnSpc>
              <a:spcBef>
                <a:spcPts val="23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32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−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mi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is </a:t>
            </a:r>
            <a:r>
              <a:rPr sz="2761" spc="-12" dirty="0">
                <a:latin typeface="Times New Roman"/>
                <a:cs typeface="Times New Roman"/>
              </a:rPr>
              <a:t>ge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like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hines, 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8000" y="1524000"/>
            <a:ext cx="13650790" cy="5665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969" algn="ctr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ic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roc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ntrollers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520"/>
              </a:lnSpc>
              <a:spcBef>
                <a:spcPts val="1898"/>
              </a:spcBef>
            </a:pPr>
            <a:r>
              <a:rPr lang="en-US"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lang="en-US" sz="299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lang="en-US"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lang="en-US"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endParaRPr lang="en-US"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endParaRPr lang="en-US" sz="2761" spc="-23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on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nfi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tion, the mic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troller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fu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ther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divid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nto two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1079638" marR="143173" indent="-524479">
              <a:lnSpc>
                <a:spcPct val="143800"/>
              </a:lnSpc>
              <a:spcBef>
                <a:spcPts val="12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−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is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a 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th</a:t>
            </a:r>
            <a:r>
              <a:rPr sz="2761" spc="46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 not ha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46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hip. 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, it is nam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ntel 8031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Emb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−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is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a</a:t>
            </a:r>
          </a:p>
          <a:p>
            <a:pPr marL="1079638" marR="179696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the mic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 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ms and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46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and time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s,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upts,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/</a:t>
            </a:r>
            <a:r>
              <a:rPr sz="2761" dirty="0">
                <a:latin typeface="Times New Roman"/>
                <a:cs typeface="Times New Roman"/>
              </a:rPr>
              <a:t>O po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ts 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on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hip.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ntel 8051 m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</p:txBody>
      </p:sp>
    </p:spTree>
    <p:extLst>
      <p:ext uri="{BB962C8B-B14F-4D97-AF65-F5344CB8AC3E}">
        <p14:creationId xmlns:p14="http://schemas.microsoft.com/office/powerpoint/2010/main" val="93573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5405" y="1752600"/>
            <a:ext cx="13650790" cy="5051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969" algn="ctr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ic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roc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ntrollers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520"/>
              </a:lnSpc>
              <a:spcBef>
                <a:spcPts val="1884"/>
              </a:spcBef>
            </a:pP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Instructi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Set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endParaRPr lang="en-US" sz="2761" spc="-23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on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con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on, the mi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is f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di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ided into two</a:t>
            </a:r>
          </a:p>
          <a:p>
            <a:pPr marL="29219">
              <a:spcBef>
                <a:spcPts val="1438"/>
              </a:spcBef>
            </a:pP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1079638" indent="-524479">
              <a:spcBef>
                <a:spcPts val="1472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SC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−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SC stands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 the u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to inse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a</a:t>
            </a:r>
          </a:p>
          <a:p>
            <a:pPr marL="1079638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sin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le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tions.</a:t>
            </a:r>
          </a:p>
          <a:p>
            <a:pPr marL="1079638" marR="350627" indent="-524479">
              <a:lnSpc>
                <a:spcPct val="143300"/>
              </a:lnSpc>
              <a:spcBef>
                <a:spcPts val="23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SC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−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SC stands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nstr</a:t>
            </a:r>
            <a:r>
              <a:rPr sz="2761" spc="23" dirty="0">
                <a:latin typeface="Times New Roman"/>
                <a:cs typeface="Times New Roman"/>
              </a:rPr>
              <a:t>uc</a:t>
            </a:r>
            <a:r>
              <a:rPr sz="2761" dirty="0">
                <a:latin typeface="Times New Roman"/>
                <a:cs typeface="Times New Roman"/>
              </a:rPr>
              <a:t>tion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Comput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time 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short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lock 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 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</a:p>
        </p:txBody>
      </p:sp>
    </p:spTree>
    <p:extLst>
      <p:ext uri="{BB962C8B-B14F-4D97-AF65-F5344CB8AC3E}">
        <p14:creationId xmlns:p14="http://schemas.microsoft.com/office/powerpoint/2010/main" val="3239558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4200" y="1447800"/>
            <a:ext cx="13741367" cy="6819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7068" algn="just"/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rison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betw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8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bit, 1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6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bit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3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2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bit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icroc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oller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1622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12" dirty="0">
                <a:latin typeface="Times New Roman"/>
                <a:cs typeface="Times New Roman"/>
              </a:rPr>
              <a:t>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ost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their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riph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ounts,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/O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ounts,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sses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bus,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move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ular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12" dirty="0">
                <a:latin typeface="Times New Roman"/>
                <a:cs typeface="Times New Roman"/>
              </a:rPr>
              <a:t>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impli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times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ntroll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3</a:t>
            </a:r>
            <a:r>
              <a:rPr sz="2761" spc="46" dirty="0">
                <a:latin typeface="Times New Roman"/>
                <a:cs typeface="Times New Roman"/>
              </a:rPr>
              <a:t>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2" dirty="0">
                <a:latin typeface="Times New Roman"/>
                <a:cs typeface="Times New Roman"/>
              </a:rPr>
              <a:t> 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move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more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8-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32K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both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23" dirty="0">
                <a:latin typeface="Times New Roman"/>
                <a:cs typeface="Times New Roman"/>
              </a:rPr>
              <a:t>6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son,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58" dirty="0">
                <a:latin typeface="Times New Roman"/>
                <a:cs typeface="Times New Roman"/>
              </a:rPr>
              <a:t>2</a:t>
            </a:r>
            <a:r>
              <a:rPr sz="2761" dirty="0">
                <a:latin typeface="Times New Roman"/>
                <a:cs typeface="Times New Roman"/>
              </a:rPr>
              <a:t>- bit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ndle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druple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ount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12" dirty="0">
                <a:latin typeface="Times New Roman"/>
                <a:cs typeface="Times New Roman"/>
              </a:rPr>
              <a:t>6</a:t>
            </a:r>
            <a:r>
              <a:rPr sz="2761" dirty="0">
                <a:latin typeface="Times New Roman"/>
                <a:cs typeface="Times New Roman"/>
              </a:rPr>
              <a:t>- bit 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ssors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23" dirty="0">
                <a:latin typeface="Times New Roman"/>
                <a:cs typeface="Times New Roman"/>
              </a:rPr>
              <a:t> 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ke 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12" dirty="0">
                <a:latin typeface="Times New Roman"/>
                <a:cs typeface="Times New Roman"/>
              </a:rPr>
              <a:t>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more 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a-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ut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ssor 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power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8000" y="1447800"/>
            <a:ext cx="13741367" cy="6668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7068" algn="just"/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rison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betw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8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bit, 1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6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bit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3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2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bit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icroc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oller</a:t>
            </a:r>
            <a:endParaRPr lang="en-US" sz="3681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1157068" algn="just"/>
            <a:endParaRPr sz="368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1392"/>
              </a:spcBef>
              <a:buSzPct val="92307"/>
              <a:buFont typeface="Symbol"/>
              <a:buChar char=""/>
              <a:tabLst>
                <a:tab pos="1081099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Arit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h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etic</a:t>
            </a:r>
            <a:r>
              <a:rPr sz="2991" spc="104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Operat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on: </a:t>
            </a:r>
            <a:r>
              <a:rPr sz="2761" dirty="0">
                <a:latin typeface="Times New Roman"/>
                <a:cs typeface="Times New Roman"/>
              </a:rPr>
              <a:t>As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rithm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tic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tions,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these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</a:p>
          <a:p>
            <a:pPr marL="1079638" marR="17531" algn="just">
              <a:lnSpc>
                <a:spcPct val="143800"/>
              </a:lnSpc>
              <a:spcBef>
                <a:spcPts val="161"/>
              </a:spcBef>
            </a:pP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own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t.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ndle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255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12" dirty="0">
                <a:latin typeface="Times New Roman"/>
                <a:cs typeface="Times New Roman"/>
              </a:rPr>
              <a:t>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ndle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65,535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32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ndle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4,29,49,67,295.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width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omes 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 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rithm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tic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mount of 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in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ins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nt.</a:t>
            </a:r>
          </a:p>
          <a:p>
            <a:pPr marL="1079638" indent="-524479">
              <a:spcBef>
                <a:spcPts val="1426"/>
              </a:spcBef>
              <a:buSzPct val="92307"/>
              <a:buFont typeface="Symbol"/>
              <a:buChar char=""/>
              <a:tabLst>
                <a:tab pos="1081099" algn="l"/>
              </a:tabLst>
            </a:pP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81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: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ike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lock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d,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23" dirty="0">
                <a:latin typeface="Times New Roman"/>
                <a:cs typeface="Times New Roman"/>
              </a:rPr>
              <a:t>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omes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op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list.</a:t>
            </a:r>
          </a:p>
          <a:p>
            <a:pPr marL="1079638" marR="21914" algn="just">
              <a:lnSpc>
                <a:spcPct val="143300"/>
              </a:lnSpc>
              <a:spcBef>
                <a:spcPts val="173"/>
              </a:spcBef>
            </a:pP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69" dirty="0">
                <a:latin typeface="Times New Roman"/>
                <a:cs typeface="Times New Roman"/>
              </a:rPr>
              <a:t>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more 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4 times more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</p:txBody>
      </p:sp>
    </p:spTree>
    <p:extLst>
      <p:ext uri="{BB962C8B-B14F-4D97-AF65-F5344CB8AC3E}">
        <p14:creationId xmlns:p14="http://schemas.microsoft.com/office/powerpoint/2010/main" val="867951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8000" y="1524000"/>
            <a:ext cx="13741367" cy="7219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7068" algn="just"/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rison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betw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8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bit, 1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6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bit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3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2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bit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icroc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oller</a:t>
            </a:r>
            <a:endParaRPr lang="en-US" sz="3681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1157068" algn="just"/>
            <a:endParaRPr sz="368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1392"/>
              </a:spcBef>
              <a:buSzPct val="92307"/>
              <a:buFont typeface="Symbol"/>
              <a:buChar char=""/>
              <a:tabLst>
                <a:tab pos="1081099" algn="l"/>
              </a:tabLst>
            </a:pP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lock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17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Speed:</a:t>
            </a:r>
            <a:r>
              <a:rPr sz="2991" spc="-58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talk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bout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-12" dirty="0">
                <a:latin typeface="Times New Roman"/>
                <a:cs typeface="Times New Roman"/>
              </a:rPr>
              <a:t>fe</a:t>
            </a:r>
            <a:r>
              <a:rPr sz="2761" dirty="0">
                <a:latin typeface="Times New Roman"/>
                <a:cs typeface="Times New Roman"/>
              </a:rPr>
              <a:t>ren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rs,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</a:p>
          <a:p>
            <a:pPr marL="1079638" marR="14609" algn="just">
              <a:lnSpc>
                <a:spcPct val="143800"/>
              </a:lnSpc>
              <a:spcBef>
                <a:spcPts val="161"/>
              </a:spcBef>
            </a:pP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big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tor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ssed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ular 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upon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stal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Os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illator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upon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or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lock.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1Mhz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stal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-35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00000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s/s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b="1" dirty="0">
                <a:latin typeface="Times New Roman"/>
                <a:cs typeface="Times New Roman"/>
              </a:rPr>
              <a:t>.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, 1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ution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12" dirty="0">
                <a:latin typeface="Times New Roman"/>
                <a:cs typeface="Times New Roman"/>
              </a:rPr>
              <a:t>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support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</a:t>
            </a:r>
            <a:r>
              <a:rPr sz="2761" spc="12" dirty="0">
                <a:latin typeface="Times New Roman"/>
                <a:cs typeface="Times New Roman"/>
              </a:rPr>
              <a:t>0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64Mhz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stal,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where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23" dirty="0">
                <a:latin typeface="Times New Roman"/>
                <a:cs typeface="Times New Roman"/>
              </a:rPr>
              <a:t>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ler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support</a:t>
            </a:r>
          </a:p>
          <a:p>
            <a:pPr marL="1079638" algn="just">
              <a:spcBef>
                <a:spcPts val="1438"/>
              </a:spcBef>
            </a:pPr>
            <a:r>
              <a:rPr sz="2761" spc="-12" dirty="0">
                <a:latin typeface="Times New Roman"/>
                <a:cs typeface="Times New Roman"/>
              </a:rPr>
              <a:t>&gt;</a:t>
            </a:r>
            <a:r>
              <a:rPr sz="2761" dirty="0">
                <a:latin typeface="Times New Roman"/>
                <a:cs typeface="Times New Roman"/>
              </a:rPr>
              <a:t>100Mhz 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stal. 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hich 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23" dirty="0">
                <a:latin typeface="Times New Roman"/>
                <a:cs typeface="Times New Roman"/>
              </a:rPr>
              <a:t>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</a:t>
            </a:r>
            <a:r>
              <a:rPr sz="2761" spc="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-e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</a:p>
          <a:p>
            <a:pPr marL="1079638" marR="16070" algn="just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there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wb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more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lock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more 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onsumption.</a:t>
            </a:r>
          </a:p>
        </p:txBody>
      </p:sp>
    </p:spTree>
    <p:extLst>
      <p:ext uri="{BB962C8B-B14F-4D97-AF65-F5344CB8AC3E}">
        <p14:creationId xmlns:p14="http://schemas.microsoft.com/office/powerpoint/2010/main" val="901775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9000" y="655310"/>
            <a:ext cx="13212516" cy="8747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ctr">
              <a:lnSpc>
                <a:spcPct val="143900"/>
              </a:lnSpc>
              <a:buSzPct val="92307"/>
              <a:tabLst>
                <a:tab pos="555159" algn="l"/>
              </a:tabLst>
            </a:pPr>
            <a:r>
              <a:rPr lang="en-US" sz="3200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lang="en-US" sz="3200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lang="en-US" sz="3200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lang="en-US" sz="3200" spc="-23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lang="en-US" sz="3200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lang="en-US" sz="3200" spc="-23" dirty="0">
                <a:solidFill>
                  <a:srgbClr val="2E5395"/>
                </a:solidFill>
                <a:latin typeface="Times New Roman"/>
                <a:cs typeface="Times New Roman"/>
              </a:rPr>
              <a:t>rison</a:t>
            </a:r>
            <a:r>
              <a:rPr lang="en-US" sz="320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200" spc="-23" dirty="0">
                <a:solidFill>
                  <a:srgbClr val="2E5395"/>
                </a:solidFill>
                <a:latin typeface="Times New Roman"/>
                <a:cs typeface="Times New Roman"/>
              </a:rPr>
              <a:t>betw</a:t>
            </a:r>
            <a:r>
              <a:rPr lang="en-US" sz="3200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lang="en-US" sz="3200" spc="-23" dirty="0">
                <a:solidFill>
                  <a:srgbClr val="2E5395"/>
                </a:solidFill>
                <a:latin typeface="Times New Roman"/>
                <a:cs typeface="Times New Roman"/>
              </a:rPr>
              <a:t>en</a:t>
            </a:r>
            <a:r>
              <a:rPr lang="en-US" sz="3200" dirty="0">
                <a:solidFill>
                  <a:srgbClr val="2E5395"/>
                </a:solidFill>
                <a:latin typeface="Times New Roman"/>
                <a:cs typeface="Times New Roman"/>
              </a:rPr>
              <a:t> 8</a:t>
            </a:r>
            <a:r>
              <a:rPr lang="en-US" sz="3200" spc="-35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lang="en-US" sz="3200" spc="-23" dirty="0">
                <a:solidFill>
                  <a:srgbClr val="2E5395"/>
                </a:solidFill>
                <a:latin typeface="Times New Roman"/>
                <a:cs typeface="Times New Roman"/>
              </a:rPr>
              <a:t>bit, 1</a:t>
            </a:r>
            <a:r>
              <a:rPr lang="en-US" sz="3200" dirty="0">
                <a:solidFill>
                  <a:srgbClr val="2E5395"/>
                </a:solidFill>
                <a:latin typeface="Times New Roman"/>
                <a:cs typeface="Times New Roman"/>
              </a:rPr>
              <a:t>6</a:t>
            </a:r>
            <a:r>
              <a:rPr lang="en-US" sz="3200" spc="-35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lang="en-US" sz="3200" spc="-23" dirty="0">
                <a:solidFill>
                  <a:srgbClr val="2E5395"/>
                </a:solidFill>
                <a:latin typeface="Times New Roman"/>
                <a:cs typeface="Times New Roman"/>
              </a:rPr>
              <a:t>bit</a:t>
            </a:r>
            <a:r>
              <a:rPr lang="en-US" sz="3200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200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lang="en-US" sz="3200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200" spc="-23" dirty="0">
                <a:solidFill>
                  <a:srgbClr val="2E5395"/>
                </a:solidFill>
                <a:latin typeface="Times New Roman"/>
                <a:cs typeface="Times New Roman"/>
              </a:rPr>
              <a:t>3</a:t>
            </a:r>
            <a:r>
              <a:rPr lang="en-US" sz="3200" dirty="0">
                <a:solidFill>
                  <a:srgbClr val="2E5395"/>
                </a:solidFill>
                <a:latin typeface="Times New Roman"/>
                <a:cs typeface="Times New Roman"/>
              </a:rPr>
              <a:t>2</a:t>
            </a:r>
            <a:r>
              <a:rPr lang="en-US" sz="3200" spc="-35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lang="en-US" sz="3200" spc="-23" dirty="0">
                <a:solidFill>
                  <a:srgbClr val="2E5395"/>
                </a:solidFill>
                <a:latin typeface="Times New Roman"/>
                <a:cs typeface="Times New Roman"/>
              </a:rPr>
              <a:t>bit</a:t>
            </a:r>
            <a:r>
              <a:rPr lang="en-US" sz="3200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200" spc="-46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lang="en-US" sz="3200" spc="-23" dirty="0">
                <a:solidFill>
                  <a:srgbClr val="2E5395"/>
                </a:solidFill>
                <a:latin typeface="Times New Roman"/>
                <a:cs typeface="Times New Roman"/>
              </a:rPr>
              <a:t>icroc</a:t>
            </a:r>
            <a:r>
              <a:rPr lang="en-US" sz="3200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lang="en-US" sz="3200" spc="-23" dirty="0">
                <a:solidFill>
                  <a:srgbClr val="2E5395"/>
                </a:solidFill>
                <a:latin typeface="Times New Roman"/>
                <a:cs typeface="Times New Roman"/>
              </a:rPr>
              <a:t>nt</a:t>
            </a:r>
            <a:r>
              <a:rPr lang="en-US" sz="3200" spc="-12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lang="en-US" sz="3200" spc="-23" dirty="0">
                <a:solidFill>
                  <a:srgbClr val="2E5395"/>
                </a:solidFill>
                <a:latin typeface="Times New Roman"/>
                <a:cs typeface="Times New Roman"/>
              </a:rPr>
              <a:t>oller</a:t>
            </a:r>
          </a:p>
          <a:p>
            <a:pPr marL="29219" marR="11688" algn="ctr">
              <a:lnSpc>
                <a:spcPct val="143900"/>
              </a:lnSpc>
              <a:buSzPct val="92307"/>
              <a:tabLst>
                <a:tab pos="555159" algn="l"/>
              </a:tabLst>
            </a:pPr>
            <a:endParaRPr lang="en-US" sz="2991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553698" marR="11688" indent="-524479" algn="just">
              <a:lnSpc>
                <a:spcPct val="143900"/>
              </a:lnSpc>
              <a:buSzPct val="92307"/>
              <a:buFont typeface="Symbol"/>
              <a:buChar char=""/>
              <a:tabLst>
                <a:tab pos="555159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Fo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127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Factor: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rdi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e’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t true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12" dirty="0">
                <a:latin typeface="Times New Roman"/>
                <a:cs typeface="Times New Roman"/>
              </a:rPr>
              <a:t>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12" dirty="0">
                <a:latin typeface="Times New Roman"/>
                <a:cs typeface="Times New Roman"/>
              </a:rPr>
              <a:t>cr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form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(like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Q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P, Q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P,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A,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TF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).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Some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12" dirty="0">
                <a:latin typeface="Times New Roman"/>
                <a:cs typeface="Times New Roman"/>
              </a:rPr>
              <a:t>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e 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mber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some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3698" indent="-524479" algn="just">
              <a:spcBef>
                <a:spcPts val="1426"/>
              </a:spcBef>
              <a:buSzPct val="92307"/>
              <a:buFont typeface="Symbol"/>
              <a:buChar char=""/>
              <a:tabLst>
                <a:tab pos="555159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Peripherals: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  </a:t>
            </a:r>
            <a:r>
              <a:rPr sz="2991" spc="58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 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35" dirty="0">
                <a:latin typeface="Times New Roman"/>
                <a:cs typeface="Times New Roman"/>
              </a:rPr>
              <a:t>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</a:p>
          <a:p>
            <a:pPr marL="553698" marR="14609" algn="just">
              <a:lnSpc>
                <a:spcPct val="143700"/>
              </a:lnSpc>
              <a:spcBef>
                <a:spcPts val="161"/>
              </a:spcBef>
            </a:pP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t,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N, 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, 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Modbus,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 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hoose 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115" dirty="0">
                <a:latin typeface="Times New Roman"/>
                <a:cs typeface="Times New Roman"/>
              </a:rPr>
              <a:t>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bundled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l,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soft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support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eca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35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insuf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for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son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rip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Cs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solve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those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issu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11598" y="990600"/>
            <a:ext cx="9346932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Advantages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&amp;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 Di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advantages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icroc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ntrollers</a:t>
            </a:r>
            <a:endParaRPr sz="3681" dirty="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234816"/>
              </p:ext>
            </p:extLst>
          </p:nvPr>
        </p:nvGraphicFramePr>
        <p:xfrm>
          <a:off x="1701800" y="2286000"/>
          <a:ext cx="13789151" cy="64878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17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1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74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Adva</a:t>
                      </a:r>
                      <a:r>
                        <a:rPr sz="280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tag</a:t>
                      </a: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557">
                      <a:solidFill>
                        <a:srgbClr val="D2D2D2"/>
                      </a:solidFill>
                      <a:prstDash val="solid"/>
                    </a:lnL>
                    <a:lnR w="19557">
                      <a:solidFill>
                        <a:srgbClr val="D2D2D2"/>
                      </a:solidFill>
                      <a:prstDash val="solid"/>
                    </a:lnR>
                    <a:lnT w="19557">
                      <a:solidFill>
                        <a:srgbClr val="D2D2D2"/>
                      </a:solidFill>
                      <a:prstDash val="solid"/>
                    </a:lnT>
                    <a:lnB w="19557">
                      <a:solidFill>
                        <a:srgbClr val="D2D2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Disadvantag</a:t>
                      </a: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557">
                      <a:solidFill>
                        <a:srgbClr val="D2D2D2"/>
                      </a:solidFill>
                      <a:prstDash val="solid"/>
                    </a:lnL>
                    <a:lnR w="19557">
                      <a:solidFill>
                        <a:srgbClr val="D2D2D2"/>
                      </a:solidFill>
                      <a:prstDash val="solid"/>
                    </a:lnR>
                    <a:lnT w="19557">
                      <a:solidFill>
                        <a:srgbClr val="D2D2D2"/>
                      </a:solidFill>
                      <a:prstDash val="solid"/>
                    </a:lnT>
                    <a:lnB w="19557">
                      <a:solidFill>
                        <a:srgbClr val="D2D2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321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si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is mo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ompa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nd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ea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to us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>
                    <a:lnL w="19557">
                      <a:solidFill>
                        <a:srgbClr val="D2D2D2"/>
                      </a:solidFill>
                      <a:prstDash val="solid"/>
                    </a:lnL>
                    <a:lnR w="19557">
                      <a:solidFill>
                        <a:srgbClr val="D2D2D2"/>
                      </a:solidFill>
                      <a:prstDash val="solid"/>
                    </a:lnR>
                    <a:lnT w="19557">
                      <a:solidFill>
                        <a:srgbClr val="D2D2D2"/>
                      </a:solidFill>
                      <a:prstDash val="solid"/>
                    </a:lnT>
                    <a:lnB w="19557">
                      <a:solidFill>
                        <a:srgbClr val="D2D2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They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ve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ompl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rchit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tur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557">
                      <a:solidFill>
                        <a:srgbClr val="D2D2D2"/>
                      </a:solidFill>
                      <a:prstDash val="solid"/>
                    </a:lnL>
                    <a:lnR w="19557">
                      <a:solidFill>
                        <a:srgbClr val="D2D2D2"/>
                      </a:solidFill>
                      <a:prstDash val="solid"/>
                    </a:lnR>
                    <a:lnT w="19557">
                      <a:solidFill>
                        <a:srgbClr val="D2D2D2"/>
                      </a:solidFill>
                      <a:prstDash val="solid"/>
                    </a:lnT>
                    <a:lnB w="19557">
                      <a:solidFill>
                        <a:srgbClr val="D2D2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689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ost of a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mi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ont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oll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 is v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p.</a:t>
                      </a:r>
                    </a:p>
                  </a:txBody>
                  <a:tcPr marL="0" marR="0" marT="0" marB="0">
                    <a:lnL w="19557">
                      <a:solidFill>
                        <a:srgbClr val="D2D2D2"/>
                      </a:solidFill>
                      <a:prstDash val="solid"/>
                    </a:lnL>
                    <a:lnR w="19557">
                      <a:solidFill>
                        <a:srgbClr val="D2D2D2"/>
                      </a:solidFill>
                      <a:prstDash val="solid"/>
                    </a:lnR>
                    <a:lnT w="19557">
                      <a:solidFill>
                        <a:srgbClr val="D2D2D2"/>
                      </a:solidFill>
                      <a:prstDash val="solid"/>
                    </a:lnT>
                    <a:lnB w="19557">
                      <a:solidFill>
                        <a:srgbClr val="D2D2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They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not suit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ble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hi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po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 d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557">
                      <a:solidFill>
                        <a:srgbClr val="D2D2D2"/>
                      </a:solidFill>
                      <a:prstDash val="solid"/>
                    </a:lnL>
                    <a:lnR w="19557">
                      <a:solidFill>
                        <a:srgbClr val="D2D2D2"/>
                      </a:solidFill>
                      <a:prstDash val="solid"/>
                    </a:lnR>
                    <a:lnT w="19557">
                      <a:solidFill>
                        <a:srgbClr val="D2D2D2"/>
                      </a:solidFill>
                      <a:prstDash val="solid"/>
                    </a:lnT>
                    <a:lnB w="19557">
                      <a:solidFill>
                        <a:srgbClr val="D2D2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713">
                <a:tc>
                  <a:txBody>
                    <a:bodyPr/>
                    <a:lstStyle/>
                    <a:p>
                      <a:pPr marL="84455" marR="61785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All the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pins whi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nt in the mi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ontroll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 c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be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mm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d.</a:t>
                      </a:r>
                    </a:p>
                  </a:txBody>
                  <a:tcPr marL="0" marR="0" marT="0" marB="0">
                    <a:lnL w="19557">
                      <a:solidFill>
                        <a:srgbClr val="D2D2D2"/>
                      </a:solidFill>
                      <a:prstDash val="solid"/>
                    </a:lnL>
                    <a:lnR w="19557">
                      <a:solidFill>
                        <a:srgbClr val="D2D2D2"/>
                      </a:solidFill>
                      <a:prstDash val="solid"/>
                    </a:lnR>
                    <a:lnT w="19557">
                      <a:solidFill>
                        <a:srgbClr val="D2D2D2"/>
                      </a:solidFill>
                      <a:prstDash val="solid"/>
                    </a:lnT>
                    <a:lnB w="19557">
                      <a:solidFill>
                        <a:srgbClr val="D2D2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 marR="22860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They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rm on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spc="1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mited op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tions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the s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me tim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>
                    <a:lnL w="19557">
                      <a:solidFill>
                        <a:srgbClr val="D2D2D2"/>
                      </a:solidFill>
                      <a:prstDash val="solid"/>
                    </a:lnL>
                    <a:lnR w="19557">
                      <a:solidFill>
                        <a:srgbClr val="D2D2D2"/>
                      </a:solidFill>
                      <a:prstDash val="solid"/>
                    </a:lnR>
                    <a:lnT w="19557">
                      <a:solidFill>
                        <a:srgbClr val="D2D2D2"/>
                      </a:solidFill>
                      <a:prstDash val="solid"/>
                    </a:lnT>
                    <a:lnB w="19557">
                      <a:solidFill>
                        <a:srgbClr val="D2D2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0478">
                <a:tc>
                  <a:txBody>
                    <a:bodyPr/>
                    <a:lstStyle/>
                    <a:p>
                      <a:pPr marL="84455" marR="140335">
                        <a:lnSpc>
                          <a:spcPct val="100000"/>
                        </a:lnSpc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of the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OM, RAM,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nd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lso the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/O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orts is v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simple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nd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ea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557">
                      <a:solidFill>
                        <a:srgbClr val="D2D2D2"/>
                      </a:solidFill>
                      <a:prstDash val="solid"/>
                    </a:lnL>
                    <a:lnR w="19557">
                      <a:solidFill>
                        <a:srgbClr val="D2D2D2"/>
                      </a:solidFill>
                      <a:prstDash val="solid"/>
                    </a:lnR>
                    <a:lnT w="19557">
                      <a:solidFill>
                        <a:srgbClr val="D2D2D2"/>
                      </a:solidFill>
                      <a:prstDash val="solid"/>
                    </a:lnT>
                    <a:lnB w="19557">
                      <a:solidFill>
                        <a:srgbClr val="D2D2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 marR="647065">
                        <a:lnSpc>
                          <a:spcPct val="100000"/>
                        </a:lnSpc>
                      </a:pP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is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 on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mi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quipm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nt.</a:t>
                      </a:r>
                    </a:p>
                  </a:txBody>
                  <a:tcPr marL="0" marR="0" marT="0" marB="0">
                    <a:lnL w="19557">
                      <a:solidFill>
                        <a:srgbClr val="D2D2D2"/>
                      </a:solidFill>
                      <a:prstDash val="solid"/>
                    </a:lnL>
                    <a:lnR w="19557">
                      <a:solidFill>
                        <a:srgbClr val="D2D2D2"/>
                      </a:solidFill>
                      <a:prstDash val="solid"/>
                    </a:lnR>
                    <a:lnT w="19557">
                      <a:solidFill>
                        <a:srgbClr val="D2D2D2"/>
                      </a:solidFill>
                      <a:prstDash val="solid"/>
                    </a:lnT>
                    <a:lnB w="19557">
                      <a:solidFill>
                        <a:srgbClr val="D2D2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8700">
                <a:tc>
                  <a:txBody>
                    <a:bodyPr/>
                    <a:lstStyle/>
                    <a:p>
                      <a:pPr marL="84455" marR="68580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oubleshooting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is quic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ea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nd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onv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nient.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557">
                      <a:solidFill>
                        <a:srgbClr val="D2D2D2"/>
                      </a:solidFill>
                      <a:prstDash val="solid"/>
                    </a:lnL>
                    <a:lnR w="19557">
                      <a:solidFill>
                        <a:srgbClr val="D2D2D2"/>
                      </a:solidFill>
                      <a:prstDash val="solid"/>
                    </a:lnR>
                    <a:lnT w="19557">
                      <a:solidFill>
                        <a:srgbClr val="D2D2D2"/>
                      </a:solidFill>
                      <a:prstDash val="solid"/>
                    </a:lnT>
                    <a:lnB w="19557">
                      <a:solidFill>
                        <a:srgbClr val="D2D2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 marR="545465">
                        <a:lnSpc>
                          <a:spcPct val="100000"/>
                        </a:lnSpc>
                      </a:pP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has limitations on the c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of the stor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of d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>
                    <a:lnL w="19557">
                      <a:solidFill>
                        <a:srgbClr val="D2D2D2"/>
                      </a:solidFill>
                      <a:prstDash val="solid"/>
                    </a:lnL>
                    <a:lnR w="19557">
                      <a:solidFill>
                        <a:srgbClr val="D2D2D2"/>
                      </a:solidFill>
                      <a:prstDash val="solid"/>
                    </a:lnR>
                    <a:lnT w="19557">
                      <a:solidFill>
                        <a:srgbClr val="D2D2D2"/>
                      </a:solidFill>
                      <a:prstDash val="solid"/>
                    </a:lnT>
                    <a:lnB w="19557">
                      <a:solidFill>
                        <a:srgbClr val="D2D2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8324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ta is stor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ll,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nd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on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t, it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 won’t be erased.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557">
                      <a:solidFill>
                        <a:srgbClr val="D2D2D2"/>
                      </a:solidFill>
                      <a:prstDash val="solid"/>
                    </a:lnL>
                    <a:lnR w="19557">
                      <a:solidFill>
                        <a:srgbClr val="D2D2D2"/>
                      </a:solidFill>
                      <a:prstDash val="solid"/>
                    </a:lnR>
                    <a:lnT w="19557">
                      <a:solidFill>
                        <a:srgbClr val="D2D2D2"/>
                      </a:solidFill>
                      <a:prstDash val="solid"/>
                    </a:lnT>
                    <a:lnB w="19557">
                      <a:solidFill>
                        <a:srgbClr val="D2D2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ov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rh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qui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since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it is ti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 and has a complex set of peripherals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557">
                      <a:solidFill>
                        <a:srgbClr val="D2D2D2"/>
                      </a:solidFill>
                      <a:prstDash val="solid"/>
                    </a:lnL>
                    <a:lnR w="19557">
                      <a:solidFill>
                        <a:srgbClr val="D2D2D2"/>
                      </a:solidFill>
                      <a:prstDash val="solid"/>
                    </a:lnR>
                    <a:lnT w="19557">
                      <a:solidFill>
                        <a:srgbClr val="D2D2D2"/>
                      </a:solidFill>
                      <a:prstDash val="solid"/>
                    </a:lnT>
                    <a:lnB w="19557">
                      <a:solidFill>
                        <a:srgbClr val="D2D2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5229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2111031" y="990600"/>
            <a:ext cx="12027713" cy="3832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8822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Applications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icroc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ntrollers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spcBef>
                <a:spcPts val="3071"/>
              </a:spcBef>
            </a:pPr>
            <a:r>
              <a:rPr sz="2761" dirty="0">
                <a:latin typeface="Times New Roman"/>
                <a:cs typeface="Times New Roman"/>
              </a:rPr>
              <a:t>Mic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are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 dif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er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devi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 such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−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 sensi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rolling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like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like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n,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himn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s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like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rm.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suri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like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 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1157</Words>
  <Application>Microsoft Office PowerPoint</Application>
  <PresentationFormat>Custom</PresentationFormat>
  <Paragraphs>68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6</cp:revision>
  <dcterms:created xsi:type="dcterms:W3CDTF">2024-06-07T07:45:56Z</dcterms:created>
  <dcterms:modified xsi:type="dcterms:W3CDTF">2024-07-18T05:08:26Z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2024-06-07T00:00:00Z</vt:filetime>
  </property>
  <property fmtid="{D5CDD505-2E9C-101B-9397-08002B2CF9AE}" pid="3" name="LastSaved">
    <vt:filetime>2024-06-07T00:00:00Z</vt:filetime>
  </property>
</Properties>
</file>