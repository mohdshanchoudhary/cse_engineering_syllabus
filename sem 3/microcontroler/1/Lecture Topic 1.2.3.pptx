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3" r:id="rId2"/>
    <p:sldId id="294" r:id="rId3"/>
    <p:sldId id="295" r:id="rId4"/>
    <p:sldId id="256" r:id="rId5"/>
    <p:sldId id="273" r:id="rId6"/>
    <p:sldId id="274" r:id="rId7"/>
    <p:sldId id="257" r:id="rId8"/>
    <p:sldId id="275" r:id="rId9"/>
    <p:sldId id="258" r:id="rId10"/>
    <p:sldId id="276" r:id="rId11"/>
    <p:sldId id="259" r:id="rId12"/>
    <p:sldId id="277" r:id="rId13"/>
    <p:sldId id="278" r:id="rId14"/>
    <p:sldId id="260" r:id="rId15"/>
    <p:sldId id="261" r:id="rId16"/>
    <p:sldId id="279" r:id="rId17"/>
    <p:sldId id="262" r:id="rId18"/>
    <p:sldId id="280" r:id="rId19"/>
    <p:sldId id="263" r:id="rId20"/>
    <p:sldId id="281" r:id="rId21"/>
    <p:sldId id="264" r:id="rId22"/>
    <p:sldId id="283" r:id="rId23"/>
    <p:sldId id="282" r:id="rId24"/>
    <p:sldId id="265" r:id="rId25"/>
    <p:sldId id="284" r:id="rId26"/>
    <p:sldId id="266" r:id="rId27"/>
    <p:sldId id="285" r:id="rId28"/>
    <p:sldId id="286" r:id="rId29"/>
    <p:sldId id="267" r:id="rId30"/>
    <p:sldId id="287" r:id="rId31"/>
    <p:sldId id="268" r:id="rId32"/>
    <p:sldId id="288" r:id="rId33"/>
    <p:sldId id="269" r:id="rId34"/>
    <p:sldId id="289" r:id="rId35"/>
    <p:sldId id="270" r:id="rId36"/>
    <p:sldId id="290" r:id="rId37"/>
    <p:sldId id="291" r:id="rId38"/>
    <p:sldId id="271" r:id="rId39"/>
    <p:sldId id="272" r:id="rId40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6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040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960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939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198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8622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4034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2416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203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4884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1053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5927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2912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604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393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9156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87349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0186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73985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70997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8538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576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aAiW-zZST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EI3MtI93zu4" TargetMode="External"/><Relationship Id="rId5" Type="http://schemas.openxmlformats.org/officeDocument/2006/relationships/hyperlink" Target="https://www.youtube.com/watch?v=pzf_gTTpUhM" TargetMode="External"/><Relationship Id="rId4" Type="http://schemas.openxmlformats.org/officeDocument/2006/relationships/hyperlink" Target="https://www.youtube.com/watch?v=pC56UDhull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981200"/>
            <a:ext cx="13735523" cy="5798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Ass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bly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angu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ge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81"/>
              </a:spcBef>
            </a:pPr>
            <a:endParaRPr sz="4371" dirty="0">
              <a:latin typeface="Times New Roman"/>
              <a:cs typeface="Times New Roman"/>
            </a:endParaRPr>
          </a:p>
          <a:p>
            <a:pPr marL="29219" algn="just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Ass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bler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Directi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v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es</a:t>
            </a:r>
            <a:endParaRPr sz="2991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29219" marR="18992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Ass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ssembler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rammin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ssembler 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ssembler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to-</a:t>
            </a:r>
          </a:p>
          <a:p>
            <a:pPr marL="1284170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subsequ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as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</a:p>
          <a:p>
            <a:pPr marL="1284170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const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284170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7D566-BA3A-CFD2-B0E9-692065A33C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800" y="304800"/>
            <a:ext cx="1750285" cy="2782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685800"/>
            <a:ext cx="15163800" cy="8971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i="1" dirty="0">
                <a:latin typeface="Times New Roman"/>
                <a:cs typeface="Times New Roman"/>
              </a:rPr>
              <a:t>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following are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w</a:t>
            </a:r>
            <a:r>
              <a:rPr sz="2761" i="1" spc="-23" dirty="0">
                <a:latin typeface="Times New Roman"/>
                <a:cs typeface="Times New Roman"/>
              </a:rPr>
              <a:t>i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ly us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8051 asse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b</a:t>
            </a:r>
            <a:r>
              <a:rPr sz="2761" i="1" spc="23" dirty="0">
                <a:latin typeface="Times New Roman"/>
                <a:cs typeface="Times New Roman"/>
              </a:rPr>
              <a:t>l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dir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ti</a:t>
            </a:r>
            <a:r>
              <a:rPr sz="2761" i="1" spc="-12" dirty="0">
                <a:latin typeface="Times New Roman"/>
                <a:cs typeface="Times New Roman"/>
              </a:rPr>
              <a:t>ve</a:t>
            </a:r>
            <a:r>
              <a:rPr sz="2761" i="1" dirty="0">
                <a:latin typeface="Times New Roman"/>
                <a:cs typeface="Times New Roman"/>
              </a:rPr>
              <a:t>s.</a:t>
            </a: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9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800"/>
              </a:lnSpc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ORG</a:t>
            </a:r>
            <a:r>
              <a:rPr sz="2761" spc="32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(o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i</a:t>
            </a:r>
            <a:r>
              <a:rPr sz="2761" spc="-35" dirty="0">
                <a:solidFill>
                  <a:srgbClr val="1F3762"/>
                </a:solidFill>
                <a:latin typeface="Times New Roman"/>
                <a:cs typeface="Times New Roman"/>
              </a:rPr>
              <a:t>g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in).</a:t>
            </a:r>
            <a:r>
              <a:rPr sz="2761" spc="32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hex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in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E.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ORG 0000H    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C to 0000.</a:t>
            </a:r>
          </a:p>
          <a:p>
            <a:pPr>
              <a:spcBef>
                <a:spcPts val="127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900"/>
              </a:lnSpc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Q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U</a:t>
            </a:r>
            <a:r>
              <a:rPr sz="2761" spc="4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nd</a:t>
            </a:r>
            <a:r>
              <a:rPr sz="2761" spc="4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SET.</a:t>
            </a:r>
            <a:r>
              <a:rPr sz="2761" spc="4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SET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ithout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storing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SET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finition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1587"/>
              </a:spcBef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DB</a:t>
            </a:r>
            <a:r>
              <a:rPr sz="2761" spc="161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(DEF</a:t>
            </a:r>
            <a:r>
              <a:rPr sz="2761" spc="-46" dirty="0">
                <a:solidFill>
                  <a:srgbClr val="1F3762"/>
                </a:solidFill>
                <a:latin typeface="Times New Roman"/>
                <a:cs typeface="Times New Roman"/>
              </a:rPr>
              <a:t>I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N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184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BY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T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)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.</a:t>
            </a:r>
            <a:r>
              <a:rPr sz="2761" spc="207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DB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mats.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'B'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‘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’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in quotation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rks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This).</a:t>
            </a:r>
          </a:p>
        </p:txBody>
      </p:sp>
    </p:spTree>
    <p:extLst>
      <p:ext uri="{BB962C8B-B14F-4D97-AF65-F5344CB8AC3E}">
        <p14:creationId xmlns:p14="http://schemas.microsoft.com/office/powerpoint/2010/main" val="243021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6A8A391-7E2C-8118-F7B9-BF8CF3DD68CA}"/>
              </a:ext>
            </a:extLst>
          </p:cNvPr>
          <p:cNvSpPr txBox="1"/>
          <p:nvPr/>
        </p:nvSpPr>
        <p:spPr>
          <a:xfrm>
            <a:off x="1739900" y="1752600"/>
            <a:ext cx="14401800" cy="575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solidFill>
                  <a:prstClr val="black"/>
                </a:solidFill>
                <a:latin typeface="Times New Roman"/>
                <a:cs typeface="Times New Roman"/>
              </a:rPr>
              <a:t>DATA1: 	DB 40H		; hex</a:t>
            </a:r>
          </a:p>
          <a:p>
            <a:pPr marL="36576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solidFill>
                  <a:prstClr val="black"/>
                </a:solidFill>
                <a:latin typeface="Times New Roman"/>
                <a:cs typeface="Times New Roman"/>
              </a:rPr>
              <a:t>DATA2:	DB 01011100B	; binary</a:t>
            </a:r>
          </a:p>
          <a:p>
            <a:pPr marL="36576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solidFill>
                  <a:prstClr val="black"/>
                </a:solidFill>
                <a:latin typeface="Times New Roman"/>
                <a:cs typeface="Times New Roman"/>
              </a:rPr>
              <a:t>DATA3:	DB 48		; decimal</a:t>
            </a:r>
          </a:p>
          <a:p>
            <a:pPr marL="29219" marR="11688" algn="just">
              <a:lnSpc>
                <a:spcPct val="150000"/>
              </a:lnSpc>
              <a:defRPr/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4:	DB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 W</a:t>
            </a:r>
            <a:r>
              <a:rPr lang="en-US" sz="2761" dirty="0">
                <a:latin typeface="Times New Roman"/>
                <a:cs typeface="Times New Roman"/>
              </a:rPr>
              <a:t>’	; AS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</a:p>
          <a:p>
            <a:pPr marL="29219" marR="11688" algn="just">
              <a:lnSpc>
                <a:spcPct val="150000"/>
              </a:lnSpc>
              <a:defRPr/>
            </a:pP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srgbClr val="1F3762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srgbClr val="1F3762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srgbClr val="1F3762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srgbClr val="1F3762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srgbClr val="1F3762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srgbClr val="1F3762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 </a:t>
            </a:r>
            <a:r>
              <a:rPr kumimoji="0" lang="en-US" sz="2761" b="0" i="0" u="none" strike="noStrike" kern="1200" cap="none" spc="-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ssemb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modul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dic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tes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prog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ssembl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r.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ssemb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file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pp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fter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dire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tive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 the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stat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 is missin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the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mbl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ill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mess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307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600200"/>
            <a:ext cx="14144579" cy="7361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UCT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ET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4486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4500"/>
              </a:lnSpc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Instructi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 </a:t>
            </a:r>
            <a:r>
              <a:rPr sz="2991" spc="-32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ings.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 </a:t>
            </a:r>
            <a:r>
              <a:rPr sz="2991" spc="-357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d/write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timin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marR="11688" algn="just">
              <a:lnSpc>
                <a:spcPts val="4785"/>
              </a:lnSpc>
              <a:spcBef>
                <a:spcPts val="368"/>
              </a:spcBef>
              <a:buClr>
                <a:srgbClr val="1F3762"/>
              </a:buClr>
              <a:buFont typeface="Times New Roman"/>
              <a:buAutoNum type="alphaUcPeriod" startAt="20"/>
              <a:tabLst>
                <a:tab pos="360853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state</a:t>
            </a:r>
            <a:r>
              <a:rPr sz="2761" spc="127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subdivision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-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024"/>
              </a:spcBef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M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ac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hine</a:t>
            </a:r>
            <a:r>
              <a:rPr sz="2761" spc="207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35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-58" dirty="0">
                <a:solidFill>
                  <a:srgbClr val="1F3762"/>
                </a:solidFill>
                <a:latin typeface="Times New Roman"/>
                <a:cs typeface="Times New Roman"/>
              </a:rPr>
              <a:t>y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l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207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illator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ists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</a:p>
          <a:p>
            <a:pPr marL="29219" marR="21914" algn="just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state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lasts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ine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9219" marR="20453" algn="just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solidFill>
                  <a:srgbClr val="1F3762"/>
                </a:solidFill>
                <a:latin typeface="Times New Roman"/>
                <a:cs typeface="Times New Roman"/>
              </a:rPr>
              <a:t>I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nstr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u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tion</a:t>
            </a:r>
            <a:r>
              <a:rPr sz="2761" spc="69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35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-58" dirty="0">
                <a:solidFill>
                  <a:srgbClr val="1F3762"/>
                </a:solidFill>
                <a:latin typeface="Times New Roman"/>
                <a:cs typeface="Times New Roman"/>
              </a:rPr>
              <a:t>y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l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81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8051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nsists of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four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machine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486161"/>
            <a:ext cx="14144579" cy="8468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4836" algn="just">
              <a:lnSpc>
                <a:spcPct val="143300"/>
              </a:lnSpc>
              <a:spcBef>
                <a:spcPts val="23"/>
              </a:spcBef>
            </a:pPr>
            <a:r>
              <a:rPr sz="2761" i="1" dirty="0" err="1">
                <a:latin typeface="Times New Roman"/>
                <a:cs typeface="Times New Roman"/>
              </a:rPr>
              <a:t>Eg.</a:t>
            </a:r>
            <a:r>
              <a:rPr sz="2761" i="1" dirty="0">
                <a:latin typeface="Times New Roman"/>
                <a:cs typeface="Times New Roman"/>
              </a:rPr>
              <a:t>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If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8051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mi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ro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ontr</a:t>
            </a:r>
            <a:r>
              <a:rPr sz="2761" i="1" spc="23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ll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is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rated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with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12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Hz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os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illator,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find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spc="12" dirty="0">
                <a:latin typeface="Times New Roman"/>
                <a:cs typeface="Times New Roman"/>
              </a:rPr>
              <a:t>x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ution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time </a:t>
            </a:r>
            <a:r>
              <a:rPr sz="2761" i="1" spc="-27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for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following four</a:t>
            </a:r>
            <a:r>
              <a:rPr sz="2761" i="1" spc="-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instru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ti</a:t>
            </a:r>
            <a:r>
              <a:rPr sz="2761" i="1" spc="-35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ns.</a:t>
            </a:r>
            <a:endParaRPr sz="2761" dirty="0">
              <a:latin typeface="Times New Roman"/>
              <a:cs typeface="Times New Roman"/>
            </a:endParaRPr>
          </a:p>
          <a:p>
            <a:pPr marL="1227193" lvl="1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A</a:t>
            </a:r>
            <a:r>
              <a:rPr sz="2761" i="1" spc="-12" dirty="0">
                <a:latin typeface="Times New Roman"/>
                <a:cs typeface="Times New Roman"/>
              </a:rPr>
              <a:t>D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12" dirty="0">
                <a:latin typeface="Times New Roman"/>
                <a:cs typeface="Times New Roman"/>
              </a:rPr>
              <a:t>A</a:t>
            </a:r>
            <a:r>
              <a:rPr sz="2761" i="1" dirty="0">
                <a:latin typeface="Times New Roman"/>
                <a:cs typeface="Times New Roman"/>
              </a:rPr>
              <a:t>, 45H</a:t>
            </a:r>
            <a:endParaRPr sz="2761" dirty="0">
              <a:latin typeface="Times New Roman"/>
              <a:cs typeface="Times New Roman"/>
            </a:endParaRPr>
          </a:p>
          <a:p>
            <a:pPr marL="1227193" lvl="1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SUBB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A, </a:t>
            </a:r>
            <a:r>
              <a:rPr sz="2761" i="1" spc="12" dirty="0">
                <a:latin typeface="Times New Roman"/>
                <a:cs typeface="Times New Roman"/>
              </a:rPr>
              <a:t>#</a:t>
            </a:r>
            <a:r>
              <a:rPr sz="2761" i="1" dirty="0">
                <a:latin typeface="Times New Roman"/>
                <a:cs typeface="Times New Roman"/>
              </a:rPr>
              <a:t>55H</a:t>
            </a:r>
            <a:endParaRPr sz="2761" dirty="0">
              <a:latin typeface="Times New Roman"/>
              <a:cs typeface="Times New Roman"/>
            </a:endParaRPr>
          </a:p>
          <a:p>
            <a:pPr marL="1227193" lvl="1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228654" algn="l"/>
              </a:tabLst>
            </a:pP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OV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P</a:t>
            </a:r>
            <a:r>
              <a:rPr sz="2761" i="1" dirty="0">
                <a:latin typeface="Times New Roman"/>
                <a:cs typeface="Times New Roman"/>
              </a:rPr>
              <a:t>TR, </a:t>
            </a:r>
            <a:r>
              <a:rPr sz="2761" i="1" spc="12" dirty="0">
                <a:latin typeface="Times New Roman"/>
                <a:cs typeface="Times New Roman"/>
              </a:rPr>
              <a:t>#</a:t>
            </a:r>
            <a:r>
              <a:rPr sz="2761" i="1" dirty="0">
                <a:latin typeface="Times New Roman"/>
                <a:cs typeface="Times New Roman"/>
              </a:rPr>
              <a:t>2000H</a:t>
            </a:r>
            <a:endParaRPr sz="2761" dirty="0">
              <a:latin typeface="Times New Roman"/>
              <a:cs typeface="Times New Roman"/>
            </a:endParaRPr>
          </a:p>
          <a:p>
            <a:pPr marL="1227193" lvl="1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228654" algn="l"/>
              </a:tabLst>
            </a:pP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UL AB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r>
              <a:rPr sz="2761" i="1" dirty="0">
                <a:latin typeface="Times New Roman"/>
                <a:cs typeface="Times New Roman"/>
              </a:rPr>
              <a:t>Since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os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illator fr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qu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y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is 12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Hz, t</a:t>
            </a:r>
            <a:r>
              <a:rPr sz="2761" i="1" spc="23" dirty="0">
                <a:latin typeface="Times New Roman"/>
                <a:cs typeface="Times New Roman"/>
              </a:rPr>
              <a:t>h</a:t>
            </a:r>
            <a:r>
              <a:rPr sz="2761" i="1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 c</a:t>
            </a:r>
            <a:r>
              <a:rPr sz="2761" i="1" dirty="0">
                <a:latin typeface="Times New Roman"/>
                <a:cs typeface="Times New Roman"/>
              </a:rPr>
              <a:t>lo</a:t>
            </a:r>
            <a:r>
              <a:rPr sz="2761" i="1" spc="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k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riod is, Clock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riod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=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1/12 MHz</a:t>
            </a:r>
            <a:r>
              <a:rPr sz="2761" i="1" spc="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=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0.08333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i="1" spc="-23" dirty="0">
                <a:latin typeface="Times New Roman"/>
                <a:cs typeface="Times New Roman"/>
              </a:rPr>
              <a:t>µ</a:t>
            </a:r>
            <a:r>
              <a:rPr sz="2761" i="1" dirty="0">
                <a:latin typeface="Times New Roman"/>
                <a:cs typeface="Times New Roman"/>
              </a:rPr>
              <a:t>S.</a:t>
            </a:r>
            <a:r>
              <a:rPr lang="en-US" sz="2761" i="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Time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for 1 ma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hine 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spc="12" dirty="0">
                <a:latin typeface="Times New Roman"/>
                <a:cs typeface="Times New Roman"/>
              </a:rPr>
              <a:t>y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le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=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0.08333 </a:t>
            </a:r>
            <a:r>
              <a:rPr sz="2761" i="1" spc="-23" dirty="0">
                <a:latin typeface="Times New Roman"/>
                <a:cs typeface="Times New Roman"/>
              </a:rPr>
              <a:t>µ</a:t>
            </a:r>
            <a:r>
              <a:rPr sz="2761" i="1" dirty="0">
                <a:latin typeface="Times New Roman"/>
                <a:cs typeface="Times New Roman"/>
              </a:rPr>
              <a:t>S x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12 </a:t>
            </a:r>
            <a:r>
              <a:rPr sz="2761" i="1" spc="-23" dirty="0">
                <a:latin typeface="Times New Roman"/>
                <a:cs typeface="Times New Roman"/>
              </a:rPr>
              <a:t>=</a:t>
            </a:r>
            <a:r>
              <a:rPr sz="2761" i="1" dirty="0">
                <a:latin typeface="Times New Roman"/>
                <a:cs typeface="Times New Roman"/>
              </a:rPr>
              <a:t>1 </a:t>
            </a:r>
            <a:r>
              <a:rPr sz="2761" i="1" spc="-230" dirty="0">
                <a:latin typeface="Times New Roman"/>
                <a:cs typeface="Times New Roman"/>
              </a:rPr>
              <a:t>µ</a:t>
            </a:r>
            <a:r>
              <a:rPr sz="2761" i="1" spc="-44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S.</a:t>
            </a:r>
            <a:endParaRPr lang="en-US" sz="2761" i="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marL="29219"/>
            <a:r>
              <a:rPr lang="en-US" sz="2761" i="1" dirty="0">
                <a:latin typeface="Times New Roman"/>
                <a:cs typeface="Times New Roman"/>
              </a:rPr>
              <a:t>Instru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tion              	No. of ma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hine </a:t>
            </a:r>
            <a:r>
              <a:rPr lang="en-US" sz="2761" i="1" spc="-23" dirty="0">
                <a:latin typeface="Times New Roman"/>
                <a:cs typeface="Times New Roman"/>
              </a:rPr>
              <a:t>c</a:t>
            </a:r>
            <a:r>
              <a:rPr lang="en-US" sz="2761" i="1" spc="-12" dirty="0">
                <a:latin typeface="Times New Roman"/>
                <a:cs typeface="Times New Roman"/>
              </a:rPr>
              <a:t>yc</a:t>
            </a:r>
            <a:r>
              <a:rPr lang="en-US" sz="2761" i="1" spc="23" dirty="0">
                <a:latin typeface="Times New Roman"/>
                <a:cs typeface="Times New Roman"/>
              </a:rPr>
              <a:t>l</a:t>
            </a:r>
            <a:r>
              <a:rPr lang="en-US" sz="2761" i="1" spc="-12" dirty="0">
                <a:latin typeface="Times New Roman"/>
                <a:cs typeface="Times New Roman"/>
              </a:rPr>
              <a:t>es          Execution time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i="1" dirty="0">
                <a:latin typeface="Times New Roman"/>
                <a:cs typeface="Times New Roman"/>
              </a:rPr>
              <a:t>A</a:t>
            </a:r>
            <a:r>
              <a:rPr lang="en-US" sz="2761" i="1" spc="-12" dirty="0">
                <a:latin typeface="Times New Roman"/>
                <a:cs typeface="Times New Roman"/>
              </a:rPr>
              <a:t>D</a:t>
            </a:r>
            <a:r>
              <a:rPr lang="en-US" sz="2761" i="1" dirty="0">
                <a:latin typeface="Times New Roman"/>
                <a:cs typeface="Times New Roman"/>
              </a:rPr>
              <a:t>D </a:t>
            </a:r>
            <a:r>
              <a:rPr lang="en-US" sz="2761" i="1" spc="-12" dirty="0">
                <a:latin typeface="Times New Roman"/>
                <a:cs typeface="Times New Roman"/>
              </a:rPr>
              <a:t>A</a:t>
            </a:r>
            <a:r>
              <a:rPr lang="en-US" sz="2761" i="1" dirty="0">
                <a:latin typeface="Times New Roman"/>
                <a:cs typeface="Times New Roman"/>
              </a:rPr>
              <a:t>, 45H			     1                                    1 </a:t>
            </a:r>
            <a:r>
              <a:rPr lang="en-US" sz="2761" i="1" spc="-23" dirty="0">
                <a:latin typeface="Times New Roman"/>
                <a:cs typeface="Times New Roman"/>
              </a:rPr>
              <a:t>µ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i="1" dirty="0">
                <a:latin typeface="Times New Roman"/>
                <a:cs typeface="Times New Roman"/>
              </a:rPr>
              <a:t>SUBB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A, </a:t>
            </a:r>
            <a:r>
              <a:rPr lang="en-US" sz="2761" i="1" spc="12" dirty="0">
                <a:latin typeface="Times New Roman"/>
                <a:cs typeface="Times New Roman"/>
              </a:rPr>
              <a:t>#</a:t>
            </a:r>
            <a:r>
              <a:rPr lang="en-US" sz="2761" i="1" dirty="0">
                <a:latin typeface="Times New Roman"/>
                <a:cs typeface="Times New Roman"/>
              </a:rPr>
              <a:t>55H  			     2				 2 </a:t>
            </a:r>
            <a:r>
              <a:rPr lang="en-US" sz="2761" i="1" spc="-23" dirty="0">
                <a:latin typeface="Times New Roman"/>
                <a:cs typeface="Times New Roman"/>
              </a:rPr>
              <a:t>µ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i="1" spc="-12" dirty="0">
                <a:latin typeface="Times New Roman"/>
                <a:cs typeface="Times New Roman"/>
              </a:rPr>
              <a:t>M</a:t>
            </a:r>
            <a:r>
              <a:rPr lang="en-US" sz="2761" i="1" dirty="0">
                <a:latin typeface="Times New Roman"/>
                <a:cs typeface="Times New Roman"/>
              </a:rPr>
              <a:t>OV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</a:t>
            </a:r>
            <a:r>
              <a:rPr lang="en-US" sz="2761" i="1" spc="-12" dirty="0">
                <a:latin typeface="Times New Roman"/>
                <a:cs typeface="Times New Roman"/>
              </a:rPr>
              <a:t>P</a:t>
            </a:r>
            <a:r>
              <a:rPr lang="en-US" sz="2761" i="1" dirty="0">
                <a:latin typeface="Times New Roman"/>
                <a:cs typeface="Times New Roman"/>
              </a:rPr>
              <a:t>TR, </a:t>
            </a:r>
            <a:r>
              <a:rPr lang="en-US" sz="2761" i="1" spc="12" dirty="0">
                <a:latin typeface="Times New Roman"/>
                <a:cs typeface="Times New Roman"/>
              </a:rPr>
              <a:t>#</a:t>
            </a:r>
            <a:r>
              <a:rPr lang="en-US" sz="2761" i="1" dirty="0">
                <a:latin typeface="Times New Roman"/>
                <a:cs typeface="Times New Roman"/>
              </a:rPr>
              <a:t>2000H    		     2   				 2 </a:t>
            </a:r>
            <a:r>
              <a:rPr lang="en-US" sz="2761" i="1" spc="-23" dirty="0">
                <a:latin typeface="Times New Roman"/>
                <a:cs typeface="Times New Roman"/>
              </a:rPr>
              <a:t>µ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i="1" spc="-12" dirty="0">
                <a:latin typeface="Times New Roman"/>
                <a:cs typeface="Times New Roman"/>
              </a:rPr>
              <a:t>M</a:t>
            </a:r>
            <a:r>
              <a:rPr lang="en-US" sz="2761" i="1" dirty="0">
                <a:latin typeface="Times New Roman"/>
                <a:cs typeface="Times New Roman"/>
              </a:rPr>
              <a:t>UL AB				     4  				 4 </a:t>
            </a:r>
            <a:r>
              <a:rPr lang="en-US" sz="2761" i="1" spc="-23" dirty="0">
                <a:latin typeface="Times New Roman"/>
                <a:cs typeface="Times New Roman"/>
              </a:rPr>
              <a:t>µ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711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25600" y="990600"/>
            <a:ext cx="13639800" cy="7058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39096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nstructions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565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of 8051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ithmetic 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instru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Subro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tine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</a:p>
          <a:p>
            <a:pPr marL="543569" indent="-514350">
              <a:spcBef>
                <a:spcPts val="2565"/>
              </a:spcBef>
              <a:buFont typeface="+mj-lt"/>
              <a:buAutoNum type="arabicPeriod"/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manipulation instru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</a:p>
          <a:p>
            <a:pPr marL="758230">
              <a:spcBef>
                <a:spcPts val="1461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367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67122" y="652296"/>
            <a:ext cx="13947356" cy="8753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3797" indent="-464580">
              <a:buClr>
                <a:srgbClr val="2E5395"/>
              </a:buClr>
              <a:buFont typeface="Times New Roman"/>
              <a:buAutoNum type="arabicPeriod"/>
              <a:tabLst>
                <a:tab pos="495260" algn="l"/>
              </a:tabLst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er in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tructi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565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nsfer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of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810110" lvl="1" indent="-525940">
              <a:spcBef>
                <a:spcPts val="1461"/>
              </a:spcBef>
              <a:buFont typeface="Times New Roman"/>
              <a:buAutoNum type="alphaLcPeriod"/>
              <a:tabLst>
                <a:tab pos="1811571" algn="l"/>
              </a:tabLst>
            </a:pP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ontents of a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Rn to A</a:t>
            </a:r>
          </a:p>
          <a:p>
            <a:pPr marL="2861990" lvl="2" indent="-417830">
              <a:spcBef>
                <a:spcPts val="1438"/>
              </a:spcBef>
              <a:buSzPct val="83333"/>
              <a:buFont typeface="Times New Roman"/>
              <a:buAutoNum type="romanLcPeriod"/>
              <a:tabLst>
                <a:tab pos="2863451" algn="l"/>
              </a:tabLst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A,R2</a:t>
            </a:r>
          </a:p>
          <a:p>
            <a:pPr marL="2861990" lvl="2" indent="-417830">
              <a:spcBef>
                <a:spcPts val="1461"/>
              </a:spcBef>
              <a:buSzPct val="83333"/>
              <a:buFont typeface="Times New Roman"/>
              <a:buAutoNum type="romanLcPeriod"/>
              <a:tabLst>
                <a:tab pos="2863451" algn="l"/>
              </a:tabLst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A,R7</a:t>
            </a:r>
          </a:p>
          <a:p>
            <a:pPr marL="1810110" lvl="1" indent="-525940">
              <a:spcBef>
                <a:spcPts val="1438"/>
              </a:spcBef>
              <a:buFont typeface="Times New Roman"/>
              <a:buAutoNum type="alphaLcPeriod"/>
              <a:tabLst>
                <a:tab pos="1811571" algn="l"/>
              </a:tabLst>
            </a:pP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ontents of a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Rn</a:t>
            </a:r>
          </a:p>
          <a:p>
            <a:pPr marL="2861990" lvl="2" indent="-417830">
              <a:spcBef>
                <a:spcPts val="1461"/>
              </a:spcBef>
              <a:buSzPct val="83333"/>
              <a:buFont typeface="Times New Roman"/>
              <a:buAutoNum type="romanLcPeriod"/>
              <a:tabLst>
                <a:tab pos="2863451" algn="l"/>
              </a:tabLst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R4,A</a:t>
            </a:r>
          </a:p>
          <a:p>
            <a:pPr marL="2861990" lvl="2" indent="-417830">
              <a:spcBef>
                <a:spcPts val="1438"/>
              </a:spcBef>
              <a:buSzPct val="83333"/>
              <a:buFont typeface="Times New Roman"/>
              <a:buAutoNum type="romanLcPeriod"/>
              <a:tabLst>
                <a:tab pos="2863451" algn="l"/>
              </a:tabLst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R1,A</a:t>
            </a:r>
          </a:p>
          <a:p>
            <a:pPr marL="1810110" marR="11688" lvl="1" indent="-525940">
              <a:lnSpc>
                <a:spcPct val="143300"/>
              </a:lnSpc>
              <a:spcBef>
                <a:spcPts val="23"/>
              </a:spcBef>
              <a:buFont typeface="Times New Roman"/>
              <a:buAutoNum type="alphaLcPeriod"/>
              <a:tabLst>
                <a:tab pos="1811571" algn="l"/>
              </a:tabLst>
            </a:pP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 immedi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8 bit data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re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to Rn or to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(di</a:t>
            </a:r>
            <a:r>
              <a:rPr sz="2761" spc="-12" dirty="0">
                <a:latin typeface="Times New Roman"/>
                <a:cs typeface="Times New Roman"/>
              </a:rPr>
              <a:t>rec</a:t>
            </a:r>
            <a:r>
              <a:rPr sz="2761" dirty="0">
                <a:latin typeface="Times New Roman"/>
                <a:cs typeface="Times New Roman"/>
              </a:rPr>
              <a:t>t or 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t)</a:t>
            </a:r>
            <a:endParaRPr lang="en-US" sz="2761" dirty="0">
              <a:latin typeface="Times New Roman"/>
              <a:cs typeface="Times New Roman"/>
            </a:endParaRP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A, #45H</a:t>
            </a: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R6, #51H</a:t>
            </a: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30H, #44H</a:t>
            </a: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@R0, #0E8H</a:t>
            </a: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DPTR, #0</a:t>
            </a:r>
            <a:r>
              <a:rPr lang="pt-BR" sz="2761" spc="-23" dirty="0">
                <a:latin typeface="Times New Roman"/>
                <a:cs typeface="Times New Roman"/>
              </a:rPr>
              <a:t>F</a:t>
            </a:r>
            <a:r>
              <a:rPr lang="pt-BR" sz="2761" dirty="0">
                <a:latin typeface="Times New Roman"/>
                <a:cs typeface="Times New Roman"/>
              </a:rPr>
              <a:t>5A2H</a:t>
            </a:r>
          </a:p>
          <a:p>
            <a:pPr marL="2429519" lvl="4" indent="-571500">
              <a:buSzPct val="83333"/>
              <a:buFont typeface="+mj-lt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DPTR, #5467H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97000" y="591039"/>
            <a:ext cx="15163799" cy="8959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1688" indent="-525940">
              <a:lnSpc>
                <a:spcPct val="144200"/>
              </a:lnSpc>
            </a:pPr>
            <a:r>
              <a:rPr sz="2761" i="1" dirty="0">
                <a:latin typeface="Times New Roman"/>
                <a:cs typeface="Times New Roman"/>
              </a:rPr>
              <a:t>d.   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ontents 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to A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ad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endParaRPr lang="en-US" sz="2761" dirty="0">
              <a:latin typeface="Times New Roman"/>
              <a:cs typeface="Times New Roman"/>
            </a:endParaRP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A, 65H</a:t>
            </a: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A, </a:t>
            </a:r>
            <a:r>
              <a:rPr lang="pt-BR" sz="2761" spc="-12" dirty="0">
                <a:latin typeface="Times New Roman"/>
                <a:cs typeface="Times New Roman"/>
              </a:rPr>
              <a:t>@</a:t>
            </a:r>
            <a:r>
              <a:rPr lang="pt-BR" sz="2761" dirty="0">
                <a:latin typeface="Times New Roman"/>
                <a:cs typeface="Times New Roman"/>
              </a:rPr>
              <a:t>R0</a:t>
            </a:r>
          </a:p>
          <a:p>
            <a:pPr marL="1359988" lvl="2" indent="-416369">
              <a:buSzPct val="83333"/>
              <a:buFont typeface="Times New Roman"/>
              <a:buAutoNum type="romanLcPeriod" startAt="3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45H, A</a:t>
            </a:r>
          </a:p>
          <a:p>
            <a:pPr marL="1359988" lvl="2" indent="-416369">
              <a:buSzPct val="83333"/>
              <a:buFont typeface="Times New Roman"/>
              <a:buAutoNum type="romanLcPeriod" startAt="3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@R1, A</a:t>
            </a:r>
          </a:p>
          <a:p>
            <a:pPr marL="445588" indent="-416369">
              <a:spcBef>
                <a:spcPts val="1461"/>
              </a:spcBef>
              <a:buSzPct val="83333"/>
              <a:buFont typeface="Times New Roman"/>
              <a:buAutoNum type="romanLcPeriod" startAt="3"/>
              <a:tabLst>
                <a:tab pos="447049" algn="l"/>
              </a:tabLst>
            </a:pPr>
            <a:endParaRPr lang="pt-BR" sz="2761" dirty="0">
              <a:latin typeface="Times New Roman"/>
              <a:cs typeface="Times New Roman"/>
            </a:endParaRPr>
          </a:p>
          <a:p>
            <a:pPr marL="555159" marR="11688" indent="-525940">
              <a:lnSpc>
                <a:spcPct val="144400"/>
              </a:lnSpc>
              <a:buFont typeface="Times New Roman"/>
              <a:buAutoNum type="alphaLcPeriod" startAt="5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ontents of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 to Rn or Rn to a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using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</a:p>
          <a:p>
            <a:pPr marL="1607039" lvl="1" indent="-417830">
              <a:spcBef>
                <a:spcPts val="1438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R3, 65H</a:t>
            </a:r>
          </a:p>
          <a:p>
            <a:pPr marL="1607039" lvl="1" indent="-417830">
              <a:spcBef>
                <a:spcPts val="1438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45H, R2</a:t>
            </a:r>
          </a:p>
          <a:p>
            <a:pPr marL="1189209" lvl="1">
              <a:spcBef>
                <a:spcPts val="1438"/>
              </a:spcBef>
              <a:buSzPct val="83333"/>
              <a:tabLst>
                <a:tab pos="160703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5159" marR="496721" indent="-525940">
              <a:lnSpc>
                <a:spcPts val="4785"/>
              </a:lnSpc>
              <a:spcBef>
                <a:spcPts val="368"/>
              </a:spcBef>
              <a:buFont typeface="Times New Roman"/>
              <a:buAutoNum type="alphaLcPeriod" startAt="5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ontents of 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to anoth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using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and indir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addr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ssing</a:t>
            </a:r>
          </a:p>
          <a:p>
            <a:pPr marL="1607039" lvl="1" indent="-417830">
              <a:spcBef>
                <a:spcPts val="1024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47H, 65H</a:t>
            </a:r>
          </a:p>
          <a:p>
            <a:pPr marL="1607039" lvl="1" indent="-417830">
              <a:spcBef>
                <a:spcPts val="1461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45H, </a:t>
            </a:r>
            <a:r>
              <a:rPr lang="en-US" sz="2761" spc="-12" dirty="0">
                <a:latin typeface="Times New Roman"/>
                <a:cs typeface="Times New Roman"/>
              </a:rPr>
              <a:t>@</a:t>
            </a:r>
            <a:r>
              <a:rPr lang="en-US" sz="2761" dirty="0">
                <a:latin typeface="Times New Roman"/>
                <a:cs typeface="Times New Roman"/>
              </a:rPr>
              <a:t>R0</a:t>
            </a:r>
            <a:endParaRPr lang="pt-BR" sz="2761" dirty="0">
              <a:latin typeface="Times New Roman"/>
              <a:cs typeface="Times New Roman"/>
            </a:endParaRPr>
          </a:p>
          <a:p>
            <a:pPr marL="555159" marR="11688" indent="-525940">
              <a:lnSpc>
                <a:spcPct val="1442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464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9900" y="1905000"/>
            <a:ext cx="14401800" cy="4554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indent="-525940">
              <a:buFont typeface="Times New Roman"/>
              <a:buAutoNum type="alphaLcPeriod" startAt="7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ontents of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</a:t>
            </a:r>
          </a:p>
          <a:p>
            <a:pPr marL="1607039" lvl="1" indent="-417830">
              <a:spcBef>
                <a:spcPts val="1438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C A, </a:t>
            </a:r>
            <a:r>
              <a:rPr sz="2761" spc="-12" dirty="0">
                <a:latin typeface="Times New Roman"/>
                <a:cs typeface="Times New Roman"/>
              </a:rPr>
              <a:t>@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PC</a:t>
            </a:r>
          </a:p>
          <a:p>
            <a:pPr marL="1607039" lvl="1" indent="-417830">
              <a:spcBef>
                <a:spcPts val="1461"/>
              </a:spcBef>
              <a:buSzPct val="83333"/>
              <a:buFont typeface="Times New Roman"/>
              <a:buAutoNum type="romanL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C A, </a:t>
            </a:r>
            <a:r>
              <a:rPr sz="2761" spc="-12" dirty="0">
                <a:latin typeface="Times New Roman"/>
                <a:cs typeface="Times New Roman"/>
              </a:rPr>
              <a:t>@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DPTR</a:t>
            </a:r>
          </a:p>
          <a:p>
            <a:pPr marL="555159" indent="-525940">
              <a:spcBef>
                <a:spcPts val="1438"/>
              </a:spcBef>
              <a:buFont typeface="Times New Roman"/>
              <a:buAutoNum type="alphaLcPeriod" startAt="7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5159" indent="-525940">
              <a:spcBef>
                <a:spcPts val="1438"/>
              </a:spcBef>
              <a:buFont typeface="Times New Roman"/>
              <a:buAutoNum type="alphaLcPeriod" startAt="7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ontents 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to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endParaRPr lang="en-US" sz="2761" dirty="0">
              <a:latin typeface="Times New Roman"/>
              <a:cs typeface="Times New Roman"/>
            </a:endParaRP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-12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X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,@R1</a:t>
            </a: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-12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X </a:t>
            </a:r>
            <a:r>
              <a:rPr lang="en-US" sz="2761" spc="-12" dirty="0">
                <a:latin typeface="Times New Roman"/>
                <a:cs typeface="Times New Roman"/>
              </a:rPr>
              <a:t>@</a:t>
            </a:r>
            <a:r>
              <a:rPr lang="en-US" sz="2761" dirty="0">
                <a:latin typeface="Times New Roman"/>
                <a:cs typeface="Times New Roman"/>
              </a:rPr>
              <a:t>R0,A</a:t>
            </a: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</a:t>
            </a:r>
            <a:r>
              <a:rPr lang="pt-BR" sz="2761" spc="-12" dirty="0">
                <a:latin typeface="Times New Roman"/>
                <a:cs typeface="Times New Roman"/>
              </a:rPr>
              <a:t>V</a:t>
            </a:r>
            <a:r>
              <a:rPr lang="pt-BR" sz="2761" dirty="0">
                <a:latin typeface="Times New Roman"/>
                <a:cs typeface="Times New Roman"/>
              </a:rPr>
              <a:t>X </a:t>
            </a:r>
            <a:r>
              <a:rPr lang="pt-BR" sz="2761" spc="-12" dirty="0">
                <a:latin typeface="Times New Roman"/>
                <a:cs typeface="Times New Roman"/>
              </a:rPr>
              <a:t>A</a:t>
            </a:r>
            <a:r>
              <a:rPr lang="pt-BR" sz="2761" dirty="0">
                <a:latin typeface="Times New Roman"/>
                <a:cs typeface="Times New Roman"/>
              </a:rPr>
              <a:t>, @</a:t>
            </a:r>
            <a:r>
              <a:rPr lang="pt-BR" sz="2761" spc="-12" dirty="0">
                <a:latin typeface="Times New Roman"/>
                <a:cs typeface="Times New Roman"/>
              </a:rPr>
              <a:t>D</a:t>
            </a:r>
            <a:r>
              <a:rPr lang="pt-BR" sz="2761" dirty="0">
                <a:latin typeface="Times New Roman"/>
                <a:cs typeface="Times New Roman"/>
              </a:rPr>
              <a:t>PTR</a:t>
            </a:r>
          </a:p>
          <a:p>
            <a:pPr marL="1359988" lvl="2" indent="-416369">
              <a:buSzPct val="83333"/>
              <a:buFont typeface="Times New Roman"/>
              <a:buAutoNum type="romanLcPeriod"/>
              <a:tabLst>
                <a:tab pos="447049" algn="l"/>
              </a:tabLst>
            </a:pPr>
            <a:r>
              <a:rPr lang="pt-BR" sz="2761" dirty="0">
                <a:latin typeface="Times New Roman"/>
                <a:cs typeface="Times New Roman"/>
              </a:rPr>
              <a:t>MO</a:t>
            </a:r>
            <a:r>
              <a:rPr lang="pt-BR" sz="2761" spc="-12" dirty="0">
                <a:latin typeface="Times New Roman"/>
                <a:cs typeface="Times New Roman"/>
              </a:rPr>
              <a:t>V</a:t>
            </a:r>
            <a:r>
              <a:rPr lang="pt-BR" sz="2761" dirty="0">
                <a:latin typeface="Times New Roman"/>
                <a:cs typeface="Times New Roman"/>
              </a:rPr>
              <a:t>X </a:t>
            </a:r>
            <a:r>
              <a:rPr lang="pt-BR" sz="2761" spc="-12" dirty="0">
                <a:latin typeface="Times New Roman"/>
                <a:cs typeface="Times New Roman"/>
              </a:rPr>
              <a:t>@</a:t>
            </a:r>
            <a:r>
              <a:rPr lang="pt-BR" sz="2761" dirty="0">
                <a:latin typeface="Times New Roman"/>
                <a:cs typeface="Times New Roman"/>
              </a:rPr>
              <a:t>DPTR,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83200" y="7924800"/>
            <a:ext cx="7118243" cy="541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ctr">
              <a:lnSpc>
                <a:spcPct val="144200"/>
              </a:lnSpc>
            </a:pPr>
            <a:r>
              <a:rPr sz="2761" i="1" dirty="0">
                <a:latin typeface="Times New Roman"/>
                <a:cs typeface="Times New Roman"/>
              </a:rPr>
              <a:t>F</a:t>
            </a:r>
            <a:r>
              <a:rPr sz="2761" i="1" spc="-12" dirty="0">
                <a:latin typeface="Times New Roman"/>
                <a:cs typeface="Times New Roman"/>
              </a:rPr>
              <a:t>I</a:t>
            </a:r>
            <a:r>
              <a:rPr sz="2761" i="1" dirty="0">
                <a:latin typeface="Times New Roman"/>
                <a:cs typeface="Times New Roman"/>
              </a:rPr>
              <a:t>G. A</a:t>
            </a:r>
            <a:r>
              <a:rPr sz="2761" i="1" spc="-12" dirty="0">
                <a:latin typeface="Times New Roman"/>
                <a:cs typeface="Times New Roman"/>
              </a:rPr>
              <a:t>d</a:t>
            </a:r>
            <a:r>
              <a:rPr sz="2761" i="1" dirty="0">
                <a:latin typeface="Times New Roman"/>
                <a:cs typeface="Times New Roman"/>
              </a:rPr>
              <a:t>dr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ssing Using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-12" dirty="0">
                <a:latin typeface="Times New Roman"/>
                <a:cs typeface="Times New Roman"/>
              </a:rPr>
              <a:t>V</a:t>
            </a:r>
            <a:r>
              <a:rPr sz="2761" i="1" dirty="0">
                <a:latin typeface="Times New Roman"/>
                <a:cs typeface="Times New Roman"/>
              </a:rPr>
              <a:t>,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-12" dirty="0">
                <a:latin typeface="Times New Roman"/>
                <a:cs typeface="Times New Roman"/>
              </a:rPr>
              <a:t>V</a:t>
            </a:r>
            <a:r>
              <a:rPr sz="2761" i="1" dirty="0">
                <a:latin typeface="Times New Roman"/>
                <a:cs typeface="Times New Roman"/>
              </a:rPr>
              <a:t>X and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-12" dirty="0">
                <a:latin typeface="Times New Roman"/>
                <a:cs typeface="Times New Roman"/>
              </a:rPr>
              <a:t>V</a:t>
            </a:r>
            <a:r>
              <a:rPr sz="2761" i="1" dirty="0">
                <a:latin typeface="Times New Roman"/>
                <a:cs typeface="Times New Roman"/>
              </a:rPr>
              <a:t>C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88580" y="1828800"/>
            <a:ext cx="11307482" cy="5574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  <p:extLst>
      <p:ext uri="{BB962C8B-B14F-4D97-AF65-F5344CB8AC3E}">
        <p14:creationId xmlns:p14="http://schemas.microsoft.com/office/powerpoint/2010/main" val="780786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2536" y="804254"/>
            <a:ext cx="4216201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tabLst>
                <a:tab pos="553698" algn="l"/>
              </a:tabLst>
            </a:pPr>
            <a:r>
              <a:rPr lang="en-US" sz="2761" i="1" dirty="0" err="1">
                <a:latin typeface="Times New Roman"/>
                <a:cs typeface="Times New Roman"/>
              </a:rPr>
              <a:t>i</a:t>
            </a:r>
            <a:r>
              <a:rPr lang="en-US" sz="2761" i="1" dirty="0">
                <a:latin typeface="Times New Roman"/>
                <a:cs typeface="Times New Roman"/>
              </a:rPr>
              <a:t>.	</a:t>
            </a:r>
            <a:r>
              <a:rPr lang="en-US" sz="2761" dirty="0">
                <a:latin typeface="Times New Roman"/>
                <a:cs typeface="Times New Roman"/>
              </a:rPr>
              <a:t>Push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Pop 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</a:t>
            </a:r>
            <a:r>
              <a:rPr lang="en-US" sz="2761" spc="-35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490912"/>
              </p:ext>
            </p:extLst>
          </p:nvPr>
        </p:nvGraphicFramePr>
        <p:xfrm>
          <a:off x="2844800" y="1661797"/>
          <a:ext cx="11882726" cy="2459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0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6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687">
                <a:tc>
                  <a:txBody>
                    <a:bodyPr/>
                    <a:lstStyle/>
                    <a:p>
                      <a:endParaRPr lang="en-US"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07 (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9638">
                <a:tc>
                  <a:txBody>
                    <a:bodyPr/>
                    <a:lstStyle/>
                    <a:p>
                      <a:pPr marL="34925" marR="205740">
                        <a:lnSpc>
                          <a:spcPct val="1433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R6, #25H MOV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R1, #12H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539" marR="71755" indent="4445">
                        <a:lnSpc>
                          <a:spcPct val="1433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25H [R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12H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R6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25H</a:t>
                      </a: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R1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12H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687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R4, #0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[R4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R4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203762"/>
              </p:ext>
            </p:extLst>
          </p:nvPr>
        </p:nvGraphicFramePr>
        <p:xfrm>
          <a:off x="2844800" y="4553492"/>
          <a:ext cx="11780283" cy="1853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8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25H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0383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1</a:t>
                      </a:r>
                      <a:endParaRPr lang="en-US" sz="2800" dirty="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2410" marR="211454" indent="-8890">
                        <a:lnSpc>
                          <a:spcPct val="1444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9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12H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19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2H</a:t>
                      </a:r>
                    </a:p>
                    <a:p>
                      <a:pPr marL="1936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F3H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6384"/>
              </p:ext>
            </p:extLst>
          </p:nvPr>
        </p:nvGraphicFramePr>
        <p:xfrm>
          <a:off x="2846387" y="6825204"/>
          <a:ext cx="11703146" cy="185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0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0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1</a:t>
                      </a: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12H</a:t>
                      </a:r>
                    </a:p>
                    <a:p>
                      <a:pPr marL="3168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04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25H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 marR="194310">
                        <a:lnSpc>
                          <a:spcPct val="1442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2H</a:t>
                      </a:r>
                    </a:p>
                    <a:p>
                      <a:pPr marL="2019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04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075213" y="1066800"/>
            <a:ext cx="12546338" cy="6095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6070" indent="-525940">
              <a:lnSpc>
                <a:spcPct val="143300"/>
              </a:lnSpc>
              <a:buFont typeface="Times New Roman"/>
              <a:buAutoNum type="alphaLcPeriod" startAt="10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ie.,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ontents of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ie.,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1620187" lvl="1" indent="-433901">
              <a:spcBef>
                <a:spcPts val="1461"/>
              </a:spcBef>
              <a:buFont typeface="Times New Roman"/>
              <a:buAutoNum type="romanLcPeriod"/>
              <a:tabLst>
                <a:tab pos="1621648" algn="l"/>
              </a:tabLst>
            </a:pPr>
            <a:r>
              <a:rPr sz="2761" dirty="0">
                <a:latin typeface="Times New Roman"/>
                <a:cs typeface="Times New Roman"/>
              </a:rPr>
              <a:t>XCH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,R3</a:t>
            </a:r>
          </a:p>
          <a:p>
            <a:pPr marL="1620187" lvl="1" indent="-433901">
              <a:spcBef>
                <a:spcPts val="1438"/>
              </a:spcBef>
              <a:buFont typeface="Times New Roman"/>
              <a:buAutoNum type="romanLcPeriod"/>
              <a:tabLst>
                <a:tab pos="1621648" algn="l"/>
              </a:tabLst>
            </a:pPr>
            <a:r>
              <a:rPr sz="2761" dirty="0">
                <a:latin typeface="Times New Roman"/>
                <a:cs typeface="Times New Roman"/>
              </a:rPr>
              <a:t>XCH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,@R1</a:t>
            </a:r>
          </a:p>
          <a:p>
            <a:pPr marL="1620187" lvl="1" indent="-433901">
              <a:spcBef>
                <a:spcPts val="1461"/>
              </a:spcBef>
              <a:buFont typeface="Times New Roman"/>
              <a:buAutoNum type="romanLcPeriod"/>
              <a:tabLst>
                <a:tab pos="1621648" algn="l"/>
              </a:tabLst>
            </a:pPr>
            <a:r>
              <a:rPr sz="2761" dirty="0">
                <a:latin typeface="Times New Roman"/>
                <a:cs typeface="Times New Roman"/>
              </a:rPr>
              <a:t>XCH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,54h</a:t>
            </a:r>
          </a:p>
          <a:p>
            <a:pPr marL="568307" indent="-525940">
              <a:spcBef>
                <a:spcPts val="1438"/>
              </a:spcBef>
              <a:buFont typeface="Times New Roman"/>
              <a:buAutoNum type="alphaLcPeriod" startAt="10"/>
              <a:tabLst>
                <a:tab pos="569768" algn="l"/>
              </a:tabLst>
            </a:pP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nibble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0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A3)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</a:p>
          <a:p>
            <a:pPr marL="568307" marR="1607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nibble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1620187" lvl="1" indent="-433901">
              <a:spcBef>
                <a:spcPts val="1461"/>
              </a:spcBef>
              <a:buFont typeface="Times New Roman"/>
              <a:buAutoNum type="romanLcPeriod"/>
              <a:tabLst>
                <a:tab pos="1621648" algn="l"/>
              </a:tabLst>
            </a:pPr>
            <a:r>
              <a:rPr sz="2761" dirty="0">
                <a:latin typeface="Times New Roman"/>
                <a:cs typeface="Times New Roman"/>
              </a:rPr>
              <a:t>XCHD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</a:t>
            </a:r>
            <a:r>
              <a:rPr sz="2761" spc="-12" dirty="0">
                <a:latin typeface="Times New Roman"/>
                <a:cs typeface="Times New Roman"/>
              </a:rPr>
              <a:t>@</a:t>
            </a:r>
            <a:r>
              <a:rPr sz="2761" dirty="0">
                <a:latin typeface="Times New Roman"/>
                <a:cs typeface="Times New Roman"/>
              </a:rPr>
              <a:t>R1</a:t>
            </a:r>
          </a:p>
          <a:p>
            <a:pPr marL="1620187" lvl="1" indent="-433901">
              <a:spcBef>
                <a:spcPts val="1438"/>
              </a:spcBef>
              <a:buFont typeface="Times New Roman"/>
              <a:buAutoNum type="romanLcPeriod"/>
              <a:tabLst>
                <a:tab pos="1621648" algn="l"/>
              </a:tabLst>
            </a:pPr>
            <a:r>
              <a:rPr sz="2761" dirty="0">
                <a:latin typeface="Times New Roman"/>
                <a:cs typeface="Times New Roman"/>
              </a:rPr>
              <a:t>XCHD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</a:t>
            </a:r>
            <a:r>
              <a:rPr sz="2761" spc="-12" dirty="0">
                <a:latin typeface="Times New Roman"/>
                <a:cs typeface="Times New Roman"/>
              </a:rPr>
              <a:t>@</a:t>
            </a:r>
            <a:r>
              <a:rPr sz="2761" dirty="0">
                <a:latin typeface="Times New Roman"/>
                <a:cs typeface="Times New Roman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445257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397000" y="609600"/>
            <a:ext cx="15163800" cy="9228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2. Arit</a:t>
            </a:r>
            <a:r>
              <a:rPr sz="2760" spc="35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760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etic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inst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uctions.</a:t>
            </a:r>
            <a:r>
              <a:rPr lang="en-US"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8051 </a:t>
            </a:r>
            <a:r>
              <a:rPr sz="2760" spc="-12" dirty="0">
                <a:latin typeface="Times New Roman"/>
                <a:cs typeface="Times New Roman"/>
              </a:rPr>
              <a:t>ca</a:t>
            </a:r>
            <a:r>
              <a:rPr sz="2760" dirty="0">
                <a:latin typeface="Times New Roman"/>
                <a:cs typeface="Times New Roman"/>
              </a:rPr>
              <a:t>n </a:t>
            </a:r>
            <a:r>
              <a:rPr sz="2760" spc="23" dirty="0">
                <a:latin typeface="Times New Roman"/>
                <a:cs typeface="Times New Roman"/>
              </a:rPr>
              <a:t>p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f</a:t>
            </a:r>
            <a:r>
              <a:rPr sz="2760" spc="23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rm 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dition, subtr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tion. Mult</a:t>
            </a:r>
            <a:r>
              <a:rPr sz="2760" spc="-23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pli</a:t>
            </a:r>
            <a:r>
              <a:rPr sz="2760" spc="-12" dirty="0">
                <a:latin typeface="Times New Roman"/>
                <a:cs typeface="Times New Roman"/>
              </a:rPr>
              <a:t>ca</a:t>
            </a:r>
            <a:r>
              <a:rPr sz="2760" dirty="0">
                <a:latin typeface="Times New Roman"/>
                <a:cs typeface="Times New Roman"/>
              </a:rPr>
              <a:t>tion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division op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tions on 8 bit numbe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s.</a:t>
            </a:r>
            <a:endParaRPr lang="en-US" sz="2760" dirty="0">
              <a:latin typeface="Times New Roman"/>
              <a:cs typeface="Times New Roman"/>
            </a:endParaRPr>
          </a:p>
          <a:p>
            <a:pPr marL="29219"/>
            <a:endParaRPr lang="en-US" sz="2760" dirty="0">
              <a:latin typeface="Times New Roman"/>
              <a:cs typeface="Times New Roman"/>
            </a:endParaRPr>
          </a:p>
          <a:p>
            <a:pPr marL="29219"/>
            <a:r>
              <a:rPr lang="en-US"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Addition</a:t>
            </a:r>
            <a:endParaRPr lang="en-US" sz="2760" dirty="0">
              <a:latin typeface="Times New Roman"/>
              <a:cs typeface="Times New Roman"/>
            </a:endParaRPr>
          </a:p>
          <a:p>
            <a:pPr marL="29219">
              <a:spcBef>
                <a:spcPts val="1610"/>
              </a:spcBef>
            </a:pPr>
            <a:r>
              <a:rPr lang="en-US" sz="2760" spc="-46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n this</a:t>
            </a:r>
            <a:r>
              <a:rPr lang="en-US" sz="2760" spc="23" dirty="0">
                <a:latin typeface="Times New Roman"/>
                <a:cs typeface="Times New Roman"/>
              </a:rPr>
              <a:t> 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roup,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spc="12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h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spc="23" dirty="0">
                <a:latin typeface="Times New Roman"/>
                <a:cs typeface="Times New Roman"/>
              </a:rPr>
              <a:t>v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instru</a:t>
            </a:r>
            <a:r>
              <a:rPr lang="en-US" sz="2760" spc="-23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tions to</a:t>
            </a:r>
          </a:p>
          <a:p>
            <a:pPr marL="1815954" indent="-430979">
              <a:spcBef>
                <a:spcPts val="1438"/>
              </a:spcBef>
              <a:buSzPct val="91666"/>
              <a:buFont typeface="Times New Roman"/>
              <a:buAutoNum type="romanLcPeriod"/>
              <a:tabLst>
                <a:tab pos="181741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Add the</a:t>
            </a:r>
            <a:r>
              <a:rPr lang="en-US" sz="2760" spc="-12" dirty="0">
                <a:latin typeface="Times New Roman"/>
                <a:cs typeface="Times New Roman"/>
              </a:rPr>
              <a:t> c</a:t>
            </a:r>
            <a:r>
              <a:rPr lang="en-US" sz="2760" dirty="0">
                <a:latin typeface="Times New Roman"/>
                <a:cs typeface="Times New Roman"/>
              </a:rPr>
              <a:t>ontents of A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</a:t>
            </a:r>
            <a:r>
              <a:rPr lang="en-US" sz="2760" spc="23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th imm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diate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ta </a:t>
            </a:r>
            <a:r>
              <a:rPr lang="en-US" sz="2760" spc="-12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ith or </a:t>
            </a:r>
            <a:r>
              <a:rPr lang="en-US" sz="2760" spc="-23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ithout c</a:t>
            </a:r>
            <a:r>
              <a:rPr lang="en-US" sz="2760" spc="-23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35" dirty="0">
                <a:latin typeface="Times New Roman"/>
                <a:cs typeface="Times New Roman"/>
              </a:rPr>
              <a:t>r</a:t>
            </a:r>
            <a:r>
              <a:rPr lang="en-US" sz="2760" spc="-58" dirty="0">
                <a:latin typeface="Times New Roman"/>
                <a:cs typeface="Times New Roman"/>
              </a:rPr>
              <a:t>y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, #45H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DC A, #0</a:t>
            </a:r>
            <a:r>
              <a:rPr lang="en-US" sz="2760" spc="-23" dirty="0">
                <a:latin typeface="Times New Roman"/>
                <a:cs typeface="Times New Roman"/>
              </a:rPr>
              <a:t>B</a:t>
            </a:r>
            <a:r>
              <a:rPr lang="en-US" sz="2760" spc="23" dirty="0">
                <a:latin typeface="Times New Roman"/>
                <a:cs typeface="Times New Roman"/>
              </a:rPr>
              <a:t>4</a:t>
            </a:r>
            <a:r>
              <a:rPr lang="en-US" sz="2760" dirty="0">
                <a:latin typeface="Times New Roman"/>
                <a:cs typeface="Times New Roman"/>
              </a:rPr>
              <a:t>H</a:t>
            </a:r>
          </a:p>
          <a:p>
            <a:pPr marL="1815954" indent="-430979">
              <a:spcBef>
                <a:spcPts val="1461"/>
              </a:spcBef>
              <a:buSzPct val="91666"/>
              <a:buFont typeface="Times New Roman"/>
              <a:buAutoNum type="romanLcPeriod"/>
              <a:tabLst>
                <a:tab pos="181741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Add the</a:t>
            </a:r>
            <a:r>
              <a:rPr lang="en-US" sz="2760" spc="-12" dirty="0">
                <a:latin typeface="Times New Roman"/>
                <a:cs typeface="Times New Roman"/>
              </a:rPr>
              <a:t> c</a:t>
            </a:r>
            <a:r>
              <a:rPr lang="en-US" sz="2760" dirty="0">
                <a:latin typeface="Times New Roman"/>
                <a:cs typeface="Times New Roman"/>
              </a:rPr>
              <a:t>ontents of A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</a:t>
            </a:r>
            <a:r>
              <a:rPr lang="en-US" sz="2760" spc="23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th 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ist</a:t>
            </a:r>
            <a:r>
              <a:rPr lang="en-US" sz="2760" spc="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 Rn with or </a:t>
            </a:r>
            <a:r>
              <a:rPr lang="en-US" sz="2760" spc="-12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ithout c</a:t>
            </a:r>
            <a:r>
              <a:rPr lang="en-US" sz="2760" spc="-23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35" dirty="0">
                <a:latin typeface="Times New Roman"/>
                <a:cs typeface="Times New Roman"/>
              </a:rPr>
              <a:t>r</a:t>
            </a:r>
            <a:r>
              <a:rPr lang="en-US" sz="2760" spc="-58" dirty="0">
                <a:latin typeface="Times New Roman"/>
                <a:cs typeface="Times New Roman"/>
              </a:rPr>
              <a:t>y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, R5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DC A, R2</a:t>
            </a:r>
          </a:p>
          <a:p>
            <a:pPr marL="1815954" marR="11688" indent="-430979">
              <a:lnSpc>
                <a:spcPts val="4785"/>
              </a:lnSpc>
              <a:spcBef>
                <a:spcPts val="368"/>
              </a:spcBef>
              <a:buSzPct val="91666"/>
              <a:buFont typeface="Times New Roman"/>
              <a:buAutoNum type="romanLcPeriod" startAt="3"/>
              <a:tabLst>
                <a:tab pos="181741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Add the</a:t>
            </a:r>
            <a:r>
              <a:rPr lang="en-US" sz="2760" spc="-12" dirty="0">
                <a:latin typeface="Times New Roman"/>
                <a:cs typeface="Times New Roman"/>
              </a:rPr>
              <a:t> c</a:t>
            </a:r>
            <a:r>
              <a:rPr lang="en-US" sz="2760" dirty="0">
                <a:latin typeface="Times New Roman"/>
                <a:cs typeface="Times New Roman"/>
              </a:rPr>
              <a:t>ontents of A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</a:t>
            </a:r>
            <a:r>
              <a:rPr lang="en-US" sz="2760" spc="23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th cont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12" dirty="0">
                <a:latin typeface="Times New Roman"/>
                <a:cs typeface="Times New Roman"/>
              </a:rPr>
              <a:t>t</a:t>
            </a:r>
            <a:r>
              <a:rPr lang="en-US" sz="2760" dirty="0">
                <a:latin typeface="Times New Roman"/>
                <a:cs typeface="Times New Roman"/>
              </a:rPr>
              <a:t>s of m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mo</a:t>
            </a:r>
            <a:r>
              <a:rPr lang="en-US" sz="2760" spc="46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-58" dirty="0">
                <a:latin typeface="Times New Roman"/>
                <a:cs typeface="Times New Roman"/>
              </a:rPr>
              <a:t> </a:t>
            </a:r>
            <a:r>
              <a:rPr lang="en-US" sz="2760" spc="12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ith or </a:t>
            </a:r>
            <a:r>
              <a:rPr lang="en-US" sz="2760" spc="-23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ithout c</a:t>
            </a:r>
            <a:r>
              <a:rPr lang="en-US" sz="2760" spc="-23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35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-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usi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dirty="0">
                <a:latin typeface="Times New Roman"/>
                <a:cs typeface="Times New Roman"/>
              </a:rPr>
              <a:t>g dir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t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nd indir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t ad</a:t>
            </a:r>
            <a:r>
              <a:rPr lang="en-US" sz="2760" spc="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ssi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dirty="0">
                <a:latin typeface="Times New Roman"/>
                <a:cs typeface="Times New Roman"/>
              </a:rPr>
              <a:t>g</a:t>
            </a:r>
          </a:p>
          <a:p>
            <a:pPr marL="2341894" lvl="1" indent="-416369">
              <a:spcBef>
                <a:spcPts val="1024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, 51H				iii. 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, @R1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DC A, 75H				iv. A</a:t>
            </a:r>
            <a:r>
              <a:rPr lang="en-US" sz="2760" spc="-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DC A, @R0</a:t>
            </a:r>
          </a:p>
          <a:p>
            <a:pPr marL="29219">
              <a:spcBef>
                <a:spcPts val="1438"/>
              </a:spcBef>
            </a:pPr>
            <a:r>
              <a:rPr lang="en-US" sz="2760" i="1" spc="-23" dirty="0">
                <a:latin typeface="Times New Roman"/>
                <a:cs typeface="Times New Roman"/>
              </a:rPr>
              <a:t>C</a:t>
            </a:r>
            <a:r>
              <a:rPr lang="en-US" sz="2760" i="1" dirty="0">
                <a:latin typeface="Times New Roman"/>
                <a:cs typeface="Times New Roman"/>
              </a:rPr>
              <a:t>Y</a:t>
            </a:r>
            <a:r>
              <a:rPr lang="en-US" sz="2760" i="1" spc="35" dirty="0">
                <a:latin typeface="Times New Roman"/>
                <a:cs typeface="Times New Roman"/>
              </a:rPr>
              <a:t> </a:t>
            </a:r>
            <a:r>
              <a:rPr lang="en-US" sz="2760" i="1" dirty="0">
                <a:latin typeface="Times New Roman"/>
                <a:cs typeface="Times New Roman"/>
              </a:rPr>
              <a:t>AC and OV flags </a:t>
            </a:r>
            <a:r>
              <a:rPr lang="en-US" sz="2760" i="1" spc="-23" dirty="0">
                <a:latin typeface="Times New Roman"/>
                <a:cs typeface="Times New Roman"/>
              </a:rPr>
              <a:t>w</a:t>
            </a:r>
            <a:r>
              <a:rPr lang="en-US" sz="2760" i="1" dirty="0">
                <a:latin typeface="Times New Roman"/>
                <a:cs typeface="Times New Roman"/>
              </a:rPr>
              <a:t>ill</a:t>
            </a:r>
            <a:r>
              <a:rPr lang="en-US" sz="2760" i="1" spc="-23" dirty="0">
                <a:latin typeface="Times New Roman"/>
                <a:cs typeface="Times New Roman"/>
              </a:rPr>
              <a:t> </a:t>
            </a:r>
            <a:r>
              <a:rPr lang="en-US" sz="2760" i="1" dirty="0">
                <a:latin typeface="Times New Roman"/>
                <a:cs typeface="Times New Roman"/>
              </a:rPr>
              <a:t>be</a:t>
            </a:r>
            <a:r>
              <a:rPr lang="en-US" sz="2760" i="1" spc="-12" dirty="0">
                <a:latin typeface="Times New Roman"/>
                <a:cs typeface="Times New Roman"/>
              </a:rPr>
              <a:t> </a:t>
            </a:r>
            <a:r>
              <a:rPr lang="en-US" sz="2760" i="1" dirty="0">
                <a:latin typeface="Times New Roman"/>
                <a:cs typeface="Times New Roman"/>
              </a:rPr>
              <a:t>aff</a:t>
            </a:r>
            <a:r>
              <a:rPr lang="en-US" sz="2760" i="1" spc="-12" dirty="0">
                <a:latin typeface="Times New Roman"/>
                <a:cs typeface="Times New Roman"/>
              </a:rPr>
              <a:t>ec</a:t>
            </a:r>
            <a:r>
              <a:rPr lang="en-US" sz="2760" i="1" dirty="0">
                <a:latin typeface="Times New Roman"/>
                <a:cs typeface="Times New Roman"/>
              </a:rPr>
              <a:t>ted by</a:t>
            </a:r>
            <a:r>
              <a:rPr lang="en-US" sz="2760" i="1" spc="-23" dirty="0">
                <a:latin typeface="Times New Roman"/>
                <a:cs typeface="Times New Roman"/>
              </a:rPr>
              <a:t> </a:t>
            </a:r>
            <a:r>
              <a:rPr lang="en-US" sz="2760" i="1" dirty="0">
                <a:latin typeface="Times New Roman"/>
                <a:cs typeface="Times New Roman"/>
              </a:rPr>
              <a:t>this op</a:t>
            </a:r>
            <a:r>
              <a:rPr lang="en-US" sz="2760" i="1" spc="-12" dirty="0">
                <a:latin typeface="Times New Roman"/>
                <a:cs typeface="Times New Roman"/>
              </a:rPr>
              <a:t>e</a:t>
            </a:r>
            <a:r>
              <a:rPr lang="en-US" sz="2760" i="1" dirty="0">
                <a:latin typeface="Times New Roman"/>
                <a:cs typeface="Times New Roman"/>
              </a:rPr>
              <a:t>r</a:t>
            </a:r>
            <a:r>
              <a:rPr lang="en-US" sz="2760" i="1" spc="23" dirty="0">
                <a:latin typeface="Times New Roman"/>
                <a:cs typeface="Times New Roman"/>
              </a:rPr>
              <a:t>a</a:t>
            </a:r>
            <a:r>
              <a:rPr lang="en-US" sz="2760" i="1" dirty="0">
                <a:latin typeface="Times New Roman"/>
                <a:cs typeface="Times New Roman"/>
              </a:rPr>
              <a:t>tion.</a:t>
            </a:r>
            <a:endParaRPr lang="en-US" sz="276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5067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609600"/>
            <a:ext cx="14935200" cy="9046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Subtraction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spcBef>
                <a:spcPts val="1610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to</a:t>
            </a:r>
            <a:endParaRPr lang="en-US" sz="2761" dirty="0">
              <a:latin typeface="Times New Roman"/>
              <a:cs typeface="Times New Roman"/>
            </a:endParaRPr>
          </a:p>
          <a:p>
            <a:pPr marL="1815954" indent="-430979">
              <a:spcBef>
                <a:spcPts val="1438"/>
              </a:spcBef>
              <a:buSzPct val="91666"/>
              <a:buFont typeface="Times New Roman"/>
              <a:buAutoNum type="romanLcPeriod"/>
              <a:tabLst>
                <a:tab pos="181741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Subtr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ontents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immedi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or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ithout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#4</a:t>
            </a:r>
            <a:r>
              <a:rPr lang="en-US" sz="2761" spc="12" dirty="0">
                <a:latin typeface="Times New Roman"/>
                <a:cs typeface="Times New Roman"/>
              </a:rPr>
              <a:t>5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12" dirty="0">
                <a:latin typeface="Times New Roman"/>
                <a:cs typeface="Times New Roman"/>
              </a:rPr>
              <a:t>#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4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</a:p>
          <a:p>
            <a:pPr marL="1815954" indent="-430979">
              <a:spcBef>
                <a:spcPts val="1461"/>
              </a:spcBef>
              <a:buSzPct val="91666"/>
              <a:buFont typeface="Times New Roman"/>
              <a:buAutoNum type="romanLcPeriod"/>
              <a:tabLst>
                <a:tab pos="181741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Subtr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ontents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Rn with or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ithout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R5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R2</a:t>
            </a:r>
          </a:p>
          <a:p>
            <a:pPr marL="1815954" marR="333095" indent="-430979">
              <a:lnSpc>
                <a:spcPts val="4785"/>
              </a:lnSpc>
              <a:spcBef>
                <a:spcPts val="368"/>
              </a:spcBef>
              <a:buSzPct val="91666"/>
              <a:buFont typeface="Times New Roman"/>
              <a:buAutoNum type="romanLcPeriod" startAt="3"/>
              <a:tabLst>
                <a:tab pos="181741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Subtr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ontents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ontents of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or without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 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and indire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sing</a:t>
            </a:r>
          </a:p>
          <a:p>
            <a:pPr marL="2341894" lvl="1" indent="-416369">
              <a:spcBef>
                <a:spcPts val="1024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5</a:t>
            </a:r>
            <a:r>
              <a:rPr lang="en-US" sz="2761" spc="12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</a:p>
          <a:p>
            <a:pPr marL="2341894" lvl="1" indent="-416369">
              <a:spcBef>
                <a:spcPts val="1461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7</a:t>
            </a:r>
            <a:r>
              <a:rPr lang="en-US" sz="2761" spc="12" dirty="0">
                <a:latin typeface="Times New Roman"/>
                <a:cs typeface="Times New Roman"/>
              </a:rPr>
              <a:t>5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@R1</a:t>
            </a:r>
          </a:p>
          <a:p>
            <a:pPr marL="2341894" lvl="1" indent="-416369">
              <a:spcBef>
                <a:spcPts val="1438"/>
              </a:spcBef>
              <a:buSzPct val="91666"/>
              <a:buFont typeface="Cambria"/>
              <a:buAutoNum type="romanLcPeriod"/>
              <a:tabLst>
                <a:tab pos="234335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35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@R0</a:t>
            </a:r>
          </a:p>
          <a:p>
            <a:pPr marL="29219">
              <a:spcBef>
                <a:spcPts val="1610"/>
              </a:spcBef>
            </a:pPr>
            <a:r>
              <a:rPr lang="en-US" sz="2761" i="1" spc="-23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Y</a:t>
            </a:r>
            <a:r>
              <a:rPr lang="en-US" sz="2761" i="1" spc="35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AC and OV flags </a:t>
            </a:r>
            <a:r>
              <a:rPr lang="en-US" sz="2761" i="1" spc="-23" dirty="0">
                <a:latin typeface="Times New Roman"/>
                <a:cs typeface="Times New Roman"/>
              </a:rPr>
              <a:t>w</a:t>
            </a:r>
            <a:r>
              <a:rPr lang="en-US" sz="2761" i="1" dirty="0">
                <a:latin typeface="Times New Roman"/>
                <a:cs typeface="Times New Roman"/>
              </a:rPr>
              <a:t>ill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be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aff</a:t>
            </a:r>
            <a:r>
              <a:rPr lang="en-US" sz="2761" i="1" spc="-12" dirty="0">
                <a:latin typeface="Times New Roman"/>
                <a:cs typeface="Times New Roman"/>
              </a:rPr>
              <a:t>ec</a:t>
            </a:r>
            <a:r>
              <a:rPr lang="en-US" sz="2761" i="1" dirty="0">
                <a:latin typeface="Times New Roman"/>
                <a:cs typeface="Times New Roman"/>
              </a:rPr>
              <a:t>ted by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this op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</a:t>
            </a:r>
            <a:r>
              <a:rPr lang="en-US" sz="2761" i="1" spc="23" dirty="0">
                <a:latin typeface="Times New Roman"/>
                <a:cs typeface="Times New Roman"/>
              </a:rPr>
              <a:t>a</a:t>
            </a:r>
            <a:r>
              <a:rPr lang="en-US" sz="2761" i="1" dirty="0">
                <a:latin typeface="Times New Roman"/>
                <a:cs typeface="Times New Roman"/>
              </a:rPr>
              <a:t>tion.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838200"/>
            <a:ext cx="15544800" cy="8653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Multiplica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ion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UL</a:t>
            </a:r>
            <a:r>
              <a:rPr sz="2761" b="1" spc="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AB.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of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B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endParaRPr lang="en-US" sz="2761" dirty="0">
              <a:latin typeface="Times New Roman"/>
              <a:cs typeface="Times New Roman"/>
            </a:endParaRP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E.g.	MOV A, #45H		;[A]=45H</a:t>
            </a:r>
          </a:p>
          <a:p>
            <a:pPr marL="109728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MOV B, #0F5H		;[B]=F5H</a:t>
            </a:r>
          </a:p>
          <a:p>
            <a:pPr marL="109728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MUL AB			;[A] X [B] = 45 X F5 = 4209</a:t>
            </a:r>
          </a:p>
          <a:p>
            <a:pPr marL="192024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				;[A]=09H, [B]=42H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Division</a:t>
            </a:r>
            <a:endParaRPr lang="en-US"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61"/>
              </a:spcBef>
            </a:pPr>
            <a:r>
              <a:rPr lang="en-US" sz="2761" b="1" dirty="0">
                <a:latin typeface="Times New Roman"/>
                <a:cs typeface="Times New Roman"/>
              </a:rPr>
              <a:t>DIV</a:t>
            </a:r>
            <a:r>
              <a:rPr lang="en-US" sz="2761" b="1" spc="26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AB.</a:t>
            </a:r>
            <a:r>
              <a:rPr lang="en-US" sz="2761" b="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divid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unsign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unsi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  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 B 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ter  division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ult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 be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-12" dirty="0">
                <a:latin typeface="Times New Roman"/>
                <a:cs typeface="Times New Roman"/>
              </a:rPr>
              <a:t>acc</a:t>
            </a:r>
            <a:r>
              <a:rPr lang="en-US" sz="2761" dirty="0">
                <a:latin typeface="Times New Roman"/>
                <a:cs typeface="Times New Roman"/>
              </a:rPr>
              <a:t>umul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main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ill be stor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ste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E.g.	MOV A, #45H		;[A]=0E8H</a:t>
            </a:r>
          </a:p>
          <a:p>
            <a:pPr marL="109728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MOV B, #0F5H		;[B]=1BH</a:t>
            </a:r>
          </a:p>
          <a:p>
            <a:pPr marL="109728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DIV AB			;[A] / [B] = E8 /1B = 08 H with remainder 10H</a:t>
            </a:r>
          </a:p>
          <a:p>
            <a:pPr marL="192024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				;[A] = 08H, [B]=10H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06500" y="762000"/>
            <a:ext cx="15468600" cy="824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800"/>
              </a:lnSpc>
            </a:pPr>
            <a:r>
              <a:rPr sz="2761" b="1" dirty="0">
                <a:latin typeface="Times New Roman"/>
                <a:cs typeface="Times New Roman"/>
              </a:rPr>
              <a:t>DA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ec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al Adjust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Aft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Ad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ition).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wo </a:t>
            </a:r>
            <a:r>
              <a:rPr sz="2761" spc="-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CD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a non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CD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in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CD,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ddition. DA A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follows.</a:t>
            </a:r>
          </a:p>
          <a:p>
            <a:pPr marL="2921889" marR="70125" indent="-527401">
              <a:lnSpc>
                <a:spcPts val="4785"/>
              </a:lnSpc>
              <a:spcBef>
                <a:spcPts val="368"/>
              </a:spcBef>
              <a:buSzPct val="83333"/>
              <a:buFont typeface="Calibri"/>
              <a:buChar char="●"/>
              <a:tabLst>
                <a:tab pos="2923350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nibble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9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iliary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1, 6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nibbl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889" indent="-527401">
              <a:spcBef>
                <a:spcPts val="1024"/>
              </a:spcBef>
              <a:buSzPct val="83333"/>
              <a:buFont typeface="Calibri"/>
              <a:buChar char="●"/>
              <a:tabLst>
                <a:tab pos="2923350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nibble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9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1, 6 is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upper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nibbl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E.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1: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 #23H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R1, #55H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ADD A, R1	// [A]=78</a:t>
            </a:r>
          </a:p>
          <a:p>
            <a:pPr marL="1079638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DA A		// [A]=78		no changes in the accumulator after da a</a:t>
            </a:r>
          </a:p>
          <a:p>
            <a:pPr marL="29219"/>
            <a:endParaRPr lang="pt-BR" sz="2761" dirty="0">
              <a:latin typeface="Times New Roman"/>
              <a:cs typeface="Times New Roman"/>
            </a:endParaRPr>
          </a:p>
          <a:p>
            <a:pPr marL="29219"/>
            <a:r>
              <a:rPr lang="pt-BR" sz="2761" dirty="0">
                <a:latin typeface="Times New Roman"/>
                <a:cs typeface="Times New Roman"/>
              </a:rPr>
              <a:t>E.</a:t>
            </a:r>
            <a:r>
              <a:rPr lang="pt-BR" sz="2761" spc="-35" dirty="0">
                <a:latin typeface="Times New Roman"/>
                <a:cs typeface="Times New Roman"/>
              </a:rPr>
              <a:t>g</a:t>
            </a:r>
            <a:r>
              <a:rPr lang="pt-BR" sz="2761" dirty="0">
                <a:latin typeface="Times New Roman"/>
                <a:cs typeface="Times New Roman"/>
              </a:rPr>
              <a:t>. 2:</a:t>
            </a:r>
            <a:r>
              <a:rPr lang="pt-BR" sz="2761" spc="334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A, #53H</a:t>
            </a:r>
          </a:p>
          <a:p>
            <a:pPr marL="1079638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R1, #58H</a:t>
            </a:r>
          </a:p>
          <a:p>
            <a:pPr marL="1079638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A</a:t>
            </a:r>
            <a:r>
              <a:rPr lang="pt-BR" sz="2761" spc="-12" dirty="0">
                <a:latin typeface="Times New Roman"/>
                <a:cs typeface="Times New Roman"/>
              </a:rPr>
              <a:t>D</a:t>
            </a:r>
            <a:r>
              <a:rPr lang="pt-BR" sz="2761" dirty="0">
                <a:latin typeface="Times New Roman"/>
                <a:cs typeface="Times New Roman"/>
              </a:rPr>
              <a:t>D </a:t>
            </a:r>
            <a:r>
              <a:rPr lang="pt-BR" sz="2761" spc="-12" dirty="0">
                <a:latin typeface="Times New Roman"/>
                <a:cs typeface="Times New Roman"/>
              </a:rPr>
              <a:t>A</a:t>
            </a:r>
            <a:r>
              <a:rPr lang="pt-BR" sz="2761" dirty="0">
                <a:latin typeface="Times New Roman"/>
                <a:cs typeface="Times New Roman"/>
              </a:rPr>
              <a:t>, R1		</a:t>
            </a: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35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 err="1">
                <a:latin typeface="Times New Roman"/>
                <a:cs typeface="Times New Roman"/>
              </a:rPr>
              <a:t>A</a:t>
            </a:r>
            <a:r>
              <a:rPr lang="en-US" sz="2761" spc="-35" dirty="0" err="1">
                <a:latin typeface="Times New Roman"/>
                <a:cs typeface="Times New Roman"/>
              </a:rPr>
              <a:t>b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DA</a:t>
            </a:r>
            <a:r>
              <a:rPr lang="pt-BR" sz="2761" spc="-12" dirty="0">
                <a:latin typeface="Times New Roman"/>
                <a:cs typeface="Times New Roman"/>
              </a:rPr>
              <a:t> A</a:t>
            </a:r>
            <a:r>
              <a:rPr lang="en-US" sz="2761" spc="-12" dirty="0">
                <a:latin typeface="Times New Roman"/>
                <a:cs typeface="Times New Roman"/>
              </a:rPr>
              <a:t>		</a:t>
            </a: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35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11, C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1. A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35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 111.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Ac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umulator data is 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hang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d aft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 DA A</a:t>
            </a:r>
            <a:endParaRPr lang="pt-BR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7570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397000" y="762000"/>
            <a:ext cx="15087599" cy="811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Incr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ent: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lnSpc>
                <a:spcPct val="150000"/>
              </a:lnSpc>
              <a:spcBef>
                <a:spcPts val="1668"/>
              </a:spcBef>
              <a:tabLst>
                <a:tab pos="2131518" algn="l"/>
                <a:tab pos="4236739" algn="l"/>
              </a:tabLst>
            </a:pPr>
            <a:r>
              <a:rPr sz="2761" b="1" dirty="0">
                <a:latin typeface="Times New Roman"/>
                <a:cs typeface="Times New Roman"/>
              </a:rPr>
              <a:t>INC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	INC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Rn	INC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DI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ECT</a:t>
            </a:r>
            <a:r>
              <a:rPr lang="en-US" sz="2761" b="1" dirty="0">
                <a:latin typeface="Times New Roman"/>
                <a:cs typeface="Times New Roman"/>
              </a:rPr>
              <a:t>		INC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@RiINC D</a:t>
            </a: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dirty="0">
                <a:latin typeface="Times New Roman"/>
                <a:cs typeface="Times New Roman"/>
              </a:rPr>
              <a:t>TR</a:t>
            </a:r>
          </a:p>
          <a:p>
            <a:pPr marL="29219" marR="17531" algn="just">
              <a:lnSpc>
                <a:spcPct val="150000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NC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sour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1.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nitial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23" dirty="0" err="1">
                <a:latin typeface="Times New Roman"/>
                <a:cs typeface="Times New Roman"/>
              </a:rPr>
              <a:t>FF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olls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r"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255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0.</a:t>
            </a:r>
          </a:p>
          <a:p>
            <a:pPr marL="29219" marR="11688" algn="just">
              <a:lnSpc>
                <a:spcPct val="150000"/>
              </a:lnSpc>
              <a:spcBef>
                <a:spcPts val="1599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"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NC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DPTR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35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nsi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DPTR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initial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TR is </a:t>
            </a:r>
            <a:r>
              <a:rPr lang="en-US" sz="2761" spc="-23" dirty="0" err="1">
                <a:latin typeface="Times New Roman"/>
                <a:cs typeface="Times New Roman"/>
              </a:rPr>
              <a:t>FF</a:t>
            </a:r>
            <a:r>
              <a:rPr lang="en-US" sz="2761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, incr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ill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to 0.</a:t>
            </a:r>
          </a:p>
          <a:p>
            <a:pPr marL="29219">
              <a:lnSpc>
                <a:spcPct val="150000"/>
              </a:lnSpc>
              <a:spcBef>
                <a:spcPts val="1668"/>
              </a:spcBef>
              <a:tabLst>
                <a:tab pos="2131518" algn="l"/>
                <a:tab pos="423673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Decr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ent:</a:t>
            </a:r>
            <a:r>
              <a:rPr lang="en-US"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op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lnSpc>
                <a:spcPct val="150000"/>
              </a:lnSpc>
              <a:spcBef>
                <a:spcPts val="1668"/>
              </a:spcBef>
              <a:tabLst>
                <a:tab pos="2131518" algn="l"/>
                <a:tab pos="423673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DEC A	DEC 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n	DEC </a:t>
            </a:r>
            <a:r>
              <a:rPr lang="en-US" sz="2761" b="1" spc="-12" dirty="0">
                <a:latin typeface="Times New Roman"/>
                <a:cs typeface="Times New Roman"/>
              </a:rPr>
              <a:t>D</a:t>
            </a:r>
            <a:r>
              <a:rPr lang="en-US" sz="2761" b="1" dirty="0">
                <a:latin typeface="Times New Roman"/>
                <a:cs typeface="Times New Roman"/>
              </a:rPr>
              <a:t>IRECT	DEC @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  <a:spcBef>
                <a:spcPts val="1668"/>
              </a:spcBef>
              <a:tabLst>
                <a:tab pos="2131518" algn="l"/>
                <a:tab pos="4236739" algn="l"/>
              </a:tabLst>
            </a:pPr>
            <a:r>
              <a:rPr lang="en-US" sz="2761" spc="-12" dirty="0">
                <a:latin typeface="Times New Roman"/>
                <a:cs typeface="Times New Roman"/>
              </a:rPr>
              <a:t>DE</a:t>
            </a:r>
            <a:r>
              <a:rPr lang="en-US" sz="2761" dirty="0">
                <a:latin typeface="Times New Roman"/>
                <a:cs typeface="Times New Roman"/>
              </a:rPr>
              <a:t>C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i="1" dirty="0">
                <a:latin typeface="Times New Roman"/>
                <a:cs typeface="Times New Roman"/>
              </a:rPr>
              <a:t>source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nitial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is 0,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 to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 err="1">
                <a:latin typeface="Times New Roman"/>
                <a:cs typeface="Times New Roman"/>
              </a:rPr>
              <a:t>FF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not set 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olls 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r"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 0 to </a:t>
            </a:r>
            <a:r>
              <a:rPr lang="en-US" sz="2761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1320800" y="990600"/>
            <a:ext cx="13735523" cy="6878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3. Lo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ical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nstruct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3037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Logical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L  </a:t>
            </a:r>
            <a:r>
              <a:rPr sz="2761" b="1" spc="-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stination,  </a:t>
            </a:r>
            <a:r>
              <a:rPr sz="2761" b="1" spc="-20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so</a:t>
            </a:r>
            <a:r>
              <a:rPr sz="2761" b="1" spc="-23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rce</a:t>
            </a:r>
            <a:r>
              <a:rPr sz="2761" b="1" dirty="0">
                <a:latin typeface="Times New Roman"/>
                <a:cs typeface="Times New Roman"/>
              </a:rPr>
              <a:t>.  </a:t>
            </a:r>
            <a:r>
              <a:rPr sz="2761" b="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AN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wise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ND</a:t>
            </a:r>
            <a:r>
              <a:rPr sz="2761" dirty="0">
                <a:latin typeface="Times New Roman"/>
                <a:cs typeface="Times New Roman"/>
              </a:rPr>
              <a:t>"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sour</a:t>
            </a:r>
            <a:r>
              <a:rPr sz="2761" i="1" spc="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e  </a:t>
            </a:r>
            <a:r>
              <a:rPr sz="2761" i="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stination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23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ination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 sour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not 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ff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ted.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ical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 of sou</a:t>
            </a:r>
            <a:r>
              <a:rPr sz="2761" spc="12" dirty="0">
                <a:latin typeface="Times New Roman"/>
                <a:cs typeface="Times New Roman"/>
              </a:rPr>
              <a:t>rc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#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		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Rn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		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-12" dirty="0">
                <a:latin typeface="Times New Roman"/>
                <a:cs typeface="Times New Roman"/>
              </a:rPr>
              <a:t>@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A		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#D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7432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320800" y="762000"/>
            <a:ext cx="14935200" cy="878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Logical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</a:t>
            </a:r>
            <a:endParaRPr kumimoji="0" lang="en-US" sz="299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lvl="0" indent="0" algn="just" defTabSz="914400" rtl="0" eaLnBrk="1" fontAlgn="auto" latinLnBrk="0" hangingPunct="1">
              <a:lnSpc>
                <a:spcPct val="143800"/>
              </a:lnSpc>
              <a:spcBef>
                <a:spcPts val="12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ORL</a:t>
            </a:r>
            <a:r>
              <a:rPr kumimoji="0" lang="en-US" sz="2761" b="1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stination,</a:t>
            </a:r>
            <a:r>
              <a:rPr kumimoji="0" lang="en-US" sz="2761" b="1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sou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rce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1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bitwise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"OR"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tw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source</a:t>
            </a:r>
            <a:r>
              <a:rPr kumimoji="0" lang="en-US" sz="2761" b="0" i="1" u="none" strike="noStrike" kern="1200" cap="none" spc="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stination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le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ving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sulti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stination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sour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ted.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"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"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 lo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ic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 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bits of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tion.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  <a:defRPr/>
            </a:pP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#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		 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Rn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  <a:defRPr/>
            </a:pP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35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ECT		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-12" dirty="0">
                <a:latin typeface="Times New Roman"/>
                <a:cs typeface="Times New Roman"/>
              </a:rPr>
              <a:t>@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  <a:defRPr/>
            </a:pP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A		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#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</a:p>
          <a:p>
            <a:pPr marL="29219" algn="just"/>
            <a:endParaRPr lang="en-US" sz="299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algn="just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Logical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OR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sz="2761" b="1" dirty="0">
                <a:latin typeface="Times New Roman"/>
                <a:cs typeface="Times New Roman"/>
              </a:rPr>
              <a:t>X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L 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stination, </a:t>
            </a:r>
            <a:r>
              <a:rPr sz="2761" b="1" spc="26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sou</a:t>
            </a:r>
            <a:r>
              <a:rPr sz="2761" b="1" spc="-12" dirty="0">
                <a:latin typeface="Times New Roman"/>
                <a:cs typeface="Times New Roman"/>
              </a:rPr>
              <a:t>rce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b="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bitwise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"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source </a:t>
            </a:r>
            <a:r>
              <a:rPr sz="2761" i="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stination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ving 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sulting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stination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"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EX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OR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 of sou</a:t>
            </a:r>
            <a:r>
              <a:rPr sz="2761" spc="-12" dirty="0">
                <a:latin typeface="Times New Roman"/>
                <a:cs typeface="Times New Roman"/>
              </a:rPr>
              <a:t>rc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519382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#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		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Rn </a:t>
            </a:r>
          </a:p>
          <a:p>
            <a:pPr marL="29219" marR="1519382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35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ECT		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 </a:t>
            </a:r>
            <a:r>
              <a:rPr lang="en-US" sz="2761" spc="-12" dirty="0">
                <a:latin typeface="Times New Roman"/>
                <a:cs typeface="Times New Roman"/>
              </a:rPr>
              <a:t>@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A		X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RECT, #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854200" y="1981200"/>
            <a:ext cx="13732601" cy="5128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Logical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sz="2761" b="1" dirty="0">
                <a:latin typeface="Times New Roman"/>
                <a:cs typeface="Times New Roman"/>
              </a:rPr>
              <a:t>C</a:t>
            </a:r>
            <a:r>
              <a:rPr sz="2761" b="1" spc="-46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L </a:t>
            </a:r>
            <a:r>
              <a:rPr sz="2761" b="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spc="23" dirty="0">
                <a:latin typeface="Times New Roman"/>
                <a:cs typeface="Times New Roman"/>
              </a:rPr>
              <a:t>r</a:t>
            </a:r>
            <a:r>
              <a:rPr sz="2761" i="1" dirty="0">
                <a:latin typeface="Times New Roman"/>
                <a:cs typeface="Times New Roman"/>
              </a:rPr>
              <a:t>and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rand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rand</a:t>
            </a:r>
            <a:r>
              <a:rPr sz="2761" i="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state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23" dirty="0">
                <a:latin typeface="Times New Roman"/>
                <a:cs typeface="Times New Roman"/>
              </a:rPr>
              <a:t>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rand </a:t>
            </a:r>
            <a:r>
              <a:rPr sz="2761" i="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tor,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be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r>
              <a:rPr lang="en-US" sz="2761" dirty="0">
                <a:latin typeface="Times New Roman"/>
                <a:cs typeface="Times New Roman"/>
              </a:rPr>
              <a:t>CPL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	CPL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	CPL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</a:p>
          <a:p>
            <a:pPr marL="29219" marR="11688" algn="just">
              <a:lnSpc>
                <a:spcPct val="143800"/>
              </a:lnSpc>
              <a:spcBef>
                <a:spcPts val="127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SWAP</a:t>
            </a:r>
            <a:r>
              <a:rPr lang="en-US" sz="2761" b="1" spc="-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 Sw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nibble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low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ni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ble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This instru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is rot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cc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mul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is illustr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ted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low. 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bit is shifted one 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ht, with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0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bit 7.</a:t>
            </a:r>
          </a:p>
        </p:txBody>
      </p:sp>
    </p:spTree>
    <p:extLst>
      <p:ext uri="{BB962C8B-B14F-4D97-AF65-F5344CB8AC3E}">
        <p14:creationId xmlns:p14="http://schemas.microsoft.com/office/powerpoint/2010/main" val="76191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524000"/>
            <a:ext cx="13691696" cy="667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Rotate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Inst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uctions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r>
              <a:rPr sz="2761" b="1" dirty="0">
                <a:latin typeface="Times New Roman"/>
                <a:cs typeface="Times New Roman"/>
              </a:rPr>
              <a:t>RR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A.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instru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rot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 ope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is illu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bit is shift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ht, with bit 0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to bit 7.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r>
              <a:rPr lang="en-US" sz="2761" b="1" dirty="0">
                <a:latin typeface="Times New Roman"/>
                <a:cs typeface="Times New Roman"/>
              </a:rPr>
              <a:t>RL A.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Rotate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spc="12" dirty="0">
                <a:latin typeface="Times New Roman"/>
                <a:cs typeface="Times New Roman"/>
              </a:rPr>
              <a:t>cc</a:t>
            </a:r>
            <a:r>
              <a:rPr lang="en-US" sz="2761" dirty="0">
                <a:latin typeface="Times New Roman"/>
                <a:cs typeface="Times New Roman"/>
              </a:rPr>
              <a:t>umul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tor. 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bit is shift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left, with bit 7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bit 0.</a:t>
            </a:r>
          </a:p>
          <a:p>
            <a:pPr marL="29219" marR="11688" indent="87657" algn="ctr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 algn="just">
              <a:lnSpc>
                <a:spcPct val="143300"/>
              </a:lnSpc>
              <a:spcBef>
                <a:spcPts val="173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72A66EA1-F688-A1E8-0495-EF8CAFB002C2}"/>
              </a:ext>
            </a:extLst>
          </p:cNvPr>
          <p:cNvSpPr/>
          <p:nvPr/>
        </p:nvSpPr>
        <p:spPr>
          <a:xfrm>
            <a:off x="6958926" y="4267200"/>
            <a:ext cx="2761424" cy="9612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  <p:sp>
        <p:nvSpPr>
          <p:cNvPr id="13" name="object 8"/>
          <p:cNvSpPr/>
          <p:nvPr/>
        </p:nvSpPr>
        <p:spPr>
          <a:xfrm>
            <a:off x="6959600" y="6858000"/>
            <a:ext cx="2760750" cy="961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2486" y="1319251"/>
            <a:ext cx="13691696" cy="6499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Rotate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Inst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uctions</a:t>
            </a:r>
            <a:endParaRPr lang="en-US" sz="299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/>
            <a:endParaRPr sz="2991" dirty="0">
              <a:latin typeface="Times New Roman"/>
              <a:cs typeface="Times New Roman"/>
            </a:endParaRPr>
          </a:p>
          <a:p>
            <a:pPr marL="29219" marR="11688" indent="87657">
              <a:lnSpc>
                <a:spcPct val="143300"/>
              </a:lnSpc>
              <a:spcBef>
                <a:spcPts val="173"/>
              </a:spcBef>
            </a:pPr>
            <a:r>
              <a:rPr lang="en-US" sz="2761" b="1" dirty="0">
                <a:latin typeface="Times New Roman"/>
                <a:cs typeface="Times New Roman"/>
              </a:rPr>
              <a:t>R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C </a:t>
            </a:r>
            <a:r>
              <a:rPr lang="en-US" sz="2761" b="1" spc="-12" dirty="0">
                <a:latin typeface="Times New Roman"/>
                <a:cs typeface="Times New Roman"/>
              </a:rPr>
              <a:t>A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Rotate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th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 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bit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 shift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0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in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PS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, while the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rry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into bit 7.</a:t>
            </a:r>
          </a:p>
          <a:p>
            <a:pPr marL="29219" marR="11688" indent="87657" algn="ctr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 algn="ctr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 algn="ctr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 algn="just">
              <a:lnSpc>
                <a:spcPct val="143300"/>
              </a:lnSpc>
              <a:spcBef>
                <a:spcPts val="173"/>
              </a:spcBef>
            </a:pPr>
            <a:r>
              <a:rPr lang="en-US" sz="2761" b="1" dirty="0">
                <a:latin typeface="Times New Roman"/>
                <a:cs typeface="Times New Roman"/>
              </a:rPr>
              <a:t>RLC </a:t>
            </a:r>
            <a:r>
              <a:rPr lang="en-US" sz="2761" b="1" spc="-12" dirty="0">
                <a:latin typeface="Times New Roman"/>
                <a:cs typeface="Times New Roman"/>
              </a:rPr>
              <a:t>A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Rotate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 thro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 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bit is </a:t>
            </a:r>
            <a:r>
              <a:rPr lang="en-US" sz="2761" spc="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hift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to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t, with bit 7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oing into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in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PS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, while the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g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 bit 0.</a:t>
            </a:r>
          </a:p>
          <a:p>
            <a:pPr marL="29219" marR="11688" indent="87657" algn="ctr">
              <a:lnSpc>
                <a:spcPct val="143300"/>
              </a:lnSpc>
              <a:spcBef>
                <a:spcPts val="17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indent="87657" algn="just">
              <a:lnSpc>
                <a:spcPct val="143300"/>
              </a:lnSpc>
              <a:spcBef>
                <a:spcPts val="173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D4C0B16-E374-3CB4-E532-A5C80E49EDF0}"/>
              </a:ext>
            </a:extLst>
          </p:cNvPr>
          <p:cNvSpPr/>
          <p:nvPr/>
        </p:nvSpPr>
        <p:spPr>
          <a:xfrm>
            <a:off x="6910129" y="3962400"/>
            <a:ext cx="3061489" cy="880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  <p:sp>
        <p:nvSpPr>
          <p:cNvPr id="17" name="object 10"/>
          <p:cNvSpPr/>
          <p:nvPr/>
        </p:nvSpPr>
        <p:spPr>
          <a:xfrm>
            <a:off x="6930727" y="7239000"/>
            <a:ext cx="3020291" cy="8677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748515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854200" y="1600200"/>
            <a:ext cx="13739906" cy="5591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4. Branch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(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J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MP)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Instructi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oops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3025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Looping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in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8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0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51</a:t>
            </a:r>
            <a:endParaRPr sz="299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38"/>
              </a:spcBef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ting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b="1" dirty="0">
                <a:latin typeface="Times New Roman"/>
                <a:cs typeface="Times New Roman"/>
              </a:rPr>
              <a:t>DJ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Z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g,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oop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1; if it is not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ro,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8051 jumps to the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addr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58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l. 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loop.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ision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R</a:t>
            </a:r>
            <a:r>
              <a:rPr sz="2761" spc="23" dirty="0">
                <a:latin typeface="Times New Roman"/>
                <a:cs typeface="Times New Roman"/>
              </a:rPr>
              <a:t>0–</a:t>
            </a:r>
            <a:r>
              <a:rPr sz="2761" dirty="0">
                <a:latin typeface="Times New Roman"/>
                <a:cs typeface="Times New Roman"/>
              </a:rPr>
              <a:t>R7.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 lo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707259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909097"/>
            <a:ext cx="13731140" cy="8240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ultiply 25</a:t>
            </a:r>
            <a:r>
              <a:rPr sz="2761" b="1" spc="-23" dirty="0">
                <a:latin typeface="Times New Roman"/>
                <a:cs typeface="Times New Roman"/>
              </a:rPr>
              <a:t> b</a:t>
            </a:r>
            <a:r>
              <a:rPr sz="2761" b="1" dirty="0">
                <a:latin typeface="Times New Roman"/>
                <a:cs typeface="Times New Roman"/>
              </a:rPr>
              <a:t>y 10 usi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the 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ec</a:t>
            </a:r>
            <a:r>
              <a:rPr sz="2761" b="1" dirty="0">
                <a:latin typeface="Times New Roman"/>
                <a:cs typeface="Times New Roman"/>
              </a:rPr>
              <a:t>hni</a:t>
            </a:r>
            <a:r>
              <a:rPr sz="2761" b="1" spc="12" dirty="0">
                <a:latin typeface="Times New Roman"/>
                <a:cs typeface="Times New Roman"/>
              </a:rPr>
              <a:t>q</a:t>
            </a:r>
            <a:r>
              <a:rPr sz="2761" b="1" spc="-23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addition.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Sol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tion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</a:t>
            </a:r>
            <a:r>
              <a:rPr sz="2761" spc="-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multipli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25 * 10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250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FA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250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A,#0		</a:t>
            </a:r>
            <a:r>
              <a:rPr lang="en-US" sz="2761" dirty="0">
                <a:latin typeface="Times New Roman"/>
                <a:cs typeface="Times New Roman"/>
              </a:rPr>
              <a:t>; A = 0,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ACC</a:t>
            </a:r>
            <a:endParaRPr lang="pt-BR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MOV</a:t>
            </a:r>
            <a:r>
              <a:rPr lang="pt-BR" sz="2761" spc="-12" dirty="0">
                <a:latin typeface="Times New Roman"/>
                <a:cs typeface="Times New Roman"/>
              </a:rPr>
              <a:t> </a:t>
            </a:r>
            <a:r>
              <a:rPr lang="pt-BR" sz="2761" dirty="0">
                <a:latin typeface="Times New Roman"/>
                <a:cs typeface="Times New Roman"/>
              </a:rPr>
              <a:t>R2,#10	</a:t>
            </a:r>
            <a:r>
              <a:rPr lang="en-US" sz="2761" dirty="0">
                <a:latin typeface="Times New Roman"/>
                <a:cs typeface="Times New Roman"/>
              </a:rPr>
              <a:t>;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multipli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is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pla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R2</a:t>
            </a:r>
            <a:endParaRPr lang="pt-BR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Add </a:t>
            </a:r>
            <a:r>
              <a:rPr lang="pt-BR" sz="2761" spc="-12" dirty="0">
                <a:latin typeface="Times New Roman"/>
                <a:cs typeface="Times New Roman"/>
              </a:rPr>
              <a:t>A</a:t>
            </a:r>
            <a:r>
              <a:rPr lang="pt-BR" sz="2761" dirty="0">
                <a:latin typeface="Times New Roman"/>
                <a:cs typeface="Times New Roman"/>
              </a:rPr>
              <a:t>,#25		</a:t>
            </a:r>
            <a:r>
              <a:rPr lang="en-US" sz="2761" dirty="0">
                <a:latin typeface="Times New Roman"/>
                <a:cs typeface="Times New Roman"/>
              </a:rPr>
              <a:t>; add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multiplic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ACC</a:t>
            </a:r>
            <a:endParaRPr lang="pt-BR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N: D</a:t>
            </a:r>
            <a:r>
              <a:rPr lang="en-US" sz="2761" spc="12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NZ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R2,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N: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t until R2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 (10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times)</a:t>
            </a: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R5 , A	</a:t>
            </a:r>
            <a:r>
              <a:rPr lang="pt-BR" sz="2761" dirty="0">
                <a:latin typeface="Times New Roman"/>
                <a:cs typeface="Times New Roman"/>
              </a:rPr>
              <a:t>;save A in </a:t>
            </a:r>
            <a:r>
              <a:rPr lang="pt-BR" sz="2761" spc="12" dirty="0">
                <a:latin typeface="Times New Roman"/>
                <a:cs typeface="Times New Roman"/>
              </a:rPr>
              <a:t>R</a:t>
            </a:r>
            <a:r>
              <a:rPr lang="pt-BR" sz="2761" dirty="0">
                <a:latin typeface="Times New Roman"/>
                <a:cs typeface="Times New Roman"/>
              </a:rPr>
              <a:t>5</a:t>
            </a:r>
          </a:p>
          <a:p>
            <a:pPr marL="29219">
              <a:spcBef>
                <a:spcPts val="1461"/>
              </a:spcBef>
            </a:pPr>
            <a:r>
              <a:rPr lang="pt-BR" sz="2761" dirty="0">
                <a:latin typeface="Times New Roman"/>
                <a:cs typeface="Times New Roman"/>
              </a:rPr>
              <a:t>			;R5 (</a:t>
            </a:r>
            <a:r>
              <a:rPr lang="pt-BR" sz="2761" spc="-35" dirty="0">
                <a:latin typeface="Times New Roman"/>
                <a:cs typeface="Times New Roman"/>
              </a:rPr>
              <a:t>F</a:t>
            </a:r>
            <a:r>
              <a:rPr lang="pt-BR" sz="2761" dirty="0">
                <a:latin typeface="Times New Roman"/>
                <a:cs typeface="Times New Roman"/>
              </a:rPr>
              <a:t>A</a:t>
            </a:r>
            <a:r>
              <a:rPr lang="pt-BR" sz="2761" spc="-12" dirty="0">
                <a:latin typeface="Times New Roman"/>
                <a:cs typeface="Times New Roman"/>
              </a:rPr>
              <a:t>H</a:t>
            </a:r>
            <a:r>
              <a:rPr lang="pt-BR" sz="2761" dirty="0">
                <a:latin typeface="Times New Roman"/>
                <a:cs typeface="Times New Roman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397000" y="1066800"/>
            <a:ext cx="14859000" cy="7472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ba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k </a:t>
            </a:r>
            <a:r>
              <a:rPr sz="2761" b="1" spc="-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in </a:t>
            </a:r>
            <a:r>
              <a:rPr sz="2761" b="1" spc="-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8051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ooping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DJ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Z </a:t>
            </a:r>
            <a:r>
              <a:rPr sz="2761" b="1" spc="-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b="1" spc="-20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limited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256 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ditional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-35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uted.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lang="en-US" sz="2991" dirty="0">
              <a:latin typeface="Times New Roman"/>
              <a:cs typeface="Times New Roman"/>
            </a:endParaRPr>
          </a:p>
          <a:p>
            <a:pPr marL="29219" algn="just"/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Looping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in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side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oop</a:t>
            </a:r>
            <a:endParaRPr lang="en-US" sz="299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800"/>
              </a:lnSpc>
              <a:spcBef>
                <a:spcPts val="127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inside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nother loop, it is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12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 loo</a:t>
            </a:r>
            <a:r>
              <a:rPr lang="en-US" sz="2761" b="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. T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 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hold 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mum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lim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256.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met</a:t>
            </a:r>
            <a:r>
              <a:rPr lang="en-US" sz="2761" spc="-35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tion more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times th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256.</a:t>
            </a:r>
          </a:p>
          <a:p>
            <a:pPr marL="29219" algn="just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Exa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380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rite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-12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 to −</a:t>
            </a:r>
          </a:p>
          <a:p>
            <a:pPr marL="1079638" indent="-524479">
              <a:spcBef>
                <a:spcPts val="147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umul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th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55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Compl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the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CC 7</a:t>
            </a:r>
            <a:r>
              <a:rPr lang="en-US" sz="2761" spc="-35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0 times.</a:t>
            </a:r>
          </a:p>
        </p:txBody>
      </p:sp>
    </p:spTree>
    <p:extLst>
      <p:ext uri="{BB962C8B-B14F-4D97-AF65-F5344CB8AC3E}">
        <p14:creationId xmlns:p14="http://schemas.microsoft.com/office/powerpoint/2010/main" val="2153587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752600"/>
            <a:ext cx="15018987" cy="539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lang="en-US" sz="2761" b="1" dirty="0">
                <a:latin typeface="Times New Roman"/>
                <a:cs typeface="Times New Roman"/>
              </a:rPr>
              <a:t>Sol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tion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−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Since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700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255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(the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35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9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hold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ount.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following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hows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how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R2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R3,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ount.</a:t>
            </a: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A,#55H		;A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55H</a:t>
            </a: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: MOV R3,#10</a:t>
            </a:r>
            <a:r>
              <a:rPr lang="en-US" sz="2761" dirty="0">
                <a:latin typeface="Times New Roman"/>
                <a:cs typeface="Times New Roman"/>
              </a:rPr>
              <a:t>	;R3 the out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loop counter</a:t>
            </a:r>
          </a:p>
          <a:p>
            <a:pPr marL="29219" marR="11688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N:MOV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R2,#70	;R2 the inn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loop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ounter</a:t>
            </a: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CPL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			;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97000" y="762000"/>
            <a:ext cx="13627415" cy="5925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J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Call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ogr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Range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spcBef>
                <a:spcPts val="1610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jump instru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 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868548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870009" algn="l"/>
              </a:tabLst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lative 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</a:t>
            </a:r>
          </a:p>
          <a:p>
            <a:pPr marL="1868548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870009" algn="l"/>
              </a:tabLst>
            </a:pPr>
            <a:r>
              <a:rPr sz="2761" dirty="0">
                <a:latin typeface="Times New Roman"/>
                <a:cs typeface="Times New Roman"/>
              </a:rPr>
              <a:t>Short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 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</a:t>
            </a:r>
          </a:p>
          <a:p>
            <a:pPr marL="1868548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870009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Absolute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</a:t>
            </a:r>
          </a:p>
          <a:p>
            <a:pPr>
              <a:spcBef>
                <a:spcPts val="127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11688">
              <a:lnSpc>
                <a:spcPct val="143900"/>
              </a:lnSpc>
            </a:pPr>
            <a:r>
              <a:rPr sz="2761" b="1" i="1" dirty="0">
                <a:latin typeface="Times New Roman"/>
                <a:cs typeface="Times New Roman"/>
              </a:rPr>
              <a:t>R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lative</a:t>
            </a:r>
            <a:r>
              <a:rPr sz="2761" b="1" i="1" spc="-23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Ju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p.</a:t>
            </a:r>
            <a:r>
              <a:rPr sz="2761" b="1" i="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mp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PC (p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ogram count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with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is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(the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jump instru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127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)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(the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jump </a:t>
            </a:r>
            <a:r>
              <a:rPr sz="2761" spc="58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8 or 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ss) is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jump. 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lative jump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follows:</a:t>
            </a:r>
          </a:p>
        </p:txBody>
      </p:sp>
      <p:sp>
        <p:nvSpPr>
          <p:cNvPr id="8" name="object 8"/>
          <p:cNvSpPr/>
          <p:nvPr/>
        </p:nvSpPr>
        <p:spPr>
          <a:xfrm>
            <a:off x="5969000" y="6673501"/>
            <a:ext cx="3686623" cy="28955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8207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549400" y="1518431"/>
            <a:ext cx="14478000" cy="702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ad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antages of the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ati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are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 follows: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sz="2761" dirty="0">
              <a:latin typeface="Times New Roman"/>
              <a:cs typeface="Times New Roman"/>
            </a:endParaRPr>
          </a:p>
          <a:p>
            <a:pPr marL="1079638" marR="11688" indent="-524479" algn="just">
              <a:lnSpc>
                <a:spcPct val="143300"/>
              </a:lnSpc>
              <a:spcBef>
                <a:spcPts val="23"/>
              </a:spcBef>
              <a:buSzPct val="91666"/>
              <a:buFont typeface="Cambria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jump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ne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 to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form, 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jumping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d, the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0 to 127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jumping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k, the 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128.</a:t>
            </a:r>
          </a:p>
          <a:p>
            <a:pPr marL="1079638" marR="392994" indent="-524479" algn="just">
              <a:lnSpc>
                <a:spcPct val="143300"/>
              </a:lnSpc>
              <a:spcBef>
                <a:spcPts val="35"/>
              </a:spcBef>
              <a:buSzPct val="91666"/>
              <a:buFont typeface="Cambria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ds up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ution.</a:t>
            </a:r>
          </a:p>
          <a:p>
            <a:pPr marL="1079638" marR="315564" indent="-524479" algn="just">
              <a:lnSpc>
                <a:spcPct val="143300"/>
              </a:lnSpc>
              <a:spcBef>
                <a:spcPts val="23"/>
              </a:spcBef>
              <a:buSzPct val="91666"/>
              <a:buFont typeface="Cambria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without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ssembling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 jump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sses.</a:t>
            </a:r>
          </a:p>
          <a:p>
            <a:pPr algn="just"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algn="just">
              <a:spcBef>
                <a:spcPts val="124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Dis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relative </a:t>
            </a:r>
            <a:r>
              <a:rPr lang="en-US" sz="2761" dirty="0">
                <a:latin typeface="Times New Roman"/>
                <a:cs typeface="Times New Roman"/>
              </a:rPr>
              <a:t>jump:</a:t>
            </a: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	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Short jump 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128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 127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 the 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f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llowing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jump 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stru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tion)</a:t>
            </a: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2008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9800" y="457200"/>
            <a:ext cx="14777627" cy="8208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Instructions that use Relative Jump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	SJMP &lt;relative address&gt;		; this is unconditional jump</a:t>
            </a: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 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The remaining relative jumps are conditional jumps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JC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JNC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JB bit,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JNB bit,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JBC bit,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CJNE &lt;destination byte&gt;, &lt;source byte&gt;,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DJNZ &lt;byte&gt;,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JZ &lt;relative address&gt;</a:t>
            </a:r>
          </a:p>
          <a:p>
            <a:pPr marL="1079638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JNZ &lt;relative address&gt;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92200" y="762000"/>
            <a:ext cx="13725297" cy="8436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  <a:spcBef>
                <a:spcPts val="1599"/>
              </a:spcBef>
            </a:pPr>
            <a:r>
              <a:rPr sz="2761" b="1" i="1" dirty="0">
                <a:latin typeface="Times New Roman"/>
                <a:cs typeface="Times New Roman"/>
              </a:rPr>
              <a:t>Short </a:t>
            </a:r>
            <a:r>
              <a:rPr sz="2761" b="1" i="1" spc="-276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Abs</a:t>
            </a:r>
            <a:r>
              <a:rPr sz="2761" b="1" i="1" spc="-35" dirty="0">
                <a:latin typeface="Times New Roman"/>
                <a:cs typeface="Times New Roman"/>
              </a:rPr>
              <a:t>o</a:t>
            </a:r>
            <a:r>
              <a:rPr sz="2761" b="1" i="1" dirty="0">
                <a:latin typeface="Times New Roman"/>
                <a:cs typeface="Times New Roman"/>
              </a:rPr>
              <a:t>l</a:t>
            </a:r>
            <a:r>
              <a:rPr sz="2761" b="1" i="1" spc="12" dirty="0">
                <a:latin typeface="Times New Roman"/>
                <a:cs typeface="Times New Roman"/>
              </a:rPr>
              <a:t>u</a:t>
            </a:r>
            <a:r>
              <a:rPr sz="2761" b="1" i="1" dirty="0">
                <a:latin typeface="Times New Roman"/>
                <a:cs typeface="Times New Roman"/>
              </a:rPr>
              <a:t>te </a:t>
            </a:r>
            <a:r>
              <a:rPr sz="2761" b="1" i="1" spc="-288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J</a:t>
            </a:r>
            <a:r>
              <a:rPr sz="2761" b="1" i="1" spc="-23" dirty="0">
                <a:latin typeface="Times New Roman"/>
                <a:cs typeface="Times New Roman"/>
              </a:rPr>
              <a:t>u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p. </a:t>
            </a:r>
            <a:r>
              <a:rPr sz="2761" b="1" i="1" spc="-25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11bits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 jump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64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llows: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en-US" sz="2761" i="1" dirty="0">
                <a:latin typeface="Times New Roman"/>
                <a:cs typeface="Times New Roman"/>
              </a:rPr>
              <a:t>	</a:t>
            </a:r>
            <a:r>
              <a:rPr lang="pt-BR" sz="2761" i="1" dirty="0">
                <a:latin typeface="Times New Roman"/>
                <a:cs typeface="Times New Roman"/>
              </a:rPr>
              <a:t>Page </a:t>
            </a:r>
            <a:r>
              <a:rPr lang="pt-BR" sz="2761" i="1" spc="-46" dirty="0">
                <a:latin typeface="Times New Roman"/>
                <a:cs typeface="Times New Roman"/>
              </a:rPr>
              <a:t>(</a:t>
            </a:r>
            <a:r>
              <a:rPr lang="pt-BR" sz="2761" i="1" dirty="0">
                <a:latin typeface="Times New Roman"/>
                <a:cs typeface="Times New Roman"/>
              </a:rPr>
              <a:t>He</a:t>
            </a:r>
            <a:r>
              <a:rPr lang="pt-BR" sz="2761" i="1" spc="12" dirty="0">
                <a:latin typeface="Times New Roman"/>
                <a:cs typeface="Times New Roman"/>
              </a:rPr>
              <a:t>x</a:t>
            </a:r>
            <a:r>
              <a:rPr lang="pt-BR" sz="2761" i="1" dirty="0">
                <a:latin typeface="Times New Roman"/>
                <a:cs typeface="Times New Roman"/>
              </a:rPr>
              <a:t>)		</a:t>
            </a:r>
            <a:r>
              <a:rPr lang="en-US" sz="2761" i="1" dirty="0">
                <a:latin typeface="Times New Roman"/>
                <a:cs typeface="Times New Roman"/>
              </a:rPr>
              <a:t> Addr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ss</a:t>
            </a:r>
            <a:r>
              <a:rPr lang="en-US" sz="2761" i="1" spc="23" dirty="0">
                <a:latin typeface="Times New Roman"/>
                <a:cs typeface="Times New Roman"/>
              </a:rPr>
              <a:t> </a:t>
            </a:r>
            <a:r>
              <a:rPr lang="en-US" sz="2761" i="1" spc="-46" dirty="0">
                <a:latin typeface="Times New Roman"/>
                <a:cs typeface="Times New Roman"/>
              </a:rPr>
              <a:t>(</a:t>
            </a:r>
            <a:r>
              <a:rPr lang="en-US" sz="2761" i="1" dirty="0">
                <a:latin typeface="Times New Roman"/>
                <a:cs typeface="Times New Roman"/>
              </a:rPr>
              <a:t>He</a:t>
            </a:r>
            <a:r>
              <a:rPr lang="en-US" sz="2761" i="1" spc="12" dirty="0">
                <a:latin typeface="Times New Roman"/>
                <a:cs typeface="Times New Roman"/>
              </a:rPr>
              <a:t>x</a:t>
            </a:r>
            <a:r>
              <a:rPr lang="en-US" sz="2761" i="1" dirty="0">
                <a:latin typeface="Times New Roman"/>
                <a:cs typeface="Times New Roman"/>
              </a:rPr>
              <a:t>)</a:t>
            </a:r>
            <a:endParaRPr lang="pt-BR" sz="2761" i="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00			</a:t>
            </a:r>
            <a:r>
              <a:rPr lang="en-US" sz="2761" i="1" dirty="0">
                <a:latin typeface="Times New Roman"/>
                <a:cs typeface="Times New Roman"/>
              </a:rPr>
              <a:t>0000 -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07FF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01			</a:t>
            </a:r>
            <a:r>
              <a:rPr lang="en-US" sz="2761" i="1" dirty="0">
                <a:latin typeface="Times New Roman"/>
                <a:cs typeface="Times New Roman"/>
              </a:rPr>
              <a:t>0800 -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0FFF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02			</a:t>
            </a:r>
            <a:r>
              <a:rPr lang="en-US" sz="2761" i="1" dirty="0">
                <a:latin typeface="Times New Roman"/>
                <a:cs typeface="Times New Roman"/>
              </a:rPr>
              <a:t>1000 -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17FF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03			</a:t>
            </a:r>
            <a:r>
              <a:rPr lang="en-US" sz="2761" i="1" dirty="0">
                <a:latin typeface="Times New Roman"/>
                <a:cs typeface="Times New Roman"/>
              </a:rPr>
              <a:t>1800 -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1FFF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 .</a:t>
            </a: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  .</a:t>
            </a: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1E			</a:t>
            </a:r>
            <a:r>
              <a:rPr lang="en-US" sz="2761" i="1" dirty="0">
                <a:latin typeface="Times New Roman"/>
                <a:cs typeface="Times New Roman"/>
              </a:rPr>
              <a:t> F000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-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F7FF</a:t>
            </a:r>
            <a:endParaRPr lang="pt-BR" sz="2761" i="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lang="pt-BR" sz="2761" i="1" dirty="0">
                <a:latin typeface="Times New Roman"/>
                <a:cs typeface="Times New Roman"/>
              </a:rPr>
              <a:t>	     1F			</a:t>
            </a:r>
            <a:r>
              <a:rPr lang="en-US" sz="2761" i="1" dirty="0">
                <a:latin typeface="Times New Roman"/>
                <a:cs typeface="Times New Roman"/>
              </a:rPr>
              <a:t>F800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-</a:t>
            </a:r>
            <a:r>
              <a:rPr lang="en-US" sz="2761" i="1" spc="-12" dirty="0">
                <a:latin typeface="Times New Roman"/>
                <a:cs typeface="Times New Roman"/>
              </a:rPr>
              <a:t> FFFF</a:t>
            </a:r>
            <a:endParaRPr lang="pt-BR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7849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441630"/>
            <a:ext cx="15163800" cy="917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6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(PC)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11bits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PC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old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Thus,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taking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(from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lowing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1bits to it to 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</a:p>
          <a:p>
            <a:pPr marL="29219" marR="6303976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Adva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tag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 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2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sho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absolute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: -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&lt;a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11&gt;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MP   </a:t>
            </a:r>
            <a:r>
              <a:rPr sz="2761" spc="-12" dirty="0">
                <a:latin typeface="Times New Roman"/>
                <a:cs typeface="Times New Roman"/>
              </a:rPr>
              <a:t>&lt;a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11&gt;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900"/>
              </a:lnSpc>
              <a:spcBef>
                <a:spcPts val="1587"/>
              </a:spcBef>
            </a:pPr>
            <a:r>
              <a:rPr sz="2761" b="1" i="1" dirty="0">
                <a:latin typeface="Times New Roman"/>
                <a:cs typeface="Times New Roman"/>
              </a:rPr>
              <a:t>Long </a:t>
            </a:r>
            <a:r>
              <a:rPr sz="2761" b="1" i="1" spc="-311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Abso</a:t>
            </a:r>
            <a:r>
              <a:rPr sz="2761" b="1" i="1" spc="-23" dirty="0">
                <a:latin typeface="Times New Roman"/>
                <a:cs typeface="Times New Roman"/>
              </a:rPr>
              <a:t>l</a:t>
            </a:r>
            <a:r>
              <a:rPr sz="2761" b="1" i="1" dirty="0">
                <a:latin typeface="Times New Roman"/>
                <a:cs typeface="Times New Roman"/>
              </a:rPr>
              <a:t>ute </a:t>
            </a:r>
            <a:r>
              <a:rPr sz="2761" b="1" i="1" spc="-32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J</a:t>
            </a:r>
            <a:r>
              <a:rPr sz="2761" b="1" i="1" spc="-23" dirty="0">
                <a:latin typeface="Times New Roman"/>
                <a:cs typeface="Times New Roman"/>
              </a:rPr>
              <a:t>u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p</a:t>
            </a:r>
            <a:r>
              <a:rPr sz="2761" b="1" i="1" spc="-23" dirty="0">
                <a:latin typeface="Times New Roman"/>
                <a:cs typeface="Times New Roman"/>
              </a:rPr>
              <a:t>/C</a:t>
            </a:r>
            <a:r>
              <a:rPr sz="2761" b="1" i="1" dirty="0">
                <a:latin typeface="Times New Roman"/>
                <a:cs typeface="Times New Roman"/>
              </a:rPr>
              <a:t>all. </a:t>
            </a:r>
            <a:r>
              <a:rPr sz="2761" b="1" i="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Applic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46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ntire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0000H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Since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op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MP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@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DPTR).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- 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-</a:t>
            </a:r>
          </a:p>
          <a:p>
            <a:pPr marL="29219" algn="just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 &lt;a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16&gt;</a:t>
            </a:r>
          </a:p>
          <a:p>
            <a:pPr marL="29219" algn="just">
              <a:spcBef>
                <a:spcPts val="1438"/>
              </a:spcBef>
            </a:pP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MP </a:t>
            </a:r>
            <a:r>
              <a:rPr sz="2761" spc="-12" dirty="0">
                <a:latin typeface="Times New Roman"/>
                <a:cs typeface="Times New Roman"/>
              </a:rPr>
              <a:t>&lt;a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16&gt; 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MP @A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DPTR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295400"/>
            <a:ext cx="13741367" cy="7698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Anoth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lassifi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is</a:t>
            </a:r>
          </a:p>
          <a:p>
            <a:pPr marL="1868548" indent="-525940">
              <a:spcBef>
                <a:spcPts val="1461"/>
              </a:spcBef>
              <a:buSzPct val="83333"/>
              <a:buFont typeface="Cambria"/>
              <a:buAutoNum type="arabicPeriod"/>
              <a:tabLst>
                <a:tab pos="1870009" algn="l"/>
              </a:tabLst>
            </a:pP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onditional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</a:t>
            </a:r>
          </a:p>
          <a:p>
            <a:pPr marL="1868548" indent="-525940">
              <a:spcBef>
                <a:spcPts val="1438"/>
              </a:spcBef>
              <a:buSzPct val="83333"/>
              <a:buFont typeface="Cambria"/>
              <a:buAutoNum type="arabicPeriod"/>
              <a:tabLst>
                <a:tab pos="1870009" algn="l"/>
              </a:tabLst>
            </a:pPr>
            <a:r>
              <a:rPr sz="2761" dirty="0">
                <a:latin typeface="Times New Roman"/>
                <a:cs typeface="Times New Roman"/>
              </a:rPr>
              <a:t>Conditional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</a:t>
            </a:r>
          </a:p>
          <a:p>
            <a:pPr>
              <a:spcBef>
                <a:spcPts val="117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1342608" marR="461658" indent="-524479">
              <a:lnSpc>
                <a:spcPct val="144200"/>
              </a:lnSpc>
              <a:buSzPct val="83333"/>
              <a:buFont typeface="Cambria"/>
              <a:buAutoNum type="arabicPeriod"/>
              <a:tabLst>
                <a:tab pos="134406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onditional ju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 </a:t>
            </a:r>
            <a:r>
              <a:rPr sz="2761" dirty="0">
                <a:latin typeface="Times New Roman"/>
                <a:cs typeface="Times New Roman"/>
              </a:rPr>
              <a:t>is a jump in which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is 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lo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394488" lvl="1" indent="-525940">
              <a:spcBef>
                <a:spcPts val="1438"/>
              </a:spcBef>
              <a:buSzPct val="83333"/>
              <a:buFont typeface="Cambria"/>
              <a:buAutoNum type="alphaLcPeriod"/>
              <a:tabLst>
                <a:tab pos="2395949" algn="l"/>
              </a:tabLst>
            </a:pPr>
            <a:r>
              <a:rPr sz="2761" b="1" dirty="0">
                <a:latin typeface="Times New Roman"/>
                <a:cs typeface="Times New Roman"/>
              </a:rPr>
              <a:t>LJ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(long j</a:t>
            </a:r>
            <a:r>
              <a:rPr sz="2761" b="1" spc="23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p).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</a:p>
          <a:p>
            <a:pPr marL="2394488" marR="223525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third </a:t>
            </a:r>
            <a:r>
              <a:rPr sz="2761" spc="35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targ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which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</a:t>
            </a:r>
            <a:r>
              <a:rPr sz="2761" spc="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00 to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FF</a:t>
            </a:r>
            <a:r>
              <a:rPr sz="2761" dirty="0">
                <a:latin typeface="Times New Roman"/>
                <a:cs typeface="Times New Roman"/>
              </a:rPr>
              <a:t>H</a:t>
            </a:r>
          </a:p>
          <a:p>
            <a:pPr marL="2394488">
              <a:spcBef>
                <a:spcPts val="1461"/>
              </a:spcBef>
            </a:pP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.g: LJ</a:t>
            </a:r>
            <a:r>
              <a:rPr sz="2761" i="1" spc="-23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P 3000H</a:t>
            </a:r>
            <a:endParaRPr sz="2761" dirty="0">
              <a:latin typeface="Times New Roman"/>
              <a:cs typeface="Times New Roman"/>
            </a:endParaRPr>
          </a:p>
          <a:p>
            <a:pPr marL="2394488" indent="-525940">
              <a:spcBef>
                <a:spcPts val="1438"/>
              </a:spcBef>
              <a:tabLst>
                <a:tab pos="2394488" algn="l"/>
              </a:tabLst>
            </a:pPr>
            <a:r>
              <a:rPr sz="2301" spc="-46" dirty="0">
                <a:latin typeface="Cambria"/>
                <a:cs typeface="Cambria"/>
              </a:rPr>
              <a:t>b</a:t>
            </a:r>
            <a:r>
              <a:rPr sz="2301" spc="-12" dirty="0">
                <a:latin typeface="Cambria"/>
                <a:cs typeface="Cambria"/>
              </a:rPr>
              <a:t>.</a:t>
            </a:r>
            <a:r>
              <a:rPr sz="2301" dirty="0">
                <a:latin typeface="Times New Roman"/>
                <a:cs typeface="Times New Roman"/>
              </a:rPr>
              <a:t>	</a:t>
            </a:r>
            <a:r>
              <a:rPr sz="2761" b="1" dirty="0">
                <a:latin typeface="Times New Roman"/>
                <a:cs typeface="Times New Roman"/>
              </a:rPr>
              <a:t>AJM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: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nditional b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ss, </a:t>
            </a:r>
            <a:r>
              <a:rPr sz="2761" spc="58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</a:p>
          <a:p>
            <a:pPr marL="2394488" marR="21622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 11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to 0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0 bits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co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mu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 be 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the 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2K blo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ks.</a:t>
            </a:r>
          </a:p>
        </p:txBody>
      </p:sp>
    </p:spTree>
    <p:extLst>
      <p:ext uri="{BB962C8B-B14F-4D97-AF65-F5344CB8AC3E}">
        <p14:creationId xmlns:p14="http://schemas.microsoft.com/office/powerpoint/2010/main" val="2653435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619210"/>
            <a:ext cx="15316200" cy="8819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5578" marR="11688" indent="-525940" algn="just">
              <a:lnSpc>
                <a:spcPct val="143800"/>
              </a:lnSpc>
              <a:tabLst>
                <a:tab pos="1605578" algn="l"/>
              </a:tabLst>
            </a:pPr>
            <a:r>
              <a:rPr sz="2301" spc="-12" dirty="0">
                <a:latin typeface="Cambria"/>
                <a:cs typeface="Cambria"/>
              </a:rPr>
              <a:t>c.</a:t>
            </a:r>
            <a:r>
              <a:rPr sz="2301" spc="-12" dirty="0">
                <a:latin typeface="Times New Roman"/>
                <a:cs typeface="Times New Roman"/>
              </a:rPr>
              <a:t>	</a:t>
            </a:r>
            <a:r>
              <a:rPr sz="2761" b="1" spc="-12" dirty="0">
                <a:latin typeface="Times New Roman"/>
                <a:cs typeface="Times New Roman"/>
              </a:rPr>
              <a:t>SJM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(sho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23" dirty="0">
                <a:latin typeface="Times New Roman"/>
                <a:cs typeface="Times New Roman"/>
              </a:rPr>
              <a:t>j</a:t>
            </a:r>
            <a:r>
              <a:rPr sz="2761" b="1" spc="35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p).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ad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ss, 00 to FFH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127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kward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128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C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 jump, 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PC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ich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immedi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the jump.</a:t>
            </a:r>
          </a:p>
          <a:p>
            <a:pPr algn="just"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301" b="1" spc="-35" dirty="0">
                <a:latin typeface="Cambria"/>
                <a:cs typeface="Cambria"/>
              </a:rPr>
              <a:t>2</a:t>
            </a:r>
            <a:r>
              <a:rPr sz="2301" b="1" spc="-12" dirty="0">
                <a:latin typeface="Cambria"/>
                <a:cs typeface="Cambria"/>
              </a:rPr>
              <a:t>.</a:t>
            </a:r>
            <a:r>
              <a:rPr sz="2301" b="1" dirty="0">
                <a:latin typeface="Times New Roman"/>
                <a:cs typeface="Times New Roman"/>
              </a:rPr>
              <a:t>   </a:t>
            </a:r>
            <a:r>
              <a:rPr sz="2301" b="1" spc="-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Con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itional </a:t>
            </a:r>
            <a:r>
              <a:rPr sz="2761" b="1" spc="-23" dirty="0">
                <a:latin typeface="Times New Roman"/>
                <a:cs typeface="Times New Roman"/>
              </a:rPr>
              <a:t>J</a:t>
            </a:r>
            <a:r>
              <a:rPr sz="2761" b="1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 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tions.</a:t>
            </a:r>
            <a:endParaRPr lang="en-US" sz="2761" b="1" dirty="0">
              <a:latin typeface="Times New Roman"/>
              <a:cs typeface="Times New Roman"/>
            </a:endParaRPr>
          </a:p>
          <a:p>
            <a:pPr marL="29219"/>
            <a:endParaRPr lang="en-US" sz="2761" b="1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C			;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 if b</a:t>
            </a:r>
            <a:r>
              <a:rPr lang="en-US" sz="2761" spc="-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NB			;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 if b</a:t>
            </a:r>
            <a:r>
              <a:rPr lang="en-US" sz="2761" spc="-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JB				; J</a:t>
            </a:r>
            <a:r>
              <a:rPr lang="en-US" sz="2761" dirty="0">
                <a:latin typeface="Times New Roman"/>
                <a:cs typeface="Times New Roman"/>
              </a:rPr>
              <a:t>ump if b</a:t>
            </a:r>
            <a:r>
              <a:rPr lang="en-US" sz="2761" spc="-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NC			;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 if CY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JC				; J</a:t>
            </a:r>
            <a:r>
              <a:rPr lang="en-US" sz="2761" dirty="0">
                <a:latin typeface="Times New Roman"/>
                <a:cs typeface="Times New Roman"/>
              </a:rPr>
              <a:t>ump if CY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CJNE reg, #data	; J</a:t>
            </a:r>
            <a:r>
              <a:rPr lang="en-US" sz="2761" dirty="0">
                <a:latin typeface="Times New Roman"/>
                <a:cs typeface="Times New Roman"/>
              </a:rPr>
              <a:t>ump if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≠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#d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CJNE A, byte		; J</a:t>
            </a:r>
            <a:r>
              <a:rPr lang="en-US" sz="2761" dirty="0">
                <a:latin typeface="Times New Roman"/>
                <a:cs typeface="Times New Roman"/>
              </a:rPr>
              <a:t>ump if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≠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DJNZ			;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 if A ≠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JNZ			; J</a:t>
            </a:r>
            <a:r>
              <a:rPr lang="en-US" sz="2761" dirty="0">
                <a:latin typeface="Times New Roman"/>
                <a:cs typeface="Times New Roman"/>
              </a:rPr>
              <a:t>ump if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≠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spc="23" dirty="0">
                <a:latin typeface="Times New Roman"/>
                <a:cs typeface="Times New Roman"/>
              </a:rPr>
              <a:t>JZ				; J</a:t>
            </a:r>
            <a:r>
              <a:rPr lang="en-US" sz="2761" dirty="0">
                <a:latin typeface="Times New Roman"/>
                <a:cs typeface="Times New Roman"/>
              </a:rPr>
              <a:t>ump if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MS Gothic"/>
                <a:cs typeface="MS Gothic"/>
              </a:rPr>
              <a:t>＝</a:t>
            </a:r>
            <a:r>
              <a:rPr lang="en-US" sz="2761" spc="-690" dirty="0">
                <a:latin typeface="MS Gothic"/>
                <a:cs typeface="MS Gothic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endParaRPr lang="en-US" sz="2761" spc="23" dirty="0">
              <a:latin typeface="Times New Roman"/>
              <a:cs typeface="Times New Roman"/>
            </a:endParaRPr>
          </a:p>
          <a:p>
            <a:pPr marL="486419" lvl="1"/>
            <a:r>
              <a:rPr lang="en-US" sz="2761" i="1" dirty="0">
                <a:latin typeface="Times New Roman"/>
                <a:cs typeface="Times New Roman"/>
              </a:rPr>
              <a:t>All conditional jumps are</a:t>
            </a:r>
            <a:r>
              <a:rPr lang="en-US" sz="2761" i="1" spc="-35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short jumps.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25600" y="1524000"/>
            <a:ext cx="14325600" cy="456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i="1" dirty="0">
                <a:latin typeface="Times New Roman"/>
                <a:cs typeface="Times New Roman"/>
              </a:rPr>
              <a:t>Bit le</a:t>
            </a:r>
            <a:r>
              <a:rPr sz="2761" b="1" i="1" spc="-23" dirty="0">
                <a:latin typeface="Times New Roman"/>
                <a:cs typeface="Times New Roman"/>
              </a:rPr>
              <a:t>v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l j</a:t>
            </a:r>
            <a:r>
              <a:rPr sz="2761" b="1" i="1" spc="-23" dirty="0">
                <a:latin typeface="Times New Roman"/>
                <a:cs typeface="Times New Roman"/>
              </a:rPr>
              <a:t>u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p i</a:t>
            </a:r>
            <a:r>
              <a:rPr sz="2761" b="1" i="1" spc="12" dirty="0">
                <a:latin typeface="Times New Roman"/>
                <a:cs typeface="Times New Roman"/>
              </a:rPr>
              <a:t>n</a:t>
            </a:r>
            <a:r>
              <a:rPr sz="2761" b="1" i="1" spc="-35" dirty="0">
                <a:latin typeface="Times New Roman"/>
                <a:cs typeface="Times New Roman"/>
              </a:rPr>
              <a:t>s</a:t>
            </a:r>
            <a:r>
              <a:rPr sz="2761" b="1" i="1" dirty="0">
                <a:latin typeface="Times New Roman"/>
                <a:cs typeface="Times New Roman"/>
              </a:rPr>
              <a:t>tr</a:t>
            </a:r>
            <a:r>
              <a:rPr sz="2761" b="1" i="1" spc="12" dirty="0">
                <a:latin typeface="Times New Roman"/>
                <a:cs typeface="Times New Roman"/>
              </a:rPr>
              <a:t>u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ti</a:t>
            </a:r>
            <a:r>
              <a:rPr sz="2761" b="1" i="1" spc="-35" dirty="0">
                <a:latin typeface="Times New Roman"/>
                <a:cs typeface="Times New Roman"/>
              </a:rPr>
              <a:t>o</a:t>
            </a:r>
            <a:r>
              <a:rPr sz="2761" b="1" i="1" dirty="0">
                <a:latin typeface="Times New Roman"/>
                <a:cs typeface="Times New Roman"/>
              </a:rPr>
              <a:t>ns: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 lev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 instru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ons will ch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ions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dition 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it jumps to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All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jumps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lative j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mps.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bit, 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		; jump if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bit is set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lative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>
              <a:spcBef>
                <a:spcPts val="1472"/>
              </a:spcBef>
            </a:pP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NB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bit, 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		; jump if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bit 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 to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lative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ress spe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>
              <a:spcBef>
                <a:spcPts val="1438"/>
              </a:spcBef>
            </a:pP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C bit, 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		; jump if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bit is set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lative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bit.</a:t>
            </a: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2180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317555"/>
            <a:ext cx="15240000" cy="938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5. Subro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tine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 And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TURN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nstructions</a:t>
            </a: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Subro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 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ndl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 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 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RET 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tions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 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two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 instructions.</a:t>
            </a: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761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43569" marR="11688" lvl="0" indent="-514350" algn="just" defTabSz="914400" rtl="0" eaLnBrk="1" fontAlgn="auto" latinLnBrk="0" hangingPunct="1">
              <a:lnSpc>
                <a:spcPct val="14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LC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</a:t>
            </a:r>
            <a:r>
              <a:rPr kumimoji="0" lang="en-US" sz="2761" b="1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</a:t>
            </a:r>
            <a:r>
              <a:rPr kumimoji="0" lang="en-US" sz="2761" b="1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(16</a:t>
            </a:r>
            <a:r>
              <a:rPr kumimoji="0" lang="en-US" sz="2761" b="1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1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onditio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lls the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subroutine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loc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indi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ss.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tion. The </a:t>
            </a:r>
            <a:r>
              <a:rPr kumimoji="0" lang="en-US" sz="2761" b="0" i="0" u="none" strike="noStrike" kern="1200" cap="none" spc="-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 wo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ks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follows.</a:t>
            </a:r>
          </a:p>
          <a:p>
            <a:pPr marL="1607039" marR="11688" indent="-525940" algn="just">
              <a:lnSpc>
                <a:spcPct val="143900"/>
              </a:lnSpc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Du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ing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LL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PC]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3;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(if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whe</a:t>
            </a:r>
            <a:r>
              <a:rPr lang="en-US" sz="2761" spc="58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sides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3254;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during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nstru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3254h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+ 3h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3257h</a:t>
            </a:r>
          </a:p>
          <a:p>
            <a:pPr marL="1607039" marR="20453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1;  (if 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 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ntains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 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07,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  incr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 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08</a:t>
            </a:r>
          </a:p>
          <a:p>
            <a:pPr marL="1607039" marR="16070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]]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16" baseline="-10416" dirty="0">
                <a:latin typeface="Times New Roman"/>
                <a:cs typeface="Times New Roman"/>
              </a:rPr>
              <a:t>7</a:t>
            </a:r>
            <a:r>
              <a:rPr lang="en-US" sz="2761" spc="-69" baseline="-10416" dirty="0">
                <a:latin typeface="Times New Roman"/>
                <a:cs typeface="Times New Roman"/>
              </a:rPr>
              <a:t>-</a:t>
            </a:r>
            <a:r>
              <a:rPr lang="en-US" sz="2761" spc="-35" baseline="-10416" dirty="0">
                <a:latin typeface="Times New Roman"/>
                <a:cs typeface="Times New Roman"/>
              </a:rPr>
              <a:t>0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(lo</a:t>
            </a:r>
            <a:r>
              <a:rPr lang="en-US" sz="2761" spc="-12" dirty="0">
                <a:latin typeface="Times New Roman"/>
                <a:cs typeface="Times New Roman"/>
              </a:rPr>
              <a:t>we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PC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i.e.,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5</a:t>
            </a: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08.</a:t>
            </a:r>
          </a:p>
          <a:p>
            <a:pPr marL="1607039" indent="-525940">
              <a:spcBef>
                <a:spcPts val="1461"/>
              </a:spcBef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1; (SP 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ag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 and [SP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09)</a:t>
            </a:r>
          </a:p>
          <a:p>
            <a:pPr marL="1607039" marR="20453" indent="-525940">
              <a:lnSpc>
                <a:spcPts val="4785"/>
              </a:lnSpc>
              <a:spcBef>
                <a:spcPts val="368"/>
              </a:spcBef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]]  = 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-35" baseline="-10416" dirty="0">
                <a:latin typeface="Times New Roman"/>
                <a:cs typeface="Times New Roman"/>
              </a:rPr>
              <a:t>1</a:t>
            </a:r>
            <a:r>
              <a:rPr lang="en-US" sz="2761" spc="16" baseline="-10416" dirty="0">
                <a:latin typeface="Times New Roman"/>
                <a:cs typeface="Times New Roman"/>
              </a:rPr>
              <a:t>5</a:t>
            </a:r>
            <a:r>
              <a:rPr lang="en-US" sz="2761" spc="-69" baseline="-10416" dirty="0">
                <a:latin typeface="Times New Roman"/>
                <a:cs typeface="Times New Roman"/>
              </a:rPr>
              <a:t>-</a:t>
            </a:r>
            <a:r>
              <a:rPr lang="en-US" sz="2761" spc="16" baseline="-10416" dirty="0">
                <a:latin typeface="Times New Roman"/>
                <a:cs typeface="Times New Roman"/>
              </a:rPr>
              <a:t>8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;  (hi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PC 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i.e.,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32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 be  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09.</a:t>
            </a:r>
          </a:p>
          <a:p>
            <a:pPr>
              <a:spcBef>
                <a:spcPts val="122"/>
              </a:spcBef>
            </a:pPr>
            <a:endParaRPr lang="en-US" sz="2186" dirty="0">
              <a:latin typeface="Times New Roman"/>
              <a:cs typeface="Times New Roman"/>
            </a:endParaRPr>
          </a:p>
          <a:p>
            <a:pPr marL="555159"/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these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(</a:t>
            </a:r>
            <a:r>
              <a:rPr lang="en-US" sz="2761" spc="12" dirty="0">
                <a:latin typeface="Times New Roman"/>
                <a:cs typeface="Times New Roman"/>
              </a:rPr>
              <a:t>0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3254)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in </a:t>
            </a:r>
            <a:r>
              <a:rPr lang="en-US" sz="2761" spc="12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stor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sta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k.</a:t>
            </a:r>
          </a:p>
          <a:p>
            <a:pPr marL="1607039" marR="11688" indent="-525940">
              <a:lnSpc>
                <a:spcPts val="4785"/>
              </a:lnSpc>
              <a:spcBef>
                <a:spcPts val="368"/>
              </a:spcBef>
              <a:buSzPct val="83333"/>
              <a:buFont typeface="Cambria"/>
              <a:buAutoNum type="alphaLcPeriod" startAt="6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(16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bit);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utine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load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PC.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 fl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ff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ted.</a:t>
            </a: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44600" y="990600"/>
            <a:ext cx="15163800" cy="7842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420752" indent="-525940">
              <a:lnSpc>
                <a:spcPct val="143800"/>
              </a:lnSpc>
              <a:buSzPct val="83333"/>
              <a:buFont typeface="Cambria"/>
              <a:buAutoNum type="arabicPeriod" startAt="2"/>
              <a:tabLst>
                <a:tab pos="555159" algn="l"/>
              </a:tabLst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ALL add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ss (11 bit</a:t>
            </a:r>
            <a:r>
              <a:rPr sz="2761" b="1" spc="-12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bsolute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lls the sub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outine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ted 1</a:t>
            </a:r>
            <a:r>
              <a:rPr sz="2761" spc="46" dirty="0">
                <a:latin typeface="Times New Roman"/>
                <a:cs typeface="Times New Roman"/>
              </a:rPr>
              <a:t>1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 This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follows.</a:t>
            </a:r>
            <a:endParaRPr lang="en-US" sz="2761" dirty="0">
              <a:latin typeface="Times New Roman"/>
              <a:cs typeface="Times New Roman"/>
            </a:endParaRPr>
          </a:p>
          <a:p>
            <a:pPr marL="1607039" lvl="1" indent="-525940" algn="just">
              <a:spcBef>
                <a:spcPts val="1438"/>
              </a:spcBef>
              <a:buSzPct val="83333"/>
              <a:buFont typeface="Cambria"/>
              <a:buAutoNum type="alphaLcPeriod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Du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ing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LL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PC]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2	; (if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w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</a:p>
          <a:p>
            <a:pPr marL="1607039" marR="319947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sides is s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0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8549	; during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instru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8549h + 2h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854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</a:p>
          <a:p>
            <a:pPr marL="1607039" marR="905786" lvl="1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 startAt="2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1	; (if SP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-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ins de</a:t>
            </a:r>
            <a:r>
              <a:rPr lang="en-US" sz="2761" spc="-12" dirty="0">
                <a:latin typeface="Times New Roman"/>
                <a:cs typeface="Times New Roman"/>
              </a:rPr>
              <a:t>fa</a:t>
            </a:r>
            <a:r>
              <a:rPr lang="en-US" sz="2761" dirty="0">
                <a:latin typeface="Times New Roman"/>
                <a:cs typeface="Times New Roman"/>
              </a:rPr>
              <a:t>ult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07,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SP 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08</a:t>
            </a:r>
          </a:p>
          <a:p>
            <a:pPr marL="1607039" marR="157782" lvl="1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 startAt="2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]]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16" baseline="-10416" dirty="0">
                <a:latin typeface="Times New Roman"/>
                <a:cs typeface="Times New Roman"/>
              </a:rPr>
              <a:t>7</a:t>
            </a:r>
            <a:r>
              <a:rPr lang="en-US" sz="2761" spc="-69" baseline="-10416" dirty="0">
                <a:latin typeface="Times New Roman"/>
                <a:cs typeface="Times New Roman"/>
              </a:rPr>
              <a:t>-</a:t>
            </a:r>
            <a:r>
              <a:rPr lang="en-US" sz="2761" spc="16" baseline="-10416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]	;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low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b</a:t>
            </a:r>
            <a:r>
              <a:rPr lang="en-US" sz="2761" spc="-69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PC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 </a:t>
            </a:r>
            <a:r>
              <a:rPr lang="en-US" sz="2761" dirty="0" err="1">
                <a:latin typeface="Times New Roman"/>
                <a:cs typeface="Times New Roman"/>
              </a:rPr>
              <a:t>ie</a:t>
            </a:r>
            <a:r>
              <a:rPr lang="en-US" sz="2761" dirty="0">
                <a:latin typeface="Times New Roman"/>
                <a:cs typeface="Times New Roman"/>
              </a:rPr>
              <a:t>., </a:t>
            </a:r>
            <a:r>
              <a:rPr lang="en-US" sz="2761" spc="12" dirty="0">
                <a:latin typeface="Times New Roman"/>
                <a:cs typeface="Times New Roman"/>
              </a:rPr>
              <a:t>4</a:t>
            </a:r>
            <a:r>
              <a:rPr lang="en-US" sz="2761" dirty="0">
                <a:latin typeface="Times New Roman"/>
                <a:cs typeface="Times New Roman"/>
              </a:rPr>
              <a:t>B will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08.</a:t>
            </a:r>
          </a:p>
          <a:p>
            <a:pPr marL="1607039" marR="157782" lvl="1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 startAt="2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1		; (SP 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ag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 and [SP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09)</a:t>
            </a:r>
          </a:p>
          <a:p>
            <a:pPr marL="1607039" marR="157782" lvl="1" indent="-525940">
              <a:lnSpc>
                <a:spcPct val="143300"/>
              </a:lnSpc>
              <a:spcBef>
                <a:spcPts val="23"/>
              </a:spcBef>
              <a:buSzPct val="83333"/>
              <a:buFont typeface="Cambria"/>
              <a:buAutoNum type="alphaLcPeriod" startAt="2"/>
              <a:tabLst>
                <a:tab pos="1608500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[S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]]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spc="-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35" baseline="-10416" dirty="0">
                <a:latin typeface="Times New Roman"/>
                <a:cs typeface="Times New Roman"/>
              </a:rPr>
              <a:t>1</a:t>
            </a:r>
            <a:r>
              <a:rPr lang="en-US" sz="2761" spc="16" baseline="-10416" dirty="0">
                <a:latin typeface="Times New Roman"/>
                <a:cs typeface="Times New Roman"/>
              </a:rPr>
              <a:t>5</a:t>
            </a:r>
            <a:r>
              <a:rPr lang="en-US" sz="2761" spc="-16" baseline="-10416" dirty="0">
                <a:latin typeface="Times New Roman"/>
                <a:cs typeface="Times New Roman"/>
              </a:rPr>
              <a:t>-</a:t>
            </a:r>
            <a:r>
              <a:rPr lang="en-US" sz="2761" spc="-35" baseline="-10416" dirty="0">
                <a:latin typeface="Times New Roman"/>
                <a:cs typeface="Times New Roman"/>
              </a:rPr>
              <a:t>8</a:t>
            </a:r>
            <a:r>
              <a:rPr lang="en-US" sz="2761" spc="12" dirty="0">
                <a:latin typeface="Times New Roman"/>
                <a:cs typeface="Times New Roman"/>
              </a:rPr>
              <a:t>]	</a:t>
            </a:r>
            <a:r>
              <a:rPr lang="en-US" sz="2761" dirty="0">
                <a:latin typeface="Times New Roman"/>
                <a:cs typeface="Times New Roman"/>
              </a:rPr>
              <a:t>; (hi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PC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 i.e., </a:t>
            </a:r>
            <a:r>
              <a:rPr lang="en-US" sz="2761" spc="12" dirty="0">
                <a:latin typeface="Times New Roman"/>
                <a:cs typeface="Times New Roman"/>
              </a:rPr>
              <a:t>8</a:t>
            </a:r>
            <a:r>
              <a:rPr lang="en-US" sz="2761" dirty="0">
                <a:latin typeface="Times New Roman"/>
                <a:cs typeface="Times New Roman"/>
              </a:rPr>
              <a:t>5 will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09.</a:t>
            </a:r>
          </a:p>
          <a:p>
            <a:pPr marL="1081099" marR="157782" lvl="1">
              <a:lnSpc>
                <a:spcPct val="143300"/>
              </a:lnSpc>
              <a:spcBef>
                <a:spcPts val="23"/>
              </a:spcBef>
              <a:buSzPct val="83333"/>
              <a:tabLst>
                <a:tab pos="1608500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420752">
              <a:lnSpc>
                <a:spcPct val="143800"/>
              </a:lnSpc>
              <a:buSzPct val="83333"/>
              <a:tabLst>
                <a:tab pos="55515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	W</a:t>
            </a:r>
            <a:r>
              <a:rPr lang="en-US" sz="2761" dirty="0">
                <a:latin typeface="Times New Roman"/>
                <a:cs typeface="Times New Roman"/>
              </a:rPr>
              <a:t>ith these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(</a:t>
            </a:r>
            <a:r>
              <a:rPr lang="en-US" sz="2761" spc="12" dirty="0">
                <a:latin typeface="Times New Roman"/>
                <a:cs typeface="Times New Roman"/>
              </a:rPr>
              <a:t>0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854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)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hich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in </a:t>
            </a:r>
            <a:r>
              <a:rPr lang="en-US" sz="2761" spc="12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C is stor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sta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k.</a:t>
            </a:r>
          </a:p>
          <a:p>
            <a:pPr marL="1081099" marR="157782" lvl="1">
              <a:lnSpc>
                <a:spcPct val="143300"/>
              </a:lnSpc>
              <a:spcBef>
                <a:spcPts val="23"/>
              </a:spcBef>
              <a:buSzPct val="83333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f. 	[P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35" baseline="-10416" dirty="0">
                <a:latin typeface="Times New Roman"/>
                <a:cs typeface="Times New Roman"/>
              </a:rPr>
              <a:t>1</a:t>
            </a:r>
            <a:r>
              <a:rPr lang="en-US" sz="2761" spc="16" baseline="-10416" dirty="0">
                <a:latin typeface="Times New Roman"/>
                <a:cs typeface="Times New Roman"/>
              </a:rPr>
              <a:t>0</a:t>
            </a:r>
            <a:r>
              <a:rPr lang="en-US" sz="2761" spc="-16" baseline="-10416" dirty="0">
                <a:latin typeface="Times New Roman"/>
                <a:cs typeface="Times New Roman"/>
              </a:rPr>
              <a:t>-</a:t>
            </a:r>
            <a:r>
              <a:rPr lang="en-US" sz="2761" spc="-35" baseline="-10416" dirty="0">
                <a:latin typeface="Times New Roman"/>
                <a:cs typeface="Times New Roman"/>
              </a:rPr>
              <a:t>0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(11 bit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	the 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w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of sub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utine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PC. No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1050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718140"/>
            <a:ext cx="15163800" cy="8459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0" b="1" dirty="0">
                <a:latin typeface="Times New Roman"/>
                <a:cs typeface="Times New Roman"/>
              </a:rPr>
              <a:t>RET i</a:t>
            </a:r>
            <a:r>
              <a:rPr sz="2760" b="1" spc="12" dirty="0">
                <a:latin typeface="Times New Roman"/>
                <a:cs typeface="Times New Roman"/>
              </a:rPr>
              <a:t>n</a:t>
            </a:r>
            <a:r>
              <a:rPr sz="2760" b="1" dirty="0">
                <a:latin typeface="Times New Roman"/>
                <a:cs typeface="Times New Roman"/>
              </a:rPr>
              <a:t>st</a:t>
            </a:r>
            <a:r>
              <a:rPr sz="2760" b="1" spc="-23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u</a:t>
            </a:r>
            <a:r>
              <a:rPr sz="2760" b="1" spc="-12" dirty="0">
                <a:latin typeface="Times New Roman"/>
                <a:cs typeface="Times New Roman"/>
              </a:rPr>
              <a:t>c</a:t>
            </a:r>
            <a:r>
              <a:rPr sz="2760" b="1" dirty="0">
                <a:latin typeface="Times New Roman"/>
                <a:cs typeface="Times New Roman"/>
              </a:rPr>
              <a:t>tion. </a:t>
            </a:r>
            <a:r>
              <a:rPr sz="2760" dirty="0">
                <a:latin typeface="Times New Roman"/>
                <a:cs typeface="Times New Roman"/>
              </a:rPr>
              <a:t>RET </a:t>
            </a:r>
            <a:r>
              <a:rPr sz="2760" spc="-35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nstru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tion pops top two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ontents f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om the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sta</a:t>
            </a:r>
            <a:r>
              <a:rPr sz="2760" spc="-23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k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d load it to PC.</a:t>
            </a:r>
            <a:endParaRPr lang="en-US" sz="2760" dirty="0">
              <a:latin typeface="Times New Roman"/>
              <a:cs typeface="Times New Roman"/>
            </a:endParaRPr>
          </a:p>
          <a:p>
            <a:pPr marL="29219"/>
            <a:endParaRPr lang="en-US" sz="2760" dirty="0">
              <a:latin typeface="Times New Roman"/>
              <a:cs typeface="Times New Roman"/>
            </a:endParaRPr>
          </a:p>
          <a:p>
            <a:pPr marL="550926" indent="-514350" algn="l" fontAlgn="t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[P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b="0" i="0" u="none" strike="noStrike" baseline="-1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760" b="0" i="0" u="none" strike="noStrike" spc="-7" baseline="-1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760" b="0" i="0" u="none" strike="noStrike" baseline="-1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= [[S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]]	;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</a:t>
            </a:r>
            <a:r>
              <a:rPr lang="en-US" sz="2760" b="0" i="0" u="none" strike="noStrike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c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b="0" i="0" u="none" strike="noStrike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ck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hi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of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en-US" sz="276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550926" indent="-514350" algn="l" fontAlgn="t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[S</a:t>
            </a:r>
            <a:r>
              <a:rPr kumimoji="0" lang="en-US" sz="276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en-US" sz="276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[S</a:t>
            </a:r>
            <a:r>
              <a:rPr kumimoji="0" lang="en-US" sz="276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en-US" sz="276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en-US" sz="276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		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2760" b="0" i="0" u="none" strike="noStrike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76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550926" indent="-514350" fontAlgn="t">
              <a:buFontTx/>
              <a:buAutoNum type="alphaLcPeriod"/>
            </a:pP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PC</a:t>
            </a:r>
            <a:r>
              <a:rPr lang="en-IN" sz="2800" kern="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7-0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= [[S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]]	;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b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ttom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tack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lo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60" dirty="0">
              <a:latin typeface="Arial" panose="020B0604020202020204" pitchFamily="34" charset="0"/>
            </a:endParaRPr>
          </a:p>
          <a:p>
            <a:pPr marL="550926" indent="-514350" fontAlgn="t">
              <a:buFontTx/>
              <a:buAutoNum type="alphaLcPeriod"/>
            </a:pP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760" b="0" i="0" u="none" strike="noStrike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760" b="0" i="0" u="none" strike="noStrike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b="0" i="0" u="none" strike="noStrike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		;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2760" b="0" i="0" u="none" strike="noStrike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b="0" i="0" u="none" strike="noStrike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b="0" i="0" u="none" strike="noStrike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a</a:t>
            </a:r>
            <a:r>
              <a:rPr lang="en-US" sz="2760" b="0" i="0" u="none" strike="noStrike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b="0" i="0" u="none" strike="noStrike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760" b="0" i="0" u="none" strike="noStrike" dirty="0">
              <a:effectLst/>
              <a:latin typeface="Arial" panose="020B0604020202020204" pitchFamily="34" charset="0"/>
            </a:endParaRPr>
          </a:p>
          <a:p>
            <a:pPr marL="29219"/>
            <a:endParaRPr lang="en-US" sz="2760" dirty="0">
              <a:latin typeface="Times New Roman"/>
              <a:cs typeface="Times New Roman"/>
            </a:endParaRPr>
          </a:p>
          <a:p>
            <a:pPr marL="493797" indent="-464580">
              <a:buClr>
                <a:srgbClr val="2E5395"/>
              </a:buClr>
              <a:buFont typeface="Times New Roman"/>
              <a:buAutoNum type="arabicPeriod" startAt="6"/>
              <a:tabLst>
                <a:tab pos="495260" algn="l"/>
              </a:tabLst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lang="en-US"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anipulati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instructi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ns.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500"/>
              </a:lnSpc>
              <a:spcBef>
                <a:spcPts val="610"/>
              </a:spcBef>
            </a:pPr>
            <a:r>
              <a:rPr lang="en-US" sz="2761" dirty="0">
                <a:latin typeface="Times New Roman"/>
                <a:cs typeface="Times New Roman"/>
              </a:rPr>
              <a:t>8051 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12</a:t>
            </a:r>
            <a:r>
              <a:rPr lang="en-US" sz="2761" spc="23" dirty="0">
                <a:latin typeface="Times New Roman"/>
                <a:cs typeface="Times New Roman"/>
              </a:rPr>
              <a:t>8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ssable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ssable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bit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PORT pins.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possible to 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oll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wise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these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ssable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tions.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1214045" lvl="1" indent="-525940">
              <a:buSzPct val="83333"/>
              <a:buFont typeface="Cambria"/>
              <a:buAutoNum type="arabicPeriod"/>
              <a:tabLst>
                <a:tab pos="1215506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OG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</a:p>
          <a:p>
            <a:pPr marL="1739985" marR="286345" lvl="2" indent="-525940">
              <a:lnSpc>
                <a:spcPct val="143300"/>
              </a:lnSpc>
              <a:spcBef>
                <a:spcPts val="23"/>
              </a:spcBef>
              <a:buFont typeface="Times New Roman"/>
              <a:buAutoNum type="alphaLcPeriod"/>
              <a:tabLst>
                <a:tab pos="1741446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C, 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RESS) 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; </a:t>
            </a:r>
            <a:r>
              <a:rPr lang="en-US" sz="2761" spc="-12" dirty="0">
                <a:latin typeface="Times New Roman"/>
                <a:cs typeface="Times New Roman"/>
              </a:rPr>
              <a:t>‘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D’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bit add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ss, store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 in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1739985" marR="444127" lvl="2" indent="-525940">
              <a:lnSpc>
                <a:spcPct val="143300"/>
              </a:lnSpc>
              <a:spcBef>
                <a:spcPts val="23"/>
              </a:spcBef>
              <a:buFont typeface="Times New Roman"/>
              <a:buAutoNum type="alphaLcPeriod"/>
              <a:tabLst>
                <a:tab pos="1741446" algn="l"/>
                <a:tab pos="42367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C, /B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T;	; </a:t>
            </a:r>
            <a:r>
              <a:rPr lang="en-US" sz="2761" spc="-12" dirty="0">
                <a:latin typeface="Times New Roman"/>
                <a:cs typeface="Times New Roman"/>
              </a:rPr>
              <a:t>‘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’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of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ontent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bit add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ss, store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 in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endParaRPr lang="en-US" sz="276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1634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97000" y="1066800"/>
            <a:ext cx="13722375" cy="7433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8105" lvl="1">
              <a:spcBef>
                <a:spcPts val="1461"/>
              </a:spcBef>
              <a:buSzPct val="83333"/>
              <a:tabLst>
                <a:tab pos="1215506" algn="l"/>
              </a:tabLst>
            </a:pPr>
            <a:endParaRPr lang="en-US" sz="2761" spc="-35" dirty="0">
              <a:latin typeface="Times New Roman"/>
              <a:cs typeface="Times New Roman"/>
            </a:endParaRPr>
          </a:p>
          <a:p>
            <a:pPr marL="688105" lvl="1">
              <a:spcBef>
                <a:spcPts val="1461"/>
              </a:spcBef>
              <a:buSzPct val="83333"/>
              <a:tabLst>
                <a:tab pos="1215506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2. L</a:t>
            </a:r>
            <a:r>
              <a:rPr lang="en-US" sz="2761" spc="12" dirty="0">
                <a:latin typeface="Times New Roman"/>
                <a:cs typeface="Times New Roman"/>
              </a:rPr>
              <a:t>OG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</a:p>
          <a:p>
            <a:pPr marL="1739985" marR="758230" lvl="2" indent="-525940">
              <a:lnSpc>
                <a:spcPts val="4785"/>
              </a:lnSpc>
              <a:spcBef>
                <a:spcPts val="368"/>
              </a:spcBef>
              <a:buFont typeface="Times New Roman"/>
              <a:buAutoNum type="alphaLcPeriod"/>
              <a:tabLst>
                <a:tab pos="1741446" algn="l"/>
                <a:tab pos="63404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C,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ESS)	; </a:t>
            </a:r>
            <a:r>
              <a:rPr lang="en-US" sz="2761" spc="-12" dirty="0">
                <a:latin typeface="Times New Roman"/>
                <a:cs typeface="Times New Roman"/>
              </a:rPr>
              <a:t>‘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’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ontent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ss, store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 in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1739985" lvl="2" indent="-525940">
              <a:spcBef>
                <a:spcPts val="1024"/>
              </a:spcBef>
              <a:buFont typeface="Times New Roman"/>
              <a:buAutoNum type="alphaLcPeriod"/>
              <a:tabLst>
                <a:tab pos="1741446" algn="l"/>
                <a:tab pos="42367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/</a:t>
            </a:r>
            <a:r>
              <a:rPr lang="en-US" sz="2761" spc="35" dirty="0">
                <a:latin typeface="Times New Roman"/>
                <a:cs typeface="Times New Roman"/>
              </a:rPr>
              <a:t>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T;	; </a:t>
            </a:r>
            <a:r>
              <a:rPr lang="en-US" sz="2761" spc="-12" dirty="0">
                <a:latin typeface="Times New Roman"/>
                <a:cs typeface="Times New Roman"/>
              </a:rPr>
              <a:t>‘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’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of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ontent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ss,</a:t>
            </a:r>
          </a:p>
          <a:p>
            <a:pPr marL="1739985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store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 in 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688105" lvl="1">
              <a:spcBef>
                <a:spcPts val="1438"/>
              </a:spcBef>
              <a:buSzPct val="83333"/>
              <a:tabLst>
                <a:tab pos="1215506" algn="l"/>
              </a:tabLst>
            </a:pPr>
            <a:r>
              <a:rPr lang="en-US" sz="2761" spc="23" dirty="0">
                <a:latin typeface="Times New Roman"/>
                <a:cs typeface="Times New Roman"/>
              </a:rPr>
              <a:t>3. C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R bit</a:t>
            </a:r>
          </a:p>
          <a:p>
            <a:pPr marL="1739985" lvl="2" indent="-525940">
              <a:spcBef>
                <a:spcPts val="1461"/>
              </a:spcBef>
              <a:buFont typeface="Times New Roman"/>
              <a:buAutoNum type="alphaLcPeriod"/>
              <a:tabLst>
                <a:tab pos="1741446" algn="l"/>
                <a:tab pos="3184859" algn="l"/>
              </a:tabLst>
            </a:pP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R bit	; cont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will be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1739985" lvl="2" indent="-525940">
              <a:spcBef>
                <a:spcPts val="1438"/>
              </a:spcBef>
              <a:buFont typeface="Times New Roman"/>
              <a:buAutoNum type="alphaLcPeriod"/>
              <a:tabLst>
                <a:tab pos="1741446" algn="l"/>
                <a:tab pos="3184859" algn="l"/>
              </a:tabLst>
            </a:pP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R C	; cont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1214045" indent="-525940">
              <a:buSzPct val="83333"/>
              <a:buFont typeface="Cambria"/>
              <a:buAutoNum type="arabicPeriod" startAt="4"/>
              <a:tabLst>
                <a:tab pos="1215506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688105">
              <a:buSzPct val="83333"/>
              <a:tabLst>
                <a:tab pos="1215506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4. CPL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</a:p>
          <a:p>
            <a:pPr marL="1457969" marR="2677911" lvl="3" indent="-514350">
              <a:lnSpc>
                <a:spcPts val="4785"/>
              </a:lnSpc>
              <a:spcBef>
                <a:spcPts val="368"/>
              </a:spcBef>
              <a:buFont typeface="+mj-lt"/>
              <a:buAutoNum type="alphaLcPeriod"/>
              <a:tabLst>
                <a:tab pos="1741446" algn="l"/>
                <a:tab pos="31848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CPL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	; cont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will be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nted.</a:t>
            </a:r>
          </a:p>
          <a:p>
            <a:pPr marL="1457969" marR="2677911" lvl="3" indent="-514350">
              <a:lnSpc>
                <a:spcPts val="4785"/>
              </a:lnSpc>
              <a:spcBef>
                <a:spcPts val="368"/>
              </a:spcBef>
              <a:buFont typeface="+mj-lt"/>
              <a:buAutoNum type="alphaLcPeriod"/>
              <a:tabLst>
                <a:tab pos="1741446" algn="l"/>
                <a:tab pos="31848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CPL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35" dirty="0">
                <a:latin typeface="Times New Roman"/>
                <a:cs typeface="Times New Roman"/>
              </a:rPr>
              <a:t> 	</a:t>
            </a:r>
            <a:r>
              <a:rPr lang="en-US" sz="2761" dirty="0">
                <a:latin typeface="Times New Roman"/>
                <a:cs typeface="Times New Roman"/>
              </a:rPr>
              <a:t>; cont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685800"/>
            <a:ext cx="15316200" cy="8582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41" indent="-777222">
              <a:spcBef>
                <a:spcPts val="1081"/>
              </a:spcBef>
              <a:buFont typeface="Times New Roman"/>
              <a:buAutoNum type="alphaUcPeriod"/>
              <a:tabLst>
                <a:tab pos="807902" algn="l"/>
              </a:tabLst>
            </a:pPr>
            <a:r>
              <a:rPr sz="2760" b="1" dirty="0">
                <a:latin typeface="Times New Roman"/>
                <a:cs typeface="Times New Roman"/>
              </a:rPr>
              <a:t>TEXTBOO</a:t>
            </a:r>
            <a:r>
              <a:rPr sz="2760" b="1" spc="-23" dirty="0">
                <a:latin typeface="Times New Roman"/>
                <a:cs typeface="Times New Roman"/>
              </a:rPr>
              <a:t>K</a:t>
            </a:r>
            <a:r>
              <a:rPr sz="2760" b="1" dirty="0">
                <a:latin typeface="Times New Roman"/>
                <a:cs typeface="Times New Roman"/>
              </a:rPr>
              <a:t>S/R</a:t>
            </a:r>
            <a:r>
              <a:rPr sz="2760" b="1" spc="-23" dirty="0">
                <a:latin typeface="Times New Roman"/>
                <a:cs typeface="Times New Roman"/>
              </a:rPr>
              <a:t>E</a:t>
            </a:r>
            <a:r>
              <a:rPr sz="2760" b="1" spc="-35" dirty="0">
                <a:latin typeface="Times New Roman"/>
                <a:cs typeface="Times New Roman"/>
              </a:rPr>
              <a:t>F</a:t>
            </a:r>
            <a:r>
              <a:rPr sz="2760" b="1" dirty="0">
                <a:latin typeface="Times New Roman"/>
                <a:cs typeface="Times New Roman"/>
              </a:rPr>
              <a:t>EREN</a:t>
            </a:r>
            <a:r>
              <a:rPr sz="2760" b="1" spc="-12" dirty="0">
                <a:latin typeface="Times New Roman"/>
                <a:cs typeface="Times New Roman"/>
              </a:rPr>
              <a:t>C</a:t>
            </a:r>
            <a:r>
              <a:rPr sz="2760" b="1" dirty="0">
                <a:latin typeface="Times New Roman"/>
                <a:cs typeface="Times New Roman"/>
              </a:rPr>
              <a:t>E BOO</a:t>
            </a:r>
            <a:r>
              <a:rPr sz="2760" b="1" spc="-23" dirty="0">
                <a:latin typeface="Times New Roman"/>
                <a:cs typeface="Times New Roman"/>
              </a:rPr>
              <a:t>K</a:t>
            </a:r>
            <a:r>
              <a:rPr sz="2760" b="1" dirty="0">
                <a:latin typeface="Times New Roman"/>
                <a:cs typeface="Times New Roman"/>
              </a:rPr>
              <a:t>S</a:t>
            </a:r>
            <a:endParaRPr sz="2760" dirty="0">
              <a:latin typeface="Times New Roman"/>
              <a:cs typeface="Times New Roman"/>
            </a:endParaRPr>
          </a:p>
          <a:p>
            <a:pPr marL="2669146" lvl="1" indent="-625284">
              <a:spcBef>
                <a:spcPts val="1461"/>
              </a:spcBef>
              <a:buFont typeface="Times New Roman"/>
              <a:buAutoNum type="romanLcPeriod"/>
              <a:tabLst>
                <a:tab pos="2670607" algn="l"/>
              </a:tabLst>
            </a:pPr>
            <a:endParaRPr lang="en-US" sz="2760" b="1" dirty="0">
              <a:latin typeface="Times New Roman"/>
              <a:cs typeface="Times New Roman"/>
            </a:endParaRPr>
          </a:p>
          <a:p>
            <a:pPr marL="2669146" lvl="1" indent="-625284">
              <a:spcBef>
                <a:spcPts val="1461"/>
              </a:spcBef>
              <a:buFont typeface="Times New Roman"/>
              <a:buAutoNum type="romanLcPeriod"/>
              <a:tabLst>
                <a:tab pos="2670607" algn="l"/>
              </a:tabLst>
            </a:pPr>
            <a:r>
              <a:rPr sz="2760" b="1" dirty="0">
                <a:latin typeface="Times New Roman"/>
                <a:cs typeface="Times New Roman"/>
              </a:rPr>
              <a:t>TE</a:t>
            </a:r>
            <a:r>
              <a:rPr sz="2760" b="1" spc="-35" dirty="0">
                <a:latin typeface="Times New Roman"/>
                <a:cs typeface="Times New Roman"/>
              </a:rPr>
              <a:t>X</a:t>
            </a:r>
            <a:r>
              <a:rPr sz="2760" b="1" dirty="0">
                <a:latin typeface="Times New Roman"/>
                <a:cs typeface="Times New Roman"/>
              </a:rPr>
              <a:t>TBOO</a:t>
            </a:r>
            <a:r>
              <a:rPr sz="2760" b="1" spc="-23" dirty="0">
                <a:latin typeface="Times New Roman"/>
                <a:cs typeface="Times New Roman"/>
              </a:rPr>
              <a:t>K</a:t>
            </a:r>
            <a:r>
              <a:rPr sz="2760" b="1" dirty="0">
                <a:latin typeface="Times New Roman"/>
                <a:cs typeface="Times New Roman"/>
              </a:rPr>
              <a:t>S</a:t>
            </a:r>
            <a:endParaRPr sz="2760" dirty="0">
              <a:latin typeface="Times New Roman"/>
              <a:cs typeface="Times New Roman"/>
            </a:endParaRPr>
          </a:p>
          <a:p>
            <a:pPr marL="29219" marR="11688">
              <a:spcBef>
                <a:spcPts val="12"/>
              </a:spcBef>
            </a:pPr>
            <a:r>
              <a:rPr sz="2760" b="1" dirty="0">
                <a:latin typeface="Times New Roman"/>
                <a:cs typeface="Times New Roman"/>
              </a:rPr>
              <a:t>T</a:t>
            </a:r>
            <a:r>
              <a:rPr lang="en-US" sz="2760" b="1" dirty="0">
                <a:latin typeface="Times New Roman"/>
                <a:cs typeface="Times New Roman"/>
              </a:rPr>
              <a:t>1</a:t>
            </a:r>
            <a:r>
              <a:rPr sz="2760" dirty="0">
                <a:latin typeface="Times New Roman"/>
                <a:cs typeface="Times New Roman"/>
              </a:rPr>
              <a:t> Kenneth Ayala, The 8051 Microcontroller, Cengage Learning India, 3rd Edition, Nov 2007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1688">
              <a:spcBef>
                <a:spcPts val="12"/>
              </a:spcBef>
            </a:pPr>
            <a:r>
              <a:rPr sz="2760" b="1" dirty="0">
                <a:latin typeface="Times New Roman"/>
                <a:cs typeface="Times New Roman"/>
              </a:rPr>
              <a:t>T2</a:t>
            </a:r>
            <a:r>
              <a:rPr sz="2760" dirty="0">
                <a:latin typeface="Times New Roman"/>
                <a:cs typeface="Times New Roman"/>
              </a:rPr>
              <a:t> B. Kanta Rao, Embedded Systems, PHI, 1st Edition, January 2011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1688">
              <a:spcBef>
                <a:spcPts val="12"/>
              </a:spcBef>
            </a:pPr>
            <a:r>
              <a:rPr sz="2760" b="1" dirty="0">
                <a:latin typeface="Times New Roman"/>
                <a:cs typeface="Times New Roman"/>
              </a:rPr>
              <a:t>T3</a:t>
            </a:r>
            <a:r>
              <a:rPr sz="2760" dirty="0">
                <a:latin typeface="Times New Roman"/>
                <a:cs typeface="Times New Roman"/>
              </a:rPr>
              <a:t> John Boxall, Arduino Workshop: A Hands-On Introduction with 65 Projects, No Starch Press, 1st Edition, May 2013</a:t>
            </a:r>
          </a:p>
          <a:p>
            <a:pPr marL="2679372" lvl="1" indent="-723168">
              <a:spcBef>
                <a:spcPts val="1024"/>
              </a:spcBef>
              <a:buFont typeface="Times New Roman"/>
              <a:buAutoNum type="romanLcPeriod" startAt="2"/>
              <a:tabLst>
                <a:tab pos="2680833" algn="l"/>
              </a:tabLst>
            </a:pPr>
            <a:r>
              <a:rPr sz="2760" b="1" dirty="0">
                <a:latin typeface="Times New Roman"/>
                <a:cs typeface="Times New Roman"/>
              </a:rPr>
              <a:t>RE</a:t>
            </a:r>
            <a:r>
              <a:rPr sz="2760" b="1" spc="-35" dirty="0">
                <a:latin typeface="Times New Roman"/>
                <a:cs typeface="Times New Roman"/>
              </a:rPr>
              <a:t>F</a:t>
            </a:r>
            <a:r>
              <a:rPr sz="2760" b="1" dirty="0">
                <a:latin typeface="Times New Roman"/>
                <a:cs typeface="Times New Roman"/>
              </a:rPr>
              <a:t>EREN</a:t>
            </a:r>
            <a:r>
              <a:rPr sz="2760" b="1" spc="-12" dirty="0">
                <a:latin typeface="Times New Roman"/>
                <a:cs typeface="Times New Roman"/>
              </a:rPr>
              <a:t>C</a:t>
            </a:r>
            <a:r>
              <a:rPr sz="2760" b="1" dirty="0">
                <a:latin typeface="Times New Roman"/>
                <a:cs typeface="Times New Roman"/>
              </a:rPr>
              <a:t>E BOO</a:t>
            </a:r>
            <a:r>
              <a:rPr sz="2760" b="1" spc="-23" dirty="0">
                <a:latin typeface="Times New Roman"/>
                <a:cs typeface="Times New Roman"/>
              </a:rPr>
              <a:t>K</a:t>
            </a:r>
            <a:r>
              <a:rPr sz="2760" b="1" dirty="0">
                <a:latin typeface="Times New Roman"/>
                <a:cs typeface="Times New Roman"/>
              </a:rPr>
              <a:t>S</a:t>
            </a:r>
            <a:endParaRPr sz="2760" dirty="0">
              <a:latin typeface="Times New Roman"/>
              <a:cs typeface="Times New Roman"/>
            </a:endParaRPr>
          </a:p>
          <a:p>
            <a:pPr marL="29219" marR="714402">
              <a:spcBef>
                <a:spcPts val="23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1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dirty="0">
                <a:latin typeface="Times New Roman"/>
                <a:cs typeface="Times New Roman"/>
              </a:rPr>
              <a:t>. 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m, </a:t>
            </a:r>
            <a:r>
              <a:rPr sz="2760" spc="-12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un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ment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ls of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Mic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oproc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ssors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d Mic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ontrolle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s, DR</a:t>
            </a:r>
            <a:r>
              <a:rPr sz="2760" spc="12" dirty="0">
                <a:latin typeface="Times New Roman"/>
                <a:cs typeface="Times New Roman"/>
              </a:rPr>
              <a:t>P</a:t>
            </a:r>
            <a:r>
              <a:rPr sz="2760" dirty="0">
                <a:latin typeface="Times New Roman"/>
                <a:cs typeface="Times New Roman"/>
              </a:rPr>
              <a:t>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8th Edition, Nov 2021</a:t>
            </a:r>
          </a:p>
          <a:p>
            <a:pPr marL="29219" marR="11688">
              <a:spcBef>
                <a:spcPts val="12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2 </a:t>
            </a:r>
            <a:r>
              <a:rPr sz="2760" dirty="0">
                <a:latin typeface="Times New Roman"/>
                <a:cs typeface="Times New Roman"/>
              </a:rPr>
              <a:t>M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ssimo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2" dirty="0">
                <a:latin typeface="Times New Roman"/>
                <a:cs typeface="Times New Roman"/>
              </a:rPr>
              <a:t>z</a:t>
            </a:r>
            <a:r>
              <a:rPr sz="2760" dirty="0">
                <a:latin typeface="Times New Roman"/>
                <a:cs typeface="Times New Roman"/>
              </a:rPr>
              <a:t>i, G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tting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Sta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ted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with A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duino, M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ke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Communi</a:t>
            </a:r>
            <a:r>
              <a:rPr sz="2760" spc="35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</a:t>
            </a:r>
            <a:r>
              <a:rPr sz="2760" spc="-69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C,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3rd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dition,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 2015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1688">
              <a:spcBef>
                <a:spcPts val="12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3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m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dirty="0">
                <a:latin typeface="Times New Roman"/>
                <a:cs typeface="Times New Roman"/>
              </a:rPr>
              <a:t>lum, E</a:t>
            </a:r>
            <a:r>
              <a:rPr sz="2760" spc="12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plo</a:t>
            </a:r>
            <a:r>
              <a:rPr sz="2760" spc="-35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ing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duino: Tools and </a:t>
            </a:r>
            <a:r>
              <a:rPr sz="2760" spc="12" dirty="0">
                <a:latin typeface="Times New Roman"/>
                <a:cs typeface="Times New Roman"/>
              </a:rPr>
              <a:t>T</a:t>
            </a:r>
            <a:r>
              <a:rPr sz="2760" spc="-12" dirty="0">
                <a:latin typeface="Times New Roman"/>
                <a:cs typeface="Times New Roman"/>
              </a:rPr>
              <a:t>ec</a:t>
            </a:r>
            <a:r>
              <a:rPr sz="2760" dirty="0">
                <a:latin typeface="Times New Roman"/>
                <a:cs typeface="Times New Roman"/>
              </a:rPr>
              <a:t>hniques </a:t>
            </a:r>
            <a:r>
              <a:rPr sz="2760" spc="-12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or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ine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i</a:t>
            </a:r>
            <a:r>
              <a:rPr sz="2760" spc="12" dirty="0">
                <a:latin typeface="Times New Roman"/>
                <a:cs typeface="Times New Roman"/>
              </a:rPr>
              <a:t>z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rd</a:t>
            </a:r>
            <a:r>
              <a:rPr sz="2760" spc="35" dirty="0">
                <a:latin typeface="Times New Roman"/>
                <a:cs typeface="Times New Roman"/>
              </a:rPr>
              <a:t>r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, </a:t>
            </a: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il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, 1st Edition, Aug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2013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1688">
              <a:spcBef>
                <a:spcPts val="12"/>
              </a:spcBef>
            </a:pPr>
            <a:endParaRPr lang="en-US" sz="2760" dirty="0">
              <a:latin typeface="Times New Roman"/>
              <a:cs typeface="Times New Roman"/>
            </a:endParaRPr>
          </a:p>
          <a:p>
            <a:pPr marL="438283" indent="-409064">
              <a:buFont typeface="Times New Roman"/>
              <a:buAutoNum type="alphaUcPeriod" startAt="2"/>
              <a:tabLst>
                <a:tab pos="439744" algn="l"/>
              </a:tabLst>
            </a:pPr>
            <a:r>
              <a:rPr lang="en-US" sz="2760" b="1" dirty="0">
                <a:latin typeface="Times New Roman"/>
                <a:cs typeface="Times New Roman"/>
              </a:rPr>
              <a:t>Vid</a:t>
            </a:r>
            <a:r>
              <a:rPr lang="en-US" sz="2760" b="1" spc="-12" dirty="0">
                <a:latin typeface="Times New Roman"/>
                <a:cs typeface="Times New Roman"/>
              </a:rPr>
              <a:t>e</a:t>
            </a:r>
            <a:r>
              <a:rPr lang="en-US" sz="2760" b="1" dirty="0">
                <a:latin typeface="Times New Roman"/>
                <a:cs typeface="Times New Roman"/>
              </a:rPr>
              <a:t>o Li</a:t>
            </a:r>
            <a:r>
              <a:rPr lang="en-US" sz="2760" b="1" spc="-12" dirty="0">
                <a:latin typeface="Times New Roman"/>
                <a:cs typeface="Times New Roman"/>
              </a:rPr>
              <a:t>n</a:t>
            </a:r>
            <a:r>
              <a:rPr lang="en-US" sz="2760" b="1" dirty="0">
                <a:latin typeface="Times New Roman"/>
                <a:cs typeface="Times New Roman"/>
              </a:rPr>
              <a:t>ks:</a:t>
            </a:r>
            <a:endParaRPr lang="en-US" sz="2760" dirty="0">
              <a:latin typeface="Times New Roman"/>
              <a:cs typeface="Times New Roman"/>
            </a:endParaRPr>
          </a:p>
          <a:p>
            <a:pPr>
              <a:buFont typeface="Times New Roman"/>
              <a:buAutoNum type="alphaUcPeriod" startAt="2"/>
            </a:pP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3"/>
              </a:rPr>
              <a:t>https://www.youtube.com/watch?v=paAiW-zZSTs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4"/>
              </a:rPr>
              <a:t>https://www.youtube.com/watch?v=pC56UDhullM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5"/>
              </a:rPr>
              <a:t>https://www.youtube.com/watch?v=pzf_gTTpUhM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6"/>
              </a:rPr>
              <a:t>https://www.youtube.com/watch?v=EI3MtI93zu4</a:t>
            </a:r>
            <a:endParaRPr lang="en-US" sz="276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4829</Words>
  <Application>Microsoft Office PowerPoint</Application>
  <PresentationFormat>Custom</PresentationFormat>
  <Paragraphs>413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MS Gothic</vt:lpstr>
      <vt:lpstr>Arial</vt:lpstr>
      <vt:lpstr>Calibri</vt:lpstr>
      <vt:lpstr>Cambria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7</cp:revision>
  <dcterms:created xsi:type="dcterms:W3CDTF">2024-06-07T09:20:01Z</dcterms:created>
  <dcterms:modified xsi:type="dcterms:W3CDTF">2024-07-29T07:27:34Z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LastSaved">
    <vt:filetime>2024-06-07T00:00:00Z</vt:filetime>
  </property>
</Properties>
</file>