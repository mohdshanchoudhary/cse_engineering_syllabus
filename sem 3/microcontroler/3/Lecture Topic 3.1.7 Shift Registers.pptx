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68" r:id="rId4"/>
    <p:sldId id="257" r:id="rId5"/>
    <p:sldId id="258" r:id="rId6"/>
    <p:sldId id="269" r:id="rId7"/>
    <p:sldId id="259" r:id="rId8"/>
    <p:sldId id="270" r:id="rId9"/>
    <p:sldId id="260" r:id="rId10"/>
    <p:sldId id="261" r:id="rId11"/>
    <p:sldId id="271" r:id="rId12"/>
    <p:sldId id="262" r:id="rId13"/>
    <p:sldId id="272" r:id="rId14"/>
    <p:sldId id="263" r:id="rId15"/>
    <p:sldId id="273" r:id="rId16"/>
    <p:sldId id="264" r:id="rId17"/>
    <p:sldId id="274" r:id="rId18"/>
    <p:sldId id="275" r:id="rId19"/>
    <p:sldId id="265" r:id="rId20"/>
    <p:sldId id="266" r:id="rId21"/>
    <p:sldId id="276" r:id="rId22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62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926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9746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5673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8840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8818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5580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11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4106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4165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660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5213" y="1066800"/>
            <a:ext cx="13722375" cy="2428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1238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nnection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Shift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Register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44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sorts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purp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rsion, buf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st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5369583" y="4191000"/>
            <a:ext cx="7133634" cy="4295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914400"/>
            <a:ext cx="15011400" cy="7723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b="1" dirty="0">
                <a:latin typeface="Times New Roman"/>
                <a:cs typeface="Times New Roman"/>
              </a:rPr>
              <a:t>Why do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ee</a:t>
            </a:r>
            <a:r>
              <a:rPr sz="2761" b="1" dirty="0">
                <a:latin typeface="Times New Roman"/>
                <a:cs typeface="Times New Roman"/>
              </a:rPr>
              <a:t>d shi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58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gist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s?</a:t>
            </a:r>
            <a:endParaRPr sz="2761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ts val="4739"/>
              </a:lnSpc>
              <a:spcBef>
                <a:spcPts val="380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/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t,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250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54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plus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double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pins.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70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potential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 pins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d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t usual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mo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 som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 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7531" algn="just">
              <a:lnSpc>
                <a:spcPts val="4739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mili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“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Cube</a:t>
            </a:r>
            <a:r>
              <a:rPr sz="2761" spc="-12" dirty="0">
                <a:latin typeface="Times New Roman"/>
                <a:cs typeface="Times New Roman"/>
              </a:rPr>
              <a:t>”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ube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4x4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nsion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would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64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bili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ino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2560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”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few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pins.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limit.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to a 5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5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5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luck,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ll ne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125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t c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ntrol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 individu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</a:p>
          <a:p>
            <a:pPr marL="29219" marR="16070" algn="just">
              <a:lnSpc>
                <a:spcPts val="4739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35" dirty="0">
                <a:latin typeface="Times New Roman"/>
                <a:cs typeface="Times New Roman"/>
              </a:rPr>
              <a:t>4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4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ube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(i.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ssabl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ould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limit.</a:t>
            </a:r>
          </a:p>
          <a:p>
            <a:pPr marL="29219" marR="11688" algn="just">
              <a:lnSpc>
                <a:spcPts val="4739"/>
              </a:lnSpc>
              <a:spcBef>
                <a:spcPts val="46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solve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issu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including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running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69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rix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shift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/</a:t>
            </a:r>
            <a:r>
              <a:rPr sz="2761" dirty="0">
                <a:latin typeface="Times New Roman"/>
                <a:cs typeface="Times New Roman"/>
              </a:rPr>
              <a:t>O pins.</a:t>
            </a:r>
          </a:p>
        </p:txBody>
      </p:sp>
    </p:spTree>
    <p:extLst>
      <p:ext uri="{BB962C8B-B14F-4D97-AF65-F5344CB8AC3E}">
        <p14:creationId xmlns:p14="http://schemas.microsoft.com/office/powerpoint/2010/main" val="8243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82700" y="914400"/>
            <a:ext cx="15316200" cy="4866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8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switch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d. Ag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 shift 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 to the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Shi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ft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Registers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50000"/>
              </a:lnSpc>
              <a:spcBef>
                <a:spcPts val="584"/>
              </a:spcBef>
            </a:pP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rsio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9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binary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ta.</a:t>
            </a:r>
          </a:p>
          <a:p>
            <a:pPr marL="29219">
              <a:lnSpc>
                <a:spcPct val="150000"/>
              </a:lnSpc>
              <a:spcBef>
                <a:spcPts val="1461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21200" y="5486400"/>
            <a:ext cx="8375108" cy="3959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325392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838200"/>
            <a:ext cx="15011400" cy="4673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rial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ta.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he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ommunic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tions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uits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 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buf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uits.  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x 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tronic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uits, such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12" dirty="0">
                <a:latin typeface="Times New Roman"/>
                <a:cs typeface="Times New Roman"/>
              </a:rPr>
              <a:t>pr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ssors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mi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</a:t>
            </a:r>
            <a:r>
              <a:rPr lang="en-US" sz="2761" spc="46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rs, use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 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lnSpc>
                <a:spcPct val="150000"/>
              </a:lnSpc>
            </a:pPr>
            <a:endParaRPr lang="en-US" sz="2760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Shi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Registers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50000"/>
              </a:lnSpc>
              <a:spcBef>
                <a:spcPts val="584"/>
              </a:spcBef>
            </a:pP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their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mats. 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sic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shift 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20800" y="5943600"/>
            <a:ext cx="6265863" cy="3039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6419" marR="11688" indent="-457200">
              <a:lnSpc>
                <a:spcPct val="144200"/>
              </a:lnSpc>
              <a:buFont typeface="Arial" panose="020B0604020202020204" pitchFamily="34" charset="0"/>
              <a:buChar char="•"/>
            </a:pPr>
            <a:r>
              <a:rPr lang="en-US" sz="2990" spc="-12" dirty="0">
                <a:solidFill>
                  <a:srgbClr val="2E5395"/>
                </a:solidFill>
                <a:latin typeface="Times New Roman"/>
                <a:cs typeface="Times New Roman"/>
              </a:rPr>
              <a:t>Serial </a:t>
            </a:r>
            <a:r>
              <a:rPr lang="en-US" sz="2990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lang="en-US" sz="299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0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lang="en-US" sz="2990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0" spc="-12" dirty="0">
                <a:solidFill>
                  <a:srgbClr val="2E5395"/>
                </a:solidFill>
                <a:latin typeface="Times New Roman"/>
                <a:cs typeface="Times New Roman"/>
              </a:rPr>
              <a:t>Parallel</a:t>
            </a:r>
            <a:r>
              <a:rPr lang="en-US" sz="2990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0" spc="-23" dirty="0">
                <a:solidFill>
                  <a:srgbClr val="2E5395"/>
                </a:solidFill>
                <a:latin typeface="Times New Roman"/>
                <a:cs typeface="Times New Roman"/>
              </a:rPr>
              <a:t>Out</a:t>
            </a:r>
            <a:endParaRPr lang="en-US" sz="2990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–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PO)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to drive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 output ports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dat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7" name="object 7"/>
          <p:cNvSpPr/>
          <p:nvPr/>
        </p:nvSpPr>
        <p:spPr>
          <a:xfrm>
            <a:off x="7950200" y="5714491"/>
            <a:ext cx="8426581" cy="4065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247374"/>
            <a:ext cx="4084718" cy="460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indent="-524479">
              <a:buClr>
                <a:srgbClr val="2E5395"/>
              </a:buClr>
              <a:buFont typeface="Symbol"/>
              <a:buChar char=""/>
              <a:tabLst>
                <a:tab pos="555159" algn="l"/>
              </a:tabLst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Parallel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Serial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Out</a:t>
            </a:r>
            <a:endParaRPr sz="299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8000" y="7195607"/>
            <a:ext cx="14478000" cy="1153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–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SO)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to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 multiple input ports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dat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5283200" y="2286000"/>
            <a:ext cx="9251938" cy="41010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7400" y="990600"/>
            <a:ext cx="13728219" cy="460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Parallel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Parallel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ut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Serial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rial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Out</a:t>
            </a:r>
            <a:endParaRPr sz="299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1615" y="1827774"/>
            <a:ext cx="6429985" cy="665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4100"/>
              </a:lnSpc>
            </a:pPr>
            <a:r>
              <a:rPr lang="en-US" sz="2761" dirty="0">
                <a:latin typeface="Times New Roman"/>
                <a:cs typeface="Times New Roman"/>
              </a:rPr>
              <a:t>You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find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these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would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th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it w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npu</a:t>
            </a:r>
            <a:r>
              <a:rPr lang="en-US" sz="2761" spc="-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?</a:t>
            </a:r>
          </a:p>
          <a:p>
            <a:pPr marL="29219" marR="11688" algn="just">
              <a:lnSpc>
                <a:spcPct val="1441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100"/>
              </a:lnSpc>
            </a:pP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buf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hold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 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ific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 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lock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les. The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using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both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mp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simil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their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92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nputs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outputs so it doesn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t ch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being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thro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h.</a:t>
            </a:r>
          </a:p>
        </p:txBody>
      </p:sp>
      <p:sp>
        <p:nvSpPr>
          <p:cNvPr id="6" name="object 6"/>
          <p:cNvSpPr/>
          <p:nvPr/>
        </p:nvSpPr>
        <p:spPr>
          <a:xfrm>
            <a:off x="8331200" y="1676400"/>
            <a:ext cx="8258785" cy="43474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/>
          <p:nvPr/>
        </p:nvSpPr>
        <p:spPr>
          <a:xfrm>
            <a:off x="8331200" y="6400800"/>
            <a:ext cx="8258785" cy="3323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555097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8400" y="549768"/>
            <a:ext cx="15392400" cy="8958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74HC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5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95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&amp;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7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</a:t>
            </a:r>
            <a:r>
              <a:rPr kumimoji="0" lang="en-US" sz="3681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HC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65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Shi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Registers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11688" lvl="0" indent="0" algn="l" defTabSz="914400" rtl="0" eaLnBrk="1" fontAlgn="auto" latinLnBrk="0" hangingPunct="1">
              <a:lnSpc>
                <a:spcPct val="14330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will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using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two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ommon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ob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ined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shift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tod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74HC595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74HC165 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SO.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’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take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los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look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th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hips.</a:t>
            </a:r>
          </a:p>
          <a:p>
            <a:pPr marL="29219" algn="just"/>
            <a:endParaRPr lang="en-US" sz="2760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74HC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5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95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8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erial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allel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Out</a:t>
            </a:r>
            <a:endParaRPr sz="368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800"/>
              </a:lnSpc>
              <a:spcBef>
                <a:spcPts val="59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74HC595 is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stor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indep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ntly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This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ing while it is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load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74HC595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spc="23" dirty="0">
                <a:latin typeface="Times New Roman"/>
                <a:cs typeface="Times New Roman"/>
              </a:rPr>
              <a:t>3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”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lel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tes.</a:t>
            </a:r>
          </a:p>
          <a:p>
            <a:pPr marL="1079638" indent="-524479">
              <a:spcBef>
                <a:spcPts val="1461"/>
              </a:spcBef>
              <a:buSzPct val="83333"/>
              <a:buFont typeface="Wingdings"/>
              <a:buChar char=""/>
              <a:tabLst>
                <a:tab pos="1081099" algn="l"/>
              </a:tabLst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</a:p>
          <a:p>
            <a:pPr marL="1079638" indent="-524479">
              <a:spcBef>
                <a:spcPts val="1438"/>
              </a:spcBef>
              <a:buSzPct val="83333"/>
              <a:buFont typeface="Wingdings"/>
              <a:buChar char=""/>
              <a:tabLst>
                <a:tab pos="1081099" algn="l"/>
              </a:tabLst>
            </a:pP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GH</a:t>
            </a:r>
          </a:p>
          <a:p>
            <a:pPr marL="1079638" indent="-524479">
              <a:spcBef>
                <a:spcPts val="1461"/>
              </a:spcBef>
              <a:buSzPct val="83333"/>
              <a:buFont typeface="Wingdings"/>
              <a:buChar char="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mped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discon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utput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hnique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3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state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drive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97000" y="990600"/>
            <a:ext cx="15163800" cy="7812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pinout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74HC595 in the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illustr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The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input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(pin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r>
              <a:rPr lang="en-US" sz="2761" spc="23" dirty="0">
                <a:latin typeface="Times New Roman"/>
                <a:cs typeface="Times New Roman"/>
              </a:rPr>
              <a:t>4</a:t>
            </a:r>
            <a:r>
              <a:rPr lang="en-US" sz="2761" dirty="0">
                <a:latin typeface="Times New Roman"/>
                <a:cs typeface="Times New Roman"/>
              </a:rPr>
              <a:t>).</a:t>
            </a:r>
            <a:r>
              <a:rPr lang="en-US" sz="2761" spc="12" dirty="0">
                <a:latin typeface="Times New Roman"/>
                <a:cs typeface="Times New Roman"/>
              </a:rPr>
              <a:t> Y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Q7S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23" dirty="0">
                <a:latin typeface="Times New Roman"/>
                <a:cs typeface="Times New Roman"/>
              </a:rPr>
              <a:t> t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vic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to in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 outputs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ontrol.</a:t>
            </a:r>
          </a:p>
          <a:p>
            <a:pPr marL="29219" algn="just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 En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pin </a:t>
            </a:r>
            <a:r>
              <a:rPr lang="en-US" sz="2761" spc="23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3)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3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state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s, if it is </a:t>
            </a:r>
            <a:r>
              <a:rPr lang="en-US" sz="2761" spc="-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OW then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 bus is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bled.</a:t>
            </a:r>
          </a:p>
        </p:txBody>
      </p:sp>
      <p:sp>
        <p:nvSpPr>
          <p:cNvPr id="2" name="object 4"/>
          <p:cNvSpPr/>
          <p:nvPr/>
        </p:nvSpPr>
        <p:spPr>
          <a:xfrm>
            <a:off x="2140253" y="1752600"/>
            <a:ext cx="13601094" cy="513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70149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143000"/>
            <a:ext cx="14935200" cy="2475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74HC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1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65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8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arallel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–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rial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Out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300"/>
              </a:lnSpc>
              <a:spcBef>
                <a:spcPts val="61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74HC165 is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load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output.  </a:t>
            </a:r>
            <a:r>
              <a:rPr sz="2761" spc="-69" dirty="0">
                <a:latin typeface="Times New Roman"/>
                <a:cs typeface="Times New Roman"/>
              </a:rPr>
              <a:t> I</a:t>
            </a:r>
            <a:r>
              <a:rPr sz="2761" dirty="0">
                <a:latin typeface="Times New Roman"/>
                <a:cs typeface="Times New Roman"/>
              </a:rPr>
              <a:t>t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anoth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74</a:t>
            </a:r>
            <a:r>
              <a:rPr sz="2761" spc="-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C165 to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This devi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pinout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9000" y="4495800"/>
            <a:ext cx="5767690" cy="47497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06500" y="5544622"/>
            <a:ext cx="15468600" cy="404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lvl="0" indent="0" algn="l" defTabSz="914400" rtl="0" eaLnBrk="1" fontAlgn="auto" latinLnBrk="0" hangingPunct="1">
              <a:lnSpc>
                <a:spcPct val="14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As</a:t>
            </a:r>
            <a:r>
              <a:rPr kumimoji="0" lang="en-US" sz="2761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with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74HC595,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his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ommon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ted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uit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hould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trouble obtaining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almost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troni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supplie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  <a:p>
            <a:pPr marL="29219"/>
            <a:endParaRPr lang="en-US" sz="2760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Extra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Out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Ports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with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7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4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HC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5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95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598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 our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ments with the 74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C595 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PO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–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Out) shift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74HC595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/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nts, we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to drive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Ds,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</a:p>
        </p:txBody>
      </p:sp>
      <p:sp>
        <p:nvSpPr>
          <p:cNvPr id="5" name="object 5"/>
          <p:cNvSpPr/>
          <p:nvPr/>
        </p:nvSpPr>
        <p:spPr>
          <a:xfrm>
            <a:off x="2921000" y="251993"/>
            <a:ext cx="12666133" cy="52592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784815"/>
            <a:ext cx="15316200" cy="856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7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4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HC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5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95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Ho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k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how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w</a:t>
            </a:r>
            <a:r>
              <a:rPr sz="2761" dirty="0">
                <a:latin typeface="Times New Roman"/>
                <a:cs typeface="Times New Roman"/>
              </a:rPr>
              <a:t>ill be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ooking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the 74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C595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and to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2048"/>
              </a:spcBef>
            </a:pP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putti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db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ke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sure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side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dif</a:t>
            </a:r>
            <a:r>
              <a:rPr lang="en-US" sz="2761" spc="-12" dirty="0">
                <a:latin typeface="Times New Roman"/>
                <a:cs typeface="Times New Roman"/>
              </a:rPr>
              <a:t>fe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side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little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69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sh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up,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35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ip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 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ft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not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h.</a:t>
            </a:r>
          </a:p>
        </p:txBody>
      </p:sp>
      <p:sp>
        <p:nvSpPr>
          <p:cNvPr id="6" name="object 6"/>
          <p:cNvSpPr/>
          <p:nvPr/>
        </p:nvSpPr>
        <p:spPr>
          <a:xfrm>
            <a:off x="2616200" y="2552700"/>
            <a:ext cx="13067694" cy="495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030435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460449"/>
            <a:ext cx="15316200" cy="91375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CC)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(SRC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R)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</a:t>
            </a:r>
            <a:r>
              <a:rPr sz="2761" spc="58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5V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3 (</a:t>
            </a:r>
            <a:r>
              <a:rPr sz="2761" spc="-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E)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 This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 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 in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wo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mode.</a:t>
            </a:r>
          </a:p>
          <a:p>
            <a:pPr marL="29219" marR="11688" algn="just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t,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11 (SRC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(R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),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14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(SER)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</a:t>
            </a:r>
            <a:r>
              <a:rPr sz="2761" spc="8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4,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All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mains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thode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(sho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pin)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</a:p>
          <a:p>
            <a:pPr marL="29219" marR="24836" algn="just">
              <a:lnSpc>
                <a:spcPct val="143300"/>
              </a:lnSpc>
              <a:spcBef>
                <a:spcPts val="23"/>
              </a:spcBef>
            </a:pP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node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(long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pin)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output pin.</a:t>
            </a:r>
          </a:p>
          <a:p>
            <a:pPr marL="2921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-12" dirty="0">
                <a:latin typeface="Times New Roman"/>
                <a:cs typeface="Times New Roman"/>
              </a:rPr>
              <a:t>n’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22</a:t>
            </a:r>
            <a:r>
              <a:rPr sz="2761" dirty="0">
                <a:latin typeface="Times New Roman"/>
                <a:cs typeface="Times New Roman"/>
              </a:rPr>
              <a:t>0Ω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Ds,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nsure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last; 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ise,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not li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up in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or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r!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doub</a:t>
            </a:r>
            <a:r>
              <a:rPr sz="2761" spc="23" dirty="0">
                <a:latin typeface="Times New Roman"/>
                <a:cs typeface="Times New Roman"/>
              </a:rPr>
              <a:t>le</a:t>
            </a:r>
            <a:r>
              <a:rPr sz="2761" spc="-12" dirty="0">
                <a:latin typeface="Times New Roman"/>
                <a:cs typeface="Times New Roman"/>
              </a:rPr>
              <a:t>-c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You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drop</a:t>
            </a:r>
            <a:r>
              <a:rPr sz="2761" spc="-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</a:p>
          <a:p>
            <a:pPr marL="2921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ombos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istor,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test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</a:t>
            </a:r>
            <a:r>
              <a:rPr sz="2761" spc="58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irs.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 wi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the 74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C5</a:t>
            </a:r>
            <a:r>
              <a:rPr sz="2761" spc="23" dirty="0">
                <a:latin typeface="Times New Roman"/>
                <a:cs typeface="Times New Roman"/>
              </a:rPr>
              <a:t>9</a:t>
            </a:r>
            <a:r>
              <a:rPr sz="2761" dirty="0">
                <a:latin typeface="Times New Roman"/>
                <a:cs typeface="Times New Roman"/>
              </a:rPr>
              <a:t>5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is all 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up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move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762000"/>
            <a:ext cx="15163800" cy="787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hif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tOut() Fu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000"/>
              </a:lnSpc>
              <a:spcBef>
                <a:spcPts val="584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ouple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dirty="0">
                <a:latin typeface="Times New Roman"/>
                <a:cs typeface="Times New Roman"/>
              </a:rPr>
              <a:t>talk”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I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bus,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would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make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isting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impli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riting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Anoth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dat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 This is the 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thod we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74HC595 shift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provid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shif</a:t>
            </a:r>
            <a:r>
              <a:rPr sz="2761" i="1" spc="-23" dirty="0">
                <a:latin typeface="Times New Roman"/>
                <a:cs typeface="Times New Roman"/>
              </a:rPr>
              <a:t>t</a:t>
            </a:r>
            <a:r>
              <a:rPr sz="2761" i="1" dirty="0">
                <a:latin typeface="Times New Roman"/>
                <a:cs typeface="Times New Roman"/>
              </a:rPr>
              <a:t>Out()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simplify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take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nc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nother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pin.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You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hoose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output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two di</a:t>
            </a:r>
            <a:r>
              <a:rPr sz="2761" spc="-12" dirty="0">
                <a:latin typeface="Times New Roman"/>
                <a:cs typeface="Times New Roman"/>
              </a:rPr>
              <a:t>rec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553698" marR="11688" indent="-524479">
              <a:lnSpc>
                <a:spcPct val="143300"/>
              </a:lnSpc>
              <a:buSzPct val="83333"/>
              <a:buFont typeface="Wingdings"/>
              <a:buChar char=""/>
              <a:tabLst>
                <a:tab pos="55515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SB </a:t>
            </a: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irst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– 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Most Si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nifi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fi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st. </a:t>
            </a:r>
            <a:r>
              <a:rPr lang="en-US" sz="276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o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bina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101100</a:t>
            </a:r>
            <a:r>
              <a:rPr lang="en-US" sz="2761" spc="23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0 will output a 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a time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“</a:t>
            </a:r>
            <a:r>
              <a:rPr lang="en-US" sz="2761" dirty="0">
                <a:latin typeface="Times New Roman"/>
                <a:cs typeface="Times New Roman"/>
              </a:rPr>
              <a:t>101</a:t>
            </a:r>
            <a:r>
              <a:rPr lang="en-US" sz="2761" spc="-12" dirty="0">
                <a:latin typeface="Times New Roman"/>
                <a:cs typeface="Times New Roman"/>
              </a:rPr>
              <a:t>”</a:t>
            </a:r>
            <a:r>
              <a:rPr lang="en-US" sz="2761" dirty="0">
                <a:latin typeface="Times New Roman"/>
                <a:cs typeface="Times New Roman"/>
              </a:rPr>
              <a:t>, or from 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 to 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ght.</a:t>
            </a:r>
          </a:p>
          <a:p>
            <a:pPr marL="553698" marR="17531" indent="-524479">
              <a:lnSpc>
                <a:spcPct val="143300"/>
              </a:lnSpc>
              <a:spcBef>
                <a:spcPts val="23"/>
              </a:spcBef>
              <a:buSzPct val="83333"/>
              <a:buFont typeface="Wingdings"/>
              <a:buChar char="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LSB</a:t>
            </a:r>
            <a:r>
              <a:rPr lang="en-US" sz="2761" b="1" spc="299" dirty="0">
                <a:latin typeface="Times New Roman"/>
                <a:cs typeface="Times New Roman"/>
              </a:rPr>
              <a:t> </a:t>
            </a: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irst</a:t>
            </a:r>
            <a:r>
              <a:rPr lang="en-US" sz="2761" b="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–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nifi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st. 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bina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mber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10110010 will output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a time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“</a:t>
            </a:r>
            <a:r>
              <a:rPr lang="en-US" sz="2761" dirty="0">
                <a:latin typeface="Times New Roman"/>
                <a:cs typeface="Times New Roman"/>
              </a:rPr>
              <a:t>01</a:t>
            </a:r>
            <a:r>
              <a:rPr lang="en-US" sz="2761" spc="23" dirty="0">
                <a:latin typeface="Times New Roman"/>
                <a:cs typeface="Times New Roman"/>
              </a:rPr>
              <a:t>0</a:t>
            </a:r>
            <a:r>
              <a:rPr lang="en-US" sz="2761" spc="-12" dirty="0">
                <a:latin typeface="Times New Roman"/>
                <a:cs typeface="Times New Roman"/>
              </a:rPr>
              <a:t>”</a:t>
            </a:r>
            <a:r>
              <a:rPr lang="en-US" sz="2761" dirty="0">
                <a:latin typeface="Times New Roman"/>
                <a:cs typeface="Times New Roman"/>
              </a:rPr>
              <a:t>, or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 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to 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</p:txBody>
      </p:sp>
    </p:spTree>
    <p:extLst>
      <p:ext uri="{BB962C8B-B14F-4D97-AF65-F5344CB8AC3E}">
        <p14:creationId xmlns:p14="http://schemas.microsoft.com/office/powerpoint/2010/main" val="2018101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7932" y="979971"/>
            <a:ext cx="13728219" cy="5735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7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4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HC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5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95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400"/>
              </a:lnSpc>
              <a:spcBef>
                <a:spcPts val="575"/>
              </a:spcBef>
            </a:pP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shiftOut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nding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400"/>
              </a:lnSpc>
              <a:spcBef>
                <a:spcPts val="575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400"/>
              </a:lnSpc>
              <a:spcBef>
                <a:spcPts val="575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lat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hPin</a:t>
            </a:r>
            <a:r>
              <a:rPr lang="en-US" sz="2761" dirty="0">
                <a:latin typeface="Times New Roman"/>
                <a:cs typeface="Times New Roman"/>
              </a:rPr>
              <a:t> = 5;	//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tch pin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74HC595 is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pin 5</a:t>
            </a:r>
          </a:p>
          <a:p>
            <a:pPr marL="29219" marR="11688">
              <a:lnSpc>
                <a:spcPct val="144400"/>
              </a:lnSpc>
              <a:spcBef>
                <a:spcPts val="575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lockPin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6;	// C</a:t>
            </a:r>
            <a:r>
              <a:rPr lang="en-US" sz="2761" spc="-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pin of 74</a:t>
            </a:r>
            <a:r>
              <a:rPr lang="en-US" sz="2761" spc="-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C595 is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pin 6</a:t>
            </a:r>
          </a:p>
          <a:p>
            <a:pPr marL="29219" marR="11688">
              <a:lnSpc>
                <a:spcPct val="144400"/>
              </a:lnSpc>
              <a:spcBef>
                <a:spcPts val="575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taPin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4;	// 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pin of 74HC595 is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pin 4</a:t>
            </a:r>
          </a:p>
          <a:p>
            <a:pPr marL="29219" marR="11688">
              <a:lnSpc>
                <a:spcPct val="144400"/>
              </a:lnSpc>
              <a:spcBef>
                <a:spcPts val="575"/>
              </a:spcBef>
            </a:pP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0;	//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iable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hold the p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hich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on 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ff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778000" y="1066800"/>
            <a:ext cx="13563600" cy="7578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/*</a:t>
            </a:r>
          </a:p>
          <a:p>
            <a:pPr marL="379846" indent="-262970">
              <a:spcBef>
                <a:spcPts val="1438"/>
              </a:spcBef>
              <a:buFont typeface="Times New Roman"/>
              <a:buChar char="*"/>
              <a:tabLst>
                <a:tab pos="379846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-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uns on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turn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on</a:t>
            </a:r>
          </a:p>
          <a:p>
            <a:pPr marL="379846" indent="-262970">
              <a:spcBef>
                <a:spcPts val="1461"/>
              </a:spcBef>
              <a:buFont typeface="Times New Roman"/>
              <a:buChar char="*"/>
              <a:tabLst>
                <a:tab pos="379846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initi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conn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puter</a:t>
            </a:r>
          </a:p>
          <a:p>
            <a:pPr marL="116876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*/</a:t>
            </a: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marR="2273230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//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all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of 7</a:t>
            </a:r>
            <a:r>
              <a:rPr sz="2761" spc="-12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HC595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TPUT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2273230">
              <a:lnSpc>
                <a:spcPct val="1437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hPin, OU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2273230">
              <a:lnSpc>
                <a:spcPct val="1437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taPin,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2273230">
              <a:lnSpc>
                <a:spcPct val="1437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lockPin,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3473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739467"/>
            <a:ext cx="14104587" cy="8573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/*</a:t>
            </a:r>
          </a:p>
          <a:p>
            <a:pPr marL="116876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* loop()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-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uns ov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ov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ag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</a:p>
          <a:p>
            <a:pPr marL="116876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*/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 err="1">
                <a:latin typeface="Times New Roman"/>
                <a:cs typeface="Times New Roman"/>
              </a:rPr>
              <a:t>leds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  <a:r>
              <a:rPr lang="en-US" sz="2761" dirty="0">
                <a:latin typeface="Times New Roman"/>
                <a:cs typeface="Times New Roman"/>
              </a:rPr>
              <a:t>	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nitial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turns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s of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g</a:t>
            </a:r>
            <a:r>
              <a:rPr lang="en-US" sz="2761" dirty="0">
                <a:latin typeface="Times New Roman"/>
                <a:cs typeface="Times New Roman"/>
              </a:rPr>
              <a:t>ivi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 err="1">
                <a:latin typeface="Times New Roman"/>
                <a:cs typeface="Times New Roman"/>
              </a:rPr>
              <a:t>led</a:t>
            </a:r>
            <a:r>
              <a:rPr lang="en-US" sz="2761" spc="12" dirty="0" err="1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0</a:t>
            </a:r>
          </a:p>
          <a:p>
            <a:pPr marL="943619" marR="236673" lvl="2">
              <a:lnSpc>
                <a:spcPct val="1442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upd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teShiftRe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ist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spc="12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(500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943619" lvl="2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(int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0;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&lt;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8;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++</a:t>
            </a:r>
            <a:r>
              <a:rPr lang="en-US" sz="2761" dirty="0">
                <a:latin typeface="Times New Roman"/>
                <a:cs typeface="Times New Roman"/>
              </a:rPr>
              <a:t>)	// Tu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Ds 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 one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943619" lvl="2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995499" lvl="2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bitS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ds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);	//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bit th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cont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ols </a:t>
            </a:r>
            <a:r>
              <a:rPr lang="en-US" sz="2761" spc="-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 err="1">
                <a:latin typeface="Times New Roman"/>
                <a:cs typeface="Times New Roman"/>
              </a:rPr>
              <a:t>leds</a:t>
            </a:r>
            <a:r>
              <a:rPr lang="en-US" sz="2761" dirty="0">
                <a:latin typeface="Times New Roman"/>
                <a:cs typeface="Times New Roman"/>
              </a:rPr>
              <a:t>’</a:t>
            </a:r>
          </a:p>
          <a:p>
            <a:pPr marL="1995499" lvl="2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upd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teShiftRe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ist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spc="12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995499" lvl="2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(500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79638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 algn="just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684008" y="1233667"/>
            <a:ext cx="13728219" cy="652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dirty="0">
                <a:latin typeface="Times New Roman"/>
                <a:cs typeface="Times New Roman"/>
              </a:rPr>
              <a:t>/*</a:t>
            </a:r>
          </a:p>
          <a:p>
            <a:pPr marL="29219" marR="11688" indent="87657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*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teShiftRe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hPin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shiftOu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ntents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led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putting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'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in.</a:t>
            </a:r>
          </a:p>
          <a:p>
            <a:pPr marL="116876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*/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void updat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ShiftR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()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89" marR="6971627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tchPin,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OW); shiftOut(d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taPin,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Pin,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RST, 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tchPin,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8752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320800" y="990600"/>
            <a:ext cx="15087600" cy="750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xplanation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  <a:spcBef>
                <a:spcPts val="584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step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three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74HC595,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pin,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</a:t>
            </a:r>
            <a:r>
              <a:rPr sz="2761" spc="35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di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pins #5, #6,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#4,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0292354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int 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hPin = 5;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0292354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int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lockPin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/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taPin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4;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t,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leds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58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fin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46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bits, 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is id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l for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ki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on/o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tus of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ght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	//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to hold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on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 o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spc="23" dirty="0">
                <a:latin typeface="Times New Roman"/>
                <a:cs typeface="Times New Roman"/>
              </a:rPr>
              <a:t>	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0;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4090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35100" y="685800"/>
            <a:ext cx="15011400" cy="8952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marR="2693982" indent="-1051880" algn="just">
              <a:lnSpc>
                <a:spcPct val="1500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‘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tup’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to be 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output.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2693982" indent="-1051880">
              <a:lnSpc>
                <a:spcPct val="1500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</a:p>
          <a:p>
            <a:pPr marL="1079638">
              <a:lnSpc>
                <a:spcPct val="150000"/>
              </a:lnSpc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254951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hPin, 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1254951" marR="8079023">
              <a:lnSpc>
                <a:spcPct val="1500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taPin,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lockPin, 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1079638">
              <a:lnSpc>
                <a:spcPct val="150000"/>
              </a:lnSpc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turns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off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ds 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lling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ustom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teShiftRe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0 to 7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and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i.</a:t>
            </a:r>
          </a:p>
          <a:p>
            <a:pPr marL="29219" marR="11688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bi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teShiftRe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r() 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status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s.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there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a 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menting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turni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the 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1477" y="1143000"/>
            <a:ext cx="15338645" cy="7262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upd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teShiftRe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in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shiftOut()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pin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GH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in.</a:t>
            </a:r>
          </a:p>
          <a:p>
            <a:pPr marL="29219" marR="14609" algn="just">
              <a:lnSpc>
                <a:spcPct val="143700"/>
              </a:lnSpc>
              <a:spcBef>
                <a:spcPts val="1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shiftOut()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 This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shiftOut()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pts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Clock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pins.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</a:t>
            </a:r>
            <a:r>
              <a:rPr sz="2761" spc="-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shifted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order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(Most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irst,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irst).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tual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shifted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out,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this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</a:t>
            </a:r>
            <a:r>
              <a:rPr sz="2761" spc="-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7531" algn="just">
              <a:lnSpc>
                <a:spcPct val="143800"/>
              </a:lnSpc>
              <a:spcBef>
                <a:spcPts val="1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GH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opies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/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Notice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shifting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8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t,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 would flic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is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into the shi</a:t>
            </a:r>
            <a:r>
              <a:rPr sz="2761" spc="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066800"/>
            <a:ext cx="13738445" cy="124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Result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spcBef>
                <a:spcPts val="2048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sho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ld see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ollowi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output:</a:t>
            </a:r>
          </a:p>
        </p:txBody>
      </p:sp>
      <p:sp>
        <p:nvSpPr>
          <p:cNvPr id="3" name="object 3"/>
          <p:cNvSpPr/>
          <p:nvPr/>
        </p:nvSpPr>
        <p:spPr>
          <a:xfrm>
            <a:off x="5435600" y="3200400"/>
            <a:ext cx="5136577" cy="3049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6326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2269</Words>
  <Application>Microsoft Office PowerPoint</Application>
  <PresentationFormat>Custom</PresentationFormat>
  <Paragraphs>142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2024-07-02T13:01:15Z</dcterms:created>
  <dcterms:modified xsi:type="dcterms:W3CDTF">2024-07-14T13:49:52Z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