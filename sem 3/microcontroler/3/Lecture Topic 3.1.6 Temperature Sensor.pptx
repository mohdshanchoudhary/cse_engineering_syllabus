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3" r:id="rId4"/>
    <p:sldId id="257" r:id="rId5"/>
    <p:sldId id="258" r:id="rId6"/>
    <p:sldId id="264" r:id="rId7"/>
    <p:sldId id="259" r:id="rId8"/>
    <p:sldId id="265" r:id="rId9"/>
    <p:sldId id="266" r:id="rId10"/>
    <p:sldId id="260" r:id="rId11"/>
    <p:sldId id="261" r:id="rId12"/>
    <p:sldId id="267" r:id="rId13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08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650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4811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5827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2887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9456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2021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143000"/>
            <a:ext cx="14859000" cy="6741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5173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nnection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erature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Sensor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58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how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ino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Uno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R3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3</a:t>
            </a:r>
            <a:r>
              <a:rPr sz="2761" dirty="0">
                <a:latin typeface="Times New Roman"/>
                <a:cs typeface="Times New Roman"/>
              </a:rPr>
              <a:t>5 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nitoring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-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itor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mbi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ring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me.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how to build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 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3700"/>
              </a:lnSpc>
              <a:spcBef>
                <a:spcPts val="1587"/>
              </a:spcBef>
            </a:pP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35</a:t>
            </a:r>
            <a:r>
              <a:rPr sz="2761" b="1" spc="26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nso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:</a:t>
            </a:r>
            <a:r>
              <a:rPr sz="2761" b="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35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ful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ield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roni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ts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ision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 popular 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mong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pro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18426" y="5187983"/>
            <a:ext cx="14942374" cy="360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700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lear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dout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ts.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ompanion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spb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Pi,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ible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mbi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building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D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popul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option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mong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nthusiasts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ineers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bili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us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5" name="object 5"/>
          <p:cNvSpPr/>
          <p:nvPr/>
        </p:nvSpPr>
        <p:spPr>
          <a:xfrm>
            <a:off x="7416800" y="593420"/>
            <a:ext cx="2138777" cy="4276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36215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44600" y="1143000"/>
            <a:ext cx="15087600" cy="780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orki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M35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Sensor</a:t>
            </a:r>
            <a:endParaRPr sz="3681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import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suri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46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simple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fuln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diode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ise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wing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tem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 </a:t>
            </a:r>
            <a:r>
              <a:rPr lang="en-US" sz="2761" spc="-104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M35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ful</a:t>
            </a:r>
            <a:r>
              <a:rPr lang="en-US" sz="2761" spc="46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onstru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ted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nsistors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provide </a:t>
            </a:r>
            <a:r>
              <a:rPr lang="en-US" sz="2761" spc="-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ge prop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rtion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to the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bsolute 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mpe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atu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acc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46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libr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ted to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lsius S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le.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M35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tage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incr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1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millivolts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spc="69" dirty="0">
                <a:latin typeface="Times New Roman"/>
                <a:cs typeface="Times New Roman"/>
              </a:rPr>
              <a:t>1</a:t>
            </a:r>
            <a:r>
              <a:rPr lang="en-US" sz="2761" spc="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gr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lsius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rise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temp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 algn="just">
              <a:lnSpc>
                <a:spcPct val="1437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Consid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rio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om</a:t>
            </a:r>
            <a:r>
              <a:rPr lang="en-US" sz="2761" spc="-23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temp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58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M35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nsor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sur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mpe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upon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ion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tes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put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acc</a:t>
            </a:r>
            <a:r>
              <a:rPr lang="en-US" sz="2761" dirty="0">
                <a:latin typeface="Times New Roman"/>
                <a:cs typeface="Times New Roman"/>
              </a:rPr>
              <a:t>ordi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mbi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temp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millivolts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more will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prod</a:t>
            </a:r>
            <a:r>
              <a:rPr lang="en-US" sz="2761" spc="-12" dirty="0">
                <a:latin typeface="Times New Roman"/>
                <a:cs typeface="Times New Roman"/>
              </a:rPr>
              <a:t>uc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 for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gr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lsius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room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temp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ture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ris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Con</a:t>
            </a:r>
            <a:r>
              <a:rPr lang="en-US" sz="2761" spc="46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 250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millivolts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(25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*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10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millivolts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nsor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temp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ture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25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gr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lsius.</a:t>
            </a:r>
          </a:p>
        </p:txBody>
      </p:sp>
    </p:spTree>
    <p:extLst>
      <p:ext uri="{BB962C8B-B14F-4D97-AF65-F5344CB8AC3E}">
        <p14:creationId xmlns:p14="http://schemas.microsoft.com/office/powerpoint/2010/main" val="39877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762000"/>
            <a:ext cx="5257800" cy="535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ponents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q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uired</a:t>
            </a:r>
            <a:endParaRPr sz="368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2243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or</a:t>
            </a:r>
          </a:p>
          <a:p>
            <a:pPr marL="1079638" indent="-524479">
              <a:spcBef>
                <a:spcPts val="165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Uno R3 Mic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 marL="1079638" indent="-524479">
              <a:spcBef>
                <a:spcPts val="165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</a:p>
          <a:p>
            <a:pPr marL="1079638" indent="-524479">
              <a:spcBef>
                <a:spcPts val="1633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>
              <a:lnSpc>
                <a:spcPct val="100000"/>
              </a:lnSpc>
            </a:pPr>
            <a:endParaRPr sz="299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91" dirty="0">
              <a:latin typeface="Times New Roman"/>
              <a:cs typeface="Times New Roman"/>
            </a:endParaRPr>
          </a:p>
          <a:p>
            <a:pPr marL="29219">
              <a:spcBef>
                <a:spcPts val="1967"/>
              </a:spcBef>
            </a:pP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35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Sensor Pin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Diagr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88200" y="3270658"/>
            <a:ext cx="9970147" cy="58670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752600"/>
            <a:ext cx="14401800" cy="6629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0453" algn="just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pinout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ws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ml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ns.</a:t>
            </a:r>
          </a:p>
          <a:p>
            <a:pPr marL="29219" marR="17531" algn="just">
              <a:lnSpc>
                <a:spcPct val="143300"/>
              </a:lnSpc>
              <a:spcBef>
                <a:spcPts val="23"/>
              </a:spcBef>
            </a:pPr>
            <a:endParaRPr lang="en-US" sz="2761" b="1" spc="-12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300"/>
              </a:lnSpc>
              <a:spcBef>
                <a:spcPts val="23"/>
              </a:spcBef>
            </a:pPr>
            <a:r>
              <a:rPr sz="2761" b="1" spc="-12" dirty="0">
                <a:latin typeface="Times New Roman"/>
                <a:cs typeface="Times New Roman"/>
              </a:rPr>
              <a:t>VCC</a:t>
            </a:r>
            <a:r>
              <a:rPr sz="2761" b="1" dirty="0">
                <a:latin typeface="Times New Roman"/>
                <a:cs typeface="Times New Roman"/>
              </a:rPr>
              <a:t>: </a:t>
            </a:r>
            <a:r>
              <a:rPr sz="2761" b="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VCC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nsor,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ing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4 to 32 volts.</a:t>
            </a:r>
          </a:p>
          <a:p>
            <a:pPr marL="29219" marR="21914" algn="just">
              <a:lnSpc>
                <a:spcPct val="143300"/>
              </a:lnSpc>
              <a:spcBef>
                <a:spcPts val="23"/>
              </a:spcBef>
            </a:pPr>
            <a:r>
              <a:rPr sz="2761" b="1" spc="-23" dirty="0">
                <a:latin typeface="Times New Roman"/>
                <a:cs typeface="Times New Roman"/>
              </a:rPr>
              <a:t>G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:</a:t>
            </a:r>
            <a:r>
              <a:rPr sz="2761" b="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nsure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35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 gro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nd.</a:t>
            </a:r>
          </a:p>
          <a:p>
            <a:pPr marL="29219" marR="11688" algn="just">
              <a:lnSpc>
                <a:spcPct val="143700"/>
              </a:lnSpc>
              <a:spcBef>
                <a:spcPts val="12"/>
              </a:spcBef>
            </a:pPr>
            <a:r>
              <a:rPr sz="2761" b="1" dirty="0">
                <a:latin typeface="Times New Roman"/>
                <a:cs typeface="Times New Roman"/>
              </a:rPr>
              <a:t>Analog</a:t>
            </a:r>
            <a:r>
              <a:rPr sz="2761" b="1" spc="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OUT:</a:t>
            </a:r>
            <a:r>
              <a:rPr sz="2761" b="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46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prop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millivol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1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lsius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ilit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990600"/>
            <a:ext cx="13725297" cy="3733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nnections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598"/>
              </a:spcBef>
            </a:pPr>
            <a:r>
              <a:rPr sz="2761" dirty="0">
                <a:latin typeface="Times New Roman"/>
                <a:cs typeface="Times New Roman"/>
              </a:rPr>
              <a:t>Atta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VCC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spc="23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V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Atta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ound)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35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boa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d. Att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the </a:t>
            </a:r>
            <a:r>
              <a:rPr sz="2761" spc="-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out pin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A1.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59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Circuit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Diagr</a:t>
            </a:r>
            <a:r>
              <a:rPr kumimoji="0" lang="en-US" sz="3681" b="0" i="0" u="none" strike="noStrike" kern="1200" cap="none" spc="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3681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endParaRPr kumimoji="0" lang="en-US" sz="3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78400" y="3581400"/>
            <a:ext cx="9424374" cy="60473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93223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914400"/>
            <a:ext cx="8807857" cy="8530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2048"/>
              </a:spcBef>
            </a:pPr>
            <a:r>
              <a:rPr sz="2761" dirty="0">
                <a:latin typeface="Times New Roman"/>
                <a:cs typeface="Times New Roman"/>
              </a:rPr>
              <a:t>// 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pin,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</a:t>
            </a:r>
            <a:r>
              <a:rPr sz="2761" spc="23" dirty="0">
                <a:latin typeface="Times New Roman"/>
                <a:cs typeface="Times New Roman"/>
              </a:rPr>
              <a:t>5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Vout pin 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to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5742973">
              <a:lnSpc>
                <a:spcPct val="143300"/>
              </a:lnSpc>
              <a:spcBef>
                <a:spcPts val="1599"/>
              </a:spcBef>
            </a:pP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nsorPin A1 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marR="965682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 se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ial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9600 baud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void 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marR="1900689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G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 f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int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 =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(s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nsorPin);</a:t>
            </a:r>
          </a:p>
          <a:p>
            <a:pPr>
              <a:spcBef>
                <a:spcPts val="117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1079638" marR="2166581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// Conv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voltage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*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(5.0 / 1024.0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340224"/>
            <a:ext cx="8807857" cy="9377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marR="270275">
              <a:lnSpc>
                <a:spcPct val="143500"/>
              </a:lnSpc>
              <a:spcBef>
                <a:spcPts val="1587"/>
              </a:spcBef>
            </a:pPr>
            <a:r>
              <a:rPr sz="2761" dirty="0">
                <a:latin typeface="Times New Roman"/>
                <a:cs typeface="Times New Roman"/>
              </a:rPr>
              <a:t>// Conv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the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lsius 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C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* 100;</a:t>
            </a:r>
          </a:p>
          <a:p>
            <a:pPr marL="1079638" marR="774301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1079638" marR="774301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// Print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lsius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tureC);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l.print("</a:t>
            </a:r>
            <a:r>
              <a:rPr sz="2761" spc="-46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58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shows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mbol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|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endParaRPr sz="2646" dirty="0">
              <a:latin typeface="Times New Roman"/>
              <a:cs typeface="Times New Roman"/>
            </a:endParaRPr>
          </a:p>
          <a:p>
            <a:pPr marL="1079638"/>
            <a:r>
              <a:rPr sz="2761" dirty="0">
                <a:latin typeface="Times New Roman"/>
                <a:cs typeface="Times New Roman"/>
              </a:rPr>
              <a:t>// Print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</a:t>
            </a:r>
          </a:p>
          <a:p>
            <a:pPr marL="1079638" marR="1168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(tempe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C * 9.0 / 5.0)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32.0;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tureF);</a:t>
            </a:r>
          </a:p>
          <a:p>
            <a:pPr marL="1079638" marR="774301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l.print("</a:t>
            </a:r>
            <a:r>
              <a:rPr sz="2761" spc="-46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58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shows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mbol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l.println("F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 // 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it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29219">
              <a:spcBef>
                <a:spcPts val="1426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8378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400208"/>
            <a:ext cx="15697200" cy="9257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xplana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ion</a:t>
            </a:r>
            <a:endParaRPr sz="3681" dirty="0">
              <a:latin typeface="Times New Roman"/>
              <a:cs typeface="Times New Roman"/>
            </a:endParaRPr>
          </a:p>
          <a:p>
            <a:pPr marL="1079638" marR="20453" indent="-524479" algn="just">
              <a:lnSpc>
                <a:spcPct val="143800"/>
              </a:lnSpc>
              <a:spcBef>
                <a:spcPts val="794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</a:t>
            </a:r>
            <a:r>
              <a:rPr sz="2761" spc="23" dirty="0">
                <a:latin typeface="Times New Roman"/>
                <a:cs typeface="Times New Roman"/>
              </a:rPr>
              <a:t>5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ted: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 that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rib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output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Vout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23375" indent="-524479" algn="just">
              <a:lnSpc>
                <a:spcPct val="143700"/>
              </a:lnSpc>
              <a:spcBef>
                <a:spcPts val="20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rPin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A1: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nsorPin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A1"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ssor 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#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mbolic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rPin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 A1.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nsorPin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A1.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t, it s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mplifi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fer to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1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senso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Pin.</a:t>
            </a:r>
          </a:p>
          <a:p>
            <a:pPr marL="1079638" marR="11688" indent="-524479" algn="just">
              <a:lnSpc>
                <a:spcPct val="143800"/>
              </a:lnSpc>
              <a:spcBef>
                <a:spcPts val="20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void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{: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ine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Code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69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rts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unnin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26297" indent="-524479" algn="just">
              <a:lnSpc>
                <a:spcPct val="143300"/>
              </a:lnSpc>
              <a:spcBef>
                <a:spcPts val="219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nsfer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9600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te: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monstr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how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a 9600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 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the 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1688" indent="-524479" algn="just">
              <a:lnSpc>
                <a:spcPct val="143500"/>
              </a:lnSpc>
              <a:spcBef>
                <a:spcPts val="20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At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9600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muni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stablish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port is made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it.</a:t>
            </a:r>
          </a:p>
        </p:txBody>
      </p:sp>
    </p:spTree>
    <p:extLst>
      <p:ext uri="{BB962C8B-B14F-4D97-AF65-F5344CB8AC3E}">
        <p14:creationId xmlns:p14="http://schemas.microsoft.com/office/powerpoint/2010/main" val="3246762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838200"/>
            <a:ext cx="15163800" cy="7991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marR="18992" indent="-524479" algn="just">
              <a:lnSpc>
                <a:spcPct val="143800"/>
              </a:lnSpc>
              <a:spcBef>
                <a:spcPts val="20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Void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{: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other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Code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ontinuous loop once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run.</a:t>
            </a:r>
          </a:p>
          <a:p>
            <a:pPr marL="1079638" marR="18992" indent="-524479" algn="just">
              <a:lnSpc>
                <a:spcPct val="143300"/>
              </a:lnSpc>
              <a:spcBef>
                <a:spcPts val="219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d(s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nsorPin):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is conn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 to the pin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senso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Pin (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1).</a:t>
            </a:r>
          </a:p>
          <a:p>
            <a:pPr marL="1079638" marR="21914" indent="-524479" algn="just">
              <a:lnSpc>
                <a:spcPct val="143300"/>
              </a:lnSpc>
              <a:spcBef>
                <a:spcPts val="219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loating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*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(5.0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1024.0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prod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from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log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 multip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5.0 to 1024.0 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20453" indent="-524479" algn="just">
              <a:lnSpc>
                <a:spcPct val="143800"/>
              </a:lnSpc>
              <a:spcBef>
                <a:spcPts val="207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loat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100: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lsius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stimat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multip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tas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mV (0.01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volt) shi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 equ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 one de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lsius.</a:t>
            </a:r>
          </a:p>
          <a:p>
            <a:pPr marL="1079638" marR="17531" indent="-524479" algn="just">
              <a:lnSpc>
                <a:spcPct val="144200"/>
              </a:lnSpc>
              <a:spcBef>
                <a:spcPts val="161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):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 info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 to the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monitor.</a:t>
            </a:r>
          </a:p>
          <a:p>
            <a:pPr marL="1079638" marR="17531" indent="-524479" algn="just">
              <a:lnSpc>
                <a:spcPct val="143300"/>
              </a:lnSpc>
              <a:spcBef>
                <a:spcPts val="219"/>
              </a:spcBef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tureC):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</a:t>
            </a:r>
            <a:r>
              <a:rPr sz="2761" spc="-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lsius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monitor.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990600"/>
            <a:ext cx="14782800" cy="74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 marR="18992" indent="-524479" algn="just">
              <a:lnSpc>
                <a:spcPct val="144200"/>
              </a:lnSpc>
              <a:buFont typeface="Symbol"/>
              <a:buChar char="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l.print("</a:t>
            </a:r>
            <a:r>
              <a:rPr sz="2761" spc="-46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58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mbol: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 (</a:t>
            </a:r>
            <a:r>
              <a:rPr sz="2761" spc="-12" dirty="0">
                <a:latin typeface="Times New Roman"/>
                <a:cs typeface="Times New Roman"/>
              </a:rPr>
              <a:t>°</a:t>
            </a:r>
            <a:r>
              <a:rPr sz="2761" dirty="0">
                <a:latin typeface="Times New Roman"/>
                <a:cs typeface="Times New Roman"/>
              </a:rPr>
              <a:t>) on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monitor.</a:t>
            </a:r>
          </a:p>
          <a:p>
            <a:pPr marL="553698" indent="-524479">
              <a:spcBef>
                <a:spcPts val="1622"/>
              </a:spcBef>
              <a:buFont typeface="Symbol"/>
              <a:buChar char="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|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pr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nts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|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se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lues.</a:t>
            </a:r>
          </a:p>
          <a:p>
            <a:pPr marL="553698" marR="20453" indent="-524479" algn="just">
              <a:lnSpc>
                <a:spcPct val="143800"/>
              </a:lnSpc>
              <a:spcBef>
                <a:spcPts val="207"/>
              </a:spcBef>
              <a:buFont typeface="Symbol"/>
              <a:buChar char="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tureF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 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C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*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9.0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.0)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32.0: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rting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sius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46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mula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it.</a:t>
            </a:r>
          </a:p>
          <a:p>
            <a:pPr marL="553698" marR="23375" indent="-524479" algn="just">
              <a:lnSpc>
                <a:spcPct val="144200"/>
              </a:lnSpc>
              <a:spcBef>
                <a:spcPts val="161"/>
              </a:spcBef>
              <a:buFont typeface="Symbol"/>
              <a:buChar char="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tureF):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port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monitor.</a:t>
            </a:r>
          </a:p>
          <a:p>
            <a:pPr marL="553698" marR="29219" indent="-524479" algn="just">
              <a:lnSpc>
                <a:spcPct val="143300"/>
              </a:lnSpc>
              <a:spcBef>
                <a:spcPts val="230"/>
              </a:spcBef>
              <a:buFont typeface="Symbol"/>
              <a:buChar char="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l.print("</a:t>
            </a:r>
            <a:r>
              <a:rPr sz="2761" spc="-46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58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ree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bol: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in,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°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553698" marR="24836" indent="-524479" algn="just">
              <a:lnSpc>
                <a:spcPct val="143300"/>
              </a:lnSpc>
              <a:spcBef>
                <a:spcPts val="219"/>
              </a:spcBef>
              <a:buFont typeface="Symbol"/>
              <a:buChar char="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l.println("F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);: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al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F"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it.</a:t>
            </a:r>
          </a:p>
          <a:p>
            <a:pPr marL="553698" marR="11688" indent="-524479" algn="just">
              <a:lnSpc>
                <a:spcPct val="143800"/>
              </a:lnSpc>
              <a:spcBef>
                <a:spcPts val="207"/>
              </a:spcBef>
              <a:buFont typeface="Symbol"/>
              <a:buChar char=""/>
              <a:tabLst>
                <a:tab pos="555159" algn="l"/>
              </a:tabLst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surements.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1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lming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monitor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01800" y="1447800"/>
            <a:ext cx="14630400" cy="6784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Result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600"/>
              </a:lnSpc>
              <a:spcBef>
                <a:spcPts val="610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shown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lsius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hr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tor due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making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12" dirty="0">
                <a:latin typeface="Times New Roman"/>
                <a:cs typeface="Times New Roman"/>
              </a:rPr>
              <a:t>g-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bilities.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600"/>
              </a:lnSpc>
              <a:spcBef>
                <a:spcPts val="610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nclusion</a:t>
            </a:r>
            <a:endParaRPr lang="en-US"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200"/>
              </a:lnSpc>
              <a:spcBef>
                <a:spcPts val="584"/>
              </a:spcBef>
            </a:pPr>
            <a:r>
              <a:rPr lang="en-US" sz="2761" dirty="0">
                <a:latin typeface="Times New Roman"/>
                <a:cs typeface="Times New Roman"/>
              </a:rPr>
              <a:t>Stu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temp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nsor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pproa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quiri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 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rtise in both el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troni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reful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ssembled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s,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oll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ted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r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ms, and studi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M35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nso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’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  <a:p>
            <a:pPr marL="29219" marR="442666" algn="just">
              <a:lnSpc>
                <a:spcPct val="143300"/>
              </a:lnSpc>
              <a:spcBef>
                <a:spcPts val="23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bilities. We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ined a 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un</a:t>
            </a:r>
            <a:r>
              <a:rPr lang="en-US" sz="2761" spc="-12" dirty="0">
                <a:latin typeface="Times New Roman"/>
                <a:cs typeface="Times New Roman"/>
              </a:rPr>
              <a:t>de</a:t>
            </a:r>
            <a:r>
              <a:rPr lang="en-US" sz="2761" dirty="0">
                <a:latin typeface="Times New Roman"/>
                <a:cs typeface="Times New Roman"/>
              </a:rPr>
              <a:t>rst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ntire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ss </a:t>
            </a:r>
            <a:r>
              <a:rPr lang="en-US" sz="2761" spc="58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</a:t>
            </a:r>
            <a:r>
              <a:rPr lang="en-US" sz="2761" spc="12" dirty="0">
                <a:latin typeface="Times New Roman"/>
                <a:cs typeface="Times New Roman"/>
              </a:rPr>
              <a:t>v</a:t>
            </a:r>
            <a:r>
              <a:rPr lang="en-US" sz="2761" dirty="0">
                <a:latin typeface="Times New Roman"/>
                <a:cs typeface="Times New Roman"/>
              </a:rPr>
              <a:t>iding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tailed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plan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acc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uit diag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m.</a:t>
            </a:r>
          </a:p>
        </p:txBody>
      </p:sp>
    </p:spTree>
    <p:extLst>
      <p:ext uri="{BB962C8B-B14F-4D97-AF65-F5344CB8AC3E}">
        <p14:creationId xmlns:p14="http://schemas.microsoft.com/office/powerpoint/2010/main" val="323544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1410</Words>
  <Application>Microsoft Office PowerPoint</Application>
  <PresentationFormat>Custom</PresentationFormat>
  <Paragraphs>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2</cp:revision>
  <dcterms:created xsi:type="dcterms:W3CDTF">2024-07-02T13:01:10Z</dcterms:created>
  <dcterms:modified xsi:type="dcterms:W3CDTF">2024-07-14T13:02:16Z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