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266" r:id="rId4"/>
    <p:sldId id="257" r:id="rId5"/>
    <p:sldId id="267" r:id="rId6"/>
    <p:sldId id="258" r:id="rId7"/>
    <p:sldId id="268" r:id="rId8"/>
    <p:sldId id="259" r:id="rId9"/>
    <p:sldId id="269" r:id="rId10"/>
    <p:sldId id="260" r:id="rId11"/>
    <p:sldId id="270" r:id="rId12"/>
    <p:sldId id="261" r:id="rId13"/>
    <p:sldId id="271" r:id="rId14"/>
    <p:sldId id="262" r:id="rId15"/>
    <p:sldId id="272" r:id="rId16"/>
    <p:sldId id="263" r:id="rId17"/>
    <p:sldId id="273" r:id="rId18"/>
    <p:sldId id="264" r:id="rId19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10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6614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9090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336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289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6932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604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0637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6145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00554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295400"/>
            <a:ext cx="14706600" cy="54752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9594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nnection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CD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44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4200"/>
              </a:lnSpc>
            </a:pPr>
            <a:r>
              <a:rPr sz="2761" b="1" dirty="0">
                <a:latin typeface="Times New Roman"/>
                <a:cs typeface="Times New Roman"/>
              </a:rPr>
              <a:t>LCD</a:t>
            </a:r>
            <a:r>
              <a:rPr sz="2761" b="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onics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use 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gr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displ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in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 being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An  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 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ter  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 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unique  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 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 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 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</a:p>
          <a:p>
            <a:pPr marL="29219" marR="16070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individual ASCII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individual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</a:t>
            </a:r>
          </a:p>
          <a:p>
            <a:pPr marL="29219" marR="16070" algn="just">
              <a:lnSpc>
                <a:spcPct val="1437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mall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</a:t>
            </a:r>
            <a:r>
              <a:rPr sz="2761" spc="-12" dirty="0">
                <a:latin typeface="Times New Roman"/>
                <a:cs typeface="Times New Roman"/>
              </a:rPr>
              <a:t>×</a:t>
            </a:r>
            <a:r>
              <a:rPr sz="2761" dirty="0">
                <a:latin typeface="Times New Roman"/>
                <a:cs typeface="Times New Roman"/>
              </a:rPr>
              <a:t>8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rid.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individual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within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844800" y="1214739"/>
            <a:ext cx="11505861" cy="7628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60778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990600"/>
            <a:ext cx="15011400" cy="8519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ular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popular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16</a:t>
            </a:r>
            <a:r>
              <a:rPr sz="2761" spc="-12" dirty="0">
                <a:latin typeface="Times New Roman"/>
                <a:cs typeface="Times New Roman"/>
              </a:rPr>
              <a:t>×</a:t>
            </a:r>
            <a:r>
              <a:rPr sz="2761" dirty="0">
                <a:latin typeface="Times New Roman"/>
                <a:cs typeface="Times New Roman"/>
              </a:rPr>
              <a:t>2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D,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ular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there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other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×</a:t>
            </a:r>
            <a:r>
              <a:rPr sz="2761" dirty="0">
                <a:latin typeface="Times New Roman"/>
                <a:cs typeface="Times New Roman"/>
              </a:rPr>
              <a:t>1,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×</a:t>
            </a:r>
            <a:r>
              <a:rPr sz="2761" dirty="0">
                <a:latin typeface="Times New Roman"/>
                <a:cs typeface="Times New Roman"/>
              </a:rPr>
              <a:t>4,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</a:t>
            </a:r>
            <a:r>
              <a:rPr sz="2761" spc="-12" dirty="0">
                <a:latin typeface="Times New Roman"/>
                <a:cs typeface="Times New Roman"/>
              </a:rPr>
              <a:t>×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Also,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CDs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colo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9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16×2 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CD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Pinout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16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st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one 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i="1" dirty="0">
                <a:latin typeface="Times New Roman"/>
                <a:cs typeface="Times New Roman"/>
              </a:rPr>
              <a:t>Grou</a:t>
            </a:r>
            <a:r>
              <a:rPr lang="en-US" sz="2761" b="1" i="1" spc="12" dirty="0">
                <a:latin typeface="Times New Roman"/>
                <a:cs typeface="Times New Roman"/>
              </a:rPr>
              <a:t>n</a:t>
            </a:r>
            <a:r>
              <a:rPr lang="en-US" sz="2761" b="1" i="1" dirty="0">
                <a:latin typeface="Times New Roman"/>
                <a:cs typeface="Times New Roman"/>
              </a:rPr>
              <a:t>d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n.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 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b="1" i="1" spc="-58" dirty="0">
                <a:latin typeface="Times New Roman"/>
                <a:cs typeface="Times New Roman"/>
              </a:rPr>
              <a:t>V</a:t>
            </a:r>
            <a:r>
              <a:rPr lang="en-US" sz="2761" b="1" i="1" dirty="0">
                <a:latin typeface="Times New Roman"/>
                <a:cs typeface="Times New Roman"/>
              </a:rPr>
              <a:t>CC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rd.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tt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potentiom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 of the displ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t,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i="1" dirty="0">
                <a:latin typeface="Times New Roman"/>
                <a:cs typeface="Times New Roman"/>
              </a:rPr>
              <a:t>RS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ster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ther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  <a:p>
            <a:pPr marL="29219" marR="21914" algn="just">
              <a:lnSpc>
                <a:spcPct val="1437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low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volts,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23" dirty="0">
                <a:latin typeface="Times New Roman"/>
                <a:cs typeface="Times New Roman"/>
              </a:rPr>
              <a:t>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nding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ike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ursor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ific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lear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displ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turn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off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displ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on.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And </a:t>
            </a:r>
            <a:r>
              <a:rPr lang="en-US" sz="2761" spc="-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volts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nding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 to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CD.</a:t>
            </a:r>
          </a:p>
        </p:txBody>
      </p:sp>
    </p:spTree>
    <p:extLst>
      <p:ext uri="{BB962C8B-B14F-4D97-AF65-F5344CB8AC3E}">
        <p14:creationId xmlns:p14="http://schemas.microsoft.com/office/powerpoint/2010/main" val="225252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075214" y="457200"/>
            <a:ext cx="13736984" cy="937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1295400"/>
            <a:ext cx="15163800" cy="6527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8992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b="1" i="1" dirty="0">
                <a:latin typeface="Times New Roman"/>
                <a:cs typeface="Times New Roman"/>
              </a:rPr>
              <a:t>R/W</a:t>
            </a:r>
            <a:r>
              <a:rPr sz="2761" b="1" i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Here 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obvio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riting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69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mands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mode is used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 itself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</a:p>
          <a:p>
            <a:pPr marL="29219" marR="11688" algn="just">
              <a:lnSpc>
                <a:spcPct val="150000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b="1" i="1" dirty="0">
                <a:latin typeface="Times New Roman"/>
                <a:cs typeface="Times New Roman"/>
              </a:rPr>
              <a:t>E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D0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D7.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-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lang="en-US" sz="2761" dirty="0">
                <a:latin typeface="Times New Roman"/>
                <a:cs typeface="Times New Roman"/>
              </a:rPr>
              <a:t> for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latt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displ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ill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0100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0001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ist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ordi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AS</a:t>
            </a:r>
            <a:r>
              <a:rPr lang="en-US" sz="2761" spc="35" dirty="0">
                <a:latin typeface="Times New Roman"/>
                <a:cs typeface="Times New Roman"/>
              </a:rPr>
              <a:t>C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tabl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two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b="1" i="1" dirty="0">
                <a:latin typeface="Times New Roman"/>
                <a:cs typeface="Times New Roman"/>
              </a:rPr>
              <a:t>A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b="1" i="1" spc="12" dirty="0">
                <a:latin typeface="Times New Roman"/>
                <a:cs typeface="Times New Roman"/>
              </a:rPr>
              <a:t>K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node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tho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k l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ht.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ial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bsit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libra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CD.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mode.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this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tutori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</a:t>
            </a:r>
            <a:r>
              <a:rPr lang="en-US" sz="2761" spc="-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l 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 in 4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bit mode, 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just 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 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8 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pins.</a:t>
            </a:r>
          </a:p>
        </p:txBody>
      </p:sp>
    </p:spTree>
    <p:extLst>
      <p:ext uri="{BB962C8B-B14F-4D97-AF65-F5344CB8AC3E}">
        <p14:creationId xmlns:p14="http://schemas.microsoft.com/office/powerpoint/2010/main" val="132945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533400"/>
            <a:ext cx="15087599" cy="1260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iring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agr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LCD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2057"/>
              </a:spcBef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how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×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 di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boa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2692400" y="1981200"/>
            <a:ext cx="12991494" cy="784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990600"/>
            <a:ext cx="15087600" cy="7291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3600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just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69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D4</a:t>
            </a:r>
            <a:r>
              <a:rPr sz="2761" b="1" i="1" spc="26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to </a:t>
            </a:r>
            <a:r>
              <a:rPr sz="2761" b="1" i="1" spc="-12" dirty="0">
                <a:latin typeface="Times New Roman"/>
                <a:cs typeface="Times New Roman"/>
              </a:rPr>
              <a:t>D</a:t>
            </a:r>
            <a:r>
              <a:rPr sz="2761" b="1" i="1" dirty="0">
                <a:latin typeface="Times New Roman"/>
                <a:cs typeface="Times New Roman"/>
              </a:rPr>
              <a:t>7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from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Enable </a:t>
            </a:r>
            <a:r>
              <a:rPr sz="2761" spc="-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RS</a:t>
            </a:r>
            <a:r>
              <a:rPr sz="2761" b="1" i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R/W</a:t>
            </a:r>
            <a:r>
              <a:rPr sz="2761" b="1" i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G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ound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i="1" spc="-23" dirty="0">
                <a:latin typeface="Times New Roman"/>
                <a:cs typeface="Times New Roman"/>
              </a:rPr>
              <a:t>V</a:t>
            </a:r>
            <a:r>
              <a:rPr sz="2761" b="1" i="1" dirty="0">
                <a:latin typeface="Times New Roman"/>
                <a:cs typeface="Times New Roman"/>
              </a:rPr>
              <a:t>o </a:t>
            </a:r>
            <a:r>
              <a:rPr sz="2761" dirty="0">
                <a:latin typeface="Times New Roman"/>
                <a:cs typeface="Times New Roman"/>
              </a:rPr>
              <a:t>pin will be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to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potentiom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middle pin.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q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uired</a:t>
            </a:r>
            <a:endParaRPr lang="en-US"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204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16</a:t>
            </a:r>
            <a:r>
              <a:rPr lang="en-US" sz="2761" spc="-12" dirty="0">
                <a:latin typeface="Times New Roman"/>
                <a:cs typeface="Times New Roman"/>
              </a:rPr>
              <a:t>×</a:t>
            </a:r>
            <a:r>
              <a:rPr lang="en-US" sz="2761" dirty="0">
                <a:latin typeface="Times New Roman"/>
                <a:cs typeface="Times New Roman"/>
              </a:rPr>
              <a:t>2 Ch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ter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Potentiom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ter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dbo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umper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</a:p>
          <a:p>
            <a:pPr marL="29219" marR="11688" algn="just">
              <a:lnSpc>
                <a:spcPct val="1436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2458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82700" y="914400"/>
            <a:ext cx="15316200" cy="2408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Adjusti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con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rast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LCD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djust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</a:t>
            </a:r>
            <a:r>
              <a:rPr sz="2761" spc="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</a:t>
            </a:r>
            <a:r>
              <a:rPr sz="2761" spc="46" dirty="0">
                <a:latin typeface="Times New Roman"/>
                <a:cs typeface="Times New Roman"/>
              </a:rPr>
              <a:t> 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djusting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b="1" i="1" spc="-58" dirty="0">
                <a:latin typeface="Times New Roman"/>
                <a:cs typeface="Times New Roman"/>
              </a:rPr>
              <a:t>V</a:t>
            </a:r>
            <a:r>
              <a:rPr sz="2761" b="1" i="1" dirty="0">
                <a:latin typeface="Times New Roman"/>
                <a:cs typeface="Times New Roman"/>
              </a:rPr>
              <a:t>o </a:t>
            </a:r>
            <a:r>
              <a:rPr sz="2761" dirty="0">
                <a:latin typeface="Times New Roman"/>
                <a:cs typeface="Times New Roman"/>
              </a:rPr>
              <a:t>pin.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a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potentiom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tune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</a:t>
            </a:r>
            <a:r>
              <a:rPr sz="2761" spc="69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st,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djusting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 to 5V.</a:t>
            </a:r>
          </a:p>
        </p:txBody>
      </p:sp>
      <p:sp>
        <p:nvSpPr>
          <p:cNvPr id="5" name="object 5"/>
          <p:cNvSpPr/>
          <p:nvPr/>
        </p:nvSpPr>
        <p:spPr>
          <a:xfrm>
            <a:off x="4227176" y="3505200"/>
            <a:ext cx="9427248" cy="5474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97000" y="1219200"/>
            <a:ext cx="13735523" cy="3632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Can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 use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LCD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Pote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nti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eter?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610"/>
              </a:spcBef>
            </a:pP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potentiom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still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djust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made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58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5V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order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ood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found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round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1V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CD.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1K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220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ohm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ood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st.</a:t>
            </a:r>
          </a:p>
        </p:txBody>
      </p:sp>
      <p:sp>
        <p:nvSpPr>
          <p:cNvPr id="7" name="object 7"/>
          <p:cNvSpPr/>
          <p:nvPr/>
        </p:nvSpPr>
        <p:spPr>
          <a:xfrm>
            <a:off x="3378200" y="4724400"/>
            <a:ext cx="10250923" cy="4597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06787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805864"/>
            <a:ext cx="15087600" cy="8232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900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way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djusti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i="1" spc="-23" dirty="0">
                <a:latin typeface="Times New Roman"/>
                <a:cs typeface="Times New Roman"/>
              </a:rPr>
              <a:t>V</a:t>
            </a:r>
            <a:r>
              <a:rPr sz="2761" b="1" i="1" dirty="0">
                <a:latin typeface="Times New Roman"/>
                <a:cs typeface="Times New Roman"/>
              </a:rPr>
              <a:t>o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i="1" spc="-23" dirty="0">
                <a:latin typeface="Times New Roman"/>
                <a:cs typeface="Times New Roman"/>
              </a:rPr>
              <a:t>V</a:t>
            </a:r>
            <a:r>
              <a:rPr sz="2761" b="1" i="1" dirty="0">
                <a:latin typeface="Times New Roman"/>
                <a:cs typeface="Times New Roman"/>
              </a:rPr>
              <a:t>o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b="1" dirty="0">
                <a:latin typeface="Times New Roman"/>
                <a:cs typeface="Times New Roman"/>
              </a:rPr>
              <a:t>analogWri</a:t>
            </a:r>
            <a:r>
              <a:rPr sz="2761" b="1" spc="-12" dirty="0">
                <a:latin typeface="Times New Roman"/>
                <a:cs typeface="Times New Roman"/>
              </a:rPr>
              <a:t>te</a:t>
            </a:r>
            <a:r>
              <a:rPr sz="2761" b="1" dirty="0">
                <a:latin typeface="Times New Roman"/>
                <a:cs typeface="Times New Roman"/>
              </a:rPr>
              <a:t>(11,</a:t>
            </a:r>
            <a:r>
              <a:rPr sz="2761" b="1" spc="-12" dirty="0">
                <a:latin typeface="Times New Roman"/>
                <a:cs typeface="Times New Roman"/>
              </a:rPr>
              <a:t>1</a:t>
            </a:r>
            <a:r>
              <a:rPr sz="2761" b="1" dirty="0">
                <a:latin typeface="Times New Roman"/>
                <a:cs typeface="Times New Roman"/>
              </a:rPr>
              <a:t>00);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G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rate </a:t>
            </a:r>
            <a:r>
              <a:rPr sz="2761" i="1" spc="12" dirty="0">
                <a:latin typeface="Times New Roman"/>
                <a:cs typeface="Times New Roman"/>
              </a:rPr>
              <a:t>P</a:t>
            </a:r>
            <a:r>
              <a:rPr sz="2761" i="1" spc="-46" dirty="0">
                <a:latin typeface="Times New Roman"/>
                <a:cs typeface="Times New Roman"/>
              </a:rPr>
              <a:t>W</a:t>
            </a:r>
            <a:r>
              <a:rPr sz="2761" i="1" dirty="0">
                <a:latin typeface="Times New Roman"/>
                <a:cs typeface="Times New Roman"/>
              </a:rPr>
              <a:t>M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signal at pin D11, </a:t>
            </a:r>
            <a:r>
              <a:rPr sz="2761" i="1" spc="-12" dirty="0">
                <a:latin typeface="Times New Roman"/>
                <a:cs typeface="Times New Roman"/>
              </a:rPr>
              <a:t>v</a:t>
            </a:r>
            <a:r>
              <a:rPr sz="2761" i="1" dirty="0">
                <a:latin typeface="Times New Roman"/>
                <a:cs typeface="Times New Roman"/>
              </a:rPr>
              <a:t>alue of 100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spc="23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ut of 255)</a:t>
            </a:r>
            <a:endParaRPr sz="2761" dirty="0">
              <a:latin typeface="Times New Roman"/>
              <a:cs typeface="Times New Roman"/>
            </a:endParaRPr>
          </a:p>
          <a:p>
            <a:pPr marL="29219" marR="18992">
              <a:lnSpc>
                <a:spcPct val="143300"/>
              </a:lnSpc>
              <a:spcBef>
                <a:spcPts val="1599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D11,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255,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 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 to 5V, it will be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2V input at 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i="1" spc="-58" dirty="0">
                <a:latin typeface="Times New Roman"/>
                <a:cs typeface="Times New Roman"/>
              </a:rPr>
              <a:t>V</a:t>
            </a:r>
            <a:r>
              <a:rPr sz="2761" b="1" i="1" dirty="0">
                <a:latin typeface="Times New Roman"/>
                <a:cs typeface="Times New Roman"/>
              </a:rPr>
              <a:t>o</a:t>
            </a:r>
            <a:r>
              <a:rPr sz="2761" b="1" i="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 pin.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0" spc="-35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LCD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584"/>
              </a:spcBef>
            </a:pP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simple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plain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rki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iple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iquid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stal 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584"/>
              </a:spcBef>
            </a:pPr>
            <a:r>
              <a:rPr lang="en-US" sz="2761" b="1" dirty="0">
                <a:latin typeface="Times New Roman"/>
                <a:cs typeface="Times New Roman"/>
              </a:rPr>
              <a:t>#i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de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&lt;</a:t>
            </a:r>
            <a:r>
              <a:rPr lang="en-US" sz="2761" b="1" dirty="0" err="1">
                <a:latin typeface="Times New Roman"/>
                <a:cs typeface="Times New Roman"/>
              </a:rPr>
              <a:t>L</a:t>
            </a:r>
            <a:r>
              <a:rPr lang="en-US" sz="2761" b="1" spc="-23" dirty="0" err="1">
                <a:latin typeface="Times New Roman"/>
                <a:cs typeface="Times New Roman"/>
              </a:rPr>
              <a:t>i</a:t>
            </a:r>
            <a:r>
              <a:rPr lang="en-US" sz="2761" b="1" dirty="0" err="1">
                <a:latin typeface="Times New Roman"/>
                <a:cs typeface="Times New Roman"/>
              </a:rPr>
              <a:t>qu</a:t>
            </a:r>
            <a:r>
              <a:rPr lang="en-US" sz="2761" b="1" spc="-23" dirty="0" err="1">
                <a:latin typeface="Times New Roman"/>
                <a:cs typeface="Times New Roman"/>
              </a:rPr>
              <a:t>i</a:t>
            </a:r>
            <a:r>
              <a:rPr lang="en-US" sz="2761" b="1" dirty="0" err="1">
                <a:latin typeface="Times New Roman"/>
                <a:cs typeface="Times New Roman"/>
              </a:rPr>
              <a:t>dC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ystal.</a:t>
            </a:r>
            <a:r>
              <a:rPr lang="en-US" sz="2761" b="1" spc="35" dirty="0" err="1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&gt;		// includ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iquidC</a:t>
            </a:r>
            <a:r>
              <a:rPr lang="en-US" sz="2761" spc="35" dirty="0" err="1">
                <a:latin typeface="Times New Roman"/>
                <a:cs typeface="Times New Roman"/>
              </a:rPr>
              <a:t>r</a:t>
            </a:r>
            <a:r>
              <a:rPr lang="en-US" sz="2761" spc="-35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stal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ibra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29219" marR="11688">
              <a:lnSpc>
                <a:spcPct val="144200"/>
              </a:lnSpc>
              <a:spcBef>
                <a:spcPts val="584"/>
              </a:spcBef>
            </a:pP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iquidC</a:t>
            </a:r>
            <a:r>
              <a:rPr lang="en-US" sz="2761" spc="35" dirty="0" err="1">
                <a:latin typeface="Times New Roman"/>
                <a:cs typeface="Times New Roman"/>
              </a:rPr>
              <a:t>r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stal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lcd</a:t>
            </a:r>
            <a:r>
              <a:rPr lang="en-US" sz="2761" dirty="0">
                <a:latin typeface="Times New Roman"/>
                <a:cs typeface="Times New Roman"/>
              </a:rPr>
              <a:t>(1, 2,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4,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5, 6, 7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	</a:t>
            </a:r>
            <a:r>
              <a:rPr lang="en-US" sz="2761" i="1" dirty="0">
                <a:latin typeface="Times New Roman"/>
                <a:cs typeface="Times New Roman"/>
              </a:rPr>
              <a:t>//</a:t>
            </a:r>
            <a:r>
              <a:rPr lang="en-US" sz="2761" i="1" spc="196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Cr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ates</a:t>
            </a:r>
            <a:r>
              <a:rPr lang="en-US" sz="2761" i="1" spc="184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an</a:t>
            </a:r>
            <a:r>
              <a:rPr lang="en-US" sz="2761" i="1" spc="184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LCD</a:t>
            </a:r>
            <a:r>
              <a:rPr lang="en-US" sz="2761" i="1" spc="184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obj</a:t>
            </a:r>
            <a:r>
              <a:rPr lang="en-US" sz="2761" i="1" spc="12" dirty="0">
                <a:latin typeface="Times New Roman"/>
                <a:cs typeface="Times New Roman"/>
              </a:rPr>
              <a:t>ec</a:t>
            </a:r>
            <a:r>
              <a:rPr lang="en-US" sz="2761" i="1" dirty="0">
                <a:latin typeface="Times New Roman"/>
                <a:cs typeface="Times New Roman"/>
              </a:rPr>
              <a:t>t.</a:t>
            </a:r>
            <a:r>
              <a:rPr lang="en-US" sz="2761" i="1" spc="196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Param</a:t>
            </a:r>
            <a:r>
              <a:rPr lang="en-US" sz="2761" i="1" spc="-23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ters:</a:t>
            </a:r>
            <a:r>
              <a:rPr lang="en-US" sz="2761" i="1" spc="230" dirty="0">
                <a:latin typeface="Times New Roman"/>
                <a:cs typeface="Times New Roman"/>
              </a:rPr>
              <a:t> </a:t>
            </a:r>
            <a:r>
              <a:rPr lang="en-US" sz="2761" i="1" spc="-46" dirty="0">
                <a:latin typeface="Times New Roman"/>
                <a:cs typeface="Times New Roman"/>
              </a:rPr>
              <a:t>(</a:t>
            </a:r>
            <a:r>
              <a:rPr lang="en-US" sz="2761" i="1" dirty="0" err="1">
                <a:latin typeface="Times New Roman"/>
                <a:cs typeface="Times New Roman"/>
              </a:rPr>
              <a:t>rs</a:t>
            </a:r>
            <a:r>
              <a:rPr lang="en-US" sz="2761" i="1" dirty="0">
                <a:latin typeface="Times New Roman"/>
                <a:cs typeface="Times New Roman"/>
              </a:rPr>
              <a:t>,</a:t>
            </a:r>
            <a:r>
              <a:rPr lang="en-US" sz="2761" i="1" spc="219" dirty="0">
                <a:latin typeface="Times New Roman"/>
                <a:cs typeface="Times New Roman"/>
              </a:rPr>
              <a:t> 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nable,</a:t>
            </a:r>
            <a:r>
              <a:rPr lang="en-US" sz="2761" i="1" spc="184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d4,</a:t>
            </a:r>
            <a:r>
              <a:rPr lang="en-US" sz="2761" i="1" spc="184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d5,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d6, d7)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4200"/>
              </a:lnSpc>
              <a:spcBef>
                <a:spcPts val="584"/>
              </a:spcBef>
            </a:pPr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73200" y="762000"/>
            <a:ext cx="15163800" cy="8174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void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lcd.be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in(16,2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 </a:t>
            </a:r>
            <a:r>
              <a:rPr sz="2761" i="1" spc="-21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Initializ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  </a:t>
            </a:r>
            <a:r>
              <a:rPr sz="2761" i="1" spc="-23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 </a:t>
            </a:r>
            <a:r>
              <a:rPr sz="2761" i="1" spc="-23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rface  </a:t>
            </a:r>
            <a:r>
              <a:rPr sz="2761" i="1" spc="-24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to  </a:t>
            </a:r>
            <a:r>
              <a:rPr sz="2761" i="1" spc="-21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 </a:t>
            </a:r>
            <a:r>
              <a:rPr sz="2761" i="1" spc="-23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LCD  </a:t>
            </a:r>
            <a:r>
              <a:rPr sz="2761" i="1" spc="-23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-12" dirty="0">
                <a:latin typeface="Times New Roman"/>
                <a:cs typeface="Times New Roman"/>
              </a:rPr>
              <a:t>ee</a:t>
            </a:r>
            <a:r>
              <a:rPr sz="2761" i="1" dirty="0">
                <a:latin typeface="Times New Roman"/>
                <a:cs typeface="Times New Roman"/>
              </a:rPr>
              <a:t>n,  </a:t>
            </a:r>
            <a:r>
              <a:rPr sz="2761" i="1" spc="-23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and  </a:t>
            </a:r>
            <a:r>
              <a:rPr sz="2761" i="1" spc="-207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sp</a:t>
            </a:r>
            <a:r>
              <a:rPr sz="2761" i="1" spc="-12" dirty="0">
                <a:latin typeface="Times New Roman"/>
                <a:cs typeface="Times New Roman"/>
              </a:rPr>
              <a:t>ec</a:t>
            </a:r>
            <a:r>
              <a:rPr sz="2761" i="1" dirty="0">
                <a:latin typeface="Times New Roman"/>
                <a:cs typeface="Times New Roman"/>
              </a:rPr>
              <a:t>ifies  </a:t>
            </a:r>
            <a:r>
              <a:rPr sz="2761" i="1" spc="-230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</a:t>
            </a:r>
            <a:r>
              <a:rPr lang="en-US" sz="2761" i="1" dirty="0">
                <a:latin typeface="Times New Roman"/>
                <a:cs typeface="Times New Roman"/>
              </a:rPr>
              <a:t>  			</a:t>
            </a:r>
            <a:r>
              <a:rPr sz="2761" i="1" dirty="0">
                <a:latin typeface="Times New Roman"/>
                <a:cs typeface="Times New Roman"/>
              </a:rPr>
              <a:t>dim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nsions</a:t>
            </a:r>
            <a:r>
              <a:rPr lang="en-US" sz="2761" i="1" dirty="0">
                <a:latin typeface="Times New Roman"/>
                <a:cs typeface="Times New Roman"/>
              </a:rPr>
              <a:t>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dirty="0">
                <a:latin typeface="Times New Roman"/>
                <a:cs typeface="Times New Roman"/>
              </a:rPr>
              <a:t>width and h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igh</a:t>
            </a:r>
            <a:r>
              <a:rPr sz="2761" i="1" spc="35" dirty="0">
                <a:latin typeface="Times New Roman"/>
                <a:cs typeface="Times New Roman"/>
              </a:rPr>
              <a:t>t</a:t>
            </a:r>
            <a:r>
              <a:rPr sz="2761" i="1" dirty="0">
                <a:latin typeface="Times New Roman"/>
                <a:cs typeface="Times New Roman"/>
              </a:rPr>
              <a:t>)</a:t>
            </a:r>
            <a:r>
              <a:rPr sz="2761" i="1" spc="-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of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display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</a:t>
            </a:r>
            <a:r>
              <a:rPr lang="en-US" sz="2761" b="1" dirty="0">
                <a:latin typeface="Times New Roman"/>
                <a:cs typeface="Times New Roman"/>
              </a:rPr>
              <a:t>loo</a:t>
            </a:r>
            <a:r>
              <a:rPr lang="en-US" sz="2761" b="1" spc="12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079638">
              <a:spcBef>
                <a:spcPts val="1461"/>
              </a:spcBef>
            </a:pPr>
            <a:r>
              <a:rPr lang="en-US" sz="2761" dirty="0" err="1">
                <a:latin typeface="Times New Roman"/>
                <a:cs typeface="Times New Roman"/>
              </a:rPr>
              <a:t>lcd.p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int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rduino"); 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// Prints</a:t>
            </a:r>
            <a:r>
              <a:rPr lang="en-US" sz="2761" i="1" spc="-35" dirty="0">
                <a:latin typeface="Times New Roman"/>
                <a:cs typeface="Times New Roman"/>
              </a:rPr>
              <a:t> </a:t>
            </a:r>
            <a:r>
              <a:rPr lang="en-US" sz="2761" i="1" spc="23" dirty="0">
                <a:latin typeface="Times New Roman"/>
                <a:cs typeface="Times New Roman"/>
              </a:rPr>
              <a:t>"</a:t>
            </a:r>
            <a:r>
              <a:rPr lang="en-US" sz="2761" i="1" dirty="0">
                <a:latin typeface="Times New Roman"/>
                <a:cs typeface="Times New Roman"/>
              </a:rPr>
              <a:t>Arduin</a:t>
            </a:r>
            <a:r>
              <a:rPr lang="en-US" sz="2761" i="1" spc="-23" dirty="0">
                <a:latin typeface="Times New Roman"/>
                <a:cs typeface="Times New Roman"/>
              </a:rPr>
              <a:t>o</a:t>
            </a:r>
            <a:r>
              <a:rPr lang="en-US" sz="2761" i="1" dirty="0">
                <a:latin typeface="Times New Roman"/>
                <a:cs typeface="Times New Roman"/>
              </a:rPr>
              <a:t>"</a:t>
            </a:r>
            <a:r>
              <a:rPr lang="en-US" sz="2761" i="1" spc="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on t</a:t>
            </a:r>
            <a:r>
              <a:rPr lang="en-US" sz="2761" i="1" spc="-23" dirty="0">
                <a:latin typeface="Times New Roman"/>
                <a:cs typeface="Times New Roman"/>
              </a:rPr>
              <a:t>h</a:t>
            </a:r>
            <a:r>
              <a:rPr lang="en-US" sz="2761" i="1" dirty="0">
                <a:latin typeface="Times New Roman"/>
                <a:cs typeface="Times New Roman"/>
              </a:rPr>
              <a:t>e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LCD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38"/>
              </a:spcBef>
              <a:tabLst>
                <a:tab pos="31848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(300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	</a:t>
            </a:r>
            <a:r>
              <a:rPr lang="en-US" sz="2761" i="1" dirty="0">
                <a:latin typeface="Times New Roman"/>
                <a:cs typeface="Times New Roman"/>
              </a:rPr>
              <a:t>// 3 s</a:t>
            </a:r>
            <a:r>
              <a:rPr lang="en-US" sz="2761" i="1" spc="-12" dirty="0">
                <a:latin typeface="Times New Roman"/>
                <a:cs typeface="Times New Roman"/>
              </a:rPr>
              <a:t>ec</a:t>
            </a:r>
            <a:r>
              <a:rPr lang="en-US" sz="2761" i="1" dirty="0">
                <a:latin typeface="Times New Roman"/>
                <a:cs typeface="Times New Roman"/>
              </a:rPr>
              <a:t>onds d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lay</a:t>
            </a:r>
            <a:endParaRPr lang="en-US" sz="2761" dirty="0">
              <a:latin typeface="Times New Roman"/>
              <a:cs typeface="Times New Roman"/>
            </a:endParaRPr>
          </a:p>
          <a:p>
            <a:pPr marL="3798456" marR="11688" indent="-2718818">
              <a:lnSpc>
                <a:spcPct val="1433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lcd.s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tCurso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(2,1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// S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ts</a:t>
            </a:r>
            <a:r>
              <a:rPr lang="en-US" sz="2761" i="1" spc="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the lo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ation at which subs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qu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nt t</a:t>
            </a:r>
            <a:r>
              <a:rPr lang="en-US" sz="2761" i="1" spc="-12" dirty="0">
                <a:latin typeface="Times New Roman"/>
                <a:cs typeface="Times New Roman"/>
              </a:rPr>
              <a:t>ex</a:t>
            </a:r>
            <a:r>
              <a:rPr lang="en-US" sz="2761" i="1" dirty="0">
                <a:latin typeface="Times New Roman"/>
                <a:cs typeface="Times New Roman"/>
              </a:rPr>
              <a:t>t written to the LCD will be displa</a:t>
            </a:r>
            <a:r>
              <a:rPr lang="en-US" sz="2761" i="1" spc="-12" dirty="0">
                <a:latin typeface="Times New Roman"/>
                <a:cs typeface="Times New Roman"/>
              </a:rPr>
              <a:t>ye</a:t>
            </a:r>
            <a:r>
              <a:rPr lang="en-US" sz="2761" i="1" dirty="0">
                <a:latin typeface="Times New Roman"/>
                <a:cs typeface="Times New Roman"/>
              </a:rPr>
              <a:t>d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8905918">
              <a:lnSpc>
                <a:spcPct val="1433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lcd.p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 err="1">
                <a:latin typeface="Times New Roman"/>
                <a:cs typeface="Times New Roman"/>
              </a:rPr>
              <a:t>int</a:t>
            </a:r>
            <a:r>
              <a:rPr lang="en-US" sz="2761" dirty="0">
                <a:latin typeface="Times New Roman"/>
                <a:cs typeface="Times New Roman"/>
              </a:rPr>
              <a:t>("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 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utor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l");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(300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1079638">
              <a:spcBef>
                <a:spcPts val="1472"/>
              </a:spcBef>
            </a:pPr>
            <a:r>
              <a:rPr lang="en-US" sz="2761" dirty="0" err="1">
                <a:latin typeface="Times New Roman"/>
                <a:cs typeface="Times New Roman"/>
              </a:rPr>
              <a:t>lcd.</a:t>
            </a:r>
            <a:r>
              <a:rPr lang="en-US" sz="2761" spc="-23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le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spc="12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</a:t>
            </a:r>
            <a:r>
              <a:rPr lang="en-US" sz="2761" i="1" dirty="0">
                <a:latin typeface="Times New Roman"/>
                <a:cs typeface="Times New Roman"/>
              </a:rPr>
              <a:t>// Clears the display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>
              <a:spcBef>
                <a:spcPts val="143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lcd.blink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</a:t>
            </a:r>
            <a:r>
              <a:rPr lang="en-US" sz="2761" i="1" dirty="0">
                <a:latin typeface="Times New Roman"/>
                <a:cs typeface="Times New Roman"/>
              </a:rPr>
              <a:t>//Displa</a:t>
            </a:r>
            <a:r>
              <a:rPr lang="en-US" sz="2761" i="1" spc="-12" dirty="0">
                <a:latin typeface="Times New Roman"/>
                <a:cs typeface="Times New Roman"/>
              </a:rPr>
              <a:t>y</a:t>
            </a:r>
            <a:r>
              <a:rPr lang="en-US" sz="2761" i="1" dirty="0">
                <a:latin typeface="Times New Roman"/>
                <a:cs typeface="Times New Roman"/>
              </a:rPr>
              <a:t>s the blin</a:t>
            </a:r>
            <a:r>
              <a:rPr lang="en-US" sz="2761" i="1" spc="-12" dirty="0">
                <a:latin typeface="Times New Roman"/>
                <a:cs typeface="Times New Roman"/>
              </a:rPr>
              <a:t>k</a:t>
            </a:r>
            <a:r>
              <a:rPr lang="en-US" sz="2761" i="1" dirty="0">
                <a:latin typeface="Times New Roman"/>
                <a:cs typeface="Times New Roman"/>
              </a:rPr>
              <a:t>ing </a:t>
            </a:r>
            <a:r>
              <a:rPr lang="en-US" sz="2761" i="1" spc="12" dirty="0">
                <a:latin typeface="Times New Roman"/>
                <a:cs typeface="Times New Roman"/>
              </a:rPr>
              <a:t>L</a:t>
            </a:r>
            <a:r>
              <a:rPr lang="en-US" sz="2761" i="1" dirty="0">
                <a:latin typeface="Times New Roman"/>
                <a:cs typeface="Times New Roman"/>
              </a:rPr>
              <a:t>CD </a:t>
            </a:r>
            <a:r>
              <a:rPr lang="en-US" sz="2761" i="1" spc="-23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ursor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9992860">
              <a:lnSpc>
                <a:spcPct val="143800"/>
              </a:lnSpc>
              <a:spcBef>
                <a:spcPts val="12"/>
              </a:spcBef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(400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0412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1219200"/>
            <a:ext cx="14859000" cy="511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	  </a:t>
            </a:r>
            <a:r>
              <a:rPr sz="2761" dirty="0" err="1">
                <a:latin typeface="Times New Roman"/>
                <a:cs typeface="Times New Roman"/>
              </a:rPr>
              <a:t>lcd.s</a:t>
            </a:r>
            <a:r>
              <a:rPr sz="2761" spc="-23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tCurso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(7,1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	 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(300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lcd.no</a:t>
            </a:r>
            <a:r>
              <a:rPr sz="2761" spc="-35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link(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Turns off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blin</a:t>
            </a:r>
            <a:r>
              <a:rPr sz="2761" i="1" spc="-12" dirty="0">
                <a:latin typeface="Times New Roman"/>
                <a:cs typeface="Times New Roman"/>
              </a:rPr>
              <a:t>k</a:t>
            </a:r>
            <a:r>
              <a:rPr sz="2761" i="1" dirty="0">
                <a:latin typeface="Times New Roman"/>
                <a:cs typeface="Times New Roman"/>
              </a:rPr>
              <a:t>ing </a:t>
            </a:r>
            <a:r>
              <a:rPr sz="2761" i="1" spc="12" dirty="0">
                <a:latin typeface="Times New Roman"/>
                <a:cs typeface="Times New Roman"/>
              </a:rPr>
              <a:t>L</a:t>
            </a:r>
            <a:r>
              <a:rPr sz="2761" i="1" dirty="0">
                <a:latin typeface="Times New Roman"/>
                <a:cs typeface="Times New Roman"/>
              </a:rPr>
              <a:t>CD 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ursor</a:t>
            </a:r>
            <a:endParaRPr sz="2761" dirty="0">
              <a:latin typeface="Times New Roman"/>
              <a:cs typeface="Times New Roman"/>
            </a:endParaRPr>
          </a:p>
          <a:p>
            <a:pPr marL="2832771" marR="334556" indent="-175313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lcd.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urso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); </a:t>
            </a:r>
            <a:r>
              <a:rPr sz="2761" i="1" dirty="0">
                <a:latin typeface="Times New Roman"/>
                <a:cs typeface="Times New Roman"/>
              </a:rPr>
              <a:t>// Displa</a:t>
            </a:r>
            <a:r>
              <a:rPr sz="2761" i="1" spc="-12" dirty="0">
                <a:latin typeface="Times New Roman"/>
                <a:cs typeface="Times New Roman"/>
              </a:rPr>
              <a:t>y</a:t>
            </a:r>
            <a:r>
              <a:rPr sz="2761" i="1" dirty="0">
                <a:latin typeface="Times New Roman"/>
                <a:cs typeface="Times New Roman"/>
              </a:rPr>
              <a:t>s an und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rscore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dirty="0">
                <a:latin typeface="Times New Roman"/>
                <a:cs typeface="Times New Roman"/>
              </a:rPr>
              <a:t>lin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) at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position to which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r>
              <a:rPr sz="2761" i="1" spc="-12" dirty="0">
                <a:latin typeface="Times New Roman"/>
                <a:cs typeface="Times New Roman"/>
              </a:rPr>
              <a:t>ex</a:t>
            </a:r>
            <a:r>
              <a:rPr sz="2761" i="1" dirty="0">
                <a:latin typeface="Times New Roman"/>
                <a:cs typeface="Times New Roman"/>
              </a:rPr>
              <a:t>t chara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ter will </a:t>
            </a:r>
            <a:r>
              <a:rPr sz="2761" i="1" spc="12" dirty="0">
                <a:latin typeface="Times New Roman"/>
                <a:cs typeface="Times New Roman"/>
              </a:rPr>
              <a:t>b</a:t>
            </a:r>
            <a:r>
              <a:rPr sz="2761" i="1" dirty="0">
                <a:latin typeface="Times New Roman"/>
                <a:cs typeface="Times New Roman"/>
              </a:rPr>
              <a:t>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wri</a:t>
            </a:r>
            <a:r>
              <a:rPr sz="2761" i="1" spc="-23" dirty="0">
                <a:latin typeface="Times New Roman"/>
                <a:cs typeface="Times New Roman"/>
              </a:rPr>
              <a:t>tt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(400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lcd.noCurso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Hid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 the L</a:t>
            </a:r>
            <a:r>
              <a:rPr sz="2761" i="1" spc="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D 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ursor</a:t>
            </a:r>
            <a:endParaRPr sz="2761" dirty="0">
              <a:latin typeface="Times New Roman"/>
              <a:cs typeface="Times New Roman"/>
            </a:endParaRP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lcd.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i="1" dirty="0">
                <a:latin typeface="Times New Roman"/>
                <a:cs typeface="Times New Roman"/>
              </a:rPr>
              <a:t>// Clears the LCD s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-12" dirty="0">
                <a:latin typeface="Times New Roman"/>
                <a:cs typeface="Times New Roman"/>
              </a:rPr>
              <a:t>ee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90600"/>
            <a:ext cx="15011400" cy="860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xplanation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irst thing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do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it ins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iquid C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do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like this: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&gt;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iquid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stal.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D’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follow: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RS,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D4,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D5,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D6,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D7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dimensions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i="1" spc="23" dirty="0">
                <a:latin typeface="Times New Roman"/>
                <a:cs typeface="Times New Roman"/>
              </a:rPr>
              <a:t>b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gin()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>
              <a:spcBef>
                <a:spcPts val="120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1079638" marR="1374749" indent="-1051880">
              <a:lnSpc>
                <a:spcPct val="1441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 loop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 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print()</a:t>
            </a:r>
            <a:r>
              <a:rPr sz="2761" i="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CD. lcd.p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rduino");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Prints</a:t>
            </a:r>
            <a:r>
              <a:rPr sz="2761" i="1" spc="-35" dirty="0">
                <a:latin typeface="Times New Roman"/>
                <a:cs typeface="Times New Roman"/>
              </a:rPr>
              <a:t> </a:t>
            </a:r>
            <a:r>
              <a:rPr sz="2761" i="1" spc="23" dirty="0">
                <a:latin typeface="Times New Roman"/>
                <a:cs typeface="Times New Roman"/>
              </a:rPr>
              <a:t>"</a:t>
            </a:r>
            <a:r>
              <a:rPr sz="2761" i="1" dirty="0">
                <a:latin typeface="Times New Roman"/>
                <a:cs typeface="Times New Roman"/>
              </a:rPr>
              <a:t>Arduin</a:t>
            </a:r>
            <a:r>
              <a:rPr sz="2761" i="1" spc="-23" dirty="0">
                <a:latin typeface="Times New Roman"/>
                <a:cs typeface="Times New Roman"/>
              </a:rPr>
              <a:t>o</a:t>
            </a:r>
            <a:r>
              <a:rPr sz="2761" i="1" dirty="0">
                <a:latin typeface="Times New Roman"/>
                <a:cs typeface="Times New Roman"/>
              </a:rPr>
              <a:t>"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on the </a:t>
            </a:r>
            <a:r>
              <a:rPr sz="2761" i="1" spc="-23" dirty="0">
                <a:latin typeface="Times New Roman"/>
                <a:cs typeface="Times New Roman"/>
              </a:rPr>
              <a:t>L</a:t>
            </a:r>
            <a:r>
              <a:rPr sz="2761" i="1" dirty="0">
                <a:latin typeface="Times New Roman"/>
                <a:cs typeface="Times New Roman"/>
              </a:rPr>
              <a:t>CD</a:t>
            </a:r>
            <a:endParaRPr lang="en-US" sz="2761" i="1" dirty="0">
              <a:latin typeface="Times New Roman"/>
              <a:cs typeface="Times New Roman"/>
            </a:endParaRPr>
          </a:p>
          <a:p>
            <a:pPr marL="29219" marR="16070">
              <a:lnSpc>
                <a:spcPct val="1442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6070">
              <a:lnSpc>
                <a:spcPct val="144200"/>
              </a:lnSpc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i="1" dirty="0" err="1">
                <a:latin typeface="Times New Roman"/>
                <a:cs typeface="Times New Roman"/>
              </a:rPr>
              <a:t>s</a:t>
            </a:r>
            <a:r>
              <a:rPr lang="en-US" sz="2761" i="1" spc="-12" dirty="0" err="1">
                <a:latin typeface="Times New Roman"/>
                <a:cs typeface="Times New Roman"/>
              </a:rPr>
              <a:t>e</a:t>
            </a:r>
            <a:r>
              <a:rPr lang="en-US" sz="2761" i="1" dirty="0" err="1">
                <a:latin typeface="Times New Roman"/>
                <a:cs typeface="Times New Roman"/>
              </a:rPr>
              <a:t>tCursor</a:t>
            </a:r>
            <a:r>
              <a:rPr lang="en-US" sz="2761" i="1" dirty="0">
                <a:latin typeface="Times New Roman"/>
                <a:cs typeface="Times New Roman"/>
              </a:rPr>
              <a:t>()</a:t>
            </a:r>
            <a:r>
              <a:rPr lang="en-US" sz="2761" i="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tting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subse</a:t>
            </a:r>
            <a:r>
              <a:rPr lang="en-US" sz="2761" spc="12" dirty="0">
                <a:latin typeface="Times New Roman"/>
                <a:cs typeface="Times New Roman"/>
              </a:rPr>
              <a:t>q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ill be displ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d.</a:t>
            </a:r>
          </a:p>
          <a:p>
            <a:pPr marL="29219" marR="18992" indent="1050419">
              <a:lnSpc>
                <a:spcPts val="4785"/>
              </a:lnSpc>
              <a:spcBef>
                <a:spcPts val="368"/>
              </a:spcBef>
            </a:pPr>
            <a:r>
              <a:rPr lang="en-US" sz="2761" dirty="0" err="1">
                <a:latin typeface="Times New Roman"/>
                <a:cs typeface="Times New Roman"/>
              </a:rPr>
              <a:t>lcd.s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tCurso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(2,1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// </a:t>
            </a:r>
            <a:r>
              <a:rPr lang="en-US" sz="2761" i="1" spc="23" dirty="0">
                <a:latin typeface="Times New Roman"/>
                <a:cs typeface="Times New Roman"/>
              </a:rPr>
              <a:t>S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ts the</a:t>
            </a:r>
            <a:r>
              <a:rPr lang="en-US" sz="2761" i="1" spc="-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location at which</a:t>
            </a:r>
            <a:r>
              <a:rPr lang="en-US" sz="2761" i="1" spc="12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  <a:r>
              <a:rPr lang="en-US" sz="2761" i="1" spc="23" dirty="0">
                <a:latin typeface="Times New Roman"/>
                <a:cs typeface="Times New Roman"/>
              </a:rPr>
              <a:t>u</a:t>
            </a:r>
            <a:r>
              <a:rPr lang="en-US" sz="2761" i="1" dirty="0">
                <a:latin typeface="Times New Roman"/>
                <a:cs typeface="Times New Roman"/>
              </a:rPr>
              <a:t>bs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qu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nt t</a:t>
            </a:r>
            <a:r>
              <a:rPr lang="en-US" sz="2761" i="1" spc="-12" dirty="0">
                <a:latin typeface="Times New Roman"/>
                <a:cs typeface="Times New Roman"/>
              </a:rPr>
              <a:t>ex</a:t>
            </a:r>
            <a:r>
              <a:rPr lang="en-US" sz="2761" i="1" dirty="0">
                <a:latin typeface="Times New Roman"/>
                <a:cs typeface="Times New Roman"/>
              </a:rPr>
              <a:t>t</a:t>
            </a:r>
            <a:r>
              <a:rPr lang="en-US" sz="2761" i="1" spc="23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written to the LCD will be displa</a:t>
            </a:r>
            <a:r>
              <a:rPr lang="en-US" sz="2761" i="1" spc="-12" dirty="0">
                <a:latin typeface="Times New Roman"/>
                <a:cs typeface="Times New Roman"/>
              </a:rPr>
              <a:t>ye</a:t>
            </a:r>
            <a:r>
              <a:rPr lang="en-US" sz="2761" i="1" dirty="0">
                <a:latin typeface="Times New Roman"/>
                <a:cs typeface="Times New Roman"/>
              </a:rPr>
              <a:t>d</a:t>
            </a:r>
            <a:endParaRPr lang="en-US" sz="3796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4397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371600"/>
            <a:ext cx="14782800" cy="4294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blin</a:t>
            </a:r>
            <a:r>
              <a:rPr sz="2761" i="1" spc="12" dirty="0">
                <a:latin typeface="Times New Roman"/>
                <a:cs typeface="Times New Roman"/>
              </a:rPr>
              <a:t>k</a:t>
            </a:r>
            <a:r>
              <a:rPr sz="2761" i="1" dirty="0">
                <a:latin typeface="Times New Roman"/>
                <a:cs typeface="Times New Roman"/>
              </a:rPr>
              <a:t>()</a:t>
            </a:r>
            <a:r>
              <a:rPr sz="2761" i="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blinking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ursor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noBlin</a:t>
            </a:r>
            <a:r>
              <a:rPr sz="2761" i="1" spc="-12" dirty="0">
                <a:latin typeface="Times New Roman"/>
                <a:cs typeface="Times New Roman"/>
              </a:rPr>
              <a:t>k</a:t>
            </a:r>
            <a:r>
              <a:rPr sz="2761" i="1" dirty="0">
                <a:latin typeface="Times New Roman"/>
                <a:cs typeface="Times New Roman"/>
              </a:rPr>
              <a:t>()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turning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f.</a:t>
            </a:r>
          </a:p>
          <a:p>
            <a:pPr marL="1079638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lcd.blink(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i="1" dirty="0">
                <a:latin typeface="Times New Roman"/>
                <a:cs typeface="Times New Roman"/>
              </a:rPr>
              <a:t>//Displa</a:t>
            </a:r>
            <a:r>
              <a:rPr sz="2761" i="1" spc="-12" dirty="0">
                <a:latin typeface="Times New Roman"/>
                <a:cs typeface="Times New Roman"/>
              </a:rPr>
              <a:t>y</a:t>
            </a:r>
            <a:r>
              <a:rPr sz="2761" i="1" dirty="0">
                <a:latin typeface="Times New Roman"/>
                <a:cs typeface="Times New Roman"/>
              </a:rPr>
              <a:t>s the blin</a:t>
            </a:r>
            <a:r>
              <a:rPr sz="2761" i="1" spc="-12" dirty="0">
                <a:latin typeface="Times New Roman"/>
                <a:cs typeface="Times New Roman"/>
              </a:rPr>
              <a:t>k</a:t>
            </a:r>
            <a:r>
              <a:rPr sz="2761" i="1" dirty="0">
                <a:latin typeface="Times New Roman"/>
                <a:cs typeface="Times New Roman"/>
              </a:rPr>
              <a:t>ing </a:t>
            </a:r>
            <a:r>
              <a:rPr sz="2761" i="1" spc="12" dirty="0">
                <a:latin typeface="Times New Roman"/>
                <a:cs typeface="Times New Roman"/>
              </a:rPr>
              <a:t>L</a:t>
            </a:r>
            <a:r>
              <a:rPr sz="2761" i="1" dirty="0">
                <a:latin typeface="Times New Roman"/>
                <a:cs typeface="Times New Roman"/>
              </a:rPr>
              <a:t>CD 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ursor</a:t>
            </a:r>
            <a:endParaRPr sz="276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3149">
              <a:lnSpc>
                <a:spcPct val="143300"/>
              </a:lnSpc>
              <a:spcBef>
                <a:spcPts val="1599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urso</a:t>
            </a:r>
            <a:r>
              <a:rPr sz="2761" i="1" spc="23" dirty="0">
                <a:latin typeface="Times New Roman"/>
                <a:cs typeface="Times New Roman"/>
              </a:rPr>
              <a:t>r</a:t>
            </a:r>
            <a:r>
              <a:rPr sz="2761" i="1" dirty="0">
                <a:latin typeface="Times New Roman"/>
                <a:cs typeface="Times New Roman"/>
              </a:rPr>
              <a:t>()</a:t>
            </a:r>
            <a:r>
              <a:rPr sz="2761" i="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rsor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i="1" spc="23" dirty="0">
                <a:latin typeface="Times New Roman"/>
                <a:cs typeface="Times New Roman"/>
              </a:rPr>
              <a:t>n</a:t>
            </a:r>
            <a:r>
              <a:rPr sz="2761" i="1" dirty="0">
                <a:latin typeface="Times New Roman"/>
                <a:cs typeface="Times New Roman"/>
              </a:rPr>
              <a:t>oCursor()</a:t>
            </a:r>
            <a:r>
              <a:rPr sz="2761" i="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turning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f. </a:t>
            </a:r>
            <a:r>
              <a:rPr sz="2761" spc="-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l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ar()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we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lear the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n.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lcd.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i="1" dirty="0">
                <a:latin typeface="Times New Roman"/>
                <a:cs typeface="Times New Roman"/>
              </a:rPr>
              <a:t>// Clears the LCD s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-12" dirty="0">
                <a:latin typeface="Times New Roman"/>
                <a:cs typeface="Times New Roman"/>
              </a:rPr>
              <a:t>ee</a:t>
            </a:r>
            <a:r>
              <a:rPr sz="2761" i="1" dirty="0">
                <a:latin typeface="Times New Roman"/>
                <a:cs typeface="Times New Roman"/>
              </a:rPr>
              <a:t>n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762000"/>
            <a:ext cx="14706600" cy="8053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Scrolli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text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on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1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6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×2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endParaRPr sz="3681" dirty="0">
              <a:latin typeface="Times New Roman"/>
              <a:cs typeface="Times New Roman"/>
            </a:endParaRPr>
          </a:p>
          <a:p>
            <a:pPr marL="29219" marR="14609">
              <a:lnSpc>
                <a:spcPct val="143500"/>
              </a:lnSpc>
              <a:spcBef>
                <a:spcPts val="610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th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s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rollDispla</a:t>
            </a:r>
            <a:r>
              <a:rPr sz="2761" b="1" i="1" spc="-12" dirty="0">
                <a:latin typeface="Times New Roman"/>
                <a:cs typeface="Times New Roman"/>
              </a:rPr>
              <a:t>y</a:t>
            </a:r>
            <a:r>
              <a:rPr sz="2761" b="1" i="1" dirty="0">
                <a:latin typeface="Times New Roman"/>
                <a:cs typeface="Times New Roman"/>
              </a:rPr>
              <a:t>L</a:t>
            </a:r>
            <a:r>
              <a:rPr sz="2761" b="1" i="1" spc="-23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ft</a:t>
            </a:r>
            <a:r>
              <a:rPr sz="2761" b="1" i="1" spc="-12" dirty="0">
                <a:latin typeface="Times New Roman"/>
                <a:cs typeface="Times New Roman"/>
              </a:rPr>
              <a:t>(</a:t>
            </a:r>
            <a:r>
              <a:rPr sz="2761" b="1" i="1" dirty="0">
                <a:latin typeface="Times New Roman"/>
                <a:cs typeface="Times New Roman"/>
              </a:rPr>
              <a:t>)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s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rollDispla</a:t>
            </a:r>
            <a:r>
              <a:rPr sz="2761" b="1" i="1" spc="-12" dirty="0">
                <a:latin typeface="Times New Roman"/>
                <a:cs typeface="Times New Roman"/>
              </a:rPr>
              <a:t>y</a:t>
            </a:r>
            <a:r>
              <a:rPr sz="2761" b="1" i="1" dirty="0">
                <a:latin typeface="Times New Roman"/>
                <a:cs typeface="Times New Roman"/>
              </a:rPr>
              <a:t>Rig</a:t>
            </a:r>
            <a:r>
              <a:rPr sz="2761" b="1" i="1" spc="12" dirty="0">
                <a:latin typeface="Times New Roman"/>
                <a:cs typeface="Times New Roman"/>
              </a:rPr>
              <a:t>h</a:t>
            </a:r>
            <a:r>
              <a:rPr sz="2761" b="1" i="1" dirty="0">
                <a:latin typeface="Times New Roman"/>
                <a:cs typeface="Times New Roman"/>
              </a:rPr>
              <a:t>t()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iquidC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tal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#i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de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&lt;L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qu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dC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ystal.h&gt;</a:t>
            </a: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92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iquidC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stal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lcd</a:t>
            </a:r>
            <a:r>
              <a:rPr sz="2761" dirty="0">
                <a:latin typeface="Times New Roman"/>
                <a:cs typeface="Times New Roman"/>
              </a:rPr>
              <a:t>(1,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7);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</a:t>
            </a:r>
            <a:r>
              <a:rPr sz="2761" i="1" spc="5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Cr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ates</a:t>
            </a:r>
            <a:r>
              <a:rPr sz="2761" i="1" spc="6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an</a:t>
            </a:r>
            <a:r>
              <a:rPr sz="2761" i="1" spc="46" dirty="0">
                <a:latin typeface="Times New Roman"/>
                <a:cs typeface="Times New Roman"/>
              </a:rPr>
              <a:t> </a:t>
            </a:r>
            <a:r>
              <a:rPr sz="2761" i="1" spc="35" dirty="0">
                <a:latin typeface="Times New Roman"/>
                <a:cs typeface="Times New Roman"/>
              </a:rPr>
              <a:t>L</a:t>
            </a:r>
            <a:r>
              <a:rPr sz="2761" i="1" dirty="0">
                <a:latin typeface="Times New Roman"/>
                <a:cs typeface="Times New Roman"/>
              </a:rPr>
              <a:t>CD</a:t>
            </a:r>
            <a:r>
              <a:rPr sz="2761" i="1" spc="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obje</a:t>
            </a:r>
            <a:r>
              <a:rPr sz="2761" i="1" spc="-23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t.</a:t>
            </a:r>
            <a:r>
              <a:rPr sz="2761" i="1" spc="5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Para</a:t>
            </a:r>
            <a:r>
              <a:rPr sz="2761" i="1" spc="12" dirty="0">
                <a:latin typeface="Times New Roman"/>
                <a:cs typeface="Times New Roman"/>
              </a:rPr>
              <a:t>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ters:</a:t>
            </a:r>
            <a:r>
              <a:rPr sz="2761" i="1" spc="6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(rs,</a:t>
            </a:r>
            <a:r>
              <a:rPr sz="2761" i="1" spc="46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nable,</a:t>
            </a:r>
            <a:r>
              <a:rPr sz="2761" i="1" spc="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d4,</a:t>
            </a:r>
            <a:r>
              <a:rPr sz="2761" i="1" spc="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d5,</a:t>
            </a:r>
            <a:r>
              <a:rPr sz="2761" i="1" spc="6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d6, d7)</a:t>
            </a: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4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04532" marR="11180608" indent="-175313">
              <a:lnSpc>
                <a:spcPct val="144200"/>
              </a:lnSpc>
            </a:pPr>
            <a:r>
              <a:rPr sz="2761" dirty="0">
                <a:latin typeface="Times New Roman"/>
                <a:cs typeface="Times New Roman"/>
              </a:rPr>
              <a:t>void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lcd.be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in(16, 2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lcd.p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int(</a:t>
            </a:r>
            <a:r>
              <a:rPr sz="2761" spc="-35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1446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914400"/>
            <a:ext cx="14859000" cy="8581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4532" marR="10206158" lvl="0" indent="-175313" algn="l" defTabSz="914400" rtl="0" eaLnBrk="1" fontAlgn="auto" latinLnBrk="0" hangingPunct="1">
              <a:lnSpc>
                <a:spcPts val="4785"/>
              </a:lnSpc>
              <a:spcBef>
                <a:spcPts val="36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void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loo</a:t>
            </a:r>
            <a:r>
              <a:rPr kumimoji="0" lang="en-US" sz="2761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()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{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lcd.s</a:t>
            </a:r>
            <a:r>
              <a:rPr kumimoji="0" lang="en-US" sz="2761" b="0" i="0" u="none" strike="noStrike" kern="1200" cap="none" spc="-2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rollDispl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3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yL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ft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);</a:t>
            </a:r>
          </a:p>
          <a:p>
            <a:pPr marL="204532"/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>
              <a:spcBef>
                <a:spcPts val="129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3800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 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 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hoose    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ther  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 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  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ll   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  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ft    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   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ht,    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s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rollDispla</a:t>
            </a:r>
            <a:r>
              <a:rPr sz="2761" b="1" i="1" spc="-12" dirty="0">
                <a:latin typeface="Times New Roman"/>
                <a:cs typeface="Times New Roman"/>
              </a:rPr>
              <a:t>y</a:t>
            </a:r>
            <a:r>
              <a:rPr sz="2761" b="1" i="1" dirty="0">
                <a:latin typeface="Times New Roman"/>
                <a:cs typeface="Times New Roman"/>
              </a:rPr>
              <a:t>L</a:t>
            </a:r>
            <a:r>
              <a:rPr sz="2761" b="1" i="1" spc="-23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ft</a:t>
            </a:r>
            <a:r>
              <a:rPr sz="2761" b="1" i="1" spc="-12" dirty="0">
                <a:latin typeface="Times New Roman"/>
                <a:cs typeface="Times New Roman"/>
              </a:rPr>
              <a:t>(</a:t>
            </a:r>
            <a:r>
              <a:rPr sz="2761" b="1" i="1" dirty="0">
                <a:latin typeface="Times New Roman"/>
                <a:cs typeface="Times New Roman"/>
              </a:rPr>
              <a:t>)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i="1" dirty="0">
                <a:latin typeface="Times New Roman"/>
                <a:cs typeface="Times New Roman"/>
              </a:rPr>
              <a:t>s</a:t>
            </a:r>
            <a:r>
              <a:rPr sz="2761" b="1" i="1" spc="-12" dirty="0">
                <a:latin typeface="Times New Roman"/>
                <a:cs typeface="Times New Roman"/>
              </a:rPr>
              <a:t>c</a:t>
            </a:r>
            <a:r>
              <a:rPr sz="2761" b="1" i="1" dirty="0">
                <a:latin typeface="Times New Roman"/>
                <a:cs typeface="Times New Roman"/>
              </a:rPr>
              <a:t>rollDispla</a:t>
            </a:r>
            <a:r>
              <a:rPr sz="2761" b="1" i="1" spc="-12" dirty="0">
                <a:latin typeface="Times New Roman"/>
                <a:cs typeface="Times New Roman"/>
              </a:rPr>
              <a:t>y</a:t>
            </a:r>
            <a:r>
              <a:rPr sz="2761" b="1" i="1" dirty="0">
                <a:latin typeface="Times New Roman"/>
                <a:cs typeface="Times New Roman"/>
              </a:rPr>
              <a:t>Rig</a:t>
            </a:r>
            <a:r>
              <a:rPr sz="2761" b="1" i="1" spc="12" dirty="0">
                <a:latin typeface="Times New Roman"/>
                <a:cs typeface="Times New Roman"/>
              </a:rPr>
              <a:t>h</a:t>
            </a:r>
            <a:r>
              <a:rPr sz="2761" b="1" i="1" dirty="0">
                <a:latin typeface="Times New Roman"/>
                <a:cs typeface="Times New Roman"/>
              </a:rPr>
              <a:t>t()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b="1" i="1" dirty="0">
                <a:latin typeface="Times New Roman"/>
                <a:cs typeface="Times New Roman"/>
              </a:rPr>
              <a:t>d</a:t>
            </a:r>
            <a:r>
              <a:rPr sz="2761" b="1" i="1" spc="-12" dirty="0">
                <a:latin typeface="Times New Roman"/>
                <a:cs typeface="Times New Roman"/>
              </a:rPr>
              <a:t>e</a:t>
            </a:r>
            <a:r>
              <a:rPr sz="2761" b="1" i="1" dirty="0">
                <a:latin typeface="Times New Roman"/>
                <a:cs typeface="Times New Roman"/>
              </a:rPr>
              <a:t>lay()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the s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how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ould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rolling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using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“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”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oop.</a:t>
            </a:r>
          </a:p>
          <a:p>
            <a:pPr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’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</a:p>
          <a:p>
            <a:pPr marL="29219" algn="just">
              <a:spcBef>
                <a:spcPts val="1518"/>
              </a:spcBef>
            </a:pPr>
            <a:r>
              <a:rPr lang="en-US" sz="2761" b="1" dirty="0">
                <a:latin typeface="Times New Roman"/>
                <a:cs typeface="Times New Roman"/>
              </a:rPr>
              <a:t>#i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de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&lt;</a:t>
            </a:r>
            <a:r>
              <a:rPr lang="en-US" sz="2761" b="1" dirty="0" err="1">
                <a:latin typeface="Times New Roman"/>
                <a:cs typeface="Times New Roman"/>
              </a:rPr>
              <a:t>L</a:t>
            </a:r>
            <a:r>
              <a:rPr lang="en-US" sz="2761" b="1" spc="-23" dirty="0" err="1">
                <a:latin typeface="Times New Roman"/>
                <a:cs typeface="Times New Roman"/>
              </a:rPr>
              <a:t>i</a:t>
            </a:r>
            <a:r>
              <a:rPr lang="en-US" sz="2761" b="1" dirty="0" err="1">
                <a:latin typeface="Times New Roman"/>
                <a:cs typeface="Times New Roman"/>
              </a:rPr>
              <a:t>qu</a:t>
            </a:r>
            <a:r>
              <a:rPr lang="en-US" sz="2761" b="1" spc="-23" dirty="0" err="1">
                <a:latin typeface="Times New Roman"/>
                <a:cs typeface="Times New Roman"/>
              </a:rPr>
              <a:t>i</a:t>
            </a:r>
            <a:r>
              <a:rPr lang="en-US" sz="2761" b="1" dirty="0" err="1">
                <a:latin typeface="Times New Roman"/>
                <a:cs typeface="Times New Roman"/>
              </a:rPr>
              <a:t>dC</a:t>
            </a:r>
            <a:r>
              <a:rPr lang="en-US" sz="2761" b="1" spc="-23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ystal.h</a:t>
            </a:r>
            <a:r>
              <a:rPr lang="en-US" sz="2761" b="1" dirty="0">
                <a:latin typeface="Times New Roman"/>
                <a:cs typeface="Times New Roman"/>
              </a:rPr>
              <a:t>&gt;</a:t>
            </a: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92"/>
              </a:spcBef>
            </a:pPr>
            <a:endParaRPr lang="en-US" sz="4026" dirty="0">
              <a:latin typeface="Times New Roman"/>
              <a:cs typeface="Times New Roman"/>
            </a:endParaRPr>
          </a:p>
          <a:p>
            <a:pPr marL="29219" marR="14609">
              <a:lnSpc>
                <a:spcPct val="143300"/>
              </a:lnSpc>
            </a:pP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iquidC</a:t>
            </a:r>
            <a:r>
              <a:rPr lang="en-US" sz="2761" spc="35" dirty="0" err="1">
                <a:latin typeface="Times New Roman"/>
                <a:cs typeface="Times New Roman"/>
              </a:rPr>
              <a:t>r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stal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lcd</a:t>
            </a:r>
            <a:r>
              <a:rPr lang="en-US" sz="2761" dirty="0">
                <a:latin typeface="Times New Roman"/>
                <a:cs typeface="Times New Roman"/>
              </a:rPr>
              <a:t>(1,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4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6,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7);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//</a:t>
            </a:r>
            <a:r>
              <a:rPr lang="en-US" sz="2761" i="1" spc="58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Cr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ates</a:t>
            </a:r>
            <a:r>
              <a:rPr lang="en-US" sz="2761" i="1" spc="69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an</a:t>
            </a:r>
            <a:r>
              <a:rPr lang="en-US" sz="2761" i="1" spc="46" dirty="0">
                <a:latin typeface="Times New Roman"/>
                <a:cs typeface="Times New Roman"/>
              </a:rPr>
              <a:t> </a:t>
            </a:r>
            <a:r>
              <a:rPr lang="en-US" sz="2761" i="1" spc="35" dirty="0">
                <a:latin typeface="Times New Roman"/>
                <a:cs typeface="Times New Roman"/>
              </a:rPr>
              <a:t>L</a:t>
            </a:r>
            <a:r>
              <a:rPr lang="en-US" sz="2761" i="1" dirty="0">
                <a:latin typeface="Times New Roman"/>
                <a:cs typeface="Times New Roman"/>
              </a:rPr>
              <a:t>CD</a:t>
            </a:r>
            <a:r>
              <a:rPr lang="en-US" sz="2761" i="1" spc="46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obje</a:t>
            </a:r>
            <a:r>
              <a:rPr lang="en-US" sz="2761" i="1" spc="-23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t.</a:t>
            </a:r>
            <a:r>
              <a:rPr lang="en-US" sz="2761" i="1" spc="58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Para</a:t>
            </a:r>
            <a:r>
              <a:rPr lang="en-US" sz="2761" i="1" spc="12" dirty="0">
                <a:latin typeface="Times New Roman"/>
                <a:cs typeface="Times New Roman"/>
              </a:rPr>
              <a:t>m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ters:</a:t>
            </a:r>
            <a:r>
              <a:rPr lang="en-US" sz="2761" i="1" spc="69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(</a:t>
            </a:r>
            <a:r>
              <a:rPr lang="en-US" sz="2761" i="1" dirty="0" err="1">
                <a:latin typeface="Times New Roman"/>
                <a:cs typeface="Times New Roman"/>
              </a:rPr>
              <a:t>rs</a:t>
            </a:r>
            <a:r>
              <a:rPr lang="en-US" sz="2761" i="1" dirty="0">
                <a:latin typeface="Times New Roman"/>
                <a:cs typeface="Times New Roman"/>
              </a:rPr>
              <a:t>,</a:t>
            </a:r>
            <a:r>
              <a:rPr lang="en-US" sz="2761" i="1" spc="46" dirty="0">
                <a:latin typeface="Times New Roman"/>
                <a:cs typeface="Times New Roman"/>
              </a:rPr>
              <a:t> 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nable,</a:t>
            </a:r>
            <a:r>
              <a:rPr lang="en-US" sz="2761" i="1" spc="46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d4,</a:t>
            </a:r>
            <a:r>
              <a:rPr lang="en-US" sz="2761" i="1" spc="46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d5,</a:t>
            </a:r>
            <a:r>
              <a:rPr lang="en-US" sz="2761" i="1" spc="69" dirty="0">
                <a:latin typeface="Times New Roman"/>
                <a:cs typeface="Times New Roman"/>
              </a:rPr>
              <a:t> </a:t>
            </a:r>
            <a:r>
              <a:rPr lang="en-US" sz="2761" i="1" dirty="0">
                <a:latin typeface="Times New Roman"/>
                <a:cs typeface="Times New Roman"/>
              </a:rPr>
              <a:t>d6, d7)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219200"/>
            <a:ext cx="15392400" cy="7135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2761" dirty="0">
                <a:latin typeface="Times New Roman"/>
                <a:cs typeface="Times New Roman"/>
              </a:rPr>
              <a:t>void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tu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9" marR="21914" indent="175313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lcd.be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in(16,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2);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</a:t>
            </a:r>
            <a:r>
              <a:rPr sz="2761" i="1" spc="-21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Initializ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s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int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rface </a:t>
            </a:r>
            <a:r>
              <a:rPr sz="2761" i="1" spc="-27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to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spc="23" dirty="0">
                <a:latin typeface="Times New Roman"/>
                <a:cs typeface="Times New Roman"/>
              </a:rPr>
              <a:t>t</a:t>
            </a:r>
            <a:r>
              <a:rPr sz="2761" i="1" dirty="0">
                <a:latin typeface="Times New Roman"/>
                <a:cs typeface="Times New Roman"/>
              </a:rPr>
              <a:t>he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LCD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n,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and </a:t>
            </a:r>
            <a:r>
              <a:rPr sz="2761" i="1" spc="-25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sp</a:t>
            </a:r>
            <a:r>
              <a:rPr sz="2761" i="1" spc="12" dirty="0">
                <a:latin typeface="Times New Roman"/>
                <a:cs typeface="Times New Roman"/>
              </a:rPr>
              <a:t>e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ifies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dim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nsions </a:t>
            </a:r>
            <a:r>
              <a:rPr sz="2761" i="1" spc="-46" dirty="0">
                <a:latin typeface="Times New Roman"/>
                <a:cs typeface="Times New Roman"/>
              </a:rPr>
              <a:t>(</a:t>
            </a:r>
            <a:r>
              <a:rPr sz="2761" i="1" dirty="0">
                <a:latin typeface="Times New Roman"/>
                <a:cs typeface="Times New Roman"/>
              </a:rPr>
              <a:t>width and h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igh</a:t>
            </a:r>
            <a:r>
              <a:rPr sz="2761" i="1" spc="35" dirty="0">
                <a:latin typeface="Times New Roman"/>
                <a:cs typeface="Times New Roman"/>
              </a:rPr>
              <a:t>t</a:t>
            </a:r>
            <a:r>
              <a:rPr sz="2761" i="1" dirty="0">
                <a:latin typeface="Times New Roman"/>
                <a:cs typeface="Times New Roman"/>
              </a:rPr>
              <a:t>)</a:t>
            </a:r>
            <a:r>
              <a:rPr sz="2761" i="1" spc="-46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of the</a:t>
            </a:r>
            <a:r>
              <a:rPr sz="2761" i="1" spc="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display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void </a:t>
            </a:r>
            <a:r>
              <a:rPr sz="2761" b="1" dirty="0">
                <a:latin typeface="Times New Roman"/>
                <a:cs typeface="Times New Roman"/>
              </a:rPr>
              <a:t>loo</a:t>
            </a:r>
            <a:r>
              <a:rPr sz="2761" b="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04532">
              <a:spcBef>
                <a:spcPts val="1461"/>
              </a:spcBef>
            </a:pPr>
            <a:r>
              <a:rPr sz="2761" i="1" dirty="0">
                <a:latin typeface="Times New Roman"/>
                <a:cs typeface="Times New Roman"/>
              </a:rPr>
              <a:t>// s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roll te</a:t>
            </a:r>
            <a:r>
              <a:rPr sz="2761" i="1" spc="-23" dirty="0">
                <a:latin typeface="Times New Roman"/>
                <a:cs typeface="Times New Roman"/>
              </a:rPr>
              <a:t>x</a:t>
            </a:r>
            <a:r>
              <a:rPr sz="2761" i="1" dirty="0">
                <a:latin typeface="Times New Roman"/>
                <a:cs typeface="Times New Roman"/>
              </a:rPr>
              <a:t>t to the right</a:t>
            </a:r>
            <a:endParaRPr sz="2761" dirty="0">
              <a:latin typeface="Times New Roman"/>
              <a:cs typeface="Times New Roman"/>
            </a:endParaRP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(int i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 i </a:t>
            </a:r>
            <a:r>
              <a:rPr sz="2761" spc="-12" dirty="0">
                <a:latin typeface="Times New Roman"/>
                <a:cs typeface="Times New Roman"/>
              </a:rPr>
              <a:t>&lt;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13; i</a:t>
            </a:r>
            <a:r>
              <a:rPr sz="2761" spc="12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) {</a:t>
            </a:r>
          </a:p>
          <a:p>
            <a:pPr marL="29219" marR="11688" indent="35062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lcd.s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tCurso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(i,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0);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// </a:t>
            </a:r>
            <a:r>
              <a:rPr sz="2761" i="1" spc="-334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ts </a:t>
            </a:r>
            <a:r>
              <a:rPr sz="2761" i="1" spc="-299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</a:t>
            </a:r>
            <a:r>
              <a:rPr sz="2761" i="1" spc="-32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location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spc="-35" dirty="0">
                <a:latin typeface="Times New Roman"/>
                <a:cs typeface="Times New Roman"/>
              </a:rPr>
              <a:t>a</a:t>
            </a:r>
            <a:r>
              <a:rPr sz="2761" i="1" dirty="0">
                <a:latin typeface="Times New Roman"/>
                <a:cs typeface="Times New Roman"/>
              </a:rPr>
              <a:t>t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wh</a:t>
            </a:r>
            <a:r>
              <a:rPr sz="2761" i="1" spc="-23" dirty="0">
                <a:latin typeface="Times New Roman"/>
                <a:cs typeface="Times New Roman"/>
              </a:rPr>
              <a:t>i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h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subsequ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nt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te</a:t>
            </a:r>
            <a:r>
              <a:rPr sz="2761" i="1" spc="-23" dirty="0">
                <a:latin typeface="Times New Roman"/>
                <a:cs typeface="Times New Roman"/>
              </a:rPr>
              <a:t>x</a:t>
            </a:r>
            <a:r>
              <a:rPr sz="2761" i="1" dirty="0">
                <a:latin typeface="Times New Roman"/>
                <a:cs typeface="Times New Roman"/>
              </a:rPr>
              <a:t>t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writ</a:t>
            </a:r>
            <a:r>
              <a:rPr sz="2761" i="1" spc="-23" dirty="0">
                <a:latin typeface="Times New Roman"/>
                <a:cs typeface="Times New Roman"/>
              </a:rPr>
              <a:t>t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n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to </a:t>
            </a:r>
            <a:r>
              <a:rPr sz="2761" i="1" spc="-311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the </a:t>
            </a:r>
            <a:r>
              <a:rPr sz="2761" i="1" spc="-322" dirty="0">
                <a:latin typeface="Times New Roman"/>
                <a:cs typeface="Times New Roman"/>
              </a:rPr>
              <a:t> </a:t>
            </a:r>
            <a:r>
              <a:rPr sz="2761" i="1" spc="-23" dirty="0">
                <a:latin typeface="Times New Roman"/>
                <a:cs typeface="Times New Roman"/>
              </a:rPr>
              <a:t>L</a:t>
            </a:r>
            <a:r>
              <a:rPr sz="2761" i="1" dirty="0">
                <a:latin typeface="Times New Roman"/>
                <a:cs typeface="Times New Roman"/>
              </a:rPr>
              <a:t>CD </a:t>
            </a:r>
            <a:r>
              <a:rPr sz="2761" i="1" spc="-32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w</a:t>
            </a:r>
            <a:r>
              <a:rPr sz="2761" i="1" spc="-23" dirty="0">
                <a:latin typeface="Times New Roman"/>
                <a:cs typeface="Times New Roman"/>
              </a:rPr>
              <a:t>i</a:t>
            </a:r>
            <a:r>
              <a:rPr sz="2761" i="1" dirty="0">
                <a:latin typeface="Times New Roman"/>
                <a:cs typeface="Times New Roman"/>
              </a:rPr>
              <a:t>ll </a:t>
            </a:r>
            <a:r>
              <a:rPr sz="2761" i="1" spc="-299" dirty="0">
                <a:latin typeface="Times New Roman"/>
                <a:cs typeface="Times New Roman"/>
              </a:rPr>
              <a:t> </a:t>
            </a:r>
            <a:r>
              <a:rPr sz="2761" i="1" spc="-35" dirty="0">
                <a:latin typeface="Times New Roman"/>
                <a:cs typeface="Times New Roman"/>
              </a:rPr>
              <a:t>b</a:t>
            </a:r>
            <a:r>
              <a:rPr sz="2761" i="1" dirty="0">
                <a:latin typeface="Times New Roman"/>
                <a:cs typeface="Times New Roman"/>
              </a:rPr>
              <a:t>e displa</a:t>
            </a:r>
            <a:r>
              <a:rPr sz="2761" i="1" spc="-12" dirty="0">
                <a:latin typeface="Times New Roman"/>
                <a:cs typeface="Times New Roman"/>
              </a:rPr>
              <a:t>ye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endParaRPr sz="2761" dirty="0">
              <a:latin typeface="Times New Roman"/>
              <a:cs typeface="Times New Roman"/>
            </a:endParaRPr>
          </a:p>
          <a:p>
            <a:pPr marL="379846" marR="9266769">
              <a:lnSpc>
                <a:spcPct val="1435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lcd.p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int("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i="1" dirty="0">
                <a:latin typeface="Times New Roman"/>
                <a:cs typeface="Times New Roman"/>
              </a:rPr>
              <a:t>// 1s</a:t>
            </a:r>
            <a:r>
              <a:rPr sz="2761" i="1" spc="-12" dirty="0">
                <a:latin typeface="Times New Roman"/>
                <a:cs typeface="Times New Roman"/>
              </a:rPr>
              <a:t>ec</a:t>
            </a:r>
            <a:r>
              <a:rPr sz="2761" i="1" dirty="0">
                <a:latin typeface="Times New Roman"/>
                <a:cs typeface="Times New Roman"/>
              </a:rPr>
              <a:t>ond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lay</a:t>
            </a:r>
            <a:endParaRPr sz="2761" dirty="0">
              <a:latin typeface="Times New Roman"/>
              <a:cs typeface="Times New Roman"/>
            </a:endParaRPr>
          </a:p>
          <a:p>
            <a:pPr marL="379846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lcd.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sz="2761" i="1" dirty="0">
                <a:latin typeface="Times New Roman"/>
                <a:cs typeface="Times New Roman"/>
              </a:rPr>
              <a:t>//</a:t>
            </a:r>
            <a:r>
              <a:rPr sz="2761" i="1" spc="23" dirty="0">
                <a:latin typeface="Times New Roman"/>
                <a:cs typeface="Times New Roman"/>
              </a:rPr>
              <a:t> </a:t>
            </a:r>
            <a:r>
              <a:rPr sz="2761" i="1" spc="-46" dirty="0">
                <a:latin typeface="Times New Roman"/>
                <a:cs typeface="Times New Roman"/>
              </a:rPr>
              <a:t>W</a:t>
            </a:r>
            <a:r>
              <a:rPr sz="2761" i="1" dirty="0">
                <a:latin typeface="Times New Roman"/>
                <a:cs typeface="Times New Roman"/>
              </a:rPr>
              <a:t>rite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a </a:t>
            </a:r>
            <a:r>
              <a:rPr sz="2761" i="1" spc="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hara</a:t>
            </a:r>
            <a:r>
              <a:rPr sz="2761" i="1" spc="-12" dirty="0">
                <a:latin typeface="Times New Roman"/>
                <a:cs typeface="Times New Roman"/>
              </a:rPr>
              <a:t>c</a:t>
            </a:r>
            <a:r>
              <a:rPr sz="2761" i="1" dirty="0">
                <a:latin typeface="Times New Roman"/>
                <a:cs typeface="Times New Roman"/>
              </a:rPr>
              <a:t>ter to the</a:t>
            </a:r>
            <a:r>
              <a:rPr sz="2761" i="1" spc="-1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LCD</a:t>
            </a:r>
            <a:endParaRPr sz="2761" dirty="0">
              <a:latin typeface="Times New Roman"/>
              <a:cs typeface="Times New Roman"/>
            </a:endParaRP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7691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66800"/>
            <a:ext cx="14630400" cy="717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4532">
              <a:spcBef>
                <a:spcPts val="1461"/>
              </a:spcBef>
            </a:pPr>
            <a:r>
              <a:rPr lang="en-US" sz="2761" i="1" dirty="0">
                <a:latin typeface="Times New Roman"/>
                <a:cs typeface="Times New Roman"/>
              </a:rPr>
              <a:t>// s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roll te</a:t>
            </a:r>
            <a:r>
              <a:rPr lang="en-US" sz="2761" i="1" spc="-23" dirty="0">
                <a:latin typeface="Times New Roman"/>
                <a:cs typeface="Times New Roman"/>
              </a:rPr>
              <a:t>x</a:t>
            </a:r>
            <a:r>
              <a:rPr lang="en-US" sz="2761" i="1" dirty="0">
                <a:latin typeface="Times New Roman"/>
                <a:cs typeface="Times New Roman"/>
              </a:rPr>
              <a:t>t to the l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ft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9699211" indent="-175313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(int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12;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&gt;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1; </a:t>
            </a:r>
            <a:r>
              <a:rPr lang="en-US" sz="2761" spc="12" dirty="0" err="1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-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) { </a:t>
            </a:r>
            <a:r>
              <a:rPr lang="en-US" sz="2761" dirty="0" err="1">
                <a:latin typeface="Times New Roman"/>
                <a:cs typeface="Times New Roman"/>
              </a:rPr>
              <a:t>lcd.s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tCurso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, 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379846" marR="11688">
              <a:lnSpc>
                <a:spcPct val="143800"/>
              </a:lnSpc>
            </a:pPr>
            <a:r>
              <a:rPr sz="2761" dirty="0" err="1">
                <a:latin typeface="Times New Roman"/>
                <a:cs typeface="Times New Roman"/>
              </a:rPr>
              <a:t>lcd.p</a:t>
            </a:r>
            <a:r>
              <a:rPr sz="2761" spc="-23" dirty="0" err="1">
                <a:latin typeface="Times New Roman"/>
                <a:cs typeface="Times New Roman"/>
              </a:rPr>
              <a:t>r</a:t>
            </a:r>
            <a:r>
              <a:rPr sz="2761" dirty="0" err="1">
                <a:latin typeface="Times New Roman"/>
                <a:cs typeface="Times New Roman"/>
              </a:rPr>
              <a:t>int</a:t>
            </a:r>
            <a:r>
              <a:rPr sz="2761" dirty="0">
                <a:latin typeface="Times New Roman"/>
                <a:cs typeface="Times New Roman"/>
              </a:rPr>
              <a:t>("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11688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379846" marR="11688">
              <a:lnSpc>
                <a:spcPct val="143800"/>
              </a:lnSpc>
            </a:pPr>
            <a:r>
              <a:rPr sz="2761" dirty="0" err="1">
                <a:latin typeface="Times New Roman"/>
                <a:cs typeface="Times New Roman"/>
              </a:rPr>
              <a:t>lcd.</a:t>
            </a:r>
            <a:r>
              <a:rPr sz="2761" spc="-23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le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spc="12" dirty="0" err="1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04532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nclusion</a:t>
            </a:r>
            <a:endParaRPr lang="en-US"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700"/>
              </a:lnSpc>
              <a:spcBef>
                <a:spcPts val="610"/>
              </a:spcBef>
            </a:pPr>
            <a:r>
              <a:rPr lang="en-US" sz="2761" dirty="0">
                <a:latin typeface="Times New Roman"/>
                <a:cs typeface="Times New Roman"/>
              </a:rPr>
              <a:t>So,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much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thi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to know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bout usi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duino. 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CD 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displ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lly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displ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46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f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m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troni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s pro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1823</Words>
  <Application>Microsoft Office PowerPoint</Application>
  <PresentationFormat>Custom</PresentationFormat>
  <Paragraphs>112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2</cp:revision>
  <dcterms:created xsi:type="dcterms:W3CDTF">2024-07-02T13:01:21Z</dcterms:created>
  <dcterms:modified xsi:type="dcterms:W3CDTF">2024-07-14T14:16:25Z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