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1" r:id="rId2"/>
    <p:sldId id="256" r:id="rId3"/>
    <p:sldId id="260" r:id="rId4"/>
    <p:sldId id="257" r:id="rId5"/>
    <p:sldId id="262" r:id="rId6"/>
    <p:sldId id="263" r:id="rId7"/>
    <p:sldId id="258" r:id="rId8"/>
    <p:sldId id="259" r:id="rId9"/>
    <p:sldId id="264" r:id="rId10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8792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28554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7000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46791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1408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A6EFA2-8B32-3961-19E4-BB006ECC29EF}"/>
              </a:ext>
            </a:extLst>
          </p:cNvPr>
          <p:cNvSpPr txBox="1"/>
          <p:nvPr/>
        </p:nvSpPr>
        <p:spPr>
          <a:xfrm>
            <a:off x="1244600" y="3733800"/>
            <a:ext cx="11963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9219" indent="4498246"/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Inter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acing</a:t>
            </a:r>
            <a:r>
              <a:rPr lang="en-US" sz="4400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with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 A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rd</a:t>
            </a:r>
            <a:r>
              <a:rPr lang="en-US" sz="4400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lang="en-US" sz="4400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endParaRPr lang="en-US" sz="4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1882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712762"/>
            <a:ext cx="14782800" cy="8324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4520160">
              <a:lnSpc>
                <a:spcPct val="158100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that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c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interfaced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th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duino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endParaRPr lang="en-US" sz="3681" spc="-12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marR="4520160">
              <a:lnSpc>
                <a:spcPct val="158100"/>
              </a:lnSpc>
            </a:pPr>
            <a:endParaRPr lang="en-US" sz="3681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marR="4520160">
              <a:lnSpc>
                <a:spcPct val="1581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Basic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ponents:</a:t>
            </a:r>
            <a:endParaRPr sz="3681" dirty="0">
              <a:latin typeface="Times New Roman"/>
              <a:cs typeface="Times New Roman"/>
            </a:endParaRPr>
          </a:p>
          <a:p>
            <a:pPr marL="1079638" marR="493797" indent="-524479" algn="just">
              <a:lnSpc>
                <a:spcPct val="143900"/>
              </a:lnSpc>
              <a:spcBef>
                <a:spcPts val="16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LEDs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58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Emitting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 in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blink, 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up in dif</a:t>
            </a:r>
            <a:r>
              <a:rPr sz="2761" spc="-12" dirty="0">
                <a:latin typeface="Times New Roman"/>
                <a:cs typeface="Times New Roman"/>
              </a:rPr>
              <a:t>fe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col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3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RGB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), 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indi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te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status of a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ted th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ough 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dirty="0">
                <a:latin typeface="Times New Roman"/>
                <a:cs typeface="Times New Roman"/>
              </a:rPr>
              <a:t>sistors to limit the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and pr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dam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But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ons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push buttons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us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put in pr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ts. Th</a:t>
            </a:r>
            <a:r>
              <a:rPr sz="2761" spc="46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trig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tions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cod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su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tog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onn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pul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up or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down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 to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stable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o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nti</a:t>
            </a:r>
            <a:r>
              <a:rPr sz="2761" b="1" spc="12" dirty="0">
                <a:latin typeface="Times New Roman"/>
                <a:cs typeface="Times New Roman"/>
              </a:rPr>
              <a:t>o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12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adjust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 in 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it,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</a:p>
          <a:p>
            <a:pPr marL="1079638" marR="18992" algn="just">
              <a:lnSpc>
                <a:spcPct val="1433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djusting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volume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rovide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 which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1143000"/>
            <a:ext cx="14782800" cy="80282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Sens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rs:</a:t>
            </a:r>
            <a:endParaRPr sz="3681" dirty="0">
              <a:latin typeface="Times New Roman"/>
              <a:cs typeface="Times New Roman"/>
            </a:endParaRPr>
          </a:p>
          <a:p>
            <a:pPr marL="1079638" marR="90579" indent="-524479" algn="just">
              <a:lnSpc>
                <a:spcPct val="143800"/>
              </a:lnSpc>
              <a:spcBef>
                <a:spcPts val="1680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12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ature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11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mbi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T11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ovi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digit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 of both te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humidi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M35 outputs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ropo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ional to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temp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 is 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input.</a:t>
            </a:r>
          </a:p>
          <a:p>
            <a:pPr marL="1079638" marR="83274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H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ity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Often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T22, these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ovide 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lative humidi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nvironme</a:t>
            </a:r>
            <a:r>
              <a:rPr sz="2761" spc="-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</a:t>
            </a:r>
            <a:r>
              <a:rPr sz="2761" spc="58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in clim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and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Lig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t Sensors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58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sistors 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DR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sistance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the</a:t>
            </a:r>
          </a:p>
          <a:p>
            <a:pPr marL="1079638" marR="657425" algn="just">
              <a:lnSpc>
                <a:spcPct val="143300"/>
              </a:lnSpc>
              <a:spcBef>
                <a:spcPts val="35"/>
              </a:spcBef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mount of 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pos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to. 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proj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 like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hting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wh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inten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li</a:t>
            </a:r>
            <a:r>
              <a:rPr sz="2761" spc="-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rol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vior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oth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nts.</a:t>
            </a:r>
          </a:p>
          <a:p>
            <a:pPr marL="1079638" marR="54055" indent="-524479" algn="just">
              <a:lnSpc>
                <a:spcPct val="143300"/>
              </a:lnSpc>
              <a:spcBef>
                <a:spcPts val="23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otion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35" dirty="0">
                <a:latin typeface="Times New Roman"/>
                <a:cs typeface="Times New Roman"/>
              </a:rPr>
              <a:t>P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 (Passive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nfr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)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motion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in inf</a:t>
            </a:r>
            <a:r>
              <a:rPr sz="2761" spc="-12" dirty="0">
                <a:latin typeface="Times New Roman"/>
                <a:cs typeface="Times New Roman"/>
              </a:rPr>
              <a:t>ra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diation in their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oundin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ommon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uri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 and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tic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0540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7000" y="1447800"/>
            <a:ext cx="15087600" cy="7164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79638" marR="685183" indent="-524479" algn="just">
              <a:lnSpc>
                <a:spcPct val="150000"/>
              </a:lnSpc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Ult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asonic Senso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SR04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an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nding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out an ult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sonic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it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turn. 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obsta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distance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sur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applic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tions.</a:t>
            </a:r>
          </a:p>
          <a:p>
            <a:pPr marL="1079638" indent="-524479" algn="just">
              <a:lnSpc>
                <a:spcPct val="150000"/>
              </a:lnSpc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as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MQ se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ies</a:t>
            </a:r>
            <a:r>
              <a:rPr sz="2761" spc="12" dirty="0">
                <a:latin typeface="Times New Roman"/>
                <a:cs typeface="Times New Roman"/>
              </a:rPr>
              <a:t>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such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meth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ar</a:t>
            </a:r>
            <a:r>
              <a:rPr sz="2761" dirty="0">
                <a:latin typeface="Times New Roman"/>
                <a:cs typeface="Times New Roman"/>
              </a:rPr>
              <a:t>bon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mono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ide,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smok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ial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 s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 like g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k 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in hom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ndustri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marR="749465" indent="-524479" algn="just">
              <a:lnSpc>
                <a:spcPct val="150000"/>
              </a:lnSpc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Tou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h 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touch 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TTP223 det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 wh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ndu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 obje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t,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like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human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r, tou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them.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proj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 w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 p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buttons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be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with tou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nsitive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marR="184079" indent="-524479" algn="just">
              <a:lnSpc>
                <a:spcPct val="150000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spc="12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ss</a:t>
            </a:r>
            <a:r>
              <a:rPr sz="2761" b="1" spc="12" dirty="0">
                <a:latin typeface="Times New Roman"/>
                <a:cs typeface="Times New Roman"/>
              </a:rPr>
              <a:t>u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nso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 like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MP180 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tmosph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ric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ltitud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w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ther station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ltim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f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ulating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lev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848889"/>
            <a:ext cx="14859000" cy="83606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Actuators:</a:t>
            </a:r>
            <a:endParaRPr sz="3681" dirty="0">
              <a:latin typeface="Times New Roman"/>
              <a:cs typeface="Times New Roman"/>
            </a:endParaRPr>
          </a:p>
          <a:p>
            <a:pPr marL="1079638" marR="423674" indent="-524479" algn="just">
              <a:lnSpc>
                <a:spcPct val="150000"/>
              </a:lnSpc>
              <a:spcBef>
                <a:spcPts val="1680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vos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mall motors li</a:t>
            </a:r>
            <a:r>
              <a:rPr sz="2761" spc="-35" dirty="0">
                <a:latin typeface="Times New Roman"/>
                <a:cs typeface="Times New Roman"/>
              </a:rPr>
              <a:t>k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SG90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or lin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r position. They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ro</a:t>
            </a:r>
            <a:r>
              <a:rPr sz="2761" spc="-12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s, mod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 ai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pla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46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pli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ise movem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is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1079638" indent="-524479" algn="just">
              <a:lnSpc>
                <a:spcPct val="150000"/>
              </a:lnSpc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DC</a:t>
            </a:r>
            <a:r>
              <a:rPr sz="2761" b="1" spc="-12" dirty="0">
                <a:latin typeface="Times New Roman"/>
                <a:cs typeface="Times New Roman"/>
              </a:rPr>
              <a:t> M</a:t>
            </a:r>
            <a:r>
              <a:rPr sz="2761" b="1" dirty="0">
                <a:latin typeface="Times New Roman"/>
                <a:cs typeface="Times New Roman"/>
              </a:rPr>
              <a:t>ot</a:t>
            </a:r>
            <a:r>
              <a:rPr sz="2761" b="1" spc="12" dirty="0">
                <a:latin typeface="Times New Roman"/>
                <a:cs typeface="Times New Roman"/>
              </a:rPr>
              <a:t>o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mot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rs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simple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sks in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ts, su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driving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ls in ro</a:t>
            </a:r>
            <a:r>
              <a:rPr sz="2761" spc="-12" dirty="0">
                <a:latin typeface="Times New Roman"/>
                <a:cs typeface="Times New Roman"/>
              </a:rPr>
              <a:t>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ts or </a:t>
            </a:r>
            <a:r>
              <a:rPr sz="2761" spc="-12" dirty="0">
                <a:latin typeface="Times New Roman"/>
                <a:cs typeface="Times New Roman"/>
              </a:rPr>
              <a:t>fa</a:t>
            </a:r>
            <a:r>
              <a:rPr sz="2761" dirty="0">
                <a:latin typeface="Times New Roman"/>
                <a:cs typeface="Times New Roman"/>
              </a:rPr>
              <a:t>ns.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quire motor d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or 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uits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spe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di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on.</a:t>
            </a:r>
          </a:p>
          <a:p>
            <a:pPr marL="1079638" marR="1082558" indent="-524479" algn="just">
              <a:lnSpc>
                <a:spcPct val="1500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St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pp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12" dirty="0">
                <a:latin typeface="Times New Roman"/>
                <a:cs typeface="Times New Roman"/>
              </a:rPr>
              <a:t> M</a:t>
            </a:r>
            <a:r>
              <a:rPr sz="2761" b="1" dirty="0">
                <a:latin typeface="Times New Roman"/>
                <a:cs typeface="Times New Roman"/>
              </a:rPr>
              <a:t>oto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motors divide a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full ro</a:t>
            </a:r>
            <a:r>
              <a:rPr sz="2761" spc="12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into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number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ps,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ise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of position and sp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 T</a:t>
            </a:r>
            <a:r>
              <a:rPr sz="2761" spc="12" dirty="0">
                <a:latin typeface="Times New Roman"/>
                <a:cs typeface="Times New Roman"/>
              </a:rPr>
              <a:t>he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3D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s, CNC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hines,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boti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lnSpc>
                <a:spcPct val="150000"/>
              </a:lnSpc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lays</a:t>
            </a:r>
            <a:r>
              <a:rPr sz="2761" dirty="0">
                <a:latin typeface="Times New Roman"/>
                <a:cs typeface="Times New Roman"/>
              </a:rPr>
              <a:t>: El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trom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swit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that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hi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35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turn 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o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s, 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hts, and oth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quipm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 th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ope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 on hi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  <p:extLst>
      <p:ext uri="{BB962C8B-B14F-4D97-AF65-F5344CB8AC3E}">
        <p14:creationId xmlns:p14="http://schemas.microsoft.com/office/powerpoint/2010/main" val="3525090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1300" y="1233032"/>
            <a:ext cx="14859000" cy="7592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Dis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la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y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s:</a:t>
            </a:r>
            <a:endParaRPr sz="3681" dirty="0">
              <a:latin typeface="Times New Roman"/>
              <a:cs typeface="Times New Roman"/>
            </a:endParaRPr>
          </a:p>
          <a:p>
            <a:pPr marL="1079638" marR="375463" indent="-524479">
              <a:lnSpc>
                <a:spcPct val="143300"/>
              </a:lnSpc>
              <a:spcBef>
                <a:spcPts val="1714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LC</a:t>
            </a:r>
            <a:r>
              <a:rPr sz="2761" b="1" spc="-12" dirty="0">
                <a:latin typeface="Times New Roman"/>
                <a:cs typeface="Times New Roman"/>
              </a:rPr>
              <a:t>D</a:t>
            </a:r>
            <a:r>
              <a:rPr sz="2761" b="1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iquid C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spc="-92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s,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16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2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displ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show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info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mation. 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for displ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58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 st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tus, or us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nus in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ts.</a:t>
            </a:r>
            <a:endParaRPr lang="en-US" sz="2761" dirty="0">
              <a:latin typeface="Times New Roman"/>
              <a:cs typeface="Times New Roman"/>
            </a:endParaRPr>
          </a:p>
          <a:p>
            <a:pPr marL="1079638" marR="457276" indent="-524479">
              <a:lnSpc>
                <a:spcPct val="143800"/>
              </a:lnSpc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OLEDs</a:t>
            </a:r>
            <a:r>
              <a:rPr lang="en-US" sz="2761" dirty="0">
                <a:latin typeface="Times New Roman"/>
                <a:cs typeface="Times New Roman"/>
              </a:rPr>
              <a:t>: Or</a:t>
            </a:r>
            <a:r>
              <a:rPr lang="en-US" sz="2761" spc="-46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nic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Emitting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Diode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displ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-23" dirty="0">
                <a:latin typeface="Times New Roman"/>
                <a:cs typeface="Times New Roman"/>
              </a:rPr>
              <a:t>f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h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 and 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for 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phic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output. Th</a:t>
            </a:r>
            <a:r>
              <a:rPr lang="en-US" sz="2761" spc="35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ide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 for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soph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sti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ted inte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fa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s with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gr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phics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nim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tions.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v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12" dirty="0">
                <a:latin typeface="Times New Roman"/>
                <a:cs typeface="Times New Roman"/>
              </a:rPr>
              <a:t>n</a:t>
            </a:r>
            <a:r>
              <a:rPr lang="en-US" sz="2761" b="1" spc="-12" dirty="0">
                <a:latin typeface="Times New Roman"/>
                <a:cs typeface="Times New Roman"/>
              </a:rPr>
              <a:t>-</a:t>
            </a:r>
            <a:r>
              <a:rPr lang="en-US" sz="2761" b="1" dirty="0">
                <a:latin typeface="Times New Roman"/>
                <a:cs typeface="Times New Roman"/>
              </a:rPr>
              <a:t>S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spc="23" dirty="0">
                <a:latin typeface="Times New Roman"/>
                <a:cs typeface="Times New Roman"/>
              </a:rPr>
              <a:t>g</a:t>
            </a:r>
            <a:r>
              <a:rPr lang="en-US" sz="2761" b="1" spc="-46" dirty="0">
                <a:latin typeface="Times New Roman"/>
                <a:cs typeface="Times New Roman"/>
              </a:rPr>
              <a:t>m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nt </a:t>
            </a:r>
            <a:r>
              <a:rPr lang="en-US" sz="2761" b="1" spc="-23" dirty="0">
                <a:latin typeface="Times New Roman"/>
                <a:cs typeface="Times New Roman"/>
              </a:rPr>
              <a:t>D</a:t>
            </a:r>
            <a:r>
              <a:rPr lang="en-US" sz="2761" b="1" dirty="0">
                <a:latin typeface="Times New Roman"/>
                <a:cs typeface="Times New Roman"/>
              </a:rPr>
              <a:t>is</a:t>
            </a:r>
            <a:r>
              <a:rPr lang="en-US" sz="2761" b="1" spc="12" dirty="0">
                <a:latin typeface="Times New Roman"/>
                <a:cs typeface="Times New Roman"/>
              </a:rPr>
              <a:t>p</a:t>
            </a:r>
            <a:r>
              <a:rPr lang="en-US" sz="2761" b="1" dirty="0">
                <a:latin typeface="Times New Roman"/>
                <a:cs typeface="Times New Roman"/>
              </a:rPr>
              <a:t>lay</a:t>
            </a:r>
            <a:r>
              <a:rPr lang="en-US" sz="2761" b="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: 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displ</a:t>
            </a:r>
            <a:r>
              <a:rPr lang="en-US" sz="2761" spc="35" dirty="0">
                <a:latin typeface="Times New Roman"/>
                <a:cs typeface="Times New Roman"/>
              </a:rPr>
              <a:t>a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ta, s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nte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 or</a:t>
            </a:r>
          </a:p>
          <a:p>
            <a:pPr marL="1079638" marR="685183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s. E</a:t>
            </a:r>
            <a:r>
              <a:rPr lang="en-US" sz="2761" spc="-12" dirty="0">
                <a:latin typeface="Times New Roman"/>
                <a:cs typeface="Times New Roman"/>
              </a:rPr>
              <a:t>ac</a:t>
            </a:r>
            <a:r>
              <a:rPr lang="en-US" sz="2761" dirty="0">
                <a:latin typeface="Times New Roman"/>
                <a:cs typeface="Times New Roman"/>
              </a:rPr>
              <a:t>h 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ment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ontroll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individually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fo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 numb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ometim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lette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1079638" marR="685183">
              <a:lnSpc>
                <a:spcPct val="143300"/>
              </a:lnSpc>
              <a:spcBef>
                <a:spcPts val="23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/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Storage:</a:t>
            </a:r>
            <a:endParaRPr lang="en-US" sz="3681" dirty="0">
              <a:latin typeface="Times New Roman"/>
              <a:cs typeface="Times New Roman"/>
            </a:endParaRPr>
          </a:p>
          <a:p>
            <a:pPr marL="1079638" marR="302416" indent="-524479">
              <a:lnSpc>
                <a:spcPct val="143800"/>
              </a:lnSpc>
              <a:spcBef>
                <a:spcPts val="1680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SD </a:t>
            </a:r>
            <a:r>
              <a:rPr lang="en-US" sz="2761" b="1" spc="-12" dirty="0">
                <a:latin typeface="Times New Roman"/>
                <a:cs typeface="Times New Roman"/>
              </a:rPr>
              <a:t>C</a:t>
            </a:r>
            <a:r>
              <a:rPr lang="en-US" sz="2761" b="1" dirty="0">
                <a:latin typeface="Times New Roman"/>
                <a:cs typeface="Times New Roman"/>
              </a:rPr>
              <a:t>a</a:t>
            </a:r>
            <a:r>
              <a:rPr lang="en-US" sz="2761" b="1" spc="-12" dirty="0">
                <a:latin typeface="Times New Roman"/>
                <a:cs typeface="Times New Roman"/>
              </a:rPr>
              <a:t>r</a:t>
            </a:r>
            <a:r>
              <a:rPr lang="en-US" sz="2761" b="1" dirty="0">
                <a:latin typeface="Times New Roman"/>
                <a:cs typeface="Times New Roman"/>
              </a:rPr>
              <a:t>d </a:t>
            </a: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odule</a:t>
            </a:r>
            <a:r>
              <a:rPr lang="en-US" sz="2761" b="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: 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modul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o to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 f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om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ite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o SD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rds. They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for 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 l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stori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lar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unts of d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ta, 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f</a:t>
            </a:r>
            <a:r>
              <a:rPr lang="en-US" sz="2761" dirty="0">
                <a:latin typeface="Times New Roman"/>
                <a:cs typeface="Times New Roman"/>
              </a:rPr>
              <a:t>il</a:t>
            </a:r>
            <a:r>
              <a:rPr lang="en-US" sz="2761" spc="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stor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ge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for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tions.</a:t>
            </a:r>
          </a:p>
        </p:txBody>
      </p:sp>
    </p:spTree>
    <p:extLst>
      <p:ext uri="{BB962C8B-B14F-4D97-AF65-F5344CB8AC3E}">
        <p14:creationId xmlns:p14="http://schemas.microsoft.com/office/powerpoint/2010/main" val="759875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100" y="533400"/>
            <a:ext cx="15011400" cy="9313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lang="en-US"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lang="en-US"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unication</a:t>
            </a:r>
            <a:r>
              <a:rPr lang="en-US"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lang="en-US"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Modules:</a:t>
            </a:r>
            <a:endParaRPr lang="en-US" sz="3681" dirty="0">
              <a:latin typeface="Times New Roman"/>
              <a:cs typeface="Times New Roman"/>
            </a:endParaRPr>
          </a:p>
          <a:p>
            <a:pPr marL="1079638" marR="132946" indent="-524479" algn="just">
              <a:lnSpc>
                <a:spcPct val="143800"/>
              </a:lnSpc>
              <a:spcBef>
                <a:spcPts val="1680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>
                <a:latin typeface="Times New Roman"/>
                <a:cs typeface="Times New Roman"/>
              </a:rPr>
              <a:t>Bl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spc="-12" dirty="0">
                <a:latin typeface="Times New Roman"/>
                <a:cs typeface="Times New Roman"/>
              </a:rPr>
              <a:t>e</a:t>
            </a:r>
            <a:r>
              <a:rPr lang="en-US" sz="2761" b="1" dirty="0">
                <a:latin typeface="Times New Roman"/>
                <a:cs typeface="Times New Roman"/>
              </a:rPr>
              <a:t>too</a:t>
            </a:r>
            <a:r>
              <a:rPr lang="en-US" sz="2761" b="1" spc="-23" dirty="0">
                <a:latin typeface="Times New Roman"/>
                <a:cs typeface="Times New Roman"/>
              </a:rPr>
              <a:t>t</a:t>
            </a:r>
            <a:r>
              <a:rPr lang="en-US" sz="2761" b="1" dirty="0">
                <a:latin typeface="Times New Roman"/>
                <a:cs typeface="Times New Roman"/>
              </a:rPr>
              <a:t>h </a:t>
            </a:r>
            <a:r>
              <a:rPr lang="en-US" sz="2761" b="1" spc="-12" dirty="0">
                <a:latin typeface="Times New Roman"/>
                <a:cs typeface="Times New Roman"/>
              </a:rPr>
              <a:t>M</a:t>
            </a:r>
            <a:r>
              <a:rPr lang="en-US" sz="2761" b="1" dirty="0">
                <a:latin typeface="Times New Roman"/>
                <a:cs typeface="Times New Roman"/>
              </a:rPr>
              <a:t>odule</a:t>
            </a:r>
            <a:r>
              <a:rPr lang="en-US" sz="2761" b="1" spc="12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: M</a:t>
            </a:r>
            <a:r>
              <a:rPr lang="en-US" sz="2761" spc="-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dules like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12" dirty="0">
                <a:latin typeface="Times New Roman"/>
                <a:cs typeface="Times New Roman"/>
              </a:rPr>
              <a:t>H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05 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HC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06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 </a:t>
            </a:r>
            <a:r>
              <a:rPr lang="en-US" sz="2761" spc="-12" dirty="0">
                <a:latin typeface="Times New Roman"/>
                <a:cs typeface="Times New Roman"/>
              </a:rPr>
              <a:t>w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less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ommunic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tion 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rduino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d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vi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s,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su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sm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rtphon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or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omput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rs. T</a:t>
            </a:r>
            <a:r>
              <a:rPr lang="en-US" sz="2761" spc="12" dirty="0">
                <a:latin typeface="Times New Roman"/>
                <a:cs typeface="Times New Roman"/>
              </a:rPr>
              <a:t>he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mote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ontrol, da</a:t>
            </a:r>
            <a:r>
              <a:rPr lang="en-US" sz="2761" spc="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loggin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,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w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less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nsor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twor</a:t>
            </a:r>
            <a:r>
              <a:rPr lang="en-US" sz="2761" spc="-12" dirty="0">
                <a:latin typeface="Times New Roman"/>
                <a:cs typeface="Times New Roman"/>
              </a:rPr>
              <a:t>k</a:t>
            </a:r>
            <a:r>
              <a:rPr lang="en-US"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lang="en-US" sz="2761" b="1" dirty="0" err="1">
                <a:latin typeface="Times New Roman"/>
                <a:cs typeface="Times New Roman"/>
              </a:rPr>
              <a:t>Wi</a:t>
            </a:r>
            <a:r>
              <a:rPr lang="en-US" sz="2761" b="1" spc="-35" dirty="0" err="1">
                <a:latin typeface="Times New Roman"/>
                <a:cs typeface="Times New Roman"/>
              </a:rPr>
              <a:t>F</a:t>
            </a:r>
            <a:r>
              <a:rPr lang="en-US" sz="2761" b="1" dirty="0" err="1">
                <a:latin typeface="Times New Roman"/>
                <a:cs typeface="Times New Roman"/>
              </a:rPr>
              <a:t>i</a:t>
            </a:r>
            <a:r>
              <a:rPr lang="en-US" sz="2761" b="1" dirty="0">
                <a:latin typeface="Times New Roman"/>
                <a:cs typeface="Times New Roman"/>
              </a:rPr>
              <a:t> Mod</a:t>
            </a:r>
            <a:r>
              <a:rPr lang="en-US" sz="2761" b="1" spc="12" dirty="0">
                <a:latin typeface="Times New Roman"/>
                <a:cs typeface="Times New Roman"/>
              </a:rPr>
              <a:t>u</a:t>
            </a:r>
            <a:r>
              <a:rPr lang="en-US" sz="2761" b="1" dirty="0">
                <a:latin typeface="Times New Roman"/>
                <a:cs typeface="Times New Roman"/>
              </a:rPr>
              <a:t>les</a:t>
            </a:r>
            <a:r>
              <a:rPr lang="en-US" sz="2761" dirty="0">
                <a:latin typeface="Times New Roman"/>
                <a:cs typeface="Times New Roman"/>
              </a:rPr>
              <a:t>: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ESP8266 or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ESP32 modul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provide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rn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 con</a:t>
            </a:r>
            <a:r>
              <a:rPr lang="en-US" sz="2761" spc="12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5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vi</a:t>
            </a:r>
            <a:r>
              <a:rPr lang="en-US" sz="2761" spc="35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Arduino projects. </a:t>
            </a:r>
          </a:p>
          <a:p>
            <a:pPr marL="1079638" marR="1157068" algn="just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Th</a:t>
            </a:r>
            <a:r>
              <a:rPr lang="en-US" sz="2761" spc="46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in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oT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ppli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ti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ns for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ta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loud, 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ce</a:t>
            </a:r>
            <a:r>
              <a:rPr lang="en-US" sz="2761" dirty="0">
                <a:latin typeface="Times New Roman"/>
                <a:cs typeface="Times New Roman"/>
              </a:rPr>
              <a:t>ivi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mote</a:t>
            </a:r>
            <a:r>
              <a:rPr lang="en-US" sz="2761" spc="-12" dirty="0">
                <a:latin typeface="Times New Roman"/>
                <a:cs typeface="Times New Roman"/>
              </a:rPr>
              <a:t> c</a:t>
            </a:r>
            <a:r>
              <a:rPr lang="en-US" sz="2761" dirty="0">
                <a:latin typeface="Times New Roman"/>
                <a:cs typeface="Times New Roman"/>
              </a:rPr>
              <a:t>omm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nds, or 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re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ting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b s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rs.</a:t>
            </a:r>
          </a:p>
          <a:p>
            <a:pPr marL="1079638" indent="-524479" algn="just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RF</a:t>
            </a:r>
            <a:r>
              <a:rPr sz="2761" b="1" spc="-12" dirty="0">
                <a:latin typeface="Times New Roman"/>
                <a:cs typeface="Times New Roman"/>
              </a:rPr>
              <a:t> M</a:t>
            </a:r>
            <a:r>
              <a:rPr sz="2761" b="1" dirty="0">
                <a:latin typeface="Times New Roman"/>
                <a:cs typeface="Times New Roman"/>
              </a:rPr>
              <a:t>odule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dio f</a:t>
            </a:r>
            <a:r>
              <a:rPr sz="2761" spc="-12" dirty="0">
                <a:latin typeface="Times New Roman"/>
                <a:cs typeface="Times New Roman"/>
              </a:rPr>
              <a:t>re</a:t>
            </a:r>
            <a:r>
              <a:rPr sz="2761" spc="23" dirty="0">
                <a:latin typeface="Times New Roman"/>
                <a:cs typeface="Times New Roman"/>
              </a:rPr>
              <a:t>q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2</a:t>
            </a:r>
            <a:r>
              <a:rPr sz="2761" spc="23" dirty="0">
                <a:latin typeface="Times New Roman"/>
                <a:cs typeface="Times New Roman"/>
              </a:rPr>
              <a:t>4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01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less</a:t>
            </a:r>
          </a:p>
          <a:p>
            <a:pPr marL="1079638" marR="242517" algn="just">
              <a:lnSpc>
                <a:spcPct val="143500"/>
              </a:lnSpc>
              <a:spcBef>
                <a:spcPts val="23"/>
              </a:spcBef>
            </a:pP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rduino bo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ov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sho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t distan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wir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less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 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twor</a:t>
            </a:r>
            <a:r>
              <a:rPr sz="2761" spc="-12" dirty="0">
                <a:latin typeface="Times New Roman"/>
                <a:cs typeface="Times New Roman"/>
              </a:rPr>
              <a:t>k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trols, and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met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stems.</a:t>
            </a:r>
          </a:p>
          <a:p>
            <a:pPr marL="1079638" marR="36524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23" dirty="0">
                <a:latin typeface="Times New Roman"/>
                <a:cs typeface="Times New Roman"/>
              </a:rPr>
              <a:t>G</a:t>
            </a:r>
            <a:r>
              <a:rPr sz="2761" b="1" dirty="0">
                <a:latin typeface="Times New Roman"/>
                <a:cs typeface="Times New Roman"/>
              </a:rPr>
              <a:t>SM</a:t>
            </a:r>
            <a:r>
              <a:rPr sz="2761" b="1" spc="-12" dirty="0">
                <a:latin typeface="Times New Roman"/>
                <a:cs typeface="Times New Roman"/>
              </a:rPr>
              <a:t> M</a:t>
            </a:r>
            <a:r>
              <a:rPr sz="2761" b="1" dirty="0">
                <a:latin typeface="Times New Roman"/>
                <a:cs typeface="Times New Roman"/>
              </a:rPr>
              <a:t>odule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Modul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M80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llular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ommunic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llowing 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ive SMS, make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lls, or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ov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GSM netwo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ks. 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monitoring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tems.</a:t>
            </a:r>
          </a:p>
          <a:p>
            <a:pPr marL="1079638" marR="11688" indent="-524479" algn="just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G</a:t>
            </a:r>
            <a:r>
              <a:rPr sz="2761" b="1" spc="-35" dirty="0">
                <a:latin typeface="Times New Roman"/>
                <a:cs typeface="Times New Roman"/>
              </a:rPr>
              <a:t>P</a:t>
            </a:r>
            <a:r>
              <a:rPr sz="2761" b="1" dirty="0">
                <a:latin typeface="Times New Roman"/>
                <a:cs typeface="Times New Roman"/>
              </a:rPr>
              <a:t>S </a:t>
            </a: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odules</a:t>
            </a:r>
            <a:r>
              <a:rPr sz="2761" dirty="0">
                <a:latin typeface="Times New Roman"/>
                <a:cs typeface="Times New Roman"/>
              </a:rPr>
              <a:t>: GPS m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dules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ovide 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time lo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 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ta,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hich is 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navig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tra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vic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oloc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54200" y="1752600"/>
            <a:ext cx="13685852" cy="62839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Other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ponents:</a:t>
            </a:r>
            <a:endParaRPr sz="3681" dirty="0">
              <a:latin typeface="Times New Roman"/>
              <a:cs typeface="Times New Roman"/>
            </a:endParaRPr>
          </a:p>
          <a:p>
            <a:pPr marL="1079638" marR="236673" indent="-524479">
              <a:lnSpc>
                <a:spcPct val="143800"/>
              </a:lnSpc>
              <a:spcBef>
                <a:spcPts val="1680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R</a:t>
            </a:r>
            <a:r>
              <a:rPr sz="2761" b="1" spc="-23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al</a:t>
            </a:r>
            <a:r>
              <a:rPr sz="2761" b="1" spc="-12" dirty="0">
                <a:latin typeface="Times New Roman"/>
                <a:cs typeface="Times New Roman"/>
              </a:rPr>
              <a:t>-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23" dirty="0">
                <a:latin typeface="Times New Roman"/>
                <a:cs typeface="Times New Roman"/>
              </a:rPr>
              <a:t>i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Clo</a:t>
            </a:r>
            <a:r>
              <a:rPr sz="2761" b="1" spc="-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k (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T</a:t>
            </a:r>
            <a:r>
              <a:rPr sz="2761" b="1" spc="12" dirty="0">
                <a:latin typeface="Times New Roman"/>
                <a:cs typeface="Times New Roman"/>
              </a:rPr>
              <a:t>C</a:t>
            </a:r>
            <a:r>
              <a:rPr sz="2761" b="1" dirty="0">
                <a:latin typeface="Times New Roman"/>
                <a:cs typeface="Times New Roman"/>
              </a:rPr>
              <a:t>) </a:t>
            </a:r>
            <a:r>
              <a:rPr sz="2761" b="1" spc="-23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odule</a:t>
            </a:r>
            <a:r>
              <a:rPr sz="2761" b="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RTC modul</a:t>
            </a:r>
            <a:r>
              <a:rPr sz="2761" spc="-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S3231 k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dirty="0">
                <a:latin typeface="Times New Roman"/>
                <a:cs typeface="Times New Roman"/>
              </a:rPr>
              <a:t>p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cc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 pow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data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log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larms, a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time- 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p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oj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ts.</a:t>
            </a:r>
          </a:p>
          <a:p>
            <a:pPr marL="1079638" marR="80352" indent="-524479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23" dirty="0">
                <a:latin typeface="Times New Roman"/>
                <a:cs typeface="Times New Roman"/>
              </a:rPr>
              <a:t>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ypads</a:t>
            </a:r>
            <a:r>
              <a:rPr sz="2761" dirty="0">
                <a:latin typeface="Times New Roman"/>
                <a:cs typeface="Times New Roman"/>
              </a:rPr>
              <a:t>: Matrix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llow us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to input numbe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s or 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t. 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proj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sswo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lcul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tors,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us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s.</a:t>
            </a:r>
          </a:p>
          <a:p>
            <a:pPr marL="1079638" indent="-524479">
              <a:spcBef>
                <a:spcPts val="1024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Bu</a:t>
            </a:r>
            <a:r>
              <a:rPr sz="2761" b="1" spc="-12" dirty="0">
                <a:latin typeface="Times New Roman"/>
                <a:cs typeface="Times New Roman"/>
              </a:rPr>
              <a:t>zzer</a:t>
            </a:r>
            <a:r>
              <a:rPr sz="2761" dirty="0">
                <a:latin typeface="Times New Roman"/>
                <a:cs typeface="Times New Roman"/>
              </a:rPr>
              <a:t>: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zz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 p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ovide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sound output for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ms,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notifi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tions, or simple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ic. T</a:t>
            </a:r>
            <a:r>
              <a:rPr sz="2761" spc="-12" dirty="0">
                <a:latin typeface="Times New Roman"/>
                <a:cs typeface="Times New Roman"/>
              </a:rPr>
              <a:t>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</a:p>
          <a:p>
            <a:pPr marL="1079638">
              <a:spcBef>
                <a:spcPts val="1461"/>
              </a:spcBef>
            </a:pP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p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oje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ts wh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udio fe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 is 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marL="1079638" marR="610675" indent="-524479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dirty="0">
                <a:latin typeface="Times New Roman"/>
                <a:cs typeface="Times New Roman"/>
              </a:rPr>
              <a:t>In</a:t>
            </a:r>
            <a:r>
              <a:rPr sz="2761" b="1" spc="12" dirty="0">
                <a:latin typeface="Times New Roman"/>
                <a:cs typeface="Times New Roman"/>
              </a:rPr>
              <a:t>f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a</a:t>
            </a:r>
            <a:r>
              <a:rPr sz="2761" b="1" spc="-12" dirty="0">
                <a:latin typeface="Times New Roman"/>
                <a:cs typeface="Times New Roman"/>
              </a:rPr>
              <a:t>re</a:t>
            </a:r>
            <a:r>
              <a:rPr sz="2761" b="1" dirty="0">
                <a:latin typeface="Times New Roman"/>
                <a:cs typeface="Times New Roman"/>
              </a:rPr>
              <a:t>d (I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) Sensor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, si</a:t>
            </a:r>
            <a:r>
              <a:rPr sz="2761" spc="35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il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 to TV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mot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tion, r</a:t>
            </a:r>
            <a:r>
              <a:rPr sz="2761" spc="-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boti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home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78000" y="1828800"/>
            <a:ext cx="14554200" cy="72543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Specialized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Mo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es:</a:t>
            </a:r>
            <a:endParaRPr sz="3681" dirty="0">
              <a:latin typeface="Times New Roman"/>
              <a:cs typeface="Times New Roman"/>
            </a:endParaRPr>
          </a:p>
          <a:p>
            <a:pPr marL="1079638" marR="264431" indent="-524479" algn="just">
              <a:lnSpc>
                <a:spcPct val="143300"/>
              </a:lnSpc>
              <a:spcBef>
                <a:spcPts val="169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U-</a:t>
            </a:r>
            <a:r>
              <a:rPr sz="2761" b="1" dirty="0">
                <a:latin typeface="Times New Roman"/>
                <a:cs typeface="Times New Roman"/>
              </a:rPr>
              <a:t>6050</a:t>
            </a:r>
            <a:r>
              <a:rPr sz="2761" dirty="0">
                <a:latin typeface="Times New Roman"/>
                <a:cs typeface="Times New Roman"/>
              </a:rPr>
              <a:t>: This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ce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rom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a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os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 pro</a:t>
            </a:r>
            <a:r>
              <a:rPr sz="2761" spc="-12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on motion and 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ient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dron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s, robotics,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motio</a:t>
            </a:r>
            <a:r>
              <a:rPr sz="2761" spc="35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-ca</a:t>
            </a:r>
            <a:r>
              <a:rPr sz="2761" dirty="0">
                <a:latin typeface="Times New Roman"/>
                <a:cs typeface="Times New Roman"/>
              </a:rPr>
              <a:t>ptu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tems.</a:t>
            </a:r>
          </a:p>
          <a:p>
            <a:pPr marL="1079638" marR="11688" indent="-524479" algn="just">
              <a:lnSpc>
                <a:spcPct val="143800"/>
              </a:lnSpc>
              <a:spcBef>
                <a:spcPts val="12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35" dirty="0">
                <a:latin typeface="Times New Roman"/>
                <a:cs typeface="Times New Roman"/>
              </a:rPr>
              <a:t>F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</a:t>
            </a:r>
            <a:r>
              <a:rPr sz="2761" b="1" spc="-12" dirty="0">
                <a:latin typeface="Times New Roman"/>
                <a:cs typeface="Times New Roman"/>
              </a:rPr>
              <a:t>er</a:t>
            </a:r>
            <a:r>
              <a:rPr sz="2761" b="1" dirty="0">
                <a:latin typeface="Times New Roman"/>
                <a:cs typeface="Times New Roman"/>
              </a:rPr>
              <a:t>p</a:t>
            </a:r>
            <a:r>
              <a:rPr sz="2761" b="1" spc="-12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t Sensor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nsors s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ni</a:t>
            </a:r>
            <a:r>
              <a:rPr sz="2761" spc="12" dirty="0">
                <a:latin typeface="Times New Roman"/>
                <a:cs typeface="Times New Roman"/>
              </a:rPr>
              <a:t>z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rints, providing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biom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tric identifi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tion. Th</a:t>
            </a:r>
            <a:r>
              <a:rPr sz="2761" spc="35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s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uri</a:t>
            </a:r>
            <a:r>
              <a:rPr sz="2761" spc="46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stems, time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ms, and 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rson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ts.</a:t>
            </a:r>
          </a:p>
          <a:p>
            <a:pPr marL="1079638" marR="610675" indent="-524479" algn="just">
              <a:lnSpc>
                <a:spcPts val="4785"/>
              </a:lnSpc>
              <a:spcBef>
                <a:spcPts val="36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b="1" spc="-12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at</a:t>
            </a:r>
            <a:r>
              <a:rPr sz="2761" b="1" spc="-23" dirty="0">
                <a:latin typeface="Times New Roman"/>
                <a:cs typeface="Times New Roman"/>
              </a:rPr>
              <a:t>r</a:t>
            </a:r>
            <a:r>
              <a:rPr sz="2761" b="1" dirty="0">
                <a:latin typeface="Times New Roman"/>
                <a:cs typeface="Times New Roman"/>
              </a:rPr>
              <a:t>ix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b="1" spc="-23" dirty="0">
                <a:latin typeface="Times New Roman"/>
                <a:cs typeface="Times New Roman"/>
              </a:rPr>
              <a:t>K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ypad</a:t>
            </a:r>
            <a:r>
              <a:rPr sz="2761" b="1" spc="12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: Mult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button k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inputting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ta in 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rious </a:t>
            </a:r>
            <a:r>
              <a:rPr sz="2761" spc="-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orm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. They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rf</a:t>
            </a:r>
            <a:r>
              <a:rPr sz="2761" spc="-12" dirty="0">
                <a:latin typeface="Times New Roman"/>
                <a:cs typeface="Times New Roman"/>
              </a:rPr>
              <a:t>ace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multiple inputs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d.</a:t>
            </a:r>
          </a:p>
          <a:p>
            <a:pPr algn="just">
              <a:spcBef>
                <a:spcPts val="30"/>
              </a:spcBef>
            </a:pPr>
            <a:endParaRPr sz="2416" dirty="0">
              <a:latin typeface="Times New Roman"/>
              <a:cs typeface="Times New Roman"/>
            </a:endParaRPr>
          </a:p>
          <a:p>
            <a:pPr marL="29219" marR="821051" algn="just">
              <a:lnSpc>
                <a:spcPct val="143800"/>
              </a:lnSpc>
            </a:pPr>
            <a:r>
              <a:rPr sz="2761" dirty="0">
                <a:latin typeface="Times New Roman"/>
                <a:cs typeface="Times New Roman"/>
              </a:rPr>
              <a:t>Th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omponents, w</a:t>
            </a:r>
            <a:r>
              <a:rPr sz="2761" spc="12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ombined with A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 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st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utom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ted </a:t>
            </a:r>
            <a:r>
              <a:rPr sz="2761" spc="12" dirty="0">
                <a:latin typeface="Times New Roman"/>
                <a:cs typeface="Times New Roman"/>
              </a:rPr>
              <a:t>s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ms. Ea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pi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mes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libr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simpli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proj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ts.</a:t>
            </a:r>
          </a:p>
        </p:txBody>
      </p:sp>
    </p:spTree>
    <p:extLst>
      <p:ext uri="{BB962C8B-B14F-4D97-AF65-F5344CB8AC3E}">
        <p14:creationId xmlns:p14="http://schemas.microsoft.com/office/powerpoint/2010/main" val="601199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1167</Words>
  <Application>Microsoft Office PowerPoint</Application>
  <PresentationFormat>Custom</PresentationFormat>
  <Paragraphs>51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3</cp:revision>
  <dcterms:created xsi:type="dcterms:W3CDTF">2024-07-02T13:00:29Z</dcterms:created>
  <dcterms:modified xsi:type="dcterms:W3CDTF">2024-07-11T17:08:20Z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