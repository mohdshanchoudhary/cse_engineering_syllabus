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257" r:id="rId4"/>
    <p:sldId id="258" r:id="rId5"/>
    <p:sldId id="265" r:id="rId6"/>
    <p:sldId id="259" r:id="rId7"/>
    <p:sldId id="266" r:id="rId8"/>
    <p:sldId id="260" r:id="rId9"/>
    <p:sldId id="267" r:id="rId10"/>
    <p:sldId id="261" r:id="rId11"/>
    <p:sldId id="262" r:id="rId12"/>
    <p:sldId id="268" r:id="rId13"/>
    <p:sldId id="263" r:id="rId14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275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5462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1697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3156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9923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844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762000"/>
            <a:ext cx="15087600" cy="570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395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nnection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Pu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tton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Push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s,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motors,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much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thi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think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of.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how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push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bout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pins,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down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sistors,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d()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pull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p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37"/>
              </a:spcBef>
            </a:pPr>
            <a:endParaRPr sz="2991" dirty="0">
              <a:latin typeface="Times New Roman"/>
              <a:cs typeface="Times New Roman"/>
            </a:endParaRPr>
          </a:p>
          <a:p>
            <a:pPr marL="29219" algn="just"/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Pus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But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on</a:t>
            </a:r>
            <a:endParaRPr sz="2991" dirty="0">
              <a:latin typeface="Times New Roman"/>
              <a:cs typeface="Times New Roman"/>
            </a:endParaRPr>
          </a:p>
          <a:p>
            <a:pPr marL="29219" algn="just">
              <a:spcBef>
                <a:spcPts val="1576"/>
              </a:spcBef>
            </a:pPr>
            <a:r>
              <a:rPr sz="2761" dirty="0">
                <a:latin typeface="Times New Roman"/>
                <a:cs typeface="Times New Roman"/>
              </a:rPr>
              <a:t>Push buttons 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a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di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fer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mats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01650" y="6553200"/>
            <a:ext cx="10078300" cy="3124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762000"/>
            <a:ext cx="13731140" cy="5435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push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lang="en-US" sz="2761" spc="207" dirty="0">
                <a:latin typeface="Times New Roman"/>
                <a:cs typeface="Times New Roman"/>
              </a:rPr>
              <a:t>here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known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tactile</a:t>
            </a:r>
            <a:r>
              <a:rPr sz="2761" i="1" spc="207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swi</a:t>
            </a:r>
            <a:r>
              <a:rPr sz="2761" i="1" spc="-23" dirty="0">
                <a:latin typeface="Times New Roman"/>
                <a:cs typeface="Times New Roman"/>
              </a:rPr>
              <a:t>t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h</a:t>
            </a:r>
            <a:r>
              <a:rPr sz="2761" i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mo</a:t>
            </a:r>
            <a:r>
              <a:rPr sz="2761" i="1" spc="12" dirty="0">
                <a:latin typeface="Times New Roman"/>
                <a:cs typeface="Times New Roman"/>
              </a:rPr>
              <a:t>m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ntary</a:t>
            </a:r>
            <a:r>
              <a:rPr sz="2761" i="1" spc="207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push button</a:t>
            </a:r>
            <a:r>
              <a:rPr sz="276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r>
              <a:rPr lang="en-US" sz="2761" dirty="0">
                <a:latin typeface="Times New Roman"/>
                <a:cs typeface="Times New Roman"/>
              </a:rPr>
              <a:t>The pins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tr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inside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housin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 its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tr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ondu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tive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met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tt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it.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ssed,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ir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uit is closed b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tw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pins on </a:t>
            </a:r>
            <a:r>
              <a:rPr lang="en-US" sz="2761" spc="-12" dirty="0">
                <a:latin typeface="Times New Roman"/>
                <a:cs typeface="Times New Roman"/>
              </a:rPr>
              <a:t>eac</a:t>
            </a:r>
            <a:r>
              <a:rPr lang="en-US" sz="2761" dirty="0">
                <a:latin typeface="Times New Roman"/>
                <a:cs typeface="Times New Roman"/>
              </a:rPr>
              <a:t>h side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is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llow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flow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tw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n 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m:</a:t>
            </a:r>
          </a:p>
        </p:txBody>
      </p:sp>
      <p:sp>
        <p:nvSpPr>
          <p:cNvPr id="6" name="object 6"/>
          <p:cNvSpPr/>
          <p:nvPr/>
        </p:nvSpPr>
        <p:spPr>
          <a:xfrm>
            <a:off x="5892799" y="1447801"/>
            <a:ext cx="6681911" cy="266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3"/>
          <p:cNvSpPr/>
          <p:nvPr/>
        </p:nvSpPr>
        <p:spPr>
          <a:xfrm>
            <a:off x="6121400" y="6324600"/>
            <a:ext cx="6245944" cy="31123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6729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066800"/>
            <a:ext cx="15163800" cy="8617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EX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MPLE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PRO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J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ECT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598"/>
              </a:spcBef>
            </a:pP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monstr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how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push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build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turns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ssed.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just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58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ple,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5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volt 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parts 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build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t: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Uno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SN74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C14N Schmitt tr</a:t>
            </a:r>
            <a:r>
              <a:rPr sz="2761" spc="-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tile push button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10K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hm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 uF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itor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 algn="just"/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ollow this dia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to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460900" y="685800"/>
            <a:ext cx="6959799" cy="91088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609600"/>
            <a:ext cx="15011400" cy="7913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limiting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thing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200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Ohms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1K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Ohms.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side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push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volts,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side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ssed,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king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w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that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ns.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will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to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pin 11 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li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up.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endParaRPr lang="en-US" sz="3681" dirty="0">
              <a:latin typeface="Times New Roman"/>
              <a:cs typeface="Times New Roman"/>
            </a:endParaRPr>
          </a:p>
          <a:p>
            <a:pPr marL="29219">
              <a:spcBef>
                <a:spcPts val="2057"/>
              </a:spcBef>
            </a:pP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 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conn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ted, uplo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 this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35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duino:</a:t>
            </a:r>
          </a:p>
          <a:p>
            <a:pPr marL="29219" marR="7354395">
              <a:lnSpc>
                <a:spcPct val="143800"/>
              </a:lnSpc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buttonPin</a:t>
            </a:r>
            <a:r>
              <a:rPr lang="en-US" sz="2761" dirty="0">
                <a:latin typeface="Times New Roman"/>
                <a:cs typeface="Times New Roman"/>
              </a:rPr>
              <a:t> = 7;</a:t>
            </a:r>
          </a:p>
          <a:p>
            <a:pPr marL="29219" marR="7354395">
              <a:lnSpc>
                <a:spcPct val="143800"/>
              </a:lnSpc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ledPin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11;</a:t>
            </a:r>
          </a:p>
          <a:p>
            <a:pPr marL="29219" marR="7354395">
              <a:lnSpc>
                <a:spcPct val="143800"/>
              </a:lnSpc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tup()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04532" marR="5481464">
              <a:lnSpc>
                <a:spcPts val="4785"/>
              </a:lnSpc>
              <a:spcBef>
                <a:spcPts val="36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buttonPin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04532" marR="5481464">
              <a:lnSpc>
                <a:spcPts val="4785"/>
              </a:lnSpc>
              <a:spcBef>
                <a:spcPts val="36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ledPin</a:t>
            </a:r>
            <a:r>
              <a:rPr lang="en-US" sz="2761" dirty="0">
                <a:latin typeface="Times New Roman"/>
                <a:cs typeface="Times New Roman"/>
              </a:rPr>
              <a:t>, O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 algn="just"/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46E8F-6D11-B3D0-14FF-B7D078164AD4}"/>
              </a:ext>
            </a:extLst>
          </p:cNvPr>
          <p:cNvSpPr txBox="1"/>
          <p:nvPr/>
        </p:nvSpPr>
        <p:spPr>
          <a:xfrm>
            <a:off x="7569200" y="5958500"/>
            <a:ext cx="8943974" cy="256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loop() {</a:t>
            </a:r>
          </a:p>
          <a:p>
            <a:pPr algn="just">
              <a:lnSpc>
                <a:spcPct val="1500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 </a:t>
            </a:r>
            <a:r>
              <a:rPr lang="en-US" sz="27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buttonState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7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digitalRead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buttonPin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lnSpc>
                <a:spcPct val="1500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7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ledPin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buttonState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lnSpc>
                <a:spcPct val="1500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697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475806"/>
            <a:ext cx="15087600" cy="9106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At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top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tch,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buttonPin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hold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number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ton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(pin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7).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ledPin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hold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pin number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to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8992" algn="just">
              <a:lnSpc>
                <a:spcPts val="4785"/>
              </a:lnSpc>
              <a:spcBef>
                <a:spcPts val="36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tup()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buttonPin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ledPin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output.</a:t>
            </a:r>
          </a:p>
          <a:p>
            <a:pPr marL="29219" algn="just">
              <a:spcBef>
                <a:spcPts val="1024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loo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()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tion, 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 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 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  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 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buttonState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 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</a:p>
          <a:p>
            <a:pPr marL="29219" marR="11688" algn="just">
              <a:lnSpc>
                <a:spcPct val="1436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to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d(buttonPin).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ssed,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buttonPin will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low,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buttonState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ssed,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buttonPin will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be stored in the buttonState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ble.</a:t>
            </a:r>
          </a:p>
          <a:p>
            <a:pPr marL="29219" marR="14609" algn="just">
              <a:lnSpc>
                <a:spcPct val="143800"/>
              </a:lnSpc>
              <a:spcBef>
                <a:spcPts val="12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b="1" dirty="0">
                <a:latin typeface="Times New Roman"/>
                <a:cs typeface="Times New Roman"/>
              </a:rPr>
              <a:t>digitalW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ite()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the 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ledPin so 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  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ument. 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 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ument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tells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iting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low,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buttonState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ve</a:t>
            </a:r>
            <a:r>
              <a:rPr sz="2761" dirty="0">
                <a:latin typeface="Times New Roman"/>
                <a:cs typeface="Times New Roman"/>
              </a:rPr>
              <a:t>r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is stor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variable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 ledPin.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82700" y="990600"/>
            <a:ext cx="15316200" cy="6307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FLOAT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P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INS</a:t>
            </a:r>
            <a:endParaRPr sz="3681" dirty="0">
              <a:latin typeface="Times New Roman"/>
              <a:cs typeface="Times New Roman"/>
            </a:endParaRPr>
          </a:p>
          <a:p>
            <a:pPr marL="29219" marR="13149" algn="just">
              <a:lnSpc>
                <a:spcPct val="150000"/>
              </a:lnSpc>
              <a:spcBef>
                <a:spcPts val="596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build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test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69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something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ird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prob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sh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off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move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ould be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that?</a:t>
            </a: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nsitive.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tic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ur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rduino.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And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those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red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pick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up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 e</a:t>
            </a:r>
            <a:r>
              <a:rPr lang="en-US" sz="2761" dirty="0">
                <a:latin typeface="Times New Roman"/>
                <a:cs typeface="Times New Roman"/>
              </a:rPr>
              <a:t>lectrom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tic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fi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lds,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35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’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flo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pins.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fix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making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sure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buttonPin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low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tton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not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ssed.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 how </a:t>
            </a:r>
            <a:r>
              <a:rPr lang="en-US" sz="2761" spc="-23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 that?</a:t>
            </a:r>
            <a:endParaRPr lang="en-US" sz="345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926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00" y="875220"/>
            <a:ext cx="7010400" cy="8296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PULL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69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SIS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TO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204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siest 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to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a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the left side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push button to 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,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2048"/>
              </a:spcBef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ssed,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roma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tic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flow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round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throu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sistor.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</a:t>
            </a:r>
            <a:r>
              <a:rPr lang="en-US" sz="2761" spc="-35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ssed,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sistor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strict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low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round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flow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7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pull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35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wn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sistor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eca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ts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round to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p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low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vol</a:t>
            </a:r>
            <a:r>
              <a:rPr lang="en-US" sz="2761" spc="35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ge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pull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down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sistor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usu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 hi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10K 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hms.</a:t>
            </a:r>
          </a:p>
        </p:txBody>
      </p:sp>
      <p:sp>
        <p:nvSpPr>
          <p:cNvPr id="4" name="object 4"/>
          <p:cNvSpPr/>
          <p:nvPr/>
        </p:nvSpPr>
        <p:spPr>
          <a:xfrm>
            <a:off x="8864600" y="635657"/>
            <a:ext cx="6714069" cy="87870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1" y="914400"/>
            <a:ext cx="7239000" cy="7456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PULL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UP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ESIS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ORS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r>
              <a:rPr sz="2761" dirty="0">
                <a:latin typeface="Times New Roman"/>
                <a:cs typeface="Times New Roman"/>
              </a:rPr>
              <a:t>Pull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-35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sistors.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69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k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 the pin in a hi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ir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uit,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pull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up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sistor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volts,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side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roun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. Pressing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button will send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low s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to pin 7, tu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46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on. 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 pull up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sistor is tied to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 volts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k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ps pin 7 hi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 until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 is 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ssed.</a:t>
            </a:r>
          </a:p>
        </p:txBody>
      </p:sp>
      <p:sp>
        <p:nvSpPr>
          <p:cNvPr id="5" name="object 3"/>
          <p:cNvSpPr/>
          <p:nvPr/>
        </p:nvSpPr>
        <p:spPr>
          <a:xfrm>
            <a:off x="9093200" y="533400"/>
            <a:ext cx="7040161" cy="92899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21991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751041"/>
            <a:ext cx="13732601" cy="8556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6457375"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pull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looks like this: int buttonPin = 7;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int ledPin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11;</a:t>
            </a:r>
          </a:p>
          <a:p>
            <a:pPr marL="204532" marR="9341279" indent="-175313"/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buttonPin,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ledPin,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endParaRPr sz="276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void 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int buttonState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d(</a:t>
            </a:r>
            <a:r>
              <a:rPr sz="2761" dirty="0" err="1">
                <a:latin typeface="Times New Roman"/>
                <a:cs typeface="Times New Roman"/>
              </a:rPr>
              <a:t>buttonPin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379846" marR="9369035" indent="-175313"/>
            <a:r>
              <a:rPr lang="en-US" sz="2761" dirty="0">
                <a:latin typeface="Times New Roman"/>
                <a:cs typeface="Times New Roman"/>
              </a:rPr>
              <a:t>if 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buttonState</a:t>
            </a:r>
            <a:r>
              <a:rPr lang="en-US" sz="2761" spc="-12" dirty="0">
                <a:latin typeface="Times New Roman"/>
                <a:cs typeface="Times New Roman"/>
              </a:rPr>
              <a:t> =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OW) {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dPin</a:t>
            </a:r>
            <a:r>
              <a:rPr lang="en-US" sz="2761" dirty="0">
                <a:latin typeface="Times New Roman"/>
                <a:cs typeface="Times New Roman"/>
              </a:rPr>
              <a:t>, H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379846" marR="9442082" indent="-175313">
              <a:spcBef>
                <a:spcPts val="1599"/>
              </a:spcBef>
            </a:pPr>
            <a:r>
              <a:rPr lang="en-US" sz="2761" dirty="0">
                <a:latin typeface="Times New Roman"/>
                <a:cs typeface="Times New Roman"/>
              </a:rPr>
              <a:t>if 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buttonState</a:t>
            </a:r>
            <a:r>
              <a:rPr lang="en-US" sz="2761" spc="-12" dirty="0">
                <a:latin typeface="Times New Roman"/>
                <a:cs typeface="Times New Roman"/>
              </a:rPr>
              <a:t> =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spc="46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H)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dPin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OW);</a:t>
            </a:r>
          </a:p>
          <a:p>
            <a:pPr marL="204532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 algn="just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00" y="1295400"/>
            <a:ext cx="14859000" cy="64761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3149" algn="just">
              <a:lnSpc>
                <a:spcPct val="1500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vious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m,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riables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buttonPin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ledPin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them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outputs.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state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buttonPin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store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in the buttonState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ble.</a:t>
            </a: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ledPin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buttonS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tion,   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  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  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  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  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   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 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  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  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   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buttonState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buttonState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ledPin is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high.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buttonState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h,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gram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 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ritten to the ledPin.</a:t>
            </a:r>
          </a:p>
          <a:p>
            <a:pPr marL="29219" marR="21914" algn="just">
              <a:lnSpc>
                <a:spcPct val="1500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now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turn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ick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round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probl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solved.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1219200"/>
            <a:ext cx="14935200" cy="8116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’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Internal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Pullup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Resistor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900"/>
              </a:lnSpc>
              <a:spcBef>
                <a:spcPts val="596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pull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pull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looked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ircuit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omponents.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purp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pull 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  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sistor, 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NPUT_P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LL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 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ument 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f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buttonPin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this:</a:t>
            </a:r>
          </a:p>
          <a:p>
            <a:pPr marL="29219" marR="11212749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212749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int buttonPin = 7; int ledPin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11;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17"/>
              </a:spcBef>
            </a:pPr>
            <a:endParaRPr sz="2186" dirty="0">
              <a:latin typeface="Times New Roman"/>
              <a:cs typeface="Times New Roman"/>
            </a:endParaRPr>
          </a:p>
          <a:p>
            <a:pPr marL="29219" algn="just"/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 marR="7845272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buttonPin,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_P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LL</a:t>
            </a:r>
            <a:r>
              <a:rPr sz="2761" dirty="0">
                <a:latin typeface="Times New Roman"/>
                <a:cs typeface="Times New Roman"/>
              </a:rPr>
              <a:t>UP);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ledPin,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204532" marR="7845272">
              <a:lnSpc>
                <a:spcPts val="4785"/>
              </a:lnSpc>
              <a:spcBef>
                <a:spcPts val="368"/>
              </a:spcBef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3279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9900" y="685800"/>
            <a:ext cx="14401800" cy="84175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void 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>
              <a:lnSpc>
                <a:spcPct val="150000"/>
              </a:lnSpc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int buttonState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d(buttonPin);</a:t>
            </a:r>
          </a:p>
          <a:p>
            <a:pPr marL="379846" marR="9052012" indent="-175313">
              <a:lnSpc>
                <a:spcPct val="1500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buttonState</a:t>
            </a:r>
            <a:r>
              <a:rPr sz="2761" spc="-12" dirty="0">
                <a:latin typeface="Times New Roman"/>
                <a:cs typeface="Times New Roman"/>
              </a:rPr>
              <a:t> 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OW) {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dPin, 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lnSpc>
                <a:spcPct val="150000"/>
              </a:lnSpc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379846" marR="9125059" indent="-175313">
              <a:lnSpc>
                <a:spcPct val="150000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buttonState</a:t>
            </a:r>
            <a:r>
              <a:rPr sz="2761" spc="-12" dirty="0">
                <a:latin typeface="Times New Roman"/>
                <a:cs typeface="Times New Roman"/>
              </a:rPr>
              <a:t> 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dPin,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OW);</a:t>
            </a:r>
          </a:p>
          <a:p>
            <a:pPr marL="204532">
              <a:lnSpc>
                <a:spcPct val="150000"/>
              </a:lnSpc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lnSpc>
                <a:spcPct val="150000"/>
              </a:lnSpc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 marR="11688">
              <a:lnSpc>
                <a:spcPct val="150000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50000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Now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w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 without the pull up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to 5 vo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ts. The inte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pull up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mak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 simple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1379</Words>
  <Application>Microsoft Office PowerPoint</Application>
  <PresentationFormat>Custom</PresentationFormat>
  <Paragraphs>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4</cp:revision>
  <dcterms:created xsi:type="dcterms:W3CDTF">2024-07-02T13:00:55Z</dcterms:created>
  <dcterms:modified xsi:type="dcterms:W3CDTF">2024-07-13T12:57:11Z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