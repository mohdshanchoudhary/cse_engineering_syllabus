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1"/>
  </p:notesMasterIdLst>
  <p:sldIdLst>
    <p:sldId id="256" r:id="rId16"/>
    <p:sldId id="258" r:id="rId17"/>
    <p:sldId id="259" r:id="rId18"/>
    <p:sldId id="260" r:id="rId19"/>
    <p:sldId id="261" r:id="rId20"/>
    <p:sldId id="262" r:id="rId21"/>
    <p:sldId id="263" r:id="rId22"/>
    <p:sldId id="264" r:id="rId23"/>
    <p:sldId id="266" r:id="rId24"/>
    <p:sldId id="267" r:id="rId25"/>
    <p:sldId id="268" r:id="rId26"/>
    <p:sldId id="269" r:id="rId27"/>
    <p:sldId id="270" r:id="rId28"/>
    <p:sldId id="277" r:id="rId29"/>
    <p:sldId id="278" r:id="rId30"/>
  </p:sldIdLst>
  <p:sldSz cx="9144000" cy="6858000" type="screen4x3"/>
  <p:notesSz cx="6858000" cy="9144000"/>
  <p:embeddedFontLst>
    <p:embeddedFont>
      <p:font typeface="Arial Black" panose="020B0604020202020204" pitchFamily="34" charset="0"/>
      <p:regular r:id="rId32"/>
      <p:bold r:id="rId33"/>
    </p:embeddedFont>
    <p:embeddedFont>
      <p:font typeface="Cambria" panose="02040503050406030204" pitchFamily="18" charset="0"/>
      <p:regular r:id="rId34"/>
      <p:bold r:id="rId35"/>
      <p:italic r:id="rId36"/>
      <p:boldItalic r:id="rId37"/>
    </p:embeddedFont>
    <p:embeddedFont>
      <p:font typeface="Poppins" pitchFamily="2" charset="77"/>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15"/>
    <p:restoredTop sz="94614"/>
  </p:normalViewPr>
  <p:slideViewPr>
    <p:cSldViewPr snapToGrid="0">
      <p:cViewPr varScale="1">
        <p:scale>
          <a:sx n="112" d="100"/>
          <a:sy n="112" d="100"/>
        </p:scale>
        <p:origin x="1088" y="176"/>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8.fntdata"/><Relationship Id="rId21" Type="http://schemas.openxmlformats.org/officeDocument/2006/relationships/slide" Target="slides/slide6.xml"/><Relationship Id="rId34" Type="http://schemas.openxmlformats.org/officeDocument/2006/relationships/font" Target="fonts/font3.fntdata"/><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customschemas.google.com/relationships/presentationmetadata" Target="metadata"/><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font" Target="fonts/font4.fntdata"/><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5.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47" name="Google Shape;34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5: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72" name="Google Shape;37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3" name="Google Shape;373;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file:////Users/jagmeet/Library/Group%20Containers/UBF8T346G9.ms/WebArchiveCopyPasteTempFiles/com.microsoft.Word/672930079761633280.jpg%3fappid=esc_en"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file:////Users/jagmeet/Library/Group%20Containers/UBF8T346G9.ms/WebArchiveCopyPasteTempFiles/com.microsoft.Word/Physical-Node.p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file:////Users/jagmeet/Library/Group%20Containers/UBF8T346G9.ms/WebArchiveCopyPasteTempFiles/com.microsoft.Word/Virtual-Node.pn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file:////Users/jagmeet/Library/Group%20Containers/UBF8T346G9.ms/WebArchiveCopyPasteTempFiles/com.microsoft.Word/RESOURCE-POOLING.png"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javatpoint.com/cloud-computing-vs-grid-computing"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eukhost.com/blog/webhosting/what-is-utility-computing/"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a:solidFill>
                  <a:schemeClr val="dk1"/>
                </a:solidFill>
                <a:latin typeface="Times New Roman"/>
                <a:ea typeface="Times New Roman"/>
                <a:cs typeface="Times New Roman"/>
                <a:sym typeface="Times New Roman"/>
              </a:rPr>
              <a:t>Topic: cloud computing </a:t>
            </a:r>
            <a:endParaRPr/>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sz="4400" b="1" i="0" u="none" strike="noStrike" cap="none">
                <a:solidFill>
                  <a:srgbClr val="FF0000"/>
                </a:solidFill>
                <a:latin typeface="Times New Roman"/>
                <a:ea typeface="Times New Roman"/>
                <a:cs typeface="Times New Roman"/>
                <a:sym typeface="Times New Roman"/>
              </a:rPr>
              <a:t>Cloud Computing</a:t>
            </a:r>
            <a:endParaRPr sz="44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
          <p:cNvSpPr txBox="1">
            <a:spLocks noGrp="1"/>
          </p:cNvSpPr>
          <p:nvPr>
            <p:ph type="title"/>
          </p:nvPr>
        </p:nvSpPr>
        <p:spPr>
          <a:xfrm>
            <a:off x="914400" y="838200"/>
            <a:ext cx="7924800" cy="609600"/>
          </a:xfrm>
          <a:prstGeom prst="rect">
            <a:avLst/>
          </a:prstGeom>
          <a:noFill/>
          <a:ln>
            <a:noFill/>
          </a:ln>
        </p:spPr>
        <p:txBody>
          <a:bodyPr spcFirstLastPara="1" wrap="square" lIns="91425" tIns="45700" rIns="91425" bIns="45700" anchor="ctr" anchorCtr="0">
            <a:noAutofit/>
          </a:bodyPr>
          <a:lstStyle/>
          <a:p>
            <a:r>
              <a:rPr lang="en-IN" sz="2800" i="0" u="none" strike="noStrike" dirty="0">
                <a:solidFill>
                  <a:srgbClr val="455A64"/>
                </a:solidFill>
                <a:effectLst/>
                <a:latin typeface="Times New Roman" panose="02020603050405020304" pitchFamily="18" charset="0"/>
                <a:cs typeface="Times New Roman" panose="02020603050405020304" pitchFamily="18" charset="0"/>
              </a:rPr>
              <a:t>What is Broad Network Access?</a:t>
            </a:r>
          </a:p>
        </p:txBody>
      </p:sp>
      <p:sp>
        <p:nvSpPr>
          <p:cNvPr id="351" name="Google Shape;351;p5"/>
          <p:cNvSpPr txBox="1">
            <a:spLocks noGrp="1"/>
          </p:cNvSpPr>
          <p:nvPr>
            <p:ph type="body" idx="1"/>
          </p:nvPr>
        </p:nvSpPr>
        <p:spPr>
          <a:xfrm>
            <a:off x="137160" y="1752600"/>
            <a:ext cx="8778240" cy="4495800"/>
          </a:xfrm>
          <a:prstGeom prst="rect">
            <a:avLst/>
          </a:prstGeom>
          <a:noFill/>
          <a:ln>
            <a:noFill/>
          </a:ln>
        </p:spPr>
        <p:txBody>
          <a:bodyPr spcFirstLastPara="1" wrap="square" lIns="91425" tIns="45700" rIns="91425" bIns="45700" anchor="t" anchorCtr="0">
            <a:normAutofit lnSpcReduction="10000"/>
          </a:bodyPr>
          <a:lstStyle/>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The ability to access network resources and services from a variety of locations and devices is referred to as </a:t>
            </a:r>
            <a:r>
              <a:rPr lang="en-IN" b="1" i="0" u="none" strike="noStrike" dirty="0">
                <a:solidFill>
                  <a:srgbClr val="1D2125"/>
                </a:solidFill>
                <a:effectLst/>
                <a:latin typeface="Times New Roman" panose="02020603050405020304" pitchFamily="18" charset="0"/>
                <a:cs typeface="Times New Roman" panose="02020603050405020304" pitchFamily="18" charset="0"/>
              </a:rPr>
              <a:t>"broad network access,"</a:t>
            </a:r>
            <a:r>
              <a:rPr lang="en-IN" b="0" i="0" u="none" strike="noStrike" dirty="0">
                <a:solidFill>
                  <a:srgbClr val="1D2125"/>
                </a:solidFill>
                <a:effectLst/>
                <a:latin typeface="Times New Roman" panose="02020603050405020304" pitchFamily="18" charset="0"/>
                <a:cs typeface="Times New Roman" panose="02020603050405020304" pitchFamily="18" charset="0"/>
              </a:rPr>
              <a:t> a term that is frequently used in the context of</a:t>
            </a:r>
            <a:r>
              <a:rPr lang="en-IN" b="1" i="0" u="none" strike="noStrike" dirty="0">
                <a:solidFill>
                  <a:srgbClr val="1D2125"/>
                </a:solidFill>
                <a:effectLst/>
                <a:latin typeface="Times New Roman" panose="02020603050405020304" pitchFamily="18" charset="0"/>
                <a:cs typeface="Times New Roman" panose="02020603050405020304" pitchFamily="18" charset="0"/>
              </a:rPr>
              <a:t> cloud computing.</a:t>
            </a:r>
            <a:r>
              <a:rPr lang="en-IN" b="0" i="0" u="none" strike="noStrike" dirty="0">
                <a:solidFill>
                  <a:srgbClr val="1D2125"/>
                </a:solidFill>
                <a:effectLst/>
                <a:latin typeface="Times New Roman" panose="02020603050405020304" pitchFamily="18" charset="0"/>
                <a:cs typeface="Times New Roman" panose="02020603050405020304" pitchFamily="18" charset="0"/>
              </a:rPr>
              <a:t> According to the </a:t>
            </a:r>
            <a:r>
              <a:rPr lang="en-IN" b="1" i="0" u="none" strike="noStrike" dirty="0">
                <a:solidFill>
                  <a:srgbClr val="1D2125"/>
                </a:solidFill>
                <a:effectLst/>
                <a:latin typeface="Times New Roman" panose="02020603050405020304" pitchFamily="18" charset="0"/>
                <a:cs typeface="Times New Roman" panose="02020603050405020304" pitchFamily="18" charset="0"/>
              </a:rPr>
              <a:t>National Institute of Standards and Technology (NIST)</a:t>
            </a:r>
            <a:r>
              <a:rPr lang="en-IN" b="0" i="0" u="none" strike="noStrike" dirty="0">
                <a:solidFill>
                  <a:srgbClr val="1D2125"/>
                </a:solidFill>
                <a:effectLst/>
                <a:latin typeface="Times New Roman" panose="02020603050405020304" pitchFamily="18" charset="0"/>
                <a:cs typeface="Times New Roman" panose="02020603050405020304" pitchFamily="18" charset="0"/>
              </a:rPr>
              <a:t>, it is one of the crucial elements of cloud computing.</a:t>
            </a:r>
          </a:p>
          <a:p>
            <a:pPr algn="just"/>
            <a:r>
              <a:rPr lang="en-IN" b="0" i="0" u="none" strike="noStrike" dirty="0">
                <a:solidFill>
                  <a:srgbClr val="1D2125"/>
                </a:solidFill>
                <a:effectLst/>
                <a:latin typeface="Times New Roman" panose="02020603050405020304" pitchFamily="18" charset="0"/>
                <a:cs typeface="Times New Roman" panose="02020603050405020304" pitchFamily="18" charset="0"/>
              </a:rPr>
              <a:t>Users can use a variety of devices, including desktop computers, laptops, smartphones, tablets, and other internet-connected gadgets, to access cloud services and applications thanks to Broad Network Access. Standard network protocols and technologies, typically using the Internet as the underlying network infrastructure, enable this accessibility.</a:t>
            </a: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4" name="Rectangle 2">
            <a:extLst>
              <a:ext uri="{FF2B5EF4-FFF2-40B4-BE49-F238E27FC236}">
                <a16:creationId xmlns:a16="http://schemas.microsoft.com/office/drawing/2014/main" id="{0BE89F61-0284-1CB4-8DF3-2DAD907D7638}"/>
              </a:ext>
            </a:extLst>
          </p:cNvPr>
          <p:cNvSpPr>
            <a:spLocks noChangeArrowheads="1"/>
          </p:cNvSpPr>
          <p:nvPr/>
        </p:nvSpPr>
        <p:spPr bwMode="auto">
          <a:xfrm>
            <a:off x="-380224" y="2508250"/>
            <a:ext cx="1384601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5" name="Picture 1">
            <a:extLst>
              <a:ext uri="{FF2B5EF4-FFF2-40B4-BE49-F238E27FC236}">
                <a16:creationId xmlns:a16="http://schemas.microsoft.com/office/drawing/2014/main" id="{7912E851-3C7E-5353-E16C-8B36D355F7C8}"/>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91490" y="1028700"/>
            <a:ext cx="8115300" cy="49377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7"/>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r>
              <a:rPr lang="en-IN" sz="2800" b="0" i="0" u="none" strike="noStrike" dirty="0">
                <a:solidFill>
                  <a:srgbClr val="455A64"/>
                </a:solidFill>
                <a:effectLst/>
                <a:latin typeface="Times New Roman" panose="02020603050405020304" pitchFamily="18" charset="0"/>
                <a:cs typeface="Times New Roman" panose="02020603050405020304" pitchFamily="18" charset="0"/>
              </a:rPr>
              <a:t>What does Broad Network Access do?</a:t>
            </a:r>
          </a:p>
        </p:txBody>
      </p:sp>
      <p:sp>
        <p:nvSpPr>
          <p:cNvPr id="363" name="Google Shape;363;p7"/>
          <p:cNvSpPr txBox="1">
            <a:spLocks noGrp="1"/>
          </p:cNvSpPr>
          <p:nvPr>
            <p:ph type="body" idx="1"/>
          </p:nvPr>
        </p:nvSpPr>
        <p:spPr>
          <a:xfrm>
            <a:off x="251460" y="1752600"/>
            <a:ext cx="8663940" cy="44958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chemeClr val="dk1"/>
              </a:buClr>
              <a:buSzPts val="2400"/>
              <a:buFont typeface="Arial"/>
              <a:buChar char="•"/>
            </a:pPr>
            <a:r>
              <a:rPr lang="en-US" sz="2000" b="0" i="0" u="none" dirty="0">
                <a:solidFill>
                  <a:schemeClr val="dk1"/>
                </a:solidFill>
                <a:latin typeface="Times New Roman" panose="02020603050405020304" pitchFamily="18" charset="0"/>
                <a:cs typeface="Times New Roman" panose="02020603050405020304" pitchFamily="18" charset="0"/>
                <a:sym typeface="Cambria"/>
              </a:rPr>
              <a:t> </a:t>
            </a: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Users can remotely access cloud resources and services using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Broad Network Access </a:t>
            </a: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from any location with an internet connection. They are not constrained to particular geographical regions or particular gadget categories. Users can work on or interact with</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 cloud-based applications and data</a:t>
            </a: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from a variety of locations and devices thanks to this flexibility and accessibility, which offers convenience, scalability, and increased productivity.</a:t>
            </a:r>
          </a:p>
          <a:p>
            <a:pPr marL="342900" marR="0" lvl="0" indent="-342900" algn="just" rtl="0">
              <a:lnSpc>
                <a:spcPct val="100000"/>
              </a:lnSpc>
              <a:spcBef>
                <a:spcPts val="0"/>
              </a:spcBef>
              <a:spcAft>
                <a:spcPts val="0"/>
              </a:spcAft>
              <a:buClr>
                <a:schemeClr val="dk1"/>
              </a:buClr>
              <a:buSzPts val="2400"/>
              <a:buFont typeface="Arial"/>
              <a:buChar char="•"/>
            </a:pP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Additionally,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Broad Network Access</a:t>
            </a: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makes it easier for users in various locations to collaborate. Real-time collaboration and improved teamwork are made possible by the ability for multiple users to access and work on the same cloud-based applications or documents at once.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Broad Network Access</a:t>
            </a:r>
            <a:r>
              <a:rPr lang="en-IN" sz="20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in cloud computing makes sure that users can access cloud services and resources from a variety of devices and locations, enabling flexible, widespread, and cooperative use of cloud-based applications and data.</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8"/>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400"/>
              <a:buFont typeface="Cambria"/>
              <a:buNone/>
            </a:pPr>
            <a:r>
              <a:rPr lang="en-IN" sz="2400" b="0" i="0" u="none" strike="noStrike" dirty="0">
                <a:solidFill>
                  <a:srgbClr val="455A64"/>
                </a:solidFill>
                <a:effectLst/>
                <a:latin typeface="Times New Roman" panose="02020603050405020304" pitchFamily="18" charset="0"/>
                <a:cs typeface="Times New Roman" panose="02020603050405020304" pitchFamily="18" charset="0"/>
              </a:rPr>
              <a:t>What does Broad Network Access do?</a:t>
            </a:r>
            <a:endParaRPr sz="2400" b="1" i="0" u="none" strike="noStrike" cap="none" dirty="0">
              <a:solidFill>
                <a:schemeClr val="dk1"/>
              </a:solidFill>
              <a:latin typeface="Cambria"/>
              <a:ea typeface="Cambria"/>
              <a:cs typeface="Cambria"/>
              <a:sym typeface="Cambria"/>
            </a:endParaRPr>
          </a:p>
        </p:txBody>
      </p:sp>
      <p:sp>
        <p:nvSpPr>
          <p:cNvPr id="369" name="Google Shape;369;p8"/>
          <p:cNvSpPr txBox="1">
            <a:spLocks noGrp="1"/>
          </p:cNvSpPr>
          <p:nvPr>
            <p:ph type="body" idx="1"/>
          </p:nvPr>
        </p:nvSpPr>
        <p:spPr>
          <a:xfrm>
            <a:off x="228600" y="1577340"/>
            <a:ext cx="8686800" cy="4213860"/>
          </a:xfrm>
          <a:prstGeom prst="rect">
            <a:avLst/>
          </a:prstGeom>
          <a:noFill/>
          <a:ln>
            <a:noFill/>
          </a:ln>
        </p:spPr>
        <p:txBody>
          <a:bodyPr spcFirstLastPara="1" wrap="square" lIns="91425" tIns="45700" rIns="91425" bIns="45700" anchor="t" anchorCtr="0">
            <a:no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conclusion ,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Broad Network Access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is crucial in the world of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cloud computing</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Users can use a variety of locations and devices to access network resources and services, which promotes flexibility, convenience, and teamwork. Users are no longer restricted to particular physical locations or constrained by the type of device they use thanks to the ability to connect to cloud services remotely through a variety of devices. With this freedom comes the ability to interact with cloud-based data and applications with ease, which boosts productivity and scalability.</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Through real-time collaboration and the promotion of a more connected and effective digital ecosystem, broad network access enables people and teams to collaborate successfully across geographic boundaries.</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 Broad Network Access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will remain a key component of cloud computing as it develops, empowering users.</a:t>
            </a:r>
          </a:p>
          <a:p>
            <a:pPr marL="342900" marR="0" lvl="0" indent="-190500" algn="l" rtl="0">
              <a:spcBef>
                <a:spcPts val="480"/>
              </a:spcBef>
              <a:spcAft>
                <a:spcPts val="0"/>
              </a:spcAft>
              <a:buClr>
                <a:schemeClr val="dk1"/>
              </a:buClr>
              <a:buSzPts val="2400"/>
              <a:buFont typeface="Arial"/>
              <a:buNone/>
            </a:pPr>
            <a:endParaRPr sz="2400" b="0" i="0" u="none" dirty="0">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9"/>
          <p:cNvSpPr txBox="1"/>
          <p:nvPr/>
        </p:nvSpPr>
        <p:spPr>
          <a:xfrm>
            <a:off x="4154487" y="2933700"/>
            <a:ext cx="76200" cy="23971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76" name="Google Shape;376;p9"/>
          <p:cNvSpPr txBox="1"/>
          <p:nvPr/>
        </p:nvSpPr>
        <p:spPr>
          <a:xfrm>
            <a:off x="8559800" y="6432550"/>
            <a:ext cx="109537" cy="207962"/>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5</a:t>
            </a:r>
            <a:endParaRPr/>
          </a:p>
        </p:txBody>
      </p:sp>
      <p:sp>
        <p:nvSpPr>
          <p:cNvPr id="377" name="Google Shape;377;p9"/>
          <p:cNvSpPr txBox="1">
            <a:spLocks noGrp="1"/>
          </p:cNvSpPr>
          <p:nvPr>
            <p:ph type="body" idx="1"/>
          </p:nvPr>
        </p:nvSpPr>
        <p:spPr>
          <a:xfrm>
            <a:off x="304800" y="1447800"/>
            <a:ext cx="8686800" cy="4800600"/>
          </a:xfrm>
          <a:prstGeom prst="rect">
            <a:avLst/>
          </a:prstGeom>
          <a:noFill/>
          <a:ln>
            <a:noFill/>
          </a:ln>
        </p:spPr>
        <p:txBody>
          <a:bodyPr spcFirstLastPara="1" wrap="square" lIns="91425" tIns="45700" rIns="91425" bIns="45700" anchor="t" anchorCtr="0">
            <a:no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resource pool</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is a group of resources that can be assigned to users. Resources of any kind, including computation, network, and storage, can be pooled. It adds an abstraction layer that enables uniform resource use and presentation. In cloud data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a sizable pool of physical resources is maintained and made available to consumers as virtual services. </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Any resource from this pool may be given to one user or application only, or it may even be shared by several users or apps. Additionally, resources are dynamically provided according to need rather than being permanently allocated to users. As load or demand fluctuates over time, this results in efficient resource usage.</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
        <p:nvSpPr>
          <p:cNvPr id="378" name="Google Shape;378;p9"/>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Autofit/>
          </a:bodyPr>
          <a:lstStyle/>
          <a:p>
            <a:pPr marL="342900" lvl="0" indent="-342900" algn="ctr" rtl="0">
              <a:lnSpc>
                <a:spcPct val="80000"/>
              </a:lnSpc>
              <a:spcBef>
                <a:spcPts val="0"/>
              </a:spcBef>
              <a:spcAft>
                <a:spcPts val="0"/>
              </a:spcAft>
              <a:buClr>
                <a:schemeClr val="dk1"/>
              </a:buClr>
              <a:buSzPts val="1500"/>
              <a:buNone/>
            </a:pPr>
            <a:endParaRPr sz="2800" b="1" i="0" u="none" dirty="0">
              <a:solidFill>
                <a:srgbClr val="C00000"/>
              </a:solidFill>
              <a:latin typeface="Times New Roman" panose="02020603050405020304" pitchFamily="18" charset="0"/>
              <a:cs typeface="Times New Roman" panose="02020603050405020304" pitchFamily="18" charset="0"/>
              <a:sym typeface="Cambria"/>
            </a:endParaRPr>
          </a:p>
          <a:p>
            <a:pPr marL="342900" lvl="0" indent="-342900" algn="ctr" rtl="0">
              <a:lnSpc>
                <a:spcPct val="80000"/>
              </a:lnSpc>
              <a:spcBef>
                <a:spcPts val="480"/>
              </a:spcBef>
              <a:spcAft>
                <a:spcPts val="0"/>
              </a:spcAft>
              <a:buClr>
                <a:srgbClr val="C00000"/>
              </a:buClr>
              <a:buSzPts val="2400"/>
              <a:buNone/>
            </a:pPr>
            <a:r>
              <a:rPr lang="en-IN" sz="2800" b="1" dirty="0">
                <a:solidFill>
                  <a:srgbClr val="1D2125"/>
                </a:solidFill>
                <a:latin typeface="Times New Roman" panose="02020603050405020304" pitchFamily="18" charset="0"/>
                <a:cs typeface="Times New Roman" panose="02020603050405020304" pitchFamily="18" charset="0"/>
              </a:rPr>
              <a:t>R</a:t>
            </a:r>
            <a:r>
              <a:rPr lang="en-IN" sz="2800" b="1" i="0" u="none" strike="noStrike" dirty="0">
                <a:solidFill>
                  <a:srgbClr val="1D2125"/>
                </a:solidFill>
                <a:effectLst/>
                <a:latin typeface="Times New Roman" panose="02020603050405020304" pitchFamily="18" charset="0"/>
                <a:cs typeface="Times New Roman" panose="02020603050405020304" pitchFamily="18" charset="0"/>
              </a:rPr>
              <a:t>esource pool</a:t>
            </a:r>
            <a:r>
              <a:rPr lang="en-IN" sz="28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t>
            </a:r>
            <a:endParaRPr sz="2800" b="1" i="0" u="none" dirty="0">
              <a:solidFill>
                <a:srgbClr val="C00000"/>
              </a:solidFill>
              <a:latin typeface="Times New Roman" panose="02020603050405020304" pitchFamily="18" charset="0"/>
              <a:cs typeface="Times New Roman" panose="02020603050405020304" pitchFamily="18" charset="0"/>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1"/>
          <p:cNvSpPr txBox="1">
            <a:spLocks noGrp="1"/>
          </p:cNvSpPr>
          <p:nvPr>
            <p:ph type="title"/>
          </p:nvPr>
        </p:nvSpPr>
        <p:spPr>
          <a:xfrm>
            <a:off x="990600" y="700908"/>
            <a:ext cx="7924800" cy="316107"/>
          </a:xfrm>
          <a:prstGeom prst="rect">
            <a:avLst/>
          </a:prstGeom>
          <a:noFill/>
          <a:ln>
            <a:noFill/>
          </a:ln>
        </p:spPr>
        <p:txBody>
          <a:bodyPr spcFirstLastPara="1" wrap="square" lIns="0" tIns="8250" rIns="0" bIns="0" anchor="ctr" anchorCtr="0">
            <a:spAutoFit/>
          </a:bodyPr>
          <a:lstStyle/>
          <a:p>
            <a:r>
              <a:rPr lang="en-IN" sz="2000" b="0" i="0" u="none" strike="noStrike" dirty="0">
                <a:solidFill>
                  <a:srgbClr val="455A64"/>
                </a:solidFill>
                <a:effectLst/>
                <a:latin typeface="Poppins" pitchFamily="2" charset="77"/>
              </a:rPr>
              <a:t>Resource Pooling Architecture </a:t>
            </a:r>
          </a:p>
        </p:txBody>
      </p:sp>
      <p:sp>
        <p:nvSpPr>
          <p:cNvPr id="390" name="Google Shape;390;p11"/>
          <p:cNvSpPr txBox="1">
            <a:spLocks noGrp="1"/>
          </p:cNvSpPr>
          <p:nvPr>
            <p:ph type="body" idx="1"/>
          </p:nvPr>
        </p:nvSpPr>
        <p:spPr>
          <a:xfrm>
            <a:off x="533400" y="1143000"/>
            <a:ext cx="8382000" cy="2457450"/>
          </a:xfrm>
          <a:prstGeom prst="rect">
            <a:avLst/>
          </a:prstGeom>
          <a:noFill/>
          <a:ln>
            <a:noFill/>
          </a:ln>
        </p:spPr>
        <p:txBody>
          <a:bodyPr spcFirstLastPara="1" wrap="square" lIns="91425" tIns="45700" rIns="91425" bIns="45700" anchor="t" anchorCtr="0">
            <a:normAutofit/>
          </a:bodyPr>
          <a:lstStyle/>
          <a:p>
            <a:pPr algn="l"/>
            <a:r>
              <a:rPr lang="en-IN" sz="2000" b="0" i="0" u="none" strike="noStrike" dirty="0">
                <a:solidFill>
                  <a:srgbClr val="1D2125"/>
                </a:solidFill>
                <a:effectLst/>
                <a:latin typeface="Times New Roman" panose="02020603050405020304" pitchFamily="18" charset="0"/>
                <a:cs typeface="Times New Roman" panose="02020603050405020304" pitchFamily="18" charset="0"/>
              </a:rPr>
              <a:t>This architecture is predicated on the utilization of one or more resources from a pool of resources, wherein a system groups and manages identical synchronized resources.</a:t>
            </a:r>
          </a:p>
          <a:p>
            <a:pPr algn="l"/>
            <a:r>
              <a:rPr lang="en-IN" sz="2000" b="0" i="0" u="none" strike="noStrike" dirty="0">
                <a:solidFill>
                  <a:srgbClr val="455A64"/>
                </a:solidFill>
                <a:effectLst/>
                <a:latin typeface="Times New Roman" panose="02020603050405020304" pitchFamily="18" charset="0"/>
                <a:cs typeface="Times New Roman" panose="02020603050405020304" pitchFamily="18" charset="0"/>
              </a:rPr>
              <a:t>Physical Server Pools</a:t>
            </a:r>
          </a:p>
          <a:p>
            <a:pPr algn="l"/>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These are a collection of physical servers that are networked together and are ready for use right away thanks to the installation of operating systems and other essential programmed and/or applications. </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
        <p:nvSpPr>
          <p:cNvPr id="391" name="Google Shape;391;p11"/>
          <p:cNvSpPr txBox="1"/>
          <p:nvPr/>
        </p:nvSpPr>
        <p:spPr>
          <a:xfrm>
            <a:off x="7010400" y="6492875"/>
            <a:ext cx="2133600" cy="365125"/>
          </a:xfrm>
          <a:prstGeom prst="rect">
            <a:avLst/>
          </a:prstGeom>
          <a:noFill/>
          <a:ln>
            <a:noFill/>
          </a:ln>
        </p:spPr>
        <p:txBody>
          <a:bodyPr spcFirstLastPara="1" wrap="square" lIns="0" tIns="13325" rIns="0" bIns="0" anchor="ctr" anchorCtr="0">
            <a:spAutoFit/>
          </a:bodyPr>
          <a:lstStyle/>
          <a:p>
            <a:pPr marL="38100" marR="0" lvl="0" indent="0" algn="r" rtl="0">
              <a:lnSpc>
                <a:spcPct val="100000"/>
              </a:lnSpc>
              <a:spcBef>
                <a:spcPts val="0"/>
              </a:spcBef>
              <a:spcAft>
                <a:spcPts val="0"/>
              </a:spcAft>
              <a:buClr>
                <a:srgbClr val="898989"/>
              </a:buClr>
              <a:buSzPts val="1200"/>
              <a:buFont typeface="Calibri"/>
              <a:buNone/>
            </a:pPr>
            <a:fld id="{00000000-1234-1234-1234-123412341234}" type="slidenum">
              <a:rPr lang="en-US" sz="1200" b="0" i="0" u="none">
                <a:solidFill>
                  <a:srgbClr val="898989"/>
                </a:solidFill>
                <a:latin typeface="Calibri"/>
                <a:ea typeface="Calibri"/>
                <a:cs typeface="Calibri"/>
                <a:sym typeface="Calibri"/>
              </a:rPr>
              <a:t>9</a:t>
            </a:fld>
            <a:endParaRPr/>
          </a:p>
        </p:txBody>
      </p:sp>
      <p:sp>
        <p:nvSpPr>
          <p:cNvPr id="2" name="Rectangle 2">
            <a:extLst>
              <a:ext uri="{FF2B5EF4-FFF2-40B4-BE49-F238E27FC236}">
                <a16:creationId xmlns:a16="http://schemas.microsoft.com/office/drawing/2014/main" id="{244B807F-0777-EDCA-4770-89DB2E75EDCE}"/>
              </a:ext>
            </a:extLst>
          </p:cNvPr>
          <p:cNvSpPr>
            <a:spLocks noChangeArrowheads="1"/>
          </p:cNvSpPr>
          <p:nvPr/>
        </p:nvSpPr>
        <p:spPr bwMode="auto">
          <a:xfrm>
            <a:off x="990600" y="390944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1" descr="Lightbox">
            <a:extLst>
              <a:ext uri="{FF2B5EF4-FFF2-40B4-BE49-F238E27FC236}">
                <a16:creationId xmlns:a16="http://schemas.microsoft.com/office/drawing/2014/main" id="{007130BB-BECF-3377-D22C-2905E5C45E4C}"/>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990600" y="3726435"/>
            <a:ext cx="6642100" cy="21515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2"/>
          <p:cNvSpPr txBox="1">
            <a:spLocks noGrp="1"/>
          </p:cNvSpPr>
          <p:nvPr>
            <p:ph type="body" idx="1"/>
          </p:nvPr>
        </p:nvSpPr>
        <p:spPr>
          <a:xfrm>
            <a:off x="148590" y="1447800"/>
            <a:ext cx="8843010" cy="1981200"/>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a networked collection of virtual servers that have operating systems and other required software installed and are ready for use right away. Typically, they are set up using one of the many accessible templates that the cloud consumer has selected during provisioning. for instance, a cloud user may create a pool of low-tier Ubuntu servers with 2 GB of RAM or a pool of mid-tier Windows servers with 4 GB of RAM.  </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
        <p:nvSpPr>
          <p:cNvPr id="397" name="Google Shape;397;p12"/>
          <p:cNvSpPr txBox="1">
            <a:spLocks noGrp="1"/>
          </p:cNvSpPr>
          <p:nvPr>
            <p:ph type="body" idx="1"/>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lnSpcReduction="10000"/>
          </a:bodyPr>
          <a:lstStyle/>
          <a:p>
            <a:pPr marL="342900" lvl="0" indent="-342900" algn="ctr" rtl="0">
              <a:lnSpc>
                <a:spcPct val="80000"/>
              </a:lnSpc>
              <a:spcBef>
                <a:spcPts val="0"/>
              </a:spcBef>
              <a:spcAft>
                <a:spcPts val="0"/>
              </a:spcAft>
              <a:buClr>
                <a:schemeClr val="dk1"/>
              </a:buClr>
              <a:buSzPts val="1000"/>
              <a:buNone/>
            </a:pPr>
            <a:endParaRPr sz="1000" b="1" i="0" u="none" dirty="0">
              <a:solidFill>
                <a:srgbClr val="C00000"/>
              </a:solidFill>
              <a:latin typeface="Cambria"/>
              <a:ea typeface="Cambria"/>
              <a:cs typeface="Cambria"/>
              <a:sym typeface="Cambria"/>
            </a:endParaRPr>
          </a:p>
          <a:p>
            <a:pPr marL="88900" indent="0" algn="ctr">
              <a:buNone/>
            </a:pPr>
            <a:r>
              <a:rPr lang="en-IN" sz="2800" b="0" i="0" u="none" strike="noStrike" dirty="0">
                <a:solidFill>
                  <a:srgbClr val="455A64"/>
                </a:solidFill>
                <a:effectLst/>
                <a:latin typeface="Poppins" pitchFamily="2" charset="77"/>
              </a:rPr>
              <a:t>Virtual Server Pools</a:t>
            </a:r>
          </a:p>
          <a:p>
            <a:pPr marL="342900" lvl="0" indent="-184150" algn="l" rtl="0">
              <a:spcBef>
                <a:spcPts val="500"/>
              </a:spcBef>
              <a:spcAft>
                <a:spcPts val="0"/>
              </a:spcAft>
              <a:buClr>
                <a:schemeClr val="dk1"/>
              </a:buClr>
              <a:buSzPts val="2500"/>
              <a:buNone/>
            </a:pPr>
            <a:endParaRPr sz="25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15898280-3FE4-614E-6535-C9C6F893AAC5}"/>
              </a:ext>
            </a:extLst>
          </p:cNvPr>
          <p:cNvSpPr>
            <a:spLocks noChangeArrowheads="1"/>
          </p:cNvSpPr>
          <p:nvPr/>
        </p:nvSpPr>
        <p:spPr bwMode="auto">
          <a:xfrm>
            <a:off x="982979" y="3817620"/>
            <a:ext cx="1041681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073" name="Picture 1" descr="Lightbox">
            <a:extLst>
              <a:ext uri="{FF2B5EF4-FFF2-40B4-BE49-F238E27FC236}">
                <a16:creationId xmlns:a16="http://schemas.microsoft.com/office/drawing/2014/main" id="{1CD3878E-05CF-BCDA-C424-E798E1BF6A7B}"/>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982980" y="3817620"/>
            <a:ext cx="7566660" cy="24307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219200"/>
            <a:ext cx="8839200" cy="2209800"/>
          </a:xfrm>
          <a:prstGeom prst="rect">
            <a:avLst/>
          </a:prstGeom>
          <a:noFill/>
          <a:ln>
            <a:noFill/>
          </a:ln>
        </p:spPr>
        <p:txBody>
          <a:bodyPr spcFirstLastPara="1" wrap="square" lIns="91425" tIns="45700" rIns="91425" bIns="45700" anchor="t" anchorCtr="0">
            <a:normAutofit fontScale="85000" lnSpcReduction="10000"/>
          </a:bodyPr>
          <a:lstStyle/>
          <a:p>
            <a:pPr algn="l"/>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a collection of block- or file-based storage structures that house both empty and/or populated cloud storage devices. One of the crucial elements required for enhancing performance, data management, and protection is storage resources. Users and apps often access it, and it’s required to satisfy expanding requirements, keep backups, migrate data, etc.</a:t>
            </a:r>
          </a:p>
          <a:p>
            <a:pPr algn="l"/>
            <a:r>
              <a:rPr lang="en-IN" sz="2000" b="0" i="0" u="none" strike="noStrike" dirty="0">
                <a:solidFill>
                  <a:srgbClr val="1D2125"/>
                </a:solidFill>
                <a:effectLst/>
                <a:latin typeface="Times New Roman" panose="02020603050405020304" pitchFamily="18" charset="0"/>
                <a:cs typeface="Times New Roman" panose="02020603050405020304" pitchFamily="18" charset="0"/>
              </a:rPr>
              <a:t>Storage pools, which are accessible to users in virtualized mode, are made up of file-based, block-based, or object-based storage made up of storage devices like discs or tapes.</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400" b="0" i="0" u="none" strike="noStrike" dirty="0">
                <a:solidFill>
                  <a:srgbClr val="455A64"/>
                </a:solidFill>
                <a:effectLst/>
                <a:latin typeface="Poppins" pitchFamily="2" charset="77"/>
              </a:rPr>
              <a:t>Cloud Storage Device Pools</a:t>
            </a:r>
          </a:p>
          <a:p>
            <a:pPr marL="342900" lvl="0" indent="-203200" algn="l" rtl="0">
              <a:spcBef>
                <a:spcPts val="440"/>
              </a:spcBef>
              <a:spcAft>
                <a:spcPts val="0"/>
              </a:spcAft>
              <a:buClr>
                <a:schemeClr val="dk1"/>
              </a:buClr>
              <a:buSzPts val="2200"/>
              <a:buNone/>
            </a:pPr>
            <a:endParaRPr sz="2200" b="1" i="0" u="none" dirty="0">
              <a:solidFill>
                <a:srgbClr val="C00000"/>
              </a:solidFill>
              <a:latin typeface="Cambria"/>
              <a:ea typeface="Cambria"/>
              <a:cs typeface="Cambria"/>
              <a:sym typeface="Cambria"/>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descr="Lightbox">
            <a:extLst>
              <a:ext uri="{FF2B5EF4-FFF2-40B4-BE49-F238E27FC236}">
                <a16:creationId xmlns:a16="http://schemas.microsoft.com/office/drawing/2014/main" id="{FC0F78A5-FB72-226E-84E7-1DE1B0AB07E7}"/>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582930" y="3211829"/>
            <a:ext cx="8023860" cy="28346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781445"/>
            <a:ext cx="7086600" cy="443711"/>
          </a:xfrm>
          <a:prstGeom prst="rect">
            <a:avLst/>
          </a:prstGeom>
          <a:noFill/>
          <a:ln>
            <a:noFill/>
          </a:ln>
        </p:spPr>
        <p:txBody>
          <a:bodyPr spcFirstLastPara="1" wrap="square" lIns="0" tIns="12700" rIns="0" bIns="0" anchor="ctr" anchorCtr="0">
            <a:spAutoFit/>
          </a:bodyPr>
          <a:lstStyle/>
          <a:p>
            <a:r>
              <a:rPr lang="en-IN" sz="2800" b="0" i="0" u="none" strike="noStrike" dirty="0">
                <a:solidFill>
                  <a:srgbClr val="455A64"/>
                </a:solidFill>
                <a:effectLst/>
                <a:latin typeface="Poppins" pitchFamily="2" charset="77"/>
              </a:rPr>
              <a:t>Network Pools (Interconnect Pools)</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a collection of several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preset</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network connectivity devices, such as a virtual firewall device pool or physical network switches, that can be used for load balancing, redundancy connectivity, etc. Through network infrastructure, resources in pools can be linked to one another or to resources in other pools. Switches, routers, gateways, and other networking hardware make up network pools. These physical networking devices are then used to build virtual networks that are provided to clients. These virtual networks can be used by customers to further develop their own networks.</a:t>
            </a:r>
          </a:p>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Data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centers</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typically retain specialized pools of resources of various types. They could also be developed specifically for users or apps. Pool management and organization become more difficult when resources and pools multiply. To meet various resource pooling needs, hierarchical structures can be employed to create parent-child, sibling, or nested pools.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1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r>
              <a:rPr lang="en-IN" sz="2400" b="0" i="0" u="none" strike="noStrike" dirty="0">
                <a:solidFill>
                  <a:srgbClr val="455A64"/>
                </a:solidFill>
                <a:effectLst/>
                <a:latin typeface="Poppins" pitchFamily="2" charset="77"/>
              </a:rPr>
              <a:t>CPU Pools</a:t>
            </a:r>
          </a:p>
        </p:txBody>
      </p:sp>
      <p:sp>
        <p:nvSpPr>
          <p:cNvPr id="416" name="Google Shape;416;p15"/>
          <p:cNvSpPr txBox="1">
            <a:spLocks noGrp="1"/>
          </p:cNvSpPr>
          <p:nvPr>
            <p:ph type="body" idx="1"/>
          </p:nvPr>
        </p:nvSpPr>
        <p:spPr>
          <a:xfrm>
            <a:off x="381000" y="1752600"/>
            <a:ext cx="8534400" cy="4495800"/>
          </a:xfrm>
          <a:prstGeom prst="rect">
            <a:avLst/>
          </a:prstGeom>
          <a:noFill/>
          <a:ln>
            <a:noFill/>
          </a:ln>
        </p:spPr>
        <p:txBody>
          <a:bodyPr spcFirstLastPara="1" wrap="square" lIns="91425" tIns="45700" rIns="91425" bIns="45700" anchor="t" anchorCtr="0">
            <a:normAutofit/>
          </a:bodyPr>
          <a:lstStyle/>
          <a:p>
            <a:pPr algn="just"/>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These are a collection of processing units that are prepared to be assigned to virtual servers and are often divided into separate processing cores. </a:t>
            </a:r>
            <a:r>
              <a:rPr lang="en-IN" sz="2000" b="1" i="0" u="none" strike="noStrike" dirty="0">
                <a:solidFill>
                  <a:srgbClr val="1D2125"/>
                </a:solidFill>
                <a:effectLst/>
                <a:latin typeface="Times New Roman" panose="02020603050405020304" pitchFamily="18" charset="0"/>
                <a:cs typeface="Times New Roman" panose="02020603050405020304" pitchFamily="18" charset="0"/>
              </a:rPr>
              <a:t>img4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Physical server pools can be used to vertically scale physical servers or to provision new physical servers.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Each sort of resource can have a specific pool built for it, and smaller pools can be made up of larger ones, in which case each one becomes a sub-pool.</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Multiple pools may be formed for different cloud users or apps, which might lead to extremely complicated resource pools.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 demonstrated in the image below, a hierarchical structure can be created to create parent, sibling, and nested pools to make it easier to organize various resource pooling requirements. </a:t>
            </a:r>
          </a:p>
          <a:p>
            <a:pPr marL="342900" marR="0" lvl="0" indent="-215900" algn="l" rtl="0">
              <a:spcBef>
                <a:spcPts val="400"/>
              </a:spcBef>
              <a:spcAft>
                <a:spcPts val="0"/>
              </a:spcAft>
              <a:buClr>
                <a:schemeClr val="dk1"/>
              </a:buClr>
              <a:buSzPts val="2000"/>
              <a:buFont typeface="Arial"/>
              <a:buNone/>
            </a:pPr>
            <a:endParaRPr sz="2000" b="0" i="0" u="none" dirty="0">
              <a:solidFill>
                <a:schemeClr val="dk1"/>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749600" y="1080100"/>
            <a:ext cx="8001000" cy="4495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400" b="1" i="0" u="none">
                <a:solidFill>
                  <a:schemeClr val="dk1"/>
                </a:solidFill>
                <a:latin typeface="Cambria"/>
                <a:ea typeface="Cambria"/>
                <a:cs typeface="Cambria"/>
                <a:sym typeface="Cambria"/>
              </a:rPr>
              <a:t>Text books:</a:t>
            </a:r>
            <a:endParaRPr sz="2400" b="0" i="0" u="none">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Buyya, Rajkumar, James Broberg, and Andrzej M. Goscinski, eds. Cloud computing: Principles and paradigms. Vol. 87. John Wiley &amp; Sons, 2010. </a:t>
            </a:r>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Times New Roman"/>
                <a:ea typeface="Times New Roman"/>
                <a:cs typeface="Times New Roman"/>
                <a:sym typeface="Times New Roman"/>
              </a:rPr>
              <a:t>Miller, Michael. Cloud computing: Web-based applications that change the way you work and collaborate online. Que publishing, 2008 </a:t>
            </a:r>
            <a:endParaRPr/>
          </a:p>
          <a:p>
            <a:pPr marL="0" lvl="0" indent="0" algn="l" rtl="0">
              <a:lnSpc>
                <a:spcPct val="100000"/>
              </a:lnSpc>
              <a:spcBef>
                <a:spcPts val="480"/>
              </a:spcBef>
              <a:spcAft>
                <a:spcPts val="0"/>
              </a:spcAft>
              <a:buClr>
                <a:schemeClr val="dk1"/>
              </a:buClr>
              <a:buSzPts val="2400"/>
              <a:buNone/>
            </a:pPr>
            <a:endParaRPr sz="2400" b="1" i="0" u="none">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a:solidFill>
                  <a:schemeClr val="dk1"/>
                </a:solidFill>
                <a:latin typeface="Cambria"/>
                <a:ea typeface="Cambria"/>
                <a:cs typeface="Cambria"/>
                <a:sym typeface="Cambria"/>
              </a:rPr>
              <a:t>Websites:</a:t>
            </a:r>
            <a:endParaRPr sz="2400" b="1" i="0" u="sng">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mbria"/>
                <a:ea typeface="Cambria"/>
                <a:cs typeface="Cambria"/>
                <a:sym typeface="Cambria"/>
              </a:rPr>
              <a:t>   </a:t>
            </a: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a:p>
          <a:p>
            <a:pPr marL="0" lvl="0" indent="-114300" algn="l" rtl="0">
              <a:lnSpc>
                <a:spcPct val="100000"/>
              </a:lnSpc>
              <a:spcBef>
                <a:spcPts val="360"/>
              </a:spcBef>
              <a:spcAft>
                <a:spcPts val="0"/>
              </a:spcAft>
              <a:buClr>
                <a:schemeClr val="dk1"/>
              </a:buClr>
              <a:buSzPts val="1800"/>
              <a:buFont typeface="Arial"/>
              <a:buChar char="•"/>
            </a:pPr>
            <a:r>
              <a:rPr lang="en-US" sz="1800" b="0" i="0" u="sng">
                <a:solidFill>
                  <a:schemeClr val="dk1"/>
                </a:solidFill>
                <a:hlinkClick r:id="rId3">
                  <a:extLst>
                    <a:ext uri="{A12FA001-AC4F-418D-AE19-62706E023703}">
                      <ahyp:hlinkClr xmlns:ahyp="http://schemas.microsoft.com/office/drawing/2018/hyperlinkcolor" val="tx"/>
                    </a:ext>
                  </a:extLst>
                </a:hlinkClick>
              </a:rPr>
              <a:t>https://www.javatpoint.com/cloud-computing-vs-grid-computing</a:t>
            </a:r>
            <a:endParaRPr sz="1800" b="0" i="0" u="none">
              <a:solidFill>
                <a:schemeClr val="dk1"/>
              </a:solidFill>
              <a:latin typeface="Cambria"/>
              <a:ea typeface="Cambria"/>
              <a:cs typeface="Cambria"/>
              <a:sym typeface="Cambria"/>
            </a:endParaRPr>
          </a:p>
          <a:p>
            <a:pPr marL="0" lvl="0" indent="-19050" algn="l" rtl="0">
              <a:lnSpc>
                <a:spcPct val="100000"/>
              </a:lnSpc>
              <a:spcBef>
                <a:spcPts val="400"/>
              </a:spcBef>
              <a:spcAft>
                <a:spcPts val="0"/>
              </a:spcAft>
              <a:buClr>
                <a:srgbClr val="000000"/>
              </a:buClr>
              <a:buSzPts val="300"/>
              <a:buFont typeface="Arial"/>
              <a:buChar char="•"/>
            </a:pPr>
            <a:r>
              <a:rPr lang="en-US" sz="1800" b="0" i="0" u="sng">
                <a:solidFill>
                  <a:schemeClr val="dk1"/>
                </a:solidFill>
                <a:hlinkClick r:id="rId4">
                  <a:extLst>
                    <a:ext uri="{A12FA001-AC4F-418D-AE19-62706E023703}">
                      <ahyp:hlinkClr xmlns:ahyp="http://schemas.microsoft.com/office/drawing/2018/hyperlinkcolor" val="tx"/>
                    </a:ext>
                  </a:extLst>
                </a:hlinkClick>
              </a:rPr>
              <a:t>https://www.eukhost.com/blog/webhosting/what-is-utility-computing/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1278</Words>
  <Application>Microsoft Macintosh PowerPoint</Application>
  <PresentationFormat>On-screen Show (4:3)</PresentationFormat>
  <Paragraphs>67</Paragraphs>
  <Slides>15</Slides>
  <Notes>15</Notes>
  <HiddenSlides>0</HiddenSlides>
  <MMClips>0</MMClips>
  <ScaleCrop>false</ScaleCrop>
  <HeadingPairs>
    <vt:vector size="8" baseType="variant">
      <vt:variant>
        <vt:lpstr>Fonts Used</vt:lpstr>
      </vt:variant>
      <vt:variant>
        <vt:i4>7</vt:i4>
      </vt:variant>
      <vt:variant>
        <vt:lpstr>Theme</vt:lpstr>
      </vt:variant>
      <vt:variant>
        <vt:i4>15</vt:i4>
      </vt:variant>
      <vt:variant>
        <vt:lpstr>Embedded OLE Servers</vt:lpstr>
      </vt:variant>
      <vt:variant>
        <vt:i4>0</vt:i4>
      </vt:variant>
      <vt:variant>
        <vt:lpstr>Slide Titles</vt:lpstr>
      </vt:variant>
      <vt:variant>
        <vt:i4>15</vt:i4>
      </vt:variant>
    </vt:vector>
  </HeadingPairs>
  <TitlesOfParts>
    <vt:vector size="37" baseType="lpstr">
      <vt:lpstr>Times New Roman</vt:lpstr>
      <vt:lpstr>Noto Sans Symbols</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Cloud Computing</vt:lpstr>
      <vt:lpstr>What is Broad Network Access?</vt:lpstr>
      <vt:lpstr>PowerPoint Presentation</vt:lpstr>
      <vt:lpstr>What does Broad Network Access do?</vt:lpstr>
      <vt:lpstr>What does Broad Network Access do?</vt:lpstr>
      <vt:lpstr>PowerPoint Presentation</vt:lpstr>
      <vt:lpstr>Resource Pooling Architecture </vt:lpstr>
      <vt:lpstr>PowerPoint Presentation</vt:lpstr>
      <vt:lpstr>PowerPoint Presentation</vt:lpstr>
      <vt:lpstr>Network Pools (Interconnect Pools)</vt:lpstr>
      <vt:lpstr>CPU Pools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14</cp:revision>
  <dcterms:created xsi:type="dcterms:W3CDTF">2013-12-12T17:34:34Z</dcterms:created>
  <dcterms:modified xsi:type="dcterms:W3CDTF">2024-06-24T08:36:07Z</dcterms:modified>
</cp:coreProperties>
</file>