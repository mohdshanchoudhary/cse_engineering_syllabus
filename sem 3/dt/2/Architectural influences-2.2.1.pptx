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2"/>
  </p:notesMasterIdLst>
  <p:sldIdLst>
    <p:sldId id="256" r:id="rId16"/>
    <p:sldId id="258" r:id="rId17"/>
    <p:sldId id="259" r:id="rId18"/>
    <p:sldId id="268" r:id="rId19"/>
    <p:sldId id="269" r:id="rId20"/>
    <p:sldId id="270" r:id="rId21"/>
    <p:sldId id="279" r:id="rId22"/>
    <p:sldId id="280" r:id="rId23"/>
    <p:sldId id="281" r:id="rId24"/>
    <p:sldId id="282" r:id="rId25"/>
    <p:sldId id="283" r:id="rId26"/>
    <p:sldId id="284" r:id="rId27"/>
    <p:sldId id="285" r:id="rId28"/>
    <p:sldId id="286" r:id="rId29"/>
    <p:sldId id="277" r:id="rId30"/>
    <p:sldId id="278" r:id="rId31"/>
  </p:sldIdLst>
  <p:sldSz cx="9144000" cy="6858000" type="screen4x3"/>
  <p:notesSz cx="6858000" cy="9144000"/>
  <p:embeddedFontLst>
    <p:embeddedFont>
      <p:font typeface="Arial Black" panose="020B0604020202020204" pitchFamily="34" charset="0"/>
      <p:regular r:id="rId33"/>
      <p:bold r:id="rId34"/>
    </p:embeddedFont>
    <p:embeddedFont>
      <p:font typeface="Cambria" panose="02040503050406030204" pitchFamily="18" charset="0"/>
      <p:regular r:id="rId35"/>
      <p:bold r:id="rId36"/>
      <p:italic r:id="rId37"/>
      <p:boldItalic r:id="rId38"/>
    </p:embeddedFont>
    <p:embeddedFont>
      <p:font typeface="Poppins" pitchFamily="2" charset="77"/>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60"/>
    <p:restoredTop sz="94541"/>
  </p:normalViewPr>
  <p:slideViewPr>
    <p:cSldViewPr snapToGrid="0">
      <p:cViewPr varScale="1">
        <p:scale>
          <a:sx n="112" d="100"/>
          <a:sy n="112" d="100"/>
        </p:scale>
        <p:origin x="656" y="19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7.fntdata"/><Relationship Id="rId21" Type="http://schemas.openxmlformats.org/officeDocument/2006/relationships/slide" Target="slides/slide6.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4.fntdata"/><Relationship Id="rId49"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font" Target="fonts/font3.fntdata"/><Relationship Id="rId48"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font" Target="fonts/font1.fntdata"/><Relationship Id="rId38" Type="http://schemas.openxmlformats.org/officeDocument/2006/relationships/font" Target="fonts/font6.fntdata"/><Relationship Id="rId46" Type="http://customschemas.google.com/relationships/presentationmetadata" Target="metadata"/><Relationship Id="rId20" Type="http://schemas.openxmlformats.org/officeDocument/2006/relationships/slide" Target="slides/slide5.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javatpoint.com/cloud-computing-vs-grid-computin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eukhost.com/blog/webhosting/what-is-utility-computing/"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Topic: cloud computing </a:t>
            </a:r>
            <a:endParaRPr/>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sz="4400" b="1" i="0" u="none" strike="noStrike" cap="none">
                <a:solidFill>
                  <a:srgbClr val="FF0000"/>
                </a:solidFill>
                <a:latin typeface="Times New Roman"/>
                <a:ea typeface="Times New Roman"/>
                <a:cs typeface="Times New Roman"/>
                <a:sym typeface="Times New Roman"/>
              </a:rPr>
              <a:t>Cloud Computing</a:t>
            </a:r>
            <a:endParaRPr sz="44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219199"/>
            <a:ext cx="8839200" cy="5012257"/>
          </a:xfrm>
          <a:prstGeom prst="rect">
            <a:avLst/>
          </a:prstGeom>
          <a:noFill/>
          <a:ln>
            <a:noFill/>
          </a:ln>
        </p:spPr>
        <p:txBody>
          <a:bodyPr spcFirstLastPara="1" wrap="square" lIns="91425" tIns="45700" rIns="91425" bIns="45700" anchor="t" anchorCtr="0">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HPC can be performed on-premises with dedicated equipment, in the cloud, or a hybrid of each. HPC in the cloud offers the benefit of flexibility and scalability without having to purchase and maintain expensive dedicated supercomputers. HPC in the cloud provides all the necessary infrastructure needed to perform large, complex tasks such as data storage, networking solutions, specialized compute resources, security, and artificial intelligence applications. Workloads can be performed on demand, which means that organizations can save money on equipment and time on computing cycles, only using the resources they need, when they need them. </a:t>
            </a:r>
          </a:p>
          <a:p>
            <a:pPr marL="88900" indent="0">
              <a:buNone/>
            </a:pPr>
            <a:br>
              <a:rPr lang="en-IN" sz="1600" dirty="0"/>
            </a:b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000" b="1" i="0" u="none" strike="noStrike" dirty="0">
                <a:solidFill>
                  <a:srgbClr val="1D2125"/>
                </a:solidFill>
                <a:effectLst/>
                <a:latin typeface="Poppins" pitchFamily="2" charset="77"/>
              </a:rPr>
              <a:t>High performance computing HPC in the cloud</a:t>
            </a:r>
            <a:endParaRPr lang="en-IN" sz="2000" b="0" i="0" u="none" strike="noStrike" dirty="0">
              <a:solidFill>
                <a:srgbClr val="1D2125"/>
              </a:solidFill>
              <a:effectLst/>
              <a:latin typeface="Poppins" pitchFamily="2" charset="77"/>
            </a:endParaRPr>
          </a:p>
          <a:p>
            <a:pPr marL="88900" indent="0">
              <a:buNone/>
            </a:pPr>
            <a:endParaRPr sz="2200" b="1" i="0" u="none" dirty="0">
              <a:solidFill>
                <a:srgbClr val="C00000"/>
              </a:solidFill>
              <a:latin typeface="Cambria"/>
              <a:ea typeface="Cambria"/>
              <a:cs typeface="Cambria"/>
              <a:sym typeface="Cambria"/>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627557"/>
            <a:ext cx="7848600" cy="751488"/>
          </a:xfrm>
          <a:prstGeom prst="rect">
            <a:avLst/>
          </a:prstGeom>
          <a:noFill/>
          <a:ln>
            <a:noFill/>
          </a:ln>
        </p:spPr>
        <p:txBody>
          <a:bodyPr spcFirstLastPara="1" wrap="square" lIns="0" tIns="12700" rIns="0" bIns="0" anchor="ctr" anchorCtr="0">
            <a:spAutoFit/>
          </a:bodyPr>
          <a:lstStyle/>
          <a:p>
            <a:pPr algn="l"/>
            <a:r>
              <a:rPr lang="en-IN" b="0" i="0" u="none" strike="noStrike" dirty="0">
                <a:solidFill>
                  <a:srgbClr val="1D2125"/>
                </a:solidFill>
                <a:effectLst/>
                <a:latin typeface="Times New Roman" panose="02020603050405020304" pitchFamily="18" charset="0"/>
                <a:cs typeface="Times New Roman" panose="02020603050405020304" pitchFamily="18" charset="0"/>
              </a:rPr>
              <a:t>Some common considerations when choosing to run HPC in the cloud include:</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fontScale="85000" lnSpcReduction="20000"/>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Latency and bandwidth:</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With the amount of data running in HPC workloads, cloud providers need to provide robust networking capabilities (&gt;100 GB/s) with low latency.</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Performance: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HPC in the cloud works best with providers that constantly update systems to optimize performance, especially in computer processors, storage solutions, and networking capabilities.</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Sustainability:</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HPC is a resource intensive form of computing, requiring much more electricity than normal workloads. On-premises high performance computers can cost millions of dollars a year in energy. Public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cloudsthat</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prioritize renewable energy—such as Google Cloud—can mitigate the energy impacts of HPC.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Storage: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Given the size of most HPC tasks, scalable data storage is an important consideration when running HPC workloads. Cloud providers that can easily store and manage large amounts of data (such as through Cloud Storage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Filestore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High Scale, or DDN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EXAScaler</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have an advantage in HPC.</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Security:</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 cloud provider with a privately managed global infrastructure ensures that data and applications are the least exposed to the public internet. Virtual private cloud (VPC) networks enable connectivity between nodes and can configure firewalls for HPC applications. Confidential Computing features allow encryption in use, as well as encryption at rest and in flight.</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381000" y="1422400"/>
            <a:ext cx="8534400" cy="4826000"/>
          </a:xfrm>
          <a:prstGeom prst="rect">
            <a:avLst/>
          </a:prstGeom>
          <a:noFill/>
          <a:ln>
            <a:noFill/>
          </a:ln>
        </p:spPr>
        <p:txBody>
          <a:bodyPr spcFirstLastPara="1" wrap="square" lIns="91425" tIns="45700" rIns="91425" bIns="45700" anchor="t" anchorCtr="0">
            <a:normAutofit fontScale="77500" lnSpcReduction="20000"/>
          </a:bodyPr>
          <a:lstStyle/>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Speed and </a:t>
            </a:r>
            <a:r>
              <a:rPr lang="en-IN" sz="1900" b="1" i="0" u="none" strike="noStrike" dirty="0" err="1">
                <a:solidFill>
                  <a:srgbClr val="1D2125"/>
                </a:solidFill>
                <a:effectLst/>
                <a:latin typeface="Times New Roman" panose="02020603050405020304" pitchFamily="18" charset="0"/>
                <a:cs typeface="Times New Roman" panose="02020603050405020304" pitchFamily="18" charset="0"/>
              </a:rPr>
              <a:t>performance:</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High</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performance computing can process data and tasks much faster than a single server or computer. Tasks that could take weeks or months on a regular computing system can take hours in HPC.</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Flexibility and </a:t>
            </a:r>
            <a:r>
              <a:rPr lang="en-IN" sz="1900" b="1" i="0" u="none" strike="noStrike" dirty="0" err="1">
                <a:solidFill>
                  <a:srgbClr val="1D2125"/>
                </a:solidFill>
                <a:effectLst/>
                <a:latin typeface="Times New Roman" panose="02020603050405020304" pitchFamily="18" charset="0"/>
                <a:cs typeface="Times New Roman" panose="02020603050405020304" pitchFamily="18" charset="0"/>
              </a:rPr>
              <a:t>efficiency:</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With</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HPC in the cloud, workloads can be scaled up or down depending on need. With a robust internet connection, HPC can be accessed from anywhere on the globe. </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Cost </a:t>
            </a:r>
            <a:r>
              <a:rPr lang="en-IN" sz="1900" b="1" i="0" u="none" strike="noStrike" dirty="0" err="1">
                <a:solidFill>
                  <a:srgbClr val="1D2125"/>
                </a:solidFill>
                <a:effectLst/>
                <a:latin typeface="Times New Roman" panose="02020603050405020304" pitchFamily="18" charset="0"/>
                <a:cs typeface="Times New Roman" panose="02020603050405020304" pitchFamily="18" charset="0"/>
              </a:rPr>
              <a:t>savings:</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Because</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of the speed, flexibility, and efficiency of HPC in the cloud, organizations can save time and money on computing resources and </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labor</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hours.</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Fault </a:t>
            </a:r>
            <a:r>
              <a:rPr lang="en-IN" sz="1900" b="1" i="0" u="none" strike="noStrike" dirty="0" err="1">
                <a:solidFill>
                  <a:srgbClr val="1D2125"/>
                </a:solidFill>
                <a:effectLst/>
                <a:latin typeface="Times New Roman" panose="02020603050405020304" pitchFamily="18" charset="0"/>
                <a:cs typeface="Times New Roman" panose="02020603050405020304" pitchFamily="18" charset="0"/>
              </a:rPr>
              <a:t>tolerance:</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If</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one node of an HPC cluster fails, the system is resilient enough that the rest of the system does not come crashing down. Given the large and complex tasks performed by HPC, fault tolerance is a big advantage. </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Accelerated R&amp;D:</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HPC provides an advantage to companies performing research and development by speeding up the results of data-intensive projects, such as pharmaceutical </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modeling</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designing new machines and parts, or simulating experiments to reduce physical testing.</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Initial </a:t>
            </a:r>
            <a:r>
              <a:rPr lang="en-IN" sz="1900" b="1" i="0" u="none" strike="noStrike" dirty="0" err="1">
                <a:solidFill>
                  <a:srgbClr val="1D2125"/>
                </a:solidFill>
                <a:effectLst/>
                <a:latin typeface="Times New Roman" panose="02020603050405020304" pitchFamily="18" charset="0"/>
                <a:cs typeface="Times New Roman" panose="02020603050405020304" pitchFamily="18" charset="0"/>
              </a:rPr>
              <a:t>cost:</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On-premises</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HPC clusters and supercomputers have high initial costs. On-premises HPC would be out of reach for most organizations after factoring in the cost of equipment, </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labor</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software, and configuration.</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Energy </a:t>
            </a:r>
            <a:r>
              <a:rPr lang="en-IN" sz="1900" b="1" i="0" u="none" strike="noStrike" dirty="0" err="1">
                <a:solidFill>
                  <a:srgbClr val="1D2125"/>
                </a:solidFill>
                <a:effectLst/>
                <a:latin typeface="Times New Roman" panose="02020603050405020304" pitchFamily="18" charset="0"/>
                <a:cs typeface="Times New Roman" panose="02020603050405020304" pitchFamily="18" charset="0"/>
              </a:rPr>
              <a:t>consumption:</a:t>
            </a:r>
            <a:r>
              <a:rPr lang="en-IN" sz="1900" b="0" i="0" u="none" strike="noStrike" dirty="0" err="1">
                <a:solidFill>
                  <a:srgbClr val="1D2125"/>
                </a:solidFill>
                <a:effectLst/>
                <a:latin typeface="Times New Roman" panose="02020603050405020304" pitchFamily="18" charset="0"/>
                <a:cs typeface="Times New Roman" panose="02020603050405020304" pitchFamily="18" charset="0"/>
              </a:rPr>
              <a:t>The</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 energy costs of on-premises supercomputer installations can be large. For environmentally and cost conscious companies, HPC energy consumption can be sustainable by running HPC on the world’s cleanest cloud. </a:t>
            </a:r>
          </a:p>
          <a:p>
            <a:pPr algn="just"/>
            <a:r>
              <a:rPr lang="en-IN" sz="1900" b="1" i="0" u="none" strike="noStrike" dirty="0">
                <a:solidFill>
                  <a:srgbClr val="1D2125"/>
                </a:solidFill>
                <a:effectLst/>
                <a:latin typeface="Times New Roman" panose="02020603050405020304" pitchFamily="18" charset="0"/>
                <a:cs typeface="Times New Roman" panose="02020603050405020304" pitchFamily="18" charset="0"/>
              </a:rPr>
              <a:t>Maintenance :</a:t>
            </a:r>
            <a:r>
              <a:rPr lang="en-IN" sz="1900" b="0" i="0" u="none" strike="noStrike" dirty="0">
                <a:solidFill>
                  <a:srgbClr val="1D2125"/>
                </a:solidFill>
                <a:effectLst/>
                <a:latin typeface="Times New Roman" panose="02020603050405020304" pitchFamily="18" charset="0"/>
                <a:cs typeface="Times New Roman" panose="02020603050405020304" pitchFamily="18" charset="0"/>
              </a:rPr>
              <a:t>HPC runs best when on the latest generation of hardware and optimized software. Keeping an on-premises HPC cluster or supercomputer up to date to ensure optimal performance can quickly become a large and ongoing expense.</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
        <p:nvSpPr>
          <p:cNvPr id="2" name="TextBox 1">
            <a:extLst>
              <a:ext uri="{FF2B5EF4-FFF2-40B4-BE49-F238E27FC236}">
                <a16:creationId xmlns:a16="http://schemas.microsoft.com/office/drawing/2014/main" id="{C459B39F-4A70-72FA-8395-0BE174608CCD}"/>
              </a:ext>
            </a:extLst>
          </p:cNvPr>
          <p:cNvSpPr txBox="1"/>
          <p:nvPr/>
        </p:nvSpPr>
        <p:spPr>
          <a:xfrm>
            <a:off x="3589020" y="788670"/>
            <a:ext cx="2677336" cy="307777"/>
          </a:xfrm>
          <a:prstGeom prst="rect">
            <a:avLst/>
          </a:prstGeom>
          <a:noFill/>
        </p:spPr>
        <p:txBody>
          <a:bodyPr wrap="none" rtlCol="0">
            <a:spAutoFit/>
          </a:bodyPr>
          <a:lstStyle/>
          <a:p>
            <a:pPr algn="l"/>
            <a:r>
              <a:rPr lang="en-IN" sz="1400" b="1" i="0" u="none" strike="noStrike" dirty="0">
                <a:solidFill>
                  <a:srgbClr val="1D2125"/>
                </a:solidFill>
                <a:effectLst/>
                <a:latin typeface="Poppins" pitchFamily="2" charset="77"/>
              </a:rPr>
              <a:t>Benefits of HPC in the cloud</a:t>
            </a:r>
            <a:endParaRPr lang="en-IN" sz="1400" b="0" i="0" u="none" strike="noStrike" dirty="0">
              <a:solidFill>
                <a:srgbClr val="1D2125"/>
              </a:solidFill>
              <a:effectLst/>
              <a:latin typeface="Poppins" pitchFamily="2"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1" i="0" u="none" strike="noStrike" dirty="0">
                <a:solidFill>
                  <a:srgbClr val="455A64"/>
                </a:solidFill>
                <a:effectLst/>
                <a:latin typeface="Poppins" pitchFamily="2" charset="77"/>
              </a:rPr>
              <a:t>Utility Computing?</a:t>
            </a: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Utility computing is a service model where computing resources are provided on demand, similar to how you pay for electricity or water. Instead of buying and maintaining your own servers or storage, you rent them from a service provider. You pay only for what you use, which can lead to cost savings. This model makes it easier to scale up or down as your needs change.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Utility computing works on a “pay-as-you-go” model. Below is a comprehensive explanation of how utility computing in cloud computing operates:</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Service Providers: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Companies that offer utility computing services maintain vast data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with servers, storage, and networking capabilities.</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Customer Needs: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Businesses or individual users assess their computing requirements, such as server space, processing power, or storage capacity.</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On-Demand Access: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Customers can then access these resources online, usually through a web-based interface or application programming interface (API).</a:t>
            </a:r>
          </a:p>
          <a:p>
            <a:endParaRPr lang="en-US" dirty="0"/>
          </a:p>
        </p:txBody>
      </p:sp>
    </p:spTree>
    <p:extLst>
      <p:ext uri="{BB962C8B-B14F-4D97-AF65-F5344CB8AC3E}">
        <p14:creationId xmlns:p14="http://schemas.microsoft.com/office/powerpoint/2010/main" val="30143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Resource Allocation:</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The utility computing provider dynamically allocates resources based on the customer’s needs. This can happen almost instantly, making it easy to scale up or down.</a:t>
            </a:r>
          </a:p>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Usage Monitoring:</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The provider tracks the resources you use, often in real time. This could be measured in data storage, processing power, bandwidth, or a combination.</a:t>
            </a:r>
          </a:p>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Billing:</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At the end of a billing cycle, the customer is charged based on their actual usage. This avoids the cost of purchasing and maintaining in-house hardware.</a:t>
            </a:r>
          </a:p>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Flexibility:</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As your needs change, you can easily adjust your usage, adding more resources during peak times or scaling down when less is needed.</a:t>
            </a:r>
          </a:p>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Maintenance:</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The service provider takes care of all the backend maintenance tasks, such as software updates, security patches, and hardware upkeep, freeing you to focus on your core business.</a:t>
            </a:r>
          </a:p>
          <a:p>
            <a:endParaRPr lang="en-US" dirty="0"/>
          </a:p>
        </p:txBody>
      </p:sp>
    </p:spTree>
    <p:extLst>
      <p:ext uri="{BB962C8B-B14F-4D97-AF65-F5344CB8AC3E}">
        <p14:creationId xmlns:p14="http://schemas.microsoft.com/office/powerpoint/2010/main" val="167302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r>
              <a:rPr lang="en-US" b="1" i="0" u="none" strike="noStrike" dirty="0">
                <a:solidFill>
                  <a:srgbClr val="1D2125"/>
                </a:solidFill>
                <a:effectLst/>
                <a:latin typeface="Poppins" pitchFamily="2" charset="77"/>
              </a:rPr>
              <a:t>Benefits of Utility Computing in Cloud Computing</a:t>
            </a: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fontScale="70000" lnSpcReduction="20000"/>
          </a:bodyPr>
          <a:lstStyle/>
          <a:p>
            <a:pPr algn="just"/>
            <a:r>
              <a:rPr lang="en-US" sz="2600" b="0" i="0" u="none" strike="noStrike" dirty="0">
                <a:solidFill>
                  <a:srgbClr val="1D2125"/>
                </a:solidFill>
                <a:effectLst/>
                <a:latin typeface="Times New Roman" panose="02020603050405020304" pitchFamily="18" charset="0"/>
                <a:cs typeface="Times New Roman" panose="02020603050405020304" pitchFamily="18" charset="0"/>
              </a:rPr>
              <a:t>Utility computing is a computing paradigm that offers numerous benefits, revolutionizing the way businesses and individuals approach IT infrastructure and services. This model, often associated with cloud computing, provides a pay-as-you-go approach to computing resources and has gained popularity for several reasons.</a:t>
            </a:r>
          </a:p>
          <a:p>
            <a:pPr algn="just"/>
            <a:r>
              <a:rPr lang="en-US" sz="2600" b="1" i="0" u="none" strike="noStrike" dirty="0">
                <a:solidFill>
                  <a:srgbClr val="1D2125"/>
                </a:solidFill>
                <a:effectLst/>
                <a:latin typeface="Times New Roman" panose="02020603050405020304" pitchFamily="18" charset="0"/>
                <a:cs typeface="Times New Roman" panose="02020603050405020304" pitchFamily="18" charset="0"/>
              </a:rPr>
              <a:t>Below, we have highlighted some of the benefits of utility computing in cloud computing:</a:t>
            </a:r>
            <a:endParaRPr lang="en-US" sz="26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r>
              <a:rPr lang="en-US" sz="2600" b="1" i="0" u="none" strike="noStrike" dirty="0">
                <a:solidFill>
                  <a:srgbClr val="1D2125"/>
                </a:solidFill>
                <a:effectLst/>
                <a:latin typeface="Times New Roman" panose="02020603050405020304" pitchFamily="18" charset="0"/>
                <a:cs typeface="Times New Roman" panose="02020603050405020304" pitchFamily="18" charset="0"/>
              </a:rPr>
              <a:t>Cost Efficiency:</a:t>
            </a:r>
            <a:r>
              <a:rPr lang="en-US" sz="2600" b="0" i="0" u="none" strike="noStrike" dirty="0">
                <a:solidFill>
                  <a:srgbClr val="1D2125"/>
                </a:solidFill>
                <a:effectLst/>
                <a:latin typeface="Times New Roman" panose="02020603050405020304" pitchFamily="18" charset="0"/>
                <a:cs typeface="Times New Roman" panose="02020603050405020304" pitchFamily="18" charset="0"/>
              </a:rPr>
              <a:t> Utility computing allows users to pay only for the computing resources they actually use. This removes the necessity for large upfront investments in hardware and infrastructure, reducing capital expenses. Operating costs are optimized as users can scale resources up or down as needed, avoiding over-provisioning.</a:t>
            </a:r>
          </a:p>
          <a:p>
            <a:pPr algn="just"/>
            <a:r>
              <a:rPr lang="en-US" sz="2600" b="1" i="0" u="none" strike="noStrike" dirty="0">
                <a:solidFill>
                  <a:srgbClr val="1D2125"/>
                </a:solidFill>
                <a:effectLst/>
                <a:latin typeface="Times New Roman" panose="02020603050405020304" pitchFamily="18" charset="0"/>
                <a:cs typeface="Times New Roman" panose="02020603050405020304" pitchFamily="18" charset="0"/>
              </a:rPr>
              <a:t>Scalability:</a:t>
            </a:r>
            <a:r>
              <a:rPr lang="en-US" sz="2600" b="0" i="0" u="none" strike="noStrike" dirty="0">
                <a:solidFill>
                  <a:srgbClr val="1D2125"/>
                </a:solidFill>
                <a:effectLst/>
                <a:latin typeface="Times New Roman" panose="02020603050405020304" pitchFamily="18" charset="0"/>
                <a:cs typeface="Times New Roman" panose="02020603050405020304" pitchFamily="18" charset="0"/>
              </a:rPr>
              <a:t> Utility computing offers unparalleled scalability. Businesses can easily adapt to changing demands by adding or reducing resources on the fly. This flexibility ensures that systems can handle increased workloads during peak periods without the need for significant manual intervention.</a:t>
            </a:r>
          </a:p>
          <a:p>
            <a:br>
              <a:rPr lang="en-IN" dirty="0"/>
            </a:br>
            <a:endParaRPr lang="en-US" dirty="0"/>
          </a:p>
        </p:txBody>
      </p:sp>
    </p:spTree>
    <p:extLst>
      <p:ext uri="{BB962C8B-B14F-4D97-AF65-F5344CB8AC3E}">
        <p14:creationId xmlns:p14="http://schemas.microsoft.com/office/powerpoint/2010/main" val="111814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r>
              <a:rPr lang="en-US" b="1" i="0" u="none" strike="noStrike" dirty="0">
                <a:solidFill>
                  <a:srgbClr val="1D2125"/>
                </a:solidFill>
                <a:effectLst/>
                <a:latin typeface="Poppins" pitchFamily="2" charset="77"/>
              </a:rPr>
              <a:t>Benefits of Utility Computing in Cloud Computing</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fontScale="85000" lnSpcReduction="20000"/>
          </a:bodyPr>
          <a:lstStyle/>
          <a:p>
            <a:pPr algn="just"/>
            <a:r>
              <a:rPr lang="en-US" sz="1900" b="1" i="0" u="none" strike="noStrike" dirty="0">
                <a:solidFill>
                  <a:srgbClr val="1D2125"/>
                </a:solidFill>
                <a:effectLst/>
                <a:latin typeface="Times New Roman" panose="02020603050405020304" pitchFamily="18" charset="0"/>
                <a:cs typeface="Times New Roman" panose="02020603050405020304" pitchFamily="18" charset="0"/>
              </a:rPr>
              <a:t>Accessibility and Convenience:</a:t>
            </a:r>
            <a:r>
              <a:rPr lang="en-US" sz="1900" b="0" i="0" u="none" strike="noStrike" dirty="0">
                <a:solidFill>
                  <a:srgbClr val="1D2125"/>
                </a:solidFill>
                <a:effectLst/>
                <a:latin typeface="Times New Roman" panose="02020603050405020304" pitchFamily="18" charset="0"/>
                <a:cs typeface="Times New Roman" panose="02020603050405020304" pitchFamily="18" charset="0"/>
              </a:rPr>
              <a:t> With utility computing, resources and applications are accessible from virtually anywhere with internet connectivity. This accessibility facilitates remote work, collaboration, and disaster recovery planning. It ensures that critical data and applications are always within reach.</a:t>
            </a:r>
          </a:p>
          <a:p>
            <a:pPr algn="just"/>
            <a:r>
              <a:rPr lang="en-US" sz="1900" b="1" i="0" u="none" strike="noStrike" dirty="0">
                <a:solidFill>
                  <a:srgbClr val="1D2125"/>
                </a:solidFill>
                <a:effectLst/>
                <a:latin typeface="Times New Roman" panose="02020603050405020304" pitchFamily="18" charset="0"/>
                <a:cs typeface="Times New Roman" panose="02020603050405020304" pitchFamily="18" charset="0"/>
              </a:rPr>
              <a:t>Reliability and Redundancy:</a:t>
            </a:r>
            <a:r>
              <a:rPr lang="en-US" sz="1900" b="0" i="0" u="none" strike="noStrike" dirty="0">
                <a:solidFill>
                  <a:srgbClr val="1D2125"/>
                </a:solidFill>
                <a:effectLst/>
                <a:latin typeface="Times New Roman" panose="02020603050405020304" pitchFamily="18" charset="0"/>
                <a:cs typeface="Times New Roman" panose="02020603050405020304" pitchFamily="18" charset="0"/>
              </a:rPr>
              <a:t> Leading utility computing providers offer high levels of reliability and redundancy. Data is often stored across multiple data centers with robust backup systems. This reduces the risk of data loss and downtime due to hardware failures.</a:t>
            </a:r>
          </a:p>
          <a:p>
            <a:pPr algn="just"/>
            <a:r>
              <a:rPr lang="en-US" sz="1900" b="1" i="0" u="none" strike="noStrike" dirty="0">
                <a:solidFill>
                  <a:srgbClr val="1D2125"/>
                </a:solidFill>
                <a:effectLst/>
                <a:latin typeface="Times New Roman" panose="02020603050405020304" pitchFamily="18" charset="0"/>
                <a:cs typeface="Times New Roman" panose="02020603050405020304" pitchFamily="18" charset="0"/>
              </a:rPr>
              <a:t>Improved Resource Utilization:</a:t>
            </a:r>
            <a:r>
              <a:rPr lang="en-US" sz="1900" b="0" i="0" u="none" strike="noStrike" dirty="0">
                <a:solidFill>
                  <a:srgbClr val="1D2125"/>
                </a:solidFill>
                <a:effectLst/>
                <a:latin typeface="Times New Roman" panose="02020603050405020304" pitchFamily="18" charset="0"/>
                <a:cs typeface="Times New Roman" panose="02020603050405020304" pitchFamily="18" charset="0"/>
              </a:rPr>
              <a:t> Utility computing optimizes resource utilization. Virtualization technology allows for efficient use of physical hardware, reducing idle resources and increasing overall efficiency. This, in turn, benefits both the environment and the bottom line.</a:t>
            </a:r>
          </a:p>
          <a:p>
            <a:pPr algn="just"/>
            <a:r>
              <a:rPr lang="en-US" sz="1900" b="1" i="0" u="none" strike="noStrike" dirty="0">
                <a:solidFill>
                  <a:srgbClr val="1D2125"/>
                </a:solidFill>
                <a:effectLst/>
                <a:latin typeface="Times New Roman" panose="02020603050405020304" pitchFamily="18" charset="0"/>
                <a:cs typeface="Times New Roman" panose="02020603050405020304" pitchFamily="18" charset="0"/>
              </a:rPr>
              <a:t>Rapid Deployment:</a:t>
            </a:r>
            <a:r>
              <a:rPr lang="en-US" sz="1900" b="0" i="0" u="none" strike="noStrike" dirty="0">
                <a:solidFill>
                  <a:srgbClr val="1D2125"/>
                </a:solidFill>
                <a:effectLst/>
                <a:latin typeface="Times New Roman" panose="02020603050405020304" pitchFamily="18" charset="0"/>
                <a:cs typeface="Times New Roman" panose="02020603050405020304" pitchFamily="18" charset="0"/>
              </a:rPr>
              <a:t> Deploying new applications or services is expedited in utility computing environments. Infrastructure and development tools are readily available, reducing the time required to bring new ideas to market.</a:t>
            </a:r>
          </a:p>
          <a:p>
            <a:pPr algn="just"/>
            <a:r>
              <a:rPr lang="en-US" sz="1900" b="1" i="0" u="none" strike="noStrike" dirty="0">
                <a:solidFill>
                  <a:srgbClr val="1D2125"/>
                </a:solidFill>
                <a:effectLst/>
                <a:latin typeface="Times New Roman" panose="02020603050405020304" pitchFamily="18" charset="0"/>
                <a:cs typeface="Times New Roman" panose="02020603050405020304" pitchFamily="18" charset="0"/>
              </a:rPr>
              <a:t>Security:</a:t>
            </a:r>
            <a:r>
              <a:rPr lang="en-US" sz="1900" b="0" i="0" u="none" strike="noStrike" dirty="0">
                <a:solidFill>
                  <a:srgbClr val="1D2125"/>
                </a:solidFill>
                <a:effectLst/>
                <a:latin typeface="Times New Roman" panose="02020603050405020304" pitchFamily="18" charset="0"/>
                <a:cs typeface="Times New Roman" panose="02020603050405020304" pitchFamily="18" charset="0"/>
              </a:rPr>
              <a:t> Leading utility computing providers invest heavily in security measures. They employ advanced encryption, access controls, and monitoring to safeguard user data and applications. These providers often have dedicated security teams offering expertise in protecting against cyber threats.</a:t>
            </a:r>
          </a:p>
          <a:p>
            <a:pPr algn="just"/>
            <a:r>
              <a:rPr lang="en-US" sz="1900" b="1" i="0" u="none" strike="noStrike" dirty="0">
                <a:solidFill>
                  <a:srgbClr val="1D2125"/>
                </a:solidFill>
                <a:effectLst/>
                <a:latin typeface="Times New Roman" panose="02020603050405020304" pitchFamily="18" charset="0"/>
                <a:cs typeface="Times New Roman" panose="02020603050405020304" pitchFamily="18" charset="0"/>
              </a:rPr>
              <a:t>Global Reach:</a:t>
            </a:r>
            <a:r>
              <a:rPr lang="en-US" sz="1900" b="0" i="0" u="none" strike="noStrike" dirty="0">
                <a:solidFill>
                  <a:srgbClr val="1D2125"/>
                </a:solidFill>
                <a:effectLst/>
                <a:latin typeface="Times New Roman" panose="02020603050405020304" pitchFamily="18" charset="0"/>
                <a:cs typeface="Times New Roman" panose="02020603050405020304" pitchFamily="18" charset="0"/>
              </a:rPr>
              <a:t> Utility computing providers have data centers located across the globe. This global reach ensures low-latency access to resources and allows businesses to expand their operations internationally with ease.</a:t>
            </a:r>
          </a:p>
          <a:p>
            <a:endParaRPr lang="en-US" dirty="0"/>
          </a:p>
        </p:txBody>
      </p:sp>
    </p:spTree>
    <p:extLst>
      <p:ext uri="{BB962C8B-B14F-4D97-AF65-F5344CB8AC3E}">
        <p14:creationId xmlns:p14="http://schemas.microsoft.com/office/powerpoint/2010/main" val="3473927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fontScale="92500"/>
          </a:bodyPr>
          <a:lstStyle/>
          <a:p>
            <a:pPr algn="just"/>
            <a:r>
              <a:rPr lang="en-IN" sz="2200" b="1" i="0" u="none" strike="noStrike" dirty="0">
                <a:solidFill>
                  <a:srgbClr val="1D2125"/>
                </a:solidFill>
                <a:effectLst/>
                <a:latin typeface="Times New Roman" panose="02020603050405020304" pitchFamily="18" charset="0"/>
                <a:cs typeface="Times New Roman" panose="02020603050405020304" pitchFamily="18" charset="0"/>
              </a:rPr>
              <a:t>Amazon Web Services (AWS) for Web Hosting:</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 This example illustrates how utility computing can eliminate the need to own and maintain physical servers. AWS provides various services on-demand, allowing you to easily scale resources up or down depending on your website’s traffic.</a:t>
            </a:r>
          </a:p>
          <a:p>
            <a:pPr algn="just"/>
            <a:r>
              <a:rPr lang="en-IN" sz="2200" b="1" i="0" u="none" strike="noStrike" dirty="0">
                <a:solidFill>
                  <a:srgbClr val="1D2125"/>
                </a:solidFill>
                <a:effectLst/>
                <a:latin typeface="Times New Roman" panose="02020603050405020304" pitchFamily="18" charset="0"/>
                <a:cs typeface="Times New Roman" panose="02020603050405020304" pitchFamily="18" charset="0"/>
              </a:rPr>
              <a:t>Microsoft Azure for Machine Learning:</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 Here, in this example, the focus is on specialized computing needs. Azure offers machine learning services that let engineers develop and deploy models without worrying about the underlying hardware or software. This means you can focus solely on the machine learning algorithms and data.</a:t>
            </a:r>
          </a:p>
          <a:p>
            <a:pPr algn="just"/>
            <a:r>
              <a:rPr lang="en-IN" sz="2200" b="1" i="0" u="none" strike="noStrike" dirty="0">
                <a:solidFill>
                  <a:srgbClr val="1D2125"/>
                </a:solidFill>
                <a:effectLst/>
                <a:latin typeface="Times New Roman" panose="02020603050405020304" pitchFamily="18" charset="0"/>
                <a:cs typeface="Times New Roman" panose="02020603050405020304" pitchFamily="18" charset="0"/>
              </a:rPr>
              <a:t>Google Cloud Platform (GCP) for Data Storage and Backup:</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 This example shows the benefits of utility computing for data storage. Just like a ride-sharing service charges you based on the distance you travel, in utility computing, you’re billed according to the computing resources you consume. This makes it a cost-effective solution, especially for businesses that need to maintain large amounts of data but may not need to access it all the time.</a:t>
            </a:r>
          </a:p>
          <a:p>
            <a:endParaRPr lang="en-US" dirty="0"/>
          </a:p>
        </p:txBody>
      </p:sp>
    </p:spTree>
    <p:extLst>
      <p:ext uri="{BB962C8B-B14F-4D97-AF65-F5344CB8AC3E}">
        <p14:creationId xmlns:p14="http://schemas.microsoft.com/office/powerpoint/2010/main" val="3376768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7ECC-8A44-A5F3-0465-72C162AB738E}"/>
              </a:ext>
            </a:extLst>
          </p:cNvPr>
          <p:cNvSpPr>
            <a:spLocks noGrp="1"/>
          </p:cNvSpPr>
          <p:nvPr>
            <p:ph type="title"/>
          </p:nvPr>
        </p:nvSpPr>
        <p:spPr/>
        <p:txBody>
          <a:bodyPr/>
          <a:lstStyle/>
          <a:p>
            <a:r>
              <a:rPr lang="en-US" b="1" i="0" u="none" strike="noStrike" dirty="0">
                <a:solidFill>
                  <a:srgbClr val="1D2125"/>
                </a:solidFill>
                <a:effectLst/>
                <a:latin typeface="Poppins" pitchFamily="2" charset="77"/>
              </a:rPr>
              <a:t>Grid Computing</a:t>
            </a:r>
            <a:r>
              <a:rPr lang="en-US" b="0" i="0" u="none" strike="noStrike" dirty="0">
                <a:solidFill>
                  <a:srgbClr val="1D2125"/>
                </a:solidFill>
                <a:effectLst/>
                <a:latin typeface="Poppins" pitchFamily="2" charset="77"/>
              </a:rPr>
              <a:t> </a:t>
            </a:r>
            <a:endParaRPr lang="en-US" dirty="0"/>
          </a:p>
        </p:txBody>
      </p:sp>
      <p:sp>
        <p:nvSpPr>
          <p:cNvPr id="3" name="Text Placeholder 2">
            <a:extLst>
              <a:ext uri="{FF2B5EF4-FFF2-40B4-BE49-F238E27FC236}">
                <a16:creationId xmlns:a16="http://schemas.microsoft.com/office/drawing/2014/main" id="{3BBBD6DE-0E93-EC50-F66A-C1D397DF623E}"/>
              </a:ext>
            </a:extLst>
          </p:cNvPr>
          <p:cNvSpPr>
            <a:spLocks noGrp="1"/>
          </p:cNvSpPr>
          <p:nvPr>
            <p:ph type="body" idx="1"/>
          </p:nvPr>
        </p:nvSpPr>
        <p:spPr>
          <a:xfrm>
            <a:off x="102870" y="1752600"/>
            <a:ext cx="8812530" cy="4495800"/>
          </a:xfrm>
        </p:spPr>
        <p:txBody>
          <a:bodyPr>
            <a:normAutofit fontScale="92500" lnSpcReduction="20000"/>
          </a:bodyPr>
          <a:lstStyle/>
          <a:p>
            <a:pPr algn="just"/>
            <a:r>
              <a:rPr lang="en-US" b="1" i="0" u="none" strike="noStrike" dirty="0">
                <a:solidFill>
                  <a:srgbClr val="1D2125"/>
                </a:solidFill>
                <a:effectLst/>
                <a:latin typeface="Times New Roman" panose="02020603050405020304" pitchFamily="18" charset="0"/>
                <a:cs typeface="Times New Roman" panose="02020603050405020304" pitchFamily="18" charset="0"/>
              </a:rPr>
              <a:t>Grid Computing</a:t>
            </a:r>
            <a:r>
              <a:rPr lang="en-US" b="0" i="0" u="none" strike="noStrike" dirty="0">
                <a:solidFill>
                  <a:srgbClr val="1D2125"/>
                </a:solidFill>
                <a:effectLst/>
                <a:latin typeface="Times New Roman" panose="02020603050405020304" pitchFamily="18" charset="0"/>
                <a:cs typeface="Times New Roman" panose="02020603050405020304" pitchFamily="18" charset="0"/>
              </a:rPr>
              <a:t> can be defined as a network of computers working together to perform a task that would rather be difficult for a single machine. All machines on that network work under the same protocol to act as a virtual supercomputer. The task that they work on may include analyzing huge datasets or simulating situations that require high computing power. Computers on the network contribute resources like processing power and storage capacity to the network. </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Grid Computing is a subset of distributed computing, where a virtual supercomputer comprises machines on a network connected by some bus, mostly Ethernet or sometimes the Internet. It can also be seen as a form of Parallel Computing where instead of many CPU cores on a single machine, it contains multiple cores spread across various locations. The concept of grid computing isn’t new, but it is not yet perfected as there are no standard rules and protocols established and accepted by people. </a:t>
            </a:r>
          </a:p>
          <a:p>
            <a:endParaRPr lang="en-US" dirty="0"/>
          </a:p>
        </p:txBody>
      </p:sp>
    </p:spTree>
    <p:extLst>
      <p:ext uri="{BB962C8B-B14F-4D97-AF65-F5344CB8AC3E}">
        <p14:creationId xmlns:p14="http://schemas.microsoft.com/office/powerpoint/2010/main" val="3352125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4B57-EB95-0541-597C-C624619FCC61}"/>
              </a:ext>
            </a:extLst>
          </p:cNvPr>
          <p:cNvSpPr>
            <a:spLocks noGrp="1"/>
          </p:cNvSpPr>
          <p:nvPr>
            <p:ph type="title"/>
          </p:nvPr>
        </p:nvSpPr>
        <p:spPr/>
        <p:txBody>
          <a:bodyPr/>
          <a:lstStyle/>
          <a:p>
            <a:r>
              <a:rPr lang="en-US" b="1" i="0" u="none" strike="noStrike" dirty="0">
                <a:solidFill>
                  <a:srgbClr val="1D2125"/>
                </a:solidFill>
                <a:effectLst/>
                <a:latin typeface="Poppins" pitchFamily="2" charset="77"/>
              </a:rPr>
              <a:t>Working:</a:t>
            </a:r>
            <a:r>
              <a:rPr lang="en-US" b="0" i="0" u="none" strike="noStrike" dirty="0">
                <a:solidFill>
                  <a:srgbClr val="1D2125"/>
                </a:solidFill>
                <a:effectLst/>
                <a:latin typeface="Poppins" pitchFamily="2" charset="77"/>
              </a:rPr>
              <a:t> </a:t>
            </a:r>
            <a:endParaRPr lang="en-US" dirty="0"/>
          </a:p>
        </p:txBody>
      </p:sp>
      <p:sp>
        <p:nvSpPr>
          <p:cNvPr id="3" name="Text Placeholder 2">
            <a:extLst>
              <a:ext uri="{FF2B5EF4-FFF2-40B4-BE49-F238E27FC236}">
                <a16:creationId xmlns:a16="http://schemas.microsoft.com/office/drawing/2014/main" id="{4754CCAD-1140-4113-BDFC-B2CD04383254}"/>
              </a:ext>
            </a:extLst>
          </p:cNvPr>
          <p:cNvSpPr>
            <a:spLocks noGrp="1"/>
          </p:cNvSpPr>
          <p:nvPr>
            <p:ph type="body" idx="1"/>
          </p:nvPr>
        </p:nvSpPr>
        <p:spPr>
          <a:xfrm>
            <a:off x="160020" y="1752600"/>
            <a:ext cx="8755380" cy="4495800"/>
          </a:xfrm>
        </p:spPr>
        <p:txBody>
          <a:bodyPr>
            <a:normAutofit fontScale="77500" lnSpcReduction="20000"/>
          </a:bodyPr>
          <a:lstStyle/>
          <a:p>
            <a:pPr marL="76200" indent="0" algn="just">
              <a:buNone/>
            </a:pPr>
            <a:r>
              <a:rPr lang="en-US" sz="2600" b="0" i="0" u="none" strike="noStrike" dirty="0">
                <a:solidFill>
                  <a:srgbClr val="1D2125"/>
                </a:solidFill>
                <a:effectLst/>
                <a:latin typeface="Times New Roman" panose="02020603050405020304" pitchFamily="18" charset="0"/>
                <a:cs typeface="Times New Roman" panose="02020603050405020304" pitchFamily="18" charset="0"/>
              </a:rPr>
              <a:t>A Grid computing network mainly consists of these three types of machines </a:t>
            </a:r>
          </a:p>
          <a:p>
            <a:pPr algn="just"/>
            <a:r>
              <a:rPr lang="en-US" sz="2600" b="1" i="0" u="none" strike="noStrike" dirty="0">
                <a:solidFill>
                  <a:srgbClr val="1D2125"/>
                </a:solidFill>
                <a:effectLst/>
                <a:latin typeface="Times New Roman" panose="02020603050405020304" pitchFamily="18" charset="0"/>
                <a:cs typeface="Times New Roman" panose="02020603050405020304" pitchFamily="18" charset="0"/>
              </a:rPr>
              <a:t>Control Node:</a:t>
            </a:r>
            <a:r>
              <a:rPr lang="en-US" sz="2600" b="0" i="0" u="none" strike="noStrike" dirty="0">
                <a:solidFill>
                  <a:srgbClr val="1D2125"/>
                </a:solidFill>
                <a:effectLst/>
                <a:latin typeface="Times New Roman" panose="02020603050405020304" pitchFamily="18" charset="0"/>
                <a:cs typeface="Times New Roman" panose="02020603050405020304" pitchFamily="18" charset="0"/>
              </a:rPr>
              <a:t> A computer, usually a server or a group of servers which administrates the whole network and keeps the account of the resources in the network pool.</a:t>
            </a:r>
          </a:p>
          <a:p>
            <a:pPr algn="just"/>
            <a:r>
              <a:rPr lang="en-US" sz="2600" b="1" i="0" u="none" strike="noStrike" dirty="0">
                <a:solidFill>
                  <a:srgbClr val="1D2125"/>
                </a:solidFill>
                <a:effectLst/>
                <a:latin typeface="Times New Roman" panose="02020603050405020304" pitchFamily="18" charset="0"/>
                <a:cs typeface="Times New Roman" panose="02020603050405020304" pitchFamily="18" charset="0"/>
              </a:rPr>
              <a:t>Provider:</a:t>
            </a:r>
            <a:r>
              <a:rPr lang="en-US" sz="2600" b="0" i="0" u="none" strike="noStrike" dirty="0">
                <a:solidFill>
                  <a:srgbClr val="1D2125"/>
                </a:solidFill>
                <a:effectLst/>
                <a:latin typeface="Times New Roman" panose="02020603050405020304" pitchFamily="18" charset="0"/>
                <a:cs typeface="Times New Roman" panose="02020603050405020304" pitchFamily="18" charset="0"/>
              </a:rPr>
              <a:t> The computer contributes its resources to the network resource pool.</a:t>
            </a:r>
          </a:p>
          <a:p>
            <a:pPr algn="just"/>
            <a:r>
              <a:rPr lang="en-US" sz="2600" b="1" i="0" u="none" strike="noStrike" dirty="0">
                <a:solidFill>
                  <a:srgbClr val="1D2125"/>
                </a:solidFill>
                <a:effectLst/>
                <a:latin typeface="Times New Roman" panose="02020603050405020304" pitchFamily="18" charset="0"/>
                <a:cs typeface="Times New Roman" panose="02020603050405020304" pitchFamily="18" charset="0"/>
              </a:rPr>
              <a:t>User:</a:t>
            </a:r>
            <a:r>
              <a:rPr lang="en-US" sz="2600" b="0" i="0" u="none" strike="noStrike" dirty="0">
                <a:solidFill>
                  <a:srgbClr val="1D2125"/>
                </a:solidFill>
                <a:effectLst/>
                <a:latin typeface="Times New Roman" panose="02020603050405020304" pitchFamily="18" charset="0"/>
                <a:cs typeface="Times New Roman" panose="02020603050405020304" pitchFamily="18" charset="0"/>
              </a:rPr>
              <a:t> The computer that uses the resources on the network.</a:t>
            </a:r>
          </a:p>
          <a:p>
            <a:pPr algn="just"/>
            <a:r>
              <a:rPr lang="en-US" sz="2600" b="0" i="0" u="none" strike="noStrike" dirty="0">
                <a:solidFill>
                  <a:srgbClr val="1D2125"/>
                </a:solidFill>
                <a:effectLst/>
                <a:latin typeface="Times New Roman" panose="02020603050405020304" pitchFamily="18" charset="0"/>
                <a:cs typeface="Times New Roman" panose="02020603050405020304" pitchFamily="18" charset="0"/>
              </a:rPr>
              <a:t>When a computer makes a request for resources to the control node, the control node gives the user access to the resources available on the network. When it is not in use it should ideally contribute its resources to the network. Hence a normal computer on the node can swing in between being a user or a provider based on its needs. The nodes may consist of machines with similar platforms using the same OS called homogeneous networks, else machines with different platforms running on various different OSs called heterogeneous networks. This is the distinguishing part of grid computing from other distributed computing architectures. </a:t>
            </a:r>
          </a:p>
          <a:p>
            <a:endParaRPr lang="en-US" dirty="0"/>
          </a:p>
        </p:txBody>
      </p:sp>
    </p:spTree>
    <p:extLst>
      <p:ext uri="{BB962C8B-B14F-4D97-AF65-F5344CB8AC3E}">
        <p14:creationId xmlns:p14="http://schemas.microsoft.com/office/powerpoint/2010/main" val="1510537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ED821-D0E9-72D3-8AA5-346DEF0DBCB2}"/>
              </a:ext>
            </a:extLst>
          </p:cNvPr>
          <p:cNvSpPr>
            <a:spLocks noGrp="1"/>
          </p:cNvSpPr>
          <p:nvPr>
            <p:ph type="body" idx="1"/>
          </p:nvPr>
        </p:nvSpPr>
        <p:spPr>
          <a:xfrm>
            <a:off x="880110" y="1028700"/>
            <a:ext cx="8035290" cy="5219700"/>
          </a:xfrm>
        </p:spPr>
        <p:txBody>
          <a:bodyPr>
            <a:normAutofit fontScale="85000" lnSpcReduction="10000"/>
          </a:bodyPr>
          <a:lstStyle/>
          <a:p>
            <a:pPr marL="76200" indent="0" algn="just">
              <a:buNone/>
            </a:pPr>
            <a:r>
              <a:rPr lang="en-US" b="1" i="0" u="none" strike="noStrike" dirty="0">
                <a:solidFill>
                  <a:srgbClr val="1D2125"/>
                </a:solidFill>
                <a:effectLst/>
                <a:latin typeface="Times New Roman" panose="02020603050405020304" pitchFamily="18" charset="0"/>
                <a:cs typeface="Times New Roman" panose="02020603050405020304" pitchFamily="18" charset="0"/>
              </a:rPr>
              <a:t>Advantages of Grid Computing:</a:t>
            </a:r>
            <a:r>
              <a:rPr lang="en-US" b="0" i="0" u="none" strike="noStrike" dirty="0">
                <a:solidFill>
                  <a:srgbClr val="1D2125"/>
                </a:solidFill>
                <a:effectLst/>
                <a:latin typeface="Times New Roman" panose="02020603050405020304" pitchFamily="18" charset="0"/>
                <a:cs typeface="Times New Roman" panose="02020603050405020304" pitchFamily="18" charset="0"/>
              </a:rPr>
              <a:t> </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It is not centralized, as there are no servers required, except the control node which is just used for controlling and not for processing.</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Multiple heterogeneous machines i.e. machines with different Operating Systems can use a single grid computing network.</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Tasks can be performed parallelly across various physical locations and the users don’t have to pay for them (with money).</a:t>
            </a:r>
          </a:p>
          <a:p>
            <a:pPr marL="76200" indent="0" algn="just">
              <a:buNone/>
            </a:pPr>
            <a:r>
              <a:rPr lang="en-US" b="1" i="0" u="none" strike="noStrike" dirty="0">
                <a:solidFill>
                  <a:srgbClr val="1D2125"/>
                </a:solidFill>
                <a:effectLst/>
                <a:latin typeface="Times New Roman" panose="02020603050405020304" pitchFamily="18" charset="0"/>
                <a:cs typeface="Times New Roman" panose="02020603050405020304" pitchFamily="18" charset="0"/>
              </a:rPr>
              <a:t>Disadvantages of Grid Computing:</a:t>
            </a:r>
            <a:endParaRPr lang="en-US" b="0" i="0" u="none" strike="noStrike" dirty="0">
              <a:solidFill>
                <a:srgbClr val="1D2125"/>
              </a:solidFill>
              <a:effectLst/>
              <a:latin typeface="Times New Roman" panose="02020603050405020304" pitchFamily="18" charset="0"/>
              <a:cs typeface="Times New Roman" panose="02020603050405020304" pitchFamily="18" charset="0"/>
            </a:endParaRP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The software of the grid is still in the involution stage.</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A super-fast interconnect between computer resources is the need of the hour.</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Licensing across many servers may make it prohibitive for some applications.</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Many groups are reluctant with sharing resources.</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Trouble in the control node can come to halt in the whole network.</a:t>
            </a:r>
          </a:p>
          <a:p>
            <a:endParaRPr lang="en-US" dirty="0"/>
          </a:p>
        </p:txBody>
      </p:sp>
    </p:spTree>
    <p:extLst>
      <p:ext uri="{BB962C8B-B14F-4D97-AF65-F5344CB8AC3E}">
        <p14:creationId xmlns:p14="http://schemas.microsoft.com/office/powerpoint/2010/main" val="1761520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749600" y="1080100"/>
            <a:ext cx="8001000" cy="4495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i="0" u="none">
                <a:solidFill>
                  <a:schemeClr val="dk1"/>
                </a:solidFill>
                <a:latin typeface="Cambria"/>
                <a:ea typeface="Cambria"/>
                <a:cs typeface="Cambria"/>
                <a:sym typeface="Cambria"/>
              </a:rPr>
              <a:t>Text books:</a:t>
            </a:r>
            <a:endParaRPr sz="2400" b="0" i="0" u="none">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Buyya, Rajkumar, James Broberg, and Andrzej M. Goscinski, eds. Cloud computing: Principles and paradigms. Vol. 87. John Wiley &amp; Sons, 2010. </a:t>
            </a:r>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Miller, Michael. Cloud computing: Web-based applications that change the way you work and collaborate online. Que publishing, 2008 </a:t>
            </a:r>
            <a:endParaRPr/>
          </a:p>
          <a:p>
            <a:pPr marL="0" lvl="0" indent="0" algn="l" rtl="0">
              <a:lnSpc>
                <a:spcPct val="100000"/>
              </a:lnSpc>
              <a:spcBef>
                <a:spcPts val="480"/>
              </a:spcBef>
              <a:spcAft>
                <a:spcPts val="0"/>
              </a:spcAft>
              <a:buClr>
                <a:schemeClr val="dk1"/>
              </a:buClr>
              <a:buSzPts val="2400"/>
              <a:buNone/>
            </a:pPr>
            <a:endParaRPr sz="2400" b="1" i="0" u="none">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a:solidFill>
                  <a:schemeClr val="dk1"/>
                </a:solidFill>
                <a:latin typeface="Cambria"/>
                <a:ea typeface="Cambria"/>
                <a:cs typeface="Cambria"/>
                <a:sym typeface="Cambria"/>
              </a:rPr>
              <a:t>Websites:</a:t>
            </a:r>
            <a:endParaRPr sz="2400" b="1" i="0" u="sng">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mbria"/>
                <a:ea typeface="Cambria"/>
                <a:cs typeface="Cambria"/>
                <a:sym typeface="Cambria"/>
              </a:rPr>
              <a:t>   </a:t>
            </a: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a:p>
          <a:p>
            <a:pPr marL="0" lvl="0" indent="-114300" algn="l" rtl="0">
              <a:lnSpc>
                <a:spcPct val="100000"/>
              </a:lnSpc>
              <a:spcBef>
                <a:spcPts val="360"/>
              </a:spcBef>
              <a:spcAft>
                <a:spcPts val="0"/>
              </a:spcAft>
              <a:buClr>
                <a:schemeClr val="dk1"/>
              </a:buClr>
              <a:buSzPts val="1800"/>
              <a:buFont typeface="Arial"/>
              <a:buChar char="•"/>
            </a:pP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sz="1800" b="0" i="0" u="none">
              <a:solidFill>
                <a:schemeClr val="dk1"/>
              </a:solidFill>
              <a:latin typeface="Cambria"/>
              <a:ea typeface="Cambria"/>
              <a:cs typeface="Cambria"/>
              <a:sym typeface="Cambria"/>
            </a:endParaRPr>
          </a:p>
          <a:p>
            <a:pPr marL="0" lvl="0" indent="-19050" algn="l" rtl="0">
              <a:lnSpc>
                <a:spcPct val="100000"/>
              </a:lnSpc>
              <a:spcBef>
                <a:spcPts val="400"/>
              </a:spcBef>
              <a:spcAft>
                <a:spcPts val="0"/>
              </a:spcAft>
              <a:buClr>
                <a:srgbClr val="000000"/>
              </a:buClr>
              <a:buSzPts val="300"/>
              <a:buFont typeface="Arial"/>
              <a:buChar char="•"/>
            </a:pPr>
            <a:r>
              <a:rPr lang="en-US" sz="1800" b="0" i="0" u="sng">
                <a:solidFill>
                  <a:schemeClr val="dk1"/>
                </a:solidFill>
                <a:hlinkClick r:id="rId4">
                  <a:extLst>
                    <a:ext uri="{A12FA001-AC4F-418D-AE19-62706E023703}">
                      <ahyp:hlinkClr xmlns:ahyp="http://schemas.microsoft.com/office/drawing/2018/hyperlinkcolor" val="tx"/>
                    </a:ext>
                  </a:extLst>
                </a:hlinkClick>
              </a:rPr>
              <a:t>https://www.eukhost.com/blog/webhosting/what-is-utility-computing/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1235</TotalTime>
  <Words>2261</Words>
  <Application>Microsoft Macintosh PowerPoint</Application>
  <PresentationFormat>On-screen Show (4:3)</PresentationFormat>
  <Paragraphs>95</Paragraphs>
  <Slides>16</Slides>
  <Notes>8</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16</vt:i4>
      </vt:variant>
    </vt:vector>
  </HeadingPairs>
  <TitlesOfParts>
    <vt:vector size="38" baseType="lpstr">
      <vt:lpstr>Times New Roman</vt:lpstr>
      <vt:lpstr>Noto Sans Symbols</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Cloud Computing</vt:lpstr>
      <vt:lpstr>PowerPoint Presentation</vt:lpstr>
      <vt:lpstr>Some common considerations when choosing to run HPC in the cloud include:</vt:lpstr>
      <vt:lpstr>PowerPoint Presentation</vt:lpstr>
      <vt:lpstr>Utility Computing?  </vt:lpstr>
      <vt:lpstr>PowerPoint Presentation</vt:lpstr>
      <vt:lpstr>Benefits of Utility Computing in Cloud Computing  </vt:lpstr>
      <vt:lpstr>Benefits of Utility Computing in Cloud Computing </vt:lpstr>
      <vt:lpstr>PowerPoint Presentation</vt:lpstr>
      <vt:lpstr>Grid Computing </vt:lpstr>
      <vt:lpstr>Working: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42</cp:revision>
  <dcterms:created xsi:type="dcterms:W3CDTF">2013-12-12T17:34:34Z</dcterms:created>
  <dcterms:modified xsi:type="dcterms:W3CDTF">2024-06-25T05:04:21Z</dcterms:modified>
</cp:coreProperties>
</file>