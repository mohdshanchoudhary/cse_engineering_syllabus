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40"/>
  </p:notesMasterIdLst>
  <p:sldIdLst>
    <p:sldId id="256" r:id="rId16"/>
    <p:sldId id="258" r:id="rId17"/>
    <p:sldId id="259" r:id="rId18"/>
    <p:sldId id="268" r:id="rId19"/>
    <p:sldId id="269" r:id="rId20"/>
    <p:sldId id="270"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77" r:id="rId38"/>
    <p:sldId id="278" r:id="rId39"/>
  </p:sldIdLst>
  <p:sldSz cx="9144000" cy="6858000" type="screen4x3"/>
  <p:notesSz cx="6858000" cy="9144000"/>
  <p:embeddedFontLst>
    <p:embeddedFont>
      <p:font typeface="Arial Black" panose="020B0604020202020204" pitchFamily="34" charset="0"/>
      <p:regular r:id="rId41"/>
      <p:bold r:id="rId42"/>
    </p:embeddedFont>
    <p:embeddedFont>
      <p:font typeface="Cambria" panose="02040503050406030204" pitchFamily="18" charset="0"/>
      <p:regular r:id="rId43"/>
      <p:bold r:id="rId44"/>
      <p:italic r:id="rId45"/>
      <p:boldItalic r:id="rId46"/>
    </p:embeddedFont>
    <p:embeddedFont>
      <p:font typeface="Poppins" pitchFamily="2" charset="77"/>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66"/>
    <p:restoredTop sz="94541"/>
  </p:normalViewPr>
  <p:slideViewPr>
    <p:cSldViewPr snapToGrid="0">
      <p:cViewPr varScale="1">
        <p:scale>
          <a:sx n="112" d="100"/>
          <a:sy n="112" d="100"/>
        </p:scale>
        <p:origin x="600" y="19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font" Target="fonts/font4.fntdata"/><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Master" Target="slideMasters/slideMaster8.xml"/><Relationship Id="rId51" Type="http://customschemas.google.com/relationships/presentationmetadata" Target="meta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font" Target="fonts/font6.fntdata"/><Relationship Id="rId20" Type="http://schemas.openxmlformats.org/officeDocument/2006/relationships/slide" Target="slides/slide5.xml"/><Relationship Id="rId41" Type="http://schemas.openxmlformats.org/officeDocument/2006/relationships/font" Target="fonts/font1.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javatpoint.com/cloud-computing-vs-grid-computin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eukhost.com/blog/webhosting/what-is-utility-computin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Topic: cloud computing </a:t>
            </a:r>
            <a:endParaRPr/>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sz="4400" b="1" i="0" u="none" strike="noStrike" cap="none">
                <a:solidFill>
                  <a:srgbClr val="FF0000"/>
                </a:solidFill>
                <a:latin typeface="Times New Roman"/>
                <a:ea typeface="Times New Roman"/>
                <a:cs typeface="Times New Roman"/>
                <a:sym typeface="Times New Roman"/>
              </a:rPr>
              <a:t>Cloud Computing</a:t>
            </a:r>
            <a:endParaRPr sz="44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756979"/>
          </a:xfrm>
          <a:prstGeom prst="rect">
            <a:avLst/>
          </a:prstGeom>
          <a:noFill/>
          <a:ln>
            <a:noFill/>
          </a:ln>
        </p:spPr>
        <p:txBody>
          <a:bodyPr spcFirstLastPara="1" wrap="square" lIns="91425" tIns="45700" rIns="91425" bIns="45700" anchor="t" anchorCtr="0">
            <a:normAutofit fontScale="85000" lnSpcReduction="20000"/>
          </a:bodyPr>
          <a:lstStyle/>
          <a:p>
            <a:pPr algn="just"/>
            <a:r>
              <a:rPr lang="en-US" b="1" i="0" u="none" strike="noStrike" dirty="0">
                <a:solidFill>
                  <a:srgbClr val="1D2125"/>
                </a:solidFill>
                <a:effectLst/>
                <a:latin typeface="Times New Roman" panose="02020603050405020304" pitchFamily="18" charset="0"/>
                <a:cs typeface="Times New Roman" panose="02020603050405020304" pitchFamily="18" charset="0"/>
              </a:rPr>
              <a:t>Cloud scalability</a:t>
            </a:r>
            <a:r>
              <a:rPr lang="en-US" b="0" i="0" u="none" strike="noStrike" dirty="0">
                <a:solidFill>
                  <a:srgbClr val="1D2125"/>
                </a:solidFill>
                <a:effectLst/>
                <a:latin typeface="Times New Roman" panose="02020603050405020304" pitchFamily="18" charset="0"/>
                <a:cs typeface="Times New Roman" panose="02020603050405020304" pitchFamily="18" charset="0"/>
              </a:rPr>
              <a:t> is the ability of cloud computing infrastructure to dynamically adjust resources to meet changing demand. This means that as your business grows, your cloud environment can quickly adapt to provide additional resources, such as processing power, storage, or bandwidth, without the need for costly hardware upgrades or infrastructure changes.</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Cloud scalability offers a number of key benefits, including improved flexibility, better cost control, increased performance, and enhanced reliability. It allows you to scale your IT resources up or down quickly in response to changing business needs, which can help you optimize your operations, minimize downtime, and improve the overall performance of your IT infrastructure.</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Overall, cloud scalability is a crucial aspect of cloud computing and an essential tool for any organization looking to manage its IT resources effectively. </a:t>
            </a:r>
          </a:p>
          <a:p>
            <a:pPr algn="just"/>
            <a:r>
              <a:rPr lang="en-US" b="0" i="0" u="none" strike="noStrike" dirty="0">
                <a:solidFill>
                  <a:srgbClr val="1D2125"/>
                </a:solidFill>
                <a:effectLst/>
                <a:latin typeface="Times New Roman" panose="02020603050405020304" pitchFamily="18" charset="0"/>
                <a:cs typeface="Times New Roman" panose="02020603050405020304" pitchFamily="18" charset="0"/>
              </a:rPr>
              <a:t>There are three main types of cloud scalability: horizontal scalability, vertical scalability, and hybrid scalability. Each type offers unique benefits and is designed to meet different business needs.</a:t>
            </a:r>
          </a:p>
          <a:p>
            <a:pPr marL="88900" indent="0">
              <a:buNone/>
            </a:pPr>
            <a:br>
              <a:rPr lang="en-IN" sz="1600" dirty="0"/>
            </a:b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US" sz="2000" b="1" i="0" u="none" strike="noStrike" dirty="0">
                <a:solidFill>
                  <a:srgbClr val="1D2125"/>
                </a:solidFill>
                <a:effectLst/>
                <a:latin typeface="Poppins" pitchFamily="2" charset="77"/>
              </a:rPr>
              <a:t>Cloud scalability</a:t>
            </a:r>
            <a:r>
              <a:rPr lang="en-US" sz="2000" b="0" i="0" u="none" strike="noStrike" dirty="0">
                <a:solidFill>
                  <a:srgbClr val="1D2125"/>
                </a:solidFill>
                <a:effectLst/>
                <a:latin typeface="Poppins" pitchFamily="2" charset="77"/>
              </a:rPr>
              <a:t> </a:t>
            </a:r>
            <a:endParaRPr sz="2200" b="1" i="0" u="none" dirty="0">
              <a:solidFill>
                <a:srgbClr val="C00000"/>
              </a:solidFill>
              <a:latin typeface="Cambria"/>
              <a:ea typeface="Cambria"/>
              <a:cs typeface="Cambria"/>
              <a:sym typeface="Cambria"/>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r>
              <a:rPr lang="en-IN" sz="2400" b="1" i="0" u="none" strike="noStrike" dirty="0">
                <a:solidFill>
                  <a:srgbClr val="455A64"/>
                </a:solidFill>
                <a:effectLst/>
                <a:latin typeface="Poppins" pitchFamily="2" charset="77"/>
              </a:rPr>
              <a:t>Horizontal Scalability:</a:t>
            </a:r>
            <a:endParaRPr lang="en-IN" sz="2400" b="0" i="0" u="none" strike="noStrike" dirty="0">
              <a:solidFill>
                <a:srgbClr val="455A64"/>
              </a:solidFill>
              <a:effectLst/>
              <a:latin typeface="Poppins" pitchFamily="2" charset="77"/>
            </a:endParaRP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Horizontal scalability, also known as scale-out, refers to the ability to add more instances of the same resource to a cloud environment. For example, you can add more servers to your environment if you need more computing power. This type of scalability is often used to handle large-scale web traffic or data processing needs. One of the primary benefits of horizontal scalability is that it allows you to achieve greater processing power and performance by distributing workloads across multiple resources.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381000" y="1422400"/>
            <a:ext cx="8534400" cy="4826000"/>
          </a:xfrm>
          <a:prstGeom prst="rect">
            <a:avLst/>
          </a:prstGeom>
          <a:noFill/>
          <a:ln>
            <a:noFill/>
          </a:ln>
        </p:spPr>
        <p:txBody>
          <a:bodyPr spcFirstLastPara="1" wrap="square" lIns="91425" tIns="45700" rIns="91425" bIns="45700" anchor="t" anchorCtr="0">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Vertical scalability, also known as scale-up, refers to the ability to add more resources to an existing instance. For example, if you need more computing power, you can add CPU, RAM, or storage to an existing server. This type of scalability is often used for applications that require more processing power than can be handled by a single instance. One of the primary benefits of vertical scalability is that it allows you to optimize your existing resources, which can help you save costs and reduce waste.</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
        <p:nvSpPr>
          <p:cNvPr id="2" name="TextBox 1">
            <a:extLst>
              <a:ext uri="{FF2B5EF4-FFF2-40B4-BE49-F238E27FC236}">
                <a16:creationId xmlns:a16="http://schemas.microsoft.com/office/drawing/2014/main" id="{C459B39F-4A70-72FA-8395-0BE174608CCD}"/>
              </a:ext>
            </a:extLst>
          </p:cNvPr>
          <p:cNvSpPr txBox="1"/>
          <p:nvPr/>
        </p:nvSpPr>
        <p:spPr>
          <a:xfrm>
            <a:off x="3589020" y="788670"/>
            <a:ext cx="2754280" cy="461665"/>
          </a:xfrm>
          <a:prstGeom prst="rect">
            <a:avLst/>
          </a:prstGeom>
          <a:noFill/>
        </p:spPr>
        <p:txBody>
          <a:bodyPr wrap="none" rtlCol="0">
            <a:spAutoFit/>
          </a:bodyPr>
          <a:lstStyle/>
          <a:p>
            <a:pPr algn="l"/>
            <a:r>
              <a:rPr lang="en-IN" sz="2400" b="1" i="0" u="none" strike="noStrike" dirty="0">
                <a:solidFill>
                  <a:srgbClr val="455A64"/>
                </a:solidFill>
                <a:effectLst/>
                <a:latin typeface="Times New Roman" panose="02020603050405020304" pitchFamily="18" charset="0"/>
                <a:cs typeface="Times New Roman" panose="02020603050405020304" pitchFamily="18" charset="0"/>
              </a:rPr>
              <a:t>Vertical Scalability</a:t>
            </a:r>
            <a:r>
              <a:rPr lang="en-IN" sz="1400" b="1" i="0" u="none" strike="noStrike" dirty="0">
                <a:solidFill>
                  <a:srgbClr val="455A64"/>
                </a:solidFill>
                <a:effectLst/>
                <a:latin typeface="Poppins" pitchFamily="2" charset="77"/>
              </a:rPr>
              <a:t>:</a:t>
            </a:r>
            <a:endParaRPr lang="en-IN" sz="1400" b="0" i="0" u="none" strike="noStrike" dirty="0">
              <a:solidFill>
                <a:srgbClr val="455A64"/>
              </a:solidFill>
              <a:effectLst/>
              <a:latin typeface="Poppins" pitchFamily="2"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1" i="0" u="none" strike="noStrike" dirty="0">
                <a:solidFill>
                  <a:srgbClr val="455A64"/>
                </a:solidFill>
                <a:effectLst/>
                <a:latin typeface="Poppins" pitchFamily="2" charset="77"/>
              </a:rPr>
              <a:t>Hybrid Scalability:</a:t>
            </a:r>
            <a:endParaRPr lang="en-US" dirty="0"/>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marL="76200" indent="0" algn="l">
              <a:buNone/>
            </a:pPr>
            <a:endParaRPr lang="en-IN" sz="1600" b="0" i="0" u="none" strike="noStrike" dirty="0">
              <a:solidFill>
                <a:srgbClr val="455A64"/>
              </a:solidFill>
              <a:effectLst/>
              <a:latin typeface="Poppins" pitchFamily="2" charset="77"/>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Hybrid scalability, also known as diagonal scaling, combines both horizontal and vertical scalability to provide a flexible and scalable cloud environment. This type of scalability allows you to add more instances or resources as needed while also optimizing your existing resources to achieve maximum efficiency. Hybrid scalability is often used for complex applications that require a combination of processing power, storage, and bandwidth.</a:t>
            </a:r>
          </a:p>
          <a:p>
            <a:endParaRPr lang="en-US" dirty="0"/>
          </a:p>
        </p:txBody>
      </p:sp>
    </p:spTree>
    <p:extLst>
      <p:ext uri="{BB962C8B-B14F-4D97-AF65-F5344CB8AC3E}">
        <p14:creationId xmlns:p14="http://schemas.microsoft.com/office/powerpoint/2010/main" val="30143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fontScale="92500" lnSpcReduction="10000"/>
          </a:bodyPr>
          <a:lstStyle/>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Simplified pricing and reduced cost </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Cloud applications need to be simple and cost effective.  Buzzwords like “subscription” or “</a:t>
            </a:r>
            <a:r>
              <a:rPr lang="en-US" sz="2000" b="0" i="0" u="none" strike="noStrike" dirty="0" err="1">
                <a:solidFill>
                  <a:srgbClr val="1D2125"/>
                </a:solidFill>
                <a:effectLst/>
                <a:latin typeface="Times New Roman" panose="02020603050405020304" pitchFamily="18" charset="0"/>
                <a:cs typeface="Times New Roman" panose="02020603050405020304" pitchFamily="18" charset="0"/>
              </a:rPr>
              <a:t>OpEx</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are not enough; you should be able to buy without talking to a salesperson – e.g. Amazon Marketplace. In addition, the pricing model should be simple and easy to understand with the cost of the solution dropping yearly to reflect the reduction in cloud costs. </a:t>
            </a:r>
          </a:p>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Radical simplicity</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 True cloud applications bring radical simplicity by eliminating Day 0, Day 1, and Day 2 operation hassles. The application is already deployed, so you can start running immediately. Software upgrades happen automatically with no downtime. System management, such as security patching, upgrades, and performance management, as well as security and regulatory requirements, are handled for you. </a:t>
            </a:r>
          </a:p>
          <a:p>
            <a:pPr algn="just"/>
            <a:r>
              <a:rPr lang="en-US" sz="2000" b="1" i="0" u="none" strike="noStrike" dirty="0">
                <a:solidFill>
                  <a:srgbClr val="1D2125"/>
                </a:solidFill>
                <a:effectLst/>
                <a:latin typeface="Times New Roman" panose="02020603050405020304" pitchFamily="18" charset="0"/>
                <a:cs typeface="Times New Roman" panose="02020603050405020304" pitchFamily="18" charset="0"/>
              </a:rPr>
              <a:t>Linear and infinite scale</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 Perhaps the most frustrating Day 0 – Day 2 challenge is scaling the application. Why waste time in the vicious cycle of planning and sizing (and replanning and resizing)? Why overprovision just to meet infrequent load bursts? A truly cloud-simple application automatically scales up </a:t>
            </a:r>
            <a:r>
              <a:rPr lang="en-US" sz="2000" b="0" i="1" u="none" strike="noStrike" dirty="0">
                <a:solidFill>
                  <a:srgbClr val="1D2125"/>
                </a:solidFill>
                <a:effectLst/>
                <a:latin typeface="Times New Roman" panose="02020603050405020304" pitchFamily="18" charset="0"/>
                <a:cs typeface="Times New Roman" panose="02020603050405020304" pitchFamily="18" charset="0"/>
              </a:rPr>
              <a:t>and</a:t>
            </a:r>
            <a:r>
              <a:rPr lang="en-US" sz="2000" b="0" i="0" u="none" strike="noStrike" dirty="0">
                <a:solidFill>
                  <a:srgbClr val="1D2125"/>
                </a:solidFill>
                <a:effectLst/>
                <a:latin typeface="Times New Roman" panose="02020603050405020304" pitchFamily="18" charset="0"/>
                <a:cs typeface="Times New Roman" panose="02020603050405020304" pitchFamily="18" charset="0"/>
              </a:rPr>
              <a:t> scales down to meet your needs.</a:t>
            </a:r>
          </a:p>
          <a:p>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3931920" y="960120"/>
            <a:ext cx="1114408" cy="523220"/>
          </a:xfrm>
          <a:prstGeom prst="rect">
            <a:avLst/>
          </a:prstGeom>
          <a:noFill/>
        </p:spPr>
        <p:txBody>
          <a:bodyPr wrap="none" rtlCol="0">
            <a:spAutoFit/>
          </a:bodyPr>
          <a:lstStyle/>
          <a:p>
            <a:r>
              <a:rPr lang="en-US" sz="1400" b="1" i="0" u="none" strike="noStrike" dirty="0">
                <a:solidFill>
                  <a:srgbClr val="1D2125"/>
                </a:solidFill>
                <a:effectLst/>
                <a:latin typeface="Poppins" pitchFamily="2" charset="77"/>
              </a:rPr>
              <a:t>Simplicity</a:t>
            </a:r>
            <a:endParaRPr lang="en-US" sz="1400" b="0" i="0" u="none" strike="noStrike" dirty="0">
              <a:solidFill>
                <a:srgbClr val="1D2125"/>
              </a:solidFill>
              <a:effectLst/>
              <a:latin typeface="Poppins" pitchFamily="2" charset="77"/>
            </a:endParaRPr>
          </a:p>
          <a:p>
            <a:endParaRPr lang="en-US" dirty="0"/>
          </a:p>
        </p:txBody>
      </p:sp>
    </p:spTree>
    <p:extLst>
      <p:ext uri="{BB962C8B-B14F-4D97-AF65-F5344CB8AC3E}">
        <p14:creationId xmlns:p14="http://schemas.microsoft.com/office/powerpoint/2010/main" val="167302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r>
              <a:rPr lang="en-US" sz="2400" b="1" i="0" u="none" strike="noStrike" dirty="0">
                <a:solidFill>
                  <a:srgbClr val="1D2125"/>
                </a:solidFill>
                <a:effectLst/>
                <a:latin typeface="Poppins" pitchFamily="2" charset="77"/>
              </a:rPr>
              <a:t>Vendors</a:t>
            </a: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algn="l"/>
            <a:r>
              <a:rPr lang="en-US" sz="2000" b="0" i="0" u="none" strike="noStrike" dirty="0">
                <a:solidFill>
                  <a:srgbClr val="1D2125"/>
                </a:solidFill>
                <a:effectLst/>
                <a:latin typeface="Poppins" pitchFamily="2" charset="77"/>
              </a:rPr>
              <a:t>Amazon Web Services (AWS)</a:t>
            </a:r>
          </a:p>
          <a:p>
            <a:pPr algn="l"/>
            <a:r>
              <a:rPr lang="en-US" sz="2000" b="0" i="0" u="none" strike="noStrike" dirty="0">
                <a:solidFill>
                  <a:srgbClr val="1D2125"/>
                </a:solidFill>
                <a:effectLst/>
                <a:latin typeface="Poppins" pitchFamily="2" charset="77"/>
              </a:rPr>
              <a:t>Microsoft Azure</a:t>
            </a:r>
          </a:p>
          <a:p>
            <a:pPr algn="l"/>
            <a:r>
              <a:rPr lang="en-US" sz="2000" b="0" i="0" u="none" strike="noStrike" dirty="0">
                <a:solidFill>
                  <a:srgbClr val="1D2125"/>
                </a:solidFill>
                <a:effectLst/>
                <a:latin typeface="Poppins" pitchFamily="2" charset="77"/>
              </a:rPr>
              <a:t>Google Cloud Platform (GCP)</a:t>
            </a:r>
          </a:p>
          <a:p>
            <a:pPr algn="l"/>
            <a:r>
              <a:rPr lang="en-US" sz="2000" b="0" i="0" u="none" strike="noStrike" dirty="0">
                <a:solidFill>
                  <a:srgbClr val="1D2125"/>
                </a:solidFill>
                <a:effectLst/>
                <a:latin typeface="Poppins" pitchFamily="2" charset="77"/>
              </a:rPr>
              <a:t>Alibaba Cloud</a:t>
            </a:r>
          </a:p>
          <a:p>
            <a:pPr algn="l"/>
            <a:r>
              <a:rPr lang="en-US" sz="2000" b="0" i="0" u="none" strike="noStrike" dirty="0">
                <a:solidFill>
                  <a:srgbClr val="1D2125"/>
                </a:solidFill>
                <a:effectLst/>
                <a:latin typeface="Poppins" pitchFamily="2" charset="77"/>
              </a:rPr>
              <a:t>Oracle Cloud</a:t>
            </a:r>
          </a:p>
          <a:p>
            <a:pPr algn="l"/>
            <a:r>
              <a:rPr lang="en-US" sz="2000" b="0" i="0" u="none" strike="noStrike" dirty="0">
                <a:solidFill>
                  <a:srgbClr val="1D2125"/>
                </a:solidFill>
                <a:effectLst/>
                <a:latin typeface="Poppins" pitchFamily="2" charset="77"/>
              </a:rPr>
              <a:t>IBM Cloud (</a:t>
            </a:r>
            <a:r>
              <a:rPr lang="en-US" sz="2000" b="0" i="0" u="none" strike="noStrike" dirty="0" err="1">
                <a:solidFill>
                  <a:srgbClr val="1D2125"/>
                </a:solidFill>
                <a:effectLst/>
                <a:latin typeface="Poppins" pitchFamily="2" charset="77"/>
              </a:rPr>
              <a:t>Kyndryl</a:t>
            </a:r>
            <a:r>
              <a:rPr lang="en-US" sz="2000" b="0" i="0" u="none" strike="noStrike" dirty="0">
                <a:solidFill>
                  <a:srgbClr val="1D2125"/>
                </a:solidFill>
                <a:effectLst/>
                <a:latin typeface="Poppins" pitchFamily="2" charset="77"/>
              </a:rPr>
              <a:t>)</a:t>
            </a:r>
          </a:p>
        </p:txBody>
      </p:sp>
    </p:spTree>
    <p:extLst>
      <p:ext uri="{BB962C8B-B14F-4D97-AF65-F5344CB8AC3E}">
        <p14:creationId xmlns:p14="http://schemas.microsoft.com/office/powerpoint/2010/main" val="111814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r>
              <a:rPr lang="en-IN" sz="2400" b="1" i="0" u="none" strike="noStrike" dirty="0">
                <a:solidFill>
                  <a:srgbClr val="455A64"/>
                </a:solidFill>
                <a:effectLst/>
                <a:latin typeface="Poppins" pitchFamily="2" charset="77"/>
              </a:rPr>
              <a:t>Amazon Web Services (AWS)</a:t>
            </a: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lnSpcReduction="100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Launched in 2006, AWS is the best cloud service provider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leading in the market</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It becomes a major player in AI, database, machine learning, 5G cloud, multi-cloud and serverless deployments. AWS operates in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20 geographical regions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across the world. The company reported a revenue of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9 billion dollars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in Q3 2019.</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AWS offers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175 fully-featured services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to meet any kind of business requirements. These services are database storage, computing power, networking and many more</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 can virtually host any applications, including networks like firewall, DNS, Load balancing, or even you can have your virtual private cloud.</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AWS applications are scalable, flexible, reliable, secure and trustworthy.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Easy sign-up and fast deployment. The best thing is there is no upfront cost and you pay for what you use. It also offers a FREE tier for some of their popular services.</a:t>
            </a:r>
          </a:p>
          <a:p>
            <a:endParaRPr lang="en-US" dirty="0"/>
          </a:p>
        </p:txBody>
      </p:sp>
    </p:spTree>
    <p:extLst>
      <p:ext uri="{BB962C8B-B14F-4D97-AF65-F5344CB8AC3E}">
        <p14:creationId xmlns:p14="http://schemas.microsoft.com/office/powerpoint/2010/main" val="3473927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fontScale="85000" lnSpcReduction="10000"/>
          </a:bodyPr>
          <a:lstStyle/>
          <a:p>
            <a:pPr algn="just"/>
            <a:r>
              <a:rPr lang="en-IN" sz="1600" b="1" i="0" u="none" strike="noStrike" dirty="0">
                <a:solidFill>
                  <a:srgbClr val="455A64"/>
                </a:solidFill>
                <a:effectLst/>
                <a:latin typeface="Poppins" pitchFamily="2" charset="77"/>
              </a:rPr>
              <a:t>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Microsoft Azure was launched in 2010 as Windows Azure, and later in 2014, it was renamed, Microsoft Azure. It was launched years after the release of AWS and Google cloud but still, it is the fastest-growing cloud and giving tough competition to AWS and other cloud service providers. There is a five-year partnership between Microsoft and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Disney</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In this partnership, the new method will be developed to move production content to the cloud. Azure has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54 data </a:t>
            </a:r>
            <a:r>
              <a:rPr lang="en-IN" sz="2000" b="1"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regions across the world available in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140 countries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Azure offers hundreds of services including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AI + Machine Learning</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2000" b="1" i="0" u="none" strike="noStrike" dirty="0" err="1">
                <a:solidFill>
                  <a:srgbClr val="1D2125"/>
                </a:solidFill>
                <a:effectLst/>
                <a:latin typeface="Times New Roman" panose="02020603050405020304" pitchFamily="18" charset="0"/>
                <a:cs typeface="Times New Roman" panose="02020603050405020304" pitchFamily="18" charset="0"/>
              </a:rPr>
              <a:t>Analytics,</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Blockchain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Compute, Containers, Databases, Developer Tools, DevOps, Identity, Integration, Internet of Things, Management, Media, Microsoft Azure Stack, Migration, Mixed Reality, Mobile, Networking, Security, Storage, Web, and Windows Virtual Desktop.</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Microsoft Azure is available with public or private cloud service or hybrid cloud service consists of both private and public.</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Scalability, consistency, security, flexibility, and cost-effectiveness.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Azure supports various operating systems, databases, tools, programming languages and frameworks.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It’s easier for users to move their application or framework without any hassle and recoding them again.</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24/7 cooperative team paying attention to their customers. A free trial version of Microsoft Azure is available for 30 days.</a:t>
            </a:r>
          </a:p>
          <a:p>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2903220" y="925830"/>
            <a:ext cx="3808554" cy="677108"/>
          </a:xfrm>
          <a:prstGeom prst="rect">
            <a:avLst/>
          </a:prstGeom>
          <a:noFill/>
        </p:spPr>
        <p:txBody>
          <a:bodyPr wrap="square" rtlCol="0">
            <a:spAutoFit/>
          </a:bodyPr>
          <a:lstStyle/>
          <a:p>
            <a:pPr algn="ctr"/>
            <a:r>
              <a:rPr lang="en-IN" sz="2400" b="1" i="0" u="none" strike="noStrike" dirty="0">
                <a:solidFill>
                  <a:srgbClr val="455A64"/>
                </a:solidFill>
                <a:effectLst/>
                <a:latin typeface="Times New Roman" panose="02020603050405020304" pitchFamily="18" charset="0"/>
                <a:cs typeface="Times New Roman" panose="02020603050405020304" pitchFamily="18" charset="0"/>
              </a:rPr>
              <a:t>Microsoft Azure</a:t>
            </a:r>
            <a:endParaRPr lang="en-IN" sz="2400" b="0" i="0" u="none" strike="noStrike" dirty="0">
              <a:solidFill>
                <a:srgbClr val="455A64"/>
              </a:solidFill>
              <a:effectLs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76768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7ECC-8A44-A5F3-0465-72C162AB738E}"/>
              </a:ext>
            </a:extLst>
          </p:cNvPr>
          <p:cNvSpPr>
            <a:spLocks noGrp="1"/>
          </p:cNvSpPr>
          <p:nvPr>
            <p:ph type="title"/>
          </p:nvPr>
        </p:nvSpPr>
        <p:spPr>
          <a:xfrm>
            <a:off x="990600" y="525780"/>
            <a:ext cx="7924800" cy="685800"/>
          </a:xfrm>
        </p:spPr>
        <p:txBody>
          <a:bodyPr/>
          <a:lstStyle/>
          <a:p>
            <a:r>
              <a:rPr lang="en-IN" b="0" i="0" u="none" strike="noStrike" dirty="0">
                <a:solidFill>
                  <a:srgbClr val="455A64"/>
                </a:solidFill>
                <a:effectLst/>
                <a:latin typeface="Poppins" pitchFamily="2" charset="77"/>
              </a:rPr>
              <a:t>Google Cloud Platform (GCP)</a:t>
            </a:r>
          </a:p>
        </p:txBody>
      </p:sp>
      <p:sp>
        <p:nvSpPr>
          <p:cNvPr id="3" name="Text Placeholder 2">
            <a:extLst>
              <a:ext uri="{FF2B5EF4-FFF2-40B4-BE49-F238E27FC236}">
                <a16:creationId xmlns:a16="http://schemas.microsoft.com/office/drawing/2014/main" id="{3BBBD6DE-0E93-EC50-F66A-C1D397DF623E}"/>
              </a:ext>
            </a:extLst>
          </p:cNvPr>
          <p:cNvSpPr>
            <a:spLocks noGrp="1"/>
          </p:cNvSpPr>
          <p:nvPr>
            <p:ph type="body" idx="1"/>
          </p:nvPr>
        </p:nvSpPr>
        <p:spPr>
          <a:xfrm>
            <a:off x="102870" y="1291590"/>
            <a:ext cx="8812530" cy="4956810"/>
          </a:xfrm>
        </p:spPr>
        <p:txBody>
          <a:bodyPr>
            <a:normAutofit fontScale="47500" lnSpcReduction="20000"/>
          </a:bodyPr>
          <a:lstStyle/>
          <a:p>
            <a:pPr algn="l"/>
            <a:r>
              <a:rPr lang="en-IN" sz="3400" b="1" i="0" u="none" strike="noStrike" dirty="0">
                <a:solidFill>
                  <a:srgbClr val="1D2125"/>
                </a:solidFill>
                <a:effectLst/>
                <a:latin typeface="Times New Roman" panose="02020603050405020304" pitchFamily="18" charset="0"/>
                <a:cs typeface="Times New Roman" panose="02020603050405020304" pitchFamily="18" charset="0"/>
              </a:rPr>
              <a:t>Google cloud platform(GCP)</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is another set of solutions for users to get the benefit of cloud services. If you are serious about latency to build performance-oriented applications then Google cloud is the best choice because it includes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GCP &amp; G Suite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According to Gardner, the public cloud services market is forecast to grow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17% in 2020 to $266.4 billion</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up from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$227.8 billion in 2019.</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Google cloud has a firm grip over the banking and finance sector.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eBay, Snapdeal, and HSBC</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are some major clients of Google. In July 2019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VMWare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also announced a partnership with Google cloud which is the biggest collaboration of last year. As of Q1 2020, Google Cloud Platform is available in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22 regions, 61 zones and 200+ countries</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a:t>
            </a:r>
          </a:p>
          <a:p>
            <a:pPr algn="l"/>
            <a:r>
              <a:rPr lang="en-IN" sz="3400" b="0" i="0" u="none" strike="noStrike" dirty="0">
                <a:solidFill>
                  <a:srgbClr val="1D2125"/>
                </a:solidFill>
                <a:effectLst/>
                <a:latin typeface="Times New Roman" panose="02020603050405020304" pitchFamily="18" charset="0"/>
                <a:cs typeface="Times New Roman" panose="02020603050405020304" pitchFamily="18" charset="0"/>
              </a:rPr>
              <a:t>It offers a variety of products and services including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AI and Machine Learning,</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API Management, Compute, Containers</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Data Analytics</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Databases,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Developer </a:t>
            </a:r>
            <a:r>
              <a:rPr lang="en-IN" sz="3400" b="1" i="0" u="none" strike="noStrike" dirty="0" err="1">
                <a:solidFill>
                  <a:srgbClr val="1D2125"/>
                </a:solidFill>
                <a:effectLst/>
                <a:latin typeface="Times New Roman" panose="02020603050405020304" pitchFamily="18" charset="0"/>
                <a:cs typeface="Times New Roman" panose="02020603050405020304" pitchFamily="18" charset="0"/>
              </a:rPr>
              <a:t>Tools,Healthcare</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 and Life </a:t>
            </a:r>
            <a:r>
              <a:rPr lang="en-IN" sz="3400" b="1" i="0" u="none" strike="noStrike" dirty="0" err="1">
                <a:solidFill>
                  <a:srgbClr val="1D2125"/>
                </a:solidFill>
                <a:effectLst/>
                <a:latin typeface="Times New Roman" panose="02020603050405020304" pitchFamily="18" charset="0"/>
                <a:cs typeface="Times New Roman" panose="02020603050405020304" pitchFamily="18" charset="0"/>
              </a:rPr>
              <a:t>Scienctes</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Hybrid and Multi-cloud, Internet of </a:t>
            </a:r>
            <a:r>
              <a:rPr lang="en-IN" sz="3400" b="1" i="0" u="none" strike="noStrike" dirty="0" err="1">
                <a:solidFill>
                  <a:srgbClr val="1D2125"/>
                </a:solidFill>
                <a:effectLst/>
                <a:latin typeface="Times New Roman" panose="02020603050405020304" pitchFamily="18" charset="0"/>
                <a:cs typeface="Times New Roman" panose="02020603050405020304" pitchFamily="18" charset="0"/>
              </a:rPr>
              <a:t>Things,Management</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 Tools, Media and Gaming, Migration,</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Networking, Security and Identity, Serverless Computing</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and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Storage.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Google products are also offered in the cloud, including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G Suite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Google Maps Platform,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Google Hardware, Google Identity</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Chrome Enterprise, Android Enterprise, Apigee,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Firebase,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and </a:t>
            </a:r>
            <a:r>
              <a:rPr lang="en-IN" sz="3400" b="1" i="0" u="none" strike="noStrike" dirty="0" err="1">
                <a:solidFill>
                  <a:srgbClr val="1D2125"/>
                </a:solidFill>
                <a:effectLst/>
                <a:latin typeface="Times New Roman" panose="02020603050405020304" pitchFamily="18" charset="0"/>
                <a:cs typeface="Times New Roman" panose="02020603050405020304" pitchFamily="18" charset="0"/>
              </a:rPr>
              <a:t>Orbitera</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a:t>
            </a:r>
            <a:endParaRPr lang="en-IN" sz="3400" b="0" i="0" u="none" strike="noStrike" dirty="0">
              <a:solidFill>
                <a:srgbClr val="1D2125"/>
              </a:solidFill>
              <a:effectLst/>
              <a:latin typeface="Times New Roman" panose="02020603050405020304" pitchFamily="18" charset="0"/>
              <a:cs typeface="Times New Roman" panose="02020603050405020304" pitchFamily="18" charset="0"/>
            </a:endParaRPr>
          </a:p>
          <a:p>
            <a:pPr algn="l"/>
            <a:r>
              <a:rPr lang="en-IN" sz="3400" b="0" i="0" u="none" strike="noStrike" dirty="0">
                <a:solidFill>
                  <a:srgbClr val="1D2125"/>
                </a:solidFill>
                <a:effectLst/>
                <a:latin typeface="Times New Roman" panose="02020603050405020304" pitchFamily="18" charset="0"/>
                <a:cs typeface="Times New Roman" panose="02020603050405020304" pitchFamily="18" charset="0"/>
              </a:rPr>
              <a:t>Security, stability, flexibility, scalability and trustworthy.</a:t>
            </a:r>
          </a:p>
          <a:p>
            <a:pPr algn="l"/>
            <a:r>
              <a:rPr lang="en-IN" sz="3400" b="0" i="0" u="none" strike="noStrike" dirty="0">
                <a:solidFill>
                  <a:srgbClr val="1D2125"/>
                </a:solidFill>
                <a:effectLst/>
                <a:latin typeface="Times New Roman" panose="02020603050405020304" pitchFamily="18" charset="0"/>
                <a:cs typeface="Times New Roman" panose="02020603050405020304" pitchFamily="18" charset="0"/>
              </a:rPr>
              <a:t>GCP offers the cheapest cloud services in the market. It offers $300 in credit to be used in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60 days as a free trial.</a:t>
            </a:r>
            <a:endParaRPr lang="en-IN" sz="3400" b="0" i="0" u="none" strike="noStrike" dirty="0">
              <a:solidFill>
                <a:srgbClr val="1D2125"/>
              </a:solidFill>
              <a:effectLst/>
              <a:latin typeface="Times New Roman" panose="02020603050405020304" pitchFamily="18" charset="0"/>
              <a:cs typeface="Times New Roman" panose="02020603050405020304" pitchFamily="18" charset="0"/>
            </a:endParaRPr>
          </a:p>
          <a:p>
            <a:pPr algn="l"/>
            <a:r>
              <a:rPr lang="en-IN" sz="3400" b="0" i="0" u="none" strike="noStrike" dirty="0">
                <a:solidFill>
                  <a:srgbClr val="1D2125"/>
                </a:solidFill>
                <a:effectLst/>
                <a:latin typeface="Times New Roman" panose="02020603050405020304" pitchFamily="18" charset="0"/>
                <a:cs typeface="Times New Roman" panose="02020603050405020304" pitchFamily="18" charset="0"/>
              </a:rPr>
              <a:t>Flexible payment plans based on </a:t>
            </a:r>
            <a:r>
              <a:rPr lang="en-IN" sz="3400" b="1" i="0" u="none" strike="noStrike" dirty="0">
                <a:solidFill>
                  <a:srgbClr val="1D2125"/>
                </a:solidFill>
                <a:effectLst/>
                <a:latin typeface="Times New Roman" panose="02020603050405020304" pitchFamily="18" charset="0"/>
                <a:cs typeface="Times New Roman" panose="02020603050405020304" pitchFamily="18" charset="0"/>
              </a:rPr>
              <a:t>Pay-As-You-Go (PAYG)</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Also, the cost only applies if the codes given by a user run accurately if not, it doesn’t cost any amount.</a:t>
            </a:r>
          </a:p>
          <a:p>
            <a:pPr algn="l"/>
            <a:r>
              <a:rPr lang="en-IN" sz="3400" b="0" i="0" u="none" strike="noStrike" dirty="0">
                <a:solidFill>
                  <a:srgbClr val="1D2125"/>
                </a:solidFill>
                <a:effectLst/>
                <a:latin typeface="Times New Roman" panose="02020603050405020304" pitchFamily="18" charset="0"/>
                <a:cs typeface="Times New Roman" panose="02020603050405020304" pitchFamily="18" charset="0"/>
              </a:rPr>
              <a:t>Easy migration of data without touching or rewriting any codes.</a:t>
            </a:r>
          </a:p>
          <a:p>
            <a:pPr algn="l"/>
            <a:r>
              <a:rPr lang="en-IN" sz="3400" b="0" i="0" u="none" strike="noStrike" dirty="0">
                <a:solidFill>
                  <a:srgbClr val="1D2125"/>
                </a:solidFill>
                <a:effectLst/>
                <a:latin typeface="Times New Roman" panose="02020603050405020304" pitchFamily="18" charset="0"/>
                <a:cs typeface="Times New Roman" panose="02020603050405020304" pitchFamily="18" charset="0"/>
              </a:rPr>
              <a:t>Machine learning and the use of API are very easy.</a:t>
            </a:r>
          </a:p>
          <a:p>
            <a:endParaRPr lang="en-US" dirty="0"/>
          </a:p>
        </p:txBody>
      </p:sp>
    </p:spTree>
    <p:extLst>
      <p:ext uri="{BB962C8B-B14F-4D97-AF65-F5344CB8AC3E}">
        <p14:creationId xmlns:p14="http://schemas.microsoft.com/office/powerpoint/2010/main" val="3352125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4B57-EB95-0541-597C-C624619FCC61}"/>
              </a:ext>
            </a:extLst>
          </p:cNvPr>
          <p:cNvSpPr>
            <a:spLocks noGrp="1"/>
          </p:cNvSpPr>
          <p:nvPr>
            <p:ph type="title"/>
          </p:nvPr>
        </p:nvSpPr>
        <p:spPr/>
        <p:txBody>
          <a:bodyPr/>
          <a:lstStyle/>
          <a:p>
            <a:r>
              <a:rPr lang="en-IN" sz="2400" b="1" i="0" u="none" strike="noStrike" dirty="0">
                <a:solidFill>
                  <a:srgbClr val="455A64"/>
                </a:solidFill>
                <a:effectLst/>
                <a:latin typeface="Poppins" pitchFamily="2" charset="77"/>
              </a:rPr>
              <a:t>Alibaba Cloud</a:t>
            </a:r>
            <a:endParaRPr lang="en-IN" sz="2400"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4754CCAD-1140-4113-BDFC-B2CD04383254}"/>
              </a:ext>
            </a:extLst>
          </p:cNvPr>
          <p:cNvSpPr>
            <a:spLocks noGrp="1"/>
          </p:cNvSpPr>
          <p:nvPr>
            <p:ph type="body" idx="1"/>
          </p:nvPr>
        </p:nvSpPr>
        <p:spPr>
          <a:xfrm>
            <a:off x="160020" y="1752600"/>
            <a:ext cx="8755380" cy="4495800"/>
          </a:xfrm>
        </p:spPr>
        <p:txBody>
          <a:bodyPr>
            <a:normAutofit/>
          </a:bodyPr>
          <a:lstStyle/>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Alibaba Cloud, also known as </a:t>
            </a:r>
            <a:r>
              <a:rPr lang="en-IN" b="0" i="0" u="none" strike="noStrike" dirty="0" err="1">
                <a:solidFill>
                  <a:srgbClr val="1D2125"/>
                </a:solidFill>
                <a:effectLst/>
                <a:latin typeface="Times New Roman" panose="02020603050405020304" pitchFamily="18" charset="0"/>
                <a:cs typeface="Times New Roman" panose="02020603050405020304" pitchFamily="18" charset="0"/>
              </a:rPr>
              <a:t>Aliyun</a:t>
            </a:r>
            <a:r>
              <a:rPr lang="en-IN" b="0" i="0" u="none" strike="noStrike" dirty="0">
                <a:solidFill>
                  <a:srgbClr val="1D2125"/>
                </a:solidFill>
                <a:effectLst/>
                <a:latin typeface="Times New Roman" panose="02020603050405020304" pitchFamily="18" charset="0"/>
                <a:cs typeface="Times New Roman" panose="02020603050405020304" pitchFamily="18" charset="0"/>
              </a:rPr>
              <a:t>, is the cloud computing arm of Alibaba Group, one of the world’s largest e-commerce and technology conglomerates based in China. It offers a comprehensive suite of cloud computing services to support businesses worldwide, including:</a:t>
            </a:r>
          </a:p>
          <a:p>
            <a:pPr algn="just"/>
            <a:r>
              <a:rPr lang="en-IN" b="1" i="0" u="none" strike="noStrike" dirty="0">
                <a:solidFill>
                  <a:srgbClr val="455A64"/>
                </a:solidFill>
                <a:effectLst/>
                <a:latin typeface="Times New Roman" panose="02020603050405020304" pitchFamily="18" charset="0"/>
                <a:cs typeface="Times New Roman" panose="02020603050405020304" pitchFamily="18" charset="0"/>
              </a:rPr>
              <a:t>Market Presence:</a:t>
            </a:r>
            <a:endParaRPr lang="en-IN"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Currently holding the </a:t>
            </a:r>
            <a:r>
              <a:rPr lang="en-IN" b="1" i="0" u="none" strike="noStrike" dirty="0">
                <a:solidFill>
                  <a:srgbClr val="1D2125"/>
                </a:solidFill>
                <a:effectLst/>
                <a:latin typeface="Times New Roman" panose="02020603050405020304" pitchFamily="18" charset="0"/>
                <a:cs typeface="Times New Roman" panose="02020603050405020304" pitchFamily="18" charset="0"/>
              </a:rPr>
              <a:t>third largest global market share</a:t>
            </a:r>
            <a:r>
              <a:rPr lang="en-IN" b="0" i="0" u="none" strike="noStrike" dirty="0">
                <a:solidFill>
                  <a:srgbClr val="1D2125"/>
                </a:solidFill>
                <a:effectLst/>
                <a:latin typeface="Times New Roman" panose="02020603050405020304" pitchFamily="18" charset="0"/>
                <a:cs typeface="Times New Roman" panose="02020603050405020304" pitchFamily="18" charset="0"/>
              </a:rPr>
              <a:t> in cloud computing, following Amazon Web Services (AWS) and Microsoft Azure.</a:t>
            </a:r>
          </a:p>
          <a:p>
            <a:pPr algn="just"/>
            <a:r>
              <a:rPr lang="en-IN" b="1" i="0" u="none" strike="noStrike" dirty="0">
                <a:solidFill>
                  <a:srgbClr val="1D2125"/>
                </a:solidFill>
                <a:effectLst/>
                <a:latin typeface="Times New Roman" panose="02020603050405020304" pitchFamily="18" charset="0"/>
                <a:cs typeface="Times New Roman" panose="02020603050405020304" pitchFamily="18" charset="0"/>
              </a:rPr>
              <a:t>Dominates the Asian market</a:t>
            </a:r>
            <a:r>
              <a:rPr lang="en-IN" b="0" i="0" u="none" strike="noStrike" dirty="0">
                <a:solidFill>
                  <a:srgbClr val="1D2125"/>
                </a:solidFill>
                <a:effectLst/>
                <a:latin typeface="Times New Roman" panose="02020603050405020304" pitchFamily="18" charset="0"/>
                <a:cs typeface="Times New Roman" panose="02020603050405020304" pitchFamily="18" charset="0"/>
              </a:rPr>
              <a:t>, particularly in China.</a:t>
            </a:r>
          </a:p>
          <a:p>
            <a:endParaRPr lang="en-US" dirty="0"/>
          </a:p>
        </p:txBody>
      </p:sp>
    </p:spTree>
    <p:extLst>
      <p:ext uri="{BB962C8B-B14F-4D97-AF65-F5344CB8AC3E}">
        <p14:creationId xmlns:p14="http://schemas.microsoft.com/office/powerpoint/2010/main" val="1510537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ED821-D0E9-72D3-8AA5-346DEF0DBCB2}"/>
              </a:ext>
            </a:extLst>
          </p:cNvPr>
          <p:cNvSpPr>
            <a:spLocks noGrp="1"/>
          </p:cNvSpPr>
          <p:nvPr>
            <p:ph type="body" idx="1"/>
          </p:nvPr>
        </p:nvSpPr>
        <p:spPr>
          <a:xfrm>
            <a:off x="342900" y="1028700"/>
            <a:ext cx="8572500" cy="5219700"/>
          </a:xfrm>
        </p:spPr>
        <p:txBody>
          <a:bodyPr>
            <a:normAutofit fontScale="62500" lnSpcReduction="20000"/>
          </a:bodyPr>
          <a:lstStyle/>
          <a:p>
            <a:pPr marL="76200" indent="0" algn="ctr">
              <a:buNone/>
            </a:pPr>
            <a:r>
              <a:rPr lang="en-IN" b="1" i="0" u="none" strike="noStrike" dirty="0">
                <a:solidFill>
                  <a:srgbClr val="455A64"/>
                </a:solidFill>
                <a:effectLst/>
                <a:latin typeface="Poppins" pitchFamily="2" charset="77"/>
              </a:rPr>
              <a:t>Service Portfolio:</a:t>
            </a:r>
            <a:endParaRPr lang="en-IN" b="0" i="0" u="none" strike="noStrike" dirty="0">
              <a:solidFill>
                <a:srgbClr val="455A64"/>
              </a:solidFill>
              <a:effectLst/>
              <a:latin typeface="Poppins" pitchFamily="2" charset="77"/>
            </a:endParaRP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Offers a </a:t>
            </a:r>
            <a:r>
              <a:rPr lang="en-IN" sz="2900" b="1" i="0" u="none" strike="noStrike" dirty="0">
                <a:solidFill>
                  <a:srgbClr val="1D2125"/>
                </a:solidFill>
                <a:effectLst/>
                <a:latin typeface="Times New Roman" panose="02020603050405020304" pitchFamily="18" charset="0"/>
                <a:cs typeface="Times New Roman" panose="02020603050405020304" pitchFamily="18" charset="0"/>
              </a:rPr>
              <a:t>diverse and comprehensive suite</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of cloud solutions, including:</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Compute:</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Elastic Compute Service (ECS) for virtual machines, Serverless Computing, Container Services.</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Storage:</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Object Storage Service (OSS), File Storage Service (NAS), Block Storage Service (ESSD).</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Networking:</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Virtual Private Cloud (VPC), Elastic Network Interface (ENI), Global Accelerator.</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Databases: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Alibaba Cloud Database Service (RDS), NoSQL databases, Graph Database.</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AI &amp; ML:</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AI Platform, pre-trained models, Big Data Analytics.</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Security &amp; Identity:</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Security </a:t>
            </a:r>
            <a:r>
              <a:rPr lang="en-IN" sz="2900" b="0" i="0" u="none" strike="noStrike" dirty="0" err="1">
                <a:solidFill>
                  <a:srgbClr val="1D2125"/>
                </a:solidFill>
                <a:effectLst/>
                <a:latin typeface="Times New Roman" panose="02020603050405020304" pitchFamily="18" charset="0"/>
                <a:cs typeface="Times New Roman" panose="02020603050405020304" pitchFamily="18" charset="0"/>
              </a:rPr>
              <a:t>Center</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Anti-DDoS, Key Management Service.</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Developer Tools: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API Gateway, Serverless Application Model (SAM), </a:t>
            </a:r>
            <a:r>
              <a:rPr lang="en-IN" sz="2900" b="0" i="0" u="none" strike="noStrike" dirty="0" err="1">
                <a:solidFill>
                  <a:srgbClr val="1D2125"/>
                </a:solidFill>
                <a:effectLst/>
                <a:latin typeface="Times New Roman" panose="02020603050405020304" pitchFamily="18" charset="0"/>
                <a:cs typeface="Times New Roman" panose="02020603050405020304" pitchFamily="18" charset="0"/>
              </a:rPr>
              <a:t>CodePipeline</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a:t>
            </a:r>
          </a:p>
          <a:p>
            <a:pPr algn="just"/>
            <a:r>
              <a:rPr lang="en-IN" sz="2900" b="1" i="0" u="none" strike="noStrike" dirty="0">
                <a:solidFill>
                  <a:srgbClr val="1D2125"/>
                </a:solidFill>
                <a:effectLst/>
                <a:latin typeface="Times New Roman" panose="02020603050405020304" pitchFamily="18" charset="0"/>
                <a:cs typeface="Times New Roman" panose="02020603050405020304" pitchFamily="18" charset="0"/>
              </a:rPr>
              <a:t>Industry-Specific Solutions: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Tailored solutions for retail, manufacturing, finance, and more.</a:t>
            </a:r>
          </a:p>
          <a:p>
            <a:pPr algn="just"/>
            <a:r>
              <a:rPr lang="en-IN" sz="2900" b="0" i="0" u="none" strike="noStrike" dirty="0">
                <a:solidFill>
                  <a:srgbClr val="1D2125"/>
                </a:solidFill>
                <a:effectLst/>
                <a:latin typeface="Times New Roman" panose="02020603050405020304" pitchFamily="18" charset="0"/>
                <a:cs typeface="Times New Roman" panose="02020603050405020304" pitchFamily="18" charset="0"/>
              </a:rPr>
              <a:t>While offering various AI &amp; ML tools, its </a:t>
            </a:r>
            <a:r>
              <a:rPr lang="en-IN" sz="2900" b="1" i="0" u="none" strike="noStrike" dirty="0">
                <a:solidFill>
                  <a:srgbClr val="1D2125"/>
                </a:solidFill>
                <a:effectLst/>
                <a:latin typeface="Times New Roman" panose="02020603050405020304" pitchFamily="18" charset="0"/>
                <a:cs typeface="Times New Roman" panose="02020603050405020304" pitchFamily="18" charset="0"/>
              </a:rPr>
              <a:t>strength lies in e-commerce and financial services solutions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leveraging expertise from its parent company, Alibaba Group.</a:t>
            </a:r>
          </a:p>
          <a:p>
            <a:pPr algn="just"/>
            <a:r>
              <a:rPr lang="en-IN" sz="2900" b="0" i="0" u="none" strike="noStrike" dirty="0">
                <a:solidFill>
                  <a:srgbClr val="1D2125"/>
                </a:solidFill>
                <a:effectLst/>
                <a:latin typeface="Times New Roman" panose="02020603050405020304" pitchFamily="18" charset="0"/>
                <a:cs typeface="Times New Roman" panose="02020603050405020304" pitchFamily="18" charset="0"/>
              </a:rPr>
              <a:t>Actively develops </a:t>
            </a:r>
            <a:r>
              <a:rPr lang="en-IN" sz="2900" b="1" i="0" u="none" strike="noStrike" dirty="0">
                <a:solidFill>
                  <a:srgbClr val="1D2125"/>
                </a:solidFill>
                <a:effectLst/>
                <a:latin typeface="Times New Roman" panose="02020603050405020304" pitchFamily="18" charset="0"/>
                <a:cs typeface="Times New Roman" panose="02020603050405020304" pitchFamily="18" charset="0"/>
              </a:rPr>
              <a:t>industry-specific cloud solutions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for various sectors.</a:t>
            </a:r>
          </a:p>
          <a:p>
            <a:pPr algn="just"/>
            <a:r>
              <a:rPr lang="en-IN" sz="2900" b="0" i="0" u="none" strike="noStrike" dirty="0">
                <a:solidFill>
                  <a:srgbClr val="1D2125"/>
                </a:solidFill>
                <a:effectLst/>
                <a:latin typeface="Times New Roman" panose="02020603050405020304" pitchFamily="18" charset="0"/>
                <a:cs typeface="Times New Roman" panose="02020603050405020304" pitchFamily="18" charset="0"/>
              </a:rPr>
              <a:t>Known for </a:t>
            </a:r>
            <a:r>
              <a:rPr lang="en-IN" sz="2900" b="1" i="0" u="none" strike="noStrike" dirty="0">
                <a:solidFill>
                  <a:srgbClr val="1D2125"/>
                </a:solidFill>
                <a:effectLst/>
                <a:latin typeface="Times New Roman" panose="02020603050405020304" pitchFamily="18" charset="0"/>
                <a:cs typeface="Times New Roman" panose="02020603050405020304" pitchFamily="18" charset="0"/>
              </a:rPr>
              <a:t>aggressive pricing, often competing with lower costs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compared to rivals.</a:t>
            </a:r>
          </a:p>
          <a:p>
            <a:endParaRPr lang="en-US" dirty="0"/>
          </a:p>
        </p:txBody>
      </p:sp>
    </p:spTree>
    <p:extLst>
      <p:ext uri="{BB962C8B-B14F-4D97-AF65-F5344CB8AC3E}">
        <p14:creationId xmlns:p14="http://schemas.microsoft.com/office/powerpoint/2010/main" val="1761520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205DD-4C6D-AB2B-FBB5-71809CD69A1B}"/>
              </a:ext>
            </a:extLst>
          </p:cNvPr>
          <p:cNvSpPr>
            <a:spLocks noGrp="1"/>
          </p:cNvSpPr>
          <p:nvPr>
            <p:ph type="title"/>
          </p:nvPr>
        </p:nvSpPr>
        <p:spPr/>
        <p:txBody>
          <a:bodyPr/>
          <a:lstStyle/>
          <a:p>
            <a:r>
              <a:rPr lang="en-IN" b="1" i="0" u="none" strike="noStrike" dirty="0">
                <a:solidFill>
                  <a:srgbClr val="455A64"/>
                </a:solidFill>
                <a:effectLst/>
                <a:latin typeface="Poppins" pitchFamily="2" charset="77"/>
              </a:rPr>
              <a:t>Oracle Cloud</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B1A9522F-5917-242A-C7A3-EA21F1219970}"/>
              </a:ext>
            </a:extLst>
          </p:cNvPr>
          <p:cNvSpPr>
            <a:spLocks noGrp="1"/>
          </p:cNvSpPr>
          <p:nvPr>
            <p:ph type="body" idx="1"/>
          </p:nvPr>
        </p:nvSpPr>
        <p:spPr>
          <a:xfrm>
            <a:off x="205740" y="1337310"/>
            <a:ext cx="8709660" cy="4777740"/>
          </a:xfrm>
        </p:spPr>
        <p:txBody>
          <a:bodyPr>
            <a:normAutofit fontScale="47500" lnSpcReduction="20000"/>
          </a:bodyPr>
          <a:lstStyle/>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Oracle Cloud is an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ERP(Enterprise Resource Planning)</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based cloud service that helps you to build, deploy, and manage workloads in the cloud or on-premises. Oracle has approximately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4, 30, 000</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huge numbers of clients around the world. The total revenue generated by Oracle was around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6.81 billion dollars</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in 2019.</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Oracle IaaS offerings are Compute, Storage, Networking, Governance, Database, Load Balancing, DNS Monitoring, Ravello, and </a:t>
            </a:r>
            <a:r>
              <a:rPr lang="en-IN" sz="3200" b="0" i="0" u="none" strike="noStrike" dirty="0" err="1">
                <a:solidFill>
                  <a:srgbClr val="1D2125"/>
                </a:solidFill>
                <a:effectLst/>
                <a:latin typeface="Times New Roman" panose="02020603050405020304" pitchFamily="18" charset="0"/>
                <a:cs typeface="Times New Roman" panose="02020603050405020304" pitchFamily="18" charset="0"/>
              </a:rPr>
              <a:t>FastConnect.IaaS</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help to run any kind of workload of an Enterprise.</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Oracle PaaS offerings are Data Management, Application Development, Integration, Business Analytics, Security, Management, and Content and Enterprise. PaaS helps developers to develop, connect, secure and share data across the applications.</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Oracle SaaS offerings are CX, HCM, ERP, SCM, EPM, IoT, Analytics, Data, and Blockchain Applications. SaaS provides a complete data-driven and secure cloud environment.</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The best thing about this cloud services provider is its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chatbot</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option which can help customers 24/7 whenever they face difficulties.</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Data analytics by users that help decision-makers in planning for the company’s financial condition.</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Secure and better visibility to unsanctioned apps and protects against sophisticated cyberattacks.</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Payment according to the usage.</a:t>
            </a:r>
          </a:p>
          <a:p>
            <a:endParaRPr lang="en-US" dirty="0"/>
          </a:p>
        </p:txBody>
      </p:sp>
    </p:spTree>
    <p:extLst>
      <p:ext uri="{BB962C8B-B14F-4D97-AF65-F5344CB8AC3E}">
        <p14:creationId xmlns:p14="http://schemas.microsoft.com/office/powerpoint/2010/main" val="246667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207DB-A3D9-EF71-1FFB-8E7AB608A3FD}"/>
              </a:ext>
            </a:extLst>
          </p:cNvPr>
          <p:cNvSpPr>
            <a:spLocks noGrp="1"/>
          </p:cNvSpPr>
          <p:nvPr>
            <p:ph type="title"/>
          </p:nvPr>
        </p:nvSpPr>
        <p:spPr>
          <a:xfrm>
            <a:off x="990600" y="765810"/>
            <a:ext cx="7924800" cy="754380"/>
          </a:xfrm>
        </p:spPr>
        <p:txBody>
          <a:bodyPr/>
          <a:lstStyle/>
          <a:p>
            <a:r>
              <a:rPr lang="en-IN" b="1" i="0" u="none" strike="noStrike" dirty="0">
                <a:solidFill>
                  <a:srgbClr val="455A64"/>
                </a:solidFill>
                <a:effectLst/>
                <a:latin typeface="Poppins" pitchFamily="2" charset="77"/>
              </a:rPr>
              <a:t>IBM Cloud (</a:t>
            </a:r>
            <a:r>
              <a:rPr lang="en-IN" b="1" i="0" u="none" strike="noStrike" dirty="0" err="1">
                <a:solidFill>
                  <a:srgbClr val="455A64"/>
                </a:solidFill>
                <a:effectLst/>
                <a:latin typeface="Poppins" pitchFamily="2" charset="77"/>
              </a:rPr>
              <a:t>Kyndryl</a:t>
            </a:r>
            <a:r>
              <a:rPr lang="en-IN" b="1" i="0" u="none" strike="noStrike" dirty="0">
                <a:solidFill>
                  <a:srgbClr val="455A64"/>
                </a:solidFill>
                <a:effectLst/>
                <a:latin typeface="Poppins" pitchFamily="2" charset="77"/>
              </a:rPr>
              <a:t>)</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9EAB6E7F-E624-D931-77A7-49DE7A8A7E35}"/>
              </a:ext>
            </a:extLst>
          </p:cNvPr>
          <p:cNvSpPr>
            <a:spLocks noGrp="1"/>
          </p:cNvSpPr>
          <p:nvPr>
            <p:ph type="body" idx="1"/>
          </p:nvPr>
        </p:nvSpPr>
        <p:spPr>
          <a:xfrm>
            <a:off x="228600" y="1520190"/>
            <a:ext cx="8686800" cy="4728210"/>
          </a:xfrm>
        </p:spPr>
        <p:txBody>
          <a:bodyPr>
            <a:normAutofit fontScale="47500" lnSpcReduction="20000"/>
          </a:bodyPr>
          <a:lstStyle/>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Developed by IBM, this cloud service offers another set of solutions to the users to deploy their applications on the cloud. It offers IaaS, SaaS, and PaaS services via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public, private, hybrid and multi-cloud</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models. IBM generated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5.3 billion dollars</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of revenues according to Q3 2019 which is 6.4 percent higher than the previous quarter. IBM cloud offers approximately 170 products and services to meet the customer’s business demands. IBM’s best bets come in the form of the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Internet of Things, Cognitive Computing and Blockchain</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Recently IBM has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Red Hat</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for the delivery of hybrid solutions efficiently. The cloud service is helping home appliance manufacturers, retailers, and medical supply businesses.</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Computer Network, Storage, Cloud Packs, Management, Security, Database, Analytics, AI, IoT, Mobile, Dev Tools, Blockchain, Integration, Migration, Private Cloud, and VMware are some services offered by IBM cloud.</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Freedom to select and unite the desired tools, data models and delivery models in designing/creating the next-generation services or applications.</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Users can manage their applications in many coding languages such as Java, Python, Swift, </a:t>
            </a:r>
            <a:r>
              <a:rPr lang="en-IN" sz="3200" b="0" i="0" u="none" strike="noStrike" dirty="0" err="1">
                <a:solidFill>
                  <a:srgbClr val="1D2125"/>
                </a:solidFill>
                <a:effectLst/>
                <a:latin typeface="Times New Roman" panose="02020603050405020304" pitchFamily="18" charset="0"/>
                <a:cs typeface="Times New Roman" panose="02020603050405020304" pitchFamily="18" charset="0"/>
              </a:rPr>
              <a:t>Php</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etc.</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IBM AI helps with its multifunctional ability such as text to speech, detecting language, machine learning, classification of natural language, etc.</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Costs depends on the usage but free in its lite mode with free access to more than 40 services by IBM Cloud.</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You can incorporate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highly performing cloud communications and services</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into your IT environment with the help of </a:t>
            </a:r>
            <a:r>
              <a:rPr lang="en-IN" sz="3200" b="1" i="0" u="none" strike="noStrike" dirty="0">
                <a:solidFill>
                  <a:srgbClr val="1D2125"/>
                </a:solidFill>
                <a:effectLst/>
                <a:latin typeface="Times New Roman" panose="02020603050405020304" pitchFamily="18" charset="0"/>
                <a:cs typeface="Times New Roman" panose="02020603050405020304" pitchFamily="18" charset="0"/>
              </a:rPr>
              <a:t>IBM Bluemix</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Cloud platform.</a:t>
            </a:r>
          </a:p>
          <a:p>
            <a:endParaRPr lang="en-US" dirty="0"/>
          </a:p>
        </p:txBody>
      </p:sp>
    </p:spTree>
    <p:extLst>
      <p:ext uri="{BB962C8B-B14F-4D97-AF65-F5344CB8AC3E}">
        <p14:creationId xmlns:p14="http://schemas.microsoft.com/office/powerpoint/2010/main" val="970842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27B18-B235-2ADD-6639-198F3A33F20F}"/>
              </a:ext>
            </a:extLst>
          </p:cNvPr>
          <p:cNvSpPr>
            <a:spLocks noGrp="1"/>
          </p:cNvSpPr>
          <p:nvPr>
            <p:ph type="title"/>
          </p:nvPr>
        </p:nvSpPr>
        <p:spPr/>
        <p:txBody>
          <a:bodyPr/>
          <a:lstStyle/>
          <a:p>
            <a:r>
              <a:rPr lang="en-IN" sz="2800" b="0" i="0" u="none" strike="noStrike" dirty="0">
                <a:solidFill>
                  <a:srgbClr val="455A64"/>
                </a:solidFill>
                <a:effectLst/>
                <a:latin typeface="Times New Roman" panose="02020603050405020304" pitchFamily="18" charset="0"/>
                <a:cs typeface="Times New Roman" panose="02020603050405020304" pitchFamily="18" charset="0"/>
              </a:rPr>
              <a:t>cloud security</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AA8C7850-7F95-0398-AAB4-2EE5D28D006F}"/>
              </a:ext>
            </a:extLst>
          </p:cNvPr>
          <p:cNvSpPr>
            <a:spLocks noGrp="1"/>
          </p:cNvSpPr>
          <p:nvPr>
            <p:ph type="body" idx="1"/>
          </p:nvPr>
        </p:nvSpPr>
        <p:spPr>
          <a:xfrm>
            <a:off x="137160" y="1752600"/>
            <a:ext cx="8778240" cy="4495800"/>
          </a:xfrm>
        </p:spPr>
        <p:txBody>
          <a:bodyPr>
            <a:normAutofit fontScale="85000" lnSpcReduction="20000"/>
          </a:bodyPr>
          <a:lstStyle/>
          <a:p>
            <a:pPr algn="just"/>
            <a:r>
              <a:rPr lang="en-IN" b="1" i="0" u="none" strike="noStrike" dirty="0">
                <a:solidFill>
                  <a:srgbClr val="1D2125"/>
                </a:solidFill>
                <a:effectLst/>
                <a:latin typeface="Times New Roman" panose="02020603050405020304" pitchFamily="18" charset="0"/>
                <a:cs typeface="Times New Roman" panose="02020603050405020304" pitchFamily="18" charset="0"/>
              </a:rPr>
              <a:t>Cloud security</a:t>
            </a:r>
            <a:r>
              <a:rPr lang="en-IN" b="0" i="0" u="none" strike="noStrike" dirty="0">
                <a:solidFill>
                  <a:srgbClr val="1D2125"/>
                </a:solidFill>
                <a:effectLst/>
                <a:latin typeface="Times New Roman" panose="02020603050405020304" pitchFamily="18" charset="0"/>
                <a:cs typeface="Times New Roman" panose="02020603050405020304" pitchFamily="18" charset="0"/>
              </a:rPr>
              <a:t> is the set of control-based security measures and technology protection, designed to protect online stored resources from </a:t>
            </a:r>
            <a:r>
              <a:rPr lang="en-IN" b="1" i="0" u="none" strike="noStrike" dirty="0">
                <a:solidFill>
                  <a:srgbClr val="1D2125"/>
                </a:solidFill>
                <a:effectLst/>
                <a:latin typeface="Times New Roman" panose="02020603050405020304" pitchFamily="18" charset="0"/>
                <a:cs typeface="Times New Roman" panose="02020603050405020304" pitchFamily="18" charset="0"/>
              </a:rPr>
              <a:t>leakage, theft</a:t>
            </a:r>
            <a:r>
              <a:rPr lang="en-IN" b="0" i="0" u="none" strike="noStrike" dirty="0">
                <a:solidFill>
                  <a:srgbClr val="1D2125"/>
                </a:solidFill>
                <a:effectLst/>
                <a:latin typeface="Times New Roman" panose="02020603050405020304" pitchFamily="18" charset="0"/>
                <a:cs typeface="Times New Roman" panose="02020603050405020304" pitchFamily="18" charset="0"/>
              </a:rPr>
              <a:t>, and </a:t>
            </a:r>
            <a:r>
              <a:rPr lang="en-IN" b="1" i="0" u="none" strike="noStrike" dirty="0">
                <a:solidFill>
                  <a:srgbClr val="1D2125"/>
                </a:solidFill>
                <a:effectLst/>
                <a:latin typeface="Times New Roman" panose="02020603050405020304" pitchFamily="18" charset="0"/>
                <a:cs typeface="Times New Roman" panose="02020603050405020304" pitchFamily="18" charset="0"/>
              </a:rPr>
              <a:t>data loss</a:t>
            </a:r>
            <a:r>
              <a:rPr lang="en-IN" b="0" i="0" u="none" strike="noStrike" dirty="0">
                <a:solidFill>
                  <a:srgbClr val="1D2125"/>
                </a:solidFill>
                <a:effectLst/>
                <a:latin typeface="Times New Roman" panose="02020603050405020304" pitchFamily="18" charset="0"/>
                <a:cs typeface="Times New Roman" panose="02020603050405020304" pitchFamily="18" charset="0"/>
              </a:rPr>
              <a:t>. Protection includes data from </a:t>
            </a:r>
            <a:r>
              <a:rPr lang="en-IN" b="1" i="0" u="none" strike="noStrike" dirty="0">
                <a:solidFill>
                  <a:srgbClr val="1D2125"/>
                </a:solidFill>
                <a:effectLst/>
                <a:latin typeface="Times New Roman" panose="02020603050405020304" pitchFamily="18" charset="0"/>
                <a:cs typeface="Times New Roman" panose="02020603050405020304" pitchFamily="18" charset="0"/>
              </a:rPr>
              <a:t>cloud infrastructure, applications</a:t>
            </a:r>
            <a:r>
              <a:rPr lang="en-IN" b="0" i="0" u="none" strike="noStrike" dirty="0">
                <a:solidFill>
                  <a:srgbClr val="1D2125"/>
                </a:solidFill>
                <a:effectLst/>
                <a:latin typeface="Times New Roman" panose="02020603050405020304" pitchFamily="18" charset="0"/>
                <a:cs typeface="Times New Roman" panose="02020603050405020304" pitchFamily="18" charset="0"/>
              </a:rPr>
              <a:t>, and </a:t>
            </a:r>
            <a:r>
              <a:rPr lang="en-IN" b="1" i="0" u="none" strike="noStrike" dirty="0">
                <a:solidFill>
                  <a:srgbClr val="1D2125"/>
                </a:solidFill>
                <a:effectLst/>
                <a:latin typeface="Times New Roman" panose="02020603050405020304" pitchFamily="18" charset="0"/>
                <a:cs typeface="Times New Roman" panose="02020603050405020304" pitchFamily="18" charset="0"/>
              </a:rPr>
              <a:t>threats.</a:t>
            </a:r>
            <a:r>
              <a:rPr lang="en-IN" b="0" i="0" u="none" strike="noStrike" dirty="0">
                <a:solidFill>
                  <a:srgbClr val="1D2125"/>
                </a:solidFill>
                <a:effectLst/>
                <a:latin typeface="Times New Roman" panose="02020603050405020304" pitchFamily="18" charset="0"/>
                <a:cs typeface="Times New Roman" panose="02020603050405020304" pitchFamily="18" charset="0"/>
              </a:rPr>
              <a:t> Security applications uses a software the same as </a:t>
            </a:r>
            <a:r>
              <a:rPr lang="en-IN" b="1" i="0" u="none" strike="noStrike" dirty="0">
                <a:solidFill>
                  <a:srgbClr val="1D2125"/>
                </a:solidFill>
                <a:effectLst/>
                <a:latin typeface="Times New Roman" panose="02020603050405020304" pitchFamily="18" charset="0"/>
                <a:cs typeface="Times New Roman" panose="02020603050405020304" pitchFamily="18" charset="0"/>
              </a:rPr>
              <a:t>SaaS (Software as a Service)</a:t>
            </a:r>
            <a:r>
              <a:rPr lang="en-IN" b="0" i="0" u="none" strike="noStrike" dirty="0">
                <a:solidFill>
                  <a:srgbClr val="1D2125"/>
                </a:solidFill>
                <a:effectLst/>
                <a:latin typeface="Times New Roman" panose="02020603050405020304" pitchFamily="18" charset="0"/>
                <a:cs typeface="Times New Roman" panose="02020603050405020304" pitchFamily="18" charset="0"/>
              </a:rPr>
              <a:t> model.</a:t>
            </a:r>
          </a:p>
          <a:p>
            <a:pPr marL="76200" indent="0" algn="just">
              <a:buNone/>
            </a:pPr>
            <a:r>
              <a:rPr lang="en-IN" b="1" i="0" u="none" strike="noStrike" dirty="0">
                <a:solidFill>
                  <a:srgbClr val="455A64"/>
                </a:solidFill>
                <a:effectLst/>
                <a:latin typeface="Times New Roman" panose="02020603050405020304" pitchFamily="18" charset="0"/>
                <a:cs typeface="Times New Roman" panose="02020603050405020304" pitchFamily="18" charset="0"/>
              </a:rPr>
              <a:t>How to manage security in the cloud</a:t>
            </a:r>
            <a:endParaRPr lang="en-IN"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Cloud service providers have many methods to protect the data.</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Firewall is the central part of cloud architecture. The firewall protects the network and the perimeter of end-users. It also protects traffic between various apps stored in the cloud.</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Access control protects data by allowing us to set access lists for various assets. For example, you can allow the application of </a:t>
            </a:r>
            <a:r>
              <a:rPr lang="en-IN" b="1" i="0" u="none" strike="noStrike" dirty="0">
                <a:solidFill>
                  <a:srgbClr val="1D2125"/>
                </a:solidFill>
                <a:effectLst/>
                <a:latin typeface="Times New Roman" panose="02020603050405020304" pitchFamily="18" charset="0"/>
                <a:cs typeface="Times New Roman" panose="02020603050405020304" pitchFamily="18" charset="0"/>
              </a:rPr>
              <a:t>specific employees</a:t>
            </a:r>
            <a:r>
              <a:rPr lang="en-IN" b="0" i="0" u="none" strike="noStrike" dirty="0">
                <a:solidFill>
                  <a:srgbClr val="1D2125"/>
                </a:solidFill>
                <a:effectLst/>
                <a:latin typeface="Times New Roman" panose="02020603050405020304" pitchFamily="18" charset="0"/>
                <a:cs typeface="Times New Roman" panose="02020603050405020304" pitchFamily="18" charset="0"/>
              </a:rPr>
              <a:t> while restricting others. It's a rule that employees can access the equipment that they required. We can keep essential documents which are stolen from </a:t>
            </a:r>
            <a:r>
              <a:rPr lang="en-IN" b="1" i="0" u="none" strike="noStrike" dirty="0">
                <a:solidFill>
                  <a:srgbClr val="1D2125"/>
                </a:solidFill>
                <a:effectLst/>
                <a:latin typeface="Times New Roman" panose="02020603050405020304" pitchFamily="18" charset="0"/>
                <a:cs typeface="Times New Roman" panose="02020603050405020304" pitchFamily="18" charset="0"/>
              </a:rPr>
              <a:t>malicious insiders</a:t>
            </a:r>
            <a:r>
              <a:rPr lang="en-IN" b="0" i="0" u="none" strike="noStrike" dirty="0">
                <a:solidFill>
                  <a:srgbClr val="1D2125"/>
                </a:solidFill>
                <a:effectLst/>
                <a:latin typeface="Times New Roman" panose="02020603050405020304" pitchFamily="18" charset="0"/>
                <a:cs typeface="Times New Roman" panose="02020603050405020304" pitchFamily="18" charset="0"/>
              </a:rPr>
              <a:t> or hackers to maintaining strict access control.</a:t>
            </a:r>
          </a:p>
          <a:p>
            <a:endParaRPr lang="en-US" dirty="0"/>
          </a:p>
        </p:txBody>
      </p:sp>
    </p:spTree>
    <p:extLst>
      <p:ext uri="{BB962C8B-B14F-4D97-AF65-F5344CB8AC3E}">
        <p14:creationId xmlns:p14="http://schemas.microsoft.com/office/powerpoint/2010/main" val="2713672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98FF4-A571-B380-B486-E2F1D630361B}"/>
              </a:ext>
            </a:extLst>
          </p:cNvPr>
          <p:cNvSpPr>
            <a:spLocks noGrp="1"/>
          </p:cNvSpPr>
          <p:nvPr>
            <p:ph type="title"/>
          </p:nvPr>
        </p:nvSpPr>
        <p:spPr/>
        <p:txBody>
          <a:bodyPr/>
          <a:lstStyle/>
          <a:p>
            <a:r>
              <a:rPr lang="en-IN" b="1" i="0" u="none" strike="noStrike" dirty="0">
                <a:solidFill>
                  <a:srgbClr val="455A64"/>
                </a:solidFill>
                <a:effectLst/>
                <a:latin typeface="Poppins" pitchFamily="2" charset="77"/>
              </a:rPr>
              <a:t>Benefits of Cloud Security System</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8C12764E-3BC5-2267-9045-2BCD8800E68A}"/>
              </a:ext>
            </a:extLst>
          </p:cNvPr>
          <p:cNvSpPr>
            <a:spLocks noGrp="1"/>
          </p:cNvSpPr>
          <p:nvPr>
            <p:ph type="body" idx="1"/>
          </p:nvPr>
        </p:nvSpPr>
        <p:spPr/>
        <p:txBody>
          <a:bodyPr/>
          <a:lstStyle/>
          <a:p>
            <a:pPr algn="l">
              <a:buFont typeface="Courier New" panose="02070309020205020404" pitchFamily="49" charset="0"/>
              <a:buChar char="o"/>
            </a:pPr>
            <a:r>
              <a:rPr lang="en-IN" b="0" i="0" u="none" strike="noStrike" dirty="0">
                <a:solidFill>
                  <a:srgbClr val="1D2125"/>
                </a:solidFill>
                <a:effectLst/>
                <a:latin typeface="Times New Roman" panose="02020603050405020304" pitchFamily="18" charset="0"/>
                <a:cs typeface="Times New Roman" panose="02020603050405020304" pitchFamily="18" charset="0"/>
              </a:rPr>
              <a:t>Protecting the Business from Dangers</a:t>
            </a:r>
          </a:p>
          <a:p>
            <a:pPr algn="l">
              <a:buFont typeface="Courier New" panose="02070309020205020404" pitchFamily="49" charset="0"/>
              <a:buChar char="o"/>
            </a:pPr>
            <a:r>
              <a:rPr lang="en-IN" b="0" i="0" u="none" strike="noStrike" dirty="0">
                <a:solidFill>
                  <a:srgbClr val="1D2125"/>
                </a:solidFill>
                <a:effectLst/>
                <a:latin typeface="Times New Roman" panose="02020603050405020304" pitchFamily="18" charset="0"/>
                <a:cs typeface="Times New Roman" panose="02020603050405020304" pitchFamily="18" charset="0"/>
              </a:rPr>
              <a:t>Protect against internal threats</a:t>
            </a:r>
          </a:p>
          <a:p>
            <a:pPr algn="l">
              <a:buFont typeface="Courier New" panose="02070309020205020404" pitchFamily="49" charset="0"/>
              <a:buChar char="o"/>
            </a:pPr>
            <a:r>
              <a:rPr lang="en-IN" b="0" i="0" u="none" strike="noStrike" dirty="0">
                <a:solidFill>
                  <a:srgbClr val="1D2125"/>
                </a:solidFill>
                <a:effectLst/>
                <a:latin typeface="Times New Roman" panose="02020603050405020304" pitchFamily="18" charset="0"/>
                <a:cs typeface="Times New Roman" panose="02020603050405020304" pitchFamily="18" charset="0"/>
              </a:rPr>
              <a:t>Preventing data loss</a:t>
            </a:r>
          </a:p>
          <a:p>
            <a:pPr algn="l">
              <a:buFont typeface="Courier New" panose="02070309020205020404" pitchFamily="49" charset="0"/>
              <a:buChar char="o"/>
            </a:pPr>
            <a:r>
              <a:rPr lang="en-IN" b="0" i="0" u="none" strike="noStrike" dirty="0">
                <a:solidFill>
                  <a:srgbClr val="1D2125"/>
                </a:solidFill>
                <a:effectLst/>
                <a:latin typeface="Times New Roman" panose="02020603050405020304" pitchFamily="18" charset="0"/>
                <a:cs typeface="Times New Roman" panose="02020603050405020304" pitchFamily="18" charset="0"/>
              </a:rPr>
              <a:t>Top threats to the system include </a:t>
            </a:r>
            <a:r>
              <a:rPr lang="en-IN" b="1" i="0" u="none" strike="noStrike" dirty="0">
                <a:solidFill>
                  <a:srgbClr val="1D2125"/>
                </a:solidFill>
                <a:effectLst/>
                <a:latin typeface="Times New Roman" panose="02020603050405020304" pitchFamily="18" charset="0"/>
                <a:cs typeface="Times New Roman" panose="02020603050405020304" pitchFamily="18" charset="0"/>
              </a:rPr>
              <a:t>Malware, Ransomware</a:t>
            </a:r>
            <a:r>
              <a:rPr lang="en-IN" b="0" i="0" u="none" strike="noStrike" dirty="0">
                <a:solidFill>
                  <a:srgbClr val="1D2125"/>
                </a:solidFill>
                <a:effectLst/>
                <a:latin typeface="Times New Roman" panose="02020603050405020304" pitchFamily="18" charset="0"/>
                <a:cs typeface="Times New Roman" panose="02020603050405020304" pitchFamily="18" charset="0"/>
              </a:rPr>
              <a:t>, and</a:t>
            </a:r>
          </a:p>
          <a:p>
            <a:pPr algn="l">
              <a:buFont typeface="Courier New" panose="02070309020205020404" pitchFamily="49" charset="0"/>
              <a:buChar char="o"/>
            </a:pPr>
            <a:r>
              <a:rPr lang="en-IN" b="0" i="0" u="none" strike="noStrike" dirty="0">
                <a:solidFill>
                  <a:srgbClr val="1D2125"/>
                </a:solidFill>
                <a:effectLst/>
                <a:latin typeface="Times New Roman" panose="02020603050405020304" pitchFamily="18" charset="0"/>
                <a:cs typeface="Times New Roman" panose="02020603050405020304" pitchFamily="18" charset="0"/>
              </a:rPr>
              <a:t>Break the Malware and Ransomware attacks</a:t>
            </a:r>
          </a:p>
          <a:p>
            <a:pPr algn="l">
              <a:buFont typeface="Courier New" panose="02070309020205020404" pitchFamily="49" charset="0"/>
              <a:buChar char="o"/>
            </a:pPr>
            <a:r>
              <a:rPr lang="en-IN" b="0" i="0" u="none" strike="noStrike" dirty="0">
                <a:solidFill>
                  <a:srgbClr val="1D2125"/>
                </a:solidFill>
                <a:effectLst/>
                <a:latin typeface="Times New Roman" panose="02020603050405020304" pitchFamily="18" charset="0"/>
                <a:cs typeface="Times New Roman" panose="02020603050405020304" pitchFamily="18" charset="0"/>
              </a:rPr>
              <a:t>Malware poses a severe threat to the businesses.</a:t>
            </a:r>
          </a:p>
          <a:p>
            <a:endParaRPr lang="en-US" dirty="0"/>
          </a:p>
        </p:txBody>
      </p:sp>
    </p:spTree>
    <p:extLst>
      <p:ext uri="{BB962C8B-B14F-4D97-AF65-F5344CB8AC3E}">
        <p14:creationId xmlns:p14="http://schemas.microsoft.com/office/powerpoint/2010/main" val="398102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0255-6E86-5196-09E9-CE7F864A3B94}"/>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Limitations</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C945BF7D-A9A3-4B1C-08C7-2BC04EC78F0C}"/>
              </a:ext>
            </a:extLst>
          </p:cNvPr>
          <p:cNvSpPr>
            <a:spLocks noGrp="1"/>
          </p:cNvSpPr>
          <p:nvPr>
            <p:ph type="body" idx="1"/>
          </p:nvPr>
        </p:nvSpPr>
        <p:spPr>
          <a:xfrm>
            <a:off x="194310" y="1752600"/>
            <a:ext cx="8721090" cy="4495800"/>
          </a:xfrm>
        </p:spPr>
        <p:txBody>
          <a:bodyPr>
            <a:normAutofit lnSpcReduction="10000"/>
          </a:bodyPr>
          <a:lstStyle/>
          <a:p>
            <a:pPr marL="76200" indent="0" algn="just">
              <a:buNone/>
            </a:pPr>
            <a:r>
              <a:rPr lang="en-IN" b="0" i="0" u="none" strike="noStrike" dirty="0">
                <a:solidFill>
                  <a:srgbClr val="455A64"/>
                </a:solidFill>
                <a:effectLst/>
                <a:latin typeface="Poppins" pitchFamily="2" charset="77"/>
              </a:rPr>
              <a:t>1. </a:t>
            </a:r>
            <a:r>
              <a:rPr lang="en-IN" sz="2200" b="0" i="0" u="none" strike="noStrike" dirty="0">
                <a:solidFill>
                  <a:srgbClr val="455A64"/>
                </a:solidFill>
                <a:effectLst/>
                <a:latin typeface="Times New Roman" panose="02020603050405020304" pitchFamily="18" charset="0"/>
                <a:cs typeface="Times New Roman" panose="02020603050405020304" pitchFamily="18" charset="0"/>
              </a:rPr>
              <a:t>Lack of Visibility </a:t>
            </a:r>
          </a:p>
          <a:p>
            <a:pPr algn="just"/>
            <a:r>
              <a:rPr lang="en-IN" sz="2200" b="0" i="0" u="none" strike="noStrike" dirty="0">
                <a:solidFill>
                  <a:srgbClr val="1D2125"/>
                </a:solidFill>
                <a:effectLst/>
                <a:latin typeface="Times New Roman" panose="02020603050405020304" pitchFamily="18" charset="0"/>
                <a:cs typeface="Times New Roman" panose="02020603050405020304" pitchFamily="18" charset="0"/>
              </a:rPr>
              <a:t>Shifting operations, assets, and workloads to the cloud means transferring the responsibility of managing certain systems and policies to a contracted cloud service provider (CSP). As a result, organizations lose visibility into some network operations, services, and resource usage and cost. </a:t>
            </a:r>
          </a:p>
          <a:p>
            <a:pPr algn="just"/>
            <a:r>
              <a:rPr lang="en-IN" sz="2200" b="0" i="0" u="none" strike="noStrike" dirty="0">
                <a:solidFill>
                  <a:srgbClr val="1D2125"/>
                </a:solidFill>
                <a:effectLst/>
                <a:latin typeface="Times New Roman" panose="02020603050405020304" pitchFamily="18" charset="0"/>
                <a:cs typeface="Times New Roman" panose="02020603050405020304" pitchFamily="18" charset="0"/>
              </a:rPr>
              <a:t>Organizations must obtain visibility into their cloud services to ensure security, privacy, and adherence to organizational and regulatory requirements. It typically involves using additional tools for cloud security configuration monitoring and logging and network-based monitoring. Organizations should set up protocols up front with the assistance of the CSP to alleviate these concerns and ensure transparency. </a:t>
            </a:r>
          </a:p>
          <a:p>
            <a:endParaRPr lang="en-US" dirty="0"/>
          </a:p>
        </p:txBody>
      </p:sp>
    </p:spTree>
    <p:extLst>
      <p:ext uri="{BB962C8B-B14F-4D97-AF65-F5344CB8AC3E}">
        <p14:creationId xmlns:p14="http://schemas.microsoft.com/office/powerpoint/2010/main" val="298342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96FC6-150B-E245-4D4C-53A82A731B11}"/>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Limitations</a:t>
            </a:r>
            <a:endParaRPr lang="en-US" dirty="0"/>
          </a:p>
        </p:txBody>
      </p:sp>
      <p:sp>
        <p:nvSpPr>
          <p:cNvPr id="3" name="Text Placeholder 2">
            <a:extLst>
              <a:ext uri="{FF2B5EF4-FFF2-40B4-BE49-F238E27FC236}">
                <a16:creationId xmlns:a16="http://schemas.microsoft.com/office/drawing/2014/main" id="{AB3C2B5E-9BA5-8154-3C6A-5ADF5335A065}"/>
              </a:ext>
            </a:extLst>
          </p:cNvPr>
          <p:cNvSpPr>
            <a:spLocks noGrp="1"/>
          </p:cNvSpPr>
          <p:nvPr>
            <p:ph type="body" idx="1"/>
          </p:nvPr>
        </p:nvSpPr>
        <p:spPr>
          <a:xfrm>
            <a:off x="308610" y="1752600"/>
            <a:ext cx="8606790" cy="4495800"/>
          </a:xfrm>
        </p:spPr>
        <p:txBody>
          <a:bodyPr>
            <a:normAutofit/>
          </a:bodyPr>
          <a:lstStyle/>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2. </a:t>
            </a:r>
            <a:r>
              <a:rPr lang="en-IN" sz="2000" b="1" i="0" u="none" strike="noStrike" dirty="0">
                <a:solidFill>
                  <a:srgbClr val="455A64"/>
                </a:solidFill>
                <a:effectLst/>
                <a:latin typeface="Times New Roman" panose="02020603050405020304" pitchFamily="18" charset="0"/>
                <a:cs typeface="Times New Roman" panose="02020603050405020304" pitchFamily="18" charset="0"/>
              </a:rPr>
              <a:t>Cloud Misconfigurations</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Threat actors can exploit system and network misconfigurations as entry points that potentially allow them to move laterally across the network and access confidential resources. Misconfigurations can occur due to overlooked system areas or improper security settings.</a:t>
            </a:r>
          </a:p>
          <a:p>
            <a:pPr marL="76200" indent="0" algn="just">
              <a:buNone/>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3. </a:t>
            </a:r>
            <a:r>
              <a:rPr lang="en-IN" sz="2000" b="1" i="0" u="none" strike="noStrike" dirty="0">
                <a:solidFill>
                  <a:srgbClr val="455A64"/>
                </a:solidFill>
                <a:effectLst/>
                <a:latin typeface="Times New Roman" panose="02020603050405020304" pitchFamily="18" charset="0"/>
                <a:cs typeface="Times New Roman" panose="02020603050405020304" pitchFamily="18" charset="0"/>
              </a:rPr>
              <a:t>Data Loss</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Organizations leverage backups as a defensive tactic against data loss. Cloud storage is highly resilient because vendors set up redundant servers and storage across several geographic locations. However, cloud storage and Software as a Service (SaaS) providers are increasingly targeted by ransomware attacks that compromise customer data.</a:t>
            </a:r>
          </a:p>
          <a:p>
            <a:endParaRPr lang="en-US" dirty="0"/>
          </a:p>
        </p:txBody>
      </p:sp>
    </p:spTree>
    <p:extLst>
      <p:ext uri="{BB962C8B-B14F-4D97-AF65-F5344CB8AC3E}">
        <p14:creationId xmlns:p14="http://schemas.microsoft.com/office/powerpoint/2010/main" val="3703342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FD99-FB03-57B1-4879-CB36C6307BC0}"/>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Limitations</a:t>
            </a:r>
            <a:endParaRPr lang="en-US" dirty="0"/>
          </a:p>
        </p:txBody>
      </p:sp>
      <p:sp>
        <p:nvSpPr>
          <p:cNvPr id="3" name="Text Placeholder 2">
            <a:extLst>
              <a:ext uri="{FF2B5EF4-FFF2-40B4-BE49-F238E27FC236}">
                <a16:creationId xmlns:a16="http://schemas.microsoft.com/office/drawing/2014/main" id="{226C4C87-276E-FB6D-8ABA-C1BC6E986920}"/>
              </a:ext>
            </a:extLst>
          </p:cNvPr>
          <p:cNvSpPr>
            <a:spLocks noGrp="1"/>
          </p:cNvSpPr>
          <p:nvPr>
            <p:ph type="body" idx="1"/>
          </p:nvPr>
        </p:nvSpPr>
        <p:spPr>
          <a:xfrm>
            <a:off x="148590" y="1752600"/>
            <a:ext cx="8766810" cy="4495800"/>
          </a:xfrm>
        </p:spPr>
        <p:txBody>
          <a:bodyPr>
            <a:normAutofit fontScale="62500" lnSpcReduction="20000"/>
          </a:bodyPr>
          <a:lstStyle/>
          <a:p>
            <a:pPr marL="76200" indent="0" algn="just">
              <a:buNone/>
            </a:pPr>
            <a:r>
              <a:rPr lang="en-IN" sz="2900" b="1" i="0" u="none" strike="noStrike" dirty="0">
                <a:solidFill>
                  <a:srgbClr val="455A64"/>
                </a:solidFill>
                <a:effectLst/>
                <a:latin typeface="Times New Roman" panose="02020603050405020304" pitchFamily="18" charset="0"/>
                <a:cs typeface="Times New Roman" panose="02020603050405020304" pitchFamily="18" charset="0"/>
              </a:rPr>
              <a:t>4.Accidental Data Exposure </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Organizations must protect data privacy and confidentiality to ensure compliance with various regulations, including GDPR, HIPAA, and PCI DSS. Data protection regulations impose strict penalties for failing to secure data. Organizations also need to protect their own data to maintain a competitive advantage.</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Placing data in the cloud offers great benefits but creates major security challenges for organizations. Unfortunately, many organizations migrate to the cloud without prior knowledge as to how to ensure they are using it securely, putting sensitive data at risk of exposure.</a:t>
            </a:r>
          </a:p>
          <a:p>
            <a:pPr marL="76200" indent="0" algn="just">
              <a:buNone/>
            </a:pPr>
            <a:r>
              <a:rPr lang="en-IN" sz="2900" b="1" i="0" u="none" strike="noStrike" dirty="0">
                <a:solidFill>
                  <a:srgbClr val="455A64"/>
                </a:solidFill>
                <a:effectLst/>
                <a:latin typeface="Times New Roman" panose="02020603050405020304" pitchFamily="18" charset="0"/>
                <a:cs typeface="Times New Roman" panose="02020603050405020304" pitchFamily="18" charset="0"/>
              </a:rPr>
              <a:t>5. Identity Theft</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Phishing attacks often use cloud environments and applications to launch attacks. The widespread use of cloud-based email, like G-Suite and Microsoft 365, and document sharing services, like Google Drive and Dropbox, has made email attachments and links a standard. </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Many employees are used to emails asking them to confirm account credentials before accessing a particular website or document. It enables cybercriminals to trick employees into divulging cloud credentials, making accidental exposure of credentials a major concern for many organizations.</a:t>
            </a:r>
          </a:p>
          <a:p>
            <a:endParaRPr lang="en-US" dirty="0"/>
          </a:p>
        </p:txBody>
      </p:sp>
    </p:spTree>
    <p:extLst>
      <p:ext uri="{BB962C8B-B14F-4D97-AF65-F5344CB8AC3E}">
        <p14:creationId xmlns:p14="http://schemas.microsoft.com/office/powerpoint/2010/main" val="3873991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D8435-B06B-06B0-EE7B-D7365A792CC5}"/>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Limitations</a:t>
            </a:r>
            <a:endParaRPr lang="en-US" dirty="0"/>
          </a:p>
        </p:txBody>
      </p:sp>
      <p:sp>
        <p:nvSpPr>
          <p:cNvPr id="3" name="Text Placeholder 2">
            <a:extLst>
              <a:ext uri="{FF2B5EF4-FFF2-40B4-BE49-F238E27FC236}">
                <a16:creationId xmlns:a16="http://schemas.microsoft.com/office/drawing/2014/main" id="{E9617C0C-EA6E-508F-40FA-2E1757B1C11E}"/>
              </a:ext>
            </a:extLst>
          </p:cNvPr>
          <p:cNvSpPr>
            <a:spLocks noGrp="1"/>
          </p:cNvSpPr>
          <p:nvPr>
            <p:ph type="body" idx="1"/>
          </p:nvPr>
        </p:nvSpPr>
        <p:spPr>
          <a:xfrm>
            <a:off x="194310" y="1676400"/>
            <a:ext cx="8721090" cy="4572000"/>
          </a:xfrm>
        </p:spPr>
        <p:txBody>
          <a:bodyPr>
            <a:normAutofit fontScale="62500" lnSpcReduction="20000"/>
          </a:bodyPr>
          <a:lstStyle/>
          <a:p>
            <a:pPr marL="76200" indent="0" algn="just">
              <a:buNone/>
            </a:pPr>
            <a:r>
              <a:rPr lang="en-IN" sz="2900" b="0" i="0" u="none" strike="noStrike" dirty="0">
                <a:solidFill>
                  <a:srgbClr val="455A64"/>
                </a:solidFill>
                <a:effectLst/>
                <a:latin typeface="Times New Roman" panose="02020603050405020304" pitchFamily="18" charset="0"/>
                <a:cs typeface="Times New Roman" panose="02020603050405020304" pitchFamily="18" charset="0"/>
              </a:rPr>
              <a:t>6</a:t>
            </a:r>
            <a:r>
              <a:rPr lang="en-IN" sz="2900" b="1" i="0" u="none" strike="noStrike" dirty="0">
                <a:solidFill>
                  <a:srgbClr val="455A64"/>
                </a:solidFill>
                <a:effectLst/>
                <a:latin typeface="Times New Roman" panose="02020603050405020304" pitchFamily="18" charset="0"/>
                <a:cs typeface="Times New Roman" panose="02020603050405020304" pitchFamily="18" charset="0"/>
              </a:rPr>
              <a:t>. Insecure Integration and APIs</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APIs enable businesses and individuals to sync data, customize the cloud service experience, and automate data workflows between cloud systems. However, APIs that fail to encrypt data, enforce proper access control, and sanitize inputs appropriately can cause cross-system vulnerabilities. Organizations can minimize this risk using industry standard APIs that utilize proper authentication and authorization protocols. </a:t>
            </a:r>
          </a:p>
          <a:p>
            <a:pPr marL="76200" indent="0" algn="just">
              <a:buNone/>
            </a:pPr>
            <a:r>
              <a:rPr lang="en-IN" sz="2900" b="1" i="0" u="none" strike="noStrike" dirty="0">
                <a:solidFill>
                  <a:srgbClr val="455A64"/>
                </a:solidFill>
                <a:effectLst/>
                <a:latin typeface="Times New Roman" panose="02020603050405020304" pitchFamily="18" charset="0"/>
                <a:cs typeface="Times New Roman" panose="02020603050405020304" pitchFamily="18" charset="0"/>
              </a:rPr>
              <a:t>7. Data Sovereignty</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Cloud providers typically utilize several geographically distributed data </a:t>
            </a:r>
            <a:r>
              <a:rPr lang="en-IN" sz="29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to improve the performance and availability of cloud-based resources. It also helps CSPs ensure they can maintain service level agreements (SLAs) during business-disrupting events like natural disasters or power outages.</a:t>
            </a:r>
          </a:p>
          <a:p>
            <a:pPr marL="76200" indent="0" algn="just">
              <a:buNone/>
            </a:pPr>
            <a:r>
              <a:rPr lang="en-IN" sz="2900" b="0" i="0" u="none" strike="noStrike" dirty="0">
                <a:solidFill>
                  <a:srgbClr val="1D2125"/>
                </a:solidFill>
                <a:effectLst/>
                <a:latin typeface="Times New Roman" panose="02020603050405020304" pitchFamily="18" charset="0"/>
                <a:cs typeface="Times New Roman" panose="02020603050405020304" pitchFamily="18" charset="0"/>
              </a:rPr>
              <a:t>Organizations that store data in the cloud do not know where this data is stored within the CSP’s array of data </a:t>
            </a:r>
            <a:r>
              <a:rPr lang="en-IN" sz="29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Since data protection regulations like GDPR limit where EU citizens’ data can be sent, organizations using a cloud platform with data </a:t>
            </a:r>
            <a:r>
              <a:rPr lang="en-IN" sz="29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900" b="0" i="0" u="none" strike="noStrike" dirty="0">
                <a:solidFill>
                  <a:srgbClr val="1D2125"/>
                </a:solidFill>
                <a:effectLst/>
                <a:latin typeface="Times New Roman" panose="02020603050405020304" pitchFamily="18" charset="0"/>
                <a:cs typeface="Times New Roman" panose="02020603050405020304" pitchFamily="18" charset="0"/>
              </a:rPr>
              <a:t> outside the approved areas risk regulatory non-compliance. Organizations should also consider jurisdictions when governing data. Each jurisdiction has different laws regarding data.</a:t>
            </a:r>
          </a:p>
          <a:p>
            <a:endParaRPr lang="en-US" dirty="0"/>
          </a:p>
        </p:txBody>
      </p:sp>
    </p:spTree>
    <p:extLst>
      <p:ext uri="{BB962C8B-B14F-4D97-AF65-F5344CB8AC3E}">
        <p14:creationId xmlns:p14="http://schemas.microsoft.com/office/powerpoint/2010/main" val="2794177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749600" y="1080100"/>
            <a:ext cx="8001000" cy="4495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i="0" u="none">
                <a:solidFill>
                  <a:schemeClr val="dk1"/>
                </a:solidFill>
                <a:latin typeface="Cambria"/>
                <a:ea typeface="Cambria"/>
                <a:cs typeface="Cambria"/>
                <a:sym typeface="Cambria"/>
              </a:rPr>
              <a:t>Text books:</a:t>
            </a:r>
            <a:endParaRPr sz="2400" b="0" i="0" u="none">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Buyya, Rajkumar, James Broberg, and Andrzej M. Goscinski, eds. Cloud computing: Principles and paradigms. Vol. 87. John Wiley &amp; Sons, 2010. </a:t>
            </a:r>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Miller, Michael. Cloud computing: Web-based applications that change the way you work and collaborate online. Que publishing, 2008 </a:t>
            </a:r>
            <a:endParaRPr/>
          </a:p>
          <a:p>
            <a:pPr marL="0" lvl="0" indent="0" algn="l" rtl="0">
              <a:lnSpc>
                <a:spcPct val="100000"/>
              </a:lnSpc>
              <a:spcBef>
                <a:spcPts val="480"/>
              </a:spcBef>
              <a:spcAft>
                <a:spcPts val="0"/>
              </a:spcAft>
              <a:buClr>
                <a:schemeClr val="dk1"/>
              </a:buClr>
              <a:buSzPts val="2400"/>
              <a:buNone/>
            </a:pPr>
            <a:endParaRPr sz="2400" b="1" i="0" u="none">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a:solidFill>
                  <a:schemeClr val="dk1"/>
                </a:solidFill>
                <a:latin typeface="Cambria"/>
                <a:ea typeface="Cambria"/>
                <a:cs typeface="Cambria"/>
                <a:sym typeface="Cambria"/>
              </a:rPr>
              <a:t>Websites:</a:t>
            </a:r>
            <a:endParaRPr sz="2400" b="1" i="0" u="sng">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mbria"/>
                <a:ea typeface="Cambria"/>
                <a:cs typeface="Cambria"/>
                <a:sym typeface="Cambria"/>
              </a:rPr>
              <a:t>   </a:t>
            </a: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a:p>
          <a:p>
            <a:pPr marL="0" lvl="0" indent="-114300" algn="l" rtl="0">
              <a:lnSpc>
                <a:spcPct val="100000"/>
              </a:lnSpc>
              <a:spcBef>
                <a:spcPts val="360"/>
              </a:spcBef>
              <a:spcAft>
                <a:spcPts val="0"/>
              </a:spcAft>
              <a:buClr>
                <a:schemeClr val="dk1"/>
              </a:buClr>
              <a:buSzPts val="1800"/>
              <a:buFont typeface="Arial"/>
              <a:buChar char="•"/>
            </a:pP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sz="1800" b="0" i="0" u="none">
              <a:solidFill>
                <a:schemeClr val="dk1"/>
              </a:solidFill>
              <a:latin typeface="Cambria"/>
              <a:ea typeface="Cambria"/>
              <a:cs typeface="Cambria"/>
              <a:sym typeface="Cambria"/>
            </a:endParaRPr>
          </a:p>
          <a:p>
            <a:pPr marL="0" lvl="0" indent="-19050" algn="l" rtl="0">
              <a:lnSpc>
                <a:spcPct val="100000"/>
              </a:lnSpc>
              <a:spcBef>
                <a:spcPts val="400"/>
              </a:spcBef>
              <a:spcAft>
                <a:spcPts val="0"/>
              </a:spcAft>
              <a:buClr>
                <a:srgbClr val="000000"/>
              </a:buClr>
              <a:buSzPts val="300"/>
              <a:buFont typeface="Arial"/>
              <a:buChar char="•"/>
            </a:pPr>
            <a:r>
              <a:rPr lang="en-US" sz="1800" b="0" i="0" u="sng">
                <a:solidFill>
                  <a:schemeClr val="dk1"/>
                </a:solidFill>
                <a:hlinkClick r:id="rId4">
                  <a:extLst>
                    <a:ext uri="{A12FA001-AC4F-418D-AE19-62706E023703}">
                      <ahyp:hlinkClr xmlns:ahyp="http://schemas.microsoft.com/office/drawing/2018/hyperlinkcolor" val="tx"/>
                    </a:ext>
                  </a:extLst>
                </a:hlinkClick>
              </a:rPr>
              <a:t>https://www.eukhost.com/blog/webhosting/what-is-utility-computing/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1255</TotalTime>
  <Words>3219</Words>
  <Application>Microsoft Macintosh PowerPoint</Application>
  <PresentationFormat>On-screen Show (4:3)</PresentationFormat>
  <Paragraphs>147</Paragraphs>
  <Slides>24</Slides>
  <Notes>8</Notes>
  <HiddenSlides>0</HiddenSlides>
  <MMClips>0</MMClips>
  <ScaleCrop>false</ScaleCrop>
  <HeadingPairs>
    <vt:vector size="8" baseType="variant">
      <vt:variant>
        <vt:lpstr>Fonts Used</vt:lpstr>
      </vt:variant>
      <vt:variant>
        <vt:i4>8</vt:i4>
      </vt:variant>
      <vt:variant>
        <vt:lpstr>Theme</vt:lpstr>
      </vt:variant>
      <vt:variant>
        <vt:i4>15</vt:i4>
      </vt:variant>
      <vt:variant>
        <vt:lpstr>Embedded OLE Servers</vt:lpstr>
      </vt:variant>
      <vt:variant>
        <vt:i4>0</vt:i4>
      </vt:variant>
      <vt:variant>
        <vt:lpstr>Slide Titles</vt:lpstr>
      </vt:variant>
      <vt:variant>
        <vt:i4>24</vt:i4>
      </vt:variant>
    </vt:vector>
  </HeadingPairs>
  <TitlesOfParts>
    <vt:vector size="47" baseType="lpstr">
      <vt:lpstr>Times New Roman</vt:lpstr>
      <vt:lpstr>Noto Sans Symbols</vt:lpstr>
      <vt:lpstr>Calibri</vt:lpstr>
      <vt:lpstr>Poppins</vt:lpstr>
      <vt:lpstr>Arial Black</vt:lpstr>
      <vt:lpstr>Courier New</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Cloud Computing</vt:lpstr>
      <vt:lpstr>PowerPoint Presentation</vt:lpstr>
      <vt:lpstr>Horizontal Scalability:</vt:lpstr>
      <vt:lpstr>PowerPoint Presentation</vt:lpstr>
      <vt:lpstr>Hybrid Scalability:</vt:lpstr>
      <vt:lpstr>PowerPoint Presentation</vt:lpstr>
      <vt:lpstr>Vendors   </vt:lpstr>
      <vt:lpstr>Amazon Web Services (AWS)  </vt:lpstr>
      <vt:lpstr>PowerPoint Presentation</vt:lpstr>
      <vt:lpstr>Google Cloud Platform (GCP)</vt:lpstr>
      <vt:lpstr>Alibaba Cloud</vt:lpstr>
      <vt:lpstr>PowerPoint Presentation</vt:lpstr>
      <vt:lpstr>Oracle Cloud </vt:lpstr>
      <vt:lpstr>IBM Cloud (Kyndryl) </vt:lpstr>
      <vt:lpstr>cloud security </vt:lpstr>
      <vt:lpstr>Benefits of Cloud Security System </vt:lpstr>
      <vt:lpstr>Limitations </vt:lpstr>
      <vt:lpstr>Limitations</vt:lpstr>
      <vt:lpstr>Limitations</vt:lpstr>
      <vt:lpstr>Limitations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59</cp:revision>
  <dcterms:created xsi:type="dcterms:W3CDTF">2013-12-12T17:34:34Z</dcterms:created>
  <dcterms:modified xsi:type="dcterms:W3CDTF">2024-06-25T05:26:32Z</dcterms:modified>
</cp:coreProperties>
</file>