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theme/theme8.xml" ContentType="application/vnd.openxmlformats-officedocument.theme+xml"/>
  <Override PartName="/ppt/slideLayouts/slideLayout28.xml" ContentType="application/vnd.openxmlformats-officedocument.presentationml.slideLayout+xml"/>
  <Override PartName="/ppt/theme/theme9.xml" ContentType="application/vnd.openxmlformats-officedocument.theme+xml"/>
  <Override PartName="/ppt/slideLayouts/slideLayout29.xml" ContentType="application/vnd.openxmlformats-officedocument.presentationml.slideLayout+xml"/>
  <Override PartName="/ppt/theme/theme10.xml" ContentType="application/vnd.openxmlformats-officedocument.theme+xml"/>
  <Override PartName="/ppt/slideLayouts/slideLayout30.xml" ContentType="application/vnd.openxmlformats-officedocument.presentationml.slideLayout+xml"/>
  <Override PartName="/ppt/theme/theme11.xml" ContentType="application/vnd.openxmlformats-officedocument.theme+xml"/>
  <Override PartName="/ppt/slideLayouts/slideLayout31.xml" ContentType="application/vnd.openxmlformats-officedocument.presentationml.slideLayout+xml"/>
  <Override PartName="/ppt/theme/theme12.xml" ContentType="application/vnd.openxmlformats-officedocument.theme+xml"/>
  <Override PartName="/ppt/slideLayouts/slideLayout32.xml" ContentType="application/vnd.openxmlformats-officedocument.presentationml.slideLayout+xml"/>
  <Override PartName="/ppt/theme/theme13.xml" ContentType="application/vnd.openxmlformats-officedocument.theme+xml"/>
  <Override PartName="/ppt/slideLayouts/slideLayout33.xml" ContentType="application/vnd.openxmlformats-officedocument.presentationml.slideLayout+xml"/>
  <Override PartName="/ppt/theme/theme14.xml" ContentType="application/vnd.openxmlformats-officedocument.theme+xml"/>
  <Override PartName="/ppt/slideLayouts/slideLayout3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 id="2147483656" r:id="rId5"/>
    <p:sldMasterId id="2147483657" r:id="rId6"/>
    <p:sldMasterId id="2147483669" r:id="rId7"/>
    <p:sldMasterId id="2147483681" r:id="rId8"/>
    <p:sldMasterId id="2147483683" r:id="rId9"/>
    <p:sldMasterId id="2147483685" r:id="rId10"/>
    <p:sldMasterId id="2147483687" r:id="rId11"/>
    <p:sldMasterId id="2147483689" r:id="rId12"/>
    <p:sldMasterId id="2147483691" r:id="rId13"/>
    <p:sldMasterId id="2147483693" r:id="rId14"/>
    <p:sldMasterId id="2147483695" r:id="rId15"/>
  </p:sldMasterIdLst>
  <p:notesMasterIdLst>
    <p:notesMasterId r:id="rId38"/>
  </p:notesMasterIdLst>
  <p:sldIdLst>
    <p:sldId id="256"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Lst>
  <p:sldSz cx="9144000" cy="6858000" type="screen4x3"/>
  <p:notesSz cx="6858000" cy="9144000"/>
  <p:embeddedFontLst>
    <p:embeddedFont>
      <p:font typeface="Arial Black" panose="020B0604020202020204" pitchFamily="34" charset="0"/>
      <p:regular r:id="rId39"/>
      <p:bold r:id="rId40"/>
    </p:embeddedFont>
    <p:embeddedFont>
      <p:font typeface="Cambria" panose="02040503050406030204" pitchFamily="18"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jZ2CbmYryrhJJUCKnHcr2q2B3I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30"/>
  </p:normalViewPr>
  <p:slideViewPr>
    <p:cSldViewPr snapToGrid="0">
      <p:cViewPr varScale="1">
        <p:scale>
          <a:sx n="113" d="100"/>
          <a:sy n="113" d="100"/>
        </p:scale>
        <p:origin x="1704" y="19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font" Target="fonts/font1.fntdata"/><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font" Target="fonts/font4.fntdata"/><Relationship Id="rId47"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font" Target="fonts/font2.fntdata"/><Relationship Id="rId45" Type="http://customschemas.google.com/relationships/presentationmetadata" Target="metadata"/><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font" Target="fonts/font6.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font" Target="fonts/font5.fntdata"/><Relationship Id="rId48"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notesMaster" Target="notesMasters/notesMaster1.xml"/><Relationship Id="rId46" Type="http://schemas.openxmlformats.org/officeDocument/2006/relationships/presProps" Target="presProps.xml"/><Relationship Id="rId20" Type="http://schemas.openxmlformats.org/officeDocument/2006/relationships/slide" Target="slides/slide5.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47" name="Google Shape;34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72" name="Google Shape;372;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5" name="Google Shape;42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7" name="Google Shape;43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9" name="Google Shape;44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16" name="Google Shape;16;p2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27"/>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chemeClr val="dk1"/>
              </a:buClr>
              <a:buSzPts val="2200"/>
              <a:buFont typeface="Arial"/>
              <a:buChar char="•"/>
              <a:defRPr sz="22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27"/>
          <p:cNvSpPr txBox="1">
            <a:spLocks noGrp="1"/>
          </p:cNvSpPr>
          <p:nvPr>
            <p:ph type="body" idx="2"/>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rgbClr val="C00000"/>
              </a:buClr>
              <a:buSzPts val="3200"/>
              <a:buFont typeface="Arial"/>
              <a:buNone/>
              <a:defRPr sz="3200" b="1" i="0" u="none" strike="noStrike" cap="none">
                <a:solidFill>
                  <a:srgbClr val="C00000"/>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
        <p:cNvGrpSpPr/>
        <p:nvPr/>
      </p:nvGrpSpPr>
      <p:grpSpPr>
        <a:xfrm>
          <a:off x="0" y="0"/>
          <a:ext cx="0" cy="0"/>
          <a:chOff x="0" y="0"/>
          <a:chExt cx="0" cy="0"/>
        </a:xfrm>
      </p:grpSpPr>
      <p:sp>
        <p:nvSpPr>
          <p:cNvPr id="34" name="Google Shape;34;p29"/>
          <p:cNvSpPr txBox="1">
            <a:spLocks noGrp="1"/>
          </p:cNvSpPr>
          <p:nvPr>
            <p:ph type="ctrTitle"/>
          </p:nvPr>
        </p:nvSpPr>
        <p:spPr>
          <a:xfrm>
            <a:off x="1143000" y="3429000"/>
            <a:ext cx="7772400" cy="1066799"/>
          </a:xfrm>
          <a:prstGeom prst="rect">
            <a:avLst/>
          </a:prstGeom>
          <a:solidFill>
            <a:schemeClr val="lt1"/>
          </a:solid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lvl1pPr marR="0" lvl="0" algn="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5" name="Google Shape;3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5"/>
        <p:cNvGrpSpPr/>
        <p:nvPr/>
      </p:nvGrpSpPr>
      <p:grpSpPr>
        <a:xfrm>
          <a:off x="0" y="0"/>
          <a:ext cx="0" cy="0"/>
          <a:chOff x="0" y="0"/>
          <a:chExt cx="0" cy="0"/>
        </a:xfrm>
      </p:grpSpPr>
      <p:sp>
        <p:nvSpPr>
          <p:cNvPr id="46" name="Google Shape;46;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3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36"/>
          <p:cNvSpPr>
            <a:spLocks noGrp="1"/>
          </p:cNvSpPr>
          <p:nvPr>
            <p:ph type="pic" idx="2"/>
          </p:nvPr>
        </p:nvSpPr>
        <p:spPr>
          <a:xfrm>
            <a:off x="1792288" y="612775"/>
            <a:ext cx="5486400" cy="4114800"/>
          </a:xfrm>
          <a:prstGeom prst="rect">
            <a:avLst/>
          </a:prstGeom>
          <a:noFill/>
          <a:ln>
            <a:noFill/>
          </a:ln>
        </p:spPr>
      </p:sp>
      <p:sp>
        <p:nvSpPr>
          <p:cNvPr id="75" name="Google Shape;75;p3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2" name="Google Shape;82;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3" name="Google Shape;83;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5"/>
        <p:cNvGrpSpPr/>
        <p:nvPr/>
      </p:nvGrpSpPr>
      <p:grpSpPr>
        <a:xfrm>
          <a:off x="0" y="0"/>
          <a:ext cx="0" cy="0"/>
          <a:chOff x="0" y="0"/>
          <a:chExt cx="0" cy="0"/>
        </a:xfrm>
      </p:grpSpPr>
      <p:sp>
        <p:nvSpPr>
          <p:cNvPr id="96" name="Google Shape;96;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4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8" name="Google Shape;98;p4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9" name="Google Shape;99;p4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0" name="Google Shape;100;p4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1" name="Google Shape;10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4"/>
        <p:cNvGrpSpPr/>
        <p:nvPr/>
      </p:nvGrpSpPr>
      <p:grpSpPr>
        <a:xfrm>
          <a:off x="0" y="0"/>
          <a:ext cx="0" cy="0"/>
          <a:chOff x="0" y="0"/>
          <a:chExt cx="0" cy="0"/>
        </a:xfrm>
      </p:grpSpPr>
      <p:sp>
        <p:nvSpPr>
          <p:cNvPr id="105" name="Google Shape;105;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7" name="Google Shape;107;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8" name="Google Shape;108;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
        <p:cNvGrpSpPr/>
        <p:nvPr/>
      </p:nvGrpSpPr>
      <p:grpSpPr>
        <a:xfrm>
          <a:off x="0" y="0"/>
          <a:ext cx="0" cy="0"/>
          <a:chOff x="0" y="0"/>
          <a:chExt cx="0" cy="0"/>
        </a:xfrm>
      </p:grpSpPr>
      <p:sp>
        <p:nvSpPr>
          <p:cNvPr id="112" name="Google Shape;112;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4" name="Google Shape;114;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0" name="Google Shape;12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4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5" name="Google Shape;125;p4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26" name="Google Shape;126;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5"/>
        <p:cNvGrpSpPr/>
        <p:nvPr/>
      </p:nvGrpSpPr>
      <p:grpSpPr>
        <a:xfrm>
          <a:off x="0" y="0"/>
          <a:ext cx="0" cy="0"/>
          <a:chOff x="0" y="0"/>
          <a:chExt cx="0" cy="0"/>
        </a:xfrm>
      </p:grpSpPr>
      <p:sp>
        <p:nvSpPr>
          <p:cNvPr id="136" name="Google Shape;136;p4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4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8" name="Google Shape;13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1"/>
        <p:cNvGrpSpPr/>
        <p:nvPr/>
      </p:nvGrpSpPr>
      <p:grpSpPr>
        <a:xfrm>
          <a:off x="0" y="0"/>
          <a:ext cx="0" cy="0"/>
          <a:chOff x="0" y="0"/>
          <a:chExt cx="0" cy="0"/>
        </a:xfrm>
      </p:grpSpPr>
      <p:sp>
        <p:nvSpPr>
          <p:cNvPr id="142" name="Google Shape;142;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3" name="Google Shape;143;p47"/>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7"/>
        <p:cNvGrpSpPr/>
        <p:nvPr/>
      </p:nvGrpSpPr>
      <p:grpSpPr>
        <a:xfrm>
          <a:off x="0" y="0"/>
          <a:ext cx="0" cy="0"/>
          <a:chOff x="0" y="0"/>
          <a:chExt cx="0" cy="0"/>
        </a:xfrm>
      </p:grpSpPr>
      <p:sp>
        <p:nvSpPr>
          <p:cNvPr id="148" name="Google Shape;148;p4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9" name="Google Shape;149;p48"/>
          <p:cNvSpPr>
            <a:spLocks noGrp="1"/>
          </p:cNvSpPr>
          <p:nvPr>
            <p:ph type="pic" idx="2"/>
          </p:nvPr>
        </p:nvSpPr>
        <p:spPr>
          <a:xfrm>
            <a:off x="1792288" y="612775"/>
            <a:ext cx="5486400" cy="4114800"/>
          </a:xfrm>
          <a:prstGeom prst="rect">
            <a:avLst/>
          </a:prstGeom>
          <a:noFill/>
          <a:ln>
            <a:noFill/>
          </a:ln>
        </p:spPr>
      </p:sp>
      <p:sp>
        <p:nvSpPr>
          <p:cNvPr id="150" name="Google Shape;150;p4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1" name="Google Shape;15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6" name="Google Shape;156;p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7" name="Google Shape;157;p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8" name="Google Shape;158;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7" name="Google Shape;16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0"/>
        <p:cNvGrpSpPr/>
        <p:nvPr/>
      </p:nvGrpSpPr>
      <p:grpSpPr>
        <a:xfrm>
          <a:off x="0" y="0"/>
          <a:ext cx="0" cy="0"/>
          <a:chOff x="0" y="0"/>
          <a:chExt cx="0" cy="0"/>
        </a:xfrm>
      </p:grpSpPr>
      <p:sp>
        <p:nvSpPr>
          <p:cNvPr id="171" name="Google Shape;171;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2" name="Google Shape;17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3" name="Google Shape;17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4" name="Google Shape;17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5" name="Google Shape;17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6" name="Google Shape;17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1" name="Google Shape;181;p5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2" name="Google Shape;182;p5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3" name="Google Shape;183;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6"/>
        <p:cNvGrpSpPr/>
        <p:nvPr/>
      </p:nvGrpSpPr>
      <p:grpSpPr>
        <a:xfrm>
          <a:off x="0" y="0"/>
          <a:ext cx="0" cy="0"/>
          <a:chOff x="0" y="0"/>
          <a:chExt cx="0" cy="0"/>
        </a:xfrm>
      </p:grpSpPr>
      <p:sp>
        <p:nvSpPr>
          <p:cNvPr id="187" name="Google Shape;187;p5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8" name="Google Shape;188;p5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89" name="Google Shape;189;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4" name="Google Shape;194;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8"/>
        <p:cNvGrpSpPr/>
        <p:nvPr/>
      </p:nvGrpSpPr>
      <p:grpSpPr>
        <a:xfrm>
          <a:off x="0" y="0"/>
          <a:ext cx="0" cy="0"/>
          <a:chOff x="0" y="0"/>
          <a:chExt cx="0" cy="0"/>
        </a:xfrm>
      </p:grpSpPr>
      <p:sp>
        <p:nvSpPr>
          <p:cNvPr id="199" name="Google Shape;199;p5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0" name="Google Shape;200;p5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1" name="Google Shape;20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2"/>
        <p:cNvGrpSpPr/>
        <p:nvPr/>
      </p:nvGrpSpPr>
      <p:grpSpPr>
        <a:xfrm>
          <a:off x="0" y="0"/>
          <a:ext cx="0" cy="0"/>
          <a:chOff x="0" y="0"/>
          <a:chExt cx="0" cy="0"/>
        </a:xfrm>
      </p:grpSpPr>
      <p:sp>
        <p:nvSpPr>
          <p:cNvPr id="213" name="Google Shape;213;p58"/>
          <p:cNvSpPr>
            <a:spLocks noGrp="1"/>
          </p:cNvSpPr>
          <p:nvPr>
            <p:ph type="pic" idx="2"/>
          </p:nvPr>
        </p:nvSpPr>
        <p:spPr>
          <a:xfrm>
            <a:off x="2895600" y="1371600"/>
            <a:ext cx="6019800" cy="4724400"/>
          </a:xfrm>
          <a:prstGeom prst="rect">
            <a:avLst/>
          </a:prstGeom>
          <a:noFill/>
          <a:ln>
            <a:noFill/>
          </a:ln>
        </p:spPr>
      </p:sp>
      <p:sp>
        <p:nvSpPr>
          <p:cNvPr id="214" name="Google Shape;214;p58"/>
          <p:cNvSpPr txBox="1">
            <a:spLocks noGrp="1"/>
          </p:cNvSpPr>
          <p:nvPr>
            <p:ph type="body" idx="1"/>
          </p:nvPr>
        </p:nvSpPr>
        <p:spPr>
          <a:xfrm>
            <a:off x="228600" y="1371600"/>
            <a:ext cx="2590800" cy="47244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Cambria"/>
                <a:ea typeface="Cambria"/>
                <a:cs typeface="Cambria"/>
                <a:sym typeface="Cambria"/>
              </a:defRPr>
            </a:lvl1pPr>
            <a:lvl2pPr marL="914400" marR="0" lvl="1"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5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3"/>
        <p:cNvGrpSpPr/>
        <p:nvPr/>
      </p:nvGrpSpPr>
      <p:grpSpPr>
        <a:xfrm>
          <a:off x="0" y="0"/>
          <a:ext cx="0" cy="0"/>
          <a:chOff x="0" y="0"/>
          <a:chExt cx="0" cy="0"/>
        </a:xfrm>
      </p:grpSpPr>
      <p:sp>
        <p:nvSpPr>
          <p:cNvPr id="224" name="Google Shape;224;p60"/>
          <p:cNvSpPr txBox="1">
            <a:spLocks noGrp="1"/>
          </p:cNvSpPr>
          <p:nvPr>
            <p:ph type="body" idx="1"/>
          </p:nvPr>
        </p:nvSpPr>
        <p:spPr>
          <a:xfrm>
            <a:off x="609600" y="1524000"/>
            <a:ext cx="8305800" cy="4876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5" name="Google Shape;225;p60"/>
          <p:cNvSpPr txBox="1">
            <a:spLocks noGrp="1"/>
          </p:cNvSpPr>
          <p:nvPr>
            <p:ph type="body" idx="2"/>
          </p:nvPr>
        </p:nvSpPr>
        <p:spPr>
          <a:xfrm>
            <a:off x="1066800" y="533400"/>
            <a:ext cx="78486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chemeClr val="dk1"/>
              </a:buClr>
              <a:buSzPts val="3200"/>
              <a:buFont typeface="Arial"/>
              <a:buNone/>
              <a:defRPr sz="3200" b="1"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4"/>
        <p:cNvGrpSpPr/>
        <p:nvPr/>
      </p:nvGrpSpPr>
      <p:grpSpPr>
        <a:xfrm>
          <a:off x="0" y="0"/>
          <a:ext cx="0" cy="0"/>
          <a:chOff x="0" y="0"/>
          <a:chExt cx="0" cy="0"/>
        </a:xfrm>
      </p:grpSpPr>
      <p:sp>
        <p:nvSpPr>
          <p:cNvPr id="235" name="Google Shape;235;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6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5"/>
        <p:cNvGrpSpPr/>
        <p:nvPr/>
      </p:nvGrpSpPr>
      <p:grpSpPr>
        <a:xfrm>
          <a:off x="0" y="0"/>
          <a:ext cx="0" cy="0"/>
          <a:chOff x="0" y="0"/>
          <a:chExt cx="0" cy="0"/>
        </a:xfrm>
      </p:grpSpPr>
      <p:sp>
        <p:nvSpPr>
          <p:cNvPr id="246" name="Google Shape;246;p6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47" name="Google Shape;247;p6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mbria"/>
                <a:ea typeface="Cambria"/>
                <a:cs typeface="Cambria"/>
                <a:sym typeface="Cambri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8" name="Google Shape;248;p6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49" name="Google Shape;24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64"/>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59"/>
        <p:cNvGrpSpPr/>
        <p:nvPr/>
      </p:nvGrpSpPr>
      <p:grpSpPr>
        <a:xfrm>
          <a:off x="0" y="0"/>
          <a:ext cx="0" cy="0"/>
          <a:chOff x="0" y="0"/>
          <a:chExt cx="0" cy="0"/>
        </a:xfrm>
      </p:grpSpPr>
      <p:sp>
        <p:nvSpPr>
          <p:cNvPr id="260" name="Google Shape;260;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61" name="Google Shape;261;p66"/>
          <p:cNvSpPr>
            <a:spLocks noGrp="1"/>
          </p:cNvSpPr>
          <p:nvPr>
            <p:ph type="pic" idx="2"/>
          </p:nvPr>
        </p:nvSpPr>
        <p:spPr>
          <a:xfrm>
            <a:off x="1792288" y="612775"/>
            <a:ext cx="5486400" cy="4114800"/>
          </a:xfrm>
          <a:prstGeom prst="rect">
            <a:avLst/>
          </a:prstGeom>
          <a:noFill/>
          <a:ln>
            <a:noFill/>
          </a:ln>
        </p:spPr>
      </p:sp>
      <p:sp>
        <p:nvSpPr>
          <p:cNvPr id="262" name="Google Shape;262;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63" name="Google Shape;263;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66"/>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3"/>
        <p:cNvGrpSpPr/>
        <p:nvPr/>
      </p:nvGrpSpPr>
      <p:grpSpPr>
        <a:xfrm>
          <a:off x="0" y="0"/>
          <a:ext cx="0" cy="0"/>
          <a:chOff x="0" y="0"/>
          <a:chExt cx="0" cy="0"/>
        </a:xfrm>
      </p:grpSpPr>
      <p:sp>
        <p:nvSpPr>
          <p:cNvPr id="274" name="Google Shape;274;p68"/>
          <p:cNvSpPr txBox="1">
            <a:spLocks noGrp="1"/>
          </p:cNvSpPr>
          <p:nvPr>
            <p:ph type="title"/>
          </p:nvPr>
        </p:nvSpPr>
        <p:spPr>
          <a:xfrm>
            <a:off x="304800" y="1371600"/>
            <a:ext cx="8229600" cy="6858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75" name="Google Shape;275;p68"/>
          <p:cNvSpPr txBox="1">
            <a:spLocks noGrp="1"/>
          </p:cNvSpPr>
          <p:nvPr>
            <p:ph type="body" idx="1"/>
          </p:nvPr>
        </p:nvSpPr>
        <p:spPr>
          <a:xfrm rot="5400000">
            <a:off x="2286000" y="228600"/>
            <a:ext cx="4267200" cy="8229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6" name="Google Shape;276;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6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6"/>
        <p:cNvGrpSpPr/>
        <p:nvPr/>
      </p:nvGrpSpPr>
      <p:grpSpPr>
        <a:xfrm>
          <a:off x="0" y="0"/>
          <a:ext cx="0" cy="0"/>
          <a:chOff x="0" y="0"/>
          <a:chExt cx="0" cy="0"/>
        </a:xfrm>
      </p:grpSpPr>
      <p:sp>
        <p:nvSpPr>
          <p:cNvPr id="287" name="Google Shape;287;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88" name="Google Shape;288;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9" name="Google Shape;289;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7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1_Two Content" type="obj">
  <p:cSld name="OBJECT">
    <p:spTree>
      <p:nvGrpSpPr>
        <p:cNvPr id="1" name="Shape 301"/>
        <p:cNvGrpSpPr/>
        <p:nvPr/>
      </p:nvGrpSpPr>
      <p:grpSpPr>
        <a:xfrm>
          <a:off x="0" y="0"/>
          <a:ext cx="0" cy="0"/>
          <a:chOff x="0" y="0"/>
          <a:chExt cx="0" cy="0"/>
        </a:xfrm>
      </p:grpSpPr>
      <p:sp>
        <p:nvSpPr>
          <p:cNvPr id="302" name="Google Shape;302;p72"/>
          <p:cNvSpPr txBox="1">
            <a:spLocks noGrp="1"/>
          </p:cNvSpPr>
          <p:nvPr>
            <p:ph type="title"/>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6000" b="1" i="0" u="none" strike="noStrike" cap="none">
                <a:solidFill>
                  <a:srgbClr val="2F5897"/>
                </a:solidFill>
                <a:latin typeface="Times New Roman"/>
                <a:ea typeface="Times New Roman"/>
                <a:cs typeface="Times New Roman"/>
                <a:sym typeface="Times New Roman"/>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03" name="Google Shape;303;p72"/>
          <p:cNvSpPr txBox="1">
            <a:spLocks noGrp="1"/>
          </p:cNvSpPr>
          <p:nvPr>
            <p:ph type="body" idx="1"/>
          </p:nvPr>
        </p:nvSpPr>
        <p:spPr>
          <a:xfrm>
            <a:off x="533400" y="1676336"/>
            <a:ext cx="3581400" cy="4432300"/>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4" name="Google Shape;304;p72"/>
          <p:cNvSpPr txBox="1">
            <a:spLocks noGrp="1"/>
          </p:cNvSpPr>
          <p:nvPr>
            <p:ph type="body" idx="2"/>
          </p:nvPr>
        </p:nvSpPr>
        <p:spPr>
          <a:xfrm>
            <a:off x="4876800" y="1676425"/>
            <a:ext cx="3505200" cy="4401185"/>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5" name="Google Shape;305;p72"/>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100"/>
              </a:spcBef>
              <a:spcAft>
                <a:spcPts val="0"/>
              </a:spcAft>
              <a:buSzPts val="1400"/>
              <a:buNone/>
              <a:defRPr sz="1200">
                <a:solidFill>
                  <a:srgbClr val="0033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72"/>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72"/>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2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1.xml"/><Relationship Id="rId1" Type="http://schemas.openxmlformats.org/officeDocument/2006/relationships/slideLayout" Target="../slideLayouts/slideLayout3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2.xml"/><Relationship Id="rId1" Type="http://schemas.openxmlformats.org/officeDocument/2006/relationships/slideLayout" Target="../slideLayouts/slideLayout31.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3.xml"/><Relationship Id="rId1" Type="http://schemas.openxmlformats.org/officeDocument/2006/relationships/slideLayout" Target="../slideLayouts/slideLayout32.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4.xml"/><Relationship Id="rId1" Type="http://schemas.openxmlformats.org/officeDocument/2006/relationships/slideLayout" Target="../slideLayouts/slideLayout33.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5.xml"/><Relationship Id="rId1" Type="http://schemas.openxmlformats.org/officeDocument/2006/relationships/slideLayout" Target="../slideLayouts/slideLayout3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University Institute of Engineering (UIE)</a:t>
            </a:r>
            <a:endParaRPr/>
          </a:p>
        </p:txBody>
      </p:sp>
      <p:cxnSp>
        <p:nvCxnSpPr>
          <p:cNvPr id="11" name="Google Shape;11;p24"/>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12" name="Google Shape;12;p24"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13" name="Google Shape;13;p24"/>
          <p:cNvSpPr txBox="1"/>
          <p:nvPr/>
        </p:nvSpPr>
        <p:spPr>
          <a:xfrm>
            <a:off x="2805112" y="0"/>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Department of Computer Science and Engineering (CSE)</a:t>
            </a:r>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26"/>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19" name="Google Shape;19;p26"/>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 name="Google Shape;20;p26"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1" name="Google Shape;21;p26"/>
          <p:cNvSpPr txBox="1"/>
          <p:nvPr/>
        </p:nvSpPr>
        <p:spPr>
          <a:xfrm>
            <a:off x="2805112" y="87312"/>
            <a:ext cx="61864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and Communication Engineering (CCE)</a:t>
            </a:r>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7" name="Google Shape;27;p28"/>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 name="Google Shape;28;p28"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9" name="Google Shape;29;p28"/>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2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
        <p:cNvGrpSpPr/>
        <p:nvPr/>
      </p:nvGrpSpPr>
      <p:grpSpPr>
        <a:xfrm>
          <a:off x="0" y="0"/>
          <a:ext cx="0" cy="0"/>
          <a:chOff x="0" y="0"/>
          <a:chExt cx="0" cy="0"/>
        </a:xfrm>
      </p:grpSpPr>
      <p:sp>
        <p:nvSpPr>
          <p:cNvPr id="39" name="Google Shape;39;p30"/>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40" name="Google Shape;40;p30"/>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41" name="Google Shape;41;p30"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42" name="Google Shape;42;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3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
        <p:cNvGrpSpPr/>
        <p:nvPr/>
      </p:nvGrpSpPr>
      <p:grpSpPr>
        <a:xfrm>
          <a:off x="0" y="0"/>
          <a:ext cx="0" cy="0"/>
          <a:chOff x="0" y="0"/>
          <a:chExt cx="0" cy="0"/>
        </a:xfrm>
      </p:grpSpPr>
      <p:sp>
        <p:nvSpPr>
          <p:cNvPr id="50" name="Google Shape;50;p3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1" name="Google Shape;51;p32"/>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52" name="Google Shape;52;p32"/>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53" name="Google Shape;53;p32" descr="https://encrypted-tbn3.gstatic.com/images?q=tbn:ANd9GcTyg3Gq4WoxkxO75aZWNEjYFvavmMfWdiMvs57jpDF8YRR3yCybqQ"/>
          <p:cNvPicPr preferRelativeResize="0"/>
          <p:nvPr/>
        </p:nvPicPr>
        <p:blipFill rotWithShape="1">
          <a:blip r:embed="rId2">
            <a:alphaModFix/>
          </a:blip>
          <a:srcRect/>
          <a:stretch/>
        </p:blipFill>
        <p:spPr>
          <a:xfrm>
            <a:off x="152400" y="152400"/>
            <a:ext cx="768350" cy="1219200"/>
          </a:xfrm>
          <a:prstGeom prst="rect">
            <a:avLst/>
          </a:prstGeom>
          <a:noFill/>
          <a:ln>
            <a:noFill/>
          </a:ln>
        </p:spPr>
      </p:pic>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6" name="Google Shape;56;p3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31" name="Google Shape;131;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5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06" name="Google Shape;206;p5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7" name="Google Shape;207;p5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08" name="Google Shape;208;p57"/>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09" name="Google Shape;209;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0" name="Google Shape;210;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1" name="Google Shape;211;p5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5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0" name="Google Shape;220;p5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1" name="Google Shape;221;p5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22" name="Google Shape;222;p59"/>
          <p:cNvSpPr txBox="1"/>
          <p:nvPr/>
        </p:nvSpPr>
        <p:spPr>
          <a:xfrm>
            <a:off x="3009900" y="0"/>
            <a:ext cx="6057900" cy="354012"/>
          </a:xfrm>
          <a:prstGeom prst="rect">
            <a:avLst/>
          </a:prstGeom>
          <a:solidFill>
            <a:srgbClr val="63252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n-US" sz="1700" b="1" i="0" u="none">
                <a:solidFill>
                  <a:schemeClr val="lt1"/>
                </a:solidFill>
                <a:latin typeface="Calibri"/>
                <a:ea typeface="Calibri"/>
                <a:cs typeface="Calibri"/>
                <a:sym typeface="Calibri"/>
              </a:rPr>
              <a:t>Department of Computer and Communicationq Engineering (CCE)</a:t>
            </a:r>
            <a:endParaRPr/>
          </a:p>
        </p:txBody>
      </p:sp>
    </p:spTree>
  </p:cSld>
  <p:clrMap bg1="lt1" tx1="dk1" bg2="dk2" tx2="lt2" accent1="accent1" accent2="accent2" accent3="accent3" accent4="accent4" accent5="accent5" accent6="accent6" hlink="hlink" folHlink="folHlink"/>
  <p:sldLayoutIdLst>
    <p:sldLayoutId id="214748368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1"/>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8" name="Google Shape;228;p61"/>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9" name="Google Shape;229;p61"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30" name="Google Shape;230;p61"/>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31" name="Google Shape;231;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2" name="Google Shape;232;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3" name="Google Shape;233;p6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3"/>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40" name="Google Shape;240;p63"/>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41" name="Google Shape;241;p63"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42" name="Google Shape;2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3" name="Google Shape;2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4" name="Google Shape;244;p63"/>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65"/>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54" name="Google Shape;254;p65"/>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55" name="Google Shape;255;p65"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56" name="Google Shape;256;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7" name="Google Shape;25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8" name="Google Shape;258;p65"/>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6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68" name="Google Shape;268;p6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69" name="Google Shape;269;p6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70" name="Google Shape;27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1" name="Google Shape;27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2" name="Google Shape;272;p6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
        <p:cNvGrpSpPr/>
        <p:nvPr/>
      </p:nvGrpSpPr>
      <p:grpSpPr>
        <a:xfrm>
          <a:off x="0" y="0"/>
          <a:ext cx="0" cy="0"/>
          <a:chOff x="0" y="0"/>
          <a:chExt cx="0" cy="0"/>
        </a:xfrm>
      </p:grpSpPr>
      <p:sp>
        <p:nvSpPr>
          <p:cNvPr id="280" name="Google Shape;280;p6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81" name="Google Shape;281;p6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2" name="Google Shape;282;p6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83" name="Google Shape;283;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4" name="Google Shape;284;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5" name="Google Shape;285;p6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71"/>
          <p:cNvSpPr txBox="1"/>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4" name="Google Shape;294;p71"/>
          <p:cNvSpPr txBox="1"/>
          <p:nvPr/>
        </p:nvSpPr>
        <p:spPr>
          <a:xfrm>
            <a:off x="8458200" y="6499225"/>
            <a:ext cx="84137" cy="8413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5" name="Google Shape;295;p71"/>
          <p:cNvSpPr txBox="1"/>
          <p:nvPr/>
        </p:nvSpPr>
        <p:spPr>
          <a:xfrm>
            <a:off x="569912" y="6499225"/>
            <a:ext cx="84137" cy="8413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6" name="Google Shape;296;p71"/>
          <p:cNvSpPr txBox="1"/>
          <p:nvPr/>
        </p:nvSpPr>
        <p:spPr>
          <a:xfrm>
            <a:off x="585787" y="0"/>
            <a:ext cx="8128000" cy="74453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7" name="Google Shape;297;p71"/>
          <p:cNvSpPr txBox="1"/>
          <p:nvPr/>
        </p:nvSpPr>
        <p:spPr>
          <a:xfrm>
            <a:off x="2684462" y="446087"/>
            <a:ext cx="3773487" cy="103663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8" name="Google Shape;298;p71"/>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100"/>
              </a:spcBef>
              <a:spcAft>
                <a:spcPts val="0"/>
              </a:spcAft>
              <a:buSzPts val="1400"/>
              <a:buNone/>
              <a:defRPr sz="1200" b="0" i="0" u="none">
                <a:solidFill>
                  <a:srgbClr val="003366"/>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9" name="Google Shape;299;p71"/>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0" name="Google Shape;300;p71"/>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9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www.javatpoint.com/cloud-computing-vs-grid-computing"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https://www.eukhost.com/blog/webhosting/what-is-utility-computing/"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Id3" imgW="2478087" imgH="3148012" progId="">
                  <p:embed/>
                </p:oleObj>
              </mc:Choice>
              <mc:Fallback>
                <p:oleObj r:id="rId3" imgW="2478087" imgH="3148012" progId="">
                  <p:embed/>
                  <p:pic>
                    <p:nvPicPr>
                      <p:cNvPr id="317" name="Google Shape;317;p1"/>
                      <p:cNvPicPr preferRelativeResize="0"/>
                      <p:nvPr/>
                    </p:nvPicPr>
                    <p:blipFill rotWithShape="1">
                      <a:blip r:embed="rId4">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Id5">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Topic: cloud computing </a:t>
            </a:r>
            <a:endParaRPr/>
          </a:p>
        </p:txBody>
      </p:sp>
      <p:pic>
        <p:nvPicPr>
          <p:cNvPr id="327" name="Google Shape;327;p1"/>
          <p:cNvPicPr preferRelativeResize="0"/>
          <p:nvPr/>
        </p:nvPicPr>
        <p:blipFill rotWithShape="1">
          <a:blip r:embed="rId6">
            <a:alphaModFix/>
          </a:blip>
          <a:srcRect/>
          <a:stretch/>
        </p:blipFill>
        <p:spPr>
          <a:xfrm>
            <a:off x="76200" y="76200"/>
            <a:ext cx="2613025"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2800"/>
              <a:buFont typeface="Cambria"/>
              <a:buNone/>
            </a:pPr>
            <a:r>
              <a:rPr lang="en-US" sz="2800" b="1" i="0" u="none" strike="noStrike" cap="none">
                <a:solidFill>
                  <a:srgbClr val="C00000"/>
                </a:solidFill>
                <a:latin typeface="Cambria"/>
                <a:ea typeface="Cambria"/>
                <a:cs typeface="Cambria"/>
                <a:sym typeface="Cambria"/>
              </a:rPr>
              <a:t>Learning Objectives &amp; Outcomes</a:t>
            </a:r>
            <a:endParaRPr/>
          </a:p>
        </p:txBody>
      </p:sp>
      <p:sp>
        <p:nvSpPr>
          <p:cNvPr id="339" name="Google Shape;339;p3"/>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ambria"/>
                <a:ea typeface="Cambria"/>
                <a:cs typeface="Cambria"/>
                <a:sym typeface="Cambria"/>
              </a:rPr>
              <a:t>Objective:</a:t>
            </a:r>
            <a:endParaRPr sz="2400" b="1"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To understand the meaning of cloud and cloud Computing</a:t>
            </a: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r>
              <a:rPr lang="en-US" sz="2400" b="1" i="0" u="none" strike="noStrike" cap="none">
                <a:solidFill>
                  <a:schemeClr val="dk1"/>
                </a:solidFill>
                <a:latin typeface="Cambria"/>
                <a:ea typeface="Cambria"/>
                <a:cs typeface="Cambria"/>
                <a:sym typeface="Cambria"/>
              </a:rPr>
              <a:t>Outcome:</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Student will understand</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The meaning of cloud and cloud Computing</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 How its works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sz="4400" b="1" i="0" u="none" strike="noStrike" cap="none">
                <a:solidFill>
                  <a:srgbClr val="FF0000"/>
                </a:solidFill>
                <a:latin typeface="Times New Roman"/>
                <a:ea typeface="Times New Roman"/>
                <a:cs typeface="Times New Roman"/>
                <a:sym typeface="Times New Roman"/>
              </a:rPr>
              <a:t>Cloud Computing</a:t>
            </a:r>
            <a:endParaRPr sz="4400" b="1"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
          <p:cNvSpPr txBox="1">
            <a:spLocks noGrp="1"/>
          </p:cNvSpPr>
          <p:nvPr>
            <p:ph type="title"/>
          </p:nvPr>
        </p:nvSpPr>
        <p:spPr>
          <a:xfrm>
            <a:off x="914400" y="8382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800"/>
              <a:buFont typeface="Times New Roman"/>
              <a:buNone/>
            </a:pPr>
            <a:r>
              <a:rPr lang="en-US" sz="2800" b="1" i="0" u="none" strike="noStrike" cap="none">
                <a:solidFill>
                  <a:srgbClr val="FF0000"/>
                </a:solidFill>
                <a:latin typeface="Times New Roman"/>
                <a:ea typeface="Times New Roman"/>
                <a:cs typeface="Times New Roman"/>
                <a:sym typeface="Times New Roman"/>
              </a:rPr>
              <a:t>Overview</a:t>
            </a:r>
            <a:endParaRPr/>
          </a:p>
        </p:txBody>
      </p:sp>
      <p:sp>
        <p:nvSpPr>
          <p:cNvPr id="351" name="Google Shape;351;p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p>
            <a:pPr marL="433387" marR="0" lvl="0" indent="-422274" algn="l" rtl="0">
              <a:lnSpc>
                <a:spcPct val="100000"/>
              </a:lnSpc>
              <a:spcBef>
                <a:spcPts val="0"/>
              </a:spcBef>
              <a:spcAft>
                <a:spcPts val="0"/>
              </a:spcAft>
              <a:buClr>
                <a:srgbClr val="2C395E"/>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What is cloud Computing?</a:t>
            </a:r>
            <a:endParaRPr/>
          </a:p>
          <a:p>
            <a:pPr marL="433387" marR="0" lvl="0" indent="-422274" algn="l" rtl="0">
              <a:lnSpc>
                <a:spcPct val="100000"/>
              </a:lnSpc>
              <a:spcBef>
                <a:spcPts val="480"/>
              </a:spcBef>
              <a:spcAft>
                <a:spcPts val="0"/>
              </a:spcAft>
              <a:buClr>
                <a:srgbClr val="2C395E"/>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 Why do we need cloud computing?</a:t>
            </a:r>
            <a:endParaRPr sz="2400" b="0" i="0" u="none" strike="noStrike" cap="none">
              <a:solidFill>
                <a:schemeClr val="dk1"/>
              </a:solidFill>
              <a:latin typeface="Times New Roman"/>
              <a:ea typeface="Times New Roman"/>
              <a:cs typeface="Times New Roman"/>
              <a:sym typeface="Times New Roman"/>
            </a:endParaRPr>
          </a:p>
          <a:p>
            <a:pPr marL="433387" marR="0" lvl="0" indent="-422274" algn="l" rtl="0">
              <a:lnSpc>
                <a:spcPct val="100000"/>
              </a:lnSpc>
              <a:spcBef>
                <a:spcPts val="480"/>
              </a:spcBef>
              <a:spcAft>
                <a:spcPts val="0"/>
              </a:spcAft>
              <a:buClr>
                <a:srgbClr val="2C395E"/>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Characteristics of cloud computing.</a:t>
            </a:r>
            <a:endParaRPr sz="2400" b="0" i="0" u="none" strike="noStrike" cap="none">
              <a:solidFill>
                <a:schemeClr val="dk1"/>
              </a:solidFill>
              <a:latin typeface="Times New Roman"/>
              <a:ea typeface="Times New Roman"/>
              <a:cs typeface="Times New Roman"/>
              <a:sym typeface="Times New Roman"/>
            </a:endParaRPr>
          </a:p>
          <a:p>
            <a:pPr marL="433387" marR="0" lvl="0" indent="-422274" algn="l" rtl="0">
              <a:lnSpc>
                <a:spcPct val="100000"/>
              </a:lnSpc>
              <a:spcBef>
                <a:spcPts val="480"/>
              </a:spcBef>
              <a:spcAft>
                <a:spcPts val="0"/>
              </a:spcAft>
              <a:buClr>
                <a:srgbClr val="2C395E"/>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Origin of cloud computing.</a:t>
            </a:r>
            <a:endParaRPr sz="2400" b="0" i="0" u="none" strike="noStrike" cap="none">
              <a:solidFill>
                <a:schemeClr val="dk1"/>
              </a:solidFill>
              <a:latin typeface="Times New Roman"/>
              <a:ea typeface="Times New Roman"/>
              <a:cs typeface="Times New Roman"/>
              <a:sym typeface="Times New Roman"/>
            </a:endParaRPr>
          </a:p>
          <a:p>
            <a:pPr marL="433387" marR="0" lvl="0" indent="-422274" algn="l" rtl="0">
              <a:lnSpc>
                <a:spcPct val="100000"/>
              </a:lnSpc>
              <a:spcBef>
                <a:spcPts val="0"/>
              </a:spcBef>
              <a:spcAft>
                <a:spcPts val="0"/>
              </a:spcAft>
              <a:buClr>
                <a:srgbClr val="2C395E"/>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Advantages</a:t>
            </a:r>
            <a:endParaRPr sz="2400" b="0" i="0" u="none" strike="noStrike" cap="none">
              <a:solidFill>
                <a:schemeClr val="dk1"/>
              </a:solidFill>
              <a:latin typeface="Times New Roman"/>
              <a:ea typeface="Times New Roman"/>
              <a:cs typeface="Times New Roman"/>
              <a:sym typeface="Times New Roman"/>
            </a:endParaRPr>
          </a:p>
          <a:p>
            <a:pPr marL="433387" marR="0" lvl="0" indent="-422274" algn="l" rtl="0">
              <a:lnSpc>
                <a:spcPct val="100000"/>
              </a:lnSpc>
              <a:spcBef>
                <a:spcPts val="480"/>
              </a:spcBef>
              <a:spcAft>
                <a:spcPts val="0"/>
              </a:spcAft>
              <a:buClr>
                <a:srgbClr val="2C395E"/>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Disadvantages</a:t>
            </a:r>
            <a:endParaRPr/>
          </a:p>
          <a:p>
            <a:pPr marL="433387" marR="0" lvl="0" indent="-422274" algn="l" rtl="0">
              <a:lnSpc>
                <a:spcPct val="100000"/>
              </a:lnSpc>
              <a:spcBef>
                <a:spcPts val="480"/>
              </a:spcBef>
              <a:spcAft>
                <a:spcPts val="0"/>
              </a:spcAft>
              <a:buClr>
                <a:srgbClr val="2C395E"/>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Applications of cloud computing</a:t>
            </a:r>
            <a:endParaRPr/>
          </a:p>
          <a:p>
            <a:pPr marL="433387" marR="0" lvl="0" indent="-422274" algn="l" rtl="0">
              <a:lnSpc>
                <a:spcPct val="100000"/>
              </a:lnSpc>
              <a:spcBef>
                <a:spcPts val="480"/>
              </a:spcBef>
              <a:spcAft>
                <a:spcPts val="0"/>
              </a:spcAft>
              <a:buClr>
                <a:srgbClr val="2C395E"/>
              </a:buClr>
              <a:buSzPts val="2400"/>
              <a:buFont typeface="Noto Sans Symbols"/>
              <a:buChar char="⮚"/>
            </a:pPr>
            <a:r>
              <a:rPr lang="en-US" sz="2400" b="0" i="0" u="none" strike="noStrike" cap="none">
                <a:solidFill>
                  <a:schemeClr val="dk1"/>
                </a:solidFill>
                <a:latin typeface="Times New Roman"/>
                <a:ea typeface="Times New Roman"/>
                <a:cs typeface="Times New Roman"/>
                <a:sym typeface="Times New Roman"/>
              </a:rPr>
              <a:t>Conclusion</a:t>
            </a:r>
            <a:endParaRPr sz="2400" b="0" i="0" u="none" strike="noStrike" cap="none">
              <a:solidFill>
                <a:schemeClr val="dk1"/>
              </a:solidFill>
              <a:latin typeface="Cambria"/>
              <a:ea typeface="Cambria"/>
              <a:cs typeface="Cambria"/>
              <a:sym typeface="Cambria"/>
            </a:endParaRPr>
          </a:p>
          <a:p>
            <a:pPr marL="342900" marR="0" lvl="0" indent="-190500" algn="l" rtl="0">
              <a:spcBef>
                <a:spcPts val="480"/>
              </a:spcBef>
              <a:spcAft>
                <a:spcPts val="0"/>
              </a:spcAft>
              <a:buClr>
                <a:schemeClr val="dk1"/>
              </a:buClr>
              <a:buSzPts val="2400"/>
              <a:buFont typeface="Arial"/>
              <a:buNone/>
            </a:pPr>
            <a:endParaRPr sz="2400" b="0" i="0" u="none">
              <a:solidFill>
                <a:schemeClr val="dk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6"/>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800"/>
              <a:buFont typeface="Times New Roman"/>
              <a:buNone/>
            </a:pPr>
            <a:r>
              <a:rPr lang="en-US" sz="2800" b="1" i="0" u="none" strike="noStrike" cap="none">
                <a:solidFill>
                  <a:srgbClr val="FF0000"/>
                </a:solidFill>
                <a:latin typeface="Times New Roman"/>
                <a:ea typeface="Times New Roman"/>
                <a:cs typeface="Times New Roman"/>
                <a:sym typeface="Times New Roman"/>
              </a:rPr>
              <a:t>What is Cloud Computing</a:t>
            </a:r>
            <a:endParaRPr sz="2800" b="1" i="0" u="none" strike="noStrike" cap="none">
              <a:solidFill>
                <a:srgbClr val="FF0000"/>
              </a:solidFill>
              <a:latin typeface="Cambria"/>
              <a:ea typeface="Cambria"/>
              <a:cs typeface="Cambria"/>
              <a:sym typeface="Cambria"/>
            </a:endParaRPr>
          </a:p>
        </p:txBody>
      </p:sp>
      <p:sp>
        <p:nvSpPr>
          <p:cNvPr id="357" name="Google Shape;357;p6"/>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Autofit/>
          </a:bodyPr>
          <a:lstStyle/>
          <a:p>
            <a:pPr marL="355600" marR="0" lvl="0" indent="-342900" algn="just" rtl="0">
              <a:lnSpc>
                <a:spcPct val="100000"/>
              </a:lnSpc>
              <a:spcBef>
                <a:spcPts val="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The term cloud refers to a network or the internet.</a:t>
            </a:r>
            <a:endParaRPr/>
          </a:p>
          <a:p>
            <a:pPr marL="355600" marR="0" lvl="0" indent="-342900" algn="just" rtl="0">
              <a:lnSpc>
                <a:spcPct val="100000"/>
              </a:lnSpc>
              <a:spcBef>
                <a:spcPts val="10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 It is a technology that uses remote servers on the internet to store, manage, and access data online rather than local drives. The data can be anything such as files, images, documents, audio, video, and more.</a:t>
            </a:r>
            <a:endParaRPr/>
          </a:p>
          <a:p>
            <a:pPr marL="355600" marR="0" lvl="0" indent="-190500" algn="just" rtl="0">
              <a:lnSpc>
                <a:spcPct val="100000"/>
              </a:lnSpc>
              <a:spcBef>
                <a:spcPts val="100"/>
              </a:spcBef>
              <a:spcAft>
                <a:spcPts val="0"/>
              </a:spcAft>
              <a:buClr>
                <a:schemeClr val="dk1"/>
              </a:buClr>
              <a:buSzPts val="2400"/>
              <a:buFont typeface="Arial"/>
              <a:buNone/>
            </a:pPr>
            <a:endParaRPr sz="2400" b="0" i="0" u="none">
              <a:solidFill>
                <a:schemeClr val="dk1"/>
              </a:solidFill>
              <a:latin typeface="Cambria"/>
              <a:ea typeface="Cambria"/>
              <a:cs typeface="Cambria"/>
              <a:sym typeface="Cambria"/>
            </a:endParaRPr>
          </a:p>
          <a:p>
            <a:pPr marL="355600" marR="0" lvl="0" indent="-342900" algn="just" rtl="0">
              <a:lnSpc>
                <a:spcPct val="100000"/>
              </a:lnSpc>
              <a:spcBef>
                <a:spcPts val="10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Cloud computing is a virtualization-based technology that allows us to create, configure, and customize applications via an internet connection. </a:t>
            </a:r>
            <a:endParaRPr/>
          </a:p>
          <a:p>
            <a:pPr marL="355600" marR="0" lvl="0" indent="-342900" algn="just" rtl="0">
              <a:lnSpc>
                <a:spcPct val="100000"/>
              </a:lnSpc>
              <a:spcBef>
                <a:spcPts val="10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The cloud technology includes a development platform, hard disk, software application, and database.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7"/>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800"/>
              <a:buFont typeface="Times New Roman"/>
              <a:buNone/>
            </a:pPr>
            <a:r>
              <a:rPr lang="en-US" sz="2800" b="1" i="0" u="none" strike="noStrike" cap="none">
                <a:solidFill>
                  <a:srgbClr val="FF0000"/>
                </a:solidFill>
                <a:latin typeface="Times New Roman"/>
                <a:ea typeface="Times New Roman"/>
                <a:cs typeface="Times New Roman"/>
                <a:sym typeface="Times New Roman"/>
              </a:rPr>
              <a:t>What is cloud </a:t>
            </a:r>
            <a:endParaRPr sz="2800" b="1" i="0" u="none" strike="noStrike" cap="none">
              <a:solidFill>
                <a:srgbClr val="FF0000"/>
              </a:solidFill>
              <a:latin typeface="Times New Roman"/>
              <a:ea typeface="Times New Roman"/>
              <a:cs typeface="Times New Roman"/>
              <a:sym typeface="Times New Roman"/>
            </a:endParaRPr>
          </a:p>
        </p:txBody>
      </p:sp>
      <p:sp>
        <p:nvSpPr>
          <p:cNvPr id="363" name="Google Shape;363;p7"/>
          <p:cNvSpPr txBox="1">
            <a:spLocks noGrp="1"/>
          </p:cNvSpPr>
          <p:nvPr>
            <p:ph type="body" idx="1"/>
          </p:nvPr>
        </p:nvSpPr>
        <p:spPr>
          <a:xfrm>
            <a:off x="457200" y="1752600"/>
            <a:ext cx="8458200" cy="44958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 </a:t>
            </a:r>
            <a:r>
              <a:rPr lang="en-US" sz="2400" b="1" i="0" u="none">
                <a:solidFill>
                  <a:schemeClr val="dk1"/>
                </a:solidFill>
                <a:latin typeface="Cambria"/>
                <a:ea typeface="Cambria"/>
                <a:cs typeface="Cambria"/>
                <a:sym typeface="Cambria"/>
              </a:rPr>
              <a:t>cloud</a:t>
            </a:r>
            <a:r>
              <a:rPr lang="en-US" sz="2400" b="0" i="0" u="none">
                <a:solidFill>
                  <a:schemeClr val="dk1"/>
                </a:solidFill>
                <a:latin typeface="Cambria"/>
                <a:ea typeface="Cambria"/>
                <a:cs typeface="Cambria"/>
                <a:sym typeface="Cambria"/>
              </a:rPr>
              <a:t> is the Internet—more specifically, it's all of the things you can access remotely over the Internet. When something is in the </a:t>
            </a:r>
            <a:r>
              <a:rPr lang="en-US" sz="2400" b="1" i="0" u="none">
                <a:solidFill>
                  <a:schemeClr val="dk1"/>
                </a:solidFill>
                <a:latin typeface="Cambria"/>
                <a:ea typeface="Cambria"/>
                <a:cs typeface="Cambria"/>
                <a:sym typeface="Cambria"/>
              </a:rPr>
              <a:t>cloud</a:t>
            </a:r>
            <a:r>
              <a:rPr lang="en-US" sz="2400" b="0" i="0" u="none">
                <a:solidFill>
                  <a:schemeClr val="dk1"/>
                </a:solidFill>
                <a:latin typeface="Cambria"/>
                <a:ea typeface="Cambria"/>
                <a:cs typeface="Cambria"/>
                <a:sym typeface="Cambria"/>
              </a:rPr>
              <a:t>, it means it's stored on Internet servers instead of your computer's hard drive.</a:t>
            </a:r>
            <a:endParaRPr/>
          </a:p>
          <a:p>
            <a:pPr marL="342900" marR="0" lvl="0" indent="-342900" algn="just"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The word "</a:t>
            </a:r>
            <a:r>
              <a:rPr lang="en-US" sz="2400" b="1" i="0" u="none">
                <a:solidFill>
                  <a:schemeClr val="dk1"/>
                </a:solidFill>
                <a:latin typeface="Cambria"/>
                <a:ea typeface="Cambria"/>
                <a:cs typeface="Cambria"/>
                <a:sym typeface="Cambria"/>
              </a:rPr>
              <a:t>cloud</a:t>
            </a:r>
            <a:r>
              <a:rPr lang="en-US" sz="2400" b="0" i="0" u="none">
                <a:solidFill>
                  <a:schemeClr val="dk1"/>
                </a:solidFill>
                <a:latin typeface="Cambria"/>
                <a:ea typeface="Cambria"/>
                <a:cs typeface="Cambria"/>
                <a:sym typeface="Cambria"/>
              </a:rPr>
              <a:t>" often refers to the Internet, which more precisely means a datacenter full of servers connected to the Internet performing a service. However, the term "</a:t>
            </a:r>
            <a:r>
              <a:rPr lang="en-US" sz="2400" b="1" i="0" u="none">
                <a:solidFill>
                  <a:schemeClr val="dk1"/>
                </a:solidFill>
                <a:latin typeface="Cambria"/>
                <a:ea typeface="Cambria"/>
                <a:cs typeface="Cambria"/>
                <a:sym typeface="Cambria"/>
              </a:rPr>
              <a:t>cloud</a:t>
            </a:r>
            <a:r>
              <a:rPr lang="en-US" sz="2400" b="0" i="0" u="none">
                <a:solidFill>
                  <a:schemeClr val="dk1"/>
                </a:solidFill>
                <a:latin typeface="Cambria"/>
                <a:ea typeface="Cambria"/>
                <a:cs typeface="Cambria"/>
                <a:sym typeface="Cambria"/>
              </a:rPr>
              <a:t> computing" refers to the software and services that have enabled the Internet to become so prominent in everyday life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8"/>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Cambria"/>
              <a:buNone/>
            </a:pPr>
            <a:r>
              <a:rPr lang="en-US" sz="2400" b="1" i="0" u="none" strike="noStrike" cap="none">
                <a:solidFill>
                  <a:schemeClr val="dk1"/>
                </a:solidFill>
                <a:latin typeface="Cambria"/>
                <a:ea typeface="Cambria"/>
                <a:cs typeface="Cambria"/>
                <a:sym typeface="Cambria"/>
              </a:rPr>
              <a:t>operations that we can do using cloud computing</a:t>
            </a:r>
            <a:endParaRPr sz="2400" b="1" i="0" u="none" strike="noStrike" cap="none">
              <a:solidFill>
                <a:schemeClr val="dk1"/>
              </a:solidFill>
              <a:latin typeface="Cambria"/>
              <a:ea typeface="Cambria"/>
              <a:cs typeface="Cambria"/>
              <a:sym typeface="Cambria"/>
            </a:endParaRPr>
          </a:p>
        </p:txBody>
      </p:sp>
      <p:sp>
        <p:nvSpPr>
          <p:cNvPr id="369" name="Google Shape;369;p8"/>
          <p:cNvSpPr txBox="1">
            <a:spLocks noGrp="1"/>
          </p:cNvSpPr>
          <p:nvPr>
            <p:ph type="body" idx="1"/>
          </p:nvPr>
        </p:nvSpPr>
        <p:spPr>
          <a:xfrm>
            <a:off x="914400" y="2362200"/>
            <a:ext cx="8001000" cy="3429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Developing new applications and services</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Storage, back up, and recovery of data</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Hosting blogs and websites</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Delivery of software on demand</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Analysis of data</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Streaming videos and audios</a:t>
            </a:r>
            <a:endParaRPr/>
          </a:p>
          <a:p>
            <a:pPr marL="342900" marR="0" lvl="0" indent="-190500" algn="l" rtl="0">
              <a:spcBef>
                <a:spcPts val="480"/>
              </a:spcBef>
              <a:spcAft>
                <a:spcPts val="0"/>
              </a:spcAft>
              <a:buClr>
                <a:schemeClr val="dk1"/>
              </a:buClr>
              <a:buSzPts val="2400"/>
              <a:buFont typeface="Arial"/>
              <a:buNone/>
            </a:pPr>
            <a:endParaRPr sz="2400" b="0" i="0" u="none">
              <a:solidFill>
                <a:schemeClr val="dk1"/>
              </a:solidFill>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9"/>
          <p:cNvSpPr txBox="1"/>
          <p:nvPr/>
        </p:nvSpPr>
        <p:spPr>
          <a:xfrm>
            <a:off x="4154487" y="2933700"/>
            <a:ext cx="76200" cy="2397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76" name="Google Shape;376;p9"/>
          <p:cNvSpPr txBox="1"/>
          <p:nvPr/>
        </p:nvSpPr>
        <p:spPr>
          <a:xfrm>
            <a:off x="8559800" y="6432550"/>
            <a:ext cx="109537" cy="207962"/>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5</a:t>
            </a:r>
            <a:endParaRPr/>
          </a:p>
        </p:txBody>
      </p:sp>
      <p:sp>
        <p:nvSpPr>
          <p:cNvPr id="377" name="Google Shape;377;p9"/>
          <p:cNvSpPr txBox="1">
            <a:spLocks noGrp="1"/>
          </p:cNvSpPr>
          <p:nvPr>
            <p:ph type="body" idx="1"/>
          </p:nvPr>
        </p:nvSpPr>
        <p:spPr>
          <a:xfrm>
            <a:off x="304800" y="1447800"/>
            <a:ext cx="8686800" cy="48006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200"/>
              <a:buFont typeface="Arial"/>
              <a:buChar char="•"/>
            </a:pPr>
            <a:r>
              <a:rPr lang="en-US" sz="2200" b="0" i="0" u="none" strike="noStrike" cap="none">
                <a:solidFill>
                  <a:schemeClr val="dk1"/>
                </a:solidFill>
                <a:latin typeface="Cambria"/>
                <a:ea typeface="Cambria"/>
                <a:cs typeface="Cambria"/>
                <a:sym typeface="Cambria"/>
              </a:rPr>
              <a:t>Small as well as large IT companies, follow the traditional methods to provide the IT infrastructure. That means </a:t>
            </a:r>
            <a:r>
              <a:rPr lang="en-US" sz="2200" b="1" i="0" u="none" strike="noStrike" cap="none">
                <a:solidFill>
                  <a:schemeClr val="dk1"/>
                </a:solidFill>
                <a:latin typeface="Cambria"/>
                <a:ea typeface="Cambria"/>
                <a:cs typeface="Cambria"/>
                <a:sym typeface="Cambria"/>
              </a:rPr>
              <a:t>for any IT company, we need a Server Room that is the basic need of IT companies</a:t>
            </a:r>
            <a:r>
              <a:rPr lang="en-US" sz="2200" b="0" i="0" u="none" strike="noStrike" cap="none">
                <a:solidFill>
                  <a:schemeClr val="dk1"/>
                </a:solidFill>
                <a:latin typeface="Cambria"/>
                <a:ea typeface="Cambria"/>
                <a:cs typeface="Cambria"/>
                <a:sym typeface="Cambria"/>
              </a:rPr>
              <a:t>.</a:t>
            </a:r>
            <a:endParaRPr/>
          </a:p>
          <a:p>
            <a:pPr marL="342900" marR="0" lvl="0" indent="-342900" algn="just" rtl="0">
              <a:lnSpc>
                <a:spcPct val="100000"/>
              </a:lnSpc>
              <a:spcBef>
                <a:spcPts val="440"/>
              </a:spcBef>
              <a:spcAft>
                <a:spcPts val="0"/>
              </a:spcAft>
              <a:buClr>
                <a:schemeClr val="dk1"/>
              </a:buClr>
              <a:buSzPts val="2200"/>
              <a:buFont typeface="Arial"/>
              <a:buChar char="•"/>
            </a:pPr>
            <a:r>
              <a:rPr lang="en-US" sz="2200" b="0" i="0" u="none" strike="noStrike" cap="none">
                <a:solidFill>
                  <a:schemeClr val="dk1"/>
                </a:solidFill>
                <a:latin typeface="Cambria"/>
                <a:ea typeface="Cambria"/>
                <a:cs typeface="Cambria"/>
                <a:sym typeface="Cambria"/>
              </a:rPr>
              <a:t>In that server room, there should be a database server, mail server, networking, firewalls, routers, modem, switches, QPS (Query Per Second means how much queries or load will be handled by the server), configurable system, high net speed, and the maintenance engineers.</a:t>
            </a:r>
            <a:endParaRPr/>
          </a:p>
          <a:p>
            <a:pPr marL="342900" marR="0" lvl="0" indent="-342900" algn="just" rtl="0">
              <a:lnSpc>
                <a:spcPct val="100000"/>
              </a:lnSpc>
              <a:spcBef>
                <a:spcPts val="440"/>
              </a:spcBef>
              <a:spcAft>
                <a:spcPts val="0"/>
              </a:spcAft>
              <a:buClr>
                <a:schemeClr val="dk1"/>
              </a:buClr>
              <a:buSzPts val="2200"/>
              <a:buFont typeface="Arial"/>
              <a:buChar char="•"/>
            </a:pPr>
            <a:r>
              <a:rPr lang="en-US" sz="2200" b="0" i="0" u="none" strike="noStrike" cap="none">
                <a:solidFill>
                  <a:schemeClr val="dk1"/>
                </a:solidFill>
                <a:latin typeface="Cambria"/>
                <a:ea typeface="Cambria"/>
                <a:cs typeface="Cambria"/>
                <a:sym typeface="Cambria"/>
              </a:rPr>
              <a:t>To establish such IT infrastructure, we need to spend lots of money. To overcome all these problems and to reduce the IT infrastructure cost, Cloud Computing comes into existence.</a:t>
            </a:r>
            <a:endParaRPr/>
          </a:p>
          <a:p>
            <a:pPr marL="342900" marR="0" lvl="0" indent="-203200" algn="l" rtl="0">
              <a:spcBef>
                <a:spcPts val="440"/>
              </a:spcBef>
              <a:spcAft>
                <a:spcPts val="0"/>
              </a:spcAft>
              <a:buClr>
                <a:schemeClr val="dk1"/>
              </a:buClr>
              <a:buSzPts val="2200"/>
              <a:buFont typeface="Arial"/>
              <a:buNone/>
            </a:pPr>
            <a:endParaRPr sz="2200" b="0" i="0" u="none">
              <a:solidFill>
                <a:schemeClr val="dk1"/>
              </a:solidFill>
              <a:latin typeface="Cambria"/>
              <a:ea typeface="Cambria"/>
              <a:cs typeface="Cambria"/>
              <a:sym typeface="Cambria"/>
            </a:endParaRPr>
          </a:p>
        </p:txBody>
      </p:sp>
      <p:sp>
        <p:nvSpPr>
          <p:cNvPr id="378" name="Google Shape;378;p9"/>
          <p:cNvSpPr txBox="1">
            <a:spLocks noGrp="1"/>
          </p:cNvSpPr>
          <p:nvPr>
            <p:ph type="body" idx="1"/>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p>
            <a:pPr marL="342900" lvl="0" indent="-342900" algn="ctr" rtl="0">
              <a:lnSpc>
                <a:spcPct val="80000"/>
              </a:lnSpc>
              <a:spcBef>
                <a:spcPts val="0"/>
              </a:spcBef>
              <a:spcAft>
                <a:spcPts val="0"/>
              </a:spcAft>
              <a:buClr>
                <a:schemeClr val="dk1"/>
              </a:buClr>
              <a:buSzPts val="1500"/>
              <a:buNone/>
            </a:pPr>
            <a:endParaRPr sz="1500" b="1" i="0" u="none">
              <a:solidFill>
                <a:srgbClr val="C00000"/>
              </a:solidFill>
              <a:latin typeface="Cambria"/>
              <a:ea typeface="Cambria"/>
              <a:cs typeface="Cambria"/>
              <a:sym typeface="Cambria"/>
            </a:endParaRPr>
          </a:p>
          <a:p>
            <a:pPr marL="342900" lvl="0" indent="-342900" algn="ctr" rtl="0">
              <a:lnSpc>
                <a:spcPct val="80000"/>
              </a:lnSpc>
              <a:spcBef>
                <a:spcPts val="480"/>
              </a:spcBef>
              <a:spcAft>
                <a:spcPts val="0"/>
              </a:spcAft>
              <a:buClr>
                <a:srgbClr val="C00000"/>
              </a:buClr>
              <a:buSzPts val="2400"/>
              <a:buNone/>
            </a:pPr>
            <a:r>
              <a:rPr lang="en-US" sz="2400" b="1" i="0" u="none">
                <a:solidFill>
                  <a:srgbClr val="C00000"/>
                </a:solidFill>
                <a:latin typeface="Cambria"/>
                <a:ea typeface="Cambria"/>
                <a:cs typeface="Cambria"/>
                <a:sym typeface="Cambria"/>
              </a:rPr>
              <a:t>Why Cloud Computing?</a:t>
            </a:r>
            <a:endParaRPr/>
          </a:p>
          <a:p>
            <a:pPr marL="342900" lvl="0" indent="-190500" algn="l" rtl="0">
              <a:spcBef>
                <a:spcPts val="480"/>
              </a:spcBef>
              <a:spcAft>
                <a:spcPts val="0"/>
              </a:spcAft>
              <a:buClr>
                <a:schemeClr val="dk1"/>
              </a:buClr>
              <a:buSzPts val="2400"/>
              <a:buNone/>
            </a:pPr>
            <a:endParaRPr sz="2400" b="1" i="0" u="none">
              <a:solidFill>
                <a:srgbClr val="C00000"/>
              </a:solidFill>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10"/>
          <p:cNvSpPr txBox="1">
            <a:spLocks noGrp="1"/>
          </p:cNvSpPr>
          <p:nvPr>
            <p:ph type="title"/>
          </p:nvPr>
        </p:nvSpPr>
        <p:spPr>
          <a:xfrm>
            <a:off x="1339977" y="416352"/>
            <a:ext cx="6465570" cy="752257"/>
          </a:xfrm>
          <a:prstGeom prst="rect">
            <a:avLst/>
          </a:prstGeom>
          <a:noFill/>
          <a:ln>
            <a:noFill/>
          </a:ln>
        </p:spPr>
        <p:txBody>
          <a:bodyPr spcFirstLastPara="1" wrap="square" lIns="0" tIns="109200" rIns="0" bIns="0" anchor="ctr" anchorCtr="0">
            <a:spAutoFit/>
          </a:bodyPr>
          <a:lstStyle/>
          <a:p>
            <a:pPr marL="1439863" marR="0" lvl="0" indent="-1427163" algn="ctr" rtl="0">
              <a:lnSpc>
                <a:spcPct val="207142"/>
              </a:lnSpc>
              <a:spcBef>
                <a:spcPts val="0"/>
              </a:spcBef>
              <a:spcAft>
                <a:spcPts val="0"/>
              </a:spcAft>
              <a:buClr>
                <a:srgbClr val="FF0000"/>
              </a:buClr>
              <a:buSzPts val="2800"/>
              <a:buFont typeface="Times New Roman"/>
              <a:buNone/>
            </a:pPr>
            <a:r>
              <a:rPr lang="en-US" sz="2800" b="1" i="0" u="none" strike="noStrike" cap="none">
                <a:solidFill>
                  <a:srgbClr val="FF0000"/>
                </a:solidFill>
                <a:latin typeface="Times New Roman"/>
                <a:ea typeface="Times New Roman"/>
                <a:cs typeface="Times New Roman"/>
                <a:sym typeface="Times New Roman"/>
              </a:rPr>
              <a:t>Cloud computing</a:t>
            </a:r>
            <a:endParaRPr sz="2800" b="1" i="0" u="none" strike="noStrike" cap="none">
              <a:solidFill>
                <a:srgbClr val="FF0000"/>
              </a:solidFill>
              <a:latin typeface="Times New Roman"/>
              <a:ea typeface="Times New Roman"/>
              <a:cs typeface="Times New Roman"/>
              <a:sym typeface="Times New Roman"/>
            </a:endParaRPr>
          </a:p>
        </p:txBody>
      </p:sp>
      <p:pic>
        <p:nvPicPr>
          <p:cNvPr id="384" name="Google Shape;384;p10" descr="Cloud Computing"/>
          <p:cNvPicPr preferRelativeResize="0"/>
          <p:nvPr/>
        </p:nvPicPr>
        <p:blipFill rotWithShape="1">
          <a:blip r:embed="rId3">
            <a:alphaModFix/>
          </a:blip>
          <a:srcRect/>
          <a:stretch/>
        </p:blipFill>
        <p:spPr>
          <a:xfrm>
            <a:off x="609600" y="1676400"/>
            <a:ext cx="8001000" cy="449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11"/>
          <p:cNvSpPr txBox="1">
            <a:spLocks noGrp="1"/>
          </p:cNvSpPr>
          <p:nvPr>
            <p:ph type="title"/>
          </p:nvPr>
        </p:nvSpPr>
        <p:spPr>
          <a:xfrm>
            <a:off x="990600" y="637202"/>
            <a:ext cx="7924800" cy="443519"/>
          </a:xfrm>
          <a:prstGeom prst="rect">
            <a:avLst/>
          </a:prstGeom>
          <a:noFill/>
          <a:ln>
            <a:noFill/>
          </a:ln>
        </p:spPr>
        <p:txBody>
          <a:bodyPr spcFirstLastPara="1" wrap="square" lIns="0" tIns="8250" rIns="0" bIns="0" anchor="ctr" anchorCtr="0">
            <a:spAutoFit/>
          </a:bodyPr>
          <a:lstStyle/>
          <a:p>
            <a:pPr marL="2111375" marR="0" lvl="0" indent="-2098675" algn="ctr" rtl="0">
              <a:lnSpc>
                <a:spcPct val="101000"/>
              </a:lnSpc>
              <a:spcBef>
                <a:spcPts val="0"/>
              </a:spcBef>
              <a:spcAft>
                <a:spcPts val="0"/>
              </a:spcAft>
              <a:buClr>
                <a:schemeClr val="dk1"/>
              </a:buClr>
              <a:buSzPts val="2800"/>
              <a:buFont typeface="Cambria"/>
              <a:buNone/>
            </a:pPr>
            <a:r>
              <a:rPr lang="en-US" sz="2800" b="1" i="0" u="none" strike="noStrike" cap="none">
                <a:solidFill>
                  <a:schemeClr val="dk1"/>
                </a:solidFill>
                <a:latin typeface="Cambria"/>
                <a:ea typeface="Cambria"/>
                <a:cs typeface="Cambria"/>
                <a:sym typeface="Cambria"/>
              </a:rPr>
              <a:t>History of Cloud Computing</a:t>
            </a:r>
            <a:endParaRPr sz="2800" b="1" i="0" u="none" strike="noStrike" cap="none">
              <a:solidFill>
                <a:srgbClr val="FF0000"/>
              </a:solidFill>
              <a:latin typeface="Times New Roman"/>
              <a:ea typeface="Times New Roman"/>
              <a:cs typeface="Times New Roman"/>
              <a:sym typeface="Times New Roman"/>
            </a:endParaRPr>
          </a:p>
        </p:txBody>
      </p:sp>
      <p:sp>
        <p:nvSpPr>
          <p:cNvPr id="390" name="Google Shape;390;p11"/>
          <p:cNvSpPr txBox="1">
            <a:spLocks noGrp="1"/>
          </p:cNvSpPr>
          <p:nvPr>
            <p:ph type="body" idx="1"/>
          </p:nvPr>
        </p:nvSpPr>
        <p:spPr>
          <a:xfrm>
            <a:off x="533400" y="1143000"/>
            <a:ext cx="8382000" cy="51054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90000"/>
              </a:lnSpc>
              <a:spcBef>
                <a:spcPts val="0"/>
              </a:spcBef>
              <a:spcAft>
                <a:spcPts val="0"/>
              </a:spcAft>
              <a:buClr>
                <a:schemeClr val="dk1"/>
              </a:buClr>
              <a:buSzPts val="2000"/>
              <a:buFont typeface="Arial"/>
              <a:buChar char="•"/>
            </a:pPr>
            <a:r>
              <a:rPr lang="en-US" sz="2000" b="0" i="0" u="none">
                <a:solidFill>
                  <a:schemeClr val="dk1"/>
                </a:solidFill>
                <a:latin typeface="Cambria"/>
                <a:ea typeface="Cambria"/>
                <a:cs typeface="Cambria"/>
                <a:sym typeface="Cambria"/>
              </a:rPr>
              <a:t>Before emerging the cloud computing, there was Client/Server computing which is basically a centralized storage in which all the software applications, all the data and all the controls are resided on the server side.</a:t>
            </a:r>
            <a:endParaRPr/>
          </a:p>
          <a:p>
            <a:pPr marL="342900" marR="0" lvl="0" indent="-342900" algn="just" rtl="0">
              <a:lnSpc>
                <a:spcPct val="90000"/>
              </a:lnSpc>
              <a:spcBef>
                <a:spcPts val="400"/>
              </a:spcBef>
              <a:spcAft>
                <a:spcPts val="0"/>
              </a:spcAft>
              <a:buClr>
                <a:schemeClr val="dk1"/>
              </a:buClr>
              <a:buSzPts val="2000"/>
              <a:buFont typeface="Arial"/>
              <a:buChar char="•"/>
            </a:pPr>
            <a:r>
              <a:rPr lang="en-US" sz="2000" b="0" i="0" u="none">
                <a:solidFill>
                  <a:schemeClr val="dk1"/>
                </a:solidFill>
                <a:latin typeface="Cambria"/>
                <a:ea typeface="Cambria"/>
                <a:cs typeface="Cambria"/>
                <a:sym typeface="Cambria"/>
              </a:rPr>
              <a:t>At around in 1961, John MacCharty suggested in a speech at MIT that computing can be sold like a utility, just like a water or electricity. </a:t>
            </a:r>
            <a:endParaRPr/>
          </a:p>
          <a:p>
            <a:pPr marL="342900" marR="0" lvl="0" indent="-342900" algn="just" rtl="0">
              <a:lnSpc>
                <a:spcPct val="90000"/>
              </a:lnSpc>
              <a:spcBef>
                <a:spcPts val="400"/>
              </a:spcBef>
              <a:spcAft>
                <a:spcPts val="0"/>
              </a:spcAft>
              <a:buClr>
                <a:schemeClr val="dk1"/>
              </a:buClr>
              <a:buSzPts val="2000"/>
              <a:buFont typeface="Arial"/>
              <a:buChar char="•"/>
            </a:pPr>
            <a:r>
              <a:rPr lang="en-US" sz="2000" b="0" i="0" u="none">
                <a:solidFill>
                  <a:schemeClr val="dk1"/>
                </a:solidFill>
                <a:latin typeface="Cambria"/>
                <a:ea typeface="Cambria"/>
                <a:cs typeface="Cambria"/>
                <a:sym typeface="Cambria"/>
              </a:rPr>
              <a:t>In </a:t>
            </a:r>
            <a:r>
              <a:rPr lang="en-US" sz="2000" b="1" i="0" u="none">
                <a:solidFill>
                  <a:schemeClr val="dk1"/>
                </a:solidFill>
                <a:latin typeface="Cambria"/>
                <a:ea typeface="Cambria"/>
                <a:cs typeface="Cambria"/>
                <a:sym typeface="Cambria"/>
              </a:rPr>
              <a:t>1999, Salesforce.com</a:t>
            </a:r>
            <a:r>
              <a:rPr lang="en-US" sz="2000" b="0" i="0" u="none">
                <a:solidFill>
                  <a:schemeClr val="dk1"/>
                </a:solidFill>
                <a:latin typeface="Cambria"/>
                <a:ea typeface="Cambria"/>
                <a:cs typeface="Cambria"/>
                <a:sym typeface="Cambria"/>
              </a:rPr>
              <a:t> started delivering of applications to users using a simple website. The applications were delivered to enterprises over the Internet, and this way the dream of computing sold as utility were true.</a:t>
            </a:r>
            <a:endParaRPr/>
          </a:p>
          <a:p>
            <a:pPr marL="342900" marR="0" lvl="0" indent="-342900" algn="just" rtl="0">
              <a:lnSpc>
                <a:spcPct val="90000"/>
              </a:lnSpc>
              <a:spcBef>
                <a:spcPts val="400"/>
              </a:spcBef>
              <a:spcAft>
                <a:spcPts val="0"/>
              </a:spcAft>
              <a:buClr>
                <a:schemeClr val="dk1"/>
              </a:buClr>
              <a:buSzPts val="2000"/>
              <a:buFont typeface="Arial"/>
              <a:buChar char="•"/>
            </a:pPr>
            <a:r>
              <a:rPr lang="en-US" sz="2000" b="0" i="0" u="none">
                <a:solidFill>
                  <a:schemeClr val="dk1"/>
                </a:solidFill>
                <a:latin typeface="Cambria"/>
                <a:ea typeface="Cambria"/>
                <a:cs typeface="Cambria"/>
                <a:sym typeface="Cambria"/>
              </a:rPr>
              <a:t>In </a:t>
            </a:r>
            <a:r>
              <a:rPr lang="en-US" sz="2000" b="1" i="0" u="none">
                <a:solidFill>
                  <a:schemeClr val="dk1"/>
                </a:solidFill>
                <a:latin typeface="Cambria"/>
                <a:ea typeface="Cambria"/>
                <a:cs typeface="Cambria"/>
                <a:sym typeface="Cambria"/>
              </a:rPr>
              <a:t>2002, Amazon started Amazon Web Service</a:t>
            </a:r>
            <a:r>
              <a:rPr lang="en-US" sz="2000" b="0" i="0" u="none">
                <a:solidFill>
                  <a:schemeClr val="dk1"/>
                </a:solidFill>
                <a:latin typeface="Cambria"/>
                <a:ea typeface="Cambria"/>
                <a:cs typeface="Cambria"/>
                <a:sym typeface="Cambria"/>
              </a:rPr>
              <a:t>s, providing services like storage, computation and even human intelligence. However, only starting with the launch of the Elastic Compute Cloud in 2006 a truly commercial service open to everybody existed.</a:t>
            </a:r>
            <a:endParaRPr/>
          </a:p>
          <a:p>
            <a:pPr marL="342900" marR="0" lvl="0" indent="-342900" algn="just" rtl="0">
              <a:lnSpc>
                <a:spcPct val="90000"/>
              </a:lnSpc>
              <a:spcBef>
                <a:spcPts val="400"/>
              </a:spcBef>
              <a:spcAft>
                <a:spcPts val="0"/>
              </a:spcAft>
              <a:buClr>
                <a:schemeClr val="dk1"/>
              </a:buClr>
              <a:buSzPts val="2000"/>
              <a:buFont typeface="Arial"/>
              <a:buChar char="•"/>
            </a:pPr>
            <a:r>
              <a:rPr lang="en-US" sz="2000" b="0" i="0" u="none">
                <a:solidFill>
                  <a:schemeClr val="dk1"/>
                </a:solidFill>
                <a:latin typeface="Cambria"/>
                <a:ea typeface="Cambria"/>
                <a:cs typeface="Cambria"/>
                <a:sym typeface="Cambria"/>
              </a:rPr>
              <a:t>In </a:t>
            </a:r>
            <a:r>
              <a:rPr lang="en-US" sz="2000" b="1" i="0" u="none">
                <a:solidFill>
                  <a:schemeClr val="dk1"/>
                </a:solidFill>
                <a:latin typeface="Cambria"/>
                <a:ea typeface="Cambria"/>
                <a:cs typeface="Cambria"/>
                <a:sym typeface="Cambria"/>
              </a:rPr>
              <a:t>2009, Google Apps also started</a:t>
            </a:r>
            <a:r>
              <a:rPr lang="en-US" sz="2000" b="0" i="0" u="none">
                <a:solidFill>
                  <a:schemeClr val="dk1"/>
                </a:solidFill>
                <a:latin typeface="Cambria"/>
                <a:ea typeface="Cambria"/>
                <a:cs typeface="Cambria"/>
                <a:sym typeface="Cambria"/>
              </a:rPr>
              <a:t> to provide cloud computing enterprise applications.</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Cambria"/>
              <a:ea typeface="Cambria"/>
              <a:cs typeface="Cambria"/>
              <a:sym typeface="Cambria"/>
            </a:endParaRPr>
          </a:p>
        </p:txBody>
      </p:sp>
      <p:sp>
        <p:nvSpPr>
          <p:cNvPr id="391" name="Google Shape;391;p11"/>
          <p:cNvSpPr txBox="1"/>
          <p:nvPr/>
        </p:nvSpPr>
        <p:spPr>
          <a:xfrm>
            <a:off x="7010400" y="6492875"/>
            <a:ext cx="2133600" cy="365125"/>
          </a:xfrm>
          <a:prstGeom prst="rect">
            <a:avLst/>
          </a:prstGeom>
          <a:noFill/>
          <a:ln>
            <a:noFill/>
          </a:ln>
        </p:spPr>
        <p:txBody>
          <a:bodyPr spcFirstLastPara="1" wrap="square" lIns="0" tIns="13325" rIns="0" bIns="0" anchor="ctr" anchorCtr="0">
            <a:spAutoFit/>
          </a:bodyPr>
          <a:lstStyle/>
          <a:p>
            <a:pPr marL="3810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12"/>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90000"/>
              </a:lnSpc>
              <a:spcBef>
                <a:spcPts val="0"/>
              </a:spcBef>
              <a:spcAft>
                <a:spcPts val="0"/>
              </a:spcAft>
              <a:buClr>
                <a:schemeClr val="dk1"/>
              </a:buClr>
              <a:buSzPts val="2200"/>
              <a:buFont typeface="Arial"/>
              <a:buNone/>
            </a:pPr>
            <a:r>
              <a:rPr lang="en-US" sz="2200" b="1" i="0" u="none">
                <a:solidFill>
                  <a:schemeClr val="dk1"/>
                </a:solidFill>
                <a:latin typeface="Cambria"/>
                <a:ea typeface="Cambria"/>
                <a:cs typeface="Cambria"/>
                <a:sym typeface="Cambria"/>
              </a:rPr>
              <a:t>1) Agility</a:t>
            </a:r>
            <a:endParaRPr/>
          </a:p>
          <a:p>
            <a:pPr marL="342900" marR="0" lvl="0" indent="-342900" algn="just" rtl="0">
              <a:lnSpc>
                <a:spcPct val="90000"/>
              </a:lnSpc>
              <a:spcBef>
                <a:spcPts val="440"/>
              </a:spcBef>
              <a:spcAft>
                <a:spcPts val="0"/>
              </a:spcAft>
              <a:buClr>
                <a:schemeClr val="dk1"/>
              </a:buClr>
              <a:buSzPts val="2200"/>
              <a:buFont typeface="Arial"/>
              <a:buNone/>
            </a:pPr>
            <a:r>
              <a:rPr lang="en-US" sz="2200" b="0" i="0" u="none">
                <a:solidFill>
                  <a:schemeClr val="dk1"/>
                </a:solidFill>
                <a:latin typeface="Cambria"/>
                <a:ea typeface="Cambria"/>
                <a:cs typeface="Cambria"/>
                <a:sym typeface="Cambria"/>
              </a:rPr>
              <a:t>        The cloud </a:t>
            </a:r>
            <a:r>
              <a:rPr lang="en-US" sz="2200" b="1" i="0" u="none">
                <a:solidFill>
                  <a:schemeClr val="dk1"/>
                </a:solidFill>
                <a:latin typeface="Cambria"/>
                <a:ea typeface="Cambria"/>
                <a:cs typeface="Cambria"/>
                <a:sym typeface="Cambria"/>
              </a:rPr>
              <a:t>works in a distributed computing environment</a:t>
            </a:r>
            <a:r>
              <a:rPr lang="en-US" sz="2200" b="0" i="0" u="none">
                <a:solidFill>
                  <a:schemeClr val="dk1"/>
                </a:solidFill>
                <a:latin typeface="Cambria"/>
                <a:ea typeface="Cambria"/>
                <a:cs typeface="Cambria"/>
                <a:sym typeface="Cambria"/>
              </a:rPr>
              <a:t>. It shares resources among users and works very fast.</a:t>
            </a:r>
            <a:endParaRPr/>
          </a:p>
          <a:p>
            <a:pPr marL="342900" marR="0" lvl="0" indent="-342900" algn="just" rtl="0">
              <a:lnSpc>
                <a:spcPct val="90000"/>
              </a:lnSpc>
              <a:spcBef>
                <a:spcPts val="440"/>
              </a:spcBef>
              <a:spcAft>
                <a:spcPts val="0"/>
              </a:spcAft>
              <a:buClr>
                <a:schemeClr val="dk1"/>
              </a:buClr>
              <a:buSzPts val="2200"/>
              <a:buFont typeface="Arial"/>
              <a:buNone/>
            </a:pPr>
            <a:r>
              <a:rPr lang="en-US" sz="2200" b="1" i="0" u="none">
                <a:solidFill>
                  <a:schemeClr val="dk1"/>
                </a:solidFill>
                <a:latin typeface="Cambria"/>
                <a:ea typeface="Cambria"/>
                <a:cs typeface="Cambria"/>
                <a:sym typeface="Cambria"/>
              </a:rPr>
              <a:t>2) High availability and reliability</a:t>
            </a:r>
            <a:endParaRPr/>
          </a:p>
          <a:p>
            <a:pPr marL="342900" marR="0" lvl="0" indent="-342900" algn="just" rtl="0">
              <a:lnSpc>
                <a:spcPct val="90000"/>
              </a:lnSpc>
              <a:spcBef>
                <a:spcPts val="440"/>
              </a:spcBef>
              <a:spcAft>
                <a:spcPts val="0"/>
              </a:spcAft>
              <a:buClr>
                <a:schemeClr val="dk1"/>
              </a:buClr>
              <a:buSzPts val="2200"/>
              <a:buFont typeface="Arial"/>
              <a:buNone/>
            </a:pPr>
            <a:r>
              <a:rPr lang="en-US" sz="2200" b="0" i="0" u="none">
                <a:solidFill>
                  <a:schemeClr val="dk1"/>
                </a:solidFill>
                <a:latin typeface="Cambria"/>
                <a:ea typeface="Cambria"/>
                <a:cs typeface="Cambria"/>
                <a:sym typeface="Cambria"/>
              </a:rPr>
              <a:t>     The availability of servers is high and more reliable because the </a:t>
            </a:r>
            <a:r>
              <a:rPr lang="en-US" sz="2200" b="1" i="0" u="none">
                <a:solidFill>
                  <a:schemeClr val="dk1"/>
                </a:solidFill>
                <a:latin typeface="Cambria"/>
                <a:ea typeface="Cambria"/>
                <a:cs typeface="Cambria"/>
                <a:sym typeface="Cambria"/>
              </a:rPr>
              <a:t>chances of infrastructure failure are minimum</a:t>
            </a:r>
            <a:r>
              <a:rPr lang="en-US" sz="2200" b="0" i="0" u="none">
                <a:solidFill>
                  <a:schemeClr val="dk1"/>
                </a:solidFill>
                <a:latin typeface="Cambria"/>
                <a:ea typeface="Cambria"/>
                <a:cs typeface="Cambria"/>
                <a:sym typeface="Cambria"/>
              </a:rPr>
              <a:t>.</a:t>
            </a:r>
            <a:endParaRPr/>
          </a:p>
          <a:p>
            <a:pPr marL="342900" marR="0" lvl="0" indent="-342900" algn="just" rtl="0">
              <a:lnSpc>
                <a:spcPct val="90000"/>
              </a:lnSpc>
              <a:spcBef>
                <a:spcPts val="440"/>
              </a:spcBef>
              <a:spcAft>
                <a:spcPts val="0"/>
              </a:spcAft>
              <a:buClr>
                <a:schemeClr val="dk1"/>
              </a:buClr>
              <a:buSzPts val="2200"/>
              <a:buFont typeface="Arial"/>
              <a:buNone/>
            </a:pPr>
            <a:r>
              <a:rPr lang="en-US" sz="2200" b="1" i="0" u="none">
                <a:solidFill>
                  <a:schemeClr val="dk1"/>
                </a:solidFill>
                <a:latin typeface="Cambria"/>
                <a:ea typeface="Cambria"/>
                <a:cs typeface="Cambria"/>
                <a:sym typeface="Cambria"/>
              </a:rPr>
              <a:t>3) High Scalability</a:t>
            </a:r>
            <a:endParaRPr/>
          </a:p>
          <a:p>
            <a:pPr marL="342900" marR="0" lvl="0" indent="-342900" algn="just" rtl="0">
              <a:lnSpc>
                <a:spcPct val="90000"/>
              </a:lnSpc>
              <a:spcBef>
                <a:spcPts val="440"/>
              </a:spcBef>
              <a:spcAft>
                <a:spcPts val="0"/>
              </a:spcAft>
              <a:buClr>
                <a:schemeClr val="dk1"/>
              </a:buClr>
              <a:buSzPts val="2200"/>
              <a:buFont typeface="Arial"/>
              <a:buNone/>
            </a:pPr>
            <a:r>
              <a:rPr lang="en-US" sz="2200" b="0" i="0" u="none">
                <a:solidFill>
                  <a:schemeClr val="dk1"/>
                </a:solidFill>
                <a:latin typeface="Cambria"/>
                <a:ea typeface="Cambria"/>
                <a:cs typeface="Cambria"/>
                <a:sym typeface="Cambria"/>
              </a:rPr>
              <a:t>      Cloud offers </a:t>
            </a:r>
            <a:r>
              <a:rPr lang="en-US" sz="2200" b="1" i="0" u="none">
                <a:solidFill>
                  <a:schemeClr val="dk1"/>
                </a:solidFill>
                <a:latin typeface="Cambria"/>
                <a:ea typeface="Cambria"/>
                <a:cs typeface="Cambria"/>
                <a:sym typeface="Cambria"/>
              </a:rPr>
              <a:t>"on-demand" provisioning of resources on a large scale</a:t>
            </a:r>
            <a:r>
              <a:rPr lang="en-US" sz="2200" b="0" i="0" u="none">
                <a:solidFill>
                  <a:schemeClr val="dk1"/>
                </a:solidFill>
                <a:latin typeface="Cambria"/>
                <a:ea typeface="Cambria"/>
                <a:cs typeface="Cambria"/>
                <a:sym typeface="Cambria"/>
              </a:rPr>
              <a:t>, without having engineers for peak loads.</a:t>
            </a:r>
            <a:endParaRPr/>
          </a:p>
          <a:p>
            <a:pPr marL="342900" marR="0" lvl="0" indent="-342900" algn="just" rtl="0">
              <a:lnSpc>
                <a:spcPct val="90000"/>
              </a:lnSpc>
              <a:spcBef>
                <a:spcPts val="440"/>
              </a:spcBef>
              <a:spcAft>
                <a:spcPts val="0"/>
              </a:spcAft>
              <a:buClr>
                <a:schemeClr val="dk1"/>
              </a:buClr>
              <a:buSzPts val="2200"/>
              <a:buFont typeface="Arial"/>
              <a:buNone/>
            </a:pPr>
            <a:r>
              <a:rPr lang="en-US" sz="2200" b="1" i="0" u="none">
                <a:solidFill>
                  <a:schemeClr val="dk1"/>
                </a:solidFill>
                <a:latin typeface="Cambria"/>
                <a:ea typeface="Cambria"/>
                <a:cs typeface="Cambria"/>
                <a:sym typeface="Cambria"/>
              </a:rPr>
              <a:t>4) Multi-Sharing</a:t>
            </a:r>
            <a:endParaRPr/>
          </a:p>
          <a:p>
            <a:pPr marL="342900" marR="0" lvl="0" indent="-342900" algn="just" rtl="0">
              <a:lnSpc>
                <a:spcPct val="90000"/>
              </a:lnSpc>
              <a:spcBef>
                <a:spcPts val="440"/>
              </a:spcBef>
              <a:spcAft>
                <a:spcPts val="0"/>
              </a:spcAft>
              <a:buClr>
                <a:schemeClr val="dk1"/>
              </a:buClr>
              <a:buSzPts val="2200"/>
              <a:buFont typeface="Arial"/>
              <a:buNone/>
            </a:pPr>
            <a:r>
              <a:rPr lang="en-US" sz="2200" b="0" i="0" u="none">
                <a:solidFill>
                  <a:schemeClr val="dk1"/>
                </a:solidFill>
                <a:latin typeface="Cambria"/>
                <a:ea typeface="Cambria"/>
                <a:cs typeface="Cambria"/>
                <a:sym typeface="Cambria"/>
              </a:rPr>
              <a:t>      With the help of cloud computing, </a:t>
            </a:r>
            <a:r>
              <a:rPr lang="en-US" sz="2200" b="1" i="0" u="none">
                <a:solidFill>
                  <a:schemeClr val="dk1"/>
                </a:solidFill>
                <a:latin typeface="Cambria"/>
                <a:ea typeface="Cambria"/>
                <a:cs typeface="Cambria"/>
                <a:sym typeface="Cambria"/>
              </a:rPr>
              <a:t>multiple users and applications can work more efficiently</a:t>
            </a:r>
            <a:r>
              <a:rPr lang="en-US" sz="2200" b="0" i="0" u="none">
                <a:solidFill>
                  <a:schemeClr val="dk1"/>
                </a:solidFill>
                <a:latin typeface="Cambria"/>
                <a:ea typeface="Cambria"/>
                <a:cs typeface="Cambria"/>
                <a:sym typeface="Cambria"/>
              </a:rPr>
              <a:t> with cost reductions by sharing common infrastructure.</a:t>
            </a:r>
            <a:endParaRPr/>
          </a:p>
          <a:p>
            <a:pPr marL="342900" marR="0" lvl="0" indent="-203200" algn="l" rtl="0">
              <a:spcBef>
                <a:spcPts val="440"/>
              </a:spcBef>
              <a:spcAft>
                <a:spcPts val="0"/>
              </a:spcAft>
              <a:buClr>
                <a:schemeClr val="dk1"/>
              </a:buClr>
              <a:buSzPts val="2200"/>
              <a:buFont typeface="Arial"/>
              <a:buNone/>
            </a:pPr>
            <a:endParaRPr sz="2200" b="0" i="0" u="none">
              <a:solidFill>
                <a:schemeClr val="dk1"/>
              </a:solidFill>
              <a:latin typeface="Cambria"/>
              <a:ea typeface="Cambria"/>
              <a:cs typeface="Cambria"/>
              <a:sym typeface="Cambria"/>
            </a:endParaRPr>
          </a:p>
        </p:txBody>
      </p:sp>
      <p:sp>
        <p:nvSpPr>
          <p:cNvPr id="397" name="Google Shape;397;p12"/>
          <p:cNvSpPr txBox="1">
            <a:spLocks noGrp="1"/>
          </p:cNvSpPr>
          <p:nvPr>
            <p:ph type="body" idx="1"/>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p>
            <a:pPr marL="342900" lvl="0" indent="-342900" algn="ctr" rtl="0">
              <a:lnSpc>
                <a:spcPct val="80000"/>
              </a:lnSpc>
              <a:spcBef>
                <a:spcPts val="0"/>
              </a:spcBef>
              <a:spcAft>
                <a:spcPts val="0"/>
              </a:spcAft>
              <a:buClr>
                <a:schemeClr val="dk1"/>
              </a:buClr>
              <a:buSzPts val="1000"/>
              <a:buNone/>
            </a:pPr>
            <a:endParaRPr sz="1000" b="1" i="0" u="none">
              <a:solidFill>
                <a:srgbClr val="C00000"/>
              </a:solidFill>
              <a:latin typeface="Cambria"/>
              <a:ea typeface="Cambria"/>
              <a:cs typeface="Cambria"/>
              <a:sym typeface="Cambria"/>
            </a:endParaRPr>
          </a:p>
          <a:p>
            <a:pPr marL="342900" lvl="0" indent="-342900" algn="ctr" rtl="0">
              <a:lnSpc>
                <a:spcPct val="80000"/>
              </a:lnSpc>
              <a:spcBef>
                <a:spcPts val="500"/>
              </a:spcBef>
              <a:spcAft>
                <a:spcPts val="0"/>
              </a:spcAft>
              <a:buClr>
                <a:srgbClr val="C00000"/>
              </a:buClr>
              <a:buSzPts val="2500"/>
              <a:buNone/>
            </a:pPr>
            <a:r>
              <a:rPr lang="en-US" sz="2500" b="1" i="0" u="none">
                <a:solidFill>
                  <a:srgbClr val="C00000"/>
                </a:solidFill>
                <a:latin typeface="Cambria"/>
                <a:ea typeface="Cambria"/>
                <a:cs typeface="Cambria"/>
                <a:sym typeface="Cambria"/>
              </a:rPr>
              <a:t>Characteristics of Cloud Computing</a:t>
            </a:r>
            <a:endParaRPr/>
          </a:p>
          <a:p>
            <a:pPr marL="342900" lvl="0" indent="-184150" algn="l" rtl="0">
              <a:spcBef>
                <a:spcPts val="500"/>
              </a:spcBef>
              <a:spcAft>
                <a:spcPts val="0"/>
              </a:spcAft>
              <a:buClr>
                <a:schemeClr val="dk1"/>
              </a:buClr>
              <a:buSzPts val="2500"/>
              <a:buNone/>
            </a:pPr>
            <a:endParaRPr sz="2500" b="1" i="0" u="none">
              <a:solidFill>
                <a:srgbClr val="C00000"/>
              </a:solidFill>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762000" y="1219200"/>
            <a:ext cx="8229600" cy="50292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80000"/>
              </a:lnSpc>
              <a:spcBef>
                <a:spcPts val="0"/>
              </a:spcBef>
              <a:spcAft>
                <a:spcPts val="0"/>
              </a:spcAft>
              <a:buClr>
                <a:schemeClr val="dk1"/>
              </a:buClr>
              <a:buSzPts val="1900"/>
              <a:buFont typeface="Arial"/>
              <a:buNone/>
            </a:pPr>
            <a:r>
              <a:rPr lang="en-US" sz="1900" b="1" i="0" u="none">
                <a:solidFill>
                  <a:schemeClr val="dk1"/>
                </a:solidFill>
                <a:latin typeface="Cambria"/>
                <a:ea typeface="Cambria"/>
                <a:cs typeface="Cambria"/>
                <a:sym typeface="Cambria"/>
              </a:rPr>
              <a:t>5) Device and Location Independence</a:t>
            </a:r>
            <a:endParaRPr/>
          </a:p>
          <a:p>
            <a:pPr marL="342900" marR="0" lvl="0" indent="-342900" algn="just" rtl="0">
              <a:lnSpc>
                <a:spcPct val="80000"/>
              </a:lnSpc>
              <a:spcBef>
                <a:spcPts val="380"/>
              </a:spcBef>
              <a:spcAft>
                <a:spcPts val="0"/>
              </a:spcAft>
              <a:buClr>
                <a:schemeClr val="dk1"/>
              </a:buClr>
              <a:buSzPts val="1900"/>
              <a:buFont typeface="Arial"/>
              <a:buNone/>
            </a:pPr>
            <a:r>
              <a:rPr lang="en-US" sz="1900" b="0" i="0" u="none">
                <a:solidFill>
                  <a:schemeClr val="dk1"/>
                </a:solidFill>
                <a:latin typeface="Cambria"/>
                <a:ea typeface="Cambria"/>
                <a:cs typeface="Cambria"/>
                <a:sym typeface="Cambria"/>
              </a:rPr>
              <a:t>       Cloud computing enables the users to access systems using a web browser regardless of their location or what device they use e.g. PC, mobile phone, etc. </a:t>
            </a:r>
            <a:r>
              <a:rPr lang="en-US" sz="1900" b="1" i="0" u="none">
                <a:solidFill>
                  <a:schemeClr val="dk1"/>
                </a:solidFill>
                <a:latin typeface="Cambria"/>
                <a:ea typeface="Cambria"/>
                <a:cs typeface="Cambria"/>
                <a:sym typeface="Cambria"/>
              </a:rPr>
              <a:t>As infrastructure is off-site</a:t>
            </a:r>
            <a:r>
              <a:rPr lang="en-US" sz="1900" b="0" i="0" u="none">
                <a:solidFill>
                  <a:schemeClr val="dk1"/>
                </a:solidFill>
                <a:latin typeface="Cambria"/>
                <a:ea typeface="Cambria"/>
                <a:cs typeface="Cambria"/>
                <a:sym typeface="Cambria"/>
              </a:rPr>
              <a:t> (typically provided by a third-party) </a:t>
            </a:r>
            <a:r>
              <a:rPr lang="en-US" sz="1900" b="1" i="0" u="none">
                <a:solidFill>
                  <a:schemeClr val="dk1"/>
                </a:solidFill>
                <a:latin typeface="Cambria"/>
                <a:ea typeface="Cambria"/>
                <a:cs typeface="Cambria"/>
                <a:sym typeface="Cambria"/>
              </a:rPr>
              <a:t>and accessed via the Internet, users can connect from anywhere</a:t>
            </a:r>
            <a:r>
              <a:rPr lang="en-US" sz="1900" b="0" i="0" u="none">
                <a:solidFill>
                  <a:schemeClr val="dk1"/>
                </a:solidFill>
                <a:latin typeface="Cambria"/>
                <a:ea typeface="Cambria"/>
                <a:cs typeface="Cambria"/>
                <a:sym typeface="Cambria"/>
              </a:rPr>
              <a:t>.</a:t>
            </a:r>
            <a:endParaRPr/>
          </a:p>
          <a:p>
            <a:pPr marL="342900" marR="0" lvl="0" indent="-342900" algn="just" rtl="0">
              <a:lnSpc>
                <a:spcPct val="80000"/>
              </a:lnSpc>
              <a:spcBef>
                <a:spcPts val="380"/>
              </a:spcBef>
              <a:spcAft>
                <a:spcPts val="0"/>
              </a:spcAft>
              <a:buClr>
                <a:schemeClr val="dk1"/>
              </a:buClr>
              <a:buSzPts val="1900"/>
              <a:buFont typeface="Arial"/>
              <a:buNone/>
            </a:pPr>
            <a:r>
              <a:rPr lang="en-US" sz="1900" b="1" i="0" u="none">
                <a:solidFill>
                  <a:schemeClr val="dk1"/>
                </a:solidFill>
                <a:latin typeface="Cambria"/>
                <a:ea typeface="Cambria"/>
                <a:cs typeface="Cambria"/>
                <a:sym typeface="Cambria"/>
              </a:rPr>
              <a:t>6) Maintenance</a:t>
            </a:r>
            <a:endParaRPr/>
          </a:p>
          <a:p>
            <a:pPr marL="342900" marR="0" lvl="0" indent="-342900" algn="just" rtl="0">
              <a:lnSpc>
                <a:spcPct val="80000"/>
              </a:lnSpc>
              <a:spcBef>
                <a:spcPts val="380"/>
              </a:spcBef>
              <a:spcAft>
                <a:spcPts val="0"/>
              </a:spcAft>
              <a:buClr>
                <a:schemeClr val="dk1"/>
              </a:buClr>
              <a:buSzPts val="1900"/>
              <a:buFont typeface="Arial"/>
              <a:buNone/>
            </a:pPr>
            <a:r>
              <a:rPr lang="en-US" sz="1900" b="0" i="0" u="none">
                <a:solidFill>
                  <a:schemeClr val="dk1"/>
                </a:solidFill>
                <a:latin typeface="Cambria"/>
                <a:ea typeface="Cambria"/>
                <a:cs typeface="Cambria"/>
                <a:sym typeface="Cambria"/>
              </a:rPr>
              <a:t>       Maintenance of cloud computing applications is easier, since they </a:t>
            </a:r>
            <a:r>
              <a:rPr lang="en-US" sz="1900" b="1" i="0" u="none">
                <a:solidFill>
                  <a:schemeClr val="dk1"/>
                </a:solidFill>
                <a:latin typeface="Cambria"/>
                <a:ea typeface="Cambria"/>
                <a:cs typeface="Cambria"/>
                <a:sym typeface="Cambria"/>
              </a:rPr>
              <a:t>do not need to be installed on each user's computer and can be accessed from different places</a:t>
            </a:r>
            <a:r>
              <a:rPr lang="en-US" sz="1900" b="0" i="0" u="none">
                <a:solidFill>
                  <a:schemeClr val="dk1"/>
                </a:solidFill>
                <a:latin typeface="Cambria"/>
                <a:ea typeface="Cambria"/>
                <a:cs typeface="Cambria"/>
                <a:sym typeface="Cambria"/>
              </a:rPr>
              <a:t>. So, it reduces the cost also.</a:t>
            </a:r>
            <a:endParaRPr/>
          </a:p>
          <a:p>
            <a:pPr marL="342900" marR="0" lvl="0" indent="-342900" algn="just" rtl="0">
              <a:lnSpc>
                <a:spcPct val="80000"/>
              </a:lnSpc>
              <a:spcBef>
                <a:spcPts val="380"/>
              </a:spcBef>
              <a:spcAft>
                <a:spcPts val="0"/>
              </a:spcAft>
              <a:buClr>
                <a:schemeClr val="dk1"/>
              </a:buClr>
              <a:buSzPts val="1900"/>
              <a:buFont typeface="Arial"/>
              <a:buNone/>
            </a:pPr>
            <a:r>
              <a:rPr lang="en-US" sz="1900" b="1" i="0" u="none">
                <a:solidFill>
                  <a:schemeClr val="dk1"/>
                </a:solidFill>
                <a:latin typeface="Cambria"/>
                <a:ea typeface="Cambria"/>
                <a:cs typeface="Cambria"/>
                <a:sym typeface="Cambria"/>
              </a:rPr>
              <a:t>7) Low Cost</a:t>
            </a:r>
            <a:endParaRPr/>
          </a:p>
          <a:p>
            <a:pPr marL="342900" marR="0" lvl="0" indent="-342900" algn="just" rtl="0">
              <a:lnSpc>
                <a:spcPct val="80000"/>
              </a:lnSpc>
              <a:spcBef>
                <a:spcPts val="380"/>
              </a:spcBef>
              <a:spcAft>
                <a:spcPts val="0"/>
              </a:spcAft>
              <a:buClr>
                <a:schemeClr val="dk1"/>
              </a:buClr>
              <a:buSzPts val="1900"/>
              <a:buFont typeface="Arial"/>
              <a:buNone/>
            </a:pPr>
            <a:r>
              <a:rPr lang="en-US" sz="1900" b="0" i="0" u="none">
                <a:solidFill>
                  <a:schemeClr val="dk1"/>
                </a:solidFill>
                <a:latin typeface="Cambria"/>
                <a:ea typeface="Cambria"/>
                <a:cs typeface="Cambria"/>
                <a:sym typeface="Cambria"/>
              </a:rPr>
              <a:t>       By using cloud computing, the cost will be reduced because to take the services of cloud computing, </a:t>
            </a:r>
            <a:r>
              <a:rPr lang="en-US" sz="1900" b="1" i="0" u="none">
                <a:solidFill>
                  <a:schemeClr val="dk1"/>
                </a:solidFill>
                <a:latin typeface="Cambria"/>
                <a:ea typeface="Cambria"/>
                <a:cs typeface="Cambria"/>
                <a:sym typeface="Cambria"/>
              </a:rPr>
              <a:t>IT company need not to set its own infrastructure</a:t>
            </a:r>
            <a:r>
              <a:rPr lang="en-US" sz="1900" b="0" i="0" u="none">
                <a:solidFill>
                  <a:schemeClr val="dk1"/>
                </a:solidFill>
                <a:latin typeface="Cambria"/>
                <a:ea typeface="Cambria"/>
                <a:cs typeface="Cambria"/>
                <a:sym typeface="Cambria"/>
              </a:rPr>
              <a:t> and pay-as-per usage of resources.</a:t>
            </a:r>
            <a:endParaRPr/>
          </a:p>
          <a:p>
            <a:pPr marL="342900" marR="0" lvl="0" indent="-342900" algn="just" rtl="0">
              <a:lnSpc>
                <a:spcPct val="80000"/>
              </a:lnSpc>
              <a:spcBef>
                <a:spcPts val="380"/>
              </a:spcBef>
              <a:spcAft>
                <a:spcPts val="0"/>
              </a:spcAft>
              <a:buClr>
                <a:schemeClr val="dk1"/>
              </a:buClr>
              <a:buSzPts val="1900"/>
              <a:buFont typeface="Arial"/>
              <a:buNone/>
            </a:pPr>
            <a:r>
              <a:rPr lang="en-US" sz="1900" b="1" i="0" u="none">
                <a:solidFill>
                  <a:schemeClr val="dk1"/>
                </a:solidFill>
                <a:latin typeface="Cambria"/>
                <a:ea typeface="Cambria"/>
                <a:cs typeface="Cambria"/>
                <a:sym typeface="Cambria"/>
              </a:rPr>
              <a:t>8) Services in the pay-per-use mode</a:t>
            </a:r>
            <a:endParaRPr/>
          </a:p>
          <a:p>
            <a:pPr marL="342900" marR="0" lvl="0" indent="-342900" algn="just" rtl="0">
              <a:lnSpc>
                <a:spcPct val="80000"/>
              </a:lnSpc>
              <a:spcBef>
                <a:spcPts val="380"/>
              </a:spcBef>
              <a:spcAft>
                <a:spcPts val="0"/>
              </a:spcAft>
              <a:buClr>
                <a:schemeClr val="dk1"/>
              </a:buClr>
              <a:buSzPts val="1900"/>
              <a:buFont typeface="Arial"/>
              <a:buNone/>
            </a:pPr>
            <a:r>
              <a:rPr lang="en-US" sz="1900" b="0" i="0" u="none">
                <a:solidFill>
                  <a:schemeClr val="dk1"/>
                </a:solidFill>
                <a:latin typeface="Cambria"/>
                <a:ea typeface="Cambria"/>
                <a:cs typeface="Cambria"/>
                <a:sym typeface="Cambria"/>
              </a:rPr>
              <a:t>       Application Programming Interfaces</a:t>
            </a:r>
            <a:r>
              <a:rPr lang="en-US" sz="1900" b="1" i="0" u="none">
                <a:solidFill>
                  <a:schemeClr val="dk1"/>
                </a:solidFill>
                <a:latin typeface="Cambria"/>
                <a:ea typeface="Cambria"/>
                <a:cs typeface="Cambria"/>
                <a:sym typeface="Cambria"/>
              </a:rPr>
              <a:t> (APIs) are provided to the users so that they can access services on the cloud</a:t>
            </a:r>
            <a:r>
              <a:rPr lang="en-US" sz="1900" b="0" i="0" u="none">
                <a:solidFill>
                  <a:schemeClr val="dk1"/>
                </a:solidFill>
                <a:latin typeface="Cambria"/>
                <a:ea typeface="Cambria"/>
                <a:cs typeface="Cambria"/>
                <a:sym typeface="Cambria"/>
              </a:rPr>
              <a:t> by using these APIs </a:t>
            </a:r>
            <a:r>
              <a:rPr lang="en-US" sz="1900" b="1" i="0" u="none">
                <a:solidFill>
                  <a:schemeClr val="dk1"/>
                </a:solidFill>
                <a:latin typeface="Cambria"/>
                <a:ea typeface="Cambria"/>
                <a:cs typeface="Cambria"/>
                <a:sym typeface="Cambria"/>
              </a:rPr>
              <a:t>and pay the charges as per the usage of services</a:t>
            </a:r>
            <a:r>
              <a:rPr lang="en-US" sz="1900" b="0" i="0" u="none">
                <a:solidFill>
                  <a:schemeClr val="dk1"/>
                </a:solidFill>
                <a:latin typeface="Cambria"/>
                <a:ea typeface="Cambria"/>
                <a:cs typeface="Cambria"/>
                <a:sym typeface="Cambria"/>
              </a:rPr>
              <a:t>.</a:t>
            </a:r>
            <a:endParaRPr/>
          </a:p>
          <a:p>
            <a:pPr marL="342900" marR="0" lvl="0" indent="-342900" algn="l" rtl="0">
              <a:lnSpc>
                <a:spcPct val="80000"/>
              </a:lnSpc>
              <a:spcBef>
                <a:spcPts val="200"/>
              </a:spcBef>
              <a:spcAft>
                <a:spcPts val="0"/>
              </a:spcAft>
              <a:buClr>
                <a:schemeClr val="dk1"/>
              </a:buClr>
              <a:buSzPts val="1000"/>
              <a:buFont typeface="Arial"/>
              <a:buNone/>
            </a:pPr>
            <a:br>
              <a:rPr lang="en-US" sz="1000" b="0" i="0" u="none">
                <a:solidFill>
                  <a:schemeClr val="dk1"/>
                </a:solidFill>
                <a:latin typeface="Cambria"/>
                <a:ea typeface="Cambria"/>
                <a:cs typeface="Cambria"/>
                <a:sym typeface="Cambria"/>
              </a:rPr>
            </a:br>
            <a:endParaRPr/>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342900" lvl="0" indent="-342900" algn="ctr" rtl="0">
              <a:lnSpc>
                <a:spcPct val="80000"/>
              </a:lnSpc>
              <a:spcBef>
                <a:spcPts val="0"/>
              </a:spcBef>
              <a:spcAft>
                <a:spcPts val="0"/>
              </a:spcAft>
              <a:buClr>
                <a:schemeClr val="dk1"/>
              </a:buClr>
              <a:buSzPts val="2200"/>
              <a:buNone/>
            </a:pPr>
            <a:endParaRPr sz="2200" b="1" i="0" u="none">
              <a:solidFill>
                <a:srgbClr val="C00000"/>
              </a:solidFill>
              <a:latin typeface="Cambria"/>
              <a:ea typeface="Cambria"/>
              <a:cs typeface="Cambria"/>
              <a:sym typeface="Cambria"/>
            </a:endParaRPr>
          </a:p>
          <a:p>
            <a:pPr marL="342900" lvl="0" indent="-342900" algn="ctr" rtl="0">
              <a:lnSpc>
                <a:spcPct val="80000"/>
              </a:lnSpc>
              <a:spcBef>
                <a:spcPts val="440"/>
              </a:spcBef>
              <a:spcAft>
                <a:spcPts val="0"/>
              </a:spcAft>
              <a:buClr>
                <a:srgbClr val="C00000"/>
              </a:buClr>
              <a:buSzPts val="2200"/>
              <a:buNone/>
            </a:pPr>
            <a:r>
              <a:rPr lang="en-US" sz="2200" b="1" i="0" u="none">
                <a:solidFill>
                  <a:srgbClr val="C00000"/>
                </a:solidFill>
                <a:latin typeface="Cambria"/>
                <a:ea typeface="Cambria"/>
                <a:cs typeface="Cambria"/>
                <a:sym typeface="Cambria"/>
              </a:rPr>
              <a:t>Characteristics of Cloud Computing</a:t>
            </a:r>
            <a:endParaRPr/>
          </a:p>
          <a:p>
            <a:pPr marL="342900" lvl="0" indent="-203200" algn="l" rtl="0">
              <a:spcBef>
                <a:spcPts val="440"/>
              </a:spcBef>
              <a:spcAft>
                <a:spcPts val="0"/>
              </a:spcAft>
              <a:buClr>
                <a:schemeClr val="dk1"/>
              </a:buClr>
              <a:buSzPts val="2200"/>
              <a:buNone/>
            </a:pPr>
            <a:endParaRPr sz="2200" b="1" i="0" u="none">
              <a:solidFill>
                <a:srgbClr val="C00000"/>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566002"/>
            <a:ext cx="7086600" cy="874598"/>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chemeClr val="dk1"/>
              </a:buClr>
              <a:buSzPts val="2800"/>
              <a:buFont typeface="Cambria"/>
              <a:buNone/>
            </a:pPr>
            <a:r>
              <a:rPr lang="en-US" sz="2800" b="1" i="0" u="none" strike="noStrike" cap="none">
                <a:solidFill>
                  <a:schemeClr val="dk1"/>
                </a:solidFill>
                <a:latin typeface="Cambria"/>
                <a:ea typeface="Cambria"/>
                <a:cs typeface="Cambria"/>
                <a:sym typeface="Cambria"/>
              </a:rPr>
              <a:t>Applications of Cloud Computing in real-world:</a:t>
            </a:r>
            <a:endParaRPr sz="2800" b="1" i="0" u="none" strike="noStrike" cap="none">
              <a:solidFill>
                <a:srgbClr val="FF0000"/>
              </a:solidFill>
              <a:latin typeface="Times New Roman"/>
              <a:ea typeface="Times New Roman"/>
              <a:cs typeface="Times New Roman"/>
              <a:sym typeface="Times New Roman"/>
            </a:endParaRP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304800" y="1752600"/>
            <a:ext cx="8610600" cy="4495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80000"/>
              </a:lnSpc>
              <a:spcBef>
                <a:spcPts val="0"/>
              </a:spcBef>
              <a:spcAft>
                <a:spcPts val="0"/>
              </a:spcAft>
              <a:buClr>
                <a:schemeClr val="dk1"/>
              </a:buClr>
              <a:buSzPts val="2200"/>
              <a:buFont typeface="Arial"/>
              <a:buChar char="•"/>
            </a:pPr>
            <a:r>
              <a:rPr lang="en-US" sz="2200" b="1" i="0" u="none">
                <a:solidFill>
                  <a:schemeClr val="dk1"/>
                </a:solidFill>
                <a:latin typeface="Cambria"/>
                <a:ea typeface="Cambria"/>
                <a:cs typeface="Cambria"/>
                <a:sym typeface="Cambria"/>
              </a:rPr>
              <a:t>Online Data Storage: </a:t>
            </a:r>
            <a:r>
              <a:rPr lang="en-US" sz="2200" b="0" i="0" u="none">
                <a:solidFill>
                  <a:schemeClr val="dk1"/>
                </a:solidFill>
                <a:latin typeface="Cambria"/>
                <a:ea typeface="Cambria"/>
                <a:cs typeface="Cambria"/>
                <a:sym typeface="Cambria"/>
              </a:rPr>
              <a:t>Cloud computing allows storing data like files, images, audios, and videos, etc on the cloud storage. The organization need not set physical storage systems to store a huge volume of business data which costs so high nowadays. As they are growing technologically, data generation is also growing with respect to time, and storing that becoming problem. In that situation, Cloud storage is providing this service to store and access data any time as per requirement.</a:t>
            </a:r>
            <a:endParaRPr/>
          </a:p>
          <a:p>
            <a:pPr marL="342900" marR="0" lvl="0" indent="-342900" algn="just" rtl="0">
              <a:lnSpc>
                <a:spcPct val="80000"/>
              </a:lnSpc>
              <a:spcBef>
                <a:spcPts val="440"/>
              </a:spcBef>
              <a:spcAft>
                <a:spcPts val="0"/>
              </a:spcAft>
              <a:buClr>
                <a:schemeClr val="dk1"/>
              </a:buClr>
              <a:buSzPts val="2200"/>
              <a:buFont typeface="Arial"/>
              <a:buChar char="•"/>
            </a:pPr>
            <a:r>
              <a:rPr lang="en-US" sz="2200" b="1" i="0" u="none">
                <a:solidFill>
                  <a:schemeClr val="dk1"/>
                </a:solidFill>
                <a:latin typeface="Cambria"/>
                <a:ea typeface="Cambria"/>
                <a:cs typeface="Cambria"/>
                <a:sym typeface="Cambria"/>
              </a:rPr>
              <a:t>Backup and Recovery: </a:t>
            </a:r>
            <a:r>
              <a:rPr lang="en-US" sz="2200" b="0" i="0" u="none">
                <a:solidFill>
                  <a:schemeClr val="dk1"/>
                </a:solidFill>
                <a:latin typeface="Cambria"/>
                <a:ea typeface="Cambria"/>
                <a:cs typeface="Cambria"/>
                <a:sym typeface="Cambria"/>
              </a:rPr>
              <a:t>Cloud vendors provide security from their side by storing safe to the data as well as providing a backup facility to the data. They offer various recovery application for retrieving the lost data. </a:t>
            </a:r>
            <a:r>
              <a:rPr lang="en-US" sz="2200" b="1" i="0" u="none">
                <a:solidFill>
                  <a:schemeClr val="dk1"/>
                </a:solidFill>
                <a:latin typeface="Cambria"/>
                <a:ea typeface="Cambria"/>
                <a:cs typeface="Cambria"/>
                <a:sym typeface="Cambria"/>
              </a:rPr>
              <a:t>In the traditional way backup of data is a very complex problem </a:t>
            </a:r>
            <a:r>
              <a:rPr lang="en-US" sz="2200" b="0" i="0" u="none">
                <a:solidFill>
                  <a:schemeClr val="dk1"/>
                </a:solidFill>
                <a:latin typeface="Cambria"/>
                <a:ea typeface="Cambria"/>
                <a:cs typeface="Cambria"/>
                <a:sym typeface="Cambria"/>
              </a:rPr>
              <a:t>and also it is very difficult sometimes impossible to recover the lost data. But cloud computing has made backup and recovery applications very easy where there is no fear of running out of backup media or loss of data.</a:t>
            </a:r>
            <a:endParaRPr/>
          </a:p>
          <a:p>
            <a:pPr marL="342900" marR="0" lvl="0" indent="-203200" algn="l" rtl="0">
              <a:spcBef>
                <a:spcPts val="440"/>
              </a:spcBef>
              <a:spcAft>
                <a:spcPts val="0"/>
              </a:spcAft>
              <a:buClr>
                <a:schemeClr val="dk1"/>
              </a:buClr>
              <a:buSzPts val="2200"/>
              <a:buFont typeface="Arial"/>
              <a:buNone/>
            </a:pPr>
            <a:endParaRPr sz="2200" b="0" i="0" u="none">
              <a:solidFill>
                <a:schemeClr val="dk1"/>
              </a:solidFill>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1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Cambria"/>
              <a:buNone/>
            </a:pPr>
            <a:r>
              <a:rPr lang="en-US" sz="2400" b="1" i="0" u="none" strike="noStrike" cap="none">
                <a:solidFill>
                  <a:schemeClr val="dk1"/>
                </a:solidFill>
                <a:latin typeface="Cambria"/>
                <a:ea typeface="Cambria"/>
                <a:cs typeface="Cambria"/>
                <a:sym typeface="Cambria"/>
              </a:rPr>
              <a:t>Applications of Cloud Computing in real-world:</a:t>
            </a:r>
            <a:endParaRPr sz="2400" b="1" i="0" u="none" strike="noStrike" cap="none">
              <a:solidFill>
                <a:schemeClr val="dk1"/>
              </a:solidFill>
              <a:latin typeface="Cambria"/>
              <a:ea typeface="Cambria"/>
              <a:cs typeface="Cambria"/>
              <a:sym typeface="Cambria"/>
            </a:endParaRPr>
          </a:p>
        </p:txBody>
      </p:sp>
      <p:sp>
        <p:nvSpPr>
          <p:cNvPr id="416" name="Google Shape;416;p15"/>
          <p:cNvSpPr txBox="1">
            <a:spLocks noGrp="1"/>
          </p:cNvSpPr>
          <p:nvPr>
            <p:ph type="body" idx="1"/>
          </p:nvPr>
        </p:nvSpPr>
        <p:spPr>
          <a:xfrm>
            <a:off x="381000" y="1752600"/>
            <a:ext cx="8534400" cy="4495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80000"/>
              </a:lnSpc>
              <a:spcBef>
                <a:spcPts val="0"/>
              </a:spcBef>
              <a:spcAft>
                <a:spcPts val="0"/>
              </a:spcAft>
              <a:buClr>
                <a:schemeClr val="dk1"/>
              </a:buClr>
              <a:buSzPts val="2000"/>
              <a:buFont typeface="Arial"/>
              <a:buChar char="•"/>
            </a:pPr>
            <a:r>
              <a:rPr lang="en-US" sz="2000" b="1" i="0" u="none">
                <a:solidFill>
                  <a:schemeClr val="dk1"/>
                </a:solidFill>
                <a:latin typeface="Cambria"/>
                <a:ea typeface="Cambria"/>
                <a:cs typeface="Cambria"/>
                <a:sym typeface="Cambria"/>
              </a:rPr>
              <a:t>Big Data Analysis: </a:t>
            </a:r>
            <a:r>
              <a:rPr lang="en-US" sz="2000" b="0" i="0" u="none">
                <a:solidFill>
                  <a:schemeClr val="dk1"/>
                </a:solidFill>
                <a:latin typeface="Cambria"/>
                <a:ea typeface="Cambria"/>
                <a:cs typeface="Cambria"/>
                <a:sym typeface="Cambria"/>
              </a:rPr>
              <a:t>We know the volume of big data is so high where storing that in traditional data management system for an organization is impossible. But cloud computing has resolved that problem by allowing the organizations to store their large volume of data in cloud storage without worrying about physical storage. </a:t>
            </a:r>
            <a:r>
              <a:rPr lang="en-US" sz="2000" b="1" i="0" u="none">
                <a:solidFill>
                  <a:schemeClr val="dk1"/>
                </a:solidFill>
                <a:latin typeface="Cambria"/>
                <a:ea typeface="Cambria"/>
                <a:cs typeface="Cambria"/>
                <a:sym typeface="Cambria"/>
              </a:rPr>
              <a:t>Next comes analyzing the raw data and finding out insights or useful information from it is a big challenge as it requires high-quality tools for data analytics. Cloud computing provides the biggest facility to organizations in terms of storing and analyzing big data.</a:t>
            </a:r>
            <a:endParaRPr/>
          </a:p>
          <a:p>
            <a:pPr marL="342900" marR="0" lvl="0" indent="-342900" algn="just" rtl="0">
              <a:lnSpc>
                <a:spcPct val="80000"/>
              </a:lnSpc>
              <a:spcBef>
                <a:spcPts val="400"/>
              </a:spcBef>
              <a:spcAft>
                <a:spcPts val="0"/>
              </a:spcAft>
              <a:buClr>
                <a:schemeClr val="dk1"/>
              </a:buClr>
              <a:buSzPts val="2000"/>
              <a:buFont typeface="Arial"/>
              <a:buChar char="•"/>
            </a:pPr>
            <a:r>
              <a:rPr lang="en-US" sz="2000" b="1" i="0" u="none">
                <a:solidFill>
                  <a:schemeClr val="dk1"/>
                </a:solidFill>
                <a:latin typeface="Cambria"/>
                <a:ea typeface="Cambria"/>
                <a:cs typeface="Cambria"/>
                <a:sym typeface="Cambria"/>
              </a:rPr>
              <a:t>Testing and Development: </a:t>
            </a:r>
            <a:r>
              <a:rPr lang="en-US" sz="2000" b="0" i="0" u="none">
                <a:solidFill>
                  <a:schemeClr val="dk1"/>
                </a:solidFill>
                <a:latin typeface="Cambria"/>
                <a:ea typeface="Cambria"/>
                <a:cs typeface="Cambria"/>
                <a:sym typeface="Cambria"/>
              </a:rPr>
              <a:t>Setting up the platform for development and finally performing different types of testing to check the readiness of the product before delivery requires different types of IT resources and infrastructure. But </a:t>
            </a:r>
            <a:r>
              <a:rPr lang="en-US" sz="2000" b="1" i="0" u="none">
                <a:solidFill>
                  <a:schemeClr val="dk1"/>
                </a:solidFill>
                <a:latin typeface="Cambria"/>
                <a:ea typeface="Cambria"/>
                <a:cs typeface="Cambria"/>
                <a:sym typeface="Cambria"/>
              </a:rPr>
              <a:t>Cloud computing provides the easiest approach for development as well as testing even if deployment by using their IT resources with minimal expenses. </a:t>
            </a:r>
            <a:r>
              <a:rPr lang="en-US" sz="2000" b="0" i="0" u="none">
                <a:solidFill>
                  <a:schemeClr val="dk1"/>
                </a:solidFill>
                <a:latin typeface="Cambria"/>
                <a:ea typeface="Cambria"/>
                <a:cs typeface="Cambria"/>
                <a:sym typeface="Cambria"/>
              </a:rPr>
              <a:t>Organizations find it more helpful as they got scalable and flexible cloud services for product development, testing, and deployment.</a:t>
            </a:r>
            <a:endParaRPr/>
          </a:p>
          <a:p>
            <a:pPr marL="342900" marR="0" lvl="0" indent="-215900" algn="l" rtl="0">
              <a:spcBef>
                <a:spcPts val="400"/>
              </a:spcBef>
              <a:spcAft>
                <a:spcPts val="0"/>
              </a:spcAft>
              <a:buClr>
                <a:schemeClr val="dk1"/>
              </a:buClr>
              <a:buSzPts val="2000"/>
              <a:buFont typeface="Arial"/>
              <a:buNone/>
            </a:pPr>
            <a:endParaRPr sz="2000" b="0" i="0" u="none">
              <a:solidFill>
                <a:schemeClr val="dk1"/>
              </a:solidFill>
              <a:latin typeface="Cambria"/>
              <a:ea typeface="Cambria"/>
              <a:cs typeface="Cambria"/>
              <a:sym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16"/>
          <p:cNvSpPr txBox="1">
            <a:spLocks noGrp="1"/>
          </p:cNvSpPr>
          <p:nvPr>
            <p:ph type="title"/>
          </p:nvPr>
        </p:nvSpPr>
        <p:spPr>
          <a:xfrm>
            <a:off x="914400" y="685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800"/>
              <a:buFont typeface="Cambria"/>
              <a:buNone/>
            </a:pPr>
            <a:r>
              <a:rPr lang="en-US" sz="2800" b="1" i="0" u="none" strike="noStrike" cap="none">
                <a:solidFill>
                  <a:schemeClr val="dk1"/>
                </a:solidFill>
                <a:latin typeface="Cambria"/>
                <a:ea typeface="Cambria"/>
                <a:cs typeface="Cambria"/>
                <a:sym typeface="Cambria"/>
              </a:rPr>
              <a:t>Applications of Cloud Computing in real-world:</a:t>
            </a:r>
            <a:endParaRPr sz="2800" b="1" i="0" u="none" strike="noStrike" cap="none">
              <a:solidFill>
                <a:srgbClr val="FF0000"/>
              </a:solidFill>
              <a:latin typeface="Times New Roman"/>
              <a:ea typeface="Times New Roman"/>
              <a:cs typeface="Times New Roman"/>
              <a:sym typeface="Times New Roman"/>
            </a:endParaRPr>
          </a:p>
        </p:txBody>
      </p:sp>
      <p:sp>
        <p:nvSpPr>
          <p:cNvPr id="422" name="Google Shape;422;p16"/>
          <p:cNvSpPr txBox="1">
            <a:spLocks noGrp="1"/>
          </p:cNvSpPr>
          <p:nvPr>
            <p:ph type="body" idx="1"/>
          </p:nvPr>
        </p:nvSpPr>
        <p:spPr>
          <a:xfrm>
            <a:off x="381000" y="1524000"/>
            <a:ext cx="8534400" cy="4495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90000"/>
              </a:lnSpc>
              <a:spcBef>
                <a:spcPts val="0"/>
              </a:spcBef>
              <a:spcAft>
                <a:spcPts val="0"/>
              </a:spcAft>
              <a:buClr>
                <a:schemeClr val="dk1"/>
              </a:buClr>
              <a:buSzPts val="2000"/>
              <a:buFont typeface="Arial"/>
              <a:buChar char="•"/>
            </a:pPr>
            <a:r>
              <a:rPr lang="en-US" sz="2000" b="1" i="0" u="none">
                <a:solidFill>
                  <a:schemeClr val="dk1"/>
                </a:solidFill>
                <a:latin typeface="Cambria"/>
                <a:ea typeface="Cambria"/>
                <a:cs typeface="Cambria"/>
                <a:sym typeface="Cambria"/>
              </a:rPr>
              <a:t>Anti-Virus Applications </a:t>
            </a:r>
            <a:r>
              <a:rPr lang="en-US" sz="2000" b="0" i="0" u="none">
                <a:solidFill>
                  <a:schemeClr val="dk1"/>
                </a:solidFill>
                <a:latin typeface="Cambria"/>
                <a:ea typeface="Cambria"/>
                <a:cs typeface="Cambria"/>
                <a:sym typeface="Cambria"/>
              </a:rPr>
              <a:t>:Previously, organizations were installing antivirus software within their system even if we will see we personally also keep antivirus software in our system for safety from outside cyber threats. But nowadays </a:t>
            </a:r>
            <a:r>
              <a:rPr lang="en-US" sz="2000" b="1" i="0" u="none">
                <a:solidFill>
                  <a:schemeClr val="dk1"/>
                </a:solidFill>
                <a:latin typeface="Cambria"/>
                <a:ea typeface="Cambria"/>
                <a:cs typeface="Cambria"/>
                <a:sym typeface="Cambria"/>
              </a:rPr>
              <a:t>cloud computing provides cloud antivirus software </a:t>
            </a:r>
            <a:r>
              <a:rPr lang="en-US" sz="2000" b="0" i="0" u="none">
                <a:solidFill>
                  <a:schemeClr val="dk1"/>
                </a:solidFill>
                <a:latin typeface="Cambria"/>
                <a:ea typeface="Cambria"/>
                <a:cs typeface="Cambria"/>
                <a:sym typeface="Cambria"/>
              </a:rPr>
              <a:t>which means the software is stored in the cloud and monitors your system/organization’s system remotely. This antivirus software identifies the security risks and fixes them. Sometimes also they give a feature to download the software.</a:t>
            </a:r>
            <a:endParaRPr/>
          </a:p>
          <a:p>
            <a:pPr marL="342900" marR="0" lvl="0" indent="-342900" algn="just" rtl="0">
              <a:lnSpc>
                <a:spcPct val="90000"/>
              </a:lnSpc>
              <a:spcBef>
                <a:spcPts val="400"/>
              </a:spcBef>
              <a:spcAft>
                <a:spcPts val="0"/>
              </a:spcAft>
              <a:buClr>
                <a:schemeClr val="dk1"/>
              </a:buClr>
              <a:buSzPts val="2000"/>
              <a:buFont typeface="Arial"/>
              <a:buChar char="•"/>
            </a:pPr>
            <a:r>
              <a:rPr lang="en-US" sz="2000" b="1" i="0" u="none">
                <a:solidFill>
                  <a:schemeClr val="dk1"/>
                </a:solidFill>
                <a:latin typeface="Cambria"/>
                <a:ea typeface="Cambria"/>
                <a:cs typeface="Cambria"/>
                <a:sym typeface="Cambria"/>
              </a:rPr>
              <a:t>Ecommerce Application: </a:t>
            </a:r>
            <a:r>
              <a:rPr lang="en-US" sz="2000" b="0" i="0" u="none">
                <a:solidFill>
                  <a:schemeClr val="dk1"/>
                </a:solidFill>
                <a:latin typeface="Cambria"/>
                <a:ea typeface="Cambria"/>
                <a:cs typeface="Cambria"/>
                <a:sym typeface="Cambria"/>
              </a:rPr>
              <a:t>Cloud-based e-commerce allows responding quickly to the opportunities which are emerging. Users respond quickly to the market opportunities as well as the traditional e-commerce responds to the challenges quickly. Cloud-based e-commerce gives a new approach to doing business with the minimum amount as well as minimum time possible. Customer data, product data, and other operational systems are managed in cloud environments.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17"/>
          <p:cNvSpPr txBox="1">
            <a:spLocks noGrp="1"/>
          </p:cNvSpPr>
          <p:nvPr>
            <p:ph type="title"/>
          </p:nvPr>
        </p:nvSpPr>
        <p:spPr>
          <a:xfrm>
            <a:off x="8890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800"/>
              <a:buFont typeface="Cambria"/>
              <a:buNone/>
            </a:pPr>
            <a:r>
              <a:rPr lang="en-US" sz="2800" b="1" i="0" u="none" strike="noStrike" cap="none">
                <a:solidFill>
                  <a:schemeClr val="dk1"/>
                </a:solidFill>
                <a:latin typeface="Cambria"/>
                <a:ea typeface="Cambria"/>
                <a:cs typeface="Cambria"/>
                <a:sym typeface="Cambria"/>
              </a:rPr>
              <a:t>Applications of Cloud Computing in real-world:</a:t>
            </a:r>
            <a:endParaRPr sz="2800" b="1" i="0" u="none" strike="noStrike" cap="none">
              <a:solidFill>
                <a:srgbClr val="FF0000"/>
              </a:solidFill>
              <a:latin typeface="Times New Roman"/>
              <a:ea typeface="Times New Roman"/>
              <a:cs typeface="Times New Roman"/>
              <a:sym typeface="Times New Roman"/>
            </a:endParaRPr>
          </a:p>
        </p:txBody>
      </p:sp>
      <p:sp>
        <p:nvSpPr>
          <p:cNvPr id="428" name="Google Shape;428;p17"/>
          <p:cNvSpPr txBox="1">
            <a:spLocks noGrp="1"/>
          </p:cNvSpPr>
          <p:nvPr>
            <p:ph type="body" idx="1"/>
          </p:nvPr>
        </p:nvSpPr>
        <p:spPr>
          <a:xfrm>
            <a:off x="304800" y="1447800"/>
            <a:ext cx="8547100" cy="45720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80000"/>
              </a:lnSpc>
              <a:spcBef>
                <a:spcPts val="0"/>
              </a:spcBef>
              <a:spcAft>
                <a:spcPts val="0"/>
              </a:spcAft>
              <a:buClr>
                <a:schemeClr val="dk1"/>
              </a:buClr>
              <a:buSzPts val="2000"/>
              <a:buFont typeface="Arial"/>
              <a:buChar char="•"/>
            </a:pPr>
            <a:r>
              <a:rPr lang="en-US" sz="2000" b="1" i="0" u="none">
                <a:solidFill>
                  <a:schemeClr val="dk1"/>
                </a:solidFill>
                <a:latin typeface="Cambria"/>
                <a:ea typeface="Cambria"/>
                <a:cs typeface="Cambria"/>
                <a:sym typeface="Cambria"/>
              </a:rPr>
              <a:t>Cloud computing in education: </a:t>
            </a:r>
            <a:r>
              <a:rPr lang="en-US" sz="2000" b="0" i="0" u="none">
                <a:solidFill>
                  <a:schemeClr val="dk1"/>
                </a:solidFill>
                <a:latin typeface="Cambria"/>
                <a:ea typeface="Cambria"/>
                <a:cs typeface="Cambria"/>
                <a:sym typeface="Cambria"/>
              </a:rPr>
              <a:t>Cloud computing in the education sector brings an unbelievable change in learning by providing </a:t>
            </a:r>
            <a:r>
              <a:rPr lang="en-US" sz="2000" b="1" i="0" u="none">
                <a:solidFill>
                  <a:schemeClr val="dk1"/>
                </a:solidFill>
                <a:latin typeface="Cambria"/>
                <a:ea typeface="Cambria"/>
                <a:cs typeface="Cambria"/>
                <a:sym typeface="Cambria"/>
              </a:rPr>
              <a:t>e-learning, online distance learning platforms, and student information portals to the students. It is a new trend in education </a:t>
            </a:r>
            <a:r>
              <a:rPr lang="en-US" sz="2000" b="0" i="0" u="none">
                <a:solidFill>
                  <a:schemeClr val="dk1"/>
                </a:solidFill>
                <a:latin typeface="Cambria"/>
                <a:ea typeface="Cambria"/>
                <a:cs typeface="Cambria"/>
                <a:sym typeface="Cambria"/>
              </a:rPr>
              <a:t>that provides an attractive environment for learning, teaching, experimenting, etc to students, faculty members, and researchers. Everyone associated with the field can connect to the cloud of their organization and access data and information from there.</a:t>
            </a:r>
            <a:endParaRPr/>
          </a:p>
          <a:p>
            <a:pPr marL="342900" marR="0" lvl="0" indent="-342900" algn="just" rtl="0">
              <a:lnSpc>
                <a:spcPct val="80000"/>
              </a:lnSpc>
              <a:spcBef>
                <a:spcPts val="400"/>
              </a:spcBef>
              <a:spcAft>
                <a:spcPts val="0"/>
              </a:spcAft>
              <a:buClr>
                <a:schemeClr val="dk1"/>
              </a:buClr>
              <a:buSzPts val="2000"/>
              <a:buFont typeface="Arial"/>
              <a:buChar char="•"/>
            </a:pPr>
            <a:r>
              <a:rPr lang="en-US" sz="2000" b="1" i="0" u="none">
                <a:solidFill>
                  <a:schemeClr val="dk1"/>
                </a:solidFill>
                <a:latin typeface="Cambria"/>
                <a:ea typeface="Cambria"/>
                <a:cs typeface="Cambria"/>
                <a:sym typeface="Cambria"/>
              </a:rPr>
              <a:t>Cloud Computing in Medical Fields: </a:t>
            </a:r>
            <a:r>
              <a:rPr lang="en-US" sz="2000" b="0" i="0" u="none">
                <a:solidFill>
                  <a:schemeClr val="dk1"/>
                </a:solidFill>
                <a:latin typeface="Cambria"/>
                <a:ea typeface="Cambria"/>
                <a:cs typeface="Cambria"/>
                <a:sym typeface="Cambria"/>
              </a:rPr>
              <a:t>In the medical field also nowadays cloud computing is used for storing and accessing the data as it allows to store data and access it through the internet without worrying about any physical setup. It facilitates easier access and distribution of information among the various medical professional and the individual patients. Similarly, with help of cloud computing offsite buildings and treatment facilities </a:t>
            </a:r>
            <a:r>
              <a:rPr lang="en-US" sz="2000" b="1" i="0" u="none">
                <a:solidFill>
                  <a:schemeClr val="dk1"/>
                </a:solidFill>
                <a:latin typeface="Cambria"/>
                <a:ea typeface="Cambria"/>
                <a:cs typeface="Cambria"/>
                <a:sym typeface="Cambria"/>
              </a:rPr>
              <a:t>like labs, doctors making emergency house calls and ambulances information, etc can be easily accessed </a:t>
            </a:r>
            <a:r>
              <a:rPr lang="en-US" sz="2000" b="0" i="0" u="none">
                <a:solidFill>
                  <a:schemeClr val="dk1"/>
                </a:solidFill>
                <a:latin typeface="Cambria"/>
                <a:ea typeface="Cambria"/>
                <a:cs typeface="Cambria"/>
                <a:sym typeface="Cambria"/>
              </a:rPr>
              <a:t>and updated remotely instead of having to wait until they can access a hospital computer.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18"/>
          <p:cNvSpPr txBox="1">
            <a:spLocks noGrp="1"/>
          </p:cNvSpPr>
          <p:nvPr>
            <p:ph type="title"/>
          </p:nvPr>
        </p:nvSpPr>
        <p:spPr>
          <a:xfrm>
            <a:off x="990600" y="533400"/>
            <a:ext cx="7924800" cy="685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Cambria"/>
              <a:buNone/>
            </a:pPr>
            <a:r>
              <a:rPr lang="en-US" sz="2400" b="1" i="0" u="none" strike="noStrike" cap="none">
                <a:solidFill>
                  <a:schemeClr val="dk1"/>
                </a:solidFill>
                <a:latin typeface="Cambria"/>
                <a:ea typeface="Cambria"/>
                <a:cs typeface="Cambria"/>
                <a:sym typeface="Cambria"/>
              </a:rPr>
              <a:t>Advantages:</a:t>
            </a:r>
            <a:endParaRPr sz="2400" b="1" i="0" u="none" strike="noStrike" cap="none">
              <a:solidFill>
                <a:schemeClr val="dk1"/>
              </a:solidFill>
              <a:latin typeface="Cambria"/>
              <a:ea typeface="Cambria"/>
              <a:cs typeface="Cambria"/>
              <a:sym typeface="Cambria"/>
            </a:endParaRPr>
          </a:p>
        </p:txBody>
      </p:sp>
      <p:sp>
        <p:nvSpPr>
          <p:cNvPr id="434" name="Google Shape;434;p18"/>
          <p:cNvSpPr txBox="1">
            <a:spLocks noGrp="1"/>
          </p:cNvSpPr>
          <p:nvPr>
            <p:ph type="body" idx="1"/>
          </p:nvPr>
        </p:nvSpPr>
        <p:spPr>
          <a:xfrm>
            <a:off x="457200" y="1219200"/>
            <a:ext cx="8458200" cy="50292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80000"/>
              </a:lnSpc>
              <a:spcBef>
                <a:spcPts val="0"/>
              </a:spcBef>
              <a:spcAft>
                <a:spcPts val="0"/>
              </a:spcAft>
              <a:buClr>
                <a:schemeClr val="dk1"/>
              </a:buClr>
              <a:buSzPts val="2200"/>
              <a:buFont typeface="Arial"/>
              <a:buChar char="•"/>
            </a:pPr>
            <a:r>
              <a:rPr lang="en-US" sz="2200" b="1" i="0" u="none">
                <a:solidFill>
                  <a:schemeClr val="dk1"/>
                </a:solidFill>
                <a:latin typeface="Cambria"/>
                <a:ea typeface="Cambria"/>
                <a:cs typeface="Cambria"/>
                <a:sym typeface="Cambria"/>
              </a:rPr>
              <a:t>Easy implementation. </a:t>
            </a:r>
            <a:r>
              <a:rPr lang="en-US" sz="2200" b="0" i="0" u="none">
                <a:solidFill>
                  <a:schemeClr val="dk1"/>
                </a:solidFill>
                <a:latin typeface="Cambria"/>
                <a:ea typeface="Cambria"/>
                <a:cs typeface="Cambria"/>
                <a:sym typeface="Cambria"/>
              </a:rPr>
              <a:t>Cloud hosting allows business to retain the same applications and business processes without having to deal with the backend technicalities. Readily manageable by the Internet, a cloud infrastructure can be accessed by enterprises easily and quickly.</a:t>
            </a:r>
            <a:endParaRPr/>
          </a:p>
          <a:p>
            <a:pPr marL="342900" marR="0" lvl="0" indent="-342900" algn="just" rtl="0">
              <a:lnSpc>
                <a:spcPct val="80000"/>
              </a:lnSpc>
              <a:spcBef>
                <a:spcPts val="440"/>
              </a:spcBef>
              <a:spcAft>
                <a:spcPts val="0"/>
              </a:spcAft>
              <a:buClr>
                <a:schemeClr val="dk1"/>
              </a:buClr>
              <a:buSzPts val="2200"/>
              <a:buFont typeface="Arial"/>
              <a:buChar char="•"/>
            </a:pPr>
            <a:r>
              <a:rPr lang="en-US" sz="2200" b="0" i="0" u="none">
                <a:solidFill>
                  <a:schemeClr val="dk1"/>
                </a:solidFill>
                <a:latin typeface="Cambria"/>
                <a:ea typeface="Cambria"/>
                <a:cs typeface="Cambria"/>
                <a:sym typeface="Cambria"/>
              </a:rPr>
              <a:t> </a:t>
            </a:r>
            <a:r>
              <a:rPr lang="en-US" sz="2200" b="1" i="0" u="none">
                <a:solidFill>
                  <a:schemeClr val="dk1"/>
                </a:solidFill>
                <a:latin typeface="Cambria"/>
                <a:ea typeface="Cambria"/>
                <a:cs typeface="Cambria"/>
                <a:sym typeface="Cambria"/>
              </a:rPr>
              <a:t>Accessibility. </a:t>
            </a:r>
            <a:r>
              <a:rPr lang="en-US" sz="2200" b="0" i="0" u="none">
                <a:solidFill>
                  <a:schemeClr val="dk1"/>
                </a:solidFill>
                <a:latin typeface="Cambria"/>
                <a:ea typeface="Cambria"/>
                <a:cs typeface="Cambria"/>
                <a:sym typeface="Cambria"/>
              </a:rPr>
              <a:t>Access your data anywhere, anytime. An Internet cloud infrastructure maximizes enterprise productivity and efficiency by ensuring your application is always accessible. This allows for easy collaboration and sharing among users in multiple locations. </a:t>
            </a:r>
            <a:endParaRPr/>
          </a:p>
          <a:p>
            <a:pPr marL="342900" marR="0" lvl="0" indent="-342900" algn="just" rtl="0">
              <a:lnSpc>
                <a:spcPct val="80000"/>
              </a:lnSpc>
              <a:spcBef>
                <a:spcPts val="440"/>
              </a:spcBef>
              <a:spcAft>
                <a:spcPts val="0"/>
              </a:spcAft>
              <a:buClr>
                <a:schemeClr val="dk1"/>
              </a:buClr>
              <a:buSzPts val="2200"/>
              <a:buFont typeface="Arial"/>
              <a:buChar char="•"/>
            </a:pPr>
            <a:r>
              <a:rPr lang="en-US" sz="2200" b="1" i="0" u="none">
                <a:solidFill>
                  <a:schemeClr val="dk1"/>
                </a:solidFill>
                <a:latin typeface="Cambria"/>
                <a:ea typeface="Cambria"/>
                <a:cs typeface="Cambria"/>
                <a:sym typeface="Cambria"/>
              </a:rPr>
              <a:t>No hardware required. </a:t>
            </a:r>
            <a:r>
              <a:rPr lang="en-US" sz="2200" b="0" i="0" u="none">
                <a:solidFill>
                  <a:schemeClr val="dk1"/>
                </a:solidFill>
                <a:latin typeface="Cambria"/>
                <a:ea typeface="Cambria"/>
                <a:cs typeface="Cambria"/>
                <a:sym typeface="Cambria"/>
              </a:rPr>
              <a:t>Since everything will be hosted in the cloud, a physical storage center is no longer needed. However, a backup could be worth looking into in the event of a disaster that could leave your company's productivity stagnant.</a:t>
            </a:r>
            <a:endParaRPr/>
          </a:p>
          <a:p>
            <a:pPr marL="342900" marR="0" lvl="0" indent="-342900" algn="l" rtl="0">
              <a:lnSpc>
                <a:spcPct val="80000"/>
              </a:lnSpc>
              <a:spcBef>
                <a:spcPts val="380"/>
              </a:spcBef>
              <a:spcAft>
                <a:spcPts val="0"/>
              </a:spcAft>
              <a:buClr>
                <a:schemeClr val="dk1"/>
              </a:buClr>
              <a:buSzPts val="1900"/>
              <a:buFont typeface="Arial"/>
              <a:buNone/>
            </a:pPr>
            <a:br>
              <a:rPr lang="en-US" sz="1900" b="0" i="0" u="none">
                <a:solidFill>
                  <a:schemeClr val="dk1"/>
                </a:solidFill>
                <a:latin typeface="Cambria"/>
                <a:ea typeface="Cambria"/>
                <a:cs typeface="Cambria"/>
                <a:sym typeface="Cambria"/>
              </a:rPr>
            </a:br>
            <a:br>
              <a:rPr lang="en-US" sz="1900" b="0" i="0" u="none">
                <a:solidFill>
                  <a:schemeClr val="dk1"/>
                </a:solidFill>
                <a:latin typeface="Cambria"/>
                <a:ea typeface="Cambria"/>
                <a:cs typeface="Cambria"/>
                <a:sym typeface="Cambria"/>
              </a:rPr>
            </a:b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19"/>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Cambria"/>
              <a:buNone/>
            </a:pPr>
            <a:r>
              <a:rPr lang="en-US" sz="2400" b="1" i="0" u="none" strike="noStrike" cap="none">
                <a:solidFill>
                  <a:schemeClr val="dk1"/>
                </a:solidFill>
                <a:latin typeface="Cambria"/>
                <a:ea typeface="Cambria"/>
                <a:cs typeface="Cambria"/>
                <a:sym typeface="Cambria"/>
              </a:rPr>
              <a:t>Advantages:</a:t>
            </a:r>
            <a:endParaRPr sz="2400" b="1" i="0" u="none" strike="noStrike" cap="none">
              <a:solidFill>
                <a:schemeClr val="dk1"/>
              </a:solidFill>
              <a:latin typeface="Cambria"/>
              <a:ea typeface="Cambria"/>
              <a:cs typeface="Cambria"/>
              <a:sym typeface="Cambria"/>
            </a:endParaRPr>
          </a:p>
        </p:txBody>
      </p:sp>
      <p:sp>
        <p:nvSpPr>
          <p:cNvPr id="440" name="Google Shape;440;p19"/>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400"/>
              <a:buFont typeface="Arial"/>
              <a:buChar char="•"/>
            </a:pPr>
            <a:r>
              <a:rPr lang="en-US" sz="2400" b="1" i="0" u="none">
                <a:solidFill>
                  <a:schemeClr val="dk1"/>
                </a:solidFill>
                <a:latin typeface="Cambria"/>
                <a:ea typeface="Cambria"/>
                <a:cs typeface="Cambria"/>
                <a:sym typeface="Cambria"/>
              </a:rPr>
              <a:t>Cost per head. </a:t>
            </a:r>
            <a:r>
              <a:rPr lang="en-US" sz="2400" b="0" i="0" u="none">
                <a:solidFill>
                  <a:schemeClr val="dk1"/>
                </a:solidFill>
                <a:latin typeface="Cambria"/>
                <a:ea typeface="Cambria"/>
                <a:cs typeface="Cambria"/>
                <a:sym typeface="Cambria"/>
              </a:rPr>
              <a:t>Overhead technology costs are kept at a minimum with cloud hosting services, enabling businesses to use the extra time and resources for improving the company infrastructure.</a:t>
            </a:r>
            <a:endParaRPr/>
          </a:p>
          <a:p>
            <a:pPr marL="342900" marR="0" lvl="0" indent="-342900" algn="just" rtl="0">
              <a:lnSpc>
                <a:spcPct val="100000"/>
              </a:lnSpc>
              <a:spcBef>
                <a:spcPts val="480"/>
              </a:spcBef>
              <a:spcAft>
                <a:spcPts val="0"/>
              </a:spcAft>
              <a:buClr>
                <a:schemeClr val="dk1"/>
              </a:buClr>
              <a:buSzPts val="2400"/>
              <a:buFont typeface="Arial"/>
              <a:buChar char="•"/>
            </a:pPr>
            <a:r>
              <a:rPr lang="en-US" sz="2400" b="0" i="0" u="none">
                <a:solidFill>
                  <a:schemeClr val="dk1"/>
                </a:solidFill>
                <a:latin typeface="Cambria"/>
                <a:ea typeface="Cambria"/>
                <a:cs typeface="Cambria"/>
                <a:sym typeface="Cambria"/>
              </a:rPr>
              <a:t> </a:t>
            </a:r>
            <a:r>
              <a:rPr lang="en-US" sz="2400" b="1" i="0" u="none">
                <a:solidFill>
                  <a:schemeClr val="dk1"/>
                </a:solidFill>
                <a:latin typeface="Cambria"/>
                <a:ea typeface="Cambria"/>
                <a:cs typeface="Cambria"/>
                <a:sym typeface="Cambria"/>
              </a:rPr>
              <a:t>Flexibility for growth</a:t>
            </a:r>
            <a:r>
              <a:rPr lang="en-US" sz="2400" b="0" i="0" u="none">
                <a:solidFill>
                  <a:schemeClr val="dk1"/>
                </a:solidFill>
                <a:latin typeface="Cambria"/>
                <a:ea typeface="Cambria"/>
                <a:cs typeface="Cambria"/>
                <a:sym typeface="Cambria"/>
              </a:rPr>
              <a:t>. The cloud is easily scalable so companies can add or subtract resources based on their needs. As companies grow, their system will grow with them.</a:t>
            </a:r>
            <a:endParaRPr/>
          </a:p>
          <a:p>
            <a:pPr marL="342900" marR="0" lvl="0" indent="-342900" algn="just"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mbria"/>
                <a:ea typeface="Cambria"/>
                <a:cs typeface="Cambria"/>
                <a:sym typeface="Cambria"/>
              </a:rPr>
              <a:t>Efficient recovery. </a:t>
            </a:r>
            <a:r>
              <a:rPr lang="en-US" sz="2400" b="0" i="0" u="none">
                <a:solidFill>
                  <a:schemeClr val="dk1"/>
                </a:solidFill>
                <a:latin typeface="Cambria"/>
                <a:ea typeface="Cambria"/>
                <a:cs typeface="Cambria"/>
                <a:sym typeface="Cambria"/>
              </a:rPr>
              <a:t>Cloud computing delivers faster and more accurate retrievals of applications and data. With less downtime, it is the most efficient recovery plan.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20"/>
          <p:cNvSpPr txBox="1">
            <a:spLocks noGrp="1"/>
          </p:cNvSpPr>
          <p:nvPr>
            <p:ph type="title"/>
          </p:nvPr>
        </p:nvSpPr>
        <p:spPr>
          <a:xfrm>
            <a:off x="990600" y="533400"/>
            <a:ext cx="7924800" cy="762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Cambria"/>
              <a:buNone/>
            </a:pPr>
            <a:r>
              <a:rPr lang="en-US" sz="2400" b="1" i="0" u="none" strike="noStrike" cap="none">
                <a:solidFill>
                  <a:schemeClr val="dk1"/>
                </a:solidFill>
                <a:latin typeface="Cambria"/>
                <a:ea typeface="Cambria"/>
                <a:cs typeface="Cambria"/>
                <a:sym typeface="Cambria"/>
              </a:rPr>
              <a:t>Disadvantages:</a:t>
            </a:r>
            <a:endParaRPr sz="2400" b="1" i="0" u="none" strike="noStrike" cap="none">
              <a:solidFill>
                <a:schemeClr val="dk1"/>
              </a:solidFill>
              <a:latin typeface="Cambria"/>
              <a:ea typeface="Cambria"/>
              <a:cs typeface="Cambria"/>
              <a:sym typeface="Cambria"/>
            </a:endParaRPr>
          </a:p>
        </p:txBody>
      </p:sp>
      <p:sp>
        <p:nvSpPr>
          <p:cNvPr id="446" name="Google Shape;446;p20"/>
          <p:cNvSpPr txBox="1">
            <a:spLocks noGrp="1"/>
          </p:cNvSpPr>
          <p:nvPr>
            <p:ph type="body" idx="1"/>
          </p:nvPr>
        </p:nvSpPr>
        <p:spPr>
          <a:xfrm>
            <a:off x="609600" y="1295400"/>
            <a:ext cx="8305800" cy="49530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80000"/>
              </a:lnSpc>
              <a:spcBef>
                <a:spcPts val="0"/>
              </a:spcBef>
              <a:spcAft>
                <a:spcPts val="0"/>
              </a:spcAft>
              <a:buClr>
                <a:schemeClr val="dk1"/>
              </a:buClr>
              <a:buSzPts val="2200"/>
              <a:buFont typeface="Arial"/>
              <a:buChar char="•"/>
            </a:pPr>
            <a:r>
              <a:rPr lang="en-US" sz="2200" b="1" i="0" u="none">
                <a:solidFill>
                  <a:schemeClr val="dk1"/>
                </a:solidFill>
                <a:latin typeface="Cambria"/>
                <a:ea typeface="Cambria"/>
                <a:cs typeface="Cambria"/>
                <a:sym typeface="Cambria"/>
              </a:rPr>
              <a:t>No longer in control. </a:t>
            </a:r>
            <a:r>
              <a:rPr lang="en-US" sz="2200" b="0" i="0" u="none">
                <a:solidFill>
                  <a:schemeClr val="dk1"/>
                </a:solidFill>
                <a:latin typeface="Cambria"/>
                <a:ea typeface="Cambria"/>
                <a:cs typeface="Cambria"/>
                <a:sym typeface="Cambria"/>
              </a:rPr>
              <a:t>When moving services to the cloud, you are handing over your data and information. For companies who have an in-house IT staff, they will be unable to handle issues on their own. However, Stratosphere Networks has a 24/7 live help desk that can rectify any problems immediately. </a:t>
            </a:r>
            <a:endParaRPr/>
          </a:p>
          <a:p>
            <a:pPr marL="342900" marR="0" lvl="0" indent="-342900" algn="just" rtl="0">
              <a:lnSpc>
                <a:spcPct val="80000"/>
              </a:lnSpc>
              <a:spcBef>
                <a:spcPts val="440"/>
              </a:spcBef>
              <a:spcAft>
                <a:spcPts val="0"/>
              </a:spcAft>
              <a:buClr>
                <a:schemeClr val="dk1"/>
              </a:buClr>
              <a:buSzPts val="2200"/>
              <a:buFont typeface="Arial"/>
              <a:buChar char="•"/>
            </a:pPr>
            <a:r>
              <a:rPr lang="en-US" sz="2200" b="1" i="0" u="none">
                <a:solidFill>
                  <a:schemeClr val="dk1"/>
                </a:solidFill>
                <a:latin typeface="Cambria"/>
                <a:ea typeface="Cambria"/>
                <a:cs typeface="Cambria"/>
                <a:sym typeface="Cambria"/>
              </a:rPr>
              <a:t>May not get all the features. </a:t>
            </a:r>
            <a:r>
              <a:rPr lang="en-US" sz="2200" b="0" i="0" u="none">
                <a:solidFill>
                  <a:schemeClr val="dk1"/>
                </a:solidFill>
                <a:latin typeface="Cambria"/>
                <a:ea typeface="Cambria"/>
                <a:cs typeface="Cambria"/>
                <a:sym typeface="Cambria"/>
              </a:rPr>
              <a:t>Not all cloud services are the same. Some cloud providers tend to offer limited versions and enable the most popular features only, so you may not receive every feature or customization you want. Before signing up, make sure you know what your cloud service provider offers.</a:t>
            </a:r>
            <a:endParaRPr/>
          </a:p>
          <a:p>
            <a:pPr marL="342900" marR="0" lvl="0" indent="-342900" algn="just" rtl="0">
              <a:lnSpc>
                <a:spcPct val="80000"/>
              </a:lnSpc>
              <a:spcBef>
                <a:spcPts val="440"/>
              </a:spcBef>
              <a:spcAft>
                <a:spcPts val="0"/>
              </a:spcAft>
              <a:buClr>
                <a:schemeClr val="dk1"/>
              </a:buClr>
              <a:buSzPts val="2200"/>
              <a:buFont typeface="Arial"/>
              <a:buChar char="•"/>
            </a:pPr>
            <a:r>
              <a:rPr lang="en-US" sz="2200" b="0" i="0" u="none">
                <a:solidFill>
                  <a:schemeClr val="dk1"/>
                </a:solidFill>
                <a:latin typeface="Cambria"/>
                <a:ea typeface="Cambria"/>
                <a:cs typeface="Cambria"/>
                <a:sym typeface="Cambria"/>
              </a:rPr>
              <a:t> </a:t>
            </a:r>
            <a:r>
              <a:rPr lang="en-US" sz="2200" b="1" i="0" u="none">
                <a:solidFill>
                  <a:schemeClr val="dk1"/>
                </a:solidFill>
                <a:latin typeface="Cambria"/>
                <a:ea typeface="Cambria"/>
                <a:cs typeface="Cambria"/>
                <a:sym typeface="Cambria"/>
              </a:rPr>
              <a:t>Doesn't mean you should do away with servers. </a:t>
            </a:r>
            <a:r>
              <a:rPr lang="en-US" sz="2200" b="0" i="0" u="none">
                <a:solidFill>
                  <a:schemeClr val="dk1"/>
                </a:solidFill>
                <a:latin typeface="Cambria"/>
                <a:ea typeface="Cambria"/>
                <a:cs typeface="Cambria"/>
                <a:sym typeface="Cambria"/>
              </a:rPr>
              <a:t>You may have fewer servers to handle which means less for your IT staff to handle, but that doesn't mean you can let go of all your servers and staff. While it may seem costly to have data centers and a cloud infrastructure, redundancy is key for backup and recovery.</a:t>
            </a:r>
            <a:endParaRPr/>
          </a:p>
          <a:p>
            <a:pPr marL="342900" marR="0" lvl="0" indent="-342900" algn="l" rtl="0">
              <a:lnSpc>
                <a:spcPct val="80000"/>
              </a:lnSpc>
              <a:spcBef>
                <a:spcPts val="440"/>
              </a:spcBef>
              <a:spcAft>
                <a:spcPts val="0"/>
              </a:spcAft>
              <a:buClr>
                <a:schemeClr val="dk1"/>
              </a:buClr>
              <a:buSzPts val="2200"/>
              <a:buFont typeface="Arial"/>
              <a:buNone/>
            </a:pPr>
            <a:br>
              <a:rPr lang="en-US" sz="2200" b="0" i="0" u="none">
                <a:solidFill>
                  <a:schemeClr val="dk1"/>
                </a:solidFill>
                <a:latin typeface="Cambria"/>
                <a:ea typeface="Cambria"/>
                <a:cs typeface="Cambria"/>
                <a:sym typeface="Cambria"/>
              </a:rPr>
            </a:b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21"/>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Cambria"/>
              <a:buNone/>
            </a:pPr>
            <a:r>
              <a:rPr lang="en-US" sz="2400" b="1" i="0" u="none" strike="noStrike" cap="none">
                <a:solidFill>
                  <a:schemeClr val="dk1"/>
                </a:solidFill>
                <a:latin typeface="Cambria"/>
                <a:ea typeface="Cambria"/>
                <a:cs typeface="Cambria"/>
                <a:sym typeface="Cambria"/>
              </a:rPr>
              <a:t>Disadvantages:</a:t>
            </a:r>
            <a:endParaRPr sz="2400" b="1" i="0" u="none" strike="noStrike" cap="none">
              <a:solidFill>
                <a:schemeClr val="dk1"/>
              </a:solidFill>
              <a:latin typeface="Cambria"/>
              <a:ea typeface="Cambria"/>
              <a:cs typeface="Cambria"/>
              <a:sym typeface="Cambria"/>
            </a:endParaRPr>
          </a:p>
        </p:txBody>
      </p:sp>
      <p:sp>
        <p:nvSpPr>
          <p:cNvPr id="452" name="Google Shape;452;p21"/>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400"/>
              <a:buFont typeface="Arial"/>
              <a:buChar char="•"/>
            </a:pPr>
            <a:r>
              <a:rPr lang="en-US" sz="2400" b="1" i="0" u="none">
                <a:solidFill>
                  <a:schemeClr val="dk1"/>
                </a:solidFill>
                <a:latin typeface="Cambria"/>
                <a:ea typeface="Cambria"/>
                <a:cs typeface="Cambria"/>
                <a:sym typeface="Cambria"/>
              </a:rPr>
              <a:t>No Redundancy. </a:t>
            </a:r>
            <a:r>
              <a:rPr lang="en-US" sz="2400" b="0" i="0" u="none">
                <a:solidFill>
                  <a:schemeClr val="dk1"/>
                </a:solidFill>
                <a:latin typeface="Cambria"/>
                <a:ea typeface="Cambria"/>
                <a:cs typeface="Cambria"/>
                <a:sym typeface="Cambria"/>
              </a:rPr>
              <a:t>A cloud server is not redundant nor is it backed up. As technology may fail here and there, avoid getting burned by purchasing a redundancy plan. Although it is an extra cost, in most cases it will be well worth it. </a:t>
            </a:r>
            <a:endParaRPr/>
          </a:p>
          <a:p>
            <a:pPr marL="342900" marR="0" lvl="0" indent="-342900" algn="just" rtl="0">
              <a:lnSpc>
                <a:spcPct val="100000"/>
              </a:lnSpc>
              <a:spcBef>
                <a:spcPts val="480"/>
              </a:spcBef>
              <a:spcAft>
                <a:spcPts val="0"/>
              </a:spcAft>
              <a:buClr>
                <a:schemeClr val="dk1"/>
              </a:buClr>
              <a:buSzPts val="2400"/>
              <a:buFont typeface="Arial"/>
              <a:buChar char="•"/>
            </a:pPr>
            <a:r>
              <a:rPr lang="en-US" sz="2400" b="1" i="0" u="none">
                <a:solidFill>
                  <a:schemeClr val="dk1"/>
                </a:solidFill>
                <a:latin typeface="Cambria"/>
                <a:ea typeface="Cambria"/>
                <a:cs typeface="Cambria"/>
                <a:sym typeface="Cambria"/>
              </a:rPr>
              <a:t>Bandwidth issues. </a:t>
            </a:r>
            <a:r>
              <a:rPr lang="en-US" sz="2400" b="0" i="0" u="none">
                <a:solidFill>
                  <a:schemeClr val="dk1"/>
                </a:solidFill>
                <a:latin typeface="Cambria"/>
                <a:ea typeface="Cambria"/>
                <a:cs typeface="Cambria"/>
                <a:sym typeface="Cambria"/>
              </a:rPr>
              <a:t>For ideal performance, clients have to plan accordingly and not pack large amounts of servers and storage devices into a small set of data centers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749600" y="1080100"/>
            <a:ext cx="8001000" cy="4495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400" b="1" i="0" u="none">
                <a:solidFill>
                  <a:schemeClr val="dk1"/>
                </a:solidFill>
                <a:latin typeface="Cambria"/>
                <a:ea typeface="Cambria"/>
                <a:cs typeface="Cambria"/>
                <a:sym typeface="Cambria"/>
              </a:rPr>
              <a:t>Text books:</a:t>
            </a:r>
            <a:endParaRPr sz="2400" b="0" i="0" u="none">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Buyya, Rajkumar, James Broberg, and Andrzej M. Goscinski, eds. Cloud computing: Principles and paradigms. Vol. 87. John Wiley &amp; Sons, 2010. </a:t>
            </a:r>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Miller, Michael. Cloud computing: Web-based applications that change the way you work and collaborate online. Que publishing, 2008 </a:t>
            </a:r>
            <a:endParaRPr/>
          </a:p>
          <a:p>
            <a:pPr marL="0" lvl="0" indent="0" algn="l" rtl="0">
              <a:lnSpc>
                <a:spcPct val="100000"/>
              </a:lnSpc>
              <a:spcBef>
                <a:spcPts val="480"/>
              </a:spcBef>
              <a:spcAft>
                <a:spcPts val="0"/>
              </a:spcAft>
              <a:buClr>
                <a:schemeClr val="dk1"/>
              </a:buClr>
              <a:buSzPts val="2400"/>
              <a:buNone/>
            </a:pPr>
            <a:endParaRPr sz="2400" b="1" i="0" u="none">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a:solidFill>
                  <a:schemeClr val="dk1"/>
                </a:solidFill>
                <a:latin typeface="Cambria"/>
                <a:ea typeface="Cambria"/>
                <a:cs typeface="Cambria"/>
                <a:sym typeface="Cambria"/>
              </a:rPr>
              <a:t>Websites:</a:t>
            </a:r>
            <a:endParaRPr sz="2400" b="1" i="0" u="sng">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mbria"/>
                <a:ea typeface="Cambria"/>
                <a:cs typeface="Cambria"/>
                <a:sym typeface="Cambria"/>
              </a:rPr>
              <a:t>   </a:t>
            </a:r>
            <a:r>
              <a:rPr lang="en-US" sz="1800" b="0" i="0" u="sng">
                <a:solidFill>
                  <a:schemeClr val="dk1"/>
                </a:solidFill>
                <a:hlinkClick r:id="rId3">
                  <a:extLst>
                    <a:ext uri="{A12FA001-AC4F-418D-AE19-62706E023703}">
                      <ahyp:hlinkClr xmlns:ahyp="http://schemas.microsoft.com/office/drawing/2018/hyperlinkcolor" val="tx"/>
                    </a:ext>
                  </a:extLst>
                </a:hlinkClick>
              </a:rPr>
              <a:t>https://www.javatpoint.com/cloud-computing-vs-grid-computing</a:t>
            </a:r>
            <a:endParaRPr/>
          </a:p>
          <a:p>
            <a:pPr marL="0" lvl="0" indent="-114300" algn="l" rtl="0">
              <a:lnSpc>
                <a:spcPct val="100000"/>
              </a:lnSpc>
              <a:spcBef>
                <a:spcPts val="360"/>
              </a:spcBef>
              <a:spcAft>
                <a:spcPts val="0"/>
              </a:spcAft>
              <a:buClr>
                <a:schemeClr val="dk1"/>
              </a:buClr>
              <a:buSzPts val="1800"/>
              <a:buFont typeface="Arial"/>
              <a:buChar char="•"/>
            </a:pPr>
            <a:r>
              <a:rPr lang="en-US" sz="1800" b="0" i="0" u="sng">
                <a:solidFill>
                  <a:schemeClr val="dk1"/>
                </a:solidFill>
                <a:hlinkClick r:id="rId3">
                  <a:extLst>
                    <a:ext uri="{A12FA001-AC4F-418D-AE19-62706E023703}">
                      <ahyp:hlinkClr xmlns:ahyp="http://schemas.microsoft.com/office/drawing/2018/hyperlinkcolor" val="tx"/>
                    </a:ext>
                  </a:extLst>
                </a:hlinkClick>
              </a:rPr>
              <a:t>https://www.javatpoint.com/cloud-computing-vs-grid-computing</a:t>
            </a:r>
            <a:endParaRPr sz="1800" b="0" i="0" u="none">
              <a:solidFill>
                <a:schemeClr val="dk1"/>
              </a:solidFill>
              <a:latin typeface="Cambria"/>
              <a:ea typeface="Cambria"/>
              <a:cs typeface="Cambria"/>
              <a:sym typeface="Cambria"/>
            </a:endParaRPr>
          </a:p>
          <a:p>
            <a:pPr marL="0" lvl="0" indent="-19050" algn="l" rtl="0">
              <a:lnSpc>
                <a:spcPct val="100000"/>
              </a:lnSpc>
              <a:spcBef>
                <a:spcPts val="400"/>
              </a:spcBef>
              <a:spcAft>
                <a:spcPts val="0"/>
              </a:spcAft>
              <a:buClr>
                <a:srgbClr val="000000"/>
              </a:buClr>
              <a:buSzPts val="300"/>
              <a:buFont typeface="Arial"/>
              <a:buChar char="•"/>
            </a:pPr>
            <a:r>
              <a:rPr lang="en-US" sz="1800" b="0" i="0" u="sng">
                <a:solidFill>
                  <a:schemeClr val="dk1"/>
                </a:solidFill>
                <a:hlinkClick r:id="rId4">
                  <a:extLst>
                    <a:ext uri="{A12FA001-AC4F-418D-AE19-62706E023703}">
                      <ahyp:hlinkClr xmlns:ahyp="http://schemas.microsoft.com/office/drawing/2018/hyperlinkcolor" val="tx"/>
                    </a:ext>
                  </a:extLst>
                </a:hlinkClick>
              </a:rPr>
              <a:t>https://www.eukhost.com/blog/webhosting/what-is-utility-computing/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2252</Words>
  <Application>Microsoft Macintosh PowerPoint</Application>
  <PresentationFormat>On-screen Show (4:3)</PresentationFormat>
  <Paragraphs>120</Paragraphs>
  <Slides>22</Slides>
  <Notes>22</Notes>
  <HiddenSlides>0</HiddenSlides>
  <MMClips>0</MMClips>
  <ScaleCrop>false</ScaleCrop>
  <HeadingPairs>
    <vt:vector size="8" baseType="variant">
      <vt:variant>
        <vt:lpstr>Fonts Used</vt:lpstr>
      </vt:variant>
      <vt:variant>
        <vt:i4>6</vt:i4>
      </vt:variant>
      <vt:variant>
        <vt:lpstr>Theme</vt:lpstr>
      </vt:variant>
      <vt:variant>
        <vt:i4>15</vt:i4>
      </vt:variant>
      <vt:variant>
        <vt:lpstr>Embedded OLE Servers</vt:lpstr>
      </vt:variant>
      <vt:variant>
        <vt:i4>0</vt:i4>
      </vt:variant>
      <vt:variant>
        <vt:lpstr>Slide Titles</vt:lpstr>
      </vt:variant>
      <vt:variant>
        <vt:i4>22</vt:i4>
      </vt:variant>
    </vt:vector>
  </HeadingPairs>
  <TitlesOfParts>
    <vt:vector size="43" baseType="lpstr">
      <vt:lpstr>Times New Roman</vt:lpstr>
      <vt:lpstr>Noto Sans Symbols</vt:lpstr>
      <vt:lpstr>Calibri</vt:lpstr>
      <vt:lpstr>Arial Black</vt:lpstr>
      <vt:lpstr>Arial</vt:lpstr>
      <vt:lpstr>Cambria</vt:lpstr>
      <vt:lpstr>2_Office Theme</vt:lpstr>
      <vt:lpstr>3_Office Theme</vt:lpstr>
      <vt:lpstr>1_Office Theme</vt:lpstr>
      <vt:lpstr>11_Office Theme</vt:lpstr>
      <vt:lpstr>Office Theme</vt:lpstr>
      <vt:lpstr>1_Custom Design</vt:lpstr>
      <vt:lpstr>Custom Design</vt:lpstr>
      <vt:lpstr>4_Office Theme</vt:lpstr>
      <vt:lpstr>5_Office Theme</vt:lpstr>
      <vt:lpstr>6_Office Theme</vt:lpstr>
      <vt:lpstr>7_Office Theme</vt:lpstr>
      <vt:lpstr>8_Office Theme</vt:lpstr>
      <vt:lpstr>9_Office Theme</vt:lpstr>
      <vt:lpstr>10_Office Theme</vt:lpstr>
      <vt:lpstr>12_Office Theme</vt:lpstr>
      <vt:lpstr>PowerPoint Presentation</vt:lpstr>
      <vt:lpstr>Learning Objectives &amp; Outcomes</vt:lpstr>
      <vt:lpstr>Cloud Computing</vt:lpstr>
      <vt:lpstr>Overview</vt:lpstr>
      <vt:lpstr>What is Cloud Computing</vt:lpstr>
      <vt:lpstr>What is cloud </vt:lpstr>
      <vt:lpstr>operations that we can do using cloud computing</vt:lpstr>
      <vt:lpstr>PowerPoint Presentation</vt:lpstr>
      <vt:lpstr>Cloud computing</vt:lpstr>
      <vt:lpstr>History of Cloud Computing</vt:lpstr>
      <vt:lpstr>PowerPoint Presentation</vt:lpstr>
      <vt:lpstr>PowerPoint Presentation</vt:lpstr>
      <vt:lpstr>Applications of Cloud Computing in real-world:</vt:lpstr>
      <vt:lpstr>Applications of Cloud Computing in real-world:</vt:lpstr>
      <vt:lpstr>Applications of Cloud Computing in real-world:</vt:lpstr>
      <vt:lpstr>Applications of Cloud Computing in real-world:</vt:lpstr>
      <vt:lpstr>Advantages:</vt:lpstr>
      <vt:lpstr>Advantages:</vt:lpstr>
      <vt:lpstr>Disadvantages:</vt:lpstr>
      <vt:lpstr>Disadvantages: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2</cp:revision>
  <dcterms:created xsi:type="dcterms:W3CDTF">2013-12-12T17:34:34Z</dcterms:created>
  <dcterms:modified xsi:type="dcterms:W3CDTF">2024-06-05T05:03:53Z</dcterms:modified>
</cp:coreProperties>
</file>