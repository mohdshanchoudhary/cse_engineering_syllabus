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6.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7.xml" ContentType="application/vnd.openxmlformats-officedocument.theme+xml"/>
  <Override PartName="/ppt/slideLayouts/slideLayout27.xml" ContentType="application/vnd.openxmlformats-officedocument.presentationml.slideLayout+xml"/>
  <Override PartName="/ppt/theme/theme8.xml" ContentType="application/vnd.openxmlformats-officedocument.theme+xml"/>
  <Override PartName="/ppt/slideLayouts/slideLayout28.xml" ContentType="application/vnd.openxmlformats-officedocument.presentationml.slideLayout+xml"/>
  <Override PartName="/ppt/theme/theme9.xml" ContentType="application/vnd.openxmlformats-officedocument.theme+xml"/>
  <Override PartName="/ppt/slideLayouts/slideLayout29.xml" ContentType="application/vnd.openxmlformats-officedocument.presentationml.slideLayout+xml"/>
  <Override PartName="/ppt/theme/theme10.xml" ContentType="application/vnd.openxmlformats-officedocument.theme+xml"/>
  <Override PartName="/ppt/slideLayouts/slideLayout30.xml" ContentType="application/vnd.openxmlformats-officedocument.presentationml.slideLayout+xml"/>
  <Override PartName="/ppt/theme/theme11.xml" ContentType="application/vnd.openxmlformats-officedocument.theme+xml"/>
  <Override PartName="/ppt/slideLayouts/slideLayout31.xml" ContentType="application/vnd.openxmlformats-officedocument.presentationml.slideLayout+xml"/>
  <Override PartName="/ppt/theme/theme12.xml" ContentType="application/vnd.openxmlformats-officedocument.theme+xml"/>
  <Override PartName="/ppt/slideLayouts/slideLayout32.xml" ContentType="application/vnd.openxmlformats-officedocument.presentationml.slideLayout+xml"/>
  <Override PartName="/ppt/theme/theme13.xml" ContentType="application/vnd.openxmlformats-officedocument.theme+xml"/>
  <Override PartName="/ppt/slideLayouts/slideLayout33.xml" ContentType="application/vnd.openxmlformats-officedocument.presentationml.slideLayout+xml"/>
  <Override PartName="/ppt/theme/theme14.xml" ContentType="application/vnd.openxmlformats-officedocument.theme+xml"/>
  <Override PartName="/ppt/slideLayouts/slideLayout34.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 id="2147483652" r:id="rId3"/>
    <p:sldMasterId id="2147483654" r:id="rId4"/>
    <p:sldMasterId id="2147483656" r:id="rId5"/>
    <p:sldMasterId id="2147483657" r:id="rId6"/>
    <p:sldMasterId id="2147483669" r:id="rId7"/>
    <p:sldMasterId id="2147483681" r:id="rId8"/>
    <p:sldMasterId id="2147483683" r:id="rId9"/>
    <p:sldMasterId id="2147483685" r:id="rId10"/>
    <p:sldMasterId id="2147483687" r:id="rId11"/>
    <p:sldMasterId id="2147483689" r:id="rId12"/>
    <p:sldMasterId id="2147483691" r:id="rId13"/>
    <p:sldMasterId id="2147483693" r:id="rId14"/>
    <p:sldMasterId id="2147483695" r:id="rId15"/>
  </p:sldMasterIdLst>
  <p:notesMasterIdLst>
    <p:notesMasterId r:id="rId35"/>
  </p:notesMasterIdLst>
  <p:sldIdLst>
    <p:sldId id="256" r:id="rId16"/>
    <p:sldId id="258" r:id="rId17"/>
    <p:sldId id="259" r:id="rId18"/>
    <p:sldId id="260" r:id="rId19"/>
    <p:sldId id="262" r:id="rId20"/>
    <p:sldId id="263" r:id="rId21"/>
    <p:sldId id="264" r:id="rId22"/>
    <p:sldId id="266" r:id="rId23"/>
    <p:sldId id="267" r:id="rId24"/>
    <p:sldId id="268" r:id="rId25"/>
    <p:sldId id="269" r:id="rId26"/>
    <p:sldId id="270" r:id="rId27"/>
    <p:sldId id="279" r:id="rId28"/>
    <p:sldId id="280" r:id="rId29"/>
    <p:sldId id="281" r:id="rId30"/>
    <p:sldId id="282" r:id="rId31"/>
    <p:sldId id="283" r:id="rId32"/>
    <p:sldId id="277" r:id="rId33"/>
    <p:sldId id="278" r:id="rId34"/>
  </p:sldIdLst>
  <p:sldSz cx="9144000" cy="6858000" type="screen4x3"/>
  <p:notesSz cx="6858000" cy="9144000"/>
  <p:embeddedFontLst>
    <p:embeddedFont>
      <p:font typeface="Arial Black" panose="020B0604020202020204" pitchFamily="34" charset="0"/>
      <p:regular r:id="rId36"/>
      <p:bold r:id="rId37"/>
    </p:embeddedFont>
    <p:embeddedFont>
      <p:font typeface="Cambria" panose="02040503050406030204" pitchFamily="18" charset="0"/>
      <p:regular r:id="rId38"/>
      <p:bold r:id="rId39"/>
      <p:italic r:id="rId40"/>
      <p:boldItalic r:id="rId41"/>
    </p:embeddedFont>
    <p:embeddedFont>
      <p:font typeface="Poppins" pitchFamily="2" charset="77"/>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jZ2CbmYryrhJJUCKnHcr2q2B3Io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90"/>
    <p:restoredTop sz="94557"/>
  </p:normalViewPr>
  <p:slideViewPr>
    <p:cSldViewPr snapToGrid="0">
      <p:cViewPr varScale="1">
        <p:scale>
          <a:sx n="113" d="100"/>
          <a:sy n="113" d="100"/>
        </p:scale>
        <p:origin x="992" y="168"/>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font" Target="fonts/font4.fntdata"/><Relationship Id="rId21" Type="http://schemas.openxmlformats.org/officeDocument/2006/relationships/slide" Target="slides/slide6.xml"/><Relationship Id="rId34" Type="http://schemas.openxmlformats.org/officeDocument/2006/relationships/slide" Target="slides/slide19.xml"/><Relationship Id="rId42" Type="http://schemas.openxmlformats.org/officeDocument/2006/relationships/font" Target="fonts/font7.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1.xml"/><Relationship Id="rId29" Type="http://schemas.openxmlformats.org/officeDocument/2006/relationships/slide" Target="slides/slide14.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font" Target="fonts/font1.fntdata"/><Relationship Id="rId49" Type="http://schemas.openxmlformats.org/officeDocument/2006/relationships/theme" Target="theme/theme1.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slide" Target="slides/slide16.xml"/><Relationship Id="rId44" Type="http://schemas.openxmlformats.org/officeDocument/2006/relationships/font" Target="fonts/font9.fntdata"/><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viewProps" Target="viewProp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font" Target="fonts/font3.fntdata"/><Relationship Id="rId46" Type="http://customschemas.google.com/relationships/presentationmetadata" Target="metadata"/><Relationship Id="rId20" Type="http://schemas.openxmlformats.org/officeDocument/2006/relationships/slide" Target="slides/slide5.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10" name="Google Shape;310;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fld id="{00000000-1234-1234-1234-123412341234}" type="slidenum">
              <a:rPr lang="en-US" sz="1200" b="0" i="0" u="none">
                <a:solidFill>
                  <a:schemeClr val="dk1"/>
                </a:solidFill>
                <a:latin typeface="Calibri"/>
                <a:ea typeface="Calibri"/>
                <a:cs typeface="Calibri"/>
                <a:sym typeface="Calibri"/>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47" name="Google Shape;347;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fld id="{00000000-1234-1234-1234-123412341234}" type="slidenum">
              <a:rPr lang="en-US" sz="1200" b="0" i="0" u="none">
                <a:solidFill>
                  <a:schemeClr val="dk1"/>
                </a:solidFill>
                <a:latin typeface="Calibri"/>
                <a:ea typeface="Calibri"/>
                <a:cs typeface="Calibri"/>
                <a:sym typeface="Calibri"/>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6" name="Google Shape;36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72" name="Google Shape;372;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3" name="Google Shape;373;p9: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7" name="Google Shape;38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5" name="Google Shape;45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25"/>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2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16" name="Google Shape;16;p25"/>
          <p:cNvSpPr txBox="1">
            <a:spLocks noGrp="1"/>
          </p:cNvSpPr>
          <p:nvPr>
            <p:ph type="body" idx="1"/>
          </p:nvPr>
        </p:nvSpPr>
        <p:spPr>
          <a:xfrm>
            <a:off x="914400" y="1752600"/>
            <a:ext cx="8001000" cy="44958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2"/>
        <p:cNvGrpSpPr/>
        <p:nvPr/>
      </p:nvGrpSpPr>
      <p:grpSpPr>
        <a:xfrm>
          <a:off x="0" y="0"/>
          <a:ext cx="0" cy="0"/>
          <a:chOff x="0" y="0"/>
          <a:chExt cx="0" cy="0"/>
        </a:xfrm>
      </p:grpSpPr>
      <p:sp>
        <p:nvSpPr>
          <p:cNvPr id="23" name="Google Shape;23;p27"/>
          <p:cNvSpPr txBox="1">
            <a:spLocks noGrp="1"/>
          </p:cNvSpPr>
          <p:nvPr>
            <p:ph type="body" idx="1"/>
          </p:nvPr>
        </p:nvSpPr>
        <p:spPr>
          <a:xfrm>
            <a:off x="762000" y="1447800"/>
            <a:ext cx="8229600" cy="4800600"/>
          </a:xfrm>
          <a:prstGeom prst="rect">
            <a:avLst/>
          </a:prstGeom>
          <a:noFill/>
          <a:ln>
            <a:noFill/>
          </a:ln>
        </p:spPr>
        <p:txBody>
          <a:bodyPr spcFirstLastPara="1" wrap="square" lIns="91425" tIns="45700" rIns="91425" bIns="45700" anchor="t" anchorCtr="0">
            <a:normAutofit/>
          </a:bodyPr>
          <a:lstStyle>
            <a:lvl1pPr marL="457200" marR="0" lvl="0" indent="-368300" algn="l" rtl="0">
              <a:spcBef>
                <a:spcPts val="440"/>
              </a:spcBef>
              <a:spcAft>
                <a:spcPts val="0"/>
              </a:spcAft>
              <a:buClr>
                <a:schemeClr val="dk1"/>
              </a:buClr>
              <a:buSzPts val="2200"/>
              <a:buFont typeface="Arial"/>
              <a:buChar char="•"/>
              <a:defRPr sz="22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27"/>
          <p:cNvSpPr txBox="1">
            <a:spLocks noGrp="1"/>
          </p:cNvSpPr>
          <p:nvPr>
            <p:ph type="body" idx="2"/>
          </p:nvPr>
        </p:nvSpPr>
        <p:spPr>
          <a:xfrm>
            <a:off x="1066800" y="609600"/>
            <a:ext cx="7924800" cy="685800"/>
          </a:xfrm>
          <a:prstGeom prst="rect">
            <a:avLst/>
          </a:prstGeom>
          <a:solidFill>
            <a:schemeClr val="lt1"/>
          </a:solidFill>
          <a:ln>
            <a:noFill/>
          </a:ln>
        </p:spPr>
        <p:txBody>
          <a:bodyPr spcFirstLastPara="1" wrap="square" lIns="91425" tIns="45700" rIns="91425" bIns="45700" anchor="ctr" anchorCtr="0">
            <a:normAutofit/>
          </a:bodyPr>
          <a:lstStyle>
            <a:lvl1pPr marL="457200" marR="0" lvl="0" indent="-228600" algn="ctr" rtl="0">
              <a:spcBef>
                <a:spcPts val="640"/>
              </a:spcBef>
              <a:spcAft>
                <a:spcPts val="0"/>
              </a:spcAft>
              <a:buClr>
                <a:srgbClr val="C00000"/>
              </a:buClr>
              <a:buSzPts val="3200"/>
              <a:buFont typeface="Arial"/>
              <a:buNone/>
              <a:defRPr sz="3200" b="1" i="0" u="none" strike="noStrike" cap="none">
                <a:solidFill>
                  <a:srgbClr val="C00000"/>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3"/>
        <p:cNvGrpSpPr/>
        <p:nvPr/>
      </p:nvGrpSpPr>
      <p:grpSpPr>
        <a:xfrm>
          <a:off x="0" y="0"/>
          <a:ext cx="0" cy="0"/>
          <a:chOff x="0" y="0"/>
          <a:chExt cx="0" cy="0"/>
        </a:xfrm>
      </p:grpSpPr>
      <p:sp>
        <p:nvSpPr>
          <p:cNvPr id="34" name="Google Shape;34;p29"/>
          <p:cNvSpPr txBox="1">
            <a:spLocks noGrp="1"/>
          </p:cNvSpPr>
          <p:nvPr>
            <p:ph type="ctrTitle"/>
          </p:nvPr>
        </p:nvSpPr>
        <p:spPr>
          <a:xfrm>
            <a:off x="1143000" y="3429000"/>
            <a:ext cx="7772400" cy="1066799"/>
          </a:xfrm>
          <a:prstGeom prst="rect">
            <a:avLst/>
          </a:prstGeom>
          <a:solidFill>
            <a:schemeClr val="lt1"/>
          </a:solid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lvl1pPr marR="0" lvl="0" algn="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35" name="Google Shape;35;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9"/>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45"/>
        <p:cNvGrpSpPr/>
        <p:nvPr/>
      </p:nvGrpSpPr>
      <p:grpSpPr>
        <a:xfrm>
          <a:off x="0" y="0"/>
          <a:ext cx="0" cy="0"/>
          <a:chOff x="0" y="0"/>
          <a:chExt cx="0" cy="0"/>
        </a:xfrm>
      </p:grpSpPr>
      <p:sp>
        <p:nvSpPr>
          <p:cNvPr id="46" name="Google Shape;46;p3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1"/>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0"/>
        <p:cNvGrpSpPr/>
        <p:nvPr/>
      </p:nvGrpSpPr>
      <p:grpSpPr>
        <a:xfrm>
          <a:off x="0" y="0"/>
          <a:ext cx="0" cy="0"/>
          <a:chOff x="0" y="0"/>
          <a:chExt cx="0" cy="0"/>
        </a:xfrm>
      </p:grpSpPr>
      <p:sp>
        <p:nvSpPr>
          <p:cNvPr id="61" name="Google Shape;61;p3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2" name="Google Shape;62;p3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3" name="Google Shape;63;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3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35"/>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9" name="Google Shape;69;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3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36"/>
          <p:cNvSpPr>
            <a:spLocks noGrp="1"/>
          </p:cNvSpPr>
          <p:nvPr>
            <p:ph type="pic" idx="2"/>
          </p:nvPr>
        </p:nvSpPr>
        <p:spPr>
          <a:xfrm>
            <a:off x="1792288" y="612775"/>
            <a:ext cx="5486400" cy="4114800"/>
          </a:xfrm>
          <a:prstGeom prst="rect">
            <a:avLst/>
          </a:prstGeom>
          <a:noFill/>
          <a:ln>
            <a:noFill/>
          </a:ln>
        </p:spPr>
      </p:sp>
      <p:sp>
        <p:nvSpPr>
          <p:cNvPr id="75" name="Google Shape;75;p3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6" name="Google Shape;76;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9"/>
        <p:cNvGrpSpPr/>
        <p:nvPr/>
      </p:nvGrpSpPr>
      <p:grpSpPr>
        <a:xfrm>
          <a:off x="0" y="0"/>
          <a:ext cx="0" cy="0"/>
          <a:chOff x="0" y="0"/>
          <a:chExt cx="0" cy="0"/>
        </a:xfrm>
      </p:grpSpPr>
      <p:sp>
        <p:nvSpPr>
          <p:cNvPr id="80" name="Google Shape;80;p3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p3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82" name="Google Shape;82;p3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83" name="Google Shape;83;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6"/>
        <p:cNvGrpSpPr/>
        <p:nvPr/>
      </p:nvGrpSpPr>
      <p:grpSpPr>
        <a:xfrm>
          <a:off x="0" y="0"/>
          <a:ext cx="0" cy="0"/>
          <a:chOff x="0" y="0"/>
          <a:chExt cx="0" cy="0"/>
        </a:xfrm>
      </p:grpSpPr>
      <p:sp>
        <p:nvSpPr>
          <p:cNvPr id="87" name="Google Shape;87;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0"/>
        <p:cNvGrpSpPr/>
        <p:nvPr/>
      </p:nvGrpSpPr>
      <p:grpSpPr>
        <a:xfrm>
          <a:off x="0" y="0"/>
          <a:ext cx="0" cy="0"/>
          <a:chOff x="0" y="0"/>
          <a:chExt cx="0" cy="0"/>
        </a:xfrm>
      </p:grpSpPr>
      <p:sp>
        <p:nvSpPr>
          <p:cNvPr id="91" name="Google Shape;91;p3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2" name="Google Shape;92;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5"/>
        <p:cNvGrpSpPr/>
        <p:nvPr/>
      </p:nvGrpSpPr>
      <p:grpSpPr>
        <a:xfrm>
          <a:off x="0" y="0"/>
          <a:ext cx="0" cy="0"/>
          <a:chOff x="0" y="0"/>
          <a:chExt cx="0" cy="0"/>
        </a:xfrm>
      </p:grpSpPr>
      <p:sp>
        <p:nvSpPr>
          <p:cNvPr id="96" name="Google Shape;96;p4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7" name="Google Shape;97;p4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98" name="Google Shape;98;p4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99" name="Google Shape;99;p4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00" name="Google Shape;100;p4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01" name="Google Shape;101;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4"/>
        <p:cNvGrpSpPr/>
        <p:nvPr/>
      </p:nvGrpSpPr>
      <p:grpSpPr>
        <a:xfrm>
          <a:off x="0" y="0"/>
          <a:ext cx="0" cy="0"/>
          <a:chOff x="0" y="0"/>
          <a:chExt cx="0" cy="0"/>
        </a:xfrm>
      </p:grpSpPr>
      <p:sp>
        <p:nvSpPr>
          <p:cNvPr id="105" name="Google Shape;105;p4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6" name="Google Shape;106;p4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7" name="Google Shape;107;p4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8" name="Google Shape;108;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1"/>
        <p:cNvGrpSpPr/>
        <p:nvPr/>
      </p:nvGrpSpPr>
      <p:grpSpPr>
        <a:xfrm>
          <a:off x="0" y="0"/>
          <a:ext cx="0" cy="0"/>
          <a:chOff x="0" y="0"/>
          <a:chExt cx="0" cy="0"/>
        </a:xfrm>
      </p:grpSpPr>
      <p:sp>
        <p:nvSpPr>
          <p:cNvPr id="112" name="Google Shape;112;p4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3" name="Google Shape;113;p4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14" name="Google Shape;114;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7"/>
        <p:cNvGrpSpPr/>
        <p:nvPr/>
      </p:nvGrpSpPr>
      <p:grpSpPr>
        <a:xfrm>
          <a:off x="0" y="0"/>
          <a:ext cx="0" cy="0"/>
          <a:chOff x="0" y="0"/>
          <a:chExt cx="0" cy="0"/>
        </a:xfrm>
      </p:grpSpPr>
      <p:sp>
        <p:nvSpPr>
          <p:cNvPr id="118" name="Google Shape;118;p4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9" name="Google Shape;119;p4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20" name="Google Shape;120;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3"/>
        <p:cNvGrpSpPr/>
        <p:nvPr/>
      </p:nvGrpSpPr>
      <p:grpSpPr>
        <a:xfrm>
          <a:off x="0" y="0"/>
          <a:ext cx="0" cy="0"/>
          <a:chOff x="0" y="0"/>
          <a:chExt cx="0" cy="0"/>
        </a:xfrm>
      </p:grpSpPr>
      <p:sp>
        <p:nvSpPr>
          <p:cNvPr id="124" name="Google Shape;124;p4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5" name="Google Shape;125;p4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26" name="Google Shape;126;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5"/>
        <p:cNvGrpSpPr/>
        <p:nvPr/>
      </p:nvGrpSpPr>
      <p:grpSpPr>
        <a:xfrm>
          <a:off x="0" y="0"/>
          <a:ext cx="0" cy="0"/>
          <a:chOff x="0" y="0"/>
          <a:chExt cx="0" cy="0"/>
        </a:xfrm>
      </p:grpSpPr>
      <p:sp>
        <p:nvSpPr>
          <p:cNvPr id="136" name="Google Shape;136;p4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7" name="Google Shape;137;p4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38" name="Google Shape;138;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1"/>
        <p:cNvGrpSpPr/>
        <p:nvPr/>
      </p:nvGrpSpPr>
      <p:grpSpPr>
        <a:xfrm>
          <a:off x="0" y="0"/>
          <a:ext cx="0" cy="0"/>
          <a:chOff x="0" y="0"/>
          <a:chExt cx="0" cy="0"/>
        </a:xfrm>
      </p:grpSpPr>
      <p:sp>
        <p:nvSpPr>
          <p:cNvPr id="142" name="Google Shape;142;p4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3" name="Google Shape;143;p47"/>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4" name="Google Shape;144;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7"/>
        <p:cNvGrpSpPr/>
        <p:nvPr/>
      </p:nvGrpSpPr>
      <p:grpSpPr>
        <a:xfrm>
          <a:off x="0" y="0"/>
          <a:ext cx="0" cy="0"/>
          <a:chOff x="0" y="0"/>
          <a:chExt cx="0" cy="0"/>
        </a:xfrm>
      </p:grpSpPr>
      <p:sp>
        <p:nvSpPr>
          <p:cNvPr id="148" name="Google Shape;148;p4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9" name="Google Shape;149;p48"/>
          <p:cNvSpPr>
            <a:spLocks noGrp="1"/>
          </p:cNvSpPr>
          <p:nvPr>
            <p:ph type="pic" idx="2"/>
          </p:nvPr>
        </p:nvSpPr>
        <p:spPr>
          <a:xfrm>
            <a:off x="1792288" y="612775"/>
            <a:ext cx="5486400" cy="4114800"/>
          </a:xfrm>
          <a:prstGeom prst="rect">
            <a:avLst/>
          </a:prstGeom>
          <a:noFill/>
          <a:ln>
            <a:noFill/>
          </a:ln>
        </p:spPr>
      </p:sp>
      <p:sp>
        <p:nvSpPr>
          <p:cNvPr id="150" name="Google Shape;150;p4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51" name="Google Shape;151;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2" name="Google Shape;152;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54"/>
        <p:cNvGrpSpPr/>
        <p:nvPr/>
      </p:nvGrpSpPr>
      <p:grpSpPr>
        <a:xfrm>
          <a:off x="0" y="0"/>
          <a:ext cx="0" cy="0"/>
          <a:chOff x="0" y="0"/>
          <a:chExt cx="0" cy="0"/>
        </a:xfrm>
      </p:grpSpPr>
      <p:sp>
        <p:nvSpPr>
          <p:cNvPr id="155" name="Google Shape;155;p4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6" name="Google Shape;156;p4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57" name="Google Shape;157;p4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58" name="Google Shape;158;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0" name="Google Shape;160;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1"/>
        <p:cNvGrpSpPr/>
        <p:nvPr/>
      </p:nvGrpSpPr>
      <p:grpSpPr>
        <a:xfrm>
          <a:off x="0" y="0"/>
          <a:ext cx="0" cy="0"/>
          <a:chOff x="0" y="0"/>
          <a:chExt cx="0" cy="0"/>
        </a:xfrm>
      </p:grpSpPr>
      <p:sp>
        <p:nvSpPr>
          <p:cNvPr id="162" name="Google Shape;162;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3" name="Google Shape;163;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4" name="Google Shape;164;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5"/>
        <p:cNvGrpSpPr/>
        <p:nvPr/>
      </p:nvGrpSpPr>
      <p:grpSpPr>
        <a:xfrm>
          <a:off x="0" y="0"/>
          <a:ext cx="0" cy="0"/>
          <a:chOff x="0" y="0"/>
          <a:chExt cx="0" cy="0"/>
        </a:xfrm>
      </p:grpSpPr>
      <p:sp>
        <p:nvSpPr>
          <p:cNvPr id="166" name="Google Shape;166;p5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67" name="Google Shape;167;p5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8" name="Google Shape;168;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9" name="Google Shape;169;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70"/>
        <p:cNvGrpSpPr/>
        <p:nvPr/>
      </p:nvGrpSpPr>
      <p:grpSpPr>
        <a:xfrm>
          <a:off x="0" y="0"/>
          <a:ext cx="0" cy="0"/>
          <a:chOff x="0" y="0"/>
          <a:chExt cx="0" cy="0"/>
        </a:xfrm>
      </p:grpSpPr>
      <p:sp>
        <p:nvSpPr>
          <p:cNvPr id="171" name="Google Shape;171;p5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2" name="Google Shape;172;p5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73" name="Google Shape;173;p5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74" name="Google Shape;174;p5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75" name="Google Shape;175;p5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76" name="Google Shape;176;p5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8" name="Google Shape;178;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9"/>
        <p:cNvGrpSpPr/>
        <p:nvPr/>
      </p:nvGrpSpPr>
      <p:grpSpPr>
        <a:xfrm>
          <a:off x="0" y="0"/>
          <a:ext cx="0" cy="0"/>
          <a:chOff x="0" y="0"/>
          <a:chExt cx="0" cy="0"/>
        </a:xfrm>
      </p:grpSpPr>
      <p:sp>
        <p:nvSpPr>
          <p:cNvPr id="180" name="Google Shape;180;p5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1" name="Google Shape;181;p5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82" name="Google Shape;182;p5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83" name="Google Shape;183;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5" name="Google Shape;185;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6"/>
        <p:cNvGrpSpPr/>
        <p:nvPr/>
      </p:nvGrpSpPr>
      <p:grpSpPr>
        <a:xfrm>
          <a:off x="0" y="0"/>
          <a:ext cx="0" cy="0"/>
          <a:chOff x="0" y="0"/>
          <a:chExt cx="0" cy="0"/>
        </a:xfrm>
      </p:grpSpPr>
      <p:sp>
        <p:nvSpPr>
          <p:cNvPr id="187" name="Google Shape;187;p5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8" name="Google Shape;188;p5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89" name="Google Shape;189;p5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0" name="Google Shape;190;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1" name="Google Shape;191;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2"/>
        <p:cNvGrpSpPr/>
        <p:nvPr/>
      </p:nvGrpSpPr>
      <p:grpSpPr>
        <a:xfrm>
          <a:off x="0" y="0"/>
          <a:ext cx="0" cy="0"/>
          <a:chOff x="0" y="0"/>
          <a:chExt cx="0" cy="0"/>
        </a:xfrm>
      </p:grpSpPr>
      <p:sp>
        <p:nvSpPr>
          <p:cNvPr id="193" name="Google Shape;193;p5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94" name="Google Shape;194;p5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5" name="Google Shape;195;p5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6" name="Google Shape;196;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7" name="Google Shape;197;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8"/>
        <p:cNvGrpSpPr/>
        <p:nvPr/>
      </p:nvGrpSpPr>
      <p:grpSpPr>
        <a:xfrm>
          <a:off x="0" y="0"/>
          <a:ext cx="0" cy="0"/>
          <a:chOff x="0" y="0"/>
          <a:chExt cx="0" cy="0"/>
        </a:xfrm>
      </p:grpSpPr>
      <p:sp>
        <p:nvSpPr>
          <p:cNvPr id="199" name="Google Shape;199;p5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00" name="Google Shape;200;p5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01" name="Google Shape;201;p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2" name="Google Shape;202;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3" name="Google Shape;203;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12"/>
        <p:cNvGrpSpPr/>
        <p:nvPr/>
      </p:nvGrpSpPr>
      <p:grpSpPr>
        <a:xfrm>
          <a:off x="0" y="0"/>
          <a:ext cx="0" cy="0"/>
          <a:chOff x="0" y="0"/>
          <a:chExt cx="0" cy="0"/>
        </a:xfrm>
      </p:grpSpPr>
      <p:sp>
        <p:nvSpPr>
          <p:cNvPr id="213" name="Google Shape;213;p58"/>
          <p:cNvSpPr>
            <a:spLocks noGrp="1"/>
          </p:cNvSpPr>
          <p:nvPr>
            <p:ph type="pic" idx="2"/>
          </p:nvPr>
        </p:nvSpPr>
        <p:spPr>
          <a:xfrm>
            <a:off x="2895600" y="1371600"/>
            <a:ext cx="6019800" cy="4724400"/>
          </a:xfrm>
          <a:prstGeom prst="rect">
            <a:avLst/>
          </a:prstGeom>
          <a:noFill/>
          <a:ln>
            <a:noFill/>
          </a:ln>
        </p:spPr>
      </p:sp>
      <p:sp>
        <p:nvSpPr>
          <p:cNvPr id="214" name="Google Shape;214;p58"/>
          <p:cNvSpPr txBox="1">
            <a:spLocks noGrp="1"/>
          </p:cNvSpPr>
          <p:nvPr>
            <p:ph type="body" idx="1"/>
          </p:nvPr>
        </p:nvSpPr>
        <p:spPr>
          <a:xfrm>
            <a:off x="228600" y="1371600"/>
            <a:ext cx="2590800" cy="4724400"/>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400"/>
              </a:spcBef>
              <a:spcAft>
                <a:spcPts val="0"/>
              </a:spcAft>
              <a:buClr>
                <a:schemeClr val="dk1"/>
              </a:buClr>
              <a:buSzPts val="2000"/>
              <a:buFont typeface="Arial"/>
              <a:buChar char="•"/>
              <a:defRPr sz="2000" b="0" i="0" u="none" strike="noStrike" cap="none">
                <a:solidFill>
                  <a:schemeClr val="dk1"/>
                </a:solidFill>
                <a:latin typeface="Cambria"/>
                <a:ea typeface="Cambria"/>
                <a:cs typeface="Cambria"/>
                <a:sym typeface="Cambria"/>
              </a:defRPr>
            </a:lvl1pPr>
            <a:lvl2pPr marL="914400" marR="0" lvl="1" indent="-342900" algn="l" rtl="0">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15" name="Google Shape;215;p5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6" name="Google Shape;216;p5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7" name="Google Shape;217;p5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23"/>
        <p:cNvGrpSpPr/>
        <p:nvPr/>
      </p:nvGrpSpPr>
      <p:grpSpPr>
        <a:xfrm>
          <a:off x="0" y="0"/>
          <a:ext cx="0" cy="0"/>
          <a:chOff x="0" y="0"/>
          <a:chExt cx="0" cy="0"/>
        </a:xfrm>
      </p:grpSpPr>
      <p:sp>
        <p:nvSpPr>
          <p:cNvPr id="224" name="Google Shape;224;p60"/>
          <p:cNvSpPr txBox="1">
            <a:spLocks noGrp="1"/>
          </p:cNvSpPr>
          <p:nvPr>
            <p:ph type="body" idx="1"/>
          </p:nvPr>
        </p:nvSpPr>
        <p:spPr>
          <a:xfrm>
            <a:off x="609600" y="1524000"/>
            <a:ext cx="8305800" cy="48768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25" name="Google Shape;225;p60"/>
          <p:cNvSpPr txBox="1">
            <a:spLocks noGrp="1"/>
          </p:cNvSpPr>
          <p:nvPr>
            <p:ph type="body" idx="2"/>
          </p:nvPr>
        </p:nvSpPr>
        <p:spPr>
          <a:xfrm>
            <a:off x="1066800" y="533400"/>
            <a:ext cx="7848600" cy="685800"/>
          </a:xfrm>
          <a:prstGeom prst="rect">
            <a:avLst/>
          </a:prstGeom>
          <a:solidFill>
            <a:schemeClr val="lt1"/>
          </a:solidFill>
          <a:ln>
            <a:noFill/>
          </a:ln>
        </p:spPr>
        <p:txBody>
          <a:bodyPr spcFirstLastPara="1" wrap="square" lIns="91425" tIns="45700" rIns="91425" bIns="45700" anchor="ctr" anchorCtr="0">
            <a:normAutofit/>
          </a:bodyPr>
          <a:lstStyle>
            <a:lvl1pPr marL="457200" marR="0" lvl="0" indent="-228600" algn="ctr" rtl="0">
              <a:spcBef>
                <a:spcPts val="640"/>
              </a:spcBef>
              <a:spcAft>
                <a:spcPts val="0"/>
              </a:spcAft>
              <a:buClr>
                <a:schemeClr val="dk1"/>
              </a:buClr>
              <a:buSzPts val="3200"/>
              <a:buFont typeface="Arial"/>
              <a:buNone/>
              <a:defRPr sz="3200" b="1"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4"/>
        <p:cNvGrpSpPr/>
        <p:nvPr/>
      </p:nvGrpSpPr>
      <p:grpSpPr>
        <a:xfrm>
          <a:off x="0" y="0"/>
          <a:ext cx="0" cy="0"/>
          <a:chOff x="0" y="0"/>
          <a:chExt cx="0" cy="0"/>
        </a:xfrm>
      </p:grpSpPr>
      <p:sp>
        <p:nvSpPr>
          <p:cNvPr id="235" name="Google Shape;235;p6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6" name="Google Shape;236;p6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7" name="Google Shape;237;p62"/>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45"/>
        <p:cNvGrpSpPr/>
        <p:nvPr/>
      </p:nvGrpSpPr>
      <p:grpSpPr>
        <a:xfrm>
          <a:off x="0" y="0"/>
          <a:ext cx="0" cy="0"/>
          <a:chOff x="0" y="0"/>
          <a:chExt cx="0" cy="0"/>
        </a:xfrm>
      </p:grpSpPr>
      <p:sp>
        <p:nvSpPr>
          <p:cNvPr id="246" name="Google Shape;246;p6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47" name="Google Shape;247;p6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mbria"/>
                <a:ea typeface="Cambria"/>
                <a:cs typeface="Cambria"/>
                <a:sym typeface="Cambria"/>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8" name="Google Shape;248;p6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mbria"/>
                <a:ea typeface="Cambria"/>
                <a:cs typeface="Cambria"/>
                <a:sym typeface="Cambria"/>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49" name="Google Shape;249;p6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0" name="Google Shape;250;p6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1" name="Google Shape;251;p64"/>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59"/>
        <p:cNvGrpSpPr/>
        <p:nvPr/>
      </p:nvGrpSpPr>
      <p:grpSpPr>
        <a:xfrm>
          <a:off x="0" y="0"/>
          <a:ext cx="0" cy="0"/>
          <a:chOff x="0" y="0"/>
          <a:chExt cx="0" cy="0"/>
        </a:xfrm>
      </p:grpSpPr>
      <p:sp>
        <p:nvSpPr>
          <p:cNvPr id="260" name="Google Shape;260;p6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61" name="Google Shape;261;p66"/>
          <p:cNvSpPr>
            <a:spLocks noGrp="1"/>
          </p:cNvSpPr>
          <p:nvPr>
            <p:ph type="pic" idx="2"/>
          </p:nvPr>
        </p:nvSpPr>
        <p:spPr>
          <a:xfrm>
            <a:off x="1792288" y="612775"/>
            <a:ext cx="5486400" cy="4114800"/>
          </a:xfrm>
          <a:prstGeom prst="rect">
            <a:avLst/>
          </a:prstGeom>
          <a:noFill/>
          <a:ln>
            <a:noFill/>
          </a:ln>
        </p:spPr>
      </p:sp>
      <p:sp>
        <p:nvSpPr>
          <p:cNvPr id="262" name="Google Shape;262;p6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mbria"/>
                <a:ea typeface="Cambria"/>
                <a:cs typeface="Cambria"/>
                <a:sym typeface="Cambria"/>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63" name="Google Shape;263;p6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4" name="Google Shape;264;p6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5" name="Google Shape;265;p66"/>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73"/>
        <p:cNvGrpSpPr/>
        <p:nvPr/>
      </p:nvGrpSpPr>
      <p:grpSpPr>
        <a:xfrm>
          <a:off x="0" y="0"/>
          <a:ext cx="0" cy="0"/>
          <a:chOff x="0" y="0"/>
          <a:chExt cx="0" cy="0"/>
        </a:xfrm>
      </p:grpSpPr>
      <p:sp>
        <p:nvSpPr>
          <p:cNvPr id="274" name="Google Shape;274;p68"/>
          <p:cNvSpPr txBox="1">
            <a:spLocks noGrp="1"/>
          </p:cNvSpPr>
          <p:nvPr>
            <p:ph type="title"/>
          </p:nvPr>
        </p:nvSpPr>
        <p:spPr>
          <a:xfrm>
            <a:off x="304800" y="1371600"/>
            <a:ext cx="8229600" cy="6858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75" name="Google Shape;275;p68"/>
          <p:cNvSpPr txBox="1">
            <a:spLocks noGrp="1"/>
          </p:cNvSpPr>
          <p:nvPr>
            <p:ph type="body" idx="1"/>
          </p:nvPr>
        </p:nvSpPr>
        <p:spPr>
          <a:xfrm rot="5400000">
            <a:off x="2286000" y="228600"/>
            <a:ext cx="4267200" cy="8229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76" name="Google Shape;276;p6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7" name="Google Shape;277;p6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8" name="Google Shape;278;p6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86"/>
        <p:cNvGrpSpPr/>
        <p:nvPr/>
      </p:nvGrpSpPr>
      <p:grpSpPr>
        <a:xfrm>
          <a:off x="0" y="0"/>
          <a:ext cx="0" cy="0"/>
          <a:chOff x="0" y="0"/>
          <a:chExt cx="0" cy="0"/>
        </a:xfrm>
      </p:grpSpPr>
      <p:sp>
        <p:nvSpPr>
          <p:cNvPr id="287" name="Google Shape;287;p7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88" name="Google Shape;288;p7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89" name="Google Shape;289;p7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0" name="Google Shape;290;p7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1" name="Google Shape;291;p70"/>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1_Two Content" type="obj">
  <p:cSld name="OBJECT">
    <p:spTree>
      <p:nvGrpSpPr>
        <p:cNvPr id="1" name="Shape 301"/>
        <p:cNvGrpSpPr/>
        <p:nvPr/>
      </p:nvGrpSpPr>
      <p:grpSpPr>
        <a:xfrm>
          <a:off x="0" y="0"/>
          <a:ext cx="0" cy="0"/>
          <a:chOff x="0" y="0"/>
          <a:chExt cx="0" cy="0"/>
        </a:xfrm>
      </p:grpSpPr>
      <p:sp>
        <p:nvSpPr>
          <p:cNvPr id="302" name="Google Shape;302;p72"/>
          <p:cNvSpPr txBox="1">
            <a:spLocks noGrp="1"/>
          </p:cNvSpPr>
          <p:nvPr>
            <p:ph type="title"/>
          </p:nvPr>
        </p:nvSpPr>
        <p:spPr>
          <a:xfrm>
            <a:off x="0" y="0"/>
            <a:ext cx="3000000" cy="3000000"/>
          </a:xfrm>
          <a:prstGeom prst="rect">
            <a:avLst/>
          </a:prstGeom>
          <a:noFill/>
          <a:ln>
            <a:noFill/>
          </a:ln>
        </p:spPr>
        <p:txBody>
          <a:bodyPr spcFirstLastPara="1" wrap="square" lIns="0" tIns="0" rIns="0" bIns="0" anchor="t" anchorCtr="0">
            <a:noAutofit/>
          </a:bodyPr>
          <a:lstStyle>
            <a:lvl1pPr marR="0" lvl="0" algn="ctr" rtl="0">
              <a:spcBef>
                <a:spcPts val="0"/>
              </a:spcBef>
              <a:spcAft>
                <a:spcPts val="0"/>
              </a:spcAft>
              <a:buSzPts val="1400"/>
              <a:buNone/>
              <a:defRPr sz="6000" b="1" i="0" u="none" strike="noStrike" cap="none">
                <a:solidFill>
                  <a:srgbClr val="2F5897"/>
                </a:solidFill>
                <a:latin typeface="Times New Roman"/>
                <a:ea typeface="Times New Roman"/>
                <a:cs typeface="Times New Roman"/>
                <a:sym typeface="Times New Roman"/>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303" name="Google Shape;303;p72"/>
          <p:cNvSpPr txBox="1">
            <a:spLocks noGrp="1"/>
          </p:cNvSpPr>
          <p:nvPr>
            <p:ph type="body" idx="1"/>
          </p:nvPr>
        </p:nvSpPr>
        <p:spPr>
          <a:xfrm>
            <a:off x="533400" y="1676336"/>
            <a:ext cx="3581400" cy="4432300"/>
          </a:xfrm>
          <a:prstGeom prst="rect">
            <a:avLst/>
          </a:prstGeom>
          <a:noFill/>
          <a:ln>
            <a:noFill/>
          </a:ln>
        </p:spPr>
        <p:txBody>
          <a:bodyPr spcFirstLastPara="1" wrap="square" lIns="0" tIns="0" rIns="0" bIns="0" anchor="t" anchorCtr="0">
            <a:sp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4" name="Google Shape;304;p72"/>
          <p:cNvSpPr txBox="1">
            <a:spLocks noGrp="1"/>
          </p:cNvSpPr>
          <p:nvPr>
            <p:ph type="body" idx="2"/>
          </p:nvPr>
        </p:nvSpPr>
        <p:spPr>
          <a:xfrm>
            <a:off x="4876800" y="1676425"/>
            <a:ext cx="3505200" cy="4401185"/>
          </a:xfrm>
          <a:prstGeom prst="rect">
            <a:avLst/>
          </a:prstGeom>
          <a:noFill/>
          <a:ln>
            <a:noFill/>
          </a:ln>
        </p:spPr>
        <p:txBody>
          <a:bodyPr spcFirstLastPara="1" wrap="square" lIns="0" tIns="0" rIns="0" bIns="0" anchor="t" anchorCtr="0">
            <a:sp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5" name="Google Shape;305;p72"/>
          <p:cNvSpPr txBox="1">
            <a:spLocks noGrp="1"/>
          </p:cNvSpPr>
          <p:nvPr>
            <p:ph type="ftr" idx="11"/>
          </p:nvPr>
        </p:nvSpPr>
        <p:spPr>
          <a:xfrm>
            <a:off x="0" y="0"/>
            <a:ext cx="0" cy="0"/>
          </a:xfrm>
          <a:prstGeom prst="rect">
            <a:avLst/>
          </a:prstGeom>
          <a:noFill/>
          <a:ln>
            <a:noFill/>
          </a:ln>
        </p:spPr>
        <p:txBody>
          <a:bodyPr spcFirstLastPara="1" wrap="square" lIns="0" tIns="0" rIns="0" bIns="0" anchor="t" anchorCtr="0">
            <a:noAutofit/>
          </a:bodyPr>
          <a:lstStyle>
            <a:lvl1pPr lvl="0" algn="l">
              <a:lnSpc>
                <a:spcPct val="100000"/>
              </a:lnSpc>
              <a:spcBef>
                <a:spcPts val="100"/>
              </a:spcBef>
              <a:spcAft>
                <a:spcPts val="0"/>
              </a:spcAft>
              <a:buSzPts val="1400"/>
              <a:buNone/>
              <a:defRPr sz="1200">
                <a:solidFill>
                  <a:srgbClr val="00336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6" name="Google Shape;306;p72"/>
          <p:cNvSpPr txBox="1">
            <a:spLocks noGrp="1"/>
          </p:cNvSpPr>
          <p:nvPr>
            <p:ph type="dt" idx="10"/>
          </p:nvPr>
        </p:nvSpPr>
        <p:spPr>
          <a:xfrm>
            <a:off x="0" y="0"/>
            <a:ext cx="0" cy="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7" name="Google Shape;307;p72"/>
          <p:cNvSpPr txBox="1">
            <a:spLocks noGrp="1"/>
          </p:cNvSpPr>
          <p:nvPr>
            <p:ph type="sldNum" idx="12"/>
          </p:nvPr>
        </p:nvSpPr>
        <p:spPr>
          <a:xfrm>
            <a:off x="7010400" y="6492875"/>
            <a:ext cx="2133600" cy="365125"/>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8.xml"/><Relationship Id="rId1" Type="http://schemas.openxmlformats.org/officeDocument/2006/relationships/slideLayout" Target="../slideLayouts/slideLayout27.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9.xml"/><Relationship Id="rId1" Type="http://schemas.openxmlformats.org/officeDocument/2006/relationships/slideLayout" Target="../slideLayouts/slideLayout28.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0.xml"/><Relationship Id="rId1" Type="http://schemas.openxmlformats.org/officeDocument/2006/relationships/slideLayout" Target="../slideLayouts/slideLayout29.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1.xml"/><Relationship Id="rId1" Type="http://schemas.openxmlformats.org/officeDocument/2006/relationships/slideLayout" Target="../slideLayouts/slideLayout30.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2.xml"/><Relationship Id="rId1" Type="http://schemas.openxmlformats.org/officeDocument/2006/relationships/slideLayout" Target="../slideLayouts/slideLayout31.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3.xml"/><Relationship Id="rId1" Type="http://schemas.openxmlformats.org/officeDocument/2006/relationships/slideLayout" Target="../slideLayouts/slideLayout32.xml"/></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4.xml"/><Relationship Id="rId1" Type="http://schemas.openxmlformats.org/officeDocument/2006/relationships/slideLayout" Target="../slideLayouts/slideLayout33.xml"/></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15.xml"/><Relationship Id="rId1" Type="http://schemas.openxmlformats.org/officeDocument/2006/relationships/slideLayout" Target="../slideLayouts/slideLayout3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4"/>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University Institute of Engineering (UIE)</a:t>
            </a:r>
            <a:endParaRPr/>
          </a:p>
        </p:txBody>
      </p:sp>
      <p:cxnSp>
        <p:nvCxnSpPr>
          <p:cNvPr id="11" name="Google Shape;11;p24"/>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12" name="Google Shape;12;p24"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13" name="Google Shape;13;p24"/>
          <p:cNvSpPr txBox="1"/>
          <p:nvPr/>
        </p:nvSpPr>
        <p:spPr>
          <a:xfrm>
            <a:off x="2805112" y="0"/>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strike="noStrike" cap="none">
                <a:solidFill>
                  <a:schemeClr val="dk1"/>
                </a:solidFill>
                <a:latin typeface="Calibri"/>
                <a:ea typeface="Calibri"/>
                <a:cs typeface="Calibri"/>
                <a:sym typeface="Calibri"/>
              </a:rPr>
              <a:t>Department of Computer Science and Engineering (CSE)</a:t>
            </a:r>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
        <p:cNvGrpSpPr/>
        <p:nvPr/>
      </p:nvGrpSpPr>
      <p:grpSpPr>
        <a:xfrm>
          <a:off x="0" y="0"/>
          <a:ext cx="0" cy="0"/>
          <a:chOff x="0" y="0"/>
          <a:chExt cx="0" cy="0"/>
        </a:xfrm>
      </p:grpSpPr>
      <p:sp>
        <p:nvSpPr>
          <p:cNvPr id="18" name="Google Shape;18;p26"/>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19" name="Google Shape;19;p26"/>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0" name="Google Shape;20;p26"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1" name="Google Shape;21;p26"/>
          <p:cNvSpPr txBox="1"/>
          <p:nvPr/>
        </p:nvSpPr>
        <p:spPr>
          <a:xfrm>
            <a:off x="2805112" y="87312"/>
            <a:ext cx="61864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and Communication Engineering (CCE)</a:t>
            </a:r>
            <a:endParaRPr/>
          </a:p>
        </p:txBody>
      </p:sp>
    </p:spTree>
  </p:cSld>
  <p:clrMap bg1="lt1" tx1="dk1" bg2="dk2" tx2="lt2" accent1="accent1" accent2="accent2" accent3="accent3" accent4="accent4" accent5="accent5" accent6="accent6" hlink="hlink" folHlink="folHlink"/>
  <p:sldLayoutIdLst>
    <p:sldLayoutId id="214748365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
        <p:cNvGrpSpPr/>
        <p:nvPr/>
      </p:nvGrpSpPr>
      <p:grpSpPr>
        <a:xfrm>
          <a:off x="0" y="0"/>
          <a:ext cx="0" cy="0"/>
          <a:chOff x="0" y="0"/>
          <a:chExt cx="0" cy="0"/>
        </a:xfrm>
      </p:grpSpPr>
      <p:sp>
        <p:nvSpPr>
          <p:cNvPr id="26" name="Google Shape;26;p28"/>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7" name="Google Shape;27;p28"/>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8" name="Google Shape;28;p28"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9" name="Google Shape;29;p28"/>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30" name="Google Shape;30;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1" name="Google Shape;31;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2" name="Google Shape;32;p2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
        <p:cNvGrpSpPr/>
        <p:nvPr/>
      </p:nvGrpSpPr>
      <p:grpSpPr>
        <a:xfrm>
          <a:off x="0" y="0"/>
          <a:ext cx="0" cy="0"/>
          <a:chOff x="0" y="0"/>
          <a:chExt cx="0" cy="0"/>
        </a:xfrm>
      </p:grpSpPr>
      <p:sp>
        <p:nvSpPr>
          <p:cNvPr id="39" name="Google Shape;39;p30"/>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40" name="Google Shape;40;p30"/>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41" name="Google Shape;41;p30"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42" name="Google Shape;42;p30"/>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3" name="Google Shape;43;p3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4" name="Google Shape;44;p30"/>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5"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9"/>
        <p:cNvGrpSpPr/>
        <p:nvPr/>
      </p:nvGrpSpPr>
      <p:grpSpPr>
        <a:xfrm>
          <a:off x="0" y="0"/>
          <a:ext cx="0" cy="0"/>
          <a:chOff x="0" y="0"/>
          <a:chExt cx="0" cy="0"/>
        </a:xfrm>
      </p:grpSpPr>
      <p:sp>
        <p:nvSpPr>
          <p:cNvPr id="50" name="Google Shape;50;p32"/>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51" name="Google Shape;51;p32"/>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52" name="Google Shape;52;p32"/>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53" name="Google Shape;53;p32" descr="https://encrypted-tbn3.gstatic.com/images?q=tbn:ANd9GcTyg3Gq4WoxkxO75aZWNEjYFvavmMfWdiMvs57jpDF8YRR3yCybqQ"/>
          <p:cNvPicPr preferRelativeResize="0"/>
          <p:nvPr/>
        </p:nvPicPr>
        <p:blipFill rotWithShape="1">
          <a:blip r:embed="rId2">
            <a:alphaModFix/>
          </a:blip>
          <a:srcRect/>
          <a:stretch/>
        </p:blipFill>
        <p:spPr>
          <a:xfrm>
            <a:off x="152400" y="152400"/>
            <a:ext cx="768350" cy="1219200"/>
          </a:xfrm>
          <a:prstGeom prst="rect">
            <a:avLst/>
          </a:prstGeom>
          <a:noFill/>
          <a:ln>
            <a:noFill/>
          </a:ln>
        </p:spPr>
      </p:pic>
    </p:spTree>
  </p:cSld>
  <p:clrMap bg1="lt1" tx1="dk1" bg2="dk2" tx2="lt2" accent1="accent1" accent2="accent2" accent3="accent3" accent4="accent4" accent5="accent5" accent6="accent6" hlink="hlink" folHlink="folHlink"/>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
        <p:cNvGrpSpPr/>
        <p:nvPr/>
      </p:nvGrpSpPr>
      <p:grpSpPr>
        <a:xfrm>
          <a:off x="0" y="0"/>
          <a:ext cx="0" cy="0"/>
          <a:chOff x="0" y="0"/>
          <a:chExt cx="0" cy="0"/>
        </a:xfrm>
      </p:grpSpPr>
      <p:sp>
        <p:nvSpPr>
          <p:cNvPr id="55" name="Google Shape;55;p3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56" name="Google Shape;56;p3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7" name="Google Shape;57;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8" name="Google Shape;58;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9" name="Google Shape;59;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9"/>
        <p:cNvGrpSpPr/>
        <p:nvPr/>
      </p:nvGrpSpPr>
      <p:grpSpPr>
        <a:xfrm>
          <a:off x="0" y="0"/>
          <a:ext cx="0" cy="0"/>
          <a:chOff x="0" y="0"/>
          <a:chExt cx="0" cy="0"/>
        </a:xfrm>
      </p:grpSpPr>
      <p:sp>
        <p:nvSpPr>
          <p:cNvPr id="130" name="Google Shape;130;p4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31" name="Google Shape;131;p4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2" name="Google Shape;132;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3" name="Google Shape;133;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4" name="Google Shape;134;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4"/>
        <p:cNvGrpSpPr/>
        <p:nvPr/>
      </p:nvGrpSpPr>
      <p:grpSpPr>
        <a:xfrm>
          <a:off x="0" y="0"/>
          <a:ext cx="0" cy="0"/>
          <a:chOff x="0" y="0"/>
          <a:chExt cx="0" cy="0"/>
        </a:xfrm>
      </p:grpSpPr>
      <p:sp>
        <p:nvSpPr>
          <p:cNvPr id="205" name="Google Shape;205;p57"/>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06" name="Google Shape;206;p57"/>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07" name="Google Shape;207;p57"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08" name="Google Shape;208;p57"/>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209" name="Google Shape;209;p5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0" name="Google Shape;210;p5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1" name="Google Shape;211;p57"/>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8"/>
        <p:cNvGrpSpPr/>
        <p:nvPr/>
      </p:nvGrpSpPr>
      <p:grpSpPr>
        <a:xfrm>
          <a:off x="0" y="0"/>
          <a:ext cx="0" cy="0"/>
          <a:chOff x="0" y="0"/>
          <a:chExt cx="0" cy="0"/>
        </a:xfrm>
      </p:grpSpPr>
      <p:sp>
        <p:nvSpPr>
          <p:cNvPr id="219" name="Google Shape;219;p59"/>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20" name="Google Shape;220;p59"/>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21" name="Google Shape;221;p59"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22" name="Google Shape;222;p59"/>
          <p:cNvSpPr txBox="1"/>
          <p:nvPr/>
        </p:nvSpPr>
        <p:spPr>
          <a:xfrm>
            <a:off x="3009900" y="0"/>
            <a:ext cx="6057900" cy="354012"/>
          </a:xfrm>
          <a:prstGeom prst="rect">
            <a:avLst/>
          </a:prstGeom>
          <a:solidFill>
            <a:srgbClr val="63252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Calibri"/>
              <a:buNone/>
            </a:pPr>
            <a:r>
              <a:rPr lang="en-US" sz="1700" b="1" i="0" u="none">
                <a:solidFill>
                  <a:schemeClr val="lt1"/>
                </a:solidFill>
                <a:latin typeface="Calibri"/>
                <a:ea typeface="Calibri"/>
                <a:cs typeface="Calibri"/>
                <a:sym typeface="Calibri"/>
              </a:rPr>
              <a:t>Department of Computer and Communicationq Engineering (CCE)</a:t>
            </a:r>
            <a:endParaRPr/>
          </a:p>
        </p:txBody>
      </p:sp>
    </p:spTree>
  </p:cSld>
  <p:clrMap bg1="lt1" tx1="dk1" bg2="dk2" tx2="lt2" accent1="accent1" accent2="accent2" accent3="accent3" accent4="accent4" accent5="accent5" accent6="accent6" hlink="hlink" folHlink="folHlink"/>
  <p:sldLayoutIdLst>
    <p:sldLayoutId id="214748368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6"/>
        <p:cNvGrpSpPr/>
        <p:nvPr/>
      </p:nvGrpSpPr>
      <p:grpSpPr>
        <a:xfrm>
          <a:off x="0" y="0"/>
          <a:ext cx="0" cy="0"/>
          <a:chOff x="0" y="0"/>
          <a:chExt cx="0" cy="0"/>
        </a:xfrm>
      </p:grpSpPr>
      <p:sp>
        <p:nvSpPr>
          <p:cNvPr id="227" name="Google Shape;227;p61"/>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28" name="Google Shape;228;p61"/>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29" name="Google Shape;229;p61"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30" name="Google Shape;230;p61"/>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231" name="Google Shape;231;p6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2" name="Google Shape;232;p6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3" name="Google Shape;233;p61"/>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8"/>
        <p:cNvGrpSpPr/>
        <p:nvPr/>
      </p:nvGrpSpPr>
      <p:grpSpPr>
        <a:xfrm>
          <a:off x="0" y="0"/>
          <a:ext cx="0" cy="0"/>
          <a:chOff x="0" y="0"/>
          <a:chExt cx="0" cy="0"/>
        </a:xfrm>
      </p:grpSpPr>
      <p:sp>
        <p:nvSpPr>
          <p:cNvPr id="239" name="Google Shape;239;p63"/>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40" name="Google Shape;240;p63"/>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41" name="Google Shape;241;p63"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42" name="Google Shape;242;p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3" name="Google Shape;243;p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4" name="Google Shape;244;p63"/>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2"/>
        <p:cNvGrpSpPr/>
        <p:nvPr/>
      </p:nvGrpSpPr>
      <p:grpSpPr>
        <a:xfrm>
          <a:off x="0" y="0"/>
          <a:ext cx="0" cy="0"/>
          <a:chOff x="0" y="0"/>
          <a:chExt cx="0" cy="0"/>
        </a:xfrm>
      </p:grpSpPr>
      <p:sp>
        <p:nvSpPr>
          <p:cNvPr id="253" name="Google Shape;253;p65"/>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54" name="Google Shape;254;p65"/>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55" name="Google Shape;255;p65"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56" name="Google Shape;256;p6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7" name="Google Shape;257;p6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8" name="Google Shape;258;p65"/>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0"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6"/>
        <p:cNvGrpSpPr/>
        <p:nvPr/>
      </p:nvGrpSpPr>
      <p:grpSpPr>
        <a:xfrm>
          <a:off x="0" y="0"/>
          <a:ext cx="0" cy="0"/>
          <a:chOff x="0" y="0"/>
          <a:chExt cx="0" cy="0"/>
        </a:xfrm>
      </p:grpSpPr>
      <p:sp>
        <p:nvSpPr>
          <p:cNvPr id="267" name="Google Shape;267;p67"/>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68" name="Google Shape;268;p67"/>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69" name="Google Shape;269;p67"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70" name="Google Shape;270;p6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1" name="Google Shape;271;p6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2" name="Google Shape;272;p67"/>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9"/>
        <p:cNvGrpSpPr/>
        <p:nvPr/>
      </p:nvGrpSpPr>
      <p:grpSpPr>
        <a:xfrm>
          <a:off x="0" y="0"/>
          <a:ext cx="0" cy="0"/>
          <a:chOff x="0" y="0"/>
          <a:chExt cx="0" cy="0"/>
        </a:xfrm>
      </p:grpSpPr>
      <p:sp>
        <p:nvSpPr>
          <p:cNvPr id="280" name="Google Shape;280;p69"/>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81" name="Google Shape;281;p69"/>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82" name="Google Shape;282;p69"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83" name="Google Shape;283;p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4" name="Google Shape;284;p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5" name="Google Shape;285;p69"/>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2"/>
        <p:cNvGrpSpPr/>
        <p:nvPr/>
      </p:nvGrpSpPr>
      <p:grpSpPr>
        <a:xfrm>
          <a:off x="0" y="0"/>
          <a:ext cx="0" cy="0"/>
          <a:chOff x="0" y="0"/>
          <a:chExt cx="0" cy="0"/>
        </a:xfrm>
      </p:grpSpPr>
      <p:sp>
        <p:nvSpPr>
          <p:cNvPr id="293" name="Google Shape;293;p71"/>
          <p:cNvSpPr txBox="1"/>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4" name="Google Shape;294;p71"/>
          <p:cNvSpPr txBox="1"/>
          <p:nvPr/>
        </p:nvSpPr>
        <p:spPr>
          <a:xfrm>
            <a:off x="8458200" y="6499225"/>
            <a:ext cx="84137" cy="84137"/>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5" name="Google Shape;295;p71"/>
          <p:cNvSpPr txBox="1"/>
          <p:nvPr/>
        </p:nvSpPr>
        <p:spPr>
          <a:xfrm>
            <a:off x="569912" y="6499225"/>
            <a:ext cx="84137" cy="84137"/>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6" name="Google Shape;296;p71"/>
          <p:cNvSpPr txBox="1"/>
          <p:nvPr/>
        </p:nvSpPr>
        <p:spPr>
          <a:xfrm>
            <a:off x="585787" y="0"/>
            <a:ext cx="8128000" cy="744537"/>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7" name="Google Shape;297;p71"/>
          <p:cNvSpPr txBox="1"/>
          <p:nvPr/>
        </p:nvSpPr>
        <p:spPr>
          <a:xfrm>
            <a:off x="2684462" y="446087"/>
            <a:ext cx="3773487" cy="1036637"/>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8" name="Google Shape;298;p71"/>
          <p:cNvSpPr txBox="1">
            <a:spLocks noGrp="1"/>
          </p:cNvSpPr>
          <p:nvPr>
            <p:ph type="ftr" idx="11"/>
          </p:nvPr>
        </p:nvSpPr>
        <p:spPr>
          <a:xfrm>
            <a:off x="0" y="0"/>
            <a:ext cx="0" cy="0"/>
          </a:xfrm>
          <a:prstGeom prst="rect">
            <a:avLst/>
          </a:prstGeom>
          <a:noFill/>
          <a:ln>
            <a:noFill/>
          </a:ln>
        </p:spPr>
        <p:txBody>
          <a:bodyPr spcFirstLastPara="1" wrap="square" lIns="0" tIns="0" rIns="0" bIns="0" anchor="t" anchorCtr="0">
            <a:noAutofit/>
          </a:bodyPr>
          <a:lstStyle>
            <a:lvl1pPr marR="0" lvl="0" algn="l" rtl="0">
              <a:lnSpc>
                <a:spcPct val="100000"/>
              </a:lnSpc>
              <a:spcBef>
                <a:spcPts val="100"/>
              </a:spcBef>
              <a:spcAft>
                <a:spcPts val="0"/>
              </a:spcAft>
              <a:buSzPts val="1400"/>
              <a:buNone/>
              <a:defRPr sz="1200" b="0" i="0" u="none">
                <a:solidFill>
                  <a:srgbClr val="003366"/>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9" name="Google Shape;299;p71"/>
          <p:cNvSpPr txBox="1">
            <a:spLocks noGrp="1"/>
          </p:cNvSpPr>
          <p:nvPr>
            <p:ph type="dt" idx="10"/>
          </p:nvPr>
        </p:nvSpPr>
        <p:spPr>
          <a:xfrm>
            <a:off x="0" y="0"/>
            <a:ext cx="0" cy="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00" name="Google Shape;300;p71"/>
          <p:cNvSpPr txBox="1">
            <a:spLocks noGrp="1"/>
          </p:cNvSpPr>
          <p:nvPr>
            <p:ph type="sldNum" idx="12"/>
          </p:nvPr>
        </p:nvSpPr>
        <p:spPr>
          <a:xfrm>
            <a:off x="7010400" y="6492875"/>
            <a:ext cx="2133600" cy="365125"/>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9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www.javatpoint.com/cloud-computing-vs-grid-computing"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hyperlink" Target="https://www.eukhost.com/blog/webhosting/what-is-utility-computing/"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
          <p:cNvSpPr txBox="1"/>
          <p:nvPr/>
        </p:nvSpPr>
        <p:spPr>
          <a:xfrm>
            <a:off x="-3175" y="5638800"/>
            <a:ext cx="9147175" cy="712787"/>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4" name="Google Shape;314;p1"/>
          <p:cNvSpPr txBox="1"/>
          <p:nvPr/>
        </p:nvSpPr>
        <p:spPr>
          <a:xfrm>
            <a:off x="227012" y="5902325"/>
            <a:ext cx="33337" cy="612775"/>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5" name="Google Shape;315;p1"/>
          <p:cNvSpPr txBox="1"/>
          <p:nvPr/>
        </p:nvSpPr>
        <p:spPr>
          <a:xfrm>
            <a:off x="6572250" y="6508750"/>
            <a:ext cx="20574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6" name="Google Shape;316;p1"/>
          <p:cNvSpPr/>
          <p:nvPr/>
        </p:nvSpPr>
        <p:spPr>
          <a:xfrm rot="10800000" flipH="1">
            <a:off x="7131050" y="5940425"/>
            <a:ext cx="968375" cy="1157287"/>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aphicFrame>
        <p:nvGraphicFramePr>
          <p:cNvPr id="317" name="Google Shape;317;p1"/>
          <p:cNvGraphicFramePr/>
          <p:nvPr/>
        </p:nvGraphicFramePr>
        <p:xfrm>
          <a:off x="0" y="2833687"/>
          <a:ext cx="2478087" cy="3148012"/>
        </p:xfrm>
        <a:graphic>
          <a:graphicData uri="http://schemas.openxmlformats.org/presentationml/2006/ole">
            <mc:AlternateContent xmlns:mc="http://schemas.openxmlformats.org/markup-compatibility/2006">
              <mc:Choice xmlns:v="urn:schemas-microsoft-com:vml" Requires="v">
                <p:oleObj r:id="rId3" imgW="2478087" imgH="3148012" progId="">
                  <p:embed/>
                </p:oleObj>
              </mc:Choice>
              <mc:Fallback>
                <p:oleObj r:id="rId3" imgW="2478087" imgH="3148012" progId="">
                  <p:embed/>
                  <p:pic>
                    <p:nvPicPr>
                      <p:cNvPr id="317" name="Google Shape;317;p1"/>
                      <p:cNvPicPr preferRelativeResize="0"/>
                      <p:nvPr/>
                    </p:nvPicPr>
                    <p:blipFill rotWithShape="1">
                      <a:blip r:embed="rId4">
                        <a:alphaModFix/>
                      </a:blip>
                      <a:srcRect/>
                      <a:stretch/>
                    </p:blipFill>
                    <p:spPr>
                      <a:xfrm>
                        <a:off x="0" y="2833687"/>
                        <a:ext cx="2478087" cy="3148012"/>
                      </a:xfrm>
                      <a:prstGeom prst="rect">
                        <a:avLst/>
                      </a:prstGeom>
                      <a:noFill/>
                      <a:ln>
                        <a:noFill/>
                      </a:ln>
                    </p:spPr>
                  </p:pic>
                </p:oleObj>
              </mc:Fallback>
            </mc:AlternateContent>
          </a:graphicData>
        </a:graphic>
      </p:graphicFrame>
      <p:sp>
        <p:nvSpPr>
          <p:cNvPr id="318" name="Google Shape;318;p1"/>
          <p:cNvSpPr/>
          <p:nvPr/>
        </p:nvSpPr>
        <p:spPr>
          <a:xfrm flipH="1">
            <a:off x="5284787" y="-65087"/>
            <a:ext cx="3859212" cy="5853112"/>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nvGrpSpPr>
          <p:cNvPr id="319" name="Google Shape;319;p1"/>
          <p:cNvGrpSpPr/>
          <p:nvPr/>
        </p:nvGrpSpPr>
        <p:grpSpPr>
          <a:xfrm>
            <a:off x="1574800" y="2006600"/>
            <a:ext cx="5143500" cy="1600200"/>
            <a:chOff x="992" y="1264"/>
            <a:chExt cx="3240" cy="1008"/>
          </a:xfrm>
        </p:grpSpPr>
        <p:pic>
          <p:nvPicPr>
            <p:cNvPr id="320" name="Google Shape;320;p1"/>
            <p:cNvPicPr preferRelativeResize="0"/>
            <p:nvPr/>
          </p:nvPicPr>
          <p:blipFill rotWithShape="1">
            <a:blip r:embed="rId5">
              <a:alphaModFix/>
            </a:blip>
            <a:srcRect/>
            <a:stretch/>
          </p:blipFill>
          <p:spPr>
            <a:xfrm>
              <a:off x="992" y="1264"/>
              <a:ext cx="3240" cy="1008"/>
            </a:xfrm>
            <a:prstGeom prst="rect">
              <a:avLst/>
            </a:prstGeom>
            <a:noFill/>
            <a:ln>
              <a:noFill/>
            </a:ln>
          </p:spPr>
        </p:pic>
        <p:sp>
          <p:nvSpPr>
            <p:cNvPr id="321" name="Google Shape;321;p1"/>
            <p:cNvSpPr txBox="1"/>
            <p:nvPr/>
          </p:nvSpPr>
          <p:spPr>
            <a:xfrm>
              <a:off x="1003" y="1276"/>
              <a:ext cx="3227" cy="9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322" name="Google Shape;322;p1"/>
          <p:cNvSpPr/>
          <p:nvPr/>
        </p:nvSpPr>
        <p:spPr>
          <a:xfrm flipH="1">
            <a:off x="7372350" y="5334000"/>
            <a:ext cx="1774825" cy="16002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3" name="Google Shape;323;p1"/>
          <p:cNvSpPr txBox="1"/>
          <p:nvPr/>
        </p:nvSpPr>
        <p:spPr>
          <a:xfrm>
            <a:off x="4154487" y="6019800"/>
            <a:ext cx="4702175" cy="36988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595959"/>
              </a:buClr>
              <a:buSzPts val="1800"/>
              <a:buFont typeface="Arial"/>
              <a:buNone/>
            </a:pPr>
            <a:r>
              <a:rPr lang="en-US" sz="1800" b="1" i="0" u="none">
                <a:solidFill>
                  <a:srgbClr val="595959"/>
                </a:solidFill>
                <a:latin typeface="Arial"/>
                <a:ea typeface="Arial"/>
                <a:cs typeface="Arial"/>
                <a:sym typeface="Arial"/>
              </a:rPr>
              <a:t>DISCOVER . </a:t>
            </a:r>
            <a:r>
              <a:rPr lang="en-US" sz="1800" b="1" i="0" u="none">
                <a:solidFill>
                  <a:srgbClr val="C00000"/>
                </a:solidFill>
                <a:latin typeface="Arial"/>
                <a:ea typeface="Arial"/>
                <a:cs typeface="Arial"/>
                <a:sym typeface="Arial"/>
              </a:rPr>
              <a:t>LEARN</a:t>
            </a:r>
            <a:r>
              <a:rPr lang="en-US" sz="1800" b="1" i="0" u="none">
                <a:solidFill>
                  <a:srgbClr val="595959"/>
                </a:solidFill>
                <a:latin typeface="Arial"/>
                <a:ea typeface="Arial"/>
                <a:cs typeface="Arial"/>
                <a:sym typeface="Arial"/>
              </a:rPr>
              <a:t> . EMPOWER</a:t>
            </a:r>
            <a:endParaRPr/>
          </a:p>
        </p:txBody>
      </p:sp>
      <p:sp>
        <p:nvSpPr>
          <p:cNvPr id="324" name="Google Shape;324;p1"/>
          <p:cNvSpPr txBox="1"/>
          <p:nvPr/>
        </p:nvSpPr>
        <p:spPr>
          <a:xfrm>
            <a:off x="5164137" y="6043612"/>
            <a:ext cx="34925" cy="3698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5" name="Google Shape;325;p1"/>
          <p:cNvSpPr txBox="1"/>
          <p:nvPr/>
        </p:nvSpPr>
        <p:spPr>
          <a:xfrm>
            <a:off x="533400" y="1477962"/>
            <a:ext cx="8096250" cy="4114419"/>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Disruptive Technologies-3</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(23CSH-203)</a:t>
            </a:r>
          </a:p>
          <a:p>
            <a:pPr marL="0" marR="0" lvl="0" indent="0" algn="l" rtl="0">
              <a:lnSpc>
                <a:spcPct val="100000"/>
              </a:lnSpc>
              <a:spcBef>
                <a:spcPts val="1120"/>
              </a:spcBef>
              <a:spcAft>
                <a:spcPts val="0"/>
              </a:spcAft>
              <a:buNone/>
            </a:pPr>
            <a:endParaRPr sz="3200" b="1" i="0" u="none" dirty="0">
              <a:solidFill>
                <a:srgbClr val="262626"/>
              </a:solidFill>
              <a:latin typeface="Times New Roman"/>
              <a:ea typeface="Times New Roman"/>
              <a:cs typeface="Times New Roman"/>
              <a:sym typeface="Times New Roman"/>
            </a:endParaRPr>
          </a:p>
        </p:txBody>
      </p:sp>
      <p:sp>
        <p:nvSpPr>
          <p:cNvPr id="326" name="Google Shape;326;p1"/>
          <p:cNvSpPr txBox="1"/>
          <p:nvPr/>
        </p:nvSpPr>
        <p:spPr>
          <a:xfrm>
            <a:off x="457200" y="5943600"/>
            <a:ext cx="4176712"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1" i="0" u="none">
                <a:solidFill>
                  <a:schemeClr val="dk1"/>
                </a:solidFill>
                <a:latin typeface="Times New Roman"/>
                <a:ea typeface="Times New Roman"/>
                <a:cs typeface="Times New Roman"/>
                <a:sym typeface="Times New Roman"/>
              </a:rPr>
              <a:t>Topic: cloud computing </a:t>
            </a:r>
            <a:endParaRPr/>
          </a:p>
        </p:txBody>
      </p:sp>
      <p:pic>
        <p:nvPicPr>
          <p:cNvPr id="327" name="Google Shape;327;p1"/>
          <p:cNvPicPr preferRelativeResize="0"/>
          <p:nvPr/>
        </p:nvPicPr>
        <p:blipFill rotWithShape="1">
          <a:blip r:embed="rId6">
            <a:alphaModFix/>
          </a:blip>
          <a:srcRect/>
          <a:stretch/>
        </p:blipFill>
        <p:spPr>
          <a:xfrm>
            <a:off x="76200" y="76200"/>
            <a:ext cx="2613025" cy="1295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00000"/>
              </a:buClr>
              <a:buSzPts val="2800"/>
              <a:buFont typeface="Cambria"/>
              <a:buNone/>
            </a:pPr>
            <a:r>
              <a:rPr lang="en-US" sz="2800" b="1" i="0" u="none" strike="noStrike" cap="none">
                <a:solidFill>
                  <a:srgbClr val="C00000"/>
                </a:solidFill>
                <a:latin typeface="Cambria"/>
                <a:ea typeface="Cambria"/>
                <a:cs typeface="Cambria"/>
                <a:sym typeface="Cambria"/>
              </a:rPr>
              <a:t>Learning Objectives &amp; Outcomes</a:t>
            </a:r>
            <a:endParaRPr/>
          </a:p>
        </p:txBody>
      </p:sp>
      <p:sp>
        <p:nvSpPr>
          <p:cNvPr id="339" name="Google Shape;339;p3"/>
          <p:cNvSpPr txBox="1">
            <a:spLocks noGrp="1"/>
          </p:cNvSpPr>
          <p:nvPr>
            <p:ph type="body" idx="1"/>
          </p:nvPr>
        </p:nvSpPr>
        <p:spPr>
          <a:xfrm>
            <a:off x="914400" y="1752600"/>
            <a:ext cx="8001000" cy="44958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Cambria"/>
                <a:ea typeface="Cambria"/>
                <a:cs typeface="Cambria"/>
                <a:sym typeface="Cambria"/>
              </a:rPr>
              <a:t>Objective:</a:t>
            </a:r>
            <a:endParaRPr sz="2400" b="1" i="0" u="none" strike="noStrike" cap="none">
              <a:solidFill>
                <a:schemeClr val="dk1"/>
              </a:solidFill>
              <a:latin typeface="Cambria"/>
              <a:ea typeface="Cambria"/>
              <a:cs typeface="Cambria"/>
              <a:sym typeface="Cambria"/>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mbria"/>
                <a:ea typeface="Cambria"/>
                <a:cs typeface="Cambria"/>
                <a:sym typeface="Cambria"/>
              </a:rPr>
              <a:t>To understand the meaning of cloud and cloud Computing</a:t>
            </a:r>
            <a:endParaRPr sz="2400" b="0" i="0" u="none" strike="noStrike" cap="none">
              <a:solidFill>
                <a:schemeClr val="dk1"/>
              </a:solidFill>
              <a:latin typeface="Cambria"/>
              <a:ea typeface="Cambria"/>
              <a:cs typeface="Cambria"/>
              <a:sym typeface="Cambria"/>
            </a:endParaRPr>
          </a:p>
          <a:p>
            <a:pPr marL="342900" marR="0" lvl="0" indent="-342900" algn="l" rtl="0">
              <a:lnSpc>
                <a:spcPct val="100000"/>
              </a:lnSpc>
              <a:spcBef>
                <a:spcPts val="480"/>
              </a:spcBef>
              <a:spcAft>
                <a:spcPts val="0"/>
              </a:spcAft>
              <a:buClr>
                <a:schemeClr val="dk1"/>
              </a:buClr>
              <a:buSzPts val="2400"/>
              <a:buFont typeface="Arial"/>
              <a:buNone/>
            </a:pPr>
            <a:endParaRPr sz="2400" b="0" i="0" u="none" strike="noStrike" cap="none">
              <a:solidFill>
                <a:schemeClr val="dk1"/>
              </a:solidFill>
              <a:latin typeface="Cambria"/>
              <a:ea typeface="Cambria"/>
              <a:cs typeface="Cambria"/>
              <a:sym typeface="Cambria"/>
            </a:endParaRPr>
          </a:p>
          <a:p>
            <a:pPr marL="342900" marR="0" lvl="0" indent="-342900" algn="l" rtl="0">
              <a:lnSpc>
                <a:spcPct val="100000"/>
              </a:lnSpc>
              <a:spcBef>
                <a:spcPts val="480"/>
              </a:spcBef>
              <a:spcAft>
                <a:spcPts val="0"/>
              </a:spcAft>
              <a:buClr>
                <a:schemeClr val="dk1"/>
              </a:buClr>
              <a:buSzPts val="2400"/>
              <a:buFont typeface="Arial"/>
              <a:buNone/>
            </a:pPr>
            <a:r>
              <a:rPr lang="en-US" sz="2400" b="1" i="0" u="none" strike="noStrike" cap="none">
                <a:solidFill>
                  <a:schemeClr val="dk1"/>
                </a:solidFill>
                <a:latin typeface="Cambria"/>
                <a:ea typeface="Cambria"/>
                <a:cs typeface="Cambria"/>
                <a:sym typeface="Cambria"/>
              </a:rPr>
              <a:t>Outcome:</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mbria"/>
                <a:ea typeface="Cambria"/>
                <a:cs typeface="Cambria"/>
                <a:sym typeface="Cambria"/>
              </a:rPr>
              <a:t>Student will understand</a:t>
            </a:r>
            <a:endParaRPr/>
          </a:p>
          <a:p>
            <a:pPr marL="342900" marR="0" lvl="0" indent="-342900" algn="l" rtl="0">
              <a:lnSpc>
                <a:spcPct val="100000"/>
              </a:lnSpc>
              <a:spcBef>
                <a:spcPts val="480"/>
              </a:spcBef>
              <a:spcAft>
                <a:spcPts val="0"/>
              </a:spcAft>
              <a:buClr>
                <a:schemeClr val="dk1"/>
              </a:buClr>
              <a:buSzPts val="2400"/>
              <a:buFont typeface="Noto Sans Symbols"/>
              <a:buChar char="✔"/>
            </a:pPr>
            <a:r>
              <a:rPr lang="en-US" sz="2400" b="0" i="0" u="none" strike="noStrike" cap="none">
                <a:solidFill>
                  <a:schemeClr val="dk1"/>
                </a:solidFill>
                <a:latin typeface="Cambria"/>
                <a:ea typeface="Cambria"/>
                <a:cs typeface="Cambria"/>
                <a:sym typeface="Cambria"/>
              </a:rPr>
              <a:t>The meaning of cloud and cloud Computing</a:t>
            </a:r>
            <a:endParaRPr/>
          </a:p>
          <a:p>
            <a:pPr marL="342900" marR="0" lvl="0" indent="-342900" algn="l" rtl="0">
              <a:lnSpc>
                <a:spcPct val="100000"/>
              </a:lnSpc>
              <a:spcBef>
                <a:spcPts val="480"/>
              </a:spcBef>
              <a:spcAft>
                <a:spcPts val="0"/>
              </a:spcAft>
              <a:buClr>
                <a:schemeClr val="dk1"/>
              </a:buClr>
              <a:buSzPts val="2400"/>
              <a:buFont typeface="Noto Sans Symbols"/>
              <a:buChar char="✔"/>
            </a:pPr>
            <a:r>
              <a:rPr lang="en-US" sz="2400" b="0" i="0" u="none" strike="noStrike" cap="none">
                <a:solidFill>
                  <a:schemeClr val="dk1"/>
                </a:solidFill>
                <a:latin typeface="Cambria"/>
                <a:ea typeface="Cambria"/>
                <a:cs typeface="Cambria"/>
                <a:sym typeface="Cambria"/>
              </a:rPr>
              <a:t> How its works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
          <p:cNvSpPr txBox="1">
            <a:spLocks noGrp="1"/>
          </p:cNvSpPr>
          <p:nvPr>
            <p:ph type="ctrTitle"/>
          </p:nvPr>
        </p:nvSpPr>
        <p:spPr>
          <a:xfrm>
            <a:off x="762000" y="2133600"/>
            <a:ext cx="7772400" cy="1066799"/>
          </a:xfrm>
          <a:prstGeom prst="rect">
            <a:avLst/>
          </a:prstGeom>
          <a:no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4400"/>
              <a:buFont typeface="Times New Roman"/>
              <a:buNone/>
            </a:pPr>
            <a:r>
              <a:rPr lang="en-US" sz="4400" b="1" i="0" u="none" strike="noStrike" cap="none">
                <a:solidFill>
                  <a:srgbClr val="FF0000"/>
                </a:solidFill>
                <a:latin typeface="Times New Roman"/>
                <a:ea typeface="Times New Roman"/>
                <a:cs typeface="Times New Roman"/>
                <a:sym typeface="Times New Roman"/>
              </a:rPr>
              <a:t>Cloud Computing</a:t>
            </a:r>
            <a:endParaRPr sz="4400" b="1" i="0" u="none" strike="noStrike" cap="none">
              <a:solidFill>
                <a:srgbClr val="FF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5"/>
          <p:cNvSpPr txBox="1">
            <a:spLocks noGrp="1"/>
          </p:cNvSpPr>
          <p:nvPr>
            <p:ph type="title"/>
          </p:nvPr>
        </p:nvSpPr>
        <p:spPr>
          <a:xfrm>
            <a:off x="914400" y="838200"/>
            <a:ext cx="7924800" cy="609600"/>
          </a:xfrm>
          <a:prstGeom prst="rect">
            <a:avLst/>
          </a:prstGeom>
          <a:noFill/>
          <a:ln>
            <a:noFill/>
          </a:ln>
        </p:spPr>
        <p:txBody>
          <a:bodyPr spcFirstLastPara="1" wrap="square" lIns="91425" tIns="45700" rIns="91425" bIns="45700" anchor="ctr" anchorCtr="0">
            <a:noAutofit/>
          </a:bodyPr>
          <a:lstStyle/>
          <a:p>
            <a:r>
              <a:rPr lang="en-IN" sz="2800" b="0" i="0" u="none" strike="noStrike" dirty="0">
                <a:solidFill>
                  <a:srgbClr val="455A64"/>
                </a:solidFill>
                <a:effectLst/>
                <a:latin typeface="Poppins" pitchFamily="2" charset="77"/>
              </a:rPr>
              <a:t>Traditional Cloud Computing</a:t>
            </a:r>
          </a:p>
        </p:txBody>
      </p:sp>
      <p:sp>
        <p:nvSpPr>
          <p:cNvPr id="351" name="Google Shape;351;p5"/>
          <p:cNvSpPr txBox="1">
            <a:spLocks noGrp="1"/>
          </p:cNvSpPr>
          <p:nvPr>
            <p:ph type="body" idx="1"/>
          </p:nvPr>
        </p:nvSpPr>
        <p:spPr>
          <a:xfrm>
            <a:off x="137160" y="1752600"/>
            <a:ext cx="8778240" cy="4495800"/>
          </a:xfrm>
          <a:prstGeom prst="rect">
            <a:avLst/>
          </a:prstGeom>
          <a:noFill/>
          <a:ln>
            <a:noFill/>
          </a:ln>
        </p:spPr>
        <p:txBody>
          <a:bodyPr spcFirstLastPara="1" wrap="square" lIns="91425" tIns="45700" rIns="91425" bIns="45700" anchor="t" anchorCtr="0">
            <a:normAutofit/>
          </a:bodyPr>
          <a:lstStyle/>
          <a:p>
            <a:pPr algn="just"/>
            <a:r>
              <a:rPr lang="en-IN" b="0" i="0" u="none" strike="noStrike" dirty="0">
                <a:solidFill>
                  <a:srgbClr val="1D2125"/>
                </a:solidFill>
                <a:effectLst/>
                <a:highlight>
                  <a:srgbClr val="FFFFFF"/>
                </a:highlight>
                <a:latin typeface="Times New Roman" panose="02020603050405020304" pitchFamily="18" charset="0"/>
                <a:cs typeface="Times New Roman" panose="02020603050405020304" pitchFamily="18" charset="0"/>
              </a:rPr>
              <a:t>Traditional computing uses physical data </a:t>
            </a:r>
            <a:r>
              <a:rPr lang="en-IN" b="0" i="0" u="none" strike="noStrike" dirty="0" err="1">
                <a:solidFill>
                  <a:srgbClr val="1D2125"/>
                </a:solidFill>
                <a:effectLst/>
                <a:highlight>
                  <a:srgbClr val="FFFFFF"/>
                </a:highlight>
                <a:latin typeface="Times New Roman" panose="02020603050405020304" pitchFamily="18" charset="0"/>
                <a:cs typeface="Times New Roman" panose="02020603050405020304" pitchFamily="18" charset="0"/>
              </a:rPr>
              <a:t>centers</a:t>
            </a:r>
            <a:r>
              <a:rPr lang="en-IN" b="0" i="0" u="none" strike="noStrike" dirty="0">
                <a:solidFill>
                  <a:srgbClr val="1D2125"/>
                </a:solidFill>
                <a:effectLst/>
                <a:highlight>
                  <a:srgbClr val="FFFFFF"/>
                </a:highlight>
                <a:latin typeface="Times New Roman" panose="02020603050405020304" pitchFamily="18" charset="0"/>
                <a:cs typeface="Times New Roman" panose="02020603050405020304" pitchFamily="18" charset="0"/>
              </a:rPr>
              <a:t> to store digital assets and runs a full networking infrastructure for operations. Users’ access to data, software, or storage is constrained to the device or authorized network they are connected to from where it is kept.</a:t>
            </a:r>
            <a:endParaRPr sz="2400" b="0" i="0" u="none" dirty="0">
              <a:solidFill>
                <a:schemeClr val="dk1"/>
              </a:solidFill>
              <a:latin typeface="Times New Roman" panose="02020603050405020304" pitchFamily="18" charset="0"/>
              <a:cs typeface="Times New Roman" panose="02020603050405020304" pitchFamily="18" charset="0"/>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7"/>
          <p:cNvSpPr txBox="1">
            <a:spLocks noGrp="1"/>
          </p:cNvSpPr>
          <p:nvPr>
            <p:ph type="title"/>
          </p:nvPr>
        </p:nvSpPr>
        <p:spPr>
          <a:xfrm>
            <a:off x="990600" y="609600"/>
            <a:ext cx="7924800" cy="1066800"/>
          </a:xfrm>
          <a:prstGeom prst="rect">
            <a:avLst/>
          </a:prstGeom>
          <a:noFill/>
          <a:ln>
            <a:noFill/>
          </a:ln>
        </p:spPr>
        <p:txBody>
          <a:bodyPr spcFirstLastPara="1" wrap="square" lIns="91425" tIns="45700" rIns="91425" bIns="45700" anchor="ctr" anchorCtr="0">
            <a:noAutofit/>
          </a:bodyPr>
          <a:lstStyle/>
          <a:p>
            <a:pPr algn="l"/>
            <a:r>
              <a:rPr lang="en-IN" sz="2800" b="0" i="0" u="none" strike="noStrike" dirty="0">
                <a:solidFill>
                  <a:srgbClr val="455A64"/>
                </a:solidFill>
                <a:effectLst/>
                <a:latin typeface="Poppins" pitchFamily="2" charset="77"/>
              </a:rPr>
              <a:t>Advantages &amp; Disadvantages of Traditional Computing</a:t>
            </a:r>
          </a:p>
        </p:txBody>
      </p:sp>
      <p:sp>
        <p:nvSpPr>
          <p:cNvPr id="363" name="Google Shape;363;p7"/>
          <p:cNvSpPr txBox="1">
            <a:spLocks noGrp="1"/>
          </p:cNvSpPr>
          <p:nvPr>
            <p:ph type="body" idx="1"/>
          </p:nvPr>
        </p:nvSpPr>
        <p:spPr>
          <a:xfrm>
            <a:off x="251460" y="1752600"/>
            <a:ext cx="8663940" cy="4495800"/>
          </a:xfrm>
          <a:prstGeom prst="rect">
            <a:avLst/>
          </a:prstGeom>
          <a:noFill/>
          <a:ln>
            <a:noFill/>
          </a:ln>
        </p:spPr>
        <p:txBody>
          <a:bodyPr spcFirstLastPara="1" wrap="square" lIns="91425" tIns="45700" rIns="91425" bIns="45700" anchor="t" anchorCtr="0">
            <a:noAutofit/>
          </a:bodyPr>
          <a:lstStyle/>
          <a:p>
            <a:pPr marL="76200" indent="0" algn="l">
              <a:buNone/>
            </a:pPr>
            <a:r>
              <a:rPr lang="en-IN" sz="1600" b="0" i="0" u="none" strike="noStrike" dirty="0">
                <a:solidFill>
                  <a:srgbClr val="1D2125"/>
                </a:solidFill>
                <a:effectLst/>
                <a:latin typeface="Poppins" pitchFamily="2" charset="77"/>
              </a:rPr>
              <a:t>Here are a few advantages and disadvantages of traditional cloud in our debate on cloud computing vs traditional.</a:t>
            </a:r>
          </a:p>
          <a:p>
            <a:pPr marL="76200" indent="0" algn="l">
              <a:buNone/>
            </a:pPr>
            <a:r>
              <a:rPr lang="en-IN" sz="1600" b="1" i="0" u="none" strike="noStrike" dirty="0">
                <a:solidFill>
                  <a:srgbClr val="455A64"/>
                </a:solidFill>
                <a:effectLst/>
                <a:latin typeface="Poppins" pitchFamily="2" charset="77"/>
              </a:rPr>
              <a:t>Advantages</a:t>
            </a:r>
          </a:p>
          <a:p>
            <a:r>
              <a:rPr lang="en-IN" sz="1600" b="0" i="0" u="none" strike="noStrike" dirty="0">
                <a:solidFill>
                  <a:srgbClr val="1D2125"/>
                </a:solidFill>
                <a:effectLst/>
                <a:latin typeface="Poppins" pitchFamily="2" charset="77"/>
              </a:rPr>
              <a:t>It offers total control over the hardware and software it employs.</a:t>
            </a:r>
          </a:p>
          <a:p>
            <a:r>
              <a:rPr lang="en-IN" sz="1600" b="0" i="0" u="none" strike="noStrike" dirty="0">
                <a:solidFill>
                  <a:srgbClr val="1D2125"/>
                </a:solidFill>
                <a:effectLst/>
                <a:latin typeface="Poppins" pitchFamily="2" charset="77"/>
              </a:rPr>
              <a:t>It provides a high level of data protection since data is maintained on-premises and secured by firewalls, encryption, and other security measures.</a:t>
            </a:r>
          </a:p>
          <a:p>
            <a:r>
              <a:rPr lang="en-IN" sz="1600" b="0" i="0" u="none" strike="noStrike" dirty="0">
                <a:solidFill>
                  <a:srgbClr val="1D2125"/>
                </a:solidFill>
                <a:effectLst/>
                <a:latin typeface="Poppins" pitchFamily="2" charset="77"/>
              </a:rPr>
              <a:t> It does not rely on internet access; thus, no service interruptions or data loss.</a:t>
            </a:r>
          </a:p>
          <a:p>
            <a:pPr marL="76200" indent="0" algn="l">
              <a:buNone/>
            </a:pPr>
            <a:r>
              <a:rPr lang="en-IN" sz="1600" b="1" i="0" u="none" strike="noStrike" dirty="0">
                <a:solidFill>
                  <a:srgbClr val="455A64"/>
                </a:solidFill>
                <a:effectLst/>
                <a:latin typeface="Poppins" pitchFamily="2" charset="77"/>
              </a:rPr>
              <a:t>Disadvantages</a:t>
            </a:r>
          </a:p>
          <a:p>
            <a:r>
              <a:rPr lang="en-IN" sz="1600" b="0" i="0" u="none" strike="noStrike" dirty="0">
                <a:solidFill>
                  <a:srgbClr val="1D2125"/>
                </a:solidFill>
                <a:effectLst/>
                <a:latin typeface="Poppins" pitchFamily="2" charset="77"/>
              </a:rPr>
              <a:t>To guarantee security and performance constant maintenance and updates are needed.</a:t>
            </a:r>
          </a:p>
          <a:p>
            <a:r>
              <a:rPr lang="en-IN" sz="1600" b="0" i="0" u="none" strike="noStrike" dirty="0">
                <a:solidFill>
                  <a:srgbClr val="1D2125"/>
                </a:solidFill>
                <a:effectLst/>
                <a:latin typeface="Poppins" pitchFamily="2" charset="77"/>
              </a:rPr>
              <a:t>it requires substantial capital expenses for both hardware and software.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6ABEF8C-C31F-BF20-E525-FCD1ACBBA216}"/>
              </a:ext>
            </a:extLst>
          </p:cNvPr>
          <p:cNvGraphicFramePr>
            <a:graphicFrameLocks noGrp="1"/>
          </p:cNvGraphicFramePr>
          <p:nvPr>
            <p:extLst>
              <p:ext uri="{D42A27DB-BD31-4B8C-83A1-F6EECF244321}">
                <p14:modId xmlns:p14="http://schemas.microsoft.com/office/powerpoint/2010/main" val="1029311830"/>
              </p:ext>
            </p:extLst>
          </p:nvPr>
        </p:nvGraphicFramePr>
        <p:xfrm>
          <a:off x="936978" y="722489"/>
          <a:ext cx="7578372" cy="5366684"/>
        </p:xfrm>
        <a:graphic>
          <a:graphicData uri="http://schemas.openxmlformats.org/drawingml/2006/table">
            <a:tbl>
              <a:tblPr/>
              <a:tblGrid>
                <a:gridCol w="3789186">
                  <a:extLst>
                    <a:ext uri="{9D8B030D-6E8A-4147-A177-3AD203B41FA5}">
                      <a16:colId xmlns:a16="http://schemas.microsoft.com/office/drawing/2014/main" val="380802727"/>
                    </a:ext>
                  </a:extLst>
                </a:gridCol>
                <a:gridCol w="3789186">
                  <a:extLst>
                    <a:ext uri="{9D8B030D-6E8A-4147-A177-3AD203B41FA5}">
                      <a16:colId xmlns:a16="http://schemas.microsoft.com/office/drawing/2014/main" val="3257135189"/>
                    </a:ext>
                  </a:extLst>
                </a:gridCol>
              </a:tblGrid>
              <a:tr h="391728">
                <a:tc>
                  <a:txBody>
                    <a:bodyPr/>
                    <a:lstStyle/>
                    <a:p>
                      <a:r>
                        <a:rPr lang="en-IN" b="1">
                          <a:effectLst/>
                        </a:rPr>
                        <a:t>Cloud Computing</a:t>
                      </a:r>
                      <a:endParaRPr lang="en-IN">
                        <a:effectLst/>
                      </a:endParaRPr>
                    </a:p>
                  </a:txBody>
                  <a:tcPr anchor="ctr">
                    <a:lnL>
                      <a:noFill/>
                    </a:lnL>
                    <a:lnR>
                      <a:noFill/>
                    </a:lnR>
                    <a:lnT>
                      <a:noFill/>
                    </a:lnT>
                    <a:lnB>
                      <a:noFill/>
                    </a:lnB>
                    <a:noFill/>
                  </a:tcPr>
                </a:tc>
                <a:tc>
                  <a:txBody>
                    <a:bodyPr/>
                    <a:lstStyle/>
                    <a:p>
                      <a:r>
                        <a:rPr lang="en-IN" b="1">
                          <a:effectLst/>
                        </a:rPr>
                        <a:t>Traditional Computing</a:t>
                      </a:r>
                      <a:endParaRPr lang="en-IN">
                        <a:effectLst/>
                      </a:endParaRPr>
                    </a:p>
                  </a:txBody>
                  <a:tcPr anchor="ctr">
                    <a:lnL>
                      <a:noFill/>
                    </a:lnL>
                    <a:lnR>
                      <a:noFill/>
                    </a:lnR>
                    <a:lnT>
                      <a:noFill/>
                    </a:lnT>
                    <a:lnB>
                      <a:noFill/>
                    </a:lnB>
                    <a:noFill/>
                  </a:tcPr>
                </a:tc>
                <a:extLst>
                  <a:ext uri="{0D108BD9-81ED-4DB2-BD59-A6C34878D82A}">
                    <a16:rowId xmlns:a16="http://schemas.microsoft.com/office/drawing/2014/main" val="3602447876"/>
                  </a:ext>
                </a:extLst>
              </a:tr>
              <a:tr h="1214360">
                <a:tc>
                  <a:txBody>
                    <a:bodyPr/>
                    <a:lstStyle/>
                    <a:p>
                      <a:r>
                        <a:rPr lang="en-IN" dirty="0">
                          <a:effectLst/>
                        </a:rPr>
                        <a:t>It is very cost-effective because several parties share server management and upkeep management, lowering the cost of public services.</a:t>
                      </a:r>
                    </a:p>
                  </a:txBody>
                  <a:tcPr anchor="ctr">
                    <a:lnL>
                      <a:noFill/>
                    </a:lnL>
                    <a:lnR>
                      <a:noFill/>
                    </a:lnR>
                    <a:lnT>
                      <a:noFill/>
                    </a:lnT>
                    <a:lnB>
                      <a:noFill/>
                    </a:lnB>
                    <a:noFill/>
                  </a:tcPr>
                </a:tc>
                <a:tc>
                  <a:txBody>
                    <a:bodyPr/>
                    <a:lstStyle/>
                    <a:p>
                      <a:r>
                        <a:rPr lang="en-IN">
                          <a:effectLst/>
                        </a:rPr>
                        <a:t>It is less economical than cloud computing because expensive equipment is needed to run and maintain servers. </a:t>
                      </a:r>
                    </a:p>
                  </a:txBody>
                  <a:tcPr anchor="ctr">
                    <a:lnL>
                      <a:noFill/>
                    </a:lnL>
                    <a:lnR>
                      <a:noFill/>
                    </a:lnR>
                    <a:lnT>
                      <a:noFill/>
                    </a:lnT>
                    <a:lnB>
                      <a:noFill/>
                    </a:lnB>
                    <a:noFill/>
                  </a:tcPr>
                </a:tc>
                <a:extLst>
                  <a:ext uri="{0D108BD9-81ED-4DB2-BD59-A6C34878D82A}">
                    <a16:rowId xmlns:a16="http://schemas.microsoft.com/office/drawing/2014/main" val="3090163619"/>
                  </a:ext>
                </a:extLst>
              </a:tr>
              <a:tr h="1214360">
                <a:tc>
                  <a:txBody>
                    <a:bodyPr/>
                    <a:lstStyle/>
                    <a:p>
                      <a:r>
                        <a:rPr lang="en-IN" dirty="0">
                          <a:effectLst/>
                        </a:rPr>
                        <a:t>It offers more servers, storage space, and processing power allowing software and applications to function more quickly and efficiently.</a:t>
                      </a:r>
                    </a:p>
                  </a:txBody>
                  <a:tcPr anchor="ctr">
                    <a:lnL>
                      <a:noFill/>
                    </a:lnL>
                    <a:lnR>
                      <a:noFill/>
                    </a:lnR>
                    <a:lnT>
                      <a:noFill/>
                    </a:lnT>
                    <a:lnB>
                      <a:noFill/>
                    </a:lnB>
                    <a:noFill/>
                  </a:tcPr>
                </a:tc>
                <a:tc>
                  <a:txBody>
                    <a:bodyPr/>
                    <a:lstStyle/>
                    <a:p>
                      <a:r>
                        <a:rPr lang="en-IN">
                          <a:effectLst/>
                        </a:rPr>
                        <a:t>It offers lesser storage space in comparison to cloud computing. </a:t>
                      </a:r>
                    </a:p>
                  </a:txBody>
                  <a:tcPr anchor="ctr">
                    <a:lnL>
                      <a:noFill/>
                    </a:lnL>
                    <a:lnR>
                      <a:noFill/>
                    </a:lnR>
                    <a:lnT>
                      <a:noFill/>
                    </a:lnT>
                    <a:lnB>
                      <a:noFill/>
                    </a:lnB>
                    <a:noFill/>
                  </a:tcPr>
                </a:tc>
                <a:extLst>
                  <a:ext uri="{0D108BD9-81ED-4DB2-BD59-A6C34878D82A}">
                    <a16:rowId xmlns:a16="http://schemas.microsoft.com/office/drawing/2014/main" val="1032349587"/>
                  </a:ext>
                </a:extLst>
              </a:tr>
              <a:tr h="665938">
                <a:tc>
                  <a:txBody>
                    <a:bodyPr/>
                    <a:lstStyle/>
                    <a:p>
                      <a:r>
                        <a:rPr lang="en-IN">
                          <a:effectLst/>
                        </a:rPr>
                        <a:t>Users get 24/7 access to data from any place.</a:t>
                      </a:r>
                    </a:p>
                  </a:txBody>
                  <a:tcPr anchor="ctr">
                    <a:lnL>
                      <a:noFill/>
                    </a:lnL>
                    <a:lnR>
                      <a:noFill/>
                    </a:lnR>
                    <a:lnT>
                      <a:noFill/>
                    </a:lnT>
                    <a:lnB>
                      <a:noFill/>
                    </a:lnB>
                    <a:noFill/>
                  </a:tcPr>
                </a:tc>
                <a:tc>
                  <a:txBody>
                    <a:bodyPr/>
                    <a:lstStyle/>
                    <a:p>
                      <a:r>
                        <a:rPr lang="en-IN">
                          <a:effectLst/>
                        </a:rPr>
                        <a:t>Users can only access data on the system where it is kept. </a:t>
                      </a:r>
                    </a:p>
                  </a:txBody>
                  <a:tcPr anchor="ctr">
                    <a:lnL>
                      <a:noFill/>
                    </a:lnL>
                    <a:lnR>
                      <a:noFill/>
                    </a:lnR>
                    <a:lnT>
                      <a:noFill/>
                    </a:lnT>
                    <a:lnB>
                      <a:noFill/>
                    </a:lnB>
                    <a:noFill/>
                  </a:tcPr>
                </a:tc>
                <a:extLst>
                  <a:ext uri="{0D108BD9-81ED-4DB2-BD59-A6C34878D82A}">
                    <a16:rowId xmlns:a16="http://schemas.microsoft.com/office/drawing/2014/main" val="3194648808"/>
                  </a:ext>
                </a:extLst>
              </a:tr>
              <a:tr h="940149">
                <a:tc>
                  <a:txBody>
                    <a:bodyPr/>
                    <a:lstStyle/>
                    <a:p>
                      <a:r>
                        <a:rPr lang="en-IN">
                          <a:effectLst/>
                        </a:rPr>
                        <a:t>It is more user-friendly since users may access data from anywhere at any time through the Internet.</a:t>
                      </a:r>
                    </a:p>
                  </a:txBody>
                  <a:tcPr anchor="ctr">
                    <a:lnL>
                      <a:noFill/>
                    </a:lnL>
                    <a:lnR>
                      <a:noFill/>
                    </a:lnR>
                    <a:lnT>
                      <a:noFill/>
                    </a:lnT>
                    <a:lnB>
                      <a:noFill/>
                    </a:lnB>
                    <a:noFill/>
                  </a:tcPr>
                </a:tc>
                <a:tc>
                  <a:txBody>
                    <a:bodyPr/>
                    <a:lstStyle/>
                    <a:p>
                      <a:r>
                        <a:rPr lang="en-IN">
                          <a:effectLst/>
                        </a:rPr>
                        <a:t>It is less user-friendly than cloud computing because accessing data is difficult and must be saved on an external storage media. </a:t>
                      </a:r>
                    </a:p>
                  </a:txBody>
                  <a:tcPr anchor="ctr">
                    <a:lnL>
                      <a:noFill/>
                    </a:lnL>
                    <a:lnR>
                      <a:noFill/>
                    </a:lnR>
                    <a:lnT>
                      <a:noFill/>
                    </a:lnT>
                    <a:lnB>
                      <a:noFill/>
                    </a:lnB>
                    <a:noFill/>
                  </a:tcPr>
                </a:tc>
                <a:extLst>
                  <a:ext uri="{0D108BD9-81ED-4DB2-BD59-A6C34878D82A}">
                    <a16:rowId xmlns:a16="http://schemas.microsoft.com/office/drawing/2014/main" val="1405523959"/>
                  </a:ext>
                </a:extLst>
              </a:tr>
              <a:tr h="940149">
                <a:tc>
                  <a:txBody>
                    <a:bodyPr/>
                    <a:lstStyle/>
                    <a:p>
                      <a:r>
                        <a:rPr lang="en-IN">
                          <a:effectLst/>
                        </a:rPr>
                        <a:t>Software is provided as a subscription-based on-demand service (SaaS), which may be accessed at any time.</a:t>
                      </a:r>
                    </a:p>
                  </a:txBody>
                  <a:tcPr anchor="ctr">
                    <a:lnL>
                      <a:noFill/>
                    </a:lnL>
                    <a:lnR>
                      <a:noFill/>
                    </a:lnR>
                    <a:lnT>
                      <a:noFill/>
                    </a:lnT>
                    <a:lnB>
                      <a:noFill/>
                    </a:lnB>
                    <a:noFill/>
                  </a:tcPr>
                </a:tc>
                <a:tc>
                  <a:txBody>
                    <a:bodyPr/>
                    <a:lstStyle/>
                    <a:p>
                      <a:r>
                        <a:rPr lang="en-IN" dirty="0">
                          <a:effectLst/>
                        </a:rPr>
                        <a:t>Every user must purchase their software, which has to be updated on occasion.</a:t>
                      </a:r>
                    </a:p>
                  </a:txBody>
                  <a:tcPr anchor="ctr">
                    <a:lnL>
                      <a:noFill/>
                    </a:lnL>
                    <a:lnR>
                      <a:noFill/>
                    </a:lnR>
                    <a:lnT>
                      <a:noFill/>
                    </a:lnT>
                    <a:lnB>
                      <a:noFill/>
                    </a:lnB>
                    <a:noFill/>
                  </a:tcPr>
                </a:tc>
                <a:extLst>
                  <a:ext uri="{0D108BD9-81ED-4DB2-BD59-A6C34878D82A}">
                    <a16:rowId xmlns:a16="http://schemas.microsoft.com/office/drawing/2014/main" val="3071423280"/>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9"/>
          <p:cNvSpPr txBox="1"/>
          <p:nvPr/>
        </p:nvSpPr>
        <p:spPr>
          <a:xfrm>
            <a:off x="4154487" y="2933700"/>
            <a:ext cx="76200" cy="2397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76" name="Google Shape;376;p9"/>
          <p:cNvSpPr txBox="1"/>
          <p:nvPr/>
        </p:nvSpPr>
        <p:spPr>
          <a:xfrm>
            <a:off x="8559800" y="6432550"/>
            <a:ext cx="109537" cy="207962"/>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FFFFFF"/>
              </a:buClr>
              <a:buSzPts val="1200"/>
              <a:buFont typeface="Arial"/>
              <a:buNone/>
            </a:pPr>
            <a:r>
              <a:rPr lang="en-US" sz="1200" b="0" i="0" u="none">
                <a:solidFill>
                  <a:srgbClr val="FFFFFF"/>
                </a:solidFill>
                <a:latin typeface="Arial"/>
                <a:ea typeface="Arial"/>
                <a:cs typeface="Arial"/>
                <a:sym typeface="Arial"/>
              </a:rPr>
              <a:t>5</a:t>
            </a:r>
            <a:endParaRPr/>
          </a:p>
        </p:txBody>
      </p:sp>
      <p:sp>
        <p:nvSpPr>
          <p:cNvPr id="377" name="Google Shape;377;p9"/>
          <p:cNvSpPr txBox="1">
            <a:spLocks noGrp="1"/>
          </p:cNvSpPr>
          <p:nvPr>
            <p:ph type="body" idx="1"/>
          </p:nvPr>
        </p:nvSpPr>
        <p:spPr>
          <a:xfrm>
            <a:off x="304800" y="1447800"/>
            <a:ext cx="8686800" cy="4800600"/>
          </a:xfrm>
          <a:prstGeom prst="rect">
            <a:avLst/>
          </a:prstGeom>
          <a:noFill/>
          <a:ln>
            <a:noFill/>
          </a:ln>
        </p:spPr>
        <p:txBody>
          <a:bodyPr spcFirstLastPara="1" wrap="square" lIns="91425" tIns="45700" rIns="91425" bIns="45700" anchor="t" anchorCtr="0">
            <a:noAutofit/>
          </a:bodyPr>
          <a:lstStyle/>
          <a:p>
            <a:pPr algn="just"/>
            <a:r>
              <a:rPr lang="en-IN" sz="1600" b="0" i="0" u="none" strike="noStrike" dirty="0">
                <a:solidFill>
                  <a:srgbClr val="1D2125"/>
                </a:solidFill>
                <a:effectLst/>
                <a:latin typeface="Poppins" pitchFamily="2" charset="77"/>
              </a:rPr>
              <a:t>This is what we have learnt from cloud computing vs traditional.</a:t>
            </a:r>
          </a:p>
          <a:p>
            <a:pPr algn="just">
              <a:buFont typeface="Arial" panose="020B0604020202020204" pitchFamily="34" charset="0"/>
              <a:buChar char="•"/>
            </a:pPr>
            <a:r>
              <a:rPr lang="en-IN" sz="1600" b="0" i="0" u="none" strike="noStrike" dirty="0">
                <a:solidFill>
                  <a:srgbClr val="1D2125"/>
                </a:solidFill>
                <a:effectLst/>
                <a:latin typeface="Poppins" pitchFamily="2" charset="77"/>
              </a:rPr>
              <a:t>Cloud computing is highly cost-effective and very economical; whereas, traditional computing is very expensive.</a:t>
            </a:r>
          </a:p>
          <a:p>
            <a:pPr algn="just">
              <a:buFont typeface="Arial" panose="020B0604020202020204" pitchFamily="34" charset="0"/>
              <a:buChar char="•"/>
            </a:pPr>
            <a:r>
              <a:rPr lang="en-IN" sz="1600" b="0" i="0" u="none" strike="noStrike" dirty="0">
                <a:solidFill>
                  <a:srgbClr val="1D2125"/>
                </a:solidFill>
                <a:effectLst/>
                <a:latin typeface="Poppins" pitchFamily="2" charset="77"/>
              </a:rPr>
              <a:t>Cloud computing offers greater storage space in comparison with traditional computing systems where you get less storage space.</a:t>
            </a:r>
          </a:p>
          <a:p>
            <a:pPr algn="just">
              <a:buFont typeface="Arial" panose="020B0604020202020204" pitchFamily="34" charset="0"/>
              <a:buChar char="•"/>
            </a:pPr>
            <a:r>
              <a:rPr lang="en-IN" sz="1600" b="0" i="0" u="none" strike="noStrike" dirty="0">
                <a:solidFill>
                  <a:srgbClr val="1D2125"/>
                </a:solidFill>
                <a:effectLst/>
                <a:latin typeface="Poppins" pitchFamily="2" charset="77"/>
              </a:rPr>
              <a:t>With a cloud computing system accessing data is quite easy, with remote access you can access your cloud data from anywhere at any time. However, you don’t get this leverage with the traditional cloud, it allows access from the system where it is kept.</a:t>
            </a:r>
          </a:p>
          <a:p>
            <a:pPr algn="just">
              <a:buFont typeface="Arial" panose="020B0604020202020204" pitchFamily="34" charset="0"/>
              <a:buChar char="•"/>
            </a:pPr>
            <a:r>
              <a:rPr lang="en-IN" sz="1600" b="0" i="0" u="none" strike="noStrike" dirty="0">
                <a:solidFill>
                  <a:srgbClr val="1D2125"/>
                </a:solidFill>
                <a:effectLst/>
                <a:latin typeface="Poppins" pitchFamily="2" charset="77"/>
              </a:rPr>
              <a:t>Cloud computing is very user-friendly; whereas, the traditional one is not.</a:t>
            </a:r>
          </a:p>
          <a:p>
            <a:pPr algn="just">
              <a:buFont typeface="Arial" panose="020B0604020202020204" pitchFamily="34" charset="0"/>
              <a:buChar char="•"/>
            </a:pPr>
            <a:r>
              <a:rPr lang="en-IN" sz="1600" b="0" i="0" u="none" strike="noStrike" dirty="0">
                <a:solidFill>
                  <a:srgbClr val="1D2125"/>
                </a:solidFill>
                <a:effectLst/>
                <a:latin typeface="Poppins" pitchFamily="2" charset="77"/>
              </a:rPr>
              <a:t>With cloud computing you get SaaS services and with traditional computing you need to purchase and update software very often</a:t>
            </a:r>
          </a:p>
          <a:p>
            <a:pPr marL="342900" marR="0" lvl="0" indent="-203200" algn="l" rtl="0">
              <a:spcBef>
                <a:spcPts val="440"/>
              </a:spcBef>
              <a:spcAft>
                <a:spcPts val="0"/>
              </a:spcAft>
              <a:buClr>
                <a:schemeClr val="dk1"/>
              </a:buClr>
              <a:buSzPts val="2200"/>
              <a:buFont typeface="Arial"/>
              <a:buNone/>
            </a:pPr>
            <a:endParaRPr sz="2200" b="0" i="0" u="none" dirty="0">
              <a:solidFill>
                <a:schemeClr val="dk1"/>
              </a:solidFill>
              <a:latin typeface="Cambria"/>
              <a:ea typeface="Cambria"/>
              <a:cs typeface="Cambria"/>
              <a:sym typeface="Cambria"/>
            </a:endParaRPr>
          </a:p>
        </p:txBody>
      </p:sp>
      <p:sp>
        <p:nvSpPr>
          <p:cNvPr id="378" name="Google Shape;378;p9"/>
          <p:cNvSpPr txBox="1">
            <a:spLocks noGrp="1"/>
          </p:cNvSpPr>
          <p:nvPr>
            <p:ph type="body" idx="1"/>
          </p:nvPr>
        </p:nvSpPr>
        <p:spPr>
          <a:xfrm>
            <a:off x="1066800" y="609600"/>
            <a:ext cx="7924800" cy="685800"/>
          </a:xfrm>
          <a:prstGeom prst="rect">
            <a:avLst/>
          </a:prstGeom>
          <a:solidFill>
            <a:schemeClr val="lt1"/>
          </a:solidFill>
          <a:ln>
            <a:noFill/>
          </a:ln>
        </p:spPr>
        <p:txBody>
          <a:bodyPr spcFirstLastPara="1" wrap="square" lIns="91425" tIns="45700" rIns="91425" bIns="45700" anchor="ctr" anchorCtr="0">
            <a:noAutofit/>
          </a:bodyPr>
          <a:lstStyle/>
          <a:p>
            <a:pPr marL="342900" lvl="0" indent="-342900" algn="ctr" rtl="0">
              <a:lnSpc>
                <a:spcPct val="80000"/>
              </a:lnSpc>
              <a:spcBef>
                <a:spcPts val="0"/>
              </a:spcBef>
              <a:spcAft>
                <a:spcPts val="0"/>
              </a:spcAft>
              <a:buClr>
                <a:schemeClr val="dk1"/>
              </a:buClr>
              <a:buSzPts val="1500"/>
              <a:buNone/>
            </a:pPr>
            <a:endParaRPr sz="2800" b="1" i="0" u="none" dirty="0">
              <a:solidFill>
                <a:srgbClr val="C00000"/>
              </a:solidFill>
              <a:latin typeface="Times New Roman" panose="02020603050405020304" pitchFamily="18" charset="0"/>
              <a:cs typeface="Times New Roman" panose="02020603050405020304" pitchFamily="18" charset="0"/>
              <a:sym typeface="Cambria"/>
            </a:endParaRPr>
          </a:p>
          <a:p>
            <a:pPr marL="88900" indent="0" algn="ctr">
              <a:buNone/>
            </a:pPr>
            <a:r>
              <a:rPr lang="en-IN" sz="2800" b="0" i="0" u="none" strike="noStrike" dirty="0">
                <a:solidFill>
                  <a:srgbClr val="455A64"/>
                </a:solidFill>
                <a:effectLst/>
                <a:latin typeface="Poppins" pitchFamily="2" charset="77"/>
              </a:rPr>
              <a:t>Key Takeaways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11"/>
          <p:cNvSpPr txBox="1">
            <a:spLocks noGrp="1"/>
          </p:cNvSpPr>
          <p:nvPr>
            <p:ph type="title"/>
          </p:nvPr>
        </p:nvSpPr>
        <p:spPr>
          <a:xfrm>
            <a:off x="990600" y="547020"/>
            <a:ext cx="7924800" cy="623884"/>
          </a:xfrm>
          <a:prstGeom prst="rect">
            <a:avLst/>
          </a:prstGeom>
          <a:noFill/>
          <a:ln>
            <a:noFill/>
          </a:ln>
        </p:spPr>
        <p:txBody>
          <a:bodyPr spcFirstLastPara="1" wrap="square" lIns="0" tIns="8250" rIns="0" bIns="0" anchor="ctr" anchorCtr="0">
            <a:spAutoFit/>
          </a:bodyPr>
          <a:lstStyle/>
          <a:p>
            <a:pPr algn="just"/>
            <a:r>
              <a:rPr lang="en-IN" sz="2000" b="0" i="0" u="none" strike="noStrike" dirty="0">
                <a:solidFill>
                  <a:srgbClr val="455A64"/>
                </a:solidFill>
                <a:effectLst/>
                <a:latin typeface="Poppins" pitchFamily="2" charset="77"/>
              </a:rPr>
              <a:t>Cloud Computing Or Traditional Computing: Which One Is Better For You?</a:t>
            </a:r>
          </a:p>
        </p:txBody>
      </p:sp>
      <p:sp>
        <p:nvSpPr>
          <p:cNvPr id="390" name="Google Shape;390;p11"/>
          <p:cNvSpPr txBox="1">
            <a:spLocks noGrp="1"/>
          </p:cNvSpPr>
          <p:nvPr>
            <p:ph type="body" idx="1"/>
          </p:nvPr>
        </p:nvSpPr>
        <p:spPr>
          <a:xfrm>
            <a:off x="79022" y="1569160"/>
            <a:ext cx="8836378" cy="4587928"/>
          </a:xfrm>
          <a:prstGeom prst="rect">
            <a:avLst/>
          </a:prstGeom>
          <a:noFill/>
          <a:ln>
            <a:noFill/>
          </a:ln>
        </p:spPr>
        <p:txBody>
          <a:bodyPr spcFirstLastPara="1" wrap="square" lIns="91425" tIns="45700" rIns="91425" bIns="45700" anchor="t" anchorCtr="0">
            <a:normAutofit/>
          </a:bodyPr>
          <a:lstStyle/>
          <a:p>
            <a:pPr algn="just"/>
            <a:r>
              <a:rPr lang="en-IN" sz="1600" b="0" i="0" u="none" strike="noStrike" dirty="0">
                <a:solidFill>
                  <a:srgbClr val="1D2125"/>
                </a:solidFill>
                <a:effectLst/>
                <a:latin typeface="Poppins" pitchFamily="2" charset="77"/>
              </a:rPr>
              <a:t>Your business requirements determine whether cloud computing or traditional computing is better suited for your needs. </a:t>
            </a:r>
          </a:p>
          <a:p>
            <a:pPr algn="just"/>
            <a:r>
              <a:rPr lang="en-IN" sz="1600" b="0" i="0" u="none" strike="noStrike" dirty="0">
                <a:solidFill>
                  <a:srgbClr val="1D2125"/>
                </a:solidFill>
                <a:effectLst/>
                <a:latin typeface="Poppins" pitchFamily="2" charset="77"/>
              </a:rPr>
              <a:t>However, it’s worth noting that cloud computing offers several advantages, including financial savings, scalability, and data accessibility from any location. In contrast, traditional computing requires businesses to invest in and manage hardware, software, and related services, which can be costly and challenging to expand as the business grows. Therefore, for businesses looking to save money on initial investments and benefit from the agility of cloud computing, it often emerges as the preferable option.</a:t>
            </a:r>
          </a:p>
          <a:p>
            <a:pPr algn="just"/>
            <a:r>
              <a:rPr lang="en-IN" sz="1600" b="0" i="0" u="none" strike="noStrike" dirty="0">
                <a:solidFill>
                  <a:srgbClr val="1D2125"/>
                </a:solidFill>
                <a:effectLst/>
                <a:latin typeface="Poppins" pitchFamily="2" charset="77"/>
              </a:rPr>
              <a:t>That being said, when making the transition from traditional computing to cloud computing, or optimizing your existing cloud infrastructure, enlisting the expertise of Cloud Migration Consulting Services can be invaluable. These services provide tailored guidance and strategies to ensure a seamless migration process. They help businesses assess their unique needs, select the right cloud services, and plan for a successful transition.</a:t>
            </a:r>
          </a:p>
          <a:p>
            <a:pPr marL="342900" marR="0" lvl="0" indent="-215900" algn="l" rtl="0">
              <a:spcBef>
                <a:spcPts val="400"/>
              </a:spcBef>
              <a:spcAft>
                <a:spcPts val="0"/>
              </a:spcAft>
              <a:buClr>
                <a:schemeClr val="dk1"/>
              </a:buClr>
              <a:buSzPts val="2000"/>
              <a:buFont typeface="Arial"/>
              <a:buNone/>
            </a:pPr>
            <a:endParaRPr sz="2000" b="0" i="0" u="none" dirty="0">
              <a:solidFill>
                <a:schemeClr val="dk1"/>
              </a:solidFill>
              <a:latin typeface="Cambria"/>
              <a:ea typeface="Cambria"/>
              <a:cs typeface="Cambria"/>
              <a:sym typeface="Cambria"/>
            </a:endParaRPr>
          </a:p>
        </p:txBody>
      </p:sp>
      <p:sp>
        <p:nvSpPr>
          <p:cNvPr id="391" name="Google Shape;391;p11"/>
          <p:cNvSpPr txBox="1"/>
          <p:nvPr/>
        </p:nvSpPr>
        <p:spPr>
          <a:xfrm>
            <a:off x="7010400" y="6492875"/>
            <a:ext cx="2133600" cy="365125"/>
          </a:xfrm>
          <a:prstGeom prst="rect">
            <a:avLst/>
          </a:prstGeom>
          <a:noFill/>
          <a:ln>
            <a:noFill/>
          </a:ln>
        </p:spPr>
        <p:txBody>
          <a:bodyPr spcFirstLastPara="1" wrap="square" lIns="0" tIns="13325" rIns="0" bIns="0" anchor="ctr" anchorCtr="0">
            <a:spAutoFit/>
          </a:bodyPr>
          <a:lstStyle/>
          <a:p>
            <a:pPr marL="3810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8</a:t>
            </a:fld>
            <a:endParaRPr/>
          </a:p>
        </p:txBody>
      </p:sp>
      <p:sp>
        <p:nvSpPr>
          <p:cNvPr id="2" name="Rectangle 2">
            <a:extLst>
              <a:ext uri="{FF2B5EF4-FFF2-40B4-BE49-F238E27FC236}">
                <a16:creationId xmlns:a16="http://schemas.microsoft.com/office/drawing/2014/main" id="{244B807F-0777-EDCA-4770-89DB2E75EDCE}"/>
              </a:ext>
            </a:extLst>
          </p:cNvPr>
          <p:cNvSpPr>
            <a:spLocks noChangeArrowheads="1"/>
          </p:cNvSpPr>
          <p:nvPr/>
        </p:nvSpPr>
        <p:spPr bwMode="auto">
          <a:xfrm>
            <a:off x="990600" y="390944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12"/>
          <p:cNvSpPr txBox="1">
            <a:spLocks noGrp="1"/>
          </p:cNvSpPr>
          <p:nvPr>
            <p:ph type="body" idx="1"/>
          </p:nvPr>
        </p:nvSpPr>
        <p:spPr>
          <a:xfrm>
            <a:off x="148590" y="1447799"/>
            <a:ext cx="8843010" cy="4501439"/>
          </a:xfrm>
          <a:prstGeom prst="rect">
            <a:avLst/>
          </a:prstGeom>
          <a:noFill/>
          <a:ln>
            <a:noFill/>
          </a:ln>
        </p:spPr>
        <p:txBody>
          <a:bodyPr spcFirstLastPara="1" wrap="square" lIns="91425" tIns="45700" rIns="91425" bIns="45700" anchor="t" anchorCtr="0">
            <a:normAutofit lnSpcReduction="10000"/>
          </a:bodyPr>
          <a:lstStyle/>
          <a:p>
            <a:pPr marL="88900" indent="0" algn="just">
              <a:buNone/>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overall outcome of cloud computing vs traditional computing so far inclines more in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favor</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of cloud computing than traditional.</a:t>
            </a:r>
          </a:p>
          <a:p>
            <a:pPr algn="just">
              <a:buFont typeface="+mj-lt"/>
              <a:buAutoNum type="arabicPeriod"/>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Highly Scalable And Cost-Effective:</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With the use of cloud computing, businesses can quickly scale up or down their computer capabilities in response to changing demand, doing away with the need for additional hardware, software, and maintenance costs.</a:t>
            </a:r>
          </a:p>
          <a:p>
            <a:pPr algn="just">
              <a:buFont typeface="+mj-lt"/>
              <a:buAutoNum type="arabicPeriod"/>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Remote Data Accessibility:</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With the use of cloud computing, users may access apps and data remotely from any location with an internet connection.</a:t>
            </a:r>
          </a:p>
          <a:p>
            <a:pPr algn="just">
              <a:buFont typeface="+mj-lt"/>
              <a:buAutoNum type="arabicPeriod"/>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Highly Reliable:</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High levels of uptime and redundancy are provided by cloud providers, ensuring that data and applications remain accessible even in the event of hardware failure.</a:t>
            </a:r>
          </a:p>
          <a:p>
            <a:pPr algn="just">
              <a:buFont typeface="+mj-lt"/>
              <a:buAutoNum type="arabicPeriod"/>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Highly Flexible:</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Public, private, and hybrid clouds are just a few of the many possibilities that cloud computing provides, all of which can be customized to fit the specific requirements of a business.</a:t>
            </a:r>
          </a:p>
          <a:p>
            <a:pPr marL="342900" marR="0" lvl="0" indent="-203200" algn="l" rtl="0">
              <a:spcBef>
                <a:spcPts val="440"/>
              </a:spcBef>
              <a:spcAft>
                <a:spcPts val="0"/>
              </a:spcAft>
              <a:buClr>
                <a:schemeClr val="dk1"/>
              </a:buClr>
              <a:buSzPts val="2200"/>
              <a:buFont typeface="Arial"/>
              <a:buNone/>
            </a:pPr>
            <a:endParaRPr sz="2200" b="0" i="0" u="none" dirty="0">
              <a:solidFill>
                <a:schemeClr val="dk1"/>
              </a:solidFill>
              <a:latin typeface="Cambria"/>
              <a:ea typeface="Cambria"/>
              <a:cs typeface="Cambria"/>
              <a:sym typeface="Cambria"/>
            </a:endParaRPr>
          </a:p>
        </p:txBody>
      </p:sp>
      <p:sp>
        <p:nvSpPr>
          <p:cNvPr id="397" name="Google Shape;397;p12"/>
          <p:cNvSpPr txBox="1">
            <a:spLocks noGrp="1"/>
          </p:cNvSpPr>
          <p:nvPr>
            <p:ph type="body" idx="1"/>
          </p:nvPr>
        </p:nvSpPr>
        <p:spPr>
          <a:xfrm>
            <a:off x="1066800" y="609600"/>
            <a:ext cx="7924800" cy="685800"/>
          </a:xfrm>
          <a:prstGeom prst="rect">
            <a:avLst/>
          </a:prstGeom>
          <a:solidFill>
            <a:schemeClr val="lt1"/>
          </a:solidFill>
          <a:ln>
            <a:noFill/>
          </a:ln>
        </p:spPr>
        <p:txBody>
          <a:bodyPr spcFirstLastPara="1" wrap="square" lIns="91425" tIns="45700" rIns="91425" bIns="45700" anchor="ctr" anchorCtr="0">
            <a:normAutofit lnSpcReduction="10000"/>
          </a:bodyPr>
          <a:lstStyle/>
          <a:p>
            <a:pPr marL="342900" lvl="0" indent="-342900" algn="ctr" rtl="0">
              <a:lnSpc>
                <a:spcPct val="80000"/>
              </a:lnSpc>
              <a:spcBef>
                <a:spcPts val="0"/>
              </a:spcBef>
              <a:spcAft>
                <a:spcPts val="0"/>
              </a:spcAft>
              <a:buClr>
                <a:schemeClr val="dk1"/>
              </a:buClr>
              <a:buSzPts val="1000"/>
              <a:buNone/>
            </a:pPr>
            <a:endParaRPr sz="1000" b="1" i="0" u="none" dirty="0">
              <a:solidFill>
                <a:srgbClr val="C00000"/>
              </a:solidFill>
              <a:latin typeface="Cambria"/>
              <a:ea typeface="Cambria"/>
              <a:cs typeface="Cambria"/>
              <a:sym typeface="Cambria"/>
            </a:endParaRPr>
          </a:p>
          <a:p>
            <a:pPr marL="88900" indent="0" algn="ctr">
              <a:buNone/>
            </a:pPr>
            <a:r>
              <a:rPr lang="en-IN" sz="2800" b="0" i="0" u="none" strike="noStrike" dirty="0">
                <a:solidFill>
                  <a:srgbClr val="455A64"/>
                </a:solidFill>
                <a:effectLst/>
                <a:latin typeface="Poppins" pitchFamily="2" charset="77"/>
              </a:rPr>
              <a:t>Key Takeaways</a:t>
            </a:r>
          </a:p>
          <a:p>
            <a:pPr marL="342900" lvl="0" indent="-184150" algn="l" rtl="0">
              <a:spcBef>
                <a:spcPts val="500"/>
              </a:spcBef>
              <a:spcAft>
                <a:spcPts val="0"/>
              </a:spcAft>
              <a:buClr>
                <a:schemeClr val="dk1"/>
              </a:buClr>
              <a:buSzPts val="2500"/>
              <a:buNone/>
            </a:pPr>
            <a:endParaRPr sz="2500" b="1" i="0" u="none" dirty="0">
              <a:solidFill>
                <a:srgbClr val="C00000"/>
              </a:solidFill>
              <a:latin typeface="Cambria"/>
              <a:ea typeface="Cambria"/>
              <a:cs typeface="Cambria"/>
              <a:sym typeface="Cambria"/>
            </a:endParaRPr>
          </a:p>
        </p:txBody>
      </p:sp>
      <p:sp>
        <p:nvSpPr>
          <p:cNvPr id="2" name="Rectangle 2">
            <a:extLst>
              <a:ext uri="{FF2B5EF4-FFF2-40B4-BE49-F238E27FC236}">
                <a16:creationId xmlns:a16="http://schemas.microsoft.com/office/drawing/2014/main" id="{15898280-3FE4-614E-6535-C9C6F893AAC5}"/>
              </a:ext>
            </a:extLst>
          </p:cNvPr>
          <p:cNvSpPr>
            <a:spLocks noChangeArrowheads="1"/>
          </p:cNvSpPr>
          <p:nvPr/>
        </p:nvSpPr>
        <p:spPr bwMode="auto">
          <a:xfrm>
            <a:off x="982979" y="3817620"/>
            <a:ext cx="1041681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13"/>
          <p:cNvSpPr txBox="1">
            <a:spLocks noGrp="1"/>
          </p:cNvSpPr>
          <p:nvPr>
            <p:ph type="body" idx="1"/>
          </p:nvPr>
        </p:nvSpPr>
        <p:spPr>
          <a:xfrm>
            <a:off x="152400" y="1219199"/>
            <a:ext cx="8839200" cy="5012257"/>
          </a:xfrm>
          <a:prstGeom prst="rect">
            <a:avLst/>
          </a:prstGeom>
          <a:noFill/>
          <a:ln>
            <a:noFill/>
          </a:ln>
        </p:spPr>
        <p:txBody>
          <a:bodyPr spcFirstLastPara="1" wrap="square" lIns="91425" tIns="45700" rIns="91425" bIns="45700" anchor="t" anchorCtr="0">
            <a:normAutofit/>
          </a:bodyPr>
          <a:lstStyle/>
          <a:p>
            <a:pPr marL="88900" indent="0" algn="l">
              <a:buNone/>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roots of cloud computing are sub-divided into four types. They are,</a:t>
            </a:r>
          </a:p>
          <a:p>
            <a:pPr algn="l">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Internet Technologies</a:t>
            </a:r>
          </a:p>
          <a:p>
            <a:pPr algn="l">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Hardware</a:t>
            </a:r>
          </a:p>
          <a:p>
            <a:pPr algn="l">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System Management</a:t>
            </a:r>
          </a:p>
          <a:p>
            <a:pPr algn="l">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Distributed Computing</a:t>
            </a:r>
          </a:p>
          <a:p>
            <a:pPr marL="88900" indent="0" algn="l">
              <a:buNone/>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Virtualization is the process of deploying virtual resources in cloud infrastructures such as servers, storage management, and desktop. To reduce the cost and time effort of cloud providers this virtualization concept is introduced. Virtualization is subdivided into various types. The below-mentioned picture describes the various types of virtualization used in cloud computing</a:t>
            </a:r>
          </a:p>
          <a:p>
            <a:pPr marL="88900" indent="0">
              <a:buNone/>
            </a:pPr>
            <a:br>
              <a:rPr lang="en-IN" sz="1600" dirty="0"/>
            </a:br>
            <a:r>
              <a:rPr lang="en-IN" sz="2000" b="1" i="0" u="none" strike="noStrike" dirty="0">
                <a:solidFill>
                  <a:srgbClr val="1D2125"/>
                </a:solidFill>
                <a:effectLst/>
                <a:latin typeface="Times New Roman" panose="02020603050405020304" pitchFamily="18" charset="0"/>
                <a:cs typeface="Times New Roman" panose="02020603050405020304" pitchFamily="18" charset="0"/>
              </a:rPr>
              <a:t>  </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marL="342900" marR="0" lvl="0" indent="-342900" algn="just" rtl="0">
              <a:lnSpc>
                <a:spcPct val="80000"/>
              </a:lnSpc>
              <a:spcBef>
                <a:spcPts val="380"/>
              </a:spcBef>
              <a:spcAft>
                <a:spcPts val="0"/>
              </a:spcAft>
              <a:buClr>
                <a:schemeClr val="dk1"/>
              </a:buClr>
              <a:buSzPts val="1900"/>
              <a:buFont typeface="Arial"/>
              <a:buNone/>
            </a:pPr>
            <a:endParaRPr dirty="0"/>
          </a:p>
          <a:p>
            <a:pPr marL="342900" marR="0" lvl="0" indent="-342900" algn="l" rtl="0">
              <a:lnSpc>
                <a:spcPct val="80000"/>
              </a:lnSpc>
              <a:spcBef>
                <a:spcPts val="200"/>
              </a:spcBef>
              <a:spcAft>
                <a:spcPts val="0"/>
              </a:spcAft>
              <a:buClr>
                <a:schemeClr val="dk1"/>
              </a:buClr>
              <a:buSzPts val="1000"/>
              <a:buFont typeface="Arial"/>
              <a:buNone/>
            </a:pPr>
            <a:br>
              <a:rPr lang="en-US" sz="1000" b="0" i="0" u="none" dirty="0">
                <a:solidFill>
                  <a:schemeClr val="dk1"/>
                </a:solidFill>
                <a:latin typeface="Cambria"/>
                <a:ea typeface="Cambria"/>
                <a:cs typeface="Cambria"/>
                <a:sym typeface="Cambria"/>
              </a:rPr>
            </a:br>
            <a:endParaRPr dirty="0"/>
          </a:p>
        </p:txBody>
      </p:sp>
      <p:sp>
        <p:nvSpPr>
          <p:cNvPr id="403" name="Google Shape;403;p13"/>
          <p:cNvSpPr txBox="1">
            <a:spLocks noGrp="1"/>
          </p:cNvSpPr>
          <p:nvPr>
            <p:ph type="body" idx="1"/>
          </p:nvPr>
        </p:nvSpPr>
        <p:spPr>
          <a:xfrm>
            <a:off x="1066800" y="533400"/>
            <a:ext cx="7924800" cy="762000"/>
          </a:xfrm>
          <a:prstGeom prst="rect">
            <a:avLst/>
          </a:prstGeom>
          <a:solidFill>
            <a:schemeClr val="lt1"/>
          </a:solidFill>
          <a:ln>
            <a:noFill/>
          </a:ln>
        </p:spPr>
        <p:txBody>
          <a:bodyPr spcFirstLastPara="1" wrap="square" lIns="91425" tIns="45700" rIns="91425" bIns="45700" anchor="ctr" anchorCtr="0">
            <a:normAutofit/>
          </a:bodyPr>
          <a:lstStyle/>
          <a:p>
            <a:pPr marL="88900" indent="0" algn="ctr">
              <a:buNone/>
            </a:pPr>
            <a:r>
              <a:rPr lang="en-IN" sz="2000" b="0" i="0" u="none" strike="noStrike" dirty="0">
                <a:solidFill>
                  <a:srgbClr val="455A64"/>
                </a:solidFill>
                <a:effectLst/>
                <a:latin typeface="Poppins" pitchFamily="2" charset="77"/>
              </a:rPr>
              <a:t>Roots of Cloud Computing</a:t>
            </a:r>
          </a:p>
          <a:p>
            <a:pPr marL="88900" indent="0">
              <a:buNone/>
            </a:pPr>
            <a:endParaRPr sz="2200" b="1" i="0" u="none" dirty="0">
              <a:solidFill>
                <a:srgbClr val="C00000"/>
              </a:solidFill>
              <a:latin typeface="Cambria"/>
              <a:ea typeface="Cambria"/>
              <a:cs typeface="Cambria"/>
              <a:sym typeface="Cambria"/>
            </a:endParaRPr>
          </a:p>
        </p:txBody>
      </p:sp>
      <p:sp>
        <p:nvSpPr>
          <p:cNvPr id="2" name="Rectangle 2">
            <a:extLst>
              <a:ext uri="{FF2B5EF4-FFF2-40B4-BE49-F238E27FC236}">
                <a16:creationId xmlns:a16="http://schemas.microsoft.com/office/drawing/2014/main" id="{FCD01094-B548-6A49-976C-08855F3C45EE}"/>
              </a:ext>
            </a:extLst>
          </p:cNvPr>
          <p:cNvSpPr>
            <a:spLocks noChangeArrowheads="1"/>
          </p:cNvSpPr>
          <p:nvPr/>
        </p:nvSpPr>
        <p:spPr bwMode="auto">
          <a:xfrm>
            <a:off x="272943" y="4114800"/>
            <a:ext cx="1027694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14"/>
          <p:cNvSpPr txBox="1">
            <a:spLocks noGrp="1"/>
          </p:cNvSpPr>
          <p:nvPr>
            <p:ph type="title"/>
          </p:nvPr>
        </p:nvSpPr>
        <p:spPr>
          <a:xfrm>
            <a:off x="1066800" y="781445"/>
            <a:ext cx="7086600" cy="443711"/>
          </a:xfrm>
          <a:prstGeom prst="rect">
            <a:avLst/>
          </a:prstGeom>
          <a:noFill/>
          <a:ln>
            <a:noFill/>
          </a:ln>
        </p:spPr>
        <p:txBody>
          <a:bodyPr spcFirstLastPara="1" wrap="square" lIns="0" tIns="12700" rIns="0" bIns="0" anchor="ctr" anchorCtr="0">
            <a:spAutoFit/>
          </a:bodyPr>
          <a:lstStyle/>
          <a:p>
            <a:pPr marL="76200" indent="0" algn="l">
              <a:buNone/>
            </a:pPr>
            <a:r>
              <a:rPr lang="en-IN" sz="2800" b="1" i="0" u="none" strike="noStrike" dirty="0">
                <a:solidFill>
                  <a:srgbClr val="1D2125"/>
                </a:solidFill>
                <a:effectLst/>
                <a:latin typeface="Poppins" pitchFamily="2" charset="77"/>
              </a:rPr>
              <a:t>Desktop Virtualization</a:t>
            </a:r>
            <a:endParaRPr lang="en-IN" sz="2800" b="0" i="0" u="none" strike="noStrike" dirty="0">
              <a:solidFill>
                <a:srgbClr val="1D2125"/>
              </a:solidFill>
              <a:effectLst/>
              <a:latin typeface="Poppins" pitchFamily="2" charset="77"/>
            </a:endParaRPr>
          </a:p>
        </p:txBody>
      </p:sp>
      <p:sp>
        <p:nvSpPr>
          <p:cNvPr id="409" name="Google Shape;409;p14"/>
          <p:cNvSpPr txBox="1"/>
          <p:nvPr/>
        </p:nvSpPr>
        <p:spPr>
          <a:xfrm>
            <a:off x="8534400" y="6432550"/>
            <a:ext cx="242887" cy="212725"/>
          </a:xfrm>
          <a:prstGeom prst="rect">
            <a:avLst/>
          </a:prstGeom>
          <a:noFill/>
          <a:ln>
            <a:noFill/>
          </a:ln>
        </p:spPr>
        <p:txBody>
          <a:bodyPr spcFirstLastPara="1" wrap="square" lIns="0" tIns="13325" rIns="0" bIns="0" anchor="t" anchorCtr="0">
            <a:spAutoFit/>
          </a:bodyPr>
          <a:lstStyle/>
          <a:p>
            <a:pPr marL="38100" marR="0" lvl="0" indent="0" algn="l" rtl="0">
              <a:lnSpc>
                <a:spcPct val="100000"/>
              </a:lnSpc>
              <a:spcBef>
                <a:spcPts val="0"/>
              </a:spcBef>
              <a:spcAft>
                <a:spcPts val="0"/>
              </a:spcAft>
              <a:buClr>
                <a:srgbClr val="FFFFFF"/>
              </a:buClr>
              <a:buSzPts val="1200"/>
              <a:buFont typeface="Arial"/>
              <a:buNone/>
            </a:pPr>
            <a:r>
              <a:rPr lang="en-US" sz="1200" b="0" i="0" u="none">
                <a:solidFill>
                  <a:srgbClr val="FFFFFF"/>
                </a:solidFill>
                <a:latin typeface="Arial"/>
                <a:ea typeface="Arial"/>
                <a:cs typeface="Arial"/>
                <a:sym typeface="Arial"/>
              </a:rPr>
              <a:t>11</a:t>
            </a:r>
            <a:endParaRPr/>
          </a:p>
        </p:txBody>
      </p:sp>
      <p:sp>
        <p:nvSpPr>
          <p:cNvPr id="410" name="Google Shape;410;p14"/>
          <p:cNvSpPr txBox="1">
            <a:spLocks noGrp="1"/>
          </p:cNvSpPr>
          <p:nvPr>
            <p:ph type="body" idx="1"/>
          </p:nvPr>
        </p:nvSpPr>
        <p:spPr>
          <a:xfrm>
            <a:off x="304800" y="1752600"/>
            <a:ext cx="8610600" cy="4495800"/>
          </a:xfrm>
          <a:prstGeom prst="rect">
            <a:avLst/>
          </a:prstGeom>
          <a:noFill/>
          <a:ln>
            <a:noFill/>
          </a:ln>
        </p:spPr>
        <p:txBody>
          <a:bodyPr spcFirstLastPara="1" wrap="square" lIns="91425" tIns="45700" rIns="91425" bIns="45700" anchor="t" anchorCtr="0">
            <a:normAutofit/>
          </a:bodyPr>
          <a:lstStyle/>
          <a:p>
            <a:pPr algn="l"/>
            <a:r>
              <a:rPr lang="en-IN" sz="1600" b="0" i="0" u="none" strike="noStrike" dirty="0">
                <a:solidFill>
                  <a:srgbClr val="1D2125"/>
                </a:solidFill>
                <a:effectLst/>
                <a:latin typeface="Poppins" pitchFamily="2" charset="77"/>
              </a:rPr>
              <a:t>Desktop Virtualization is the concept of users accessing their desktops virtually from any location. For the end-user environment, this desktop virtualization is created. The types of desktop virtualization are as follows,</a:t>
            </a:r>
          </a:p>
          <a:p>
            <a:pPr algn="l"/>
            <a:r>
              <a:rPr lang="en-IN" sz="1600" b="0" i="0" u="none" strike="noStrike" dirty="0">
                <a:solidFill>
                  <a:srgbClr val="1D2125"/>
                </a:solidFill>
                <a:effectLst/>
                <a:latin typeface="Poppins" pitchFamily="2" charset="77"/>
              </a:rPr>
              <a:t>Virtual desktop Infrastructure-The actions are done in the central server which provides the virtual desktop service to the end-user.</a:t>
            </a:r>
          </a:p>
          <a:p>
            <a:pPr algn="l"/>
            <a:r>
              <a:rPr lang="en-IN" sz="1600" b="0" i="0" u="none" strike="noStrike" dirty="0">
                <a:solidFill>
                  <a:srgbClr val="1D2125"/>
                </a:solidFill>
                <a:effectLst/>
                <a:latin typeface="Poppins" pitchFamily="2" charset="77"/>
              </a:rPr>
              <a:t>Remote desktop Services-Users are allowed to work based on windows applications remotely</a:t>
            </a:r>
          </a:p>
          <a:p>
            <a:pPr algn="l"/>
            <a:r>
              <a:rPr lang="en-IN" sz="1600" b="0" i="0" u="none" strike="noStrike" dirty="0">
                <a:solidFill>
                  <a:srgbClr val="1D2125"/>
                </a:solidFill>
                <a:effectLst/>
                <a:latin typeface="Poppins" pitchFamily="2" charset="77"/>
              </a:rPr>
              <a:t>Desktop as a Service-In Desktop as a Service, a third party hosts the virtual application</a:t>
            </a:r>
          </a:p>
          <a:p>
            <a:pPr marL="342900" marR="0" lvl="0" indent="-203200" algn="l" rtl="0">
              <a:spcBef>
                <a:spcPts val="440"/>
              </a:spcBef>
              <a:spcAft>
                <a:spcPts val="0"/>
              </a:spcAft>
              <a:buClr>
                <a:schemeClr val="dk1"/>
              </a:buClr>
              <a:buSzPts val="2200"/>
              <a:buFont typeface="Arial"/>
              <a:buNone/>
            </a:pPr>
            <a:endParaRPr sz="2200" b="0" i="0" u="none" dirty="0">
              <a:solidFill>
                <a:schemeClr val="dk1"/>
              </a:solidFill>
              <a:latin typeface="Cambria"/>
              <a:ea typeface="Cambria"/>
              <a:cs typeface="Cambria"/>
              <a:sym typeface="Cambri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6" name="Google Shape;416;p15"/>
          <p:cNvSpPr txBox="1">
            <a:spLocks noGrp="1"/>
          </p:cNvSpPr>
          <p:nvPr>
            <p:ph type="body" idx="1"/>
          </p:nvPr>
        </p:nvSpPr>
        <p:spPr>
          <a:xfrm>
            <a:off x="381000" y="1422400"/>
            <a:ext cx="8534400" cy="4826000"/>
          </a:xfrm>
          <a:prstGeom prst="rect">
            <a:avLst/>
          </a:prstGeom>
          <a:noFill/>
          <a:ln>
            <a:noFill/>
          </a:ln>
        </p:spPr>
        <p:txBody>
          <a:bodyPr spcFirstLastPara="1" wrap="square" lIns="91425" tIns="45700" rIns="91425" bIns="45700" anchor="t" anchorCtr="0">
            <a:normAutofit/>
          </a:bodyPr>
          <a:lstStyle/>
          <a:p>
            <a:pPr marL="76200" indent="0" algn="l">
              <a:buNone/>
            </a:pPr>
            <a:r>
              <a:rPr lang="en-IN" sz="1600" b="1" i="0" u="none" strike="noStrike" dirty="0">
                <a:solidFill>
                  <a:srgbClr val="1D2125"/>
                </a:solidFill>
                <a:effectLst/>
                <a:latin typeface="Poppins" pitchFamily="2" charset="77"/>
              </a:rPr>
              <a:t>Application Virtualization</a:t>
            </a:r>
            <a:endParaRPr lang="en-IN" sz="1600" b="0" i="0" u="none" strike="noStrike" dirty="0">
              <a:solidFill>
                <a:srgbClr val="1D2125"/>
              </a:solidFill>
              <a:effectLst/>
              <a:latin typeface="Poppins" pitchFamily="2" charset="77"/>
            </a:endParaRPr>
          </a:p>
          <a:p>
            <a:pPr algn="l"/>
            <a:r>
              <a:rPr lang="en-IN" sz="1600" b="0" i="0" u="none" strike="noStrike" dirty="0">
                <a:solidFill>
                  <a:srgbClr val="1D2125"/>
                </a:solidFill>
                <a:effectLst/>
                <a:latin typeface="Poppins" pitchFamily="2" charset="77"/>
              </a:rPr>
              <a:t>In application virtualization, the users are all allowed to use the application in the system rather than one which is installed. The OS and system software are installed on many computers.</a:t>
            </a:r>
          </a:p>
          <a:p>
            <a:pPr marL="76200" indent="0" algn="l">
              <a:buNone/>
            </a:pPr>
            <a:r>
              <a:rPr lang="en-IN" sz="1600" b="1" i="0" u="none" strike="noStrike" dirty="0">
                <a:solidFill>
                  <a:srgbClr val="1D2125"/>
                </a:solidFill>
                <a:effectLst/>
                <a:latin typeface="Poppins" pitchFamily="2" charset="77"/>
              </a:rPr>
              <a:t>Network Virtualization</a:t>
            </a:r>
            <a:endParaRPr lang="en-IN" sz="1600" b="0" i="0" u="none" strike="noStrike" dirty="0">
              <a:solidFill>
                <a:srgbClr val="1D2125"/>
              </a:solidFill>
              <a:effectLst/>
              <a:latin typeface="Poppins" pitchFamily="2" charset="77"/>
            </a:endParaRPr>
          </a:p>
          <a:p>
            <a:pPr algn="l"/>
            <a:r>
              <a:rPr lang="en-IN" sz="1600" b="0" i="0" u="none" strike="noStrike" dirty="0">
                <a:solidFill>
                  <a:srgbClr val="1D2125"/>
                </a:solidFill>
                <a:effectLst/>
                <a:latin typeface="Poppins" pitchFamily="2" charset="77"/>
              </a:rPr>
              <a:t>The combination of both hardware and software operations is called Network Virtualization. It establishes a connection between the application and the software system.</a:t>
            </a:r>
          </a:p>
          <a:p>
            <a:pPr marL="76200" indent="0" algn="l">
              <a:buNone/>
            </a:pPr>
            <a:r>
              <a:rPr lang="en-IN" sz="1600" b="1" i="0" u="none" strike="noStrike" dirty="0">
                <a:solidFill>
                  <a:srgbClr val="1D2125"/>
                </a:solidFill>
                <a:effectLst/>
                <a:latin typeface="Poppins" pitchFamily="2" charset="77"/>
              </a:rPr>
              <a:t>Storage Virtualization</a:t>
            </a:r>
            <a:endParaRPr lang="en-IN" sz="1600" b="0" i="0" u="none" strike="noStrike" dirty="0">
              <a:solidFill>
                <a:srgbClr val="1D2125"/>
              </a:solidFill>
              <a:effectLst/>
              <a:latin typeface="Poppins" pitchFamily="2" charset="77"/>
            </a:endParaRPr>
          </a:p>
          <a:p>
            <a:pPr algn="l"/>
            <a:r>
              <a:rPr lang="en-IN" sz="1600" b="0" i="0" u="none" strike="noStrike" dirty="0">
                <a:solidFill>
                  <a:srgbClr val="1D2125"/>
                </a:solidFill>
                <a:effectLst/>
                <a:latin typeface="Poppins" pitchFamily="2" charset="77"/>
              </a:rPr>
              <a:t>The storage virtualization array consists of multiple arrays which are appeared to be single virtualization. It can be either called a disk array or a storage array.</a:t>
            </a:r>
          </a:p>
          <a:p>
            <a:pPr marL="76200" indent="0" algn="l">
              <a:buNone/>
            </a:pPr>
            <a:r>
              <a:rPr lang="en-IN" sz="1600" b="1" i="0" u="none" strike="noStrike" dirty="0">
                <a:solidFill>
                  <a:srgbClr val="1D2125"/>
                </a:solidFill>
                <a:effectLst/>
                <a:latin typeface="Poppins" pitchFamily="2" charset="77"/>
              </a:rPr>
              <a:t>Server Virtualization</a:t>
            </a:r>
            <a:endParaRPr lang="en-IN" sz="1600" b="0" i="0" u="none" strike="noStrike" dirty="0">
              <a:solidFill>
                <a:srgbClr val="1D2125"/>
              </a:solidFill>
              <a:effectLst/>
              <a:latin typeface="Poppins" pitchFamily="2" charset="77"/>
            </a:endParaRPr>
          </a:p>
          <a:p>
            <a:pPr algn="l"/>
            <a:r>
              <a:rPr lang="en-IN" sz="1600" b="0" i="0" u="none" strike="noStrike" dirty="0">
                <a:solidFill>
                  <a:srgbClr val="1D2125"/>
                </a:solidFill>
                <a:effectLst/>
                <a:latin typeface="Poppins" pitchFamily="2" charset="77"/>
              </a:rPr>
              <a:t>Partitioning the single server into multiple servers which can run on their independent operating system.</a:t>
            </a:r>
          </a:p>
          <a:p>
            <a:pPr marL="342900" marR="0" lvl="0" indent="-215900" algn="l" rtl="0">
              <a:spcBef>
                <a:spcPts val="400"/>
              </a:spcBef>
              <a:spcAft>
                <a:spcPts val="0"/>
              </a:spcAft>
              <a:buClr>
                <a:schemeClr val="dk1"/>
              </a:buClr>
              <a:buSzPts val="2000"/>
              <a:buFont typeface="Arial"/>
              <a:buNone/>
            </a:pPr>
            <a:endParaRPr sz="2000" b="0" i="0" u="none" dirty="0">
              <a:solidFill>
                <a:schemeClr val="dk1"/>
              </a:solidFill>
              <a:latin typeface="Cambria"/>
              <a:ea typeface="Cambria"/>
              <a:cs typeface="Cambria"/>
              <a:sym typeface="Cambri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385F-9F4F-259F-17F4-671F55B72F3B}"/>
              </a:ext>
            </a:extLst>
          </p:cNvPr>
          <p:cNvSpPr>
            <a:spLocks noGrp="1"/>
          </p:cNvSpPr>
          <p:nvPr>
            <p:ph type="title"/>
          </p:nvPr>
        </p:nvSpPr>
        <p:spPr>
          <a:xfrm>
            <a:off x="990600" y="609600"/>
            <a:ext cx="7924800" cy="1066800"/>
          </a:xfrm>
        </p:spPr>
        <p:txBody>
          <a:bodyPr/>
          <a:lstStyle/>
          <a:p>
            <a:r>
              <a:rPr lang="en-IN" b="1" i="0" u="none" strike="noStrike" dirty="0">
                <a:solidFill>
                  <a:srgbClr val="1D2125"/>
                </a:solidFill>
                <a:effectLst/>
                <a:latin typeface="Poppins" pitchFamily="2" charset="77"/>
              </a:rPr>
              <a:t>Service-Oriented Architecture (SOA)</a:t>
            </a: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C3ADF82C-19CB-DFE6-4308-332619799BB2}"/>
              </a:ext>
            </a:extLst>
          </p:cNvPr>
          <p:cNvSpPr>
            <a:spLocks noGrp="1"/>
          </p:cNvSpPr>
          <p:nvPr>
            <p:ph type="body" idx="1"/>
          </p:nvPr>
        </p:nvSpPr>
        <p:spPr>
          <a:xfrm>
            <a:off x="101600" y="1752600"/>
            <a:ext cx="8813800" cy="4495800"/>
          </a:xfrm>
        </p:spPr>
        <p:txBody>
          <a:bodyPr>
            <a:norm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As the business grows, there is a large number of implementation of software and hardware requirements, which is difficult to manage. Hence SOA helps to maintain and implement the architecture.</a:t>
            </a:r>
          </a:p>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Grid Computing</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To manage and handle a large set of data, the networked computers are connected to perform the operations. The group of computers joins as a cluster to simplify the task.</a:t>
            </a:r>
          </a:p>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Utility Computing</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As the name itself denotes, the providers provide the computing service based on the user’s demand. It is based on the process of pay peruse.</a:t>
            </a:r>
          </a:p>
          <a:p>
            <a:endParaRPr lang="en-US" dirty="0"/>
          </a:p>
        </p:txBody>
      </p:sp>
    </p:spTree>
    <p:extLst>
      <p:ext uri="{BB962C8B-B14F-4D97-AF65-F5344CB8AC3E}">
        <p14:creationId xmlns:p14="http://schemas.microsoft.com/office/powerpoint/2010/main" val="3014337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729FA-C43A-382B-C99F-94AD5C5AD4E8}"/>
              </a:ext>
            </a:extLst>
          </p:cNvPr>
          <p:cNvSpPr>
            <a:spLocks noGrp="1"/>
          </p:cNvSpPr>
          <p:nvPr>
            <p:ph type="title"/>
          </p:nvPr>
        </p:nvSpPr>
        <p:spPr/>
        <p:txBody>
          <a:bodyPr/>
          <a:lstStyle/>
          <a:p>
            <a:r>
              <a:rPr lang="en-IN" b="1" i="0" u="none" strike="noStrike" dirty="0">
                <a:solidFill>
                  <a:srgbClr val="1D2125"/>
                </a:solidFill>
                <a:effectLst/>
                <a:latin typeface="Poppins" pitchFamily="2" charset="77"/>
              </a:rPr>
              <a:t>Platform As A Service (PAAS)</a:t>
            </a: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1ABDBC8D-EFE2-4691-DBE6-66AD1FE5D989}"/>
              </a:ext>
            </a:extLst>
          </p:cNvPr>
          <p:cNvSpPr>
            <a:spLocks noGrp="1"/>
          </p:cNvSpPr>
          <p:nvPr>
            <p:ph type="body" idx="1"/>
          </p:nvPr>
        </p:nvSpPr>
        <p:spPr>
          <a:xfrm>
            <a:off x="169333" y="1752600"/>
            <a:ext cx="8746067" cy="4495800"/>
          </a:xfrm>
        </p:spPr>
        <p:txBody>
          <a:bodyPr>
            <a:norm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As the name itself indicates “platform” means it gives a complete technical platform to the customer such as hardware, software, and infrastructure for developing and deploying the application. The advantage of PAAS is, that it supplies networking, storage, server, operating system (OS), etc.., a complete cloud platform to the user for developing and running their application without worrying about building and maintaining the cloud infrastructure required to develop and launch the app.</a:t>
            </a:r>
          </a:p>
          <a:p>
            <a:endParaRPr lang="en-US" dirty="0"/>
          </a:p>
        </p:txBody>
      </p:sp>
    </p:spTree>
    <p:extLst>
      <p:ext uri="{BB962C8B-B14F-4D97-AF65-F5344CB8AC3E}">
        <p14:creationId xmlns:p14="http://schemas.microsoft.com/office/powerpoint/2010/main" val="1673020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54002-388F-9907-CF49-13F1830AB9C3}"/>
              </a:ext>
            </a:extLst>
          </p:cNvPr>
          <p:cNvSpPr>
            <a:spLocks noGrp="1"/>
          </p:cNvSpPr>
          <p:nvPr>
            <p:ph type="title"/>
          </p:nvPr>
        </p:nvSpPr>
        <p:spPr/>
        <p:txBody>
          <a:bodyPr/>
          <a:lstStyle/>
          <a:p>
            <a:r>
              <a:rPr lang="en-IN" b="1" i="0" u="none" strike="noStrike" dirty="0">
                <a:solidFill>
                  <a:srgbClr val="1D2125"/>
                </a:solidFill>
                <a:effectLst/>
                <a:latin typeface="Poppins" pitchFamily="2" charset="77"/>
              </a:rPr>
              <a:t>Infrastructure as a service (IAAS)</a:t>
            </a: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47CFA959-52CC-9F33-F8BA-58CF5730BA1C}"/>
              </a:ext>
            </a:extLst>
          </p:cNvPr>
          <p:cNvSpPr>
            <a:spLocks noGrp="1"/>
          </p:cNvSpPr>
          <p:nvPr>
            <p:ph type="body" idx="1"/>
          </p:nvPr>
        </p:nvSpPr>
        <p:spPr>
          <a:xfrm>
            <a:off x="112889" y="1752600"/>
            <a:ext cx="8802511" cy="4495800"/>
          </a:xfrm>
        </p:spPr>
        <p:txBody>
          <a:bodyPr>
            <a:normAutofit/>
          </a:bodyPr>
          <a:lstStyle/>
          <a:p>
            <a:pPr algn="just"/>
            <a:r>
              <a:rPr lang="en-IN" b="1" i="0" u="none" strike="noStrike" dirty="0">
                <a:solidFill>
                  <a:srgbClr val="1D2125"/>
                </a:solidFill>
                <a:effectLst/>
                <a:latin typeface="Poppins" pitchFamily="2" charset="77"/>
              </a:rPr>
              <a:t> </a:t>
            </a:r>
            <a:r>
              <a:rPr lang="en-IN" sz="2200" b="0" i="0" u="none" strike="noStrike" dirty="0">
                <a:solidFill>
                  <a:srgbClr val="1D2125"/>
                </a:solidFill>
                <a:effectLst/>
                <a:latin typeface="Times New Roman" panose="02020603050405020304" pitchFamily="18" charset="0"/>
                <a:cs typeface="Times New Roman" panose="02020603050405020304" pitchFamily="18" charset="0"/>
              </a:rPr>
              <a:t>It is purely an infrastructure-based cloud computing service that provides complete infrastructure like supporting web applications, and services based on user facility. As it is based o storage and infrastructure the customer has to use this on by pay-as-you-go basis based on their demand. It reduces the cost of buying and managing physical servers and data infrastructures. </a:t>
            </a:r>
          </a:p>
          <a:p>
            <a:pPr algn="just"/>
            <a:r>
              <a:rPr lang="en-IN" sz="2200" b="0" i="0" u="none" strike="noStrike" dirty="0">
                <a:solidFill>
                  <a:srgbClr val="1D2125"/>
                </a:solidFill>
                <a:effectLst/>
                <a:latin typeface="Times New Roman" panose="02020603050405020304" pitchFamily="18" charset="0"/>
                <a:cs typeface="Times New Roman" panose="02020603050405020304" pitchFamily="18" charset="0"/>
              </a:rPr>
              <a:t>increases the scale and performance of IT workloads and reduces the expenditure on buying external hardware tools. Examples of IAAS are Amazon Web Services, Google compute engine (GCE), Green Cloud Technologies, and Microsoft Azure.</a:t>
            </a:r>
          </a:p>
          <a:p>
            <a:br>
              <a:rPr lang="en-IN" dirty="0"/>
            </a:br>
            <a:endParaRPr lang="en-US" dirty="0"/>
          </a:p>
        </p:txBody>
      </p:sp>
    </p:spTree>
    <p:extLst>
      <p:ext uri="{BB962C8B-B14F-4D97-AF65-F5344CB8AC3E}">
        <p14:creationId xmlns:p14="http://schemas.microsoft.com/office/powerpoint/2010/main" val="11181410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8CAF1-D486-4B77-DB28-05A94ECD8918}"/>
              </a:ext>
            </a:extLst>
          </p:cNvPr>
          <p:cNvSpPr>
            <a:spLocks noGrp="1"/>
          </p:cNvSpPr>
          <p:nvPr>
            <p:ph type="title"/>
          </p:nvPr>
        </p:nvSpPr>
        <p:spPr/>
        <p:txBody>
          <a:bodyPr/>
          <a:lstStyle/>
          <a:p>
            <a:r>
              <a:rPr lang="en-IN" b="1" i="0" u="none" strike="noStrike" dirty="0">
                <a:solidFill>
                  <a:srgbClr val="1D2125"/>
                </a:solidFill>
                <a:effectLst/>
                <a:latin typeface="Poppins" pitchFamily="2" charset="77"/>
              </a:rPr>
              <a:t>Software as a Service (SAAS)</a:t>
            </a: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693852EC-4D85-E45F-E1BD-928A9F6BE25D}"/>
              </a:ext>
            </a:extLst>
          </p:cNvPr>
          <p:cNvSpPr>
            <a:spLocks noGrp="1"/>
          </p:cNvSpPr>
          <p:nvPr>
            <p:ph type="body" idx="1"/>
          </p:nvPr>
        </p:nvSpPr>
        <p:spPr>
          <a:xfrm>
            <a:off x="112889" y="1752600"/>
            <a:ext cx="8802511" cy="4495800"/>
          </a:xfrm>
        </p:spPr>
        <p:txBody>
          <a:bodyPr/>
          <a:lstStyle/>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SAAS enables the end-user to use cloud-based applications utilizing the web. It is defined as “On-Demand Software “hosted by the cloud service provider. The users are allowed to subscribe to those cloud-based applications than purchasing. The users were given login credentials to use those applications which are running on cloud servers. One of the simple and easiest examples is Gmail.</a:t>
            </a:r>
          </a:p>
          <a:p>
            <a:endParaRPr lang="en-US" dirty="0"/>
          </a:p>
        </p:txBody>
      </p:sp>
    </p:spTree>
    <p:extLst>
      <p:ext uri="{BB962C8B-B14F-4D97-AF65-F5344CB8AC3E}">
        <p14:creationId xmlns:p14="http://schemas.microsoft.com/office/powerpoint/2010/main" val="3473927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CBE9D-2175-5EF1-7A93-094E0D4E2029}"/>
              </a:ext>
            </a:extLst>
          </p:cNvPr>
          <p:cNvSpPr>
            <a:spLocks noGrp="1"/>
          </p:cNvSpPr>
          <p:nvPr>
            <p:ph type="title"/>
          </p:nvPr>
        </p:nvSpPr>
        <p:spPr>
          <a:xfrm>
            <a:off x="990600" y="519289"/>
            <a:ext cx="7924800" cy="1157111"/>
          </a:xfrm>
        </p:spPr>
        <p:txBody>
          <a:bodyPr/>
          <a:lstStyle/>
          <a:p>
            <a:r>
              <a:rPr lang="en-IN" b="0" i="0" u="none" strike="noStrike" dirty="0">
                <a:solidFill>
                  <a:srgbClr val="455A64"/>
                </a:solidFill>
                <a:effectLst/>
                <a:latin typeface="Poppins" pitchFamily="2" charset="77"/>
              </a:rPr>
              <a:t>System Management</a:t>
            </a:r>
            <a:br>
              <a:rPr lang="en-IN" b="0" i="0" u="none" strike="noStrike" dirty="0">
                <a:solidFill>
                  <a:srgbClr val="455A64"/>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38B1E8E6-31DB-B7EE-41F4-746C4E2FF75F}"/>
              </a:ext>
            </a:extLst>
          </p:cNvPr>
          <p:cNvSpPr>
            <a:spLocks noGrp="1"/>
          </p:cNvSpPr>
          <p:nvPr>
            <p:ph type="body" idx="1"/>
          </p:nvPr>
        </p:nvSpPr>
        <p:spPr>
          <a:xfrm>
            <a:off x="169333" y="1320800"/>
            <a:ext cx="8746067" cy="5102578"/>
          </a:xfrm>
        </p:spPr>
        <p:txBody>
          <a:bodyPr>
            <a:normAutofit fontScale="47500" lnSpcReduction="20000"/>
          </a:bodyPr>
          <a:lstStyle/>
          <a:p>
            <a:pPr marL="76200" indent="0" algn="just">
              <a:buNone/>
            </a:pPr>
            <a:r>
              <a:rPr lang="en-IN" sz="3200" b="0" i="0" u="none" strike="noStrike" dirty="0">
                <a:solidFill>
                  <a:srgbClr val="1D2125"/>
                </a:solidFill>
                <a:effectLst/>
                <a:latin typeface="Times New Roman" panose="02020603050405020304" pitchFamily="18" charset="0"/>
                <a:cs typeface="Times New Roman" panose="02020603050405020304" pitchFamily="18" charset="0"/>
              </a:rPr>
              <a:t>Cloud management consists of public, private, and hybrid clouds. Cloud computing performs the overall control and work of the system.</a:t>
            </a:r>
          </a:p>
          <a:p>
            <a:pPr algn="just"/>
            <a:r>
              <a:rPr lang="en-IN" sz="3200" b="1" i="0" u="none" strike="noStrike" dirty="0">
                <a:solidFill>
                  <a:srgbClr val="1D2125"/>
                </a:solidFill>
                <a:effectLst/>
                <a:latin typeface="Times New Roman" panose="02020603050405020304" pitchFamily="18" charset="0"/>
                <a:cs typeface="Times New Roman" panose="02020603050405020304" pitchFamily="18" charset="0"/>
              </a:rPr>
              <a:t>Public cloud: </a:t>
            </a:r>
            <a:r>
              <a:rPr lang="en-IN" sz="3200" b="0" i="0" u="none" strike="noStrike" dirty="0">
                <a:solidFill>
                  <a:srgbClr val="1D2125"/>
                </a:solidFill>
                <a:effectLst/>
                <a:latin typeface="Times New Roman" panose="02020603050405020304" pitchFamily="18" charset="0"/>
                <a:cs typeface="Times New Roman" panose="02020603050405020304" pitchFamily="18" charset="0"/>
              </a:rPr>
              <a:t>The public cloud is common to everyone and is easily accessible by anyone. It is provided over the internet to general people or major industry groups. Simple examples are Gmail and Google drive.</a:t>
            </a:r>
          </a:p>
          <a:p>
            <a:pPr algn="just"/>
            <a:r>
              <a:rPr lang="en-IN" sz="3200" b="1" i="0" u="none" strike="noStrike" dirty="0">
                <a:solidFill>
                  <a:srgbClr val="1D2125"/>
                </a:solidFill>
                <a:effectLst/>
                <a:latin typeface="Times New Roman" panose="02020603050405020304" pitchFamily="18" charset="0"/>
                <a:cs typeface="Times New Roman" panose="02020603050405020304" pitchFamily="18" charset="0"/>
              </a:rPr>
              <a:t>Private cloud: </a:t>
            </a:r>
            <a:r>
              <a:rPr lang="en-IN" sz="3200" b="0" i="0" u="none" strike="noStrike" dirty="0">
                <a:solidFill>
                  <a:srgbClr val="1D2125"/>
                </a:solidFill>
                <a:effectLst/>
                <a:latin typeface="Times New Roman" panose="02020603050405020304" pitchFamily="18" charset="0"/>
                <a:cs typeface="Times New Roman" panose="02020603050405020304" pitchFamily="18" charset="0"/>
              </a:rPr>
              <a:t>The difference between public and private is, that the latter ensures the privacy and security of the data through firewalls and internet hosting. If large IT organizations and business groups are looking for secure cloud options, the best option is the Private cloud. Examples of private clouds are Amazon Web Services, IBM, VMware, and Microsoft azure.</a:t>
            </a:r>
          </a:p>
          <a:p>
            <a:pPr algn="just"/>
            <a:r>
              <a:rPr lang="en-IN" sz="3200" b="1" i="0" u="none" strike="noStrike" dirty="0">
                <a:solidFill>
                  <a:srgbClr val="1D2125"/>
                </a:solidFill>
                <a:effectLst/>
                <a:latin typeface="Times New Roman" panose="02020603050405020304" pitchFamily="18" charset="0"/>
                <a:cs typeface="Times New Roman" panose="02020603050405020304" pitchFamily="18" charset="0"/>
              </a:rPr>
              <a:t>Multi-cloud:</a:t>
            </a:r>
            <a:r>
              <a:rPr lang="en-IN" sz="3200" b="0" i="0" u="none" strike="noStrike" dirty="0">
                <a:solidFill>
                  <a:srgbClr val="1D2125"/>
                </a:solidFill>
                <a:effectLst/>
                <a:latin typeface="Times New Roman" panose="02020603050405020304" pitchFamily="18" charset="0"/>
                <a:cs typeface="Times New Roman" panose="02020603050405020304" pitchFamily="18" charset="0"/>
              </a:rPr>
              <a:t> The name itself indicates partial meaning that the organization uses one or more cloud services such as public and private cloud or both public and private cloud. Examples of multi-cloud are Amazon Web Services (AWS), Google Cloud Platform (GCP), and IBM.</a:t>
            </a:r>
          </a:p>
          <a:p>
            <a:pPr algn="just"/>
            <a:r>
              <a:rPr lang="en-IN" sz="3200" b="1" i="0" u="none" strike="noStrike" dirty="0">
                <a:solidFill>
                  <a:srgbClr val="1D2125"/>
                </a:solidFill>
                <a:effectLst/>
                <a:latin typeface="Times New Roman" panose="02020603050405020304" pitchFamily="18" charset="0"/>
                <a:cs typeface="Times New Roman" panose="02020603050405020304" pitchFamily="18" charset="0"/>
              </a:rPr>
              <a:t>Hybrid cloud:</a:t>
            </a:r>
            <a:r>
              <a:rPr lang="en-IN" sz="3200" b="0" i="0" u="none" strike="noStrike" dirty="0">
                <a:solidFill>
                  <a:srgbClr val="1D2125"/>
                </a:solidFill>
                <a:effectLst/>
                <a:latin typeface="Times New Roman" panose="02020603050405020304" pitchFamily="18" charset="0"/>
                <a:cs typeface="Times New Roman" panose="02020603050405020304" pitchFamily="18" charset="0"/>
              </a:rPr>
              <a:t> The difference between multi and hybrid cloud is that the latter combines two or more different types of the cloud while multi-clouds combines different clouds of the same type. Examples include Azure Stack, Azure arc, and Google </a:t>
            </a:r>
            <a:r>
              <a:rPr lang="en-IN" sz="3200" b="0" i="0" u="none" strike="noStrike" dirty="0" err="1">
                <a:solidFill>
                  <a:srgbClr val="1D2125"/>
                </a:solidFill>
                <a:effectLst/>
                <a:latin typeface="Times New Roman" panose="02020603050405020304" pitchFamily="18" charset="0"/>
                <a:cs typeface="Times New Roman" panose="02020603050405020304" pitchFamily="18" charset="0"/>
              </a:rPr>
              <a:t>antos</a:t>
            </a:r>
            <a:r>
              <a:rPr lang="en-IN" sz="3200" b="0" i="0" u="none" strike="noStrike" dirty="0">
                <a:solidFill>
                  <a:srgbClr val="1D2125"/>
                </a:solidFill>
                <a:effectLst/>
                <a:latin typeface="Times New Roman" panose="02020603050405020304" pitchFamily="18" charset="0"/>
                <a:cs typeface="Times New Roman" panose="02020603050405020304" pitchFamily="18" charset="0"/>
              </a:rPr>
              <a:t>.</a:t>
            </a:r>
          </a:p>
          <a:p>
            <a:pPr marL="76200" indent="0" algn="just">
              <a:buNone/>
            </a:pPr>
            <a:r>
              <a:rPr lang="en-IN" sz="3200" b="1" i="0" u="none" strike="noStrike" dirty="0">
                <a:solidFill>
                  <a:srgbClr val="455A64"/>
                </a:solidFill>
                <a:effectLst/>
                <a:latin typeface="Times New Roman" panose="02020603050405020304" pitchFamily="18" charset="0"/>
                <a:cs typeface="Times New Roman" panose="02020603050405020304" pitchFamily="18" charset="0"/>
              </a:rPr>
              <a:t>Distributed Computing</a:t>
            </a:r>
          </a:p>
          <a:p>
            <a:pPr algn="just"/>
            <a:r>
              <a:rPr lang="en-IN" sz="3200" b="0" i="0" u="none" strike="noStrike" dirty="0">
                <a:solidFill>
                  <a:srgbClr val="1D2125"/>
                </a:solidFill>
                <a:effectLst/>
                <a:latin typeface="Times New Roman" panose="02020603050405020304" pitchFamily="18" charset="0"/>
                <a:cs typeface="Times New Roman" panose="02020603050405020304" pitchFamily="18" charset="0"/>
              </a:rPr>
              <a:t>Distributed Computing is the connection of one or more several computers which are connected to form a network to share information. A wide number of computers are connected to a single network. Examples include the Internet and Gmail.</a:t>
            </a:r>
          </a:p>
          <a:p>
            <a:endParaRPr lang="en-US" dirty="0"/>
          </a:p>
        </p:txBody>
      </p:sp>
    </p:spTree>
    <p:extLst>
      <p:ext uri="{BB962C8B-B14F-4D97-AF65-F5344CB8AC3E}">
        <p14:creationId xmlns:p14="http://schemas.microsoft.com/office/powerpoint/2010/main" val="33767681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22"/>
          <p:cNvSpPr txBox="1">
            <a:spLocks noGrp="1"/>
          </p:cNvSpPr>
          <p:nvPr>
            <p:ph type="title"/>
          </p:nvPr>
        </p:nvSpPr>
        <p:spPr>
          <a:xfrm>
            <a:off x="977900" y="7620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2400"/>
              <a:buFont typeface="Cambria"/>
              <a:buNone/>
            </a:pPr>
            <a:r>
              <a:rPr lang="en-US" sz="2400" b="1" i="0" u="none" strike="noStrike" cap="none">
                <a:solidFill>
                  <a:srgbClr val="FF0000"/>
                </a:solidFill>
                <a:latin typeface="Cambria"/>
                <a:ea typeface="Cambria"/>
                <a:cs typeface="Cambria"/>
                <a:sym typeface="Cambria"/>
              </a:rPr>
              <a:t>References</a:t>
            </a:r>
            <a:endParaRPr sz="2400" b="1" i="0" u="none" strike="noStrike" cap="none">
              <a:solidFill>
                <a:srgbClr val="FF0000"/>
              </a:solidFill>
              <a:latin typeface="Cambria"/>
              <a:ea typeface="Cambria"/>
              <a:cs typeface="Cambria"/>
              <a:sym typeface="Cambria"/>
            </a:endParaRPr>
          </a:p>
        </p:txBody>
      </p:sp>
      <p:sp>
        <p:nvSpPr>
          <p:cNvPr id="458" name="Google Shape;458;p22"/>
          <p:cNvSpPr txBox="1">
            <a:spLocks noGrp="1"/>
          </p:cNvSpPr>
          <p:nvPr>
            <p:ph type="body" idx="1"/>
          </p:nvPr>
        </p:nvSpPr>
        <p:spPr>
          <a:xfrm>
            <a:off x="749600" y="1080100"/>
            <a:ext cx="8001000" cy="4495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400"/>
              <a:buNone/>
            </a:pPr>
            <a:r>
              <a:rPr lang="en-US" sz="2400" b="1" i="0" u="none">
                <a:solidFill>
                  <a:schemeClr val="dk1"/>
                </a:solidFill>
                <a:latin typeface="Cambria"/>
                <a:ea typeface="Cambria"/>
                <a:cs typeface="Cambria"/>
                <a:sym typeface="Cambria"/>
              </a:rPr>
              <a:t>Text books:</a:t>
            </a:r>
            <a:endParaRPr sz="2400" b="0" i="0" u="none">
              <a:solidFill>
                <a:schemeClr val="dk1"/>
              </a:solidFill>
              <a:latin typeface="Cambria"/>
              <a:ea typeface="Cambria"/>
              <a:cs typeface="Cambria"/>
              <a:sym typeface="Cambria"/>
            </a:endParaRPr>
          </a:p>
          <a:p>
            <a:pPr marL="0" lvl="0" indent="-1143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Times New Roman"/>
                <a:ea typeface="Times New Roman"/>
                <a:cs typeface="Times New Roman"/>
                <a:sym typeface="Times New Roman"/>
              </a:rPr>
              <a:t>Buyya, Rajkumar, James Broberg, and Andrzej M. Goscinski, eds. Cloud computing: Principles and paradigms. Vol. 87. John Wiley &amp; Sons, 2010. </a:t>
            </a:r>
            <a:endParaRPr/>
          </a:p>
          <a:p>
            <a:pPr marL="0" lvl="0" indent="-1143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Times New Roman"/>
                <a:ea typeface="Times New Roman"/>
                <a:cs typeface="Times New Roman"/>
                <a:sym typeface="Times New Roman"/>
              </a:rPr>
              <a:t>Miller, Michael. Cloud computing: Web-based applications that change the way you work and collaborate online. Que publishing, 2008 </a:t>
            </a:r>
            <a:endParaRPr/>
          </a:p>
          <a:p>
            <a:pPr marL="0" lvl="0" indent="0" algn="l" rtl="0">
              <a:lnSpc>
                <a:spcPct val="100000"/>
              </a:lnSpc>
              <a:spcBef>
                <a:spcPts val="480"/>
              </a:spcBef>
              <a:spcAft>
                <a:spcPts val="0"/>
              </a:spcAft>
              <a:buClr>
                <a:schemeClr val="dk1"/>
              </a:buClr>
              <a:buSzPts val="2400"/>
              <a:buNone/>
            </a:pPr>
            <a:endParaRPr sz="2400" b="1" i="0" u="none">
              <a:solidFill>
                <a:schemeClr val="dk1"/>
              </a:solidFill>
              <a:latin typeface="Cambria"/>
              <a:ea typeface="Cambria"/>
              <a:cs typeface="Cambria"/>
              <a:sym typeface="Cambria"/>
            </a:endParaRPr>
          </a:p>
          <a:p>
            <a:pPr marL="0" lvl="0" indent="0" algn="l" rtl="0">
              <a:lnSpc>
                <a:spcPct val="100000"/>
              </a:lnSpc>
              <a:spcBef>
                <a:spcPts val="480"/>
              </a:spcBef>
              <a:spcAft>
                <a:spcPts val="0"/>
              </a:spcAft>
              <a:buClr>
                <a:schemeClr val="dk1"/>
              </a:buClr>
              <a:buSzPts val="2400"/>
              <a:buNone/>
            </a:pPr>
            <a:r>
              <a:rPr lang="en-US" sz="2400" b="1" i="0" u="none">
                <a:solidFill>
                  <a:schemeClr val="dk1"/>
                </a:solidFill>
                <a:latin typeface="Cambria"/>
                <a:ea typeface="Cambria"/>
                <a:cs typeface="Cambria"/>
                <a:sym typeface="Cambria"/>
              </a:rPr>
              <a:t>Websites:</a:t>
            </a:r>
            <a:endParaRPr sz="2400" b="1" i="0" u="sng">
              <a:solidFill>
                <a:schemeClr val="dk1"/>
              </a:solidFill>
              <a:latin typeface="Cambria"/>
              <a:ea typeface="Cambria"/>
              <a:cs typeface="Cambria"/>
              <a:sym typeface="Cambria"/>
            </a:endParaRPr>
          </a:p>
          <a:p>
            <a:pPr marL="0" lvl="0" indent="-1143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Cambria"/>
                <a:ea typeface="Cambria"/>
                <a:cs typeface="Cambria"/>
                <a:sym typeface="Cambria"/>
              </a:rPr>
              <a:t>   </a:t>
            </a:r>
            <a:r>
              <a:rPr lang="en-US" sz="1800" b="0" i="0" u="sng">
                <a:solidFill>
                  <a:schemeClr val="dk1"/>
                </a:solidFill>
                <a:hlinkClick r:id="rId3">
                  <a:extLst>
                    <a:ext uri="{A12FA001-AC4F-418D-AE19-62706E023703}">
                      <ahyp:hlinkClr xmlns:ahyp="http://schemas.microsoft.com/office/drawing/2018/hyperlinkcolor" val="tx"/>
                    </a:ext>
                  </a:extLst>
                </a:hlinkClick>
              </a:rPr>
              <a:t>https://www.javatpoint.com/cloud-computing-vs-grid-computing</a:t>
            </a:r>
            <a:endParaRPr/>
          </a:p>
          <a:p>
            <a:pPr marL="0" lvl="0" indent="-114300" algn="l" rtl="0">
              <a:lnSpc>
                <a:spcPct val="100000"/>
              </a:lnSpc>
              <a:spcBef>
                <a:spcPts val="360"/>
              </a:spcBef>
              <a:spcAft>
                <a:spcPts val="0"/>
              </a:spcAft>
              <a:buClr>
                <a:schemeClr val="dk1"/>
              </a:buClr>
              <a:buSzPts val="1800"/>
              <a:buFont typeface="Arial"/>
              <a:buChar char="•"/>
            </a:pPr>
            <a:r>
              <a:rPr lang="en-US" sz="1800" b="0" i="0" u="sng">
                <a:solidFill>
                  <a:schemeClr val="dk1"/>
                </a:solidFill>
                <a:hlinkClick r:id="rId3">
                  <a:extLst>
                    <a:ext uri="{A12FA001-AC4F-418D-AE19-62706E023703}">
                      <ahyp:hlinkClr xmlns:ahyp="http://schemas.microsoft.com/office/drawing/2018/hyperlinkcolor" val="tx"/>
                    </a:ext>
                  </a:extLst>
                </a:hlinkClick>
              </a:rPr>
              <a:t>https://www.javatpoint.com/cloud-computing-vs-grid-computing</a:t>
            </a:r>
            <a:endParaRPr sz="1800" b="0" i="0" u="none">
              <a:solidFill>
                <a:schemeClr val="dk1"/>
              </a:solidFill>
              <a:latin typeface="Cambria"/>
              <a:ea typeface="Cambria"/>
              <a:cs typeface="Cambria"/>
              <a:sym typeface="Cambria"/>
            </a:endParaRPr>
          </a:p>
          <a:p>
            <a:pPr marL="0" lvl="0" indent="-19050" algn="l" rtl="0">
              <a:lnSpc>
                <a:spcPct val="100000"/>
              </a:lnSpc>
              <a:spcBef>
                <a:spcPts val="400"/>
              </a:spcBef>
              <a:spcAft>
                <a:spcPts val="0"/>
              </a:spcAft>
              <a:buClr>
                <a:srgbClr val="000000"/>
              </a:buClr>
              <a:buSzPts val="300"/>
              <a:buFont typeface="Arial"/>
              <a:buChar char="•"/>
            </a:pPr>
            <a:r>
              <a:rPr lang="en-US" sz="1800" b="0" i="0" u="sng">
                <a:solidFill>
                  <a:schemeClr val="dk1"/>
                </a:solidFill>
                <a:hlinkClick r:id="rId4">
                  <a:extLst>
                    <a:ext uri="{A12FA001-AC4F-418D-AE19-62706E023703}">
                      <ahyp:hlinkClr xmlns:ahyp="http://schemas.microsoft.com/office/drawing/2018/hyperlinkcolor" val="tx"/>
                    </a:ext>
                  </a:extLst>
                </a:hlinkClick>
              </a:rPr>
              <a:t>https://www.eukhost.com/blog/webhosting/what-is-utility-computing/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23"/>
          <p:cNvSpPr txBox="1"/>
          <p:nvPr/>
        </p:nvSpPr>
        <p:spPr>
          <a:xfrm>
            <a:off x="0" y="0"/>
            <a:ext cx="9144000" cy="4686300"/>
          </a:xfrm>
          <a:prstGeom prst="rect">
            <a:avLst/>
          </a:prstGeom>
          <a:solidFill>
            <a:srgbClr val="984807">
              <a:alpha val="5960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r>
              <a:rPr lang="en-US" sz="1800" b="0" i="0" u="none">
                <a:solidFill>
                  <a:srgbClr val="FFFFFF"/>
                </a:solidFill>
                <a:latin typeface="Calibri"/>
                <a:ea typeface="Calibri"/>
                <a:cs typeface="Calibri"/>
                <a:sym typeface="Calibri"/>
              </a:rPr>
              <a:t> </a:t>
            </a:r>
            <a:endParaRPr/>
          </a:p>
        </p:txBody>
      </p:sp>
      <p:cxnSp>
        <p:nvCxnSpPr>
          <p:cNvPr id="464" name="Google Shape;464;p23"/>
          <p:cNvCxnSpPr/>
          <p:nvPr/>
        </p:nvCxnSpPr>
        <p:spPr>
          <a:xfrm>
            <a:off x="7010400" y="0"/>
            <a:ext cx="1371600" cy="182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5" name="Google Shape;465;p23"/>
          <p:cNvCxnSpPr/>
          <p:nvPr/>
        </p:nvCxnSpPr>
        <p:spPr>
          <a:xfrm>
            <a:off x="7627937" y="0"/>
            <a:ext cx="496887" cy="663575"/>
          </a:xfrm>
          <a:prstGeom prst="straightConnector1">
            <a:avLst/>
          </a:prstGeom>
          <a:noFill/>
          <a:ln w="9525" cap="flat" cmpd="sng">
            <a:solidFill>
              <a:schemeClr val="accent2"/>
            </a:solidFill>
            <a:prstDash val="solid"/>
            <a:miter lim="800000"/>
            <a:headEnd type="none" w="med" len="med"/>
            <a:tailEnd type="none" w="med" len="med"/>
          </a:ln>
        </p:spPr>
      </p:cxnSp>
      <p:cxnSp>
        <p:nvCxnSpPr>
          <p:cNvPr id="466" name="Google Shape;466;p23"/>
          <p:cNvCxnSpPr/>
          <p:nvPr/>
        </p:nvCxnSpPr>
        <p:spPr>
          <a:xfrm>
            <a:off x="550862" y="6294437"/>
            <a:ext cx="419100" cy="55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7" name="Google Shape;467;p23"/>
          <p:cNvCxnSpPr/>
          <p:nvPr/>
        </p:nvCxnSpPr>
        <p:spPr>
          <a:xfrm>
            <a:off x="293687" y="5129212"/>
            <a:ext cx="1295400" cy="1728787"/>
          </a:xfrm>
          <a:prstGeom prst="straightConnector1">
            <a:avLst/>
          </a:prstGeom>
          <a:noFill/>
          <a:ln w="9525" cap="flat" cmpd="sng">
            <a:solidFill>
              <a:schemeClr val="accent2"/>
            </a:solidFill>
            <a:prstDash val="solid"/>
            <a:miter lim="800000"/>
            <a:headEnd type="none" w="med" len="med"/>
            <a:tailEnd type="none" w="med" len="med"/>
          </a:ln>
        </p:spPr>
      </p:cxnSp>
      <p:sp>
        <p:nvSpPr>
          <p:cNvPr id="468" name="Google Shape;468;p23"/>
          <p:cNvSpPr txBox="1"/>
          <p:nvPr/>
        </p:nvSpPr>
        <p:spPr>
          <a:xfrm>
            <a:off x="1114425" y="2249487"/>
            <a:ext cx="8043862" cy="123031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a:solidFill>
                  <a:srgbClr val="FFFFFF"/>
                </a:solidFill>
                <a:latin typeface="Arial"/>
                <a:ea typeface="Arial"/>
                <a:cs typeface="Arial"/>
                <a:sym typeface="Arial"/>
              </a:rPr>
              <a:t>THANK YOU</a:t>
            </a:r>
            <a:endParaRPr/>
          </a:p>
        </p:txBody>
      </p:sp>
      <p:sp>
        <p:nvSpPr>
          <p:cNvPr id="469" name="Google Shape;469;p23"/>
          <p:cNvSpPr/>
          <p:nvPr/>
        </p:nvSpPr>
        <p:spPr>
          <a:xfrm>
            <a:off x="1981200"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chemeClr val="lt1"/>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70" name="Google Shape;470;p23"/>
          <p:cNvSpPr/>
          <p:nvPr/>
        </p:nvSpPr>
        <p:spPr>
          <a:xfrm>
            <a:off x="2174875"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rgbClr val="FFFFFF"/>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6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7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8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9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10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1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TotalTime>
  <Words>1910</Words>
  <Application>Microsoft Macintosh PowerPoint</Application>
  <PresentationFormat>On-screen Show (4:3)</PresentationFormat>
  <Paragraphs>120</Paragraphs>
  <Slides>19</Slides>
  <Notes>14</Notes>
  <HiddenSlides>0</HiddenSlides>
  <MMClips>0</MMClips>
  <ScaleCrop>false</ScaleCrop>
  <HeadingPairs>
    <vt:vector size="8" baseType="variant">
      <vt:variant>
        <vt:lpstr>Fonts Used</vt:lpstr>
      </vt:variant>
      <vt:variant>
        <vt:i4>7</vt:i4>
      </vt:variant>
      <vt:variant>
        <vt:lpstr>Theme</vt:lpstr>
      </vt:variant>
      <vt:variant>
        <vt:i4>15</vt:i4>
      </vt:variant>
      <vt:variant>
        <vt:lpstr>Embedded OLE Servers</vt:lpstr>
      </vt:variant>
      <vt:variant>
        <vt:i4>0</vt:i4>
      </vt:variant>
      <vt:variant>
        <vt:lpstr>Slide Titles</vt:lpstr>
      </vt:variant>
      <vt:variant>
        <vt:i4>19</vt:i4>
      </vt:variant>
    </vt:vector>
  </HeadingPairs>
  <TitlesOfParts>
    <vt:vector size="41" baseType="lpstr">
      <vt:lpstr>Times New Roman</vt:lpstr>
      <vt:lpstr>Noto Sans Symbols</vt:lpstr>
      <vt:lpstr>Calibri</vt:lpstr>
      <vt:lpstr>Poppins</vt:lpstr>
      <vt:lpstr>Arial Black</vt:lpstr>
      <vt:lpstr>Arial</vt:lpstr>
      <vt:lpstr>Cambria</vt:lpstr>
      <vt:lpstr>2_Office Theme</vt:lpstr>
      <vt:lpstr>3_Office Theme</vt:lpstr>
      <vt:lpstr>1_Office Theme</vt:lpstr>
      <vt:lpstr>11_Office Theme</vt:lpstr>
      <vt:lpstr>Office Theme</vt:lpstr>
      <vt:lpstr>1_Custom Design</vt:lpstr>
      <vt:lpstr>Custom Design</vt:lpstr>
      <vt:lpstr>4_Office Theme</vt:lpstr>
      <vt:lpstr>5_Office Theme</vt:lpstr>
      <vt:lpstr>6_Office Theme</vt:lpstr>
      <vt:lpstr>7_Office Theme</vt:lpstr>
      <vt:lpstr>8_Office Theme</vt:lpstr>
      <vt:lpstr>9_Office Theme</vt:lpstr>
      <vt:lpstr>10_Office Theme</vt:lpstr>
      <vt:lpstr>12_Office Theme</vt:lpstr>
      <vt:lpstr>PowerPoint Presentation</vt:lpstr>
      <vt:lpstr>Learning Objectives &amp; Outcomes</vt:lpstr>
      <vt:lpstr>Cloud Computing</vt:lpstr>
      <vt:lpstr>Traditional Cloud Computing</vt:lpstr>
      <vt:lpstr>Advantages &amp; Disadvantages of Traditional Computing</vt:lpstr>
      <vt:lpstr>PowerPoint Presentation</vt:lpstr>
      <vt:lpstr>PowerPoint Presentation</vt:lpstr>
      <vt:lpstr>Cloud Computing Or Traditional Computing: Which One Is Better For You?</vt:lpstr>
      <vt:lpstr>PowerPoint Presentation</vt:lpstr>
      <vt:lpstr>PowerPoint Presentation</vt:lpstr>
      <vt:lpstr>Desktop Virtualization</vt:lpstr>
      <vt:lpstr>PowerPoint Presentation</vt:lpstr>
      <vt:lpstr>Service-Oriented Architecture (SOA) </vt:lpstr>
      <vt:lpstr>Platform As A Service (PAAS) </vt:lpstr>
      <vt:lpstr>Infrastructure as a service (IAAS) </vt:lpstr>
      <vt:lpstr>Software as a Service (SAAS) </vt:lpstr>
      <vt:lpstr>System Management </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cgc</dc:creator>
  <cp:lastModifiedBy>Jagmeet Kaur</cp:lastModifiedBy>
  <cp:revision>26</cp:revision>
  <dcterms:created xsi:type="dcterms:W3CDTF">2013-12-12T17:34:34Z</dcterms:created>
  <dcterms:modified xsi:type="dcterms:W3CDTF">2024-06-24T08:59:11Z</dcterms:modified>
</cp:coreProperties>
</file>