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theme/theme8.xml" ContentType="application/vnd.openxmlformats-officedocument.theme+xml"/>
  <Override PartName="/ppt/slideLayouts/slideLayout28.xml" ContentType="application/vnd.openxmlformats-officedocument.presentationml.slideLayout+xml"/>
  <Override PartName="/ppt/theme/theme9.xml" ContentType="application/vnd.openxmlformats-officedocument.theme+xml"/>
  <Override PartName="/ppt/slideLayouts/slideLayout29.xml" ContentType="application/vnd.openxmlformats-officedocument.presentationml.slideLayout+xml"/>
  <Override PartName="/ppt/theme/theme10.xml" ContentType="application/vnd.openxmlformats-officedocument.theme+xml"/>
  <Override PartName="/ppt/slideLayouts/slideLayout30.xml" ContentType="application/vnd.openxmlformats-officedocument.presentationml.slideLayout+xml"/>
  <Override PartName="/ppt/theme/theme11.xml" ContentType="application/vnd.openxmlformats-officedocument.theme+xml"/>
  <Override PartName="/ppt/slideLayouts/slideLayout31.xml" ContentType="application/vnd.openxmlformats-officedocument.presentationml.slideLayout+xml"/>
  <Override PartName="/ppt/theme/theme12.xml" ContentType="application/vnd.openxmlformats-officedocument.theme+xml"/>
  <Override PartName="/ppt/slideLayouts/slideLayout32.xml" ContentType="application/vnd.openxmlformats-officedocument.presentationml.slideLayout+xml"/>
  <Override PartName="/ppt/theme/theme13.xml" ContentType="application/vnd.openxmlformats-officedocument.theme+xml"/>
  <Override PartName="/ppt/slideLayouts/slideLayout33.xml" ContentType="application/vnd.openxmlformats-officedocument.presentationml.slideLayout+xml"/>
  <Override PartName="/ppt/theme/theme14.xml" ContentType="application/vnd.openxmlformats-officedocument.theme+xml"/>
  <Override PartName="/ppt/slideLayouts/slideLayout34.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2" r:id="rId3"/>
    <p:sldMasterId id="2147483654" r:id="rId4"/>
    <p:sldMasterId id="2147483656" r:id="rId5"/>
    <p:sldMasterId id="2147483657" r:id="rId6"/>
    <p:sldMasterId id="2147483669" r:id="rId7"/>
    <p:sldMasterId id="2147483681" r:id="rId8"/>
    <p:sldMasterId id="2147483683" r:id="rId9"/>
    <p:sldMasterId id="2147483685" r:id="rId10"/>
    <p:sldMasterId id="2147483687" r:id="rId11"/>
    <p:sldMasterId id="2147483689" r:id="rId12"/>
    <p:sldMasterId id="2147483691" r:id="rId13"/>
    <p:sldMasterId id="2147483693" r:id="rId14"/>
    <p:sldMasterId id="2147483695" r:id="rId15"/>
  </p:sldMasterIdLst>
  <p:notesMasterIdLst>
    <p:notesMasterId r:id="rId29"/>
  </p:notesMasterIdLst>
  <p:sldIdLst>
    <p:sldId id="256" r:id="rId16"/>
    <p:sldId id="258" r:id="rId17"/>
    <p:sldId id="259" r:id="rId18"/>
    <p:sldId id="268" r:id="rId19"/>
    <p:sldId id="269" r:id="rId20"/>
    <p:sldId id="270" r:id="rId21"/>
    <p:sldId id="279" r:id="rId22"/>
    <p:sldId id="280" r:id="rId23"/>
    <p:sldId id="281" r:id="rId24"/>
    <p:sldId id="282" r:id="rId25"/>
    <p:sldId id="283" r:id="rId26"/>
    <p:sldId id="277" r:id="rId27"/>
    <p:sldId id="278" r:id="rId28"/>
  </p:sldIdLst>
  <p:sldSz cx="9144000" cy="6858000" type="screen4x3"/>
  <p:notesSz cx="6858000" cy="9144000"/>
  <p:embeddedFontLst>
    <p:embeddedFont>
      <p:font typeface="Arial Black" panose="020B0604020202020204" pitchFamily="34" charset="0"/>
      <p:regular r:id="rId30"/>
      <p:bold r:id="rId31"/>
    </p:embeddedFont>
    <p:embeddedFont>
      <p:font typeface="Cambria" panose="02040503050406030204" pitchFamily="18" charset="0"/>
      <p:regular r:id="rId32"/>
      <p:bold r:id="rId33"/>
      <p:italic r:id="rId34"/>
      <p:boldItalic r:id="rId35"/>
    </p:embeddedFont>
    <p:embeddedFont>
      <p:font typeface="Poppins" pitchFamily="2" charset="77"/>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jZ2CbmYryrhJJUCKnHcr2q2B3I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844"/>
    <p:restoredTop sz="94541"/>
  </p:normalViewPr>
  <p:slideViewPr>
    <p:cSldViewPr snapToGrid="0">
      <p:cViewPr varScale="1">
        <p:scale>
          <a:sx n="112" d="100"/>
          <a:sy n="112" d="100"/>
        </p:scale>
        <p:origin x="400" y="19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font" Target="fonts/font10.fntdata"/><Relationship Id="rId21" Type="http://schemas.openxmlformats.org/officeDocument/2006/relationships/slide" Target="slides/slide6.xml"/><Relationship Id="rId34" Type="http://schemas.openxmlformats.org/officeDocument/2006/relationships/font" Target="fonts/font5.fntdata"/><Relationship Id="rId55"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notesMaster" Target="notesMasters/notesMaster1.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font" Target="fonts/font3.fntdata"/><Relationship Id="rId37" Type="http://schemas.openxmlformats.org/officeDocument/2006/relationships/font" Target="fonts/font8.fntdata"/><Relationship Id="rId53"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font" Target="fonts/font7.fntdata"/><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font" Target="fonts/font2.fntdata"/><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Master" Target="slideMasters/slideMaster8.xml"/><Relationship Id="rId51" Type="http://customschemas.google.com/relationships/presentationmetadata" Target="metadata"/><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font" Target="fonts/font4.fntdata"/><Relationship Id="rId38"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16" name="Google Shape;16;p25"/>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27"/>
          <p:cNvSpPr txBox="1">
            <a:spLocks noGrp="1"/>
          </p:cNvSpPr>
          <p:nvPr>
            <p:ph type="body" idx="1"/>
          </p:nvPr>
        </p:nvSpPr>
        <p:spPr>
          <a:xfrm>
            <a:off x="762000" y="1447800"/>
            <a:ext cx="8229600" cy="4800600"/>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440"/>
              </a:spcBef>
              <a:spcAft>
                <a:spcPts val="0"/>
              </a:spcAft>
              <a:buClr>
                <a:schemeClr val="dk1"/>
              </a:buClr>
              <a:buSzPts val="2200"/>
              <a:buFont typeface="Arial"/>
              <a:buChar char="•"/>
              <a:defRPr sz="22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27"/>
          <p:cNvSpPr txBox="1">
            <a:spLocks noGrp="1"/>
          </p:cNvSpPr>
          <p:nvPr>
            <p:ph type="body" idx="2"/>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rgbClr val="C00000"/>
              </a:buClr>
              <a:buSzPts val="3200"/>
              <a:buFont typeface="Arial"/>
              <a:buNone/>
              <a:defRPr sz="3200" b="1" i="0" u="none" strike="noStrike" cap="none">
                <a:solidFill>
                  <a:srgbClr val="C00000"/>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3"/>
        <p:cNvGrpSpPr/>
        <p:nvPr/>
      </p:nvGrpSpPr>
      <p:grpSpPr>
        <a:xfrm>
          <a:off x="0" y="0"/>
          <a:ext cx="0" cy="0"/>
          <a:chOff x="0" y="0"/>
          <a:chExt cx="0" cy="0"/>
        </a:xfrm>
      </p:grpSpPr>
      <p:sp>
        <p:nvSpPr>
          <p:cNvPr id="34" name="Google Shape;34;p29"/>
          <p:cNvSpPr txBox="1">
            <a:spLocks noGrp="1"/>
          </p:cNvSpPr>
          <p:nvPr>
            <p:ph type="ctrTitle"/>
          </p:nvPr>
        </p:nvSpPr>
        <p:spPr>
          <a:xfrm>
            <a:off x="1143000" y="3429000"/>
            <a:ext cx="7772400" cy="1066799"/>
          </a:xfrm>
          <a:prstGeom prst="rect">
            <a:avLst/>
          </a:prstGeom>
          <a:solidFill>
            <a:schemeClr val="lt1"/>
          </a:solid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lvl1pPr marR="0" lvl="0" algn="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5" name="Google Shape;3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45"/>
        <p:cNvGrpSpPr/>
        <p:nvPr/>
      </p:nvGrpSpPr>
      <p:grpSpPr>
        <a:xfrm>
          <a:off x="0" y="0"/>
          <a:ext cx="0" cy="0"/>
          <a:chOff x="0" y="0"/>
          <a:chExt cx="0" cy="0"/>
        </a:xfrm>
      </p:grpSpPr>
      <p:sp>
        <p:nvSpPr>
          <p:cNvPr id="46" name="Google Shape;46;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35"/>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 name="Google Shape;69;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36"/>
          <p:cNvSpPr>
            <a:spLocks noGrp="1"/>
          </p:cNvSpPr>
          <p:nvPr>
            <p:ph type="pic" idx="2"/>
          </p:nvPr>
        </p:nvSpPr>
        <p:spPr>
          <a:xfrm>
            <a:off x="1792288" y="612775"/>
            <a:ext cx="5486400" cy="4114800"/>
          </a:xfrm>
          <a:prstGeom prst="rect">
            <a:avLst/>
          </a:prstGeom>
          <a:noFill/>
          <a:ln>
            <a:noFill/>
          </a:ln>
        </p:spPr>
      </p:sp>
      <p:sp>
        <p:nvSpPr>
          <p:cNvPr id="75" name="Google Shape;75;p3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6" name="Google Shape;76;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9"/>
        <p:cNvGrpSpPr/>
        <p:nvPr/>
      </p:nvGrpSpPr>
      <p:grpSpPr>
        <a:xfrm>
          <a:off x="0" y="0"/>
          <a:ext cx="0" cy="0"/>
          <a:chOff x="0" y="0"/>
          <a:chExt cx="0" cy="0"/>
        </a:xfrm>
      </p:grpSpPr>
      <p:sp>
        <p:nvSpPr>
          <p:cNvPr id="80" name="Google Shape;80;p3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3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82" name="Google Shape;82;p3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3" name="Google Shape;83;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3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 name="Google Shape;9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5"/>
        <p:cNvGrpSpPr/>
        <p:nvPr/>
      </p:nvGrpSpPr>
      <p:grpSpPr>
        <a:xfrm>
          <a:off x="0" y="0"/>
          <a:ext cx="0" cy="0"/>
          <a:chOff x="0" y="0"/>
          <a:chExt cx="0" cy="0"/>
        </a:xfrm>
      </p:grpSpPr>
      <p:sp>
        <p:nvSpPr>
          <p:cNvPr id="96" name="Google Shape;96;p4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7" name="Google Shape;97;p4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8" name="Google Shape;98;p4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9" name="Google Shape;99;p4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0" name="Google Shape;100;p4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1" name="Google Shape;10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4"/>
        <p:cNvGrpSpPr/>
        <p:nvPr/>
      </p:nvGrpSpPr>
      <p:grpSpPr>
        <a:xfrm>
          <a:off x="0" y="0"/>
          <a:ext cx="0" cy="0"/>
          <a:chOff x="0" y="0"/>
          <a:chExt cx="0" cy="0"/>
        </a:xfrm>
      </p:grpSpPr>
      <p:sp>
        <p:nvSpPr>
          <p:cNvPr id="105" name="Google Shape;105;p4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7" name="Google Shape;107;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8" name="Google Shape;108;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1"/>
        <p:cNvGrpSpPr/>
        <p:nvPr/>
      </p:nvGrpSpPr>
      <p:grpSpPr>
        <a:xfrm>
          <a:off x="0" y="0"/>
          <a:ext cx="0" cy="0"/>
          <a:chOff x="0" y="0"/>
          <a:chExt cx="0" cy="0"/>
        </a:xfrm>
      </p:grpSpPr>
      <p:sp>
        <p:nvSpPr>
          <p:cNvPr id="112" name="Google Shape;112;p4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3" name="Google Shape;113;p4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14" name="Google Shape;114;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7"/>
        <p:cNvGrpSpPr/>
        <p:nvPr/>
      </p:nvGrpSpPr>
      <p:grpSpPr>
        <a:xfrm>
          <a:off x="0" y="0"/>
          <a:ext cx="0" cy="0"/>
          <a:chOff x="0" y="0"/>
          <a:chExt cx="0" cy="0"/>
        </a:xfrm>
      </p:grpSpPr>
      <p:sp>
        <p:nvSpPr>
          <p:cNvPr id="118" name="Google Shape;118;p4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9" name="Google Shape;119;p4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0" name="Google Shape;12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3"/>
        <p:cNvGrpSpPr/>
        <p:nvPr/>
      </p:nvGrpSpPr>
      <p:grpSpPr>
        <a:xfrm>
          <a:off x="0" y="0"/>
          <a:ext cx="0" cy="0"/>
          <a:chOff x="0" y="0"/>
          <a:chExt cx="0" cy="0"/>
        </a:xfrm>
      </p:grpSpPr>
      <p:sp>
        <p:nvSpPr>
          <p:cNvPr id="124" name="Google Shape;124;p4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5" name="Google Shape;125;p4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26" name="Google Shape;126;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5"/>
        <p:cNvGrpSpPr/>
        <p:nvPr/>
      </p:nvGrpSpPr>
      <p:grpSpPr>
        <a:xfrm>
          <a:off x="0" y="0"/>
          <a:ext cx="0" cy="0"/>
          <a:chOff x="0" y="0"/>
          <a:chExt cx="0" cy="0"/>
        </a:xfrm>
      </p:grpSpPr>
      <p:sp>
        <p:nvSpPr>
          <p:cNvPr id="136" name="Google Shape;136;p4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7" name="Google Shape;137;p4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8" name="Google Shape;13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1"/>
        <p:cNvGrpSpPr/>
        <p:nvPr/>
      </p:nvGrpSpPr>
      <p:grpSpPr>
        <a:xfrm>
          <a:off x="0" y="0"/>
          <a:ext cx="0" cy="0"/>
          <a:chOff x="0" y="0"/>
          <a:chExt cx="0" cy="0"/>
        </a:xfrm>
      </p:grpSpPr>
      <p:sp>
        <p:nvSpPr>
          <p:cNvPr id="142" name="Google Shape;142;p4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3" name="Google Shape;143;p47"/>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4" name="Google Shape;144;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7"/>
        <p:cNvGrpSpPr/>
        <p:nvPr/>
      </p:nvGrpSpPr>
      <p:grpSpPr>
        <a:xfrm>
          <a:off x="0" y="0"/>
          <a:ext cx="0" cy="0"/>
          <a:chOff x="0" y="0"/>
          <a:chExt cx="0" cy="0"/>
        </a:xfrm>
      </p:grpSpPr>
      <p:sp>
        <p:nvSpPr>
          <p:cNvPr id="148" name="Google Shape;148;p4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9" name="Google Shape;149;p48"/>
          <p:cNvSpPr>
            <a:spLocks noGrp="1"/>
          </p:cNvSpPr>
          <p:nvPr>
            <p:ph type="pic" idx="2"/>
          </p:nvPr>
        </p:nvSpPr>
        <p:spPr>
          <a:xfrm>
            <a:off x="1792288" y="612775"/>
            <a:ext cx="5486400" cy="4114800"/>
          </a:xfrm>
          <a:prstGeom prst="rect">
            <a:avLst/>
          </a:prstGeom>
          <a:noFill/>
          <a:ln>
            <a:noFill/>
          </a:ln>
        </p:spPr>
      </p:sp>
      <p:sp>
        <p:nvSpPr>
          <p:cNvPr id="150" name="Google Shape;150;p4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1" name="Google Shape;15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4"/>
        <p:cNvGrpSpPr/>
        <p:nvPr/>
      </p:nvGrpSpPr>
      <p:grpSpPr>
        <a:xfrm>
          <a:off x="0" y="0"/>
          <a:ext cx="0" cy="0"/>
          <a:chOff x="0" y="0"/>
          <a:chExt cx="0" cy="0"/>
        </a:xfrm>
      </p:grpSpPr>
      <p:sp>
        <p:nvSpPr>
          <p:cNvPr id="155" name="Google Shape;155;p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6" name="Google Shape;156;p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57" name="Google Shape;157;p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8" name="Google Shape;158;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5"/>
        <p:cNvGrpSpPr/>
        <p:nvPr/>
      </p:nvGrpSpPr>
      <p:grpSpPr>
        <a:xfrm>
          <a:off x="0" y="0"/>
          <a:ext cx="0" cy="0"/>
          <a:chOff x="0" y="0"/>
          <a:chExt cx="0" cy="0"/>
        </a:xfrm>
      </p:grpSpPr>
      <p:sp>
        <p:nvSpPr>
          <p:cNvPr id="166" name="Google Shape;16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7" name="Google Shape;167;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0"/>
        <p:cNvGrpSpPr/>
        <p:nvPr/>
      </p:nvGrpSpPr>
      <p:grpSpPr>
        <a:xfrm>
          <a:off x="0" y="0"/>
          <a:ext cx="0" cy="0"/>
          <a:chOff x="0" y="0"/>
          <a:chExt cx="0" cy="0"/>
        </a:xfrm>
      </p:grpSpPr>
      <p:sp>
        <p:nvSpPr>
          <p:cNvPr id="171" name="Google Shape;171;p5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2" name="Google Shape;172;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3" name="Google Shape;173;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4" name="Google Shape;174;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5" name="Google Shape;175;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6" name="Google Shape;17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9"/>
        <p:cNvGrpSpPr/>
        <p:nvPr/>
      </p:nvGrpSpPr>
      <p:grpSpPr>
        <a:xfrm>
          <a:off x="0" y="0"/>
          <a:ext cx="0" cy="0"/>
          <a:chOff x="0" y="0"/>
          <a:chExt cx="0" cy="0"/>
        </a:xfrm>
      </p:grpSpPr>
      <p:sp>
        <p:nvSpPr>
          <p:cNvPr id="180" name="Google Shape;180;p5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1" name="Google Shape;181;p5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2" name="Google Shape;182;p5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3" name="Google Shape;183;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6"/>
        <p:cNvGrpSpPr/>
        <p:nvPr/>
      </p:nvGrpSpPr>
      <p:grpSpPr>
        <a:xfrm>
          <a:off x="0" y="0"/>
          <a:ext cx="0" cy="0"/>
          <a:chOff x="0" y="0"/>
          <a:chExt cx="0" cy="0"/>
        </a:xfrm>
      </p:grpSpPr>
      <p:sp>
        <p:nvSpPr>
          <p:cNvPr id="187" name="Google Shape;187;p5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8" name="Google Shape;188;p5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89" name="Google Shape;189;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2"/>
        <p:cNvGrpSpPr/>
        <p:nvPr/>
      </p:nvGrpSpPr>
      <p:grpSpPr>
        <a:xfrm>
          <a:off x="0" y="0"/>
          <a:ext cx="0" cy="0"/>
          <a:chOff x="0" y="0"/>
          <a:chExt cx="0" cy="0"/>
        </a:xfrm>
      </p:grpSpPr>
      <p:sp>
        <p:nvSpPr>
          <p:cNvPr id="193" name="Google Shape;193;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4" name="Google Shape;194;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5" name="Google Shape;19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8"/>
        <p:cNvGrpSpPr/>
        <p:nvPr/>
      </p:nvGrpSpPr>
      <p:grpSpPr>
        <a:xfrm>
          <a:off x="0" y="0"/>
          <a:ext cx="0" cy="0"/>
          <a:chOff x="0" y="0"/>
          <a:chExt cx="0" cy="0"/>
        </a:xfrm>
      </p:grpSpPr>
      <p:sp>
        <p:nvSpPr>
          <p:cNvPr id="199" name="Google Shape;199;p5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0" name="Google Shape;200;p5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1" name="Google Shape;20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12"/>
        <p:cNvGrpSpPr/>
        <p:nvPr/>
      </p:nvGrpSpPr>
      <p:grpSpPr>
        <a:xfrm>
          <a:off x="0" y="0"/>
          <a:ext cx="0" cy="0"/>
          <a:chOff x="0" y="0"/>
          <a:chExt cx="0" cy="0"/>
        </a:xfrm>
      </p:grpSpPr>
      <p:sp>
        <p:nvSpPr>
          <p:cNvPr id="213" name="Google Shape;213;p58"/>
          <p:cNvSpPr>
            <a:spLocks noGrp="1"/>
          </p:cNvSpPr>
          <p:nvPr>
            <p:ph type="pic" idx="2"/>
          </p:nvPr>
        </p:nvSpPr>
        <p:spPr>
          <a:xfrm>
            <a:off x="2895600" y="1371600"/>
            <a:ext cx="6019800" cy="4724400"/>
          </a:xfrm>
          <a:prstGeom prst="rect">
            <a:avLst/>
          </a:prstGeom>
          <a:noFill/>
          <a:ln>
            <a:noFill/>
          </a:ln>
        </p:spPr>
      </p:sp>
      <p:sp>
        <p:nvSpPr>
          <p:cNvPr id="214" name="Google Shape;214;p58"/>
          <p:cNvSpPr txBox="1">
            <a:spLocks noGrp="1"/>
          </p:cNvSpPr>
          <p:nvPr>
            <p:ph type="body" idx="1"/>
          </p:nvPr>
        </p:nvSpPr>
        <p:spPr>
          <a:xfrm>
            <a:off x="228600" y="1371600"/>
            <a:ext cx="2590800" cy="47244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Arial"/>
              <a:buChar char="•"/>
              <a:defRPr sz="2000" b="0" i="0" u="none" strike="noStrike" cap="none">
                <a:solidFill>
                  <a:schemeClr val="dk1"/>
                </a:solidFill>
                <a:latin typeface="Cambria"/>
                <a:ea typeface="Cambria"/>
                <a:cs typeface="Cambria"/>
                <a:sym typeface="Cambria"/>
              </a:defRPr>
            </a:lvl1pPr>
            <a:lvl2pPr marL="914400" marR="0" lvl="1"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5" name="Google Shape;215;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5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3"/>
        <p:cNvGrpSpPr/>
        <p:nvPr/>
      </p:nvGrpSpPr>
      <p:grpSpPr>
        <a:xfrm>
          <a:off x="0" y="0"/>
          <a:ext cx="0" cy="0"/>
          <a:chOff x="0" y="0"/>
          <a:chExt cx="0" cy="0"/>
        </a:xfrm>
      </p:grpSpPr>
      <p:sp>
        <p:nvSpPr>
          <p:cNvPr id="224" name="Google Shape;224;p60"/>
          <p:cNvSpPr txBox="1">
            <a:spLocks noGrp="1"/>
          </p:cNvSpPr>
          <p:nvPr>
            <p:ph type="body" idx="1"/>
          </p:nvPr>
        </p:nvSpPr>
        <p:spPr>
          <a:xfrm>
            <a:off x="609600" y="1524000"/>
            <a:ext cx="8305800" cy="4876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5" name="Google Shape;225;p60"/>
          <p:cNvSpPr txBox="1">
            <a:spLocks noGrp="1"/>
          </p:cNvSpPr>
          <p:nvPr>
            <p:ph type="body" idx="2"/>
          </p:nvPr>
        </p:nvSpPr>
        <p:spPr>
          <a:xfrm>
            <a:off x="1066800" y="533400"/>
            <a:ext cx="78486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chemeClr val="dk1"/>
              </a:buClr>
              <a:buSzPts val="3200"/>
              <a:buFont typeface="Arial"/>
              <a:buNone/>
              <a:defRPr sz="3200" b="1"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4"/>
        <p:cNvGrpSpPr/>
        <p:nvPr/>
      </p:nvGrpSpPr>
      <p:grpSpPr>
        <a:xfrm>
          <a:off x="0" y="0"/>
          <a:ext cx="0" cy="0"/>
          <a:chOff x="0" y="0"/>
          <a:chExt cx="0" cy="0"/>
        </a:xfrm>
      </p:grpSpPr>
      <p:sp>
        <p:nvSpPr>
          <p:cNvPr id="235" name="Google Shape;235;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6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5"/>
        <p:cNvGrpSpPr/>
        <p:nvPr/>
      </p:nvGrpSpPr>
      <p:grpSpPr>
        <a:xfrm>
          <a:off x="0" y="0"/>
          <a:ext cx="0" cy="0"/>
          <a:chOff x="0" y="0"/>
          <a:chExt cx="0" cy="0"/>
        </a:xfrm>
      </p:grpSpPr>
      <p:sp>
        <p:nvSpPr>
          <p:cNvPr id="246" name="Google Shape;246;p6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47" name="Google Shape;247;p6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mbria"/>
                <a:ea typeface="Cambria"/>
                <a:cs typeface="Cambria"/>
                <a:sym typeface="Cambri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8" name="Google Shape;248;p6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49" name="Google Shape;24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1" name="Google Shape;251;p64"/>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59"/>
        <p:cNvGrpSpPr/>
        <p:nvPr/>
      </p:nvGrpSpPr>
      <p:grpSpPr>
        <a:xfrm>
          <a:off x="0" y="0"/>
          <a:ext cx="0" cy="0"/>
          <a:chOff x="0" y="0"/>
          <a:chExt cx="0" cy="0"/>
        </a:xfrm>
      </p:grpSpPr>
      <p:sp>
        <p:nvSpPr>
          <p:cNvPr id="260" name="Google Shape;260;p6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61" name="Google Shape;261;p66"/>
          <p:cNvSpPr>
            <a:spLocks noGrp="1"/>
          </p:cNvSpPr>
          <p:nvPr>
            <p:ph type="pic" idx="2"/>
          </p:nvPr>
        </p:nvSpPr>
        <p:spPr>
          <a:xfrm>
            <a:off x="1792288" y="612775"/>
            <a:ext cx="5486400" cy="4114800"/>
          </a:xfrm>
          <a:prstGeom prst="rect">
            <a:avLst/>
          </a:prstGeom>
          <a:noFill/>
          <a:ln>
            <a:noFill/>
          </a:ln>
        </p:spPr>
      </p:sp>
      <p:sp>
        <p:nvSpPr>
          <p:cNvPr id="262" name="Google Shape;262;p6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63" name="Google Shape;263;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4" name="Google Shape;264;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66"/>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3"/>
        <p:cNvGrpSpPr/>
        <p:nvPr/>
      </p:nvGrpSpPr>
      <p:grpSpPr>
        <a:xfrm>
          <a:off x="0" y="0"/>
          <a:ext cx="0" cy="0"/>
          <a:chOff x="0" y="0"/>
          <a:chExt cx="0" cy="0"/>
        </a:xfrm>
      </p:grpSpPr>
      <p:sp>
        <p:nvSpPr>
          <p:cNvPr id="274" name="Google Shape;274;p68"/>
          <p:cNvSpPr txBox="1">
            <a:spLocks noGrp="1"/>
          </p:cNvSpPr>
          <p:nvPr>
            <p:ph type="title"/>
          </p:nvPr>
        </p:nvSpPr>
        <p:spPr>
          <a:xfrm>
            <a:off x="304800" y="1371600"/>
            <a:ext cx="8229600" cy="6858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75" name="Google Shape;275;p68"/>
          <p:cNvSpPr txBox="1">
            <a:spLocks noGrp="1"/>
          </p:cNvSpPr>
          <p:nvPr>
            <p:ph type="body" idx="1"/>
          </p:nvPr>
        </p:nvSpPr>
        <p:spPr>
          <a:xfrm rot="5400000">
            <a:off x="2286000" y="228600"/>
            <a:ext cx="4267200" cy="8229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6" name="Google Shape;276;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8" name="Google Shape;278;p6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6"/>
        <p:cNvGrpSpPr/>
        <p:nvPr/>
      </p:nvGrpSpPr>
      <p:grpSpPr>
        <a:xfrm>
          <a:off x="0" y="0"/>
          <a:ext cx="0" cy="0"/>
          <a:chOff x="0" y="0"/>
          <a:chExt cx="0" cy="0"/>
        </a:xfrm>
      </p:grpSpPr>
      <p:sp>
        <p:nvSpPr>
          <p:cNvPr id="287" name="Google Shape;287;p7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88" name="Google Shape;288;p7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9" name="Google Shape;289;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1" name="Google Shape;291;p7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1_Two Content" type="obj">
  <p:cSld name="OBJECT">
    <p:spTree>
      <p:nvGrpSpPr>
        <p:cNvPr id="1" name="Shape 301"/>
        <p:cNvGrpSpPr/>
        <p:nvPr/>
      </p:nvGrpSpPr>
      <p:grpSpPr>
        <a:xfrm>
          <a:off x="0" y="0"/>
          <a:ext cx="0" cy="0"/>
          <a:chOff x="0" y="0"/>
          <a:chExt cx="0" cy="0"/>
        </a:xfrm>
      </p:grpSpPr>
      <p:sp>
        <p:nvSpPr>
          <p:cNvPr id="302" name="Google Shape;302;p72"/>
          <p:cNvSpPr txBox="1">
            <a:spLocks noGrp="1"/>
          </p:cNvSpPr>
          <p:nvPr>
            <p:ph type="title"/>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6000" b="1" i="0" u="none" strike="noStrike" cap="none">
                <a:solidFill>
                  <a:srgbClr val="2F5897"/>
                </a:solidFill>
                <a:latin typeface="Times New Roman"/>
                <a:ea typeface="Times New Roman"/>
                <a:cs typeface="Times New Roman"/>
                <a:sym typeface="Times New Roman"/>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03" name="Google Shape;303;p72"/>
          <p:cNvSpPr txBox="1">
            <a:spLocks noGrp="1"/>
          </p:cNvSpPr>
          <p:nvPr>
            <p:ph type="body" idx="1"/>
          </p:nvPr>
        </p:nvSpPr>
        <p:spPr>
          <a:xfrm>
            <a:off x="533400" y="1676336"/>
            <a:ext cx="3581400" cy="4432300"/>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4" name="Google Shape;304;p72"/>
          <p:cNvSpPr txBox="1">
            <a:spLocks noGrp="1"/>
          </p:cNvSpPr>
          <p:nvPr>
            <p:ph type="body" idx="2"/>
          </p:nvPr>
        </p:nvSpPr>
        <p:spPr>
          <a:xfrm>
            <a:off x="4876800" y="1676425"/>
            <a:ext cx="3505200" cy="4401185"/>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5" name="Google Shape;305;p72"/>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100"/>
              </a:spcBef>
              <a:spcAft>
                <a:spcPts val="0"/>
              </a:spcAft>
              <a:buSzPts val="1400"/>
              <a:buNone/>
              <a:defRPr sz="1200">
                <a:solidFill>
                  <a:srgbClr val="0033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72"/>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72"/>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27.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28.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0.xml"/><Relationship Id="rId1" Type="http://schemas.openxmlformats.org/officeDocument/2006/relationships/slideLayout" Target="../slideLayouts/slideLayout29.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1.xml"/><Relationship Id="rId1" Type="http://schemas.openxmlformats.org/officeDocument/2006/relationships/slideLayout" Target="../slideLayouts/slideLayout30.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2.xml"/><Relationship Id="rId1" Type="http://schemas.openxmlformats.org/officeDocument/2006/relationships/slideLayout" Target="../slideLayouts/slideLayout31.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3.xml"/><Relationship Id="rId1" Type="http://schemas.openxmlformats.org/officeDocument/2006/relationships/slideLayout" Target="../slideLayouts/slideLayout32.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4.xml"/><Relationship Id="rId1" Type="http://schemas.openxmlformats.org/officeDocument/2006/relationships/slideLayout" Target="../slideLayouts/slideLayout33.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5.xml"/><Relationship Id="rId1" Type="http://schemas.openxmlformats.org/officeDocument/2006/relationships/slideLayout" Target="../slideLayouts/slideLayout3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University Institute of Engineering (UIE)</a:t>
            </a:r>
            <a:endParaRPr/>
          </a:p>
        </p:txBody>
      </p:sp>
      <p:cxnSp>
        <p:nvCxnSpPr>
          <p:cNvPr id="11" name="Google Shape;11;p24"/>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12" name="Google Shape;12;p24"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13" name="Google Shape;13;p24"/>
          <p:cNvSpPr txBox="1"/>
          <p:nvPr/>
        </p:nvSpPr>
        <p:spPr>
          <a:xfrm>
            <a:off x="2805112" y="0"/>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Department of Computer Science and Engineering (CSE)</a:t>
            </a:r>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26"/>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19" name="Google Shape;19;p26"/>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 name="Google Shape;20;p26"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1" name="Google Shape;21;p26"/>
          <p:cNvSpPr txBox="1"/>
          <p:nvPr/>
        </p:nvSpPr>
        <p:spPr>
          <a:xfrm>
            <a:off x="2805112" y="87312"/>
            <a:ext cx="61864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and Communication Engineering (CCE)</a:t>
            </a:r>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28"/>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7" name="Google Shape;27;p28"/>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 name="Google Shape;28;p28"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9" name="Google Shape;29;p28"/>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2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
        <p:cNvGrpSpPr/>
        <p:nvPr/>
      </p:nvGrpSpPr>
      <p:grpSpPr>
        <a:xfrm>
          <a:off x="0" y="0"/>
          <a:ext cx="0" cy="0"/>
          <a:chOff x="0" y="0"/>
          <a:chExt cx="0" cy="0"/>
        </a:xfrm>
      </p:grpSpPr>
      <p:sp>
        <p:nvSpPr>
          <p:cNvPr id="39" name="Google Shape;39;p30"/>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40" name="Google Shape;40;p30"/>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41" name="Google Shape;41;p30"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42" name="Google Shape;42;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3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
        <p:cNvGrpSpPr/>
        <p:nvPr/>
      </p:nvGrpSpPr>
      <p:grpSpPr>
        <a:xfrm>
          <a:off x="0" y="0"/>
          <a:ext cx="0" cy="0"/>
          <a:chOff x="0" y="0"/>
          <a:chExt cx="0" cy="0"/>
        </a:xfrm>
      </p:grpSpPr>
      <p:sp>
        <p:nvSpPr>
          <p:cNvPr id="50" name="Google Shape;50;p3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51" name="Google Shape;51;p32"/>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52" name="Google Shape;52;p32"/>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53" name="Google Shape;53;p32" descr="https://encrypted-tbn3.gstatic.com/images?q=tbn:ANd9GcTyg3Gq4WoxkxO75aZWNEjYFvavmMfWdiMvs57jpDF8YRR3yCybqQ"/>
          <p:cNvPicPr preferRelativeResize="0"/>
          <p:nvPr/>
        </p:nvPicPr>
        <p:blipFill rotWithShape="1">
          <a:blip r:embed="rId2">
            <a:alphaModFix/>
          </a:blip>
          <a:srcRect/>
          <a:stretch/>
        </p:blipFill>
        <p:spPr>
          <a:xfrm>
            <a:off x="152400" y="152400"/>
            <a:ext cx="768350" cy="1219200"/>
          </a:xfrm>
          <a:prstGeom prst="rect">
            <a:avLst/>
          </a:prstGeom>
          <a:noFill/>
          <a:ln>
            <a:noFill/>
          </a:ln>
        </p:spPr>
      </p:pic>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56" name="Google Shape;56;p3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9" name="Google Shape;5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31" name="Google Shape;131;p4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2" name="Google Shape;13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3" name="Google Shape;13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4" name="Google Shape;13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
        <p:cNvGrpSpPr/>
        <p:nvPr/>
      </p:nvGrpSpPr>
      <p:grpSpPr>
        <a:xfrm>
          <a:off x="0" y="0"/>
          <a:ext cx="0" cy="0"/>
          <a:chOff x="0" y="0"/>
          <a:chExt cx="0" cy="0"/>
        </a:xfrm>
      </p:grpSpPr>
      <p:sp>
        <p:nvSpPr>
          <p:cNvPr id="205" name="Google Shape;205;p5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06" name="Google Shape;206;p5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7" name="Google Shape;207;p5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08" name="Google Shape;208;p57"/>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09" name="Google Shape;209;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0" name="Google Shape;210;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1" name="Google Shape;211;p5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sp>
        <p:nvSpPr>
          <p:cNvPr id="219" name="Google Shape;219;p5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0" name="Google Shape;220;p5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1" name="Google Shape;221;p5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22" name="Google Shape;222;p59"/>
          <p:cNvSpPr txBox="1"/>
          <p:nvPr/>
        </p:nvSpPr>
        <p:spPr>
          <a:xfrm>
            <a:off x="3009900" y="0"/>
            <a:ext cx="6057900" cy="354012"/>
          </a:xfrm>
          <a:prstGeom prst="rect">
            <a:avLst/>
          </a:prstGeom>
          <a:solidFill>
            <a:srgbClr val="63252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Calibri"/>
              <a:buNone/>
            </a:pPr>
            <a:r>
              <a:rPr lang="en-US" sz="1700" b="1" i="0" u="none">
                <a:solidFill>
                  <a:schemeClr val="lt1"/>
                </a:solidFill>
                <a:latin typeface="Calibri"/>
                <a:ea typeface="Calibri"/>
                <a:cs typeface="Calibri"/>
                <a:sym typeface="Calibri"/>
              </a:rPr>
              <a:t>Department of Computer and Communicationq Engineering (CCE)</a:t>
            </a:r>
            <a:endParaRPr/>
          </a:p>
        </p:txBody>
      </p:sp>
    </p:spTree>
  </p:cSld>
  <p:clrMap bg1="lt1" tx1="dk1" bg2="dk2" tx2="lt2" accent1="accent1" accent2="accent2" accent3="accent3" accent4="accent4" accent5="accent5" accent6="accent6" hlink="hlink" folHlink="folHlink"/>
  <p:sldLayoutIdLst>
    <p:sldLayoutId id="214748368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61"/>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8" name="Google Shape;228;p61"/>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9" name="Google Shape;229;p61"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30" name="Google Shape;230;p61"/>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31" name="Google Shape;231;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2" name="Google Shape;232;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3" name="Google Shape;233;p6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63"/>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40" name="Google Shape;240;p63"/>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41" name="Google Shape;241;p63"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42" name="Google Shape;24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3" name="Google Shape;24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4" name="Google Shape;244;p63"/>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65"/>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54" name="Google Shape;254;p65"/>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55" name="Google Shape;255;p65"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56" name="Google Shape;256;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7" name="Google Shape;257;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8" name="Google Shape;258;p65"/>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sp>
        <p:nvSpPr>
          <p:cNvPr id="267" name="Google Shape;267;p6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68" name="Google Shape;268;p6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69" name="Google Shape;269;p6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70" name="Google Shape;270;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1" name="Google Shape;271;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2" name="Google Shape;272;p6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9"/>
        <p:cNvGrpSpPr/>
        <p:nvPr/>
      </p:nvGrpSpPr>
      <p:grpSpPr>
        <a:xfrm>
          <a:off x="0" y="0"/>
          <a:ext cx="0" cy="0"/>
          <a:chOff x="0" y="0"/>
          <a:chExt cx="0" cy="0"/>
        </a:xfrm>
      </p:grpSpPr>
      <p:sp>
        <p:nvSpPr>
          <p:cNvPr id="280" name="Google Shape;280;p6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81" name="Google Shape;281;p6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2" name="Google Shape;282;p6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83" name="Google Shape;283;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4" name="Google Shape;284;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5" name="Google Shape;285;p6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2"/>
        <p:cNvGrpSpPr/>
        <p:nvPr/>
      </p:nvGrpSpPr>
      <p:grpSpPr>
        <a:xfrm>
          <a:off x="0" y="0"/>
          <a:ext cx="0" cy="0"/>
          <a:chOff x="0" y="0"/>
          <a:chExt cx="0" cy="0"/>
        </a:xfrm>
      </p:grpSpPr>
      <p:sp>
        <p:nvSpPr>
          <p:cNvPr id="293" name="Google Shape;293;p71"/>
          <p:cNvSpPr txBox="1"/>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4" name="Google Shape;294;p71"/>
          <p:cNvSpPr txBox="1"/>
          <p:nvPr/>
        </p:nvSpPr>
        <p:spPr>
          <a:xfrm>
            <a:off x="8458200" y="6499225"/>
            <a:ext cx="84137" cy="8413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5" name="Google Shape;295;p71"/>
          <p:cNvSpPr txBox="1"/>
          <p:nvPr/>
        </p:nvSpPr>
        <p:spPr>
          <a:xfrm>
            <a:off x="569912" y="6499225"/>
            <a:ext cx="84137" cy="8413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6" name="Google Shape;296;p71"/>
          <p:cNvSpPr txBox="1"/>
          <p:nvPr/>
        </p:nvSpPr>
        <p:spPr>
          <a:xfrm>
            <a:off x="585787" y="0"/>
            <a:ext cx="8128000" cy="74453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7" name="Google Shape;297;p71"/>
          <p:cNvSpPr txBox="1"/>
          <p:nvPr/>
        </p:nvSpPr>
        <p:spPr>
          <a:xfrm>
            <a:off x="2684462" y="446087"/>
            <a:ext cx="3773487" cy="1036637"/>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8" name="Google Shape;298;p71"/>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100"/>
              </a:spcBef>
              <a:spcAft>
                <a:spcPts val="0"/>
              </a:spcAft>
              <a:buSzPts val="1400"/>
              <a:buNone/>
              <a:defRPr sz="1200" b="0" i="0" u="none">
                <a:solidFill>
                  <a:srgbClr val="003366"/>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9" name="Google Shape;299;p71"/>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0" name="Google Shape;300;p71"/>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9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javatpoint.com/cloud-computing-vs-grid-computing"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www.eukhost.com/blog/webhosting/what-is-utility-computing/"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Id3" imgW="2478087" imgH="3148012" progId="">
                  <p:embed/>
                </p:oleObj>
              </mc:Choice>
              <mc:Fallback>
                <p:oleObj r:id="rId3" imgW="2478087" imgH="3148012" progId="">
                  <p:embed/>
                  <p:pic>
                    <p:nvPicPr>
                      <p:cNvPr id="317" name="Google Shape;317;p1"/>
                      <p:cNvPicPr preferRelativeResize="0"/>
                      <p:nvPr/>
                    </p:nvPicPr>
                    <p:blipFill rotWithShape="1">
                      <a:blip r:embed="rId4">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Id5">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Topic: cloud computing </a:t>
            </a:r>
            <a:endParaRPr/>
          </a:p>
        </p:txBody>
      </p:sp>
      <p:pic>
        <p:nvPicPr>
          <p:cNvPr id="327" name="Google Shape;327;p1"/>
          <p:cNvPicPr preferRelativeResize="0"/>
          <p:nvPr/>
        </p:nvPicPr>
        <p:blipFill rotWithShape="1">
          <a:blip r:embed="rId6">
            <a:alphaModFix/>
          </a:blip>
          <a:srcRect/>
          <a:stretch/>
        </p:blipFill>
        <p:spPr>
          <a:xfrm>
            <a:off x="76200" y="76200"/>
            <a:ext cx="2613025"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2800"/>
              <a:buFont typeface="Cambria"/>
              <a:buNone/>
            </a:pPr>
            <a:r>
              <a:rPr lang="en-US" sz="2800" b="1" i="0" u="none" strike="noStrike" cap="none">
                <a:solidFill>
                  <a:srgbClr val="C00000"/>
                </a:solidFill>
                <a:latin typeface="Cambria"/>
                <a:ea typeface="Cambria"/>
                <a:cs typeface="Cambria"/>
                <a:sym typeface="Cambria"/>
              </a:rPr>
              <a:t>Learning Objectives &amp; Outcomes</a:t>
            </a:r>
            <a:endParaRPr/>
          </a:p>
        </p:txBody>
      </p:sp>
      <p:sp>
        <p:nvSpPr>
          <p:cNvPr id="339" name="Google Shape;339;p3"/>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ambria"/>
                <a:ea typeface="Cambria"/>
                <a:cs typeface="Cambria"/>
                <a:sym typeface="Cambria"/>
              </a:rPr>
              <a:t>Objective:</a:t>
            </a:r>
            <a:endParaRPr sz="2400" b="1"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To understand the meaning of cloud and cloud Computing</a:t>
            </a: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r>
              <a:rPr lang="en-US" sz="2400" b="1" i="0" u="none" strike="noStrike" cap="none">
                <a:solidFill>
                  <a:schemeClr val="dk1"/>
                </a:solidFill>
                <a:latin typeface="Cambria"/>
                <a:ea typeface="Cambria"/>
                <a:cs typeface="Cambria"/>
                <a:sym typeface="Cambria"/>
              </a:rPr>
              <a:t>Outcome:</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Student will understand</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The meaning of cloud and cloud Computing</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 How its works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sz="4400" b="1" i="0" u="none" strike="noStrike" cap="none">
                <a:solidFill>
                  <a:srgbClr val="FF0000"/>
                </a:solidFill>
                <a:latin typeface="Times New Roman"/>
                <a:ea typeface="Times New Roman"/>
                <a:cs typeface="Times New Roman"/>
                <a:sym typeface="Times New Roman"/>
              </a:rPr>
              <a:t>Cloud Computing</a:t>
            </a:r>
            <a:endParaRPr sz="4400" b="1"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474477"/>
            <a:ext cx="8839200" cy="4756979"/>
          </a:xfrm>
          <a:prstGeom prst="rect">
            <a:avLst/>
          </a:prstGeom>
          <a:noFill/>
          <a:ln>
            <a:noFill/>
          </a:ln>
        </p:spPr>
        <p:txBody>
          <a:bodyPr spcFirstLastPara="1" wrap="square" lIns="91425" tIns="45700" rIns="91425" bIns="45700" anchor="t" anchorCtr="0">
            <a:normAutofit fontScale="92500" lnSpcReduction="10000"/>
          </a:bodyPr>
          <a:lstStyle/>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Cloud application development is a process in which the app is developed in a cloud environment and not hosted on a local server or machine. What differentiates a cloud app from a native one is the extent to which it uses cloud services. The application may run in a web browser, but key elements like data storage are online. Organizations are becoming more dependent on the cloud’s processing power and building innovative and creative solutions to different problems. They use technology to do things that were previously impossible. Cloud services have made it possible for enterprises to build many web-based cloud applications (web apps).</a:t>
            </a:r>
          </a:p>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There are numerous cloud apps in use today which have taken over tasks like Email, word processing, file storage, data collection, and financial accounting.</a:t>
            </a:r>
          </a:p>
          <a:p>
            <a:pPr marL="88900" indent="0">
              <a:buNone/>
            </a:pPr>
            <a:br>
              <a:rPr lang="en-IN" sz="1600" dirty="0"/>
            </a:br>
            <a:r>
              <a:rPr lang="en-IN" sz="2000"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ctr">
              <a:buNone/>
            </a:pPr>
            <a:r>
              <a:rPr lang="en-IN" sz="2000" b="1" i="0" u="none" strike="noStrike" dirty="0">
                <a:solidFill>
                  <a:srgbClr val="455A64"/>
                </a:solidFill>
                <a:effectLst/>
                <a:latin typeface="Poppins" pitchFamily="2" charset="77"/>
              </a:rPr>
              <a:t>cloud application development</a:t>
            </a:r>
            <a:endParaRPr lang="en-IN" sz="2000" b="0" i="0" u="none" strike="noStrike" dirty="0">
              <a:solidFill>
                <a:srgbClr val="455A64"/>
              </a:solidFill>
              <a:effectLst/>
              <a:latin typeface="Poppins" pitchFamily="2" charset="77"/>
            </a:endParaRP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1066800" y="812223"/>
            <a:ext cx="7848600" cy="382156"/>
          </a:xfrm>
          <a:prstGeom prst="rect">
            <a:avLst/>
          </a:prstGeom>
          <a:noFill/>
          <a:ln>
            <a:noFill/>
          </a:ln>
        </p:spPr>
        <p:txBody>
          <a:bodyPr spcFirstLastPara="1" wrap="square" lIns="0" tIns="12700" rIns="0" bIns="0" anchor="ctr" anchorCtr="0">
            <a:spAutoFit/>
          </a:bodyPr>
          <a:lstStyle/>
          <a:p>
            <a:r>
              <a:rPr lang="en-IN" dirty="0">
                <a:solidFill>
                  <a:srgbClr val="455A64"/>
                </a:solidFill>
                <a:latin typeface="Poppins" pitchFamily="2" charset="77"/>
              </a:rPr>
              <a:t>Advantages</a:t>
            </a:r>
            <a:endParaRPr lang="en-IN" sz="2400" b="0" i="0" u="none" strike="noStrike" dirty="0">
              <a:solidFill>
                <a:srgbClr val="455A64"/>
              </a:solidFill>
              <a:effectLst/>
              <a:latin typeface="Poppins" pitchFamily="2" charset="77"/>
            </a:endParaRPr>
          </a:p>
        </p:txBody>
      </p:sp>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sp>
        <p:nvSpPr>
          <p:cNvPr id="410" name="Google Shape;410;p14"/>
          <p:cNvSpPr txBox="1">
            <a:spLocks noGrp="1"/>
          </p:cNvSpPr>
          <p:nvPr>
            <p:ph type="body" idx="1"/>
          </p:nvPr>
        </p:nvSpPr>
        <p:spPr>
          <a:xfrm>
            <a:off x="304800" y="1752600"/>
            <a:ext cx="8610600" cy="4495800"/>
          </a:xfrm>
          <a:prstGeom prst="rect">
            <a:avLst/>
          </a:prstGeom>
          <a:noFill/>
          <a:ln>
            <a:noFill/>
          </a:ln>
        </p:spPr>
        <p:txBody>
          <a:bodyPr spcFirstLastPara="1" wrap="square" lIns="91425" tIns="45700" rIns="91425" bIns="45700" anchor="t" anchorCtr="0">
            <a:normAutofit/>
          </a:bodyPr>
          <a:lstStyle/>
          <a:p>
            <a:pPr algn="just"/>
            <a:r>
              <a:rPr lang="en-US" sz="2000" b="1" i="0" u="none" strike="noStrike" dirty="0">
                <a:solidFill>
                  <a:srgbClr val="1D2125"/>
                </a:solidFill>
                <a:effectLst/>
                <a:latin typeface="Times New Roman" panose="02020603050405020304" pitchFamily="18" charset="0"/>
                <a:cs typeface="Times New Roman" panose="02020603050405020304" pitchFamily="18" charset="0"/>
              </a:rPr>
              <a:t>Cost </a:t>
            </a:r>
            <a:r>
              <a:rPr lang="en-US" sz="2000" b="1" i="0" u="none" strike="noStrike" dirty="0" err="1">
                <a:solidFill>
                  <a:srgbClr val="1D2125"/>
                </a:solidFill>
                <a:effectLst/>
                <a:latin typeface="Times New Roman" panose="02020603050405020304" pitchFamily="18" charset="0"/>
                <a:cs typeface="Times New Roman" panose="02020603050405020304" pitchFamily="18" charset="0"/>
              </a:rPr>
              <a:t>savings</a:t>
            </a:r>
            <a:r>
              <a:rPr lang="en-US" sz="2000" b="0" i="0" u="none" strike="noStrike" dirty="0" err="1">
                <a:solidFill>
                  <a:srgbClr val="1D2125"/>
                </a:solidFill>
                <a:effectLst/>
                <a:latin typeface="Times New Roman" panose="02020603050405020304" pitchFamily="18" charset="0"/>
                <a:cs typeface="Times New Roman" panose="02020603050405020304" pitchFamily="18" charset="0"/>
              </a:rPr>
              <a:t>:Cloud</a:t>
            </a:r>
            <a:r>
              <a:rPr lang="en-US" sz="2000" b="0" i="0" u="none" strike="noStrike" dirty="0">
                <a:solidFill>
                  <a:srgbClr val="1D2125"/>
                </a:solidFill>
                <a:effectLst/>
                <a:latin typeface="Times New Roman" panose="02020603050405020304" pitchFamily="18" charset="0"/>
                <a:cs typeface="Times New Roman" panose="02020603050405020304" pitchFamily="18" charset="0"/>
              </a:rPr>
              <a:t> application development is often cheaper because you don’t need to invest in on-site infrastructure and servers. Cloud-based apps are 40 percent more cost-effective for small businesses. When you build and store apps on the cloud, you only pay for the services you use, which keeps costs low. You can choose how much to pay monthly and reduce your app development costs.</a:t>
            </a:r>
          </a:p>
          <a:p>
            <a:pPr algn="just"/>
            <a:r>
              <a:rPr lang="en-US" sz="2000" b="0" i="0" u="none" strike="noStrike" dirty="0">
                <a:solidFill>
                  <a:srgbClr val="1D2125"/>
                </a:solidFill>
                <a:effectLst/>
                <a:latin typeface="Times New Roman" panose="02020603050405020304" pitchFamily="18" charset="0"/>
                <a:cs typeface="Times New Roman" panose="02020603050405020304" pitchFamily="18" charset="0"/>
              </a:rPr>
              <a:t>You must pay for on-site hardware and capital expenses with a conventional hardware server. You can end up spending a lot of money, especially if your business scales fast. But with cloud servers, you only pay for what you need and add servers as needed. Also, some cloud computing providers give discounts for long-term contracts or large companies.</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Google Shape;416;p15"/>
          <p:cNvSpPr txBox="1">
            <a:spLocks noGrp="1"/>
          </p:cNvSpPr>
          <p:nvPr>
            <p:ph type="body" idx="1"/>
          </p:nvPr>
        </p:nvSpPr>
        <p:spPr>
          <a:xfrm>
            <a:off x="381000" y="1422400"/>
            <a:ext cx="8534400" cy="4826000"/>
          </a:xfrm>
          <a:prstGeom prst="rect">
            <a:avLst/>
          </a:prstGeom>
          <a:noFill/>
          <a:ln>
            <a:noFill/>
          </a:ln>
        </p:spPr>
        <p:txBody>
          <a:bodyPr spcFirstLastPara="1" wrap="square" lIns="91425" tIns="45700" rIns="91425" bIns="45700" anchor="t" anchorCtr="0">
            <a:normAutofit/>
          </a:bodyPr>
          <a:lstStyle/>
          <a:p>
            <a:pPr algn="just"/>
            <a:r>
              <a:rPr lang="en-IN" sz="2000" b="1" i="0" u="none" strike="noStrike" dirty="0" err="1">
                <a:solidFill>
                  <a:srgbClr val="455A64"/>
                </a:solidFill>
                <a:effectLst/>
                <a:latin typeface="Times New Roman" panose="02020603050405020304" pitchFamily="18" charset="0"/>
                <a:cs typeface="Times New Roman" panose="02020603050405020304" pitchFamily="18" charset="0"/>
              </a:rPr>
              <a:t>Security:</a:t>
            </a:r>
            <a:r>
              <a:rPr lang="en-IN" sz="2000" b="0" i="0" u="none" strike="noStrike" dirty="0" err="1">
                <a:solidFill>
                  <a:srgbClr val="455A64"/>
                </a:solidFill>
                <a:effectLst/>
                <a:latin typeface="Times New Roman" panose="02020603050405020304" pitchFamily="18" charset="0"/>
                <a:cs typeface="Times New Roman" panose="02020603050405020304" pitchFamily="18" charset="0"/>
              </a:rPr>
              <a:t>If</a:t>
            </a:r>
            <a:r>
              <a:rPr lang="en-IN" sz="2000" b="0" i="0" u="none" strike="noStrike" dirty="0">
                <a:solidFill>
                  <a:srgbClr val="455A64"/>
                </a:solidFill>
                <a:effectLst/>
                <a:latin typeface="Times New Roman" panose="02020603050405020304" pitchFamily="18" charset="0"/>
                <a:cs typeface="Times New Roman" panose="02020603050405020304" pitchFamily="18" charset="0"/>
              </a:rPr>
              <a:t> you want to store your data securely, store it on the cloud. Data security has plagued companies for years, and it’s becoming more and more difficult to protect sensitive data. Cloud service provides security measures to help keep your data safe.</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Some services encrypt files, while others have built-in encryption. Encrypted data is less accessible by hackers and other unauthorized persons. Your data stays safe even if someone gains unauthorized access to your computer or account. A cloud host carefully monitors security and is more efficient than a conventional in-house system.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RapidScale</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a cloud services provider, says that 94 percent of businesses reported improved security after switching to the cloud.</a:t>
            </a:r>
          </a:p>
          <a:p>
            <a:pPr marL="342900" marR="0" lvl="0" indent="-215900" algn="l" rtl="0">
              <a:spcBef>
                <a:spcPts val="400"/>
              </a:spcBef>
              <a:spcAft>
                <a:spcPts val="0"/>
              </a:spcAft>
              <a:buClr>
                <a:schemeClr val="dk1"/>
              </a:buClr>
              <a:buSzPts val="2000"/>
              <a:buFont typeface="Arial"/>
              <a:buNone/>
            </a:pPr>
            <a:endParaRPr sz="2000" b="0" i="0" u="none" dirty="0">
              <a:solidFill>
                <a:schemeClr val="dk1"/>
              </a:solidFill>
              <a:latin typeface="Cambria"/>
              <a:ea typeface="Cambria"/>
              <a:cs typeface="Cambria"/>
              <a:sym typeface="Cambria"/>
            </a:endParaRPr>
          </a:p>
        </p:txBody>
      </p:sp>
      <p:sp>
        <p:nvSpPr>
          <p:cNvPr id="2" name="TextBox 1">
            <a:extLst>
              <a:ext uri="{FF2B5EF4-FFF2-40B4-BE49-F238E27FC236}">
                <a16:creationId xmlns:a16="http://schemas.microsoft.com/office/drawing/2014/main" id="{C459B39F-4A70-72FA-8395-0BE174608CCD}"/>
              </a:ext>
            </a:extLst>
          </p:cNvPr>
          <p:cNvSpPr txBox="1"/>
          <p:nvPr/>
        </p:nvSpPr>
        <p:spPr>
          <a:xfrm>
            <a:off x="2834640" y="788670"/>
            <a:ext cx="4058490" cy="523220"/>
          </a:xfrm>
          <a:prstGeom prst="rect">
            <a:avLst/>
          </a:prstGeom>
          <a:noFill/>
        </p:spPr>
        <p:txBody>
          <a:bodyPr wrap="square" rtlCol="0">
            <a:spAutoFit/>
          </a:bodyPr>
          <a:lstStyle/>
          <a:p>
            <a:pPr algn="l"/>
            <a:r>
              <a:rPr lang="en-IN" sz="2800" dirty="0">
                <a:solidFill>
                  <a:srgbClr val="455A64"/>
                </a:solidFill>
                <a:latin typeface="Times New Roman" panose="02020603050405020304" pitchFamily="18" charset="0"/>
                <a:cs typeface="Times New Roman" panose="02020603050405020304" pitchFamily="18" charset="0"/>
              </a:rPr>
              <a:t>Advantages</a:t>
            </a:r>
            <a:endParaRPr lang="en-IN" sz="2800" b="0" i="0" u="none" strike="noStrike" dirty="0">
              <a:solidFill>
                <a:srgbClr val="455A6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385F-9F4F-259F-17F4-671F55B72F3B}"/>
              </a:ext>
            </a:extLst>
          </p:cNvPr>
          <p:cNvSpPr>
            <a:spLocks noGrp="1"/>
          </p:cNvSpPr>
          <p:nvPr>
            <p:ph type="title"/>
          </p:nvPr>
        </p:nvSpPr>
        <p:spPr>
          <a:xfrm>
            <a:off x="990600" y="937260"/>
            <a:ext cx="7924800" cy="491490"/>
          </a:xfrm>
        </p:spPr>
        <p:txBody>
          <a:bodyPr/>
          <a:lstStyle/>
          <a:p>
            <a:r>
              <a:rPr lang="en-IN" sz="2400" dirty="0">
                <a:solidFill>
                  <a:srgbClr val="455A64"/>
                </a:solidFill>
                <a:latin typeface="Times New Roman" panose="02020603050405020304" pitchFamily="18" charset="0"/>
                <a:cs typeface="Times New Roman" panose="02020603050405020304" pitchFamily="18" charset="0"/>
              </a:rPr>
              <a:t>Advantages</a:t>
            </a:r>
            <a:endParaRPr lang="en-IN" sz="2400" b="0" i="0" u="none" strike="noStrike" dirty="0">
              <a:solidFill>
                <a:srgbClr val="455A64"/>
              </a:solidFill>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3ADF82C-19CB-DFE6-4308-332619799BB2}"/>
              </a:ext>
            </a:extLst>
          </p:cNvPr>
          <p:cNvSpPr>
            <a:spLocks noGrp="1"/>
          </p:cNvSpPr>
          <p:nvPr>
            <p:ph type="body" idx="1"/>
          </p:nvPr>
        </p:nvSpPr>
        <p:spPr>
          <a:xfrm>
            <a:off x="101600" y="1520190"/>
            <a:ext cx="8813800" cy="4728210"/>
          </a:xfrm>
        </p:spPr>
        <p:txBody>
          <a:bodyPr>
            <a:normAutofit/>
          </a:bodyPr>
          <a:lstStyle/>
          <a:p>
            <a:pPr algn="just"/>
            <a:r>
              <a:rPr lang="en-IN" sz="2000" b="1" i="0" u="none" strike="noStrike" dirty="0">
                <a:solidFill>
                  <a:srgbClr val="455A64"/>
                </a:solidFill>
                <a:effectLst/>
                <a:latin typeface="Times New Roman" panose="02020603050405020304" pitchFamily="18" charset="0"/>
                <a:cs typeface="Times New Roman" panose="02020603050405020304" pitchFamily="18" charset="0"/>
              </a:rPr>
              <a:t>Gives businesses a competitive </a:t>
            </a:r>
            <a:r>
              <a:rPr lang="en-IN" sz="2000" b="1" i="0" u="none" strike="noStrike" dirty="0" err="1">
                <a:solidFill>
                  <a:srgbClr val="455A64"/>
                </a:solidFill>
                <a:effectLst/>
                <a:latin typeface="Times New Roman" panose="02020603050405020304" pitchFamily="18" charset="0"/>
                <a:cs typeface="Times New Roman" panose="02020603050405020304" pitchFamily="18" charset="0"/>
              </a:rPr>
              <a:t>edge:</a:t>
            </a:r>
            <a:r>
              <a:rPr lang="en-IN" sz="2000" b="0" i="0" u="none" strike="noStrike" dirty="0" err="1">
                <a:solidFill>
                  <a:srgbClr val="455A64"/>
                </a:solidFill>
                <a:effectLst/>
                <a:latin typeface="Times New Roman" panose="02020603050405020304" pitchFamily="18" charset="0"/>
                <a:cs typeface="Times New Roman" panose="02020603050405020304" pitchFamily="18" charset="0"/>
              </a:rPr>
              <a:t>A</a:t>
            </a:r>
            <a:r>
              <a:rPr lang="en-IN" sz="2000" b="0" i="0" u="none" strike="noStrike" dirty="0">
                <a:solidFill>
                  <a:srgbClr val="455A64"/>
                </a:solidFill>
                <a:effectLst/>
                <a:latin typeface="Times New Roman" panose="02020603050405020304" pitchFamily="18" charset="0"/>
                <a:cs typeface="Times New Roman" panose="02020603050405020304" pitchFamily="18" charset="0"/>
              </a:rPr>
              <a:t> company with cloud-based applications is more competitive in today’s business environment because it has the tools to succeed. Since the cloud service provider manages everything, the IT team spends less time managing infrastructure and more time building solutions that help grow the business.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 company with cloud-based solutions stays ahead of the competition. It’s also further along the learning curve by the time they catch up. According to research, 77 percent of businesses say cloud technology makes them more competitive. Additionally, cloud service providers are constantly improving their services, so a company can access up-to-date technology without investing in new hardware or software.</a:t>
            </a:r>
          </a:p>
          <a:p>
            <a:pPr marL="76200" indent="0">
              <a:buNone/>
            </a:pPr>
            <a:endParaRPr lang="en-US" dirty="0"/>
          </a:p>
        </p:txBody>
      </p:sp>
    </p:spTree>
    <p:extLst>
      <p:ext uri="{BB962C8B-B14F-4D97-AF65-F5344CB8AC3E}">
        <p14:creationId xmlns:p14="http://schemas.microsoft.com/office/powerpoint/2010/main" val="301433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BDBC8D-EFE2-4691-DBE6-66AD1FE5D989}"/>
              </a:ext>
            </a:extLst>
          </p:cNvPr>
          <p:cNvSpPr>
            <a:spLocks noGrp="1"/>
          </p:cNvSpPr>
          <p:nvPr>
            <p:ph type="body" idx="1"/>
          </p:nvPr>
        </p:nvSpPr>
        <p:spPr>
          <a:xfrm>
            <a:off x="169333" y="1371600"/>
            <a:ext cx="8746067" cy="4876800"/>
          </a:xfrm>
        </p:spPr>
        <p:txBody>
          <a:bodyPr>
            <a:normAutofit/>
          </a:bodyPr>
          <a:lstStyle/>
          <a:p>
            <a:pPr algn="just"/>
            <a:r>
              <a:rPr lang="en-IN" sz="2000" b="1" i="0" u="none" strike="noStrike" dirty="0" err="1">
                <a:solidFill>
                  <a:srgbClr val="455A64"/>
                </a:solidFill>
                <a:effectLst/>
                <a:latin typeface="Times New Roman" panose="02020603050405020304" pitchFamily="18" charset="0"/>
                <a:cs typeface="Times New Roman" panose="02020603050405020304" pitchFamily="18" charset="0"/>
              </a:rPr>
              <a:t>Flexibility:</a:t>
            </a:r>
            <a:r>
              <a:rPr lang="en-IN" sz="2000" b="0" i="0" u="none" strike="noStrike" dirty="0" err="1">
                <a:solidFill>
                  <a:srgbClr val="455A64"/>
                </a:solidFill>
                <a:effectLst/>
                <a:latin typeface="Times New Roman" panose="02020603050405020304" pitchFamily="18" charset="0"/>
                <a:cs typeface="Times New Roman" panose="02020603050405020304" pitchFamily="18" charset="0"/>
              </a:rPr>
              <a:t>If</a:t>
            </a:r>
            <a:r>
              <a:rPr lang="en-IN" sz="2000" b="0" i="0" u="none" strike="noStrike" dirty="0">
                <a:solidFill>
                  <a:srgbClr val="455A64"/>
                </a:solidFill>
                <a:effectLst/>
                <a:latin typeface="Times New Roman" panose="02020603050405020304" pitchFamily="18" charset="0"/>
                <a:cs typeface="Times New Roman" panose="02020603050405020304" pitchFamily="18" charset="0"/>
              </a:rPr>
              <a:t> your IT team spends a lot of time focusing on computer and data-storage issues, they won’t be able to focus on creating business solutions. But if another organization takes care of IT hosting and infrastructure, your team can focus on business solutions that directly affect the company’s bottom line.</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Cloud services offer more flexibility than local servers, and you can increase bandwidth on demand. This flexibility can greatly increase the overall efficiency of your organization. A cloud environment makes a business capable of quickly meeting market demands.</a:t>
            </a:r>
          </a:p>
          <a:p>
            <a:endParaRPr lang="en-US" dirty="0"/>
          </a:p>
        </p:txBody>
      </p:sp>
      <p:sp>
        <p:nvSpPr>
          <p:cNvPr id="2" name="TextBox 1">
            <a:extLst>
              <a:ext uri="{FF2B5EF4-FFF2-40B4-BE49-F238E27FC236}">
                <a16:creationId xmlns:a16="http://schemas.microsoft.com/office/drawing/2014/main" id="{D1DF35DA-E6D3-834C-34B8-2E9DF3606B85}"/>
              </a:ext>
            </a:extLst>
          </p:cNvPr>
          <p:cNvSpPr txBox="1"/>
          <p:nvPr/>
        </p:nvSpPr>
        <p:spPr>
          <a:xfrm>
            <a:off x="2560320" y="960120"/>
            <a:ext cx="3223260" cy="461665"/>
          </a:xfrm>
          <a:prstGeom prst="rect">
            <a:avLst/>
          </a:prstGeom>
          <a:noFill/>
        </p:spPr>
        <p:txBody>
          <a:bodyPr wrap="square" rtlCol="0">
            <a:spAutoFit/>
          </a:bodyPr>
          <a:lstStyle/>
          <a:p>
            <a:r>
              <a:rPr lang="en-IN" sz="2400" dirty="0">
                <a:solidFill>
                  <a:srgbClr val="455A64"/>
                </a:solidFill>
                <a:latin typeface="Times New Roman" panose="02020603050405020304" pitchFamily="18" charset="0"/>
                <a:cs typeface="Times New Roman" panose="02020603050405020304" pitchFamily="18" charset="0"/>
              </a:rPr>
              <a:t>Advantages</a:t>
            </a:r>
            <a:endParaRPr lang="en-US" sz="2400" dirty="0"/>
          </a:p>
        </p:txBody>
      </p:sp>
    </p:spTree>
    <p:extLst>
      <p:ext uri="{BB962C8B-B14F-4D97-AF65-F5344CB8AC3E}">
        <p14:creationId xmlns:p14="http://schemas.microsoft.com/office/powerpoint/2010/main" val="1673020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4002-388F-9907-CF49-13F1830AB9C3}"/>
              </a:ext>
            </a:extLst>
          </p:cNvPr>
          <p:cNvSpPr>
            <a:spLocks noGrp="1"/>
          </p:cNvSpPr>
          <p:nvPr>
            <p:ph type="title"/>
          </p:nvPr>
        </p:nvSpPr>
        <p:spPr/>
        <p:txBody>
          <a:bodyPr/>
          <a:lstStyle/>
          <a:p>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r>
              <a:rPr lang="en-IN" sz="2400" dirty="0">
                <a:solidFill>
                  <a:srgbClr val="455A64"/>
                </a:solidFill>
                <a:latin typeface="Times New Roman" panose="02020603050405020304" pitchFamily="18" charset="0"/>
                <a:cs typeface="Times New Roman" panose="02020603050405020304" pitchFamily="18" charset="0"/>
              </a:rPr>
              <a:t>Advantages</a:t>
            </a:r>
            <a:br>
              <a:rPr lang="en-US" sz="2400" dirty="0"/>
            </a:br>
            <a:br>
              <a:rPr lang="en-US" sz="2400" b="0" i="0" u="none" strike="noStrike" dirty="0">
                <a:solidFill>
                  <a:srgbClr val="1D2125"/>
                </a:solidFill>
                <a:effectLst/>
                <a:latin typeface="Poppins" pitchFamily="2" charset="77"/>
              </a:rPr>
            </a:br>
            <a:br>
              <a:rPr lang="en-US" b="0" i="0" u="none" strike="noStrike" dirty="0">
                <a:solidFill>
                  <a:srgbClr val="1D2125"/>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47CFA959-52CC-9F33-F8BA-58CF5730BA1C}"/>
              </a:ext>
            </a:extLst>
          </p:cNvPr>
          <p:cNvSpPr>
            <a:spLocks noGrp="1"/>
          </p:cNvSpPr>
          <p:nvPr>
            <p:ph type="body" idx="1"/>
          </p:nvPr>
        </p:nvSpPr>
        <p:spPr>
          <a:xfrm>
            <a:off x="112889" y="1497330"/>
            <a:ext cx="8802511" cy="4751070"/>
          </a:xfrm>
        </p:spPr>
        <p:txBody>
          <a:bodyPr>
            <a:normAutofit/>
          </a:bodyPr>
          <a:lstStyle/>
          <a:p>
            <a:pPr algn="just"/>
            <a:r>
              <a:rPr lang="en-IN" sz="2000" b="1" i="0" u="none" strike="noStrike" dirty="0">
                <a:solidFill>
                  <a:srgbClr val="455A64"/>
                </a:solidFill>
                <a:effectLst/>
                <a:latin typeface="Times New Roman" panose="02020603050405020304" pitchFamily="18" charset="0"/>
                <a:cs typeface="Times New Roman" panose="02020603050405020304" pitchFamily="18" charset="0"/>
              </a:rPr>
              <a:t>It’s easy to collect business </a:t>
            </a:r>
            <a:r>
              <a:rPr lang="en-IN" sz="2000" b="1" i="0" u="none" strike="noStrike" dirty="0" err="1">
                <a:solidFill>
                  <a:srgbClr val="455A64"/>
                </a:solidFill>
                <a:effectLst/>
                <a:latin typeface="Times New Roman" panose="02020603050405020304" pitchFamily="18" charset="0"/>
                <a:cs typeface="Times New Roman" panose="02020603050405020304" pitchFamily="18" charset="0"/>
              </a:rPr>
              <a:t>insights:</a:t>
            </a:r>
            <a:r>
              <a:rPr lang="en-IN" sz="2000" b="0" i="0" u="none" strike="noStrike" dirty="0" err="1">
                <a:solidFill>
                  <a:srgbClr val="455A64"/>
                </a:solidFill>
                <a:effectLst/>
                <a:latin typeface="Times New Roman" panose="02020603050405020304" pitchFamily="18" charset="0"/>
                <a:cs typeface="Times New Roman" panose="02020603050405020304" pitchFamily="18" charset="0"/>
              </a:rPr>
              <a:t>The</a:t>
            </a:r>
            <a:r>
              <a:rPr lang="en-IN" sz="2000" b="0" i="0" u="none" strike="noStrike" dirty="0">
                <a:solidFill>
                  <a:srgbClr val="455A64"/>
                </a:solidFill>
                <a:effectLst/>
                <a:latin typeface="Times New Roman" panose="02020603050405020304" pitchFamily="18" charset="0"/>
                <a:cs typeface="Times New Roman" panose="02020603050405020304" pitchFamily="18" charset="0"/>
              </a:rPr>
              <a:t> world's most valuable resource is no longer oil but data. Hidden within customer transactions and business processes is invaluable, actionable data just waiting to be acted upon. But sifting through data can be difficult unless you have a good cloud-computing solution. Many cloud storage solutions offer cloud analytics, giving you a bird's eye view of your data.</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You can quickly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analyze</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information organization-wide and build customized reports. Use the insights you get to boost performance and build action plans to meet organizational goals. Sunny Delight, a beverage company, increased profits by about $2 million a year using cloud-based business insights.</a:t>
            </a:r>
          </a:p>
        </p:txBody>
      </p:sp>
    </p:spTree>
    <p:extLst>
      <p:ext uri="{BB962C8B-B14F-4D97-AF65-F5344CB8AC3E}">
        <p14:creationId xmlns:p14="http://schemas.microsoft.com/office/powerpoint/2010/main" val="1118141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CAF1-D486-4B77-DB28-05A94ECD8918}"/>
              </a:ext>
            </a:extLst>
          </p:cNvPr>
          <p:cNvSpPr>
            <a:spLocks noGrp="1"/>
          </p:cNvSpPr>
          <p:nvPr>
            <p:ph type="title"/>
          </p:nvPr>
        </p:nvSpPr>
        <p:spPr/>
        <p:txBody>
          <a:bodyPr/>
          <a:lstStyle/>
          <a:p>
            <a:br>
              <a:rPr lang="en-IN" b="1" i="0" u="none" strike="noStrike" dirty="0">
                <a:solidFill>
                  <a:srgbClr val="455A64"/>
                </a:solidFill>
                <a:effectLst/>
                <a:latin typeface="Poppins" pitchFamily="2" charset="77"/>
              </a:rPr>
            </a:br>
            <a:r>
              <a:rPr lang="en-IN" b="1" i="0" u="none" strike="noStrike" dirty="0">
                <a:solidFill>
                  <a:srgbClr val="455A64"/>
                </a:solidFill>
                <a:effectLst/>
                <a:latin typeface="Poppins" pitchFamily="2" charset="77"/>
              </a:rPr>
              <a:t>Features every cloud app development should have</a:t>
            </a:r>
            <a:br>
              <a:rPr lang="en-IN"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693852EC-4D85-E45F-E1BD-928A9F6BE25D}"/>
              </a:ext>
            </a:extLst>
          </p:cNvPr>
          <p:cNvSpPr>
            <a:spLocks noGrp="1"/>
          </p:cNvSpPr>
          <p:nvPr>
            <p:ph type="body" idx="1"/>
          </p:nvPr>
        </p:nvSpPr>
        <p:spPr>
          <a:xfrm>
            <a:off x="112889" y="1752600"/>
            <a:ext cx="8802511" cy="4495800"/>
          </a:xfrm>
        </p:spPr>
        <p:txBody>
          <a:bodyPr>
            <a:normAutofit fontScale="92500" lnSpcReduction="10000"/>
          </a:bodyPr>
          <a:lstStyle/>
          <a:p>
            <a:pPr marL="76200" indent="0" algn="just">
              <a:buNone/>
            </a:pPr>
            <a:r>
              <a:rPr lang="en-IN" sz="1600" b="1" i="0" u="none" strike="noStrike" dirty="0">
                <a:solidFill>
                  <a:srgbClr val="455A64"/>
                </a:solidFill>
                <a:effectLst/>
                <a:latin typeface="Poppins" pitchFamily="2" charset="77"/>
              </a:rPr>
              <a:t>1. </a:t>
            </a:r>
            <a:r>
              <a:rPr lang="en-IN" sz="2000" b="1" i="0" u="none" strike="noStrike" dirty="0">
                <a:solidFill>
                  <a:srgbClr val="455A64"/>
                </a:solidFill>
                <a:effectLst/>
                <a:latin typeface="Times New Roman" panose="02020603050405020304" pitchFamily="18" charset="0"/>
                <a:cs typeface="Times New Roman" panose="02020603050405020304" pitchFamily="18" charset="0"/>
              </a:rPr>
              <a:t>Simplicity</a:t>
            </a:r>
            <a:endParaRPr lang="en-IN" sz="2000" b="0" i="0" u="none" strike="noStrike" dirty="0">
              <a:solidFill>
                <a:srgbClr val="455A64"/>
              </a:solidFill>
              <a:effectLst/>
              <a:latin typeface="Times New Roman" panose="02020603050405020304" pitchFamily="18" charset="0"/>
              <a:cs typeface="Times New Roman" panose="02020603050405020304" pitchFamily="18" charset="0"/>
            </a:endParaRP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 Cloud platforms should make cloud app development faster and simpler. They should simplify the architectural decision-making process and allow users to easily solve cloud application development issues. Good cloud application development platforms enable easier deployment of software across numerous IT environments.</a:t>
            </a:r>
          </a:p>
          <a:p>
            <a:pPr marL="76200" indent="0" algn="just">
              <a:buNone/>
            </a:pPr>
            <a:r>
              <a:rPr lang="en-IN" sz="2000" b="1" i="0" u="none" strike="noStrike" dirty="0">
                <a:solidFill>
                  <a:srgbClr val="455A64"/>
                </a:solidFill>
                <a:effectLst/>
                <a:latin typeface="Times New Roman" panose="02020603050405020304" pitchFamily="18" charset="0"/>
                <a:cs typeface="Times New Roman" panose="02020603050405020304" pitchFamily="18" charset="0"/>
              </a:rPr>
              <a:t>2. Flexibility and scalability</a:t>
            </a:r>
            <a:endParaRPr lang="en-IN" sz="2000" b="0" i="0" u="none" strike="noStrike" dirty="0">
              <a:solidFill>
                <a:srgbClr val="455A64"/>
              </a:solidFill>
              <a:effectLst/>
              <a:latin typeface="Times New Roman" panose="02020603050405020304" pitchFamily="18" charset="0"/>
              <a:cs typeface="Times New Roman" panose="02020603050405020304" pitchFamily="18" charset="0"/>
            </a:endParaRP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If you need to modify or scale your cloud services, you should be able to do it easily on the cloud platform. Users should be able to add or remove computing, storage, networking, and other assets as needed. Cloud platforms provide automation software to handle dynamic scaling for users. Users can optimize cloud-hosted workloads and avoid bottlenecks.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Flexibility is also an important feature in cloud-based application development. When demand for apps goes up, properly configured cloud platforms automatically add resources to handle the load. And when demand goes down, services return to normal.</a:t>
            </a:r>
          </a:p>
          <a:p>
            <a:endParaRPr lang="en-US" dirty="0"/>
          </a:p>
        </p:txBody>
      </p:sp>
    </p:spTree>
    <p:extLst>
      <p:ext uri="{BB962C8B-B14F-4D97-AF65-F5344CB8AC3E}">
        <p14:creationId xmlns:p14="http://schemas.microsoft.com/office/powerpoint/2010/main" val="3473927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B1E8E6-31DB-B7EE-41F4-746C4E2FF75F}"/>
              </a:ext>
            </a:extLst>
          </p:cNvPr>
          <p:cNvSpPr>
            <a:spLocks noGrp="1"/>
          </p:cNvSpPr>
          <p:nvPr>
            <p:ph type="body" idx="1"/>
          </p:nvPr>
        </p:nvSpPr>
        <p:spPr>
          <a:xfrm>
            <a:off x="169333" y="1320800"/>
            <a:ext cx="8746067" cy="5102578"/>
          </a:xfrm>
        </p:spPr>
        <p:txBody>
          <a:bodyPr>
            <a:normAutofit fontScale="85000" lnSpcReduction="20000"/>
          </a:bodyPr>
          <a:lstStyle/>
          <a:p>
            <a:pPr marL="76200" indent="0" algn="just">
              <a:buNone/>
            </a:pPr>
            <a:r>
              <a:rPr lang="en-IN" sz="2000" b="1" i="0" u="none" strike="noStrike" dirty="0">
                <a:solidFill>
                  <a:srgbClr val="455A64"/>
                </a:solidFill>
                <a:effectLst/>
                <a:latin typeface="Times New Roman" panose="02020603050405020304" pitchFamily="18" charset="0"/>
                <a:cs typeface="Times New Roman" panose="02020603050405020304" pitchFamily="18" charset="0"/>
              </a:rPr>
              <a:t>3. Security</a:t>
            </a:r>
            <a:endParaRPr lang="en-IN" sz="2000" b="0" i="0" u="none" strike="noStrike" dirty="0">
              <a:solidFill>
                <a:srgbClr val="455A64"/>
              </a:solidFill>
              <a:effectLst/>
              <a:latin typeface="Times New Roman" panose="02020603050405020304" pitchFamily="18" charset="0"/>
              <a:cs typeface="Times New Roman" panose="02020603050405020304" pitchFamily="18" charset="0"/>
            </a:endParaRP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 Cloud application development platforms employ some of the best security experts worldwide and are more skilled at handling threats than most in-house IT teams. In fact, most global financial firms say the cloud is a security asset.</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development platforms follow common security protocols, so your data will not be accessible to hackers. Your organization will also be able to meet government regulations. 91 percent of companies that have migrated to the cloud have reported improved compliance after migration.</a:t>
            </a:r>
          </a:p>
          <a:p>
            <a:pPr marL="76200" indent="0" algn="just">
              <a:buNone/>
            </a:pPr>
            <a:r>
              <a:rPr lang="en-IN" sz="2000" b="1" i="0" u="none" strike="noStrike" dirty="0">
                <a:solidFill>
                  <a:srgbClr val="455A64"/>
                </a:solidFill>
                <a:effectLst/>
                <a:latin typeface="Times New Roman" panose="02020603050405020304" pitchFamily="18" charset="0"/>
                <a:cs typeface="Times New Roman" panose="02020603050405020304" pitchFamily="18" charset="0"/>
              </a:rPr>
              <a:t>4. Automation</a:t>
            </a:r>
            <a:endParaRPr lang="en-IN" sz="2000" b="0" i="0" u="none" strike="noStrike" dirty="0">
              <a:solidFill>
                <a:srgbClr val="455A64"/>
              </a:solidFill>
              <a:effectLst/>
              <a:latin typeface="Times New Roman" panose="02020603050405020304" pitchFamily="18" charset="0"/>
              <a:cs typeface="Times New Roman" panose="02020603050405020304" pitchFamily="18" charset="0"/>
            </a:endParaRP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 Managing applications means performing a lot of repetitive tasks. Cloud application development tools are designed to be programmatically managed. They deliver value by providing support for continuous integration, resource orchestration, and capacity management, decreasing operational burdens and enabling IT to support ever growing computing requirements.</a:t>
            </a:r>
          </a:p>
          <a:p>
            <a:pPr marL="76200" indent="0" algn="just">
              <a:buNone/>
            </a:pPr>
            <a:r>
              <a:rPr lang="en-IN" sz="2000" b="1" i="0" u="none" strike="noStrike" dirty="0">
                <a:solidFill>
                  <a:srgbClr val="455A64"/>
                </a:solidFill>
                <a:effectLst/>
                <a:latin typeface="Times New Roman" panose="02020603050405020304" pitchFamily="18" charset="0"/>
                <a:cs typeface="Times New Roman" panose="02020603050405020304" pitchFamily="18" charset="0"/>
              </a:rPr>
              <a:t>5. Pay-per-use pricing</a:t>
            </a:r>
            <a:endParaRPr lang="en-IN" sz="2000" b="0" i="0" u="none" strike="noStrike" dirty="0">
              <a:solidFill>
                <a:srgbClr val="455A64"/>
              </a:solidFill>
              <a:effectLst/>
              <a:latin typeface="Times New Roman" panose="02020603050405020304" pitchFamily="18" charset="0"/>
              <a:cs typeface="Times New Roman" panose="02020603050405020304" pitchFamily="18" charset="0"/>
            </a:endParaRP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 Most cloud application development platforms offer pay-per-use pricing. This model reduces IT costs on a large scale and helps boost efficiency. The user only pays for the service or the space they utilize. There are no hidden or extra charges, and oftentimes, some space is allotted for free. Resource utilization can be optimized by leveraging charge-per-use capabilities. Cloud resource usage gets monitored, measured, and reported by the cloud service provider.</a:t>
            </a:r>
          </a:p>
          <a:p>
            <a:endParaRPr lang="en-US" dirty="0"/>
          </a:p>
        </p:txBody>
      </p:sp>
      <p:sp>
        <p:nvSpPr>
          <p:cNvPr id="2" name="TextBox 1">
            <a:extLst>
              <a:ext uri="{FF2B5EF4-FFF2-40B4-BE49-F238E27FC236}">
                <a16:creationId xmlns:a16="http://schemas.microsoft.com/office/drawing/2014/main" id="{A8E6F2FB-E918-3295-82AC-6C670D0C57FF}"/>
              </a:ext>
            </a:extLst>
          </p:cNvPr>
          <p:cNvSpPr txBox="1"/>
          <p:nvPr/>
        </p:nvSpPr>
        <p:spPr>
          <a:xfrm>
            <a:off x="525780" y="925830"/>
            <a:ext cx="8069580" cy="1046440"/>
          </a:xfrm>
          <a:prstGeom prst="rect">
            <a:avLst/>
          </a:prstGeom>
          <a:noFill/>
        </p:spPr>
        <p:txBody>
          <a:bodyPr wrap="square" rtlCol="0">
            <a:spAutoFit/>
          </a:bodyPr>
          <a:lstStyle/>
          <a:p>
            <a:pPr algn="ctr"/>
            <a:r>
              <a:rPr lang="en-IN" sz="2400" b="1" i="0" u="none" strike="noStrike" dirty="0">
                <a:solidFill>
                  <a:srgbClr val="455A64"/>
                </a:solidFill>
                <a:effectLst/>
                <a:latin typeface="Times New Roman" panose="02020603050405020304" pitchFamily="18" charset="0"/>
                <a:cs typeface="Times New Roman" panose="02020603050405020304" pitchFamily="18" charset="0"/>
              </a:rPr>
              <a:t>Features every cloud app development should have</a:t>
            </a:r>
            <a:br>
              <a:rPr lang="en-IN" sz="40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endParaRPr lang="en-US" dirty="0"/>
          </a:p>
        </p:txBody>
      </p:sp>
    </p:spTree>
    <p:extLst>
      <p:ext uri="{BB962C8B-B14F-4D97-AF65-F5344CB8AC3E}">
        <p14:creationId xmlns:p14="http://schemas.microsoft.com/office/powerpoint/2010/main" val="3376768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749600" y="1080100"/>
            <a:ext cx="8001000" cy="4495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400" b="1" i="0" u="none">
                <a:solidFill>
                  <a:schemeClr val="dk1"/>
                </a:solidFill>
                <a:latin typeface="Cambria"/>
                <a:ea typeface="Cambria"/>
                <a:cs typeface="Cambria"/>
                <a:sym typeface="Cambria"/>
              </a:rPr>
              <a:t>Text books:</a:t>
            </a:r>
            <a:endParaRPr sz="2400" b="0" i="0" u="none">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Buyya, Rajkumar, James Broberg, and Andrzej M. Goscinski, eds. Cloud computing: Principles and paradigms. Vol. 87. John Wiley &amp; Sons, 2010. </a:t>
            </a:r>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Miller, Michael. Cloud computing: Web-based applications that change the way you work and collaborate online. Que publishing, 2008 </a:t>
            </a:r>
            <a:endParaRPr/>
          </a:p>
          <a:p>
            <a:pPr marL="0" lvl="0" indent="0" algn="l" rtl="0">
              <a:lnSpc>
                <a:spcPct val="100000"/>
              </a:lnSpc>
              <a:spcBef>
                <a:spcPts val="480"/>
              </a:spcBef>
              <a:spcAft>
                <a:spcPts val="0"/>
              </a:spcAft>
              <a:buClr>
                <a:schemeClr val="dk1"/>
              </a:buClr>
              <a:buSzPts val="2400"/>
              <a:buNone/>
            </a:pPr>
            <a:endParaRPr sz="2400" b="1" i="0" u="none">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a:solidFill>
                  <a:schemeClr val="dk1"/>
                </a:solidFill>
                <a:latin typeface="Cambria"/>
                <a:ea typeface="Cambria"/>
                <a:cs typeface="Cambria"/>
                <a:sym typeface="Cambria"/>
              </a:rPr>
              <a:t>Websites:</a:t>
            </a:r>
            <a:endParaRPr sz="2400" b="1" i="0" u="sng">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mbria"/>
                <a:ea typeface="Cambria"/>
                <a:cs typeface="Cambria"/>
                <a:sym typeface="Cambria"/>
              </a:rPr>
              <a:t>   </a:t>
            </a:r>
            <a:r>
              <a:rPr lang="en-US" sz="1800" b="0" i="0" u="sng">
                <a:solidFill>
                  <a:schemeClr val="dk1"/>
                </a:solidFill>
                <a:hlinkClick r:id="rId3">
                  <a:extLst>
                    <a:ext uri="{A12FA001-AC4F-418D-AE19-62706E023703}">
                      <ahyp:hlinkClr xmlns:ahyp="http://schemas.microsoft.com/office/drawing/2018/hyperlinkcolor" val="tx"/>
                    </a:ext>
                  </a:extLst>
                </a:hlinkClick>
              </a:rPr>
              <a:t>https://www.javatpoint.com/cloud-computing-vs-grid-computing</a:t>
            </a:r>
            <a:endParaRPr/>
          </a:p>
          <a:p>
            <a:pPr marL="0" lvl="0" indent="-114300" algn="l" rtl="0">
              <a:lnSpc>
                <a:spcPct val="100000"/>
              </a:lnSpc>
              <a:spcBef>
                <a:spcPts val="360"/>
              </a:spcBef>
              <a:spcAft>
                <a:spcPts val="0"/>
              </a:spcAft>
              <a:buClr>
                <a:schemeClr val="dk1"/>
              </a:buClr>
              <a:buSzPts val="1800"/>
              <a:buFont typeface="Arial"/>
              <a:buChar char="•"/>
            </a:pPr>
            <a:r>
              <a:rPr lang="en-US" sz="1800" b="0" i="0" u="sng">
                <a:solidFill>
                  <a:schemeClr val="dk1"/>
                </a:solidFill>
                <a:hlinkClick r:id="rId3">
                  <a:extLst>
                    <a:ext uri="{A12FA001-AC4F-418D-AE19-62706E023703}">
                      <ahyp:hlinkClr xmlns:ahyp="http://schemas.microsoft.com/office/drawing/2018/hyperlinkcolor" val="tx"/>
                    </a:ext>
                  </a:extLst>
                </a:hlinkClick>
              </a:rPr>
              <a:t>https://www.javatpoint.com/cloud-computing-vs-grid-computing</a:t>
            </a:r>
            <a:endParaRPr sz="1800" b="0" i="0" u="none">
              <a:solidFill>
                <a:schemeClr val="dk1"/>
              </a:solidFill>
              <a:latin typeface="Cambria"/>
              <a:ea typeface="Cambria"/>
              <a:cs typeface="Cambria"/>
              <a:sym typeface="Cambria"/>
            </a:endParaRPr>
          </a:p>
          <a:p>
            <a:pPr marL="0" lvl="0" indent="-19050" algn="l" rtl="0">
              <a:lnSpc>
                <a:spcPct val="100000"/>
              </a:lnSpc>
              <a:spcBef>
                <a:spcPts val="400"/>
              </a:spcBef>
              <a:spcAft>
                <a:spcPts val="0"/>
              </a:spcAft>
              <a:buClr>
                <a:srgbClr val="000000"/>
              </a:buClr>
              <a:buSzPts val="300"/>
              <a:buFont typeface="Arial"/>
              <a:buChar char="•"/>
            </a:pPr>
            <a:r>
              <a:rPr lang="en-US" sz="1800" b="0" i="0" u="sng">
                <a:solidFill>
                  <a:schemeClr val="dk1"/>
                </a:solidFill>
                <a:hlinkClick r:id="rId4">
                  <a:extLst>
                    <a:ext uri="{A12FA001-AC4F-418D-AE19-62706E023703}">
                      <ahyp:hlinkClr xmlns:ahyp="http://schemas.microsoft.com/office/drawing/2018/hyperlinkcolor" val="tx"/>
                    </a:ext>
                  </a:extLst>
                </a:hlinkClick>
              </a:rPr>
              <a:t>https://www.eukhost.com/blog/webhosting/what-is-utility-computing/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1271</TotalTime>
  <Words>1330</Words>
  <Application>Microsoft Macintosh PowerPoint</Application>
  <PresentationFormat>On-screen Show (4:3)</PresentationFormat>
  <Paragraphs>64</Paragraphs>
  <Slides>13</Slides>
  <Notes>8</Notes>
  <HiddenSlides>0</HiddenSlides>
  <MMClips>0</MMClips>
  <ScaleCrop>false</ScaleCrop>
  <HeadingPairs>
    <vt:vector size="8" baseType="variant">
      <vt:variant>
        <vt:lpstr>Fonts Used</vt:lpstr>
      </vt:variant>
      <vt:variant>
        <vt:i4>7</vt:i4>
      </vt:variant>
      <vt:variant>
        <vt:lpstr>Theme</vt:lpstr>
      </vt:variant>
      <vt:variant>
        <vt:i4>15</vt:i4>
      </vt:variant>
      <vt:variant>
        <vt:lpstr>Embedded OLE Servers</vt:lpstr>
      </vt:variant>
      <vt:variant>
        <vt:i4>0</vt:i4>
      </vt:variant>
      <vt:variant>
        <vt:lpstr>Slide Titles</vt:lpstr>
      </vt:variant>
      <vt:variant>
        <vt:i4>13</vt:i4>
      </vt:variant>
    </vt:vector>
  </HeadingPairs>
  <TitlesOfParts>
    <vt:vector size="35" baseType="lpstr">
      <vt:lpstr>Times New Roman</vt:lpstr>
      <vt:lpstr>Noto Sans Symbols</vt:lpstr>
      <vt:lpstr>Calibri</vt:lpstr>
      <vt:lpstr>Poppins</vt:lpstr>
      <vt:lpstr>Arial Black</vt:lpstr>
      <vt:lpstr>Arial</vt:lpstr>
      <vt:lpstr>Cambria</vt:lpstr>
      <vt:lpstr>2_Office Theme</vt:lpstr>
      <vt:lpstr>3_Office Theme</vt:lpstr>
      <vt:lpstr>1_Office Theme</vt:lpstr>
      <vt:lpstr>11_Office Theme</vt:lpstr>
      <vt:lpstr>Office Theme</vt:lpstr>
      <vt:lpstr>1_Custom Design</vt:lpstr>
      <vt:lpstr>Custom Design</vt:lpstr>
      <vt:lpstr>4_Office Theme</vt:lpstr>
      <vt:lpstr>5_Office Theme</vt:lpstr>
      <vt:lpstr>6_Office Theme</vt:lpstr>
      <vt:lpstr>7_Office Theme</vt:lpstr>
      <vt:lpstr>8_Office Theme</vt:lpstr>
      <vt:lpstr>9_Office Theme</vt:lpstr>
      <vt:lpstr>10_Office Theme</vt:lpstr>
      <vt:lpstr>12_Office Theme</vt:lpstr>
      <vt:lpstr>PowerPoint Presentation</vt:lpstr>
      <vt:lpstr>Learning Objectives &amp; Outcomes</vt:lpstr>
      <vt:lpstr>Cloud Computing</vt:lpstr>
      <vt:lpstr>PowerPoint Presentation</vt:lpstr>
      <vt:lpstr>Advantages</vt:lpstr>
      <vt:lpstr>PowerPoint Presentation</vt:lpstr>
      <vt:lpstr>Advantages</vt:lpstr>
      <vt:lpstr>PowerPoint Presentation</vt:lpstr>
      <vt:lpstr>  Advantages    </vt:lpstr>
      <vt:lpstr> Features every cloud app development should have   </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65</cp:revision>
  <dcterms:created xsi:type="dcterms:W3CDTF">2013-12-12T17:34:34Z</dcterms:created>
  <dcterms:modified xsi:type="dcterms:W3CDTF">2024-06-25T05:46:05Z</dcterms:modified>
</cp:coreProperties>
</file>