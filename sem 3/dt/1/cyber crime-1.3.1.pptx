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80" r:id="rId3"/>
    <p:sldId id="257" r:id="rId4"/>
    <p:sldId id="258" r:id="rId5"/>
    <p:sldId id="259" r:id="rId6"/>
    <p:sldId id="262" r:id="rId7"/>
    <p:sldId id="264" r:id="rId8"/>
    <p:sldId id="265" r:id="rId9"/>
    <p:sldId id="266" r:id="rId10"/>
    <p:sldId id="267" r:id="rId11"/>
    <p:sldId id="268" r:id="rId12"/>
    <p:sldId id="281" r:id="rId13"/>
    <p:sldId id="282" r:id="rId14"/>
    <p:sldId id="283" r:id="rId15"/>
    <p:sldId id="284" r:id="rId16"/>
    <p:sldId id="285" r:id="rId17"/>
    <p:sldId id="278" r:id="rId18"/>
    <p:sldId id="279" r:id="rId19"/>
  </p:sldIdLst>
  <p:sldSz cx="9144000" cy="6858000" type="screen4x3"/>
  <p:notesSz cx="9144000" cy="6858000"/>
  <p:embeddedFontLst>
    <p:embeddedFont>
      <p:font typeface="Arial Black" panose="020B0604020202020204" pitchFamily="34" charset="0"/>
      <p:regular r:id="rId21"/>
      <p:bold r:id="rId22"/>
    </p:embeddedFont>
    <p:embeddedFont>
      <p:font typeface="Book Antiqua" panose="02040602050305030304" pitchFamily="18" charset="0"/>
      <p:regular r:id="rId23"/>
      <p:bold r:id="rId24"/>
      <p:italic r:id="rId25"/>
      <p:boldItalic r:id="rId26"/>
    </p:embeddedFont>
    <p:embeddedFont>
      <p:font typeface="Georgia" panose="02040502050405020303" pitchFamily="18" charset="0"/>
      <p:regular r:id="rId27"/>
      <p:bold r:id="rId28"/>
      <p:italic r:id="rId29"/>
      <p:boldItalic r:id="rId30"/>
    </p:embeddedFont>
    <p:embeddedFont>
      <p:font typeface="Raleway ExtraBold" panose="020F0502020204030204" pitchFamily="34" charset="0"/>
      <p:bold r:id="rId31"/>
      <p:italic r:id="rId32"/>
      <p:boldItalic r:id="rId33"/>
    </p:embeddedFont>
    <p:embeddedFont>
      <p:font typeface="Trebuchet MS" panose="020B0703020202090204" pitchFamily="34" charset="0"/>
      <p:regular r:id="rId34"/>
      <p:bold r:id="rId35"/>
      <p: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h6Z50KqYv7Jg2W9Izz8bv56WPx1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1763C85-FD0C-4F9C-9014-DFE97472DFE7}">
  <a:tblStyle styleId="{81763C85-FD0C-4F9C-9014-DFE97472DFE7}"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923"/>
    <p:restoredTop sz="94653"/>
  </p:normalViewPr>
  <p:slideViewPr>
    <p:cSldViewPr snapToGrid="0">
      <p:cViewPr varScale="1">
        <p:scale>
          <a:sx n="113" d="100"/>
          <a:sy n="113" d="100"/>
        </p:scale>
        <p:origin x="608" y="184"/>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21" Type="http://schemas.openxmlformats.org/officeDocument/2006/relationships/font" Target="fonts/font1.fntdata"/><Relationship Id="rId34" Type="http://schemas.openxmlformats.org/officeDocument/2006/relationships/font" Target="fonts/font14.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 name="Google Shape;52;p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 name="Google Shape;6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3: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1" name="Google Shape;81;p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4: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9" name="Google Shape;89;p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6: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8: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9: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0: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5" name="Google Shape;145;p10: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1: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3" name="Google Shape;153;p1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1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5" name="Google Shape;245;p2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3: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5" name="Google Shape;255;p2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25"/>
          <p:cNvSpPr txBox="1">
            <a:spLocks noGrp="1"/>
          </p:cNvSpPr>
          <p:nvPr>
            <p:ph type="title"/>
          </p:nvPr>
        </p:nvSpPr>
        <p:spPr>
          <a:xfrm>
            <a:off x="493039" y="622807"/>
            <a:ext cx="8157921" cy="51371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200" b="1" i="0">
                <a:solidFill>
                  <a:srgbClr val="C00000"/>
                </a:solidFill>
                <a:latin typeface="Georgia"/>
                <a:ea typeface="Georgia"/>
                <a:cs typeface="Georgia"/>
                <a:sym typeface="Georg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5"/>
          <p:cNvSpPr txBox="1">
            <a:spLocks noGrp="1"/>
          </p:cNvSpPr>
          <p:nvPr>
            <p:ph type="body" idx="1"/>
          </p:nvPr>
        </p:nvSpPr>
        <p:spPr>
          <a:xfrm>
            <a:off x="231140" y="3022219"/>
            <a:ext cx="8681719" cy="206184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b="0" i="0">
                <a:solidFill>
                  <a:schemeClr val="dk1"/>
                </a:solidFill>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7" name="Google Shape;17;p25"/>
          <p:cNvSpPr txBox="1">
            <a:spLocks noGrp="1"/>
          </p:cNvSpPr>
          <p:nvPr>
            <p:ph type="ftr" idx="11"/>
          </p:nvPr>
        </p:nvSpPr>
        <p:spPr>
          <a:xfrm>
            <a:off x="2475357" y="6539204"/>
            <a:ext cx="4194809" cy="28003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000" b="1"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5"/>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5"/>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0"/>
        <p:cNvGrpSpPr/>
        <p:nvPr/>
      </p:nvGrpSpPr>
      <p:grpSpPr>
        <a:xfrm>
          <a:off x="0" y="0"/>
          <a:ext cx="0" cy="0"/>
          <a:chOff x="0" y="0"/>
          <a:chExt cx="0" cy="0"/>
        </a:xfrm>
      </p:grpSpPr>
      <p:sp>
        <p:nvSpPr>
          <p:cNvPr id="21" name="Google Shape;21;p26"/>
          <p:cNvSpPr txBox="1">
            <a:spLocks noGrp="1"/>
          </p:cNvSpPr>
          <p:nvPr>
            <p:ph type="title"/>
          </p:nvPr>
        </p:nvSpPr>
        <p:spPr>
          <a:xfrm>
            <a:off x="457200" y="273050"/>
            <a:ext cx="3008313" cy="116205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SzPts val="1400"/>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6"/>
          <p:cNvSpPr txBox="1">
            <a:spLocks noGrp="1"/>
          </p:cNvSpPr>
          <p:nvPr>
            <p:ph type="body" idx="1"/>
          </p:nvPr>
        </p:nvSpPr>
        <p:spPr>
          <a:xfrm>
            <a:off x="3575050" y="273050"/>
            <a:ext cx="5111750" cy="585311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3200"/>
            </a:lvl1pPr>
            <a:lvl2pPr marL="914400" lvl="1" indent="-228600" algn="l">
              <a:lnSpc>
                <a:spcPct val="100000"/>
              </a:lnSpc>
              <a:spcBef>
                <a:spcPts val="0"/>
              </a:spcBef>
              <a:spcAft>
                <a:spcPts val="0"/>
              </a:spcAft>
              <a:buSzPts val="1400"/>
              <a:buNone/>
              <a:defRPr sz="2800"/>
            </a:lvl2pPr>
            <a:lvl3pPr marL="1371600" lvl="2" indent="-228600" algn="l">
              <a:lnSpc>
                <a:spcPct val="100000"/>
              </a:lnSpc>
              <a:spcBef>
                <a:spcPts val="0"/>
              </a:spcBef>
              <a:spcAft>
                <a:spcPts val="0"/>
              </a:spcAft>
              <a:buSzPts val="1400"/>
              <a:buNone/>
              <a:defRPr sz="2400"/>
            </a:lvl3pPr>
            <a:lvl4pPr marL="1828800" lvl="3" indent="-228600" algn="l">
              <a:lnSpc>
                <a:spcPct val="100000"/>
              </a:lnSpc>
              <a:spcBef>
                <a:spcPts val="0"/>
              </a:spcBef>
              <a:spcAft>
                <a:spcPts val="0"/>
              </a:spcAft>
              <a:buSzPts val="1400"/>
              <a:buNone/>
              <a:defRPr sz="2000"/>
            </a:lvl4pPr>
            <a:lvl5pPr marL="2286000" lvl="4" indent="-228600" algn="l">
              <a:lnSpc>
                <a:spcPct val="100000"/>
              </a:lnSpc>
              <a:spcBef>
                <a:spcPts val="0"/>
              </a:spcBef>
              <a:spcAft>
                <a:spcPts val="0"/>
              </a:spcAft>
              <a:buSzPts val="1400"/>
              <a:buNone/>
              <a:defRPr sz="2000"/>
            </a:lvl5pPr>
            <a:lvl6pPr marL="2743200" lvl="5" indent="-228600" algn="l">
              <a:lnSpc>
                <a:spcPct val="100000"/>
              </a:lnSpc>
              <a:spcBef>
                <a:spcPts val="0"/>
              </a:spcBef>
              <a:spcAft>
                <a:spcPts val="0"/>
              </a:spcAft>
              <a:buSzPts val="1400"/>
              <a:buNone/>
              <a:defRPr sz="2000"/>
            </a:lvl6pPr>
            <a:lvl7pPr marL="3200400" lvl="6" indent="-228600" algn="l">
              <a:lnSpc>
                <a:spcPct val="100000"/>
              </a:lnSpc>
              <a:spcBef>
                <a:spcPts val="0"/>
              </a:spcBef>
              <a:spcAft>
                <a:spcPts val="0"/>
              </a:spcAft>
              <a:buSzPts val="1400"/>
              <a:buNone/>
              <a:defRPr sz="2000"/>
            </a:lvl7pPr>
            <a:lvl8pPr marL="3657600" lvl="7" indent="-228600" algn="l">
              <a:lnSpc>
                <a:spcPct val="100000"/>
              </a:lnSpc>
              <a:spcBef>
                <a:spcPts val="0"/>
              </a:spcBef>
              <a:spcAft>
                <a:spcPts val="0"/>
              </a:spcAft>
              <a:buSzPts val="1400"/>
              <a:buNone/>
              <a:defRPr sz="2000"/>
            </a:lvl8pPr>
            <a:lvl9pPr marL="4114800" lvl="8" indent="-228600" algn="l">
              <a:lnSpc>
                <a:spcPct val="100000"/>
              </a:lnSpc>
              <a:spcBef>
                <a:spcPts val="0"/>
              </a:spcBef>
              <a:spcAft>
                <a:spcPts val="0"/>
              </a:spcAft>
              <a:buSzPts val="1400"/>
              <a:buNone/>
              <a:defRPr sz="2000"/>
            </a:lvl9pPr>
          </a:lstStyle>
          <a:p>
            <a:endParaRPr/>
          </a:p>
        </p:txBody>
      </p:sp>
      <p:sp>
        <p:nvSpPr>
          <p:cNvPr id="23" name="Google Shape;23;p26"/>
          <p:cNvSpPr txBox="1">
            <a:spLocks noGrp="1"/>
          </p:cNvSpPr>
          <p:nvPr>
            <p:ph type="body" idx="2"/>
          </p:nvPr>
        </p:nvSpPr>
        <p:spPr>
          <a:xfrm>
            <a:off x="457200" y="1435100"/>
            <a:ext cx="3008313" cy="469106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400"/>
              <a:buFont typeface="Calibri"/>
              <a:buNone/>
              <a:defRPr sz="1400"/>
            </a:lvl1pPr>
            <a:lvl2pPr marL="914400" lvl="1" indent="-228600" algn="l">
              <a:lnSpc>
                <a:spcPct val="100000"/>
              </a:lnSpc>
              <a:spcBef>
                <a:spcPts val="0"/>
              </a:spcBef>
              <a:spcAft>
                <a:spcPts val="0"/>
              </a:spcAft>
              <a:buSzPts val="1200"/>
              <a:buFont typeface="Calibri"/>
              <a:buNone/>
              <a:defRPr sz="1200"/>
            </a:lvl2pPr>
            <a:lvl3pPr marL="1371600" lvl="2" indent="-228600" algn="l">
              <a:lnSpc>
                <a:spcPct val="100000"/>
              </a:lnSpc>
              <a:spcBef>
                <a:spcPts val="0"/>
              </a:spcBef>
              <a:spcAft>
                <a:spcPts val="0"/>
              </a:spcAft>
              <a:buSzPts val="1000"/>
              <a:buFont typeface="Calibri"/>
              <a:buNone/>
              <a:defRPr sz="1000"/>
            </a:lvl3pPr>
            <a:lvl4pPr marL="1828800" lvl="3" indent="-228600" algn="l">
              <a:lnSpc>
                <a:spcPct val="100000"/>
              </a:lnSpc>
              <a:spcBef>
                <a:spcPts val="0"/>
              </a:spcBef>
              <a:spcAft>
                <a:spcPts val="0"/>
              </a:spcAft>
              <a:buSzPts val="900"/>
              <a:buFont typeface="Calibri"/>
              <a:buNone/>
              <a:defRPr sz="900"/>
            </a:lvl4pPr>
            <a:lvl5pPr marL="2286000" lvl="4" indent="-228600" algn="l">
              <a:lnSpc>
                <a:spcPct val="100000"/>
              </a:lnSpc>
              <a:spcBef>
                <a:spcPts val="0"/>
              </a:spcBef>
              <a:spcAft>
                <a:spcPts val="0"/>
              </a:spcAft>
              <a:buSzPts val="900"/>
              <a:buFont typeface="Calibri"/>
              <a:buNone/>
              <a:defRPr sz="900"/>
            </a:lvl5pPr>
            <a:lvl6pPr marL="2743200" lvl="5" indent="-228600" algn="l">
              <a:lnSpc>
                <a:spcPct val="100000"/>
              </a:lnSpc>
              <a:spcBef>
                <a:spcPts val="0"/>
              </a:spcBef>
              <a:spcAft>
                <a:spcPts val="0"/>
              </a:spcAft>
              <a:buSzPts val="900"/>
              <a:buFont typeface="Calibri"/>
              <a:buNone/>
              <a:defRPr sz="900"/>
            </a:lvl6pPr>
            <a:lvl7pPr marL="3200400" lvl="6" indent="-228600" algn="l">
              <a:lnSpc>
                <a:spcPct val="100000"/>
              </a:lnSpc>
              <a:spcBef>
                <a:spcPts val="0"/>
              </a:spcBef>
              <a:spcAft>
                <a:spcPts val="0"/>
              </a:spcAft>
              <a:buSzPts val="900"/>
              <a:buFont typeface="Calibri"/>
              <a:buNone/>
              <a:defRPr sz="900"/>
            </a:lvl7pPr>
            <a:lvl8pPr marL="3657600" lvl="7" indent="-228600" algn="l">
              <a:lnSpc>
                <a:spcPct val="100000"/>
              </a:lnSpc>
              <a:spcBef>
                <a:spcPts val="0"/>
              </a:spcBef>
              <a:spcAft>
                <a:spcPts val="0"/>
              </a:spcAft>
              <a:buSzPts val="900"/>
              <a:buFont typeface="Calibri"/>
              <a:buNone/>
              <a:defRPr sz="900"/>
            </a:lvl8pPr>
            <a:lvl9pPr marL="4114800" lvl="8" indent="-228600" algn="l">
              <a:lnSpc>
                <a:spcPct val="100000"/>
              </a:lnSpc>
              <a:spcBef>
                <a:spcPts val="0"/>
              </a:spcBef>
              <a:spcAft>
                <a:spcPts val="0"/>
              </a:spcAft>
              <a:buSzPts val="900"/>
              <a:buFont typeface="Calibri"/>
              <a:buNone/>
              <a:defRPr sz="900"/>
            </a:lvl9pPr>
          </a:lstStyle>
          <a:p>
            <a:endParaRPr/>
          </a:p>
        </p:txBody>
      </p:sp>
      <p:sp>
        <p:nvSpPr>
          <p:cNvPr id="24" name="Google Shape;24;p26"/>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6"/>
          <p:cNvSpPr txBox="1">
            <a:spLocks noGrp="1"/>
          </p:cNvSpPr>
          <p:nvPr>
            <p:ph type="ftr" idx="11"/>
          </p:nvPr>
        </p:nvSpPr>
        <p:spPr>
          <a:xfrm>
            <a:off x="3124200" y="6356350"/>
            <a:ext cx="2895600" cy="36512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6"/>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chemeClr val="lt1"/>
        </a:solidFill>
        <a:effectLst/>
      </p:bgPr>
    </p:bg>
    <p:spTree>
      <p:nvGrpSpPr>
        <p:cNvPr id="1" name="Shape 27"/>
        <p:cNvGrpSpPr/>
        <p:nvPr/>
      </p:nvGrpSpPr>
      <p:grpSpPr>
        <a:xfrm>
          <a:off x="0" y="0"/>
          <a:ext cx="0" cy="0"/>
          <a:chOff x="0" y="0"/>
          <a:chExt cx="0" cy="0"/>
        </a:xfrm>
      </p:grpSpPr>
      <p:sp>
        <p:nvSpPr>
          <p:cNvPr id="28" name="Google Shape;28;p27"/>
          <p:cNvSpPr/>
          <p:nvPr/>
        </p:nvSpPr>
        <p:spPr>
          <a:xfrm>
            <a:off x="0" y="6356603"/>
            <a:ext cx="9144000" cy="88900"/>
          </a:xfrm>
          <a:custGeom>
            <a:avLst/>
            <a:gdLst/>
            <a:ahLst/>
            <a:cxnLst/>
            <a:rect l="l" t="t" r="r" b="b"/>
            <a:pathLst>
              <a:path w="9144000" h="88900" extrusionOk="0">
                <a:moveTo>
                  <a:pt x="9144000" y="70713"/>
                </a:moveTo>
                <a:lnTo>
                  <a:pt x="0" y="70713"/>
                </a:lnTo>
                <a:lnTo>
                  <a:pt x="0" y="88392"/>
                </a:lnTo>
                <a:lnTo>
                  <a:pt x="9144000" y="88392"/>
                </a:lnTo>
                <a:lnTo>
                  <a:pt x="9144000" y="70713"/>
                </a:lnTo>
                <a:close/>
              </a:path>
              <a:path w="9144000" h="88900" extrusionOk="0">
                <a:moveTo>
                  <a:pt x="9144000" y="0"/>
                </a:moveTo>
                <a:lnTo>
                  <a:pt x="0" y="0"/>
                </a:lnTo>
                <a:lnTo>
                  <a:pt x="0" y="53035"/>
                </a:lnTo>
                <a:lnTo>
                  <a:pt x="9144000" y="53035"/>
                </a:lnTo>
                <a:lnTo>
                  <a:pt x="9144000" y="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9" name="Google Shape;29;p27"/>
          <p:cNvSpPr txBox="1">
            <a:spLocks noGrp="1"/>
          </p:cNvSpPr>
          <p:nvPr>
            <p:ph type="ftr" idx="11"/>
          </p:nvPr>
        </p:nvSpPr>
        <p:spPr>
          <a:xfrm>
            <a:off x="2475357" y="6539204"/>
            <a:ext cx="4194809" cy="28003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000" b="1"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7"/>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7"/>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4"/>
          <p:cNvSpPr/>
          <p:nvPr/>
        </p:nvSpPr>
        <p:spPr>
          <a:xfrm>
            <a:off x="0" y="6356603"/>
            <a:ext cx="9144000" cy="88900"/>
          </a:xfrm>
          <a:custGeom>
            <a:avLst/>
            <a:gdLst/>
            <a:ahLst/>
            <a:cxnLst/>
            <a:rect l="l" t="t" r="r" b="b"/>
            <a:pathLst>
              <a:path w="9144000" h="88900" extrusionOk="0">
                <a:moveTo>
                  <a:pt x="9144000" y="70713"/>
                </a:moveTo>
                <a:lnTo>
                  <a:pt x="0" y="70713"/>
                </a:lnTo>
                <a:lnTo>
                  <a:pt x="0" y="88392"/>
                </a:lnTo>
                <a:lnTo>
                  <a:pt x="9144000" y="88392"/>
                </a:lnTo>
                <a:lnTo>
                  <a:pt x="9144000" y="70713"/>
                </a:lnTo>
                <a:close/>
              </a:path>
              <a:path w="9144000" h="88900" extrusionOk="0">
                <a:moveTo>
                  <a:pt x="9144000" y="0"/>
                </a:moveTo>
                <a:lnTo>
                  <a:pt x="0" y="0"/>
                </a:lnTo>
                <a:lnTo>
                  <a:pt x="0" y="53035"/>
                </a:lnTo>
                <a:lnTo>
                  <a:pt x="9144000" y="53035"/>
                </a:lnTo>
                <a:lnTo>
                  <a:pt x="9144000" y="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 name="Google Shape;7;p24"/>
          <p:cNvSpPr/>
          <p:nvPr/>
        </p:nvSpPr>
        <p:spPr>
          <a:xfrm>
            <a:off x="152400" y="152400"/>
            <a:ext cx="768095" cy="12192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 name="Google Shape;8;p24"/>
          <p:cNvSpPr/>
          <p:nvPr/>
        </p:nvSpPr>
        <p:spPr>
          <a:xfrm>
            <a:off x="2779776" y="0"/>
            <a:ext cx="6364605" cy="394970"/>
          </a:xfrm>
          <a:custGeom>
            <a:avLst/>
            <a:gdLst/>
            <a:ahLst/>
            <a:cxnLst/>
            <a:rect l="l" t="t" r="r" b="b"/>
            <a:pathLst>
              <a:path w="6364605" h="394970" extrusionOk="0">
                <a:moveTo>
                  <a:pt x="6356604" y="8890"/>
                </a:moveTo>
                <a:lnTo>
                  <a:pt x="33528" y="8890"/>
                </a:lnTo>
                <a:lnTo>
                  <a:pt x="33528" y="25400"/>
                </a:lnTo>
                <a:lnTo>
                  <a:pt x="33528" y="344170"/>
                </a:lnTo>
                <a:lnTo>
                  <a:pt x="33528" y="360680"/>
                </a:lnTo>
                <a:lnTo>
                  <a:pt x="6356604" y="360680"/>
                </a:lnTo>
                <a:lnTo>
                  <a:pt x="6356604" y="344424"/>
                </a:lnTo>
                <a:lnTo>
                  <a:pt x="6356604" y="344170"/>
                </a:lnTo>
                <a:lnTo>
                  <a:pt x="6356604" y="25908"/>
                </a:lnTo>
                <a:lnTo>
                  <a:pt x="6339840" y="25908"/>
                </a:lnTo>
                <a:lnTo>
                  <a:pt x="6339840" y="344170"/>
                </a:lnTo>
                <a:lnTo>
                  <a:pt x="50292" y="344170"/>
                </a:lnTo>
                <a:lnTo>
                  <a:pt x="50292" y="25400"/>
                </a:lnTo>
                <a:lnTo>
                  <a:pt x="6356604" y="25400"/>
                </a:lnTo>
                <a:lnTo>
                  <a:pt x="6356604" y="8890"/>
                </a:lnTo>
                <a:close/>
              </a:path>
              <a:path w="6364605" h="394970" extrusionOk="0">
                <a:moveTo>
                  <a:pt x="6364224" y="378460"/>
                </a:moveTo>
                <a:lnTo>
                  <a:pt x="16764" y="378460"/>
                </a:lnTo>
                <a:lnTo>
                  <a:pt x="16764" y="0"/>
                </a:lnTo>
                <a:lnTo>
                  <a:pt x="0" y="0"/>
                </a:lnTo>
                <a:lnTo>
                  <a:pt x="0" y="378460"/>
                </a:lnTo>
                <a:lnTo>
                  <a:pt x="0" y="394970"/>
                </a:lnTo>
                <a:lnTo>
                  <a:pt x="6364224" y="394970"/>
                </a:lnTo>
                <a:lnTo>
                  <a:pt x="6364224" y="37846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 name="Google Shape;9;p24"/>
          <p:cNvSpPr txBox="1">
            <a:spLocks noGrp="1"/>
          </p:cNvSpPr>
          <p:nvPr>
            <p:ph type="title"/>
          </p:nvPr>
        </p:nvSpPr>
        <p:spPr>
          <a:xfrm>
            <a:off x="493039" y="622807"/>
            <a:ext cx="8157921" cy="513715"/>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3200" b="1" i="0" u="none" strike="noStrike" cap="none">
                <a:solidFill>
                  <a:srgbClr val="C00000"/>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 name="Google Shape;10;p24"/>
          <p:cNvSpPr txBox="1">
            <a:spLocks noGrp="1"/>
          </p:cNvSpPr>
          <p:nvPr>
            <p:ph type="body" idx="1"/>
          </p:nvPr>
        </p:nvSpPr>
        <p:spPr>
          <a:xfrm>
            <a:off x="231140" y="3022219"/>
            <a:ext cx="8681719" cy="2061845"/>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1" name="Google Shape;11;p24"/>
          <p:cNvSpPr txBox="1">
            <a:spLocks noGrp="1"/>
          </p:cNvSpPr>
          <p:nvPr>
            <p:ph type="ftr" idx="11"/>
          </p:nvPr>
        </p:nvSpPr>
        <p:spPr>
          <a:xfrm>
            <a:off x="2475357" y="6539204"/>
            <a:ext cx="4194809" cy="28003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2000" b="1" i="0" u="none" strike="noStrike" cap="none">
                <a:solidFill>
                  <a:schemeClr val="dk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24"/>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4"/>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4.jpg"/><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Shape 53"/>
        <p:cNvGrpSpPr/>
        <p:nvPr/>
      </p:nvGrpSpPr>
      <p:grpSpPr>
        <a:xfrm>
          <a:off x="0" y="0"/>
          <a:ext cx="0" cy="0"/>
          <a:chOff x="0" y="0"/>
          <a:chExt cx="0" cy="0"/>
        </a:xfrm>
      </p:grpSpPr>
      <p:sp>
        <p:nvSpPr>
          <p:cNvPr id="54" name="Google Shape;54;p1"/>
          <p:cNvSpPr/>
          <p:nvPr/>
        </p:nvSpPr>
        <p:spPr>
          <a:xfrm>
            <a:off x="-3175" y="5340350"/>
            <a:ext cx="9147175" cy="151765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5" name="Google Shape;55;p1"/>
          <p:cNvSpPr/>
          <p:nvPr/>
        </p:nvSpPr>
        <p:spPr>
          <a:xfrm>
            <a:off x="227013" y="5902325"/>
            <a:ext cx="33337" cy="612775"/>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6" name="Google Shape;56;p1"/>
          <p:cNvSpPr txBox="1"/>
          <p:nvPr/>
        </p:nvSpPr>
        <p:spPr>
          <a:xfrm>
            <a:off x="6572250" y="65087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endParaRPr sz="1200" b="0" i="0" u="none" strike="noStrike" cap="none">
              <a:solidFill>
                <a:srgbClr val="898989"/>
              </a:solidFill>
              <a:latin typeface="Calibri"/>
              <a:ea typeface="Calibri"/>
              <a:cs typeface="Calibri"/>
              <a:sym typeface="Calibri"/>
            </a:endParaRPr>
          </a:p>
        </p:txBody>
      </p:sp>
      <p:sp>
        <p:nvSpPr>
          <p:cNvPr id="57" name="Google Shape;57;p1"/>
          <p:cNvSpPr/>
          <p:nvPr/>
        </p:nvSpPr>
        <p:spPr>
          <a:xfrm rot="10800000" flipH="1">
            <a:off x="7131050" y="5940425"/>
            <a:ext cx="968375" cy="1157288"/>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 name="Google Shape;58;p1"/>
          <p:cNvSpPr/>
          <p:nvPr/>
        </p:nvSpPr>
        <p:spPr>
          <a:xfrm flipH="1">
            <a:off x="5284788" y="-65088"/>
            <a:ext cx="3859212" cy="5853113"/>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 name="Google Shape;59;p1"/>
          <p:cNvSpPr/>
          <p:nvPr/>
        </p:nvSpPr>
        <p:spPr>
          <a:xfrm>
            <a:off x="1593056" y="2025526"/>
            <a:ext cx="5122069" cy="1580679"/>
          </a:xfrm>
          <a:prstGeom prst="rect">
            <a:avLst/>
          </a:prstGeom>
          <a:gradFill>
            <a:gsLst>
              <a:gs pos="0">
                <a:srgbClr val="FFFFFF">
                  <a:alpha val="0"/>
                </a:srgbClr>
              </a:gs>
              <a:gs pos="2655">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 name="Google Shape;61;p1"/>
          <p:cNvSpPr/>
          <p:nvPr/>
        </p:nvSpPr>
        <p:spPr>
          <a:xfrm flipH="1">
            <a:off x="7372350" y="5334000"/>
            <a:ext cx="1774825" cy="16002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 name="Google Shape;62;p1"/>
          <p:cNvSpPr txBox="1"/>
          <p:nvPr/>
        </p:nvSpPr>
        <p:spPr>
          <a:xfrm>
            <a:off x="5160963" y="6019800"/>
            <a:ext cx="3695700" cy="6461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595959"/>
                </a:solidFill>
                <a:latin typeface="Arial"/>
                <a:ea typeface="Arial"/>
                <a:cs typeface="Arial"/>
                <a:sym typeface="Arial"/>
              </a:rPr>
              <a:t>DISCOVER . </a:t>
            </a:r>
            <a:r>
              <a:rPr lang="en-US" sz="2000" b="1" i="0" u="none" strike="noStrike" cap="none">
                <a:solidFill>
                  <a:srgbClr val="C00000"/>
                </a:solidFill>
                <a:latin typeface="Arial"/>
                <a:ea typeface="Arial"/>
                <a:cs typeface="Arial"/>
                <a:sym typeface="Arial"/>
              </a:rPr>
              <a:t>LEARN</a:t>
            </a:r>
            <a:r>
              <a:rPr lang="en-US" sz="2000" b="1" i="0" u="none" strike="noStrike" cap="none">
                <a:solidFill>
                  <a:srgbClr val="595959"/>
                </a:solidFill>
                <a:latin typeface="Arial"/>
                <a:ea typeface="Arial"/>
                <a:cs typeface="Arial"/>
                <a:sym typeface="Arial"/>
              </a:rPr>
              <a:t> . EMPOWER</a:t>
            </a:r>
            <a:endParaRPr sz="12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chemeClr val="dk1"/>
              </a:solidFill>
              <a:latin typeface="Arial"/>
              <a:ea typeface="Arial"/>
              <a:cs typeface="Arial"/>
              <a:sym typeface="Arial"/>
            </a:endParaRPr>
          </a:p>
        </p:txBody>
      </p:sp>
      <p:sp>
        <p:nvSpPr>
          <p:cNvPr id="63" name="Google Shape;63;p1"/>
          <p:cNvSpPr/>
          <p:nvPr/>
        </p:nvSpPr>
        <p:spPr>
          <a:xfrm>
            <a:off x="5164138" y="6043613"/>
            <a:ext cx="34925" cy="3698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 name="Google Shape;64;p1"/>
          <p:cNvSpPr txBox="1"/>
          <p:nvPr/>
        </p:nvSpPr>
        <p:spPr>
          <a:xfrm>
            <a:off x="127000" y="6013450"/>
            <a:ext cx="4203700" cy="33813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a:solidFill>
                  <a:schemeClr val="dk1"/>
                </a:solidFill>
                <a:latin typeface="Calibri"/>
                <a:ea typeface="Calibri"/>
                <a:cs typeface="Calibri"/>
                <a:sym typeface="Calibri"/>
              </a:rPr>
              <a:t>Overview of Databases</a:t>
            </a:r>
            <a:endParaRPr sz="1600" b="0" i="0" u="none" strike="noStrike" cap="none" dirty="0">
              <a:solidFill>
                <a:schemeClr val="dk1"/>
              </a:solidFill>
              <a:latin typeface="Raleway ExtraBold"/>
              <a:ea typeface="Raleway ExtraBold"/>
              <a:cs typeface="Raleway ExtraBold"/>
              <a:sym typeface="Raleway ExtraBold"/>
            </a:endParaRPr>
          </a:p>
        </p:txBody>
      </p:sp>
      <p:sp>
        <p:nvSpPr>
          <p:cNvPr id="65" name="Google Shape;65;p1"/>
          <p:cNvSpPr txBox="1"/>
          <p:nvPr/>
        </p:nvSpPr>
        <p:spPr>
          <a:xfrm>
            <a:off x="950913" y="1477963"/>
            <a:ext cx="7392900" cy="4452461"/>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 CSE</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Disruptive Technologies-3</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(23CSH-203)</a:t>
            </a:r>
          </a:p>
          <a:p>
            <a:pPr marL="0" marR="0" lvl="0" indent="0" algn="ctr" rtl="0">
              <a:lnSpc>
                <a:spcPct val="90000"/>
              </a:lnSpc>
              <a:spcBef>
                <a:spcPts val="1120"/>
              </a:spcBef>
              <a:spcAft>
                <a:spcPts val="0"/>
              </a:spcAft>
              <a:buClr>
                <a:srgbClr val="000000"/>
              </a:buClr>
              <a:buSzPts val="3200"/>
              <a:buFont typeface="Arial"/>
              <a:buNone/>
            </a:pPr>
            <a:r>
              <a:rPr lang="en-US" sz="3200" b="1" i="0" u="none" strike="noStrike" cap="none" dirty="0">
                <a:solidFill>
                  <a:srgbClr val="262626"/>
                </a:solidFill>
                <a:latin typeface="Times New Roman"/>
                <a:ea typeface="Times New Roman"/>
                <a:cs typeface="Times New Roman"/>
                <a:sym typeface="Times New Roman"/>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1120"/>
              </a:spcBef>
              <a:spcAft>
                <a:spcPts val="0"/>
              </a:spcAft>
              <a:buClr>
                <a:srgbClr val="000000"/>
              </a:buClr>
              <a:buSzPts val="1600"/>
              <a:buFont typeface="Arial"/>
              <a:buNone/>
            </a:pPr>
            <a:endParaRPr sz="1600" b="0" i="0" u="none" strike="noStrike" cap="none" dirty="0">
              <a:solidFill>
                <a:schemeClr val="dk1"/>
              </a:solidFill>
              <a:latin typeface="Raleway ExtraBold"/>
              <a:ea typeface="Raleway ExtraBold"/>
              <a:cs typeface="Raleway ExtraBold"/>
              <a:sym typeface="Raleway ExtraBold"/>
            </a:endParaRPr>
          </a:p>
        </p:txBody>
      </p:sp>
      <p:graphicFrame>
        <p:nvGraphicFramePr>
          <p:cNvPr id="3" name="Object 2">
            <a:extLst>
              <a:ext uri="{FF2B5EF4-FFF2-40B4-BE49-F238E27FC236}">
                <a16:creationId xmlns:a16="http://schemas.microsoft.com/office/drawing/2014/main" id="{EC687648-6087-2D31-8C7C-E39910C8E11E}"/>
              </a:ext>
            </a:extLst>
          </p:cNvPr>
          <p:cNvGraphicFramePr>
            <a:graphicFrameLocks noChangeAspect="1"/>
          </p:cNvGraphicFramePr>
          <p:nvPr>
            <p:extLst>
              <p:ext uri="{D42A27DB-BD31-4B8C-83A1-F6EECF244321}">
                <p14:modId xmlns:p14="http://schemas.microsoft.com/office/powerpoint/2010/main" val="3560053393"/>
              </p:ext>
            </p:extLst>
          </p:nvPr>
        </p:nvGraphicFramePr>
        <p:xfrm>
          <a:off x="76788" y="4093445"/>
          <a:ext cx="2209212" cy="1920006"/>
        </p:xfrm>
        <a:graphic>
          <a:graphicData uri="http://schemas.openxmlformats.org/presentationml/2006/ole">
            <mc:AlternateContent xmlns:mc="http://schemas.openxmlformats.org/markup-compatibility/2006">
              <mc:Choice xmlns:v="urn:schemas-microsoft-com:vml" Requires="v">
                <p:oleObj name="CorelDRAW" r:id="rId3" imgW="2169000" imgH="2169360" progId="">
                  <p:embed/>
                </p:oleObj>
              </mc:Choice>
              <mc:Fallback>
                <p:oleObj name="CorelDRAW" r:id="rId3"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76788" y="4093445"/>
                        <a:ext cx="2209212" cy="1920006"/>
                      </a:xfrm>
                      <a:prstGeom prst="rect">
                        <a:avLst/>
                      </a:prstGeom>
                      <a:noFill/>
                    </p:spPr>
                  </p:pic>
                </p:oleObj>
              </mc:Fallback>
            </mc:AlternateContent>
          </a:graphicData>
        </a:graphic>
      </p:graphicFrame>
      <p:sp>
        <p:nvSpPr>
          <p:cNvPr id="5" name="Google Shape;77;p2">
            <a:extLst>
              <a:ext uri="{FF2B5EF4-FFF2-40B4-BE49-F238E27FC236}">
                <a16:creationId xmlns:a16="http://schemas.microsoft.com/office/drawing/2014/main" id="{54887470-C3B9-26AE-DFE8-AFAAC457BDD6}"/>
              </a:ext>
            </a:extLst>
          </p:cNvPr>
          <p:cNvSpPr/>
          <p:nvPr/>
        </p:nvSpPr>
        <p:spPr>
          <a:xfrm>
            <a:off x="2326825" y="0"/>
            <a:ext cx="6817200" cy="369300"/>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91BC85F-2A85-FE8D-447C-A9820CF3ACDC}"/>
              </a:ext>
            </a:extLst>
          </p:cNvPr>
          <p:cNvSpPr>
            <a:spLocks noGrp="1"/>
          </p:cNvSpPr>
          <p:nvPr>
            <p:ph type="body" idx="1"/>
          </p:nvPr>
        </p:nvSpPr>
        <p:spPr>
          <a:xfrm>
            <a:off x="231140" y="1704622"/>
            <a:ext cx="8681719" cy="3499556"/>
          </a:xfrm>
        </p:spPr>
        <p:txBody>
          <a:bodyPr/>
          <a:lstStyle/>
          <a:p>
            <a:pPr marL="0" marR="53975" lvl="0" indent="0" algn="ctr">
              <a:lnSpc>
                <a:spcPct val="115000"/>
              </a:lnSpc>
              <a:spcBef>
                <a:spcPts val="1200"/>
              </a:spcBef>
              <a:spcAft>
                <a:spcPts val="0"/>
              </a:spcAft>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rPr>
              <a:t>COURSE OBJECTIVES: </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a:buFont typeface="Arial" panose="020B0604020202020204" pitchFamily="34" charset="0"/>
              <a:buChar char="●"/>
            </a:pPr>
            <a:r>
              <a:rPr lang="en-IN" sz="1800" dirty="0">
                <a:solidFill>
                  <a:srgbClr val="262626"/>
                </a:solidFill>
                <a:effectLst/>
                <a:highlight>
                  <a:srgbClr val="FFFFFF"/>
                </a:highlight>
                <a:latin typeface="Noto Sans Symbols"/>
                <a:ea typeface="Noto Sans Symbols"/>
                <a:cs typeface="Noto Sans Symbols"/>
              </a:rPr>
              <a:t>The course aims to provide exposure to understand Information Security basics like Operating System Security, Network Security, Software Security and Web Security. </a:t>
            </a:r>
            <a:endParaRPr lang="en-IN" sz="1800" dirty="0">
              <a:effectLst/>
              <a:highlight>
                <a:srgbClr val="FFFFFF"/>
              </a:highlight>
              <a:latin typeface="Noto Sans Symbols"/>
              <a:ea typeface="Noto Sans Symbols"/>
              <a:cs typeface="Noto Sans Symbols"/>
            </a:endParaRPr>
          </a:p>
          <a:p>
            <a:pPr marL="342900" lvl="0" indent="-342900" algn="just">
              <a:buFont typeface="Arial" panose="020B0604020202020204" pitchFamily="34" charset="0"/>
              <a:buChar char="●"/>
            </a:pPr>
            <a:r>
              <a:rPr lang="en-IN" sz="1800" dirty="0">
                <a:solidFill>
                  <a:srgbClr val="262626"/>
                </a:solidFill>
                <a:effectLst/>
                <a:highlight>
                  <a:srgbClr val="FFFFFF"/>
                </a:highlight>
                <a:latin typeface="Noto Sans Symbols"/>
                <a:ea typeface="Noto Sans Symbols"/>
                <a:cs typeface="Noto Sans Symbols"/>
              </a:rPr>
              <a:t>The course aims </a:t>
            </a:r>
            <a:r>
              <a:rPr lang="en-IN" sz="1800" dirty="0">
                <a:solidFill>
                  <a:srgbClr val="000000"/>
                </a:solidFill>
                <a:effectLst/>
                <a:highlight>
                  <a:srgbClr val="FFFFFF"/>
                </a:highlight>
                <a:latin typeface="Noto Sans Symbols"/>
                <a:ea typeface="Noto Sans Symbols"/>
                <a:cs typeface="Noto Sans Symbols"/>
              </a:rPr>
              <a:t>to provide basics of cloud computing along with virtualization, cloud computing is one of the fastest growing domains from a while now. It will provide the students basic understanding about cloud and virtualization along with it how one can migrate over it</a:t>
            </a:r>
            <a:endParaRPr lang="en-IN" sz="1800" dirty="0">
              <a:effectLst/>
              <a:highlight>
                <a:srgbClr val="FFFFFF"/>
              </a:highlight>
              <a:latin typeface="Noto Sans Symbols"/>
              <a:ea typeface="Noto Sans Symbols"/>
              <a:cs typeface="Noto Sans Symbols"/>
            </a:endParaRPr>
          </a:p>
          <a:p>
            <a:pPr algn="just"/>
            <a:r>
              <a:rPr lang="en-IN" sz="1800" dirty="0">
                <a:solidFill>
                  <a:srgbClr val="000000"/>
                </a:solidFill>
                <a:effectLst/>
                <a:latin typeface="Times New Roman" panose="02020603050405020304" pitchFamily="18" charset="0"/>
                <a:ea typeface="Times New Roman" panose="02020603050405020304" pitchFamily="18" charset="0"/>
              </a:rPr>
              <a:t>The Course aim to state core blockchain concepts, the benefits, and the limitations of blockchain technologies</a:t>
            </a:r>
            <a:r>
              <a:rPr lang="en-IN" dirty="0">
                <a:effectLst/>
              </a:rPr>
              <a:t> </a:t>
            </a:r>
            <a:endParaRPr lang="en-US" dirty="0"/>
          </a:p>
        </p:txBody>
      </p:sp>
      <p:sp>
        <p:nvSpPr>
          <p:cNvPr id="4" name="TextBox 3">
            <a:extLst>
              <a:ext uri="{FF2B5EF4-FFF2-40B4-BE49-F238E27FC236}">
                <a16:creationId xmlns:a16="http://schemas.microsoft.com/office/drawing/2014/main" id="{4854E957-2C69-BA0E-13DA-B008A4DC7E99}"/>
              </a:ext>
            </a:extLst>
          </p:cNvPr>
          <p:cNvSpPr txBox="1"/>
          <p:nvPr/>
        </p:nvSpPr>
        <p:spPr>
          <a:xfrm>
            <a:off x="3488267" y="135467"/>
            <a:ext cx="184731" cy="307777"/>
          </a:xfrm>
          <a:prstGeom prst="rect">
            <a:avLst/>
          </a:prstGeom>
          <a:noFill/>
        </p:spPr>
        <p:txBody>
          <a:bodyPr wrap="none" rtlCol="0">
            <a:spAutoFit/>
          </a:bodyPr>
          <a:lstStyle/>
          <a:p>
            <a:endParaRPr lang="en-US" dirty="0"/>
          </a:p>
        </p:txBody>
      </p:sp>
      <p:sp>
        <p:nvSpPr>
          <p:cNvPr id="5" name="Google Shape;77;p2">
            <a:extLst>
              <a:ext uri="{FF2B5EF4-FFF2-40B4-BE49-F238E27FC236}">
                <a16:creationId xmlns:a16="http://schemas.microsoft.com/office/drawing/2014/main" id="{E5DD8347-3EE6-9F0A-5E36-DDDF1E7F420B}"/>
              </a:ext>
            </a:extLst>
          </p:cNvPr>
          <p:cNvSpPr/>
          <p:nvPr/>
        </p:nvSpPr>
        <p:spPr>
          <a:xfrm>
            <a:off x="2326825" y="0"/>
            <a:ext cx="6817200" cy="369300"/>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13329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2" name="Google Shape;72;p2"/>
          <p:cNvSpPr txBox="1">
            <a:spLocks noGrp="1"/>
          </p:cNvSpPr>
          <p:nvPr>
            <p:ph type="sldNum" idx="12"/>
          </p:nvPr>
        </p:nvSpPr>
        <p:spPr>
          <a:xfrm>
            <a:off x="6629400" y="6356350"/>
            <a:ext cx="2057400" cy="365125"/>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3</a:t>
            </a:fld>
            <a:endParaRPr/>
          </a:p>
        </p:txBody>
      </p:sp>
      <p:sp>
        <p:nvSpPr>
          <p:cNvPr id="77" name="Google Shape;77;p2"/>
          <p:cNvSpPr/>
          <p:nvPr/>
        </p:nvSpPr>
        <p:spPr>
          <a:xfrm>
            <a:off x="2326825" y="0"/>
            <a:ext cx="6817200" cy="369300"/>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graphicFrame>
        <p:nvGraphicFramePr>
          <p:cNvPr id="5" name="Table 4">
            <a:extLst>
              <a:ext uri="{FF2B5EF4-FFF2-40B4-BE49-F238E27FC236}">
                <a16:creationId xmlns:a16="http://schemas.microsoft.com/office/drawing/2014/main" id="{ED048B02-C0C4-6D7B-733B-E5D8D32255FB}"/>
              </a:ext>
            </a:extLst>
          </p:cNvPr>
          <p:cNvGraphicFramePr>
            <a:graphicFrameLocks noGrp="1"/>
          </p:cNvGraphicFramePr>
          <p:nvPr>
            <p:extLst>
              <p:ext uri="{D42A27DB-BD31-4B8C-83A1-F6EECF244321}">
                <p14:modId xmlns:p14="http://schemas.microsoft.com/office/powerpoint/2010/main" val="3420768165"/>
              </p:ext>
            </p:extLst>
          </p:nvPr>
        </p:nvGraphicFramePr>
        <p:xfrm>
          <a:off x="1252537" y="1444979"/>
          <a:ext cx="7270574" cy="4323644"/>
        </p:xfrm>
        <a:graphic>
          <a:graphicData uri="http://schemas.openxmlformats.org/drawingml/2006/table">
            <a:tbl>
              <a:tblPr bandRow="1">
                <a:tableStyleId>{81763C85-FD0C-4F9C-9014-DFE97472DFE7}</a:tableStyleId>
              </a:tblPr>
              <a:tblGrid>
                <a:gridCol w="1124257">
                  <a:extLst>
                    <a:ext uri="{9D8B030D-6E8A-4147-A177-3AD203B41FA5}">
                      <a16:colId xmlns:a16="http://schemas.microsoft.com/office/drawing/2014/main" val="288238081"/>
                    </a:ext>
                  </a:extLst>
                </a:gridCol>
                <a:gridCol w="6146317">
                  <a:extLst>
                    <a:ext uri="{9D8B030D-6E8A-4147-A177-3AD203B41FA5}">
                      <a16:colId xmlns:a16="http://schemas.microsoft.com/office/drawing/2014/main" val="4121193301"/>
                    </a:ext>
                  </a:extLst>
                </a:gridCol>
              </a:tblGrid>
              <a:tr h="740469">
                <a:tc>
                  <a:txBody>
                    <a:bodyPr/>
                    <a:lstStyle/>
                    <a:p>
                      <a:pPr marR="53975" algn="ctr"/>
                      <a:r>
                        <a:rPr lang="en-IN" sz="1000">
                          <a:effectLst/>
                        </a:rPr>
                        <a:t>CO No</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r>
                        <a:rPr lang="en-IN" sz="1000">
                          <a:effectLst/>
                        </a:rPr>
                        <a:t>Statement</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225662196"/>
                  </a:ext>
                </a:extLst>
              </a:tr>
              <a:tr h="642722">
                <a:tc>
                  <a:txBody>
                    <a:bodyPr/>
                    <a:lstStyle/>
                    <a:p>
                      <a:pPr marR="53975" algn="just"/>
                      <a:r>
                        <a:rPr lang="en-IN" sz="1000">
                          <a:effectLst/>
                        </a:rPr>
                        <a:t>CO1</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r>
                        <a:rPr lang="en-IN" sz="1000">
                          <a:effectLst/>
                        </a:rPr>
                        <a:t>Remember the concepts related to fundamentals of Information Security, Cloud Computing and Block Chain.</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15848187"/>
                  </a:ext>
                </a:extLst>
              </a:tr>
              <a:tr h="792690">
                <a:tc>
                  <a:txBody>
                    <a:bodyPr/>
                    <a:lstStyle/>
                    <a:p>
                      <a:pPr marR="53975" algn="just"/>
                      <a:r>
                        <a:rPr lang="en-IN" sz="1000">
                          <a:effectLst/>
                        </a:rPr>
                        <a:t>CO2</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r>
                        <a:rPr lang="en-IN" sz="1000">
                          <a:effectLst/>
                        </a:rPr>
                        <a:t>Understand the way to find, understand and Analyse the Problem for Errors, Attack memory Virtualization and Basic Block chain Techniques.  </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646607571"/>
                  </a:ext>
                </a:extLst>
              </a:tr>
              <a:tr h="747165">
                <a:tc>
                  <a:txBody>
                    <a:bodyPr/>
                    <a:lstStyle/>
                    <a:p>
                      <a:pPr marR="53975" algn="just"/>
                      <a:r>
                        <a:rPr lang="en-IN" sz="1000">
                          <a:effectLst/>
                        </a:rPr>
                        <a:t>CO3</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r>
                        <a:rPr lang="en-IN" sz="1000">
                          <a:effectLst/>
                        </a:rPr>
                        <a:t>Apply various method to avoid Security Leakage, Data Storage on cloud and working methods of Block Chain.</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661970319"/>
                  </a:ext>
                </a:extLst>
              </a:tr>
              <a:tr h="757876">
                <a:tc>
                  <a:txBody>
                    <a:bodyPr/>
                    <a:lstStyle/>
                    <a:p>
                      <a:pPr marR="53975" algn="just"/>
                      <a:r>
                        <a:rPr lang="en-IN" sz="1000">
                          <a:effectLst/>
                        </a:rPr>
                        <a:t>CO4</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r>
                        <a:rPr lang="en-IN" sz="1000">
                          <a:effectLst/>
                        </a:rPr>
                        <a:t>Analyse the Basic tools of Information Security, Cloud Computing and Blockchain  and implementation with reports generation.</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565365132"/>
                  </a:ext>
                </a:extLst>
              </a:tr>
              <a:tr h="642722">
                <a:tc>
                  <a:txBody>
                    <a:bodyPr/>
                    <a:lstStyle/>
                    <a:p>
                      <a:pPr marR="53975" algn="just"/>
                      <a:r>
                        <a:rPr lang="en-IN" sz="1000">
                          <a:effectLst/>
                        </a:rPr>
                        <a:t>CO5</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31115" algn="just"/>
                      <a:r>
                        <a:rPr lang="en-IN" sz="1000" dirty="0">
                          <a:effectLst/>
                        </a:rPr>
                        <a:t>Design and develop customized  reports on attacks, Online memory allocation , security using blockchain  </a:t>
                      </a:r>
                      <a:endParaRPr lang="en-IN" sz="12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694298898"/>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xfrm>
            <a:off x="619125" y="533400"/>
            <a:ext cx="7886700" cy="447676"/>
          </a:xfrm>
          <a:prstGeom prst="rect">
            <a:avLst/>
          </a:prstGeom>
          <a:noFill/>
          <a:ln>
            <a:noFill/>
          </a:ln>
        </p:spPr>
        <p:txBody>
          <a:bodyPr spcFirstLastPara="1" wrap="square" lIns="0" tIns="0" rIns="0" bIns="0" anchor="t" anchorCtr="0">
            <a:normAutofit fontScale="90000"/>
          </a:bodyPr>
          <a:lstStyle/>
          <a:p>
            <a:pPr marL="0" lvl="0" indent="0" algn="ctr" rtl="0">
              <a:lnSpc>
                <a:spcPct val="100000"/>
              </a:lnSpc>
              <a:spcBef>
                <a:spcPts val="0"/>
              </a:spcBef>
              <a:spcAft>
                <a:spcPts val="0"/>
              </a:spcAft>
              <a:buSzPct val="55555"/>
              <a:buNone/>
            </a:pPr>
            <a:r>
              <a:rPr lang="en-US" sz="2800" u="sng">
                <a:solidFill>
                  <a:srgbClr val="0C0C0C"/>
                </a:solidFill>
              </a:rPr>
              <a:t>Contents of the Syllabus</a:t>
            </a:r>
            <a:br>
              <a:rPr lang="en-US" sz="2800"/>
            </a:br>
            <a:r>
              <a:rPr lang="en-US" sz="2800"/>
              <a:t> </a:t>
            </a:r>
            <a:endParaRPr/>
          </a:p>
        </p:txBody>
      </p:sp>
      <p:sp>
        <p:nvSpPr>
          <p:cNvPr id="84" name="Google Shape;84;p3"/>
          <p:cNvSpPr txBox="1">
            <a:spLocks noGrp="1"/>
          </p:cNvSpPr>
          <p:nvPr>
            <p:ph type="sldNum" idx="4294967295"/>
          </p:nvPr>
        </p:nvSpPr>
        <p:spPr>
          <a:xfrm>
            <a:off x="6457950" y="6356350"/>
            <a:ext cx="2057400" cy="365125"/>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4</a:t>
            </a:fld>
            <a:endParaRPr/>
          </a:p>
        </p:txBody>
      </p:sp>
      <p:sp>
        <p:nvSpPr>
          <p:cNvPr id="85" name="Google Shape;85;p3"/>
          <p:cNvSpPr/>
          <p:nvPr/>
        </p:nvSpPr>
        <p:spPr>
          <a:xfrm>
            <a:off x="2286000" y="1"/>
            <a:ext cx="6858000" cy="369332"/>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Department of Computer Science and Engineering (CSE)</a:t>
            </a:r>
            <a:endParaRPr sz="1800" b="0" i="0" u="none" strike="noStrike" cap="none">
              <a:solidFill>
                <a:schemeClr val="dk1"/>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6477D90A-CAEC-7C57-9AA7-2BF312066CBF}"/>
              </a:ext>
            </a:extLst>
          </p:cNvPr>
          <p:cNvGraphicFramePr>
            <a:graphicFrameLocks noGrp="1"/>
          </p:cNvGraphicFramePr>
          <p:nvPr>
            <p:extLst>
              <p:ext uri="{D42A27DB-BD31-4B8C-83A1-F6EECF244321}">
                <p14:modId xmlns:p14="http://schemas.microsoft.com/office/powerpoint/2010/main" val="1209137846"/>
              </p:ext>
            </p:extLst>
          </p:nvPr>
        </p:nvGraphicFramePr>
        <p:xfrm>
          <a:off x="846667" y="1343378"/>
          <a:ext cx="8101188" cy="4854220"/>
        </p:xfrm>
        <a:graphic>
          <a:graphicData uri="http://schemas.openxmlformats.org/drawingml/2006/table">
            <a:tbl>
              <a:tblPr bandRow="1">
                <a:tableStyleId>{81763C85-FD0C-4F9C-9014-DFE97472DFE7}</a:tableStyleId>
              </a:tblPr>
              <a:tblGrid>
                <a:gridCol w="1419161">
                  <a:extLst>
                    <a:ext uri="{9D8B030D-6E8A-4147-A177-3AD203B41FA5}">
                      <a16:colId xmlns:a16="http://schemas.microsoft.com/office/drawing/2014/main" val="2648962565"/>
                    </a:ext>
                  </a:extLst>
                </a:gridCol>
                <a:gridCol w="4393677">
                  <a:extLst>
                    <a:ext uri="{9D8B030D-6E8A-4147-A177-3AD203B41FA5}">
                      <a16:colId xmlns:a16="http://schemas.microsoft.com/office/drawing/2014/main" val="3633088584"/>
                    </a:ext>
                  </a:extLst>
                </a:gridCol>
                <a:gridCol w="312644">
                  <a:extLst>
                    <a:ext uri="{9D8B030D-6E8A-4147-A177-3AD203B41FA5}">
                      <a16:colId xmlns:a16="http://schemas.microsoft.com/office/drawing/2014/main" val="2046264610"/>
                    </a:ext>
                  </a:extLst>
                </a:gridCol>
                <a:gridCol w="1975706">
                  <a:extLst>
                    <a:ext uri="{9D8B030D-6E8A-4147-A177-3AD203B41FA5}">
                      <a16:colId xmlns:a16="http://schemas.microsoft.com/office/drawing/2014/main" val="3695363973"/>
                    </a:ext>
                  </a:extLst>
                </a:gridCol>
              </a:tblGrid>
              <a:tr h="454627">
                <a:tc>
                  <a:txBody>
                    <a:bodyPr/>
                    <a:lstStyle/>
                    <a:p>
                      <a:pPr marR="53975" algn="just"/>
                      <a:r>
                        <a:rPr lang="en-IN" sz="1200" b="1">
                          <a:effectLst/>
                          <a:latin typeface="Times New Roman" panose="02020603050405020304" pitchFamily="18" charset="0"/>
                          <a:cs typeface="Times New Roman" panose="02020603050405020304" pitchFamily="18" charset="0"/>
                        </a:rPr>
                        <a:t>UNIT-1</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a:txBody>
                    <a:bodyPr/>
                    <a:lstStyle/>
                    <a:p>
                      <a:pPr marR="53975" algn="just"/>
                      <a:r>
                        <a:rPr lang="en-IN" sz="1200" b="1">
                          <a:effectLst/>
                          <a:latin typeface="Times New Roman" panose="02020603050405020304" pitchFamily="18" charset="0"/>
                          <a:cs typeface="Times New Roman" panose="02020603050405020304" pitchFamily="18" charset="0"/>
                        </a:rPr>
                        <a:t>INTRODUCTION TO BASIC OF INFORMATION SECURITY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a:effectLst/>
                          <a:latin typeface="Times New Roman" panose="02020603050405020304" pitchFamily="18" charset="0"/>
                          <a:cs typeface="Times New Roman" panose="02020603050405020304" pitchFamily="18" charset="0"/>
                        </a:rPr>
                        <a:t>Contact Hours:10</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extLst>
                  <a:ext uri="{0D108BD9-81ED-4DB2-BD59-A6C34878D82A}">
                    <a16:rowId xmlns:a16="http://schemas.microsoft.com/office/drawing/2014/main" val="3585245829"/>
                  </a:ext>
                </a:extLst>
              </a:tr>
              <a:tr h="926231">
                <a:tc>
                  <a:txBody>
                    <a:bodyPr/>
                    <a:lstStyle/>
                    <a:p>
                      <a:pPr marR="53975" algn="just"/>
                      <a:r>
                        <a:rPr lang="en-IN" sz="1200" b="1">
                          <a:effectLst/>
                          <a:latin typeface="Times New Roman" panose="02020603050405020304" pitchFamily="18" charset="0"/>
                          <a:cs typeface="Times New Roman" panose="02020603050405020304" pitchFamily="18" charset="0"/>
                        </a:rPr>
                        <a:t>Introduction to Security, Attacks and its Understanding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dirty="0">
                          <a:effectLst/>
                          <a:latin typeface="Times New Roman" panose="02020603050405020304" pitchFamily="18" charset="0"/>
                          <a:cs typeface="Times New Roman" panose="02020603050405020304" pitchFamily="18" charset="0"/>
                        </a:rPr>
                        <a:t>Introduction Security, Attacks, Computer Crime, Security Services, Security Mechanism, Cyber Crime, Information Technology ACT.</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65812581"/>
                  </a:ext>
                </a:extLst>
              </a:tr>
              <a:tr h="463115">
                <a:tc>
                  <a:txBody>
                    <a:bodyPr/>
                    <a:lstStyle/>
                    <a:p>
                      <a:pPr marR="53975" algn="just"/>
                      <a:r>
                        <a:rPr lang="en-IN" sz="1200" b="1">
                          <a:effectLst/>
                          <a:latin typeface="Times New Roman" panose="02020603050405020304" pitchFamily="18" charset="0"/>
                          <a:cs typeface="Times New Roman" panose="02020603050405020304" pitchFamily="18" charset="0"/>
                        </a:rPr>
                        <a:t>Fundamental of Ciphers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algn="just"/>
                      <a:r>
                        <a:rPr lang="en-IN" sz="1200" b="1">
                          <a:effectLst/>
                          <a:latin typeface="Times New Roman" panose="02020603050405020304" pitchFamily="18" charset="0"/>
                          <a:cs typeface="Times New Roman" panose="02020603050405020304" pitchFamily="18" charset="0"/>
                        </a:rPr>
                        <a:t>Cryptography, Substitution Ciphers, Transpositions Ciphers, Block Ciphers, Stream Ciphers,</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28695422"/>
                  </a:ext>
                </a:extLst>
              </a:tr>
              <a:tr h="694672">
                <a:tc>
                  <a:txBody>
                    <a:bodyPr/>
                    <a:lstStyle/>
                    <a:p>
                      <a:pPr marR="53975" algn="just"/>
                      <a:r>
                        <a:rPr lang="en-IN" sz="1200" b="1">
                          <a:effectLst/>
                          <a:latin typeface="Times New Roman" panose="02020603050405020304" pitchFamily="18" charset="0"/>
                          <a:cs typeface="Times New Roman" panose="02020603050405020304" pitchFamily="18" charset="0"/>
                        </a:rPr>
                        <a:t>Precautions and Preventions of Cyber Crime.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a:effectLst/>
                          <a:latin typeface="Times New Roman" panose="02020603050405020304" pitchFamily="18" charset="0"/>
                          <a:cs typeface="Times New Roman" panose="02020603050405020304" pitchFamily="18" charset="0"/>
                        </a:rPr>
                        <a:t>Cyber Crimes, Types of Cyber Crime, Social Media Precautions, Prevention of Cyber Crime and Basic precautions. Basic of Ethical Hacking.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10562080"/>
                  </a:ext>
                </a:extLst>
              </a:tr>
              <a:tr h="231557">
                <a:tc>
                  <a:txBody>
                    <a:bodyPr/>
                    <a:lstStyle/>
                    <a:p>
                      <a:pPr marR="53975" algn="just"/>
                      <a:r>
                        <a:rPr lang="en-IN" sz="1200" b="1">
                          <a:effectLst/>
                          <a:latin typeface="Times New Roman" panose="02020603050405020304" pitchFamily="18" charset="0"/>
                          <a:cs typeface="Times New Roman" panose="02020603050405020304" pitchFamily="18" charset="0"/>
                        </a:rPr>
                        <a:t>UNIT-2</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a:effectLst/>
                          <a:latin typeface="Times New Roman" panose="02020603050405020304" pitchFamily="18" charset="0"/>
                          <a:cs typeface="Times New Roman" panose="02020603050405020304" pitchFamily="18" charset="0"/>
                        </a:rPr>
                        <a:t>CLOUD COMPUTING AND DATA VIRTUALIZATION</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a:txBody>
                    <a:bodyPr/>
                    <a:lstStyle/>
                    <a:p>
                      <a:pPr marR="53975" algn="just"/>
                      <a:r>
                        <a:rPr lang="en-IN" sz="1200" b="1">
                          <a:effectLst/>
                          <a:latin typeface="Times New Roman" panose="02020603050405020304" pitchFamily="18" charset="0"/>
                          <a:cs typeface="Times New Roman" panose="02020603050405020304" pitchFamily="18" charset="0"/>
                        </a:rPr>
                        <a:t>Contact Hours:10</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extLst>
                  <a:ext uri="{0D108BD9-81ED-4DB2-BD59-A6C34878D82A}">
                    <a16:rowId xmlns:a16="http://schemas.microsoft.com/office/drawing/2014/main" val="1081772586"/>
                  </a:ext>
                </a:extLst>
              </a:tr>
              <a:tr h="926231">
                <a:tc>
                  <a:txBody>
                    <a:bodyPr/>
                    <a:lstStyle/>
                    <a:p>
                      <a:pPr marR="53975" algn="just"/>
                      <a:r>
                        <a:rPr lang="en-IN" sz="1200" b="1">
                          <a:effectLst/>
                          <a:latin typeface="Times New Roman" panose="02020603050405020304" pitchFamily="18" charset="0"/>
                          <a:cs typeface="Times New Roman" panose="02020603050405020304" pitchFamily="18" charset="0"/>
                        </a:rPr>
                        <a:t>Cloud Computing Overview</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a:effectLst/>
                          <a:latin typeface="Times New Roman" panose="02020603050405020304" pitchFamily="18" charset="0"/>
                          <a:cs typeface="Times New Roman" panose="02020603050405020304" pitchFamily="18" charset="0"/>
                        </a:rPr>
                        <a:t> Origins of Cloud computing – Cloud components - Essential characteristics – On-demand selfservice, Broad network access, Location independent resource pooling ,Rapid elasticity , Measured service, Comparing cloud providers with traditional IT service providers, Roots of cloud computing</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73824643"/>
                  </a:ext>
                </a:extLst>
              </a:tr>
              <a:tr h="694672">
                <a:tc>
                  <a:txBody>
                    <a:bodyPr/>
                    <a:lstStyle/>
                    <a:p>
                      <a:pPr marR="53975" algn="just"/>
                      <a:r>
                        <a:rPr lang="en-IN" sz="1200" b="1">
                          <a:effectLst/>
                          <a:latin typeface="Times New Roman" panose="02020603050405020304" pitchFamily="18" charset="0"/>
                          <a:cs typeface="Times New Roman" panose="02020603050405020304" pitchFamily="18" charset="0"/>
                        </a:rPr>
                        <a:t>Cloud Insights</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dirty="0">
                          <a:effectLst/>
                          <a:latin typeface="Times New Roman" panose="02020603050405020304" pitchFamily="18" charset="0"/>
                          <a:cs typeface="Times New Roman" panose="02020603050405020304" pitchFamily="18" charset="0"/>
                        </a:rPr>
                        <a:t>Architectural influences – High-performance computing, Utility and Enterprise grid computing, Cloud scenarios – Benefits: scalability, simplicity, vendors, security, Limitations – Sensitive information </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62658965"/>
                  </a:ext>
                </a:extLst>
              </a:tr>
              <a:tr h="463115">
                <a:tc>
                  <a:txBody>
                    <a:bodyPr/>
                    <a:lstStyle/>
                    <a:p>
                      <a:pPr marR="53975" algn="just"/>
                      <a:r>
                        <a:rPr lang="en-IN" sz="1200" b="1">
                          <a:effectLst/>
                          <a:latin typeface="Times New Roman" panose="02020603050405020304" pitchFamily="18" charset="0"/>
                          <a:cs typeface="Times New Roman" panose="02020603050405020304" pitchFamily="18" charset="0"/>
                        </a:rPr>
                        <a:t>Cloud Applications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dirty="0">
                          <a:effectLst/>
                          <a:latin typeface="Times New Roman" panose="02020603050405020304" pitchFamily="18" charset="0"/>
                          <a:cs typeface="Times New Roman" panose="02020603050405020304" pitchFamily="18" charset="0"/>
                        </a:rPr>
                        <a:t>Application development- security level of third party - security benefits, Regularity issues: Government policies</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60820928"/>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4"/>
          <p:cNvSpPr txBox="1">
            <a:spLocks noGrp="1"/>
          </p:cNvSpPr>
          <p:nvPr>
            <p:ph type="title"/>
          </p:nvPr>
        </p:nvSpPr>
        <p:spPr>
          <a:xfrm>
            <a:off x="619125" y="533400"/>
            <a:ext cx="7886700" cy="447676"/>
          </a:xfrm>
          <a:prstGeom prst="rect">
            <a:avLst/>
          </a:prstGeom>
          <a:noFill/>
          <a:ln>
            <a:noFill/>
          </a:ln>
        </p:spPr>
        <p:txBody>
          <a:bodyPr spcFirstLastPara="1" wrap="square" lIns="0" tIns="0" rIns="0" bIns="0" anchor="t" anchorCtr="0">
            <a:normAutofit fontScale="90000"/>
          </a:bodyPr>
          <a:lstStyle/>
          <a:p>
            <a:pPr marL="0" lvl="0" indent="0" algn="ctr" rtl="0">
              <a:lnSpc>
                <a:spcPct val="100000"/>
              </a:lnSpc>
              <a:spcBef>
                <a:spcPts val="0"/>
              </a:spcBef>
              <a:spcAft>
                <a:spcPts val="0"/>
              </a:spcAft>
              <a:buSzPct val="55555"/>
              <a:buNone/>
            </a:pPr>
            <a:r>
              <a:rPr lang="en-US" sz="2800" u="sng">
                <a:solidFill>
                  <a:srgbClr val="0C0C0C"/>
                </a:solidFill>
              </a:rPr>
              <a:t>Contents of the Syllabus</a:t>
            </a:r>
            <a:br>
              <a:rPr lang="en-US" sz="2800"/>
            </a:br>
            <a:r>
              <a:rPr lang="en-US" sz="2800"/>
              <a:t> </a:t>
            </a:r>
            <a:endParaRPr/>
          </a:p>
        </p:txBody>
      </p:sp>
      <p:sp>
        <p:nvSpPr>
          <p:cNvPr id="92" name="Google Shape;92;p4"/>
          <p:cNvSpPr txBox="1">
            <a:spLocks noGrp="1"/>
          </p:cNvSpPr>
          <p:nvPr>
            <p:ph type="sldNum" idx="4294967295"/>
          </p:nvPr>
        </p:nvSpPr>
        <p:spPr>
          <a:xfrm>
            <a:off x="6457950" y="6356350"/>
            <a:ext cx="2057400" cy="365125"/>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5</a:t>
            </a:fld>
            <a:endParaRPr/>
          </a:p>
        </p:txBody>
      </p:sp>
      <p:sp>
        <p:nvSpPr>
          <p:cNvPr id="93" name="Google Shape;93;p4"/>
          <p:cNvSpPr/>
          <p:nvPr/>
        </p:nvSpPr>
        <p:spPr>
          <a:xfrm>
            <a:off x="2286000" y="1"/>
            <a:ext cx="6858000" cy="369332"/>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Department of Computer Science and Engineering (CSE)</a:t>
            </a:r>
            <a:endParaRPr sz="1800" b="0" i="0" u="none" strike="noStrike" cap="none">
              <a:solidFill>
                <a:schemeClr val="dk1"/>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B93DFC33-395D-277E-ABD3-06468D80E3D5}"/>
              </a:ext>
            </a:extLst>
          </p:cNvPr>
          <p:cNvGraphicFramePr>
            <a:graphicFrameLocks noGrp="1"/>
          </p:cNvGraphicFramePr>
          <p:nvPr>
            <p:extLst>
              <p:ext uri="{D42A27DB-BD31-4B8C-83A1-F6EECF244321}">
                <p14:modId xmlns:p14="http://schemas.microsoft.com/office/powerpoint/2010/main" val="2661828792"/>
              </p:ext>
            </p:extLst>
          </p:nvPr>
        </p:nvGraphicFramePr>
        <p:xfrm>
          <a:off x="711200" y="1399824"/>
          <a:ext cx="8105420" cy="3612445"/>
        </p:xfrm>
        <a:graphic>
          <a:graphicData uri="http://schemas.openxmlformats.org/drawingml/2006/table">
            <a:tbl>
              <a:tblPr bandRow="1">
                <a:tableStyleId>{81763C85-FD0C-4F9C-9014-DFE97472DFE7}</a:tableStyleId>
              </a:tblPr>
              <a:tblGrid>
                <a:gridCol w="1419902">
                  <a:extLst>
                    <a:ext uri="{9D8B030D-6E8A-4147-A177-3AD203B41FA5}">
                      <a16:colId xmlns:a16="http://schemas.microsoft.com/office/drawing/2014/main" val="1911739898"/>
                    </a:ext>
                  </a:extLst>
                </a:gridCol>
                <a:gridCol w="4552376">
                  <a:extLst>
                    <a:ext uri="{9D8B030D-6E8A-4147-A177-3AD203B41FA5}">
                      <a16:colId xmlns:a16="http://schemas.microsoft.com/office/drawing/2014/main" val="193177083"/>
                    </a:ext>
                  </a:extLst>
                </a:gridCol>
                <a:gridCol w="2133142">
                  <a:extLst>
                    <a:ext uri="{9D8B030D-6E8A-4147-A177-3AD203B41FA5}">
                      <a16:colId xmlns:a16="http://schemas.microsoft.com/office/drawing/2014/main" val="2683491937"/>
                    </a:ext>
                  </a:extLst>
                </a:gridCol>
              </a:tblGrid>
              <a:tr h="459766">
                <a:tc>
                  <a:txBody>
                    <a:bodyPr/>
                    <a:lstStyle/>
                    <a:p>
                      <a:pPr marR="53975" algn="just"/>
                      <a:r>
                        <a:rPr lang="en-IN" sz="1200" b="1">
                          <a:effectLst/>
                          <a:latin typeface="Times New Roman" panose="02020603050405020304" pitchFamily="18" charset="0"/>
                          <a:cs typeface="Times New Roman" panose="02020603050405020304" pitchFamily="18" charset="0"/>
                        </a:rPr>
                        <a:t>UNIT-3</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a:txBody>
                    <a:bodyPr/>
                    <a:lstStyle/>
                    <a:p>
                      <a:pPr algn="just"/>
                      <a:r>
                        <a:rPr lang="en-IN" sz="1200" b="1">
                          <a:effectLst/>
                          <a:latin typeface="Times New Roman" panose="02020603050405020304" pitchFamily="18" charset="0"/>
                          <a:cs typeface="Times New Roman" panose="02020603050405020304" pitchFamily="18" charset="0"/>
                        </a:rPr>
                        <a:t>BLOCK CHAIN AND CRYPTOCURRENCY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a:txBody>
                    <a:bodyPr/>
                    <a:lstStyle/>
                    <a:p>
                      <a:endParaRPr lang="en-US"/>
                    </a:p>
                  </a:txBody>
                  <a:tcPr marL="28641" marR="28641" marT="0" marB="0" anchor="ctr"/>
                </a:tc>
                <a:extLst>
                  <a:ext uri="{0D108BD9-81ED-4DB2-BD59-A6C34878D82A}">
                    <a16:rowId xmlns:a16="http://schemas.microsoft.com/office/drawing/2014/main" val="3389270073"/>
                  </a:ext>
                </a:extLst>
              </a:tr>
              <a:tr h="1182255">
                <a:tc>
                  <a:txBody>
                    <a:bodyPr/>
                    <a:lstStyle/>
                    <a:p>
                      <a:pPr marR="53975" algn="just"/>
                      <a:r>
                        <a:rPr lang="en-IN" sz="1200" b="1">
                          <a:effectLst/>
                          <a:latin typeface="Times New Roman" panose="02020603050405020304" pitchFamily="18" charset="0"/>
                          <a:cs typeface="Times New Roman" panose="02020603050405020304" pitchFamily="18" charset="0"/>
                        </a:rPr>
                        <a:t>Introduction to Block Chain and Cryptocurrency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a:effectLst/>
                          <a:latin typeface="Times New Roman" panose="02020603050405020304" pitchFamily="18" charset="0"/>
                          <a:cs typeface="Times New Roman" panose="02020603050405020304" pitchFamily="18" charset="0"/>
                        </a:rPr>
                        <a:t>Blockchain Overview History and Origin of Blockchain (and Cryptocurrency) Start of Technical Concepts of Blockchain Systems, Importance, Applications, Benefits and features of Block Chain Technology.</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extLst>
                  <a:ext uri="{0D108BD9-81ED-4DB2-BD59-A6C34878D82A}">
                    <a16:rowId xmlns:a16="http://schemas.microsoft.com/office/drawing/2014/main" val="3033998130"/>
                  </a:ext>
                </a:extLst>
              </a:tr>
              <a:tr h="1182255">
                <a:tc>
                  <a:txBody>
                    <a:bodyPr/>
                    <a:lstStyle/>
                    <a:p>
                      <a:pPr marR="53975" algn="just"/>
                      <a:r>
                        <a:rPr lang="en-IN" sz="1200" b="1">
                          <a:effectLst/>
                          <a:latin typeface="Times New Roman" panose="02020603050405020304" pitchFamily="18" charset="0"/>
                          <a:cs typeface="Times New Roman" panose="02020603050405020304" pitchFamily="18" charset="0"/>
                        </a:rPr>
                        <a:t>Components and Working of Block Chain</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a:effectLst/>
                          <a:latin typeface="Times New Roman" panose="02020603050405020304" pitchFamily="18" charset="0"/>
                          <a:cs typeface="Times New Roman" panose="02020603050405020304" pitchFamily="18" charset="0"/>
                        </a:rPr>
                        <a:t>Key component and working of Block Chain Technology, Types of Block Chain Networks and protocols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extLst>
                  <a:ext uri="{0D108BD9-81ED-4DB2-BD59-A6C34878D82A}">
                    <a16:rowId xmlns:a16="http://schemas.microsoft.com/office/drawing/2014/main" val="1656774045"/>
                  </a:ext>
                </a:extLst>
              </a:tr>
              <a:tr h="788169">
                <a:tc>
                  <a:txBody>
                    <a:bodyPr/>
                    <a:lstStyle/>
                    <a:p>
                      <a:pPr marR="53975" algn="just"/>
                      <a:r>
                        <a:rPr lang="en-IN" sz="1200" b="1">
                          <a:effectLst/>
                          <a:latin typeface="Times New Roman" panose="02020603050405020304" pitchFamily="18" charset="0"/>
                          <a:cs typeface="Times New Roman" panose="02020603050405020304" pitchFamily="18" charset="0"/>
                        </a:rPr>
                        <a:t>Bitcoin and block Chain.</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dirty="0">
                          <a:effectLst/>
                          <a:latin typeface="Times New Roman" panose="02020603050405020304" pitchFamily="18" charset="0"/>
                          <a:cs typeface="Times New Roman" panose="02020603050405020304" pitchFamily="18" charset="0"/>
                        </a:rPr>
                        <a:t>Bitcoin network, Bitcoin Mining, Differentiate between database, cloud and Blockchain, Block Chain Services, Introduction to AWS server and Virtual Machines  </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extLst>
                  <a:ext uri="{0D108BD9-81ED-4DB2-BD59-A6C34878D82A}">
                    <a16:rowId xmlns:a16="http://schemas.microsoft.com/office/drawing/2014/main" val="25209525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6"/>
          <p:cNvSpPr txBox="1"/>
          <p:nvPr/>
        </p:nvSpPr>
        <p:spPr>
          <a:xfrm>
            <a:off x="2617470" y="17780"/>
            <a:ext cx="650265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15" name="Google Shape;115;p6"/>
          <p:cNvSpPr txBox="1">
            <a:spLocks noGrp="1"/>
          </p:cNvSpPr>
          <p:nvPr>
            <p:ph type="title"/>
          </p:nvPr>
        </p:nvSpPr>
        <p:spPr>
          <a:xfrm>
            <a:off x="1410080" y="475310"/>
            <a:ext cx="6627495" cy="659155"/>
          </a:xfrm>
          <a:prstGeom prst="rect">
            <a:avLst/>
          </a:prstGeom>
          <a:noFill/>
          <a:ln>
            <a:noFill/>
          </a:ln>
        </p:spPr>
        <p:txBody>
          <a:bodyPr spcFirstLastPara="1" wrap="square" lIns="0" tIns="12700" rIns="0" bIns="0" anchor="t" anchorCtr="0">
            <a:spAutoFit/>
          </a:bodyPr>
          <a:lstStyle/>
          <a:p>
            <a:pPr algn="ctr">
              <a:lnSpc>
                <a:spcPct val="150000"/>
              </a:lnSpc>
            </a:pPr>
            <a:r>
              <a:rPr lang="en-US" sz="2800" b="1" spc="10" dirty="0">
                <a:solidFill>
                  <a:srgbClr val="273239"/>
                </a:solidFill>
                <a:effectLst/>
                <a:highlight>
                  <a:srgbClr val="FFFFFF"/>
                </a:highlight>
                <a:latin typeface="Times New Roman" panose="02020603050405020304" pitchFamily="18" charset="0"/>
                <a:ea typeface="Times New Roman" panose="02020603050405020304" pitchFamily="18" charset="0"/>
              </a:rPr>
              <a:t>Cybercrime</a:t>
            </a:r>
            <a:r>
              <a:rPr lang="en-US" sz="2800" spc="10" dirty="0">
                <a:solidFill>
                  <a:srgbClr val="273239"/>
                </a:solidFill>
                <a:effectLst/>
                <a:highlight>
                  <a:srgbClr val="FFFFFF"/>
                </a:highlight>
                <a:latin typeface="Times New Roman" panose="02020603050405020304" pitchFamily="18" charset="0"/>
                <a:ea typeface="Times New Roman" panose="02020603050405020304" pitchFamily="18" charset="0"/>
              </a:rPr>
              <a:t> </a:t>
            </a:r>
            <a:endParaRPr lang="en-IN" sz="2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16" name="Google Shape;116;p6"/>
          <p:cNvSpPr txBox="1"/>
          <p:nvPr/>
        </p:nvSpPr>
        <p:spPr>
          <a:xfrm>
            <a:off x="225778" y="1190319"/>
            <a:ext cx="8760178" cy="3409893"/>
          </a:xfrm>
          <a:prstGeom prst="rect">
            <a:avLst/>
          </a:prstGeom>
          <a:noFill/>
          <a:ln>
            <a:noFill/>
          </a:ln>
        </p:spPr>
        <p:txBody>
          <a:bodyPr spcFirstLastPara="1" wrap="square" lIns="0" tIns="85075" rIns="0" bIns="0" anchor="t" anchorCtr="0">
            <a:spAutoFit/>
          </a:bodyPr>
          <a:lstStyle/>
          <a:p>
            <a:pPr algn="just" fontAlgn="base"/>
            <a:r>
              <a:rPr lang="en-US"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Cybercrime</a:t>
            </a:r>
            <a:r>
              <a:rPr lang="en-US"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or a computer-oriented crime is a crime that includes a computer and a network. The computer may have been used in the execution of a crime or it may be the target. Cybercrime is the use of a computer as a weapon for committing crimes such as committing fraud, identity theft, or breaching privacy. Cybercrime, especially through the Internet, has grown in importance as the computer has become central to every field like commerce, entertainment, and government. Cybercrime may endanger a person or a nation’s security and financial health. Cybercrime encloses a wide range of activities, but these can generally be divided into two categories: </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buFont typeface="+mj-lt"/>
              <a:buAutoNum type="arabicPeriod"/>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Crimes that aim at computer networks or devices. These types of crimes involve different threats (like virus, bugs etc.) and denial-of-service (DoS) attacks. </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buFont typeface="+mj-lt"/>
              <a:buAutoNum type="arabicPeriod"/>
              <a:tabLst>
                <a:tab pos="457200" algn="l"/>
              </a:tabLst>
            </a:pP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Crimes that use computer networks to commit other criminal activities. These types of crimes include cyber stalking, financial fraud or identity theft.</a:t>
            </a:r>
            <a:endParaRPr lang="en-IN" sz="1800" dirty="0">
              <a:effectLst/>
              <a:highlight>
                <a:srgbClr val="FFFFFF"/>
              </a:highlight>
              <a:latin typeface="Times New Roman" panose="02020603050405020304" pitchFamily="18" charset="0"/>
              <a:ea typeface="Times New Roman" panose="02020603050405020304" pitchFamily="18" charset="0"/>
            </a:endParaRPr>
          </a:p>
        </p:txBody>
      </p:sp>
      <p:sp>
        <p:nvSpPr>
          <p:cNvPr id="2" name="TextBox 1">
            <a:extLst>
              <a:ext uri="{FF2B5EF4-FFF2-40B4-BE49-F238E27FC236}">
                <a16:creationId xmlns:a16="http://schemas.microsoft.com/office/drawing/2014/main" id="{56E78E47-25A9-34E1-DF2A-171621C9E0C4}"/>
              </a:ext>
            </a:extLst>
          </p:cNvPr>
          <p:cNvSpPr txBox="1"/>
          <p:nvPr/>
        </p:nvSpPr>
        <p:spPr>
          <a:xfrm>
            <a:off x="2432739" y="5856395"/>
            <a:ext cx="4128081" cy="307777"/>
          </a:xfrm>
          <a:prstGeom prst="rect">
            <a:avLst/>
          </a:prstGeom>
          <a:noFill/>
        </p:spPr>
        <p:txBody>
          <a:bodyPr wrap="square" rtlCol="0">
            <a:spAutoFit/>
          </a:bodyPr>
          <a:lstStyle/>
          <a:p>
            <a:pPr marL="12700" lvl="0" indent="0" algn="l" rtl="0">
              <a:lnSpc>
                <a:spcPct val="100250"/>
              </a:lnSpc>
              <a:spcBef>
                <a:spcPts val="0"/>
              </a:spcBef>
              <a:spcAft>
                <a:spcPts val="0"/>
              </a:spcAft>
              <a:buSzPts val="1400"/>
              <a:buNone/>
            </a:pPr>
            <a:r>
              <a:rPr lang="en-US" dirty="0"/>
              <a:t>University Institute of Engineering (UIE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8"/>
          <p:cNvSpPr txBox="1"/>
          <p:nvPr/>
        </p:nvSpPr>
        <p:spPr>
          <a:xfrm>
            <a:off x="2606040" y="17780"/>
            <a:ext cx="651408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32" name="Google Shape;132;p8"/>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133" name="Google Shape;133;p8"/>
          <p:cNvSpPr txBox="1">
            <a:spLocks noGrp="1"/>
          </p:cNvSpPr>
          <p:nvPr>
            <p:ph type="title"/>
          </p:nvPr>
        </p:nvSpPr>
        <p:spPr>
          <a:xfrm>
            <a:off x="1350644" y="569721"/>
            <a:ext cx="7202805" cy="408435"/>
          </a:xfrm>
          <a:prstGeom prst="rect">
            <a:avLst/>
          </a:prstGeom>
          <a:noFill/>
          <a:ln>
            <a:noFill/>
          </a:ln>
        </p:spPr>
        <p:txBody>
          <a:bodyPr spcFirstLastPara="1" wrap="square" lIns="0" tIns="13325" rIns="0" bIns="0" anchor="t" anchorCtr="0">
            <a:spAutoFit/>
          </a:bodyPr>
          <a:lstStyle/>
          <a:p>
            <a:pPr algn="ctr" fontAlgn="base">
              <a:spcBef>
                <a:spcPts val="200"/>
              </a:spcBef>
            </a:pPr>
            <a:r>
              <a:rPr lang="en-IN" sz="2400" spc="10" dirty="0">
                <a:solidFill>
                  <a:srgbClr val="273239"/>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Classification of Cyber Crime: </a:t>
            </a:r>
            <a:endParaRPr lang="en-IN" sz="2400" dirty="0">
              <a:solidFill>
                <a:srgbClr val="1F376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34" name="Google Shape;134;p8"/>
          <p:cNvSpPr txBox="1"/>
          <p:nvPr/>
        </p:nvSpPr>
        <p:spPr>
          <a:xfrm>
            <a:off x="124178" y="1330198"/>
            <a:ext cx="8895644" cy="5065474"/>
          </a:xfrm>
          <a:prstGeom prst="rect">
            <a:avLst/>
          </a:prstGeom>
          <a:noFill/>
          <a:ln>
            <a:noFill/>
          </a:ln>
        </p:spPr>
        <p:txBody>
          <a:bodyPr spcFirstLastPara="1" wrap="square" lIns="0" tIns="78725" rIns="0" bIns="0" anchor="t" anchorCtr="0">
            <a:spAutoFit/>
          </a:bodyPr>
          <a:lstStyle/>
          <a:p>
            <a:pPr marL="342900" lvl="0" indent="-342900" fontAlgn="base">
              <a:buFont typeface="+mj-lt"/>
              <a:buAutoNum type="arabicPeriod"/>
              <a:tabLst>
                <a:tab pos="457200" algn="l"/>
              </a:tabLst>
            </a:pP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Cyber Terrorism –</a:t>
            </a: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a:t>
            </a:r>
            <a:b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b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Cyber terrorism is the use of the computer and internet to perform violent acts that result in loss of life. This may include different type of activities either by software or hardware for threatening life of citizens. </a:t>
            </a:r>
            <a:b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b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In general, Cyber terrorism can be defined as an act of terrorism committed through the use of cyberspace or computer resources. </a:t>
            </a:r>
            <a:b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b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fontAlgn="base">
              <a:buFont typeface="+mj-lt"/>
              <a:buAutoNum type="arabicPeriod"/>
              <a:tabLst>
                <a:tab pos="457200" algn="l"/>
              </a:tabLst>
            </a:pP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Cyber Extortion –</a:t>
            </a: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a:t>
            </a:r>
            <a:b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b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Cyber extortion occurs when a website, e-mail server or computer system is subjected to or threatened with repeated denial of service or other attacks by malicious hackers. These hackers demand huge money in return for assurance to stop the attacks and to offer protection. </a:t>
            </a:r>
            <a:b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b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fontAlgn="base">
              <a:buFont typeface="+mj-lt"/>
              <a:buAutoNum type="arabicPeriod"/>
              <a:tabLst>
                <a:tab pos="457200" algn="l"/>
              </a:tabLst>
            </a:pP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Cyber Warfare –</a:t>
            </a: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a:t>
            </a:r>
            <a:b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b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Cyber warfare is the use or targeting in a battle space or warfare context of computers, online control systems and networks. It involves both offensive and defensive operations concerning to the threat of cyber attacks, espionage and sabotage. </a:t>
            </a:r>
            <a:b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b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a:t>
            </a:r>
            <a:endParaRPr lang="en-IN" sz="1800" dirty="0">
              <a:effectLst/>
              <a:highlight>
                <a:srgbClr val="FFFFFF"/>
              </a:highlight>
              <a:latin typeface="Times New Roman" panose="02020603050405020304" pitchFamily="18" charset="0"/>
              <a:ea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9"/>
          <p:cNvSpPr txBox="1"/>
          <p:nvPr/>
        </p:nvSpPr>
        <p:spPr>
          <a:xfrm>
            <a:off x="2606040" y="17780"/>
            <a:ext cx="651408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Department of Computer Science and Engineering (CSE)</a:t>
            </a:r>
            <a:endParaRPr sz="1800" b="0" i="0" u="none" strike="noStrike" cap="none">
              <a:solidFill>
                <a:schemeClr val="dk1"/>
              </a:solidFill>
              <a:latin typeface="Arial"/>
              <a:ea typeface="Arial"/>
              <a:cs typeface="Arial"/>
              <a:sym typeface="Arial"/>
            </a:endParaRPr>
          </a:p>
        </p:txBody>
      </p:sp>
      <p:sp>
        <p:nvSpPr>
          <p:cNvPr id="140" name="Google Shape;140;p9"/>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141" name="Google Shape;141;p9"/>
          <p:cNvSpPr txBox="1">
            <a:spLocks noGrp="1"/>
          </p:cNvSpPr>
          <p:nvPr>
            <p:ph type="title"/>
          </p:nvPr>
        </p:nvSpPr>
        <p:spPr>
          <a:xfrm>
            <a:off x="1772356" y="569721"/>
            <a:ext cx="6005631" cy="536675"/>
          </a:xfrm>
          <a:prstGeom prst="rect">
            <a:avLst/>
          </a:prstGeom>
          <a:noFill/>
          <a:ln>
            <a:noFill/>
          </a:ln>
        </p:spPr>
        <p:txBody>
          <a:bodyPr spcFirstLastPara="1" wrap="square" lIns="0" tIns="13325" rIns="0" bIns="0" anchor="t" anchorCtr="0">
            <a:spAutoFit/>
          </a:bodyPr>
          <a:lstStyle/>
          <a:p>
            <a:pPr>
              <a:spcBef>
                <a:spcPts val="200"/>
              </a:spcBef>
              <a:spcAft>
                <a:spcPts val="1000"/>
              </a:spcAft>
            </a:pPr>
            <a:r>
              <a:rPr lang="en-IN" sz="2400" spc="10" dirty="0">
                <a:solidFill>
                  <a:srgbClr val="273239"/>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Classification of Cyber Crime: </a:t>
            </a:r>
            <a:endParaRPr lang="en-IN" sz="2400" b="1" dirty="0">
              <a:solidFill>
                <a:srgbClr val="1F3763"/>
              </a:solidFill>
              <a:effectLst/>
              <a:highlight>
                <a:srgbClr val="FFFFFF"/>
              </a:highlight>
              <a:latin typeface="Calibri Light" panose="020F0302020204030204" pitchFamily="34" charset="0"/>
              <a:ea typeface="Times New Roman" panose="02020603050405020304" pitchFamily="18" charset="0"/>
              <a:cs typeface="Raavi" panose="020B0502040204020203" pitchFamily="34" charset="0"/>
            </a:endParaRPr>
          </a:p>
        </p:txBody>
      </p:sp>
      <p:sp>
        <p:nvSpPr>
          <p:cNvPr id="142" name="Google Shape;142;p9"/>
          <p:cNvSpPr txBox="1"/>
          <p:nvPr/>
        </p:nvSpPr>
        <p:spPr>
          <a:xfrm>
            <a:off x="231139" y="1534414"/>
            <a:ext cx="8720949" cy="3747821"/>
          </a:xfrm>
          <a:prstGeom prst="rect">
            <a:avLst/>
          </a:prstGeom>
          <a:noFill/>
          <a:ln>
            <a:noFill/>
          </a:ln>
        </p:spPr>
        <p:txBody>
          <a:bodyPr spcFirstLastPara="1" wrap="square" lIns="0" tIns="53975" rIns="0" bIns="0" anchor="t" anchorCtr="0">
            <a:spAutoFit/>
          </a:bodyPr>
          <a:lstStyle/>
          <a:p>
            <a:pPr lvl="0" fontAlgn="base">
              <a:tabLst>
                <a:tab pos="457200" algn="l"/>
              </a:tabLst>
            </a:pP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4. Internet Fraud –</a:t>
            </a:r>
            <a:b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b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Internet fraud is a type of fraud or deceit which makes use of the Internet and could include hiding of information or providing incorrect information for the purpose of deceiving victims for money or property. Internet fraud is not considered a single, distinctive crime but covers a range of illegal and illicit actions that are committed in cyberspace. </a:t>
            </a:r>
            <a:b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b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a:t>
            </a:r>
            <a:endParaRPr lang="en-IN" sz="1800" dirty="0">
              <a:effectLst/>
              <a:highlight>
                <a:srgbClr val="FFFFFF"/>
              </a:highlight>
              <a:latin typeface="Times New Roman" panose="02020603050405020304" pitchFamily="18" charset="0"/>
              <a:ea typeface="Times New Roman" panose="02020603050405020304" pitchFamily="18" charset="0"/>
            </a:endParaRPr>
          </a:p>
          <a:p>
            <a:pPr lvl="0" fontAlgn="base">
              <a:tabLst>
                <a:tab pos="457200" algn="l"/>
              </a:tabLst>
            </a:pP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5. Cyber Stalking –</a:t>
            </a: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a:t>
            </a:r>
            <a:b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b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This is a kind of online harassment wherein the victim is subjected to a barrage of online messages and emails. In this case, these stalkers know their victims and instead of offline stalking, they use the Internet to stalk. However, if they notice that cyber stalking is not having the desired effect, they begin offline stalking along with cyber stalking to make the victims’ lives more miserable.</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fontAlgn="base"/>
            <a:endParaRPr lang="en-IN" sz="2400" dirty="0">
              <a:effectLst/>
              <a:highlight>
                <a:srgbClr val="FFFFFF"/>
              </a:highlight>
              <a:latin typeface="Times New Roman" panose="02020603050405020304" pitchFamily="18" charset="0"/>
              <a:ea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0"/>
          <p:cNvSpPr txBox="1"/>
          <p:nvPr/>
        </p:nvSpPr>
        <p:spPr>
          <a:xfrm>
            <a:off x="2475357" y="17780"/>
            <a:ext cx="6644767"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48" name="Google Shape;148;p10"/>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a:t>University Institute of Engineering (UIE)</a:t>
            </a:r>
            <a:endParaRPr lang="en-US" sz="1400" dirty="0"/>
          </a:p>
        </p:txBody>
      </p:sp>
      <p:sp>
        <p:nvSpPr>
          <p:cNvPr id="149" name="Google Shape;149;p10"/>
          <p:cNvSpPr txBox="1">
            <a:spLocks noGrp="1"/>
          </p:cNvSpPr>
          <p:nvPr>
            <p:ph type="title"/>
          </p:nvPr>
        </p:nvSpPr>
        <p:spPr>
          <a:xfrm>
            <a:off x="2319908" y="569721"/>
            <a:ext cx="5271770" cy="829063"/>
          </a:xfrm>
          <a:prstGeom prst="rect">
            <a:avLst/>
          </a:prstGeom>
          <a:noFill/>
          <a:ln>
            <a:noFill/>
          </a:ln>
        </p:spPr>
        <p:txBody>
          <a:bodyPr spcFirstLastPara="1" wrap="square" lIns="0" tIns="13325" rIns="0" bIns="0" anchor="t" anchorCtr="0">
            <a:spAutoFit/>
          </a:bodyPr>
          <a:lstStyle/>
          <a:p>
            <a:pPr algn="just" fontAlgn="base">
              <a:spcBef>
                <a:spcPts val="1505"/>
              </a:spcBef>
              <a:spcAft>
                <a:spcPts val="1505"/>
              </a:spcAft>
            </a:pPr>
            <a:r>
              <a:rPr lang="en-IN" sz="2800" spc="10" dirty="0">
                <a:solidFill>
                  <a:srgbClr val="273239"/>
                </a:solidFill>
                <a:latin typeface="Times New Roman" panose="02020603050405020304" pitchFamily="18" charset="0"/>
                <a:ea typeface="Times New Roman" panose="02020603050405020304" pitchFamily="18" charset="0"/>
              </a:rPr>
              <a:t>T</a:t>
            </a:r>
            <a:r>
              <a:rPr lang="en-IN" sz="2800" spc="10" dirty="0">
                <a:solidFill>
                  <a:srgbClr val="273239"/>
                </a:solidFill>
                <a:effectLst/>
                <a:latin typeface="Times New Roman" panose="02020603050405020304" pitchFamily="18" charset="0"/>
                <a:ea typeface="Times New Roman" panose="02020603050405020304" pitchFamily="18" charset="0"/>
              </a:rPr>
              <a:t>ypes of cyber-crimes </a:t>
            </a:r>
            <a:endParaRPr lang="en-IN" sz="2800" b="1" dirty="0">
              <a:solidFill>
                <a:srgbClr val="1F3763"/>
              </a:solidFill>
              <a:effectLst/>
              <a:highlight>
                <a:srgbClr val="FFFFFF"/>
              </a:highlight>
              <a:latin typeface="Calibri Light" panose="020F0302020204030204" pitchFamily="34" charset="0"/>
              <a:ea typeface="Times New Roman" panose="02020603050405020304" pitchFamily="18" charset="0"/>
              <a:cs typeface="Raavi" panose="020B0502040204020203" pitchFamily="34" charset="0"/>
            </a:endParaRPr>
          </a:p>
        </p:txBody>
      </p:sp>
      <p:sp>
        <p:nvSpPr>
          <p:cNvPr id="150" name="Google Shape;150;p10"/>
          <p:cNvSpPr txBox="1"/>
          <p:nvPr/>
        </p:nvSpPr>
        <p:spPr>
          <a:xfrm>
            <a:off x="231140" y="1411837"/>
            <a:ext cx="7962900" cy="3675986"/>
          </a:xfrm>
          <a:prstGeom prst="rect">
            <a:avLst/>
          </a:prstGeom>
          <a:noFill/>
          <a:ln>
            <a:noFill/>
          </a:ln>
        </p:spPr>
        <p:txBody>
          <a:bodyPr spcFirstLastPara="1" wrap="square" lIns="0" tIns="74275" rIns="0" bIns="0" anchor="t" anchorCtr="0">
            <a:spAutoFit/>
          </a:bodyPr>
          <a:lstStyle/>
          <a:p>
            <a:pPr marL="342900" lvl="0" indent="-342900" algn="just" fontAlgn="base">
              <a:buFont typeface="+mj-lt"/>
              <a:buAutoNum type="arabicPeriod"/>
              <a:tabLst>
                <a:tab pos="457200" algn="l"/>
              </a:tabLst>
            </a:pP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Hacking: </a:t>
            </a: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It defines that sending illegal instruction to any other computer or network. In this case, a person’s computer is hacked so that sensitive information can be retrieved. The criminal uses a variety of software to break into a person’s computer and the person may not be knowing that his computer is being accessed from a remote location. The government websites are strong prey for hackers. Ethical hacking is different from this and is used by many organizations to check their Internet security protection.</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buFont typeface="+mj-lt"/>
              <a:buAutoNum type="arabicPeriod"/>
              <a:tabLst>
                <a:tab pos="457200" algn="l"/>
              </a:tabLst>
            </a:pP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Children pornography and their Abuse: </a:t>
            </a: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The internet is being enormously used to abuse children. This is a type of cyber-crime where criminals exploit minors through chat rooms for the intention of child pornography. The Cyber-security sector of each nation is spending an excess of time supervising chat rooms frequently visited by children with the belief of minimizing and preventing child abuse and soliciting.</a:t>
            </a:r>
            <a:endParaRPr lang="en-IN" sz="1800" dirty="0">
              <a:effectLst/>
              <a:highlight>
                <a:srgbClr val="FFFFFF"/>
              </a:highlight>
              <a:latin typeface="Times New Roman" panose="02020603050405020304" pitchFamily="18" charset="0"/>
              <a:ea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1"/>
          <p:cNvSpPr txBox="1"/>
          <p:nvPr/>
        </p:nvSpPr>
        <p:spPr>
          <a:xfrm>
            <a:off x="2475357" y="17780"/>
            <a:ext cx="6644767"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56" name="Google Shape;156;p11"/>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157" name="Google Shape;157;p11"/>
          <p:cNvSpPr txBox="1">
            <a:spLocks noGrp="1"/>
          </p:cNvSpPr>
          <p:nvPr>
            <p:ph type="title"/>
          </p:nvPr>
        </p:nvSpPr>
        <p:spPr>
          <a:xfrm>
            <a:off x="493039" y="622807"/>
            <a:ext cx="8157921" cy="829063"/>
          </a:xfrm>
          <a:prstGeom prst="rect">
            <a:avLst/>
          </a:prstGeom>
          <a:noFill/>
          <a:ln>
            <a:noFill/>
          </a:ln>
        </p:spPr>
        <p:txBody>
          <a:bodyPr spcFirstLastPara="1" wrap="square" lIns="0" tIns="13325" rIns="0" bIns="0" anchor="t" anchorCtr="0">
            <a:spAutoFit/>
          </a:bodyPr>
          <a:lstStyle/>
          <a:p>
            <a:pPr algn="ctr" fontAlgn="base">
              <a:spcBef>
                <a:spcPts val="1505"/>
              </a:spcBef>
              <a:spcAft>
                <a:spcPts val="1505"/>
              </a:spcAft>
            </a:pPr>
            <a:r>
              <a:rPr lang="en-IN" sz="2800" spc="10" dirty="0">
                <a:solidFill>
                  <a:srgbClr val="273239"/>
                </a:solidFill>
                <a:latin typeface="Times New Roman" panose="02020603050405020304" pitchFamily="18" charset="0"/>
                <a:ea typeface="Times New Roman" panose="02020603050405020304" pitchFamily="18" charset="0"/>
              </a:rPr>
              <a:t>T</a:t>
            </a:r>
            <a:r>
              <a:rPr lang="en-IN" sz="2800" spc="10" dirty="0">
                <a:solidFill>
                  <a:srgbClr val="273239"/>
                </a:solidFill>
                <a:effectLst/>
                <a:latin typeface="Times New Roman" panose="02020603050405020304" pitchFamily="18" charset="0"/>
                <a:ea typeface="Times New Roman" panose="02020603050405020304" pitchFamily="18" charset="0"/>
              </a:rPr>
              <a:t>ypes of cyber-crimes </a:t>
            </a:r>
            <a:endParaRPr lang="en-IN" sz="2800" b="1" dirty="0">
              <a:solidFill>
                <a:srgbClr val="1F3763"/>
              </a:solidFill>
              <a:effectLst/>
              <a:highlight>
                <a:srgbClr val="FFFFFF"/>
              </a:highlight>
              <a:latin typeface="Calibri Light" panose="020F0302020204030204" pitchFamily="34" charset="0"/>
              <a:ea typeface="Times New Roman" panose="02020603050405020304" pitchFamily="18" charset="0"/>
              <a:cs typeface="Raavi" panose="020B0502040204020203" pitchFamily="34" charset="0"/>
            </a:endParaRPr>
          </a:p>
        </p:txBody>
      </p:sp>
      <p:sp>
        <p:nvSpPr>
          <p:cNvPr id="158" name="Google Shape;158;p11"/>
          <p:cNvSpPr txBox="1"/>
          <p:nvPr/>
        </p:nvSpPr>
        <p:spPr>
          <a:xfrm>
            <a:off x="535940" y="1369313"/>
            <a:ext cx="8427438" cy="3577261"/>
          </a:xfrm>
          <a:prstGeom prst="rect">
            <a:avLst/>
          </a:prstGeom>
          <a:noFill/>
          <a:ln>
            <a:noFill/>
          </a:ln>
        </p:spPr>
        <p:txBody>
          <a:bodyPr spcFirstLastPara="1" wrap="square" lIns="0" tIns="85725" rIns="0" bIns="0" anchor="t" anchorCtr="0">
            <a:spAutoFit/>
          </a:bodyPr>
          <a:lstStyle/>
          <a:p>
            <a:pPr lvl="0" algn="just" fontAlgn="base">
              <a:tabLst>
                <a:tab pos="457200" algn="l"/>
              </a:tabLst>
            </a:pP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3. Plagiarism or Piracy or Theft:</a:t>
            </a: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This crime happens when a person disobeys copyrights and downloads music, movies, games, and software. There are even peer sharing websites that stimulate software piracy and many of the other websites are now being aimed by the FBI. Nowadays, the judicial system is addressing the cyber-crime and there are so many laws that stop people from illegal downloading. Film producers and directors frequently become a martyr of this crime.</a:t>
            </a:r>
            <a:endParaRPr lang="en-IN" sz="1800" dirty="0">
              <a:effectLst/>
              <a:highlight>
                <a:srgbClr val="FFFFFF"/>
              </a:highlight>
              <a:latin typeface="Times New Roman" panose="02020603050405020304" pitchFamily="18" charset="0"/>
              <a:ea typeface="Times New Roman" panose="02020603050405020304" pitchFamily="18" charset="0"/>
            </a:endParaRPr>
          </a:p>
          <a:p>
            <a:pPr lvl="0" algn="just" fontAlgn="base">
              <a:tabLst>
                <a:tab pos="457200" algn="l"/>
              </a:tabLst>
            </a:pP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4. Cyber Stalking:</a:t>
            </a: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This is an online harassment where the victim is exposed to a cascade of online messages and emails. Typically, these stalkers know their victims and instead of offline stalking, they will use the Internet to stalk. Although, if they notice that cyber-stalking is not having the effect which they have desired, then they begin offline stalking along with cyber-stalking to make sure that victim’s survival is more depressed.</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a:spcAft>
                <a:spcPts val="1250"/>
              </a:spcAft>
            </a:pPr>
            <a:endParaRPr lang="en-IN" sz="1800" dirty="0">
              <a:effectLst/>
              <a:highlight>
                <a:srgbClr val="FFFFFF"/>
              </a:highlight>
              <a:latin typeface="Times New Roman" panose="02020603050405020304" pitchFamily="18" charset="0"/>
              <a:ea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2"/>
          <p:cNvSpPr txBox="1"/>
          <p:nvPr/>
        </p:nvSpPr>
        <p:spPr>
          <a:xfrm>
            <a:off x="2475357" y="17780"/>
            <a:ext cx="6644767"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64" name="Google Shape;164;p12"/>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165" name="Google Shape;165;p12"/>
          <p:cNvSpPr txBox="1"/>
          <p:nvPr/>
        </p:nvSpPr>
        <p:spPr>
          <a:xfrm>
            <a:off x="231140" y="1463929"/>
            <a:ext cx="8528685" cy="3964547"/>
          </a:xfrm>
          <a:prstGeom prst="rect">
            <a:avLst/>
          </a:prstGeom>
          <a:noFill/>
          <a:ln>
            <a:noFill/>
          </a:ln>
        </p:spPr>
        <p:txBody>
          <a:bodyPr spcFirstLastPara="1" wrap="square" lIns="0" tIns="85725" rIns="0" bIns="0" anchor="t" anchorCtr="0">
            <a:spAutoFit/>
          </a:bodyPr>
          <a:lstStyle/>
          <a:p>
            <a:pPr lvl="0" algn="just" fontAlgn="base">
              <a:tabLst>
                <a:tab pos="457200" algn="l"/>
              </a:tabLst>
            </a:pP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5. Cyber Terrorism:</a:t>
            </a: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Cyber terrorism is also known as information wars and can be defined as an act of Internet terrorism which contains cautious and large-scale strikes and disturbances of computer networks using computer viruses or the physical attacks using malware to strike individuals, governments and other organizations. The aim of terrorists is to produce a sense of terror in the brains of the victims. Maintaining this idea in mind, it enhances a simple way to modify the cyber-attacks for a financial or egotistical and achieve from acts of cyber terrorism. Cyber terrorists drive with the aim of harm and demolition at the forefront of their activities like a vanguard.</a:t>
            </a:r>
            <a:endParaRPr lang="en-IN" sz="1800" dirty="0">
              <a:effectLst/>
              <a:highlight>
                <a:srgbClr val="FFFFFF"/>
              </a:highlight>
              <a:latin typeface="Times New Roman" panose="02020603050405020304" pitchFamily="18" charset="0"/>
              <a:ea typeface="Times New Roman" panose="02020603050405020304" pitchFamily="18" charset="0"/>
            </a:endParaRPr>
          </a:p>
          <a:p>
            <a:pPr lvl="0" algn="just" fontAlgn="base">
              <a:tabLst>
                <a:tab pos="457200" algn="l"/>
              </a:tabLst>
            </a:pP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6. Identity Theft:</a:t>
            </a: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This is a major problem with the people who are using the Internet and technology for cash transactions and banking services. In this cyber-crime, a criminal retrieves data about a person’s bank account, credit cards, Social Security, debit card and the other diplomatic information to drain money or to purchase things online in the victim’s name. This can result in vital economic losses for the victim and even in damaging the victim’s credit history.</a:t>
            </a:r>
            <a:endParaRPr lang="en-IN" sz="1800" dirty="0">
              <a:effectLst/>
              <a:highlight>
                <a:srgbClr val="FFFFFF"/>
              </a:highlight>
              <a:latin typeface="Times New Roman" panose="02020603050405020304" pitchFamily="18" charset="0"/>
              <a:ea typeface="Times New Roman" panose="02020603050405020304" pitchFamily="18" charset="0"/>
            </a:endParaRPr>
          </a:p>
        </p:txBody>
      </p:sp>
      <p:sp>
        <p:nvSpPr>
          <p:cNvPr id="166" name="Google Shape;166;p12"/>
          <p:cNvSpPr txBox="1">
            <a:spLocks noGrp="1"/>
          </p:cNvSpPr>
          <p:nvPr>
            <p:ph type="title"/>
          </p:nvPr>
        </p:nvSpPr>
        <p:spPr>
          <a:xfrm>
            <a:off x="493039" y="622807"/>
            <a:ext cx="8157921" cy="508975"/>
          </a:xfrm>
          <a:prstGeom prst="rect">
            <a:avLst/>
          </a:prstGeom>
          <a:noFill/>
          <a:ln>
            <a:noFill/>
          </a:ln>
        </p:spPr>
        <p:txBody>
          <a:bodyPr spcFirstLastPara="1" wrap="square" lIns="0" tIns="13325" rIns="0" bIns="0" anchor="t" anchorCtr="0">
            <a:spAutoFit/>
          </a:bodyPr>
          <a:lstStyle/>
          <a:p>
            <a:pPr algn="ctr" fontAlgn="base">
              <a:lnSpc>
                <a:spcPct val="115000"/>
              </a:lnSpc>
            </a:pPr>
            <a:r>
              <a:rPr lang="en-IN" sz="2800" spc="10" dirty="0">
                <a:solidFill>
                  <a:srgbClr val="273239"/>
                </a:solidFill>
                <a:latin typeface="Times New Roman" panose="02020603050405020304" pitchFamily="18" charset="0"/>
                <a:ea typeface="Times New Roman" panose="02020603050405020304" pitchFamily="18" charset="0"/>
              </a:rPr>
              <a:t>T</a:t>
            </a:r>
            <a:r>
              <a:rPr lang="en-IN" sz="2800" spc="10" dirty="0">
                <a:solidFill>
                  <a:srgbClr val="273239"/>
                </a:solidFill>
                <a:effectLst/>
                <a:latin typeface="Times New Roman" panose="02020603050405020304" pitchFamily="18" charset="0"/>
                <a:ea typeface="Times New Roman" panose="02020603050405020304" pitchFamily="18" charset="0"/>
              </a:rPr>
              <a:t>ypes of cyber-crimes </a:t>
            </a:r>
            <a:endParaRPr lang="en-IN" sz="2800" b="1" i="1" kern="0" dirty="0">
              <a:effectLst/>
              <a:highlight>
                <a:srgbClr val="FFFFFF"/>
              </a:highlight>
              <a:latin typeface="Book Antiqua" panose="02040602050305030304" pitchFamily="18" charset="0"/>
              <a:ea typeface="Times New Roman" panose="02020603050405020304" pitchFamily="18" charset="0"/>
              <a:cs typeface="Raavi" panose="020B0502040204020203"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205C9F1-3CA4-F53D-2441-2D0F5133A916}"/>
              </a:ext>
            </a:extLst>
          </p:cNvPr>
          <p:cNvSpPr txBox="1"/>
          <p:nvPr/>
        </p:nvSpPr>
        <p:spPr>
          <a:xfrm>
            <a:off x="2968978" y="0"/>
            <a:ext cx="5588000" cy="523220"/>
          </a:xfrm>
          <a:prstGeom prst="rect">
            <a:avLst/>
          </a:prstGeom>
          <a:noFill/>
        </p:spPr>
        <p:txBody>
          <a:bodyPr wrap="square" rtlCol="0">
            <a:spAutoFit/>
          </a:bodyPr>
          <a:lstStyle/>
          <a:p>
            <a:r>
              <a:rPr lang="en-US" sz="1400" b="0" i="0" u="none" strike="noStrike" cap="none" dirty="0">
                <a:solidFill>
                  <a:schemeClr val="dk1"/>
                </a:solidFill>
                <a:latin typeface="Arial"/>
                <a:ea typeface="Arial"/>
                <a:cs typeface="Arial"/>
                <a:sym typeface="Arial"/>
              </a:rPr>
              <a:t>Department of Computer Science and Engineering (CSE)</a:t>
            </a:r>
          </a:p>
          <a:p>
            <a:endParaRPr lang="en-US" dirty="0"/>
          </a:p>
        </p:txBody>
      </p:sp>
      <p:sp>
        <p:nvSpPr>
          <p:cNvPr id="8" name="Text Placeholder 7">
            <a:extLst>
              <a:ext uri="{FF2B5EF4-FFF2-40B4-BE49-F238E27FC236}">
                <a16:creationId xmlns:a16="http://schemas.microsoft.com/office/drawing/2014/main" id="{15F15959-CBA8-007E-F5AD-A8AE0383772A}"/>
              </a:ext>
            </a:extLst>
          </p:cNvPr>
          <p:cNvSpPr>
            <a:spLocks noGrp="1"/>
          </p:cNvSpPr>
          <p:nvPr>
            <p:ph type="body" idx="1"/>
          </p:nvPr>
        </p:nvSpPr>
        <p:spPr>
          <a:xfrm>
            <a:off x="914400" y="869244"/>
            <a:ext cx="7992532" cy="4775872"/>
          </a:xfrm>
        </p:spPr>
        <p:txBody>
          <a:bodyPr/>
          <a:lstStyle/>
          <a:p>
            <a:pPr marL="342900" lvl="0" indent="-342900" algn="just" fontAlgn="base">
              <a:buFont typeface="+mj-lt"/>
              <a:buAutoNum type="arabicPeriod"/>
              <a:tabLst>
                <a:tab pos="457200" algn="l"/>
              </a:tabLst>
            </a:pPr>
            <a:endPar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buFont typeface="+mj-lt"/>
              <a:buAutoNum type="arabicPeriod"/>
              <a:tabLst>
                <a:tab pos="457200" algn="l"/>
              </a:tabLst>
            </a:pPr>
            <a:endParaRPr lang="en-IN" b="1" spc="10" dirty="0">
              <a:solidFill>
                <a:srgbClr val="273239"/>
              </a:solidFill>
              <a:highlight>
                <a:srgbClr val="FFFFFF"/>
              </a:highlight>
              <a:latin typeface="Times New Roman" panose="02020603050405020304" pitchFamily="18" charset="0"/>
              <a:ea typeface="Times New Roman" panose="02020603050405020304" pitchFamily="18" charset="0"/>
            </a:endParaRPr>
          </a:p>
          <a:p>
            <a:pPr marL="342900" lvl="0" indent="-342900" algn="just" fontAlgn="base">
              <a:buFont typeface="+mj-lt"/>
              <a:buAutoNum type="arabicPeriod"/>
              <a:tabLst>
                <a:tab pos="457200" algn="l"/>
              </a:tabLst>
            </a:pPr>
            <a:endPar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buFont typeface="+mj-lt"/>
              <a:buAutoNum type="arabicPeriod"/>
              <a:tabLst>
                <a:tab pos="457200" algn="l"/>
              </a:tabLst>
            </a:pPr>
            <a:endParaRPr lang="en-IN" b="1" spc="10" dirty="0">
              <a:solidFill>
                <a:srgbClr val="273239"/>
              </a:solidFill>
              <a:highlight>
                <a:srgbClr val="FFFFFF"/>
              </a:highlight>
              <a:latin typeface="Times New Roman" panose="02020603050405020304" pitchFamily="18" charset="0"/>
              <a:ea typeface="Times New Roman" panose="02020603050405020304" pitchFamily="18" charset="0"/>
            </a:endParaRPr>
          </a:p>
          <a:p>
            <a:pPr marL="0" lvl="0" indent="0" algn="just" fontAlgn="base">
              <a:tabLst>
                <a:tab pos="457200" algn="l"/>
              </a:tabLst>
            </a:pP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7. Computer Vandalism: </a:t>
            </a: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This is a type of malicious action that involves the destruction of computers and data in different ways and certainly disrupting businesses. The computer vandalism involves the installation of malicious programs which are designed to perform damaging tasks such as deleting hard drive data or remove login credentials. Computer vandalism differs from viruses which hold themselves to the existing programs.</a:t>
            </a:r>
            <a:endParaRPr lang="en-IN" sz="1800" dirty="0">
              <a:effectLst/>
              <a:highlight>
                <a:srgbClr val="FFFFFF"/>
              </a:highlight>
              <a:latin typeface="Times New Roman" panose="02020603050405020304" pitchFamily="18" charset="0"/>
              <a:ea typeface="Times New Roman" panose="02020603050405020304" pitchFamily="18" charset="0"/>
            </a:endParaRPr>
          </a:p>
          <a:p>
            <a:pPr marL="0" lvl="0" indent="0" algn="just" fontAlgn="base">
              <a:tabLst>
                <a:tab pos="457200" algn="l"/>
              </a:tabLst>
            </a:pP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8. Malicious Software: </a:t>
            </a: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This software based on the Internet or programs that are used to disturb a network. The software is used to acquire access to a system to loot diplomatic information or data or causing destruction to the software which is present in the system.</a:t>
            </a:r>
            <a:endParaRPr lang="en-IN" sz="1800" dirty="0">
              <a:effectLst/>
              <a:highlight>
                <a:srgbClr val="FFFFFF"/>
              </a:highligh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3516875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6ADA0C-0275-21FF-FBF6-08A493594423}"/>
              </a:ext>
            </a:extLst>
          </p:cNvPr>
          <p:cNvSpPr>
            <a:spLocks noGrp="1"/>
          </p:cNvSpPr>
          <p:nvPr>
            <p:ph type="body" idx="1"/>
          </p:nvPr>
        </p:nvSpPr>
        <p:spPr>
          <a:xfrm>
            <a:off x="225778" y="1185334"/>
            <a:ext cx="8687081" cy="5102578"/>
          </a:xfrm>
        </p:spPr>
        <p:txBody>
          <a:bodyPr/>
          <a:lstStyle/>
          <a:p>
            <a:pPr marL="342900" lvl="0" indent="-342900" algn="just" fontAlgn="base">
              <a:buFont typeface="+mj-lt"/>
              <a:buAutoNum type="arabicPeriod"/>
              <a:tabLst>
                <a:tab pos="457200" algn="l"/>
              </a:tabLst>
            </a:pP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Easy to access computers –</a:t>
            </a: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Since technology is complex, it has become very difficult to protect the computer from viruses and hackers. There are so many possibilities of hacking when we safeguard a computer system from unauthorized access. Hackers can steal access codes, retinal images, advanced voice recorders, etc that can mislead the bio-metric systems easily and can be utilized to get past many security systems by avoiding firewalls.</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buFont typeface="+mj-lt"/>
              <a:buAutoNum type="arabicPeriod"/>
              <a:tabLst>
                <a:tab pos="457200" algn="l"/>
              </a:tabLst>
            </a:pP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Size to store computer data in comparatively small space – </a:t>
            </a: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The computer has got a distinctive feature of storing data in a very small space. Due to this, the people can steal data very easily from any other storage and are using this for their purpose.</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buFont typeface="+mj-lt"/>
              <a:buAutoNum type="arabicPeriod"/>
              <a:tabLst>
                <a:tab pos="457200" algn="l"/>
              </a:tabLst>
            </a:pP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Complexity of Code –</a:t>
            </a: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The computers can run on operating systems and these operating systems are programmed with millions of codes. There might be mistakes in the code. The human brain is defective so that they can commit mistakes at any stage. The cyber-criminals take advantage of these loopholes.</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buFont typeface="+mj-lt"/>
              <a:buAutoNum type="arabicPeriod"/>
              <a:tabLst>
                <a:tab pos="457200" algn="l"/>
              </a:tabLst>
            </a:pP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Negligence of the user –</a:t>
            </a: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Human beings always neglect things. So, if we make any negligence in protecting our computer system which leads the cyber-criminal to the access and control over the computer system.</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buFont typeface="+mj-lt"/>
              <a:buAutoNum type="arabicPeriod"/>
              <a:tabLst>
                <a:tab pos="457200" algn="l"/>
              </a:tabLst>
            </a:pP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Loss of evidence – </a:t>
            </a: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Hackers always make sure to clear any evidence </a:t>
            </a:r>
            <a:r>
              <a:rPr lang="en-IN" sz="1800" spc="10" dirty="0" err="1">
                <a:solidFill>
                  <a:srgbClr val="273239"/>
                </a:solidFill>
                <a:effectLst/>
                <a:highlight>
                  <a:srgbClr val="FFFFFF"/>
                </a:highlight>
                <a:latin typeface="Times New Roman" panose="02020603050405020304" pitchFamily="18" charset="0"/>
                <a:ea typeface="Times New Roman" panose="02020603050405020304" pitchFamily="18" charset="0"/>
              </a:rPr>
              <a:t>i.e</a:t>
            </a: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log data related to the attack. So, Loss of evidence has turned into an evident problem that disables the law enforcement to go beyond the investigation of cyber-crime.</a:t>
            </a:r>
            <a:endParaRPr lang="en-IN" sz="1800" dirty="0">
              <a:effectLst/>
              <a:highlight>
                <a:srgbClr val="FFFFFF"/>
              </a:highlight>
              <a:latin typeface="Times New Roman" panose="02020603050405020304" pitchFamily="18" charset="0"/>
              <a:ea typeface="Times New Roman" panose="02020603050405020304" pitchFamily="18" charset="0"/>
            </a:endParaRPr>
          </a:p>
          <a:p>
            <a:endParaRPr lang="en-US" dirty="0"/>
          </a:p>
        </p:txBody>
      </p:sp>
      <p:sp>
        <p:nvSpPr>
          <p:cNvPr id="4" name="TextBox 3">
            <a:extLst>
              <a:ext uri="{FF2B5EF4-FFF2-40B4-BE49-F238E27FC236}">
                <a16:creationId xmlns:a16="http://schemas.microsoft.com/office/drawing/2014/main" id="{E1DA7C57-CB72-1992-9938-29C6A5A3E0CC}"/>
              </a:ext>
            </a:extLst>
          </p:cNvPr>
          <p:cNvSpPr txBox="1"/>
          <p:nvPr/>
        </p:nvSpPr>
        <p:spPr>
          <a:xfrm>
            <a:off x="3183467" y="90311"/>
            <a:ext cx="4732386" cy="523220"/>
          </a:xfrm>
          <a:prstGeom prst="rect">
            <a:avLst/>
          </a:prstGeom>
          <a:noFill/>
        </p:spPr>
        <p:txBody>
          <a:bodyPr wrap="none" rtlCol="0">
            <a:spAutoFit/>
          </a:bodyPr>
          <a:lstStyle/>
          <a:p>
            <a:r>
              <a:rPr lang="en-US" sz="1400" b="0" i="0" u="none" strike="noStrike" cap="none" dirty="0">
                <a:solidFill>
                  <a:schemeClr val="dk1"/>
                </a:solidFill>
                <a:latin typeface="Arial"/>
                <a:ea typeface="Arial"/>
                <a:cs typeface="Arial"/>
                <a:sym typeface="Arial"/>
              </a:rPr>
              <a:t>Department of Computer Science and Engineering (CSE)</a:t>
            </a:r>
          </a:p>
          <a:p>
            <a:endParaRPr lang="en-US" dirty="0"/>
          </a:p>
        </p:txBody>
      </p:sp>
      <p:sp>
        <p:nvSpPr>
          <p:cNvPr id="5" name="TextBox 4">
            <a:extLst>
              <a:ext uri="{FF2B5EF4-FFF2-40B4-BE49-F238E27FC236}">
                <a16:creationId xmlns:a16="http://schemas.microsoft.com/office/drawing/2014/main" id="{89795AEF-F680-6611-DB69-30773C8833A6}"/>
              </a:ext>
            </a:extLst>
          </p:cNvPr>
          <p:cNvSpPr txBox="1"/>
          <p:nvPr/>
        </p:nvSpPr>
        <p:spPr>
          <a:xfrm>
            <a:off x="3025422" y="846667"/>
            <a:ext cx="3524686" cy="400110"/>
          </a:xfrm>
          <a:prstGeom prst="rect">
            <a:avLst/>
          </a:prstGeom>
          <a:noFill/>
        </p:spPr>
        <p:txBody>
          <a:bodyPr wrap="square" rtlCol="0">
            <a:spAutoFit/>
          </a:bodyPr>
          <a:lstStyle/>
          <a:p>
            <a:r>
              <a:rPr lang="en-IN" sz="2000" b="1"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Causes of Cyber Crime:</a:t>
            </a:r>
            <a:r>
              <a:rPr lang="en-IN" sz="20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2000" dirty="0">
                <a:effectLst/>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5592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20ED7-1901-6BEB-6CCD-A2C24F4B4AF9}"/>
              </a:ext>
            </a:extLst>
          </p:cNvPr>
          <p:cNvSpPr>
            <a:spLocks noGrp="1"/>
          </p:cNvSpPr>
          <p:nvPr>
            <p:ph type="title"/>
          </p:nvPr>
        </p:nvSpPr>
        <p:spPr>
          <a:xfrm>
            <a:off x="493039" y="622807"/>
            <a:ext cx="8157921" cy="686704"/>
          </a:xfrm>
        </p:spPr>
        <p:txBody>
          <a:bodyPr/>
          <a:lstStyle/>
          <a:p>
            <a:r>
              <a:rPr lang="en-IN" sz="1800" dirty="0">
                <a:effectLst/>
                <a:latin typeface="Times New Roman" panose="02020603050405020304" pitchFamily="18" charset="0"/>
                <a:ea typeface="Times New Roman" panose="02020603050405020304" pitchFamily="18" charset="0"/>
              </a:rPr>
              <a:t> </a:t>
            </a:r>
            <a:br>
              <a:rPr lang="en-IN" sz="1800" dirty="0">
                <a:effectLst/>
                <a:latin typeface="Times New Roman" panose="02020603050405020304" pitchFamily="18" charset="0"/>
                <a:ea typeface="Times New Roman" panose="02020603050405020304" pitchFamily="18" charset="0"/>
              </a:rPr>
            </a:br>
            <a:r>
              <a:rPr lang="en-IN" sz="1800" dirty="0">
                <a:effectLst/>
                <a:latin typeface="Times New Roman" panose="02020603050405020304" pitchFamily="18" charset="0"/>
                <a:ea typeface="Times New Roman" panose="02020603050405020304" pitchFamily="18" charset="0"/>
              </a:rPr>
              <a:t>                                       </a:t>
            </a:r>
            <a:r>
              <a:rPr lang="en-US"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How to prevent Cyber-Crime?</a:t>
            </a:r>
            <a:r>
              <a:rPr lang="en-US"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a:t>
            </a:r>
            <a:br>
              <a:rPr lang="en-IN" sz="1800" dirty="0">
                <a:effectLst/>
                <a:highlight>
                  <a:srgbClr val="FFFFFF"/>
                </a:highlight>
                <a:latin typeface="Times New Roman" panose="02020603050405020304" pitchFamily="18" charset="0"/>
                <a:ea typeface="Times New Roman" panose="02020603050405020304" pitchFamily="18" charset="0"/>
              </a:rPr>
            </a:br>
            <a:br>
              <a:rPr lang="en-IN" sz="1800" dirty="0">
                <a:effectLst/>
                <a:highlight>
                  <a:srgbClr val="FFFFFF"/>
                </a:highlight>
                <a:latin typeface="Times New Roman" panose="02020603050405020304" pitchFamily="18" charset="0"/>
                <a:ea typeface="Times New Roman" panose="02020603050405020304" pitchFamily="18" charset="0"/>
              </a:rPr>
            </a:br>
            <a:br>
              <a:rPr lang="en-IN" sz="1800" b="1" i="1" kern="0" dirty="0">
                <a:effectLst/>
                <a:highlight>
                  <a:srgbClr val="FFFFFF"/>
                </a:highlight>
                <a:latin typeface="Book Antiqua" panose="02040602050305030304" pitchFamily="18" charset="0"/>
                <a:ea typeface="Times New Roman" panose="02020603050405020304" pitchFamily="18" charset="0"/>
                <a:cs typeface="Raavi" panose="020B0502040204020203" pitchFamily="34" charset="0"/>
              </a:rPr>
            </a:br>
            <a:endParaRPr lang="en-US" dirty="0"/>
          </a:p>
        </p:txBody>
      </p:sp>
      <p:sp>
        <p:nvSpPr>
          <p:cNvPr id="3" name="Text Placeholder 2">
            <a:extLst>
              <a:ext uri="{FF2B5EF4-FFF2-40B4-BE49-F238E27FC236}">
                <a16:creationId xmlns:a16="http://schemas.microsoft.com/office/drawing/2014/main" id="{B96E73DD-66F9-94D2-9AD9-03EABE16A394}"/>
              </a:ext>
            </a:extLst>
          </p:cNvPr>
          <p:cNvSpPr>
            <a:spLocks noGrp="1"/>
          </p:cNvSpPr>
          <p:nvPr>
            <p:ph type="body" idx="1"/>
          </p:nvPr>
        </p:nvSpPr>
        <p:spPr>
          <a:xfrm>
            <a:off x="231140" y="1501422"/>
            <a:ext cx="8681719" cy="4508927"/>
          </a:xfrm>
        </p:spPr>
        <p:txBody>
          <a:bodyPr/>
          <a:lstStyle/>
          <a:p>
            <a:pPr algn="just" fontAlgn="base">
              <a:spcAft>
                <a:spcPts val="625"/>
              </a:spcAft>
            </a:pPr>
            <a:r>
              <a:rPr lang="en-US" spc="10" dirty="0">
                <a:solidFill>
                  <a:srgbClr val="273239"/>
                </a:solidFill>
                <a:effectLst/>
                <a:highlight>
                  <a:srgbClr val="FFFFFF"/>
                </a:highlight>
                <a:latin typeface="Times New Roman" panose="02020603050405020304" pitchFamily="18" charset="0"/>
                <a:ea typeface="Times New Roman" panose="02020603050405020304" pitchFamily="18" charset="0"/>
              </a:rPr>
              <a:t>There are some ways to prevent cyber-crimes are explained below:</a:t>
            </a:r>
            <a:endParaRPr lang="en-IN"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buFont typeface="+mj-lt"/>
              <a:buAutoNum type="arabicPeriod"/>
              <a:tabLst>
                <a:tab pos="457200" algn="l"/>
              </a:tabLst>
            </a:pPr>
            <a:r>
              <a:rPr lang="en-IN" b="1" spc="10" dirty="0">
                <a:solidFill>
                  <a:srgbClr val="273239"/>
                </a:solidFill>
                <a:effectLst/>
                <a:highlight>
                  <a:srgbClr val="FFFFFF"/>
                </a:highlight>
                <a:latin typeface="Times New Roman" panose="02020603050405020304" pitchFamily="18" charset="0"/>
                <a:ea typeface="Times New Roman" panose="02020603050405020304" pitchFamily="18" charset="0"/>
              </a:rPr>
              <a:t>By Using Strong Passwords:</a:t>
            </a:r>
            <a:r>
              <a:rPr lang="en-IN" spc="10" dirty="0">
                <a:solidFill>
                  <a:srgbClr val="273239"/>
                </a:solidFill>
                <a:effectLst/>
                <a:highlight>
                  <a:srgbClr val="FFFFFF"/>
                </a:highlight>
                <a:latin typeface="Times New Roman" panose="02020603050405020304" pitchFamily="18" charset="0"/>
                <a:ea typeface="Times New Roman" panose="02020603050405020304" pitchFamily="18" charset="0"/>
              </a:rPr>
              <a:t> Maintaining different password and username combinations for each of the accounts and withstand the desire to write them down. Weak passwords can be easily broken. The following password combinations can make password more prone to hacking:</a:t>
            </a:r>
            <a:endParaRPr lang="en-IN" dirty="0">
              <a:effectLst/>
              <a:highlight>
                <a:srgbClr val="FFFFFF"/>
              </a:highlight>
              <a:latin typeface="Times New Roman" panose="02020603050405020304" pitchFamily="18" charset="0"/>
              <a:ea typeface="Times New Roman" panose="02020603050405020304" pitchFamily="18" charset="0"/>
            </a:endParaRPr>
          </a:p>
          <a:p>
            <a:pPr marL="742950" lvl="1" indent="-285750" algn="just" fontAlgn="base">
              <a:buSzPts val="1000"/>
              <a:buFont typeface="Symbol" pitchFamily="2" charset="2"/>
              <a:buChar char=""/>
              <a:tabLst>
                <a:tab pos="914400" algn="l"/>
              </a:tabLst>
            </a:pPr>
            <a:r>
              <a:rPr lang="en-IN" spc="10" dirty="0">
                <a:solidFill>
                  <a:srgbClr val="273239"/>
                </a:solidFill>
                <a:effectLst/>
                <a:highlight>
                  <a:srgbClr val="FFFFFF"/>
                </a:highlight>
                <a:latin typeface="Times New Roman" panose="02020603050405020304" pitchFamily="18" charset="0"/>
                <a:ea typeface="Times New Roman" panose="02020603050405020304" pitchFamily="18" charset="0"/>
              </a:rPr>
              <a:t>Using keyboard patterns for passwords. e.g. – </a:t>
            </a:r>
            <a:r>
              <a:rPr lang="en-IN" spc="10" dirty="0" err="1">
                <a:solidFill>
                  <a:srgbClr val="273239"/>
                </a:solidFill>
                <a:effectLst/>
                <a:highlight>
                  <a:srgbClr val="FFFFFF"/>
                </a:highlight>
                <a:latin typeface="Times New Roman" panose="02020603050405020304" pitchFamily="18" charset="0"/>
                <a:ea typeface="Times New Roman" panose="02020603050405020304" pitchFamily="18" charset="0"/>
              </a:rPr>
              <a:t>wrtdghu</a:t>
            </a:r>
            <a:endParaRPr lang="en-IN" dirty="0">
              <a:effectLst/>
              <a:highlight>
                <a:srgbClr val="FFFFFF"/>
              </a:highlight>
              <a:latin typeface="Times New Roman" panose="02020603050405020304" pitchFamily="18" charset="0"/>
              <a:ea typeface="Times New Roman" panose="02020603050405020304" pitchFamily="18" charset="0"/>
            </a:endParaRPr>
          </a:p>
          <a:p>
            <a:pPr marL="742950" lvl="1" indent="-285750" algn="just" fontAlgn="base">
              <a:buSzPts val="1000"/>
              <a:buFont typeface="Symbol" pitchFamily="2" charset="2"/>
              <a:buChar char=""/>
              <a:tabLst>
                <a:tab pos="914400" algn="l"/>
              </a:tabLst>
            </a:pPr>
            <a:r>
              <a:rPr lang="en-IN" spc="10" dirty="0">
                <a:solidFill>
                  <a:srgbClr val="273239"/>
                </a:solidFill>
                <a:effectLst/>
                <a:highlight>
                  <a:srgbClr val="FFFFFF"/>
                </a:highlight>
                <a:latin typeface="Times New Roman" panose="02020603050405020304" pitchFamily="18" charset="0"/>
                <a:ea typeface="Times New Roman" panose="02020603050405020304" pitchFamily="18" charset="0"/>
              </a:rPr>
              <a:t>Using very easy combinations. e.g. – sana1999, jan2000</a:t>
            </a:r>
            <a:endParaRPr lang="en-IN" dirty="0">
              <a:effectLst/>
              <a:highlight>
                <a:srgbClr val="FFFFFF"/>
              </a:highlight>
              <a:latin typeface="Times New Roman" panose="02020603050405020304" pitchFamily="18" charset="0"/>
              <a:ea typeface="Times New Roman" panose="02020603050405020304" pitchFamily="18" charset="0"/>
            </a:endParaRPr>
          </a:p>
          <a:p>
            <a:pPr marL="742950" lvl="1" indent="-285750" algn="just" fontAlgn="base">
              <a:buSzPts val="1000"/>
              <a:buFont typeface="Symbol" pitchFamily="2" charset="2"/>
              <a:buChar char=""/>
              <a:tabLst>
                <a:tab pos="914400" algn="l"/>
              </a:tabLst>
            </a:pPr>
            <a:r>
              <a:rPr lang="en-IN" spc="10" dirty="0">
                <a:solidFill>
                  <a:srgbClr val="273239"/>
                </a:solidFill>
                <a:effectLst/>
                <a:highlight>
                  <a:srgbClr val="FFFFFF"/>
                </a:highlight>
                <a:latin typeface="Times New Roman" panose="02020603050405020304" pitchFamily="18" charset="0"/>
                <a:ea typeface="Times New Roman" panose="02020603050405020304" pitchFamily="18" charset="0"/>
              </a:rPr>
              <a:t>Using Default passwords. e.g. – Hello123, Madhu123</a:t>
            </a:r>
            <a:endParaRPr lang="en-IN" dirty="0">
              <a:effectLst/>
              <a:highlight>
                <a:srgbClr val="FFFFFF"/>
              </a:highlight>
              <a:latin typeface="Times New Roman" panose="02020603050405020304" pitchFamily="18" charset="0"/>
              <a:ea typeface="Times New Roman" panose="02020603050405020304" pitchFamily="18" charset="0"/>
            </a:endParaRPr>
          </a:p>
          <a:p>
            <a:pPr marL="742950" lvl="1" indent="-285750" algn="just" fontAlgn="base">
              <a:buSzPts val="1000"/>
              <a:buFont typeface="Symbol" pitchFamily="2" charset="2"/>
              <a:buChar char=""/>
              <a:tabLst>
                <a:tab pos="914400" algn="l"/>
              </a:tabLst>
            </a:pPr>
            <a:r>
              <a:rPr lang="en-IN" spc="10" dirty="0">
                <a:solidFill>
                  <a:srgbClr val="273239"/>
                </a:solidFill>
                <a:effectLst/>
                <a:highlight>
                  <a:srgbClr val="FFFFFF"/>
                </a:highlight>
                <a:latin typeface="Times New Roman" panose="02020603050405020304" pitchFamily="18" charset="0"/>
                <a:ea typeface="Times New Roman" panose="02020603050405020304" pitchFamily="18" charset="0"/>
              </a:rPr>
              <a:t>Keeping the password the same as the username. e.g. – </a:t>
            </a:r>
            <a:r>
              <a:rPr lang="en-IN" spc="10" dirty="0" err="1">
                <a:solidFill>
                  <a:srgbClr val="273239"/>
                </a:solidFill>
                <a:effectLst/>
                <a:highlight>
                  <a:srgbClr val="FFFFFF"/>
                </a:highlight>
                <a:latin typeface="Times New Roman" panose="02020603050405020304" pitchFamily="18" charset="0"/>
                <a:ea typeface="Times New Roman" panose="02020603050405020304" pitchFamily="18" charset="0"/>
              </a:rPr>
              <a:t>Madhu_Madhu</a:t>
            </a:r>
            <a:endParaRPr lang="en-IN"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buFont typeface="+mj-lt"/>
              <a:buAutoNum type="arabicPeriod"/>
              <a:tabLst>
                <a:tab pos="457200" algn="l"/>
              </a:tabLst>
            </a:pPr>
            <a:r>
              <a:rPr lang="en-IN" b="1" spc="10" dirty="0">
                <a:solidFill>
                  <a:srgbClr val="273239"/>
                </a:solidFill>
                <a:effectLst/>
                <a:highlight>
                  <a:srgbClr val="FFFFFF"/>
                </a:highlight>
                <a:latin typeface="Times New Roman" panose="02020603050405020304" pitchFamily="18" charset="0"/>
                <a:ea typeface="Times New Roman" panose="02020603050405020304" pitchFamily="18" charset="0"/>
              </a:rPr>
              <a:t>Keep social media private: </a:t>
            </a:r>
            <a:r>
              <a:rPr lang="en-IN" spc="10" dirty="0">
                <a:solidFill>
                  <a:srgbClr val="273239"/>
                </a:solidFill>
                <a:effectLst/>
                <a:highlight>
                  <a:srgbClr val="FFFFFF"/>
                </a:highlight>
                <a:latin typeface="Times New Roman" panose="02020603050405020304" pitchFamily="18" charset="0"/>
                <a:ea typeface="Times New Roman" panose="02020603050405020304" pitchFamily="18" charset="0"/>
              </a:rPr>
              <a:t>Be sure that your social networking profiles (Facebook, Twitter, YouTube, etc.) are set to be private. Once be sure to check your security settings. Be careful with the information that you post online. Once if you put something on the Internet and it is there forever.</a:t>
            </a:r>
            <a:endParaRPr lang="en-IN"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buFont typeface="+mj-lt"/>
              <a:buAutoNum type="arabicPeriod"/>
              <a:tabLst>
                <a:tab pos="457200" algn="l"/>
              </a:tabLst>
            </a:pPr>
            <a:r>
              <a:rPr lang="en-IN" b="1" spc="10" dirty="0">
                <a:solidFill>
                  <a:srgbClr val="273239"/>
                </a:solidFill>
                <a:effectLst/>
                <a:highlight>
                  <a:srgbClr val="FFFFFF"/>
                </a:highlight>
                <a:latin typeface="Times New Roman" panose="02020603050405020304" pitchFamily="18" charset="0"/>
                <a:ea typeface="Times New Roman" panose="02020603050405020304" pitchFamily="18" charset="0"/>
              </a:rPr>
              <a:t>Protect your storage data:</a:t>
            </a:r>
            <a:r>
              <a:rPr lang="en-IN" spc="10" dirty="0">
                <a:solidFill>
                  <a:srgbClr val="273239"/>
                </a:solidFill>
                <a:effectLst/>
                <a:highlight>
                  <a:srgbClr val="FFFFFF"/>
                </a:highlight>
                <a:latin typeface="Times New Roman" panose="02020603050405020304" pitchFamily="18" charset="0"/>
                <a:ea typeface="Times New Roman" panose="02020603050405020304" pitchFamily="18" charset="0"/>
              </a:rPr>
              <a:t> Protect your data by using encryption for your important diplomatic files such as related to financial and taxes.</a:t>
            </a:r>
            <a:endParaRPr lang="en-IN" dirty="0">
              <a:effectLst/>
              <a:highlight>
                <a:srgbClr val="FFFFFF"/>
              </a:highlight>
              <a:latin typeface="Times New Roman" panose="02020603050405020304" pitchFamily="18" charset="0"/>
              <a:ea typeface="Times New Roman" panose="02020603050405020304" pitchFamily="18" charset="0"/>
            </a:endParaRPr>
          </a:p>
          <a:p>
            <a:endParaRPr lang="en-US" dirty="0"/>
          </a:p>
        </p:txBody>
      </p:sp>
      <p:sp>
        <p:nvSpPr>
          <p:cNvPr id="5" name="TextBox 4">
            <a:extLst>
              <a:ext uri="{FF2B5EF4-FFF2-40B4-BE49-F238E27FC236}">
                <a16:creationId xmlns:a16="http://schemas.microsoft.com/office/drawing/2014/main" id="{0A01A183-831C-6F83-FC41-01CE1A463D74}"/>
              </a:ext>
            </a:extLst>
          </p:cNvPr>
          <p:cNvSpPr txBox="1"/>
          <p:nvPr/>
        </p:nvSpPr>
        <p:spPr>
          <a:xfrm>
            <a:off x="3183467" y="112889"/>
            <a:ext cx="4732386" cy="523220"/>
          </a:xfrm>
          <a:prstGeom prst="rect">
            <a:avLst/>
          </a:prstGeom>
          <a:noFill/>
        </p:spPr>
        <p:txBody>
          <a:bodyPr wrap="none" rtlCol="0">
            <a:spAutoFit/>
          </a:bodyPr>
          <a:lstStyle/>
          <a:p>
            <a:r>
              <a:rPr lang="en-US" sz="1400" b="0" i="0" u="none" strike="noStrike" cap="none" dirty="0">
                <a:solidFill>
                  <a:schemeClr val="dk1"/>
                </a:solidFill>
                <a:latin typeface="Arial"/>
                <a:ea typeface="Arial"/>
                <a:cs typeface="Arial"/>
                <a:sym typeface="Arial"/>
              </a:rPr>
              <a:t>Department of Computer Science and Engineering (CSE)</a:t>
            </a:r>
          </a:p>
          <a:p>
            <a:endParaRPr lang="en-US" dirty="0"/>
          </a:p>
        </p:txBody>
      </p:sp>
    </p:spTree>
    <p:extLst>
      <p:ext uri="{BB962C8B-B14F-4D97-AF65-F5344CB8AC3E}">
        <p14:creationId xmlns:p14="http://schemas.microsoft.com/office/powerpoint/2010/main" val="2133941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2DFA275-B89A-054C-56CB-A8A63605C8B3}"/>
              </a:ext>
            </a:extLst>
          </p:cNvPr>
          <p:cNvSpPr>
            <a:spLocks noGrp="1"/>
          </p:cNvSpPr>
          <p:nvPr>
            <p:ph type="body" idx="1"/>
          </p:nvPr>
        </p:nvSpPr>
        <p:spPr>
          <a:xfrm>
            <a:off x="231140" y="1444979"/>
            <a:ext cx="8681719" cy="4154984"/>
          </a:xfrm>
        </p:spPr>
        <p:txBody>
          <a:bodyPr/>
          <a:lstStyle/>
          <a:p>
            <a:pPr marL="342900" lvl="0" indent="-342900" algn="just" fontAlgn="base">
              <a:buFont typeface="+mj-lt"/>
              <a:buAutoNum type="arabicPeriod"/>
              <a:tabLst>
                <a:tab pos="457200" algn="l"/>
              </a:tabLst>
            </a:pP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Protecting your identity online:</a:t>
            </a: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We have to be very alert when we are providing personal information online. You must be cautious when giving out personal ids such as your name, address, phone number, and financial information on the Internet. Be sure to make that websites are secure when you are making online purchases, etc. This includes allowing your privacy settings when you are using social networking sites.</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buFont typeface="+mj-lt"/>
              <a:buAutoNum type="arabicPeriod"/>
              <a:tabLst>
                <a:tab pos="457200" algn="l"/>
              </a:tabLst>
            </a:pP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Keep changing passwords frequently:</a:t>
            </a: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When it comes to password, don’t stick to one password. You can change your password frequently so that it may be difficult for the hackers to access the password and the stored data.</a:t>
            </a:r>
            <a:endParaRPr lang="en-IN" sz="1800" dirty="0">
              <a:effectLst/>
              <a:highlight>
                <a:srgbClr val="FFFFFF"/>
              </a:highlight>
              <a:latin typeface="Times New Roman" panose="02020603050405020304" pitchFamily="18" charset="0"/>
              <a:ea typeface="Times New Roman" panose="02020603050405020304" pitchFamily="18" charset="0"/>
            </a:endParaRPr>
          </a:p>
          <a:p>
            <a:r>
              <a:rPr lang="en-IN" sz="1800" b="1" spc="10" dirty="0">
                <a:solidFill>
                  <a:srgbClr val="273239"/>
                </a:solidFill>
                <a:effectLst/>
                <a:ea typeface="Times New Roman" panose="02020603050405020304" pitchFamily="18" charset="0"/>
              </a:rPr>
              <a:t>Securing your Phones:</a:t>
            </a:r>
            <a:r>
              <a:rPr lang="en-IN" sz="1800" spc="10" dirty="0">
                <a:solidFill>
                  <a:srgbClr val="273239"/>
                </a:solidFill>
                <a:effectLst/>
                <a:latin typeface="Times New Roman" panose="02020603050405020304" pitchFamily="18" charset="0"/>
                <a:ea typeface="Times New Roman" panose="02020603050405020304" pitchFamily="18" charset="0"/>
              </a:rPr>
              <a:t> Many people are not knowing that their mobile devices are also unsafe for malicious software, such as computer viruses and hackers. Make sure that you download applications only from trusted sources. Don’t download the software /applications from unknown sources. It is also pivotal that you should keep your operating system up-to-date. Be sure to install the anti-virus software and to use a secure lock screen as well. Otherwise, anybody can retrieve all your personal information on your phone if you lost it. Hackers </a:t>
            </a:r>
            <a:endParaRPr lang="en-US" dirty="0"/>
          </a:p>
        </p:txBody>
      </p:sp>
      <p:sp>
        <p:nvSpPr>
          <p:cNvPr id="5" name="TextBox 4">
            <a:extLst>
              <a:ext uri="{FF2B5EF4-FFF2-40B4-BE49-F238E27FC236}">
                <a16:creationId xmlns:a16="http://schemas.microsoft.com/office/drawing/2014/main" id="{3A499614-85B9-3DD9-DCBD-92AEACC01B68}"/>
              </a:ext>
            </a:extLst>
          </p:cNvPr>
          <p:cNvSpPr txBox="1"/>
          <p:nvPr/>
        </p:nvSpPr>
        <p:spPr>
          <a:xfrm>
            <a:off x="3025422" y="135467"/>
            <a:ext cx="4732386" cy="523220"/>
          </a:xfrm>
          <a:prstGeom prst="rect">
            <a:avLst/>
          </a:prstGeom>
          <a:noFill/>
        </p:spPr>
        <p:txBody>
          <a:bodyPr wrap="none" rtlCol="0">
            <a:spAutoFit/>
          </a:bodyPr>
          <a:lstStyle/>
          <a:p>
            <a:r>
              <a:rPr lang="en-US" sz="1400" b="0" i="0" u="none" strike="noStrike" cap="none" dirty="0">
                <a:solidFill>
                  <a:schemeClr val="dk1"/>
                </a:solidFill>
                <a:latin typeface="Arial"/>
                <a:ea typeface="Arial"/>
                <a:cs typeface="Arial"/>
                <a:sym typeface="Arial"/>
              </a:rPr>
              <a:t>Department of Computer Science and Engineering (CSE)</a:t>
            </a:r>
          </a:p>
          <a:p>
            <a:endParaRPr lang="en-US" dirty="0"/>
          </a:p>
        </p:txBody>
      </p:sp>
      <p:sp>
        <p:nvSpPr>
          <p:cNvPr id="6" name="TextBox 5">
            <a:extLst>
              <a:ext uri="{FF2B5EF4-FFF2-40B4-BE49-F238E27FC236}">
                <a16:creationId xmlns:a16="http://schemas.microsoft.com/office/drawing/2014/main" id="{444246C0-65EA-A2BF-A676-A8C91D42A62D}"/>
              </a:ext>
            </a:extLst>
          </p:cNvPr>
          <p:cNvSpPr txBox="1"/>
          <p:nvPr/>
        </p:nvSpPr>
        <p:spPr>
          <a:xfrm>
            <a:off x="2125614" y="658688"/>
            <a:ext cx="5370208" cy="523220"/>
          </a:xfrm>
          <a:prstGeom prst="rect">
            <a:avLst/>
          </a:prstGeom>
          <a:noFill/>
        </p:spPr>
        <p:txBody>
          <a:bodyPr wrap="square">
            <a:spAutoFit/>
          </a:bodyPr>
          <a:lstStyle/>
          <a:p>
            <a:r>
              <a:rPr lang="en-US" sz="2800" b="1" spc="10" dirty="0">
                <a:solidFill>
                  <a:srgbClr val="273239"/>
                </a:solidFill>
                <a:effectLst/>
                <a:highlight>
                  <a:srgbClr val="FFFFFF"/>
                </a:highlight>
                <a:latin typeface="Times New Roman" panose="02020603050405020304" pitchFamily="18" charset="0"/>
                <a:ea typeface="Times New Roman" panose="02020603050405020304" pitchFamily="18" charset="0"/>
              </a:rPr>
              <a:t>How to prevent Cyber-Crime?</a:t>
            </a:r>
            <a:r>
              <a:rPr lang="en-US" sz="2800" spc="10" dirty="0">
                <a:solidFill>
                  <a:srgbClr val="273239"/>
                </a:solidFill>
                <a:effectLst/>
                <a:highlight>
                  <a:srgbClr val="FFFFFF"/>
                </a:highlight>
                <a:latin typeface="Times New Roman" panose="02020603050405020304" pitchFamily="18" charset="0"/>
                <a:ea typeface="Times New Roman" panose="02020603050405020304" pitchFamily="18" charset="0"/>
              </a:rPr>
              <a:t> </a:t>
            </a:r>
            <a:endParaRPr lang="en-US" sz="2800" dirty="0"/>
          </a:p>
        </p:txBody>
      </p:sp>
    </p:spTree>
    <p:extLst>
      <p:ext uri="{BB962C8B-B14F-4D97-AF65-F5344CB8AC3E}">
        <p14:creationId xmlns:p14="http://schemas.microsoft.com/office/powerpoint/2010/main" val="3012140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0E837-169C-5272-3432-0032EC5B6189}"/>
              </a:ext>
            </a:extLst>
          </p:cNvPr>
          <p:cNvSpPr>
            <a:spLocks noGrp="1"/>
          </p:cNvSpPr>
          <p:nvPr>
            <p:ph type="title"/>
          </p:nvPr>
        </p:nvSpPr>
        <p:spPr>
          <a:xfrm>
            <a:off x="493039" y="622807"/>
            <a:ext cx="8157921" cy="536044"/>
          </a:xfrm>
        </p:spPr>
        <p:txBody>
          <a:bodyPr/>
          <a:lstStyle/>
          <a:p>
            <a:pPr algn="ctr">
              <a:spcAft>
                <a:spcPts val="1250"/>
              </a:spcAft>
            </a:pPr>
            <a:r>
              <a:rPr lang="en-US" sz="2400" b="1" spc="10" dirty="0">
                <a:solidFill>
                  <a:srgbClr val="273239"/>
                </a:solidFill>
                <a:effectLst/>
                <a:highlight>
                  <a:srgbClr val="FFFFFF"/>
                </a:highlight>
                <a:latin typeface="Times New Roman" panose="02020603050405020304" pitchFamily="18" charset="0"/>
                <a:ea typeface="Times New Roman" panose="02020603050405020304" pitchFamily="18" charset="0"/>
              </a:rPr>
              <a:t>How to prevent Cyber-Crime</a:t>
            </a:r>
            <a:endParaRPr lang="en-IN" sz="2400" dirty="0">
              <a:effectLst/>
              <a:highlight>
                <a:srgbClr val="FFFFFF"/>
              </a:highlight>
              <a:latin typeface="Times New Roman" panose="02020603050405020304" pitchFamily="18" charset="0"/>
              <a:ea typeface="Times New Roman" panose="02020603050405020304" pitchFamily="18" charset="0"/>
            </a:endParaRPr>
          </a:p>
        </p:txBody>
      </p:sp>
      <p:sp>
        <p:nvSpPr>
          <p:cNvPr id="3" name="Text Placeholder 2">
            <a:extLst>
              <a:ext uri="{FF2B5EF4-FFF2-40B4-BE49-F238E27FC236}">
                <a16:creationId xmlns:a16="http://schemas.microsoft.com/office/drawing/2014/main" id="{70FF2D35-43FB-B644-67A0-89E2D8DC751E}"/>
              </a:ext>
            </a:extLst>
          </p:cNvPr>
          <p:cNvSpPr>
            <a:spLocks noGrp="1"/>
          </p:cNvSpPr>
          <p:nvPr>
            <p:ph type="body" idx="1"/>
          </p:nvPr>
        </p:nvSpPr>
        <p:spPr>
          <a:xfrm>
            <a:off x="231140" y="1907821"/>
            <a:ext cx="8681719" cy="3160889"/>
          </a:xfrm>
        </p:spPr>
        <p:txBody>
          <a:bodyPr/>
          <a:lstStyle/>
          <a:p>
            <a:pPr marL="342900" lvl="0" indent="-342900" algn="just" fontAlgn="base">
              <a:buFont typeface="+mj-lt"/>
              <a:buAutoNum type="arabicPeriod"/>
              <a:tabLst>
                <a:tab pos="457200" algn="l"/>
              </a:tabLst>
            </a:pP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Call the right person for help:</a:t>
            </a: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Try not to be nervous if you are a victim. If you come across illegal online content such as child exploitation or if you think it’s a cyber-crime or identity theft or a commercial scam, just like any other crime report this to your local police. There are so many websites to get help on cyber-crime.</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fontAlgn="base">
              <a:buFont typeface="+mj-lt"/>
              <a:buAutoNum type="arabicPeriod"/>
              <a:tabLst>
                <a:tab pos="457200" algn="l"/>
              </a:tabLst>
            </a:pPr>
            <a:r>
              <a:rPr lang="en-IN"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Protect your computer with security software:</a:t>
            </a:r>
            <a:r>
              <a:rPr lang="en-IN"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There are many types of security software that are necessary for basic online security. Security software includes firewall and antivirus software. A firewall is normally your computer’s first line of security. It controls that who, what and where is the communication is going on the internet. So, it’s better to install security software which is from trusted sources to protect your computer.</a:t>
            </a:r>
            <a:endParaRPr lang="en-IN" sz="1800" dirty="0">
              <a:effectLst/>
              <a:highlight>
                <a:srgbClr val="FFFFFF"/>
              </a:highlight>
              <a:latin typeface="Times New Roman" panose="02020603050405020304" pitchFamily="18" charset="0"/>
              <a:ea typeface="Times New Roman" panose="02020603050405020304" pitchFamily="18" charset="0"/>
            </a:endParaRPr>
          </a:p>
          <a:p>
            <a:pPr>
              <a:spcAft>
                <a:spcPts val="1250"/>
              </a:spcAft>
            </a:pPr>
            <a:endParaRPr lang="en-IN" sz="1800" dirty="0">
              <a:effectLst/>
              <a:highlight>
                <a:srgbClr val="FFFFFF"/>
              </a:highlight>
              <a:latin typeface="Times New Roman" panose="02020603050405020304" pitchFamily="18" charset="0"/>
              <a:ea typeface="Times New Roman" panose="02020603050405020304" pitchFamily="18" charset="0"/>
            </a:endParaRPr>
          </a:p>
          <a:p>
            <a:endParaRPr lang="en-US" dirty="0"/>
          </a:p>
        </p:txBody>
      </p:sp>
      <p:sp>
        <p:nvSpPr>
          <p:cNvPr id="4" name="TextBox 3">
            <a:extLst>
              <a:ext uri="{FF2B5EF4-FFF2-40B4-BE49-F238E27FC236}">
                <a16:creationId xmlns:a16="http://schemas.microsoft.com/office/drawing/2014/main" id="{2AB51545-0821-B8A5-A438-232DB4F53DE3}"/>
              </a:ext>
            </a:extLst>
          </p:cNvPr>
          <p:cNvSpPr txBox="1"/>
          <p:nvPr/>
        </p:nvSpPr>
        <p:spPr>
          <a:xfrm>
            <a:off x="3070578" y="0"/>
            <a:ext cx="5384800" cy="523220"/>
          </a:xfrm>
          <a:prstGeom prst="rect">
            <a:avLst/>
          </a:prstGeom>
          <a:noFill/>
        </p:spPr>
        <p:txBody>
          <a:bodyPr wrap="square" rtlCol="0">
            <a:spAutoFit/>
          </a:bodyPr>
          <a:lstStyle/>
          <a:p>
            <a:r>
              <a:rPr lang="en-US" sz="1400" b="0" i="0" u="none" strike="noStrike" cap="none" dirty="0">
                <a:solidFill>
                  <a:schemeClr val="dk1"/>
                </a:solidFill>
                <a:latin typeface="Arial"/>
                <a:ea typeface="Arial"/>
                <a:cs typeface="Arial"/>
                <a:sym typeface="Arial"/>
              </a:rPr>
              <a:t>Department of Computer Science and Engineering (CSE)</a:t>
            </a:r>
          </a:p>
          <a:p>
            <a:endParaRPr lang="en-US" dirty="0"/>
          </a:p>
        </p:txBody>
      </p:sp>
    </p:spTree>
    <p:extLst>
      <p:ext uri="{BB962C8B-B14F-4D97-AF65-F5344CB8AC3E}">
        <p14:creationId xmlns:p14="http://schemas.microsoft.com/office/powerpoint/2010/main" val="26978650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22"/>
          <p:cNvSpPr txBox="1"/>
          <p:nvPr/>
        </p:nvSpPr>
        <p:spPr>
          <a:xfrm>
            <a:off x="2475357" y="17780"/>
            <a:ext cx="6644767"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248" name="Google Shape;248;p22"/>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249" name="Google Shape;249;p22"/>
          <p:cNvSpPr txBox="1">
            <a:spLocks noGrp="1"/>
          </p:cNvSpPr>
          <p:nvPr>
            <p:ph type="title"/>
          </p:nvPr>
        </p:nvSpPr>
        <p:spPr>
          <a:xfrm>
            <a:off x="3783324" y="691650"/>
            <a:ext cx="3246000"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2400" dirty="0"/>
              <a:t>References</a:t>
            </a:r>
            <a:endParaRPr sz="2400" dirty="0"/>
          </a:p>
        </p:txBody>
      </p:sp>
      <p:sp>
        <p:nvSpPr>
          <p:cNvPr id="250" name="Google Shape;250;p22"/>
          <p:cNvSpPr txBox="1"/>
          <p:nvPr/>
        </p:nvSpPr>
        <p:spPr>
          <a:xfrm>
            <a:off x="231140" y="1692211"/>
            <a:ext cx="8630638" cy="4437615"/>
          </a:xfrm>
          <a:prstGeom prst="rect">
            <a:avLst/>
          </a:prstGeom>
          <a:noFill/>
          <a:ln>
            <a:noFill/>
          </a:ln>
        </p:spPr>
        <p:txBody>
          <a:bodyPr spcFirstLastPara="1" wrap="square" lIns="0" tIns="86350" rIns="0" bIns="0" anchor="t" anchorCtr="0">
            <a:spAutoFit/>
          </a:bodyPr>
          <a:lstStyle/>
          <a:p>
            <a:pPr marR="53975" lvl="0" algn="just">
              <a:lnSpc>
                <a:spcPct val="115000"/>
              </a:lnSpc>
              <a:spcBef>
                <a:spcPts val="1200"/>
              </a:spcBef>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rPr>
              <a:t>TEXT BOOKS/REFERENCE BOOKS</a:t>
            </a:r>
            <a:endPar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endParaRPr>
          </a:p>
          <a:p>
            <a:pPr marL="457200" marR="53975" algn="just">
              <a:spcAft>
                <a:spcPts val="0"/>
              </a:spcAft>
            </a:pPr>
            <a:r>
              <a:rPr lang="en-IN" sz="18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457200" marR="53975" algn="just">
              <a:spcAft>
                <a:spcPts val="0"/>
              </a:spcAft>
            </a:pPr>
            <a:r>
              <a:rPr lang="en-IN" sz="1800" b="1" dirty="0">
                <a:effectLst/>
                <a:latin typeface="Times New Roman" panose="02020603050405020304" pitchFamily="18" charset="0"/>
                <a:ea typeface="Times New Roman" panose="02020603050405020304" pitchFamily="18" charset="0"/>
              </a:rPr>
              <a:t>TEXT BOOKS</a:t>
            </a:r>
            <a:endParaRPr lang="en-IN" sz="1800" dirty="0">
              <a:effectLst/>
              <a:latin typeface="Times New Roman" panose="02020603050405020304" pitchFamily="18" charset="0"/>
              <a:ea typeface="Times New Roman" panose="02020603050405020304" pitchFamily="18" charset="0"/>
            </a:endParaRPr>
          </a:p>
          <a:p>
            <a:r>
              <a:rPr lang="en-IN" sz="1800" b="1" dirty="0">
                <a:latin typeface="Times New Roman" panose="02020603050405020304" pitchFamily="18" charset="0"/>
                <a:ea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rPr>
              <a:t>T1 </a:t>
            </a:r>
            <a:r>
              <a:rPr lang="en-IN" sz="1800" dirty="0">
                <a:effectLst/>
                <a:latin typeface="Times New Roman" panose="02020603050405020304" pitchFamily="18" charset="0"/>
                <a:ea typeface="Times New Roman" panose="02020603050405020304" pitchFamily="18" charset="0"/>
              </a:rPr>
              <a:t>Introduction to Cyber Security by </a:t>
            </a:r>
            <a:r>
              <a:rPr lang="en-IN" sz="1800" dirty="0" err="1">
                <a:effectLst/>
                <a:latin typeface="Times New Roman" panose="02020603050405020304" pitchFamily="18" charset="0"/>
                <a:ea typeface="Times New Roman" panose="02020603050405020304" pitchFamily="18" charset="0"/>
              </a:rPr>
              <a:t>Shimeall</a:t>
            </a:r>
            <a:r>
              <a:rPr lang="en-IN" sz="1800" dirty="0">
                <a:effectLst/>
                <a:latin typeface="Times New Roman" panose="02020603050405020304" pitchFamily="18" charset="0"/>
                <a:ea typeface="Times New Roman" panose="02020603050405020304" pitchFamily="18" charset="0"/>
              </a:rPr>
              <a:t> , Elsevier Science, 2nd Edition, 2017. </a:t>
            </a:r>
          </a:p>
          <a:p>
            <a:pPr marL="457200"/>
            <a:r>
              <a:rPr lang="en-IN" sz="1800" b="1" dirty="0">
                <a:effectLst/>
                <a:latin typeface="Times New Roman" panose="02020603050405020304" pitchFamily="18" charset="0"/>
                <a:ea typeface="Times New Roman" panose="02020603050405020304" pitchFamily="18" charset="0"/>
              </a:rPr>
              <a:t>T2</a:t>
            </a:r>
            <a:r>
              <a:rPr lang="en-IN" sz="1800" dirty="0">
                <a:effectLst/>
                <a:latin typeface="Times New Roman" panose="02020603050405020304" pitchFamily="18" charset="0"/>
                <a:ea typeface="Times New Roman" panose="02020603050405020304" pitchFamily="18" charset="0"/>
              </a:rPr>
              <a:t>Introduction To Information Security And Cyber Laws by Surya Prakash Tripathi and </a:t>
            </a:r>
            <a:r>
              <a:rPr lang="en-IN" sz="1800" dirty="0" err="1">
                <a:effectLst/>
                <a:latin typeface="Times New Roman" panose="02020603050405020304" pitchFamily="18" charset="0"/>
                <a:ea typeface="Times New Roman" panose="02020603050405020304" pitchFamily="18" charset="0"/>
              </a:rPr>
              <a:t>Ritendra</a:t>
            </a:r>
            <a:r>
              <a:rPr lang="en-IN" sz="1800" dirty="0">
                <a:effectLst/>
                <a:latin typeface="Times New Roman" panose="02020603050405020304" pitchFamily="18" charset="0"/>
                <a:ea typeface="Times New Roman" panose="02020603050405020304" pitchFamily="18" charset="0"/>
              </a:rPr>
              <a:t>, John Wiley</a:t>
            </a:r>
          </a:p>
          <a:p>
            <a:pPr marL="457200" marR="53975" algn="just">
              <a:spcAft>
                <a:spcPts val="0"/>
              </a:spcAft>
            </a:pPr>
            <a:r>
              <a:rPr lang="en-IN" sz="1800" dirty="0">
                <a:effectLst/>
                <a:latin typeface="Times New Roman" panose="02020603050405020304" pitchFamily="18" charset="0"/>
                <a:ea typeface="Times New Roman" panose="02020603050405020304" pitchFamily="18" charset="0"/>
              </a:rPr>
              <a:t>, 2010.</a:t>
            </a:r>
          </a:p>
          <a:p>
            <a:pPr marL="457200" marR="53975" algn="just">
              <a:spcAft>
                <a:spcPts val="0"/>
              </a:spcAft>
            </a:pPr>
            <a:r>
              <a:rPr lang="en-IN" sz="1800" dirty="0">
                <a:effectLst/>
                <a:latin typeface="Times New Roman" panose="02020603050405020304" pitchFamily="18" charset="0"/>
                <a:ea typeface="Times New Roman" panose="02020603050405020304" pitchFamily="18" charset="0"/>
              </a:rPr>
              <a:t> </a:t>
            </a:r>
          </a:p>
          <a:p>
            <a:pPr marL="457200" marR="53975" algn="just">
              <a:spcAft>
                <a:spcPts val="0"/>
              </a:spcAft>
            </a:pPr>
            <a:r>
              <a:rPr lang="en-IN" sz="1800" b="1" dirty="0">
                <a:effectLst/>
                <a:latin typeface="Times New Roman" panose="02020603050405020304" pitchFamily="18" charset="0"/>
                <a:ea typeface="Times New Roman" panose="02020603050405020304" pitchFamily="18" charset="0"/>
              </a:rPr>
              <a:t>REFERENCE BOOKS</a:t>
            </a:r>
            <a:endParaRPr lang="en-IN" sz="1800" dirty="0">
              <a:effectLst/>
              <a:latin typeface="Times New Roman" panose="02020603050405020304" pitchFamily="18" charset="0"/>
              <a:ea typeface="Times New Roman" panose="02020603050405020304" pitchFamily="18" charset="0"/>
            </a:endParaRPr>
          </a:p>
          <a:p>
            <a:pPr marL="457200"/>
            <a:r>
              <a:rPr lang="en-IN" sz="1800" b="1" dirty="0">
                <a:effectLst/>
                <a:latin typeface="Times New Roman" panose="02020603050405020304" pitchFamily="18" charset="0"/>
                <a:ea typeface="Times New Roman" panose="02020603050405020304" pitchFamily="18" charset="0"/>
              </a:rPr>
              <a:t>R1</a:t>
            </a:r>
            <a:r>
              <a:rPr lang="en-IN" sz="1800" dirty="0">
                <a:effectLst/>
                <a:latin typeface="Times New Roman" panose="02020603050405020304" pitchFamily="18" charset="0"/>
                <a:ea typeface="Times New Roman" panose="02020603050405020304" pitchFamily="18" charset="0"/>
              </a:rPr>
              <a:t>Principles of Information Security, By Michael E. Whiteman. Cengage Learning, 2015 </a:t>
            </a:r>
          </a:p>
          <a:p>
            <a:pPr marL="457200"/>
            <a:r>
              <a:rPr lang="en-IN" sz="1800" b="1" dirty="0">
                <a:effectLst/>
                <a:latin typeface="Times New Roman" panose="02020603050405020304" pitchFamily="18" charset="0"/>
                <a:ea typeface="Times New Roman" panose="02020603050405020304" pitchFamily="18" charset="0"/>
              </a:rPr>
              <a:t>R2</a:t>
            </a:r>
            <a:r>
              <a:rPr lang="en-IN" sz="1800" dirty="0">
                <a:effectLst/>
                <a:latin typeface="Times New Roman" panose="02020603050405020304" pitchFamily="18" charset="0"/>
                <a:ea typeface="Times New Roman" panose="02020603050405020304" pitchFamily="18" charset="0"/>
              </a:rPr>
              <a:t>.Information Technology </a:t>
            </a:r>
            <a:r>
              <a:rPr lang="en-IN" sz="1800" dirty="0" err="1">
                <a:effectLst/>
                <a:latin typeface="Times New Roman" panose="02020603050405020304" pitchFamily="18" charset="0"/>
                <a:ea typeface="Times New Roman" panose="02020603050405020304" pitchFamily="18" charset="0"/>
              </a:rPr>
              <a:t>SecurityFundamentals</a:t>
            </a:r>
            <a:r>
              <a:rPr lang="en-IN" sz="1800" dirty="0">
                <a:effectLst/>
                <a:latin typeface="Times New Roman" panose="02020603050405020304" pitchFamily="18" charset="0"/>
                <a:ea typeface="Times New Roman" panose="02020603050405020304" pitchFamily="18" charset="0"/>
              </a:rPr>
              <a:t>, by Glen Sagar, Business Expert Press, 2022</a:t>
            </a:r>
          </a:p>
          <a:p>
            <a:pPr marL="457200" marR="53975" algn="just">
              <a:spcAft>
                <a:spcPts val="0"/>
              </a:spcAft>
            </a:pPr>
            <a:r>
              <a:rPr lang="en-IN" sz="1800" b="1" dirty="0">
                <a:effectLst/>
                <a:latin typeface="Times New Roman" panose="02020603050405020304" pitchFamily="18" charset="0"/>
                <a:ea typeface="Times New Roman" panose="02020603050405020304" pitchFamily="18" charset="0"/>
              </a:rPr>
              <a:t>R3</a:t>
            </a:r>
            <a:r>
              <a:rPr lang="en-IN" sz="1800" dirty="0">
                <a:effectLst/>
                <a:latin typeface="Times New Roman" panose="02020603050405020304" pitchFamily="18" charset="0"/>
                <a:ea typeface="Times New Roman" panose="02020603050405020304" pitchFamily="18" charset="0"/>
              </a:rPr>
              <a:t>Information Security Policies And Procedures: A Practitioners Reference 2Nd Edition by Peltier Thomas R., T&amp;F India, 2004</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256"/>
        <p:cNvGrpSpPr/>
        <p:nvPr/>
      </p:nvGrpSpPr>
      <p:grpSpPr>
        <a:xfrm>
          <a:off x="0" y="0"/>
          <a:ext cx="0" cy="0"/>
          <a:chOff x="0" y="0"/>
          <a:chExt cx="0" cy="0"/>
        </a:xfrm>
      </p:grpSpPr>
      <p:grpSp>
        <p:nvGrpSpPr>
          <p:cNvPr id="257" name="Google Shape;257;p23"/>
          <p:cNvGrpSpPr/>
          <p:nvPr/>
        </p:nvGrpSpPr>
        <p:grpSpPr>
          <a:xfrm>
            <a:off x="0" y="11430"/>
            <a:ext cx="9144381" cy="6858000"/>
            <a:chOff x="0" y="0"/>
            <a:chExt cx="9144381" cy="6858000"/>
          </a:xfrm>
        </p:grpSpPr>
        <p:sp>
          <p:nvSpPr>
            <p:cNvPr id="258" name="Google Shape;258;p23"/>
            <p:cNvSpPr/>
            <p:nvPr/>
          </p:nvSpPr>
          <p:spPr>
            <a:xfrm>
              <a:off x="0" y="0"/>
              <a:ext cx="9144000" cy="6858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9" name="Google Shape;259;p23"/>
            <p:cNvSpPr/>
            <p:nvPr/>
          </p:nvSpPr>
          <p:spPr>
            <a:xfrm>
              <a:off x="0" y="6356603"/>
              <a:ext cx="9144000" cy="88900"/>
            </a:xfrm>
            <a:custGeom>
              <a:avLst/>
              <a:gdLst/>
              <a:ahLst/>
              <a:cxnLst/>
              <a:rect l="l" t="t" r="r" b="b"/>
              <a:pathLst>
                <a:path w="9144000" h="88900" extrusionOk="0">
                  <a:moveTo>
                    <a:pt x="9144000" y="70713"/>
                  </a:moveTo>
                  <a:lnTo>
                    <a:pt x="0" y="70713"/>
                  </a:lnTo>
                  <a:lnTo>
                    <a:pt x="0" y="88392"/>
                  </a:lnTo>
                  <a:lnTo>
                    <a:pt x="9144000" y="88392"/>
                  </a:lnTo>
                  <a:lnTo>
                    <a:pt x="9144000" y="70713"/>
                  </a:lnTo>
                  <a:close/>
                </a:path>
                <a:path w="9144000" h="88900" extrusionOk="0">
                  <a:moveTo>
                    <a:pt x="9144000" y="0"/>
                  </a:moveTo>
                  <a:lnTo>
                    <a:pt x="0" y="0"/>
                  </a:lnTo>
                  <a:lnTo>
                    <a:pt x="0" y="53035"/>
                  </a:lnTo>
                  <a:lnTo>
                    <a:pt x="9144000" y="53035"/>
                  </a:lnTo>
                  <a:lnTo>
                    <a:pt x="9144000" y="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0" name="Google Shape;260;p23"/>
            <p:cNvSpPr/>
            <p:nvPr/>
          </p:nvSpPr>
          <p:spPr>
            <a:xfrm>
              <a:off x="152399" y="152400"/>
              <a:ext cx="768095" cy="12192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1" name="Google Shape;261;p23"/>
            <p:cNvSpPr/>
            <p:nvPr/>
          </p:nvSpPr>
          <p:spPr>
            <a:xfrm>
              <a:off x="2779776" y="0"/>
              <a:ext cx="6364605" cy="394970"/>
            </a:xfrm>
            <a:custGeom>
              <a:avLst/>
              <a:gdLst/>
              <a:ahLst/>
              <a:cxnLst/>
              <a:rect l="l" t="t" r="r" b="b"/>
              <a:pathLst>
                <a:path w="6364605" h="394970" extrusionOk="0">
                  <a:moveTo>
                    <a:pt x="6356604" y="8890"/>
                  </a:moveTo>
                  <a:lnTo>
                    <a:pt x="33528" y="8890"/>
                  </a:lnTo>
                  <a:lnTo>
                    <a:pt x="33528" y="25400"/>
                  </a:lnTo>
                  <a:lnTo>
                    <a:pt x="33528" y="344170"/>
                  </a:lnTo>
                  <a:lnTo>
                    <a:pt x="33528" y="360680"/>
                  </a:lnTo>
                  <a:lnTo>
                    <a:pt x="6356604" y="360680"/>
                  </a:lnTo>
                  <a:lnTo>
                    <a:pt x="6356604" y="344424"/>
                  </a:lnTo>
                  <a:lnTo>
                    <a:pt x="6356604" y="344170"/>
                  </a:lnTo>
                  <a:lnTo>
                    <a:pt x="6356604" y="25908"/>
                  </a:lnTo>
                  <a:lnTo>
                    <a:pt x="6339840" y="25908"/>
                  </a:lnTo>
                  <a:lnTo>
                    <a:pt x="6339840" y="344170"/>
                  </a:lnTo>
                  <a:lnTo>
                    <a:pt x="50292" y="344170"/>
                  </a:lnTo>
                  <a:lnTo>
                    <a:pt x="50292" y="25400"/>
                  </a:lnTo>
                  <a:lnTo>
                    <a:pt x="6356604" y="25400"/>
                  </a:lnTo>
                  <a:lnTo>
                    <a:pt x="6356604" y="8890"/>
                  </a:lnTo>
                  <a:close/>
                </a:path>
                <a:path w="6364605" h="394970" extrusionOk="0">
                  <a:moveTo>
                    <a:pt x="6364224" y="378460"/>
                  </a:moveTo>
                  <a:lnTo>
                    <a:pt x="16764" y="378460"/>
                  </a:lnTo>
                  <a:lnTo>
                    <a:pt x="16764" y="0"/>
                  </a:lnTo>
                  <a:lnTo>
                    <a:pt x="0" y="0"/>
                  </a:lnTo>
                  <a:lnTo>
                    <a:pt x="0" y="378460"/>
                  </a:lnTo>
                  <a:lnTo>
                    <a:pt x="0" y="394970"/>
                  </a:lnTo>
                  <a:lnTo>
                    <a:pt x="6364224" y="394970"/>
                  </a:lnTo>
                  <a:lnTo>
                    <a:pt x="6364224" y="37846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62" name="Google Shape;262;p23"/>
          <p:cNvSpPr txBox="1"/>
          <p:nvPr/>
        </p:nvSpPr>
        <p:spPr>
          <a:xfrm>
            <a:off x="2475350" y="17780"/>
            <a:ext cx="664477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263" name="Google Shape;263;p23"/>
          <p:cNvSpPr/>
          <p:nvPr/>
        </p:nvSpPr>
        <p:spPr>
          <a:xfrm>
            <a:off x="1140225" y="1823002"/>
            <a:ext cx="6362700" cy="14355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4" name="Google Shape;264;p23"/>
          <p:cNvSpPr txBox="1">
            <a:spLocks noGrp="1"/>
          </p:cNvSpPr>
          <p:nvPr>
            <p:ph type="ftr" idx="11"/>
          </p:nvPr>
        </p:nvSpPr>
        <p:spPr>
          <a:xfrm>
            <a:off x="2475350" y="5949096"/>
            <a:ext cx="41949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4199</TotalTime>
  <Words>2836</Words>
  <Application>Microsoft Macintosh PowerPoint</Application>
  <PresentationFormat>On-screen Show (4:3)</PresentationFormat>
  <Paragraphs>141</Paragraphs>
  <Slides>18</Slides>
  <Notes>12</Notes>
  <HiddenSlides>1</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31" baseType="lpstr">
      <vt:lpstr>Times New Roman</vt:lpstr>
      <vt:lpstr>Noto Sans Symbols</vt:lpstr>
      <vt:lpstr>Trebuchet MS</vt:lpstr>
      <vt:lpstr>Georgia</vt:lpstr>
      <vt:lpstr>Calibri</vt:lpstr>
      <vt:lpstr>Raleway ExtraBold</vt:lpstr>
      <vt:lpstr>Book Antiqua</vt:lpstr>
      <vt:lpstr>Arial Black</vt:lpstr>
      <vt:lpstr>Calibri Light</vt:lpstr>
      <vt:lpstr>Symbol</vt:lpstr>
      <vt:lpstr>Arial</vt:lpstr>
      <vt:lpstr>Office Theme</vt:lpstr>
      <vt:lpstr>CorelDRAW</vt:lpstr>
      <vt:lpstr>PowerPoint Presentation</vt:lpstr>
      <vt:lpstr>PowerPoint Presentation</vt:lpstr>
      <vt:lpstr>PowerPoint Presentation</vt:lpstr>
      <vt:lpstr>Contents of the Syllabus  </vt:lpstr>
      <vt:lpstr>Contents of the Syllabus  </vt:lpstr>
      <vt:lpstr>Cybercrime </vt:lpstr>
      <vt:lpstr>Classification of Cyber Crime: </vt:lpstr>
      <vt:lpstr>Classification of Cyber Crime: </vt:lpstr>
      <vt:lpstr>Types of cyber-crimes </vt:lpstr>
      <vt:lpstr>Types of cyber-crimes </vt:lpstr>
      <vt:lpstr>Types of cyber-crimes </vt:lpstr>
      <vt:lpstr>PowerPoint Presentation</vt:lpstr>
      <vt:lpstr>PowerPoint Presentation</vt:lpstr>
      <vt:lpstr>                                         How to prevent Cyber-Crime?    </vt:lpstr>
      <vt:lpstr>PowerPoint Presentation</vt:lpstr>
      <vt:lpstr>How to prevent Cyber-Crime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cgc</dc:creator>
  <cp:lastModifiedBy>Jagmeet Kaur</cp:lastModifiedBy>
  <cp:revision>86</cp:revision>
  <dcterms:created xsi:type="dcterms:W3CDTF">2019-12-13T04:20:25Z</dcterms:created>
  <dcterms:modified xsi:type="dcterms:W3CDTF">2024-05-27T10:54:04Z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2017-12-08T00:00:00Z</vt:filetime>
  </property>
  <property fmtid="{D5CDD505-2E9C-101B-9397-08002B2CF9AE}" pid="3" name="Creator">
    <vt:lpwstr>Microsoft® PowerPoint® 2013</vt:lpwstr>
  </property>
  <property fmtid="{D5CDD505-2E9C-101B-9397-08002B2CF9AE}" pid="4" name="LastSaved">
    <vt:filetime>2019-12-13T00:00:00Z</vt:filetime>
  </property>
</Properties>
</file>