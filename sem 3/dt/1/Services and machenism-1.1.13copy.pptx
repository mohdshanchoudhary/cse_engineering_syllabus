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80" r:id="rId3"/>
    <p:sldId id="257" r:id="rId4"/>
    <p:sldId id="258" r:id="rId5"/>
    <p:sldId id="259" r:id="rId6"/>
    <p:sldId id="262" r:id="rId7"/>
    <p:sldId id="264" r:id="rId8"/>
    <p:sldId id="265" r:id="rId9"/>
    <p:sldId id="266" r:id="rId10"/>
    <p:sldId id="267" r:id="rId11"/>
    <p:sldId id="268" r:id="rId12"/>
    <p:sldId id="269" r:id="rId13"/>
    <p:sldId id="281" r:id="rId14"/>
    <p:sldId id="278" r:id="rId15"/>
    <p:sldId id="279" r:id="rId16"/>
  </p:sldIdLst>
  <p:sldSz cx="9144000" cy="6858000" type="screen4x3"/>
  <p:notesSz cx="9144000" cy="6858000"/>
  <p:embeddedFontLst>
    <p:embeddedFont>
      <p:font typeface="Arial Black" panose="020B0604020202020204" pitchFamily="34" charset="0"/>
      <p:regular r:id="rId18"/>
      <p:bold r:id="rId19"/>
    </p:embeddedFont>
    <p:embeddedFont>
      <p:font typeface="Book Antiqua" panose="02040602050305030304" pitchFamily="18" charset="0"/>
      <p:regular r:id="rId20"/>
      <p:bold r:id="rId21"/>
      <p:italic r:id="rId22"/>
      <p:boldItalic r:id="rId23"/>
    </p:embeddedFont>
    <p:embeddedFont>
      <p:font typeface="Georgia" panose="02040502050405020303" pitchFamily="18" charset="0"/>
      <p:regular r:id="rId24"/>
      <p:bold r:id="rId25"/>
      <p:italic r:id="rId26"/>
      <p:boldItalic r:id="rId27"/>
    </p:embeddedFont>
    <p:embeddedFont>
      <p:font typeface="Raleway ExtraBold" panose="020F0502020204030204" pitchFamily="34" charset="0"/>
      <p:bold r:id="rId28"/>
      <p:italic r:id="rId29"/>
      <p:boldItalic r:id="rId30"/>
    </p:embeddedFont>
    <p:embeddedFont>
      <p:font typeface="Trebuchet MS" panose="020B0703020202090204" pitchFamily="34" charset="0"/>
      <p:regular r:id="rId31"/>
      <p:bold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h6Z50KqYv7Jg2W9Izz8bv56WPx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763C85-FD0C-4F9C-9014-DFE97472DFE7}">
  <a:tblStyle styleId="{81763C85-FD0C-4F9C-9014-DFE97472DF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62"/>
    <p:restoredTop sz="94653"/>
  </p:normalViewPr>
  <p:slideViewPr>
    <p:cSldViewPr snapToGrid="0">
      <p:cViewPr varScale="1">
        <p:scale>
          <a:sx n="113" d="100"/>
          <a:sy n="113" d="100"/>
        </p:scale>
        <p:origin x="864" y="18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 name="Google Shape;6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p1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rgbClr val="C00000"/>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5"/>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5"/>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457200" y="273050"/>
            <a:ext cx="3008313" cy="116205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1400"/>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6"/>
          <p:cNvSpPr txBox="1">
            <a:spLocks noGrp="1"/>
          </p:cNvSpPr>
          <p:nvPr>
            <p:ph type="body" idx="1"/>
          </p:nvPr>
        </p:nvSpPr>
        <p:spPr>
          <a:xfrm>
            <a:off x="3575050" y="273050"/>
            <a:ext cx="5111750" cy="585311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a:lvl1pPr>
            <a:lvl2pPr marL="914400" lvl="1" indent="-228600" algn="l">
              <a:lnSpc>
                <a:spcPct val="100000"/>
              </a:lnSpc>
              <a:spcBef>
                <a:spcPts val="0"/>
              </a:spcBef>
              <a:spcAft>
                <a:spcPts val="0"/>
              </a:spcAft>
              <a:buSzPts val="1400"/>
              <a:buNone/>
              <a:defRPr sz="2800"/>
            </a:lvl2pPr>
            <a:lvl3pPr marL="1371600" lvl="2" indent="-228600" algn="l">
              <a:lnSpc>
                <a:spcPct val="100000"/>
              </a:lnSpc>
              <a:spcBef>
                <a:spcPts val="0"/>
              </a:spcBef>
              <a:spcAft>
                <a:spcPts val="0"/>
              </a:spcAft>
              <a:buSzPts val="1400"/>
              <a:buNone/>
              <a:defRPr sz="2400"/>
            </a:lvl3pPr>
            <a:lvl4pPr marL="1828800" lvl="3" indent="-228600" algn="l">
              <a:lnSpc>
                <a:spcPct val="100000"/>
              </a:lnSpc>
              <a:spcBef>
                <a:spcPts val="0"/>
              </a:spcBef>
              <a:spcAft>
                <a:spcPts val="0"/>
              </a:spcAft>
              <a:buSzPts val="1400"/>
              <a:buNone/>
              <a:defRPr sz="2000"/>
            </a:lvl4pPr>
            <a:lvl5pPr marL="2286000" lvl="4" indent="-228600" algn="l">
              <a:lnSpc>
                <a:spcPct val="100000"/>
              </a:lnSpc>
              <a:spcBef>
                <a:spcPts val="0"/>
              </a:spcBef>
              <a:spcAft>
                <a:spcPts val="0"/>
              </a:spcAft>
              <a:buSzPts val="1400"/>
              <a:buNone/>
              <a:defRPr sz="2000"/>
            </a:lvl5pPr>
            <a:lvl6pPr marL="2743200" lvl="5" indent="-228600" algn="l">
              <a:lnSpc>
                <a:spcPct val="100000"/>
              </a:lnSpc>
              <a:spcBef>
                <a:spcPts val="0"/>
              </a:spcBef>
              <a:spcAft>
                <a:spcPts val="0"/>
              </a:spcAft>
              <a:buSzPts val="1400"/>
              <a:buNone/>
              <a:defRPr sz="2000"/>
            </a:lvl6pPr>
            <a:lvl7pPr marL="3200400" lvl="6" indent="-228600" algn="l">
              <a:lnSpc>
                <a:spcPct val="100000"/>
              </a:lnSpc>
              <a:spcBef>
                <a:spcPts val="0"/>
              </a:spcBef>
              <a:spcAft>
                <a:spcPts val="0"/>
              </a:spcAft>
              <a:buSzPts val="1400"/>
              <a:buNone/>
              <a:defRPr sz="2000"/>
            </a:lvl7pPr>
            <a:lvl8pPr marL="3657600" lvl="7" indent="-228600" algn="l">
              <a:lnSpc>
                <a:spcPct val="100000"/>
              </a:lnSpc>
              <a:spcBef>
                <a:spcPts val="0"/>
              </a:spcBef>
              <a:spcAft>
                <a:spcPts val="0"/>
              </a:spcAft>
              <a:buSzPts val="1400"/>
              <a:buNone/>
              <a:defRPr sz="2000"/>
            </a:lvl8pPr>
            <a:lvl9pPr marL="4114800" lvl="8" indent="-228600" algn="l">
              <a:lnSpc>
                <a:spcPct val="100000"/>
              </a:lnSpc>
              <a:spcBef>
                <a:spcPts val="0"/>
              </a:spcBef>
              <a:spcAft>
                <a:spcPts val="0"/>
              </a:spcAft>
              <a:buSzPts val="1400"/>
              <a:buNone/>
              <a:defRPr sz="2000"/>
            </a:lvl9pPr>
          </a:lstStyle>
          <a:p>
            <a:endParaRPr/>
          </a:p>
        </p:txBody>
      </p:sp>
      <p:sp>
        <p:nvSpPr>
          <p:cNvPr id="23" name="Google Shape;23;p26"/>
          <p:cNvSpPr txBox="1">
            <a:spLocks noGrp="1"/>
          </p:cNvSpPr>
          <p:nvPr>
            <p:ph type="body" idx="2"/>
          </p:nvPr>
        </p:nvSpPr>
        <p:spPr>
          <a:xfrm>
            <a:off x="457200" y="1435100"/>
            <a:ext cx="3008313" cy="469106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00"/>
              <a:buFont typeface="Calibri"/>
              <a:buNone/>
              <a:defRPr sz="1400"/>
            </a:lvl1pPr>
            <a:lvl2pPr marL="914400" lvl="1" indent="-228600" algn="l">
              <a:lnSpc>
                <a:spcPct val="100000"/>
              </a:lnSpc>
              <a:spcBef>
                <a:spcPts val="0"/>
              </a:spcBef>
              <a:spcAft>
                <a:spcPts val="0"/>
              </a:spcAft>
              <a:buSzPts val="1200"/>
              <a:buFont typeface="Calibri"/>
              <a:buNone/>
              <a:defRPr sz="1200"/>
            </a:lvl2pPr>
            <a:lvl3pPr marL="1371600" lvl="2" indent="-228600" algn="l">
              <a:lnSpc>
                <a:spcPct val="100000"/>
              </a:lnSpc>
              <a:spcBef>
                <a:spcPts val="0"/>
              </a:spcBef>
              <a:spcAft>
                <a:spcPts val="0"/>
              </a:spcAft>
              <a:buSzPts val="1000"/>
              <a:buFont typeface="Calibri"/>
              <a:buNone/>
              <a:defRPr sz="1000"/>
            </a:lvl3pPr>
            <a:lvl4pPr marL="1828800" lvl="3" indent="-228600" algn="l">
              <a:lnSpc>
                <a:spcPct val="100000"/>
              </a:lnSpc>
              <a:spcBef>
                <a:spcPts val="0"/>
              </a:spcBef>
              <a:spcAft>
                <a:spcPts val="0"/>
              </a:spcAft>
              <a:buSzPts val="900"/>
              <a:buFont typeface="Calibri"/>
              <a:buNone/>
              <a:defRPr sz="900"/>
            </a:lvl4pPr>
            <a:lvl5pPr marL="2286000" lvl="4" indent="-228600" algn="l">
              <a:lnSpc>
                <a:spcPct val="100000"/>
              </a:lnSpc>
              <a:spcBef>
                <a:spcPts val="0"/>
              </a:spcBef>
              <a:spcAft>
                <a:spcPts val="0"/>
              </a:spcAft>
              <a:buSzPts val="900"/>
              <a:buFont typeface="Calibri"/>
              <a:buNone/>
              <a:defRPr sz="900"/>
            </a:lvl5pPr>
            <a:lvl6pPr marL="2743200" lvl="5" indent="-228600" algn="l">
              <a:lnSpc>
                <a:spcPct val="100000"/>
              </a:lnSpc>
              <a:spcBef>
                <a:spcPts val="0"/>
              </a:spcBef>
              <a:spcAft>
                <a:spcPts val="0"/>
              </a:spcAft>
              <a:buSzPts val="900"/>
              <a:buFont typeface="Calibri"/>
              <a:buNone/>
              <a:defRPr sz="900"/>
            </a:lvl6pPr>
            <a:lvl7pPr marL="3200400" lvl="6" indent="-228600" algn="l">
              <a:lnSpc>
                <a:spcPct val="100000"/>
              </a:lnSpc>
              <a:spcBef>
                <a:spcPts val="0"/>
              </a:spcBef>
              <a:spcAft>
                <a:spcPts val="0"/>
              </a:spcAft>
              <a:buSzPts val="900"/>
              <a:buFont typeface="Calibri"/>
              <a:buNone/>
              <a:defRPr sz="900"/>
            </a:lvl7pPr>
            <a:lvl8pPr marL="3657600" lvl="7" indent="-228600" algn="l">
              <a:lnSpc>
                <a:spcPct val="100000"/>
              </a:lnSpc>
              <a:spcBef>
                <a:spcPts val="0"/>
              </a:spcBef>
              <a:spcAft>
                <a:spcPts val="0"/>
              </a:spcAft>
              <a:buSzPts val="900"/>
              <a:buFont typeface="Calibri"/>
              <a:buNone/>
              <a:defRPr sz="900"/>
            </a:lvl8pPr>
            <a:lvl9pPr marL="4114800" lvl="8" indent="-228600" algn="l">
              <a:lnSpc>
                <a:spcPct val="100000"/>
              </a:lnSpc>
              <a:spcBef>
                <a:spcPts val="0"/>
              </a:spcBef>
              <a:spcAft>
                <a:spcPts val="0"/>
              </a:spcAft>
              <a:buSzPts val="900"/>
              <a:buFont typeface="Calibri"/>
              <a:buNone/>
              <a:defRPr sz="900"/>
            </a:lvl9pPr>
          </a:lstStyle>
          <a:p>
            <a:endParaRPr/>
          </a:p>
        </p:txBody>
      </p:sp>
      <p:sp>
        <p:nvSpPr>
          <p:cNvPr id="24" name="Google Shape;24;p2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7"/>
        <p:cNvGrpSpPr/>
        <p:nvPr/>
      </p:nvGrpSpPr>
      <p:grpSpPr>
        <a:xfrm>
          <a:off x="0" y="0"/>
          <a:ext cx="0" cy="0"/>
          <a:chOff x="0" y="0"/>
          <a:chExt cx="0" cy="0"/>
        </a:xfrm>
      </p:grpSpPr>
      <p:sp>
        <p:nvSpPr>
          <p:cNvPr id="28" name="Google Shape;28;p27"/>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27"/>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28"/>
          <p:cNvSpPr txBox="1">
            <a:spLocks noGrp="1"/>
          </p:cNvSpPr>
          <p:nvPr>
            <p:ph type="ctrTitle"/>
          </p:nvPr>
        </p:nvSpPr>
        <p:spPr>
          <a:xfrm>
            <a:off x="23875" y="17780"/>
            <a:ext cx="9096248" cy="2997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8"/>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8"/>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4"/>
          <p:cNvSpPr/>
          <p:nvPr/>
        </p:nvSpPr>
        <p:spPr>
          <a:xfrm>
            <a:off x="152400" y="152400"/>
            <a:ext cx="768095" cy="12192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4"/>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4"/>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1" i="0" u="none" strike="noStrike" cap="none">
                <a:solidFill>
                  <a:srgbClr val="C00000"/>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4"/>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4"/>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network-security/"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5.jp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53"/>
        <p:cNvGrpSpPr/>
        <p:nvPr/>
      </p:nvGrpSpPr>
      <p:grpSpPr>
        <a:xfrm>
          <a:off x="0" y="0"/>
          <a:ext cx="0" cy="0"/>
          <a:chOff x="0" y="0"/>
          <a:chExt cx="0" cy="0"/>
        </a:xfrm>
      </p:grpSpPr>
      <p:sp>
        <p:nvSpPr>
          <p:cNvPr id="54" name="Google Shape;54;p1"/>
          <p:cNvSpPr/>
          <p:nvPr/>
        </p:nvSpPr>
        <p:spPr>
          <a:xfrm>
            <a:off x="-3175" y="5340350"/>
            <a:ext cx="9147175" cy="15176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p1"/>
          <p:cNvSpPr/>
          <p:nvPr/>
        </p:nvSpPr>
        <p:spPr>
          <a:xfrm>
            <a:off x="227013"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 name="Google Shape;56;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endParaRPr sz="1200" b="0" i="0" u="none" strike="noStrike" cap="none">
              <a:solidFill>
                <a:srgbClr val="898989"/>
              </a:solidFill>
              <a:latin typeface="Calibri"/>
              <a:ea typeface="Calibri"/>
              <a:cs typeface="Calibri"/>
              <a:sym typeface="Calibri"/>
            </a:endParaRPr>
          </a:p>
        </p:txBody>
      </p:sp>
      <p:sp>
        <p:nvSpPr>
          <p:cNvPr id="57" name="Google Shape;57;p1"/>
          <p:cNvSpPr/>
          <p:nvPr/>
        </p:nvSpPr>
        <p:spPr>
          <a:xfrm rot="10800000" flipH="1">
            <a:off x="7131050" y="5940425"/>
            <a:ext cx="968375" cy="1157288"/>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 name="Google Shape;58;p1"/>
          <p:cNvSpPr/>
          <p:nvPr/>
        </p:nvSpPr>
        <p:spPr>
          <a:xfrm flipH="1">
            <a:off x="5284788" y="-65088"/>
            <a:ext cx="3859212" cy="5853113"/>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 name="Google Shape;59;p1"/>
          <p:cNvSpPr/>
          <p:nvPr/>
        </p:nvSpPr>
        <p:spPr>
          <a:xfrm>
            <a:off x="1593056" y="2025526"/>
            <a:ext cx="5122069" cy="1580679"/>
          </a:xfrm>
          <a:prstGeom prst="rect">
            <a:avLst/>
          </a:prstGeom>
          <a:gradFill>
            <a:gsLst>
              <a:gs pos="0">
                <a:srgbClr val="FFFFFF">
                  <a:alpha val="0"/>
                </a:srgbClr>
              </a:gs>
              <a:gs pos="2655">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 name="Google Shape;61;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1"/>
          <p:cNvSpPr txBox="1"/>
          <p:nvPr/>
        </p:nvSpPr>
        <p:spPr>
          <a:xfrm>
            <a:off x="5160963" y="6019800"/>
            <a:ext cx="3695700" cy="6461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595959"/>
                </a:solidFill>
                <a:latin typeface="Arial"/>
                <a:ea typeface="Arial"/>
                <a:cs typeface="Arial"/>
                <a:sym typeface="Arial"/>
              </a:rPr>
              <a:t>DISCOVER . </a:t>
            </a:r>
            <a:r>
              <a:rPr lang="en-US" sz="2000" b="1" i="0" u="none" strike="noStrike" cap="none">
                <a:solidFill>
                  <a:srgbClr val="C00000"/>
                </a:solidFill>
                <a:latin typeface="Arial"/>
                <a:ea typeface="Arial"/>
                <a:cs typeface="Arial"/>
                <a:sym typeface="Arial"/>
              </a:rPr>
              <a:t>LEARN</a:t>
            </a:r>
            <a:r>
              <a:rPr lang="en-US" sz="2000" b="1" i="0" u="none" strike="noStrike" cap="none">
                <a:solidFill>
                  <a:srgbClr val="595959"/>
                </a:solidFill>
                <a:latin typeface="Arial"/>
                <a:ea typeface="Arial"/>
                <a:cs typeface="Arial"/>
                <a:sym typeface="Arial"/>
              </a:rPr>
              <a:t> . EMPOWER</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p:txBody>
      </p:sp>
      <p:sp>
        <p:nvSpPr>
          <p:cNvPr id="63" name="Google Shape;63;p1"/>
          <p:cNvSpPr/>
          <p:nvPr/>
        </p:nvSpPr>
        <p:spPr>
          <a:xfrm>
            <a:off x="5164138" y="6043613"/>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 name="Google Shape;64;p1"/>
          <p:cNvSpPr txBox="1"/>
          <p:nvPr/>
        </p:nvSpPr>
        <p:spPr>
          <a:xfrm>
            <a:off x="127000" y="6013450"/>
            <a:ext cx="4203700" cy="3381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Overview of Databases</a:t>
            </a:r>
            <a:endParaRPr sz="1600" b="0" i="0" u="none" strike="noStrike" cap="none" dirty="0">
              <a:solidFill>
                <a:schemeClr val="dk1"/>
              </a:solidFill>
              <a:latin typeface="Raleway ExtraBold"/>
              <a:ea typeface="Raleway ExtraBold"/>
              <a:cs typeface="Raleway ExtraBold"/>
              <a:sym typeface="Raleway ExtraBold"/>
            </a:endParaRPr>
          </a:p>
        </p:txBody>
      </p:sp>
      <p:sp>
        <p:nvSpPr>
          <p:cNvPr id="65" name="Google Shape;65;p1"/>
          <p:cNvSpPr txBox="1"/>
          <p:nvPr/>
        </p:nvSpPr>
        <p:spPr>
          <a:xfrm>
            <a:off x="950913" y="1477963"/>
            <a:ext cx="7392900" cy="4452461"/>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ctr" rtl="0">
              <a:lnSpc>
                <a:spcPct val="90000"/>
              </a:lnSpc>
              <a:spcBef>
                <a:spcPts val="1120"/>
              </a:spcBef>
              <a:spcAft>
                <a:spcPts val="0"/>
              </a:spcAft>
              <a:buClr>
                <a:srgbClr val="000000"/>
              </a:buClr>
              <a:buSzPts val="3200"/>
              <a:buFont typeface="Arial"/>
              <a:buNone/>
            </a:pPr>
            <a:r>
              <a:rPr lang="en-US" sz="3200" b="1" i="0" u="none" strike="noStrike" cap="none" dirty="0">
                <a:solidFill>
                  <a:srgbClr val="262626"/>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120"/>
              </a:spcBef>
              <a:spcAft>
                <a:spcPts val="0"/>
              </a:spcAft>
              <a:buClr>
                <a:srgbClr val="000000"/>
              </a:buClr>
              <a:buSzPts val="1600"/>
              <a:buFont typeface="Arial"/>
              <a:buNone/>
            </a:pPr>
            <a:endParaRPr sz="1600" b="0" i="0" u="none" strike="noStrike" cap="none" dirty="0">
              <a:solidFill>
                <a:schemeClr val="dk1"/>
              </a:solidFill>
              <a:latin typeface="Raleway ExtraBold"/>
              <a:ea typeface="Raleway ExtraBold"/>
              <a:cs typeface="Raleway ExtraBold"/>
              <a:sym typeface="Raleway ExtraBold"/>
            </a:endParaRPr>
          </a:p>
        </p:txBody>
      </p:sp>
      <p:graphicFrame>
        <p:nvGraphicFramePr>
          <p:cNvPr id="3" name="Object 2">
            <a:extLst>
              <a:ext uri="{FF2B5EF4-FFF2-40B4-BE49-F238E27FC236}">
                <a16:creationId xmlns:a16="http://schemas.microsoft.com/office/drawing/2014/main" id="{EC687648-6087-2D31-8C7C-E39910C8E11E}"/>
              </a:ext>
            </a:extLst>
          </p:cNvPr>
          <p:cNvGraphicFramePr>
            <a:graphicFrameLocks noChangeAspect="1"/>
          </p:cNvGraphicFramePr>
          <p:nvPr>
            <p:extLst>
              <p:ext uri="{D42A27DB-BD31-4B8C-83A1-F6EECF244321}">
                <p14:modId xmlns:p14="http://schemas.microsoft.com/office/powerpoint/2010/main" val="3560053393"/>
              </p:ext>
            </p:extLst>
          </p:nvPr>
        </p:nvGraphicFramePr>
        <p:xfrm>
          <a:off x="76788" y="4093445"/>
          <a:ext cx="2209212" cy="1920006"/>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4093445"/>
                        <a:ext cx="2209212" cy="1920006"/>
                      </a:xfrm>
                      <a:prstGeom prst="rect">
                        <a:avLst/>
                      </a:prstGeom>
                      <a:noFill/>
                    </p:spPr>
                  </p:pic>
                </p:oleObj>
              </mc:Fallback>
            </mc:AlternateContent>
          </a:graphicData>
        </a:graphic>
      </p:graphicFrame>
      <p:sp>
        <p:nvSpPr>
          <p:cNvPr id="5" name="Google Shape;77;p2">
            <a:extLst>
              <a:ext uri="{FF2B5EF4-FFF2-40B4-BE49-F238E27FC236}">
                <a16:creationId xmlns:a16="http://schemas.microsoft.com/office/drawing/2014/main" id="{54887470-C3B9-26AE-DFE8-AFAAC457BDD6}"/>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1BC85F-2A85-FE8D-447C-A9820CF3ACDC}"/>
              </a:ext>
            </a:extLst>
          </p:cNvPr>
          <p:cNvSpPr>
            <a:spLocks noGrp="1"/>
          </p:cNvSpPr>
          <p:nvPr>
            <p:ph type="body" idx="1"/>
          </p:nvPr>
        </p:nvSpPr>
        <p:spPr>
          <a:xfrm>
            <a:off x="231140" y="1704622"/>
            <a:ext cx="8681719" cy="3499556"/>
          </a:xfrm>
        </p:spPr>
        <p:txBody>
          <a:bodyPr/>
          <a:lstStyle/>
          <a:p>
            <a:pPr marL="0" marR="53975" lvl="0" indent="0" algn="ctr">
              <a:lnSpc>
                <a:spcPct val="115000"/>
              </a:lnSpc>
              <a:spcBef>
                <a:spcPts val="1200"/>
              </a:spcBef>
              <a:spcAft>
                <a:spcPts val="0"/>
              </a:spcAf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COURSE OBJECTIVES: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to provide exposure to understand Information Security basics like Operating System Security, Network Security, Software Security and Web Security. </a:t>
            </a:r>
            <a:endParaRPr lang="en-IN" sz="1800" dirty="0">
              <a:effectLst/>
              <a:highlight>
                <a:srgbClr val="FFFFFF"/>
              </a:highlight>
              <a:latin typeface="Noto Sans Symbols"/>
              <a:ea typeface="Noto Sans Symbols"/>
              <a:cs typeface="Noto Sans Symbols"/>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a:t>
            </a:r>
            <a:r>
              <a:rPr lang="en-IN" sz="1800" dirty="0">
                <a:solidFill>
                  <a:srgbClr val="000000"/>
                </a:solidFill>
                <a:effectLst/>
                <a:highlight>
                  <a:srgbClr val="FFFFFF"/>
                </a:highlight>
                <a:latin typeface="Noto Sans Symbols"/>
                <a:ea typeface="Noto Sans Symbols"/>
                <a:cs typeface="Noto Sans Symbols"/>
              </a:rPr>
              <a:t>to provide basics of cloud computing along with virtualization, cloud computing is one of the fastest growing domains from a while now. It will provide the students basic understanding about cloud and virtualization along with it how one can migrate over it</a:t>
            </a:r>
            <a:endParaRPr lang="en-IN" sz="1800" dirty="0">
              <a:effectLst/>
              <a:highlight>
                <a:srgbClr val="FFFFFF"/>
              </a:highlight>
              <a:latin typeface="Noto Sans Symbols"/>
              <a:ea typeface="Noto Sans Symbols"/>
              <a:cs typeface="Noto Sans Symbols"/>
            </a:endParaRPr>
          </a:p>
          <a:p>
            <a:pPr algn="just"/>
            <a:r>
              <a:rPr lang="en-IN" sz="1800" dirty="0">
                <a:solidFill>
                  <a:srgbClr val="000000"/>
                </a:solidFill>
                <a:effectLst/>
                <a:latin typeface="Times New Roman" panose="02020603050405020304" pitchFamily="18" charset="0"/>
                <a:ea typeface="Times New Roman" panose="02020603050405020304" pitchFamily="18" charset="0"/>
              </a:rPr>
              <a:t>The Course aim to state core blockchain concepts, the benefits, and the limitations of blockchain technologies</a:t>
            </a:r>
            <a:r>
              <a:rPr lang="en-IN" dirty="0">
                <a:effectLst/>
              </a:rPr>
              <a:t> </a:t>
            </a:r>
            <a:endParaRPr lang="en-US" dirty="0"/>
          </a:p>
        </p:txBody>
      </p:sp>
      <p:sp>
        <p:nvSpPr>
          <p:cNvPr id="4" name="TextBox 3">
            <a:extLst>
              <a:ext uri="{FF2B5EF4-FFF2-40B4-BE49-F238E27FC236}">
                <a16:creationId xmlns:a16="http://schemas.microsoft.com/office/drawing/2014/main" id="{4854E957-2C69-BA0E-13DA-B008A4DC7E99}"/>
              </a:ext>
            </a:extLst>
          </p:cNvPr>
          <p:cNvSpPr txBox="1"/>
          <p:nvPr/>
        </p:nvSpPr>
        <p:spPr>
          <a:xfrm>
            <a:off x="3488267" y="135467"/>
            <a:ext cx="184731" cy="307777"/>
          </a:xfrm>
          <a:prstGeom prst="rect">
            <a:avLst/>
          </a:prstGeom>
          <a:noFill/>
        </p:spPr>
        <p:txBody>
          <a:bodyPr wrap="none" rtlCol="0">
            <a:spAutoFit/>
          </a:bodyPr>
          <a:lstStyle/>
          <a:p>
            <a:endParaRPr lang="en-US" dirty="0"/>
          </a:p>
        </p:txBody>
      </p:sp>
      <p:sp>
        <p:nvSpPr>
          <p:cNvPr id="5" name="Google Shape;77;p2">
            <a:extLst>
              <a:ext uri="{FF2B5EF4-FFF2-40B4-BE49-F238E27FC236}">
                <a16:creationId xmlns:a16="http://schemas.microsoft.com/office/drawing/2014/main" id="{E5DD8347-3EE6-9F0A-5E36-DDDF1E7F420B}"/>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3329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2" name="Google Shape;72;p2"/>
          <p:cNvSpPr txBox="1">
            <a:spLocks noGrp="1"/>
          </p:cNvSpPr>
          <p:nvPr>
            <p:ph type="sldNum" idx="12"/>
          </p:nvPr>
        </p:nvSpPr>
        <p:spPr>
          <a:xfrm>
            <a:off x="662940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77" name="Google Shape;77;p2"/>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5" name="Table 4">
            <a:extLst>
              <a:ext uri="{FF2B5EF4-FFF2-40B4-BE49-F238E27FC236}">
                <a16:creationId xmlns:a16="http://schemas.microsoft.com/office/drawing/2014/main" id="{ED048B02-C0C4-6D7B-733B-E5D8D32255FB}"/>
              </a:ext>
            </a:extLst>
          </p:cNvPr>
          <p:cNvGraphicFramePr>
            <a:graphicFrameLocks noGrp="1"/>
          </p:cNvGraphicFramePr>
          <p:nvPr>
            <p:extLst>
              <p:ext uri="{D42A27DB-BD31-4B8C-83A1-F6EECF244321}">
                <p14:modId xmlns:p14="http://schemas.microsoft.com/office/powerpoint/2010/main" val="3420768165"/>
              </p:ext>
            </p:extLst>
          </p:nvPr>
        </p:nvGraphicFramePr>
        <p:xfrm>
          <a:off x="1252537" y="1444979"/>
          <a:ext cx="7270574" cy="4323644"/>
        </p:xfrm>
        <a:graphic>
          <a:graphicData uri="http://schemas.openxmlformats.org/drawingml/2006/table">
            <a:tbl>
              <a:tblPr bandRow="1">
                <a:tableStyleId>{81763C85-FD0C-4F9C-9014-DFE97472DFE7}</a:tableStyleId>
              </a:tblPr>
              <a:tblGrid>
                <a:gridCol w="1124257">
                  <a:extLst>
                    <a:ext uri="{9D8B030D-6E8A-4147-A177-3AD203B41FA5}">
                      <a16:colId xmlns:a16="http://schemas.microsoft.com/office/drawing/2014/main" val="288238081"/>
                    </a:ext>
                  </a:extLst>
                </a:gridCol>
                <a:gridCol w="6146317">
                  <a:extLst>
                    <a:ext uri="{9D8B030D-6E8A-4147-A177-3AD203B41FA5}">
                      <a16:colId xmlns:a16="http://schemas.microsoft.com/office/drawing/2014/main" val="4121193301"/>
                    </a:ext>
                  </a:extLst>
                </a:gridCol>
              </a:tblGrid>
              <a:tr h="740469">
                <a:tc>
                  <a:txBody>
                    <a:bodyPr/>
                    <a:lstStyle/>
                    <a:p>
                      <a:pPr marR="53975" algn="ctr"/>
                      <a:r>
                        <a:rPr lang="en-IN" sz="1000">
                          <a:effectLst/>
                        </a:rPr>
                        <a:t>CO No</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r>
                        <a:rPr lang="en-IN" sz="1000">
                          <a:effectLst/>
                        </a:rPr>
                        <a:t>Statement</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25662196"/>
                  </a:ext>
                </a:extLst>
              </a:tr>
              <a:tr h="642722">
                <a:tc>
                  <a:txBody>
                    <a:bodyPr/>
                    <a:lstStyle/>
                    <a:p>
                      <a:pPr marR="53975" algn="just"/>
                      <a:r>
                        <a:rPr lang="en-IN" sz="1000">
                          <a:effectLst/>
                        </a:rPr>
                        <a:t>CO1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Remember the concepts related to fundamentals of Information Security, Cloud Computing and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5848187"/>
                  </a:ext>
                </a:extLst>
              </a:tr>
              <a:tr h="792690">
                <a:tc>
                  <a:txBody>
                    <a:bodyPr/>
                    <a:lstStyle/>
                    <a:p>
                      <a:pPr marR="53975" algn="just"/>
                      <a:r>
                        <a:rPr lang="en-IN" sz="1000">
                          <a:effectLst/>
                        </a:rPr>
                        <a:t>CO2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Understand the way to find, understand and Analyse the Problem for Errors, Attack memory Virtualization and Basic Block chain Techniques.  </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46607571"/>
                  </a:ext>
                </a:extLst>
              </a:tr>
              <a:tr h="747165">
                <a:tc>
                  <a:txBody>
                    <a:bodyPr/>
                    <a:lstStyle/>
                    <a:p>
                      <a:pPr marR="53975" algn="just"/>
                      <a:r>
                        <a:rPr lang="en-IN" sz="1000">
                          <a:effectLst/>
                        </a:rPr>
                        <a:t>CO3</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Apply various method to avoid Security Leakage, Data Storage on cloud and working methods of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61970319"/>
                  </a:ext>
                </a:extLst>
              </a:tr>
              <a:tr h="757876">
                <a:tc>
                  <a:txBody>
                    <a:bodyPr/>
                    <a:lstStyle/>
                    <a:p>
                      <a:pPr marR="53975" algn="just"/>
                      <a:r>
                        <a:rPr lang="en-IN" sz="1000">
                          <a:effectLst/>
                        </a:rPr>
                        <a:t>CO4</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Analyse the Basic tools of Information Security, Cloud Computing and Blockchain  and implementation with reports generation.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65365132"/>
                  </a:ext>
                </a:extLst>
              </a:tr>
              <a:tr h="642722">
                <a:tc>
                  <a:txBody>
                    <a:bodyPr/>
                    <a:lstStyle/>
                    <a:p>
                      <a:pPr marR="53975" algn="just"/>
                      <a:r>
                        <a:rPr lang="en-IN" sz="1000">
                          <a:effectLst/>
                        </a:rPr>
                        <a:t>CO5</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31115" algn="just"/>
                      <a:r>
                        <a:rPr lang="en-IN" sz="1000" dirty="0">
                          <a:effectLst/>
                        </a:rPr>
                        <a:t>Design and develop customized  reports on attacks, Online memory allocation , security using blockchain  </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9429889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84" name="Google Shape;84;p3"/>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85" name="Google Shape;85;p3"/>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6477D90A-CAEC-7C57-9AA7-2BF312066CBF}"/>
              </a:ext>
            </a:extLst>
          </p:cNvPr>
          <p:cNvGraphicFramePr>
            <a:graphicFrameLocks noGrp="1"/>
          </p:cNvGraphicFramePr>
          <p:nvPr>
            <p:extLst>
              <p:ext uri="{D42A27DB-BD31-4B8C-83A1-F6EECF244321}">
                <p14:modId xmlns:p14="http://schemas.microsoft.com/office/powerpoint/2010/main" val="1209137846"/>
              </p:ext>
            </p:extLst>
          </p:nvPr>
        </p:nvGraphicFramePr>
        <p:xfrm>
          <a:off x="846667" y="1343378"/>
          <a:ext cx="8101188" cy="4854220"/>
        </p:xfrm>
        <a:graphic>
          <a:graphicData uri="http://schemas.openxmlformats.org/drawingml/2006/table">
            <a:tbl>
              <a:tblPr bandRow="1">
                <a:tableStyleId>{81763C85-FD0C-4F9C-9014-DFE97472DFE7}</a:tableStyleId>
              </a:tblPr>
              <a:tblGrid>
                <a:gridCol w="1419161">
                  <a:extLst>
                    <a:ext uri="{9D8B030D-6E8A-4147-A177-3AD203B41FA5}">
                      <a16:colId xmlns:a16="http://schemas.microsoft.com/office/drawing/2014/main" val="2648962565"/>
                    </a:ext>
                  </a:extLst>
                </a:gridCol>
                <a:gridCol w="4393677">
                  <a:extLst>
                    <a:ext uri="{9D8B030D-6E8A-4147-A177-3AD203B41FA5}">
                      <a16:colId xmlns:a16="http://schemas.microsoft.com/office/drawing/2014/main" val="3633088584"/>
                    </a:ext>
                  </a:extLst>
                </a:gridCol>
                <a:gridCol w="312644">
                  <a:extLst>
                    <a:ext uri="{9D8B030D-6E8A-4147-A177-3AD203B41FA5}">
                      <a16:colId xmlns:a16="http://schemas.microsoft.com/office/drawing/2014/main" val="2046264610"/>
                    </a:ext>
                  </a:extLst>
                </a:gridCol>
                <a:gridCol w="1975706">
                  <a:extLst>
                    <a:ext uri="{9D8B030D-6E8A-4147-A177-3AD203B41FA5}">
                      <a16:colId xmlns:a16="http://schemas.microsoft.com/office/drawing/2014/main" val="3695363973"/>
                    </a:ext>
                  </a:extLst>
                </a:gridCol>
              </a:tblGrid>
              <a:tr h="454627">
                <a:tc>
                  <a:txBody>
                    <a:bodyPr/>
                    <a:lstStyle/>
                    <a:p>
                      <a:pPr marR="53975" algn="just"/>
                      <a:r>
                        <a:rPr lang="en-IN" sz="1200" b="1">
                          <a:effectLst/>
                          <a:latin typeface="Times New Roman" panose="02020603050405020304" pitchFamily="18" charset="0"/>
                          <a:cs typeface="Times New Roman" panose="02020603050405020304" pitchFamily="18" charset="0"/>
                        </a:rPr>
                        <a:t>UNIT-1</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marR="53975" algn="just"/>
                      <a:r>
                        <a:rPr lang="en-IN" sz="1200" b="1">
                          <a:effectLst/>
                          <a:latin typeface="Times New Roman" panose="02020603050405020304" pitchFamily="18" charset="0"/>
                          <a:cs typeface="Times New Roman" panose="02020603050405020304" pitchFamily="18" charset="0"/>
                        </a:rPr>
                        <a:t>INTRODUCTION TO BASIC OF INFORMATION SECURITY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585245829"/>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Introduction to Security, Attacks and its Understanding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Introduction Security, Attacks, Computer Crime, Security Services, Security Mechanism, Cyber Crime, Information Technology ACT.</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65812581"/>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Fundamental of Ciphers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algn="just"/>
                      <a:r>
                        <a:rPr lang="en-IN" sz="1200" b="1">
                          <a:effectLst/>
                          <a:latin typeface="Times New Roman" panose="02020603050405020304" pitchFamily="18" charset="0"/>
                          <a:cs typeface="Times New Roman" panose="02020603050405020304" pitchFamily="18" charset="0"/>
                        </a:rPr>
                        <a:t>Cryptography, Substitution Ciphers, Transpositions Ciphers, Block Ciphers, Stream Ciphers,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8695422"/>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Precautions and Preventions of Cyber Crime.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Cyber Crimes, Types of Cyber Crime, Social Media Precautions, Prevention of Cyber Crime and Basic precautions. Basic of Ethical Hacking.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10562080"/>
                  </a:ext>
                </a:extLst>
              </a:tr>
              <a:tr h="231557">
                <a:tc>
                  <a:txBody>
                    <a:bodyPr/>
                    <a:lstStyle/>
                    <a:p>
                      <a:pPr marR="53975" algn="just"/>
                      <a:r>
                        <a:rPr lang="en-IN" sz="1200" b="1">
                          <a:effectLst/>
                          <a:latin typeface="Times New Roman" panose="02020603050405020304" pitchFamily="18" charset="0"/>
                          <a:cs typeface="Times New Roman" panose="02020603050405020304" pitchFamily="18" charset="0"/>
                        </a:rPr>
                        <a:t>UNIT-2</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CLOUD COMPUTING AND DATA VIRTUALIZATION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extLst>
                  <a:ext uri="{0D108BD9-81ED-4DB2-BD59-A6C34878D82A}">
                    <a16:rowId xmlns:a16="http://schemas.microsoft.com/office/drawing/2014/main" val="1081772586"/>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Cloud Computing Overview</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 Origins of Cloud computing – Cloud components - Essential characteristics – On-demand selfservice, Broad network access, Location independent resource pooling ,Rapid elasticity , Measured service, Comparing cloud providers with traditional IT service providers, Roots of cloud computing</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3824643"/>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Cloud Insights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Architectural influences – High-performance computing, Utility and Enterprise grid computing, Cloud scenarios – Benefits: scalability, simplicity, vendors, security, Limitations – Sensitive information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2658965"/>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Cloud Applications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Application development- security level of third party - security benefits, Regularity issues: Government policies</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6082092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92" name="Google Shape;92;p4"/>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93" name="Google Shape;93;p4"/>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B93DFC33-395D-277E-ABD3-06468D80E3D5}"/>
              </a:ext>
            </a:extLst>
          </p:cNvPr>
          <p:cNvGraphicFramePr>
            <a:graphicFrameLocks noGrp="1"/>
          </p:cNvGraphicFramePr>
          <p:nvPr>
            <p:extLst>
              <p:ext uri="{D42A27DB-BD31-4B8C-83A1-F6EECF244321}">
                <p14:modId xmlns:p14="http://schemas.microsoft.com/office/powerpoint/2010/main" val="2661828792"/>
              </p:ext>
            </p:extLst>
          </p:nvPr>
        </p:nvGraphicFramePr>
        <p:xfrm>
          <a:off x="711200" y="1399824"/>
          <a:ext cx="8105420" cy="3612445"/>
        </p:xfrm>
        <a:graphic>
          <a:graphicData uri="http://schemas.openxmlformats.org/drawingml/2006/table">
            <a:tbl>
              <a:tblPr bandRow="1">
                <a:tableStyleId>{81763C85-FD0C-4F9C-9014-DFE97472DFE7}</a:tableStyleId>
              </a:tblPr>
              <a:tblGrid>
                <a:gridCol w="1419902">
                  <a:extLst>
                    <a:ext uri="{9D8B030D-6E8A-4147-A177-3AD203B41FA5}">
                      <a16:colId xmlns:a16="http://schemas.microsoft.com/office/drawing/2014/main" val="1911739898"/>
                    </a:ext>
                  </a:extLst>
                </a:gridCol>
                <a:gridCol w="4552376">
                  <a:extLst>
                    <a:ext uri="{9D8B030D-6E8A-4147-A177-3AD203B41FA5}">
                      <a16:colId xmlns:a16="http://schemas.microsoft.com/office/drawing/2014/main" val="193177083"/>
                    </a:ext>
                  </a:extLst>
                </a:gridCol>
                <a:gridCol w="2133142">
                  <a:extLst>
                    <a:ext uri="{9D8B030D-6E8A-4147-A177-3AD203B41FA5}">
                      <a16:colId xmlns:a16="http://schemas.microsoft.com/office/drawing/2014/main" val="2683491937"/>
                    </a:ext>
                  </a:extLst>
                </a:gridCol>
              </a:tblGrid>
              <a:tr h="459766">
                <a:tc>
                  <a:txBody>
                    <a:bodyPr/>
                    <a:lstStyle/>
                    <a:p>
                      <a:pPr marR="53975" algn="just"/>
                      <a:r>
                        <a:rPr lang="en-IN" sz="1200" b="1">
                          <a:effectLst/>
                          <a:latin typeface="Times New Roman" panose="02020603050405020304" pitchFamily="18" charset="0"/>
                          <a:cs typeface="Times New Roman" panose="02020603050405020304" pitchFamily="18" charset="0"/>
                        </a:rPr>
                        <a:t>UNIT-3</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algn="just"/>
                      <a:r>
                        <a:rPr lang="en-IN" sz="1200" b="1">
                          <a:effectLst/>
                          <a:latin typeface="Times New Roman" panose="02020603050405020304" pitchFamily="18" charset="0"/>
                          <a:cs typeface="Times New Roman" panose="02020603050405020304" pitchFamily="18" charset="0"/>
                        </a:rPr>
                        <a:t>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endParaRPr lang="en-US"/>
                    </a:p>
                  </a:txBody>
                  <a:tcPr marL="28641" marR="28641" marT="0" marB="0" anchor="ctr"/>
                </a:tc>
                <a:extLst>
                  <a:ext uri="{0D108BD9-81ED-4DB2-BD59-A6C34878D82A}">
                    <a16:rowId xmlns:a16="http://schemas.microsoft.com/office/drawing/2014/main" val="3389270073"/>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Introduction to 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Blockchain Overview History and Origin of Blockchain (and Cryptocurrency) Start of Technical Concepts of Blockchain Systems, Importance, Applications, Benefits and features of Block Chain Technology.</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033998130"/>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Components and Working of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Key component and working of Block Chain Technology, Types of Block Chain Networks and protocols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1656774045"/>
                  </a:ext>
                </a:extLst>
              </a:tr>
              <a:tr h="788169">
                <a:tc>
                  <a:txBody>
                    <a:bodyPr/>
                    <a:lstStyle/>
                    <a:p>
                      <a:pPr marR="53975" algn="just"/>
                      <a:r>
                        <a:rPr lang="en-IN" sz="1200" b="1">
                          <a:effectLst/>
                          <a:latin typeface="Times New Roman" panose="02020603050405020304" pitchFamily="18" charset="0"/>
                          <a:cs typeface="Times New Roman" panose="02020603050405020304" pitchFamily="18" charset="0"/>
                        </a:rPr>
                        <a:t>Bitcoin and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dirty="0">
                          <a:effectLst/>
                          <a:latin typeface="Times New Roman" panose="02020603050405020304" pitchFamily="18" charset="0"/>
                          <a:cs typeface="Times New Roman" panose="02020603050405020304" pitchFamily="18" charset="0"/>
                        </a:rPr>
                        <a:t>Bitcoin network, Bitcoin Mining, Differentiate between database, cloud and Blockchain, Block Chain Services, Introduction to AWS server and Virtual Machines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25209525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p:nvPr/>
        </p:nvSpPr>
        <p:spPr>
          <a:xfrm>
            <a:off x="2617470" y="17780"/>
            <a:ext cx="650265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15" name="Google Shape;115;p6"/>
          <p:cNvSpPr txBox="1">
            <a:spLocks noGrp="1"/>
          </p:cNvSpPr>
          <p:nvPr>
            <p:ph type="title"/>
          </p:nvPr>
        </p:nvSpPr>
        <p:spPr>
          <a:xfrm>
            <a:off x="1410080" y="475310"/>
            <a:ext cx="6627495" cy="461665"/>
          </a:xfrm>
          <a:prstGeom prst="rect">
            <a:avLst/>
          </a:prstGeom>
          <a:noFill/>
          <a:ln>
            <a:noFill/>
          </a:ln>
        </p:spPr>
        <p:txBody>
          <a:bodyPr spcFirstLastPara="1" wrap="square" lIns="0" tIns="12700" rIns="0" bIns="0" anchor="t" anchorCtr="0">
            <a:spAutoFit/>
          </a:bodyPr>
          <a:lstStyle/>
          <a:p>
            <a:pPr marL="457200" algn="just">
              <a:lnSpc>
                <a:spcPts val="1565"/>
              </a:lnSpc>
              <a:spcBef>
                <a:spcPts val="250"/>
              </a:spcBef>
            </a:pPr>
            <a:br>
              <a:rPr lang="en-IN" sz="2800" b="1" dirty="0">
                <a:solidFill>
                  <a:srgbClr val="000000"/>
                </a:solidFill>
                <a:effectLst/>
                <a:highlight>
                  <a:srgbClr val="FFFFFF"/>
                </a:highlight>
                <a:latin typeface="Times New Roman" panose="02020603050405020304" pitchFamily="18" charset="0"/>
                <a:ea typeface="Times New Roman" panose="02020603050405020304" pitchFamily="18" charset="0"/>
              </a:rPr>
            </a:br>
            <a:r>
              <a:rPr lang="en-IN" sz="2800" b="1" dirty="0">
                <a:solidFill>
                  <a:srgbClr val="000000"/>
                </a:solidFill>
                <a:effectLst/>
                <a:highlight>
                  <a:srgbClr val="FFFFFF"/>
                </a:highlight>
                <a:latin typeface="Times New Roman" panose="02020603050405020304" pitchFamily="18" charset="0"/>
                <a:ea typeface="Times New Roman" panose="02020603050405020304" pitchFamily="18" charset="0"/>
              </a:rPr>
              <a:t>Security Services:</a:t>
            </a:r>
            <a:endParaRPr lang="en-IN" sz="2800" dirty="0">
              <a:effectLst/>
              <a:highlight>
                <a:srgbClr val="FFFFFF"/>
              </a:highlight>
              <a:latin typeface="Times New Roman" panose="02020603050405020304" pitchFamily="18" charset="0"/>
              <a:ea typeface="Times New Roman" panose="02020603050405020304" pitchFamily="18" charset="0"/>
            </a:endParaRPr>
          </a:p>
        </p:txBody>
      </p:sp>
      <p:sp>
        <p:nvSpPr>
          <p:cNvPr id="116" name="Google Shape;116;p6"/>
          <p:cNvSpPr txBox="1"/>
          <p:nvPr/>
        </p:nvSpPr>
        <p:spPr>
          <a:xfrm>
            <a:off x="902969" y="1190319"/>
            <a:ext cx="7766897" cy="4317834"/>
          </a:xfrm>
          <a:prstGeom prst="rect">
            <a:avLst/>
          </a:prstGeom>
          <a:noFill/>
          <a:ln>
            <a:noFill/>
          </a:ln>
        </p:spPr>
        <p:txBody>
          <a:bodyPr spcFirstLastPara="1" wrap="square" lIns="0" tIns="85075" rIns="0" bIns="0" anchor="t" anchorCtr="0">
            <a:spAutoFit/>
          </a:bodyPr>
          <a:lstStyle/>
          <a:p>
            <a:pPr marL="342900" lvl="0" indent="-342900" algn="just">
              <a:lnSpc>
                <a:spcPts val="1505"/>
              </a:lnSpc>
              <a:buSzPts val="1000"/>
              <a:buFont typeface="Symbol" pitchFamily="2"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Message Confidentiality</a:t>
            </a:r>
            <a:r>
              <a:rPr lang="en-US" sz="1800" dirty="0">
                <a:solidFill>
                  <a:srgbClr val="000000"/>
                </a:solidFill>
                <a:effectLst/>
                <a:latin typeface="Times New Roman" panose="02020603050405020304" pitchFamily="18" charset="0"/>
                <a:ea typeface="Times New Roman" panose="02020603050405020304" pitchFamily="18" charset="0"/>
              </a:rPr>
              <a:t> − The principle of confidentiality defines that only the sender and the intended recipient should be capable to create the element of the message. It protects the transmitted data from passive attack.</a:t>
            </a:r>
            <a:endParaRPr lang="en-IN" sz="1800" dirty="0">
              <a:effectLst/>
              <a:latin typeface="Times New Roman" panose="02020603050405020304" pitchFamily="18" charset="0"/>
              <a:ea typeface="Times New Roman" panose="02020603050405020304" pitchFamily="18" charset="0"/>
            </a:endParaRPr>
          </a:p>
          <a:p>
            <a:pPr marL="457200" algn="just">
              <a:lnSpc>
                <a:spcPts val="1505"/>
              </a:lnSpc>
            </a:pPr>
            <a:r>
              <a:rPr lang="en-US" sz="1800" dirty="0">
                <a:solidFill>
                  <a:srgbClr val="000000"/>
                </a:solidFill>
                <a:effectLst/>
                <a:latin typeface="Times New Roman" panose="02020603050405020304" pitchFamily="18" charset="0"/>
                <a:ea typeface="Times New Roman" panose="02020603050405020304" pitchFamily="18" charset="0"/>
              </a:rPr>
              <a:t>Confidentiality can be used at several levels on the basis of content of an information to be transmitted. There are the following types of confidentiality which are as follows −</a:t>
            </a:r>
          </a:p>
          <a:p>
            <a:pPr marL="457200" algn="just">
              <a:lnSpc>
                <a:spcPts val="1505"/>
              </a:lnSpc>
            </a:pPr>
            <a:endParaRPr lang="en-IN" sz="1800" dirty="0">
              <a:effectLst/>
              <a:latin typeface="Times New Roman" panose="02020603050405020304" pitchFamily="18" charset="0"/>
              <a:ea typeface="Times New Roman" panose="02020603050405020304" pitchFamily="18" charset="0"/>
            </a:endParaRPr>
          </a:p>
          <a:p>
            <a:pPr marL="742950" lvl="1" indent="-285750" algn="just">
              <a:lnSpc>
                <a:spcPts val="1505"/>
              </a:lnSpc>
              <a:buSzPts val="1000"/>
              <a:buFont typeface="Courier New" panose="02070309020205020404" pitchFamily="49" charset="0"/>
              <a:buChar char="o"/>
              <a:tabLst>
                <a:tab pos="9144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Connection Confidentiality</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The protection of all user information on a connection.</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ts val="1505"/>
              </a:lnSpc>
              <a:buSzPts val="1000"/>
              <a:buFont typeface="Courier New" panose="02070309020205020404" pitchFamily="49" charset="0"/>
              <a:buChar char="o"/>
              <a:tabLst>
                <a:tab pos="9144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Connectionless Confidentiality</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The security of all user data in an individual data block.</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ts val="1505"/>
              </a:lnSpc>
              <a:buSzPts val="1000"/>
              <a:buFont typeface="Courier New" panose="02070309020205020404" pitchFamily="49" charset="0"/>
              <a:buChar char="o"/>
              <a:tabLst>
                <a:tab pos="9144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Traffic-flow Confidentiality</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The protection of the information that can be derived from observation of traffic flows.</a:t>
            </a:r>
          </a:p>
          <a:p>
            <a:pPr marL="742950" lvl="1" indent="-285750" algn="just">
              <a:lnSpc>
                <a:spcPts val="1505"/>
              </a:lnSpc>
              <a:buSzPts val="1000"/>
              <a:buFont typeface="Courier New" panose="02070309020205020404" pitchFamily="49" charset="0"/>
              <a:buChar char="o"/>
              <a:tabLst>
                <a:tab pos="914400" algn="l"/>
              </a:tabLst>
            </a:pP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05"/>
              </a:lnSpc>
              <a:buSzPts val="1000"/>
              <a:buFont typeface="Symbol" pitchFamily="2"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Authentication</a:t>
            </a:r>
            <a:r>
              <a:rPr lang="en-US" sz="1800" dirty="0">
                <a:solidFill>
                  <a:srgbClr val="000000"/>
                </a:solidFill>
                <a:effectLst/>
                <a:latin typeface="Times New Roman" panose="02020603050405020304" pitchFamily="18" charset="0"/>
                <a:ea typeface="Times New Roman" panose="02020603050405020304" pitchFamily="18" charset="0"/>
              </a:rPr>
              <a:t> − The authentication service is concerned with likely that a connection is authentic. In the case of a single message, including a warning or alarm signal, the function of the authentication service is to persuade the recipient that the message is from the source that it declare to be from.</a:t>
            </a:r>
          </a:p>
          <a:p>
            <a:pPr marL="342900" lvl="0" indent="-342900" algn="just">
              <a:lnSpc>
                <a:spcPts val="1505"/>
              </a:lnSpc>
              <a:buSzPts val="1000"/>
              <a:buFont typeface="Symbol" pitchFamily="2" charset="2"/>
              <a:buChar char=""/>
              <a:tabLst>
                <a:tab pos="457200" algn="l"/>
              </a:tabLst>
            </a:pP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ts val="1505"/>
              </a:lnSpc>
              <a:buSzPts val="1000"/>
              <a:buFont typeface="Symbol" pitchFamily="2"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Non-repudiation</a:t>
            </a:r>
            <a:r>
              <a:rPr lang="en-US" sz="1800" dirty="0">
                <a:solidFill>
                  <a:srgbClr val="000000"/>
                </a:solidFill>
                <a:effectLst/>
                <a:latin typeface="Times New Roman" panose="02020603050405020304" pitchFamily="18" charset="0"/>
                <a:ea typeface="Times New Roman" panose="02020603050405020304" pitchFamily="18" charset="0"/>
              </a:rPr>
              <a:t> − Nonrepudiation avoids either sender or receiver from adverse a transmitted message. Therefore, when a message is sent, the receiver can validate that the asserted sender actually sent the message.</a:t>
            </a:r>
            <a:endParaRPr lang="en-IN" sz="1800" dirty="0">
              <a:effectLs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56E78E47-25A9-34E1-DF2A-171621C9E0C4}"/>
              </a:ext>
            </a:extLst>
          </p:cNvPr>
          <p:cNvSpPr txBox="1"/>
          <p:nvPr/>
        </p:nvSpPr>
        <p:spPr>
          <a:xfrm>
            <a:off x="2432739" y="5856395"/>
            <a:ext cx="4128081" cy="307777"/>
          </a:xfrm>
          <a:prstGeom prst="rect">
            <a:avLst/>
          </a:prstGeom>
          <a:noFill/>
        </p:spPr>
        <p:txBody>
          <a:bodyPr wrap="square" rtlCol="0">
            <a:spAutoFit/>
          </a:bodyPr>
          <a:lstStyle/>
          <a:p>
            <a:pPr marL="12700" lvl="0" indent="0" algn="l" rtl="0">
              <a:lnSpc>
                <a:spcPct val="100250"/>
              </a:lnSpc>
              <a:spcBef>
                <a:spcPts val="0"/>
              </a:spcBef>
              <a:spcAft>
                <a:spcPts val="0"/>
              </a:spcAft>
              <a:buSzPts val="1400"/>
              <a:buNone/>
            </a:pPr>
            <a:r>
              <a:rPr lang="en-US" dirty="0"/>
              <a:t>University Institute of Engineering (UIE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32" name="Google Shape;132;p8"/>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33" name="Google Shape;133;p8"/>
          <p:cNvSpPr txBox="1">
            <a:spLocks noGrp="1"/>
          </p:cNvSpPr>
          <p:nvPr>
            <p:ph type="title"/>
          </p:nvPr>
        </p:nvSpPr>
        <p:spPr>
          <a:xfrm>
            <a:off x="1350644" y="569721"/>
            <a:ext cx="7202805" cy="767508"/>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rPr>
              <a:t>Security Services:</a:t>
            </a:r>
            <a:endParaRPr lang="en-IN" sz="24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34" name="Google Shape;134;p8"/>
          <p:cNvSpPr txBox="1"/>
          <p:nvPr/>
        </p:nvSpPr>
        <p:spPr>
          <a:xfrm>
            <a:off x="590551" y="1330198"/>
            <a:ext cx="8259938" cy="4503782"/>
          </a:xfrm>
          <a:prstGeom prst="rect">
            <a:avLst/>
          </a:prstGeom>
          <a:noFill/>
          <a:ln>
            <a:noFill/>
          </a:ln>
        </p:spPr>
        <p:txBody>
          <a:bodyPr spcFirstLastPara="1" wrap="square" lIns="0" tIns="78725" rIns="0" bIns="0" anchor="t" anchorCtr="0">
            <a:spAutoFit/>
          </a:bodyPr>
          <a:lstStyle/>
          <a:p>
            <a:pPr marL="342900" lvl="0" indent="-342900" algn="just">
              <a:lnSpc>
                <a:spcPts val="1505"/>
              </a:lnSpc>
              <a:buSzPts val="1000"/>
              <a:buFont typeface="Symbol" pitchFamily="2"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Access Control</a:t>
            </a:r>
            <a:r>
              <a:rPr lang="en-US" sz="1800" dirty="0">
                <a:solidFill>
                  <a:srgbClr val="000000"/>
                </a:solidFill>
                <a:effectLst/>
                <a:latin typeface="Times New Roman" panose="02020603050405020304" pitchFamily="18" charset="0"/>
                <a:ea typeface="Times New Roman" panose="02020603050405020304" pitchFamily="18" charset="0"/>
              </a:rPr>
              <a:t> − The principle of access control decides who should be capable to access information or system through communication link. It supports the avoidance of unauthorized use of a resource.</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ts val="1505"/>
              </a:lnSpc>
              <a:buSzPts val="1000"/>
              <a:buFont typeface="Symbol" pitchFamily="2" charset="2"/>
              <a:buChar char=""/>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Data Integrity</a:t>
            </a:r>
            <a:r>
              <a:rPr lang="en-US" sz="1800" dirty="0">
                <a:solidFill>
                  <a:srgbClr val="000000"/>
                </a:solidFill>
                <a:effectLst/>
                <a:latin typeface="Times New Roman" panose="02020603050405020304" pitchFamily="18" charset="0"/>
                <a:ea typeface="Times New Roman" panose="02020603050405020304" pitchFamily="18" charset="0"/>
              </a:rPr>
              <a:t> − Data integrity is designed to secure information from modification, insertion, deletion and rehashing by any entity. Data integrity can be used to a flow of message, an individual message or a selected portion inside a message. Data integrity can be used to support total stream protection.</a:t>
            </a:r>
            <a:endParaRPr lang="en-IN" sz="1800" dirty="0">
              <a:effectLst/>
              <a:latin typeface="Times New Roman" panose="02020603050405020304" pitchFamily="18" charset="0"/>
              <a:ea typeface="Times New Roman" panose="02020603050405020304" pitchFamily="18" charset="0"/>
            </a:endParaRPr>
          </a:p>
          <a:p>
            <a:pPr marL="457200" algn="just">
              <a:lnSpc>
                <a:spcPts val="1505"/>
              </a:lnSpc>
            </a:pPr>
            <a:r>
              <a:rPr lang="en-US" sz="1800" dirty="0">
                <a:solidFill>
                  <a:srgbClr val="000000"/>
                </a:solidFill>
                <a:effectLst/>
                <a:latin typeface="Times New Roman" panose="02020603050405020304" pitchFamily="18" charset="0"/>
                <a:ea typeface="Times New Roman" panose="02020603050405020304" pitchFamily="18" charset="0"/>
              </a:rPr>
              <a:t>There are various types of data integrity which are as follows −</a:t>
            </a:r>
            <a:endParaRPr lang="en-IN" sz="1800" dirty="0">
              <a:effectLst/>
              <a:latin typeface="Times New Roman" panose="02020603050405020304" pitchFamily="18" charset="0"/>
              <a:ea typeface="Times New Roman" panose="02020603050405020304" pitchFamily="18" charset="0"/>
            </a:endParaRPr>
          </a:p>
          <a:p>
            <a:pPr marL="742950" lvl="1" indent="-285750" algn="just">
              <a:lnSpc>
                <a:spcPts val="1505"/>
              </a:lnSpc>
              <a:buSzPts val="1000"/>
              <a:buFont typeface="Courier New" panose="02070309020205020404" pitchFamily="49" charset="0"/>
              <a:buChar char="o"/>
              <a:tabLst>
                <a:tab pos="9144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Connection integrity with recovery</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It supports for the integrity of all user information on a connection and identify any modification, insertion, deletion or replay of any information within a whole data sequence, with recovery attempted.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ts val="1505"/>
              </a:lnSpc>
              <a:buSzPts val="1000"/>
              <a:buFont typeface="Courier New" panose="02070309020205020404" pitchFamily="49" charset="0"/>
              <a:buChar char="o"/>
              <a:tabLst>
                <a:tab pos="9144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Connection integrity without recovery − It supports only detection without recovery.</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ts val="1505"/>
              </a:lnSpc>
              <a:buSzPts val="1000"/>
              <a:buFont typeface="Courier New" panose="02070309020205020404" pitchFamily="49" charset="0"/>
              <a:buChar char="o"/>
              <a:tabLst>
                <a:tab pos="9144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Selective-field connection integrity</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It supports for the principle of selected areas within the user information of a data block shared over a connection and creates the form of decision of whether the selected fields have been changed, inserted, removed or replayed.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ts val="1505"/>
              </a:lnSpc>
              <a:buSzPts val="1000"/>
              <a:buFont typeface="Courier New" panose="02070309020205020404" pitchFamily="49" charset="0"/>
              <a:buChar char="o"/>
              <a:tabLst>
                <a:tab pos="9144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Connectionless integrity</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It supports for the integrity of an individual connectionless data block and can take the form of detection of data modification. Moreover, it is a limited form of replay detection can be provided.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ts val="1505"/>
              </a:lnSpc>
              <a:buSzPts val="1000"/>
              <a:buFont typeface="Courier New" panose="02070309020205020404" pitchFamily="49" charset="0"/>
              <a:buChar char="o"/>
              <a:tabLst>
                <a:tab pos="914400" algn="l"/>
              </a:tabLs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Selective-field connectionless integrity</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It supports for the integrity of selected fields within an individual connectionless data block and takes the form of determination of whether the selected areas have been changed.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sp>
        <p:nvSpPr>
          <p:cNvPr id="140" name="Google Shape;140;p9"/>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41" name="Google Shape;141;p9"/>
          <p:cNvSpPr txBox="1">
            <a:spLocks noGrp="1"/>
          </p:cNvSpPr>
          <p:nvPr>
            <p:ph type="title"/>
          </p:nvPr>
        </p:nvSpPr>
        <p:spPr>
          <a:xfrm>
            <a:off x="1772356" y="569721"/>
            <a:ext cx="6005631" cy="505898"/>
          </a:xfrm>
          <a:prstGeom prst="rect">
            <a:avLst/>
          </a:prstGeom>
          <a:noFill/>
          <a:ln>
            <a:noFill/>
          </a:ln>
        </p:spPr>
        <p:txBody>
          <a:bodyPr spcFirstLastPara="1" wrap="square" lIns="0" tIns="13325" rIns="0" bIns="0" anchor="t" anchorCtr="0">
            <a:spAutoFit/>
          </a:bodyPr>
          <a:lstStyle/>
          <a:p>
            <a:pPr algn="just"/>
            <a:r>
              <a:rPr lang="en-IN" dirty="0">
                <a:effectLst/>
                <a:latin typeface="Times New Roman" panose="02020603050405020304" pitchFamily="18" charset="0"/>
                <a:ea typeface="Times New Roman" panose="02020603050405020304" pitchFamily="18" charset="0"/>
              </a:rPr>
              <a:t>Security Mechanism</a:t>
            </a:r>
          </a:p>
        </p:txBody>
      </p:sp>
      <p:sp>
        <p:nvSpPr>
          <p:cNvPr id="142" name="Google Shape;142;p9"/>
          <p:cNvSpPr txBox="1"/>
          <p:nvPr/>
        </p:nvSpPr>
        <p:spPr>
          <a:xfrm>
            <a:off x="231139" y="1534414"/>
            <a:ext cx="8720949" cy="2639825"/>
          </a:xfrm>
          <a:prstGeom prst="rect">
            <a:avLst/>
          </a:prstGeom>
          <a:noFill/>
          <a:ln>
            <a:noFill/>
          </a:ln>
        </p:spPr>
        <p:txBody>
          <a:bodyPr spcFirstLastPara="1" wrap="square" lIns="0" tIns="53975" rIns="0" bIns="0" anchor="t" anchorCtr="0">
            <a:spAutoFit/>
          </a:bodyPr>
          <a:lstStyle/>
          <a:p>
            <a:pPr algn="just" fontAlgn="base"/>
            <a:r>
              <a:rPr lang="en-US" sz="2400" u="sng" spc="10" dirty="0">
                <a:solidFill>
                  <a:srgbClr val="000000"/>
                </a:solidFill>
                <a:effectLst/>
                <a:highlight>
                  <a:srgbClr val="FFFFFF"/>
                </a:highlight>
                <a:latin typeface="Times New Roman" panose="02020603050405020304" pitchFamily="18" charset="0"/>
                <a:ea typeface="Times New Roman" panose="02020603050405020304" pitchFamily="18" charset="0"/>
                <a:hlinkClick r:id="rId3"/>
              </a:rPr>
              <a:t>Network Security</a:t>
            </a:r>
            <a:r>
              <a:rPr lang="en-US" sz="2400" spc="10" dirty="0">
                <a:solidFill>
                  <a:srgbClr val="273239"/>
                </a:solidFill>
                <a:effectLst/>
                <a:highlight>
                  <a:srgbClr val="FFFFFF"/>
                </a:highlight>
                <a:latin typeface="Times New Roman" panose="02020603050405020304" pitchFamily="18" charset="0"/>
                <a:ea typeface="Times New Roman" panose="02020603050405020304" pitchFamily="18" charset="0"/>
              </a:rPr>
              <a:t> is field in computer technology that deals with ensuring security of computer network infrastructure. As the network is very necessary for sharing of information whether it is at hardware level such as printer, scanner, or at software level. Therefore security mechanism can also be termed as is set of processes that deal with recovery from security attack. Various mechanisms are designed to recover from these specific attacks at various protocol layers.</a:t>
            </a:r>
            <a:endParaRPr lang="en-IN" sz="24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48" name="Google Shape;148;p10"/>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a:t>University Institute of Engineering (UIE)</a:t>
            </a:r>
            <a:endParaRPr lang="en-US" sz="1400" dirty="0"/>
          </a:p>
        </p:txBody>
      </p:sp>
      <p:sp>
        <p:nvSpPr>
          <p:cNvPr id="149" name="Google Shape;149;p10"/>
          <p:cNvSpPr txBox="1">
            <a:spLocks noGrp="1"/>
          </p:cNvSpPr>
          <p:nvPr>
            <p:ph type="title"/>
          </p:nvPr>
        </p:nvSpPr>
        <p:spPr>
          <a:xfrm>
            <a:off x="2319908" y="569721"/>
            <a:ext cx="5271770" cy="382787"/>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IN" sz="2400" dirty="0">
                <a:effectLst/>
                <a:latin typeface="Times New Roman" panose="02020603050405020304" pitchFamily="18" charset="0"/>
                <a:ea typeface="Times New Roman" panose="02020603050405020304" pitchFamily="18" charset="0"/>
              </a:rPr>
              <a:t>Security Mechanism</a:t>
            </a:r>
            <a:endParaRPr sz="2400" dirty="0"/>
          </a:p>
        </p:txBody>
      </p:sp>
      <p:pic>
        <p:nvPicPr>
          <p:cNvPr id="2" name="Picture 1">
            <a:extLst>
              <a:ext uri="{FF2B5EF4-FFF2-40B4-BE49-F238E27FC236}">
                <a16:creationId xmlns:a16="http://schemas.microsoft.com/office/drawing/2014/main" id="{912C710C-16F0-AC8D-D187-DBD7CB07C997}"/>
              </a:ext>
            </a:extLst>
          </p:cNvPr>
          <p:cNvPicPr>
            <a:picLocks noChangeAspect="1"/>
          </p:cNvPicPr>
          <p:nvPr/>
        </p:nvPicPr>
        <p:blipFill>
          <a:blip r:embed="rId3" cstate="print"/>
          <a:srcRect/>
          <a:stretch>
            <a:fillRect/>
          </a:stretch>
        </p:blipFill>
        <p:spPr bwMode="auto">
          <a:xfrm>
            <a:off x="564444" y="1377245"/>
            <a:ext cx="7936089" cy="3917244"/>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56" name="Google Shape;156;p11"/>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57" name="Google Shape;157;p11"/>
          <p:cNvSpPr txBox="1">
            <a:spLocks noGrp="1"/>
          </p:cNvSpPr>
          <p:nvPr>
            <p:ph type="title"/>
          </p:nvPr>
        </p:nvSpPr>
        <p:spPr>
          <a:xfrm>
            <a:off x="493039" y="622807"/>
            <a:ext cx="8157921" cy="444342"/>
          </a:xfrm>
          <a:prstGeom prst="rect">
            <a:avLst/>
          </a:prstGeom>
          <a:noFill/>
          <a:ln>
            <a:noFill/>
          </a:ln>
        </p:spPr>
        <p:txBody>
          <a:bodyPr spcFirstLastPara="1" wrap="square" lIns="0" tIns="13325" rIns="0" bIns="0" anchor="t" anchorCtr="0">
            <a:spAutoFit/>
          </a:bodyPr>
          <a:lstStyle/>
          <a:p>
            <a:pPr algn="ctr"/>
            <a:r>
              <a:rPr lang="en-IN" sz="2800" dirty="0">
                <a:effectLst/>
                <a:latin typeface="Times New Roman" panose="02020603050405020304" pitchFamily="18" charset="0"/>
                <a:ea typeface="Times New Roman" panose="02020603050405020304" pitchFamily="18" charset="0"/>
              </a:rPr>
              <a:t> </a:t>
            </a:r>
            <a:r>
              <a:rPr lang="en-US" sz="2800" b="1" spc="10" dirty="0">
                <a:solidFill>
                  <a:srgbClr val="273239"/>
                </a:solidFill>
                <a:effectLst/>
                <a:highlight>
                  <a:srgbClr val="FFFFFF"/>
                </a:highlight>
                <a:latin typeface="Times New Roman" panose="02020603050405020304" pitchFamily="18" charset="0"/>
                <a:ea typeface="Times New Roman" panose="02020603050405020304" pitchFamily="18" charset="0"/>
              </a:rPr>
              <a:t>Types of Security Mechanism are :</a:t>
            </a:r>
            <a:endParaRPr lang="en-IN" sz="2800" dirty="0">
              <a:effectLst/>
              <a:highlight>
                <a:srgbClr val="FFFFFF"/>
              </a:highlight>
              <a:latin typeface="Times New Roman" panose="02020603050405020304" pitchFamily="18" charset="0"/>
              <a:ea typeface="Times New Roman" panose="02020603050405020304" pitchFamily="18" charset="0"/>
            </a:endParaRPr>
          </a:p>
        </p:txBody>
      </p:sp>
      <p:sp>
        <p:nvSpPr>
          <p:cNvPr id="158" name="Google Shape;158;p11"/>
          <p:cNvSpPr txBox="1"/>
          <p:nvPr/>
        </p:nvSpPr>
        <p:spPr>
          <a:xfrm>
            <a:off x="180622" y="1369313"/>
            <a:ext cx="8782756" cy="3964547"/>
          </a:xfrm>
          <a:prstGeom prst="rect">
            <a:avLst/>
          </a:prstGeom>
          <a:noFill/>
          <a:ln>
            <a:noFill/>
          </a:ln>
        </p:spPr>
        <p:txBody>
          <a:bodyPr spcFirstLastPara="1" wrap="square" lIns="0" tIns="85725" rIns="0" bIns="0" anchor="t" anchorCtr="0">
            <a:spAutoFit/>
          </a:bodyPr>
          <a:lstStyle/>
          <a:p>
            <a:pPr marL="342900" lvl="0" indent="-342900"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Encipherment:</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This security mechanism deals with hiding and covering of data which helps data to become confidential. It is achieved by applying mathematical calculations or algorithms which reconstruct information into not readable form. It is achieved by two famous techniques named Cryptography and Encipherment. Level of data encryption is dependent on the algorithm used for encipherment.</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tabLst>
                <a:tab pos="457200" algn="l"/>
              </a:tabLst>
            </a:pPr>
            <a:r>
              <a:rPr lang="en-IN" sz="1800" b="1" spc="10" dirty="0" err="1">
                <a:solidFill>
                  <a:srgbClr val="273239"/>
                </a:solidFill>
                <a:effectLst/>
                <a:highlight>
                  <a:srgbClr val="FFFFFF"/>
                </a:highlight>
                <a:latin typeface="Times New Roman" panose="02020603050405020304" pitchFamily="18" charset="0"/>
                <a:ea typeface="Times New Roman" panose="02020603050405020304" pitchFamily="18" charset="0"/>
              </a:rPr>
              <a:t>AccessControl</a:t>
            </a: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This mechanism is used to stop unattended access to data which you are sending. It can be achieved by various techniques such as applying passwords, using firewall, or just by adding PIN to data.</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Notarization:</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This security mechanism involves use of trusted third party in communication. It acts as mediator between sender and receiver so that if any chance of conflict is reduced. This mediator keeps record of requests made by sender to receiver for later denied.</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64" name="Google Shape;164;p1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65" name="Google Shape;165;p12"/>
          <p:cNvSpPr txBox="1"/>
          <p:nvPr/>
        </p:nvSpPr>
        <p:spPr>
          <a:xfrm>
            <a:off x="231140" y="1463929"/>
            <a:ext cx="8528685" cy="5164875"/>
          </a:xfrm>
          <a:prstGeom prst="rect">
            <a:avLst/>
          </a:prstGeom>
          <a:noFill/>
          <a:ln>
            <a:noFill/>
          </a:ln>
        </p:spPr>
        <p:txBody>
          <a:bodyPr spcFirstLastPara="1" wrap="square" lIns="0" tIns="85725" rIns="0" bIns="0" anchor="t" anchorCtr="0">
            <a:spAutoFit/>
          </a:bodyPr>
          <a:lstStyle/>
          <a:p>
            <a:pPr marL="342900" lvl="0" indent="-342900" fontAlgn="base">
              <a:tabLst>
                <a:tab pos="457200" algn="l"/>
              </a:tabLst>
            </a:pPr>
            <a:r>
              <a:rPr lang="en-IN" sz="1800" b="1" spc="10" dirty="0" err="1">
                <a:solidFill>
                  <a:srgbClr val="273239"/>
                </a:solidFill>
                <a:effectLst/>
                <a:highlight>
                  <a:srgbClr val="FFFFFF"/>
                </a:highlight>
                <a:latin typeface="Times New Roman" panose="02020603050405020304" pitchFamily="18" charset="0"/>
                <a:ea typeface="Times New Roman" panose="02020603050405020304" pitchFamily="18" charset="0"/>
              </a:rPr>
              <a:t>DataIntegrity</a:t>
            </a: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This security mechanism is used by appending value to data to which is created by data itself. It is similar to sending packet of information known to both sending and receiving parties and checked before and after data is received. When this packet or data which is appended is checked and is the same while sending and receiving data integrity is </a:t>
            </a:r>
            <a:r>
              <a:rPr lang="en-IN" sz="1800" spc="10" dirty="0" err="1">
                <a:solidFill>
                  <a:srgbClr val="273239"/>
                </a:solidFill>
                <a:effectLst/>
                <a:highlight>
                  <a:srgbClr val="FFFFFF"/>
                </a:highlight>
                <a:latin typeface="Times New Roman" panose="02020603050405020304" pitchFamily="18" charset="0"/>
                <a:ea typeface="Times New Roman" panose="02020603050405020304" pitchFamily="18" charset="0"/>
              </a:rPr>
              <a:t>maintained.This</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security mechanism deals with identity to be known in communication. This is achieved at the TCP/IP layer where two-way handshaking mechanism is used to ensure data is sent or not</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tabLst>
                <a:tab pos="457200" algn="l"/>
              </a:tabLst>
            </a:pPr>
            <a:r>
              <a:rPr lang="en-IN" sz="1800" b="1" spc="10" dirty="0" err="1">
                <a:solidFill>
                  <a:srgbClr val="273239"/>
                </a:solidFill>
                <a:effectLst/>
                <a:highlight>
                  <a:srgbClr val="FFFFFF"/>
                </a:highlight>
                <a:latin typeface="Times New Roman" panose="02020603050405020304" pitchFamily="18" charset="0"/>
                <a:ea typeface="Times New Roman" panose="02020603050405020304" pitchFamily="18" charset="0"/>
              </a:rPr>
              <a:t>Bitstuffing</a:t>
            </a: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This security mechanism is used to add some extra bits into data which is being transmitted. It helps data to be checked at the receiving end and is achieved by Even parity or Odd Parity.</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tabLst>
                <a:tab pos="457200" algn="l"/>
              </a:tabLst>
            </a:pPr>
            <a:r>
              <a:rPr lang="en-IN" sz="1800" b="1" spc="10" dirty="0" err="1">
                <a:solidFill>
                  <a:srgbClr val="273239"/>
                </a:solidFill>
                <a:effectLst/>
                <a:highlight>
                  <a:srgbClr val="FFFFFF"/>
                </a:highlight>
                <a:latin typeface="Times New Roman" panose="02020603050405020304" pitchFamily="18" charset="0"/>
                <a:ea typeface="Times New Roman" panose="02020603050405020304" pitchFamily="18" charset="0"/>
              </a:rPr>
              <a:t>DigitalSignature</a:t>
            </a: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This security mechanism is achieved by adding digital data that is not visible to eyes. It is form of electronic signature which is added by sender which is checked by receiver electronically. This mechanism is used to preserve data which is not more confidential but sender’s identity is to be notified.</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tabLst>
                <a:tab pos="457200" algn="l"/>
              </a:tabLst>
            </a:pPr>
            <a:endParaRPr lang="en-IN" sz="2400" dirty="0">
              <a:effectLst/>
              <a:highlight>
                <a:srgbClr val="FFFFFF"/>
              </a:highlight>
              <a:latin typeface="Times New Roman" panose="02020603050405020304" pitchFamily="18" charset="0"/>
              <a:ea typeface="Times New Roman" panose="02020603050405020304" pitchFamily="18" charset="0"/>
            </a:endParaRPr>
          </a:p>
        </p:txBody>
      </p:sp>
      <p:sp>
        <p:nvSpPr>
          <p:cNvPr id="166" name="Google Shape;166;p12"/>
          <p:cNvSpPr txBox="1">
            <a:spLocks noGrp="1"/>
          </p:cNvSpPr>
          <p:nvPr>
            <p:ph type="title"/>
          </p:nvPr>
        </p:nvSpPr>
        <p:spPr>
          <a:xfrm>
            <a:off x="493039" y="622807"/>
            <a:ext cx="8157921" cy="382787"/>
          </a:xfrm>
          <a:prstGeom prst="rect">
            <a:avLst/>
          </a:prstGeom>
          <a:noFill/>
          <a:ln>
            <a:noFill/>
          </a:ln>
        </p:spPr>
        <p:txBody>
          <a:bodyPr spcFirstLastPara="1" wrap="square" lIns="0" tIns="13325" rIns="0" bIns="0" anchor="t" anchorCtr="0">
            <a:spAutoFit/>
          </a:bodyPr>
          <a:lstStyle/>
          <a:p>
            <a:pPr marL="610870" lvl="0" indent="0" algn="ctr" rtl="0">
              <a:lnSpc>
                <a:spcPct val="100000"/>
              </a:lnSpc>
              <a:spcBef>
                <a:spcPts val="0"/>
              </a:spcBef>
              <a:spcAft>
                <a:spcPts val="0"/>
              </a:spcAft>
              <a:buSzPts val="1400"/>
              <a:buNone/>
            </a:pPr>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Types of Security Mechanism are :</a:t>
            </a:r>
            <a:endParaRPr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3"/>
          <p:cNvSpPr txBox="1">
            <a:spLocks noGrp="1"/>
          </p:cNvSpPr>
          <p:nvPr>
            <p:ph type="ctrTitle"/>
          </p:nvPr>
        </p:nvSpPr>
        <p:spPr>
          <a:xfrm>
            <a:off x="-80010" y="17780"/>
            <a:ext cx="9200133" cy="299720"/>
          </a:xfrm>
          <a:prstGeom prst="rect">
            <a:avLst/>
          </a:prstGeom>
          <a:noFill/>
          <a:ln>
            <a:noFill/>
          </a:ln>
        </p:spPr>
        <p:txBody>
          <a:bodyPr spcFirstLastPara="1" wrap="square" lIns="0" tIns="12700" rIns="0" bIns="0" anchor="t" anchorCtr="0">
            <a:spAutoFit/>
          </a:bodyPr>
          <a:lstStyle/>
          <a:p>
            <a:pPr marL="3350259" lvl="0" indent="0" algn="l" rtl="0">
              <a:lnSpc>
                <a:spcPct val="100000"/>
              </a:lnSpc>
              <a:spcBef>
                <a:spcPts val="0"/>
              </a:spcBef>
              <a:spcAft>
                <a:spcPts val="0"/>
              </a:spcAft>
              <a:buSzPts val="1400"/>
              <a:buNone/>
            </a:pPr>
            <a:r>
              <a:rPr lang="en-US" dirty="0"/>
              <a:t>Department of Computer Science and Engineering (CSE)</a:t>
            </a:r>
            <a:endParaRPr dirty="0"/>
          </a:p>
        </p:txBody>
      </p:sp>
      <p:sp>
        <p:nvSpPr>
          <p:cNvPr id="173" name="Google Shape;173;p13"/>
          <p:cNvSpPr txBox="1"/>
          <p:nvPr/>
        </p:nvSpPr>
        <p:spPr>
          <a:xfrm>
            <a:off x="1478575" y="430566"/>
            <a:ext cx="4683125" cy="827524"/>
          </a:xfrm>
          <a:prstGeom prst="rect">
            <a:avLst/>
          </a:prstGeom>
          <a:noFill/>
          <a:ln>
            <a:noFill/>
          </a:ln>
        </p:spPr>
        <p:txBody>
          <a:bodyPr spcFirstLastPara="1" wrap="square" lIns="0" tIns="13325" rIns="0" bIns="0" anchor="t" anchorCtr="0">
            <a:spAutoFit/>
          </a:bodyPr>
          <a:lstStyle/>
          <a:p>
            <a:pPr algn="l" fontAlgn="base">
              <a:lnSpc>
                <a:spcPct val="115000"/>
              </a:lnSpc>
            </a:pPr>
            <a:endParaRPr lang="en-IN" sz="1800" b="1" i="0" kern="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endParaRPr>
          </a:p>
          <a:p>
            <a:pPr algn="l" fontAlgn="base">
              <a:lnSpc>
                <a:spcPct val="115000"/>
              </a:lnSpc>
            </a:pPr>
            <a:r>
              <a:rPr lang="en-IN" sz="2800" b="1" i="0" kern="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Information Technology Act</a:t>
            </a:r>
            <a:endParaRPr lang="en-IN" sz="2800" b="1" i="1" kern="0" dirty="0">
              <a:effectLst/>
              <a:highlight>
                <a:srgbClr val="FFFFFF"/>
              </a:highlight>
              <a:latin typeface="Book Antiqua" panose="02040602050305030304" pitchFamily="18" charset="0"/>
              <a:ea typeface="Times New Roman" panose="02020603050405020304" pitchFamily="18" charset="0"/>
              <a:cs typeface="Raavi" panose="020B0502040204020203" pitchFamily="34" charset="0"/>
            </a:endParaRPr>
          </a:p>
        </p:txBody>
      </p:sp>
      <p:sp>
        <p:nvSpPr>
          <p:cNvPr id="174" name="Google Shape;174;p13"/>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3" name="TextBox 2">
            <a:extLst>
              <a:ext uri="{FF2B5EF4-FFF2-40B4-BE49-F238E27FC236}">
                <a16:creationId xmlns:a16="http://schemas.microsoft.com/office/drawing/2014/main" id="{88AF2155-9B78-6C0D-4FC0-0B18243176A6}"/>
              </a:ext>
            </a:extLst>
          </p:cNvPr>
          <p:cNvSpPr txBox="1"/>
          <p:nvPr/>
        </p:nvSpPr>
        <p:spPr>
          <a:xfrm>
            <a:off x="824089" y="1433689"/>
            <a:ext cx="7947378" cy="4801314"/>
          </a:xfrm>
          <a:prstGeom prst="rect">
            <a:avLst/>
          </a:prstGeom>
          <a:noFill/>
        </p:spPr>
        <p:txBody>
          <a:bodyPr wrap="square">
            <a:spAutoFit/>
          </a:bodyPr>
          <a:lstStyle/>
          <a:p>
            <a:pPr algn="just" fontAlgn="base"/>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The Information Technology Act, 2000 also Known as an </a:t>
            </a:r>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IT Act</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is an act proposed by the Indian Parliament reported on 17th October 2000. This Information Technology Act is based on the United Nations Model law on Electronic Commerce 1996 (UNCITRAL Model) which was suggested by the General Assembly of United Nations by a resolution dated on 30th January, 1997. It is the most important law in India dealing with Cybercrime and E-Commerce. </a:t>
            </a:r>
            <a:endParaRPr lang="en-IN" sz="1800" dirty="0">
              <a:effectLst/>
              <a:highlight>
                <a:srgbClr val="FFFFFF"/>
              </a:highlight>
              <a:latin typeface="Times New Roman" panose="02020603050405020304" pitchFamily="18" charset="0"/>
              <a:ea typeface="Times New Roman" panose="02020603050405020304" pitchFamily="18" charset="0"/>
            </a:endParaRPr>
          </a:p>
          <a:p>
            <a:pPr fontAlgn="base"/>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The main objective of this act is to carry lawful and trustworthy electronic, digital and online transactions and alleviate or reduce cybercrimes. The IT Act has 13 chapters and 94 sections. The last four sections that starts from ‘section 91 – section 94’, deals with the revisions to the Indian Penal Code 1860. </a:t>
            </a:r>
            <a:endParaRPr lang="en-IN" sz="1800" dirty="0">
              <a:effectLst/>
              <a:highlight>
                <a:srgbClr val="FFFFFF"/>
              </a:highlight>
              <a:latin typeface="Times New Roman" panose="02020603050405020304" pitchFamily="18" charset="0"/>
              <a:ea typeface="Times New Roman" panose="02020603050405020304" pitchFamily="18" charset="0"/>
            </a:endParaRPr>
          </a:p>
          <a:p>
            <a:pPr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The IT Act, 2000 has two schedules: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First Schedule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Deals with documents to which the Act shall not apply.</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SzPts val="1000"/>
              <a:buFont typeface="Symbol" pitchFamily="2" charset="2"/>
              <a:buChar char=""/>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Second Schedule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Deals with electronic signature or electronic authentication method.</a:t>
            </a:r>
            <a:endParaRPr lang="en-IN" sz="1800" dirty="0">
              <a:effectLst/>
              <a:highlight>
                <a:srgbClr val="FFFFFF"/>
              </a:highlight>
              <a:latin typeface="Times New Roman" panose="02020603050405020304" pitchFamily="18" charset="0"/>
              <a:ea typeface="Times New Roman" panose="02020603050405020304" pitchFamily="18" charset="0"/>
            </a:endParaRPr>
          </a:p>
          <a:p>
            <a:pPr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The offences and the punishments in IT Act 2000 : </a:t>
            </a:r>
            <a:b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The offences and the punishments that falls under the IT Act, 2000 are as follows :-</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41B04-F1D8-4F88-39C7-223F0DAB270A}"/>
              </a:ext>
            </a:extLst>
          </p:cNvPr>
          <p:cNvSpPr>
            <a:spLocks noGrp="1"/>
          </p:cNvSpPr>
          <p:nvPr>
            <p:ph type="title"/>
          </p:nvPr>
        </p:nvSpPr>
        <p:spPr>
          <a:xfrm>
            <a:off x="1196622" y="622807"/>
            <a:ext cx="7454338" cy="984885"/>
          </a:xfrm>
        </p:spPr>
        <p:txBody>
          <a:bodyPr/>
          <a:lstStyle/>
          <a:p>
            <a:r>
              <a:rPr lang="en-IN" sz="3200" b="1" i="0" kern="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Information Technology Act</a:t>
            </a:r>
            <a:br>
              <a:rPr lang="en-IN" sz="3200" b="1" i="1" kern="0" dirty="0">
                <a:effectLst/>
                <a:highlight>
                  <a:srgbClr val="FFFFFF"/>
                </a:highlight>
                <a:latin typeface="Book Antiqua" panose="02040602050305030304" pitchFamily="18" charset="0"/>
                <a:ea typeface="Times New Roman" panose="02020603050405020304" pitchFamily="18" charset="0"/>
                <a:cs typeface="Raavi" panose="020B0502040204020203" pitchFamily="34" charset="0"/>
              </a:rPr>
            </a:br>
            <a:endParaRPr lang="en-US" dirty="0"/>
          </a:p>
        </p:txBody>
      </p:sp>
      <p:sp>
        <p:nvSpPr>
          <p:cNvPr id="3" name="Text Placeholder 2">
            <a:extLst>
              <a:ext uri="{FF2B5EF4-FFF2-40B4-BE49-F238E27FC236}">
                <a16:creationId xmlns:a16="http://schemas.microsoft.com/office/drawing/2014/main" id="{BA6169D9-6500-A2DC-A2FD-19B33545E0C1}"/>
              </a:ext>
            </a:extLst>
          </p:cNvPr>
          <p:cNvSpPr>
            <a:spLocks noGrp="1"/>
          </p:cNvSpPr>
          <p:nvPr>
            <p:ph type="body" idx="1"/>
          </p:nvPr>
        </p:nvSpPr>
        <p:spPr>
          <a:xfrm>
            <a:off x="231140" y="1535289"/>
            <a:ext cx="8681719" cy="4154984"/>
          </a:xfrm>
        </p:spPr>
        <p:txBody>
          <a:bodyPr/>
          <a:lstStyle/>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Tampering with the computer source documents.</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Directions of Controller to a subscriber to extend facilities to decrypt information.</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Publishing of information which is obscene in electronic form.</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Penalty for breach of confidentiality and privacy.</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Hacking for malicious purposes.</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Penalty for publishing Digital Signature Certificate false in certain particulars.</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Penalty for misrepresentation.</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Confiscation.</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Power to investigate offences.</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Protected System.</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Penalties for confiscation not to interfere with other punishments.</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Act to apply for offence or contravention committed outside India.</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Publication for fraud purposes.</a:t>
            </a:r>
            <a:endParaRPr lang="en-IN" dirty="0">
              <a:highlight>
                <a:srgbClr val="FFFFFF"/>
              </a:highlight>
              <a:latin typeface="Times New Roman" panose="02020603050405020304" pitchFamily="18" charset="0"/>
              <a:ea typeface="Times New Roman" panose="02020603050405020304" pitchFamily="18" charset="0"/>
            </a:endParaRPr>
          </a:p>
          <a:p>
            <a:pPr marL="342900" lvl="0" indent="-342900" fontAlgn="base">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Power of Controller to give directions.</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3916446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48" name="Google Shape;248;p2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249" name="Google Shape;249;p22"/>
          <p:cNvSpPr txBox="1">
            <a:spLocks noGrp="1"/>
          </p:cNvSpPr>
          <p:nvPr>
            <p:ph type="title"/>
          </p:nvPr>
        </p:nvSpPr>
        <p:spPr>
          <a:xfrm>
            <a:off x="3783324" y="691650"/>
            <a:ext cx="32460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2400" dirty="0"/>
              <a:t>References</a:t>
            </a:r>
            <a:endParaRPr sz="2400" dirty="0"/>
          </a:p>
        </p:txBody>
      </p:sp>
      <p:sp>
        <p:nvSpPr>
          <p:cNvPr id="250" name="Google Shape;250;p22"/>
          <p:cNvSpPr txBox="1"/>
          <p:nvPr/>
        </p:nvSpPr>
        <p:spPr>
          <a:xfrm>
            <a:off x="231140" y="1692211"/>
            <a:ext cx="8630638" cy="4437615"/>
          </a:xfrm>
          <a:prstGeom prst="rect">
            <a:avLst/>
          </a:prstGeom>
          <a:noFill/>
          <a:ln>
            <a:noFill/>
          </a:ln>
        </p:spPr>
        <p:txBody>
          <a:bodyPr spcFirstLastPara="1" wrap="square" lIns="0" tIns="86350" rIns="0" bIns="0" anchor="t" anchorCtr="0">
            <a:spAutoFit/>
          </a:bodyPr>
          <a:lstStyle/>
          <a:p>
            <a:pPr marR="53975" lvl="0" algn="just">
              <a:lnSpc>
                <a:spcPct val="115000"/>
              </a:lnSpc>
              <a:spcBef>
                <a:spcPts val="1200"/>
              </a:spcBef>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TEXT BOOKS/REFERENCE BOOKS</a:t>
            </a:r>
            <a:endPar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TEXT BOOKS</a:t>
            </a:r>
            <a:endParaRPr lang="en-IN" sz="1800" dirty="0">
              <a:effectLst/>
              <a:latin typeface="Times New Roman" panose="02020603050405020304" pitchFamily="18" charset="0"/>
              <a:ea typeface="Times New Roman" panose="02020603050405020304" pitchFamily="18" charset="0"/>
            </a:endParaRPr>
          </a:p>
          <a:p>
            <a:r>
              <a:rPr lang="en-IN" sz="1800" b="1" dirty="0">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T1 </a:t>
            </a:r>
            <a:r>
              <a:rPr lang="en-IN" sz="1800" dirty="0">
                <a:effectLst/>
                <a:latin typeface="Times New Roman" panose="02020603050405020304" pitchFamily="18" charset="0"/>
                <a:ea typeface="Times New Roman" panose="02020603050405020304" pitchFamily="18" charset="0"/>
              </a:rPr>
              <a:t>Introduction to Cyber Security by </a:t>
            </a:r>
            <a:r>
              <a:rPr lang="en-IN" sz="1800" dirty="0" err="1">
                <a:effectLst/>
                <a:latin typeface="Times New Roman" panose="02020603050405020304" pitchFamily="18" charset="0"/>
                <a:ea typeface="Times New Roman" panose="02020603050405020304" pitchFamily="18" charset="0"/>
              </a:rPr>
              <a:t>Shimeall</a:t>
            </a:r>
            <a:r>
              <a:rPr lang="en-IN" sz="1800" dirty="0">
                <a:effectLst/>
                <a:latin typeface="Times New Roman" panose="02020603050405020304" pitchFamily="18" charset="0"/>
                <a:ea typeface="Times New Roman" panose="02020603050405020304" pitchFamily="18" charset="0"/>
              </a:rPr>
              <a:t> , Elsevier Science, 2nd Edition, 2017. </a:t>
            </a:r>
          </a:p>
          <a:p>
            <a:pPr marL="457200"/>
            <a:r>
              <a:rPr lang="en-IN" sz="1800" b="1" dirty="0">
                <a:effectLst/>
                <a:latin typeface="Times New Roman" panose="02020603050405020304" pitchFamily="18" charset="0"/>
                <a:ea typeface="Times New Roman" panose="02020603050405020304" pitchFamily="18" charset="0"/>
              </a:rPr>
              <a:t>T2</a:t>
            </a:r>
            <a:r>
              <a:rPr lang="en-IN" sz="1800" dirty="0">
                <a:effectLst/>
                <a:latin typeface="Times New Roman" panose="02020603050405020304" pitchFamily="18" charset="0"/>
                <a:ea typeface="Times New Roman" panose="02020603050405020304" pitchFamily="18" charset="0"/>
              </a:rPr>
              <a:t>Introduction To Information Security And Cyber Laws by Surya Prakash Tripathi and </a:t>
            </a:r>
            <a:r>
              <a:rPr lang="en-IN" sz="1800" dirty="0" err="1">
                <a:effectLst/>
                <a:latin typeface="Times New Roman" panose="02020603050405020304" pitchFamily="18" charset="0"/>
                <a:ea typeface="Times New Roman" panose="02020603050405020304" pitchFamily="18" charset="0"/>
              </a:rPr>
              <a:t>Ritendra</a:t>
            </a:r>
            <a:r>
              <a:rPr lang="en-IN" sz="1800" dirty="0">
                <a:effectLst/>
                <a:latin typeface="Times New Roman" panose="02020603050405020304" pitchFamily="18" charset="0"/>
                <a:ea typeface="Times New Roman" panose="02020603050405020304" pitchFamily="18" charset="0"/>
              </a:rPr>
              <a:t>, John Wiley</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2010.</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REFERENCE BOOKS</a:t>
            </a:r>
            <a:endParaRPr lang="en-IN" sz="1800" dirty="0">
              <a:effectLst/>
              <a:latin typeface="Times New Roman" panose="02020603050405020304" pitchFamily="18" charset="0"/>
              <a:ea typeface="Times New Roman" panose="02020603050405020304" pitchFamily="18" charset="0"/>
            </a:endParaRPr>
          </a:p>
          <a:p>
            <a:pPr marL="457200"/>
            <a:r>
              <a:rPr lang="en-IN" sz="1800" b="1" dirty="0">
                <a:effectLst/>
                <a:latin typeface="Times New Roman" panose="02020603050405020304" pitchFamily="18" charset="0"/>
                <a:ea typeface="Times New Roman" panose="02020603050405020304" pitchFamily="18" charset="0"/>
              </a:rPr>
              <a:t>R1</a:t>
            </a:r>
            <a:r>
              <a:rPr lang="en-IN" sz="1800" dirty="0">
                <a:effectLst/>
                <a:latin typeface="Times New Roman" panose="02020603050405020304" pitchFamily="18" charset="0"/>
                <a:ea typeface="Times New Roman" panose="02020603050405020304" pitchFamily="18" charset="0"/>
              </a:rPr>
              <a:t>Principles of Information Security, By Michael E. Whiteman. Cengage Learning, 2015 </a:t>
            </a:r>
          </a:p>
          <a:p>
            <a:pPr marL="457200"/>
            <a:r>
              <a:rPr lang="en-IN" sz="1800" b="1" dirty="0">
                <a:effectLst/>
                <a:latin typeface="Times New Roman" panose="02020603050405020304" pitchFamily="18" charset="0"/>
                <a:ea typeface="Times New Roman" panose="02020603050405020304" pitchFamily="18" charset="0"/>
              </a:rPr>
              <a:t>R2</a:t>
            </a:r>
            <a:r>
              <a:rPr lang="en-IN" sz="1800" dirty="0">
                <a:effectLst/>
                <a:latin typeface="Times New Roman" panose="02020603050405020304" pitchFamily="18" charset="0"/>
                <a:ea typeface="Times New Roman" panose="02020603050405020304" pitchFamily="18" charset="0"/>
              </a:rPr>
              <a:t>.Information Technology </a:t>
            </a:r>
            <a:r>
              <a:rPr lang="en-IN" sz="1800" dirty="0" err="1">
                <a:effectLst/>
                <a:latin typeface="Times New Roman" panose="02020603050405020304" pitchFamily="18" charset="0"/>
                <a:ea typeface="Times New Roman" panose="02020603050405020304" pitchFamily="18" charset="0"/>
              </a:rPr>
              <a:t>SecurityFundamentals</a:t>
            </a:r>
            <a:r>
              <a:rPr lang="en-IN" sz="1800" dirty="0">
                <a:effectLst/>
                <a:latin typeface="Times New Roman" panose="02020603050405020304" pitchFamily="18" charset="0"/>
                <a:ea typeface="Times New Roman" panose="02020603050405020304" pitchFamily="18" charset="0"/>
              </a:rPr>
              <a:t>, by Glen Sagar, Business Expert Press, 2022</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R3</a:t>
            </a:r>
            <a:r>
              <a:rPr lang="en-IN" sz="1800" dirty="0">
                <a:effectLst/>
                <a:latin typeface="Times New Roman" panose="02020603050405020304" pitchFamily="18" charset="0"/>
                <a:ea typeface="Times New Roman" panose="02020603050405020304" pitchFamily="18" charset="0"/>
              </a:rPr>
              <a:t>Information Security Policies And Procedures: A Practitioners Reference 2Nd Edition by Peltier Thomas R., T&amp;F India, 2004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grpSp>
        <p:nvGrpSpPr>
          <p:cNvPr id="257" name="Google Shape;257;p23"/>
          <p:cNvGrpSpPr/>
          <p:nvPr/>
        </p:nvGrpSpPr>
        <p:grpSpPr>
          <a:xfrm>
            <a:off x="0" y="11430"/>
            <a:ext cx="9144381" cy="6858000"/>
            <a:chOff x="0" y="0"/>
            <a:chExt cx="9144381" cy="6858000"/>
          </a:xfrm>
        </p:grpSpPr>
        <p:sp>
          <p:nvSpPr>
            <p:cNvPr id="258" name="Google Shape;258;p2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152399" y="152400"/>
              <a:ext cx="768095" cy="12192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2" name="Google Shape;262;p23"/>
          <p:cNvSpPr txBox="1"/>
          <p:nvPr/>
        </p:nvSpPr>
        <p:spPr>
          <a:xfrm>
            <a:off x="2475350" y="17780"/>
            <a:ext cx="66447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63" name="Google Shape;263;p23"/>
          <p:cNvSpPr/>
          <p:nvPr/>
        </p:nvSpPr>
        <p:spPr>
          <a:xfrm>
            <a:off x="1140225" y="1823002"/>
            <a:ext cx="6362700" cy="14355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a:spLocks noGrp="1"/>
          </p:cNvSpPr>
          <p:nvPr>
            <p:ph type="ftr" idx="11"/>
          </p:nvPr>
        </p:nvSpPr>
        <p:spPr>
          <a:xfrm>
            <a:off x="2475350" y="5949096"/>
            <a:ext cx="41949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4157</TotalTime>
  <Words>2050</Words>
  <Application>Microsoft Macintosh PowerPoint</Application>
  <PresentationFormat>On-screen Show (4:3)</PresentationFormat>
  <Paragraphs>144</Paragraphs>
  <Slides>15</Slides>
  <Notes>13</Notes>
  <HiddenSlides>1</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9" baseType="lpstr">
      <vt:lpstr>Times New Roman</vt:lpstr>
      <vt:lpstr>Noto Sans Symbols</vt:lpstr>
      <vt:lpstr>Trebuchet MS</vt:lpstr>
      <vt:lpstr>Georgia</vt:lpstr>
      <vt:lpstr>Calibri</vt:lpstr>
      <vt:lpstr>Raleway ExtraBold</vt:lpstr>
      <vt:lpstr>Book Antiqua</vt:lpstr>
      <vt:lpstr>Arial Black</vt:lpstr>
      <vt:lpstr>Courier New</vt:lpstr>
      <vt:lpstr>Symbol</vt:lpstr>
      <vt:lpstr>Calibri Light</vt:lpstr>
      <vt:lpstr>Arial</vt:lpstr>
      <vt:lpstr>Office Theme</vt:lpstr>
      <vt:lpstr>CorelDRAW</vt:lpstr>
      <vt:lpstr>PowerPoint Presentation</vt:lpstr>
      <vt:lpstr>PowerPoint Presentation</vt:lpstr>
      <vt:lpstr>PowerPoint Presentation</vt:lpstr>
      <vt:lpstr>Contents of the Syllabus  </vt:lpstr>
      <vt:lpstr>Contents of the Syllabus  </vt:lpstr>
      <vt:lpstr> Security Services:</vt:lpstr>
      <vt:lpstr>Security Services:</vt:lpstr>
      <vt:lpstr>Security Mechanism</vt:lpstr>
      <vt:lpstr>Security Mechanism</vt:lpstr>
      <vt:lpstr> Types of Security Mechanism are :</vt:lpstr>
      <vt:lpstr>Types of Security Mechanism are :</vt:lpstr>
      <vt:lpstr>Department of Computer Science and Engineering (CSE)</vt:lpstr>
      <vt:lpstr>Information Technology Act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53</cp:revision>
  <dcterms:created xsi:type="dcterms:W3CDTF">2019-12-13T04:20:25Z</dcterms:created>
  <dcterms:modified xsi:type="dcterms:W3CDTF">2024-05-27T08:50:01Z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2017-12-08T00:00:00Z</vt:filetime>
  </property>
  <property fmtid="{D5CDD505-2E9C-101B-9397-08002B2CF9AE}" pid="3" name="Creator">
    <vt:lpwstr>Microsoft® PowerPoint® 2013</vt:lpwstr>
  </property>
  <property fmtid="{D5CDD505-2E9C-101B-9397-08002B2CF9AE}" pid="4" name="LastSaved">
    <vt:filetime>2019-12-13T00:00:00Z</vt:filetime>
  </property>
</Properties>
</file>