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80" r:id="rId3"/>
    <p:sldId id="257" r:id="rId4"/>
    <p:sldId id="258" r:id="rId5"/>
    <p:sldId id="259" r:id="rId6"/>
    <p:sldId id="262" r:id="rId7"/>
    <p:sldId id="264" r:id="rId8"/>
    <p:sldId id="265" r:id="rId9"/>
    <p:sldId id="266" r:id="rId10"/>
    <p:sldId id="267" r:id="rId11"/>
    <p:sldId id="268" r:id="rId12"/>
    <p:sldId id="281" r:id="rId13"/>
    <p:sldId id="282" r:id="rId14"/>
    <p:sldId id="283" r:id="rId15"/>
    <p:sldId id="284" r:id="rId16"/>
    <p:sldId id="285" r:id="rId17"/>
    <p:sldId id="286" r:id="rId18"/>
    <p:sldId id="287" r:id="rId19"/>
    <p:sldId id="290" r:id="rId20"/>
    <p:sldId id="291" r:id="rId21"/>
    <p:sldId id="292" r:id="rId22"/>
    <p:sldId id="278" r:id="rId23"/>
    <p:sldId id="279" r:id="rId24"/>
  </p:sldIdLst>
  <p:sldSz cx="9144000" cy="6858000" type="screen4x3"/>
  <p:notesSz cx="9144000" cy="6858000"/>
  <p:embeddedFontLst>
    <p:embeddedFont>
      <p:font typeface="Arial Black" panose="020B0604020202020204" pitchFamily="34" charset="0"/>
      <p:regular r:id="rId26"/>
      <p:bold r:id="rId27"/>
    </p:embeddedFont>
    <p:embeddedFont>
      <p:font typeface="Book Antiqua" panose="02040602050305030304" pitchFamily="18" charset="0"/>
      <p:regular r:id="rId28"/>
      <p:bold r:id="rId29"/>
      <p:italic r:id="rId30"/>
      <p:boldItalic r:id="rId31"/>
    </p:embeddedFont>
    <p:embeddedFont>
      <p:font typeface="Georgia" panose="02040502050405020303" pitchFamily="18" charset="0"/>
      <p:regular r:id="rId32"/>
      <p:bold r:id="rId33"/>
      <p:italic r:id="rId34"/>
      <p:boldItalic r:id="rId35"/>
    </p:embeddedFont>
    <p:embeddedFont>
      <p:font typeface="Raleway ExtraBold" panose="020F0502020204030204" pitchFamily="34" charset="0"/>
      <p:bold r:id="rId36"/>
      <p:italic r:id="rId37"/>
      <p:boldItalic r:id="rId38"/>
    </p:embeddedFont>
    <p:embeddedFont>
      <p:font typeface="Trebuchet MS" panose="020B0703020202090204" pitchFamily="34" charset="0"/>
      <p:regular r:id="rId39"/>
      <p:bold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6"/>
    <p:restoredTop sz="94653"/>
  </p:normalViewPr>
  <p:slideViewPr>
    <p:cSldViewPr snapToGrid="0">
      <p:cViewPr varScale="1">
        <p:scale>
          <a:sx n="113" d="100"/>
          <a:sy n="113" d="100"/>
        </p:scale>
        <p:origin x="680" y="18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2.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659155"/>
          </a:xfrm>
          <a:prstGeom prst="rect">
            <a:avLst/>
          </a:prstGeom>
          <a:noFill/>
          <a:ln>
            <a:noFill/>
          </a:ln>
        </p:spPr>
        <p:txBody>
          <a:bodyPr spcFirstLastPara="1" wrap="square" lIns="0" tIns="12700" rIns="0" bIns="0" anchor="t" anchorCtr="0">
            <a:spAutoFit/>
          </a:bodyPr>
          <a:lstStyle/>
          <a:p>
            <a:pPr>
              <a:lnSpc>
                <a:spcPct val="150000"/>
              </a:lnSpc>
            </a:pPr>
            <a:r>
              <a:rPr lang="en-IN" sz="2800" b="1" dirty="0">
                <a:solidFill>
                  <a:srgbClr val="222222"/>
                </a:solidFill>
                <a:effectLst/>
                <a:highlight>
                  <a:srgbClr val="FFFFFF"/>
                </a:highlight>
                <a:latin typeface="Times New Roman" panose="02020603050405020304" pitchFamily="18" charset="0"/>
                <a:ea typeface="Times New Roman" panose="02020603050405020304" pitchFamily="18" charset="0"/>
              </a:rPr>
              <a:t>Block cipher</a:t>
            </a:r>
            <a:r>
              <a:rPr lang="en-IN" sz="2800" dirty="0">
                <a:solidFill>
                  <a:srgbClr val="222222"/>
                </a:solidFill>
                <a:effectLst/>
                <a:highlight>
                  <a:srgbClr val="FFFFFF"/>
                </a:highlight>
                <a:latin typeface="Times New Roman" panose="02020603050405020304" pitchFamily="18" charset="0"/>
                <a:ea typeface="Times New Roman" panose="02020603050405020304" pitchFamily="18" charset="0"/>
              </a:rPr>
              <a:t> </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6" name="Google Shape;116;p6"/>
          <p:cNvSpPr txBox="1"/>
          <p:nvPr/>
        </p:nvSpPr>
        <p:spPr>
          <a:xfrm>
            <a:off x="225778" y="1190319"/>
            <a:ext cx="8760178" cy="3868993"/>
          </a:xfrm>
          <a:prstGeom prst="rect">
            <a:avLst/>
          </a:prstGeom>
          <a:noFill/>
          <a:ln>
            <a:noFill/>
          </a:ln>
        </p:spPr>
        <p:txBody>
          <a:bodyPr spcFirstLastPara="1" wrap="square" lIns="0" tIns="85075" rIns="0" bIns="0" anchor="t" anchorCtr="0">
            <a:spAutoFit/>
          </a:bodyPr>
          <a:lstStyle/>
          <a:p>
            <a:pPr algn="just">
              <a:lnSpc>
                <a:spcPct val="150000"/>
              </a:lnSpc>
            </a:pPr>
            <a:r>
              <a:rPr lang="en-IN" sz="1800" b="1" dirty="0">
                <a:solidFill>
                  <a:srgbClr val="222222"/>
                </a:solidFill>
                <a:effectLst/>
                <a:highlight>
                  <a:srgbClr val="FFFFFF"/>
                </a:highlight>
                <a:latin typeface="Times New Roman" panose="02020603050405020304" pitchFamily="18" charset="0"/>
                <a:ea typeface="Times New Roman" panose="02020603050405020304" pitchFamily="18" charset="0"/>
              </a:rPr>
              <a:t>Block cipher</a:t>
            </a: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 is an encryption and decryption method which operates on the </a:t>
            </a:r>
            <a:r>
              <a:rPr lang="en-IN" sz="1800" b="1" dirty="0">
                <a:solidFill>
                  <a:srgbClr val="222222"/>
                </a:solidFill>
                <a:effectLst/>
                <a:highlight>
                  <a:srgbClr val="FFFFFF"/>
                </a:highlight>
                <a:latin typeface="Times New Roman" panose="02020603050405020304" pitchFamily="18" charset="0"/>
                <a:ea typeface="Times New Roman" panose="02020603050405020304" pitchFamily="18" charset="0"/>
              </a:rPr>
              <a:t>blocks</a:t>
            </a: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 of plain text, instead of operating on each bit of plain text separately. Each block is of equal size and has fixed no of bits. The generated ciphertext has blocks equal to the number of blocks in plaintext and also has the same number of bits in each block as of plain text. Block cipher uses the same key for encryption and decryption.</a:t>
            </a:r>
            <a:endParaRPr lang="en-IN" sz="1800" dirty="0">
              <a:effectLst/>
              <a:latin typeface="Times New Roman" panose="02020603050405020304" pitchFamily="18" charset="0"/>
              <a:ea typeface="Times New Roman" panose="02020603050405020304" pitchFamily="18" charset="0"/>
            </a:endParaRPr>
          </a:p>
          <a:p>
            <a:pPr algn="just">
              <a:spcBef>
                <a:spcPts val="200"/>
              </a:spcBef>
              <a:spcAft>
                <a:spcPts val="1000"/>
              </a:spcAft>
            </a:pPr>
            <a:r>
              <a:rPr lang="en-IN" sz="1800" b="1" dirty="0">
                <a:solidFill>
                  <a:srgbClr val="222222"/>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Block Cipher Principles</a:t>
            </a:r>
            <a:endParaRPr lang="en-IN" sz="1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A block cipher is designed by considering its three critical aspects which are listed as below:</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Number of Rounds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Design of Function F</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Key Schedule Algorithm</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767508"/>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400" b="1" dirty="0">
                <a:solidFill>
                  <a:srgbClr val="222222"/>
                </a:solidFill>
                <a:effectLst/>
                <a:highlight>
                  <a:srgbClr val="FFFFFF"/>
                </a:highlight>
                <a:latin typeface="Times New Roman" panose="02020603050405020304" pitchFamily="18" charset="0"/>
                <a:ea typeface="Times New Roman" panose="02020603050405020304" pitchFamily="18" charset="0"/>
              </a:rPr>
              <a:t>Block cipher</a:t>
            </a:r>
            <a:r>
              <a:rPr lang="en-IN" sz="2400" dirty="0">
                <a:solidFill>
                  <a:srgbClr val="222222"/>
                </a:solidFill>
                <a:effectLst/>
                <a:highlight>
                  <a:srgbClr val="FFFFFF"/>
                </a:highlight>
                <a:latin typeface="Times New Roman" panose="02020603050405020304" pitchFamily="18" charset="0"/>
                <a:ea typeface="Times New Roman" panose="02020603050405020304" pitchFamily="18" charset="0"/>
              </a:rPr>
              <a:t> </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34" name="Google Shape;134;p8"/>
          <p:cNvSpPr txBox="1"/>
          <p:nvPr/>
        </p:nvSpPr>
        <p:spPr>
          <a:xfrm>
            <a:off x="124178" y="1330198"/>
            <a:ext cx="8895644" cy="5550222"/>
          </a:xfrm>
          <a:prstGeom prst="rect">
            <a:avLst/>
          </a:prstGeom>
          <a:noFill/>
          <a:ln>
            <a:noFill/>
          </a:ln>
        </p:spPr>
        <p:txBody>
          <a:bodyPr spcFirstLastPara="1" wrap="square" lIns="0" tIns="78725" rIns="0" bIns="0" anchor="t" anchorCtr="0">
            <a:spAutoFit/>
          </a:bodyPr>
          <a:lstStyle/>
          <a:p>
            <a:pPr algn="just">
              <a:spcAft>
                <a:spcPts val="1250"/>
              </a:spcAft>
            </a:pP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1. </a:t>
            </a:r>
            <a:r>
              <a:rPr lang="en-US" sz="1600" b="1" dirty="0">
                <a:solidFill>
                  <a:srgbClr val="222222"/>
                </a:solidFill>
                <a:effectLst/>
                <a:highlight>
                  <a:srgbClr val="FFFFFF"/>
                </a:highlight>
                <a:latin typeface="Times New Roman" panose="02020603050405020304" pitchFamily="18" charset="0"/>
                <a:ea typeface="Times New Roman" panose="02020603050405020304" pitchFamily="18" charset="0"/>
              </a:rPr>
              <a:t>Number of Rounds</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The number of rounds judges the strength of the block cipher algorithm. It is considered that more is the number of rounds, difficult is for cryptanalysis to break the algorithm.</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It is considered that even if the function F is relatively weak, the number of rounds would make the algorithm tough to break.</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b="1" dirty="0">
                <a:solidFill>
                  <a:srgbClr val="222222"/>
                </a:solidFill>
                <a:effectLst/>
                <a:highlight>
                  <a:srgbClr val="FFFFFF"/>
                </a:highlight>
                <a:latin typeface="Times New Roman" panose="02020603050405020304" pitchFamily="18" charset="0"/>
                <a:ea typeface="Times New Roman" panose="02020603050405020304" pitchFamily="18" charset="0"/>
              </a:rPr>
              <a:t>2. Design of Function F</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The function F of the block cipher must be designed such that it must be impossible for any cryptanalysis to unscramble the substitution. The criterion that strengthens the function F is it non-linearity.</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More the function F is nonlinear, more it would be difficult to crack it. Well, while designing the function F it should be confirmed that it has a good avalanche property which states that a change in one-bit of input must reflect the change in many bits of output.</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The Function F should be designed such that it possesses a bit independence criterion which states that the output bits must change independently if there is any change in the input bit.</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b="1" dirty="0">
                <a:solidFill>
                  <a:srgbClr val="222222"/>
                </a:solidFill>
                <a:effectLst/>
                <a:highlight>
                  <a:srgbClr val="FFFFFF"/>
                </a:highlight>
                <a:latin typeface="Times New Roman" panose="02020603050405020304" pitchFamily="18" charset="0"/>
                <a:ea typeface="Times New Roman" panose="02020603050405020304" pitchFamily="18" charset="0"/>
              </a:rPr>
              <a:t>3. Key Schedule Algorithm</a:t>
            </a:r>
            <a:endParaRPr lang="en-IN" sz="16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600" dirty="0">
                <a:solidFill>
                  <a:srgbClr val="222222"/>
                </a:solidFill>
                <a:effectLst/>
                <a:highlight>
                  <a:srgbClr val="FFFFFF"/>
                </a:highlight>
                <a:latin typeface="Times New Roman" panose="02020603050405020304" pitchFamily="18" charset="0"/>
                <a:ea typeface="Times New Roman" panose="02020603050405020304" pitchFamily="18" charset="0"/>
              </a:rPr>
              <a:t>It is suggested that the key schedule should confirm the strict avalanche effect and bit independence criterion.</a:t>
            </a:r>
            <a:endParaRPr lang="en-IN" sz="16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536675"/>
          </a:xfrm>
          <a:prstGeom prst="rect">
            <a:avLst/>
          </a:prstGeom>
          <a:noFill/>
          <a:ln>
            <a:noFill/>
          </a:ln>
        </p:spPr>
        <p:txBody>
          <a:bodyPr spcFirstLastPara="1" wrap="square" lIns="0" tIns="13325" rIns="0" bIns="0" anchor="t" anchorCtr="0">
            <a:spAutoFit/>
          </a:bodyPr>
          <a:lstStyle/>
          <a:p>
            <a:pPr>
              <a:spcBef>
                <a:spcPts val="200"/>
              </a:spcBef>
              <a:spcAft>
                <a:spcPts val="1000"/>
              </a:spcAft>
            </a:pPr>
            <a:r>
              <a:rPr lang="en-IN" sz="2400" b="1" dirty="0">
                <a:solidFill>
                  <a:srgbClr val="222222"/>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Block Cipher Modes of Operation</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42" name="Google Shape;142;p9"/>
          <p:cNvSpPr txBox="1"/>
          <p:nvPr/>
        </p:nvSpPr>
        <p:spPr>
          <a:xfrm>
            <a:off x="231139" y="1534414"/>
            <a:ext cx="8720949" cy="2806538"/>
          </a:xfrm>
          <a:prstGeom prst="rect">
            <a:avLst/>
          </a:prstGeom>
          <a:noFill/>
          <a:ln>
            <a:noFill/>
          </a:ln>
        </p:spPr>
        <p:txBody>
          <a:bodyPr spcFirstLastPara="1" wrap="square" lIns="0" tIns="53975" rIns="0" bIns="0" anchor="t" anchorCtr="0">
            <a:spAutoFit/>
          </a:bodyPr>
          <a:lstStyle/>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There are five important block cipher modes of operation defined by NIST. These five modes of operation enhance the algorithm so that it can be adapted by a wide range of applications which uses block cipher for encryption.</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Electronic Code Book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Cipher Block Chaining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Cipher Feedback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Output Feedback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IN" sz="1800" dirty="0">
                <a:solidFill>
                  <a:srgbClr val="222222"/>
                </a:solidFill>
                <a:effectLst/>
                <a:highlight>
                  <a:srgbClr val="FFFFFF"/>
                </a:highlight>
                <a:latin typeface="Times New Roman" panose="02020603050405020304" pitchFamily="18" charset="0"/>
                <a:ea typeface="Times New Roman" panose="02020603050405020304" pitchFamily="18" charset="0"/>
              </a:rPr>
              <a:t>Counter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829063"/>
          </a:xfrm>
          <a:prstGeom prst="rect">
            <a:avLst/>
          </a:prstGeom>
          <a:noFill/>
          <a:ln>
            <a:noFill/>
          </a:ln>
        </p:spPr>
        <p:txBody>
          <a:bodyPr spcFirstLastPara="1" wrap="square" lIns="0" tIns="13325" rIns="0" bIns="0" anchor="t" anchorCtr="0">
            <a:spAutoFit/>
          </a:bodyPr>
          <a:lstStyle/>
          <a:p>
            <a:pPr algn="just" fontAlgn="base">
              <a:spcBef>
                <a:spcPts val="1505"/>
              </a:spcBef>
              <a:spcAft>
                <a:spcPts val="1505"/>
              </a:spcAft>
            </a:pPr>
            <a:r>
              <a:rPr lang="en-IN" sz="2800" b="1" dirty="0">
                <a:solidFill>
                  <a:srgbClr val="222222"/>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Block Cipher Modes of Operation</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0" name="Google Shape;150;p10"/>
          <p:cNvSpPr txBox="1"/>
          <p:nvPr/>
        </p:nvSpPr>
        <p:spPr>
          <a:xfrm>
            <a:off x="231140" y="1411837"/>
            <a:ext cx="7962900" cy="1349708"/>
          </a:xfrm>
          <a:prstGeom prst="rect">
            <a:avLst/>
          </a:prstGeom>
          <a:noFill/>
          <a:ln>
            <a:noFill/>
          </a:ln>
        </p:spPr>
        <p:txBody>
          <a:bodyPr spcFirstLastPara="1" wrap="square" lIns="0" tIns="74275" rIns="0" bIns="0" anchor="t" anchorCtr="0">
            <a:spAutoFit/>
          </a:bodyPr>
          <a:lstStyle/>
          <a:p>
            <a:pPr>
              <a:spcAft>
                <a:spcPts val="1250"/>
              </a:spcAft>
            </a:pP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1. Electronic Feedback Mode</a:t>
            </a:r>
            <a:endParaRPr lang="en-IN" sz="1800" dirty="0">
              <a:effectLst/>
              <a:highlight>
                <a:srgbClr val="FFFFFF"/>
              </a:highlight>
              <a:latin typeface="Times New Roman" panose="02020603050405020304" pitchFamily="18" charset="0"/>
              <a:ea typeface="Times New Roman" panose="02020603050405020304" pitchFamily="18" charset="0"/>
            </a:endParaRPr>
          </a:p>
          <a:p>
            <a:r>
              <a:rPr lang="en-IN" sz="1800" dirty="0">
                <a:solidFill>
                  <a:srgbClr val="222222"/>
                </a:solidFill>
                <a:effectLst/>
                <a:latin typeface="Arial" panose="020B0604020202020204" pitchFamily="34" charset="0"/>
                <a:ea typeface="Times New Roman" panose="02020603050405020304" pitchFamily="18" charset="0"/>
              </a:rPr>
              <a:t>This is considered to be the easiest block cipher mode of operation. In electronic codebook mode (ECB) the plain text is divided into the blocks, each of 64-bit. Each block is encrypted </a:t>
            </a:r>
            <a:endParaRPr lang="en-IN" sz="2000" dirty="0">
              <a:effectLst/>
              <a:highlight>
                <a:srgbClr val="FFFFFF"/>
              </a:highlight>
              <a:latin typeface="Times New Roman" panose="02020603050405020304" pitchFamily="18" charset="0"/>
              <a:ea typeface="Times New Roman" panose="02020603050405020304" pitchFamily="18" charset="0"/>
            </a:endParaRPr>
          </a:p>
        </p:txBody>
      </p:sp>
      <p:pic>
        <p:nvPicPr>
          <p:cNvPr id="2" name="Picture 1" descr="ECB Encryption Block cipher">
            <a:extLst>
              <a:ext uri="{FF2B5EF4-FFF2-40B4-BE49-F238E27FC236}">
                <a16:creationId xmlns:a16="http://schemas.microsoft.com/office/drawing/2014/main" id="{2F56C673-EA42-92E7-CC31-D0A0D1F9D87D}"/>
              </a:ext>
            </a:extLst>
          </p:cNvPr>
          <p:cNvPicPr>
            <a:picLocks noChangeAspect="1"/>
          </p:cNvPicPr>
          <p:nvPr/>
        </p:nvPicPr>
        <p:blipFill>
          <a:blip r:embed="rId3"/>
          <a:srcRect/>
          <a:stretch>
            <a:fillRect/>
          </a:stretch>
        </p:blipFill>
        <p:spPr bwMode="auto">
          <a:xfrm>
            <a:off x="903111" y="3262489"/>
            <a:ext cx="7191022" cy="2844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b="1" dirty="0">
                <a:solidFill>
                  <a:srgbClr val="222222"/>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Block Cipher Modes of Operation</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8" name="Google Shape;158;p11"/>
          <p:cNvSpPr txBox="1"/>
          <p:nvPr/>
        </p:nvSpPr>
        <p:spPr>
          <a:xfrm>
            <a:off x="535940" y="1369313"/>
            <a:ext cx="8427438" cy="2635978"/>
          </a:xfrm>
          <a:prstGeom prst="rect">
            <a:avLst/>
          </a:prstGeom>
          <a:noFill/>
          <a:ln>
            <a:noFill/>
          </a:ln>
        </p:spPr>
        <p:txBody>
          <a:bodyPr spcFirstLastPara="1" wrap="square" lIns="0" tIns="85725" rIns="0" bIns="0" anchor="t" anchorCtr="0">
            <a:spAutoFit/>
          </a:bodyPr>
          <a:lstStyle/>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When the receiver receives the message i.e. ciphertext. This ciphertext is again divided into blocks, each of 64-bit and each block is decrypted independently one at a time to obtain the corresponding plain text block. Here also the same key is used to decrypt each block which was used to encrypt each block. As the same key used to encrypt each block of plain text there arises an issue that for a repeating plain text block it would generate the same cipher and will ease the cryptanalysis to crack the algorithm. Hence, ECB is considered for encrypting the small messages which have a rare possibility of repeating text.</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endParaRPr lang="en-IN" sz="1800" dirty="0">
              <a:effectLst/>
              <a:highlight>
                <a:srgbClr val="FFFFFF"/>
              </a:highlight>
              <a:latin typeface="Times New Roman" panose="02020603050405020304" pitchFamily="18" charset="0"/>
              <a:ea typeface="Times New Roman" panose="02020603050405020304" pitchFamily="18" charset="0"/>
            </a:endParaRPr>
          </a:p>
        </p:txBody>
      </p:sp>
      <p:pic>
        <p:nvPicPr>
          <p:cNvPr id="2" name="Picture 1" descr="ECB Decryption Block cipher">
            <a:extLst>
              <a:ext uri="{FF2B5EF4-FFF2-40B4-BE49-F238E27FC236}">
                <a16:creationId xmlns:a16="http://schemas.microsoft.com/office/drawing/2014/main" id="{DE463ABB-FDBE-A64D-380B-ACF3AD6FA337}"/>
              </a:ext>
            </a:extLst>
          </p:cNvPr>
          <p:cNvPicPr>
            <a:picLocks noChangeAspect="1"/>
          </p:cNvPicPr>
          <p:nvPr/>
        </p:nvPicPr>
        <p:blipFill>
          <a:blip r:embed="rId3"/>
          <a:srcRect/>
          <a:stretch>
            <a:fillRect/>
          </a:stretch>
        </p:blipFill>
        <p:spPr bwMode="auto">
          <a:xfrm>
            <a:off x="535940" y="3599215"/>
            <a:ext cx="7953303" cy="263597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3633687"/>
          </a:xfrm>
          <a:prstGeom prst="rect">
            <a:avLst/>
          </a:prstGeom>
          <a:noFill/>
          <a:ln>
            <a:noFill/>
          </a:ln>
        </p:spPr>
        <p:txBody>
          <a:bodyPr spcFirstLastPara="1" wrap="square" lIns="0" tIns="85725" rIns="0" bIns="0" anchor="t" anchorCtr="0">
            <a:spAutoFit/>
          </a:bodyPr>
          <a:lstStyle/>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To overcome the limitation of ECB i.e. the repeating block in plain text produces the same ciphertext, a new technique was required which is Cipher Block Chaining (CBC) Mode. CBC confirms that even if the plain text has repeating blocks its encryption won’t produce same cipher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To achieve totally different cipher blocks for two same plain text blocks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chaining</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has been added to the block cipher. For this, the result obtained from the encryption of the first plain text block is fed to the encryption of the next plaintext box.</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In this way, each ciphertext block obtained is dependent on its corresponding current plain text block input and all the previous plain text blocks. But during the encryption of first plain text block, no previous plain text block is available so a random block of text is generated called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Initialization vector</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166" name="Google Shape;166;p12"/>
          <p:cNvSpPr txBox="1">
            <a:spLocks noGrp="1"/>
          </p:cNvSpPr>
          <p:nvPr>
            <p:ph type="title"/>
          </p:nvPr>
        </p:nvSpPr>
        <p:spPr>
          <a:xfrm>
            <a:off x="493039" y="622807"/>
            <a:ext cx="8157921" cy="367398"/>
          </a:xfrm>
          <a:prstGeom prst="rect">
            <a:avLst/>
          </a:prstGeom>
          <a:noFill/>
          <a:ln>
            <a:noFill/>
          </a:ln>
        </p:spPr>
        <p:txBody>
          <a:bodyPr spcFirstLastPara="1" wrap="square" lIns="0" tIns="13325" rIns="0" bIns="0" anchor="t" anchorCtr="0">
            <a:spAutoFit/>
          </a:bodyPr>
          <a:lstStyle/>
          <a:p>
            <a:pPr algn="ctr" fontAlgn="base">
              <a:lnSpc>
                <a:spcPct val="115000"/>
              </a:lnSpc>
            </a:pPr>
            <a:r>
              <a:rPr lang="en-IN" sz="2000" b="1" dirty="0">
                <a:solidFill>
                  <a:srgbClr val="222222"/>
                </a:solidFill>
                <a:effectLst/>
                <a:ea typeface="Times New Roman" panose="02020603050405020304" pitchFamily="18" charset="0"/>
              </a:rPr>
              <a:t>Cipher Block Chaining Mode</a:t>
            </a:r>
            <a:r>
              <a:rPr lang="en-IN" sz="2000" dirty="0">
                <a:effectLst/>
              </a:rPr>
              <a:t> </a:t>
            </a:r>
            <a:endParaRPr lang="en-IN" sz="20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205C9F1-3CA4-F53D-2441-2D0F5133A916}"/>
              </a:ext>
            </a:extLst>
          </p:cNvPr>
          <p:cNvSpPr txBox="1"/>
          <p:nvPr/>
        </p:nvSpPr>
        <p:spPr>
          <a:xfrm>
            <a:off x="2968978" y="0"/>
            <a:ext cx="55880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
        <p:nvSpPr>
          <p:cNvPr id="8" name="Text Placeholder 7">
            <a:extLst>
              <a:ext uri="{FF2B5EF4-FFF2-40B4-BE49-F238E27FC236}">
                <a16:creationId xmlns:a16="http://schemas.microsoft.com/office/drawing/2014/main" id="{15F15959-CBA8-007E-F5AD-A8AE0383772A}"/>
              </a:ext>
            </a:extLst>
          </p:cNvPr>
          <p:cNvSpPr>
            <a:spLocks noGrp="1"/>
          </p:cNvSpPr>
          <p:nvPr>
            <p:ph type="body" idx="1"/>
          </p:nvPr>
        </p:nvSpPr>
        <p:spPr>
          <a:xfrm>
            <a:off x="914400" y="523220"/>
            <a:ext cx="7992532" cy="3792240"/>
          </a:xfrm>
        </p:spPr>
        <p:txBody>
          <a:bodyPr/>
          <a:lstStyle/>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Now let’s discuss the encryption steps of CBC</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initialization vector and first plain text block are XORed and the result of XOR is then encrypted using the key to obtain the first ciphertext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i="1" dirty="0">
                <a:solidFill>
                  <a:srgbClr val="222222"/>
                </a:solidFill>
                <a:effectLst/>
                <a:highlight>
                  <a:srgbClr val="FFFFFF"/>
                </a:highlight>
                <a:latin typeface="Times New Roman" panose="02020603050405020304" pitchFamily="18" charset="0"/>
                <a:ea typeface="Times New Roman" panose="02020603050405020304" pitchFamily="18" charset="0"/>
              </a:rPr>
              <a:t>Step 2:</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first ciphertext block is fed to the encryption of the second plain text block. For the encryption of second plain text block, first ciphertext block and second plain text block is XORed and the result of XOR is encrypted using the same key in step 1 to obtain the second ciphertext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Similarly, the result of encryption of second plain text block i.e. the second ciphertext block is fed to the encryption of third plain text block to obtain third ciphertext block. And the process continues to obtain all the ciphertext blocks.</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You can see the steps of CBC in the figure below:</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pic>
        <p:nvPicPr>
          <p:cNvPr id="9" name="Picture 8" descr="CBC Encryption Block cipher">
            <a:extLst>
              <a:ext uri="{FF2B5EF4-FFF2-40B4-BE49-F238E27FC236}">
                <a16:creationId xmlns:a16="http://schemas.microsoft.com/office/drawing/2014/main" id="{6CE79529-D256-B5A0-520A-7BF125C23787}"/>
              </a:ext>
            </a:extLst>
          </p:cNvPr>
          <p:cNvPicPr>
            <a:picLocks noChangeAspect="1"/>
          </p:cNvPicPr>
          <p:nvPr/>
        </p:nvPicPr>
        <p:blipFill>
          <a:blip r:embed="rId2"/>
          <a:srcRect/>
          <a:stretch>
            <a:fillRect/>
          </a:stretch>
        </p:blipFill>
        <p:spPr bwMode="auto">
          <a:xfrm>
            <a:off x="1414815" y="4315460"/>
            <a:ext cx="6182607" cy="2019320"/>
          </a:xfrm>
          <a:prstGeom prst="rect">
            <a:avLst/>
          </a:prstGeom>
          <a:noFill/>
          <a:ln w="9525">
            <a:noFill/>
            <a:miter lim="800000"/>
            <a:headEnd/>
            <a:tailEnd/>
          </a:ln>
        </p:spPr>
      </p:pic>
    </p:spTree>
    <p:extLst>
      <p:ext uri="{BB962C8B-B14F-4D97-AF65-F5344CB8AC3E}">
        <p14:creationId xmlns:p14="http://schemas.microsoft.com/office/powerpoint/2010/main" val="3516875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DA0C-0275-21FF-FBF6-08A493594423}"/>
              </a:ext>
            </a:extLst>
          </p:cNvPr>
          <p:cNvSpPr>
            <a:spLocks noGrp="1"/>
          </p:cNvSpPr>
          <p:nvPr>
            <p:ph type="body" idx="1"/>
          </p:nvPr>
        </p:nvSpPr>
        <p:spPr>
          <a:xfrm>
            <a:off x="914400" y="1185333"/>
            <a:ext cx="7998459" cy="2243667"/>
          </a:xfrm>
        </p:spPr>
        <p:txBody>
          <a:bodyPr/>
          <a:lstStyle/>
          <a:p>
            <a:pPr>
              <a:spcAft>
                <a:spcPts val="1250"/>
              </a:spcAft>
            </a:pP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Decryption steps of CBC:</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first ciphertext block is decrypted using the same key that was used for encrypting all plain text blocks. The result of decryption is then XORed with the initialization vector (IV) to obtain the first plain 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2:</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second ciphertext block is decrypted and the result of decryption is XORed with the first ciphertext block to obtain the second plain text block. And the process continues till all plain text blocks are retrieved.</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E1DA7C57-CB72-1992-9938-29C6A5A3E0CC}"/>
              </a:ext>
            </a:extLst>
          </p:cNvPr>
          <p:cNvSpPr txBox="1"/>
          <p:nvPr/>
        </p:nvSpPr>
        <p:spPr>
          <a:xfrm>
            <a:off x="3183467" y="90311"/>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pic>
        <p:nvPicPr>
          <p:cNvPr id="2" name="Picture 1" descr="CBC Decryption Block cipher">
            <a:extLst>
              <a:ext uri="{FF2B5EF4-FFF2-40B4-BE49-F238E27FC236}">
                <a16:creationId xmlns:a16="http://schemas.microsoft.com/office/drawing/2014/main" id="{521A0B7A-A41D-AA90-629A-BF268AB8C68B}"/>
              </a:ext>
            </a:extLst>
          </p:cNvPr>
          <p:cNvPicPr>
            <a:picLocks noChangeAspect="1"/>
          </p:cNvPicPr>
          <p:nvPr/>
        </p:nvPicPr>
        <p:blipFill>
          <a:blip r:embed="rId2"/>
          <a:srcRect/>
          <a:stretch>
            <a:fillRect/>
          </a:stretch>
        </p:blipFill>
        <p:spPr bwMode="auto">
          <a:xfrm>
            <a:off x="1016000" y="3601156"/>
            <a:ext cx="6899853" cy="2630311"/>
          </a:xfrm>
          <a:prstGeom prst="rect">
            <a:avLst/>
          </a:prstGeom>
          <a:noFill/>
          <a:ln w="9525">
            <a:noFill/>
            <a:miter lim="800000"/>
            <a:headEnd/>
            <a:tailEnd/>
          </a:ln>
        </p:spPr>
      </p:pic>
    </p:spTree>
    <p:extLst>
      <p:ext uri="{BB962C8B-B14F-4D97-AF65-F5344CB8AC3E}">
        <p14:creationId xmlns:p14="http://schemas.microsoft.com/office/powerpoint/2010/main" val="2475592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20ED7-1901-6BEB-6CCD-A2C24F4B4AF9}"/>
              </a:ext>
            </a:extLst>
          </p:cNvPr>
          <p:cNvSpPr>
            <a:spLocks noGrp="1"/>
          </p:cNvSpPr>
          <p:nvPr>
            <p:ph type="title"/>
          </p:nvPr>
        </p:nvSpPr>
        <p:spPr>
          <a:xfrm>
            <a:off x="493039" y="622807"/>
            <a:ext cx="8157921" cy="1200329"/>
          </a:xfrm>
        </p:spPr>
        <p:txBody>
          <a:bodyPr/>
          <a:lstStyle/>
          <a:p>
            <a:pPr algn="ctr"/>
            <a:r>
              <a:rPr lang="en-US" sz="2800" b="1" dirty="0">
                <a:solidFill>
                  <a:srgbClr val="222222"/>
                </a:solidFill>
                <a:effectLst/>
                <a:highlight>
                  <a:srgbClr val="FFFFFF"/>
                </a:highlight>
                <a:latin typeface="Times New Roman" panose="02020603050405020304" pitchFamily="18" charset="0"/>
                <a:ea typeface="Times New Roman" panose="02020603050405020304" pitchFamily="18" charset="0"/>
              </a:rPr>
              <a:t>Cipher Feedback Mode</a:t>
            </a:r>
            <a:br>
              <a:rPr lang="en-IN" sz="1800" dirty="0">
                <a:effectLst/>
                <a:highlight>
                  <a:srgbClr val="FFFFFF"/>
                </a:highlight>
                <a:latin typeface="Times New Roman" panose="02020603050405020304" pitchFamily="18" charset="0"/>
                <a:ea typeface="Times New Roman" panose="02020603050405020304" pitchFamily="18" charset="0"/>
              </a:rPr>
            </a:br>
            <a:br>
              <a:rPr lang="en-IN" sz="1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B96E73DD-66F9-94D2-9AD9-03EABE16A394}"/>
              </a:ext>
            </a:extLst>
          </p:cNvPr>
          <p:cNvSpPr>
            <a:spLocks noGrp="1"/>
          </p:cNvSpPr>
          <p:nvPr>
            <p:ph type="body" idx="1"/>
          </p:nvPr>
        </p:nvSpPr>
        <p:spPr>
          <a:xfrm>
            <a:off x="231140" y="1501422"/>
            <a:ext cx="8681719" cy="3880549"/>
          </a:xfrm>
        </p:spPr>
        <p:txBody>
          <a:bodyPr/>
          <a:lstStyle/>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All applications may not be designed to operate on the blocks of data, some may be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character or bit-oriented</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Cipher feedback mode is used to operate on smaller units than blocks.</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Let us discuss the encryption steps in cipher feedback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Here also we use initialization vector, IV is kept in the shift register and it is encrypted using the key.</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2:</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left most s bits of the encrypted IV is then XORed with the first fragment of the plain text of s bits. It produces the first ciphertext C1 of s bits.</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3:</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Now the shift register containing initialization vector performs left shift by s bits and s bits C1 replaces the rightmost s bits of the initialization vector.</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0A01A183-831C-6F83-FC41-01CE1A463D74}"/>
              </a:ext>
            </a:extLst>
          </p:cNvPr>
          <p:cNvSpPr txBox="1"/>
          <p:nvPr/>
        </p:nvSpPr>
        <p:spPr>
          <a:xfrm>
            <a:off x="3183467" y="112889"/>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133941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DFA275-B89A-054C-56CB-A8A63605C8B3}"/>
              </a:ext>
            </a:extLst>
          </p:cNvPr>
          <p:cNvSpPr>
            <a:spLocks noGrp="1"/>
          </p:cNvSpPr>
          <p:nvPr>
            <p:ph type="body" idx="1"/>
          </p:nvPr>
        </p:nvSpPr>
        <p:spPr>
          <a:xfrm>
            <a:off x="231140" y="1444979"/>
            <a:ext cx="8681719" cy="1274708"/>
          </a:xfrm>
        </p:spPr>
        <p:txBody>
          <a:bodyPr/>
          <a:lstStyle/>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Then again, the encryption is performed on IV and the leftmost s bit of encrypted IV is XORed with the second fragment of plain text to obtain s bit ciphertext C2.</a:t>
            </a:r>
            <a:endParaRPr lang="en-IN" sz="1800" dirty="0">
              <a:effectLst/>
              <a:highlight>
                <a:srgbClr val="FFFFFF"/>
              </a:highlight>
              <a:latin typeface="Times New Roman" panose="02020603050405020304" pitchFamily="18" charset="0"/>
              <a:ea typeface="Times New Roman" panose="02020603050405020304" pitchFamily="18" charset="0"/>
            </a:endParaRPr>
          </a:p>
          <a:p>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process continues to obtain all ciphertext fragments.</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3A499614-85B9-3DD9-DCBD-92AEACC01B68}"/>
              </a:ext>
            </a:extLst>
          </p:cNvPr>
          <p:cNvSpPr txBox="1"/>
          <p:nvPr/>
        </p:nvSpPr>
        <p:spPr>
          <a:xfrm>
            <a:off x="3025422" y="135467"/>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pic>
        <p:nvPicPr>
          <p:cNvPr id="2" name="Picture 1" descr="CFC Encryption Block cipher">
            <a:extLst>
              <a:ext uri="{FF2B5EF4-FFF2-40B4-BE49-F238E27FC236}">
                <a16:creationId xmlns:a16="http://schemas.microsoft.com/office/drawing/2014/main" id="{99450F4B-395D-E6D7-9791-7A16A6340C78}"/>
              </a:ext>
            </a:extLst>
          </p:cNvPr>
          <p:cNvPicPr>
            <a:picLocks noChangeAspect="1"/>
          </p:cNvPicPr>
          <p:nvPr/>
        </p:nvPicPr>
        <p:blipFill>
          <a:blip r:embed="rId2"/>
          <a:srcRect/>
          <a:stretch>
            <a:fillRect/>
          </a:stretch>
        </p:blipFill>
        <p:spPr bwMode="auto">
          <a:xfrm>
            <a:off x="316090" y="2630169"/>
            <a:ext cx="8252178" cy="3556141"/>
          </a:xfrm>
          <a:prstGeom prst="rect">
            <a:avLst/>
          </a:prstGeom>
          <a:noFill/>
          <a:ln w="9525">
            <a:noFill/>
            <a:miter lim="800000"/>
            <a:headEnd/>
            <a:tailEnd/>
          </a:ln>
        </p:spPr>
      </p:pic>
    </p:spTree>
    <p:extLst>
      <p:ext uri="{BB962C8B-B14F-4D97-AF65-F5344CB8AC3E}">
        <p14:creationId xmlns:p14="http://schemas.microsoft.com/office/powerpoint/2010/main" val="301214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E837-169C-5272-3432-0032EC5B6189}"/>
              </a:ext>
            </a:extLst>
          </p:cNvPr>
          <p:cNvSpPr>
            <a:spLocks noGrp="1"/>
          </p:cNvSpPr>
          <p:nvPr>
            <p:ph type="title"/>
          </p:nvPr>
        </p:nvSpPr>
        <p:spPr>
          <a:xfrm>
            <a:off x="493039" y="622807"/>
            <a:ext cx="8157921" cy="536044"/>
          </a:xfrm>
        </p:spPr>
        <p:txBody>
          <a:bodyPr/>
          <a:lstStyle/>
          <a:p>
            <a:pPr algn="ctr">
              <a:spcAft>
                <a:spcPts val="1250"/>
              </a:spcAft>
            </a:pPr>
            <a:r>
              <a:rPr lang="en-US" sz="2400" b="1" dirty="0">
                <a:solidFill>
                  <a:srgbClr val="222222"/>
                </a:solidFill>
                <a:effectLst/>
                <a:highlight>
                  <a:srgbClr val="FFFFFF"/>
                </a:highlight>
                <a:latin typeface="Times New Roman" panose="02020603050405020304" pitchFamily="18" charset="0"/>
                <a:ea typeface="Times New Roman" panose="02020603050405020304" pitchFamily="18" charset="0"/>
              </a:rPr>
              <a:t>Decryption Steps:</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
        <p:nvSpPr>
          <p:cNvPr id="3" name="Text Placeholder 2">
            <a:extLst>
              <a:ext uri="{FF2B5EF4-FFF2-40B4-BE49-F238E27FC236}">
                <a16:creationId xmlns:a16="http://schemas.microsoft.com/office/drawing/2014/main" id="{70FF2D35-43FB-B644-67A0-89E2D8DC751E}"/>
              </a:ext>
            </a:extLst>
          </p:cNvPr>
          <p:cNvSpPr>
            <a:spLocks noGrp="1"/>
          </p:cNvSpPr>
          <p:nvPr>
            <p:ph type="body" idx="1"/>
          </p:nvPr>
        </p:nvSpPr>
        <p:spPr>
          <a:xfrm>
            <a:off x="231140" y="1377245"/>
            <a:ext cx="8681719" cy="5044971"/>
          </a:xfrm>
        </p:spPr>
        <p:txBody>
          <a:bodyPr/>
          <a:lstStyle/>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initialization vector is placed in the shift register. It is encrypted using the same key.</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Keep a note that even in the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decryption process</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encryption</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algorithm is implemented instead of the decryption algorithm.</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Then from the encrypted IV s bits are XORed with the s bits ciphertext C1 to retrieve s bits plain text P1.</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2:</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IV in the shift register is left-shifted by s bits and the s bits C1 replaces the rightmost s bits of IV.</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process continues until all plain text fragments are retrieved.</a:t>
            </a: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It has a limitation that if there occur a bit error in any ciphertext C</a:t>
            </a:r>
            <a:r>
              <a:rPr lang="en-US" sz="18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i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it would affect all the subsequent ciphertext units as C</a:t>
            </a:r>
            <a:r>
              <a:rPr lang="en-US" sz="18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i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is fed to the encryption of next P</a:t>
            </a:r>
            <a:r>
              <a:rPr lang="en-US" sz="18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i+1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to obtain C</a:t>
            </a:r>
            <a:r>
              <a:rPr lang="en-US" sz="18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i+1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In this way, bit error would propagate.</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2AB51545-0821-B8A5-A438-232DB4F53DE3}"/>
              </a:ext>
            </a:extLst>
          </p:cNvPr>
          <p:cNvSpPr txBox="1"/>
          <p:nvPr/>
        </p:nvSpPr>
        <p:spPr>
          <a:xfrm>
            <a:off x="3070578" y="0"/>
            <a:ext cx="53848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697865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4C8F10-8B9F-11BB-0913-E2D63D2B97C0}"/>
              </a:ext>
            </a:extLst>
          </p:cNvPr>
          <p:cNvSpPr txBox="1"/>
          <p:nvPr/>
        </p:nvSpPr>
        <p:spPr>
          <a:xfrm>
            <a:off x="3070577" y="0"/>
            <a:ext cx="5091289"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pic>
        <p:nvPicPr>
          <p:cNvPr id="2" name="Picture 1" descr="CFC Decryption cipher">
            <a:extLst>
              <a:ext uri="{FF2B5EF4-FFF2-40B4-BE49-F238E27FC236}">
                <a16:creationId xmlns:a16="http://schemas.microsoft.com/office/drawing/2014/main" id="{17E37A32-C505-256B-10B6-F9DA5C451D26}"/>
              </a:ext>
            </a:extLst>
          </p:cNvPr>
          <p:cNvPicPr>
            <a:picLocks noChangeAspect="1"/>
          </p:cNvPicPr>
          <p:nvPr/>
        </p:nvPicPr>
        <p:blipFill>
          <a:blip r:embed="rId2"/>
          <a:srcRect/>
          <a:stretch>
            <a:fillRect/>
          </a:stretch>
        </p:blipFill>
        <p:spPr bwMode="auto">
          <a:xfrm>
            <a:off x="936978" y="1095021"/>
            <a:ext cx="7823199" cy="4684889"/>
          </a:xfrm>
          <a:prstGeom prst="rect">
            <a:avLst/>
          </a:prstGeom>
          <a:noFill/>
          <a:ln w="9525">
            <a:noFill/>
            <a:miter lim="800000"/>
            <a:headEnd/>
            <a:tailEnd/>
          </a:ln>
        </p:spPr>
      </p:pic>
    </p:spTree>
    <p:extLst>
      <p:ext uri="{BB962C8B-B14F-4D97-AF65-F5344CB8AC3E}">
        <p14:creationId xmlns:p14="http://schemas.microsoft.com/office/powerpoint/2010/main" val="2329846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72A04A-97B2-9190-186A-1B438BC26DDE}"/>
              </a:ext>
            </a:extLst>
          </p:cNvPr>
          <p:cNvSpPr>
            <a:spLocks noGrp="1"/>
          </p:cNvSpPr>
          <p:nvPr>
            <p:ph type="body" idx="1"/>
          </p:nvPr>
        </p:nvSpPr>
        <p:spPr>
          <a:xfrm>
            <a:off x="914400" y="643467"/>
            <a:ext cx="7998459" cy="3872089"/>
          </a:xfrm>
        </p:spPr>
        <p:txBody>
          <a:bodyPr/>
          <a:lstStyle/>
          <a:p>
            <a:pPr>
              <a:spcAft>
                <a:spcPts val="1250"/>
              </a:spcAft>
            </a:pP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Output Feedback Mode</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output feedback (OFB) mode is almost similar to the CFB. The difference between CFB and OFB is that unlike CFB, in OFB the encrypted IV is fed to the encryption of next plain text block. The other difference is that CFB operates on a stream of bits whereas OFB operates on the block of bits.</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Steps for encryption:</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initialization vector is encrypted using the key.</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2:</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encrypted IV is then XORed with the plain text block to obtain the ciphertext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encrypted IV is fed to the encryption of next plain text block as you can see in the image below.</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DEBF9984-6308-5394-5E7D-D8987266DA87}"/>
              </a:ext>
            </a:extLst>
          </p:cNvPr>
          <p:cNvSpPr txBox="1"/>
          <p:nvPr/>
        </p:nvSpPr>
        <p:spPr>
          <a:xfrm>
            <a:off x="3014133" y="0"/>
            <a:ext cx="5508978"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pic>
        <p:nvPicPr>
          <p:cNvPr id="2" name="Picture 1" descr="OFB Encryption Block cipher">
            <a:extLst>
              <a:ext uri="{FF2B5EF4-FFF2-40B4-BE49-F238E27FC236}">
                <a16:creationId xmlns:a16="http://schemas.microsoft.com/office/drawing/2014/main" id="{664D768B-CC38-4795-331B-CDCB654340CB}"/>
              </a:ext>
            </a:extLst>
          </p:cNvPr>
          <p:cNvPicPr>
            <a:picLocks noChangeAspect="1"/>
          </p:cNvPicPr>
          <p:nvPr/>
        </p:nvPicPr>
        <p:blipFill>
          <a:blip r:embed="rId2"/>
          <a:srcRect/>
          <a:stretch>
            <a:fillRect/>
          </a:stretch>
        </p:blipFill>
        <p:spPr bwMode="auto">
          <a:xfrm>
            <a:off x="1664969" y="4515556"/>
            <a:ext cx="5480897" cy="1748790"/>
          </a:xfrm>
          <a:prstGeom prst="rect">
            <a:avLst/>
          </a:prstGeom>
          <a:noFill/>
          <a:ln w="9525">
            <a:noFill/>
            <a:miter lim="800000"/>
            <a:headEnd/>
            <a:tailEnd/>
          </a:ln>
        </p:spPr>
      </p:pic>
    </p:spTree>
    <p:extLst>
      <p:ext uri="{BB962C8B-B14F-4D97-AF65-F5344CB8AC3E}">
        <p14:creationId xmlns:p14="http://schemas.microsoft.com/office/powerpoint/2010/main" val="3560998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D13FB3-2042-D246-2654-80D53E490D62}"/>
              </a:ext>
            </a:extLst>
          </p:cNvPr>
          <p:cNvSpPr>
            <a:spLocks noGrp="1"/>
          </p:cNvSpPr>
          <p:nvPr>
            <p:ph type="body" idx="1"/>
          </p:nvPr>
        </p:nvSpPr>
        <p:spPr>
          <a:xfrm>
            <a:off x="936978" y="474133"/>
            <a:ext cx="7975881" cy="3048000"/>
          </a:xfrm>
        </p:spPr>
        <p:txBody>
          <a:bodyPr/>
          <a:lstStyle/>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Steps for decryption:</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 1:</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The initialization vector is encrypted using the same key used for encrypting all plain text blocks.</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Note: In the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decryption process</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also the </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encryption</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 function is implemented.</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b="1" i="1" dirty="0">
                <a:solidFill>
                  <a:srgbClr val="222222"/>
                </a:solidFill>
                <a:effectLst/>
                <a:highlight>
                  <a:srgbClr val="FFFFFF"/>
                </a:highlight>
                <a:latin typeface="Times New Roman" panose="02020603050405020304" pitchFamily="18" charset="0"/>
                <a:ea typeface="Times New Roman" panose="02020603050405020304" pitchFamily="18" charset="0"/>
              </a:rPr>
              <a:t>Step2:</a:t>
            </a:r>
            <a:r>
              <a:rPr lang="en-US" sz="1800" b="1"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encrypted IV is then XORed with the ciphertext block to retrieve the plain 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encrypted IV is also fed to the decryption process of the next ciphertext block.</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r>
              <a:rPr lang="en-US" sz="1800" dirty="0">
                <a:solidFill>
                  <a:srgbClr val="222222"/>
                </a:solidFill>
                <a:effectLst/>
                <a:highlight>
                  <a:srgbClr val="FFFFFF"/>
                </a:highlight>
                <a:latin typeface="Times New Roman" panose="02020603050405020304" pitchFamily="18" charset="0"/>
                <a:ea typeface="Times New Roman" panose="02020603050405020304" pitchFamily="18" charset="0"/>
              </a:rPr>
              <a:t>The process continues until all the plain text blocks are retrieved.</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pic>
        <p:nvPicPr>
          <p:cNvPr id="4" name="Picture 3" descr="OFB Decryption Block cipher">
            <a:extLst>
              <a:ext uri="{FF2B5EF4-FFF2-40B4-BE49-F238E27FC236}">
                <a16:creationId xmlns:a16="http://schemas.microsoft.com/office/drawing/2014/main" id="{3A29AE06-AA4F-DFC7-E051-2DE2B6FCA192}"/>
              </a:ext>
            </a:extLst>
          </p:cNvPr>
          <p:cNvPicPr>
            <a:picLocks noChangeAspect="1"/>
          </p:cNvPicPr>
          <p:nvPr/>
        </p:nvPicPr>
        <p:blipFill>
          <a:blip r:embed="rId2"/>
          <a:srcRect/>
          <a:stretch>
            <a:fillRect/>
          </a:stretch>
        </p:blipFill>
        <p:spPr bwMode="auto">
          <a:xfrm>
            <a:off x="1036320" y="3522133"/>
            <a:ext cx="7030720" cy="2861734"/>
          </a:xfrm>
          <a:prstGeom prst="rect">
            <a:avLst/>
          </a:prstGeom>
          <a:noFill/>
          <a:ln w="9525">
            <a:noFill/>
            <a:miter lim="800000"/>
            <a:headEnd/>
            <a:tailEnd/>
          </a:ln>
        </p:spPr>
      </p:pic>
    </p:spTree>
    <p:extLst>
      <p:ext uri="{BB962C8B-B14F-4D97-AF65-F5344CB8AC3E}">
        <p14:creationId xmlns:p14="http://schemas.microsoft.com/office/powerpoint/2010/main" val="2651243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EB339-C825-9ABC-D84D-0840F60974BE}"/>
              </a:ext>
            </a:extLst>
          </p:cNvPr>
          <p:cNvSpPr>
            <a:spLocks noGrp="1"/>
          </p:cNvSpPr>
          <p:nvPr>
            <p:ph type="title"/>
          </p:nvPr>
        </p:nvSpPr>
        <p:spPr>
          <a:xfrm>
            <a:off x="493039" y="622807"/>
            <a:ext cx="8157921" cy="984885"/>
          </a:xfrm>
        </p:spPr>
        <p:txBody>
          <a:bodyPr/>
          <a:lstStyle/>
          <a:p>
            <a:pPr algn="ctr"/>
            <a:r>
              <a:rPr lang="en-IN" sz="32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Stream Ciphers</a:t>
            </a:r>
            <a:br>
              <a:rPr lang="en-IN" sz="32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CEA85D5C-EEB9-EA33-589D-52C7B2784360}"/>
              </a:ext>
            </a:extLst>
          </p:cNvPr>
          <p:cNvSpPr>
            <a:spLocks noGrp="1"/>
          </p:cNvSpPr>
          <p:nvPr>
            <p:ph type="body" idx="1"/>
          </p:nvPr>
        </p:nvSpPr>
        <p:spPr>
          <a:xfrm>
            <a:off x="231140" y="1106311"/>
            <a:ext cx="8681719" cy="5012267"/>
          </a:xfrm>
        </p:spPr>
        <p:txBody>
          <a:bodyPr/>
          <a:lstStyle/>
          <a:p>
            <a:pPr algn="just"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n stream cipher, one byte is encrypted at a time while in block cipher ~128 bits are encrypted at a time. Initially, a key(k) will be supplied as input to pseudorandom bit generator and then it produces a random 8-bit output which is treated as keystream. The resulted keystream will be of size 1 byte, i.e., 8 bits. Stream ciphers are fast because they encrypt data bit by bit or byte by byte, which makes them efficient for encrypting large amounts of data </a:t>
            </a:r>
            <a:r>
              <a:rPr lang="en-US" sz="1800" spc="10" dirty="0" err="1">
                <a:solidFill>
                  <a:srgbClr val="273239"/>
                </a:solidFill>
                <a:effectLst/>
                <a:highlight>
                  <a:srgbClr val="FFFFFF"/>
                </a:highlight>
                <a:latin typeface="Times New Roman" panose="02020603050405020304" pitchFamily="18" charset="0"/>
                <a:ea typeface="Times New Roman" panose="02020603050405020304" pitchFamily="18" charset="0"/>
              </a:rPr>
              <a:t>quickly.Stream</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ciphers work well for real-time communication, such as video streaming or online gaming, because they can encrypt and decrypt data as it’s being transmitted.</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Bef>
                <a:spcPts val="200"/>
              </a:spcBef>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Key Points of Stream Cipher</a:t>
            </a:r>
            <a:endPar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Stream Cipher follows the sequence of pseudorandom number stream.</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One of the benefits of following stream cipher is to make cryptanalysis more difficult, so the number of bits chosen in the Keystream must be long in order to make cryptanalysis more difficult.</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By making the key more longer it is also safe against brute force attacks.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longer the key the stronger security is achieved, preventing any attack.</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Keystream can be designed more efficiently by including more number of 1s and 0s, for making cryptanalysis more difficult.</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Considerable benefit of a stream cipher is, it requires few lines of code compared to block cipher.</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326021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ECEE-3045-74E4-4E6D-2DB5CD30D68B}"/>
              </a:ext>
            </a:extLst>
          </p:cNvPr>
          <p:cNvSpPr>
            <a:spLocks noGrp="1"/>
          </p:cNvSpPr>
          <p:nvPr>
            <p:ph type="title"/>
          </p:nvPr>
        </p:nvSpPr>
        <p:spPr>
          <a:xfrm>
            <a:off x="493039" y="622807"/>
            <a:ext cx="8157921" cy="492443"/>
          </a:xfrm>
        </p:spPr>
        <p:txBody>
          <a:bodyPr/>
          <a:lstStyle/>
          <a:p>
            <a:pPr algn="ctr"/>
            <a:r>
              <a:rPr lang="en-US" dirty="0"/>
              <a:t>Difference</a:t>
            </a:r>
          </a:p>
        </p:txBody>
      </p:sp>
      <p:graphicFrame>
        <p:nvGraphicFramePr>
          <p:cNvPr id="4" name="Table 3">
            <a:extLst>
              <a:ext uri="{FF2B5EF4-FFF2-40B4-BE49-F238E27FC236}">
                <a16:creationId xmlns:a16="http://schemas.microsoft.com/office/drawing/2014/main" id="{76259165-4C9A-9024-1467-043D892E2998}"/>
              </a:ext>
            </a:extLst>
          </p:cNvPr>
          <p:cNvGraphicFramePr>
            <a:graphicFrameLocks noGrp="1"/>
          </p:cNvGraphicFramePr>
          <p:nvPr>
            <p:extLst>
              <p:ext uri="{D42A27DB-BD31-4B8C-83A1-F6EECF244321}">
                <p14:modId xmlns:p14="http://schemas.microsoft.com/office/powerpoint/2010/main" val="1320855970"/>
              </p:ext>
            </p:extLst>
          </p:nvPr>
        </p:nvGraphicFramePr>
        <p:xfrm>
          <a:off x="1062318" y="1636889"/>
          <a:ext cx="7019364" cy="4312357"/>
        </p:xfrm>
        <a:graphic>
          <a:graphicData uri="http://schemas.openxmlformats.org/drawingml/2006/table">
            <a:tbl>
              <a:tblPr firstRow="1" firstCol="1" bandRow="1">
                <a:tableStyleId>{81763C85-FD0C-4F9C-9014-DFE97472DFE7}</a:tableStyleId>
              </a:tblPr>
              <a:tblGrid>
                <a:gridCol w="3509682">
                  <a:extLst>
                    <a:ext uri="{9D8B030D-6E8A-4147-A177-3AD203B41FA5}">
                      <a16:colId xmlns:a16="http://schemas.microsoft.com/office/drawing/2014/main" val="4018428612"/>
                    </a:ext>
                  </a:extLst>
                </a:gridCol>
                <a:gridCol w="3509682">
                  <a:extLst>
                    <a:ext uri="{9D8B030D-6E8A-4147-A177-3AD203B41FA5}">
                      <a16:colId xmlns:a16="http://schemas.microsoft.com/office/drawing/2014/main" val="1437882998"/>
                    </a:ext>
                  </a:extLst>
                </a:gridCol>
              </a:tblGrid>
              <a:tr h="578282">
                <a:tc>
                  <a:txBody>
                    <a:bodyPr/>
                    <a:lstStyle/>
                    <a:p>
                      <a:pPr algn="ctr" fontAlgn="base"/>
                      <a:r>
                        <a:rPr lang="en-US" sz="1000" spc="10">
                          <a:effectLst/>
                        </a:rPr>
                        <a:t>Stream Cipher</a:t>
                      </a:r>
                      <a:endParaRPr lang="en-IN" sz="1000">
                        <a:effectLst/>
                        <a:latin typeface="Times New Roman" panose="02020603050405020304" pitchFamily="18" charset="0"/>
                        <a:ea typeface="Times New Roman" panose="02020603050405020304" pitchFamily="18" charset="0"/>
                      </a:endParaRPr>
                    </a:p>
                  </a:txBody>
                  <a:tcPr marL="30809" marR="30809" marT="64186" marB="64186" anchor="b"/>
                </a:tc>
                <a:tc>
                  <a:txBody>
                    <a:bodyPr/>
                    <a:lstStyle/>
                    <a:p>
                      <a:pPr algn="ctr" fontAlgn="base"/>
                      <a:r>
                        <a:rPr lang="en-US" sz="1000" spc="10">
                          <a:effectLst/>
                        </a:rPr>
                        <a:t>Block Cipher</a:t>
                      </a:r>
                      <a:endParaRPr lang="en-IN" sz="1000">
                        <a:effectLst/>
                        <a:latin typeface="Times New Roman" panose="02020603050405020304" pitchFamily="18" charset="0"/>
                        <a:ea typeface="Times New Roman" panose="02020603050405020304" pitchFamily="18" charset="0"/>
                      </a:endParaRPr>
                    </a:p>
                  </a:txBody>
                  <a:tcPr marL="64186" marR="64186" marT="64186" marB="64186" anchor="b"/>
                </a:tc>
                <a:extLst>
                  <a:ext uri="{0D108BD9-81ED-4DB2-BD59-A6C34878D82A}">
                    <a16:rowId xmlns:a16="http://schemas.microsoft.com/office/drawing/2014/main" val="556444508"/>
                  </a:ext>
                </a:extLst>
              </a:tr>
              <a:tr h="997923">
                <a:tc>
                  <a:txBody>
                    <a:bodyPr/>
                    <a:lstStyle/>
                    <a:p>
                      <a:pPr algn="ctr" fontAlgn="base"/>
                      <a:r>
                        <a:rPr lang="en-US" sz="1000" spc="10">
                          <a:effectLst/>
                        </a:rPr>
                        <a:t>By taking one bit of ordinary text at a time, the stream cipher transforms plain text into cipher text.</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tc>
                  <a:txBody>
                    <a:bodyPr/>
                    <a:lstStyle/>
                    <a:p>
                      <a:pPr algn="ctr" fontAlgn="base"/>
                      <a:r>
                        <a:rPr lang="en-US" sz="1000" spc="10">
                          <a:effectLst/>
                        </a:rPr>
                        <a:t>Block Ciphers Encrypts data in fixed-size blocks.</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extLst>
                  <a:ext uri="{0D108BD9-81ED-4DB2-BD59-A6C34878D82A}">
                    <a16:rowId xmlns:a16="http://schemas.microsoft.com/office/drawing/2014/main" val="126019457"/>
                  </a:ext>
                </a:extLst>
              </a:tr>
              <a:tr h="684038">
                <a:tc>
                  <a:txBody>
                    <a:bodyPr/>
                    <a:lstStyle/>
                    <a:p>
                      <a:pPr algn="ctr" fontAlgn="base"/>
                      <a:r>
                        <a:rPr lang="en-US" sz="1000" spc="10" dirty="0">
                          <a:effectLst/>
                        </a:rPr>
                        <a:t>Used for data-in-transit encryption.</a:t>
                      </a:r>
                      <a:endParaRPr lang="en-IN" sz="1000" dirty="0">
                        <a:effectLst/>
                        <a:latin typeface="Times New Roman" panose="02020603050405020304" pitchFamily="18" charset="0"/>
                        <a:ea typeface="Times New Roman" panose="02020603050405020304" pitchFamily="18" charset="0"/>
                      </a:endParaRPr>
                    </a:p>
                  </a:txBody>
                  <a:tcPr marL="64186" marR="64186" marT="89860" marB="89860" anchor="ctr"/>
                </a:tc>
                <a:tc>
                  <a:txBody>
                    <a:bodyPr/>
                    <a:lstStyle/>
                    <a:p>
                      <a:pPr algn="ctr" fontAlgn="base"/>
                      <a:r>
                        <a:rPr lang="en-US" sz="1000" spc="10">
                          <a:effectLst/>
                        </a:rPr>
                        <a:t>It is basically used for data-at-rest encryption.</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extLst>
                  <a:ext uri="{0D108BD9-81ED-4DB2-BD59-A6C34878D82A}">
                    <a16:rowId xmlns:a16="http://schemas.microsoft.com/office/drawing/2014/main" val="1065240164"/>
                  </a:ext>
                </a:extLst>
              </a:tr>
              <a:tr h="684038">
                <a:tc>
                  <a:txBody>
                    <a:bodyPr/>
                    <a:lstStyle/>
                    <a:p>
                      <a:pPr algn="ctr" fontAlgn="base"/>
                      <a:r>
                        <a:rPr lang="en-US" sz="1000" spc="10">
                          <a:effectLst/>
                        </a:rPr>
                        <a:t>It requires low processing power.</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tc>
                  <a:txBody>
                    <a:bodyPr/>
                    <a:lstStyle/>
                    <a:p>
                      <a:pPr algn="ctr" fontAlgn="base"/>
                      <a:r>
                        <a:rPr lang="en-US" sz="1000" spc="10">
                          <a:effectLst/>
                        </a:rPr>
                        <a:t>It needs high processing power.</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extLst>
                  <a:ext uri="{0D108BD9-81ED-4DB2-BD59-A6C34878D82A}">
                    <a16:rowId xmlns:a16="http://schemas.microsoft.com/office/drawing/2014/main" val="2118206180"/>
                  </a:ext>
                </a:extLst>
              </a:tr>
              <a:tr h="684038">
                <a:tc>
                  <a:txBody>
                    <a:bodyPr/>
                    <a:lstStyle/>
                    <a:p>
                      <a:pPr algn="ctr" fontAlgn="base"/>
                      <a:r>
                        <a:rPr lang="en-US" sz="1000" spc="10">
                          <a:effectLst/>
                        </a:rPr>
                        <a:t>It has low computational load.</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tc>
                  <a:txBody>
                    <a:bodyPr/>
                    <a:lstStyle/>
                    <a:p>
                      <a:pPr algn="ctr" fontAlgn="base"/>
                      <a:r>
                        <a:rPr lang="en-US" sz="1000" spc="10">
                          <a:effectLst/>
                        </a:rPr>
                        <a:t>It requires high computational load.</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extLst>
                  <a:ext uri="{0D108BD9-81ED-4DB2-BD59-A6C34878D82A}">
                    <a16:rowId xmlns:a16="http://schemas.microsoft.com/office/drawing/2014/main" val="1822014022"/>
                  </a:ext>
                </a:extLst>
              </a:tr>
              <a:tr h="684038">
                <a:tc>
                  <a:txBody>
                    <a:bodyPr/>
                    <a:lstStyle/>
                    <a:p>
                      <a:pPr algn="ctr" fontAlgn="base"/>
                      <a:r>
                        <a:rPr lang="en-US" sz="1000" spc="10">
                          <a:effectLst/>
                        </a:rPr>
                        <a:t>Stream Cipher cannot operate as a block cipher.</a:t>
                      </a:r>
                      <a:endParaRPr lang="en-IN" sz="1000">
                        <a:effectLst/>
                        <a:latin typeface="Times New Roman" panose="02020603050405020304" pitchFamily="18" charset="0"/>
                        <a:ea typeface="Times New Roman" panose="02020603050405020304" pitchFamily="18" charset="0"/>
                      </a:endParaRPr>
                    </a:p>
                  </a:txBody>
                  <a:tcPr marL="64186" marR="64186" marT="89860" marB="89860" anchor="ctr"/>
                </a:tc>
                <a:tc>
                  <a:txBody>
                    <a:bodyPr/>
                    <a:lstStyle/>
                    <a:p>
                      <a:pPr algn="ctr" fontAlgn="base"/>
                      <a:r>
                        <a:rPr lang="en-US" sz="1000" spc="10" dirty="0">
                          <a:effectLst/>
                        </a:rPr>
                        <a:t>Block ciphers can operate as a stream cipher.</a:t>
                      </a:r>
                      <a:endParaRPr lang="en-IN" sz="1000" dirty="0">
                        <a:effectLst/>
                        <a:latin typeface="Times New Roman" panose="02020603050405020304" pitchFamily="18" charset="0"/>
                        <a:ea typeface="Times New Roman" panose="02020603050405020304" pitchFamily="18" charset="0"/>
                      </a:endParaRPr>
                    </a:p>
                  </a:txBody>
                  <a:tcPr marL="64186" marR="64186" marT="89860" marB="89860" anchor="ctr"/>
                </a:tc>
                <a:extLst>
                  <a:ext uri="{0D108BD9-81ED-4DB2-BD59-A6C34878D82A}">
                    <a16:rowId xmlns:a16="http://schemas.microsoft.com/office/drawing/2014/main" val="1080270868"/>
                  </a:ext>
                </a:extLst>
              </a:tr>
            </a:tbl>
          </a:graphicData>
        </a:graphic>
      </p:graphicFrame>
    </p:spTree>
    <p:extLst>
      <p:ext uri="{BB962C8B-B14F-4D97-AF65-F5344CB8AC3E}">
        <p14:creationId xmlns:p14="http://schemas.microsoft.com/office/powerpoint/2010/main" val="2482212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4186</TotalTime>
  <Words>2711</Words>
  <Application>Microsoft Macintosh PowerPoint</Application>
  <PresentationFormat>On-screen Show (4:3)</PresentationFormat>
  <Paragraphs>185</Paragraphs>
  <Slides>23</Slides>
  <Notes>12</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5" baseType="lpstr">
      <vt:lpstr>Times New Roman</vt:lpstr>
      <vt:lpstr>Noto Sans Symbols</vt:lpstr>
      <vt:lpstr>Trebuchet MS</vt:lpstr>
      <vt:lpstr>Georgia</vt:lpstr>
      <vt:lpstr>Calibri</vt:lpstr>
      <vt:lpstr>Raleway ExtraBold</vt:lpstr>
      <vt:lpstr>Book Antiqua</vt:lpstr>
      <vt:lpstr>Arial Black</vt:lpstr>
      <vt:lpstr>Calibri Light</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Block cipher </vt:lpstr>
      <vt:lpstr>Block cipher </vt:lpstr>
      <vt:lpstr>Block Cipher Modes of Operation</vt:lpstr>
      <vt:lpstr>Block Cipher Modes of Operation</vt:lpstr>
      <vt:lpstr>Block Cipher Modes of Operation</vt:lpstr>
      <vt:lpstr>Cipher Block Chaining Mode </vt:lpstr>
      <vt:lpstr>PowerPoint Presentation</vt:lpstr>
      <vt:lpstr>PowerPoint Presentation</vt:lpstr>
      <vt:lpstr>Cipher Feedback Mode  </vt:lpstr>
      <vt:lpstr>PowerPoint Presentation</vt:lpstr>
      <vt:lpstr>Decryption Steps:</vt:lpstr>
      <vt:lpstr>PowerPoint Presentation</vt:lpstr>
      <vt:lpstr>PowerPoint Presentation</vt:lpstr>
      <vt:lpstr>PowerPoint Presentation</vt:lpstr>
      <vt:lpstr>Stream Ciphers </vt:lpstr>
      <vt:lpstr>Difference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74</cp:revision>
  <dcterms:created xsi:type="dcterms:W3CDTF">2019-12-13T04:20:25Z</dcterms:created>
  <dcterms:modified xsi:type="dcterms:W3CDTF">2024-05-27T10:26:57Z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