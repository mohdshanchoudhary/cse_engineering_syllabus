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80" r:id="rId3"/>
    <p:sldId id="257" r:id="rId4"/>
    <p:sldId id="258" r:id="rId5"/>
    <p:sldId id="259" r:id="rId6"/>
    <p:sldId id="262" r:id="rId7"/>
    <p:sldId id="264" r:id="rId8"/>
    <p:sldId id="265" r:id="rId9"/>
    <p:sldId id="266" r:id="rId10"/>
    <p:sldId id="267" r:id="rId11"/>
    <p:sldId id="268" r:id="rId12"/>
    <p:sldId id="269" r:id="rId13"/>
    <p:sldId id="281" r:id="rId14"/>
    <p:sldId id="278" r:id="rId15"/>
    <p:sldId id="279" r:id="rId16"/>
  </p:sldIdLst>
  <p:sldSz cx="9144000" cy="6858000" type="screen4x3"/>
  <p:notesSz cx="9144000" cy="6858000"/>
  <p:embeddedFontLst>
    <p:embeddedFont>
      <p:font typeface="Arial Black" panose="020B0604020202020204" pitchFamily="34" charset="0"/>
      <p:regular r:id="rId18"/>
      <p:bold r:id="rId19"/>
    </p:embeddedFont>
    <p:embeddedFont>
      <p:font typeface="Georgia" panose="02040502050405020303" pitchFamily="18" charset="0"/>
      <p:regular r:id="rId20"/>
      <p:bold r:id="rId21"/>
      <p:italic r:id="rId22"/>
      <p:boldItalic r:id="rId23"/>
    </p:embeddedFont>
    <p:embeddedFont>
      <p:font typeface="Raleway ExtraBold" panose="020F0502020204030204" pitchFamily="34" charset="0"/>
      <p:bold r:id="rId24"/>
      <p:italic r:id="rId25"/>
      <p:boldItalic r:id="rId26"/>
    </p:embeddedFont>
    <p:embeddedFont>
      <p:font typeface="Trebuchet MS" panose="020B0703020202090204" pitchFamily="34"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35"/>
    <p:restoredTop sz="94653"/>
  </p:normalViewPr>
  <p:slideViewPr>
    <p:cSldViewPr snapToGrid="0">
      <p:cViewPr varScale="1">
        <p:scale>
          <a:sx n="113" d="100"/>
          <a:sy n="113" d="100"/>
        </p:scale>
        <p:origin x="824" y="18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28"/>
          <p:cNvSpPr txBox="1">
            <a:spLocks noGrp="1"/>
          </p:cNvSpPr>
          <p:nvPr>
            <p:ph type="ctrTitle"/>
          </p:nvPr>
        </p:nvSpPr>
        <p:spPr>
          <a:xfrm>
            <a:off x="23875" y="17780"/>
            <a:ext cx="9096248" cy="2997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1064394"/>
          </a:xfrm>
          <a:prstGeom prst="rect">
            <a:avLst/>
          </a:prstGeom>
          <a:noFill/>
          <a:ln>
            <a:noFill/>
          </a:ln>
        </p:spPr>
        <p:txBody>
          <a:bodyPr spcFirstLastPara="1" wrap="square" lIns="0" tIns="12700" rIns="0" bIns="0" anchor="t" anchorCtr="0">
            <a:spAutoFit/>
          </a:bodyPr>
          <a:lstStyle/>
          <a:p>
            <a:pPr algn="just">
              <a:lnSpc>
                <a:spcPts val="1560"/>
              </a:lnSpc>
              <a:spcBef>
                <a:spcPts val="200"/>
              </a:spcBef>
            </a:pPr>
            <a:br>
              <a:rPr lang="en-IN" sz="36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br>
            <a:br>
              <a:rPr lang="en-IN" sz="36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br>
            <a:br>
              <a:rPr lang="en-IN" sz="36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br>
            <a:br>
              <a:rPr lang="en-IN" sz="36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br>
            <a:r>
              <a:rPr lang="en-IN" sz="36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lang="en-IN" sz="36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16" name="Google Shape;116;p6"/>
          <p:cNvSpPr txBox="1"/>
          <p:nvPr/>
        </p:nvSpPr>
        <p:spPr>
          <a:xfrm>
            <a:off x="902970" y="1190319"/>
            <a:ext cx="7552408" cy="3394504"/>
          </a:xfrm>
          <a:prstGeom prst="rect">
            <a:avLst/>
          </a:prstGeom>
          <a:noFill/>
          <a:ln>
            <a:noFill/>
          </a:ln>
        </p:spPr>
        <p:txBody>
          <a:bodyPr spcFirstLastPara="1" wrap="square" lIns="0" tIns="8507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b="1" dirty="0">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Child pornography:</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Child pornography is an example of computer crimes, which is a form of child sexual exploitation.</a:t>
            </a: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Cracking:</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Another example of computer crime is cracking, in which the cracker decodes or breaks the codes that are designed to protect data. A cracker is an individual who uses a script or program to decipher codes or breakdown security systems for illegal activities. The program or script, which is used to break the security, is known as crack.</a:t>
            </a: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Copyright violation:</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If anyone steals another person's copyrighted data, it is also a type of computer crime.</a:t>
            </a: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34" name="Google Shape;134;p8"/>
          <p:cNvSpPr txBox="1"/>
          <p:nvPr/>
        </p:nvSpPr>
        <p:spPr>
          <a:xfrm>
            <a:off x="590551" y="1330198"/>
            <a:ext cx="8259938" cy="4939799"/>
          </a:xfrm>
          <a:prstGeom prst="rect">
            <a:avLst/>
          </a:prstGeom>
          <a:noFill/>
          <a:ln>
            <a:noFill/>
          </a:ln>
        </p:spPr>
        <p:txBody>
          <a:bodyPr spcFirstLastPara="1" wrap="square" lIns="0" tIns="7872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b="1" dirty="0">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Cyber terrorism:</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In this category, the attacks come, like blackmailing, hacking, threats towards a person or business to gain unauthorized access to perform illegal activities.</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Cybersquatting:</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Cybersquatting is a term, which is also referred to as domain squatting and typo squatting that is used to set up a domain of another person or company and hold it for resale at a premium price.</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Cyberbully or Cyberstalking:</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Cyberstalking is a kind of attack in which anyone harasses or stalks other persons online by posting inappropriate or unwanted things about them.</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Creating Malware:</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Malware is malicious software that is installed on your computer without your consent as it uses deceptive and unethical tactics. It is designed to watch browsing habits, delete software, or even open someone's computer to attack. For case, sometimes you mistakenly run software on your computer when you are visiting a website and get an unrequested download.</a:t>
            </a: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42" name="Google Shape;142;p9"/>
          <p:cNvSpPr txBox="1"/>
          <p:nvPr/>
        </p:nvSpPr>
        <p:spPr>
          <a:xfrm>
            <a:off x="231139" y="1534414"/>
            <a:ext cx="8720949" cy="3529812"/>
          </a:xfrm>
          <a:prstGeom prst="rect">
            <a:avLst/>
          </a:prstGeom>
          <a:noFill/>
          <a:ln>
            <a:noFill/>
          </a:ln>
        </p:spPr>
        <p:txBody>
          <a:bodyPr spcFirstLastPara="1" wrap="square" lIns="0" tIns="5397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Denial of Service attack:</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 DoS attack, which stands for denial of service attack, is a kind of computer crime in which an attacker sends an abnormally high number of requests to the victim that is led to the network slow down or fail. These requests cannot be served as normal requests.</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Doxing:</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another type of attack when someone shares another person's personal information with anyone without their consent. The personal information may be in the form of someone's full name, address, history, password, and other identifying information.</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24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Espionage:</a:t>
            </a:r>
            <a:r>
              <a:rPr lang="en-IN" sz="24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Espionage is the act of spying on a person or business to obtain secret or confidential information. A person who performs these kinds of activities is known as a spy or espionage agent. Espionage agents can work in company or independent operations to uncover agencies or other secret information.</a:t>
            </a:r>
            <a:endParaRPr lang="en-IN" sz="24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382787"/>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sz="2400" dirty="0"/>
          </a:p>
        </p:txBody>
      </p:sp>
      <p:sp>
        <p:nvSpPr>
          <p:cNvPr id="150" name="Google Shape;150;p10"/>
          <p:cNvSpPr txBox="1"/>
          <p:nvPr/>
        </p:nvSpPr>
        <p:spPr>
          <a:xfrm>
            <a:off x="231140" y="1411837"/>
            <a:ext cx="7962900" cy="4653177"/>
          </a:xfrm>
          <a:prstGeom prst="rect">
            <a:avLst/>
          </a:prstGeom>
          <a:noFill/>
          <a:ln>
            <a:noFill/>
          </a:ln>
        </p:spPr>
        <p:txBody>
          <a:bodyPr spcFirstLastPara="1" wrap="square" lIns="0" tIns="7427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Fraud:</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Fraud is the use of computers, internet services, or devices to manipulating data or defraud people or organizations; for example, to participate in credit card fraud or to transfer money to an account, changing banking records. Examples of illegal computer activities include: social engineering, DDoS, viruses, and phishing attacks are used to gain unauthorized access to another fund.</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Harvesting: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 harvester is a software, also known as a web harvester, that is designed to gather account or account-related information of others, or it is also used to parse large amounts of data. For instance, large numbers of web pages may be processed by a web harvester to take out names, phone numbers, email addresses, account names from the website.</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Human trafficking: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one of the serious crimes, which is an act of participating in buying or selling other humans. Basically, it graves a violation of human rights. There are thousands of men, women, and children who become a victim of traffickers. Approximately all countries in the world become a victim of attackers.</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Identity theft:</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Identity theft is an act to be a person you are not that one. In this category, attackers try to gain information illegally about someone else. Attackers or thieves can try to information such as phone number, credit card numbers, full name, maiden name, social security number, passwords, etc.</a:t>
            </a: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382787"/>
          </a:xfrm>
          <a:prstGeom prst="rect">
            <a:avLst/>
          </a:prstGeom>
          <a:noFill/>
          <a:ln>
            <a:noFill/>
          </a:ln>
        </p:spPr>
        <p:txBody>
          <a:bodyPr spcFirstLastPara="1" wrap="square" lIns="0" tIns="13325" rIns="0" bIns="0" anchor="t" anchorCtr="0">
            <a:spAutoFit/>
          </a:bodyPr>
          <a:lstStyle/>
          <a:p>
            <a:pPr marL="610870" lvl="0" indent="0" algn="ctr"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sz="2400" dirty="0"/>
          </a:p>
        </p:txBody>
      </p:sp>
      <p:sp>
        <p:nvSpPr>
          <p:cNvPr id="158" name="Google Shape;158;p11"/>
          <p:cNvSpPr txBox="1"/>
          <p:nvPr/>
        </p:nvSpPr>
        <p:spPr>
          <a:xfrm>
            <a:off x="535940" y="1369313"/>
            <a:ext cx="8427438" cy="4946867"/>
          </a:xfrm>
          <a:prstGeom prst="rect">
            <a:avLst/>
          </a:prstGeom>
          <a:noFill/>
          <a:ln>
            <a:noFill/>
          </a:ln>
        </p:spPr>
        <p:txBody>
          <a:bodyPr spcFirstLastPara="1" wrap="square" lIns="0" tIns="8572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Illegal sales:</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an act of purchasing or selling illicit goods online, such as psychotropic substances, drugs, guns, and more.</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Intellectual property theft:</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a category of property where a human creates something by using their own mind. In this case, if anyone steals practical or conceptual information that is created by other persons or organizations, it comes under intellectual property theft, which is known as a crime. Trade secrets, copyrights, trademarks, and patents are well-known types of intellectual property.</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Phishing or vishing: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a term that is used to deceive individuals or groups to obtain secret information about that person. For that, they create web pages designed to gather personal information like a credit card, online bank, password, or other private information. They also do so with the help of sending emails.</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Salami slicing: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Generally, it can be defined as stealing small amounts of money from each transaction that builds into a large sum of illegally gained money.</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Scam:</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 scam is a term that is used to trick people into believing something, which is not actually true. For example, people start a fraud scheme or business through which they gain money from an unsuspecting person. Online scams have increased because the world is more connected to the network. And, it depends on you to keep careful yourself from these kinds of online scams</a:t>
            </a: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3600345"/>
          </a:xfrm>
          <a:prstGeom prst="rect">
            <a:avLst/>
          </a:prstGeom>
          <a:noFill/>
          <a:ln>
            <a:noFill/>
          </a:ln>
        </p:spPr>
        <p:txBody>
          <a:bodyPr spcFirstLastPara="1" wrap="square" lIns="0" tIns="85725" rIns="0" bIns="0" anchor="t" anchorCtr="0">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Slander:</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 slander is an act of posting libel against another organization or person.</a:t>
            </a: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Software piracy: Generally, it describes illegally copying, distributing, or using software without ownership or legal rights. Today, most of the software may have installed on one computer to use as it is purchased as a single-user license. If you share that software with anyone or copy it on multiple computer devices without purchasing multiple licenses, it is illegal and comes under software piracy.</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Spamming: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Spam is an e-mail distributed process that is used to promote a specific product or a scam to obtain other people's money by sending unsolicited e-mail to thousands and sometimes millions of people without their consent. It describes junk e-mail on the Internet that is also known as UCE (unsolicited commercial e-mail), mass e-mail marketing, and bulk e-mail.</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Spoofing: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Generally, the term spoof describes hacking or deception that means to deceive a system by imitating another person, computer, hardware device. You do that bypassing security measures. IP spoofing is one of the well-known spoofing's.</a:t>
            </a: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66" name="Google Shape;166;p12"/>
          <p:cNvSpPr txBox="1">
            <a:spLocks noGrp="1"/>
          </p:cNvSpPr>
          <p:nvPr>
            <p:ph type="title"/>
          </p:nvPr>
        </p:nvSpPr>
        <p:spPr>
          <a:xfrm>
            <a:off x="493039" y="622807"/>
            <a:ext cx="8157921" cy="382787"/>
          </a:xfrm>
          <a:prstGeom prst="rect">
            <a:avLst/>
          </a:prstGeom>
          <a:noFill/>
          <a:ln>
            <a:noFill/>
          </a:ln>
        </p:spPr>
        <p:txBody>
          <a:bodyPr spcFirstLastPara="1" wrap="square" lIns="0" tIns="13325" rIns="0" bIns="0" anchor="t" anchorCtr="0">
            <a:spAutoFit/>
          </a:bodyPr>
          <a:lstStyle/>
          <a:p>
            <a:pPr marL="610870" lvl="0" indent="0" algn="ctr"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3"/>
          <p:cNvSpPr txBox="1">
            <a:spLocks noGrp="1"/>
          </p:cNvSpPr>
          <p:nvPr>
            <p:ph type="ctrTitle"/>
          </p:nvPr>
        </p:nvSpPr>
        <p:spPr>
          <a:xfrm>
            <a:off x="-80010" y="17780"/>
            <a:ext cx="9200133" cy="299720"/>
          </a:xfrm>
          <a:prstGeom prst="rect">
            <a:avLst/>
          </a:prstGeom>
          <a:noFill/>
          <a:ln>
            <a:noFill/>
          </a:ln>
        </p:spPr>
        <p:txBody>
          <a:bodyPr spcFirstLastPara="1" wrap="square" lIns="0" tIns="12700" rIns="0" bIns="0" anchor="t" anchorCtr="0">
            <a:spAutoFit/>
          </a:bodyPr>
          <a:lstStyle/>
          <a:p>
            <a:pPr marL="3350259" lvl="0" indent="0" algn="l" rtl="0">
              <a:lnSpc>
                <a:spcPct val="100000"/>
              </a:lnSpc>
              <a:spcBef>
                <a:spcPts val="0"/>
              </a:spcBef>
              <a:spcAft>
                <a:spcPts val="0"/>
              </a:spcAft>
              <a:buSzPts val="1400"/>
              <a:buNone/>
            </a:pPr>
            <a:r>
              <a:rPr lang="en-US" dirty="0"/>
              <a:t>Department of Computer Science and Engineering (CSE)</a:t>
            </a:r>
            <a:endParaRPr dirty="0"/>
          </a:p>
        </p:txBody>
      </p:sp>
      <p:sp>
        <p:nvSpPr>
          <p:cNvPr id="173" name="Google Shape;173;p13"/>
          <p:cNvSpPr txBox="1"/>
          <p:nvPr/>
        </p:nvSpPr>
        <p:spPr>
          <a:xfrm>
            <a:off x="1478575" y="430566"/>
            <a:ext cx="4683125" cy="752119"/>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Clr>
                <a:srgbClr val="000000"/>
              </a:buClr>
              <a:buSzPts val="3200"/>
              <a:buFont typeface="Arial"/>
              <a:buNone/>
            </a:pPr>
            <a:endPar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endParaRPr>
          </a:p>
          <a:p>
            <a:pPr marL="12700" marR="0" lvl="0" indent="0" algn="ctr" rtl="0">
              <a:lnSpc>
                <a:spcPct val="100000"/>
              </a:lnSpc>
              <a:spcBef>
                <a:spcPts val="0"/>
              </a:spcBef>
              <a:spcAft>
                <a:spcPts val="0"/>
              </a:spcAft>
              <a:buClr>
                <a:srgbClr val="000000"/>
              </a:buClr>
              <a:buSzPts val="3200"/>
              <a:buFont typeface="Arial"/>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Computer Crimes</a:t>
            </a:r>
            <a:endParaRPr sz="2400" b="0" i="0" u="none" strike="noStrike" cap="none" dirty="0">
              <a:solidFill>
                <a:schemeClr val="dk1"/>
              </a:solidFill>
              <a:latin typeface="Georgia"/>
              <a:ea typeface="Georgia"/>
              <a:cs typeface="Georgia"/>
              <a:sym typeface="Georgia"/>
            </a:endParaRPr>
          </a:p>
        </p:txBody>
      </p:sp>
      <p:sp>
        <p:nvSpPr>
          <p:cNvPr id="174" name="Google Shape;174;p13"/>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3" name="TextBox 2">
            <a:extLst>
              <a:ext uri="{FF2B5EF4-FFF2-40B4-BE49-F238E27FC236}">
                <a16:creationId xmlns:a16="http://schemas.microsoft.com/office/drawing/2014/main" id="{88AF2155-9B78-6C0D-4FC0-0B18243176A6}"/>
              </a:ext>
            </a:extLst>
          </p:cNvPr>
          <p:cNvSpPr txBox="1"/>
          <p:nvPr/>
        </p:nvSpPr>
        <p:spPr>
          <a:xfrm>
            <a:off x="824089" y="1433689"/>
            <a:ext cx="7947378" cy="3121560"/>
          </a:xfrm>
          <a:prstGeom prst="rect">
            <a:avLst/>
          </a:prstGeom>
          <a:noFill/>
        </p:spPr>
        <p:txBody>
          <a:bodyPr wrap="square">
            <a:spAutoFit/>
          </a:bodyPr>
          <a:lstStyle/>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err="1">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Typosquatting</a:t>
            </a: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Cybersquatting is a term used to describe a domain that is a misspelling of another domain. Generally, it is also known as domain squatting and typo squatting that means a company or individual knowingly buys a domain and holds it resale at a premium price.</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Unauthorized access:</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When someone tries to access a system, server, program, and service by using an illegal method or someone else's account information. Basically, unauthorized access means accessing a system on which you have no permission to access. For the case, you have a Gmail account, and someone kept guessing a password or username for your account and accessed this account, which is considered unauthorized access.</a:t>
            </a:r>
          </a:p>
          <a:p>
            <a:pPr marL="342900" lvl="0" indent="-342900" algn="just">
              <a:lnSpc>
                <a:spcPts val="1565"/>
              </a:lnSpc>
              <a:spcBef>
                <a:spcPts val="250"/>
              </a:spcBef>
              <a:buSzPts val="1000"/>
              <a:buFont typeface="Courier New" panose="02070309020205020404" pitchFamily="49" charset="0"/>
              <a:buChar char="o"/>
              <a:tabLst>
                <a:tab pos="457200" algn="l"/>
              </a:tabLst>
            </a:pP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Wiretapping</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Wiretapping is the surreptitious electronic monitoring device that is used to connect a device to a phone line to listen to conversations.</a:t>
            </a:r>
            <a:endParaRPr lang="en-IN" sz="1800" dirty="0">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B7C66-C934-09E4-A594-50B99B9454D7}"/>
              </a:ext>
            </a:extLst>
          </p:cNvPr>
          <p:cNvSpPr>
            <a:spLocks noGrp="1"/>
          </p:cNvSpPr>
          <p:nvPr>
            <p:ph type="title"/>
          </p:nvPr>
        </p:nvSpPr>
        <p:spPr>
          <a:xfrm>
            <a:off x="493039" y="622807"/>
            <a:ext cx="8157921" cy="1046440"/>
          </a:xfrm>
        </p:spPr>
        <p:txBody>
          <a:bodyPr/>
          <a:lstStyle/>
          <a:p>
            <a:pPr algn="ctr"/>
            <a:b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b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Protection against Computer Crimes:</a:t>
            </a:r>
            <a:br>
              <a:rPr lang="en-IN" sz="1800" b="1" dirty="0">
                <a:solidFill>
                  <a:srgbClr val="2F5496"/>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rPr>
            </a:br>
            <a:endParaRPr lang="en-US" dirty="0"/>
          </a:p>
        </p:txBody>
      </p:sp>
      <p:sp>
        <p:nvSpPr>
          <p:cNvPr id="3" name="Text Placeholder 2">
            <a:extLst>
              <a:ext uri="{FF2B5EF4-FFF2-40B4-BE49-F238E27FC236}">
                <a16:creationId xmlns:a16="http://schemas.microsoft.com/office/drawing/2014/main" id="{BAC183D9-77A0-3101-F8C5-21CC32E6B913}"/>
              </a:ext>
            </a:extLst>
          </p:cNvPr>
          <p:cNvSpPr>
            <a:spLocks noGrp="1"/>
          </p:cNvSpPr>
          <p:nvPr>
            <p:ph type="body" idx="1"/>
          </p:nvPr>
        </p:nvSpPr>
        <p:spPr>
          <a:xfrm>
            <a:off x="231140" y="1399822"/>
            <a:ext cx="8681719" cy="5000978"/>
          </a:xfrm>
        </p:spPr>
        <p:txBody>
          <a:bodyPr/>
          <a:lstStyle/>
          <a:p>
            <a:pPr algn="just"/>
            <a:r>
              <a:rPr lang="en-US" sz="1800" dirty="0">
                <a:solidFill>
                  <a:srgbClr val="333333"/>
                </a:solidFill>
                <a:effectLst/>
                <a:highlight>
                  <a:srgbClr val="FFFFFF"/>
                </a:highlight>
                <a:latin typeface="Times New Roman" panose="02020603050405020304" pitchFamily="18" charset="0"/>
                <a:ea typeface="Times New Roman" panose="02020603050405020304" pitchFamily="18" charset="0"/>
              </a:rPr>
              <a:t>There are some important key points that can help you protect against computer crimes:</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Use strong passwords:</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Always use a strong, unique password and change your password frequently. Also, the repeated password is not beneficial; so, do not keep the same passwords on different sites. And you should always try to password with the combination of at least 10 -14 letters that have symbols, special characters, and numbers, which means create a complex password. A complex password cannot be hacked easily like "123456" or "another simple password."</a:t>
            </a: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Keep your software updated:</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Especially, it is most important with your internet security software; because attackers always try to gain access to your system by using flaws or known exploits. Therefore, you should keep your software up to date, which helps to patch those exploits and flaws, which led to a decrease in the chances of becoming a victim of cybercrime.</a:t>
            </a: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Be careful about using public Wi-Fi:</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 is very easy for hackers to connect with public Wi-Fi. That means they can see your history what you're doing on the internet, such as watching a movie, including they can see your account information, password, or other personal sensitive information you are logging on the device. To protect yourself against crime, do not enter your secret information while using public Wi-Fi, and when you are on public Wi-Fi, use apps that need a password to access.</a:t>
            </a:r>
          </a:p>
          <a:p>
            <a:pPr marL="342900" lvl="0" indent="-342900" algn="just">
              <a:lnSpc>
                <a:spcPts val="1565"/>
              </a:lnSpc>
              <a:spcBef>
                <a:spcPts val="250"/>
              </a:spcBef>
              <a:buSzPts val="1000"/>
              <a:buFont typeface="Courier New" panose="02070309020205020404" pitchFamily="49" charset="0"/>
              <a:buChar char="o"/>
              <a:tabLst>
                <a:tab pos="457200" algn="l"/>
              </a:tabLs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Manage your social media settings:</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Make sure your private and personal information is locked. As you mostly share your pictures or other data on social media sites publicly, which can be hacked by social engineering cybercriminals. So, it would be better for you to less share your personal information on social media.</a:t>
            </a:r>
          </a:p>
          <a:p>
            <a:endParaRPr lang="en-US" dirty="0"/>
          </a:p>
        </p:txBody>
      </p:sp>
      <p:sp>
        <p:nvSpPr>
          <p:cNvPr id="5" name="TextBox 4">
            <a:extLst>
              <a:ext uri="{FF2B5EF4-FFF2-40B4-BE49-F238E27FC236}">
                <a16:creationId xmlns:a16="http://schemas.microsoft.com/office/drawing/2014/main" id="{2C10CB9B-471C-FE9E-07F9-7F2EFBB026B1}"/>
              </a:ext>
            </a:extLst>
          </p:cNvPr>
          <p:cNvSpPr txBox="1"/>
          <p:nvPr/>
        </p:nvSpPr>
        <p:spPr>
          <a:xfrm>
            <a:off x="3081866" y="0"/>
            <a:ext cx="5569094" cy="307777"/>
          </a:xfrm>
          <a:prstGeom prst="rect">
            <a:avLst/>
          </a:prstGeom>
          <a:noFill/>
        </p:spPr>
        <p:txBody>
          <a:bodyPr wrap="square">
            <a:spAutoFit/>
          </a:bodyPr>
          <a:lstStyle/>
          <a:p>
            <a:r>
              <a:rPr lang="en-US" dirty="0"/>
              <a:t>Department of Computer Science and Engineering (CSE)</a:t>
            </a:r>
          </a:p>
        </p:txBody>
      </p:sp>
    </p:spTree>
    <p:extLst>
      <p:ext uri="{BB962C8B-B14F-4D97-AF65-F5344CB8AC3E}">
        <p14:creationId xmlns:p14="http://schemas.microsoft.com/office/powerpoint/2010/main" val="2351295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4158</TotalTime>
  <Words>2479</Words>
  <Application>Microsoft Macintosh PowerPoint</Application>
  <PresentationFormat>On-screen Show (4:3)</PresentationFormat>
  <Paragraphs>152</Paragraphs>
  <Slides>15</Slides>
  <Notes>13</Notes>
  <HiddenSlides>1</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7" baseType="lpstr">
      <vt:lpstr>Times New Roman</vt:lpstr>
      <vt:lpstr>Noto Sans Symbols</vt:lpstr>
      <vt:lpstr>Trebuchet MS</vt:lpstr>
      <vt:lpstr>Georgia</vt:lpstr>
      <vt:lpstr>Calibri</vt:lpstr>
      <vt:lpstr>Raleway ExtraBold</vt:lpstr>
      <vt:lpstr>Arial Black</vt:lpstr>
      <vt:lpstr>Courier New</vt:lpstr>
      <vt:lpstr>Calibri Light</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    computer crimes</vt:lpstr>
      <vt:lpstr>Computer Crimes</vt:lpstr>
      <vt:lpstr>Computer Crimes</vt:lpstr>
      <vt:lpstr>Computer Crimes</vt:lpstr>
      <vt:lpstr>Computer Crimes</vt:lpstr>
      <vt:lpstr>Computer Crimes</vt:lpstr>
      <vt:lpstr>Department of Computer Science and Engineering (CSE)</vt:lpstr>
      <vt:lpstr> Protection against Computer Crimes: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58</cp:revision>
  <dcterms:created xsi:type="dcterms:W3CDTF">2019-12-13T04:20:25Z</dcterms:created>
  <dcterms:modified xsi:type="dcterms:W3CDTF">2024-05-27T08:25:54Z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