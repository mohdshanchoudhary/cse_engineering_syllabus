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7"/>
  </p:notesMasterIdLst>
  <p:sldIdLst>
    <p:sldId id="256" r:id="rId2"/>
    <p:sldId id="280" r:id="rId3"/>
    <p:sldId id="257" r:id="rId4"/>
    <p:sldId id="258" r:id="rId5"/>
    <p:sldId id="259" r:id="rId6"/>
    <p:sldId id="262" r:id="rId7"/>
    <p:sldId id="264" r:id="rId8"/>
    <p:sldId id="265" r:id="rId9"/>
    <p:sldId id="266" r:id="rId10"/>
    <p:sldId id="267" r:id="rId11"/>
    <p:sldId id="268" r:id="rId12"/>
    <p:sldId id="269" r:id="rId13"/>
    <p:sldId id="270" r:id="rId14"/>
    <p:sldId id="278" r:id="rId15"/>
    <p:sldId id="279" r:id="rId16"/>
  </p:sldIdLst>
  <p:sldSz cx="9144000" cy="6858000" type="screen4x3"/>
  <p:notesSz cx="9144000" cy="6858000"/>
  <p:embeddedFontLst>
    <p:embeddedFont>
      <p:font typeface="Arial Black" panose="020B0604020202020204" pitchFamily="34" charset="0"/>
      <p:regular r:id="rId18"/>
      <p:bold r:id="rId19"/>
    </p:embeddedFont>
    <p:embeddedFont>
      <p:font typeface="Georgia" panose="02040502050405020303" pitchFamily="18" charset="0"/>
      <p:regular r:id="rId20"/>
      <p:bold r:id="rId21"/>
      <p:italic r:id="rId22"/>
      <p:boldItalic r:id="rId23"/>
    </p:embeddedFont>
    <p:embeddedFont>
      <p:font typeface="Raleway ExtraBold" panose="020F0502020204030204" pitchFamily="34" charset="0"/>
      <p:bold r:id="rId24"/>
      <p:italic r:id="rId25"/>
      <p:boldItalic r:id="rId26"/>
    </p:embeddedFont>
    <p:embeddedFont>
      <p:font typeface="Trebuchet MS" panose="020B0703020202090204" pitchFamily="34" charset="0"/>
      <p:regular r:id="rId27"/>
      <p:bold r:id="rId28"/>
      <p: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7" roundtripDataSignature="AMtx7mh6Z50KqYv7Jg2W9Izz8bv56WPx1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1763C85-FD0C-4F9C-9014-DFE97472DFE7}">
  <a:tblStyle styleId="{81763C85-FD0C-4F9C-9014-DFE97472DFE7}"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602"/>
    <p:restoredTop sz="94630"/>
  </p:normalViewPr>
  <p:slideViewPr>
    <p:cSldViewPr snapToGrid="0">
      <p:cViewPr varScale="1">
        <p:scale>
          <a:sx n="113" d="100"/>
          <a:sy n="113" d="100"/>
        </p:scale>
        <p:origin x="1048" y="176"/>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47" Type="http://customschemas.google.com/relationships/presentationmetadata" Target="metadata"/><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524300" y="514350"/>
            <a:ext cx="60963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2" name="Google Shape;52;p1: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2: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9" name="Google Shape;69;p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3: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1" name="Google Shape;81;p3: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4: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9" name="Google Shape;89;p4: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6: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1" name="Google Shape;111;p6: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8: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9" name="Google Shape;129;p8: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9: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7" name="Google Shape;137;p9: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10: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5" name="Google Shape;145;p10: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11: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3" name="Google Shape;153;p11: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2: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1" name="Google Shape;161;p1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13: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9" name="Google Shape;169;p13: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4: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7" name="Google Shape;177;p14: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22: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45" name="Google Shape;245;p2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23: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5" name="Google Shape;255;p23: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4"/>
        <p:cNvGrpSpPr/>
        <p:nvPr/>
      </p:nvGrpSpPr>
      <p:grpSpPr>
        <a:xfrm>
          <a:off x="0" y="0"/>
          <a:ext cx="0" cy="0"/>
          <a:chOff x="0" y="0"/>
          <a:chExt cx="0" cy="0"/>
        </a:xfrm>
      </p:grpSpPr>
      <p:sp>
        <p:nvSpPr>
          <p:cNvPr id="15" name="Google Shape;15;p25"/>
          <p:cNvSpPr txBox="1">
            <a:spLocks noGrp="1"/>
          </p:cNvSpPr>
          <p:nvPr>
            <p:ph type="title"/>
          </p:nvPr>
        </p:nvSpPr>
        <p:spPr>
          <a:xfrm>
            <a:off x="493039" y="622807"/>
            <a:ext cx="8157921" cy="51371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3200" b="1" i="0">
                <a:solidFill>
                  <a:srgbClr val="C00000"/>
                </a:solidFill>
                <a:latin typeface="Georgia"/>
                <a:ea typeface="Georgia"/>
                <a:cs typeface="Georgia"/>
                <a:sym typeface="Georgi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5"/>
          <p:cNvSpPr txBox="1">
            <a:spLocks noGrp="1"/>
          </p:cNvSpPr>
          <p:nvPr>
            <p:ph type="body" idx="1"/>
          </p:nvPr>
        </p:nvSpPr>
        <p:spPr>
          <a:xfrm>
            <a:off x="231140" y="3022219"/>
            <a:ext cx="8681719" cy="2061845"/>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b="0" i="0">
                <a:solidFill>
                  <a:schemeClr val="dk1"/>
                </a:solidFill>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7" name="Google Shape;17;p25"/>
          <p:cNvSpPr txBox="1">
            <a:spLocks noGrp="1"/>
          </p:cNvSpPr>
          <p:nvPr>
            <p:ph type="ftr" idx="11"/>
          </p:nvPr>
        </p:nvSpPr>
        <p:spPr>
          <a:xfrm>
            <a:off x="2475357" y="6539204"/>
            <a:ext cx="4194809" cy="280034"/>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2000" b="1" i="0">
                <a:solidFill>
                  <a:schemeClr val="dk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25"/>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5"/>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0"/>
        <p:cNvGrpSpPr/>
        <p:nvPr/>
      </p:nvGrpSpPr>
      <p:grpSpPr>
        <a:xfrm>
          <a:off x="0" y="0"/>
          <a:ext cx="0" cy="0"/>
          <a:chOff x="0" y="0"/>
          <a:chExt cx="0" cy="0"/>
        </a:xfrm>
      </p:grpSpPr>
      <p:sp>
        <p:nvSpPr>
          <p:cNvPr id="21" name="Google Shape;21;p26"/>
          <p:cNvSpPr txBox="1">
            <a:spLocks noGrp="1"/>
          </p:cNvSpPr>
          <p:nvPr>
            <p:ph type="title"/>
          </p:nvPr>
        </p:nvSpPr>
        <p:spPr>
          <a:xfrm>
            <a:off x="457200" y="273050"/>
            <a:ext cx="3008313" cy="1162050"/>
          </a:xfrm>
          <a:prstGeom prst="rect">
            <a:avLst/>
          </a:prstGeom>
          <a:noFill/>
          <a:ln>
            <a:noFill/>
          </a:ln>
        </p:spPr>
        <p:txBody>
          <a:bodyPr spcFirstLastPara="1" wrap="square" lIns="0" tIns="0" rIns="0" bIns="0" anchor="b" anchorCtr="0">
            <a:spAutoFit/>
          </a:bodyPr>
          <a:lstStyle>
            <a:lvl1pPr lvl="0" algn="l">
              <a:lnSpc>
                <a:spcPct val="100000"/>
              </a:lnSpc>
              <a:spcBef>
                <a:spcPts val="0"/>
              </a:spcBef>
              <a:spcAft>
                <a:spcPts val="0"/>
              </a:spcAft>
              <a:buSzPts val="1400"/>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6"/>
          <p:cNvSpPr txBox="1">
            <a:spLocks noGrp="1"/>
          </p:cNvSpPr>
          <p:nvPr>
            <p:ph type="body" idx="1"/>
          </p:nvPr>
        </p:nvSpPr>
        <p:spPr>
          <a:xfrm>
            <a:off x="3575050" y="273050"/>
            <a:ext cx="5111750" cy="5853113"/>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sz="3200"/>
            </a:lvl1pPr>
            <a:lvl2pPr marL="914400" lvl="1" indent="-228600" algn="l">
              <a:lnSpc>
                <a:spcPct val="100000"/>
              </a:lnSpc>
              <a:spcBef>
                <a:spcPts val="0"/>
              </a:spcBef>
              <a:spcAft>
                <a:spcPts val="0"/>
              </a:spcAft>
              <a:buSzPts val="1400"/>
              <a:buNone/>
              <a:defRPr sz="2800"/>
            </a:lvl2pPr>
            <a:lvl3pPr marL="1371600" lvl="2" indent="-228600" algn="l">
              <a:lnSpc>
                <a:spcPct val="100000"/>
              </a:lnSpc>
              <a:spcBef>
                <a:spcPts val="0"/>
              </a:spcBef>
              <a:spcAft>
                <a:spcPts val="0"/>
              </a:spcAft>
              <a:buSzPts val="1400"/>
              <a:buNone/>
              <a:defRPr sz="2400"/>
            </a:lvl3pPr>
            <a:lvl4pPr marL="1828800" lvl="3" indent="-228600" algn="l">
              <a:lnSpc>
                <a:spcPct val="100000"/>
              </a:lnSpc>
              <a:spcBef>
                <a:spcPts val="0"/>
              </a:spcBef>
              <a:spcAft>
                <a:spcPts val="0"/>
              </a:spcAft>
              <a:buSzPts val="1400"/>
              <a:buNone/>
              <a:defRPr sz="2000"/>
            </a:lvl4pPr>
            <a:lvl5pPr marL="2286000" lvl="4" indent="-228600" algn="l">
              <a:lnSpc>
                <a:spcPct val="100000"/>
              </a:lnSpc>
              <a:spcBef>
                <a:spcPts val="0"/>
              </a:spcBef>
              <a:spcAft>
                <a:spcPts val="0"/>
              </a:spcAft>
              <a:buSzPts val="1400"/>
              <a:buNone/>
              <a:defRPr sz="2000"/>
            </a:lvl5pPr>
            <a:lvl6pPr marL="2743200" lvl="5" indent="-228600" algn="l">
              <a:lnSpc>
                <a:spcPct val="100000"/>
              </a:lnSpc>
              <a:spcBef>
                <a:spcPts val="0"/>
              </a:spcBef>
              <a:spcAft>
                <a:spcPts val="0"/>
              </a:spcAft>
              <a:buSzPts val="1400"/>
              <a:buNone/>
              <a:defRPr sz="2000"/>
            </a:lvl6pPr>
            <a:lvl7pPr marL="3200400" lvl="6" indent="-228600" algn="l">
              <a:lnSpc>
                <a:spcPct val="100000"/>
              </a:lnSpc>
              <a:spcBef>
                <a:spcPts val="0"/>
              </a:spcBef>
              <a:spcAft>
                <a:spcPts val="0"/>
              </a:spcAft>
              <a:buSzPts val="1400"/>
              <a:buNone/>
              <a:defRPr sz="2000"/>
            </a:lvl7pPr>
            <a:lvl8pPr marL="3657600" lvl="7" indent="-228600" algn="l">
              <a:lnSpc>
                <a:spcPct val="100000"/>
              </a:lnSpc>
              <a:spcBef>
                <a:spcPts val="0"/>
              </a:spcBef>
              <a:spcAft>
                <a:spcPts val="0"/>
              </a:spcAft>
              <a:buSzPts val="1400"/>
              <a:buNone/>
              <a:defRPr sz="2000"/>
            </a:lvl8pPr>
            <a:lvl9pPr marL="4114800" lvl="8" indent="-228600" algn="l">
              <a:lnSpc>
                <a:spcPct val="100000"/>
              </a:lnSpc>
              <a:spcBef>
                <a:spcPts val="0"/>
              </a:spcBef>
              <a:spcAft>
                <a:spcPts val="0"/>
              </a:spcAft>
              <a:buSzPts val="1400"/>
              <a:buNone/>
              <a:defRPr sz="2000"/>
            </a:lvl9pPr>
          </a:lstStyle>
          <a:p>
            <a:endParaRPr/>
          </a:p>
        </p:txBody>
      </p:sp>
      <p:sp>
        <p:nvSpPr>
          <p:cNvPr id="23" name="Google Shape;23;p26"/>
          <p:cNvSpPr txBox="1">
            <a:spLocks noGrp="1"/>
          </p:cNvSpPr>
          <p:nvPr>
            <p:ph type="body" idx="2"/>
          </p:nvPr>
        </p:nvSpPr>
        <p:spPr>
          <a:xfrm>
            <a:off x="457200" y="1435100"/>
            <a:ext cx="3008313" cy="4691063"/>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dk1"/>
              </a:buClr>
              <a:buSzPts val="1400"/>
              <a:buFont typeface="Calibri"/>
              <a:buNone/>
              <a:defRPr sz="1400"/>
            </a:lvl1pPr>
            <a:lvl2pPr marL="914400" lvl="1" indent="-228600" algn="l">
              <a:lnSpc>
                <a:spcPct val="100000"/>
              </a:lnSpc>
              <a:spcBef>
                <a:spcPts val="0"/>
              </a:spcBef>
              <a:spcAft>
                <a:spcPts val="0"/>
              </a:spcAft>
              <a:buSzPts val="1200"/>
              <a:buFont typeface="Calibri"/>
              <a:buNone/>
              <a:defRPr sz="1200"/>
            </a:lvl2pPr>
            <a:lvl3pPr marL="1371600" lvl="2" indent="-228600" algn="l">
              <a:lnSpc>
                <a:spcPct val="100000"/>
              </a:lnSpc>
              <a:spcBef>
                <a:spcPts val="0"/>
              </a:spcBef>
              <a:spcAft>
                <a:spcPts val="0"/>
              </a:spcAft>
              <a:buSzPts val="1000"/>
              <a:buFont typeface="Calibri"/>
              <a:buNone/>
              <a:defRPr sz="1000"/>
            </a:lvl3pPr>
            <a:lvl4pPr marL="1828800" lvl="3" indent="-228600" algn="l">
              <a:lnSpc>
                <a:spcPct val="100000"/>
              </a:lnSpc>
              <a:spcBef>
                <a:spcPts val="0"/>
              </a:spcBef>
              <a:spcAft>
                <a:spcPts val="0"/>
              </a:spcAft>
              <a:buSzPts val="900"/>
              <a:buFont typeface="Calibri"/>
              <a:buNone/>
              <a:defRPr sz="900"/>
            </a:lvl4pPr>
            <a:lvl5pPr marL="2286000" lvl="4" indent="-228600" algn="l">
              <a:lnSpc>
                <a:spcPct val="100000"/>
              </a:lnSpc>
              <a:spcBef>
                <a:spcPts val="0"/>
              </a:spcBef>
              <a:spcAft>
                <a:spcPts val="0"/>
              </a:spcAft>
              <a:buSzPts val="900"/>
              <a:buFont typeface="Calibri"/>
              <a:buNone/>
              <a:defRPr sz="900"/>
            </a:lvl5pPr>
            <a:lvl6pPr marL="2743200" lvl="5" indent="-228600" algn="l">
              <a:lnSpc>
                <a:spcPct val="100000"/>
              </a:lnSpc>
              <a:spcBef>
                <a:spcPts val="0"/>
              </a:spcBef>
              <a:spcAft>
                <a:spcPts val="0"/>
              </a:spcAft>
              <a:buSzPts val="900"/>
              <a:buFont typeface="Calibri"/>
              <a:buNone/>
              <a:defRPr sz="900"/>
            </a:lvl6pPr>
            <a:lvl7pPr marL="3200400" lvl="6" indent="-228600" algn="l">
              <a:lnSpc>
                <a:spcPct val="100000"/>
              </a:lnSpc>
              <a:spcBef>
                <a:spcPts val="0"/>
              </a:spcBef>
              <a:spcAft>
                <a:spcPts val="0"/>
              </a:spcAft>
              <a:buSzPts val="900"/>
              <a:buFont typeface="Calibri"/>
              <a:buNone/>
              <a:defRPr sz="900"/>
            </a:lvl7pPr>
            <a:lvl8pPr marL="3657600" lvl="7" indent="-228600" algn="l">
              <a:lnSpc>
                <a:spcPct val="100000"/>
              </a:lnSpc>
              <a:spcBef>
                <a:spcPts val="0"/>
              </a:spcBef>
              <a:spcAft>
                <a:spcPts val="0"/>
              </a:spcAft>
              <a:buSzPts val="900"/>
              <a:buFont typeface="Calibri"/>
              <a:buNone/>
              <a:defRPr sz="900"/>
            </a:lvl8pPr>
            <a:lvl9pPr marL="4114800" lvl="8" indent="-228600" algn="l">
              <a:lnSpc>
                <a:spcPct val="100000"/>
              </a:lnSpc>
              <a:spcBef>
                <a:spcPts val="0"/>
              </a:spcBef>
              <a:spcAft>
                <a:spcPts val="0"/>
              </a:spcAft>
              <a:buSzPts val="900"/>
              <a:buFont typeface="Calibri"/>
              <a:buNone/>
              <a:defRPr sz="900"/>
            </a:lvl9pPr>
          </a:lstStyle>
          <a:p>
            <a:endParaRPr/>
          </a:p>
        </p:txBody>
      </p:sp>
      <p:sp>
        <p:nvSpPr>
          <p:cNvPr id="24" name="Google Shape;24;p26"/>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6"/>
          <p:cNvSpPr txBox="1">
            <a:spLocks noGrp="1"/>
          </p:cNvSpPr>
          <p:nvPr>
            <p:ph type="ftr" idx="11"/>
          </p:nvPr>
        </p:nvSpPr>
        <p:spPr>
          <a:xfrm>
            <a:off x="3124200" y="6356350"/>
            <a:ext cx="2895600" cy="36512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26"/>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Blank">
  <p:cSld name="Blank">
    <p:bg>
      <p:bgPr>
        <a:solidFill>
          <a:schemeClr val="lt1"/>
        </a:solidFill>
        <a:effectLst/>
      </p:bgPr>
    </p:bg>
    <p:spTree>
      <p:nvGrpSpPr>
        <p:cNvPr id="1" name="Shape 27"/>
        <p:cNvGrpSpPr/>
        <p:nvPr/>
      </p:nvGrpSpPr>
      <p:grpSpPr>
        <a:xfrm>
          <a:off x="0" y="0"/>
          <a:ext cx="0" cy="0"/>
          <a:chOff x="0" y="0"/>
          <a:chExt cx="0" cy="0"/>
        </a:xfrm>
      </p:grpSpPr>
      <p:sp>
        <p:nvSpPr>
          <p:cNvPr id="28" name="Google Shape;28;p27"/>
          <p:cNvSpPr/>
          <p:nvPr/>
        </p:nvSpPr>
        <p:spPr>
          <a:xfrm>
            <a:off x="0" y="6356603"/>
            <a:ext cx="9144000" cy="88900"/>
          </a:xfrm>
          <a:custGeom>
            <a:avLst/>
            <a:gdLst/>
            <a:ahLst/>
            <a:cxnLst/>
            <a:rect l="l" t="t" r="r" b="b"/>
            <a:pathLst>
              <a:path w="9144000" h="88900" extrusionOk="0">
                <a:moveTo>
                  <a:pt x="9144000" y="70713"/>
                </a:moveTo>
                <a:lnTo>
                  <a:pt x="0" y="70713"/>
                </a:lnTo>
                <a:lnTo>
                  <a:pt x="0" y="88392"/>
                </a:lnTo>
                <a:lnTo>
                  <a:pt x="9144000" y="88392"/>
                </a:lnTo>
                <a:lnTo>
                  <a:pt x="9144000" y="70713"/>
                </a:lnTo>
                <a:close/>
              </a:path>
              <a:path w="9144000" h="88900" extrusionOk="0">
                <a:moveTo>
                  <a:pt x="9144000" y="0"/>
                </a:moveTo>
                <a:lnTo>
                  <a:pt x="0" y="0"/>
                </a:lnTo>
                <a:lnTo>
                  <a:pt x="0" y="53035"/>
                </a:lnTo>
                <a:lnTo>
                  <a:pt x="9144000" y="53035"/>
                </a:lnTo>
                <a:lnTo>
                  <a:pt x="9144000" y="0"/>
                </a:lnTo>
                <a:close/>
              </a:path>
            </a:pathLst>
          </a:custGeom>
          <a:solidFill>
            <a:srgbClr val="C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9" name="Google Shape;29;p27"/>
          <p:cNvSpPr txBox="1">
            <a:spLocks noGrp="1"/>
          </p:cNvSpPr>
          <p:nvPr>
            <p:ph type="ftr" idx="11"/>
          </p:nvPr>
        </p:nvSpPr>
        <p:spPr>
          <a:xfrm>
            <a:off x="2475357" y="6539204"/>
            <a:ext cx="4194809" cy="280034"/>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2000" b="1" i="0">
                <a:solidFill>
                  <a:schemeClr val="dk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27"/>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27"/>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32"/>
        <p:cNvGrpSpPr/>
        <p:nvPr/>
      </p:nvGrpSpPr>
      <p:grpSpPr>
        <a:xfrm>
          <a:off x="0" y="0"/>
          <a:ext cx="0" cy="0"/>
          <a:chOff x="0" y="0"/>
          <a:chExt cx="0" cy="0"/>
        </a:xfrm>
      </p:grpSpPr>
      <p:sp>
        <p:nvSpPr>
          <p:cNvPr id="33" name="Google Shape;33;p28"/>
          <p:cNvSpPr txBox="1">
            <a:spLocks noGrp="1"/>
          </p:cNvSpPr>
          <p:nvPr>
            <p:ph type="ctrTitle"/>
          </p:nvPr>
        </p:nvSpPr>
        <p:spPr>
          <a:xfrm>
            <a:off x="23875" y="17780"/>
            <a:ext cx="9096248" cy="29972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800" b="0" i="0">
                <a:solidFill>
                  <a:schemeClr val="dk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28"/>
          <p:cNvSpPr txBox="1">
            <a:spLocks noGrp="1"/>
          </p:cNvSpPr>
          <p:nvPr>
            <p:ph type="subTitle" idx="1"/>
          </p:nvPr>
        </p:nvSpPr>
        <p:spPr>
          <a:xfrm>
            <a:off x="1371600" y="3840480"/>
            <a:ext cx="6400800" cy="17145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28"/>
          <p:cNvSpPr txBox="1">
            <a:spLocks noGrp="1"/>
          </p:cNvSpPr>
          <p:nvPr>
            <p:ph type="ftr" idx="11"/>
          </p:nvPr>
        </p:nvSpPr>
        <p:spPr>
          <a:xfrm>
            <a:off x="2475357" y="6539204"/>
            <a:ext cx="4194809" cy="280034"/>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2000" b="1" i="0">
                <a:solidFill>
                  <a:schemeClr val="dk1"/>
                </a:solidFill>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28"/>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8"/>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4"/>
          <p:cNvSpPr/>
          <p:nvPr/>
        </p:nvSpPr>
        <p:spPr>
          <a:xfrm>
            <a:off x="0" y="6356603"/>
            <a:ext cx="9144000" cy="88900"/>
          </a:xfrm>
          <a:custGeom>
            <a:avLst/>
            <a:gdLst/>
            <a:ahLst/>
            <a:cxnLst/>
            <a:rect l="l" t="t" r="r" b="b"/>
            <a:pathLst>
              <a:path w="9144000" h="88900" extrusionOk="0">
                <a:moveTo>
                  <a:pt x="9144000" y="70713"/>
                </a:moveTo>
                <a:lnTo>
                  <a:pt x="0" y="70713"/>
                </a:lnTo>
                <a:lnTo>
                  <a:pt x="0" y="88392"/>
                </a:lnTo>
                <a:lnTo>
                  <a:pt x="9144000" y="88392"/>
                </a:lnTo>
                <a:lnTo>
                  <a:pt x="9144000" y="70713"/>
                </a:lnTo>
                <a:close/>
              </a:path>
              <a:path w="9144000" h="88900" extrusionOk="0">
                <a:moveTo>
                  <a:pt x="9144000" y="0"/>
                </a:moveTo>
                <a:lnTo>
                  <a:pt x="0" y="0"/>
                </a:lnTo>
                <a:lnTo>
                  <a:pt x="0" y="53035"/>
                </a:lnTo>
                <a:lnTo>
                  <a:pt x="9144000" y="53035"/>
                </a:lnTo>
                <a:lnTo>
                  <a:pt x="9144000" y="0"/>
                </a:lnTo>
                <a:close/>
              </a:path>
            </a:pathLst>
          </a:custGeom>
          <a:solidFill>
            <a:srgbClr val="C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 name="Google Shape;7;p24"/>
          <p:cNvSpPr/>
          <p:nvPr/>
        </p:nvSpPr>
        <p:spPr>
          <a:xfrm>
            <a:off x="152400" y="152400"/>
            <a:ext cx="768095" cy="1219200"/>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 name="Google Shape;8;p24"/>
          <p:cNvSpPr/>
          <p:nvPr/>
        </p:nvSpPr>
        <p:spPr>
          <a:xfrm>
            <a:off x="2779776" y="0"/>
            <a:ext cx="6364605" cy="394970"/>
          </a:xfrm>
          <a:custGeom>
            <a:avLst/>
            <a:gdLst/>
            <a:ahLst/>
            <a:cxnLst/>
            <a:rect l="l" t="t" r="r" b="b"/>
            <a:pathLst>
              <a:path w="6364605" h="394970" extrusionOk="0">
                <a:moveTo>
                  <a:pt x="6356604" y="8890"/>
                </a:moveTo>
                <a:lnTo>
                  <a:pt x="33528" y="8890"/>
                </a:lnTo>
                <a:lnTo>
                  <a:pt x="33528" y="25400"/>
                </a:lnTo>
                <a:lnTo>
                  <a:pt x="33528" y="344170"/>
                </a:lnTo>
                <a:lnTo>
                  <a:pt x="33528" y="360680"/>
                </a:lnTo>
                <a:lnTo>
                  <a:pt x="6356604" y="360680"/>
                </a:lnTo>
                <a:lnTo>
                  <a:pt x="6356604" y="344424"/>
                </a:lnTo>
                <a:lnTo>
                  <a:pt x="6356604" y="344170"/>
                </a:lnTo>
                <a:lnTo>
                  <a:pt x="6356604" y="25908"/>
                </a:lnTo>
                <a:lnTo>
                  <a:pt x="6339840" y="25908"/>
                </a:lnTo>
                <a:lnTo>
                  <a:pt x="6339840" y="344170"/>
                </a:lnTo>
                <a:lnTo>
                  <a:pt x="50292" y="344170"/>
                </a:lnTo>
                <a:lnTo>
                  <a:pt x="50292" y="25400"/>
                </a:lnTo>
                <a:lnTo>
                  <a:pt x="6356604" y="25400"/>
                </a:lnTo>
                <a:lnTo>
                  <a:pt x="6356604" y="8890"/>
                </a:lnTo>
                <a:close/>
              </a:path>
              <a:path w="6364605" h="394970" extrusionOk="0">
                <a:moveTo>
                  <a:pt x="6364224" y="378460"/>
                </a:moveTo>
                <a:lnTo>
                  <a:pt x="16764" y="378460"/>
                </a:lnTo>
                <a:lnTo>
                  <a:pt x="16764" y="0"/>
                </a:lnTo>
                <a:lnTo>
                  <a:pt x="0" y="0"/>
                </a:lnTo>
                <a:lnTo>
                  <a:pt x="0" y="378460"/>
                </a:lnTo>
                <a:lnTo>
                  <a:pt x="0" y="394970"/>
                </a:lnTo>
                <a:lnTo>
                  <a:pt x="6364224" y="394970"/>
                </a:lnTo>
                <a:lnTo>
                  <a:pt x="6364224" y="378460"/>
                </a:lnTo>
                <a:close/>
              </a:path>
            </a:pathLst>
          </a:custGeom>
          <a:solidFill>
            <a:srgbClr val="C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9" name="Google Shape;9;p24"/>
          <p:cNvSpPr txBox="1">
            <a:spLocks noGrp="1"/>
          </p:cNvSpPr>
          <p:nvPr>
            <p:ph type="title"/>
          </p:nvPr>
        </p:nvSpPr>
        <p:spPr>
          <a:xfrm>
            <a:off x="493039" y="622807"/>
            <a:ext cx="8157921" cy="513715"/>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3200" b="1" i="0" u="none" strike="noStrike" cap="none">
                <a:solidFill>
                  <a:srgbClr val="C00000"/>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 name="Google Shape;10;p24"/>
          <p:cNvSpPr txBox="1">
            <a:spLocks noGrp="1"/>
          </p:cNvSpPr>
          <p:nvPr>
            <p:ph type="body" idx="1"/>
          </p:nvPr>
        </p:nvSpPr>
        <p:spPr>
          <a:xfrm>
            <a:off x="231140" y="3022219"/>
            <a:ext cx="8681719" cy="2061845"/>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11" name="Google Shape;11;p24"/>
          <p:cNvSpPr txBox="1">
            <a:spLocks noGrp="1"/>
          </p:cNvSpPr>
          <p:nvPr>
            <p:ph type="ftr" idx="11"/>
          </p:nvPr>
        </p:nvSpPr>
        <p:spPr>
          <a:xfrm>
            <a:off x="2475357" y="6539204"/>
            <a:ext cx="4194809" cy="280034"/>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2000" b="1" i="0" u="none" strike="noStrike" cap="none">
                <a:solidFill>
                  <a:schemeClr val="dk1"/>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2" name="Google Shape;12;p24"/>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4"/>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marR="0" lvl="0"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3.xml"/><Relationship Id="rId5" Type="http://schemas.openxmlformats.org/officeDocument/2006/relationships/image" Target="../media/image4.jpg"/><Relationship Id="rId4"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Shape 53"/>
        <p:cNvGrpSpPr/>
        <p:nvPr/>
      </p:nvGrpSpPr>
      <p:grpSpPr>
        <a:xfrm>
          <a:off x="0" y="0"/>
          <a:ext cx="0" cy="0"/>
          <a:chOff x="0" y="0"/>
          <a:chExt cx="0" cy="0"/>
        </a:xfrm>
      </p:grpSpPr>
      <p:sp>
        <p:nvSpPr>
          <p:cNvPr id="54" name="Google Shape;54;p1"/>
          <p:cNvSpPr/>
          <p:nvPr/>
        </p:nvSpPr>
        <p:spPr>
          <a:xfrm>
            <a:off x="-3175" y="5340350"/>
            <a:ext cx="9147175" cy="151765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5" name="Google Shape;55;p1"/>
          <p:cNvSpPr/>
          <p:nvPr/>
        </p:nvSpPr>
        <p:spPr>
          <a:xfrm>
            <a:off x="227013" y="5902325"/>
            <a:ext cx="33337" cy="612775"/>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6" name="Google Shape;56;p1"/>
          <p:cNvSpPr txBox="1"/>
          <p:nvPr/>
        </p:nvSpPr>
        <p:spPr>
          <a:xfrm>
            <a:off x="6572250" y="6508750"/>
            <a:ext cx="20574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endParaRPr sz="1200" b="0" i="0" u="none" strike="noStrike" cap="none">
              <a:solidFill>
                <a:srgbClr val="898989"/>
              </a:solidFill>
              <a:latin typeface="Calibri"/>
              <a:ea typeface="Calibri"/>
              <a:cs typeface="Calibri"/>
              <a:sym typeface="Calibri"/>
            </a:endParaRPr>
          </a:p>
        </p:txBody>
      </p:sp>
      <p:sp>
        <p:nvSpPr>
          <p:cNvPr id="57" name="Google Shape;57;p1"/>
          <p:cNvSpPr/>
          <p:nvPr/>
        </p:nvSpPr>
        <p:spPr>
          <a:xfrm rot="10800000" flipH="1">
            <a:off x="7131050" y="5940425"/>
            <a:ext cx="968375" cy="1157288"/>
          </a:xfrm>
          <a:prstGeom prst="rtTriangle">
            <a:avLst/>
          </a:prstGeom>
          <a:solidFill>
            <a:srgbClr val="F2F2F2">
              <a:alpha val="1647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 name="Google Shape;58;p1"/>
          <p:cNvSpPr/>
          <p:nvPr/>
        </p:nvSpPr>
        <p:spPr>
          <a:xfrm flipH="1">
            <a:off x="5284788" y="-65088"/>
            <a:ext cx="3859212" cy="5853113"/>
          </a:xfrm>
          <a:prstGeom prst="rtTriangle">
            <a:avLst/>
          </a:prstGeom>
          <a:solidFill>
            <a:srgbClr val="F2F2F2">
              <a:alpha val="1647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 name="Google Shape;59;p1"/>
          <p:cNvSpPr/>
          <p:nvPr/>
        </p:nvSpPr>
        <p:spPr>
          <a:xfrm>
            <a:off x="1593056" y="2025526"/>
            <a:ext cx="5122069" cy="1580679"/>
          </a:xfrm>
          <a:prstGeom prst="rect">
            <a:avLst/>
          </a:prstGeom>
          <a:gradFill>
            <a:gsLst>
              <a:gs pos="0">
                <a:srgbClr val="FFFFFF">
                  <a:alpha val="0"/>
                </a:srgbClr>
              </a:gs>
              <a:gs pos="2655">
                <a:srgbClr val="FFFFFF">
                  <a:alpha val="0"/>
                </a:srgbClr>
              </a:gs>
              <a:gs pos="15000">
                <a:srgbClr val="FFFFFF">
                  <a:alpha val="33333"/>
                </a:srgbClr>
              </a:gs>
              <a:gs pos="51000">
                <a:schemeClr val="lt1"/>
              </a:gs>
              <a:gs pos="94000">
                <a:srgbClr val="FFFFFF">
                  <a:alpha val="33333"/>
                </a:srgbClr>
              </a:gs>
              <a:gs pos="100000">
                <a:srgbClr val="FFFFFF">
                  <a:alpha val="0"/>
                </a:srgbClr>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 name="Google Shape;61;p1"/>
          <p:cNvSpPr/>
          <p:nvPr/>
        </p:nvSpPr>
        <p:spPr>
          <a:xfrm flipH="1">
            <a:off x="7372350" y="5334000"/>
            <a:ext cx="1774825" cy="1600200"/>
          </a:xfrm>
          <a:prstGeom prst="rtTriangle">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 name="Google Shape;62;p1"/>
          <p:cNvSpPr txBox="1"/>
          <p:nvPr/>
        </p:nvSpPr>
        <p:spPr>
          <a:xfrm>
            <a:off x="5160963" y="6019800"/>
            <a:ext cx="3695700" cy="6461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595959"/>
                </a:solidFill>
                <a:latin typeface="Arial"/>
                <a:ea typeface="Arial"/>
                <a:cs typeface="Arial"/>
                <a:sym typeface="Arial"/>
              </a:rPr>
              <a:t>DISCOVER . </a:t>
            </a:r>
            <a:r>
              <a:rPr lang="en-US" sz="2000" b="1" i="0" u="none" strike="noStrike" cap="none">
                <a:solidFill>
                  <a:srgbClr val="C00000"/>
                </a:solidFill>
                <a:latin typeface="Arial"/>
                <a:ea typeface="Arial"/>
                <a:cs typeface="Arial"/>
                <a:sym typeface="Arial"/>
              </a:rPr>
              <a:t>LEARN</a:t>
            </a:r>
            <a:r>
              <a:rPr lang="en-US" sz="2000" b="1" i="0" u="none" strike="noStrike" cap="none">
                <a:solidFill>
                  <a:srgbClr val="595959"/>
                </a:solidFill>
                <a:latin typeface="Arial"/>
                <a:ea typeface="Arial"/>
                <a:cs typeface="Arial"/>
                <a:sym typeface="Arial"/>
              </a:rPr>
              <a:t> . EMPOWER</a:t>
            </a:r>
            <a:endParaRPr sz="12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1" i="0" u="none" strike="noStrike" cap="none">
              <a:solidFill>
                <a:schemeClr val="dk1"/>
              </a:solidFill>
              <a:latin typeface="Arial"/>
              <a:ea typeface="Arial"/>
              <a:cs typeface="Arial"/>
              <a:sym typeface="Arial"/>
            </a:endParaRPr>
          </a:p>
        </p:txBody>
      </p:sp>
      <p:sp>
        <p:nvSpPr>
          <p:cNvPr id="63" name="Google Shape;63;p1"/>
          <p:cNvSpPr/>
          <p:nvPr/>
        </p:nvSpPr>
        <p:spPr>
          <a:xfrm>
            <a:off x="5164138" y="6043613"/>
            <a:ext cx="34925" cy="369887"/>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 name="Google Shape;64;p1"/>
          <p:cNvSpPr txBox="1"/>
          <p:nvPr/>
        </p:nvSpPr>
        <p:spPr>
          <a:xfrm>
            <a:off x="127000" y="6013450"/>
            <a:ext cx="4203700" cy="33813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dirty="0">
                <a:solidFill>
                  <a:schemeClr val="dk1"/>
                </a:solidFill>
                <a:latin typeface="Calibri"/>
                <a:ea typeface="Calibri"/>
                <a:cs typeface="Calibri"/>
                <a:sym typeface="Calibri"/>
              </a:rPr>
              <a:t>Overview of Databases</a:t>
            </a:r>
            <a:endParaRPr sz="1600" b="0" i="0" u="none" strike="noStrike" cap="none" dirty="0">
              <a:solidFill>
                <a:schemeClr val="dk1"/>
              </a:solidFill>
              <a:latin typeface="Raleway ExtraBold"/>
              <a:ea typeface="Raleway ExtraBold"/>
              <a:cs typeface="Raleway ExtraBold"/>
              <a:sym typeface="Raleway ExtraBold"/>
            </a:endParaRPr>
          </a:p>
        </p:txBody>
      </p:sp>
      <p:sp>
        <p:nvSpPr>
          <p:cNvPr id="65" name="Google Shape;65;p1"/>
          <p:cNvSpPr txBox="1"/>
          <p:nvPr/>
        </p:nvSpPr>
        <p:spPr>
          <a:xfrm>
            <a:off x="950913" y="1477963"/>
            <a:ext cx="7392900" cy="4452461"/>
          </a:xfrm>
          <a:prstGeom prst="rect">
            <a:avLst/>
          </a:prstGeom>
          <a:noFill/>
          <a:ln>
            <a:noFill/>
          </a:ln>
        </p:spPr>
        <p:txBody>
          <a:bodyPr spcFirstLastPara="1" wrap="square" lIns="91425" tIns="45700" rIns="91425" bIns="45700" anchor="t" anchorCtr="0">
            <a:spAutoFit/>
          </a:body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INSTITUTE : UIE</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 CSE</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Bachelor of Engineering (Computer Science &amp; Engineering) </a:t>
            </a: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Disruptive Technologies-3</a:t>
            </a: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     (23CSH-203)</a:t>
            </a:r>
          </a:p>
          <a:p>
            <a:pPr marL="0" marR="0" lvl="0" indent="0" algn="ctr" rtl="0">
              <a:lnSpc>
                <a:spcPct val="90000"/>
              </a:lnSpc>
              <a:spcBef>
                <a:spcPts val="1120"/>
              </a:spcBef>
              <a:spcAft>
                <a:spcPts val="0"/>
              </a:spcAft>
              <a:buClr>
                <a:srgbClr val="000000"/>
              </a:buClr>
              <a:buSzPts val="3200"/>
              <a:buFont typeface="Arial"/>
              <a:buNone/>
            </a:pPr>
            <a:r>
              <a:rPr lang="en-US" sz="3200" b="1" i="0" u="none" strike="noStrike" cap="none" dirty="0">
                <a:solidFill>
                  <a:srgbClr val="262626"/>
                </a:solidFill>
                <a:latin typeface="Times New Roman"/>
                <a:ea typeface="Times New Roman"/>
                <a:cs typeface="Times New Roman"/>
                <a:sym typeface="Times New Roman"/>
              </a:rPr>
              <a:t>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1120"/>
              </a:spcBef>
              <a:spcAft>
                <a:spcPts val="0"/>
              </a:spcAft>
              <a:buClr>
                <a:srgbClr val="000000"/>
              </a:buClr>
              <a:buSzPts val="1600"/>
              <a:buFont typeface="Arial"/>
              <a:buNone/>
            </a:pPr>
            <a:endParaRPr sz="1600" b="0" i="0" u="none" strike="noStrike" cap="none" dirty="0">
              <a:solidFill>
                <a:schemeClr val="dk1"/>
              </a:solidFill>
              <a:latin typeface="Raleway ExtraBold"/>
              <a:ea typeface="Raleway ExtraBold"/>
              <a:cs typeface="Raleway ExtraBold"/>
              <a:sym typeface="Raleway ExtraBold"/>
            </a:endParaRPr>
          </a:p>
        </p:txBody>
      </p:sp>
      <p:graphicFrame>
        <p:nvGraphicFramePr>
          <p:cNvPr id="3" name="Object 2">
            <a:extLst>
              <a:ext uri="{FF2B5EF4-FFF2-40B4-BE49-F238E27FC236}">
                <a16:creationId xmlns:a16="http://schemas.microsoft.com/office/drawing/2014/main" id="{EC687648-6087-2D31-8C7C-E39910C8E11E}"/>
              </a:ext>
            </a:extLst>
          </p:cNvPr>
          <p:cNvGraphicFramePr>
            <a:graphicFrameLocks noChangeAspect="1"/>
          </p:cNvGraphicFramePr>
          <p:nvPr>
            <p:extLst>
              <p:ext uri="{D42A27DB-BD31-4B8C-83A1-F6EECF244321}">
                <p14:modId xmlns:p14="http://schemas.microsoft.com/office/powerpoint/2010/main" val="3560053393"/>
              </p:ext>
            </p:extLst>
          </p:nvPr>
        </p:nvGraphicFramePr>
        <p:xfrm>
          <a:off x="76788" y="4093445"/>
          <a:ext cx="2209212" cy="1920006"/>
        </p:xfrm>
        <a:graphic>
          <a:graphicData uri="http://schemas.openxmlformats.org/presentationml/2006/ole">
            <mc:AlternateContent xmlns:mc="http://schemas.openxmlformats.org/markup-compatibility/2006">
              <mc:Choice xmlns:v="urn:schemas-microsoft-com:vml" Requires="v">
                <p:oleObj name="CorelDRAW" r:id="rId3" imgW="2169000" imgH="2169360" progId="">
                  <p:embed/>
                </p:oleObj>
              </mc:Choice>
              <mc:Fallback>
                <p:oleObj name="CorelDRAW" r:id="rId3" imgW="2169000" imgH="2169360" progId="">
                  <p:embed/>
                  <p:pic>
                    <p:nvPicPr>
                      <p:cNvPr id="48" name="Object 47">
                        <a:extLst>
                          <a:ext uri="{FF2B5EF4-FFF2-40B4-BE49-F238E27FC236}">
                            <a16:creationId xmlns:a16="http://schemas.microsoft.com/office/drawing/2014/main" id="{CAD0D7B8-E462-453C-B296-CA0154FA54AE}"/>
                          </a:ext>
                        </a:extLst>
                      </p:cNvPr>
                      <p:cNvPicPr>
                        <a:picLocks noChangeAspect="1" noChangeArrowheads="1"/>
                      </p:cNvPicPr>
                      <p:nvPr/>
                    </p:nvPicPr>
                    <p:blipFill>
                      <a:blip r:embed="rId4">
                        <a:lum bright="76000"/>
                        <a:extLst>
                          <a:ext uri="{28A0092B-C50C-407E-A947-70E740481C1C}">
                            <a14:useLocalDpi xmlns:a14="http://schemas.microsoft.com/office/drawing/2010/main" val="0"/>
                          </a:ext>
                        </a:extLst>
                      </a:blip>
                      <a:srcRect/>
                      <a:stretch>
                        <a:fillRect/>
                      </a:stretch>
                    </p:blipFill>
                    <p:spPr bwMode="auto">
                      <a:xfrm>
                        <a:off x="76788" y="4093445"/>
                        <a:ext cx="2209212" cy="1920006"/>
                      </a:xfrm>
                      <a:prstGeom prst="rect">
                        <a:avLst/>
                      </a:prstGeom>
                      <a:noFill/>
                    </p:spPr>
                  </p:pic>
                </p:oleObj>
              </mc:Fallback>
            </mc:AlternateContent>
          </a:graphicData>
        </a:graphic>
      </p:graphicFrame>
      <p:sp>
        <p:nvSpPr>
          <p:cNvPr id="5" name="Google Shape;77;p2">
            <a:extLst>
              <a:ext uri="{FF2B5EF4-FFF2-40B4-BE49-F238E27FC236}">
                <a16:creationId xmlns:a16="http://schemas.microsoft.com/office/drawing/2014/main" id="{54887470-C3B9-26AE-DFE8-AFAAC457BDD6}"/>
              </a:ext>
            </a:extLst>
          </p:cNvPr>
          <p:cNvSpPr/>
          <p:nvPr/>
        </p:nvSpPr>
        <p:spPr>
          <a:xfrm>
            <a:off x="2326825" y="0"/>
            <a:ext cx="6817200" cy="369300"/>
          </a:xfrm>
          <a:prstGeom prst="rect">
            <a:avLst/>
          </a:prstGeom>
          <a:noFill/>
          <a:ln>
            <a:noFill/>
          </a:ln>
        </p:spPr>
        <p:txBody>
          <a:bodyPr spcFirstLastPara="1" wrap="square" lIns="91425" tIns="45700" rIns="91425" bIns="4570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Department of Computer Science and Engineering (CSE)</a:t>
            </a:r>
            <a:endParaRPr sz="1800" b="0" i="0" u="none" strike="noStrike" cap="none" dirty="0">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91BC85F-2A85-FE8D-447C-A9820CF3ACDC}"/>
              </a:ext>
            </a:extLst>
          </p:cNvPr>
          <p:cNvSpPr>
            <a:spLocks noGrp="1"/>
          </p:cNvSpPr>
          <p:nvPr>
            <p:ph type="body" idx="1"/>
          </p:nvPr>
        </p:nvSpPr>
        <p:spPr>
          <a:xfrm>
            <a:off x="231140" y="1704622"/>
            <a:ext cx="8681719" cy="3499556"/>
          </a:xfrm>
        </p:spPr>
        <p:txBody>
          <a:bodyPr/>
          <a:lstStyle/>
          <a:p>
            <a:pPr marL="0" marR="53975" lvl="0" indent="0" algn="ctr">
              <a:lnSpc>
                <a:spcPct val="115000"/>
              </a:lnSpc>
              <a:spcBef>
                <a:spcPts val="1200"/>
              </a:spcBef>
              <a:spcAft>
                <a:spcPts val="0"/>
              </a:spcAft>
            </a:pPr>
            <a:r>
              <a:rPr lang="en-IN" sz="1800" b="1" dirty="0">
                <a:solidFill>
                  <a:srgbClr val="000000"/>
                </a:solidFill>
                <a:effectLst/>
                <a:highlight>
                  <a:srgbClr val="FFFFFF"/>
                </a:highlight>
                <a:latin typeface="Times New Roman" panose="02020603050405020304" pitchFamily="18" charset="0"/>
                <a:ea typeface="Times New Roman" panose="02020603050405020304" pitchFamily="18" charset="0"/>
              </a:rPr>
              <a:t>COURSE OBJECTIVES: </a:t>
            </a:r>
            <a:endParaRPr lang="en-IN" sz="1800" dirty="0">
              <a:effectLst/>
              <a:highlight>
                <a:srgbClr val="FFFFFF"/>
              </a:highlight>
              <a:latin typeface="Times New Roman" panose="02020603050405020304" pitchFamily="18" charset="0"/>
              <a:ea typeface="Times New Roman" panose="02020603050405020304" pitchFamily="18" charset="0"/>
            </a:endParaRPr>
          </a:p>
          <a:p>
            <a:pPr marL="342900" lvl="0" indent="-342900" algn="just">
              <a:buFont typeface="Arial" panose="020B0604020202020204" pitchFamily="34" charset="0"/>
              <a:buChar char="●"/>
            </a:pPr>
            <a:r>
              <a:rPr lang="en-IN" sz="1800" dirty="0">
                <a:solidFill>
                  <a:srgbClr val="262626"/>
                </a:solidFill>
                <a:effectLst/>
                <a:highlight>
                  <a:srgbClr val="FFFFFF"/>
                </a:highlight>
                <a:latin typeface="Noto Sans Symbols"/>
                <a:ea typeface="Noto Sans Symbols"/>
                <a:cs typeface="Noto Sans Symbols"/>
              </a:rPr>
              <a:t>The course aims to provide exposure to understand Information Security basics like Operating System Security, Network Security, Software Security and Web Security. </a:t>
            </a:r>
            <a:endParaRPr lang="en-IN" sz="1800" dirty="0">
              <a:effectLst/>
              <a:highlight>
                <a:srgbClr val="FFFFFF"/>
              </a:highlight>
              <a:latin typeface="Noto Sans Symbols"/>
              <a:ea typeface="Noto Sans Symbols"/>
              <a:cs typeface="Noto Sans Symbols"/>
            </a:endParaRPr>
          </a:p>
          <a:p>
            <a:pPr marL="342900" lvl="0" indent="-342900" algn="just">
              <a:buFont typeface="Arial" panose="020B0604020202020204" pitchFamily="34" charset="0"/>
              <a:buChar char="●"/>
            </a:pPr>
            <a:r>
              <a:rPr lang="en-IN" sz="1800" dirty="0">
                <a:solidFill>
                  <a:srgbClr val="262626"/>
                </a:solidFill>
                <a:effectLst/>
                <a:highlight>
                  <a:srgbClr val="FFFFFF"/>
                </a:highlight>
                <a:latin typeface="Noto Sans Symbols"/>
                <a:ea typeface="Noto Sans Symbols"/>
                <a:cs typeface="Noto Sans Symbols"/>
              </a:rPr>
              <a:t>The course aims </a:t>
            </a:r>
            <a:r>
              <a:rPr lang="en-IN" sz="1800" dirty="0">
                <a:solidFill>
                  <a:srgbClr val="000000"/>
                </a:solidFill>
                <a:effectLst/>
                <a:highlight>
                  <a:srgbClr val="FFFFFF"/>
                </a:highlight>
                <a:latin typeface="Noto Sans Symbols"/>
                <a:ea typeface="Noto Sans Symbols"/>
                <a:cs typeface="Noto Sans Symbols"/>
              </a:rPr>
              <a:t>to provide basics of cloud computing along with virtualization, cloud computing is one of the fastest growing domains from a while now. It will provide the students basic understanding about cloud and virtualization along with it how one can migrate over it</a:t>
            </a:r>
            <a:endParaRPr lang="en-IN" sz="1800" dirty="0">
              <a:effectLst/>
              <a:highlight>
                <a:srgbClr val="FFFFFF"/>
              </a:highlight>
              <a:latin typeface="Noto Sans Symbols"/>
              <a:ea typeface="Noto Sans Symbols"/>
              <a:cs typeface="Noto Sans Symbols"/>
            </a:endParaRPr>
          </a:p>
          <a:p>
            <a:pPr algn="just"/>
            <a:r>
              <a:rPr lang="en-IN" sz="1800" dirty="0">
                <a:solidFill>
                  <a:srgbClr val="000000"/>
                </a:solidFill>
                <a:effectLst/>
                <a:latin typeface="Times New Roman" panose="02020603050405020304" pitchFamily="18" charset="0"/>
                <a:ea typeface="Times New Roman" panose="02020603050405020304" pitchFamily="18" charset="0"/>
              </a:rPr>
              <a:t>The Course aim to state core blockchain concepts, the benefits, and the limitations of blockchain technologies</a:t>
            </a:r>
            <a:r>
              <a:rPr lang="en-IN" dirty="0">
                <a:effectLst/>
              </a:rPr>
              <a:t> </a:t>
            </a:r>
            <a:endParaRPr lang="en-US" dirty="0"/>
          </a:p>
        </p:txBody>
      </p:sp>
      <p:sp>
        <p:nvSpPr>
          <p:cNvPr id="4" name="TextBox 3">
            <a:extLst>
              <a:ext uri="{FF2B5EF4-FFF2-40B4-BE49-F238E27FC236}">
                <a16:creationId xmlns:a16="http://schemas.microsoft.com/office/drawing/2014/main" id="{4854E957-2C69-BA0E-13DA-B008A4DC7E99}"/>
              </a:ext>
            </a:extLst>
          </p:cNvPr>
          <p:cNvSpPr txBox="1"/>
          <p:nvPr/>
        </p:nvSpPr>
        <p:spPr>
          <a:xfrm>
            <a:off x="3488267" y="135467"/>
            <a:ext cx="184731" cy="307777"/>
          </a:xfrm>
          <a:prstGeom prst="rect">
            <a:avLst/>
          </a:prstGeom>
          <a:noFill/>
        </p:spPr>
        <p:txBody>
          <a:bodyPr wrap="none" rtlCol="0">
            <a:spAutoFit/>
          </a:bodyPr>
          <a:lstStyle/>
          <a:p>
            <a:endParaRPr lang="en-US" dirty="0"/>
          </a:p>
        </p:txBody>
      </p:sp>
      <p:sp>
        <p:nvSpPr>
          <p:cNvPr id="5" name="Google Shape;77;p2">
            <a:extLst>
              <a:ext uri="{FF2B5EF4-FFF2-40B4-BE49-F238E27FC236}">
                <a16:creationId xmlns:a16="http://schemas.microsoft.com/office/drawing/2014/main" id="{E5DD8347-3EE6-9F0A-5E36-DDDF1E7F420B}"/>
              </a:ext>
            </a:extLst>
          </p:cNvPr>
          <p:cNvSpPr/>
          <p:nvPr/>
        </p:nvSpPr>
        <p:spPr>
          <a:xfrm>
            <a:off x="2326825" y="0"/>
            <a:ext cx="6817200" cy="369300"/>
          </a:xfrm>
          <a:prstGeom prst="rect">
            <a:avLst/>
          </a:prstGeom>
          <a:noFill/>
          <a:ln>
            <a:noFill/>
          </a:ln>
        </p:spPr>
        <p:txBody>
          <a:bodyPr spcFirstLastPara="1" wrap="square" lIns="91425" tIns="45700" rIns="91425" bIns="4570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Department of Computer Science and Engineering (CSE)</a:t>
            </a:r>
            <a:endParaRPr sz="18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5133299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2" name="Google Shape;72;p2"/>
          <p:cNvSpPr txBox="1">
            <a:spLocks noGrp="1"/>
          </p:cNvSpPr>
          <p:nvPr>
            <p:ph type="sldNum" idx="12"/>
          </p:nvPr>
        </p:nvSpPr>
        <p:spPr>
          <a:xfrm>
            <a:off x="6629400" y="6356350"/>
            <a:ext cx="2057400" cy="365125"/>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800"/>
              <a:buNone/>
            </a:pPr>
            <a:fld id="{00000000-1234-1234-1234-123412341234}" type="slidenum">
              <a:rPr lang="en-US"/>
              <a:t>3</a:t>
            </a:fld>
            <a:endParaRPr/>
          </a:p>
        </p:txBody>
      </p:sp>
      <p:sp>
        <p:nvSpPr>
          <p:cNvPr id="77" name="Google Shape;77;p2"/>
          <p:cNvSpPr/>
          <p:nvPr/>
        </p:nvSpPr>
        <p:spPr>
          <a:xfrm>
            <a:off x="2326825" y="0"/>
            <a:ext cx="6817200" cy="369300"/>
          </a:xfrm>
          <a:prstGeom prst="rect">
            <a:avLst/>
          </a:prstGeom>
          <a:noFill/>
          <a:ln>
            <a:noFill/>
          </a:ln>
        </p:spPr>
        <p:txBody>
          <a:bodyPr spcFirstLastPara="1" wrap="square" lIns="91425" tIns="45700" rIns="91425" bIns="4570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Department of Computer Science and Engineering (CSE)</a:t>
            </a:r>
            <a:endParaRPr sz="1800" b="0" i="0" u="none" strike="noStrike" cap="none" dirty="0">
              <a:solidFill>
                <a:schemeClr val="dk1"/>
              </a:solidFill>
              <a:latin typeface="Arial"/>
              <a:ea typeface="Arial"/>
              <a:cs typeface="Arial"/>
              <a:sym typeface="Arial"/>
            </a:endParaRPr>
          </a:p>
        </p:txBody>
      </p:sp>
      <p:graphicFrame>
        <p:nvGraphicFramePr>
          <p:cNvPr id="5" name="Table 4">
            <a:extLst>
              <a:ext uri="{FF2B5EF4-FFF2-40B4-BE49-F238E27FC236}">
                <a16:creationId xmlns:a16="http://schemas.microsoft.com/office/drawing/2014/main" id="{ED048B02-C0C4-6D7B-733B-E5D8D32255FB}"/>
              </a:ext>
            </a:extLst>
          </p:cNvPr>
          <p:cNvGraphicFramePr>
            <a:graphicFrameLocks noGrp="1"/>
          </p:cNvGraphicFramePr>
          <p:nvPr>
            <p:extLst>
              <p:ext uri="{D42A27DB-BD31-4B8C-83A1-F6EECF244321}">
                <p14:modId xmlns:p14="http://schemas.microsoft.com/office/powerpoint/2010/main" val="3420768165"/>
              </p:ext>
            </p:extLst>
          </p:nvPr>
        </p:nvGraphicFramePr>
        <p:xfrm>
          <a:off x="1252537" y="1444979"/>
          <a:ext cx="7270574" cy="4323644"/>
        </p:xfrm>
        <a:graphic>
          <a:graphicData uri="http://schemas.openxmlformats.org/drawingml/2006/table">
            <a:tbl>
              <a:tblPr bandRow="1">
                <a:tableStyleId>{81763C85-FD0C-4F9C-9014-DFE97472DFE7}</a:tableStyleId>
              </a:tblPr>
              <a:tblGrid>
                <a:gridCol w="1124257">
                  <a:extLst>
                    <a:ext uri="{9D8B030D-6E8A-4147-A177-3AD203B41FA5}">
                      <a16:colId xmlns:a16="http://schemas.microsoft.com/office/drawing/2014/main" val="288238081"/>
                    </a:ext>
                  </a:extLst>
                </a:gridCol>
                <a:gridCol w="6146317">
                  <a:extLst>
                    <a:ext uri="{9D8B030D-6E8A-4147-A177-3AD203B41FA5}">
                      <a16:colId xmlns:a16="http://schemas.microsoft.com/office/drawing/2014/main" val="4121193301"/>
                    </a:ext>
                  </a:extLst>
                </a:gridCol>
              </a:tblGrid>
              <a:tr h="740469">
                <a:tc>
                  <a:txBody>
                    <a:bodyPr/>
                    <a:lstStyle/>
                    <a:p>
                      <a:pPr marR="53975" algn="ctr"/>
                      <a:r>
                        <a:rPr lang="en-IN" sz="1000">
                          <a:effectLst/>
                        </a:rPr>
                        <a:t>CO No</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r>
                        <a:rPr lang="en-IN" sz="1000">
                          <a:effectLst/>
                        </a:rPr>
                        <a:t>Statement</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225662196"/>
                  </a:ext>
                </a:extLst>
              </a:tr>
              <a:tr h="642722">
                <a:tc>
                  <a:txBody>
                    <a:bodyPr/>
                    <a:lstStyle/>
                    <a:p>
                      <a:pPr marR="53975" algn="just"/>
                      <a:r>
                        <a:rPr lang="en-IN" sz="1000">
                          <a:effectLst/>
                        </a:rPr>
                        <a:t>CO1</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just"/>
                      <a:r>
                        <a:rPr lang="en-IN" sz="1000">
                          <a:effectLst/>
                        </a:rPr>
                        <a:t>Remember the concepts related to fundamentals of Information Security, Cloud Computing and Block Chain.</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315848187"/>
                  </a:ext>
                </a:extLst>
              </a:tr>
              <a:tr h="792690">
                <a:tc>
                  <a:txBody>
                    <a:bodyPr/>
                    <a:lstStyle/>
                    <a:p>
                      <a:pPr marR="53975" algn="just"/>
                      <a:r>
                        <a:rPr lang="en-IN" sz="1000">
                          <a:effectLst/>
                        </a:rPr>
                        <a:t>CO2</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just"/>
                      <a:r>
                        <a:rPr lang="en-IN" sz="1000">
                          <a:effectLst/>
                        </a:rPr>
                        <a:t>Understand the way to find, understand and Analyse the Problem for Errors, Attack memory Virtualization and Basic Block chain Techniques.  </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646607571"/>
                  </a:ext>
                </a:extLst>
              </a:tr>
              <a:tr h="747165">
                <a:tc>
                  <a:txBody>
                    <a:bodyPr/>
                    <a:lstStyle/>
                    <a:p>
                      <a:pPr marR="53975" algn="just"/>
                      <a:r>
                        <a:rPr lang="en-IN" sz="1000">
                          <a:effectLst/>
                        </a:rPr>
                        <a:t>CO3</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just"/>
                      <a:r>
                        <a:rPr lang="en-IN" sz="1000">
                          <a:effectLst/>
                        </a:rPr>
                        <a:t>Apply various method to avoid Security Leakage, Data Storage on cloud and working methods of Block Chain.</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3661970319"/>
                  </a:ext>
                </a:extLst>
              </a:tr>
              <a:tr h="757876">
                <a:tc>
                  <a:txBody>
                    <a:bodyPr/>
                    <a:lstStyle/>
                    <a:p>
                      <a:pPr marR="53975" algn="just"/>
                      <a:r>
                        <a:rPr lang="en-IN" sz="1000">
                          <a:effectLst/>
                        </a:rPr>
                        <a:t>CO4</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just"/>
                      <a:r>
                        <a:rPr lang="en-IN" sz="1000">
                          <a:effectLst/>
                        </a:rPr>
                        <a:t>Analyse the Basic tools of Information Security, Cloud Computing and Blockchain  and implementation with reports generation.</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565365132"/>
                  </a:ext>
                </a:extLst>
              </a:tr>
              <a:tr h="642722">
                <a:tc>
                  <a:txBody>
                    <a:bodyPr/>
                    <a:lstStyle/>
                    <a:p>
                      <a:pPr marR="53975" algn="just"/>
                      <a:r>
                        <a:rPr lang="en-IN" sz="1000">
                          <a:effectLst/>
                        </a:rPr>
                        <a:t>CO5</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indent="-31115" algn="just"/>
                      <a:r>
                        <a:rPr lang="en-IN" sz="1000" dirty="0">
                          <a:effectLst/>
                        </a:rPr>
                        <a:t>Design and develop customized  reports on attacks, Online memory allocation , security using blockchain  </a:t>
                      </a:r>
                      <a:endParaRPr lang="en-IN" sz="120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694298898"/>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3"/>
          <p:cNvSpPr txBox="1">
            <a:spLocks noGrp="1"/>
          </p:cNvSpPr>
          <p:nvPr>
            <p:ph type="title"/>
          </p:nvPr>
        </p:nvSpPr>
        <p:spPr>
          <a:xfrm>
            <a:off x="619125" y="533400"/>
            <a:ext cx="7886700" cy="447676"/>
          </a:xfrm>
          <a:prstGeom prst="rect">
            <a:avLst/>
          </a:prstGeom>
          <a:noFill/>
          <a:ln>
            <a:noFill/>
          </a:ln>
        </p:spPr>
        <p:txBody>
          <a:bodyPr spcFirstLastPara="1" wrap="square" lIns="0" tIns="0" rIns="0" bIns="0" anchor="t" anchorCtr="0">
            <a:normAutofit fontScale="90000"/>
          </a:bodyPr>
          <a:lstStyle/>
          <a:p>
            <a:pPr marL="0" lvl="0" indent="0" algn="ctr" rtl="0">
              <a:lnSpc>
                <a:spcPct val="100000"/>
              </a:lnSpc>
              <a:spcBef>
                <a:spcPts val="0"/>
              </a:spcBef>
              <a:spcAft>
                <a:spcPts val="0"/>
              </a:spcAft>
              <a:buSzPct val="55555"/>
              <a:buNone/>
            </a:pPr>
            <a:r>
              <a:rPr lang="en-US" sz="2800" u="sng">
                <a:solidFill>
                  <a:srgbClr val="0C0C0C"/>
                </a:solidFill>
              </a:rPr>
              <a:t>Contents of the Syllabus</a:t>
            </a:r>
            <a:br>
              <a:rPr lang="en-US" sz="2800"/>
            </a:br>
            <a:r>
              <a:rPr lang="en-US" sz="2800"/>
              <a:t> </a:t>
            </a:r>
            <a:endParaRPr/>
          </a:p>
        </p:txBody>
      </p:sp>
      <p:sp>
        <p:nvSpPr>
          <p:cNvPr id="84" name="Google Shape;84;p3"/>
          <p:cNvSpPr txBox="1">
            <a:spLocks noGrp="1"/>
          </p:cNvSpPr>
          <p:nvPr>
            <p:ph type="sldNum" idx="4294967295"/>
          </p:nvPr>
        </p:nvSpPr>
        <p:spPr>
          <a:xfrm>
            <a:off x="6457950" y="6356350"/>
            <a:ext cx="2057400" cy="365125"/>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800"/>
              <a:buNone/>
            </a:pPr>
            <a:fld id="{00000000-1234-1234-1234-123412341234}" type="slidenum">
              <a:rPr lang="en-US"/>
              <a:t>4</a:t>
            </a:fld>
            <a:endParaRPr/>
          </a:p>
        </p:txBody>
      </p:sp>
      <p:sp>
        <p:nvSpPr>
          <p:cNvPr id="85" name="Google Shape;85;p3"/>
          <p:cNvSpPr/>
          <p:nvPr/>
        </p:nvSpPr>
        <p:spPr>
          <a:xfrm>
            <a:off x="2286000" y="1"/>
            <a:ext cx="6858000" cy="369332"/>
          </a:xfrm>
          <a:prstGeom prst="rect">
            <a:avLst/>
          </a:prstGeom>
          <a:noFill/>
          <a:ln>
            <a:noFill/>
          </a:ln>
        </p:spPr>
        <p:txBody>
          <a:bodyPr spcFirstLastPara="1" wrap="square" lIns="91425" tIns="45700" rIns="91425" bIns="4570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Arial"/>
                <a:ea typeface="Arial"/>
                <a:cs typeface="Arial"/>
                <a:sym typeface="Arial"/>
              </a:rPr>
              <a:t>Department of Computer Science and Engineering (CSE)</a:t>
            </a:r>
            <a:endParaRPr sz="1800" b="0" i="0" u="none" strike="noStrike" cap="none">
              <a:solidFill>
                <a:schemeClr val="dk1"/>
              </a:solidFill>
              <a:latin typeface="Arial"/>
              <a:ea typeface="Arial"/>
              <a:cs typeface="Arial"/>
              <a:sym typeface="Arial"/>
            </a:endParaRPr>
          </a:p>
        </p:txBody>
      </p:sp>
      <p:graphicFrame>
        <p:nvGraphicFramePr>
          <p:cNvPr id="2" name="Table 1">
            <a:extLst>
              <a:ext uri="{FF2B5EF4-FFF2-40B4-BE49-F238E27FC236}">
                <a16:creationId xmlns:a16="http://schemas.microsoft.com/office/drawing/2014/main" id="{6477D90A-CAEC-7C57-9AA7-2BF312066CBF}"/>
              </a:ext>
            </a:extLst>
          </p:cNvPr>
          <p:cNvGraphicFramePr>
            <a:graphicFrameLocks noGrp="1"/>
          </p:cNvGraphicFramePr>
          <p:nvPr>
            <p:extLst>
              <p:ext uri="{D42A27DB-BD31-4B8C-83A1-F6EECF244321}">
                <p14:modId xmlns:p14="http://schemas.microsoft.com/office/powerpoint/2010/main" val="1209137846"/>
              </p:ext>
            </p:extLst>
          </p:nvPr>
        </p:nvGraphicFramePr>
        <p:xfrm>
          <a:off x="846667" y="1343378"/>
          <a:ext cx="8101188" cy="4854220"/>
        </p:xfrm>
        <a:graphic>
          <a:graphicData uri="http://schemas.openxmlformats.org/drawingml/2006/table">
            <a:tbl>
              <a:tblPr bandRow="1">
                <a:tableStyleId>{81763C85-FD0C-4F9C-9014-DFE97472DFE7}</a:tableStyleId>
              </a:tblPr>
              <a:tblGrid>
                <a:gridCol w="1419161">
                  <a:extLst>
                    <a:ext uri="{9D8B030D-6E8A-4147-A177-3AD203B41FA5}">
                      <a16:colId xmlns:a16="http://schemas.microsoft.com/office/drawing/2014/main" val="2648962565"/>
                    </a:ext>
                  </a:extLst>
                </a:gridCol>
                <a:gridCol w="4393677">
                  <a:extLst>
                    <a:ext uri="{9D8B030D-6E8A-4147-A177-3AD203B41FA5}">
                      <a16:colId xmlns:a16="http://schemas.microsoft.com/office/drawing/2014/main" val="3633088584"/>
                    </a:ext>
                  </a:extLst>
                </a:gridCol>
                <a:gridCol w="312644">
                  <a:extLst>
                    <a:ext uri="{9D8B030D-6E8A-4147-A177-3AD203B41FA5}">
                      <a16:colId xmlns:a16="http://schemas.microsoft.com/office/drawing/2014/main" val="2046264610"/>
                    </a:ext>
                  </a:extLst>
                </a:gridCol>
                <a:gridCol w="1975706">
                  <a:extLst>
                    <a:ext uri="{9D8B030D-6E8A-4147-A177-3AD203B41FA5}">
                      <a16:colId xmlns:a16="http://schemas.microsoft.com/office/drawing/2014/main" val="3695363973"/>
                    </a:ext>
                  </a:extLst>
                </a:gridCol>
              </a:tblGrid>
              <a:tr h="454627">
                <a:tc>
                  <a:txBody>
                    <a:bodyPr/>
                    <a:lstStyle/>
                    <a:p>
                      <a:pPr marR="53975" algn="just"/>
                      <a:r>
                        <a:rPr lang="en-IN" sz="1200" b="1">
                          <a:effectLst/>
                          <a:latin typeface="Times New Roman" panose="02020603050405020304" pitchFamily="18" charset="0"/>
                          <a:cs typeface="Times New Roman" panose="02020603050405020304" pitchFamily="18" charset="0"/>
                        </a:rPr>
                        <a:t>UNIT-1</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a:txBody>
                    <a:bodyPr/>
                    <a:lstStyle/>
                    <a:p>
                      <a:pPr marR="53975" algn="just"/>
                      <a:r>
                        <a:rPr lang="en-IN" sz="1200" b="1">
                          <a:effectLst/>
                          <a:latin typeface="Times New Roman" panose="02020603050405020304" pitchFamily="18" charset="0"/>
                          <a:cs typeface="Times New Roman" panose="02020603050405020304" pitchFamily="18" charset="0"/>
                        </a:rPr>
                        <a:t>INTRODUCTION TO BASIC OF INFORMATION SECURITY </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gridSpan="2">
                  <a:txBody>
                    <a:bodyPr/>
                    <a:lstStyle/>
                    <a:p>
                      <a:pPr marR="53975" algn="just"/>
                      <a:r>
                        <a:rPr lang="en-IN" sz="1200" b="1">
                          <a:effectLst/>
                          <a:latin typeface="Times New Roman" panose="02020603050405020304" pitchFamily="18" charset="0"/>
                          <a:cs typeface="Times New Roman" panose="02020603050405020304" pitchFamily="18" charset="0"/>
                        </a:rPr>
                        <a:t>Contact Hours:10</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hMerge="1">
                  <a:txBody>
                    <a:bodyPr/>
                    <a:lstStyle/>
                    <a:p>
                      <a:endParaRPr lang="en-US"/>
                    </a:p>
                  </a:txBody>
                  <a:tcPr/>
                </a:tc>
                <a:extLst>
                  <a:ext uri="{0D108BD9-81ED-4DB2-BD59-A6C34878D82A}">
                    <a16:rowId xmlns:a16="http://schemas.microsoft.com/office/drawing/2014/main" val="3585245829"/>
                  </a:ext>
                </a:extLst>
              </a:tr>
              <a:tr h="926231">
                <a:tc>
                  <a:txBody>
                    <a:bodyPr/>
                    <a:lstStyle/>
                    <a:p>
                      <a:pPr marR="53975" algn="just"/>
                      <a:r>
                        <a:rPr lang="en-IN" sz="1200" b="1">
                          <a:effectLst/>
                          <a:latin typeface="Times New Roman" panose="02020603050405020304" pitchFamily="18" charset="0"/>
                          <a:cs typeface="Times New Roman" panose="02020603050405020304" pitchFamily="18" charset="0"/>
                        </a:rPr>
                        <a:t>Introduction to Security, Attacks and its Understanding </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gridSpan="3">
                  <a:txBody>
                    <a:bodyPr/>
                    <a:lstStyle/>
                    <a:p>
                      <a:pPr marR="53975" algn="just"/>
                      <a:r>
                        <a:rPr lang="en-IN" sz="1200" b="1" dirty="0">
                          <a:effectLst/>
                          <a:latin typeface="Times New Roman" panose="02020603050405020304" pitchFamily="18" charset="0"/>
                          <a:cs typeface="Times New Roman" panose="02020603050405020304" pitchFamily="18" charset="0"/>
                        </a:rPr>
                        <a:t>Introduction Security, Attacks, Computer Crime, Security Services, Security Mechanism, Cyber Crime, Information Technology ACT.</a:t>
                      </a:r>
                      <a:endParaRPr lang="en-IN" sz="12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065812581"/>
                  </a:ext>
                </a:extLst>
              </a:tr>
              <a:tr h="463115">
                <a:tc>
                  <a:txBody>
                    <a:bodyPr/>
                    <a:lstStyle/>
                    <a:p>
                      <a:pPr marR="53975" algn="just"/>
                      <a:r>
                        <a:rPr lang="en-IN" sz="1200" b="1">
                          <a:effectLst/>
                          <a:latin typeface="Times New Roman" panose="02020603050405020304" pitchFamily="18" charset="0"/>
                          <a:cs typeface="Times New Roman" panose="02020603050405020304" pitchFamily="18" charset="0"/>
                        </a:rPr>
                        <a:t>Fundamental of Ciphers </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gridSpan="3">
                  <a:txBody>
                    <a:bodyPr/>
                    <a:lstStyle/>
                    <a:p>
                      <a:pPr algn="just"/>
                      <a:r>
                        <a:rPr lang="en-IN" sz="1200" b="1">
                          <a:effectLst/>
                          <a:latin typeface="Times New Roman" panose="02020603050405020304" pitchFamily="18" charset="0"/>
                          <a:cs typeface="Times New Roman" panose="02020603050405020304" pitchFamily="18" charset="0"/>
                        </a:rPr>
                        <a:t>Cryptography, Substitution Ciphers, Transpositions Ciphers, Block Ciphers, Stream Ciphers,</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28695422"/>
                  </a:ext>
                </a:extLst>
              </a:tr>
              <a:tr h="694672">
                <a:tc>
                  <a:txBody>
                    <a:bodyPr/>
                    <a:lstStyle/>
                    <a:p>
                      <a:pPr marR="53975" algn="just"/>
                      <a:r>
                        <a:rPr lang="en-IN" sz="1200" b="1">
                          <a:effectLst/>
                          <a:latin typeface="Times New Roman" panose="02020603050405020304" pitchFamily="18" charset="0"/>
                          <a:cs typeface="Times New Roman" panose="02020603050405020304" pitchFamily="18" charset="0"/>
                        </a:rPr>
                        <a:t>Precautions and Preventions of Cyber Crime. </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gridSpan="3">
                  <a:txBody>
                    <a:bodyPr/>
                    <a:lstStyle/>
                    <a:p>
                      <a:pPr marR="53975" algn="just"/>
                      <a:r>
                        <a:rPr lang="en-IN" sz="1200" b="1">
                          <a:effectLst/>
                          <a:latin typeface="Times New Roman" panose="02020603050405020304" pitchFamily="18" charset="0"/>
                          <a:cs typeface="Times New Roman" panose="02020603050405020304" pitchFamily="18" charset="0"/>
                        </a:rPr>
                        <a:t>Cyber Crimes, Types of Cyber Crime, Social Media Precautions, Prevention of Cyber Crime and Basic precautions. Basic of Ethical Hacking. </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310562080"/>
                  </a:ext>
                </a:extLst>
              </a:tr>
              <a:tr h="231557">
                <a:tc>
                  <a:txBody>
                    <a:bodyPr/>
                    <a:lstStyle/>
                    <a:p>
                      <a:pPr marR="53975" algn="just"/>
                      <a:r>
                        <a:rPr lang="en-IN" sz="1200" b="1">
                          <a:effectLst/>
                          <a:latin typeface="Times New Roman" panose="02020603050405020304" pitchFamily="18" charset="0"/>
                          <a:cs typeface="Times New Roman" panose="02020603050405020304" pitchFamily="18" charset="0"/>
                        </a:rPr>
                        <a:t>UNIT-2</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gridSpan="2">
                  <a:txBody>
                    <a:bodyPr/>
                    <a:lstStyle/>
                    <a:p>
                      <a:pPr marR="53975" algn="just"/>
                      <a:r>
                        <a:rPr lang="en-IN" sz="1200" b="1">
                          <a:effectLst/>
                          <a:latin typeface="Times New Roman" panose="02020603050405020304" pitchFamily="18" charset="0"/>
                          <a:cs typeface="Times New Roman" panose="02020603050405020304" pitchFamily="18" charset="0"/>
                        </a:rPr>
                        <a:t>CLOUD COMPUTING AND DATA VIRTUALIZATION</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hMerge="1">
                  <a:txBody>
                    <a:bodyPr/>
                    <a:lstStyle/>
                    <a:p>
                      <a:endParaRPr lang="en-US"/>
                    </a:p>
                  </a:txBody>
                  <a:tcPr/>
                </a:tc>
                <a:tc>
                  <a:txBody>
                    <a:bodyPr/>
                    <a:lstStyle/>
                    <a:p>
                      <a:pPr marR="53975" algn="just"/>
                      <a:r>
                        <a:rPr lang="en-IN" sz="1200" b="1">
                          <a:effectLst/>
                          <a:latin typeface="Times New Roman" panose="02020603050405020304" pitchFamily="18" charset="0"/>
                          <a:cs typeface="Times New Roman" panose="02020603050405020304" pitchFamily="18" charset="0"/>
                        </a:rPr>
                        <a:t>Contact Hours:10</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extLst>
                  <a:ext uri="{0D108BD9-81ED-4DB2-BD59-A6C34878D82A}">
                    <a16:rowId xmlns:a16="http://schemas.microsoft.com/office/drawing/2014/main" val="1081772586"/>
                  </a:ext>
                </a:extLst>
              </a:tr>
              <a:tr h="926231">
                <a:tc>
                  <a:txBody>
                    <a:bodyPr/>
                    <a:lstStyle/>
                    <a:p>
                      <a:pPr marR="53975" algn="just"/>
                      <a:r>
                        <a:rPr lang="en-IN" sz="1200" b="1">
                          <a:effectLst/>
                          <a:latin typeface="Times New Roman" panose="02020603050405020304" pitchFamily="18" charset="0"/>
                          <a:cs typeface="Times New Roman" panose="02020603050405020304" pitchFamily="18" charset="0"/>
                        </a:rPr>
                        <a:t>Cloud Computing Overview</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gridSpan="3">
                  <a:txBody>
                    <a:bodyPr/>
                    <a:lstStyle/>
                    <a:p>
                      <a:pPr marR="53975" algn="just"/>
                      <a:r>
                        <a:rPr lang="en-IN" sz="1200" b="1">
                          <a:effectLst/>
                          <a:latin typeface="Times New Roman" panose="02020603050405020304" pitchFamily="18" charset="0"/>
                          <a:cs typeface="Times New Roman" panose="02020603050405020304" pitchFamily="18" charset="0"/>
                        </a:rPr>
                        <a:t> Origins of Cloud computing – Cloud components - Essential characteristics – On-demand selfservice, Broad network access, Location independent resource pooling ,Rapid elasticity , Measured service, Comparing cloud providers with traditional IT service providers, Roots of cloud computing</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573824643"/>
                  </a:ext>
                </a:extLst>
              </a:tr>
              <a:tr h="694672">
                <a:tc>
                  <a:txBody>
                    <a:bodyPr/>
                    <a:lstStyle/>
                    <a:p>
                      <a:pPr marR="53975" algn="just"/>
                      <a:r>
                        <a:rPr lang="en-IN" sz="1200" b="1">
                          <a:effectLst/>
                          <a:latin typeface="Times New Roman" panose="02020603050405020304" pitchFamily="18" charset="0"/>
                          <a:cs typeface="Times New Roman" panose="02020603050405020304" pitchFamily="18" charset="0"/>
                        </a:rPr>
                        <a:t>Cloud Insights</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gridSpan="3">
                  <a:txBody>
                    <a:bodyPr/>
                    <a:lstStyle/>
                    <a:p>
                      <a:pPr marR="53975" algn="just"/>
                      <a:r>
                        <a:rPr lang="en-IN" sz="1200" b="1" dirty="0">
                          <a:effectLst/>
                          <a:latin typeface="Times New Roman" panose="02020603050405020304" pitchFamily="18" charset="0"/>
                          <a:cs typeface="Times New Roman" panose="02020603050405020304" pitchFamily="18" charset="0"/>
                        </a:rPr>
                        <a:t>Architectural influences – High-performance computing, Utility and Enterprise grid computing, Cloud scenarios – Benefits: scalability, simplicity, vendors, security, Limitations – Sensitive information </a:t>
                      </a:r>
                      <a:endParaRPr lang="en-IN" sz="12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562658965"/>
                  </a:ext>
                </a:extLst>
              </a:tr>
              <a:tr h="463115">
                <a:tc>
                  <a:txBody>
                    <a:bodyPr/>
                    <a:lstStyle/>
                    <a:p>
                      <a:pPr marR="53975" algn="just"/>
                      <a:r>
                        <a:rPr lang="en-IN" sz="1200" b="1">
                          <a:effectLst/>
                          <a:latin typeface="Times New Roman" panose="02020603050405020304" pitchFamily="18" charset="0"/>
                          <a:cs typeface="Times New Roman" panose="02020603050405020304" pitchFamily="18" charset="0"/>
                        </a:rPr>
                        <a:t>Cloud Applications </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gridSpan="3">
                  <a:txBody>
                    <a:bodyPr/>
                    <a:lstStyle/>
                    <a:p>
                      <a:pPr marR="53975" algn="just"/>
                      <a:r>
                        <a:rPr lang="en-IN" sz="1200" b="1" dirty="0">
                          <a:effectLst/>
                          <a:latin typeface="Times New Roman" panose="02020603050405020304" pitchFamily="18" charset="0"/>
                          <a:cs typeface="Times New Roman" panose="02020603050405020304" pitchFamily="18" charset="0"/>
                        </a:rPr>
                        <a:t>Application development- security level of third party - security benefits, Regularity issues: Government policies</a:t>
                      </a:r>
                      <a:endParaRPr lang="en-IN" sz="12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160820928"/>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4"/>
          <p:cNvSpPr txBox="1">
            <a:spLocks noGrp="1"/>
          </p:cNvSpPr>
          <p:nvPr>
            <p:ph type="title"/>
          </p:nvPr>
        </p:nvSpPr>
        <p:spPr>
          <a:xfrm>
            <a:off x="619125" y="533400"/>
            <a:ext cx="7886700" cy="447676"/>
          </a:xfrm>
          <a:prstGeom prst="rect">
            <a:avLst/>
          </a:prstGeom>
          <a:noFill/>
          <a:ln>
            <a:noFill/>
          </a:ln>
        </p:spPr>
        <p:txBody>
          <a:bodyPr spcFirstLastPara="1" wrap="square" lIns="0" tIns="0" rIns="0" bIns="0" anchor="t" anchorCtr="0">
            <a:normAutofit fontScale="90000"/>
          </a:bodyPr>
          <a:lstStyle/>
          <a:p>
            <a:pPr marL="0" lvl="0" indent="0" algn="ctr" rtl="0">
              <a:lnSpc>
                <a:spcPct val="100000"/>
              </a:lnSpc>
              <a:spcBef>
                <a:spcPts val="0"/>
              </a:spcBef>
              <a:spcAft>
                <a:spcPts val="0"/>
              </a:spcAft>
              <a:buSzPct val="55555"/>
              <a:buNone/>
            </a:pPr>
            <a:r>
              <a:rPr lang="en-US" sz="2800" u="sng">
                <a:solidFill>
                  <a:srgbClr val="0C0C0C"/>
                </a:solidFill>
              </a:rPr>
              <a:t>Contents of the Syllabus</a:t>
            </a:r>
            <a:br>
              <a:rPr lang="en-US" sz="2800"/>
            </a:br>
            <a:r>
              <a:rPr lang="en-US" sz="2800"/>
              <a:t> </a:t>
            </a:r>
            <a:endParaRPr/>
          </a:p>
        </p:txBody>
      </p:sp>
      <p:sp>
        <p:nvSpPr>
          <p:cNvPr id="92" name="Google Shape;92;p4"/>
          <p:cNvSpPr txBox="1">
            <a:spLocks noGrp="1"/>
          </p:cNvSpPr>
          <p:nvPr>
            <p:ph type="sldNum" idx="4294967295"/>
          </p:nvPr>
        </p:nvSpPr>
        <p:spPr>
          <a:xfrm>
            <a:off x="6457950" y="6356350"/>
            <a:ext cx="2057400" cy="365125"/>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800"/>
              <a:buNone/>
            </a:pPr>
            <a:fld id="{00000000-1234-1234-1234-123412341234}" type="slidenum">
              <a:rPr lang="en-US"/>
              <a:t>5</a:t>
            </a:fld>
            <a:endParaRPr/>
          </a:p>
        </p:txBody>
      </p:sp>
      <p:sp>
        <p:nvSpPr>
          <p:cNvPr id="93" name="Google Shape;93;p4"/>
          <p:cNvSpPr/>
          <p:nvPr/>
        </p:nvSpPr>
        <p:spPr>
          <a:xfrm>
            <a:off x="2286000" y="1"/>
            <a:ext cx="6858000" cy="369332"/>
          </a:xfrm>
          <a:prstGeom prst="rect">
            <a:avLst/>
          </a:prstGeom>
          <a:noFill/>
          <a:ln>
            <a:noFill/>
          </a:ln>
        </p:spPr>
        <p:txBody>
          <a:bodyPr spcFirstLastPara="1" wrap="square" lIns="91425" tIns="45700" rIns="91425" bIns="4570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Arial"/>
                <a:ea typeface="Arial"/>
                <a:cs typeface="Arial"/>
                <a:sym typeface="Arial"/>
              </a:rPr>
              <a:t>Department of Computer Science and Engineering (CSE)</a:t>
            </a:r>
            <a:endParaRPr sz="1800" b="0" i="0" u="none" strike="noStrike" cap="none">
              <a:solidFill>
                <a:schemeClr val="dk1"/>
              </a:solidFill>
              <a:latin typeface="Arial"/>
              <a:ea typeface="Arial"/>
              <a:cs typeface="Arial"/>
              <a:sym typeface="Arial"/>
            </a:endParaRPr>
          </a:p>
        </p:txBody>
      </p:sp>
      <p:graphicFrame>
        <p:nvGraphicFramePr>
          <p:cNvPr id="2" name="Table 1">
            <a:extLst>
              <a:ext uri="{FF2B5EF4-FFF2-40B4-BE49-F238E27FC236}">
                <a16:creationId xmlns:a16="http://schemas.microsoft.com/office/drawing/2014/main" id="{B93DFC33-395D-277E-ABD3-06468D80E3D5}"/>
              </a:ext>
            </a:extLst>
          </p:cNvPr>
          <p:cNvGraphicFramePr>
            <a:graphicFrameLocks noGrp="1"/>
          </p:cNvGraphicFramePr>
          <p:nvPr>
            <p:extLst>
              <p:ext uri="{D42A27DB-BD31-4B8C-83A1-F6EECF244321}">
                <p14:modId xmlns:p14="http://schemas.microsoft.com/office/powerpoint/2010/main" val="2661828792"/>
              </p:ext>
            </p:extLst>
          </p:nvPr>
        </p:nvGraphicFramePr>
        <p:xfrm>
          <a:off x="711200" y="1399824"/>
          <a:ext cx="8105420" cy="3612445"/>
        </p:xfrm>
        <a:graphic>
          <a:graphicData uri="http://schemas.openxmlformats.org/drawingml/2006/table">
            <a:tbl>
              <a:tblPr bandRow="1">
                <a:tableStyleId>{81763C85-FD0C-4F9C-9014-DFE97472DFE7}</a:tableStyleId>
              </a:tblPr>
              <a:tblGrid>
                <a:gridCol w="1419902">
                  <a:extLst>
                    <a:ext uri="{9D8B030D-6E8A-4147-A177-3AD203B41FA5}">
                      <a16:colId xmlns:a16="http://schemas.microsoft.com/office/drawing/2014/main" val="1911739898"/>
                    </a:ext>
                  </a:extLst>
                </a:gridCol>
                <a:gridCol w="4552376">
                  <a:extLst>
                    <a:ext uri="{9D8B030D-6E8A-4147-A177-3AD203B41FA5}">
                      <a16:colId xmlns:a16="http://schemas.microsoft.com/office/drawing/2014/main" val="193177083"/>
                    </a:ext>
                  </a:extLst>
                </a:gridCol>
                <a:gridCol w="2133142">
                  <a:extLst>
                    <a:ext uri="{9D8B030D-6E8A-4147-A177-3AD203B41FA5}">
                      <a16:colId xmlns:a16="http://schemas.microsoft.com/office/drawing/2014/main" val="2683491937"/>
                    </a:ext>
                  </a:extLst>
                </a:gridCol>
              </a:tblGrid>
              <a:tr h="459766">
                <a:tc>
                  <a:txBody>
                    <a:bodyPr/>
                    <a:lstStyle/>
                    <a:p>
                      <a:pPr marR="53975" algn="just"/>
                      <a:r>
                        <a:rPr lang="en-IN" sz="1200" b="1">
                          <a:effectLst/>
                          <a:latin typeface="Times New Roman" panose="02020603050405020304" pitchFamily="18" charset="0"/>
                          <a:cs typeface="Times New Roman" panose="02020603050405020304" pitchFamily="18" charset="0"/>
                        </a:rPr>
                        <a:t>UNIT-3</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a:txBody>
                    <a:bodyPr/>
                    <a:lstStyle/>
                    <a:p>
                      <a:pPr algn="just"/>
                      <a:r>
                        <a:rPr lang="en-IN" sz="1200" b="1">
                          <a:effectLst/>
                          <a:latin typeface="Times New Roman" panose="02020603050405020304" pitchFamily="18" charset="0"/>
                          <a:cs typeface="Times New Roman" panose="02020603050405020304" pitchFamily="18" charset="0"/>
                        </a:rPr>
                        <a:t>BLOCK CHAIN AND CRYPTOCURRENCY </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a:txBody>
                    <a:bodyPr/>
                    <a:lstStyle/>
                    <a:p>
                      <a:endParaRPr lang="en-US"/>
                    </a:p>
                  </a:txBody>
                  <a:tcPr marL="28641" marR="28641" marT="0" marB="0" anchor="ctr"/>
                </a:tc>
                <a:extLst>
                  <a:ext uri="{0D108BD9-81ED-4DB2-BD59-A6C34878D82A}">
                    <a16:rowId xmlns:a16="http://schemas.microsoft.com/office/drawing/2014/main" val="3389270073"/>
                  </a:ext>
                </a:extLst>
              </a:tr>
              <a:tr h="1182255">
                <a:tc>
                  <a:txBody>
                    <a:bodyPr/>
                    <a:lstStyle/>
                    <a:p>
                      <a:pPr marR="53975" algn="just"/>
                      <a:r>
                        <a:rPr lang="en-IN" sz="1200" b="1">
                          <a:effectLst/>
                          <a:latin typeface="Times New Roman" panose="02020603050405020304" pitchFamily="18" charset="0"/>
                          <a:cs typeface="Times New Roman" panose="02020603050405020304" pitchFamily="18" charset="0"/>
                        </a:rPr>
                        <a:t>Introduction to Block Chain and Cryptocurrency </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gridSpan="2">
                  <a:txBody>
                    <a:bodyPr/>
                    <a:lstStyle/>
                    <a:p>
                      <a:pPr marR="53975" algn="just"/>
                      <a:r>
                        <a:rPr lang="en-IN" sz="1200" b="1">
                          <a:effectLst/>
                          <a:latin typeface="Times New Roman" panose="02020603050405020304" pitchFamily="18" charset="0"/>
                          <a:cs typeface="Times New Roman" panose="02020603050405020304" pitchFamily="18" charset="0"/>
                        </a:rPr>
                        <a:t>Blockchain Overview History and Origin of Blockchain (and Cryptocurrency) Start of Technical Concepts of Blockchain Systems, Importance, Applications, Benefits and features of Block Chain Technology.</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hMerge="1">
                  <a:txBody>
                    <a:bodyPr/>
                    <a:lstStyle/>
                    <a:p>
                      <a:endParaRPr lang="en-US"/>
                    </a:p>
                  </a:txBody>
                  <a:tcPr/>
                </a:tc>
                <a:extLst>
                  <a:ext uri="{0D108BD9-81ED-4DB2-BD59-A6C34878D82A}">
                    <a16:rowId xmlns:a16="http://schemas.microsoft.com/office/drawing/2014/main" val="3033998130"/>
                  </a:ext>
                </a:extLst>
              </a:tr>
              <a:tr h="1182255">
                <a:tc>
                  <a:txBody>
                    <a:bodyPr/>
                    <a:lstStyle/>
                    <a:p>
                      <a:pPr marR="53975" algn="just"/>
                      <a:r>
                        <a:rPr lang="en-IN" sz="1200" b="1">
                          <a:effectLst/>
                          <a:latin typeface="Times New Roman" panose="02020603050405020304" pitchFamily="18" charset="0"/>
                          <a:cs typeface="Times New Roman" panose="02020603050405020304" pitchFamily="18" charset="0"/>
                        </a:rPr>
                        <a:t>Components and Working of Block Chain</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gridSpan="2">
                  <a:txBody>
                    <a:bodyPr/>
                    <a:lstStyle/>
                    <a:p>
                      <a:pPr marR="53975" algn="just"/>
                      <a:r>
                        <a:rPr lang="en-IN" sz="1200" b="1">
                          <a:effectLst/>
                          <a:latin typeface="Times New Roman" panose="02020603050405020304" pitchFamily="18" charset="0"/>
                          <a:cs typeface="Times New Roman" panose="02020603050405020304" pitchFamily="18" charset="0"/>
                        </a:rPr>
                        <a:t>Key component and working of Block Chain Technology, Types of Block Chain Networks and protocols  </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hMerge="1">
                  <a:txBody>
                    <a:bodyPr/>
                    <a:lstStyle/>
                    <a:p>
                      <a:endParaRPr lang="en-US"/>
                    </a:p>
                  </a:txBody>
                  <a:tcPr/>
                </a:tc>
                <a:extLst>
                  <a:ext uri="{0D108BD9-81ED-4DB2-BD59-A6C34878D82A}">
                    <a16:rowId xmlns:a16="http://schemas.microsoft.com/office/drawing/2014/main" val="1656774045"/>
                  </a:ext>
                </a:extLst>
              </a:tr>
              <a:tr h="788169">
                <a:tc>
                  <a:txBody>
                    <a:bodyPr/>
                    <a:lstStyle/>
                    <a:p>
                      <a:pPr marR="53975" algn="just"/>
                      <a:r>
                        <a:rPr lang="en-IN" sz="1200" b="1">
                          <a:effectLst/>
                          <a:latin typeface="Times New Roman" panose="02020603050405020304" pitchFamily="18" charset="0"/>
                          <a:cs typeface="Times New Roman" panose="02020603050405020304" pitchFamily="18" charset="0"/>
                        </a:rPr>
                        <a:t>Bitcoin and block Chain.</a:t>
                      </a:r>
                      <a:endParaRPr lang="en-IN" sz="12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gridSpan="2">
                  <a:txBody>
                    <a:bodyPr/>
                    <a:lstStyle/>
                    <a:p>
                      <a:pPr marR="53975" algn="just"/>
                      <a:r>
                        <a:rPr lang="en-IN" sz="1200" b="1" dirty="0">
                          <a:effectLst/>
                          <a:latin typeface="Times New Roman" panose="02020603050405020304" pitchFamily="18" charset="0"/>
                          <a:cs typeface="Times New Roman" panose="02020603050405020304" pitchFamily="18" charset="0"/>
                        </a:rPr>
                        <a:t>Bitcoin network, Bitcoin Mining, Differentiate between database, cloud and Blockchain, Block Chain Services, Introduction to AWS server and Virtual Machines  </a:t>
                      </a:r>
                      <a:endParaRPr lang="en-IN" sz="12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8641" marR="28641" marT="0" marB="0" anchor="ctr"/>
                </a:tc>
                <a:tc hMerge="1">
                  <a:txBody>
                    <a:bodyPr/>
                    <a:lstStyle/>
                    <a:p>
                      <a:endParaRPr lang="en-US"/>
                    </a:p>
                  </a:txBody>
                  <a:tcPr/>
                </a:tc>
                <a:extLst>
                  <a:ext uri="{0D108BD9-81ED-4DB2-BD59-A6C34878D82A}">
                    <a16:rowId xmlns:a16="http://schemas.microsoft.com/office/drawing/2014/main" val="25209525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6"/>
          <p:cNvSpPr txBox="1"/>
          <p:nvPr/>
        </p:nvSpPr>
        <p:spPr>
          <a:xfrm>
            <a:off x="2617470" y="17780"/>
            <a:ext cx="6502654" cy="299720"/>
          </a:xfrm>
          <a:prstGeom prst="rect">
            <a:avLst/>
          </a:prstGeom>
          <a:noFill/>
          <a:ln>
            <a:noFill/>
          </a:ln>
        </p:spPr>
        <p:txBody>
          <a:bodyPr spcFirstLastPara="1" wrap="square" lIns="0" tIns="12700" rIns="0" bIns="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Department of Computer Science and Engineering (CSE)</a:t>
            </a:r>
            <a:endParaRPr sz="1800" b="0" i="0" u="none" strike="noStrike" cap="none" dirty="0">
              <a:solidFill>
                <a:schemeClr val="dk1"/>
              </a:solidFill>
              <a:latin typeface="Arial"/>
              <a:ea typeface="Arial"/>
              <a:cs typeface="Arial"/>
              <a:sym typeface="Arial"/>
            </a:endParaRPr>
          </a:p>
        </p:txBody>
      </p:sp>
      <p:sp>
        <p:nvSpPr>
          <p:cNvPr id="115" name="Google Shape;115;p6"/>
          <p:cNvSpPr txBox="1">
            <a:spLocks noGrp="1"/>
          </p:cNvSpPr>
          <p:nvPr>
            <p:ph type="title"/>
          </p:nvPr>
        </p:nvSpPr>
        <p:spPr>
          <a:xfrm>
            <a:off x="1410080" y="475310"/>
            <a:ext cx="6627495" cy="659155"/>
          </a:xfrm>
          <a:prstGeom prst="rect">
            <a:avLst/>
          </a:prstGeom>
          <a:noFill/>
          <a:ln>
            <a:noFill/>
          </a:ln>
        </p:spPr>
        <p:txBody>
          <a:bodyPr spcFirstLastPara="1" wrap="square" lIns="0" tIns="12700" rIns="0" bIns="0" anchor="t" anchorCtr="0">
            <a:spAutoFit/>
          </a:bodyPr>
          <a:lstStyle/>
          <a:p>
            <a:pPr>
              <a:lnSpc>
                <a:spcPct val="150000"/>
              </a:lnSpc>
            </a:pPr>
            <a:r>
              <a:rPr lang="en-IN" sz="2800" b="1" dirty="0">
                <a:effectLst/>
                <a:latin typeface="Times New Roman" panose="02020603050405020304" pitchFamily="18" charset="0"/>
                <a:ea typeface="Times New Roman" panose="02020603050405020304" pitchFamily="18" charset="0"/>
              </a:rPr>
              <a:t>Introduction to Security:</a:t>
            </a:r>
            <a:endParaRPr lang="en-IN" sz="2800" dirty="0">
              <a:effectLst/>
              <a:latin typeface="Times New Roman" panose="02020603050405020304" pitchFamily="18" charset="0"/>
              <a:ea typeface="Times New Roman" panose="02020603050405020304" pitchFamily="18" charset="0"/>
            </a:endParaRPr>
          </a:p>
        </p:txBody>
      </p:sp>
      <p:sp>
        <p:nvSpPr>
          <p:cNvPr id="116" name="Google Shape;116;p6"/>
          <p:cNvSpPr txBox="1"/>
          <p:nvPr/>
        </p:nvSpPr>
        <p:spPr>
          <a:xfrm>
            <a:off x="902970" y="1190319"/>
            <a:ext cx="7552408" cy="4548666"/>
          </a:xfrm>
          <a:prstGeom prst="rect">
            <a:avLst/>
          </a:prstGeom>
          <a:noFill/>
          <a:ln>
            <a:noFill/>
          </a:ln>
        </p:spPr>
        <p:txBody>
          <a:bodyPr spcFirstLastPara="1" wrap="square" lIns="0" tIns="85075" rIns="0" bIns="0" anchor="t" anchorCtr="0">
            <a:spAutoFit/>
          </a:bodyPr>
          <a:lstStyle/>
          <a:p>
            <a:pPr algn="just" fontAlgn="base">
              <a:spcAft>
                <a:spcPts val="625"/>
              </a:spcAft>
            </a:pPr>
            <a:r>
              <a:rPr lang="en-US" sz="2000" spc="10" dirty="0">
                <a:solidFill>
                  <a:srgbClr val="273239"/>
                </a:solidFill>
                <a:effectLst/>
                <a:highlight>
                  <a:srgbClr val="FFFFFF"/>
                </a:highlight>
                <a:latin typeface="Times New Roman" panose="02020603050405020304" pitchFamily="18" charset="0"/>
                <a:ea typeface="Times New Roman" panose="02020603050405020304" pitchFamily="18" charset="0"/>
              </a:rPr>
              <a:t>Computer security refers to protecting and securing computers and their related data, networks, software, hardware from unauthorized access, misuse, theft, information loss, and other security issues. The Internet has made our lives easier and has provided us with lots of advantages but it has also put our system’s security at risk of being infected by a virus, of being hacked, information theft, damage to the system, and much more.</a:t>
            </a:r>
            <a:endParaRPr lang="en-IN" sz="2000" dirty="0">
              <a:effectLst/>
              <a:highlight>
                <a:srgbClr val="FFFFFF"/>
              </a:highlight>
              <a:latin typeface="Times New Roman" panose="02020603050405020304" pitchFamily="18" charset="0"/>
              <a:ea typeface="Times New Roman" panose="02020603050405020304" pitchFamily="18" charset="0"/>
            </a:endParaRPr>
          </a:p>
          <a:p>
            <a:pPr algn="just" fontAlgn="base">
              <a:spcAft>
                <a:spcPts val="625"/>
              </a:spcAft>
            </a:pPr>
            <a:r>
              <a:rPr lang="en-US" sz="2000" spc="10" dirty="0">
                <a:solidFill>
                  <a:srgbClr val="273239"/>
                </a:solidFill>
                <a:effectLst/>
                <a:highlight>
                  <a:srgbClr val="FFFFFF"/>
                </a:highlight>
                <a:latin typeface="Times New Roman" panose="02020603050405020304" pitchFamily="18" charset="0"/>
                <a:ea typeface="Times New Roman" panose="02020603050405020304" pitchFamily="18" charset="0"/>
              </a:rPr>
              <a:t>Technology is growing day by day and the entire world is in its grasp. We cannot imagine even a day without electronic devices around us. With the use of this growing technology, invaders, hackers and thieves are trying to harm our computer’s security for monetary gains, recognition purposes, ransom demands, bullying others, invading into other businesses, organizations, etc. In order to protect our system from all these risks, computer security is important.</a:t>
            </a:r>
            <a:endParaRPr lang="en-IN" sz="2000" dirty="0">
              <a:effectLst/>
              <a:highlight>
                <a:srgbClr val="FFFFFF"/>
              </a:highlight>
              <a:latin typeface="Times New Roman" panose="02020603050405020304" pitchFamily="18" charset="0"/>
              <a:ea typeface="Times New Roman" panose="02020603050405020304" pitchFamily="18" charset="0"/>
            </a:endParaRPr>
          </a:p>
        </p:txBody>
      </p:sp>
      <p:sp>
        <p:nvSpPr>
          <p:cNvPr id="2" name="TextBox 1">
            <a:extLst>
              <a:ext uri="{FF2B5EF4-FFF2-40B4-BE49-F238E27FC236}">
                <a16:creationId xmlns:a16="http://schemas.microsoft.com/office/drawing/2014/main" id="{56E78E47-25A9-34E1-DF2A-171621C9E0C4}"/>
              </a:ext>
            </a:extLst>
          </p:cNvPr>
          <p:cNvSpPr txBox="1"/>
          <p:nvPr/>
        </p:nvSpPr>
        <p:spPr>
          <a:xfrm>
            <a:off x="2432739" y="5856395"/>
            <a:ext cx="4128081" cy="307777"/>
          </a:xfrm>
          <a:prstGeom prst="rect">
            <a:avLst/>
          </a:prstGeom>
          <a:noFill/>
        </p:spPr>
        <p:txBody>
          <a:bodyPr wrap="square" rtlCol="0">
            <a:spAutoFit/>
          </a:bodyPr>
          <a:lstStyle/>
          <a:p>
            <a:pPr marL="12700" lvl="0" indent="0" algn="l" rtl="0">
              <a:lnSpc>
                <a:spcPct val="100250"/>
              </a:lnSpc>
              <a:spcBef>
                <a:spcPts val="0"/>
              </a:spcBef>
              <a:spcAft>
                <a:spcPts val="0"/>
              </a:spcAft>
              <a:buSzPts val="1400"/>
              <a:buNone/>
            </a:pPr>
            <a:r>
              <a:rPr lang="en-US" dirty="0"/>
              <a:t>University Institute of Engineering (UIE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8"/>
          <p:cNvSpPr txBox="1"/>
          <p:nvPr/>
        </p:nvSpPr>
        <p:spPr>
          <a:xfrm>
            <a:off x="2606040" y="17780"/>
            <a:ext cx="6514084" cy="299720"/>
          </a:xfrm>
          <a:prstGeom prst="rect">
            <a:avLst/>
          </a:prstGeom>
          <a:noFill/>
          <a:ln>
            <a:noFill/>
          </a:ln>
        </p:spPr>
        <p:txBody>
          <a:bodyPr spcFirstLastPara="1" wrap="square" lIns="0" tIns="12700" rIns="0" bIns="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Department of Computer Science and Engineering (CSE)</a:t>
            </a:r>
            <a:endParaRPr sz="1800" b="0" i="0" u="none" strike="noStrike" cap="none" dirty="0">
              <a:solidFill>
                <a:schemeClr val="dk1"/>
              </a:solidFill>
              <a:latin typeface="Arial"/>
              <a:ea typeface="Arial"/>
              <a:cs typeface="Arial"/>
              <a:sym typeface="Arial"/>
            </a:endParaRPr>
          </a:p>
        </p:txBody>
      </p:sp>
      <p:sp>
        <p:nvSpPr>
          <p:cNvPr id="132" name="Google Shape;132;p8"/>
          <p:cNvSpPr txBox="1">
            <a:spLocks noGrp="1"/>
          </p:cNvSpPr>
          <p:nvPr>
            <p:ph type="ftr" idx="11"/>
          </p:nvPr>
        </p:nvSpPr>
        <p:spPr>
          <a:xfrm>
            <a:off x="2475357" y="6539204"/>
            <a:ext cx="4194809" cy="215444"/>
          </a:xfrm>
          <a:prstGeom prst="rect">
            <a:avLst/>
          </a:prstGeom>
          <a:noFill/>
          <a:ln>
            <a:noFill/>
          </a:ln>
        </p:spPr>
        <p:txBody>
          <a:bodyPr spcFirstLastPara="1" wrap="square" lIns="0" tIns="0" rIns="0" bIns="0" anchor="t" anchorCtr="0">
            <a:spAutoFit/>
          </a:bodyPr>
          <a:lstStyle/>
          <a:p>
            <a:pPr marL="12700" lvl="0" indent="0" algn="l" rtl="0">
              <a:lnSpc>
                <a:spcPct val="100250"/>
              </a:lnSpc>
              <a:spcBef>
                <a:spcPts val="0"/>
              </a:spcBef>
              <a:spcAft>
                <a:spcPts val="0"/>
              </a:spcAft>
              <a:buSzPts val="1400"/>
              <a:buNone/>
            </a:pPr>
            <a:r>
              <a:rPr lang="en-US" sz="1400" dirty="0"/>
              <a:t>University Institute of Engineering (UIE)</a:t>
            </a:r>
            <a:endParaRPr sz="1400" dirty="0"/>
          </a:p>
        </p:txBody>
      </p:sp>
      <p:sp>
        <p:nvSpPr>
          <p:cNvPr id="133" name="Google Shape;133;p8"/>
          <p:cNvSpPr txBox="1">
            <a:spLocks noGrp="1"/>
          </p:cNvSpPr>
          <p:nvPr>
            <p:ph type="title"/>
          </p:nvPr>
        </p:nvSpPr>
        <p:spPr>
          <a:xfrm>
            <a:off x="1350644" y="569721"/>
            <a:ext cx="7202805" cy="767508"/>
          </a:xfrm>
          <a:prstGeom prst="rect">
            <a:avLst/>
          </a:prstGeom>
          <a:noFill/>
          <a:ln>
            <a:noFill/>
          </a:ln>
        </p:spPr>
        <p:txBody>
          <a:bodyPr spcFirstLastPara="1" wrap="square" lIns="0" tIns="13325" rIns="0" bIns="0" anchor="t" anchorCtr="0">
            <a:spAutoFit/>
          </a:bodyPr>
          <a:lstStyle/>
          <a:p>
            <a:pPr algn="ctr" fontAlgn="base">
              <a:spcBef>
                <a:spcPts val="1505"/>
              </a:spcBef>
              <a:spcAft>
                <a:spcPts val="1505"/>
              </a:spcAft>
            </a:pPr>
            <a:r>
              <a:rPr lang="en-IN" sz="2400" b="1" spc="10" dirty="0">
                <a:solidFill>
                  <a:srgbClr val="273239"/>
                </a:solidFill>
                <a:effectLst/>
                <a:highlight>
                  <a:srgbClr val="FFFFFF"/>
                </a:highlight>
                <a:latin typeface="Times New Roman" panose="02020603050405020304" pitchFamily="18" charset="0"/>
                <a:ea typeface="Times New Roman" panose="02020603050405020304" pitchFamily="18" charset="0"/>
                <a:cs typeface="Raavi" panose="020B0502040204020203" pitchFamily="34" charset="0"/>
              </a:rPr>
              <a:t>Types of computer security</a:t>
            </a:r>
            <a:endParaRPr lang="en-IN" sz="2400" b="1" dirty="0">
              <a:solidFill>
                <a:srgbClr val="1F3763"/>
              </a:solidFill>
              <a:effectLst/>
              <a:highlight>
                <a:srgbClr val="FFFFFF"/>
              </a:highlight>
              <a:latin typeface="Calibri Light" panose="020F0302020204030204" pitchFamily="34" charset="0"/>
              <a:ea typeface="Times New Roman" panose="02020603050405020304" pitchFamily="18" charset="0"/>
              <a:cs typeface="Raavi" panose="020B0502040204020203" pitchFamily="34" charset="0"/>
            </a:endParaRPr>
          </a:p>
        </p:txBody>
      </p:sp>
      <p:sp>
        <p:nvSpPr>
          <p:cNvPr id="134" name="Google Shape;134;p8"/>
          <p:cNvSpPr txBox="1"/>
          <p:nvPr/>
        </p:nvSpPr>
        <p:spPr>
          <a:xfrm>
            <a:off x="891823" y="1330198"/>
            <a:ext cx="7958666" cy="4311422"/>
          </a:xfrm>
          <a:prstGeom prst="rect">
            <a:avLst/>
          </a:prstGeom>
          <a:noFill/>
          <a:ln>
            <a:noFill/>
          </a:ln>
        </p:spPr>
        <p:txBody>
          <a:bodyPr spcFirstLastPara="1" wrap="square" lIns="0" tIns="78725" rIns="0" bIns="0" anchor="t" anchorCtr="0">
            <a:spAutoFit/>
          </a:bodyPr>
          <a:lstStyle/>
          <a:p>
            <a:pPr algn="just" fontAlgn="base">
              <a:spcAft>
                <a:spcPts val="625"/>
              </a:spcAft>
            </a:pPr>
            <a:r>
              <a:rPr lang="en-US"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Computer security can be classified into four types:</a:t>
            </a:r>
            <a:endParaRPr lang="en-IN" sz="1800" dirty="0">
              <a:effectLst/>
              <a:highlight>
                <a:srgbClr val="FFFFFF"/>
              </a:highlight>
              <a:latin typeface="Times New Roman" panose="02020603050405020304" pitchFamily="18" charset="0"/>
              <a:ea typeface="Times New Roman" panose="02020603050405020304" pitchFamily="18" charset="0"/>
            </a:endParaRPr>
          </a:p>
          <a:p>
            <a:pPr algn="just" fontAlgn="base"/>
            <a:r>
              <a:rPr lang="en-US" sz="1800" b="1" spc="10" dirty="0">
                <a:solidFill>
                  <a:srgbClr val="273239"/>
                </a:solidFill>
                <a:effectLst/>
                <a:highlight>
                  <a:srgbClr val="FFFFFF"/>
                </a:highlight>
                <a:latin typeface="Times New Roman" panose="02020603050405020304" pitchFamily="18" charset="0"/>
                <a:ea typeface="Times New Roman" panose="02020603050405020304" pitchFamily="18" charset="0"/>
              </a:rPr>
              <a:t>1. Cyber Security:</a:t>
            </a:r>
            <a:r>
              <a:rPr lang="en-US"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 Cyber security means securing our computers, electronic devices, networks , programs, systems from cyber attacks. Cyber attacks are those attacks that happen when our system is connected to the Internet.</a:t>
            </a:r>
            <a:endParaRPr lang="en-IN" sz="1800" dirty="0">
              <a:effectLst/>
              <a:highlight>
                <a:srgbClr val="FFFFFF"/>
              </a:highlight>
              <a:latin typeface="Times New Roman" panose="02020603050405020304" pitchFamily="18" charset="0"/>
              <a:ea typeface="Times New Roman" panose="02020603050405020304" pitchFamily="18" charset="0"/>
            </a:endParaRPr>
          </a:p>
          <a:p>
            <a:pPr algn="just" fontAlgn="base"/>
            <a:r>
              <a:rPr lang="en-US" sz="1800" b="1" spc="10" dirty="0">
                <a:solidFill>
                  <a:srgbClr val="273239"/>
                </a:solidFill>
                <a:effectLst/>
                <a:highlight>
                  <a:srgbClr val="FFFFFF"/>
                </a:highlight>
                <a:latin typeface="Times New Roman" panose="02020603050405020304" pitchFamily="18" charset="0"/>
                <a:ea typeface="Times New Roman" panose="02020603050405020304" pitchFamily="18" charset="0"/>
              </a:rPr>
              <a:t>2. Information Security: </a:t>
            </a:r>
            <a:r>
              <a:rPr lang="en-US"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Information security means protecting our system’s information from theft, illegal use and piracy from unauthorized use. Information security has mainly three objectives: confidentiality, integrity, and availability of information.</a:t>
            </a:r>
            <a:endParaRPr lang="en-IN" sz="1800" dirty="0">
              <a:effectLst/>
              <a:highlight>
                <a:srgbClr val="FFFFFF"/>
              </a:highlight>
              <a:latin typeface="Times New Roman" panose="02020603050405020304" pitchFamily="18" charset="0"/>
              <a:ea typeface="Times New Roman" panose="02020603050405020304" pitchFamily="18" charset="0"/>
            </a:endParaRPr>
          </a:p>
          <a:p>
            <a:pPr algn="just" fontAlgn="base"/>
            <a:r>
              <a:rPr lang="en-US" sz="1800" b="1" spc="10" dirty="0">
                <a:solidFill>
                  <a:srgbClr val="273239"/>
                </a:solidFill>
                <a:effectLst/>
                <a:highlight>
                  <a:srgbClr val="FFFFFF"/>
                </a:highlight>
                <a:latin typeface="Times New Roman" panose="02020603050405020304" pitchFamily="18" charset="0"/>
                <a:ea typeface="Times New Roman" panose="02020603050405020304" pitchFamily="18" charset="0"/>
              </a:rPr>
              <a:t>3. Application Security:</a:t>
            </a:r>
            <a:r>
              <a:rPr lang="en-US"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 Application security means securing our applications and data so that they don’t get hacked and also the databases of the applications remain safe and private to the owner itself so that user’s data remains confidential.</a:t>
            </a:r>
            <a:endParaRPr lang="en-IN" sz="1800" dirty="0">
              <a:effectLst/>
              <a:highlight>
                <a:srgbClr val="FFFFFF"/>
              </a:highlight>
              <a:latin typeface="Times New Roman" panose="02020603050405020304" pitchFamily="18" charset="0"/>
              <a:ea typeface="Times New Roman" panose="02020603050405020304" pitchFamily="18" charset="0"/>
            </a:endParaRPr>
          </a:p>
          <a:p>
            <a:pPr algn="just" fontAlgn="base"/>
            <a:r>
              <a:rPr lang="en-US" sz="1800" b="1" spc="10" dirty="0">
                <a:solidFill>
                  <a:srgbClr val="273239"/>
                </a:solidFill>
                <a:effectLst/>
                <a:highlight>
                  <a:srgbClr val="FFFFFF"/>
                </a:highlight>
                <a:latin typeface="Times New Roman" panose="02020603050405020304" pitchFamily="18" charset="0"/>
                <a:ea typeface="Times New Roman" panose="02020603050405020304" pitchFamily="18" charset="0"/>
              </a:rPr>
              <a:t>4. Network Security:</a:t>
            </a:r>
            <a:r>
              <a:rPr lang="en-US"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 Network security means securing a network and protecting the user’s information about who is connected through that network. Over the network hackers steal, the packets of data through sniffing and spoofing attacks, man in the middle attack, war driving, </a:t>
            </a:r>
            <a:r>
              <a:rPr lang="en-US" sz="1800" spc="10" dirty="0" err="1">
                <a:solidFill>
                  <a:srgbClr val="273239"/>
                </a:solidFill>
                <a:effectLst/>
                <a:highlight>
                  <a:srgbClr val="FFFFFF"/>
                </a:highlight>
                <a:latin typeface="Times New Roman" panose="02020603050405020304" pitchFamily="18" charset="0"/>
                <a:ea typeface="Times New Roman" panose="02020603050405020304" pitchFamily="18" charset="0"/>
              </a:rPr>
              <a:t>etc</a:t>
            </a:r>
            <a:r>
              <a:rPr lang="en-US" sz="1800" spc="10" dirty="0">
                <a:solidFill>
                  <a:srgbClr val="273239"/>
                </a:solidFill>
                <a:effectLst/>
                <a:highlight>
                  <a:srgbClr val="FFFFFF"/>
                </a:highlight>
                <a:latin typeface="Times New Roman" panose="02020603050405020304" pitchFamily="18" charset="0"/>
                <a:ea typeface="Times New Roman" panose="02020603050405020304" pitchFamily="18" charset="0"/>
              </a:rPr>
              <a:t>, and misuse the data for their benefits.</a:t>
            </a:r>
            <a:endParaRPr lang="en-IN" sz="1800" dirty="0">
              <a:effectLst/>
              <a:highlight>
                <a:srgbClr val="FFFFFF"/>
              </a:highlight>
              <a:latin typeface="Times New Roman" panose="02020603050405020304" pitchFamily="18" charset="0"/>
              <a:ea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9"/>
          <p:cNvSpPr txBox="1"/>
          <p:nvPr/>
        </p:nvSpPr>
        <p:spPr>
          <a:xfrm>
            <a:off x="2606040" y="17780"/>
            <a:ext cx="6514084" cy="299720"/>
          </a:xfrm>
          <a:prstGeom prst="rect">
            <a:avLst/>
          </a:prstGeom>
          <a:noFill/>
          <a:ln>
            <a:noFill/>
          </a:ln>
        </p:spPr>
        <p:txBody>
          <a:bodyPr spcFirstLastPara="1" wrap="square" lIns="0" tIns="12700" rIns="0" bIns="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Arial"/>
                <a:ea typeface="Arial"/>
                <a:cs typeface="Arial"/>
                <a:sym typeface="Arial"/>
              </a:rPr>
              <a:t>Department of Computer Science and Engineering (CSE)</a:t>
            </a:r>
            <a:endParaRPr sz="1800" b="0" i="0" u="none" strike="noStrike" cap="none">
              <a:solidFill>
                <a:schemeClr val="dk1"/>
              </a:solidFill>
              <a:latin typeface="Arial"/>
              <a:ea typeface="Arial"/>
              <a:cs typeface="Arial"/>
              <a:sym typeface="Arial"/>
            </a:endParaRPr>
          </a:p>
        </p:txBody>
      </p:sp>
      <p:sp>
        <p:nvSpPr>
          <p:cNvPr id="140" name="Google Shape;140;p9"/>
          <p:cNvSpPr txBox="1">
            <a:spLocks noGrp="1"/>
          </p:cNvSpPr>
          <p:nvPr>
            <p:ph type="ftr" idx="11"/>
          </p:nvPr>
        </p:nvSpPr>
        <p:spPr>
          <a:xfrm>
            <a:off x="2475357" y="6539204"/>
            <a:ext cx="4194809" cy="215444"/>
          </a:xfrm>
          <a:prstGeom prst="rect">
            <a:avLst/>
          </a:prstGeom>
          <a:noFill/>
          <a:ln>
            <a:noFill/>
          </a:ln>
        </p:spPr>
        <p:txBody>
          <a:bodyPr spcFirstLastPara="1" wrap="square" lIns="0" tIns="0" rIns="0" bIns="0" anchor="t" anchorCtr="0">
            <a:spAutoFit/>
          </a:bodyPr>
          <a:lstStyle/>
          <a:p>
            <a:pPr marL="12700" lvl="0" indent="0" algn="l" rtl="0">
              <a:lnSpc>
                <a:spcPct val="100250"/>
              </a:lnSpc>
              <a:spcBef>
                <a:spcPts val="0"/>
              </a:spcBef>
              <a:spcAft>
                <a:spcPts val="0"/>
              </a:spcAft>
              <a:buSzPts val="1400"/>
              <a:buNone/>
            </a:pPr>
            <a:r>
              <a:rPr lang="en-US" sz="1400" dirty="0"/>
              <a:t>University Institute of Engineering (UIE)</a:t>
            </a:r>
            <a:endParaRPr sz="1400" dirty="0"/>
          </a:p>
        </p:txBody>
      </p:sp>
      <p:sp>
        <p:nvSpPr>
          <p:cNvPr id="141" name="Google Shape;141;p9"/>
          <p:cNvSpPr txBox="1">
            <a:spLocks noGrp="1"/>
          </p:cNvSpPr>
          <p:nvPr>
            <p:ph type="title"/>
          </p:nvPr>
        </p:nvSpPr>
        <p:spPr>
          <a:xfrm>
            <a:off x="1772356" y="569721"/>
            <a:ext cx="6005631" cy="829063"/>
          </a:xfrm>
          <a:prstGeom prst="rect">
            <a:avLst/>
          </a:prstGeom>
          <a:noFill/>
          <a:ln>
            <a:noFill/>
          </a:ln>
        </p:spPr>
        <p:txBody>
          <a:bodyPr spcFirstLastPara="1" wrap="square" lIns="0" tIns="13325" rIns="0" bIns="0" anchor="t" anchorCtr="0">
            <a:spAutoFit/>
          </a:bodyPr>
          <a:lstStyle/>
          <a:p>
            <a:pPr algn="ctr" fontAlgn="base">
              <a:spcBef>
                <a:spcPts val="1505"/>
              </a:spcBef>
              <a:spcAft>
                <a:spcPts val="1505"/>
              </a:spcAft>
            </a:pPr>
            <a:r>
              <a:rPr lang="en-IN" sz="2800" b="1" spc="10" dirty="0">
                <a:solidFill>
                  <a:srgbClr val="273239"/>
                </a:solidFill>
                <a:effectLst/>
                <a:highlight>
                  <a:srgbClr val="FFFFFF"/>
                </a:highlight>
                <a:latin typeface="Times New Roman" panose="02020603050405020304" pitchFamily="18" charset="0"/>
                <a:ea typeface="Times New Roman" panose="02020603050405020304" pitchFamily="18" charset="0"/>
                <a:cs typeface="Raavi" panose="020B0502040204020203" pitchFamily="34" charset="0"/>
              </a:rPr>
              <a:t>Types of cyber attack</a:t>
            </a:r>
            <a:endParaRPr lang="en-IN" sz="2800" b="1" dirty="0">
              <a:solidFill>
                <a:srgbClr val="1F3763"/>
              </a:solidFill>
              <a:effectLst/>
              <a:highlight>
                <a:srgbClr val="FFFFFF"/>
              </a:highlight>
              <a:latin typeface="Calibri Light" panose="020F0302020204030204" pitchFamily="34" charset="0"/>
              <a:ea typeface="Times New Roman" panose="02020603050405020304" pitchFamily="18" charset="0"/>
              <a:cs typeface="Raavi" panose="020B0502040204020203" pitchFamily="34" charset="0"/>
            </a:endParaRPr>
          </a:p>
        </p:txBody>
      </p:sp>
      <p:sp>
        <p:nvSpPr>
          <p:cNvPr id="142" name="Google Shape;142;p9"/>
          <p:cNvSpPr txBox="1"/>
          <p:nvPr/>
        </p:nvSpPr>
        <p:spPr>
          <a:xfrm>
            <a:off x="231139" y="1534414"/>
            <a:ext cx="8720949" cy="4855816"/>
          </a:xfrm>
          <a:prstGeom prst="rect">
            <a:avLst/>
          </a:prstGeom>
          <a:noFill/>
          <a:ln>
            <a:noFill/>
          </a:ln>
        </p:spPr>
        <p:txBody>
          <a:bodyPr spcFirstLastPara="1" wrap="square" lIns="0" tIns="53975" rIns="0" bIns="0" anchor="t" anchorCtr="0">
            <a:spAutoFit/>
          </a:bodyPr>
          <a:lstStyle/>
          <a:p>
            <a:pPr algn="just" fontAlgn="base"/>
            <a:r>
              <a:rPr lang="en-US" sz="2400" b="1" spc="10" dirty="0">
                <a:solidFill>
                  <a:srgbClr val="273239"/>
                </a:solidFill>
                <a:effectLst/>
                <a:highlight>
                  <a:srgbClr val="FFFFFF"/>
                </a:highlight>
                <a:latin typeface="Times New Roman" panose="02020603050405020304" pitchFamily="18" charset="0"/>
                <a:ea typeface="Times New Roman" panose="02020603050405020304" pitchFamily="18" charset="0"/>
              </a:rPr>
              <a:t>1. Denial of service attack or DOS:</a:t>
            </a:r>
            <a:r>
              <a:rPr lang="en-US" sz="2400" spc="10" dirty="0">
                <a:solidFill>
                  <a:srgbClr val="273239"/>
                </a:solidFill>
                <a:effectLst/>
                <a:highlight>
                  <a:srgbClr val="FFFFFF"/>
                </a:highlight>
                <a:latin typeface="Times New Roman" panose="02020603050405020304" pitchFamily="18" charset="0"/>
                <a:ea typeface="Times New Roman" panose="02020603050405020304" pitchFamily="18" charset="0"/>
              </a:rPr>
              <a:t> A denial of service attack is a kind of cyber attack in which the attackers disrupt the services of the particular network by sending infinite requests and temporary or permanently making the network or machine resources unavailable to the intended audience.</a:t>
            </a:r>
            <a:endParaRPr lang="en-IN" sz="2400" dirty="0">
              <a:effectLst/>
              <a:highlight>
                <a:srgbClr val="FFFFFF"/>
              </a:highlight>
              <a:latin typeface="Times New Roman" panose="02020603050405020304" pitchFamily="18" charset="0"/>
              <a:ea typeface="Times New Roman" panose="02020603050405020304" pitchFamily="18" charset="0"/>
            </a:endParaRPr>
          </a:p>
          <a:p>
            <a:pPr algn="just" fontAlgn="base"/>
            <a:r>
              <a:rPr lang="en-US" sz="2400" b="1" spc="10" dirty="0">
                <a:solidFill>
                  <a:srgbClr val="273239"/>
                </a:solidFill>
                <a:effectLst/>
                <a:highlight>
                  <a:srgbClr val="FFFFFF"/>
                </a:highlight>
                <a:latin typeface="Times New Roman" panose="02020603050405020304" pitchFamily="18" charset="0"/>
                <a:ea typeface="Times New Roman" panose="02020603050405020304" pitchFamily="18" charset="0"/>
              </a:rPr>
              <a:t>2. Backdoor:</a:t>
            </a:r>
            <a:r>
              <a:rPr lang="en-US" sz="2400" spc="10" dirty="0">
                <a:solidFill>
                  <a:srgbClr val="273239"/>
                </a:solidFill>
                <a:effectLst/>
                <a:highlight>
                  <a:srgbClr val="FFFFFF"/>
                </a:highlight>
                <a:latin typeface="Times New Roman" panose="02020603050405020304" pitchFamily="18" charset="0"/>
                <a:ea typeface="Times New Roman" panose="02020603050405020304" pitchFamily="18" charset="0"/>
              </a:rPr>
              <a:t> In a backdoor attack, malware, trojan horse or virus gets installed in our system and start affecting it’s security along with the main file. Consider an example: suppose you are installing free software from a certain website on the Internet. Now, unknowingly, along with this software, a malicious file also gets installed, and as soon as you execute the installed software that file’s malware gets affected and starts affecting your computer security. This is known as a backdoor.</a:t>
            </a:r>
            <a:endParaRPr lang="en-IN" sz="2400" dirty="0">
              <a:effectLst/>
              <a:highlight>
                <a:srgbClr val="FFFFFF"/>
              </a:highlight>
              <a:latin typeface="Times New Roman" panose="02020603050405020304" pitchFamily="18" charset="0"/>
              <a:ea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10"/>
          <p:cNvSpPr txBox="1"/>
          <p:nvPr/>
        </p:nvSpPr>
        <p:spPr>
          <a:xfrm>
            <a:off x="2475357" y="17780"/>
            <a:ext cx="6644767" cy="299720"/>
          </a:xfrm>
          <a:prstGeom prst="rect">
            <a:avLst/>
          </a:prstGeom>
          <a:noFill/>
          <a:ln>
            <a:noFill/>
          </a:ln>
        </p:spPr>
        <p:txBody>
          <a:bodyPr spcFirstLastPara="1" wrap="square" lIns="0" tIns="12700" rIns="0" bIns="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Department of Computer Science and Engineering (CSE)</a:t>
            </a:r>
            <a:endParaRPr sz="1800" b="0" i="0" u="none" strike="noStrike" cap="none" dirty="0">
              <a:solidFill>
                <a:schemeClr val="dk1"/>
              </a:solidFill>
              <a:latin typeface="Arial"/>
              <a:ea typeface="Arial"/>
              <a:cs typeface="Arial"/>
              <a:sym typeface="Arial"/>
            </a:endParaRPr>
          </a:p>
        </p:txBody>
      </p:sp>
      <p:sp>
        <p:nvSpPr>
          <p:cNvPr id="148" name="Google Shape;148;p10"/>
          <p:cNvSpPr txBox="1">
            <a:spLocks noGrp="1"/>
          </p:cNvSpPr>
          <p:nvPr>
            <p:ph type="ftr" idx="11"/>
          </p:nvPr>
        </p:nvSpPr>
        <p:spPr>
          <a:xfrm>
            <a:off x="2475357" y="6539204"/>
            <a:ext cx="4194809" cy="215444"/>
          </a:xfrm>
          <a:prstGeom prst="rect">
            <a:avLst/>
          </a:prstGeom>
          <a:noFill/>
          <a:ln>
            <a:noFill/>
          </a:ln>
        </p:spPr>
        <p:txBody>
          <a:bodyPr spcFirstLastPara="1" wrap="square" lIns="0" tIns="0" rIns="0" bIns="0" anchor="t" anchorCtr="0">
            <a:spAutoFit/>
          </a:bodyPr>
          <a:lstStyle/>
          <a:p>
            <a:pPr marL="12700" lvl="0" indent="0" algn="l" rtl="0">
              <a:lnSpc>
                <a:spcPct val="100250"/>
              </a:lnSpc>
              <a:spcBef>
                <a:spcPts val="0"/>
              </a:spcBef>
              <a:spcAft>
                <a:spcPts val="0"/>
              </a:spcAft>
              <a:buSzPts val="1400"/>
              <a:buNone/>
            </a:pPr>
            <a:r>
              <a:rPr lang="en-US" sz="1400"/>
              <a:t>University Institute of Engineering (UIE)</a:t>
            </a:r>
            <a:endParaRPr lang="en-US" sz="1400" dirty="0"/>
          </a:p>
        </p:txBody>
      </p:sp>
      <p:sp>
        <p:nvSpPr>
          <p:cNvPr id="149" name="Google Shape;149;p10"/>
          <p:cNvSpPr txBox="1">
            <a:spLocks noGrp="1"/>
          </p:cNvSpPr>
          <p:nvPr>
            <p:ph type="title"/>
          </p:nvPr>
        </p:nvSpPr>
        <p:spPr>
          <a:xfrm>
            <a:off x="2319908" y="569721"/>
            <a:ext cx="5271770" cy="382787"/>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en-IN" sz="2400" b="1" spc="10" dirty="0">
                <a:solidFill>
                  <a:srgbClr val="273239"/>
                </a:solidFill>
                <a:effectLst/>
                <a:highlight>
                  <a:srgbClr val="FFFFFF"/>
                </a:highlight>
                <a:latin typeface="Times New Roman" panose="02020603050405020304" pitchFamily="18" charset="0"/>
                <a:ea typeface="Times New Roman" panose="02020603050405020304" pitchFamily="18" charset="0"/>
                <a:cs typeface="Raavi" panose="020B0502040204020203" pitchFamily="34" charset="0"/>
              </a:rPr>
              <a:t>Types of cyber attack</a:t>
            </a:r>
            <a:endParaRPr sz="2400" dirty="0"/>
          </a:p>
        </p:txBody>
      </p:sp>
      <p:sp>
        <p:nvSpPr>
          <p:cNvPr id="150" name="Google Shape;150;p10"/>
          <p:cNvSpPr txBox="1"/>
          <p:nvPr/>
        </p:nvSpPr>
        <p:spPr>
          <a:xfrm>
            <a:off x="231140" y="1411837"/>
            <a:ext cx="7962900" cy="4137651"/>
          </a:xfrm>
          <a:prstGeom prst="rect">
            <a:avLst/>
          </a:prstGeom>
          <a:noFill/>
          <a:ln>
            <a:noFill/>
          </a:ln>
        </p:spPr>
        <p:txBody>
          <a:bodyPr spcFirstLastPara="1" wrap="square" lIns="0" tIns="74275" rIns="0" bIns="0" anchor="t" anchorCtr="0">
            <a:spAutoFit/>
          </a:bodyPr>
          <a:lstStyle/>
          <a:p>
            <a:pPr algn="just" fontAlgn="base"/>
            <a:r>
              <a:rPr lang="en-US" sz="2400" b="1" spc="10" dirty="0">
                <a:solidFill>
                  <a:srgbClr val="273239"/>
                </a:solidFill>
                <a:effectLst/>
                <a:highlight>
                  <a:srgbClr val="FFFFFF"/>
                </a:highlight>
                <a:latin typeface="Times New Roman" panose="02020603050405020304" pitchFamily="18" charset="0"/>
                <a:ea typeface="Times New Roman" panose="02020603050405020304" pitchFamily="18" charset="0"/>
              </a:rPr>
              <a:t>3.Eavesdropping:</a:t>
            </a:r>
            <a:r>
              <a:rPr lang="en-US" sz="2400" spc="10" dirty="0">
                <a:solidFill>
                  <a:srgbClr val="273239"/>
                </a:solidFill>
                <a:effectLst/>
                <a:highlight>
                  <a:srgbClr val="FFFFFF"/>
                </a:highlight>
                <a:latin typeface="Times New Roman" panose="02020603050405020304" pitchFamily="18" charset="0"/>
                <a:ea typeface="Times New Roman" panose="02020603050405020304" pitchFamily="18" charset="0"/>
              </a:rPr>
              <a:t> Eavesdropping refers to secretly listening to someone’s talk without their permission or knowledge. Attackers try to steal, manipulate, modify, hack information or systems by passively listening to network communication, knowing passwords etc. A physical example would be, suppose if you are talking to another person of your organization and if a third person listens to your private talks then he/ she is said to eavesdrop on your conversation. Similarly, your conversation on the internet maybe eavesdropped by attackers listening to your private conversation by connecting to your network if it is insecure.</a:t>
            </a:r>
            <a:endParaRPr lang="en-IN" sz="2400" dirty="0">
              <a:effectLst/>
              <a:highlight>
                <a:srgbClr val="FFFFFF"/>
              </a:highlight>
              <a:latin typeface="Times New Roman" panose="02020603050405020304" pitchFamily="18" charset="0"/>
              <a:ea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1"/>
          <p:cNvSpPr txBox="1"/>
          <p:nvPr/>
        </p:nvSpPr>
        <p:spPr>
          <a:xfrm>
            <a:off x="2475357" y="17780"/>
            <a:ext cx="6644767" cy="299720"/>
          </a:xfrm>
          <a:prstGeom prst="rect">
            <a:avLst/>
          </a:prstGeom>
          <a:noFill/>
          <a:ln>
            <a:noFill/>
          </a:ln>
        </p:spPr>
        <p:txBody>
          <a:bodyPr spcFirstLastPara="1" wrap="square" lIns="0" tIns="12700" rIns="0" bIns="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Department of Computer Science and Engineering (CSE)</a:t>
            </a:r>
            <a:endParaRPr sz="1800" b="0" i="0" u="none" strike="noStrike" cap="none" dirty="0">
              <a:solidFill>
                <a:schemeClr val="dk1"/>
              </a:solidFill>
              <a:latin typeface="Arial"/>
              <a:ea typeface="Arial"/>
              <a:cs typeface="Arial"/>
              <a:sym typeface="Arial"/>
            </a:endParaRPr>
          </a:p>
        </p:txBody>
      </p:sp>
      <p:sp>
        <p:nvSpPr>
          <p:cNvPr id="156" name="Google Shape;156;p11"/>
          <p:cNvSpPr txBox="1">
            <a:spLocks noGrp="1"/>
          </p:cNvSpPr>
          <p:nvPr>
            <p:ph type="ftr" idx="11"/>
          </p:nvPr>
        </p:nvSpPr>
        <p:spPr>
          <a:xfrm>
            <a:off x="2475357" y="6539204"/>
            <a:ext cx="4194809" cy="215444"/>
          </a:xfrm>
          <a:prstGeom prst="rect">
            <a:avLst/>
          </a:prstGeom>
          <a:noFill/>
          <a:ln>
            <a:noFill/>
          </a:ln>
        </p:spPr>
        <p:txBody>
          <a:bodyPr spcFirstLastPara="1" wrap="square" lIns="0" tIns="0" rIns="0" bIns="0" anchor="t" anchorCtr="0">
            <a:spAutoFit/>
          </a:bodyPr>
          <a:lstStyle/>
          <a:p>
            <a:pPr marL="12700" lvl="0" indent="0" algn="l" rtl="0">
              <a:lnSpc>
                <a:spcPct val="100250"/>
              </a:lnSpc>
              <a:spcBef>
                <a:spcPts val="0"/>
              </a:spcBef>
              <a:spcAft>
                <a:spcPts val="0"/>
              </a:spcAft>
              <a:buSzPts val="1400"/>
              <a:buNone/>
            </a:pPr>
            <a:r>
              <a:rPr lang="en-US" sz="1400" dirty="0"/>
              <a:t>University Institute of Engineering (UIE)</a:t>
            </a:r>
            <a:endParaRPr sz="1400" dirty="0"/>
          </a:p>
        </p:txBody>
      </p:sp>
      <p:sp>
        <p:nvSpPr>
          <p:cNvPr id="157" name="Google Shape;157;p11"/>
          <p:cNvSpPr txBox="1">
            <a:spLocks noGrp="1"/>
          </p:cNvSpPr>
          <p:nvPr>
            <p:ph type="title"/>
          </p:nvPr>
        </p:nvSpPr>
        <p:spPr>
          <a:xfrm>
            <a:off x="493039" y="622807"/>
            <a:ext cx="8157921" cy="382787"/>
          </a:xfrm>
          <a:prstGeom prst="rect">
            <a:avLst/>
          </a:prstGeom>
          <a:noFill/>
          <a:ln>
            <a:noFill/>
          </a:ln>
        </p:spPr>
        <p:txBody>
          <a:bodyPr spcFirstLastPara="1" wrap="square" lIns="0" tIns="13325" rIns="0" bIns="0" anchor="t" anchorCtr="0">
            <a:spAutoFit/>
          </a:bodyPr>
          <a:lstStyle/>
          <a:p>
            <a:pPr marL="610870" lvl="0" indent="0" algn="ctr" rtl="0">
              <a:lnSpc>
                <a:spcPct val="100000"/>
              </a:lnSpc>
              <a:spcBef>
                <a:spcPts val="0"/>
              </a:spcBef>
              <a:spcAft>
                <a:spcPts val="0"/>
              </a:spcAft>
              <a:buSzPts val="1400"/>
              <a:buNone/>
            </a:pPr>
            <a:r>
              <a:rPr lang="en-IN" sz="2400" b="1" spc="10" dirty="0">
                <a:solidFill>
                  <a:srgbClr val="273239"/>
                </a:solidFill>
                <a:effectLst/>
                <a:highlight>
                  <a:srgbClr val="FFFFFF"/>
                </a:highlight>
                <a:latin typeface="Times New Roman" panose="02020603050405020304" pitchFamily="18" charset="0"/>
                <a:ea typeface="Times New Roman" panose="02020603050405020304" pitchFamily="18" charset="0"/>
                <a:cs typeface="Raavi" panose="020B0502040204020203" pitchFamily="34" charset="0"/>
              </a:rPr>
              <a:t>Types of cyber attack</a:t>
            </a:r>
            <a:endParaRPr sz="2400" dirty="0"/>
          </a:p>
        </p:txBody>
      </p:sp>
      <p:sp>
        <p:nvSpPr>
          <p:cNvPr id="158" name="Google Shape;158;p11"/>
          <p:cNvSpPr txBox="1"/>
          <p:nvPr/>
        </p:nvSpPr>
        <p:spPr>
          <a:xfrm>
            <a:off x="535940" y="1369313"/>
            <a:ext cx="8427438" cy="3779881"/>
          </a:xfrm>
          <a:prstGeom prst="rect">
            <a:avLst/>
          </a:prstGeom>
          <a:noFill/>
          <a:ln>
            <a:noFill/>
          </a:ln>
        </p:spPr>
        <p:txBody>
          <a:bodyPr spcFirstLastPara="1" wrap="square" lIns="0" tIns="85725" rIns="0" bIns="0" anchor="t" anchorCtr="0">
            <a:spAutoFit/>
          </a:bodyPr>
          <a:lstStyle/>
          <a:p>
            <a:pPr algn="just" fontAlgn="base"/>
            <a:r>
              <a:rPr lang="en-US" sz="2400" b="1" spc="10" dirty="0">
                <a:solidFill>
                  <a:srgbClr val="273239"/>
                </a:solidFill>
                <a:effectLst/>
                <a:highlight>
                  <a:srgbClr val="FFFFFF"/>
                </a:highlight>
                <a:latin typeface="Times New Roman" panose="02020603050405020304" pitchFamily="18" charset="0"/>
                <a:ea typeface="Times New Roman" panose="02020603050405020304" pitchFamily="18" charset="0"/>
              </a:rPr>
              <a:t>4. Phishing: </a:t>
            </a:r>
            <a:r>
              <a:rPr lang="en-US" sz="2400" spc="10" dirty="0">
                <a:solidFill>
                  <a:srgbClr val="273239"/>
                </a:solidFill>
                <a:effectLst/>
                <a:highlight>
                  <a:srgbClr val="FFFFFF"/>
                </a:highlight>
                <a:latin typeface="Times New Roman" panose="02020603050405020304" pitchFamily="18" charset="0"/>
                <a:ea typeface="Times New Roman" panose="02020603050405020304" pitchFamily="18" charset="0"/>
              </a:rPr>
              <a:t>Phishing is pronounced as “fishing” and working functioning is also similar. While fishing, we catch fish by luring them with bait. Similarly, in phishing, a user is tricked by the attacker who gains the trust of the  user or acts as if he is a genuine person and then steals the information by ditching. Not only attackers but some certain websites that seem to be genuine, but actually they are fraud sites. These sites trick the users and they end up giving their personal information such as login details or bank details or card number etc. Phishing is of many types: Voice phishing, text phishing etc.</a:t>
            </a:r>
            <a:endParaRPr lang="en-IN" sz="2400" dirty="0">
              <a:effectLst/>
              <a:highlight>
                <a:srgbClr val="FFFFFF"/>
              </a:highlight>
              <a:latin typeface="Times New Roman" panose="02020603050405020304" pitchFamily="18" charset="0"/>
              <a:ea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12"/>
          <p:cNvSpPr txBox="1"/>
          <p:nvPr/>
        </p:nvSpPr>
        <p:spPr>
          <a:xfrm>
            <a:off x="2475357" y="17780"/>
            <a:ext cx="6644767" cy="299720"/>
          </a:xfrm>
          <a:prstGeom prst="rect">
            <a:avLst/>
          </a:prstGeom>
          <a:noFill/>
          <a:ln>
            <a:noFill/>
          </a:ln>
        </p:spPr>
        <p:txBody>
          <a:bodyPr spcFirstLastPara="1" wrap="square" lIns="0" tIns="12700" rIns="0" bIns="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Department of Computer Science and Engineering (CSE)</a:t>
            </a:r>
            <a:endParaRPr sz="1800" b="0" i="0" u="none" strike="noStrike" cap="none" dirty="0">
              <a:solidFill>
                <a:schemeClr val="dk1"/>
              </a:solidFill>
              <a:latin typeface="Arial"/>
              <a:ea typeface="Arial"/>
              <a:cs typeface="Arial"/>
              <a:sym typeface="Arial"/>
            </a:endParaRPr>
          </a:p>
        </p:txBody>
      </p:sp>
      <p:sp>
        <p:nvSpPr>
          <p:cNvPr id="164" name="Google Shape;164;p12"/>
          <p:cNvSpPr txBox="1">
            <a:spLocks noGrp="1"/>
          </p:cNvSpPr>
          <p:nvPr>
            <p:ph type="ftr" idx="11"/>
          </p:nvPr>
        </p:nvSpPr>
        <p:spPr>
          <a:xfrm>
            <a:off x="2475357" y="6539204"/>
            <a:ext cx="4194809" cy="215444"/>
          </a:xfrm>
          <a:prstGeom prst="rect">
            <a:avLst/>
          </a:prstGeom>
          <a:noFill/>
          <a:ln>
            <a:noFill/>
          </a:ln>
        </p:spPr>
        <p:txBody>
          <a:bodyPr spcFirstLastPara="1" wrap="square" lIns="0" tIns="0" rIns="0" bIns="0" anchor="t" anchorCtr="0">
            <a:spAutoFit/>
          </a:bodyPr>
          <a:lstStyle/>
          <a:p>
            <a:pPr marL="12700" lvl="0" indent="0" algn="l" rtl="0">
              <a:lnSpc>
                <a:spcPct val="100250"/>
              </a:lnSpc>
              <a:spcBef>
                <a:spcPts val="0"/>
              </a:spcBef>
              <a:spcAft>
                <a:spcPts val="0"/>
              </a:spcAft>
              <a:buSzPts val="1400"/>
              <a:buNone/>
            </a:pPr>
            <a:r>
              <a:rPr lang="en-US" sz="1400" dirty="0"/>
              <a:t>University Institute of Engineering (UIE)</a:t>
            </a:r>
            <a:endParaRPr sz="1400" dirty="0"/>
          </a:p>
        </p:txBody>
      </p:sp>
      <p:sp>
        <p:nvSpPr>
          <p:cNvPr id="165" name="Google Shape;165;p12"/>
          <p:cNvSpPr txBox="1"/>
          <p:nvPr/>
        </p:nvSpPr>
        <p:spPr>
          <a:xfrm>
            <a:off x="231140" y="1463929"/>
            <a:ext cx="8528685" cy="3410549"/>
          </a:xfrm>
          <a:prstGeom prst="rect">
            <a:avLst/>
          </a:prstGeom>
          <a:noFill/>
          <a:ln>
            <a:noFill/>
          </a:ln>
        </p:spPr>
        <p:txBody>
          <a:bodyPr spcFirstLastPara="1" wrap="square" lIns="0" tIns="85725" rIns="0" bIns="0" anchor="t" anchorCtr="0">
            <a:spAutoFit/>
          </a:bodyPr>
          <a:lstStyle/>
          <a:p>
            <a:pPr algn="just" fontAlgn="base"/>
            <a:r>
              <a:rPr lang="en-US" sz="2400" b="1" spc="10" dirty="0">
                <a:solidFill>
                  <a:srgbClr val="273239"/>
                </a:solidFill>
                <a:effectLst/>
                <a:highlight>
                  <a:srgbClr val="FFFFFF"/>
                </a:highlight>
                <a:latin typeface="Times New Roman" panose="02020603050405020304" pitchFamily="18" charset="0"/>
                <a:ea typeface="Times New Roman" panose="02020603050405020304" pitchFamily="18" charset="0"/>
              </a:rPr>
              <a:t>5. Spoofing: </a:t>
            </a:r>
            <a:r>
              <a:rPr lang="en-US" sz="2400" spc="10" dirty="0">
                <a:solidFill>
                  <a:srgbClr val="273239"/>
                </a:solidFill>
                <a:effectLst/>
                <a:highlight>
                  <a:srgbClr val="FFFFFF"/>
                </a:highlight>
                <a:latin typeface="Times New Roman" panose="02020603050405020304" pitchFamily="18" charset="0"/>
                <a:ea typeface="Times New Roman" panose="02020603050405020304" pitchFamily="18" charset="0"/>
              </a:rPr>
              <a:t>Spoofing is the act of masquerading as a valid entity through falsification of data(such as an IP address or username), in order to gain access to information or resources that one is otherwise unauthorized to obtain. Spoofing is of several types- email spoofing, IP address spoofing, MAC spoofing , biometric spoofing etc.</a:t>
            </a:r>
            <a:endParaRPr lang="en-IN" sz="2400" dirty="0">
              <a:effectLst/>
              <a:highlight>
                <a:srgbClr val="FFFFFF"/>
              </a:highlight>
              <a:latin typeface="Times New Roman" panose="02020603050405020304" pitchFamily="18" charset="0"/>
              <a:ea typeface="Times New Roman" panose="02020603050405020304" pitchFamily="18" charset="0"/>
            </a:endParaRPr>
          </a:p>
          <a:p>
            <a:pPr algn="just" fontAlgn="base"/>
            <a:r>
              <a:rPr lang="en-US" sz="2400" b="1" spc="10" dirty="0">
                <a:solidFill>
                  <a:srgbClr val="273239"/>
                </a:solidFill>
                <a:effectLst/>
                <a:highlight>
                  <a:srgbClr val="FFFFFF"/>
                </a:highlight>
                <a:latin typeface="Times New Roman" panose="02020603050405020304" pitchFamily="18" charset="0"/>
                <a:ea typeface="Times New Roman" panose="02020603050405020304" pitchFamily="18" charset="0"/>
              </a:rPr>
              <a:t>6. Malware:</a:t>
            </a:r>
            <a:r>
              <a:rPr lang="en-US" sz="2400" spc="10" dirty="0">
                <a:solidFill>
                  <a:srgbClr val="273239"/>
                </a:solidFill>
                <a:effectLst/>
                <a:highlight>
                  <a:srgbClr val="FFFFFF"/>
                </a:highlight>
                <a:latin typeface="Times New Roman" panose="02020603050405020304" pitchFamily="18" charset="0"/>
                <a:ea typeface="Times New Roman" panose="02020603050405020304" pitchFamily="18" charset="0"/>
              </a:rPr>
              <a:t> Malware is made up of two terms: Malicious + Software = Malware. Malware intrudes into the system and is  designed to damage our computers. Different types of malware are adware, spyware, ransomware, Trojan horse, etc.</a:t>
            </a:r>
            <a:endParaRPr lang="en-IN" sz="2400" dirty="0">
              <a:effectLst/>
              <a:highlight>
                <a:srgbClr val="FFFFFF"/>
              </a:highlight>
              <a:latin typeface="Times New Roman" panose="02020603050405020304" pitchFamily="18" charset="0"/>
              <a:ea typeface="Times New Roman" panose="02020603050405020304" pitchFamily="18" charset="0"/>
            </a:endParaRPr>
          </a:p>
        </p:txBody>
      </p:sp>
      <p:sp>
        <p:nvSpPr>
          <p:cNvPr id="166" name="Google Shape;166;p12"/>
          <p:cNvSpPr txBox="1">
            <a:spLocks noGrp="1"/>
          </p:cNvSpPr>
          <p:nvPr>
            <p:ph type="title"/>
          </p:nvPr>
        </p:nvSpPr>
        <p:spPr>
          <a:xfrm>
            <a:off x="493039" y="622807"/>
            <a:ext cx="8157921" cy="382787"/>
          </a:xfrm>
          <a:prstGeom prst="rect">
            <a:avLst/>
          </a:prstGeom>
          <a:noFill/>
          <a:ln>
            <a:noFill/>
          </a:ln>
        </p:spPr>
        <p:txBody>
          <a:bodyPr spcFirstLastPara="1" wrap="square" lIns="0" tIns="13325" rIns="0" bIns="0" anchor="t" anchorCtr="0">
            <a:spAutoFit/>
          </a:bodyPr>
          <a:lstStyle/>
          <a:p>
            <a:pPr marL="610870" lvl="0" indent="0" algn="ctr" rtl="0">
              <a:lnSpc>
                <a:spcPct val="100000"/>
              </a:lnSpc>
              <a:spcBef>
                <a:spcPts val="0"/>
              </a:spcBef>
              <a:spcAft>
                <a:spcPts val="0"/>
              </a:spcAft>
              <a:buSzPts val="1400"/>
              <a:buNone/>
            </a:pPr>
            <a:r>
              <a:rPr lang="en-IN" sz="2400" b="1" spc="10" dirty="0">
                <a:solidFill>
                  <a:srgbClr val="273239"/>
                </a:solidFill>
                <a:effectLst/>
                <a:highlight>
                  <a:srgbClr val="FFFFFF"/>
                </a:highlight>
                <a:latin typeface="Times New Roman" panose="02020603050405020304" pitchFamily="18" charset="0"/>
                <a:ea typeface="Times New Roman" panose="02020603050405020304" pitchFamily="18" charset="0"/>
                <a:cs typeface="Raavi" panose="020B0502040204020203" pitchFamily="34" charset="0"/>
              </a:rPr>
              <a:t>Types of cyber attack</a:t>
            </a:r>
            <a:endParaRPr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13"/>
          <p:cNvSpPr txBox="1">
            <a:spLocks noGrp="1"/>
          </p:cNvSpPr>
          <p:nvPr>
            <p:ph type="ctrTitle"/>
          </p:nvPr>
        </p:nvSpPr>
        <p:spPr>
          <a:xfrm>
            <a:off x="-80010" y="17780"/>
            <a:ext cx="9200133" cy="299720"/>
          </a:xfrm>
          <a:prstGeom prst="rect">
            <a:avLst/>
          </a:prstGeom>
          <a:noFill/>
          <a:ln>
            <a:noFill/>
          </a:ln>
        </p:spPr>
        <p:txBody>
          <a:bodyPr spcFirstLastPara="1" wrap="square" lIns="0" tIns="12700" rIns="0" bIns="0" anchor="t" anchorCtr="0">
            <a:spAutoFit/>
          </a:bodyPr>
          <a:lstStyle/>
          <a:p>
            <a:pPr marL="3350259" lvl="0" indent="0" algn="l" rtl="0">
              <a:lnSpc>
                <a:spcPct val="100000"/>
              </a:lnSpc>
              <a:spcBef>
                <a:spcPts val="0"/>
              </a:spcBef>
              <a:spcAft>
                <a:spcPts val="0"/>
              </a:spcAft>
              <a:buSzPts val="1400"/>
              <a:buNone/>
            </a:pPr>
            <a:r>
              <a:rPr lang="en-US" dirty="0"/>
              <a:t>Department of Computer Science and Engineering (CSE)</a:t>
            </a:r>
            <a:endParaRPr dirty="0"/>
          </a:p>
        </p:txBody>
      </p:sp>
      <p:sp>
        <p:nvSpPr>
          <p:cNvPr id="173" name="Google Shape;173;p13"/>
          <p:cNvSpPr txBox="1"/>
          <p:nvPr/>
        </p:nvSpPr>
        <p:spPr>
          <a:xfrm>
            <a:off x="1478575" y="430566"/>
            <a:ext cx="4683125" cy="382787"/>
          </a:xfrm>
          <a:prstGeom prst="rect">
            <a:avLst/>
          </a:prstGeom>
          <a:noFill/>
          <a:ln>
            <a:noFill/>
          </a:ln>
        </p:spPr>
        <p:txBody>
          <a:bodyPr spcFirstLastPara="1" wrap="square" lIns="0" tIns="13325" rIns="0" bIns="0" anchor="t" anchorCtr="0">
            <a:spAutoFit/>
          </a:bodyPr>
          <a:lstStyle/>
          <a:p>
            <a:pPr marL="12700" marR="0" lvl="0" indent="0" algn="ctr" rtl="0">
              <a:lnSpc>
                <a:spcPct val="100000"/>
              </a:lnSpc>
              <a:spcBef>
                <a:spcPts val="0"/>
              </a:spcBef>
              <a:spcAft>
                <a:spcPts val="0"/>
              </a:spcAft>
              <a:buClr>
                <a:srgbClr val="000000"/>
              </a:buClr>
              <a:buSzPts val="3200"/>
              <a:buFont typeface="Arial"/>
              <a:buNone/>
            </a:pPr>
            <a:r>
              <a:rPr lang="en-IN" sz="2400" b="1" spc="10" dirty="0">
                <a:solidFill>
                  <a:srgbClr val="273239"/>
                </a:solidFill>
                <a:effectLst/>
                <a:highlight>
                  <a:srgbClr val="FFFFFF"/>
                </a:highlight>
                <a:latin typeface="Times New Roman" panose="02020603050405020304" pitchFamily="18" charset="0"/>
                <a:ea typeface="Times New Roman" panose="02020603050405020304" pitchFamily="18" charset="0"/>
                <a:cs typeface="Raavi" panose="020B0502040204020203" pitchFamily="34" charset="0"/>
              </a:rPr>
              <a:t>Types of cyber attack</a:t>
            </a:r>
            <a:endParaRPr sz="2400" b="0" i="0" u="none" strike="noStrike" cap="none" dirty="0">
              <a:solidFill>
                <a:schemeClr val="dk1"/>
              </a:solidFill>
              <a:latin typeface="Georgia"/>
              <a:ea typeface="Georgia"/>
              <a:cs typeface="Georgia"/>
              <a:sym typeface="Georgia"/>
            </a:endParaRPr>
          </a:p>
        </p:txBody>
      </p:sp>
      <p:sp>
        <p:nvSpPr>
          <p:cNvPr id="174" name="Google Shape;174;p13"/>
          <p:cNvSpPr txBox="1">
            <a:spLocks noGrp="1"/>
          </p:cNvSpPr>
          <p:nvPr>
            <p:ph type="ftr" idx="11"/>
          </p:nvPr>
        </p:nvSpPr>
        <p:spPr>
          <a:xfrm>
            <a:off x="2475357" y="6539204"/>
            <a:ext cx="4194809" cy="215444"/>
          </a:xfrm>
          <a:prstGeom prst="rect">
            <a:avLst/>
          </a:prstGeom>
          <a:noFill/>
          <a:ln>
            <a:noFill/>
          </a:ln>
        </p:spPr>
        <p:txBody>
          <a:bodyPr spcFirstLastPara="1" wrap="square" lIns="0" tIns="0" rIns="0" bIns="0" anchor="t" anchorCtr="0">
            <a:spAutoFit/>
          </a:bodyPr>
          <a:lstStyle/>
          <a:p>
            <a:pPr marL="12700" lvl="0" indent="0" algn="l" rtl="0">
              <a:lnSpc>
                <a:spcPct val="100250"/>
              </a:lnSpc>
              <a:spcBef>
                <a:spcPts val="0"/>
              </a:spcBef>
              <a:spcAft>
                <a:spcPts val="0"/>
              </a:spcAft>
              <a:buSzPts val="1400"/>
              <a:buNone/>
            </a:pPr>
            <a:r>
              <a:rPr lang="en-US" sz="1400" dirty="0"/>
              <a:t>University Institute of Engineering (UIE)</a:t>
            </a:r>
            <a:endParaRPr sz="1400" dirty="0"/>
          </a:p>
        </p:txBody>
      </p:sp>
      <p:sp>
        <p:nvSpPr>
          <p:cNvPr id="3" name="TextBox 2">
            <a:extLst>
              <a:ext uri="{FF2B5EF4-FFF2-40B4-BE49-F238E27FC236}">
                <a16:creationId xmlns:a16="http://schemas.microsoft.com/office/drawing/2014/main" id="{88AF2155-9B78-6C0D-4FC0-0B18243176A6}"/>
              </a:ext>
            </a:extLst>
          </p:cNvPr>
          <p:cNvSpPr txBox="1"/>
          <p:nvPr/>
        </p:nvSpPr>
        <p:spPr>
          <a:xfrm>
            <a:off x="824089" y="1433689"/>
            <a:ext cx="7947378" cy="3785652"/>
          </a:xfrm>
          <a:prstGeom prst="rect">
            <a:avLst/>
          </a:prstGeom>
          <a:noFill/>
        </p:spPr>
        <p:txBody>
          <a:bodyPr wrap="square">
            <a:spAutoFit/>
          </a:bodyPr>
          <a:lstStyle/>
          <a:p>
            <a:pPr algn="just" fontAlgn="base"/>
            <a:r>
              <a:rPr lang="en-US" sz="2400" b="1" spc="10" dirty="0">
                <a:solidFill>
                  <a:srgbClr val="273239"/>
                </a:solidFill>
                <a:effectLst/>
                <a:highlight>
                  <a:srgbClr val="FFFFFF"/>
                </a:highlight>
                <a:latin typeface="Times New Roman" panose="02020603050405020304" pitchFamily="18" charset="0"/>
                <a:ea typeface="Times New Roman" panose="02020603050405020304" pitchFamily="18" charset="0"/>
              </a:rPr>
              <a:t>7. Social engineering: </a:t>
            </a:r>
            <a:r>
              <a:rPr lang="en-US" sz="2400" spc="10" dirty="0">
                <a:solidFill>
                  <a:srgbClr val="273239"/>
                </a:solidFill>
                <a:effectLst/>
                <a:highlight>
                  <a:srgbClr val="FFFFFF"/>
                </a:highlight>
                <a:latin typeface="Times New Roman" panose="02020603050405020304" pitchFamily="18" charset="0"/>
                <a:ea typeface="Times New Roman" panose="02020603050405020304" pitchFamily="18" charset="0"/>
              </a:rPr>
              <a:t>Social engineering attack involves manipulating users psychologically and extracting   confidential or sensitive data from them by gaining their trust. The attacker generally exploits the trust of people or users by relying on their cognitive basis. </a:t>
            </a:r>
            <a:endParaRPr lang="en-IN" sz="2400" dirty="0">
              <a:effectLst/>
              <a:highlight>
                <a:srgbClr val="FFFFFF"/>
              </a:highlight>
              <a:latin typeface="Times New Roman" panose="02020603050405020304" pitchFamily="18" charset="0"/>
              <a:ea typeface="Times New Roman" panose="02020603050405020304" pitchFamily="18" charset="0"/>
            </a:endParaRPr>
          </a:p>
          <a:p>
            <a:pPr algn="just" fontAlgn="base"/>
            <a:r>
              <a:rPr lang="en-US" sz="2400" b="1" spc="10" dirty="0">
                <a:solidFill>
                  <a:srgbClr val="273239"/>
                </a:solidFill>
                <a:effectLst/>
                <a:highlight>
                  <a:srgbClr val="FFFFFF"/>
                </a:highlight>
                <a:latin typeface="Times New Roman" panose="02020603050405020304" pitchFamily="18" charset="0"/>
                <a:ea typeface="Times New Roman" panose="02020603050405020304" pitchFamily="18" charset="0"/>
              </a:rPr>
              <a:t>8. Polymorphic Attacks: </a:t>
            </a:r>
            <a:r>
              <a:rPr lang="en-US" sz="2400" spc="10" dirty="0">
                <a:solidFill>
                  <a:srgbClr val="273239"/>
                </a:solidFill>
                <a:effectLst/>
                <a:highlight>
                  <a:srgbClr val="FFFFFF"/>
                </a:highlight>
                <a:latin typeface="Times New Roman" panose="02020603050405020304" pitchFamily="18" charset="0"/>
                <a:ea typeface="Times New Roman" panose="02020603050405020304" pitchFamily="18" charset="0"/>
              </a:rPr>
              <a:t>Poly means “many” and morph means “form”, polymorphic attacks are those in which attacker adopts multiple forms and changes them so that they are not recognized easily. These kinds of attacks are difficult to detect due to their changing forms.</a:t>
            </a:r>
            <a:endParaRPr lang="en-IN" sz="2400" dirty="0">
              <a:effectLst/>
              <a:highlight>
                <a:srgbClr val="FFFFFF"/>
              </a:highlight>
              <a:latin typeface="Times New Roman" panose="02020603050405020304" pitchFamily="18" charset="0"/>
              <a:ea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14"/>
          <p:cNvSpPr txBox="1"/>
          <p:nvPr/>
        </p:nvSpPr>
        <p:spPr>
          <a:xfrm>
            <a:off x="2628900" y="17780"/>
            <a:ext cx="6491224" cy="299720"/>
          </a:xfrm>
          <a:prstGeom prst="rect">
            <a:avLst/>
          </a:prstGeom>
          <a:noFill/>
          <a:ln>
            <a:noFill/>
          </a:ln>
        </p:spPr>
        <p:txBody>
          <a:bodyPr spcFirstLastPara="1" wrap="square" lIns="0" tIns="12700" rIns="0" bIns="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Department of Computer Science and Engineering (CSE)</a:t>
            </a:r>
            <a:endParaRPr sz="1800" b="0" i="0" u="none" strike="noStrike" cap="none" dirty="0">
              <a:solidFill>
                <a:schemeClr val="dk1"/>
              </a:solidFill>
              <a:latin typeface="Arial"/>
              <a:ea typeface="Arial"/>
              <a:cs typeface="Arial"/>
              <a:sym typeface="Arial"/>
            </a:endParaRPr>
          </a:p>
        </p:txBody>
      </p:sp>
      <p:sp>
        <p:nvSpPr>
          <p:cNvPr id="180" name="Google Shape;180;p14"/>
          <p:cNvSpPr txBox="1">
            <a:spLocks noGrp="1"/>
          </p:cNvSpPr>
          <p:nvPr>
            <p:ph type="ftr" idx="11"/>
          </p:nvPr>
        </p:nvSpPr>
        <p:spPr>
          <a:xfrm>
            <a:off x="2475357" y="6539204"/>
            <a:ext cx="4194809" cy="215444"/>
          </a:xfrm>
          <a:prstGeom prst="rect">
            <a:avLst/>
          </a:prstGeom>
          <a:noFill/>
          <a:ln>
            <a:noFill/>
          </a:ln>
        </p:spPr>
        <p:txBody>
          <a:bodyPr spcFirstLastPara="1" wrap="square" lIns="0" tIns="0" rIns="0" bIns="0" anchor="t" anchorCtr="0">
            <a:spAutoFit/>
          </a:bodyPr>
          <a:lstStyle/>
          <a:p>
            <a:pPr marL="12700" lvl="0" indent="0" algn="l" rtl="0">
              <a:lnSpc>
                <a:spcPct val="100250"/>
              </a:lnSpc>
              <a:spcBef>
                <a:spcPts val="0"/>
              </a:spcBef>
              <a:spcAft>
                <a:spcPts val="0"/>
              </a:spcAft>
              <a:buSzPts val="1400"/>
              <a:buNone/>
            </a:pPr>
            <a:r>
              <a:rPr lang="en-US" sz="1400" dirty="0"/>
              <a:t>University Institute of Engineering (UIE)</a:t>
            </a:r>
            <a:endParaRPr sz="1400" dirty="0"/>
          </a:p>
        </p:txBody>
      </p:sp>
      <p:sp>
        <p:nvSpPr>
          <p:cNvPr id="181" name="Google Shape;181;p14"/>
          <p:cNvSpPr txBox="1">
            <a:spLocks noGrp="1"/>
          </p:cNvSpPr>
          <p:nvPr>
            <p:ph type="title"/>
          </p:nvPr>
        </p:nvSpPr>
        <p:spPr>
          <a:xfrm>
            <a:off x="1970913" y="409194"/>
            <a:ext cx="5200650" cy="751488"/>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br>
              <a:rPr lang="en-US" sz="2400" dirty="0"/>
            </a:br>
            <a:endParaRPr sz="2400" dirty="0"/>
          </a:p>
        </p:txBody>
      </p:sp>
      <p:sp>
        <p:nvSpPr>
          <p:cNvPr id="3" name="TextBox 2">
            <a:extLst>
              <a:ext uri="{FF2B5EF4-FFF2-40B4-BE49-F238E27FC236}">
                <a16:creationId xmlns:a16="http://schemas.microsoft.com/office/drawing/2014/main" id="{73A81DFA-87AE-9495-782F-AB8138A68E3A}"/>
              </a:ext>
            </a:extLst>
          </p:cNvPr>
          <p:cNvSpPr txBox="1"/>
          <p:nvPr/>
        </p:nvSpPr>
        <p:spPr>
          <a:xfrm>
            <a:off x="677333" y="2788356"/>
            <a:ext cx="7258756" cy="523220"/>
          </a:xfrm>
          <a:prstGeom prst="rect">
            <a:avLst/>
          </a:prstGeom>
          <a:noFill/>
        </p:spPr>
        <p:txBody>
          <a:bodyPr wrap="square" rtlCol="0">
            <a:spAutoFit/>
          </a:bodyPr>
          <a:lstStyle/>
          <a:p>
            <a:r>
              <a:rPr lang="en-US" dirty="0"/>
              <a:t>https://</a:t>
            </a:r>
            <a:r>
              <a:rPr lang="en-US" dirty="0" err="1"/>
              <a:t>www.youtube.com</a:t>
            </a:r>
            <a:r>
              <a:rPr lang="en-US" dirty="0"/>
              <a:t>/</a:t>
            </a:r>
            <a:r>
              <a:rPr lang="en-US" dirty="0" err="1"/>
              <a:t>watch?v</a:t>
            </a:r>
            <a:r>
              <a:rPr lang="en-US" dirty="0"/>
              <a:t>=</a:t>
            </a:r>
            <a:r>
              <a:rPr lang="en-US" dirty="0" err="1"/>
              <a:t>IrRzNqTrfiA&amp;list</a:t>
            </a:r>
            <a:r>
              <a:rPr lang="en-US" dirty="0"/>
              <a:t>=PL8DVBg0tfxv2elC0-4Y6l5ZDy1qHlWpQd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22"/>
          <p:cNvSpPr txBox="1"/>
          <p:nvPr/>
        </p:nvSpPr>
        <p:spPr>
          <a:xfrm>
            <a:off x="2475357" y="17780"/>
            <a:ext cx="6644767" cy="299720"/>
          </a:xfrm>
          <a:prstGeom prst="rect">
            <a:avLst/>
          </a:prstGeom>
          <a:noFill/>
          <a:ln>
            <a:noFill/>
          </a:ln>
        </p:spPr>
        <p:txBody>
          <a:bodyPr spcFirstLastPara="1" wrap="square" lIns="0" tIns="12700" rIns="0" bIns="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Department of Computer Science and Engineering (CSE)</a:t>
            </a:r>
            <a:endParaRPr sz="1800" b="0" i="0" u="none" strike="noStrike" cap="none" dirty="0">
              <a:solidFill>
                <a:schemeClr val="dk1"/>
              </a:solidFill>
              <a:latin typeface="Arial"/>
              <a:ea typeface="Arial"/>
              <a:cs typeface="Arial"/>
              <a:sym typeface="Arial"/>
            </a:endParaRPr>
          </a:p>
        </p:txBody>
      </p:sp>
      <p:sp>
        <p:nvSpPr>
          <p:cNvPr id="248" name="Google Shape;248;p22"/>
          <p:cNvSpPr txBox="1">
            <a:spLocks noGrp="1"/>
          </p:cNvSpPr>
          <p:nvPr>
            <p:ph type="ftr" idx="11"/>
          </p:nvPr>
        </p:nvSpPr>
        <p:spPr>
          <a:xfrm>
            <a:off x="2475357" y="6539204"/>
            <a:ext cx="4194809" cy="215444"/>
          </a:xfrm>
          <a:prstGeom prst="rect">
            <a:avLst/>
          </a:prstGeom>
          <a:noFill/>
          <a:ln>
            <a:noFill/>
          </a:ln>
        </p:spPr>
        <p:txBody>
          <a:bodyPr spcFirstLastPara="1" wrap="square" lIns="0" tIns="0" rIns="0" bIns="0" anchor="t" anchorCtr="0">
            <a:spAutoFit/>
          </a:bodyPr>
          <a:lstStyle/>
          <a:p>
            <a:pPr marL="12700" lvl="0" indent="0" algn="l" rtl="0">
              <a:lnSpc>
                <a:spcPct val="100250"/>
              </a:lnSpc>
              <a:spcBef>
                <a:spcPts val="0"/>
              </a:spcBef>
              <a:spcAft>
                <a:spcPts val="0"/>
              </a:spcAft>
              <a:buSzPts val="1400"/>
              <a:buNone/>
            </a:pPr>
            <a:r>
              <a:rPr lang="en-US" sz="1400" dirty="0"/>
              <a:t>University Institute of Engineering (UIE)</a:t>
            </a:r>
            <a:endParaRPr sz="1400" dirty="0"/>
          </a:p>
        </p:txBody>
      </p:sp>
      <p:sp>
        <p:nvSpPr>
          <p:cNvPr id="249" name="Google Shape;249;p22"/>
          <p:cNvSpPr txBox="1">
            <a:spLocks noGrp="1"/>
          </p:cNvSpPr>
          <p:nvPr>
            <p:ph type="title"/>
          </p:nvPr>
        </p:nvSpPr>
        <p:spPr>
          <a:xfrm>
            <a:off x="3783324" y="691650"/>
            <a:ext cx="3246000" cy="382156"/>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2400" dirty="0"/>
              <a:t>References</a:t>
            </a:r>
            <a:endParaRPr sz="2400" dirty="0"/>
          </a:p>
        </p:txBody>
      </p:sp>
      <p:sp>
        <p:nvSpPr>
          <p:cNvPr id="250" name="Google Shape;250;p22"/>
          <p:cNvSpPr txBox="1"/>
          <p:nvPr/>
        </p:nvSpPr>
        <p:spPr>
          <a:xfrm>
            <a:off x="231140" y="1692211"/>
            <a:ext cx="8630638" cy="4437615"/>
          </a:xfrm>
          <a:prstGeom prst="rect">
            <a:avLst/>
          </a:prstGeom>
          <a:noFill/>
          <a:ln>
            <a:noFill/>
          </a:ln>
        </p:spPr>
        <p:txBody>
          <a:bodyPr spcFirstLastPara="1" wrap="square" lIns="0" tIns="86350" rIns="0" bIns="0" anchor="t" anchorCtr="0">
            <a:spAutoFit/>
          </a:bodyPr>
          <a:lstStyle/>
          <a:p>
            <a:pPr marR="53975" lvl="0" algn="just">
              <a:lnSpc>
                <a:spcPct val="115000"/>
              </a:lnSpc>
              <a:spcBef>
                <a:spcPts val="1200"/>
              </a:spcBef>
            </a:pPr>
            <a:r>
              <a:rPr lang="en-IN" sz="1800" b="1" dirty="0">
                <a:solidFill>
                  <a:srgbClr val="000000"/>
                </a:solidFill>
                <a:effectLst/>
                <a:highlight>
                  <a:srgbClr val="FFFFFF"/>
                </a:highlight>
                <a:latin typeface="Times New Roman" panose="02020603050405020304" pitchFamily="18" charset="0"/>
                <a:ea typeface="Times New Roman" panose="02020603050405020304" pitchFamily="18" charset="0"/>
              </a:rPr>
              <a:t>TEXT BOOKS/REFERENCE BOOKS</a:t>
            </a:r>
            <a:endParaRPr lang="en-IN" sz="1800" dirty="0">
              <a:solidFill>
                <a:srgbClr val="000000"/>
              </a:solidFill>
              <a:effectLst/>
              <a:highlight>
                <a:srgbClr val="FFFFFF"/>
              </a:highlight>
              <a:latin typeface="Times New Roman" panose="02020603050405020304" pitchFamily="18" charset="0"/>
              <a:ea typeface="Times New Roman" panose="02020603050405020304" pitchFamily="18" charset="0"/>
            </a:endParaRPr>
          </a:p>
          <a:p>
            <a:pPr marL="457200" marR="53975" algn="just">
              <a:spcAft>
                <a:spcPts val="0"/>
              </a:spcAft>
            </a:pPr>
            <a:r>
              <a:rPr lang="en-IN" sz="1800" b="1"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pPr marL="457200" marR="53975" algn="just">
              <a:spcAft>
                <a:spcPts val="0"/>
              </a:spcAft>
            </a:pPr>
            <a:r>
              <a:rPr lang="en-IN" sz="1800" b="1" dirty="0">
                <a:effectLst/>
                <a:latin typeface="Times New Roman" panose="02020603050405020304" pitchFamily="18" charset="0"/>
                <a:ea typeface="Times New Roman" panose="02020603050405020304" pitchFamily="18" charset="0"/>
              </a:rPr>
              <a:t>TEXT BOOKS</a:t>
            </a:r>
            <a:endParaRPr lang="en-IN" sz="1800" dirty="0">
              <a:effectLst/>
              <a:latin typeface="Times New Roman" panose="02020603050405020304" pitchFamily="18" charset="0"/>
              <a:ea typeface="Times New Roman" panose="02020603050405020304" pitchFamily="18" charset="0"/>
            </a:endParaRPr>
          </a:p>
          <a:p>
            <a:r>
              <a:rPr lang="en-IN" sz="1800" b="1" dirty="0">
                <a:latin typeface="Times New Roman" panose="02020603050405020304" pitchFamily="18" charset="0"/>
                <a:ea typeface="Times New Roman" panose="02020603050405020304" pitchFamily="18" charset="0"/>
              </a:rPr>
              <a:t>        </a:t>
            </a:r>
            <a:r>
              <a:rPr lang="en-IN" sz="1800" b="1" dirty="0">
                <a:effectLst/>
                <a:latin typeface="Times New Roman" panose="02020603050405020304" pitchFamily="18" charset="0"/>
                <a:ea typeface="Times New Roman" panose="02020603050405020304" pitchFamily="18" charset="0"/>
              </a:rPr>
              <a:t>T1 </a:t>
            </a:r>
            <a:r>
              <a:rPr lang="en-IN" sz="1800" dirty="0">
                <a:effectLst/>
                <a:latin typeface="Times New Roman" panose="02020603050405020304" pitchFamily="18" charset="0"/>
                <a:ea typeface="Times New Roman" panose="02020603050405020304" pitchFamily="18" charset="0"/>
              </a:rPr>
              <a:t>Introduction to Cyber Security by </a:t>
            </a:r>
            <a:r>
              <a:rPr lang="en-IN" sz="1800" dirty="0" err="1">
                <a:effectLst/>
                <a:latin typeface="Times New Roman" panose="02020603050405020304" pitchFamily="18" charset="0"/>
                <a:ea typeface="Times New Roman" panose="02020603050405020304" pitchFamily="18" charset="0"/>
              </a:rPr>
              <a:t>Shimeall</a:t>
            </a:r>
            <a:r>
              <a:rPr lang="en-IN" sz="1800" dirty="0">
                <a:effectLst/>
                <a:latin typeface="Times New Roman" panose="02020603050405020304" pitchFamily="18" charset="0"/>
                <a:ea typeface="Times New Roman" panose="02020603050405020304" pitchFamily="18" charset="0"/>
              </a:rPr>
              <a:t> , Elsevier Science, 2nd Edition, 2017. </a:t>
            </a:r>
          </a:p>
          <a:p>
            <a:pPr marL="457200"/>
            <a:r>
              <a:rPr lang="en-IN" sz="1800" b="1" dirty="0">
                <a:effectLst/>
                <a:latin typeface="Times New Roman" panose="02020603050405020304" pitchFamily="18" charset="0"/>
                <a:ea typeface="Times New Roman" panose="02020603050405020304" pitchFamily="18" charset="0"/>
              </a:rPr>
              <a:t>T2</a:t>
            </a:r>
            <a:r>
              <a:rPr lang="en-IN" sz="1800" dirty="0">
                <a:effectLst/>
                <a:latin typeface="Times New Roman" panose="02020603050405020304" pitchFamily="18" charset="0"/>
                <a:ea typeface="Times New Roman" panose="02020603050405020304" pitchFamily="18" charset="0"/>
              </a:rPr>
              <a:t>Introduction To Information Security And Cyber Laws by Surya Prakash Tripathi and </a:t>
            </a:r>
            <a:r>
              <a:rPr lang="en-IN" sz="1800" dirty="0" err="1">
                <a:effectLst/>
                <a:latin typeface="Times New Roman" panose="02020603050405020304" pitchFamily="18" charset="0"/>
                <a:ea typeface="Times New Roman" panose="02020603050405020304" pitchFamily="18" charset="0"/>
              </a:rPr>
              <a:t>Ritendra</a:t>
            </a:r>
            <a:r>
              <a:rPr lang="en-IN" sz="1800" dirty="0">
                <a:effectLst/>
                <a:latin typeface="Times New Roman" panose="02020603050405020304" pitchFamily="18" charset="0"/>
                <a:ea typeface="Times New Roman" panose="02020603050405020304" pitchFamily="18" charset="0"/>
              </a:rPr>
              <a:t>, John Wiley</a:t>
            </a:r>
          </a:p>
          <a:p>
            <a:pPr marL="457200" marR="53975" algn="just">
              <a:spcAft>
                <a:spcPts val="0"/>
              </a:spcAft>
            </a:pPr>
            <a:r>
              <a:rPr lang="en-IN" sz="1800" dirty="0">
                <a:effectLst/>
                <a:latin typeface="Times New Roman" panose="02020603050405020304" pitchFamily="18" charset="0"/>
                <a:ea typeface="Times New Roman" panose="02020603050405020304" pitchFamily="18" charset="0"/>
              </a:rPr>
              <a:t>, 2010.</a:t>
            </a:r>
          </a:p>
          <a:p>
            <a:pPr marL="457200" marR="53975" algn="just">
              <a:spcAft>
                <a:spcPts val="0"/>
              </a:spcAft>
            </a:pPr>
            <a:r>
              <a:rPr lang="en-IN" sz="1800" dirty="0">
                <a:effectLst/>
                <a:latin typeface="Times New Roman" panose="02020603050405020304" pitchFamily="18" charset="0"/>
                <a:ea typeface="Times New Roman" panose="02020603050405020304" pitchFamily="18" charset="0"/>
              </a:rPr>
              <a:t> </a:t>
            </a:r>
          </a:p>
          <a:p>
            <a:pPr marL="457200" marR="53975" algn="just">
              <a:spcAft>
                <a:spcPts val="0"/>
              </a:spcAft>
            </a:pPr>
            <a:r>
              <a:rPr lang="en-IN" sz="1800" b="1" dirty="0">
                <a:effectLst/>
                <a:latin typeface="Times New Roman" panose="02020603050405020304" pitchFamily="18" charset="0"/>
                <a:ea typeface="Times New Roman" panose="02020603050405020304" pitchFamily="18" charset="0"/>
              </a:rPr>
              <a:t>REFERENCE BOOKS</a:t>
            </a:r>
            <a:endParaRPr lang="en-IN" sz="1800" dirty="0">
              <a:effectLst/>
              <a:latin typeface="Times New Roman" panose="02020603050405020304" pitchFamily="18" charset="0"/>
              <a:ea typeface="Times New Roman" panose="02020603050405020304" pitchFamily="18" charset="0"/>
            </a:endParaRPr>
          </a:p>
          <a:p>
            <a:pPr marL="457200"/>
            <a:r>
              <a:rPr lang="en-IN" sz="1800" b="1" dirty="0">
                <a:effectLst/>
                <a:latin typeface="Times New Roman" panose="02020603050405020304" pitchFamily="18" charset="0"/>
                <a:ea typeface="Times New Roman" panose="02020603050405020304" pitchFamily="18" charset="0"/>
              </a:rPr>
              <a:t>R1</a:t>
            </a:r>
            <a:r>
              <a:rPr lang="en-IN" sz="1800" dirty="0">
                <a:effectLst/>
                <a:latin typeface="Times New Roman" panose="02020603050405020304" pitchFamily="18" charset="0"/>
                <a:ea typeface="Times New Roman" panose="02020603050405020304" pitchFamily="18" charset="0"/>
              </a:rPr>
              <a:t>Principles of Information Security, By Michael E. Whiteman. Cengage Learning, 2015 </a:t>
            </a:r>
          </a:p>
          <a:p>
            <a:pPr marL="457200"/>
            <a:r>
              <a:rPr lang="en-IN" sz="1800" b="1" dirty="0">
                <a:effectLst/>
                <a:latin typeface="Times New Roman" panose="02020603050405020304" pitchFamily="18" charset="0"/>
                <a:ea typeface="Times New Roman" panose="02020603050405020304" pitchFamily="18" charset="0"/>
              </a:rPr>
              <a:t>R2</a:t>
            </a:r>
            <a:r>
              <a:rPr lang="en-IN" sz="1800" dirty="0">
                <a:effectLst/>
                <a:latin typeface="Times New Roman" panose="02020603050405020304" pitchFamily="18" charset="0"/>
                <a:ea typeface="Times New Roman" panose="02020603050405020304" pitchFamily="18" charset="0"/>
              </a:rPr>
              <a:t>.Information Technology </a:t>
            </a:r>
            <a:r>
              <a:rPr lang="en-IN" sz="1800" dirty="0" err="1">
                <a:effectLst/>
                <a:latin typeface="Times New Roman" panose="02020603050405020304" pitchFamily="18" charset="0"/>
                <a:ea typeface="Times New Roman" panose="02020603050405020304" pitchFamily="18" charset="0"/>
              </a:rPr>
              <a:t>SecurityFundamentals</a:t>
            </a:r>
            <a:r>
              <a:rPr lang="en-IN" sz="1800" dirty="0">
                <a:effectLst/>
                <a:latin typeface="Times New Roman" panose="02020603050405020304" pitchFamily="18" charset="0"/>
                <a:ea typeface="Times New Roman" panose="02020603050405020304" pitchFamily="18" charset="0"/>
              </a:rPr>
              <a:t>, by Glen Sagar, Business Expert Press, 2022</a:t>
            </a:r>
          </a:p>
          <a:p>
            <a:pPr marL="457200" marR="53975" algn="just">
              <a:spcAft>
                <a:spcPts val="0"/>
              </a:spcAft>
            </a:pPr>
            <a:r>
              <a:rPr lang="en-IN" sz="1800" b="1" dirty="0">
                <a:effectLst/>
                <a:latin typeface="Times New Roman" panose="02020603050405020304" pitchFamily="18" charset="0"/>
                <a:ea typeface="Times New Roman" panose="02020603050405020304" pitchFamily="18" charset="0"/>
              </a:rPr>
              <a:t>R3</a:t>
            </a:r>
            <a:r>
              <a:rPr lang="en-IN" sz="1800" dirty="0">
                <a:effectLst/>
                <a:latin typeface="Times New Roman" panose="02020603050405020304" pitchFamily="18" charset="0"/>
                <a:ea typeface="Times New Roman" panose="02020603050405020304" pitchFamily="18" charset="0"/>
              </a:rPr>
              <a:t>Information Security Policies And Procedures: A Practitioners Reference 2Nd Edition by Peltier Thomas R., T&amp;F India, 2004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Shape 256"/>
        <p:cNvGrpSpPr/>
        <p:nvPr/>
      </p:nvGrpSpPr>
      <p:grpSpPr>
        <a:xfrm>
          <a:off x="0" y="0"/>
          <a:ext cx="0" cy="0"/>
          <a:chOff x="0" y="0"/>
          <a:chExt cx="0" cy="0"/>
        </a:xfrm>
      </p:grpSpPr>
      <p:grpSp>
        <p:nvGrpSpPr>
          <p:cNvPr id="257" name="Google Shape;257;p23"/>
          <p:cNvGrpSpPr/>
          <p:nvPr/>
        </p:nvGrpSpPr>
        <p:grpSpPr>
          <a:xfrm>
            <a:off x="0" y="11430"/>
            <a:ext cx="9144381" cy="6858000"/>
            <a:chOff x="0" y="0"/>
            <a:chExt cx="9144381" cy="6858000"/>
          </a:xfrm>
        </p:grpSpPr>
        <p:sp>
          <p:nvSpPr>
            <p:cNvPr id="258" name="Google Shape;258;p23"/>
            <p:cNvSpPr/>
            <p:nvPr/>
          </p:nvSpPr>
          <p:spPr>
            <a:xfrm>
              <a:off x="0" y="0"/>
              <a:ext cx="9144000" cy="68580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59" name="Google Shape;259;p23"/>
            <p:cNvSpPr/>
            <p:nvPr/>
          </p:nvSpPr>
          <p:spPr>
            <a:xfrm>
              <a:off x="0" y="6356603"/>
              <a:ext cx="9144000" cy="88900"/>
            </a:xfrm>
            <a:custGeom>
              <a:avLst/>
              <a:gdLst/>
              <a:ahLst/>
              <a:cxnLst/>
              <a:rect l="l" t="t" r="r" b="b"/>
              <a:pathLst>
                <a:path w="9144000" h="88900" extrusionOk="0">
                  <a:moveTo>
                    <a:pt x="9144000" y="70713"/>
                  </a:moveTo>
                  <a:lnTo>
                    <a:pt x="0" y="70713"/>
                  </a:lnTo>
                  <a:lnTo>
                    <a:pt x="0" y="88392"/>
                  </a:lnTo>
                  <a:lnTo>
                    <a:pt x="9144000" y="88392"/>
                  </a:lnTo>
                  <a:lnTo>
                    <a:pt x="9144000" y="70713"/>
                  </a:lnTo>
                  <a:close/>
                </a:path>
                <a:path w="9144000" h="88900" extrusionOk="0">
                  <a:moveTo>
                    <a:pt x="9144000" y="0"/>
                  </a:moveTo>
                  <a:lnTo>
                    <a:pt x="0" y="0"/>
                  </a:lnTo>
                  <a:lnTo>
                    <a:pt x="0" y="53035"/>
                  </a:lnTo>
                  <a:lnTo>
                    <a:pt x="9144000" y="53035"/>
                  </a:lnTo>
                  <a:lnTo>
                    <a:pt x="9144000" y="0"/>
                  </a:lnTo>
                  <a:close/>
                </a:path>
              </a:pathLst>
            </a:custGeom>
            <a:solidFill>
              <a:srgbClr val="C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0" name="Google Shape;260;p23"/>
            <p:cNvSpPr/>
            <p:nvPr/>
          </p:nvSpPr>
          <p:spPr>
            <a:xfrm>
              <a:off x="152399" y="152400"/>
              <a:ext cx="768095" cy="1219200"/>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1" name="Google Shape;261;p23"/>
            <p:cNvSpPr/>
            <p:nvPr/>
          </p:nvSpPr>
          <p:spPr>
            <a:xfrm>
              <a:off x="2779776" y="0"/>
              <a:ext cx="6364605" cy="394970"/>
            </a:xfrm>
            <a:custGeom>
              <a:avLst/>
              <a:gdLst/>
              <a:ahLst/>
              <a:cxnLst/>
              <a:rect l="l" t="t" r="r" b="b"/>
              <a:pathLst>
                <a:path w="6364605" h="394970" extrusionOk="0">
                  <a:moveTo>
                    <a:pt x="6356604" y="8890"/>
                  </a:moveTo>
                  <a:lnTo>
                    <a:pt x="33528" y="8890"/>
                  </a:lnTo>
                  <a:lnTo>
                    <a:pt x="33528" y="25400"/>
                  </a:lnTo>
                  <a:lnTo>
                    <a:pt x="33528" y="344170"/>
                  </a:lnTo>
                  <a:lnTo>
                    <a:pt x="33528" y="360680"/>
                  </a:lnTo>
                  <a:lnTo>
                    <a:pt x="6356604" y="360680"/>
                  </a:lnTo>
                  <a:lnTo>
                    <a:pt x="6356604" y="344424"/>
                  </a:lnTo>
                  <a:lnTo>
                    <a:pt x="6356604" y="344170"/>
                  </a:lnTo>
                  <a:lnTo>
                    <a:pt x="6356604" y="25908"/>
                  </a:lnTo>
                  <a:lnTo>
                    <a:pt x="6339840" y="25908"/>
                  </a:lnTo>
                  <a:lnTo>
                    <a:pt x="6339840" y="344170"/>
                  </a:lnTo>
                  <a:lnTo>
                    <a:pt x="50292" y="344170"/>
                  </a:lnTo>
                  <a:lnTo>
                    <a:pt x="50292" y="25400"/>
                  </a:lnTo>
                  <a:lnTo>
                    <a:pt x="6356604" y="25400"/>
                  </a:lnTo>
                  <a:lnTo>
                    <a:pt x="6356604" y="8890"/>
                  </a:lnTo>
                  <a:close/>
                </a:path>
                <a:path w="6364605" h="394970" extrusionOk="0">
                  <a:moveTo>
                    <a:pt x="6364224" y="378460"/>
                  </a:moveTo>
                  <a:lnTo>
                    <a:pt x="16764" y="378460"/>
                  </a:lnTo>
                  <a:lnTo>
                    <a:pt x="16764" y="0"/>
                  </a:lnTo>
                  <a:lnTo>
                    <a:pt x="0" y="0"/>
                  </a:lnTo>
                  <a:lnTo>
                    <a:pt x="0" y="378460"/>
                  </a:lnTo>
                  <a:lnTo>
                    <a:pt x="0" y="394970"/>
                  </a:lnTo>
                  <a:lnTo>
                    <a:pt x="6364224" y="394970"/>
                  </a:lnTo>
                  <a:lnTo>
                    <a:pt x="6364224" y="378460"/>
                  </a:lnTo>
                  <a:close/>
                </a:path>
              </a:pathLst>
            </a:custGeom>
            <a:solidFill>
              <a:srgbClr val="C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262" name="Google Shape;262;p23"/>
          <p:cNvSpPr txBox="1"/>
          <p:nvPr/>
        </p:nvSpPr>
        <p:spPr>
          <a:xfrm>
            <a:off x="2475350" y="17780"/>
            <a:ext cx="6644774" cy="299720"/>
          </a:xfrm>
          <a:prstGeom prst="rect">
            <a:avLst/>
          </a:prstGeom>
          <a:noFill/>
          <a:ln>
            <a:noFill/>
          </a:ln>
        </p:spPr>
        <p:txBody>
          <a:bodyPr spcFirstLastPara="1" wrap="square" lIns="0" tIns="12700" rIns="0" bIns="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Department of Computer Science and Engineering (CSE)</a:t>
            </a:r>
            <a:endParaRPr sz="1800" b="0" i="0" u="none" strike="noStrike" cap="none" dirty="0">
              <a:solidFill>
                <a:schemeClr val="dk1"/>
              </a:solidFill>
              <a:latin typeface="Arial"/>
              <a:ea typeface="Arial"/>
              <a:cs typeface="Arial"/>
              <a:sym typeface="Arial"/>
            </a:endParaRPr>
          </a:p>
        </p:txBody>
      </p:sp>
      <p:sp>
        <p:nvSpPr>
          <p:cNvPr id="263" name="Google Shape;263;p23"/>
          <p:cNvSpPr/>
          <p:nvPr/>
        </p:nvSpPr>
        <p:spPr>
          <a:xfrm>
            <a:off x="1140225" y="1823002"/>
            <a:ext cx="6362700" cy="1435500"/>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4" name="Google Shape;264;p23"/>
          <p:cNvSpPr txBox="1">
            <a:spLocks noGrp="1"/>
          </p:cNvSpPr>
          <p:nvPr>
            <p:ph type="ftr" idx="11"/>
          </p:nvPr>
        </p:nvSpPr>
        <p:spPr>
          <a:xfrm>
            <a:off x="2475350" y="5949096"/>
            <a:ext cx="4194900" cy="215444"/>
          </a:xfrm>
          <a:prstGeom prst="rect">
            <a:avLst/>
          </a:prstGeom>
          <a:noFill/>
          <a:ln>
            <a:noFill/>
          </a:ln>
        </p:spPr>
        <p:txBody>
          <a:bodyPr spcFirstLastPara="1" wrap="square" lIns="0" tIns="0" rIns="0" bIns="0" anchor="t" anchorCtr="0">
            <a:spAutoFit/>
          </a:bodyPr>
          <a:lstStyle/>
          <a:p>
            <a:pPr marL="12700" lvl="0" indent="0" algn="l" rtl="0">
              <a:lnSpc>
                <a:spcPct val="100250"/>
              </a:lnSpc>
              <a:spcBef>
                <a:spcPts val="0"/>
              </a:spcBef>
              <a:spcAft>
                <a:spcPts val="0"/>
              </a:spcAft>
              <a:buSzPts val="1400"/>
              <a:buNone/>
            </a:pPr>
            <a:r>
              <a:rPr lang="en-US" sz="1400" dirty="0"/>
              <a:t>University Institute of Engineering (UIE)</a:t>
            </a:r>
            <a:endParaRPr sz="1400"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4145</TotalTime>
  <Words>1808</Words>
  <Application>Microsoft Macintosh PowerPoint</Application>
  <PresentationFormat>On-screen Show (4:3)</PresentationFormat>
  <Paragraphs>116</Paragraphs>
  <Slides>15</Slides>
  <Notes>14</Notes>
  <HiddenSlides>1</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15</vt:i4>
      </vt:variant>
    </vt:vector>
  </HeadingPairs>
  <TitlesOfParts>
    <vt:vector size="26" baseType="lpstr">
      <vt:lpstr>Times New Roman</vt:lpstr>
      <vt:lpstr>Noto Sans Symbols</vt:lpstr>
      <vt:lpstr>Trebuchet MS</vt:lpstr>
      <vt:lpstr>Georgia</vt:lpstr>
      <vt:lpstr>Calibri</vt:lpstr>
      <vt:lpstr>Raleway ExtraBold</vt:lpstr>
      <vt:lpstr>Arial Black</vt:lpstr>
      <vt:lpstr>Calibri Light</vt:lpstr>
      <vt:lpstr>Arial</vt:lpstr>
      <vt:lpstr>Office Theme</vt:lpstr>
      <vt:lpstr>CorelDRAW</vt:lpstr>
      <vt:lpstr>PowerPoint Presentation</vt:lpstr>
      <vt:lpstr>PowerPoint Presentation</vt:lpstr>
      <vt:lpstr>PowerPoint Presentation</vt:lpstr>
      <vt:lpstr>Contents of the Syllabus  </vt:lpstr>
      <vt:lpstr>Contents of the Syllabus  </vt:lpstr>
      <vt:lpstr>Introduction to Security:</vt:lpstr>
      <vt:lpstr>Types of computer security</vt:lpstr>
      <vt:lpstr>Types of cyber attack</vt:lpstr>
      <vt:lpstr>Types of cyber attack</vt:lpstr>
      <vt:lpstr>Types of cyber attack</vt:lpstr>
      <vt:lpstr>Types of cyber attack</vt:lpstr>
      <vt:lpstr>Department of Computer Science and Engineering (CSE)</vt:lpstr>
      <vt:lpstr> </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cgc</dc:creator>
  <cp:lastModifiedBy>Jagmeet Kaur</cp:lastModifiedBy>
  <cp:revision>47</cp:revision>
  <dcterms:created xsi:type="dcterms:W3CDTF">2019-12-13T04:20:25Z</dcterms:created>
  <dcterms:modified xsi:type="dcterms:W3CDTF">2024-05-27T07:57:44Z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2017-12-08T00:00:00Z</vt:filetime>
  </property>
  <property fmtid="{D5CDD505-2E9C-101B-9397-08002B2CF9AE}" pid="3" name="Creator">
    <vt:lpwstr>Microsoft® PowerPoint® 2013</vt:lpwstr>
  </property>
  <property fmtid="{D5CDD505-2E9C-101B-9397-08002B2CF9AE}" pid="4" name="LastSaved">
    <vt:filetime>2019-12-13T00:00:00Z</vt:filetime>
  </property>
</Properties>
</file>