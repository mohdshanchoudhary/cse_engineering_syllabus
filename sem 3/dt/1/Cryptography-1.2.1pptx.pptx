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80" r:id="rId3"/>
    <p:sldId id="257" r:id="rId4"/>
    <p:sldId id="258" r:id="rId5"/>
    <p:sldId id="259" r:id="rId6"/>
    <p:sldId id="262" r:id="rId7"/>
    <p:sldId id="264" r:id="rId8"/>
    <p:sldId id="265" r:id="rId9"/>
    <p:sldId id="266" r:id="rId10"/>
    <p:sldId id="267" r:id="rId11"/>
    <p:sldId id="268" r:id="rId12"/>
    <p:sldId id="281" r:id="rId13"/>
    <p:sldId id="282" r:id="rId14"/>
    <p:sldId id="283" r:id="rId15"/>
    <p:sldId id="284" r:id="rId16"/>
    <p:sldId id="285" r:id="rId17"/>
    <p:sldId id="286" r:id="rId18"/>
    <p:sldId id="287" r:id="rId19"/>
    <p:sldId id="288" r:id="rId20"/>
    <p:sldId id="289" r:id="rId21"/>
    <p:sldId id="278" r:id="rId22"/>
    <p:sldId id="279" r:id="rId23"/>
  </p:sldIdLst>
  <p:sldSz cx="9144000" cy="6858000" type="screen4x3"/>
  <p:notesSz cx="9144000" cy="6858000"/>
  <p:embeddedFontLst>
    <p:embeddedFont>
      <p:font typeface="Arial Black" panose="020B0604020202020204" pitchFamily="34" charset="0"/>
      <p:regular r:id="rId25"/>
      <p:bold r:id="rId26"/>
    </p:embeddedFont>
    <p:embeddedFont>
      <p:font typeface="Book Antiqua" panose="02040602050305030304" pitchFamily="18" charset="0"/>
      <p:regular r:id="rId27"/>
      <p:bold r:id="rId28"/>
      <p:italic r:id="rId29"/>
      <p:boldItalic r:id="rId30"/>
    </p:embeddedFont>
    <p:embeddedFont>
      <p:font typeface="Georgia" panose="02040502050405020303" pitchFamily="18" charset="0"/>
      <p:regular r:id="rId31"/>
      <p:bold r:id="rId32"/>
      <p:italic r:id="rId33"/>
      <p:boldItalic r:id="rId34"/>
    </p:embeddedFont>
    <p:embeddedFont>
      <p:font typeface="Raleway ExtraBold" panose="020F0502020204030204" pitchFamily="34" charset="0"/>
      <p:bold r:id="rId35"/>
      <p:italic r:id="rId36"/>
      <p:boldItalic r:id="rId37"/>
    </p:embeddedFont>
    <p:embeddedFont>
      <p:font typeface="Trebuchet MS" panose="020B0703020202090204" pitchFamily="34" charset="0"/>
      <p:regular r:id="rId38"/>
      <p:bold r:id="rId39"/>
      <p: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h6Z50KqYv7Jg2W9Izz8bv56WPx1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763C85-FD0C-4F9C-9014-DFE97472DFE7}">
  <a:tblStyle styleId="{81763C85-FD0C-4F9C-9014-DFE97472DFE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p:restoredTop sz="94653"/>
  </p:normalViewPr>
  <p:slideViewPr>
    <p:cSldViewPr snapToGrid="0">
      <p:cViewPr varScale="1">
        <p:scale>
          <a:sx n="113" d="100"/>
          <a:sy n="113" d="100"/>
        </p:scale>
        <p:origin x="880" y="184"/>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 name="Google Shape;52;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 name="Google Shape;6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1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p1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2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5" name="Google Shape;255;p2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1" i="0">
                <a:solidFill>
                  <a:srgbClr val="C00000"/>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5"/>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25"/>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5"/>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
        <p:cNvGrpSpPr/>
        <p:nvPr/>
      </p:nvGrpSpPr>
      <p:grpSpPr>
        <a:xfrm>
          <a:off x="0" y="0"/>
          <a:ext cx="0" cy="0"/>
          <a:chOff x="0" y="0"/>
          <a:chExt cx="0" cy="0"/>
        </a:xfrm>
      </p:grpSpPr>
      <p:sp>
        <p:nvSpPr>
          <p:cNvPr id="21" name="Google Shape;21;p26"/>
          <p:cNvSpPr txBox="1">
            <a:spLocks noGrp="1"/>
          </p:cNvSpPr>
          <p:nvPr>
            <p:ph type="title"/>
          </p:nvPr>
        </p:nvSpPr>
        <p:spPr>
          <a:xfrm>
            <a:off x="457200" y="273050"/>
            <a:ext cx="3008313" cy="116205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1400"/>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6"/>
          <p:cNvSpPr txBox="1">
            <a:spLocks noGrp="1"/>
          </p:cNvSpPr>
          <p:nvPr>
            <p:ph type="body" idx="1"/>
          </p:nvPr>
        </p:nvSpPr>
        <p:spPr>
          <a:xfrm>
            <a:off x="3575050" y="273050"/>
            <a:ext cx="5111750" cy="585311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3200"/>
            </a:lvl1pPr>
            <a:lvl2pPr marL="914400" lvl="1" indent="-228600" algn="l">
              <a:lnSpc>
                <a:spcPct val="100000"/>
              </a:lnSpc>
              <a:spcBef>
                <a:spcPts val="0"/>
              </a:spcBef>
              <a:spcAft>
                <a:spcPts val="0"/>
              </a:spcAft>
              <a:buSzPts val="1400"/>
              <a:buNone/>
              <a:defRPr sz="2800"/>
            </a:lvl2pPr>
            <a:lvl3pPr marL="1371600" lvl="2" indent="-228600" algn="l">
              <a:lnSpc>
                <a:spcPct val="100000"/>
              </a:lnSpc>
              <a:spcBef>
                <a:spcPts val="0"/>
              </a:spcBef>
              <a:spcAft>
                <a:spcPts val="0"/>
              </a:spcAft>
              <a:buSzPts val="1400"/>
              <a:buNone/>
              <a:defRPr sz="2400"/>
            </a:lvl3pPr>
            <a:lvl4pPr marL="1828800" lvl="3" indent="-228600" algn="l">
              <a:lnSpc>
                <a:spcPct val="100000"/>
              </a:lnSpc>
              <a:spcBef>
                <a:spcPts val="0"/>
              </a:spcBef>
              <a:spcAft>
                <a:spcPts val="0"/>
              </a:spcAft>
              <a:buSzPts val="1400"/>
              <a:buNone/>
              <a:defRPr sz="2000"/>
            </a:lvl4pPr>
            <a:lvl5pPr marL="2286000" lvl="4" indent="-228600" algn="l">
              <a:lnSpc>
                <a:spcPct val="100000"/>
              </a:lnSpc>
              <a:spcBef>
                <a:spcPts val="0"/>
              </a:spcBef>
              <a:spcAft>
                <a:spcPts val="0"/>
              </a:spcAft>
              <a:buSzPts val="1400"/>
              <a:buNone/>
              <a:defRPr sz="2000"/>
            </a:lvl5pPr>
            <a:lvl6pPr marL="2743200" lvl="5" indent="-228600" algn="l">
              <a:lnSpc>
                <a:spcPct val="100000"/>
              </a:lnSpc>
              <a:spcBef>
                <a:spcPts val="0"/>
              </a:spcBef>
              <a:spcAft>
                <a:spcPts val="0"/>
              </a:spcAft>
              <a:buSzPts val="1400"/>
              <a:buNone/>
              <a:defRPr sz="2000"/>
            </a:lvl6pPr>
            <a:lvl7pPr marL="3200400" lvl="6" indent="-228600" algn="l">
              <a:lnSpc>
                <a:spcPct val="100000"/>
              </a:lnSpc>
              <a:spcBef>
                <a:spcPts val="0"/>
              </a:spcBef>
              <a:spcAft>
                <a:spcPts val="0"/>
              </a:spcAft>
              <a:buSzPts val="1400"/>
              <a:buNone/>
              <a:defRPr sz="2000"/>
            </a:lvl7pPr>
            <a:lvl8pPr marL="3657600" lvl="7" indent="-228600" algn="l">
              <a:lnSpc>
                <a:spcPct val="100000"/>
              </a:lnSpc>
              <a:spcBef>
                <a:spcPts val="0"/>
              </a:spcBef>
              <a:spcAft>
                <a:spcPts val="0"/>
              </a:spcAft>
              <a:buSzPts val="1400"/>
              <a:buNone/>
              <a:defRPr sz="2000"/>
            </a:lvl8pPr>
            <a:lvl9pPr marL="4114800" lvl="8" indent="-228600" algn="l">
              <a:lnSpc>
                <a:spcPct val="100000"/>
              </a:lnSpc>
              <a:spcBef>
                <a:spcPts val="0"/>
              </a:spcBef>
              <a:spcAft>
                <a:spcPts val="0"/>
              </a:spcAft>
              <a:buSzPts val="1400"/>
              <a:buNone/>
              <a:defRPr sz="2000"/>
            </a:lvl9pPr>
          </a:lstStyle>
          <a:p>
            <a:endParaRPr/>
          </a:p>
        </p:txBody>
      </p:sp>
      <p:sp>
        <p:nvSpPr>
          <p:cNvPr id="23" name="Google Shape;23;p26"/>
          <p:cNvSpPr txBox="1">
            <a:spLocks noGrp="1"/>
          </p:cNvSpPr>
          <p:nvPr>
            <p:ph type="body" idx="2"/>
          </p:nvPr>
        </p:nvSpPr>
        <p:spPr>
          <a:xfrm>
            <a:off x="457200" y="1435100"/>
            <a:ext cx="3008313" cy="469106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00"/>
              <a:buFont typeface="Calibri"/>
              <a:buNone/>
              <a:defRPr sz="1400"/>
            </a:lvl1pPr>
            <a:lvl2pPr marL="914400" lvl="1" indent="-228600" algn="l">
              <a:lnSpc>
                <a:spcPct val="100000"/>
              </a:lnSpc>
              <a:spcBef>
                <a:spcPts val="0"/>
              </a:spcBef>
              <a:spcAft>
                <a:spcPts val="0"/>
              </a:spcAft>
              <a:buSzPts val="1200"/>
              <a:buFont typeface="Calibri"/>
              <a:buNone/>
              <a:defRPr sz="1200"/>
            </a:lvl2pPr>
            <a:lvl3pPr marL="1371600" lvl="2" indent="-228600" algn="l">
              <a:lnSpc>
                <a:spcPct val="100000"/>
              </a:lnSpc>
              <a:spcBef>
                <a:spcPts val="0"/>
              </a:spcBef>
              <a:spcAft>
                <a:spcPts val="0"/>
              </a:spcAft>
              <a:buSzPts val="1000"/>
              <a:buFont typeface="Calibri"/>
              <a:buNone/>
              <a:defRPr sz="1000"/>
            </a:lvl3pPr>
            <a:lvl4pPr marL="1828800" lvl="3" indent="-228600" algn="l">
              <a:lnSpc>
                <a:spcPct val="100000"/>
              </a:lnSpc>
              <a:spcBef>
                <a:spcPts val="0"/>
              </a:spcBef>
              <a:spcAft>
                <a:spcPts val="0"/>
              </a:spcAft>
              <a:buSzPts val="900"/>
              <a:buFont typeface="Calibri"/>
              <a:buNone/>
              <a:defRPr sz="900"/>
            </a:lvl4pPr>
            <a:lvl5pPr marL="2286000" lvl="4" indent="-228600" algn="l">
              <a:lnSpc>
                <a:spcPct val="100000"/>
              </a:lnSpc>
              <a:spcBef>
                <a:spcPts val="0"/>
              </a:spcBef>
              <a:spcAft>
                <a:spcPts val="0"/>
              </a:spcAft>
              <a:buSzPts val="900"/>
              <a:buFont typeface="Calibri"/>
              <a:buNone/>
              <a:defRPr sz="900"/>
            </a:lvl5pPr>
            <a:lvl6pPr marL="2743200" lvl="5" indent="-228600" algn="l">
              <a:lnSpc>
                <a:spcPct val="100000"/>
              </a:lnSpc>
              <a:spcBef>
                <a:spcPts val="0"/>
              </a:spcBef>
              <a:spcAft>
                <a:spcPts val="0"/>
              </a:spcAft>
              <a:buSzPts val="900"/>
              <a:buFont typeface="Calibri"/>
              <a:buNone/>
              <a:defRPr sz="900"/>
            </a:lvl6pPr>
            <a:lvl7pPr marL="3200400" lvl="6" indent="-228600" algn="l">
              <a:lnSpc>
                <a:spcPct val="100000"/>
              </a:lnSpc>
              <a:spcBef>
                <a:spcPts val="0"/>
              </a:spcBef>
              <a:spcAft>
                <a:spcPts val="0"/>
              </a:spcAft>
              <a:buSzPts val="900"/>
              <a:buFont typeface="Calibri"/>
              <a:buNone/>
              <a:defRPr sz="900"/>
            </a:lvl7pPr>
            <a:lvl8pPr marL="3657600" lvl="7" indent="-228600" algn="l">
              <a:lnSpc>
                <a:spcPct val="100000"/>
              </a:lnSpc>
              <a:spcBef>
                <a:spcPts val="0"/>
              </a:spcBef>
              <a:spcAft>
                <a:spcPts val="0"/>
              </a:spcAft>
              <a:buSzPts val="900"/>
              <a:buFont typeface="Calibri"/>
              <a:buNone/>
              <a:defRPr sz="900"/>
            </a:lvl8pPr>
            <a:lvl9pPr marL="4114800" lvl="8" indent="-228600" algn="l">
              <a:lnSpc>
                <a:spcPct val="100000"/>
              </a:lnSpc>
              <a:spcBef>
                <a:spcPts val="0"/>
              </a:spcBef>
              <a:spcAft>
                <a:spcPts val="0"/>
              </a:spcAft>
              <a:buSzPts val="900"/>
              <a:buFont typeface="Calibri"/>
              <a:buNone/>
              <a:defRPr sz="900"/>
            </a:lvl9pPr>
          </a:lstStyle>
          <a:p>
            <a:endParaRPr/>
          </a:p>
        </p:txBody>
      </p:sp>
      <p:sp>
        <p:nvSpPr>
          <p:cNvPr id="24" name="Google Shape;24;p2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3124200" y="6356350"/>
            <a:ext cx="2895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7"/>
        <p:cNvGrpSpPr/>
        <p:nvPr/>
      </p:nvGrpSpPr>
      <p:grpSpPr>
        <a:xfrm>
          <a:off x="0" y="0"/>
          <a:ext cx="0" cy="0"/>
          <a:chOff x="0" y="0"/>
          <a:chExt cx="0" cy="0"/>
        </a:xfrm>
      </p:grpSpPr>
      <p:sp>
        <p:nvSpPr>
          <p:cNvPr id="28" name="Google Shape;28;p27"/>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 name="Google Shape;29;p27"/>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 name="Google Shape;7;p24"/>
          <p:cNvSpPr/>
          <p:nvPr/>
        </p:nvSpPr>
        <p:spPr>
          <a:xfrm>
            <a:off x="152400" y="152400"/>
            <a:ext cx="768095" cy="1219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Google Shape;8;p24"/>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24"/>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200" b="1" i="0" u="none" strike="noStrike" cap="none">
                <a:solidFill>
                  <a:srgbClr val="C00000"/>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24"/>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24"/>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000" b="1"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caesar-cipher-in-cryptography/"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geeksforgeeks.org/columnar-transposition-cipher/"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geeksforgeeks.org/what-is-data-encryption/"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0.jp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53"/>
        <p:cNvGrpSpPr/>
        <p:nvPr/>
      </p:nvGrpSpPr>
      <p:grpSpPr>
        <a:xfrm>
          <a:off x="0" y="0"/>
          <a:ext cx="0" cy="0"/>
          <a:chOff x="0" y="0"/>
          <a:chExt cx="0" cy="0"/>
        </a:xfrm>
      </p:grpSpPr>
      <p:sp>
        <p:nvSpPr>
          <p:cNvPr id="54" name="Google Shape;54;p1"/>
          <p:cNvSpPr/>
          <p:nvPr/>
        </p:nvSpPr>
        <p:spPr>
          <a:xfrm>
            <a:off x="-3175" y="5340350"/>
            <a:ext cx="9147175" cy="15176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 name="Google Shape;55;p1"/>
          <p:cNvSpPr/>
          <p:nvPr/>
        </p:nvSpPr>
        <p:spPr>
          <a:xfrm>
            <a:off x="227013"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 name="Google Shape;56;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endParaRPr sz="1200" b="0" i="0" u="none" strike="noStrike" cap="none">
              <a:solidFill>
                <a:srgbClr val="898989"/>
              </a:solidFill>
              <a:latin typeface="Calibri"/>
              <a:ea typeface="Calibri"/>
              <a:cs typeface="Calibri"/>
              <a:sym typeface="Calibri"/>
            </a:endParaRPr>
          </a:p>
        </p:txBody>
      </p:sp>
      <p:sp>
        <p:nvSpPr>
          <p:cNvPr id="57" name="Google Shape;57;p1"/>
          <p:cNvSpPr/>
          <p:nvPr/>
        </p:nvSpPr>
        <p:spPr>
          <a:xfrm rot="10800000" flipH="1">
            <a:off x="7131050" y="5940425"/>
            <a:ext cx="968375" cy="1157288"/>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 name="Google Shape;58;p1"/>
          <p:cNvSpPr/>
          <p:nvPr/>
        </p:nvSpPr>
        <p:spPr>
          <a:xfrm flipH="1">
            <a:off x="5284788" y="-65088"/>
            <a:ext cx="3859212" cy="5853113"/>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 name="Google Shape;59;p1"/>
          <p:cNvSpPr/>
          <p:nvPr/>
        </p:nvSpPr>
        <p:spPr>
          <a:xfrm>
            <a:off x="1593056" y="2025526"/>
            <a:ext cx="5122069" cy="1580679"/>
          </a:xfrm>
          <a:prstGeom prst="rect">
            <a:avLst/>
          </a:prstGeom>
          <a:gradFill>
            <a:gsLst>
              <a:gs pos="0">
                <a:srgbClr val="FFFFFF">
                  <a:alpha val="0"/>
                </a:srgbClr>
              </a:gs>
              <a:gs pos="2655">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 name="Google Shape;61;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1"/>
          <p:cNvSpPr txBox="1"/>
          <p:nvPr/>
        </p:nvSpPr>
        <p:spPr>
          <a:xfrm>
            <a:off x="5160963" y="6019800"/>
            <a:ext cx="3695700" cy="6461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595959"/>
                </a:solidFill>
                <a:latin typeface="Arial"/>
                <a:ea typeface="Arial"/>
                <a:cs typeface="Arial"/>
                <a:sym typeface="Arial"/>
              </a:rPr>
              <a:t>DISCOVER . </a:t>
            </a:r>
            <a:r>
              <a:rPr lang="en-US" sz="2000" b="1" i="0" u="none" strike="noStrike" cap="none">
                <a:solidFill>
                  <a:srgbClr val="C00000"/>
                </a:solidFill>
                <a:latin typeface="Arial"/>
                <a:ea typeface="Arial"/>
                <a:cs typeface="Arial"/>
                <a:sym typeface="Arial"/>
              </a:rPr>
              <a:t>LEARN</a:t>
            </a:r>
            <a:r>
              <a:rPr lang="en-US" sz="2000" b="1" i="0" u="none" strike="noStrike" cap="none">
                <a:solidFill>
                  <a:srgbClr val="595959"/>
                </a:solidFill>
                <a:latin typeface="Arial"/>
                <a:ea typeface="Arial"/>
                <a:cs typeface="Arial"/>
                <a:sym typeface="Arial"/>
              </a:rPr>
              <a:t> . EMPOWER</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Arial"/>
              <a:ea typeface="Arial"/>
              <a:cs typeface="Arial"/>
              <a:sym typeface="Arial"/>
            </a:endParaRPr>
          </a:p>
        </p:txBody>
      </p:sp>
      <p:sp>
        <p:nvSpPr>
          <p:cNvPr id="63" name="Google Shape;63;p1"/>
          <p:cNvSpPr/>
          <p:nvPr/>
        </p:nvSpPr>
        <p:spPr>
          <a:xfrm>
            <a:off x="5164138" y="6043613"/>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 name="Google Shape;64;p1"/>
          <p:cNvSpPr txBox="1"/>
          <p:nvPr/>
        </p:nvSpPr>
        <p:spPr>
          <a:xfrm>
            <a:off x="127000" y="6013450"/>
            <a:ext cx="4203700" cy="3381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Overview of Databases</a:t>
            </a:r>
            <a:endParaRPr sz="1600" b="0" i="0" u="none" strike="noStrike" cap="none" dirty="0">
              <a:solidFill>
                <a:schemeClr val="dk1"/>
              </a:solidFill>
              <a:latin typeface="Raleway ExtraBold"/>
              <a:ea typeface="Raleway ExtraBold"/>
              <a:cs typeface="Raleway ExtraBold"/>
              <a:sym typeface="Raleway ExtraBold"/>
            </a:endParaRPr>
          </a:p>
        </p:txBody>
      </p:sp>
      <p:sp>
        <p:nvSpPr>
          <p:cNvPr id="65" name="Google Shape;65;p1"/>
          <p:cNvSpPr txBox="1"/>
          <p:nvPr/>
        </p:nvSpPr>
        <p:spPr>
          <a:xfrm>
            <a:off x="950913" y="1477963"/>
            <a:ext cx="7392900" cy="4452461"/>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ctr" rtl="0">
              <a:lnSpc>
                <a:spcPct val="90000"/>
              </a:lnSpc>
              <a:spcBef>
                <a:spcPts val="1120"/>
              </a:spcBef>
              <a:spcAft>
                <a:spcPts val="0"/>
              </a:spcAft>
              <a:buClr>
                <a:srgbClr val="000000"/>
              </a:buClr>
              <a:buSzPts val="3200"/>
              <a:buFont typeface="Arial"/>
              <a:buNone/>
            </a:pPr>
            <a:r>
              <a:rPr lang="en-US" sz="3200" b="1" i="0" u="none" strike="noStrike" cap="none" dirty="0">
                <a:solidFill>
                  <a:srgbClr val="262626"/>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1120"/>
              </a:spcBef>
              <a:spcAft>
                <a:spcPts val="0"/>
              </a:spcAft>
              <a:buClr>
                <a:srgbClr val="000000"/>
              </a:buClr>
              <a:buSzPts val="1600"/>
              <a:buFont typeface="Arial"/>
              <a:buNone/>
            </a:pPr>
            <a:endParaRPr sz="1600" b="0" i="0" u="none" strike="noStrike" cap="none" dirty="0">
              <a:solidFill>
                <a:schemeClr val="dk1"/>
              </a:solidFill>
              <a:latin typeface="Raleway ExtraBold"/>
              <a:ea typeface="Raleway ExtraBold"/>
              <a:cs typeface="Raleway ExtraBold"/>
              <a:sym typeface="Raleway ExtraBold"/>
            </a:endParaRPr>
          </a:p>
        </p:txBody>
      </p:sp>
      <p:graphicFrame>
        <p:nvGraphicFramePr>
          <p:cNvPr id="3" name="Object 2">
            <a:extLst>
              <a:ext uri="{FF2B5EF4-FFF2-40B4-BE49-F238E27FC236}">
                <a16:creationId xmlns:a16="http://schemas.microsoft.com/office/drawing/2014/main" id="{EC687648-6087-2D31-8C7C-E39910C8E11E}"/>
              </a:ext>
            </a:extLst>
          </p:cNvPr>
          <p:cNvGraphicFramePr>
            <a:graphicFrameLocks noChangeAspect="1"/>
          </p:cNvGraphicFramePr>
          <p:nvPr>
            <p:extLst>
              <p:ext uri="{D42A27DB-BD31-4B8C-83A1-F6EECF244321}">
                <p14:modId xmlns:p14="http://schemas.microsoft.com/office/powerpoint/2010/main" val="3560053393"/>
              </p:ext>
            </p:extLst>
          </p:nvPr>
        </p:nvGraphicFramePr>
        <p:xfrm>
          <a:off x="76788" y="4093445"/>
          <a:ext cx="2209212" cy="1920006"/>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4093445"/>
                        <a:ext cx="2209212" cy="1920006"/>
                      </a:xfrm>
                      <a:prstGeom prst="rect">
                        <a:avLst/>
                      </a:prstGeom>
                      <a:noFill/>
                    </p:spPr>
                  </p:pic>
                </p:oleObj>
              </mc:Fallback>
            </mc:AlternateContent>
          </a:graphicData>
        </a:graphic>
      </p:graphicFrame>
      <p:sp>
        <p:nvSpPr>
          <p:cNvPr id="5" name="Google Shape;77;p2">
            <a:extLst>
              <a:ext uri="{FF2B5EF4-FFF2-40B4-BE49-F238E27FC236}">
                <a16:creationId xmlns:a16="http://schemas.microsoft.com/office/drawing/2014/main" id="{54887470-C3B9-26AE-DFE8-AFAAC457BDD6}"/>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1BC85F-2A85-FE8D-447C-A9820CF3ACDC}"/>
              </a:ext>
            </a:extLst>
          </p:cNvPr>
          <p:cNvSpPr>
            <a:spLocks noGrp="1"/>
          </p:cNvSpPr>
          <p:nvPr>
            <p:ph type="body" idx="1"/>
          </p:nvPr>
        </p:nvSpPr>
        <p:spPr>
          <a:xfrm>
            <a:off x="231140" y="1704622"/>
            <a:ext cx="8681719" cy="3499556"/>
          </a:xfrm>
        </p:spPr>
        <p:txBody>
          <a:bodyPr/>
          <a:lstStyle/>
          <a:p>
            <a:pPr marL="0" marR="53975" lvl="0" indent="0" algn="ctr">
              <a:lnSpc>
                <a:spcPct val="115000"/>
              </a:lnSpc>
              <a:spcBef>
                <a:spcPts val="1200"/>
              </a:spcBef>
              <a:spcAft>
                <a:spcPts val="0"/>
              </a:spcAf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rPr>
              <a:t>COURSE OBJECTIVES: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a:buFont typeface="Arial" panose="020B0604020202020204" pitchFamily="34" charset="0"/>
              <a:buChar char="●"/>
            </a:pPr>
            <a:r>
              <a:rPr lang="en-IN" sz="1800" dirty="0">
                <a:solidFill>
                  <a:srgbClr val="262626"/>
                </a:solidFill>
                <a:effectLst/>
                <a:highlight>
                  <a:srgbClr val="FFFFFF"/>
                </a:highlight>
                <a:latin typeface="Noto Sans Symbols"/>
                <a:ea typeface="Noto Sans Symbols"/>
                <a:cs typeface="Noto Sans Symbols"/>
              </a:rPr>
              <a:t>The course aims to provide exposure to understand Information Security basics like Operating System Security, Network Security, Software Security and Web Security. </a:t>
            </a:r>
            <a:endParaRPr lang="en-IN" sz="1800" dirty="0">
              <a:effectLst/>
              <a:highlight>
                <a:srgbClr val="FFFFFF"/>
              </a:highlight>
              <a:latin typeface="Noto Sans Symbols"/>
              <a:ea typeface="Noto Sans Symbols"/>
              <a:cs typeface="Noto Sans Symbols"/>
            </a:endParaRPr>
          </a:p>
          <a:p>
            <a:pPr marL="342900" lvl="0" indent="-342900" algn="just">
              <a:buFont typeface="Arial" panose="020B0604020202020204" pitchFamily="34" charset="0"/>
              <a:buChar char="●"/>
            </a:pPr>
            <a:r>
              <a:rPr lang="en-IN" sz="1800" dirty="0">
                <a:solidFill>
                  <a:srgbClr val="262626"/>
                </a:solidFill>
                <a:effectLst/>
                <a:highlight>
                  <a:srgbClr val="FFFFFF"/>
                </a:highlight>
                <a:latin typeface="Noto Sans Symbols"/>
                <a:ea typeface="Noto Sans Symbols"/>
                <a:cs typeface="Noto Sans Symbols"/>
              </a:rPr>
              <a:t>The course aims </a:t>
            </a:r>
            <a:r>
              <a:rPr lang="en-IN" sz="1800" dirty="0">
                <a:solidFill>
                  <a:srgbClr val="000000"/>
                </a:solidFill>
                <a:effectLst/>
                <a:highlight>
                  <a:srgbClr val="FFFFFF"/>
                </a:highlight>
                <a:latin typeface="Noto Sans Symbols"/>
                <a:ea typeface="Noto Sans Symbols"/>
                <a:cs typeface="Noto Sans Symbols"/>
              </a:rPr>
              <a:t>to provide basics of cloud computing along with virtualization, cloud computing is one of the fastest growing domains from a while now. It will provide the students basic understanding about cloud and virtualization along with it how one can migrate over it</a:t>
            </a:r>
            <a:endParaRPr lang="en-IN" sz="1800" dirty="0">
              <a:effectLst/>
              <a:highlight>
                <a:srgbClr val="FFFFFF"/>
              </a:highlight>
              <a:latin typeface="Noto Sans Symbols"/>
              <a:ea typeface="Noto Sans Symbols"/>
              <a:cs typeface="Noto Sans Symbols"/>
            </a:endParaRPr>
          </a:p>
          <a:p>
            <a:pPr algn="just"/>
            <a:r>
              <a:rPr lang="en-IN" sz="1800" dirty="0">
                <a:solidFill>
                  <a:srgbClr val="000000"/>
                </a:solidFill>
                <a:effectLst/>
                <a:latin typeface="Times New Roman" panose="02020603050405020304" pitchFamily="18" charset="0"/>
                <a:ea typeface="Times New Roman" panose="02020603050405020304" pitchFamily="18" charset="0"/>
              </a:rPr>
              <a:t>The Course aim to state core blockchain concepts, the benefits, and the limitations of blockchain technologies</a:t>
            </a:r>
            <a:r>
              <a:rPr lang="en-IN" dirty="0">
                <a:effectLst/>
              </a:rPr>
              <a:t> </a:t>
            </a:r>
            <a:endParaRPr lang="en-US" dirty="0"/>
          </a:p>
        </p:txBody>
      </p:sp>
      <p:sp>
        <p:nvSpPr>
          <p:cNvPr id="4" name="TextBox 3">
            <a:extLst>
              <a:ext uri="{FF2B5EF4-FFF2-40B4-BE49-F238E27FC236}">
                <a16:creationId xmlns:a16="http://schemas.microsoft.com/office/drawing/2014/main" id="{4854E957-2C69-BA0E-13DA-B008A4DC7E99}"/>
              </a:ext>
            </a:extLst>
          </p:cNvPr>
          <p:cNvSpPr txBox="1"/>
          <p:nvPr/>
        </p:nvSpPr>
        <p:spPr>
          <a:xfrm>
            <a:off x="3488267" y="135467"/>
            <a:ext cx="184731" cy="307777"/>
          </a:xfrm>
          <a:prstGeom prst="rect">
            <a:avLst/>
          </a:prstGeom>
          <a:noFill/>
        </p:spPr>
        <p:txBody>
          <a:bodyPr wrap="none" rtlCol="0">
            <a:spAutoFit/>
          </a:bodyPr>
          <a:lstStyle/>
          <a:p>
            <a:endParaRPr lang="en-US" dirty="0"/>
          </a:p>
        </p:txBody>
      </p:sp>
      <p:sp>
        <p:nvSpPr>
          <p:cNvPr id="5" name="Google Shape;77;p2">
            <a:extLst>
              <a:ext uri="{FF2B5EF4-FFF2-40B4-BE49-F238E27FC236}">
                <a16:creationId xmlns:a16="http://schemas.microsoft.com/office/drawing/2014/main" id="{E5DD8347-3EE6-9F0A-5E36-DDDF1E7F420B}"/>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13329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2" name="Google Shape;72;p2"/>
          <p:cNvSpPr txBox="1">
            <a:spLocks noGrp="1"/>
          </p:cNvSpPr>
          <p:nvPr>
            <p:ph type="sldNum" idx="12"/>
          </p:nvPr>
        </p:nvSpPr>
        <p:spPr>
          <a:xfrm>
            <a:off x="662940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3</a:t>
            </a:fld>
            <a:endParaRPr/>
          </a:p>
        </p:txBody>
      </p:sp>
      <p:sp>
        <p:nvSpPr>
          <p:cNvPr id="77" name="Google Shape;77;p2"/>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graphicFrame>
        <p:nvGraphicFramePr>
          <p:cNvPr id="5" name="Table 4">
            <a:extLst>
              <a:ext uri="{FF2B5EF4-FFF2-40B4-BE49-F238E27FC236}">
                <a16:creationId xmlns:a16="http://schemas.microsoft.com/office/drawing/2014/main" id="{ED048B02-C0C4-6D7B-733B-E5D8D32255FB}"/>
              </a:ext>
            </a:extLst>
          </p:cNvPr>
          <p:cNvGraphicFramePr>
            <a:graphicFrameLocks noGrp="1"/>
          </p:cNvGraphicFramePr>
          <p:nvPr>
            <p:extLst>
              <p:ext uri="{D42A27DB-BD31-4B8C-83A1-F6EECF244321}">
                <p14:modId xmlns:p14="http://schemas.microsoft.com/office/powerpoint/2010/main" val="3420768165"/>
              </p:ext>
            </p:extLst>
          </p:nvPr>
        </p:nvGraphicFramePr>
        <p:xfrm>
          <a:off x="1252537" y="1444979"/>
          <a:ext cx="7270574" cy="4323644"/>
        </p:xfrm>
        <a:graphic>
          <a:graphicData uri="http://schemas.openxmlformats.org/drawingml/2006/table">
            <a:tbl>
              <a:tblPr bandRow="1">
                <a:tableStyleId>{81763C85-FD0C-4F9C-9014-DFE97472DFE7}</a:tableStyleId>
              </a:tblPr>
              <a:tblGrid>
                <a:gridCol w="1124257">
                  <a:extLst>
                    <a:ext uri="{9D8B030D-6E8A-4147-A177-3AD203B41FA5}">
                      <a16:colId xmlns:a16="http://schemas.microsoft.com/office/drawing/2014/main" val="288238081"/>
                    </a:ext>
                  </a:extLst>
                </a:gridCol>
                <a:gridCol w="6146317">
                  <a:extLst>
                    <a:ext uri="{9D8B030D-6E8A-4147-A177-3AD203B41FA5}">
                      <a16:colId xmlns:a16="http://schemas.microsoft.com/office/drawing/2014/main" val="4121193301"/>
                    </a:ext>
                  </a:extLst>
                </a:gridCol>
              </a:tblGrid>
              <a:tr h="740469">
                <a:tc>
                  <a:txBody>
                    <a:bodyPr/>
                    <a:lstStyle/>
                    <a:p>
                      <a:pPr marR="53975" algn="ctr"/>
                      <a:r>
                        <a:rPr lang="en-IN" sz="1000">
                          <a:effectLst/>
                        </a:rPr>
                        <a:t>CO No</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r>
                        <a:rPr lang="en-IN" sz="1000">
                          <a:effectLst/>
                        </a:rPr>
                        <a:t>Statement</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225662196"/>
                  </a:ext>
                </a:extLst>
              </a:tr>
              <a:tr h="642722">
                <a:tc>
                  <a:txBody>
                    <a:bodyPr/>
                    <a:lstStyle/>
                    <a:p>
                      <a:pPr marR="53975" algn="just"/>
                      <a:r>
                        <a:rPr lang="en-IN" sz="1000">
                          <a:effectLst/>
                        </a:rPr>
                        <a:t>CO1</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Remember the concepts related to fundamentals of Information Security, Cloud Computing and Block Chain.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15848187"/>
                  </a:ext>
                </a:extLst>
              </a:tr>
              <a:tr h="792690">
                <a:tc>
                  <a:txBody>
                    <a:bodyPr/>
                    <a:lstStyle/>
                    <a:p>
                      <a:pPr marR="53975" algn="just"/>
                      <a:r>
                        <a:rPr lang="en-IN" sz="1000">
                          <a:effectLst/>
                        </a:rPr>
                        <a:t>CO2</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Understand the way to find, understand and Analyse the Problem for Errors, Attack memory Virtualization and Basic Block chain Techniques.  </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646607571"/>
                  </a:ext>
                </a:extLst>
              </a:tr>
              <a:tr h="747165">
                <a:tc>
                  <a:txBody>
                    <a:bodyPr/>
                    <a:lstStyle/>
                    <a:p>
                      <a:pPr marR="53975" algn="just"/>
                      <a:r>
                        <a:rPr lang="en-IN" sz="1000">
                          <a:effectLst/>
                        </a:rPr>
                        <a:t>CO3</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Apply various method to avoid Security Leakage, Data Storage on cloud and working methods of Block Chain.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661970319"/>
                  </a:ext>
                </a:extLst>
              </a:tr>
              <a:tr h="757876">
                <a:tc>
                  <a:txBody>
                    <a:bodyPr/>
                    <a:lstStyle/>
                    <a:p>
                      <a:pPr marR="53975" algn="just"/>
                      <a:r>
                        <a:rPr lang="en-IN" sz="1000">
                          <a:effectLst/>
                        </a:rPr>
                        <a:t>CO4</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Analyse the Basic tools of Information Security, Cloud Computing and Blockchain  and implementation with reports generation.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65365132"/>
                  </a:ext>
                </a:extLst>
              </a:tr>
              <a:tr h="642722">
                <a:tc>
                  <a:txBody>
                    <a:bodyPr/>
                    <a:lstStyle/>
                    <a:p>
                      <a:pPr marR="53975" algn="just"/>
                      <a:r>
                        <a:rPr lang="en-IN" sz="1000">
                          <a:effectLst/>
                        </a:rPr>
                        <a:t>CO5</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31115" algn="just"/>
                      <a:r>
                        <a:rPr lang="en-IN" sz="1000" dirty="0">
                          <a:effectLst/>
                        </a:rPr>
                        <a:t>Design and develop customized  reports on attacks, Online memory allocation , security using blockchain  </a:t>
                      </a:r>
                      <a:endParaRPr lang="en-IN"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69429889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84" name="Google Shape;84;p3"/>
          <p:cNvSpPr txBox="1">
            <a:spLocks noGrp="1"/>
          </p:cNvSpPr>
          <p:nvPr>
            <p:ph type="sldNum" idx="4294967295"/>
          </p:nvPr>
        </p:nvSpPr>
        <p:spPr>
          <a:xfrm>
            <a:off x="645795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4</a:t>
            </a:fld>
            <a:endParaRPr/>
          </a:p>
        </p:txBody>
      </p:sp>
      <p:sp>
        <p:nvSpPr>
          <p:cNvPr id="85" name="Google Shape;85;p3"/>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6477D90A-CAEC-7C57-9AA7-2BF312066CBF}"/>
              </a:ext>
            </a:extLst>
          </p:cNvPr>
          <p:cNvGraphicFramePr>
            <a:graphicFrameLocks noGrp="1"/>
          </p:cNvGraphicFramePr>
          <p:nvPr>
            <p:extLst>
              <p:ext uri="{D42A27DB-BD31-4B8C-83A1-F6EECF244321}">
                <p14:modId xmlns:p14="http://schemas.microsoft.com/office/powerpoint/2010/main" val="1209137846"/>
              </p:ext>
            </p:extLst>
          </p:nvPr>
        </p:nvGraphicFramePr>
        <p:xfrm>
          <a:off x="846667" y="1343378"/>
          <a:ext cx="8101188" cy="4854220"/>
        </p:xfrm>
        <a:graphic>
          <a:graphicData uri="http://schemas.openxmlformats.org/drawingml/2006/table">
            <a:tbl>
              <a:tblPr bandRow="1">
                <a:tableStyleId>{81763C85-FD0C-4F9C-9014-DFE97472DFE7}</a:tableStyleId>
              </a:tblPr>
              <a:tblGrid>
                <a:gridCol w="1419161">
                  <a:extLst>
                    <a:ext uri="{9D8B030D-6E8A-4147-A177-3AD203B41FA5}">
                      <a16:colId xmlns:a16="http://schemas.microsoft.com/office/drawing/2014/main" val="2648962565"/>
                    </a:ext>
                  </a:extLst>
                </a:gridCol>
                <a:gridCol w="4393677">
                  <a:extLst>
                    <a:ext uri="{9D8B030D-6E8A-4147-A177-3AD203B41FA5}">
                      <a16:colId xmlns:a16="http://schemas.microsoft.com/office/drawing/2014/main" val="3633088584"/>
                    </a:ext>
                  </a:extLst>
                </a:gridCol>
                <a:gridCol w="312644">
                  <a:extLst>
                    <a:ext uri="{9D8B030D-6E8A-4147-A177-3AD203B41FA5}">
                      <a16:colId xmlns:a16="http://schemas.microsoft.com/office/drawing/2014/main" val="2046264610"/>
                    </a:ext>
                  </a:extLst>
                </a:gridCol>
                <a:gridCol w="1975706">
                  <a:extLst>
                    <a:ext uri="{9D8B030D-6E8A-4147-A177-3AD203B41FA5}">
                      <a16:colId xmlns:a16="http://schemas.microsoft.com/office/drawing/2014/main" val="3695363973"/>
                    </a:ext>
                  </a:extLst>
                </a:gridCol>
              </a:tblGrid>
              <a:tr h="454627">
                <a:tc>
                  <a:txBody>
                    <a:bodyPr/>
                    <a:lstStyle/>
                    <a:p>
                      <a:pPr marR="53975" algn="just"/>
                      <a:r>
                        <a:rPr lang="en-IN" sz="1200" b="1">
                          <a:effectLst/>
                          <a:latin typeface="Times New Roman" panose="02020603050405020304" pitchFamily="18" charset="0"/>
                          <a:cs typeface="Times New Roman" panose="02020603050405020304" pitchFamily="18" charset="0"/>
                        </a:rPr>
                        <a:t>UNIT-1</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pPr marR="53975" algn="just"/>
                      <a:r>
                        <a:rPr lang="en-IN" sz="1200" b="1">
                          <a:effectLst/>
                          <a:latin typeface="Times New Roman" panose="02020603050405020304" pitchFamily="18" charset="0"/>
                          <a:cs typeface="Times New Roman" panose="02020603050405020304" pitchFamily="18" charset="0"/>
                        </a:rPr>
                        <a:t>INTRODUCTION TO BASIC OF INFORMATION SECURITY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Contact Hours:10</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3585245829"/>
                  </a:ext>
                </a:extLst>
              </a:tr>
              <a:tr h="926231">
                <a:tc>
                  <a:txBody>
                    <a:bodyPr/>
                    <a:lstStyle/>
                    <a:p>
                      <a:pPr marR="53975" algn="just"/>
                      <a:r>
                        <a:rPr lang="en-IN" sz="1200" b="1">
                          <a:effectLst/>
                          <a:latin typeface="Times New Roman" panose="02020603050405020304" pitchFamily="18" charset="0"/>
                          <a:cs typeface="Times New Roman" panose="02020603050405020304" pitchFamily="18" charset="0"/>
                        </a:rPr>
                        <a:t>Introduction to Security, Attacks and its Understanding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Introduction Security, Attacks, Computer Crime, Security Services, Security Mechanism, Cyber Crime, Information Technology ACT.</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65812581"/>
                  </a:ext>
                </a:extLst>
              </a:tr>
              <a:tr h="463115">
                <a:tc>
                  <a:txBody>
                    <a:bodyPr/>
                    <a:lstStyle/>
                    <a:p>
                      <a:pPr marR="53975" algn="just"/>
                      <a:r>
                        <a:rPr lang="en-IN" sz="1200" b="1">
                          <a:effectLst/>
                          <a:latin typeface="Times New Roman" panose="02020603050405020304" pitchFamily="18" charset="0"/>
                          <a:cs typeface="Times New Roman" panose="02020603050405020304" pitchFamily="18" charset="0"/>
                        </a:rPr>
                        <a:t>Fundamental of Ciphers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algn="just"/>
                      <a:r>
                        <a:rPr lang="en-IN" sz="1200" b="1">
                          <a:effectLst/>
                          <a:latin typeface="Times New Roman" panose="02020603050405020304" pitchFamily="18" charset="0"/>
                          <a:cs typeface="Times New Roman" panose="02020603050405020304" pitchFamily="18" charset="0"/>
                        </a:rPr>
                        <a:t>Cryptography, Substitution Ciphers, Transpositions Ciphers, Block Ciphers, Stream Ciphers,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28695422"/>
                  </a:ext>
                </a:extLst>
              </a:tr>
              <a:tr h="694672">
                <a:tc>
                  <a:txBody>
                    <a:bodyPr/>
                    <a:lstStyle/>
                    <a:p>
                      <a:pPr marR="53975" algn="just"/>
                      <a:r>
                        <a:rPr lang="en-IN" sz="1200" b="1">
                          <a:effectLst/>
                          <a:latin typeface="Times New Roman" panose="02020603050405020304" pitchFamily="18" charset="0"/>
                          <a:cs typeface="Times New Roman" panose="02020603050405020304" pitchFamily="18" charset="0"/>
                        </a:rPr>
                        <a:t>Precautions and Preventions of Cyber Crime.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a:effectLst/>
                          <a:latin typeface="Times New Roman" panose="02020603050405020304" pitchFamily="18" charset="0"/>
                          <a:cs typeface="Times New Roman" panose="02020603050405020304" pitchFamily="18" charset="0"/>
                        </a:rPr>
                        <a:t>Cyber Crimes, Types of Cyber Crime, Social Media Precautions, Prevention of Cyber Crime and Basic precautions. Basic of Ethical Hacking.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10562080"/>
                  </a:ext>
                </a:extLst>
              </a:tr>
              <a:tr h="231557">
                <a:tc>
                  <a:txBody>
                    <a:bodyPr/>
                    <a:lstStyle/>
                    <a:p>
                      <a:pPr marR="53975" algn="just"/>
                      <a:r>
                        <a:rPr lang="en-IN" sz="1200" b="1">
                          <a:effectLst/>
                          <a:latin typeface="Times New Roman" panose="02020603050405020304" pitchFamily="18" charset="0"/>
                          <a:cs typeface="Times New Roman" panose="02020603050405020304" pitchFamily="18" charset="0"/>
                        </a:rPr>
                        <a:t>UNIT-2</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CLOUD COMPUTING AND DATA VIRTUALIZATION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a:txBody>
                    <a:bodyPr/>
                    <a:lstStyle/>
                    <a:p>
                      <a:pPr marR="53975" algn="just"/>
                      <a:r>
                        <a:rPr lang="en-IN" sz="1200" b="1">
                          <a:effectLst/>
                          <a:latin typeface="Times New Roman" panose="02020603050405020304" pitchFamily="18" charset="0"/>
                          <a:cs typeface="Times New Roman" panose="02020603050405020304" pitchFamily="18" charset="0"/>
                        </a:rPr>
                        <a:t>Contact Hours:10</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extLst>
                  <a:ext uri="{0D108BD9-81ED-4DB2-BD59-A6C34878D82A}">
                    <a16:rowId xmlns:a16="http://schemas.microsoft.com/office/drawing/2014/main" val="1081772586"/>
                  </a:ext>
                </a:extLst>
              </a:tr>
              <a:tr h="926231">
                <a:tc>
                  <a:txBody>
                    <a:bodyPr/>
                    <a:lstStyle/>
                    <a:p>
                      <a:pPr marR="53975" algn="just"/>
                      <a:r>
                        <a:rPr lang="en-IN" sz="1200" b="1">
                          <a:effectLst/>
                          <a:latin typeface="Times New Roman" panose="02020603050405020304" pitchFamily="18" charset="0"/>
                          <a:cs typeface="Times New Roman" panose="02020603050405020304" pitchFamily="18" charset="0"/>
                        </a:rPr>
                        <a:t>Cloud Computing Overview</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a:effectLst/>
                          <a:latin typeface="Times New Roman" panose="02020603050405020304" pitchFamily="18" charset="0"/>
                          <a:cs typeface="Times New Roman" panose="02020603050405020304" pitchFamily="18" charset="0"/>
                        </a:rPr>
                        <a:t> Origins of Cloud computing – Cloud components - Essential characteristics – On-demand selfservice, Broad network access, Location independent resource pooling ,Rapid elasticity , Measured service, Comparing cloud providers with traditional IT service providers, Roots of cloud computing</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73824643"/>
                  </a:ext>
                </a:extLst>
              </a:tr>
              <a:tr h="694672">
                <a:tc>
                  <a:txBody>
                    <a:bodyPr/>
                    <a:lstStyle/>
                    <a:p>
                      <a:pPr marR="53975" algn="just"/>
                      <a:r>
                        <a:rPr lang="en-IN" sz="1200" b="1">
                          <a:effectLst/>
                          <a:latin typeface="Times New Roman" panose="02020603050405020304" pitchFamily="18" charset="0"/>
                          <a:cs typeface="Times New Roman" panose="02020603050405020304" pitchFamily="18" charset="0"/>
                        </a:rPr>
                        <a:t>Cloud Insights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Architectural influences – High-performance computing, Utility and Enterprise grid computing, Cloud scenarios – Benefits: scalability, simplicity, vendors, security, Limitations – Sensitive information </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2658965"/>
                  </a:ext>
                </a:extLst>
              </a:tr>
              <a:tr h="463115">
                <a:tc>
                  <a:txBody>
                    <a:bodyPr/>
                    <a:lstStyle/>
                    <a:p>
                      <a:pPr marR="53975" algn="just"/>
                      <a:r>
                        <a:rPr lang="en-IN" sz="1200" b="1">
                          <a:effectLst/>
                          <a:latin typeface="Times New Roman" panose="02020603050405020304" pitchFamily="18" charset="0"/>
                          <a:cs typeface="Times New Roman" panose="02020603050405020304" pitchFamily="18" charset="0"/>
                        </a:rPr>
                        <a:t>Cloud Applications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Application development- security level of third party - security benefits, Regularity issues: Government policies</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6082092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4"/>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92" name="Google Shape;92;p4"/>
          <p:cNvSpPr txBox="1">
            <a:spLocks noGrp="1"/>
          </p:cNvSpPr>
          <p:nvPr>
            <p:ph type="sldNum" idx="4294967295"/>
          </p:nvPr>
        </p:nvSpPr>
        <p:spPr>
          <a:xfrm>
            <a:off x="645795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5</a:t>
            </a:fld>
            <a:endParaRPr/>
          </a:p>
        </p:txBody>
      </p:sp>
      <p:sp>
        <p:nvSpPr>
          <p:cNvPr id="93" name="Google Shape;93;p4"/>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B93DFC33-395D-277E-ABD3-06468D80E3D5}"/>
              </a:ext>
            </a:extLst>
          </p:cNvPr>
          <p:cNvGraphicFramePr>
            <a:graphicFrameLocks noGrp="1"/>
          </p:cNvGraphicFramePr>
          <p:nvPr>
            <p:extLst>
              <p:ext uri="{D42A27DB-BD31-4B8C-83A1-F6EECF244321}">
                <p14:modId xmlns:p14="http://schemas.microsoft.com/office/powerpoint/2010/main" val="2661828792"/>
              </p:ext>
            </p:extLst>
          </p:nvPr>
        </p:nvGraphicFramePr>
        <p:xfrm>
          <a:off x="711200" y="1399824"/>
          <a:ext cx="8105420" cy="3612445"/>
        </p:xfrm>
        <a:graphic>
          <a:graphicData uri="http://schemas.openxmlformats.org/drawingml/2006/table">
            <a:tbl>
              <a:tblPr bandRow="1">
                <a:tableStyleId>{81763C85-FD0C-4F9C-9014-DFE97472DFE7}</a:tableStyleId>
              </a:tblPr>
              <a:tblGrid>
                <a:gridCol w="1419902">
                  <a:extLst>
                    <a:ext uri="{9D8B030D-6E8A-4147-A177-3AD203B41FA5}">
                      <a16:colId xmlns:a16="http://schemas.microsoft.com/office/drawing/2014/main" val="1911739898"/>
                    </a:ext>
                  </a:extLst>
                </a:gridCol>
                <a:gridCol w="4552376">
                  <a:extLst>
                    <a:ext uri="{9D8B030D-6E8A-4147-A177-3AD203B41FA5}">
                      <a16:colId xmlns:a16="http://schemas.microsoft.com/office/drawing/2014/main" val="193177083"/>
                    </a:ext>
                  </a:extLst>
                </a:gridCol>
                <a:gridCol w="2133142">
                  <a:extLst>
                    <a:ext uri="{9D8B030D-6E8A-4147-A177-3AD203B41FA5}">
                      <a16:colId xmlns:a16="http://schemas.microsoft.com/office/drawing/2014/main" val="2683491937"/>
                    </a:ext>
                  </a:extLst>
                </a:gridCol>
              </a:tblGrid>
              <a:tr h="459766">
                <a:tc>
                  <a:txBody>
                    <a:bodyPr/>
                    <a:lstStyle/>
                    <a:p>
                      <a:pPr marR="53975" algn="just"/>
                      <a:r>
                        <a:rPr lang="en-IN" sz="1200" b="1">
                          <a:effectLst/>
                          <a:latin typeface="Times New Roman" panose="02020603050405020304" pitchFamily="18" charset="0"/>
                          <a:cs typeface="Times New Roman" panose="02020603050405020304" pitchFamily="18" charset="0"/>
                        </a:rPr>
                        <a:t>UNIT-3</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pPr algn="just"/>
                      <a:r>
                        <a:rPr lang="en-IN" sz="1200" b="1">
                          <a:effectLst/>
                          <a:latin typeface="Times New Roman" panose="02020603050405020304" pitchFamily="18" charset="0"/>
                          <a:cs typeface="Times New Roman" panose="02020603050405020304" pitchFamily="18" charset="0"/>
                        </a:rPr>
                        <a:t>BLOCK CHAIN AND CRYPTOCURRENCY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endParaRPr lang="en-US"/>
                    </a:p>
                  </a:txBody>
                  <a:tcPr marL="28641" marR="28641" marT="0" marB="0" anchor="ctr"/>
                </a:tc>
                <a:extLst>
                  <a:ext uri="{0D108BD9-81ED-4DB2-BD59-A6C34878D82A}">
                    <a16:rowId xmlns:a16="http://schemas.microsoft.com/office/drawing/2014/main" val="3389270073"/>
                  </a:ext>
                </a:extLst>
              </a:tr>
              <a:tr h="1182255">
                <a:tc>
                  <a:txBody>
                    <a:bodyPr/>
                    <a:lstStyle/>
                    <a:p>
                      <a:pPr marR="53975" algn="just"/>
                      <a:r>
                        <a:rPr lang="en-IN" sz="1200" b="1">
                          <a:effectLst/>
                          <a:latin typeface="Times New Roman" panose="02020603050405020304" pitchFamily="18" charset="0"/>
                          <a:cs typeface="Times New Roman" panose="02020603050405020304" pitchFamily="18" charset="0"/>
                        </a:rPr>
                        <a:t>Introduction to Block Chain and Cryptocurrency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Blockchain Overview History and Origin of Blockchain (and Cryptocurrency) Start of Technical Concepts of Blockchain Systems, Importance, Applications, Benefits and features of Block Chain Technology.</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3033998130"/>
                  </a:ext>
                </a:extLst>
              </a:tr>
              <a:tr h="1182255">
                <a:tc>
                  <a:txBody>
                    <a:bodyPr/>
                    <a:lstStyle/>
                    <a:p>
                      <a:pPr marR="53975" algn="just"/>
                      <a:r>
                        <a:rPr lang="en-IN" sz="1200" b="1">
                          <a:effectLst/>
                          <a:latin typeface="Times New Roman" panose="02020603050405020304" pitchFamily="18" charset="0"/>
                          <a:cs typeface="Times New Roman" panose="02020603050405020304" pitchFamily="18" charset="0"/>
                        </a:rPr>
                        <a:t>Components and Working of Block Chain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Key component and working of Block Chain Technology, Types of Block Chain Networks and protocols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1656774045"/>
                  </a:ext>
                </a:extLst>
              </a:tr>
              <a:tr h="788169">
                <a:tc>
                  <a:txBody>
                    <a:bodyPr/>
                    <a:lstStyle/>
                    <a:p>
                      <a:pPr marR="53975" algn="just"/>
                      <a:r>
                        <a:rPr lang="en-IN" sz="1200" b="1">
                          <a:effectLst/>
                          <a:latin typeface="Times New Roman" panose="02020603050405020304" pitchFamily="18" charset="0"/>
                          <a:cs typeface="Times New Roman" panose="02020603050405020304" pitchFamily="18" charset="0"/>
                        </a:rPr>
                        <a:t>Bitcoin and block Chain.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dirty="0">
                          <a:effectLst/>
                          <a:latin typeface="Times New Roman" panose="02020603050405020304" pitchFamily="18" charset="0"/>
                          <a:cs typeface="Times New Roman" panose="02020603050405020304" pitchFamily="18" charset="0"/>
                        </a:rPr>
                        <a:t>Bitcoin network, Bitcoin Mining, Differentiate between database, cloud and Blockchain, Block Chain Services, Introduction to AWS server and Virtual Machines  </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25209525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p:nvPr/>
        </p:nvSpPr>
        <p:spPr>
          <a:xfrm>
            <a:off x="2617470" y="17780"/>
            <a:ext cx="650265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15" name="Google Shape;115;p6"/>
          <p:cNvSpPr txBox="1">
            <a:spLocks noGrp="1"/>
          </p:cNvSpPr>
          <p:nvPr>
            <p:ph type="title"/>
          </p:nvPr>
        </p:nvSpPr>
        <p:spPr>
          <a:xfrm>
            <a:off x="1410080" y="475310"/>
            <a:ext cx="6627495" cy="659155"/>
          </a:xfrm>
          <a:prstGeom prst="rect">
            <a:avLst/>
          </a:prstGeom>
          <a:noFill/>
          <a:ln>
            <a:noFill/>
          </a:ln>
        </p:spPr>
        <p:txBody>
          <a:bodyPr spcFirstLastPara="1" wrap="square" lIns="0" tIns="12700" rIns="0" bIns="0" anchor="t" anchorCtr="0">
            <a:spAutoFit/>
          </a:bodyPr>
          <a:lstStyle/>
          <a:p>
            <a:pPr>
              <a:lnSpc>
                <a:spcPct val="150000"/>
              </a:lnSpc>
            </a:pPr>
            <a:r>
              <a:rPr lang="en-IN" sz="2800" b="1" spc="10" dirty="0">
                <a:effectLst/>
                <a:latin typeface="Times New Roman" panose="02020603050405020304" pitchFamily="18" charset="0"/>
                <a:ea typeface="Times New Roman" panose="02020603050405020304" pitchFamily="18" charset="0"/>
                <a:cs typeface="Times New Roman" panose="02020603050405020304" pitchFamily="18" charset="0"/>
              </a:rPr>
              <a:t>Cryptography</a:t>
            </a:r>
            <a:r>
              <a:rPr lang="en-IN" sz="2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800" dirty="0">
                <a:effectLst/>
                <a:latin typeface="Times New Roman" panose="02020603050405020304" pitchFamily="18" charset="0"/>
                <a:cs typeface="Times New Roman" panose="02020603050405020304" pitchFamily="18" charset="0"/>
              </a:rPr>
              <a:t> </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16" name="Google Shape;116;p6"/>
          <p:cNvSpPr txBox="1"/>
          <p:nvPr/>
        </p:nvSpPr>
        <p:spPr>
          <a:xfrm>
            <a:off x="225778" y="1190319"/>
            <a:ext cx="8760178" cy="5071886"/>
          </a:xfrm>
          <a:prstGeom prst="rect">
            <a:avLst/>
          </a:prstGeom>
          <a:noFill/>
          <a:ln>
            <a:noFill/>
          </a:ln>
        </p:spPr>
        <p:txBody>
          <a:bodyPr spcFirstLastPara="1" wrap="square" lIns="0" tIns="85075" rIns="0" bIns="0" anchor="t" anchorCtr="0">
            <a:spAutoFit/>
          </a:bodyPr>
          <a:lstStyle/>
          <a:p>
            <a:pPr algn="just" fontAlgn="base"/>
            <a:r>
              <a:rPr lang="en-US" sz="1800" b="1" spc="10" dirty="0">
                <a:solidFill>
                  <a:srgbClr val="000000"/>
                </a:solidFill>
                <a:effectLst/>
                <a:highlight>
                  <a:srgbClr val="FFFFFF"/>
                </a:highlight>
                <a:latin typeface="Times New Roman" panose="02020603050405020304" pitchFamily="18" charset="0"/>
                <a:ea typeface="Times New Roman" panose="02020603050405020304" pitchFamily="18" charset="0"/>
              </a:rPr>
              <a:t>Cryptography</a:t>
            </a: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 is the study and practice of techniques for secure communication in the presence of third parties called adversaries. It deals with developing and analyzing protocols that prevents malicious third parties from retrieving information being shared between two entities thereby following the various aspects of information security. Secure Communication refers to the scenario where the message or data shared between two parties can’t be accessed by an adversary. In Cryptography, an Adversary is a malicious entity, which aims to retrieve precious information or data thereby undermining the principles of information security. Data Confidentiality, Data Integrity, Authentication and Non-repudiation are core principles of modern-day cryptography.</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tabLst>
                <a:tab pos="457200" algn="l"/>
              </a:tabLst>
            </a:pPr>
            <a:r>
              <a:rPr lang="en-IN" sz="1800" b="1" spc="10" dirty="0">
                <a:solidFill>
                  <a:srgbClr val="000000"/>
                </a:solidFill>
                <a:effectLst/>
                <a:highlight>
                  <a:srgbClr val="FFFFFF"/>
                </a:highlight>
                <a:latin typeface="Times New Roman" panose="02020603050405020304" pitchFamily="18" charset="0"/>
                <a:ea typeface="Times New Roman" panose="02020603050405020304" pitchFamily="18" charset="0"/>
              </a:rPr>
              <a:t>Confidentiality</a:t>
            </a:r>
            <a:r>
              <a:rPr lang="en-IN"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 refers to certain rules and guidelines usually executed under confidentiality agreements which ensure that the information is restricted to certain people or places.</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tabLst>
                <a:tab pos="457200" algn="l"/>
              </a:tabLst>
            </a:pPr>
            <a:r>
              <a:rPr lang="en-IN" sz="1800" b="1" spc="10" dirty="0">
                <a:solidFill>
                  <a:srgbClr val="000000"/>
                </a:solidFill>
                <a:effectLst/>
                <a:highlight>
                  <a:srgbClr val="FFFFFF"/>
                </a:highlight>
                <a:latin typeface="Times New Roman" panose="02020603050405020304" pitchFamily="18" charset="0"/>
                <a:ea typeface="Times New Roman" panose="02020603050405020304" pitchFamily="18" charset="0"/>
              </a:rPr>
              <a:t>Data integrity</a:t>
            </a:r>
            <a:r>
              <a:rPr lang="en-IN"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 refers to maintaining and making sure that the data stays accurate and consistent over its entire life cycle.</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tabLst>
                <a:tab pos="457200" algn="l"/>
              </a:tabLst>
            </a:pPr>
            <a:r>
              <a:rPr lang="en-IN" sz="1800" b="1" spc="10" dirty="0">
                <a:solidFill>
                  <a:srgbClr val="000000"/>
                </a:solidFill>
                <a:effectLst/>
                <a:highlight>
                  <a:srgbClr val="FFFFFF"/>
                </a:highlight>
                <a:latin typeface="Times New Roman" panose="02020603050405020304" pitchFamily="18" charset="0"/>
                <a:ea typeface="Times New Roman" panose="02020603050405020304" pitchFamily="18" charset="0"/>
              </a:rPr>
              <a:t>Authentication</a:t>
            </a:r>
            <a:r>
              <a:rPr lang="en-IN"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 is the process of making sure that the piece of data being claimed by the user belongs to it.</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tabLst>
                <a:tab pos="457200" algn="l"/>
              </a:tabLst>
            </a:pPr>
            <a:r>
              <a:rPr lang="en-IN" sz="1800" b="1" spc="10" dirty="0">
                <a:solidFill>
                  <a:srgbClr val="000000"/>
                </a:solidFill>
                <a:effectLst/>
                <a:highlight>
                  <a:srgbClr val="FFFFFF"/>
                </a:highlight>
                <a:latin typeface="Times New Roman" panose="02020603050405020304" pitchFamily="18" charset="0"/>
                <a:ea typeface="Times New Roman" panose="02020603050405020304" pitchFamily="18" charset="0"/>
              </a:rPr>
              <a:t>Non-repudiation</a:t>
            </a:r>
            <a:r>
              <a:rPr lang="en-IN"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 refers to the ability to make sure that a person or a party associated with a contract or a communication cannot deny the authenticity of their signature over their document or the sending of a message.</a:t>
            </a:r>
            <a:endParaRPr lang="en-IN" sz="1800" dirty="0">
              <a:effectLst/>
              <a:highlight>
                <a:srgbClr val="FFFFFF"/>
              </a:highlight>
              <a:latin typeface="Times New Roman" panose="02020603050405020304" pitchFamily="18" charset="0"/>
              <a:ea typeface="Times New Roman" panose="02020603050405020304" pitchFamily="18" charset="0"/>
            </a:endParaRPr>
          </a:p>
        </p:txBody>
      </p:sp>
      <p:sp>
        <p:nvSpPr>
          <p:cNvPr id="2" name="TextBox 1">
            <a:extLst>
              <a:ext uri="{FF2B5EF4-FFF2-40B4-BE49-F238E27FC236}">
                <a16:creationId xmlns:a16="http://schemas.microsoft.com/office/drawing/2014/main" id="{56E78E47-25A9-34E1-DF2A-171621C9E0C4}"/>
              </a:ext>
            </a:extLst>
          </p:cNvPr>
          <p:cNvSpPr txBox="1"/>
          <p:nvPr/>
        </p:nvSpPr>
        <p:spPr>
          <a:xfrm>
            <a:off x="2432739" y="5856395"/>
            <a:ext cx="4128081" cy="307777"/>
          </a:xfrm>
          <a:prstGeom prst="rect">
            <a:avLst/>
          </a:prstGeom>
          <a:noFill/>
        </p:spPr>
        <p:txBody>
          <a:bodyPr wrap="square" rtlCol="0">
            <a:spAutoFit/>
          </a:bodyPr>
          <a:lstStyle/>
          <a:p>
            <a:pPr marL="12700" lvl="0" indent="0" algn="l" rtl="0">
              <a:lnSpc>
                <a:spcPct val="100250"/>
              </a:lnSpc>
              <a:spcBef>
                <a:spcPts val="0"/>
              </a:spcBef>
              <a:spcAft>
                <a:spcPts val="0"/>
              </a:spcAft>
              <a:buSzPts val="1400"/>
              <a:buNone/>
            </a:pPr>
            <a:r>
              <a:rPr lang="en-US" dirty="0"/>
              <a:t>University Institute of Engineering (UIE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p:nvPr/>
        </p:nvSpPr>
        <p:spPr>
          <a:xfrm>
            <a:off x="2606040" y="17780"/>
            <a:ext cx="651408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32" name="Google Shape;132;p8"/>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33" name="Google Shape;133;p8"/>
          <p:cNvSpPr txBox="1">
            <a:spLocks noGrp="1"/>
          </p:cNvSpPr>
          <p:nvPr>
            <p:ph type="title"/>
          </p:nvPr>
        </p:nvSpPr>
        <p:spPr>
          <a:xfrm>
            <a:off x="1350644" y="569721"/>
            <a:ext cx="7202805" cy="767508"/>
          </a:xfrm>
          <a:prstGeom prst="rect">
            <a:avLst/>
          </a:prstGeom>
          <a:noFill/>
          <a:ln>
            <a:noFill/>
          </a:ln>
        </p:spPr>
        <p:txBody>
          <a:bodyPr spcFirstLastPara="1" wrap="square" lIns="0" tIns="13325" rIns="0" bIns="0" anchor="t" anchorCtr="0">
            <a:spAutoFit/>
          </a:bodyPr>
          <a:lstStyle/>
          <a:p>
            <a:pPr algn="ctr" fontAlgn="base">
              <a:spcBef>
                <a:spcPts val="1505"/>
              </a:spcBef>
              <a:spcAft>
                <a:spcPts val="1505"/>
              </a:spcAft>
            </a:pPr>
            <a:r>
              <a:rPr lang="en-IN" sz="2400" b="1" spc="10" dirty="0">
                <a:effectLst/>
                <a:latin typeface="Times New Roman" panose="02020603050405020304" pitchFamily="18" charset="0"/>
                <a:ea typeface="Times New Roman" panose="02020603050405020304" pitchFamily="18" charset="0"/>
                <a:cs typeface="Times New Roman" panose="02020603050405020304" pitchFamily="18" charset="0"/>
              </a:rPr>
              <a:t>Cryptography</a:t>
            </a:r>
            <a:r>
              <a:rPr lang="en-IN"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400" dirty="0">
                <a:effectLst/>
                <a:latin typeface="Times New Roman" panose="02020603050405020304" pitchFamily="18" charset="0"/>
                <a:cs typeface="Times New Roman" panose="02020603050405020304" pitchFamily="18" charset="0"/>
              </a:rPr>
              <a:t> </a:t>
            </a:r>
            <a:endParaRPr lang="en-IN" sz="24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34" name="Google Shape;134;p8"/>
          <p:cNvSpPr txBox="1"/>
          <p:nvPr/>
        </p:nvSpPr>
        <p:spPr>
          <a:xfrm>
            <a:off x="327378" y="1330198"/>
            <a:ext cx="8523111" cy="4973141"/>
          </a:xfrm>
          <a:prstGeom prst="rect">
            <a:avLst/>
          </a:prstGeom>
          <a:noFill/>
          <a:ln>
            <a:noFill/>
          </a:ln>
        </p:spPr>
        <p:txBody>
          <a:bodyPr spcFirstLastPara="1" wrap="square" lIns="0" tIns="78725" rIns="0" bIns="0" anchor="t" anchorCtr="0">
            <a:spAutoFit/>
          </a:bodyPr>
          <a:lstStyle/>
          <a:p>
            <a:pPr marL="342900" lvl="0" indent="-342900" algn="just" fontAlgn="base">
              <a:spcAft>
                <a:spcPts val="625"/>
              </a:spcAft>
              <a:tabLst>
                <a:tab pos="457200" algn="l"/>
              </a:tabLst>
            </a:pP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Consider two parties Alice and Bob. Now, Alice wants to send a message m to Bob over a secure channel. So, what happens is as follows. The sender’s message or sometimes called the Plaintext, is converted into an unreadable form using a Key k. The resultant text obtained is called the Ciphertext. This process is known as Encryption. At the time of received, the Ciphertext is converted back into the plaintext using the same Key k, so that it can be read by the receiver. This process is known as Decryption.</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spcAft>
                <a:spcPts val="625"/>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spc="10" dirty="0">
                <a:solidFill>
                  <a:srgbClr val="000000"/>
                </a:solidFill>
                <a:effectLst/>
                <a:highlight>
                  <a:srgbClr val="E0E0E0"/>
                </a:highlight>
                <a:latin typeface="Times New Roman" panose="02020603050405020304" pitchFamily="18" charset="0"/>
                <a:ea typeface="Times New Roman" panose="02020603050405020304" pitchFamily="18" charset="0"/>
              </a:rPr>
              <a:t>Alice (Sender)       Bob (Receiver)</a:t>
            </a:r>
            <a:endParaRPr lang="en-IN" sz="1800" dirty="0">
              <a:effectLst/>
              <a:highlight>
                <a:srgbClr val="E0E0E0"/>
              </a:highlight>
              <a:latin typeface="Times New Roman" panose="02020603050405020304" pitchFamily="18" charset="0"/>
              <a:ea typeface="Times New Roman" panose="02020603050405020304" pitchFamily="18" charset="0"/>
            </a:endParaRPr>
          </a:p>
          <a:p>
            <a:pPr marL="342900" lvl="0" indent="-342900" fontAlgn="base">
              <a:spcAft>
                <a:spcPts val="625"/>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spc="10" dirty="0">
                <a:solidFill>
                  <a:srgbClr val="000000"/>
                </a:solidFill>
                <a:effectLst/>
                <a:highlight>
                  <a:srgbClr val="E0E0E0"/>
                </a:highlight>
                <a:latin typeface="Times New Roman" panose="02020603050405020304" pitchFamily="18" charset="0"/>
                <a:ea typeface="Times New Roman" panose="02020603050405020304" pitchFamily="18" charset="0"/>
              </a:rPr>
              <a:t>C = E (m, k)  ----&gt;    m = D (C, k) </a:t>
            </a:r>
            <a:endParaRPr lang="en-IN" sz="1800" dirty="0">
              <a:effectLst/>
              <a:highlight>
                <a:srgbClr val="E0E0E0"/>
              </a:highlight>
              <a:latin typeface="Times New Roman" panose="02020603050405020304" pitchFamily="18" charset="0"/>
              <a:ea typeface="Times New Roman" panose="02020603050405020304" pitchFamily="18" charset="0"/>
            </a:endParaRPr>
          </a:p>
          <a:p>
            <a:pPr marL="342900" lvl="0" indent="-342900" algn="just" fontAlgn="base">
              <a:spcAft>
                <a:spcPts val="625"/>
              </a:spcAft>
              <a:tabLst>
                <a:tab pos="457200" algn="l"/>
              </a:tabLst>
            </a:pP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Here, C refers to the Ciphertext while E and D are the Encryption and Decryption algorithms respectively. Let’s consider the case of Caesar Cipher or Shift Cipher as an example. As the name suggests, in Caesar’s Cipher each character in a word is replaced by another character under some defined rules. Thus, if A is replaced by D, B by E and so on. Then, each character in the word would be shifted by a position of 3. For example:</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spcAft>
                <a:spcPts val="625"/>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spc="10" dirty="0">
                <a:solidFill>
                  <a:srgbClr val="000000"/>
                </a:solidFill>
                <a:effectLst/>
                <a:highlight>
                  <a:srgbClr val="E0E0E0"/>
                </a:highlight>
                <a:latin typeface="Times New Roman" panose="02020603050405020304" pitchFamily="18" charset="0"/>
                <a:ea typeface="Times New Roman" panose="02020603050405020304" pitchFamily="18" charset="0"/>
              </a:rPr>
              <a:t>Plaintext : </a:t>
            </a:r>
            <a:r>
              <a:rPr lang="en-US" sz="1800" spc="10" dirty="0" err="1">
                <a:solidFill>
                  <a:srgbClr val="000000"/>
                </a:solidFill>
                <a:effectLst/>
                <a:highlight>
                  <a:srgbClr val="E0E0E0"/>
                </a:highlight>
                <a:latin typeface="Times New Roman" panose="02020603050405020304" pitchFamily="18" charset="0"/>
                <a:ea typeface="Times New Roman" panose="02020603050405020304" pitchFamily="18" charset="0"/>
              </a:rPr>
              <a:t>Geeksforgeeks</a:t>
            </a:r>
            <a:endParaRPr lang="en-IN" sz="1800" dirty="0">
              <a:effectLst/>
              <a:highlight>
                <a:srgbClr val="E0E0E0"/>
              </a:highlight>
              <a:latin typeface="Times New Roman" panose="02020603050405020304" pitchFamily="18" charset="0"/>
              <a:ea typeface="Times New Roman" panose="02020603050405020304" pitchFamily="18" charset="0"/>
            </a:endParaRPr>
          </a:p>
          <a:p>
            <a:pPr marL="342900" lvl="0" indent="-342900" fontAlgn="base">
              <a:spcAft>
                <a:spcPts val="625"/>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spc="10" dirty="0">
                <a:solidFill>
                  <a:srgbClr val="000000"/>
                </a:solidFill>
                <a:effectLst/>
                <a:highlight>
                  <a:srgbClr val="E0E0E0"/>
                </a:highlight>
                <a:latin typeface="Times New Roman" panose="02020603050405020304" pitchFamily="18" charset="0"/>
                <a:ea typeface="Times New Roman" panose="02020603050405020304" pitchFamily="18" charset="0"/>
              </a:rPr>
              <a:t>Ciphertext : </a:t>
            </a:r>
            <a:r>
              <a:rPr lang="en-US" sz="1800" spc="10" dirty="0" err="1">
                <a:solidFill>
                  <a:srgbClr val="000000"/>
                </a:solidFill>
                <a:effectLst/>
                <a:highlight>
                  <a:srgbClr val="E0E0E0"/>
                </a:highlight>
                <a:latin typeface="Times New Roman" panose="02020603050405020304" pitchFamily="18" charset="0"/>
                <a:ea typeface="Times New Roman" panose="02020603050405020304" pitchFamily="18" charset="0"/>
              </a:rPr>
              <a:t>Jhhnvirujhhnv</a:t>
            </a:r>
            <a:r>
              <a:rPr lang="en-US" sz="1800" spc="10" dirty="0">
                <a:solidFill>
                  <a:srgbClr val="000000"/>
                </a:solidFill>
                <a:effectLst/>
                <a:highlight>
                  <a:srgbClr val="E0E0E0"/>
                </a:highlight>
                <a:latin typeface="Times New Roman" panose="02020603050405020304" pitchFamily="18" charset="0"/>
                <a:ea typeface="Times New Roman" panose="02020603050405020304" pitchFamily="18" charset="0"/>
              </a:rPr>
              <a:t> </a:t>
            </a:r>
            <a:endParaRPr lang="en-IN" sz="1800" dirty="0">
              <a:effectLst/>
              <a:highlight>
                <a:srgbClr val="E0E0E0"/>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p:nvPr/>
        </p:nvSpPr>
        <p:spPr>
          <a:xfrm>
            <a:off x="2606040" y="17780"/>
            <a:ext cx="651408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sp>
        <p:nvSpPr>
          <p:cNvPr id="140" name="Google Shape;140;p9"/>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41" name="Google Shape;141;p9"/>
          <p:cNvSpPr txBox="1">
            <a:spLocks noGrp="1"/>
          </p:cNvSpPr>
          <p:nvPr>
            <p:ph type="title"/>
          </p:nvPr>
        </p:nvSpPr>
        <p:spPr>
          <a:xfrm>
            <a:off x="1772356" y="569721"/>
            <a:ext cx="6005631" cy="829063"/>
          </a:xfrm>
          <a:prstGeom prst="rect">
            <a:avLst/>
          </a:prstGeom>
          <a:noFill/>
          <a:ln>
            <a:noFill/>
          </a:ln>
        </p:spPr>
        <p:txBody>
          <a:bodyPr spcFirstLastPara="1" wrap="square" lIns="0" tIns="13325" rIns="0" bIns="0" anchor="t" anchorCtr="0">
            <a:spAutoFit/>
          </a:bodyPr>
          <a:lstStyle/>
          <a:p>
            <a:pPr algn="just" fontAlgn="base">
              <a:spcBef>
                <a:spcPts val="1505"/>
              </a:spcBef>
              <a:spcAft>
                <a:spcPts val="1505"/>
              </a:spcAft>
            </a:pPr>
            <a:r>
              <a:rPr lang="en-IN" sz="2800" b="1" spc="10"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Types of Cryptography:</a:t>
            </a:r>
            <a:endParaRPr lang="en-IN" sz="28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42" name="Google Shape;142;p9"/>
          <p:cNvSpPr txBox="1"/>
          <p:nvPr/>
        </p:nvSpPr>
        <p:spPr>
          <a:xfrm>
            <a:off x="231139" y="1534414"/>
            <a:ext cx="8720949" cy="3824765"/>
          </a:xfrm>
          <a:prstGeom prst="rect">
            <a:avLst/>
          </a:prstGeom>
          <a:noFill/>
          <a:ln>
            <a:noFill/>
          </a:ln>
        </p:spPr>
        <p:txBody>
          <a:bodyPr spcFirstLastPara="1" wrap="square" lIns="0" tIns="53975" rIns="0" bIns="0" anchor="t" anchorCtr="0">
            <a:spAutoFit/>
          </a:bodyPr>
          <a:lstStyle/>
          <a:p>
            <a:pPr algn="just" fontAlgn="base">
              <a:spcAft>
                <a:spcPts val="625"/>
              </a:spcAft>
            </a:pP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There are several types of cryptography, each with its own unique features and applications. Some of the most common types of cryptography include:</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1800" b="1" spc="10" dirty="0">
                <a:solidFill>
                  <a:srgbClr val="000000"/>
                </a:solidFill>
                <a:effectLst/>
                <a:highlight>
                  <a:srgbClr val="FFFFFF"/>
                </a:highlight>
                <a:latin typeface="Times New Roman" panose="02020603050405020304" pitchFamily="18" charset="0"/>
                <a:ea typeface="Times New Roman" panose="02020603050405020304" pitchFamily="18" charset="0"/>
              </a:rPr>
              <a:t>1. Symmetric-key cryptography:</a:t>
            </a: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 This type of cryptography involves the use of a single key to encrypt and decrypt data. Both the sender and receiver use the same key, which must be kept secret to maintain the security of the communication.</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1800" b="1" spc="10" dirty="0">
                <a:solidFill>
                  <a:srgbClr val="000000"/>
                </a:solidFill>
                <a:effectLst/>
                <a:highlight>
                  <a:srgbClr val="FFFFFF"/>
                </a:highlight>
                <a:latin typeface="Times New Roman" panose="02020603050405020304" pitchFamily="18" charset="0"/>
                <a:ea typeface="Times New Roman" panose="02020603050405020304" pitchFamily="18" charset="0"/>
              </a:rPr>
              <a:t>2. Asymmetric-key cryptography: </a:t>
            </a: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Asymmetric-key cryptography, also known as public-key cryptography, uses a pair of keys – a public key and a private key – to encrypt and decrypt data. The public key is available to anyone, while the private key is kept secret by the owner.</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1800" b="1" spc="10" dirty="0">
                <a:solidFill>
                  <a:srgbClr val="000000"/>
                </a:solidFill>
                <a:effectLst/>
                <a:highlight>
                  <a:srgbClr val="FFFFFF"/>
                </a:highlight>
                <a:latin typeface="Times New Roman" panose="02020603050405020304" pitchFamily="18" charset="0"/>
                <a:ea typeface="Times New Roman" panose="02020603050405020304" pitchFamily="18" charset="0"/>
              </a:rPr>
              <a:t>Hash functions:</a:t>
            </a: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 A hash function is a mathematical algorithm that converts data of any size into a fixed-size output. Hash functions are often used to verify the integrity of data and ensure that it has not been tampered with.</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endParaRPr lang="en-IN" sz="24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48" name="Google Shape;148;p10"/>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a:t>University Institute of Engineering (UIE)</a:t>
            </a:r>
            <a:endParaRPr lang="en-US" sz="1400" dirty="0"/>
          </a:p>
        </p:txBody>
      </p:sp>
      <p:sp>
        <p:nvSpPr>
          <p:cNvPr id="149" name="Google Shape;149;p10"/>
          <p:cNvSpPr txBox="1">
            <a:spLocks noGrp="1"/>
          </p:cNvSpPr>
          <p:nvPr>
            <p:ph type="title"/>
          </p:nvPr>
        </p:nvSpPr>
        <p:spPr>
          <a:xfrm>
            <a:off x="2319908" y="569721"/>
            <a:ext cx="5271770" cy="829063"/>
          </a:xfrm>
          <a:prstGeom prst="rect">
            <a:avLst/>
          </a:prstGeom>
          <a:noFill/>
          <a:ln>
            <a:noFill/>
          </a:ln>
        </p:spPr>
        <p:txBody>
          <a:bodyPr spcFirstLastPara="1" wrap="square" lIns="0" tIns="13325" rIns="0" bIns="0" anchor="t" anchorCtr="0">
            <a:spAutoFit/>
          </a:bodyPr>
          <a:lstStyle/>
          <a:p>
            <a:pPr algn="just" fontAlgn="base">
              <a:spcBef>
                <a:spcPts val="1505"/>
              </a:spcBef>
              <a:spcAft>
                <a:spcPts val="1505"/>
              </a:spcAft>
            </a:pPr>
            <a:r>
              <a:rPr lang="en-IN" sz="2800" b="1" spc="10"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Applications of Cryptography:</a:t>
            </a:r>
            <a:endParaRPr lang="en-IN" sz="28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50" name="Google Shape;150;p10"/>
          <p:cNvSpPr txBox="1"/>
          <p:nvPr/>
        </p:nvSpPr>
        <p:spPr>
          <a:xfrm>
            <a:off x="231140" y="1411837"/>
            <a:ext cx="7962900" cy="4537760"/>
          </a:xfrm>
          <a:prstGeom prst="rect">
            <a:avLst/>
          </a:prstGeom>
          <a:noFill/>
          <a:ln>
            <a:noFill/>
          </a:ln>
        </p:spPr>
        <p:txBody>
          <a:bodyPr spcFirstLastPara="1" wrap="square" lIns="0" tIns="74275" rIns="0" bIns="0" anchor="t" anchorCtr="0">
            <a:spAutoFit/>
          </a:bodyPr>
          <a:lstStyle/>
          <a:p>
            <a:pPr algn="just" fontAlgn="base">
              <a:spcAft>
                <a:spcPts val="625"/>
              </a:spcAft>
            </a:pPr>
            <a:r>
              <a:rPr lang="en-US" sz="2000" spc="10" dirty="0">
                <a:solidFill>
                  <a:srgbClr val="000000"/>
                </a:solidFill>
                <a:effectLst/>
                <a:highlight>
                  <a:srgbClr val="FFFFFF"/>
                </a:highlight>
                <a:latin typeface="Times New Roman" panose="02020603050405020304" pitchFamily="18" charset="0"/>
                <a:ea typeface="Times New Roman" panose="02020603050405020304" pitchFamily="18" charset="0"/>
              </a:rPr>
              <a:t>Cryptography has a wide range of applications in modern-day communication, including:</a:t>
            </a:r>
            <a:endParaRPr lang="en-IN" sz="20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SzPts val="1000"/>
              <a:buFont typeface="Symbol" pitchFamily="2" charset="2"/>
              <a:buChar char=""/>
              <a:tabLst>
                <a:tab pos="457200" algn="l"/>
              </a:tabLst>
            </a:pPr>
            <a:r>
              <a:rPr lang="en-IN" sz="2000" b="1" spc="10" dirty="0">
                <a:solidFill>
                  <a:srgbClr val="000000"/>
                </a:solidFill>
                <a:effectLst/>
                <a:highlight>
                  <a:srgbClr val="FFFFFF"/>
                </a:highlight>
                <a:latin typeface="Times New Roman" panose="02020603050405020304" pitchFamily="18" charset="0"/>
                <a:ea typeface="Times New Roman" panose="02020603050405020304" pitchFamily="18" charset="0"/>
              </a:rPr>
              <a:t>Secure online transactions: </a:t>
            </a:r>
            <a:r>
              <a:rPr lang="en-IN" sz="2000" spc="10" dirty="0">
                <a:solidFill>
                  <a:srgbClr val="000000"/>
                </a:solidFill>
                <a:effectLst/>
                <a:highlight>
                  <a:srgbClr val="FFFFFF"/>
                </a:highlight>
                <a:latin typeface="Times New Roman" panose="02020603050405020304" pitchFamily="18" charset="0"/>
                <a:ea typeface="Times New Roman" panose="02020603050405020304" pitchFamily="18" charset="0"/>
              </a:rPr>
              <a:t>Cryptography is used to secure online transactions, such as online banking and e-commerce, by encrypting sensitive data and protecting it from unauthorized access.</a:t>
            </a:r>
            <a:endParaRPr lang="en-IN" sz="20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SzPts val="1000"/>
              <a:buFont typeface="Symbol" pitchFamily="2" charset="2"/>
              <a:buChar char=""/>
              <a:tabLst>
                <a:tab pos="457200" algn="l"/>
              </a:tabLst>
            </a:pPr>
            <a:r>
              <a:rPr lang="en-IN" sz="2000" b="1" spc="10" dirty="0">
                <a:solidFill>
                  <a:srgbClr val="000000"/>
                </a:solidFill>
                <a:effectLst/>
                <a:highlight>
                  <a:srgbClr val="FFFFFF"/>
                </a:highlight>
                <a:latin typeface="Times New Roman" panose="02020603050405020304" pitchFamily="18" charset="0"/>
                <a:ea typeface="Times New Roman" panose="02020603050405020304" pitchFamily="18" charset="0"/>
              </a:rPr>
              <a:t>Digital signatures: </a:t>
            </a:r>
            <a:r>
              <a:rPr lang="en-IN" sz="2000" spc="10" dirty="0">
                <a:solidFill>
                  <a:srgbClr val="000000"/>
                </a:solidFill>
                <a:effectLst/>
                <a:highlight>
                  <a:srgbClr val="FFFFFF"/>
                </a:highlight>
                <a:latin typeface="Times New Roman" panose="02020603050405020304" pitchFamily="18" charset="0"/>
                <a:ea typeface="Times New Roman" panose="02020603050405020304" pitchFamily="18" charset="0"/>
              </a:rPr>
              <a:t>Digital signatures are used to verify the authenticity and integrity of digital documents and ensure that they have not been tampered with.</a:t>
            </a:r>
            <a:endParaRPr lang="en-IN" sz="20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SzPts val="1000"/>
              <a:buFont typeface="Symbol" pitchFamily="2" charset="2"/>
              <a:buChar char=""/>
              <a:tabLst>
                <a:tab pos="457200" algn="l"/>
              </a:tabLst>
            </a:pPr>
            <a:r>
              <a:rPr lang="en-IN" sz="2000" b="1" spc="10" dirty="0">
                <a:solidFill>
                  <a:srgbClr val="000000"/>
                </a:solidFill>
                <a:effectLst/>
                <a:highlight>
                  <a:srgbClr val="FFFFFF"/>
                </a:highlight>
                <a:latin typeface="Times New Roman" panose="02020603050405020304" pitchFamily="18" charset="0"/>
                <a:ea typeface="Times New Roman" panose="02020603050405020304" pitchFamily="18" charset="0"/>
              </a:rPr>
              <a:t>Password protection: </a:t>
            </a:r>
            <a:r>
              <a:rPr lang="en-IN" sz="2000" spc="10" dirty="0">
                <a:solidFill>
                  <a:srgbClr val="000000"/>
                </a:solidFill>
                <a:effectLst/>
                <a:highlight>
                  <a:srgbClr val="FFFFFF"/>
                </a:highlight>
                <a:latin typeface="Times New Roman" panose="02020603050405020304" pitchFamily="18" charset="0"/>
                <a:ea typeface="Times New Roman" panose="02020603050405020304" pitchFamily="18" charset="0"/>
              </a:rPr>
              <a:t>Passwords are often encrypted using cryptographic algorithms to protect them from being stolen or intercepted.</a:t>
            </a:r>
            <a:endParaRPr lang="en-IN" sz="2000" dirty="0">
              <a:effectLst/>
              <a:highlight>
                <a:srgbClr val="FFFFFF"/>
              </a:highlight>
              <a:latin typeface="Times New Roman" panose="02020603050405020304" pitchFamily="18" charset="0"/>
              <a:ea typeface="Times New Roman" panose="02020603050405020304" pitchFamily="18" charset="0"/>
            </a:endParaRPr>
          </a:p>
          <a:p>
            <a:pPr algn="just" fontAlgn="base">
              <a:spcAft>
                <a:spcPts val="625"/>
              </a:spcAft>
            </a:pPr>
            <a:r>
              <a:rPr lang="en-US" sz="2000" spc="10" dirty="0">
                <a:solidFill>
                  <a:srgbClr val="000000"/>
                </a:solidFill>
                <a:effectLst/>
                <a:highlight>
                  <a:srgbClr val="FFFFFF"/>
                </a:highlight>
                <a:latin typeface="Times New Roman" panose="02020603050405020304" pitchFamily="18" charset="0"/>
                <a:ea typeface="Times New Roman" panose="02020603050405020304" pitchFamily="18" charset="0"/>
              </a:rPr>
              <a:t>Military and intelligence applications: Cryptography is widely used in military and intelligence applications to protect classified information and communications.</a:t>
            </a:r>
            <a:endParaRPr lang="en-IN" sz="20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56" name="Google Shape;156;p11"/>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57" name="Google Shape;157;p11"/>
          <p:cNvSpPr txBox="1">
            <a:spLocks noGrp="1"/>
          </p:cNvSpPr>
          <p:nvPr>
            <p:ph type="title"/>
          </p:nvPr>
        </p:nvSpPr>
        <p:spPr>
          <a:xfrm>
            <a:off x="493039" y="622807"/>
            <a:ext cx="8157921" cy="829063"/>
          </a:xfrm>
          <a:prstGeom prst="rect">
            <a:avLst/>
          </a:prstGeom>
          <a:noFill/>
          <a:ln>
            <a:noFill/>
          </a:ln>
        </p:spPr>
        <p:txBody>
          <a:bodyPr spcFirstLastPara="1" wrap="square" lIns="0" tIns="13325" rIns="0" bIns="0" anchor="t" anchorCtr="0">
            <a:spAutoFit/>
          </a:bodyPr>
          <a:lstStyle/>
          <a:p>
            <a:pPr algn="ctr" fontAlgn="base">
              <a:spcBef>
                <a:spcPts val="1505"/>
              </a:spcBef>
              <a:spcAft>
                <a:spcPts val="1505"/>
              </a:spcAft>
            </a:pPr>
            <a:r>
              <a:rPr lang="en-IN" sz="2800" b="1" spc="10"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Challenges of Cryptography:</a:t>
            </a:r>
            <a:endParaRPr lang="en-IN" sz="28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58" name="Google Shape;158;p11"/>
          <p:cNvSpPr txBox="1"/>
          <p:nvPr/>
        </p:nvSpPr>
        <p:spPr>
          <a:xfrm>
            <a:off x="535940" y="1369313"/>
            <a:ext cx="8427438" cy="2933495"/>
          </a:xfrm>
          <a:prstGeom prst="rect">
            <a:avLst/>
          </a:prstGeom>
          <a:noFill/>
          <a:ln>
            <a:noFill/>
          </a:ln>
        </p:spPr>
        <p:txBody>
          <a:bodyPr spcFirstLastPara="1" wrap="square" lIns="0" tIns="85725" rIns="0" bIns="0" anchor="t" anchorCtr="0">
            <a:spAutoFit/>
          </a:bodyPr>
          <a:lstStyle/>
          <a:p>
            <a:pPr algn="just" fontAlgn="base">
              <a:spcAft>
                <a:spcPts val="625"/>
              </a:spcAft>
            </a:pPr>
            <a:r>
              <a:rPr lang="en-US" sz="2000" spc="10" dirty="0">
                <a:solidFill>
                  <a:srgbClr val="000000"/>
                </a:solidFill>
                <a:effectLst/>
                <a:highlight>
                  <a:srgbClr val="FFFFFF"/>
                </a:highlight>
                <a:latin typeface="Times New Roman" panose="02020603050405020304" pitchFamily="18" charset="0"/>
                <a:ea typeface="Times New Roman" panose="02020603050405020304" pitchFamily="18" charset="0"/>
              </a:rPr>
              <a:t>While cryptography is a powerful tool for securing information, it also presents several challenges, including:</a:t>
            </a:r>
            <a:endParaRPr lang="en-IN" sz="20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SzPts val="1000"/>
              <a:buFont typeface="Symbol" pitchFamily="2" charset="2"/>
              <a:buChar char=""/>
              <a:tabLst>
                <a:tab pos="457200" algn="l"/>
              </a:tabLst>
            </a:pPr>
            <a:r>
              <a:rPr lang="en-IN" sz="2000" b="1" spc="10" dirty="0">
                <a:solidFill>
                  <a:srgbClr val="000000"/>
                </a:solidFill>
                <a:effectLst/>
                <a:highlight>
                  <a:srgbClr val="FFFFFF"/>
                </a:highlight>
                <a:latin typeface="Times New Roman" panose="02020603050405020304" pitchFamily="18" charset="0"/>
                <a:ea typeface="Times New Roman" panose="02020603050405020304" pitchFamily="18" charset="0"/>
              </a:rPr>
              <a:t>Key management</a:t>
            </a:r>
            <a:r>
              <a:rPr lang="en-IN" sz="2000" spc="10" dirty="0">
                <a:solidFill>
                  <a:srgbClr val="000000"/>
                </a:solidFill>
                <a:effectLst/>
                <a:highlight>
                  <a:srgbClr val="FFFFFF"/>
                </a:highlight>
                <a:latin typeface="Times New Roman" panose="02020603050405020304" pitchFamily="18" charset="0"/>
                <a:ea typeface="Times New Roman" panose="02020603050405020304" pitchFamily="18" charset="0"/>
              </a:rPr>
              <a:t>: Cryptography relies on the use of keys, which must be managed carefully to maintain the security of the communication.</a:t>
            </a:r>
            <a:endParaRPr lang="en-IN" sz="20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SzPts val="1000"/>
              <a:buFont typeface="Symbol" pitchFamily="2" charset="2"/>
              <a:buChar char=""/>
              <a:tabLst>
                <a:tab pos="457200" algn="l"/>
              </a:tabLst>
            </a:pPr>
            <a:r>
              <a:rPr lang="en-IN" sz="2000" b="1" spc="10" dirty="0">
                <a:solidFill>
                  <a:srgbClr val="000000"/>
                </a:solidFill>
                <a:effectLst/>
                <a:highlight>
                  <a:srgbClr val="FFFFFF"/>
                </a:highlight>
                <a:latin typeface="Times New Roman" panose="02020603050405020304" pitchFamily="18" charset="0"/>
                <a:ea typeface="Times New Roman" panose="02020603050405020304" pitchFamily="18" charset="0"/>
              </a:rPr>
              <a:t>Quantum computing: </a:t>
            </a:r>
            <a:r>
              <a:rPr lang="en-IN" sz="2000" spc="10" dirty="0">
                <a:solidFill>
                  <a:srgbClr val="000000"/>
                </a:solidFill>
                <a:effectLst/>
                <a:highlight>
                  <a:srgbClr val="FFFFFF"/>
                </a:highlight>
                <a:latin typeface="Times New Roman" panose="02020603050405020304" pitchFamily="18" charset="0"/>
                <a:ea typeface="Times New Roman" panose="02020603050405020304" pitchFamily="18" charset="0"/>
              </a:rPr>
              <a:t>The development of quantum computing poses a potential threat to current cryptographic algorithms, which may become vulnerable to attacks.</a:t>
            </a:r>
            <a:endParaRPr lang="en-IN" sz="20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SzPts val="1000"/>
              <a:buFont typeface="Symbol" pitchFamily="2" charset="2"/>
              <a:buChar char=""/>
              <a:tabLst>
                <a:tab pos="457200" algn="l"/>
              </a:tabLst>
            </a:pPr>
            <a:r>
              <a:rPr lang="en-IN" sz="2000" b="1" spc="10" dirty="0">
                <a:solidFill>
                  <a:srgbClr val="000000"/>
                </a:solidFill>
                <a:effectLst/>
                <a:highlight>
                  <a:srgbClr val="FFFFFF"/>
                </a:highlight>
                <a:latin typeface="Times New Roman" panose="02020603050405020304" pitchFamily="18" charset="0"/>
                <a:ea typeface="Times New Roman" panose="02020603050405020304" pitchFamily="18" charset="0"/>
              </a:rPr>
              <a:t>Human error:</a:t>
            </a:r>
            <a:r>
              <a:rPr lang="en-IN" sz="2000" spc="10" dirty="0">
                <a:solidFill>
                  <a:srgbClr val="000000"/>
                </a:solidFill>
                <a:effectLst/>
                <a:highlight>
                  <a:srgbClr val="FFFFFF"/>
                </a:highlight>
                <a:latin typeface="Times New Roman" panose="02020603050405020304" pitchFamily="18" charset="0"/>
                <a:ea typeface="Times New Roman" panose="02020603050405020304" pitchFamily="18" charset="0"/>
              </a:rPr>
              <a:t> Cryptography is only as strong as its weakest link, and human error can easily compromise the security of a communication.</a:t>
            </a:r>
            <a:endParaRPr lang="en-IN" sz="20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64" name="Google Shape;164;p1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65" name="Google Shape;165;p12"/>
          <p:cNvSpPr txBox="1"/>
          <p:nvPr/>
        </p:nvSpPr>
        <p:spPr>
          <a:xfrm>
            <a:off x="231140" y="1463929"/>
            <a:ext cx="8528685" cy="4374916"/>
          </a:xfrm>
          <a:prstGeom prst="rect">
            <a:avLst/>
          </a:prstGeom>
          <a:noFill/>
          <a:ln>
            <a:noFill/>
          </a:ln>
        </p:spPr>
        <p:txBody>
          <a:bodyPr spcFirstLastPara="1" wrap="square" lIns="0" tIns="85725" rIns="0" bIns="0" anchor="t" anchorCtr="0">
            <a:spAutoFit/>
          </a:bodyPr>
          <a:lstStyle/>
          <a:p>
            <a:pPr algn="just" fontAlgn="base">
              <a:spcAft>
                <a:spcPts val="625"/>
              </a:spcAft>
            </a:pP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Hiding some data is known as encryption. When plain text is encrypted it becomes unreadable and is known as ciphertext. In a Substitution cipher, any character of plain text from the given fixed set of characters is substituted by some other character from the same set depending on a key. For example with a shift of 1, A would be replaced by B, B would become C, and so on. </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1800" b="1" spc="10" dirty="0">
                <a:solidFill>
                  <a:srgbClr val="000000"/>
                </a:solidFill>
                <a:effectLst/>
                <a:highlight>
                  <a:srgbClr val="FFFFFF"/>
                </a:highlight>
                <a:latin typeface="Times New Roman" panose="02020603050405020304" pitchFamily="18" charset="0"/>
                <a:ea typeface="Times New Roman" panose="02020603050405020304" pitchFamily="18" charset="0"/>
              </a:rPr>
              <a:t>Note:</a:t>
            </a: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 Special case of Substitution cipher is known as </a:t>
            </a:r>
            <a:r>
              <a:rPr lang="en-US" sz="1800" u="sng" spc="10" dirty="0">
                <a:solidFill>
                  <a:srgbClr val="000000"/>
                </a:solidFill>
                <a:effectLst/>
                <a:highlight>
                  <a:srgbClr val="FFFFFF"/>
                </a:highlight>
                <a:latin typeface="Times New Roman" panose="02020603050405020304" pitchFamily="18" charset="0"/>
                <a:ea typeface="Times New Roman" panose="02020603050405020304" pitchFamily="18" charset="0"/>
                <a:hlinkClick r:id="rId3"/>
              </a:rPr>
              <a:t>Caesar cipher</a:t>
            </a: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 where the key is taken as 3.</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spcBef>
                <a:spcPts val="200"/>
              </a:spcBef>
            </a:pPr>
            <a:r>
              <a:rPr lang="en-IN" sz="1800" b="1" i="0" spc="10"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Mathematical representation</a:t>
            </a:r>
            <a:endParaRPr lang="en-IN" sz="1800" b="1" i="1" dirty="0">
              <a:solidFill>
                <a:srgbClr val="2F5496"/>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a:p>
            <a:pPr algn="just" fontAlgn="base">
              <a:spcAft>
                <a:spcPts val="625"/>
              </a:spcAft>
            </a:pP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The encryption can be represented using modular arithmetic by first transforming the letters into numbers, according to the scheme, A = 0, B = 1,…, Z = 25. Encryption of a letter by a shift n can be described mathematically as.</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spcAft>
                <a:spcPts val="625"/>
              </a:spcAft>
            </a:pPr>
            <a:r>
              <a:rPr lang="en-US" sz="1800" spc="10" dirty="0" err="1">
                <a:solidFill>
                  <a:srgbClr val="000000"/>
                </a:solidFill>
                <a:effectLst/>
                <a:highlight>
                  <a:srgbClr val="FFFFFF"/>
                </a:highlight>
                <a:latin typeface="Times New Roman" panose="02020603050405020304" pitchFamily="18" charset="0"/>
                <a:ea typeface="Times New Roman" panose="02020603050405020304" pitchFamily="18" charset="0"/>
              </a:rPr>
              <a:t>En</a:t>
            </a: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(x) = (</a:t>
            </a:r>
            <a:r>
              <a:rPr lang="en-US" sz="1800" spc="10" dirty="0" err="1">
                <a:solidFill>
                  <a:srgbClr val="000000"/>
                </a:solidFill>
                <a:effectLst/>
                <a:highlight>
                  <a:srgbClr val="FFFFFF"/>
                </a:highlight>
                <a:latin typeface="Times New Roman" panose="02020603050405020304" pitchFamily="18" charset="0"/>
                <a:ea typeface="Times New Roman" panose="02020603050405020304" pitchFamily="18" charset="0"/>
              </a:rPr>
              <a:t>x+n</a:t>
            </a: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)mod 26</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spcAft>
                <a:spcPts val="625"/>
              </a:spcAft>
            </a:pPr>
            <a:r>
              <a:rPr lang="en-US" sz="1800" spc="10" dirty="0">
                <a:effectLst/>
                <a:highlight>
                  <a:srgbClr val="FFFFFF"/>
                </a:highlight>
                <a:latin typeface="Times New Roman" panose="02020603050405020304" pitchFamily="18" charset="0"/>
                <a:ea typeface="Times New Roman" panose="02020603050405020304" pitchFamily="18" charset="0"/>
              </a:rPr>
              <a:t> </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spcAft>
                <a:spcPts val="625"/>
              </a:spcAft>
            </a:pPr>
            <a:r>
              <a:rPr lang="en-US" sz="1800" spc="10" dirty="0" err="1">
                <a:solidFill>
                  <a:srgbClr val="000000"/>
                </a:solidFill>
                <a:effectLst/>
                <a:highlight>
                  <a:srgbClr val="FFFFFF"/>
                </a:highlight>
                <a:latin typeface="Times New Roman" panose="02020603050405020304" pitchFamily="18" charset="0"/>
                <a:ea typeface="Times New Roman" panose="02020603050405020304" pitchFamily="18" charset="0"/>
              </a:rPr>
              <a:t>Dn</a:t>
            </a: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(x) = (x-n)mod 26</a:t>
            </a:r>
            <a:endParaRPr lang="en-IN" sz="1800" dirty="0">
              <a:effectLst/>
              <a:highlight>
                <a:srgbClr val="FFFFFF"/>
              </a:highlight>
              <a:latin typeface="Times New Roman" panose="02020603050405020304" pitchFamily="18" charset="0"/>
              <a:ea typeface="Times New Roman" panose="02020603050405020304" pitchFamily="18" charset="0"/>
            </a:endParaRPr>
          </a:p>
        </p:txBody>
      </p:sp>
      <p:sp>
        <p:nvSpPr>
          <p:cNvPr id="166" name="Google Shape;166;p12"/>
          <p:cNvSpPr txBox="1">
            <a:spLocks noGrp="1"/>
          </p:cNvSpPr>
          <p:nvPr>
            <p:ph type="title"/>
          </p:nvPr>
        </p:nvSpPr>
        <p:spPr>
          <a:xfrm>
            <a:off x="493039" y="622807"/>
            <a:ext cx="8157921" cy="508975"/>
          </a:xfrm>
          <a:prstGeom prst="rect">
            <a:avLst/>
          </a:prstGeom>
          <a:noFill/>
          <a:ln>
            <a:noFill/>
          </a:ln>
        </p:spPr>
        <p:txBody>
          <a:bodyPr spcFirstLastPara="1" wrap="square" lIns="0" tIns="13325" rIns="0" bIns="0" anchor="t" anchorCtr="0">
            <a:spAutoFit/>
          </a:bodyPr>
          <a:lstStyle/>
          <a:p>
            <a:pPr algn="ctr" fontAlgn="base">
              <a:lnSpc>
                <a:spcPct val="115000"/>
              </a:lnSpc>
            </a:pPr>
            <a:r>
              <a:rPr lang="en-IN" sz="2800" b="1" i="0" kern="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Substitution Cipher</a:t>
            </a:r>
            <a:endParaRPr lang="en-IN" sz="2800" b="1" i="1" kern="0" dirty="0">
              <a:effectLst/>
              <a:highlight>
                <a:srgbClr val="FFFFFF"/>
              </a:highlight>
              <a:latin typeface="Book Antiqua" panose="02040602050305030304" pitchFamily="18" charset="0"/>
              <a:ea typeface="Times New Roman" panose="02020603050405020304" pitchFamily="18" charset="0"/>
              <a:cs typeface="Raavi" panose="020B050204020402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DF56B-F8C4-BE7A-D549-4264B14817AA}"/>
              </a:ext>
            </a:extLst>
          </p:cNvPr>
          <p:cNvSpPr>
            <a:spLocks noGrp="1"/>
          </p:cNvSpPr>
          <p:nvPr>
            <p:ph type="title"/>
          </p:nvPr>
        </p:nvSpPr>
        <p:spPr>
          <a:xfrm>
            <a:off x="493039" y="622807"/>
            <a:ext cx="8157921" cy="492443"/>
          </a:xfrm>
        </p:spPr>
        <p:txBody>
          <a:bodyPr/>
          <a:lstStyle/>
          <a:p>
            <a:pPr algn="ctr"/>
            <a:r>
              <a:rPr lang="en-IN" sz="3200" b="1" i="0" kern="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Substitution Cipher</a:t>
            </a:r>
            <a:endParaRPr lang="en-US" dirty="0"/>
          </a:p>
        </p:txBody>
      </p:sp>
      <p:sp>
        <p:nvSpPr>
          <p:cNvPr id="4" name="Rectangle 1">
            <a:extLst>
              <a:ext uri="{FF2B5EF4-FFF2-40B4-BE49-F238E27FC236}">
                <a16:creationId xmlns:a16="http://schemas.microsoft.com/office/drawing/2014/main" id="{623C4EE6-0784-EE2E-A5C1-DC37CAE49F8C}"/>
              </a:ext>
            </a:extLst>
          </p:cNvPr>
          <p:cNvSpPr>
            <a:spLocks noGrp="1" noChangeArrowheads="1"/>
          </p:cNvSpPr>
          <p:nvPr>
            <p:ph type="body" idx="1"/>
          </p:nvPr>
        </p:nvSpPr>
        <p:spPr bwMode="auto">
          <a:xfrm>
            <a:off x="231141" y="3499143"/>
            <a:ext cx="3347437" cy="1107996"/>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273239"/>
                </a:solidFill>
                <a:effectLst/>
                <a:latin typeface="Arial" panose="020B0604020202020204" pitchFamily="34" charset="0"/>
                <a:ea typeface="Times New Roman" panose="02020603050405020304" pitchFamily="18" charset="0"/>
              </a:rPr>
              <a:t>Examples:</a:t>
            </a:r>
            <a:r>
              <a:rPr kumimoji="0" lang="en-US" altLang="en-US" sz="1100" b="0" i="0" u="none" strike="noStrike" cap="none" normalizeH="0" baseline="0" dirty="0">
                <a:ln>
                  <a:noFill/>
                </a:ln>
                <a:solidFill>
                  <a:srgbClr val="273239"/>
                </a:solidFill>
                <a:effectLst/>
                <a:latin typeface="Arial" panose="020B0604020202020204" pitchFamily="34" charset="0"/>
                <a:ea typeface="Times New Roman" panose="02020603050405020304" pitchFamily="18" charset="0"/>
              </a:rPr>
              <a:t> </a:t>
            </a:r>
            <a:endParaRPr kumimoji="0" lang="en-US" altLang="en-US" sz="1100" b="1"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Plain Text:</a:t>
            </a:r>
            <a:r>
              <a:rPr kumimoji="0" lang="en-US" altLang="en-US" sz="11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 am studying Data </a:t>
            </a:r>
            <a:r>
              <a:rPr kumimoji="0" lang="en-US" altLang="en-US" sz="11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Encryption</a:t>
            </a:r>
            <a:r>
              <a:rPr kumimoji="0" lang="en-US" altLang="en-US" sz="1100" b="1" i="0" u="none" strike="noStrike" cap="none" normalizeH="0" baseline="0" dirty="0" err="1">
                <a:ln>
                  <a:noFill/>
                </a:ln>
                <a:solidFill>
                  <a:srgbClr val="000000"/>
                </a:solidFill>
                <a:effectLst/>
                <a:latin typeface="Courier New" panose="02070309020205020404" pitchFamily="49" charset="0"/>
                <a:ea typeface="Times New Roman" panose="02020603050405020304" pitchFamily="18" charset="0"/>
              </a:rPr>
              <a:t>Key</a:t>
            </a:r>
            <a:r>
              <a:rPr kumimoji="0" lang="en-US" altLang="en-US" sz="1100" b="1"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1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4</a:t>
            </a:r>
            <a:r>
              <a:rPr kumimoji="0" lang="en-US" altLang="en-US" sz="1100" b="1"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Output:</a:t>
            </a:r>
            <a:r>
              <a:rPr kumimoji="0" lang="en-US" altLang="en-US" sz="11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 eq </a:t>
            </a:r>
            <a:r>
              <a:rPr kumimoji="0" lang="en-US" altLang="en-US" sz="11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wxyhCmrk</a:t>
            </a:r>
            <a:r>
              <a:rPr kumimoji="0" lang="en-US" altLang="en-US" sz="11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Hexe </a:t>
            </a:r>
            <a:r>
              <a:rPr kumimoji="0" lang="en-US" altLang="en-US" sz="11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IrgvCtxmsr</a:t>
            </a:r>
            <a:r>
              <a:rPr kumimoji="0" lang="en-US" altLang="en-US" sz="1100" b="1" i="0" u="none" strike="noStrike" cap="none" normalizeH="0" baseline="0" dirty="0" err="1">
                <a:ln>
                  <a:noFill/>
                </a:ln>
                <a:solidFill>
                  <a:srgbClr val="000000"/>
                </a:solidFill>
                <a:effectLst/>
                <a:latin typeface="Courier New" panose="02070309020205020404" pitchFamily="49" charset="0"/>
                <a:ea typeface="Times New Roman" panose="02020603050405020304" pitchFamily="18" charset="0"/>
              </a:rPr>
              <a:t>Plain</a:t>
            </a:r>
            <a:r>
              <a:rPr kumimoji="0" lang="en-US" altLang="en-US" sz="1100" b="1"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Text:</a:t>
            </a:r>
            <a:r>
              <a:rPr kumimoji="0" lang="en-US" altLang="en-US" sz="11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1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ABCDEFGHIJKLMNOPQRSTUVWXYZ</a:t>
            </a:r>
            <a:r>
              <a:rPr kumimoji="0" lang="en-US" altLang="en-US" sz="1100" b="1" i="0" u="none" strike="noStrike" cap="none" normalizeH="0" baseline="0" dirty="0" err="1">
                <a:ln>
                  <a:noFill/>
                </a:ln>
                <a:solidFill>
                  <a:srgbClr val="000000"/>
                </a:solidFill>
                <a:effectLst/>
                <a:latin typeface="Courier New" panose="02070309020205020404" pitchFamily="49" charset="0"/>
                <a:ea typeface="Times New Roman" panose="02020603050405020304" pitchFamily="18" charset="0"/>
              </a:rPr>
              <a:t>Key</a:t>
            </a:r>
            <a:r>
              <a:rPr kumimoji="0" lang="en-US" altLang="en-US" sz="1100" b="1"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1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4</a:t>
            </a:r>
            <a:r>
              <a:rPr kumimoji="0" lang="en-US" altLang="en-US" sz="1100" b="1"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Output:</a:t>
            </a:r>
            <a:r>
              <a:rPr kumimoji="0" lang="en-US" altLang="en-US" sz="11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1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EFGHIJKLMNOPQRSTUVWXYZabcd</a:t>
            </a:r>
            <a:r>
              <a:rPr kumimoji="0" lang="en-US" altLang="en-US" sz="7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descr="Lightbox">
            <a:extLst>
              <a:ext uri="{FF2B5EF4-FFF2-40B4-BE49-F238E27FC236}">
                <a16:creationId xmlns:a16="http://schemas.microsoft.com/office/drawing/2014/main" id="{F8C9BE2F-5BBC-5180-2291-36DCD6D7F005}"/>
              </a:ext>
            </a:extLst>
          </p:cNvPr>
          <p:cNvPicPr>
            <a:picLocks noChangeAspect="1"/>
          </p:cNvPicPr>
          <p:nvPr/>
        </p:nvPicPr>
        <p:blipFill>
          <a:blip r:embed="rId2"/>
          <a:srcRect/>
          <a:stretch>
            <a:fillRect/>
          </a:stretch>
        </p:blipFill>
        <p:spPr bwMode="auto">
          <a:xfrm>
            <a:off x="2749726" y="1253068"/>
            <a:ext cx="4305830" cy="2105790"/>
          </a:xfrm>
          <a:prstGeom prst="rect">
            <a:avLst/>
          </a:prstGeom>
          <a:noFill/>
          <a:ln w="9525">
            <a:noFill/>
            <a:miter lim="800000"/>
            <a:headEnd/>
            <a:tailEnd/>
          </a:ln>
        </p:spPr>
      </p:pic>
      <p:sp>
        <p:nvSpPr>
          <p:cNvPr id="6" name="TextBox 5">
            <a:extLst>
              <a:ext uri="{FF2B5EF4-FFF2-40B4-BE49-F238E27FC236}">
                <a16:creationId xmlns:a16="http://schemas.microsoft.com/office/drawing/2014/main" id="{8205C9F1-3CA4-F53D-2441-2D0F5133A916}"/>
              </a:ext>
            </a:extLst>
          </p:cNvPr>
          <p:cNvSpPr txBox="1"/>
          <p:nvPr/>
        </p:nvSpPr>
        <p:spPr>
          <a:xfrm>
            <a:off x="2968978" y="0"/>
            <a:ext cx="5588000" cy="523220"/>
          </a:xfrm>
          <a:prstGeom prst="rect">
            <a:avLst/>
          </a:prstGeom>
          <a:noFill/>
        </p:spPr>
        <p:txBody>
          <a:bodyPr wrap="squar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3516875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6ADA0C-0275-21FF-FBF6-08A493594423}"/>
              </a:ext>
            </a:extLst>
          </p:cNvPr>
          <p:cNvSpPr>
            <a:spLocks noGrp="1"/>
          </p:cNvSpPr>
          <p:nvPr>
            <p:ph type="body" idx="1"/>
          </p:nvPr>
        </p:nvSpPr>
        <p:spPr>
          <a:xfrm>
            <a:off x="231140" y="1862667"/>
            <a:ext cx="8681719" cy="4206540"/>
          </a:xfrm>
        </p:spPr>
        <p:txBody>
          <a:bodyPr/>
          <a:lstStyle/>
          <a:p>
            <a:pPr fontAlgn="base"/>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Algorithm for Substitution Cipher:</a:t>
            </a: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endParaRPr lang="en-IN" sz="1800" dirty="0">
              <a:effectLst/>
              <a:highlight>
                <a:srgbClr val="FFFFFF"/>
              </a:highlight>
              <a:latin typeface="Times New Roman" panose="02020603050405020304" pitchFamily="18" charset="0"/>
              <a:ea typeface="Times New Roman" panose="02020603050405020304" pitchFamily="18" charset="0"/>
            </a:endParaRPr>
          </a:p>
          <a:p>
            <a:pPr fontAlgn="base"/>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Input: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A String of both lower and upper case letters, called </a:t>
            </a:r>
            <a:r>
              <a:rPr lang="en-IN" sz="1800" spc="10" dirty="0" err="1">
                <a:solidFill>
                  <a:srgbClr val="273239"/>
                </a:solidFill>
                <a:effectLst/>
                <a:highlight>
                  <a:srgbClr val="FFFFFF"/>
                </a:highlight>
                <a:latin typeface="Times New Roman" panose="02020603050405020304" pitchFamily="18" charset="0"/>
                <a:ea typeface="Times New Roman" panose="02020603050405020304" pitchFamily="18" charset="0"/>
              </a:rPr>
              <a:t>PlainText</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An Integer denoting the required key. </a:t>
            </a:r>
            <a:endParaRPr lang="en-IN" sz="1800" dirty="0">
              <a:effectLst/>
              <a:highlight>
                <a:srgbClr val="FFFFFF"/>
              </a:highlight>
              <a:latin typeface="Times New Roman" panose="02020603050405020304" pitchFamily="18" charset="0"/>
              <a:ea typeface="Times New Roman" panose="02020603050405020304" pitchFamily="18" charset="0"/>
            </a:endParaRPr>
          </a:p>
          <a:p>
            <a:pPr fontAlgn="base"/>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Procedure:</a:t>
            </a: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Create a list of all the characters.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Create a dictionary to store the substitution for all characters.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For each character, transform the given character as per the rule, depending on whether we’re encrypting or decrypting the text.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Print the new string generated. </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
        <p:nvSpPr>
          <p:cNvPr id="4" name="TextBox 3">
            <a:extLst>
              <a:ext uri="{FF2B5EF4-FFF2-40B4-BE49-F238E27FC236}">
                <a16:creationId xmlns:a16="http://schemas.microsoft.com/office/drawing/2014/main" id="{E1DA7C57-CB72-1992-9938-29C6A5A3E0CC}"/>
              </a:ext>
            </a:extLst>
          </p:cNvPr>
          <p:cNvSpPr txBox="1"/>
          <p:nvPr/>
        </p:nvSpPr>
        <p:spPr>
          <a:xfrm>
            <a:off x="3183467" y="90311"/>
            <a:ext cx="4732386" cy="523220"/>
          </a:xfrm>
          <a:prstGeom prst="rect">
            <a:avLst/>
          </a:prstGeom>
          <a:noFill/>
        </p:spPr>
        <p:txBody>
          <a:bodyPr wrap="non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2475592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20ED7-1901-6BEB-6CCD-A2C24F4B4AF9}"/>
              </a:ext>
            </a:extLst>
          </p:cNvPr>
          <p:cNvSpPr>
            <a:spLocks noGrp="1"/>
          </p:cNvSpPr>
          <p:nvPr>
            <p:ph type="title"/>
          </p:nvPr>
        </p:nvSpPr>
        <p:spPr>
          <a:xfrm>
            <a:off x="493039" y="622807"/>
            <a:ext cx="8157921" cy="769441"/>
          </a:xfrm>
        </p:spPr>
        <p:txBody>
          <a:bodyPr/>
          <a:lstStyle/>
          <a:p>
            <a:pPr algn="ctr"/>
            <a:r>
              <a:rPr lang="en-IN" sz="1800" b="1" i="0" kern="0"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Transposition Cipher Techniques in Cryptography</a:t>
            </a:r>
            <a:br>
              <a:rPr lang="en-IN" sz="1800" b="1" i="1" kern="0" dirty="0">
                <a:effectLst/>
                <a:highlight>
                  <a:srgbClr val="FFFFFF"/>
                </a:highlight>
                <a:latin typeface="Book Antiqua" panose="02040602050305030304" pitchFamily="18" charset="0"/>
                <a:ea typeface="Times New Roman" panose="02020603050405020304" pitchFamily="18" charset="0"/>
                <a:cs typeface="Raavi" panose="020B0502040204020203" pitchFamily="34" charset="0"/>
              </a:rPr>
            </a:br>
            <a:endParaRPr lang="en-US" dirty="0"/>
          </a:p>
        </p:txBody>
      </p:sp>
      <p:sp>
        <p:nvSpPr>
          <p:cNvPr id="3" name="Text Placeholder 2">
            <a:extLst>
              <a:ext uri="{FF2B5EF4-FFF2-40B4-BE49-F238E27FC236}">
                <a16:creationId xmlns:a16="http://schemas.microsoft.com/office/drawing/2014/main" id="{B96E73DD-66F9-94D2-9AD9-03EABE16A394}"/>
              </a:ext>
            </a:extLst>
          </p:cNvPr>
          <p:cNvSpPr>
            <a:spLocks noGrp="1"/>
          </p:cNvSpPr>
          <p:nvPr>
            <p:ph type="body" idx="1"/>
          </p:nvPr>
        </p:nvSpPr>
        <p:spPr>
          <a:xfrm>
            <a:off x="231140" y="1501422"/>
            <a:ext cx="8681719" cy="4143022"/>
          </a:xfrm>
        </p:spPr>
        <p:txBody>
          <a:bodyPr/>
          <a:lstStyle/>
          <a:p>
            <a:pPr algn="just" fontAlgn="base"/>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The Transposition Cipher Technique is an encryption method used to encrypt a message or information. This encryption method is done by playing with the position of letters of the plain text. The positions of the characters present in the plaintext are rearranged or shifted to form the ciphertext. It makes use of some kind of permutation function to achieve the encryption purpose. It is very easy to use and so simple to implement.</a:t>
            </a:r>
            <a:endParaRPr lang="en-IN" sz="1800" dirty="0">
              <a:effectLst/>
              <a:highlight>
                <a:srgbClr val="FFFFFF"/>
              </a:highlight>
              <a:latin typeface="Times New Roman" panose="02020603050405020304" pitchFamily="18" charset="0"/>
              <a:ea typeface="Times New Roman" panose="02020603050405020304" pitchFamily="18" charset="0"/>
            </a:endParaRPr>
          </a:p>
          <a:p>
            <a:pPr fontAlgn="base">
              <a:spcBef>
                <a:spcPts val="200"/>
              </a:spcBef>
            </a:pPr>
            <a:r>
              <a:rPr lang="en-IN" sz="1800" b="1" spc="10"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Types of Transposition Cipher Techniques</a:t>
            </a:r>
            <a:endParaRPr lang="en-IN" sz="1800" b="1" dirty="0">
              <a:solidFill>
                <a:srgbClr val="2F5496"/>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a:p>
            <a:pPr algn="just" fontAlgn="base"/>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There are three types of transposition cipher techniques</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Rail Fence Transposition Cipher</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Block (Single Columnar) Transposition Cipher</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Double Columnar Transposition Cipher</a:t>
            </a:r>
            <a:endParaRPr lang="en-IN" sz="1800" dirty="0">
              <a:effectLst/>
              <a:highlight>
                <a:srgbClr val="FFFFFF"/>
              </a:highlight>
              <a:latin typeface="Times New Roman" panose="02020603050405020304" pitchFamily="18" charset="0"/>
              <a:ea typeface="Times New Roman" panose="02020603050405020304" pitchFamily="18" charset="0"/>
            </a:endParaRPr>
          </a:p>
          <a:p>
            <a:pPr fontAlgn="base">
              <a:spcBef>
                <a:spcPts val="200"/>
              </a:spcBef>
            </a:pPr>
            <a:r>
              <a:rPr lang="en-IN" sz="1800" b="1" spc="10"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Rail Fence Transposition Cipher</a:t>
            </a:r>
            <a:endParaRPr lang="en-IN" sz="1800" b="1" dirty="0">
              <a:solidFill>
                <a:srgbClr val="2F5496"/>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a:p>
            <a:pPr algn="just" fontAlgn="base"/>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Rail Fence Transposition cipher technique is the simplest transposition cipher </a:t>
            </a:r>
            <a:r>
              <a:rPr lang="en-US" sz="1800" spc="10" dirty="0" err="1">
                <a:solidFill>
                  <a:srgbClr val="000000"/>
                </a:solidFill>
                <a:effectLst/>
                <a:highlight>
                  <a:srgbClr val="FFFFFF"/>
                </a:highlight>
                <a:latin typeface="Times New Roman" panose="02020603050405020304" pitchFamily="18" charset="0"/>
                <a:ea typeface="Times New Roman" panose="02020603050405020304" pitchFamily="18" charset="0"/>
              </a:rPr>
              <a:t>technique</a:t>
            </a:r>
            <a:r>
              <a:rPr lang="en-US" sz="1800" b="1" spc="10" dirty="0" err="1">
                <a:solidFill>
                  <a:srgbClr val="000000"/>
                </a:solidFill>
                <a:effectLst/>
                <a:highlight>
                  <a:srgbClr val="FFFFFF"/>
                </a:highlight>
                <a:latin typeface="Times New Roman" panose="02020603050405020304" pitchFamily="18" charset="0"/>
                <a:ea typeface="Times New Roman" panose="02020603050405020304" pitchFamily="18" charset="0"/>
              </a:rPr>
              <a:t>its</a:t>
            </a: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 It is also termed as a zigzag cipher. It gets it’s name from the way through which it performs encryption of plain text.</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0A01A183-831C-6F83-FC41-01CE1A463D74}"/>
              </a:ext>
            </a:extLst>
          </p:cNvPr>
          <p:cNvSpPr txBox="1"/>
          <p:nvPr/>
        </p:nvSpPr>
        <p:spPr>
          <a:xfrm>
            <a:off x="3183467" y="112889"/>
            <a:ext cx="4732386" cy="523220"/>
          </a:xfrm>
          <a:prstGeom prst="rect">
            <a:avLst/>
          </a:prstGeom>
          <a:noFill/>
        </p:spPr>
        <p:txBody>
          <a:bodyPr wrap="non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2133941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2DFA275-B89A-054C-56CB-A8A63605C8B3}"/>
              </a:ext>
            </a:extLst>
          </p:cNvPr>
          <p:cNvSpPr>
            <a:spLocks noGrp="1"/>
          </p:cNvSpPr>
          <p:nvPr>
            <p:ph type="body" idx="1"/>
          </p:nvPr>
        </p:nvSpPr>
        <p:spPr>
          <a:xfrm>
            <a:off x="231140" y="1444979"/>
            <a:ext cx="8681719" cy="1603021"/>
          </a:xfrm>
        </p:spPr>
        <p:txBody>
          <a:bodyPr/>
          <a:lstStyle/>
          <a:p>
            <a:pPr algn="just" fontAlgn="base"/>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The steps to get cipher text with the help of the</a:t>
            </a:r>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Rail Fence Transposition cipher technique are follows:-</a:t>
            </a:r>
            <a:endParaRPr lang="en-IN" sz="1800" dirty="0">
              <a:effectLst/>
              <a:highlight>
                <a:srgbClr val="FFFFFF"/>
              </a:highlight>
              <a:latin typeface="Times New Roman" panose="02020603050405020304" pitchFamily="18" charset="0"/>
              <a:ea typeface="Times New Roman" panose="02020603050405020304" pitchFamily="18" charset="0"/>
            </a:endParaRPr>
          </a:p>
          <a:p>
            <a:pPr fontAlgn="base">
              <a:spcBef>
                <a:spcPts val="200"/>
              </a:spcBef>
            </a:pPr>
            <a:r>
              <a:rPr lang="en-IN" sz="1800" b="1" spc="10" dirty="0">
                <a:solidFill>
                  <a:srgbClr val="273239"/>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rPr>
              <a:t>Technique of Rail Fence Transposition Cipher</a:t>
            </a:r>
            <a:endParaRPr lang="en-IN" sz="18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a:p>
            <a:pPr algn="just" fontAlgn="base"/>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Example: The plain text is “Hello Krishna”</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Now, we will write this plain text in the diagonal form:</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pic>
        <p:nvPicPr>
          <p:cNvPr id="4" name="Picture 3" descr="Rail Fence Transposition Cipher">
            <a:extLst>
              <a:ext uri="{FF2B5EF4-FFF2-40B4-BE49-F238E27FC236}">
                <a16:creationId xmlns:a16="http://schemas.microsoft.com/office/drawing/2014/main" id="{ED89A6DC-6B13-3EE8-73C8-83A85DC80569}"/>
              </a:ext>
            </a:extLst>
          </p:cNvPr>
          <p:cNvPicPr>
            <a:picLocks noChangeAspect="1"/>
          </p:cNvPicPr>
          <p:nvPr/>
        </p:nvPicPr>
        <p:blipFill>
          <a:blip r:embed="rId2"/>
          <a:srcRect/>
          <a:stretch>
            <a:fillRect/>
          </a:stretch>
        </p:blipFill>
        <p:spPr bwMode="auto">
          <a:xfrm>
            <a:off x="778933" y="3048000"/>
            <a:ext cx="7461956" cy="2365021"/>
          </a:xfrm>
          <a:prstGeom prst="rect">
            <a:avLst/>
          </a:prstGeom>
          <a:noFill/>
          <a:ln w="9525">
            <a:noFill/>
            <a:miter lim="800000"/>
            <a:headEnd/>
            <a:tailEnd/>
          </a:ln>
        </p:spPr>
      </p:pic>
      <p:sp>
        <p:nvSpPr>
          <p:cNvPr id="5" name="TextBox 4">
            <a:extLst>
              <a:ext uri="{FF2B5EF4-FFF2-40B4-BE49-F238E27FC236}">
                <a16:creationId xmlns:a16="http://schemas.microsoft.com/office/drawing/2014/main" id="{3A499614-85B9-3DD9-DCBD-92AEACC01B68}"/>
              </a:ext>
            </a:extLst>
          </p:cNvPr>
          <p:cNvSpPr txBox="1"/>
          <p:nvPr/>
        </p:nvSpPr>
        <p:spPr>
          <a:xfrm>
            <a:off x="3025422" y="135467"/>
            <a:ext cx="4732386" cy="523220"/>
          </a:xfrm>
          <a:prstGeom prst="rect">
            <a:avLst/>
          </a:prstGeom>
          <a:noFill/>
        </p:spPr>
        <p:txBody>
          <a:bodyPr wrap="non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301214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0E837-169C-5272-3432-0032EC5B6189}"/>
              </a:ext>
            </a:extLst>
          </p:cNvPr>
          <p:cNvSpPr>
            <a:spLocks noGrp="1"/>
          </p:cNvSpPr>
          <p:nvPr>
            <p:ph type="title"/>
          </p:nvPr>
        </p:nvSpPr>
        <p:spPr>
          <a:xfrm>
            <a:off x="493039" y="622807"/>
            <a:ext cx="8157921" cy="369332"/>
          </a:xfrm>
        </p:spPr>
        <p:txBody>
          <a:bodyPr/>
          <a:lstStyle/>
          <a:p>
            <a:pPr algn="ctr"/>
            <a:r>
              <a:rPr lang="en-IN" sz="2400" b="1" i="0" kern="0"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Transposition Cipher Techniques in Cryptography</a:t>
            </a:r>
            <a:endParaRPr lang="en-US" sz="2400" dirty="0"/>
          </a:p>
        </p:txBody>
      </p:sp>
      <p:sp>
        <p:nvSpPr>
          <p:cNvPr id="3" name="Text Placeholder 2">
            <a:extLst>
              <a:ext uri="{FF2B5EF4-FFF2-40B4-BE49-F238E27FC236}">
                <a16:creationId xmlns:a16="http://schemas.microsoft.com/office/drawing/2014/main" id="{70FF2D35-43FB-B644-67A0-89E2D8DC751E}"/>
              </a:ext>
            </a:extLst>
          </p:cNvPr>
          <p:cNvSpPr>
            <a:spLocks noGrp="1"/>
          </p:cNvSpPr>
          <p:nvPr>
            <p:ph type="body" idx="1"/>
          </p:nvPr>
        </p:nvSpPr>
        <p:spPr>
          <a:xfrm>
            <a:off x="231140" y="1377245"/>
            <a:ext cx="8681719" cy="3951112"/>
          </a:xfrm>
        </p:spPr>
        <p:txBody>
          <a:bodyPr/>
          <a:lstStyle/>
          <a:p>
            <a:pPr algn="just" fontAlgn="base"/>
            <a:r>
              <a:rPr lang="en-US" sz="1800" spc="10" dirty="0">
                <a:solidFill>
                  <a:srgbClr val="273239"/>
                </a:solidFill>
                <a:effectLst/>
                <a:highlight>
                  <a:srgbClr val="FFFFFF"/>
                </a:highlight>
                <a:latin typeface="Arial" panose="020B0604020202020204" pitchFamily="34" charset="0"/>
                <a:ea typeface="Times New Roman" panose="02020603050405020304" pitchFamily="18" charset="0"/>
              </a:rPr>
              <a:t>Now, following the second step we get our cipher text</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1800" spc="10" dirty="0">
                <a:solidFill>
                  <a:srgbClr val="273239"/>
                </a:solidFill>
                <a:effectLst/>
                <a:highlight>
                  <a:srgbClr val="FFFFFF"/>
                </a:highlight>
                <a:latin typeface="Arial" panose="020B0604020202020204" pitchFamily="34" charset="0"/>
                <a:ea typeface="Times New Roman" panose="02020603050405020304" pitchFamily="18" charset="0"/>
              </a:rPr>
              <a:t>Cipher Text = “</a:t>
            </a:r>
            <a:r>
              <a:rPr lang="en-US" sz="1800" spc="10" dirty="0" err="1">
                <a:solidFill>
                  <a:srgbClr val="273239"/>
                </a:solidFill>
                <a:effectLst/>
                <a:highlight>
                  <a:srgbClr val="FFFFFF"/>
                </a:highlight>
                <a:latin typeface="Arial" panose="020B0604020202020204" pitchFamily="34" charset="0"/>
                <a:ea typeface="Times New Roman" panose="02020603050405020304" pitchFamily="18" charset="0"/>
              </a:rPr>
              <a:t>rsnelkiha</a:t>
            </a:r>
            <a:r>
              <a:rPr lang="en-US" sz="1800" spc="10" dirty="0">
                <a:solidFill>
                  <a:srgbClr val="273239"/>
                </a:solidFill>
                <a:effectLst/>
                <a:highlight>
                  <a:srgbClr val="FFFFFF"/>
                </a:highlight>
                <a:latin typeface="Arial" panose="020B0604020202020204" pitchFamily="34" charset="0"/>
                <a:ea typeface="Times New Roman" panose="02020603050405020304" pitchFamily="18" charset="0"/>
              </a:rPr>
              <a:t>”</a:t>
            </a:r>
            <a:endParaRPr lang="en-IN" sz="1800" dirty="0">
              <a:effectLst/>
              <a:highlight>
                <a:srgbClr val="FFFFFF"/>
              </a:highlight>
              <a:latin typeface="Times New Roman" panose="02020603050405020304" pitchFamily="18" charset="0"/>
              <a:ea typeface="Times New Roman" panose="02020603050405020304" pitchFamily="18" charset="0"/>
            </a:endParaRPr>
          </a:p>
          <a:p>
            <a:pPr fontAlgn="base">
              <a:spcBef>
                <a:spcPts val="200"/>
              </a:spcBef>
            </a:pPr>
            <a:r>
              <a:rPr lang="en-IN" sz="1800" b="1" spc="10" dirty="0">
                <a:solidFill>
                  <a:srgbClr val="273239"/>
                </a:solidFill>
                <a:effectLst/>
                <a:highlight>
                  <a:srgbClr val="FFFFFF"/>
                </a:highlight>
                <a:latin typeface="Arial" panose="020B0604020202020204" pitchFamily="34" charset="0"/>
                <a:ea typeface="Times New Roman" panose="02020603050405020304" pitchFamily="18" charset="0"/>
                <a:cs typeface="Raavi" panose="020B0502040204020203" pitchFamily="34" charset="0"/>
              </a:rPr>
              <a:t>Block (Single Columnar) Transposition Cipher</a:t>
            </a:r>
            <a:endParaRPr lang="en-IN" sz="1800" b="1" dirty="0">
              <a:solidFill>
                <a:srgbClr val="2F5496"/>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a:p>
            <a:pPr algn="just" fontAlgn="base"/>
            <a:r>
              <a:rPr lang="en-US" sz="1800" spc="10" dirty="0">
                <a:solidFill>
                  <a:srgbClr val="273239"/>
                </a:solidFill>
                <a:effectLst/>
                <a:highlight>
                  <a:srgbClr val="FFFFFF"/>
                </a:highlight>
                <a:latin typeface="Arial" panose="020B0604020202020204" pitchFamily="34" charset="0"/>
                <a:ea typeface="Times New Roman" panose="02020603050405020304" pitchFamily="18" charset="0"/>
              </a:rPr>
              <a:t>Block Transposition Cipher is another form of Transposition Cipher which was used to encrypt the message or information. In this technique, first, we write the message or plaintext in rows. After that, we read the message column by column. In this technique, we use a keyword to determine the no of rows.</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b="1" spc="10" dirty="0">
                <a:solidFill>
                  <a:srgbClr val="273239"/>
                </a:solidFill>
                <a:effectLst/>
                <a:highlight>
                  <a:srgbClr val="FFFFFF"/>
                </a:highlight>
                <a:latin typeface="Arial" panose="020B0604020202020204" pitchFamily="34" charset="0"/>
                <a:ea typeface="Times New Roman" panose="02020603050405020304" pitchFamily="18" charset="0"/>
              </a:rPr>
              <a:t>Step 1: First we write the message in the form of rows and columns, and read the message column by column.</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b="1" spc="10" dirty="0">
                <a:solidFill>
                  <a:srgbClr val="273239"/>
                </a:solidFill>
                <a:effectLst/>
                <a:highlight>
                  <a:srgbClr val="FFFFFF"/>
                </a:highlight>
                <a:latin typeface="Arial" panose="020B0604020202020204" pitchFamily="34" charset="0"/>
                <a:ea typeface="Times New Roman" panose="02020603050405020304" pitchFamily="18" charset="0"/>
              </a:rPr>
              <a:t>Step 2: Given a keyword, which we will use to fix the number of rows.</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b="1" spc="10" dirty="0">
                <a:solidFill>
                  <a:srgbClr val="273239"/>
                </a:solidFill>
                <a:effectLst/>
                <a:highlight>
                  <a:srgbClr val="FFFFFF"/>
                </a:highlight>
                <a:latin typeface="Arial" panose="020B0604020202020204" pitchFamily="34" charset="0"/>
                <a:ea typeface="Times New Roman" panose="02020603050405020304" pitchFamily="18" charset="0"/>
              </a:rPr>
              <a:t>Step 3: If any space is spared, it is filled with null or left blank or </a:t>
            </a:r>
            <a:r>
              <a:rPr lang="en-IN" sz="1800" spc="10" dirty="0">
                <a:solidFill>
                  <a:srgbClr val="273239"/>
                </a:solidFill>
                <a:effectLst/>
                <a:highlight>
                  <a:srgbClr val="FFFFFF"/>
                </a:highlight>
                <a:latin typeface="Arial" panose="020B0604020202020204" pitchFamily="34" charset="0"/>
                <a:ea typeface="Times New Roman" panose="02020603050405020304" pitchFamily="18" charset="0"/>
              </a:rPr>
              <a:t>in</a:t>
            </a:r>
            <a:r>
              <a:rPr lang="en-IN" sz="1800" b="1" spc="10" dirty="0">
                <a:solidFill>
                  <a:srgbClr val="273239"/>
                </a:solidFill>
                <a:effectLst/>
                <a:highlight>
                  <a:srgbClr val="FFFFFF"/>
                </a:highlight>
                <a:latin typeface="Arial" panose="020B0604020202020204" pitchFamily="34" charset="0"/>
                <a:ea typeface="Times New Roman" panose="02020603050405020304" pitchFamily="18" charset="0"/>
              </a:rPr>
              <a:t> by (_).</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b="1" spc="10" dirty="0">
                <a:solidFill>
                  <a:srgbClr val="273239"/>
                </a:solidFill>
                <a:effectLst/>
                <a:highlight>
                  <a:srgbClr val="FFFFFF"/>
                </a:highlight>
                <a:latin typeface="Arial" panose="020B0604020202020204" pitchFamily="34" charset="0"/>
                <a:ea typeface="Times New Roman" panose="02020603050405020304" pitchFamily="18" charset="0"/>
              </a:rPr>
              <a:t>Step 4: The message is read in</a:t>
            </a:r>
            <a:r>
              <a:rPr lang="en-IN" sz="1800" spc="10" dirty="0">
                <a:solidFill>
                  <a:srgbClr val="273239"/>
                </a:solidFill>
                <a:effectLst/>
                <a:highlight>
                  <a:srgbClr val="FFFFFF"/>
                </a:highlight>
                <a:latin typeface="Arial" panose="020B0604020202020204" pitchFamily="34" charset="0"/>
                <a:ea typeface="Times New Roman" panose="02020603050405020304" pitchFamily="18" charset="0"/>
              </a:rPr>
              <a:t> </a:t>
            </a:r>
            <a:r>
              <a:rPr lang="en-IN" sz="1800" b="1" spc="10" dirty="0">
                <a:solidFill>
                  <a:srgbClr val="273239"/>
                </a:solidFill>
                <a:effectLst/>
                <a:highlight>
                  <a:srgbClr val="FFFFFF"/>
                </a:highlight>
                <a:latin typeface="Arial" panose="020B0604020202020204" pitchFamily="34" charset="0"/>
                <a:ea typeface="Times New Roman" panose="02020603050405020304" pitchFamily="18" charset="0"/>
              </a:rPr>
              <a:t>the order as specified by the keyword.</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
        <p:nvSpPr>
          <p:cNvPr id="4" name="TextBox 3">
            <a:extLst>
              <a:ext uri="{FF2B5EF4-FFF2-40B4-BE49-F238E27FC236}">
                <a16:creationId xmlns:a16="http://schemas.microsoft.com/office/drawing/2014/main" id="{2AB51545-0821-B8A5-A438-232DB4F53DE3}"/>
              </a:ext>
            </a:extLst>
          </p:cNvPr>
          <p:cNvSpPr txBox="1"/>
          <p:nvPr/>
        </p:nvSpPr>
        <p:spPr>
          <a:xfrm>
            <a:off x="3070578" y="0"/>
            <a:ext cx="5384800" cy="523220"/>
          </a:xfrm>
          <a:prstGeom prst="rect">
            <a:avLst/>
          </a:prstGeom>
          <a:noFill/>
        </p:spPr>
        <p:txBody>
          <a:bodyPr wrap="squar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2697865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ightbox">
            <a:extLst>
              <a:ext uri="{FF2B5EF4-FFF2-40B4-BE49-F238E27FC236}">
                <a16:creationId xmlns:a16="http://schemas.microsoft.com/office/drawing/2014/main" id="{1CE19CF6-2B2E-A345-66F9-2AD7E79CFA3A}"/>
              </a:ext>
            </a:extLst>
          </p:cNvPr>
          <p:cNvPicPr>
            <a:picLocks noChangeAspect="1"/>
          </p:cNvPicPr>
          <p:nvPr/>
        </p:nvPicPr>
        <p:blipFill>
          <a:blip r:embed="rId2"/>
          <a:srcRect/>
          <a:stretch>
            <a:fillRect/>
          </a:stretch>
        </p:blipFill>
        <p:spPr bwMode="auto">
          <a:xfrm>
            <a:off x="790222" y="1286933"/>
            <a:ext cx="7860738" cy="4470400"/>
          </a:xfrm>
          <a:prstGeom prst="rect">
            <a:avLst/>
          </a:prstGeom>
          <a:noFill/>
          <a:ln w="9525">
            <a:noFill/>
            <a:miter lim="800000"/>
            <a:headEnd/>
            <a:tailEnd/>
          </a:ln>
        </p:spPr>
      </p:pic>
      <p:sp>
        <p:nvSpPr>
          <p:cNvPr id="5" name="TextBox 4">
            <a:extLst>
              <a:ext uri="{FF2B5EF4-FFF2-40B4-BE49-F238E27FC236}">
                <a16:creationId xmlns:a16="http://schemas.microsoft.com/office/drawing/2014/main" id="{974C8F10-8B9F-11BB-0913-E2D63D2B97C0}"/>
              </a:ext>
            </a:extLst>
          </p:cNvPr>
          <p:cNvSpPr txBox="1"/>
          <p:nvPr/>
        </p:nvSpPr>
        <p:spPr>
          <a:xfrm>
            <a:off x="3070577" y="0"/>
            <a:ext cx="5091289" cy="523220"/>
          </a:xfrm>
          <a:prstGeom prst="rect">
            <a:avLst/>
          </a:prstGeom>
          <a:noFill/>
        </p:spPr>
        <p:txBody>
          <a:bodyPr wrap="squar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2329846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672A04A-97B2-9190-186A-1B438BC26DDE}"/>
              </a:ext>
            </a:extLst>
          </p:cNvPr>
          <p:cNvSpPr>
            <a:spLocks noGrp="1"/>
          </p:cNvSpPr>
          <p:nvPr>
            <p:ph type="body" idx="1"/>
          </p:nvPr>
        </p:nvSpPr>
        <p:spPr>
          <a:xfrm>
            <a:off x="914400" y="643467"/>
            <a:ext cx="7998459" cy="3680177"/>
          </a:xfrm>
        </p:spPr>
        <p:txBody>
          <a:bodyPr/>
          <a:lstStyle/>
          <a:p>
            <a:pPr algn="just" fontAlgn="base"/>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For example: The plaintext is “KRISHNA RANJAN”</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Now we will write the plaintext in the form of row and column.</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Cipher Text = IAN_RNANS_J_KHRA</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spcBef>
                <a:spcPts val="200"/>
              </a:spcBef>
            </a:pPr>
            <a:r>
              <a:rPr lang="en-IN" sz="1800" b="1" spc="10"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Double Columnar Transposition Cipher</a:t>
            </a:r>
            <a:endParaRPr lang="en-IN" sz="1800" b="1" dirty="0">
              <a:solidFill>
                <a:srgbClr val="2F5496"/>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a:p>
            <a:pPr algn="just" fontAlgn="base"/>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Double </a:t>
            </a:r>
            <a:r>
              <a:rPr lang="en-US" sz="1800" u="sng" spc="10" dirty="0">
                <a:solidFill>
                  <a:srgbClr val="000000"/>
                </a:solidFill>
                <a:effectLst/>
                <a:highlight>
                  <a:srgbClr val="FFFFFF"/>
                </a:highlight>
                <a:latin typeface="Times New Roman" panose="02020603050405020304" pitchFamily="18" charset="0"/>
                <a:ea typeface="Times New Roman" panose="02020603050405020304" pitchFamily="18" charset="0"/>
                <a:hlinkClick r:id="rId2"/>
              </a:rPr>
              <a:t>Columnar Transposition Cipher</a:t>
            </a:r>
            <a:r>
              <a:rPr lang="en-US" sz="1800" spc="10" dirty="0">
                <a:solidFill>
                  <a:srgbClr val="000000"/>
                </a:solidFill>
                <a:effectLst/>
                <a:highlight>
                  <a:srgbClr val="FFFFFF"/>
                </a:highlight>
                <a:latin typeface="Times New Roman" panose="02020603050405020304" pitchFamily="18" charset="0"/>
                <a:ea typeface="Times New Roman" panose="02020603050405020304" pitchFamily="18" charset="0"/>
              </a:rPr>
              <a:t> is another form of Transposition Cipher Technique. It is just similar to the columnar transposition technique. The main objective of using a Double Columnar Transposition Cipher is to encrypt the message twice. It makes use of the Single Columnar Transposition technique but uses two times. It can use the same or different secret keys. The output obtained from the first encryption will be the input to the second encryption.</a:t>
            </a:r>
          </a:p>
          <a:p>
            <a:pPr marL="342900" lvl="0" indent="-342900" algn="just" fontAlgn="base">
              <a:buSzPts val="1000"/>
              <a:buFont typeface="Symbol" pitchFamily="2" charset="2"/>
              <a:buChar char=""/>
              <a:tabLst>
                <a:tab pos="457200" algn="l"/>
              </a:tabLst>
            </a:pPr>
            <a:r>
              <a:rPr lang="en-IN" sz="1800" b="1" spc="10" dirty="0">
                <a:solidFill>
                  <a:srgbClr val="000000"/>
                </a:solidFill>
                <a:effectLst/>
                <a:highlight>
                  <a:srgbClr val="FFFFFF"/>
                </a:highlight>
                <a:latin typeface="Times New Roman" panose="02020603050405020304" pitchFamily="18" charset="0"/>
                <a:ea typeface="Times New Roman" panose="02020603050405020304" pitchFamily="18" charset="0"/>
              </a:rPr>
              <a:t>Step 1: First we write the message in the form of rows and columns, and read the message column by column.</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SzPts val="1000"/>
              <a:buFont typeface="Symbol" pitchFamily="2" charset="2"/>
              <a:buChar char=""/>
              <a:tabLst>
                <a:tab pos="457200" algn="l"/>
              </a:tabLst>
            </a:pPr>
            <a:r>
              <a:rPr lang="en-IN" sz="1800" b="1" spc="10" dirty="0">
                <a:solidFill>
                  <a:srgbClr val="000000"/>
                </a:solidFill>
                <a:effectLst/>
                <a:highlight>
                  <a:srgbClr val="FFFFFF"/>
                </a:highlight>
                <a:latin typeface="Times New Roman" panose="02020603050405020304" pitchFamily="18" charset="0"/>
                <a:ea typeface="Times New Roman" panose="02020603050405020304" pitchFamily="18" charset="0"/>
              </a:rPr>
              <a:t>Step 2: Given a keyword, which we will use to fix the number of rows.</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pic>
        <p:nvPicPr>
          <p:cNvPr id="4" name="Picture 3" descr="Lightbox">
            <a:extLst>
              <a:ext uri="{FF2B5EF4-FFF2-40B4-BE49-F238E27FC236}">
                <a16:creationId xmlns:a16="http://schemas.microsoft.com/office/drawing/2014/main" id="{37BB1B0A-C911-4A6E-B54E-208AD0B5B2D2}"/>
              </a:ext>
            </a:extLst>
          </p:cNvPr>
          <p:cNvPicPr>
            <a:picLocks noChangeAspect="1"/>
          </p:cNvPicPr>
          <p:nvPr/>
        </p:nvPicPr>
        <p:blipFill>
          <a:blip r:embed="rId3"/>
          <a:srcRect/>
          <a:stretch>
            <a:fillRect/>
          </a:stretch>
        </p:blipFill>
        <p:spPr bwMode="auto">
          <a:xfrm>
            <a:off x="1828800" y="4323644"/>
            <a:ext cx="5080000" cy="1971675"/>
          </a:xfrm>
          <a:prstGeom prst="rect">
            <a:avLst/>
          </a:prstGeom>
          <a:noFill/>
          <a:ln w="9525">
            <a:noFill/>
            <a:miter lim="800000"/>
            <a:headEnd/>
            <a:tailEnd/>
          </a:ln>
        </p:spPr>
      </p:pic>
      <p:sp>
        <p:nvSpPr>
          <p:cNvPr id="5" name="TextBox 4">
            <a:extLst>
              <a:ext uri="{FF2B5EF4-FFF2-40B4-BE49-F238E27FC236}">
                <a16:creationId xmlns:a16="http://schemas.microsoft.com/office/drawing/2014/main" id="{DEBF9984-6308-5394-5E7D-D8987266DA87}"/>
              </a:ext>
            </a:extLst>
          </p:cNvPr>
          <p:cNvSpPr txBox="1"/>
          <p:nvPr/>
        </p:nvSpPr>
        <p:spPr>
          <a:xfrm>
            <a:off x="3014133" y="0"/>
            <a:ext cx="5508978" cy="523220"/>
          </a:xfrm>
          <a:prstGeom prst="rect">
            <a:avLst/>
          </a:prstGeom>
          <a:noFill/>
        </p:spPr>
        <p:txBody>
          <a:bodyPr wrap="squar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3560998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44DD2D1-F0F1-1269-A54F-5259D981C0D3}"/>
              </a:ext>
            </a:extLst>
          </p:cNvPr>
          <p:cNvSpPr>
            <a:spLocks noChangeArrowheads="1"/>
          </p:cNvSpPr>
          <p:nvPr/>
        </p:nvSpPr>
        <p:spPr bwMode="auto">
          <a:xfrm>
            <a:off x="1049867" y="853982"/>
            <a:ext cx="977617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4572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4572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4572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4572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4572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4572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4572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800" b="1" i="0" u="none" strike="noStrike" cap="none" normalizeH="0" baseline="0" dirty="0">
                <a:ln>
                  <a:noFill/>
                </a:ln>
                <a:solidFill>
                  <a:srgbClr val="273239"/>
                </a:solidFill>
                <a:effectLst/>
                <a:latin typeface="Arial" panose="020B0604020202020204" pitchFamily="34" charset="0"/>
                <a:ea typeface="Times New Roman" panose="02020603050405020304" pitchFamily="18" charset="0"/>
              </a:rPr>
              <a:t>Step 3: If any space is spared, it is filled with null or left blank or in by (_).</a:t>
            </a:r>
            <a:endParaRPr kumimoji="0" lang="en-US" altLang="en-US" sz="18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800" b="1" i="0" u="none" strike="noStrike" cap="none" normalizeH="0" baseline="0" dirty="0">
                <a:ln>
                  <a:noFill/>
                </a:ln>
                <a:solidFill>
                  <a:srgbClr val="273239"/>
                </a:solidFill>
                <a:effectLst/>
                <a:latin typeface="Arial" panose="020B0604020202020204" pitchFamily="34" charset="0"/>
                <a:ea typeface="Times New Roman" panose="02020603050405020304" pitchFamily="18" charset="0"/>
                <a:cs typeface="Arial" panose="020B0604020202020204" pitchFamily="34" charset="0"/>
              </a:rPr>
              <a:t>Now applying keyword 2</a:t>
            </a:r>
            <a:endParaRPr kumimoji="0" lang="en-US" altLang="en-US" sz="18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3" name="Picture 28" descr="Lightbox">
            <a:extLst>
              <a:ext uri="{FF2B5EF4-FFF2-40B4-BE49-F238E27FC236}">
                <a16:creationId xmlns:a16="http://schemas.microsoft.com/office/drawing/2014/main" id="{C29EBBD1-0D2B-5684-2E56-079B3CD517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2043" y="1669590"/>
            <a:ext cx="5260623" cy="281774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9820F14B-3EF9-17A0-CD3C-7A038FE5F14E}"/>
              </a:ext>
            </a:extLst>
          </p:cNvPr>
          <p:cNvSpPr>
            <a:spLocks noChangeArrowheads="1"/>
          </p:cNvSpPr>
          <p:nvPr/>
        </p:nvSpPr>
        <p:spPr bwMode="auto">
          <a:xfrm>
            <a:off x="767644" y="4392768"/>
            <a:ext cx="10058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4572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4572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4572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4572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4572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4572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4572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800" b="1" i="0" u="none" strike="noStrike" cap="none" normalizeH="0" baseline="0" dirty="0">
                <a:ln>
                  <a:noFill/>
                </a:ln>
                <a:solidFill>
                  <a:srgbClr val="273239"/>
                </a:solidFill>
                <a:effectLst/>
                <a:latin typeface="Arial" panose="020B0604020202020204" pitchFamily="34" charset="0"/>
                <a:ea typeface="Times New Roman" panose="02020603050405020304" pitchFamily="18" charset="0"/>
                <a:cs typeface="Arial" panose="020B0604020202020204" pitchFamily="34" charset="0"/>
              </a:rPr>
              <a:t>Step 4: The message is read in the order in by the keyword.</a:t>
            </a:r>
            <a:endParaRPr kumimoji="0" lang="en-US" altLang="en-US" sz="18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800" b="1" i="0" u="none" strike="noStrike" cap="none" normalizeH="0" baseline="0" dirty="0">
                <a:ln>
                  <a:noFill/>
                </a:ln>
                <a:solidFill>
                  <a:srgbClr val="273239"/>
                </a:solidFill>
                <a:effectLst/>
                <a:latin typeface="Arial" panose="020B0604020202020204" pitchFamily="34" charset="0"/>
                <a:ea typeface="Times New Roman" panose="02020603050405020304" pitchFamily="18" charset="0"/>
                <a:cs typeface="Arial" panose="020B0604020202020204" pitchFamily="34" charset="0"/>
              </a:rPr>
              <a:t>Now applying step 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DEF8F4B-4821-726D-6948-FF018876A2A2}"/>
              </a:ext>
            </a:extLst>
          </p:cNvPr>
          <p:cNvSpPr txBox="1"/>
          <p:nvPr/>
        </p:nvSpPr>
        <p:spPr>
          <a:xfrm>
            <a:off x="3025421" y="0"/>
            <a:ext cx="5317067" cy="523220"/>
          </a:xfrm>
          <a:prstGeom prst="rect">
            <a:avLst/>
          </a:prstGeom>
          <a:noFill/>
        </p:spPr>
        <p:txBody>
          <a:bodyPr wrap="squar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2442945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A72126-26AE-B603-4981-872D5204E9BF}"/>
              </a:ext>
            </a:extLst>
          </p:cNvPr>
          <p:cNvSpPr>
            <a:spLocks noChangeArrowheads="1"/>
          </p:cNvSpPr>
          <p:nvPr/>
        </p:nvSpPr>
        <p:spPr bwMode="auto">
          <a:xfrm>
            <a:off x="767644" y="177393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4572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4572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4572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4572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4572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4572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4572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pa-IN"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Raavi" panose="020B0502040204020203" pitchFamily="34" charset="0"/>
              </a:rPr>
              <a:t>Step 5: Then the output from the first </a:t>
            </a:r>
            <a:r>
              <a:rPr kumimoji="0" lang="pa-IN"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Raavi" panose="020B0502040204020203" pitchFamily="34" charset="0"/>
                <a:hlinkClick r:id="rId2"/>
              </a:rPr>
              <a:t>encryption</a:t>
            </a:r>
            <a:r>
              <a:rPr kumimoji="0" lang="pa-IN"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Raavi" panose="020B0502040204020203" pitchFamily="34" charset="0"/>
              </a:rPr>
              <a:t> is input to the second.</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pa-IN"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Raavi" panose="020B0502040204020203" pitchFamily="34" charset="0"/>
              </a:rPr>
              <a:t>Step 6: Now the message is read in Technique in the order specified by the second keyword.</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100" name="Picture 34" descr="Lightbox">
            <a:extLst>
              <a:ext uri="{FF2B5EF4-FFF2-40B4-BE49-F238E27FC236}">
                <a16:creationId xmlns:a16="http://schemas.microsoft.com/office/drawing/2014/main" id="{C7507462-D7AB-FF22-5A8A-35B4DDC10E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644" y="2231136"/>
            <a:ext cx="4152900" cy="1905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F12930D-B415-3FFC-CB1C-A47AAF906916}"/>
              </a:ext>
            </a:extLst>
          </p:cNvPr>
          <p:cNvSpPr>
            <a:spLocks noChangeArrowheads="1"/>
          </p:cNvSpPr>
          <p:nvPr/>
        </p:nvSpPr>
        <p:spPr bwMode="auto">
          <a:xfrm>
            <a:off x="729544" y="4136136"/>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a-IN" altLang="en-US" sz="1200" b="0" i="0" u="none" strike="noStrike" cap="none" normalizeH="0" baseline="0" dirty="0">
                <a:ln>
                  <a:noFill/>
                </a:ln>
                <a:solidFill>
                  <a:srgbClr val="273239"/>
                </a:solidFill>
                <a:effectLst/>
                <a:latin typeface="Arial" panose="020B0604020202020204" pitchFamily="34" charset="0"/>
                <a:ea typeface="Times New Roman" panose="02020603050405020304" pitchFamily="18" charset="0"/>
                <a:cs typeface="Raavi" panose="020B0502040204020203" pitchFamily="34" charset="0"/>
              </a:rPr>
              <a:t>The Cipher Text is: </a:t>
            </a:r>
            <a:r>
              <a:rPr kumimoji="0" lang="pa-IN" altLang="en-US" sz="1200" b="1" i="0" u="none" strike="noStrike" cap="none" normalizeH="0" baseline="0" dirty="0">
                <a:ln>
                  <a:noFill/>
                </a:ln>
                <a:solidFill>
                  <a:srgbClr val="273239"/>
                </a:solidFill>
                <a:effectLst/>
                <a:latin typeface="Arial" panose="020B0604020202020204" pitchFamily="34" charset="0"/>
                <a:ea typeface="Times New Roman" panose="02020603050405020304" pitchFamily="18" charset="0"/>
                <a:cs typeface="Raavi" panose="020B0502040204020203" pitchFamily="34" charset="0"/>
              </a:rPr>
              <a:t>“S_J_IAN_RNANKHRA”</a:t>
            </a:r>
            <a:endParaRPr kumimoji="0" lang="pa-IN"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7AF14A03-3314-6356-078D-75B9CAF05561}"/>
              </a:ext>
            </a:extLst>
          </p:cNvPr>
          <p:cNvSpPr txBox="1"/>
          <p:nvPr/>
        </p:nvSpPr>
        <p:spPr>
          <a:xfrm>
            <a:off x="3138311" y="0"/>
            <a:ext cx="5181600" cy="523220"/>
          </a:xfrm>
          <a:prstGeom prst="rect">
            <a:avLst/>
          </a:prstGeom>
          <a:noFill/>
        </p:spPr>
        <p:txBody>
          <a:bodyPr wrap="squar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4063313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48" name="Google Shape;248;p2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249" name="Google Shape;249;p22"/>
          <p:cNvSpPr txBox="1">
            <a:spLocks noGrp="1"/>
          </p:cNvSpPr>
          <p:nvPr>
            <p:ph type="title"/>
          </p:nvPr>
        </p:nvSpPr>
        <p:spPr>
          <a:xfrm>
            <a:off x="3783324" y="691650"/>
            <a:ext cx="32460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2400" dirty="0"/>
              <a:t>References</a:t>
            </a:r>
            <a:endParaRPr sz="2400" dirty="0"/>
          </a:p>
        </p:txBody>
      </p:sp>
      <p:sp>
        <p:nvSpPr>
          <p:cNvPr id="250" name="Google Shape;250;p22"/>
          <p:cNvSpPr txBox="1"/>
          <p:nvPr/>
        </p:nvSpPr>
        <p:spPr>
          <a:xfrm>
            <a:off x="231140" y="1692211"/>
            <a:ext cx="8630638" cy="4437615"/>
          </a:xfrm>
          <a:prstGeom prst="rect">
            <a:avLst/>
          </a:prstGeom>
          <a:noFill/>
          <a:ln>
            <a:noFill/>
          </a:ln>
        </p:spPr>
        <p:txBody>
          <a:bodyPr spcFirstLastPara="1" wrap="square" lIns="0" tIns="86350" rIns="0" bIns="0" anchor="t" anchorCtr="0">
            <a:spAutoFit/>
          </a:bodyPr>
          <a:lstStyle/>
          <a:p>
            <a:pPr marR="53975" lvl="0" algn="just">
              <a:lnSpc>
                <a:spcPct val="115000"/>
              </a:lnSpc>
              <a:spcBef>
                <a:spcPts val="1200"/>
              </a:spcBef>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rPr>
              <a:t>TEXT BOOKS/REFERENCE BOOKS</a:t>
            </a:r>
            <a:endPar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endParaRP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TEXT BOOKS</a:t>
            </a:r>
            <a:endParaRPr lang="en-IN" sz="1800" dirty="0">
              <a:effectLst/>
              <a:latin typeface="Times New Roman" panose="02020603050405020304" pitchFamily="18" charset="0"/>
              <a:ea typeface="Times New Roman" panose="02020603050405020304" pitchFamily="18" charset="0"/>
            </a:endParaRPr>
          </a:p>
          <a:p>
            <a:r>
              <a:rPr lang="en-IN" sz="1800" b="1" dirty="0">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T1 </a:t>
            </a:r>
            <a:r>
              <a:rPr lang="en-IN" sz="1800" dirty="0">
                <a:effectLst/>
                <a:latin typeface="Times New Roman" panose="02020603050405020304" pitchFamily="18" charset="0"/>
                <a:ea typeface="Times New Roman" panose="02020603050405020304" pitchFamily="18" charset="0"/>
              </a:rPr>
              <a:t>Introduction to Cyber Security by </a:t>
            </a:r>
            <a:r>
              <a:rPr lang="en-IN" sz="1800" dirty="0" err="1">
                <a:effectLst/>
                <a:latin typeface="Times New Roman" panose="02020603050405020304" pitchFamily="18" charset="0"/>
                <a:ea typeface="Times New Roman" panose="02020603050405020304" pitchFamily="18" charset="0"/>
              </a:rPr>
              <a:t>Shimeall</a:t>
            </a:r>
            <a:r>
              <a:rPr lang="en-IN" sz="1800" dirty="0">
                <a:effectLst/>
                <a:latin typeface="Times New Roman" panose="02020603050405020304" pitchFamily="18" charset="0"/>
                <a:ea typeface="Times New Roman" panose="02020603050405020304" pitchFamily="18" charset="0"/>
              </a:rPr>
              <a:t> , Elsevier Science, 2nd Edition, 2017. </a:t>
            </a:r>
          </a:p>
          <a:p>
            <a:pPr marL="457200"/>
            <a:r>
              <a:rPr lang="en-IN" sz="1800" b="1" dirty="0">
                <a:effectLst/>
                <a:latin typeface="Times New Roman" panose="02020603050405020304" pitchFamily="18" charset="0"/>
                <a:ea typeface="Times New Roman" panose="02020603050405020304" pitchFamily="18" charset="0"/>
              </a:rPr>
              <a:t>T2</a:t>
            </a:r>
            <a:r>
              <a:rPr lang="en-IN" sz="1800" dirty="0">
                <a:effectLst/>
                <a:latin typeface="Times New Roman" panose="02020603050405020304" pitchFamily="18" charset="0"/>
                <a:ea typeface="Times New Roman" panose="02020603050405020304" pitchFamily="18" charset="0"/>
              </a:rPr>
              <a:t>Introduction To Information Security And Cyber Laws by Surya Prakash Tripathi and </a:t>
            </a:r>
            <a:r>
              <a:rPr lang="en-IN" sz="1800" dirty="0" err="1">
                <a:effectLst/>
                <a:latin typeface="Times New Roman" panose="02020603050405020304" pitchFamily="18" charset="0"/>
                <a:ea typeface="Times New Roman" panose="02020603050405020304" pitchFamily="18" charset="0"/>
              </a:rPr>
              <a:t>Ritendra</a:t>
            </a:r>
            <a:r>
              <a:rPr lang="en-IN" sz="1800" dirty="0">
                <a:effectLst/>
                <a:latin typeface="Times New Roman" panose="02020603050405020304" pitchFamily="18" charset="0"/>
                <a:ea typeface="Times New Roman" panose="02020603050405020304" pitchFamily="18" charset="0"/>
              </a:rPr>
              <a:t>, John Wiley</a:t>
            </a:r>
          </a:p>
          <a:p>
            <a:pPr marL="457200" marR="53975" algn="just">
              <a:spcAft>
                <a:spcPts val="0"/>
              </a:spcAft>
            </a:pPr>
            <a:r>
              <a:rPr lang="en-IN" sz="1800" dirty="0">
                <a:effectLst/>
                <a:latin typeface="Times New Roman" panose="02020603050405020304" pitchFamily="18" charset="0"/>
                <a:ea typeface="Times New Roman" panose="02020603050405020304" pitchFamily="18" charset="0"/>
              </a:rPr>
              <a:t>, 2010.</a:t>
            </a:r>
          </a:p>
          <a:p>
            <a:pPr marL="457200" marR="53975" algn="just">
              <a:spcAft>
                <a:spcPts val="0"/>
              </a:spcAft>
            </a:pPr>
            <a:r>
              <a:rPr lang="en-IN" sz="1800" dirty="0">
                <a:effectLst/>
                <a:latin typeface="Times New Roman" panose="02020603050405020304" pitchFamily="18" charset="0"/>
                <a:ea typeface="Times New Roman" panose="02020603050405020304" pitchFamily="18" charset="0"/>
              </a:rPr>
              <a:t> </a:t>
            </a: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REFERENCE BOOKS</a:t>
            </a:r>
            <a:endParaRPr lang="en-IN" sz="1800" dirty="0">
              <a:effectLst/>
              <a:latin typeface="Times New Roman" panose="02020603050405020304" pitchFamily="18" charset="0"/>
              <a:ea typeface="Times New Roman" panose="02020603050405020304" pitchFamily="18" charset="0"/>
            </a:endParaRPr>
          </a:p>
          <a:p>
            <a:pPr marL="457200"/>
            <a:r>
              <a:rPr lang="en-IN" sz="1800" b="1" dirty="0">
                <a:effectLst/>
                <a:latin typeface="Times New Roman" panose="02020603050405020304" pitchFamily="18" charset="0"/>
                <a:ea typeface="Times New Roman" panose="02020603050405020304" pitchFamily="18" charset="0"/>
              </a:rPr>
              <a:t>R1</a:t>
            </a:r>
            <a:r>
              <a:rPr lang="en-IN" sz="1800" dirty="0">
                <a:effectLst/>
                <a:latin typeface="Times New Roman" panose="02020603050405020304" pitchFamily="18" charset="0"/>
                <a:ea typeface="Times New Roman" panose="02020603050405020304" pitchFamily="18" charset="0"/>
              </a:rPr>
              <a:t>Principles of Information Security, By Michael E. Whiteman. Cengage Learning, 2015 </a:t>
            </a:r>
          </a:p>
          <a:p>
            <a:pPr marL="457200"/>
            <a:r>
              <a:rPr lang="en-IN" sz="1800" b="1" dirty="0">
                <a:effectLst/>
                <a:latin typeface="Times New Roman" panose="02020603050405020304" pitchFamily="18" charset="0"/>
                <a:ea typeface="Times New Roman" panose="02020603050405020304" pitchFamily="18" charset="0"/>
              </a:rPr>
              <a:t>R2</a:t>
            </a:r>
            <a:r>
              <a:rPr lang="en-IN" sz="1800" dirty="0">
                <a:effectLst/>
                <a:latin typeface="Times New Roman" panose="02020603050405020304" pitchFamily="18" charset="0"/>
                <a:ea typeface="Times New Roman" panose="02020603050405020304" pitchFamily="18" charset="0"/>
              </a:rPr>
              <a:t>.Information Technology </a:t>
            </a:r>
            <a:r>
              <a:rPr lang="en-IN" sz="1800" dirty="0" err="1">
                <a:effectLst/>
                <a:latin typeface="Times New Roman" panose="02020603050405020304" pitchFamily="18" charset="0"/>
                <a:ea typeface="Times New Roman" panose="02020603050405020304" pitchFamily="18" charset="0"/>
              </a:rPr>
              <a:t>SecurityFundamentals</a:t>
            </a:r>
            <a:r>
              <a:rPr lang="en-IN" sz="1800" dirty="0">
                <a:effectLst/>
                <a:latin typeface="Times New Roman" panose="02020603050405020304" pitchFamily="18" charset="0"/>
                <a:ea typeface="Times New Roman" panose="02020603050405020304" pitchFamily="18" charset="0"/>
              </a:rPr>
              <a:t>, by Glen Sagar, Business Expert Press, 2022</a:t>
            </a: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R3</a:t>
            </a:r>
            <a:r>
              <a:rPr lang="en-IN" sz="1800" dirty="0">
                <a:effectLst/>
                <a:latin typeface="Times New Roman" panose="02020603050405020304" pitchFamily="18" charset="0"/>
                <a:ea typeface="Times New Roman" panose="02020603050405020304" pitchFamily="18" charset="0"/>
              </a:rPr>
              <a:t>Information Security Policies And Procedures: A Practitioners Reference 2Nd Edition by Peltier Thomas R., T&amp;F India, 2004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56"/>
        <p:cNvGrpSpPr/>
        <p:nvPr/>
      </p:nvGrpSpPr>
      <p:grpSpPr>
        <a:xfrm>
          <a:off x="0" y="0"/>
          <a:ext cx="0" cy="0"/>
          <a:chOff x="0" y="0"/>
          <a:chExt cx="0" cy="0"/>
        </a:xfrm>
      </p:grpSpPr>
      <p:grpSp>
        <p:nvGrpSpPr>
          <p:cNvPr id="257" name="Google Shape;257;p23"/>
          <p:cNvGrpSpPr/>
          <p:nvPr/>
        </p:nvGrpSpPr>
        <p:grpSpPr>
          <a:xfrm>
            <a:off x="0" y="11430"/>
            <a:ext cx="9144381" cy="6858000"/>
            <a:chOff x="0" y="0"/>
            <a:chExt cx="9144381" cy="6858000"/>
          </a:xfrm>
        </p:grpSpPr>
        <p:sp>
          <p:nvSpPr>
            <p:cNvPr id="258" name="Google Shape;258;p23"/>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23"/>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0" name="Google Shape;260;p23"/>
            <p:cNvSpPr/>
            <p:nvPr/>
          </p:nvSpPr>
          <p:spPr>
            <a:xfrm>
              <a:off x="152399" y="152400"/>
              <a:ext cx="768095" cy="12192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23"/>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62" name="Google Shape;262;p23"/>
          <p:cNvSpPr txBox="1"/>
          <p:nvPr/>
        </p:nvSpPr>
        <p:spPr>
          <a:xfrm>
            <a:off x="2475350" y="17780"/>
            <a:ext cx="664477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63" name="Google Shape;263;p23"/>
          <p:cNvSpPr/>
          <p:nvPr/>
        </p:nvSpPr>
        <p:spPr>
          <a:xfrm>
            <a:off x="1140225" y="1823002"/>
            <a:ext cx="6362700" cy="14355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4" name="Google Shape;264;p23"/>
          <p:cNvSpPr txBox="1">
            <a:spLocks noGrp="1"/>
          </p:cNvSpPr>
          <p:nvPr>
            <p:ph type="ftr" idx="11"/>
          </p:nvPr>
        </p:nvSpPr>
        <p:spPr>
          <a:xfrm>
            <a:off x="2475350" y="5949096"/>
            <a:ext cx="41949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4168</TotalTime>
  <Words>2600</Words>
  <Application>Microsoft Macintosh PowerPoint</Application>
  <PresentationFormat>On-screen Show (4:3)</PresentationFormat>
  <Paragraphs>182</Paragraphs>
  <Slides>22</Slides>
  <Notes>12</Notes>
  <HiddenSlides>1</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6" baseType="lpstr">
      <vt:lpstr>Times New Roman</vt:lpstr>
      <vt:lpstr>Noto Sans Symbols</vt:lpstr>
      <vt:lpstr>Trebuchet MS</vt:lpstr>
      <vt:lpstr>Georgia</vt:lpstr>
      <vt:lpstr>Calibri</vt:lpstr>
      <vt:lpstr>Raleway ExtraBold</vt:lpstr>
      <vt:lpstr>Book Antiqua</vt:lpstr>
      <vt:lpstr>Arial Black</vt:lpstr>
      <vt:lpstr>Courier New</vt:lpstr>
      <vt:lpstr>Calibri Light</vt:lpstr>
      <vt:lpstr>Symbol</vt:lpstr>
      <vt:lpstr>Arial</vt:lpstr>
      <vt:lpstr>Office Theme</vt:lpstr>
      <vt:lpstr>CorelDRAW</vt:lpstr>
      <vt:lpstr>PowerPoint Presentation</vt:lpstr>
      <vt:lpstr>PowerPoint Presentation</vt:lpstr>
      <vt:lpstr>PowerPoint Presentation</vt:lpstr>
      <vt:lpstr>Contents of the Syllabus  </vt:lpstr>
      <vt:lpstr>Contents of the Syllabus  </vt:lpstr>
      <vt:lpstr>Cryptography  </vt:lpstr>
      <vt:lpstr>Cryptography  </vt:lpstr>
      <vt:lpstr>Types of Cryptography:</vt:lpstr>
      <vt:lpstr>Applications of Cryptography:</vt:lpstr>
      <vt:lpstr>Challenges of Cryptography:</vt:lpstr>
      <vt:lpstr>Substitution Cipher</vt:lpstr>
      <vt:lpstr>Substitution Cipher</vt:lpstr>
      <vt:lpstr>PowerPoint Presentation</vt:lpstr>
      <vt:lpstr>Transposition Cipher Techniques in Cryptography </vt:lpstr>
      <vt:lpstr>PowerPoint Presentation</vt:lpstr>
      <vt:lpstr>Transposition Cipher Techniques in Cryptography</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60</cp:revision>
  <dcterms:created xsi:type="dcterms:W3CDTF">2019-12-13T04:20:25Z</dcterms:created>
  <dcterms:modified xsi:type="dcterms:W3CDTF">2024-05-27T09:25:28Z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2017-12-08T00:00:00Z</vt:filetime>
  </property>
  <property fmtid="{D5CDD505-2E9C-101B-9397-08002B2CF9AE}" pid="3" name="Creator">
    <vt:lpwstr>Microsoft® PowerPoint® 2013</vt:lpwstr>
  </property>
  <property fmtid="{D5CDD505-2E9C-101B-9397-08002B2CF9AE}" pid="4" name="LastSaved">
    <vt:filetime>2019-12-13T00:00:00Z</vt:filetime>
  </property>
</Properties>
</file>