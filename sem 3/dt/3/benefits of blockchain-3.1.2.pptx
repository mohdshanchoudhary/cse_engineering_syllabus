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6.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theme/theme8.xml" ContentType="application/vnd.openxmlformats-officedocument.theme+xml"/>
  <Override PartName="/ppt/slideLayouts/slideLayout28.xml" ContentType="application/vnd.openxmlformats-officedocument.presentationml.slideLayout+xml"/>
  <Override PartName="/ppt/theme/theme9.xml" ContentType="application/vnd.openxmlformats-officedocument.theme+xml"/>
  <Override PartName="/ppt/slideLayouts/slideLayout29.xml" ContentType="application/vnd.openxmlformats-officedocument.presentationml.slideLayout+xml"/>
  <Override PartName="/ppt/theme/theme10.xml" ContentType="application/vnd.openxmlformats-officedocument.theme+xml"/>
  <Override PartName="/ppt/slideLayouts/slideLayout30.xml" ContentType="application/vnd.openxmlformats-officedocument.presentationml.slideLayout+xml"/>
  <Override PartName="/ppt/theme/theme11.xml" ContentType="application/vnd.openxmlformats-officedocument.theme+xml"/>
  <Override PartName="/ppt/slideLayouts/slideLayout31.xml" ContentType="application/vnd.openxmlformats-officedocument.presentationml.slideLayout+xml"/>
  <Override PartName="/ppt/theme/theme12.xml" ContentType="application/vnd.openxmlformats-officedocument.theme+xml"/>
  <Override PartName="/ppt/slideLayouts/slideLayout32.xml" ContentType="application/vnd.openxmlformats-officedocument.presentationml.slideLayout+xml"/>
  <Override PartName="/ppt/theme/theme13.xml" ContentType="application/vnd.openxmlformats-officedocument.theme+xml"/>
  <Override PartName="/ppt/slideLayouts/slideLayout33.xml" ContentType="application/vnd.openxmlformats-officedocument.presentationml.slideLayout+xml"/>
  <Override PartName="/ppt/theme/theme14.xml" ContentType="application/vnd.openxmlformats-officedocument.theme+xml"/>
  <Override PartName="/ppt/slideLayouts/slideLayout34.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52" r:id="rId3"/>
    <p:sldMasterId id="2147483654" r:id="rId4"/>
    <p:sldMasterId id="2147483656" r:id="rId5"/>
    <p:sldMasterId id="2147483657" r:id="rId6"/>
    <p:sldMasterId id="2147483669" r:id="rId7"/>
    <p:sldMasterId id="2147483681" r:id="rId8"/>
    <p:sldMasterId id="2147483683" r:id="rId9"/>
    <p:sldMasterId id="2147483685" r:id="rId10"/>
    <p:sldMasterId id="2147483687" r:id="rId11"/>
    <p:sldMasterId id="2147483689" r:id="rId12"/>
    <p:sldMasterId id="2147483691" r:id="rId13"/>
    <p:sldMasterId id="2147483693" r:id="rId14"/>
    <p:sldMasterId id="2147483695" r:id="rId15"/>
  </p:sldMasterIdLst>
  <p:notesMasterIdLst>
    <p:notesMasterId r:id="rId37"/>
  </p:notesMasterIdLst>
  <p:sldIdLst>
    <p:sldId id="256" r:id="rId16"/>
    <p:sldId id="258" r:id="rId17"/>
    <p:sldId id="259" r:id="rId18"/>
    <p:sldId id="268" r:id="rId19"/>
    <p:sldId id="269" r:id="rId20"/>
    <p:sldId id="270"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77" r:id="rId35"/>
    <p:sldId id="278" r:id="rId36"/>
  </p:sldIdLst>
  <p:sldSz cx="9144000" cy="6858000" type="screen4x3"/>
  <p:notesSz cx="6858000" cy="9144000"/>
  <p:embeddedFontLst>
    <p:embeddedFont>
      <p:font typeface="Arial Black" panose="020B0604020202020204" pitchFamily="34" charset="0"/>
      <p:regular r:id="rId38"/>
      <p:bold r:id="rId39"/>
    </p:embeddedFont>
    <p:embeddedFont>
      <p:font typeface="Cambria" panose="02040503050406030204" pitchFamily="18" charset="0"/>
      <p:regular r:id="rId40"/>
      <p:bold r:id="rId41"/>
      <p:italic r:id="rId42"/>
      <p:boldItalic r:id="rId43"/>
    </p:embeddedFont>
    <p:embeddedFont>
      <p:font typeface="Lucida Console" panose="020B0609040504020204" pitchFamily="49" charset="0"/>
      <p:regular r:id="rId44"/>
    </p:embeddedFont>
    <p:embeddedFont>
      <p:font typeface="Poppins" pitchFamily="2" charset="77"/>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jZ2CbmYryrhJJUCKnHcr2q2B3Io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940"/>
    <p:restoredTop sz="94517"/>
  </p:normalViewPr>
  <p:slideViewPr>
    <p:cSldViewPr snapToGrid="0">
      <p:cViewPr varScale="1">
        <p:scale>
          <a:sx n="97" d="100"/>
          <a:sy n="97" d="100"/>
        </p:scale>
        <p:origin x="216" y="544"/>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font" Target="fonts/font2.fntdata"/><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font" Target="fonts/font5.fntdata"/><Relationship Id="rId47" Type="http://schemas.openxmlformats.org/officeDocument/2006/relationships/font" Target="fonts/font10.fntdata"/><Relationship Id="rId55"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viewProps" Target="viewProps.xml"/><Relationship Id="rId5" Type="http://schemas.openxmlformats.org/officeDocument/2006/relationships/slideMaster" Target="slideMasters/slideMaster5.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font" Target="fonts/font7.fntdata"/><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Master" Target="slideMasters/slideMaster8.xml"/><Relationship Id="rId51" Type="http://customschemas.google.com/relationships/presentationmetadata" Target="metadata"/><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5.xml"/><Relationship Id="rId41" Type="http://schemas.openxmlformats.org/officeDocument/2006/relationships/font" Target="fonts/font4.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310" name="Google Shape;310;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a:solidFill>
                  <a:schemeClr val="dk1"/>
                </a:solidFill>
                <a:latin typeface="Calibri"/>
                <a:ea typeface="Calibri"/>
                <a:cs typeface="Calibri"/>
                <a:sym typeface="Calibri"/>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6" name="Google Shape;40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5" name="Google Shape;45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5"/>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16" name="Google Shape;16;p25"/>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27"/>
          <p:cNvSpPr txBox="1">
            <a:spLocks noGrp="1"/>
          </p:cNvSpPr>
          <p:nvPr>
            <p:ph type="body" idx="1"/>
          </p:nvPr>
        </p:nvSpPr>
        <p:spPr>
          <a:xfrm>
            <a:off x="762000" y="1447800"/>
            <a:ext cx="8229600" cy="4800600"/>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chemeClr val="dk1"/>
              </a:buClr>
              <a:buSzPts val="2200"/>
              <a:buFont typeface="Arial"/>
              <a:buChar char="•"/>
              <a:defRPr sz="22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27"/>
          <p:cNvSpPr txBox="1">
            <a:spLocks noGrp="1"/>
          </p:cNvSpPr>
          <p:nvPr>
            <p:ph type="body" idx="2"/>
          </p:nvPr>
        </p:nvSpPr>
        <p:spPr>
          <a:xfrm>
            <a:off x="1066800" y="609600"/>
            <a:ext cx="79248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rgbClr val="C00000"/>
              </a:buClr>
              <a:buSzPts val="3200"/>
              <a:buFont typeface="Arial"/>
              <a:buNone/>
              <a:defRPr sz="3200" b="1" i="0" u="none" strike="noStrike" cap="none">
                <a:solidFill>
                  <a:srgbClr val="C00000"/>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3"/>
        <p:cNvGrpSpPr/>
        <p:nvPr/>
      </p:nvGrpSpPr>
      <p:grpSpPr>
        <a:xfrm>
          <a:off x="0" y="0"/>
          <a:ext cx="0" cy="0"/>
          <a:chOff x="0" y="0"/>
          <a:chExt cx="0" cy="0"/>
        </a:xfrm>
      </p:grpSpPr>
      <p:sp>
        <p:nvSpPr>
          <p:cNvPr id="34" name="Google Shape;34;p29"/>
          <p:cNvSpPr txBox="1">
            <a:spLocks noGrp="1"/>
          </p:cNvSpPr>
          <p:nvPr>
            <p:ph type="ctrTitle"/>
          </p:nvPr>
        </p:nvSpPr>
        <p:spPr>
          <a:xfrm>
            <a:off x="1143000" y="3429000"/>
            <a:ext cx="7772400" cy="1066799"/>
          </a:xfrm>
          <a:prstGeom prst="rect">
            <a:avLst/>
          </a:prstGeom>
          <a:solidFill>
            <a:schemeClr val="lt1"/>
          </a:solid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lvl1pPr marR="0" lvl="0" algn="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5" name="Google Shape;3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45"/>
        <p:cNvGrpSpPr/>
        <p:nvPr/>
      </p:nvGrpSpPr>
      <p:grpSpPr>
        <a:xfrm>
          <a:off x="0" y="0"/>
          <a:ext cx="0" cy="0"/>
          <a:chOff x="0" y="0"/>
          <a:chExt cx="0" cy="0"/>
        </a:xfrm>
      </p:grpSpPr>
      <p:sp>
        <p:nvSpPr>
          <p:cNvPr id="46" name="Google Shape;46;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3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3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3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3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35"/>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 name="Google Shape;6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2"/>
        <p:cNvGrpSpPr/>
        <p:nvPr/>
      </p:nvGrpSpPr>
      <p:grpSpPr>
        <a:xfrm>
          <a:off x="0" y="0"/>
          <a:ext cx="0" cy="0"/>
          <a:chOff x="0" y="0"/>
          <a:chExt cx="0" cy="0"/>
        </a:xfrm>
      </p:grpSpPr>
      <p:sp>
        <p:nvSpPr>
          <p:cNvPr id="73" name="Google Shape;73;p3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36"/>
          <p:cNvSpPr>
            <a:spLocks noGrp="1"/>
          </p:cNvSpPr>
          <p:nvPr>
            <p:ph type="pic" idx="2"/>
          </p:nvPr>
        </p:nvSpPr>
        <p:spPr>
          <a:xfrm>
            <a:off x="1792288" y="612775"/>
            <a:ext cx="5486400" cy="4114800"/>
          </a:xfrm>
          <a:prstGeom prst="rect">
            <a:avLst/>
          </a:prstGeom>
          <a:noFill/>
          <a:ln>
            <a:noFill/>
          </a:ln>
        </p:spPr>
      </p:sp>
      <p:sp>
        <p:nvSpPr>
          <p:cNvPr id="75" name="Google Shape;75;p3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9"/>
        <p:cNvGrpSpPr/>
        <p:nvPr/>
      </p:nvGrpSpPr>
      <p:grpSpPr>
        <a:xfrm>
          <a:off x="0" y="0"/>
          <a:ext cx="0" cy="0"/>
          <a:chOff x="0" y="0"/>
          <a:chExt cx="0" cy="0"/>
        </a:xfrm>
      </p:grpSpPr>
      <p:sp>
        <p:nvSpPr>
          <p:cNvPr id="80" name="Google Shape;80;p3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3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82" name="Google Shape;82;p3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3" name="Google Shape;83;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39"/>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 name="Google Shape;92;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5"/>
        <p:cNvGrpSpPr/>
        <p:nvPr/>
      </p:nvGrpSpPr>
      <p:grpSpPr>
        <a:xfrm>
          <a:off x="0" y="0"/>
          <a:ext cx="0" cy="0"/>
          <a:chOff x="0" y="0"/>
          <a:chExt cx="0" cy="0"/>
        </a:xfrm>
      </p:grpSpPr>
      <p:sp>
        <p:nvSpPr>
          <p:cNvPr id="96" name="Google Shape;96;p40"/>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7" name="Google Shape;97;p4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98" name="Google Shape;98;p4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99" name="Google Shape;99;p4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00" name="Google Shape;100;p4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01" name="Google Shape;10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4"/>
        <p:cNvGrpSpPr/>
        <p:nvPr/>
      </p:nvGrpSpPr>
      <p:grpSpPr>
        <a:xfrm>
          <a:off x="0" y="0"/>
          <a:ext cx="0" cy="0"/>
          <a:chOff x="0" y="0"/>
          <a:chExt cx="0" cy="0"/>
        </a:xfrm>
      </p:grpSpPr>
      <p:sp>
        <p:nvSpPr>
          <p:cNvPr id="105" name="Google Shape;105;p4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6" name="Google Shape;106;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7" name="Google Shape;107;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08" name="Google Shape;108;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1"/>
        <p:cNvGrpSpPr/>
        <p:nvPr/>
      </p:nvGrpSpPr>
      <p:grpSpPr>
        <a:xfrm>
          <a:off x="0" y="0"/>
          <a:ext cx="0" cy="0"/>
          <a:chOff x="0" y="0"/>
          <a:chExt cx="0" cy="0"/>
        </a:xfrm>
      </p:grpSpPr>
      <p:sp>
        <p:nvSpPr>
          <p:cNvPr id="112" name="Google Shape;112;p4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3" name="Google Shape;113;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14" name="Google Shape;114;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7"/>
        <p:cNvGrpSpPr/>
        <p:nvPr/>
      </p:nvGrpSpPr>
      <p:grpSpPr>
        <a:xfrm>
          <a:off x="0" y="0"/>
          <a:ext cx="0" cy="0"/>
          <a:chOff x="0" y="0"/>
          <a:chExt cx="0" cy="0"/>
        </a:xfrm>
      </p:grpSpPr>
      <p:sp>
        <p:nvSpPr>
          <p:cNvPr id="118" name="Google Shape;118;p4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4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0" name="Google Shape;120;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3"/>
        <p:cNvGrpSpPr/>
        <p:nvPr/>
      </p:nvGrpSpPr>
      <p:grpSpPr>
        <a:xfrm>
          <a:off x="0" y="0"/>
          <a:ext cx="0" cy="0"/>
          <a:chOff x="0" y="0"/>
          <a:chExt cx="0" cy="0"/>
        </a:xfrm>
      </p:grpSpPr>
      <p:sp>
        <p:nvSpPr>
          <p:cNvPr id="124" name="Google Shape;124;p4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5" name="Google Shape;125;p4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26" name="Google Shape;126;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5"/>
        <p:cNvGrpSpPr/>
        <p:nvPr/>
      </p:nvGrpSpPr>
      <p:grpSpPr>
        <a:xfrm>
          <a:off x="0" y="0"/>
          <a:ext cx="0" cy="0"/>
          <a:chOff x="0" y="0"/>
          <a:chExt cx="0" cy="0"/>
        </a:xfrm>
      </p:grpSpPr>
      <p:sp>
        <p:nvSpPr>
          <p:cNvPr id="136" name="Google Shape;136;p4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7" name="Google Shape;137;p4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8" name="Google Shape;138;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1"/>
        <p:cNvGrpSpPr/>
        <p:nvPr/>
      </p:nvGrpSpPr>
      <p:grpSpPr>
        <a:xfrm>
          <a:off x="0" y="0"/>
          <a:ext cx="0" cy="0"/>
          <a:chOff x="0" y="0"/>
          <a:chExt cx="0" cy="0"/>
        </a:xfrm>
      </p:grpSpPr>
      <p:sp>
        <p:nvSpPr>
          <p:cNvPr id="142" name="Google Shape;142;p47"/>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3" name="Google Shape;143;p47"/>
          <p:cNvSpPr txBox="1">
            <a:spLocks noGrp="1"/>
          </p:cNvSpPr>
          <p:nvPr>
            <p:ph type="body" idx="1"/>
          </p:nvPr>
        </p:nvSpPr>
        <p:spPr>
          <a:xfrm rot="5400000">
            <a:off x="2309019" y="-251619"/>
            <a:ext cx="4525962"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7"/>
        <p:cNvGrpSpPr/>
        <p:nvPr/>
      </p:nvGrpSpPr>
      <p:grpSpPr>
        <a:xfrm>
          <a:off x="0" y="0"/>
          <a:ext cx="0" cy="0"/>
          <a:chOff x="0" y="0"/>
          <a:chExt cx="0" cy="0"/>
        </a:xfrm>
      </p:grpSpPr>
      <p:sp>
        <p:nvSpPr>
          <p:cNvPr id="148" name="Google Shape;148;p4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9" name="Google Shape;149;p48"/>
          <p:cNvSpPr>
            <a:spLocks noGrp="1"/>
          </p:cNvSpPr>
          <p:nvPr>
            <p:ph type="pic" idx="2"/>
          </p:nvPr>
        </p:nvSpPr>
        <p:spPr>
          <a:xfrm>
            <a:off x="1792288" y="612775"/>
            <a:ext cx="5486400" cy="4114800"/>
          </a:xfrm>
          <a:prstGeom prst="rect">
            <a:avLst/>
          </a:prstGeom>
          <a:noFill/>
          <a:ln>
            <a:noFill/>
          </a:ln>
        </p:spPr>
      </p:sp>
      <p:sp>
        <p:nvSpPr>
          <p:cNvPr id="150" name="Google Shape;150;p4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1" name="Google Shape;15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4"/>
        <p:cNvGrpSpPr/>
        <p:nvPr/>
      </p:nvGrpSpPr>
      <p:grpSpPr>
        <a:xfrm>
          <a:off x="0" y="0"/>
          <a:ext cx="0" cy="0"/>
          <a:chOff x="0" y="0"/>
          <a:chExt cx="0" cy="0"/>
        </a:xfrm>
      </p:grpSpPr>
      <p:sp>
        <p:nvSpPr>
          <p:cNvPr id="155" name="Google Shape;155;p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6" name="Google Shape;156;p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57" name="Google Shape;157;p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58" name="Google Shape;158;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5"/>
        <p:cNvGrpSpPr/>
        <p:nvPr/>
      </p:nvGrpSpPr>
      <p:grpSpPr>
        <a:xfrm>
          <a:off x="0" y="0"/>
          <a:ext cx="0" cy="0"/>
          <a:chOff x="0" y="0"/>
          <a:chExt cx="0" cy="0"/>
        </a:xfrm>
      </p:grpSpPr>
      <p:sp>
        <p:nvSpPr>
          <p:cNvPr id="166" name="Google Shape;166;p51"/>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7" name="Google Shape;167;p5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5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p5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70"/>
        <p:cNvGrpSpPr/>
        <p:nvPr/>
      </p:nvGrpSpPr>
      <p:grpSpPr>
        <a:xfrm>
          <a:off x="0" y="0"/>
          <a:ext cx="0" cy="0"/>
          <a:chOff x="0" y="0"/>
          <a:chExt cx="0" cy="0"/>
        </a:xfrm>
      </p:grpSpPr>
      <p:sp>
        <p:nvSpPr>
          <p:cNvPr id="171" name="Google Shape;171;p52"/>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2" name="Google Shape;172;p5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3" name="Google Shape;173;p5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4" name="Google Shape;174;p5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75" name="Google Shape;175;p5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76" name="Google Shape;176;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9"/>
        <p:cNvGrpSpPr/>
        <p:nvPr/>
      </p:nvGrpSpPr>
      <p:grpSpPr>
        <a:xfrm>
          <a:off x="0" y="0"/>
          <a:ext cx="0" cy="0"/>
          <a:chOff x="0" y="0"/>
          <a:chExt cx="0" cy="0"/>
        </a:xfrm>
      </p:grpSpPr>
      <p:sp>
        <p:nvSpPr>
          <p:cNvPr id="180" name="Google Shape;180;p5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1" name="Google Shape;181;p5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2" name="Google Shape;182;p5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83" name="Google Shape;183;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6"/>
        <p:cNvGrpSpPr/>
        <p:nvPr/>
      </p:nvGrpSpPr>
      <p:grpSpPr>
        <a:xfrm>
          <a:off x="0" y="0"/>
          <a:ext cx="0" cy="0"/>
          <a:chOff x="0" y="0"/>
          <a:chExt cx="0" cy="0"/>
        </a:xfrm>
      </p:grpSpPr>
      <p:sp>
        <p:nvSpPr>
          <p:cNvPr id="187" name="Google Shape;187;p5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8" name="Google Shape;188;p5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89" name="Google Shape;189;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2"/>
        <p:cNvGrpSpPr/>
        <p:nvPr/>
      </p:nvGrpSpPr>
      <p:grpSpPr>
        <a:xfrm>
          <a:off x="0" y="0"/>
          <a:ext cx="0" cy="0"/>
          <a:chOff x="0" y="0"/>
          <a:chExt cx="0" cy="0"/>
        </a:xfrm>
      </p:grpSpPr>
      <p:sp>
        <p:nvSpPr>
          <p:cNvPr id="193" name="Google Shape;193;p5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94" name="Google Shape;194;p5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5" name="Google Shape;195;p5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5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7" name="Google Shape;197;p5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8"/>
        <p:cNvGrpSpPr/>
        <p:nvPr/>
      </p:nvGrpSpPr>
      <p:grpSpPr>
        <a:xfrm>
          <a:off x="0" y="0"/>
          <a:ext cx="0" cy="0"/>
          <a:chOff x="0" y="0"/>
          <a:chExt cx="0" cy="0"/>
        </a:xfrm>
      </p:grpSpPr>
      <p:sp>
        <p:nvSpPr>
          <p:cNvPr id="199" name="Google Shape;199;p5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0" name="Google Shape;200;p5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01" name="Google Shape;201;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2"/>
        <p:cNvGrpSpPr/>
        <p:nvPr/>
      </p:nvGrpSpPr>
      <p:grpSpPr>
        <a:xfrm>
          <a:off x="0" y="0"/>
          <a:ext cx="0" cy="0"/>
          <a:chOff x="0" y="0"/>
          <a:chExt cx="0" cy="0"/>
        </a:xfrm>
      </p:grpSpPr>
      <p:sp>
        <p:nvSpPr>
          <p:cNvPr id="213" name="Google Shape;213;p58"/>
          <p:cNvSpPr>
            <a:spLocks noGrp="1"/>
          </p:cNvSpPr>
          <p:nvPr>
            <p:ph type="pic" idx="2"/>
          </p:nvPr>
        </p:nvSpPr>
        <p:spPr>
          <a:xfrm>
            <a:off x="2895600" y="1371600"/>
            <a:ext cx="6019800" cy="4724400"/>
          </a:xfrm>
          <a:prstGeom prst="rect">
            <a:avLst/>
          </a:prstGeom>
          <a:noFill/>
          <a:ln>
            <a:noFill/>
          </a:ln>
        </p:spPr>
      </p:sp>
      <p:sp>
        <p:nvSpPr>
          <p:cNvPr id="214" name="Google Shape;214;p58"/>
          <p:cNvSpPr txBox="1">
            <a:spLocks noGrp="1"/>
          </p:cNvSpPr>
          <p:nvPr>
            <p:ph type="body" idx="1"/>
          </p:nvPr>
        </p:nvSpPr>
        <p:spPr>
          <a:xfrm>
            <a:off x="228600" y="1371600"/>
            <a:ext cx="2590800" cy="47244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Cambria"/>
                <a:ea typeface="Cambria"/>
                <a:cs typeface="Cambria"/>
                <a:sym typeface="Cambria"/>
              </a:defRPr>
            </a:lvl1pPr>
            <a:lvl2pPr marL="914400" marR="0" lvl="1" indent="-342900" algn="l" rtl="0">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5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p5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5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23"/>
        <p:cNvGrpSpPr/>
        <p:nvPr/>
      </p:nvGrpSpPr>
      <p:grpSpPr>
        <a:xfrm>
          <a:off x="0" y="0"/>
          <a:ext cx="0" cy="0"/>
          <a:chOff x="0" y="0"/>
          <a:chExt cx="0" cy="0"/>
        </a:xfrm>
      </p:grpSpPr>
      <p:sp>
        <p:nvSpPr>
          <p:cNvPr id="224" name="Google Shape;224;p60"/>
          <p:cNvSpPr txBox="1">
            <a:spLocks noGrp="1"/>
          </p:cNvSpPr>
          <p:nvPr>
            <p:ph type="body" idx="1"/>
          </p:nvPr>
        </p:nvSpPr>
        <p:spPr>
          <a:xfrm>
            <a:off x="609600" y="1524000"/>
            <a:ext cx="8305800" cy="48768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5" name="Google Shape;225;p60"/>
          <p:cNvSpPr txBox="1">
            <a:spLocks noGrp="1"/>
          </p:cNvSpPr>
          <p:nvPr>
            <p:ph type="body" idx="2"/>
          </p:nvPr>
        </p:nvSpPr>
        <p:spPr>
          <a:xfrm>
            <a:off x="1066800" y="533400"/>
            <a:ext cx="7848600" cy="685800"/>
          </a:xfrm>
          <a:prstGeom prst="rect">
            <a:avLst/>
          </a:prstGeom>
          <a:solidFill>
            <a:schemeClr val="lt1"/>
          </a:solidFill>
          <a:ln>
            <a:noFill/>
          </a:ln>
        </p:spPr>
        <p:txBody>
          <a:bodyPr spcFirstLastPara="1" wrap="square" lIns="91425" tIns="45700" rIns="91425" bIns="45700" anchor="ctr" anchorCtr="0">
            <a:normAutofit/>
          </a:bodyPr>
          <a:lstStyle>
            <a:lvl1pPr marL="457200" marR="0" lvl="0" indent="-228600" algn="ctr" rtl="0">
              <a:spcBef>
                <a:spcPts val="640"/>
              </a:spcBef>
              <a:spcAft>
                <a:spcPts val="0"/>
              </a:spcAft>
              <a:buClr>
                <a:schemeClr val="dk1"/>
              </a:buClr>
              <a:buSzPts val="3200"/>
              <a:buFont typeface="Arial"/>
              <a:buNone/>
              <a:defRPr sz="3200" b="1"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4"/>
        <p:cNvGrpSpPr/>
        <p:nvPr/>
      </p:nvGrpSpPr>
      <p:grpSpPr>
        <a:xfrm>
          <a:off x="0" y="0"/>
          <a:ext cx="0" cy="0"/>
          <a:chOff x="0" y="0"/>
          <a:chExt cx="0" cy="0"/>
        </a:xfrm>
      </p:grpSpPr>
      <p:sp>
        <p:nvSpPr>
          <p:cNvPr id="235" name="Google Shape;235;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6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45"/>
        <p:cNvGrpSpPr/>
        <p:nvPr/>
      </p:nvGrpSpPr>
      <p:grpSpPr>
        <a:xfrm>
          <a:off x="0" y="0"/>
          <a:ext cx="0" cy="0"/>
          <a:chOff x="0" y="0"/>
          <a:chExt cx="0" cy="0"/>
        </a:xfrm>
      </p:grpSpPr>
      <p:sp>
        <p:nvSpPr>
          <p:cNvPr id="246" name="Google Shape;246;p6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47" name="Google Shape;247;p6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mbria"/>
                <a:ea typeface="Cambria"/>
                <a:cs typeface="Cambria"/>
                <a:sym typeface="Cambria"/>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8" name="Google Shape;248;p6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49" name="Google Shape;24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1" name="Google Shape;251;p64"/>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59"/>
        <p:cNvGrpSpPr/>
        <p:nvPr/>
      </p:nvGrpSpPr>
      <p:grpSpPr>
        <a:xfrm>
          <a:off x="0" y="0"/>
          <a:ext cx="0" cy="0"/>
          <a:chOff x="0" y="0"/>
          <a:chExt cx="0" cy="0"/>
        </a:xfrm>
      </p:grpSpPr>
      <p:sp>
        <p:nvSpPr>
          <p:cNvPr id="260" name="Google Shape;260;p6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20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61" name="Google Shape;261;p66"/>
          <p:cNvSpPr>
            <a:spLocks noGrp="1"/>
          </p:cNvSpPr>
          <p:nvPr>
            <p:ph type="pic" idx="2"/>
          </p:nvPr>
        </p:nvSpPr>
        <p:spPr>
          <a:xfrm>
            <a:off x="1792288" y="612775"/>
            <a:ext cx="5486400" cy="4114800"/>
          </a:xfrm>
          <a:prstGeom prst="rect">
            <a:avLst/>
          </a:prstGeom>
          <a:noFill/>
          <a:ln>
            <a:noFill/>
          </a:ln>
        </p:spPr>
      </p:sp>
      <p:sp>
        <p:nvSpPr>
          <p:cNvPr id="262" name="Google Shape;262;p6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mbria"/>
                <a:ea typeface="Cambria"/>
                <a:cs typeface="Cambria"/>
                <a:sym typeface="Cambria"/>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63" name="Google Shape;263;p6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4" name="Google Shape;264;p6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5" name="Google Shape;265;p66"/>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73"/>
        <p:cNvGrpSpPr/>
        <p:nvPr/>
      </p:nvGrpSpPr>
      <p:grpSpPr>
        <a:xfrm>
          <a:off x="0" y="0"/>
          <a:ext cx="0" cy="0"/>
          <a:chOff x="0" y="0"/>
          <a:chExt cx="0" cy="0"/>
        </a:xfrm>
      </p:grpSpPr>
      <p:sp>
        <p:nvSpPr>
          <p:cNvPr id="274" name="Google Shape;274;p68"/>
          <p:cNvSpPr txBox="1">
            <a:spLocks noGrp="1"/>
          </p:cNvSpPr>
          <p:nvPr>
            <p:ph type="title"/>
          </p:nvPr>
        </p:nvSpPr>
        <p:spPr>
          <a:xfrm>
            <a:off x="304800" y="1371600"/>
            <a:ext cx="8229600" cy="6858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75" name="Google Shape;275;p68"/>
          <p:cNvSpPr txBox="1">
            <a:spLocks noGrp="1"/>
          </p:cNvSpPr>
          <p:nvPr>
            <p:ph type="body" idx="1"/>
          </p:nvPr>
        </p:nvSpPr>
        <p:spPr>
          <a:xfrm rot="5400000">
            <a:off x="2286000" y="228600"/>
            <a:ext cx="4267200" cy="8229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6" name="Google Shape;276;p6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7" name="Google Shape;277;p6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8" name="Google Shape;278;p6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86"/>
        <p:cNvGrpSpPr/>
        <p:nvPr/>
      </p:nvGrpSpPr>
      <p:grpSpPr>
        <a:xfrm>
          <a:off x="0" y="0"/>
          <a:ext cx="0" cy="0"/>
          <a:chOff x="0" y="0"/>
          <a:chExt cx="0" cy="0"/>
        </a:xfrm>
      </p:grpSpPr>
      <p:sp>
        <p:nvSpPr>
          <p:cNvPr id="287" name="Google Shape;287;p7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288" name="Google Shape;288;p7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89" name="Google Shape;289;p7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0" name="Google Shape;290;p7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1" name="Google Shape;291;p7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1_Two Content" type="obj">
  <p:cSld name="OBJECT">
    <p:spTree>
      <p:nvGrpSpPr>
        <p:cNvPr id="1" name="Shape 301"/>
        <p:cNvGrpSpPr/>
        <p:nvPr/>
      </p:nvGrpSpPr>
      <p:grpSpPr>
        <a:xfrm>
          <a:off x="0" y="0"/>
          <a:ext cx="0" cy="0"/>
          <a:chOff x="0" y="0"/>
          <a:chExt cx="0" cy="0"/>
        </a:xfrm>
      </p:grpSpPr>
      <p:sp>
        <p:nvSpPr>
          <p:cNvPr id="302" name="Google Shape;302;p72"/>
          <p:cNvSpPr txBox="1">
            <a:spLocks noGrp="1"/>
          </p:cNvSpPr>
          <p:nvPr>
            <p:ph type="title"/>
          </p:nvPr>
        </p:nvSpPr>
        <p:spPr>
          <a:xfrm>
            <a:off x="0" y="0"/>
            <a:ext cx="3000000" cy="3000000"/>
          </a:xfrm>
          <a:prstGeom prst="rect">
            <a:avLst/>
          </a:prstGeom>
          <a:noFill/>
          <a:ln>
            <a:noFill/>
          </a:ln>
        </p:spPr>
        <p:txBody>
          <a:bodyPr spcFirstLastPara="1" wrap="square" lIns="0" tIns="0" rIns="0" bIns="0" anchor="t" anchorCtr="0">
            <a:noAutofit/>
          </a:bodyPr>
          <a:lstStyle>
            <a:lvl1pPr marR="0" lvl="0" algn="ctr" rtl="0">
              <a:spcBef>
                <a:spcPts val="0"/>
              </a:spcBef>
              <a:spcAft>
                <a:spcPts val="0"/>
              </a:spcAft>
              <a:buSzPts val="1400"/>
              <a:buNone/>
              <a:defRPr sz="6000" b="1" i="0" u="none" strike="noStrike" cap="none">
                <a:solidFill>
                  <a:srgbClr val="2F5897"/>
                </a:solidFill>
                <a:latin typeface="Times New Roman"/>
                <a:ea typeface="Times New Roman"/>
                <a:cs typeface="Times New Roman"/>
                <a:sym typeface="Times New Roman"/>
              </a:defRPr>
            </a:lvl1pPr>
            <a:lvl2pPr marR="0" lvl="1"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2pPr>
            <a:lvl3pPr marR="0" lvl="2"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3pPr>
            <a:lvl4pPr marR="0" lvl="3"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4pPr>
            <a:lvl5pPr marR="0" lvl="4"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5pPr>
            <a:lvl6pPr marR="0" lvl="5"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6pPr>
            <a:lvl7pPr marR="0" lvl="6"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7pPr>
            <a:lvl8pPr marR="0" lvl="7"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8pPr>
            <a:lvl9pPr marR="0" lvl="8" algn="ctr" rtl="0">
              <a:spcBef>
                <a:spcPts val="0"/>
              </a:spcBef>
              <a:spcAft>
                <a:spcPts val="0"/>
              </a:spcAft>
              <a:buSzPts val="1400"/>
              <a:buNone/>
              <a:defRPr sz="4400" b="1" i="0" u="none" strike="noStrike" cap="none">
                <a:solidFill>
                  <a:schemeClr val="dk1"/>
                </a:solidFill>
                <a:latin typeface="Cambria"/>
                <a:ea typeface="Cambria"/>
                <a:cs typeface="Cambria"/>
                <a:sym typeface="Cambria"/>
              </a:defRPr>
            </a:lvl9pPr>
          </a:lstStyle>
          <a:p>
            <a:endParaRPr/>
          </a:p>
        </p:txBody>
      </p:sp>
      <p:sp>
        <p:nvSpPr>
          <p:cNvPr id="303" name="Google Shape;303;p72"/>
          <p:cNvSpPr txBox="1">
            <a:spLocks noGrp="1"/>
          </p:cNvSpPr>
          <p:nvPr>
            <p:ph type="body" idx="1"/>
          </p:nvPr>
        </p:nvSpPr>
        <p:spPr>
          <a:xfrm>
            <a:off x="533400" y="1676336"/>
            <a:ext cx="3581400" cy="4432300"/>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4" name="Google Shape;304;p72"/>
          <p:cNvSpPr txBox="1">
            <a:spLocks noGrp="1"/>
          </p:cNvSpPr>
          <p:nvPr>
            <p:ph type="body" idx="2"/>
          </p:nvPr>
        </p:nvSpPr>
        <p:spPr>
          <a:xfrm>
            <a:off x="4876800" y="1676425"/>
            <a:ext cx="3505200" cy="4401185"/>
          </a:xfrm>
          <a:prstGeom prst="rect">
            <a:avLst/>
          </a:prstGeom>
          <a:noFill/>
          <a:ln>
            <a:noFill/>
          </a:ln>
        </p:spPr>
        <p:txBody>
          <a:bodyPr spcFirstLastPara="1" wrap="square" lIns="0" tIns="0" rIns="0" bIns="0" anchor="t" anchorCtr="0">
            <a:sp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mbria"/>
                <a:ea typeface="Cambria"/>
                <a:cs typeface="Cambria"/>
                <a:sym typeface="Cambria"/>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5" name="Google Shape;305;p72"/>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100"/>
              </a:spcBef>
              <a:spcAft>
                <a:spcPts val="0"/>
              </a:spcAft>
              <a:buSzPts val="1400"/>
              <a:buNone/>
              <a:defRPr sz="1200">
                <a:solidFill>
                  <a:srgbClr val="003366"/>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6" name="Google Shape;306;p72"/>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72"/>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8.xml"/><Relationship Id="rId1" Type="http://schemas.openxmlformats.org/officeDocument/2006/relationships/slideLayout" Target="../slideLayouts/slideLayout27.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9.xml"/><Relationship Id="rId1" Type="http://schemas.openxmlformats.org/officeDocument/2006/relationships/slideLayout" Target="../slideLayouts/slideLayout28.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0.xml"/><Relationship Id="rId1" Type="http://schemas.openxmlformats.org/officeDocument/2006/relationships/slideLayout" Target="../slideLayouts/slideLayout29.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1.xml"/><Relationship Id="rId1" Type="http://schemas.openxmlformats.org/officeDocument/2006/relationships/slideLayout" Target="../slideLayouts/slideLayout30.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2.xml"/><Relationship Id="rId1" Type="http://schemas.openxmlformats.org/officeDocument/2006/relationships/slideLayout" Target="../slideLayouts/slideLayout31.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3.xml"/><Relationship Id="rId1" Type="http://schemas.openxmlformats.org/officeDocument/2006/relationships/slideLayout" Target="../slideLayouts/slideLayout32.xml"/></Relationships>
</file>

<file path=ppt/slideMasters/_rels/slideMaster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4.xml"/><Relationship Id="rId1" Type="http://schemas.openxmlformats.org/officeDocument/2006/relationships/slideLayout" Target="../slideLayouts/slideLayout33.xml"/></Relationships>
</file>

<file path=ppt/slideMasters/_rels/slideMaster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15.xml"/><Relationship Id="rId1" Type="http://schemas.openxmlformats.org/officeDocument/2006/relationships/slideLayout" Target="../slideLayouts/slideLayout3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strike="noStrike" cap="none">
                <a:solidFill>
                  <a:schemeClr val="dk1"/>
                </a:solidFill>
                <a:latin typeface="Calibri"/>
                <a:ea typeface="Calibri"/>
                <a:cs typeface="Calibri"/>
                <a:sym typeface="Calibri"/>
              </a:rPr>
              <a:t>University Institute of Engineering (UIE)</a:t>
            </a:r>
            <a:endParaRPr/>
          </a:p>
        </p:txBody>
      </p:sp>
      <p:cxnSp>
        <p:nvCxnSpPr>
          <p:cNvPr id="11" name="Google Shape;11;p24"/>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12" name="Google Shape;12;p24"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13" name="Google Shape;13;p24"/>
          <p:cNvSpPr txBox="1"/>
          <p:nvPr/>
        </p:nvSpPr>
        <p:spPr>
          <a:xfrm>
            <a:off x="2805112" y="0"/>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strike="noStrike" cap="none">
                <a:solidFill>
                  <a:schemeClr val="dk1"/>
                </a:solidFill>
                <a:latin typeface="Calibri"/>
                <a:ea typeface="Calibri"/>
                <a:cs typeface="Calibri"/>
                <a:sym typeface="Calibri"/>
              </a:rPr>
              <a:t>Department of Computer Science and Engineering (CSE)</a:t>
            </a:r>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
        <p:nvSpPr>
          <p:cNvPr id="18" name="Google Shape;18;p26"/>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19" name="Google Shape;19;p26"/>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 name="Google Shape;20;p26"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1" name="Google Shape;21;p26"/>
          <p:cNvSpPr txBox="1"/>
          <p:nvPr/>
        </p:nvSpPr>
        <p:spPr>
          <a:xfrm>
            <a:off x="2805112" y="87312"/>
            <a:ext cx="61864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and Communication Engineering (CCE)</a:t>
            </a:r>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28"/>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7" name="Google Shape;27;p28"/>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 name="Google Shape;28;p28"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9" name="Google Shape;29;p28"/>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30" name="Google Shape;3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2" name="Google Shape;32;p28"/>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
        <p:cNvGrpSpPr/>
        <p:nvPr/>
      </p:nvGrpSpPr>
      <p:grpSpPr>
        <a:xfrm>
          <a:off x="0" y="0"/>
          <a:ext cx="0" cy="0"/>
          <a:chOff x="0" y="0"/>
          <a:chExt cx="0" cy="0"/>
        </a:xfrm>
      </p:grpSpPr>
      <p:sp>
        <p:nvSpPr>
          <p:cNvPr id="39" name="Google Shape;39;p30"/>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40" name="Google Shape;40;p30"/>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41" name="Google Shape;41;p30"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42" name="Google Shape;42;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4" name="Google Shape;44;p30"/>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
        <p:cNvGrpSpPr/>
        <p:nvPr/>
      </p:nvGrpSpPr>
      <p:grpSpPr>
        <a:xfrm>
          <a:off x="0" y="0"/>
          <a:ext cx="0" cy="0"/>
          <a:chOff x="0" y="0"/>
          <a:chExt cx="0" cy="0"/>
        </a:xfrm>
      </p:grpSpPr>
      <p:sp>
        <p:nvSpPr>
          <p:cNvPr id="50" name="Google Shape;50;p32"/>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51" name="Google Shape;51;p32"/>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52" name="Google Shape;52;p32"/>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53" name="Google Shape;53;p32" descr="https://encrypted-tbn3.gstatic.com/images?q=tbn:ANd9GcTyg3Gq4WoxkxO75aZWNEjYFvavmMfWdiMvs57jpDF8YRR3yCybqQ"/>
          <p:cNvPicPr preferRelativeResize="0"/>
          <p:nvPr/>
        </p:nvPicPr>
        <p:blipFill rotWithShape="1">
          <a:blip r:embed="rId2">
            <a:alphaModFix/>
          </a:blip>
          <a:srcRect/>
          <a:stretch/>
        </p:blipFill>
        <p:spPr>
          <a:xfrm>
            <a:off x="152400" y="152400"/>
            <a:ext cx="768350" cy="1219200"/>
          </a:xfrm>
          <a:prstGeom prst="rect">
            <a:avLst/>
          </a:prstGeom>
          <a:noFill/>
          <a:ln>
            <a:noFill/>
          </a:ln>
        </p:spPr>
      </p:pic>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
        <p:cNvGrpSpPr/>
        <p:nvPr/>
      </p:nvGrpSpPr>
      <p:grpSpPr>
        <a:xfrm>
          <a:off x="0" y="0"/>
          <a:ext cx="0" cy="0"/>
          <a:chOff x="0" y="0"/>
          <a:chExt cx="0" cy="0"/>
        </a:xfrm>
      </p:grpSpPr>
      <p:sp>
        <p:nvSpPr>
          <p:cNvPr id="55" name="Google Shape;55;p3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56" name="Google Shape;56;p3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7" name="Google Shape;5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9" name="Google Shape;5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1pPr>
            <a:lvl2pPr marL="0" marR="0" lvl="1"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2pPr>
            <a:lvl3pPr marL="0" marR="0" lvl="2"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3pPr>
            <a:lvl4pPr marL="0" marR="0" lvl="3"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4pPr>
            <a:lvl5pPr marL="0" marR="0" lvl="4"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5pPr>
            <a:lvl6pPr marL="0" marR="0" lvl="5"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6pPr>
            <a:lvl7pPr marL="0" marR="0" lvl="6"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7pPr>
            <a:lvl8pPr marL="0" marR="0" lvl="7"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8pPr>
            <a:lvl9pPr marL="0" marR="0" lvl="8" indent="0" algn="r" rtl="0">
              <a:lnSpc>
                <a:spcPct val="100000"/>
              </a:lnSpc>
              <a:spcBef>
                <a:spcPts val="0"/>
              </a:spcBef>
              <a:spcAft>
                <a:spcPts val="0"/>
              </a:spcAft>
              <a:buClr>
                <a:srgbClr val="898989"/>
              </a:buClr>
              <a:buSzPts val="1200"/>
              <a:buFont typeface="Arial"/>
              <a:buNone/>
              <a:defRPr sz="1200" b="0" i="0" u="none">
                <a:solidFill>
                  <a:srgbClr val="89898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
        <p:cNvGrpSpPr/>
        <p:nvPr/>
      </p:nvGrpSpPr>
      <p:grpSpPr>
        <a:xfrm>
          <a:off x="0" y="0"/>
          <a:ext cx="0" cy="0"/>
          <a:chOff x="0" y="0"/>
          <a:chExt cx="0" cy="0"/>
        </a:xfrm>
      </p:grpSpPr>
      <p:sp>
        <p:nvSpPr>
          <p:cNvPr id="130" name="Google Shape;130;p45"/>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31" name="Google Shape;131;p45"/>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2" name="Google Shape;13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a:solidFill>
                  <a:srgbClr val="898989"/>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3" name="Google Shape;13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4" name="Google Shape;13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sp>
        <p:nvSpPr>
          <p:cNvPr id="205" name="Google Shape;205;p5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06" name="Google Shape;206;p5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07" name="Google Shape;207;p5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08" name="Google Shape;208;p57"/>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09" name="Google Shape;209;p5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0" name="Google Shape;210;p5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11" name="Google Shape;211;p5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sp>
        <p:nvSpPr>
          <p:cNvPr id="219" name="Google Shape;219;p5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0" name="Google Shape;220;p5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1" name="Google Shape;221;p5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22" name="Google Shape;222;p59"/>
          <p:cNvSpPr txBox="1"/>
          <p:nvPr/>
        </p:nvSpPr>
        <p:spPr>
          <a:xfrm>
            <a:off x="3009900" y="0"/>
            <a:ext cx="6057900" cy="354012"/>
          </a:xfrm>
          <a:prstGeom prst="rect">
            <a:avLst/>
          </a:prstGeom>
          <a:solidFill>
            <a:srgbClr val="63252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700"/>
              <a:buFont typeface="Calibri"/>
              <a:buNone/>
            </a:pPr>
            <a:r>
              <a:rPr lang="en-US" sz="1700" b="1" i="0" u="none">
                <a:solidFill>
                  <a:schemeClr val="lt1"/>
                </a:solidFill>
                <a:latin typeface="Calibri"/>
                <a:ea typeface="Calibri"/>
                <a:cs typeface="Calibri"/>
                <a:sym typeface="Calibri"/>
              </a:rPr>
              <a:t>Department of Computer and Communicationq Engineering (CCE)</a:t>
            </a:r>
            <a:endParaRPr/>
          </a:p>
        </p:txBody>
      </p:sp>
    </p:spTree>
  </p:cSld>
  <p:clrMap bg1="lt1" tx1="dk1" bg2="dk2" tx2="lt2" accent1="accent1" accent2="accent2" accent3="accent3" accent4="accent4" accent5="accent5" accent6="accent6" hlink="hlink" folHlink="folHlink"/>
  <p:sldLayoutIdLst>
    <p:sldLayoutId id="214748368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61"/>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28" name="Google Shape;228;p61"/>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29" name="Google Shape;229;p61"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30" name="Google Shape;230;p61"/>
          <p:cNvSpPr txBox="1"/>
          <p:nvPr/>
        </p:nvSpPr>
        <p:spPr>
          <a:xfrm>
            <a:off x="2805112" y="87312"/>
            <a:ext cx="6338887" cy="369887"/>
          </a:xfrm>
          <a:prstGeom prst="rect">
            <a:avLst/>
          </a:prstGeom>
          <a:noFill/>
          <a:ln w="50800" cap="flat" cmpd="dbl">
            <a:solidFill>
              <a:srgbClr val="C00000"/>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Calibri"/>
              <a:buNone/>
            </a:pPr>
            <a:r>
              <a:rPr lang="en-US" sz="1800" b="0" i="0" u="none">
                <a:solidFill>
                  <a:schemeClr val="dk1"/>
                </a:solidFill>
                <a:latin typeface="Calibri"/>
                <a:ea typeface="Calibri"/>
                <a:cs typeface="Calibri"/>
                <a:sym typeface="Calibri"/>
              </a:rPr>
              <a:t>Department of Computer Science and Engineering (CSE)</a:t>
            </a:r>
            <a:endParaRPr/>
          </a:p>
        </p:txBody>
      </p:sp>
      <p:sp>
        <p:nvSpPr>
          <p:cNvPr id="231" name="Google Shape;231;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2" name="Google Shape;232;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33" name="Google Shape;233;p61"/>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8"/>
        <p:cNvGrpSpPr/>
        <p:nvPr/>
      </p:nvGrpSpPr>
      <p:grpSpPr>
        <a:xfrm>
          <a:off x="0" y="0"/>
          <a:ext cx="0" cy="0"/>
          <a:chOff x="0" y="0"/>
          <a:chExt cx="0" cy="0"/>
        </a:xfrm>
      </p:grpSpPr>
      <p:sp>
        <p:nvSpPr>
          <p:cNvPr id="239" name="Google Shape;239;p63"/>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40" name="Google Shape;240;p63"/>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41" name="Google Shape;241;p63"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42" name="Google Shape;242;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3" name="Google Shape;243;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44" name="Google Shape;244;p63"/>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65"/>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54" name="Google Shape;254;p65"/>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55" name="Google Shape;255;p65"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56" name="Google Shape;256;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7" name="Google Shape;257;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8" name="Google Shape;258;p65"/>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6"/>
        <p:cNvGrpSpPr/>
        <p:nvPr/>
      </p:nvGrpSpPr>
      <p:grpSpPr>
        <a:xfrm>
          <a:off x="0" y="0"/>
          <a:ext cx="0" cy="0"/>
          <a:chOff x="0" y="0"/>
          <a:chExt cx="0" cy="0"/>
        </a:xfrm>
      </p:grpSpPr>
      <p:sp>
        <p:nvSpPr>
          <p:cNvPr id="267" name="Google Shape;267;p67"/>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68" name="Google Shape;268;p67"/>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69" name="Google Shape;269;p67"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70" name="Google Shape;270;p6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1" name="Google Shape;271;p6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72" name="Google Shape;272;p67"/>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9"/>
        <p:cNvGrpSpPr/>
        <p:nvPr/>
      </p:nvGrpSpPr>
      <p:grpSpPr>
        <a:xfrm>
          <a:off x="0" y="0"/>
          <a:ext cx="0" cy="0"/>
          <a:chOff x="0" y="0"/>
          <a:chExt cx="0" cy="0"/>
        </a:xfrm>
      </p:grpSpPr>
      <p:sp>
        <p:nvSpPr>
          <p:cNvPr id="280" name="Google Shape;280;p69"/>
          <p:cNvSpPr txBox="1"/>
          <p:nvPr/>
        </p:nvSpPr>
        <p:spPr>
          <a:xfrm>
            <a:off x="0" y="6457950"/>
            <a:ext cx="9144000" cy="4000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000"/>
              <a:buFont typeface="Calibri"/>
              <a:buNone/>
            </a:pPr>
            <a:r>
              <a:rPr lang="en-US" sz="2000" b="1" i="0" u="none">
                <a:solidFill>
                  <a:schemeClr val="dk1"/>
                </a:solidFill>
                <a:latin typeface="Calibri"/>
                <a:ea typeface="Calibri"/>
                <a:cs typeface="Calibri"/>
                <a:sym typeface="Calibri"/>
              </a:rPr>
              <a:t>University Institute of Engineering (UIE)</a:t>
            </a:r>
            <a:endParaRPr/>
          </a:p>
        </p:txBody>
      </p:sp>
      <p:cxnSp>
        <p:nvCxnSpPr>
          <p:cNvPr id="281" name="Google Shape;281;p69"/>
          <p:cNvCxnSpPr/>
          <p:nvPr/>
        </p:nvCxnSpPr>
        <p:spPr>
          <a:xfrm>
            <a:off x="0" y="6400800"/>
            <a:ext cx="9144000" cy="0"/>
          </a:xfrm>
          <a:prstGeom prst="straightConnector1">
            <a:avLst/>
          </a:prstGeom>
          <a:noFill/>
          <a:ln w="88900" cap="flat" cmpd="thickThin">
            <a:solidFill>
              <a:srgbClr val="C00000"/>
            </a:solidFill>
            <a:prstDash val="solid"/>
            <a:miter lim="800000"/>
            <a:headEnd type="none" w="med" len="med"/>
            <a:tailEnd type="none" w="med" len="med"/>
          </a:ln>
        </p:spPr>
      </p:cxnSp>
      <p:pic>
        <p:nvPicPr>
          <p:cNvPr id="282" name="Google Shape;282;p69" descr="https://encrypted-tbn3.gstatic.com/images?q=tbn:ANd9GcTyg3Gq4WoxkxO75aZWNEjYFvavmMfWdiMvs57jpDF8YRR3yCybqQ"/>
          <p:cNvPicPr preferRelativeResize="0"/>
          <p:nvPr/>
        </p:nvPicPr>
        <p:blipFill rotWithShape="1">
          <a:blip r:embed="rId3">
            <a:alphaModFix/>
          </a:blip>
          <a:srcRect/>
          <a:stretch/>
        </p:blipFill>
        <p:spPr>
          <a:xfrm>
            <a:off x="152400" y="152400"/>
            <a:ext cx="768350" cy="1219200"/>
          </a:xfrm>
          <a:prstGeom prst="rect">
            <a:avLst/>
          </a:prstGeom>
          <a:noFill/>
          <a:ln>
            <a:noFill/>
          </a:ln>
        </p:spPr>
      </p:pic>
      <p:sp>
        <p:nvSpPr>
          <p:cNvPr id="283" name="Google Shape;283;p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4" name="Google Shape;284;p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5" name="Google Shape;285;p69"/>
          <p:cNvSpPr txBox="1">
            <a:spLocks noGrp="1"/>
          </p:cNvSpPr>
          <p:nvPr>
            <p:ph type="sldNum" idx="12"/>
          </p:nvPr>
        </p:nvSpPr>
        <p:spPr>
          <a:xfrm>
            <a:off x="7010400" y="6492875"/>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9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2"/>
        <p:cNvGrpSpPr/>
        <p:nvPr/>
      </p:nvGrpSpPr>
      <p:grpSpPr>
        <a:xfrm>
          <a:off x="0" y="0"/>
          <a:ext cx="0" cy="0"/>
          <a:chOff x="0" y="0"/>
          <a:chExt cx="0" cy="0"/>
        </a:xfrm>
      </p:grpSpPr>
      <p:sp>
        <p:nvSpPr>
          <p:cNvPr id="293" name="Google Shape;293;p71"/>
          <p:cNvSpPr txBox="1"/>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4" name="Google Shape;294;p71"/>
          <p:cNvSpPr txBox="1"/>
          <p:nvPr/>
        </p:nvSpPr>
        <p:spPr>
          <a:xfrm>
            <a:off x="8458200" y="6499225"/>
            <a:ext cx="84137" cy="84137"/>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5" name="Google Shape;295;p71"/>
          <p:cNvSpPr txBox="1"/>
          <p:nvPr/>
        </p:nvSpPr>
        <p:spPr>
          <a:xfrm>
            <a:off x="569912" y="6499225"/>
            <a:ext cx="84137" cy="8413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6" name="Google Shape;296;p71"/>
          <p:cNvSpPr txBox="1"/>
          <p:nvPr/>
        </p:nvSpPr>
        <p:spPr>
          <a:xfrm>
            <a:off x="585787" y="0"/>
            <a:ext cx="8128000" cy="74453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7" name="Google Shape;297;p71"/>
          <p:cNvSpPr txBox="1"/>
          <p:nvPr/>
        </p:nvSpPr>
        <p:spPr>
          <a:xfrm>
            <a:off x="2684462" y="446087"/>
            <a:ext cx="3773487" cy="1036637"/>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98" name="Google Shape;298;p71"/>
          <p:cNvSpPr txBox="1">
            <a:spLocks noGrp="1"/>
          </p:cNvSpPr>
          <p:nvPr>
            <p:ph type="ftr" idx="11"/>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100"/>
              </a:spcBef>
              <a:spcAft>
                <a:spcPts val="0"/>
              </a:spcAft>
              <a:buSzPts val="1400"/>
              <a:buNone/>
              <a:defRPr sz="1200" b="0" i="0" u="none">
                <a:solidFill>
                  <a:srgbClr val="003366"/>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9" name="Google Shape;299;p71"/>
          <p:cNvSpPr txBox="1">
            <a:spLocks noGrp="1"/>
          </p:cNvSpPr>
          <p:nvPr>
            <p:ph type="dt" idx="10"/>
          </p:nvPr>
        </p:nvSpPr>
        <p:spPr>
          <a:xfrm>
            <a:off x="0" y="0"/>
            <a:ext cx="0" cy="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SzPts val="1400"/>
              <a:buNone/>
              <a:defRPr sz="1800" b="0" i="0" u="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0" name="Google Shape;300;p71"/>
          <p:cNvSpPr txBox="1">
            <a:spLocks noGrp="1"/>
          </p:cNvSpPr>
          <p:nvPr>
            <p:ph type="sldNum" idx="12"/>
          </p:nvPr>
        </p:nvSpPr>
        <p:spPr>
          <a:xfrm>
            <a:off x="7010400" y="6492875"/>
            <a:ext cx="2133600" cy="3651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1200"/>
              <a:buFont typeface="Arial"/>
              <a:buNone/>
              <a:defRPr sz="1200" b="0" i="0" u="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9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www.amazon.in/s/ref=dp_byline_sr_book_1?ie=UTF8&amp;field-author=Asharaf+S.%3B&amp;search-alias=stripbooks" TargetMode="External"/><Relationship Id="rId7" Type="http://schemas.openxmlformats.org/officeDocument/2006/relationships/hyperlink" Target="https://bitcoin.org/bitcoin.pdf"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amazon.in/s/ref=dp_byline_sr_book_4?ie=UTF8&amp;field-author=Franklin+John&amp;search-alias=stripbooks" TargetMode="External"/><Relationship Id="rId5" Type="http://schemas.openxmlformats.org/officeDocument/2006/relationships/hyperlink" Target="https://www.amazon.in/s/ref=dp_byline_sr_book_3?ie=UTF8&amp;field-author=Adarsh+S.&amp;search-alias=stripbooks" TargetMode="External"/><Relationship Id="rId4" Type="http://schemas.openxmlformats.org/officeDocument/2006/relationships/hyperlink" Target="https://www.amazon.in/s/ref=dp_byline_sr_book_2?ie=UTF8&amp;field-author=Sivadas+Neelima&amp;search-alias=stripbooks"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
          <p:cNvSpPr txBox="1"/>
          <p:nvPr/>
        </p:nvSpPr>
        <p:spPr>
          <a:xfrm>
            <a:off x="-3175" y="5638800"/>
            <a:ext cx="9147175" cy="712787"/>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4" name="Google Shape;314;p1"/>
          <p:cNvSpPr txBox="1"/>
          <p:nvPr/>
        </p:nvSpPr>
        <p:spPr>
          <a:xfrm>
            <a:off x="227012" y="5902325"/>
            <a:ext cx="33337" cy="612775"/>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5" name="Google Shape;315;p1"/>
          <p:cNvSpPr txBox="1"/>
          <p:nvPr/>
        </p:nvSpPr>
        <p:spPr>
          <a:xfrm>
            <a:off x="6572250" y="6508750"/>
            <a:ext cx="20574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16" name="Google Shape;316;p1"/>
          <p:cNvSpPr/>
          <p:nvPr/>
        </p:nvSpPr>
        <p:spPr>
          <a:xfrm rot="10800000" flipH="1">
            <a:off x="7131050" y="5940425"/>
            <a:ext cx="968375" cy="1157287"/>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aphicFrame>
        <p:nvGraphicFramePr>
          <p:cNvPr id="317" name="Google Shape;317;p1"/>
          <p:cNvGraphicFramePr/>
          <p:nvPr/>
        </p:nvGraphicFramePr>
        <p:xfrm>
          <a:off x="0" y="2833687"/>
          <a:ext cx="2478087" cy="3148012"/>
        </p:xfrm>
        <a:graphic>
          <a:graphicData uri="http://schemas.openxmlformats.org/presentationml/2006/ole">
            <mc:AlternateContent xmlns:mc="http://schemas.openxmlformats.org/markup-compatibility/2006">
              <mc:Choice xmlns:v="urn:schemas-microsoft-com:vml" Requires="v">
                <p:oleObj r:id="rId3" imgW="2478087" imgH="3148012" progId="">
                  <p:embed/>
                </p:oleObj>
              </mc:Choice>
              <mc:Fallback>
                <p:oleObj r:id="rId3" imgW="2478087" imgH="3148012" progId="">
                  <p:embed/>
                  <p:pic>
                    <p:nvPicPr>
                      <p:cNvPr id="317" name="Google Shape;317;p1"/>
                      <p:cNvPicPr preferRelativeResize="0"/>
                      <p:nvPr/>
                    </p:nvPicPr>
                    <p:blipFill rotWithShape="1">
                      <a:blip r:embed="rId4">
                        <a:alphaModFix/>
                      </a:blip>
                      <a:srcRect/>
                      <a:stretch/>
                    </p:blipFill>
                    <p:spPr>
                      <a:xfrm>
                        <a:off x="0" y="2833687"/>
                        <a:ext cx="2478087" cy="3148012"/>
                      </a:xfrm>
                      <a:prstGeom prst="rect">
                        <a:avLst/>
                      </a:prstGeom>
                      <a:noFill/>
                      <a:ln>
                        <a:noFill/>
                      </a:ln>
                    </p:spPr>
                  </p:pic>
                </p:oleObj>
              </mc:Fallback>
            </mc:AlternateContent>
          </a:graphicData>
        </a:graphic>
      </p:graphicFrame>
      <p:sp>
        <p:nvSpPr>
          <p:cNvPr id="318" name="Google Shape;318;p1"/>
          <p:cNvSpPr/>
          <p:nvPr/>
        </p:nvSpPr>
        <p:spPr>
          <a:xfrm flipH="1">
            <a:off x="5284787" y="-65087"/>
            <a:ext cx="3859212" cy="5853112"/>
          </a:xfrm>
          <a:prstGeom prst="rtTriangle">
            <a:avLst/>
          </a:prstGeom>
          <a:solidFill>
            <a:srgbClr val="F2F2F2">
              <a:alpha val="16470"/>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nvGrpSpPr>
          <p:cNvPr id="319" name="Google Shape;319;p1"/>
          <p:cNvGrpSpPr/>
          <p:nvPr/>
        </p:nvGrpSpPr>
        <p:grpSpPr>
          <a:xfrm>
            <a:off x="1574800" y="2006600"/>
            <a:ext cx="5143500" cy="1600200"/>
            <a:chOff x="992" y="1264"/>
            <a:chExt cx="3240" cy="1008"/>
          </a:xfrm>
        </p:grpSpPr>
        <p:pic>
          <p:nvPicPr>
            <p:cNvPr id="320" name="Google Shape;320;p1"/>
            <p:cNvPicPr preferRelativeResize="0"/>
            <p:nvPr/>
          </p:nvPicPr>
          <p:blipFill rotWithShape="1">
            <a:blip r:embed="rId5">
              <a:alphaModFix/>
            </a:blip>
            <a:srcRect/>
            <a:stretch/>
          </p:blipFill>
          <p:spPr>
            <a:xfrm>
              <a:off x="992" y="1264"/>
              <a:ext cx="3240" cy="1008"/>
            </a:xfrm>
            <a:prstGeom prst="rect">
              <a:avLst/>
            </a:prstGeom>
            <a:noFill/>
            <a:ln>
              <a:noFill/>
            </a:ln>
          </p:spPr>
        </p:pic>
        <p:sp>
          <p:nvSpPr>
            <p:cNvPr id="321" name="Google Shape;321;p1"/>
            <p:cNvSpPr txBox="1"/>
            <p:nvPr/>
          </p:nvSpPr>
          <p:spPr>
            <a:xfrm>
              <a:off x="1003" y="1276"/>
              <a:ext cx="3227" cy="9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grpSp>
      <p:sp>
        <p:nvSpPr>
          <p:cNvPr id="322" name="Google Shape;322;p1"/>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3" name="Google Shape;323;p1"/>
          <p:cNvSpPr txBox="1"/>
          <p:nvPr/>
        </p:nvSpPr>
        <p:spPr>
          <a:xfrm>
            <a:off x="4154487" y="6019800"/>
            <a:ext cx="4702175" cy="36988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95959"/>
              </a:buClr>
              <a:buSzPts val="1800"/>
              <a:buFont typeface="Arial"/>
              <a:buNone/>
            </a:pPr>
            <a:r>
              <a:rPr lang="en-US" sz="1800" b="1" i="0" u="none">
                <a:solidFill>
                  <a:srgbClr val="595959"/>
                </a:solidFill>
                <a:latin typeface="Arial"/>
                <a:ea typeface="Arial"/>
                <a:cs typeface="Arial"/>
                <a:sym typeface="Arial"/>
              </a:rPr>
              <a:t>DISCOVER . </a:t>
            </a:r>
            <a:r>
              <a:rPr lang="en-US" sz="1800" b="1" i="0" u="none">
                <a:solidFill>
                  <a:srgbClr val="C00000"/>
                </a:solidFill>
                <a:latin typeface="Arial"/>
                <a:ea typeface="Arial"/>
                <a:cs typeface="Arial"/>
                <a:sym typeface="Arial"/>
              </a:rPr>
              <a:t>LEARN</a:t>
            </a:r>
            <a:r>
              <a:rPr lang="en-US" sz="1800" b="1" i="0" u="none">
                <a:solidFill>
                  <a:srgbClr val="595959"/>
                </a:solidFill>
                <a:latin typeface="Arial"/>
                <a:ea typeface="Arial"/>
                <a:cs typeface="Arial"/>
                <a:sym typeface="Arial"/>
              </a:rPr>
              <a:t> . EMPOWER</a:t>
            </a:r>
            <a:endParaRPr/>
          </a:p>
        </p:txBody>
      </p:sp>
      <p:sp>
        <p:nvSpPr>
          <p:cNvPr id="324" name="Google Shape;324;p1"/>
          <p:cNvSpPr txBox="1"/>
          <p:nvPr/>
        </p:nvSpPr>
        <p:spPr>
          <a:xfrm>
            <a:off x="5164137" y="6043612"/>
            <a:ext cx="34925" cy="36988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325" name="Google Shape;325;p1"/>
          <p:cNvSpPr txBox="1"/>
          <p:nvPr/>
        </p:nvSpPr>
        <p:spPr>
          <a:xfrm>
            <a:off x="533400" y="1477962"/>
            <a:ext cx="8096250" cy="4114419"/>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Disruptive Technologies-3</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(23CSH-203)</a:t>
            </a:r>
          </a:p>
          <a:p>
            <a:pPr marL="0" marR="0" lvl="0" indent="0" algn="l" rtl="0">
              <a:lnSpc>
                <a:spcPct val="100000"/>
              </a:lnSpc>
              <a:spcBef>
                <a:spcPts val="1120"/>
              </a:spcBef>
              <a:spcAft>
                <a:spcPts val="0"/>
              </a:spcAft>
              <a:buNone/>
            </a:pPr>
            <a:endParaRPr sz="3200" b="1" i="0" u="none" dirty="0">
              <a:solidFill>
                <a:srgbClr val="262626"/>
              </a:solidFill>
              <a:latin typeface="Times New Roman"/>
              <a:ea typeface="Times New Roman"/>
              <a:cs typeface="Times New Roman"/>
              <a:sym typeface="Times New Roman"/>
            </a:endParaRPr>
          </a:p>
        </p:txBody>
      </p:sp>
      <p:sp>
        <p:nvSpPr>
          <p:cNvPr id="326" name="Google Shape;326;p1"/>
          <p:cNvSpPr txBox="1"/>
          <p:nvPr/>
        </p:nvSpPr>
        <p:spPr>
          <a:xfrm>
            <a:off x="457200" y="5943600"/>
            <a:ext cx="41767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New Roman"/>
              <a:buNone/>
            </a:pPr>
            <a:r>
              <a:rPr lang="en-US" sz="2000" b="1" i="0" u="none" dirty="0">
                <a:solidFill>
                  <a:schemeClr val="dk1"/>
                </a:solidFill>
                <a:latin typeface="Times New Roman"/>
                <a:ea typeface="Times New Roman"/>
                <a:cs typeface="Times New Roman"/>
                <a:sym typeface="Times New Roman"/>
              </a:rPr>
              <a:t>Topic: </a:t>
            </a:r>
            <a:r>
              <a:rPr lang="en-US" sz="2000" b="1" dirty="0">
                <a:solidFill>
                  <a:schemeClr val="dk1"/>
                </a:solidFill>
                <a:latin typeface="Times New Roman"/>
                <a:ea typeface="Times New Roman"/>
                <a:cs typeface="Times New Roman"/>
                <a:sym typeface="Times New Roman"/>
              </a:rPr>
              <a:t>Blockchain</a:t>
            </a:r>
            <a:endParaRPr dirty="0"/>
          </a:p>
        </p:txBody>
      </p:sp>
      <p:pic>
        <p:nvPicPr>
          <p:cNvPr id="327" name="Google Shape;327;p1"/>
          <p:cNvPicPr preferRelativeResize="0"/>
          <p:nvPr/>
        </p:nvPicPr>
        <p:blipFill rotWithShape="1">
          <a:blip r:embed="rId6">
            <a:alphaModFix/>
          </a:blip>
          <a:srcRect/>
          <a:stretch/>
        </p:blipFill>
        <p:spPr>
          <a:xfrm>
            <a:off x="76200" y="76200"/>
            <a:ext cx="2613025"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
          <p:cNvSpPr txBox="1">
            <a:spLocks noGrp="1"/>
          </p:cNvSpPr>
          <p:nvPr>
            <p:ph type="title"/>
          </p:nvPr>
        </p:nvSpPr>
        <p:spPr>
          <a:xfrm>
            <a:off x="990600" y="10668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C00000"/>
              </a:buClr>
              <a:buSzPts val="2800"/>
              <a:buFont typeface="Cambria"/>
              <a:buNone/>
            </a:pPr>
            <a:r>
              <a:rPr lang="en-US" sz="2800" b="1" i="0" u="none" strike="noStrike" cap="none">
                <a:solidFill>
                  <a:srgbClr val="C00000"/>
                </a:solidFill>
                <a:latin typeface="Cambria"/>
                <a:ea typeface="Cambria"/>
                <a:cs typeface="Cambria"/>
                <a:sym typeface="Cambria"/>
              </a:rPr>
              <a:t>Learning Objectives &amp; Outcomes</a:t>
            </a:r>
            <a:endParaRPr/>
          </a:p>
        </p:txBody>
      </p:sp>
      <p:sp>
        <p:nvSpPr>
          <p:cNvPr id="339" name="Google Shape;339;p3"/>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p>
            <a:pPr marL="342900" marR="0" lvl="0" indent="-34290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ambria"/>
                <a:ea typeface="Cambria"/>
                <a:cs typeface="Cambria"/>
                <a:sym typeface="Cambria"/>
              </a:rPr>
              <a:t>Objective:</a:t>
            </a:r>
            <a:endParaRPr sz="2400" b="1"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To understand the meaning of cloud and cloud Computing</a:t>
            </a: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342900" algn="l" rtl="0">
              <a:lnSpc>
                <a:spcPct val="100000"/>
              </a:lnSpc>
              <a:spcBef>
                <a:spcPts val="480"/>
              </a:spcBef>
              <a:spcAft>
                <a:spcPts val="0"/>
              </a:spcAft>
              <a:buClr>
                <a:schemeClr val="dk1"/>
              </a:buClr>
              <a:buSzPts val="2400"/>
              <a:buFont typeface="Arial"/>
              <a:buNone/>
            </a:pPr>
            <a:r>
              <a:rPr lang="en-US" sz="2400" b="1" i="0" u="none" strike="noStrike" cap="none">
                <a:solidFill>
                  <a:schemeClr val="dk1"/>
                </a:solidFill>
                <a:latin typeface="Cambria"/>
                <a:ea typeface="Cambria"/>
                <a:cs typeface="Cambria"/>
                <a:sym typeface="Cambria"/>
              </a:rPr>
              <a:t>Outcome:</a:t>
            </a:r>
            <a:endParaRPr/>
          </a:p>
          <a:p>
            <a:pPr marL="342900" marR="0" lvl="0" indent="-342900" algn="l" rtl="0">
              <a:lnSpc>
                <a:spcPct val="100000"/>
              </a:lnSpc>
              <a:spcBef>
                <a:spcPts val="480"/>
              </a:spcBef>
              <a:spcAft>
                <a:spcPts val="0"/>
              </a:spcAft>
              <a:buClr>
                <a:schemeClr val="dk1"/>
              </a:buClr>
              <a:buSzPts val="2400"/>
              <a:buFont typeface="Arial"/>
              <a:buChar char="•"/>
            </a:pPr>
            <a:r>
              <a:rPr lang="en-US" sz="2400" b="0" i="0" u="none" strike="noStrike" cap="none">
                <a:solidFill>
                  <a:schemeClr val="dk1"/>
                </a:solidFill>
                <a:latin typeface="Cambria"/>
                <a:ea typeface="Cambria"/>
                <a:cs typeface="Cambria"/>
                <a:sym typeface="Cambria"/>
              </a:rPr>
              <a:t>Student will understand</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The meaning of cloud and cloud Computing</a:t>
            </a:r>
            <a:endParaRPr/>
          </a:p>
          <a:p>
            <a:pPr marL="342900" marR="0" lvl="0" indent="-342900" algn="l" rtl="0">
              <a:lnSpc>
                <a:spcPct val="100000"/>
              </a:lnSpc>
              <a:spcBef>
                <a:spcPts val="480"/>
              </a:spcBef>
              <a:spcAft>
                <a:spcPts val="0"/>
              </a:spcAft>
              <a:buClr>
                <a:schemeClr val="dk1"/>
              </a:buClr>
              <a:buSzPts val="2400"/>
              <a:buFont typeface="Noto Sans Symbols"/>
              <a:buChar char="✔"/>
            </a:pPr>
            <a:r>
              <a:rPr lang="en-US" sz="2400" b="0" i="0" u="none" strike="noStrike" cap="none">
                <a:solidFill>
                  <a:schemeClr val="dk1"/>
                </a:solidFill>
                <a:latin typeface="Cambria"/>
                <a:ea typeface="Cambria"/>
                <a:cs typeface="Cambria"/>
                <a:sym typeface="Cambria"/>
              </a:rPr>
              <a:t> How its works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
          <p:cNvSpPr txBox="1">
            <a:spLocks noGrp="1"/>
          </p:cNvSpPr>
          <p:nvPr>
            <p:ph type="ctrTitle"/>
          </p:nvPr>
        </p:nvSpPr>
        <p:spPr>
          <a:xfrm>
            <a:off x="762000" y="2133600"/>
            <a:ext cx="7772400" cy="1066799"/>
          </a:xfrm>
          <a:prstGeom prst="rect">
            <a:avLst/>
          </a:prstGeom>
          <a:noFill/>
          <a:ln w="19050" cap="sq" cmpd="thinThick">
            <a:solidFill>
              <a:schemeClr val="dk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r>
              <a:rPr lang="en-US" dirty="0">
                <a:solidFill>
                  <a:srgbClr val="FF0000"/>
                </a:solidFill>
                <a:latin typeface="Times New Roman"/>
                <a:ea typeface="Times New Roman"/>
                <a:cs typeface="Times New Roman"/>
                <a:sym typeface="Times New Roman"/>
              </a:rPr>
              <a:t>Blockchain </a:t>
            </a:r>
            <a:endParaRPr sz="4400" b="1" i="0" u="none" strike="noStrike" cap="none" dirty="0">
              <a:solidFill>
                <a:srgbClr val="FF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13"/>
          <p:cNvSpPr txBox="1">
            <a:spLocks noGrp="1"/>
          </p:cNvSpPr>
          <p:nvPr>
            <p:ph type="body" idx="1"/>
          </p:nvPr>
        </p:nvSpPr>
        <p:spPr>
          <a:xfrm>
            <a:off x="152400" y="1474477"/>
            <a:ext cx="8839200" cy="4756979"/>
          </a:xfrm>
          <a:prstGeom prst="rect">
            <a:avLst/>
          </a:prstGeom>
          <a:noFill/>
          <a:ln>
            <a:noFill/>
          </a:ln>
        </p:spPr>
        <p:txBody>
          <a:bodyPr spcFirstLastPara="1" wrap="square" lIns="91425" tIns="45700" rIns="91425" bIns="45700" anchor="t" anchorCtr="0">
            <a:normAutofit/>
          </a:bodyPr>
          <a:lstStyle/>
          <a:p>
            <a:pPr algn="just"/>
            <a:r>
              <a:rPr lang="en-IN" sz="24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Blockchain is the backbone Technology of Digital </a:t>
            </a:r>
            <a:r>
              <a:rPr lang="en-IN" sz="2400" b="0" i="0" u="none" strike="noStrike" dirty="0" err="1">
                <a:solidFill>
                  <a:srgbClr val="1D2125"/>
                </a:solidFill>
                <a:effectLst/>
                <a:highlight>
                  <a:srgbClr val="FFFFFF"/>
                </a:highlight>
                <a:latin typeface="Times New Roman" panose="02020603050405020304" pitchFamily="18" charset="0"/>
                <a:cs typeface="Times New Roman" panose="02020603050405020304" pitchFamily="18" charset="0"/>
              </a:rPr>
              <a:t>CryptoCurrency</a:t>
            </a:r>
            <a:r>
              <a:rPr lang="en-IN" sz="24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 </a:t>
            </a:r>
            <a:r>
              <a:rPr lang="en-IN" sz="2400" b="0" i="0" u="none" strike="noStrike" dirty="0" err="1">
                <a:solidFill>
                  <a:srgbClr val="1D2125"/>
                </a:solidFill>
                <a:effectLst/>
                <a:highlight>
                  <a:srgbClr val="FFFFFF"/>
                </a:highlight>
                <a:latin typeface="Times New Roman" panose="02020603050405020304" pitchFamily="18" charset="0"/>
                <a:cs typeface="Times New Roman" panose="02020603050405020304" pitchFamily="18" charset="0"/>
              </a:rPr>
              <a:t>BitCoin</a:t>
            </a:r>
            <a:r>
              <a:rPr lang="en-IN" sz="24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 </a:t>
            </a:r>
            <a:r>
              <a:rPr lang="en-IN" sz="2400" b="0" i="0" u="none" strike="noStrike" dirty="0" err="1">
                <a:solidFill>
                  <a:srgbClr val="1D2125"/>
                </a:solidFill>
                <a:effectLst/>
                <a:highlight>
                  <a:srgbClr val="FFFFFF"/>
                </a:highlight>
                <a:latin typeface="Times New Roman" panose="02020603050405020304" pitchFamily="18" charset="0"/>
                <a:cs typeface="Times New Roman" panose="02020603050405020304" pitchFamily="18" charset="0"/>
              </a:rPr>
              <a:t>Blockchaintechnology</a:t>
            </a:r>
            <a:r>
              <a:rPr lang="en-IN" sz="2400" b="0" i="0" u="none" strike="noStrike" dirty="0">
                <a:solidFill>
                  <a:srgbClr val="1D2125"/>
                </a:solidFill>
                <a:effectLst/>
                <a:highlight>
                  <a:srgbClr val="FFFFFF"/>
                </a:highlight>
                <a:latin typeface="Times New Roman" panose="02020603050405020304" pitchFamily="18" charset="0"/>
                <a:cs typeface="Times New Roman" panose="02020603050405020304" pitchFamily="18" charset="0"/>
              </a:rPr>
              <a:t> is a digital or ledger technology that evaluates the records and makes track of it in a peer-to-peer network.  Each transaction is verified by the majority of participants of the system. It contains every single record of each transaction. </a:t>
            </a:r>
            <a:br>
              <a:rPr lang="en-IN" sz="1600" dirty="0"/>
            </a:br>
            <a:r>
              <a:rPr lang="en-IN" sz="2000" b="1" i="0" u="none" strike="noStrike" dirty="0">
                <a:solidFill>
                  <a:srgbClr val="1D2125"/>
                </a:solidFill>
                <a:effectLst/>
                <a:latin typeface="Times New Roman" panose="02020603050405020304" pitchFamily="18" charset="0"/>
                <a:cs typeface="Times New Roman" panose="02020603050405020304" pitchFamily="18" charset="0"/>
              </a:rPr>
              <a:t>  </a:t>
            </a:r>
            <a:endParaRPr lang="en-IN" sz="2000" b="0" i="0" u="none" strike="noStrike" dirty="0">
              <a:solidFill>
                <a:srgbClr val="1D2125"/>
              </a:solidFill>
              <a:effectLst/>
              <a:latin typeface="Times New Roman" panose="02020603050405020304" pitchFamily="18" charset="0"/>
              <a:cs typeface="Times New Roman" panose="02020603050405020304" pitchFamily="18" charset="0"/>
            </a:endParaRPr>
          </a:p>
          <a:p>
            <a:pPr marL="342900" marR="0" lvl="0" indent="-342900" algn="just" rtl="0">
              <a:lnSpc>
                <a:spcPct val="80000"/>
              </a:lnSpc>
              <a:spcBef>
                <a:spcPts val="380"/>
              </a:spcBef>
              <a:spcAft>
                <a:spcPts val="0"/>
              </a:spcAft>
              <a:buClr>
                <a:schemeClr val="dk1"/>
              </a:buClr>
              <a:buSzPts val="1900"/>
              <a:buFont typeface="Arial"/>
              <a:buNone/>
            </a:pPr>
            <a:endParaRPr dirty="0"/>
          </a:p>
          <a:p>
            <a:pPr marL="342900" marR="0" lvl="0" indent="-342900" algn="l" rtl="0">
              <a:lnSpc>
                <a:spcPct val="80000"/>
              </a:lnSpc>
              <a:spcBef>
                <a:spcPts val="200"/>
              </a:spcBef>
              <a:spcAft>
                <a:spcPts val="0"/>
              </a:spcAft>
              <a:buClr>
                <a:schemeClr val="dk1"/>
              </a:buClr>
              <a:buSzPts val="1000"/>
              <a:buFont typeface="Arial"/>
              <a:buNone/>
            </a:pPr>
            <a:br>
              <a:rPr lang="en-US" sz="1000" b="0" i="0" u="none" dirty="0">
                <a:solidFill>
                  <a:schemeClr val="dk1"/>
                </a:solidFill>
                <a:latin typeface="Cambria"/>
                <a:ea typeface="Cambria"/>
                <a:cs typeface="Cambria"/>
                <a:sym typeface="Cambria"/>
              </a:rPr>
            </a:br>
            <a:endParaRPr dirty="0"/>
          </a:p>
        </p:txBody>
      </p:sp>
      <p:sp>
        <p:nvSpPr>
          <p:cNvPr id="403" name="Google Shape;403;p13"/>
          <p:cNvSpPr txBox="1">
            <a:spLocks noGrp="1"/>
          </p:cNvSpPr>
          <p:nvPr>
            <p:ph type="body" idx="1"/>
          </p:nvPr>
        </p:nvSpPr>
        <p:spPr>
          <a:xfrm>
            <a:off x="1066800" y="533400"/>
            <a:ext cx="7924800" cy="762000"/>
          </a:xfrm>
          <a:prstGeom prst="rect">
            <a:avLst/>
          </a:prstGeom>
          <a:solidFill>
            <a:schemeClr val="lt1"/>
          </a:solidFill>
          <a:ln>
            <a:noFill/>
          </a:ln>
        </p:spPr>
        <p:txBody>
          <a:bodyPr spcFirstLastPara="1" wrap="square" lIns="91425" tIns="45700" rIns="91425" bIns="45700" anchor="ctr" anchorCtr="0">
            <a:normAutofit/>
          </a:bodyPr>
          <a:lstStyle/>
          <a:p>
            <a:pPr marL="88900" indent="0" algn="ctr">
              <a:buNone/>
            </a:pPr>
            <a:r>
              <a:rPr lang="en-IN" sz="2000" b="1" i="0" u="none" strike="noStrike" dirty="0">
                <a:solidFill>
                  <a:srgbClr val="455A64"/>
                </a:solidFill>
                <a:effectLst/>
                <a:latin typeface="Poppins" pitchFamily="2" charset="77"/>
              </a:rPr>
              <a:t>Blockchain</a:t>
            </a:r>
            <a:endParaRPr lang="en-IN" sz="2000" b="0" i="0" u="none" strike="noStrike" dirty="0">
              <a:solidFill>
                <a:srgbClr val="455A64"/>
              </a:solidFill>
              <a:effectLst/>
              <a:latin typeface="Poppins" pitchFamily="2" charset="77"/>
            </a:endParaRPr>
          </a:p>
        </p:txBody>
      </p:sp>
      <p:sp>
        <p:nvSpPr>
          <p:cNvPr id="2" name="Rectangle 2">
            <a:extLst>
              <a:ext uri="{FF2B5EF4-FFF2-40B4-BE49-F238E27FC236}">
                <a16:creationId xmlns:a16="http://schemas.microsoft.com/office/drawing/2014/main" id="{FCD01094-B548-6A49-976C-08855F3C45EE}"/>
              </a:ext>
            </a:extLst>
          </p:cNvPr>
          <p:cNvSpPr>
            <a:spLocks noChangeArrowheads="1"/>
          </p:cNvSpPr>
          <p:nvPr/>
        </p:nvSpPr>
        <p:spPr bwMode="auto">
          <a:xfrm>
            <a:off x="272943" y="4114800"/>
            <a:ext cx="1027694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4"/>
          <p:cNvSpPr txBox="1">
            <a:spLocks noGrp="1"/>
          </p:cNvSpPr>
          <p:nvPr>
            <p:ph type="title"/>
          </p:nvPr>
        </p:nvSpPr>
        <p:spPr>
          <a:xfrm>
            <a:off x="1066800" y="812223"/>
            <a:ext cx="7848600" cy="382156"/>
          </a:xfrm>
          <a:prstGeom prst="rect">
            <a:avLst/>
          </a:prstGeom>
          <a:noFill/>
          <a:ln>
            <a:noFill/>
          </a:ln>
        </p:spPr>
        <p:txBody>
          <a:bodyPr spcFirstLastPara="1" wrap="square" lIns="0" tIns="12700" rIns="0" bIns="0" anchor="ctr" anchorCtr="0">
            <a:spAutoFit/>
          </a:bodyPr>
          <a:lstStyle/>
          <a:p>
            <a:r>
              <a:rPr lang="en-IN" sz="2400" b="0" i="0" u="none" strike="noStrike" dirty="0">
                <a:solidFill>
                  <a:srgbClr val="455A64"/>
                </a:solidFill>
                <a:effectLst/>
                <a:latin typeface="Poppins" pitchFamily="2" charset="77"/>
              </a:rPr>
              <a:t>Benefits of Blockchain Technology </a:t>
            </a:r>
          </a:p>
        </p:txBody>
      </p:sp>
      <p:sp>
        <p:nvSpPr>
          <p:cNvPr id="409" name="Google Shape;409;p14"/>
          <p:cNvSpPr txBox="1"/>
          <p:nvPr/>
        </p:nvSpPr>
        <p:spPr>
          <a:xfrm>
            <a:off x="8534400" y="6432550"/>
            <a:ext cx="242887" cy="212725"/>
          </a:xfrm>
          <a:prstGeom prst="rect">
            <a:avLst/>
          </a:prstGeom>
          <a:noFill/>
          <a:ln>
            <a:noFill/>
          </a:ln>
        </p:spPr>
        <p:txBody>
          <a:bodyPr spcFirstLastPara="1" wrap="square" lIns="0" tIns="13325" rIns="0" bIns="0" anchor="t" anchorCtr="0">
            <a:spAutoFit/>
          </a:bodyPr>
          <a:lstStyle/>
          <a:p>
            <a:pPr marL="38100" marR="0" lvl="0" indent="0" algn="l" rtl="0">
              <a:lnSpc>
                <a:spcPct val="100000"/>
              </a:lnSpc>
              <a:spcBef>
                <a:spcPts val="0"/>
              </a:spcBef>
              <a:spcAft>
                <a:spcPts val="0"/>
              </a:spcAft>
              <a:buClr>
                <a:srgbClr val="FFFFFF"/>
              </a:buClr>
              <a:buSzPts val="1200"/>
              <a:buFont typeface="Arial"/>
              <a:buNone/>
            </a:pPr>
            <a:r>
              <a:rPr lang="en-US" sz="1200" b="0" i="0" u="none">
                <a:solidFill>
                  <a:srgbClr val="FFFFFF"/>
                </a:solidFill>
                <a:latin typeface="Arial"/>
                <a:ea typeface="Arial"/>
                <a:cs typeface="Arial"/>
                <a:sym typeface="Arial"/>
              </a:rPr>
              <a:t>11</a:t>
            </a:r>
            <a:endParaRPr/>
          </a:p>
        </p:txBody>
      </p:sp>
      <p:sp>
        <p:nvSpPr>
          <p:cNvPr id="410" name="Google Shape;410;p14"/>
          <p:cNvSpPr txBox="1">
            <a:spLocks noGrp="1"/>
          </p:cNvSpPr>
          <p:nvPr>
            <p:ph type="body" idx="1"/>
          </p:nvPr>
        </p:nvSpPr>
        <p:spPr>
          <a:xfrm>
            <a:off x="304800" y="1752600"/>
            <a:ext cx="8610600" cy="4495800"/>
          </a:xfrm>
          <a:prstGeom prst="rect">
            <a:avLst/>
          </a:prstGeom>
          <a:noFill/>
          <a:ln>
            <a:noFill/>
          </a:ln>
        </p:spPr>
        <p:txBody>
          <a:bodyPr spcFirstLastPara="1" wrap="square" lIns="91425" tIns="45700" rIns="91425" bIns="45700" anchor="t" anchorCtr="0">
            <a:normAutofit/>
          </a:bodyPr>
          <a:lstStyle/>
          <a:p>
            <a:pPr marL="76200" indent="0" algn="just">
              <a:buNone/>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following are some of the benefits of blockchain technology:</a:t>
            </a:r>
          </a:p>
          <a:p>
            <a:pPr marL="76200" indent="0" algn="just">
              <a:buNone/>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1. Efficiency: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By simplifying these methods with blockchain, dealings can be achieved quickly and more efficiently.</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Efficiency only indicates that transactions once registered on the blockchain, can’t be modified or removed.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On the blockchain, all transactions are timely and date-wise noted, so there’s a permanent chronology.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Therefore, blockchain can be employed to track information over the short and long term, allowing a secure, trustworthy version of knowledge.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Blockchain is utilized to digitize genuine estate transactions to keep control of property headers.</a:t>
            </a:r>
          </a:p>
          <a:p>
            <a:pPr marL="342900" marR="0" lvl="0" indent="-203200" algn="l" rtl="0">
              <a:spcBef>
                <a:spcPts val="440"/>
              </a:spcBef>
              <a:spcAft>
                <a:spcPts val="0"/>
              </a:spcAft>
              <a:buClr>
                <a:schemeClr val="dk1"/>
              </a:buClr>
              <a:buSzPts val="2200"/>
              <a:buFont typeface="Arial"/>
              <a:buNone/>
            </a:pPr>
            <a:endParaRPr sz="2200" b="0" i="0" u="none" dirty="0">
              <a:solidFill>
                <a:schemeClr val="dk1"/>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6" name="Google Shape;416;p15"/>
          <p:cNvSpPr txBox="1">
            <a:spLocks noGrp="1"/>
          </p:cNvSpPr>
          <p:nvPr>
            <p:ph type="body" idx="1"/>
          </p:nvPr>
        </p:nvSpPr>
        <p:spPr>
          <a:xfrm>
            <a:off x="381000" y="1422400"/>
            <a:ext cx="8534400" cy="4826000"/>
          </a:xfrm>
          <a:prstGeom prst="rect">
            <a:avLst/>
          </a:prstGeom>
          <a:noFill/>
          <a:ln>
            <a:noFill/>
          </a:ln>
        </p:spPr>
        <p:txBody>
          <a:bodyPr spcFirstLastPara="1" wrap="square" lIns="91425" tIns="45700" rIns="91425" bIns="45700" anchor="t" anchorCtr="0">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2. Transparency: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Blockchain produces a track that establishes the origin of an investment at every step of its records. It is achievable to transfer data regarding origin directly with clients.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Transparency is one of the major difficulties in the IT world.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To enhance transparency, associations have attempted to execute more rules and protocols.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main goal of the blockchain is to make the business model transparent which includes transactions, wallets, etc.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So that no single individual can make the changes without knowing other participants in the business model. </a:t>
            </a:r>
            <a:endParaRPr sz="2000" b="0" i="0" u="none" dirty="0">
              <a:solidFill>
                <a:schemeClr val="dk1"/>
              </a:solidFill>
              <a:latin typeface="Times New Roman" panose="02020603050405020304" pitchFamily="18" charset="0"/>
              <a:cs typeface="Times New Roman" panose="02020603050405020304" pitchFamily="18" charset="0"/>
              <a:sym typeface="Cambria"/>
            </a:endParaRPr>
          </a:p>
        </p:txBody>
      </p:sp>
      <p:sp>
        <p:nvSpPr>
          <p:cNvPr id="2" name="TextBox 1">
            <a:extLst>
              <a:ext uri="{FF2B5EF4-FFF2-40B4-BE49-F238E27FC236}">
                <a16:creationId xmlns:a16="http://schemas.microsoft.com/office/drawing/2014/main" id="{C459B39F-4A70-72FA-8395-0BE174608CCD}"/>
              </a:ext>
            </a:extLst>
          </p:cNvPr>
          <p:cNvSpPr txBox="1"/>
          <p:nvPr/>
        </p:nvSpPr>
        <p:spPr>
          <a:xfrm>
            <a:off x="1484243" y="788670"/>
            <a:ext cx="6877879" cy="523220"/>
          </a:xfrm>
          <a:prstGeom prst="rect">
            <a:avLst/>
          </a:prstGeom>
          <a:noFill/>
        </p:spPr>
        <p:txBody>
          <a:bodyPr wrap="square" rtlCol="0">
            <a:spAutoFit/>
          </a:bodyPr>
          <a:lstStyle/>
          <a:p>
            <a:pPr algn="l"/>
            <a:r>
              <a:rPr lang="en-IN" sz="2800" b="0" i="0" u="none" strike="noStrike" dirty="0">
                <a:solidFill>
                  <a:srgbClr val="455A64"/>
                </a:solidFill>
                <a:effectLst/>
                <a:latin typeface="Poppins" pitchFamily="2" charset="77"/>
              </a:rPr>
              <a:t>Benefits of Blockchain Technology </a:t>
            </a:r>
            <a:endParaRPr lang="en-IN" sz="2800" b="0" i="0" u="none" strike="noStrike" dirty="0">
              <a:solidFill>
                <a:srgbClr val="455A6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6385F-9F4F-259F-17F4-671F55B72F3B}"/>
              </a:ext>
            </a:extLst>
          </p:cNvPr>
          <p:cNvSpPr>
            <a:spLocks noGrp="1"/>
          </p:cNvSpPr>
          <p:nvPr>
            <p:ph type="title"/>
          </p:nvPr>
        </p:nvSpPr>
        <p:spPr>
          <a:xfrm>
            <a:off x="990600" y="937260"/>
            <a:ext cx="7924800" cy="491490"/>
          </a:xfrm>
        </p:spPr>
        <p:txBody>
          <a:bodyPr/>
          <a:lstStyle/>
          <a:p>
            <a:r>
              <a:rPr lang="en-IN" sz="2400" b="0" i="0" u="none" strike="noStrike" dirty="0">
                <a:solidFill>
                  <a:srgbClr val="455A64"/>
                </a:solidFill>
                <a:effectLst/>
                <a:latin typeface="Poppins" pitchFamily="2" charset="77"/>
              </a:rPr>
              <a:t>Benefits of Blockchain Technology </a:t>
            </a:r>
            <a:endParaRPr lang="en-IN" sz="2400" b="0" i="0" u="none" strike="noStrike" dirty="0">
              <a:solidFill>
                <a:srgbClr val="455A64"/>
              </a:solidFill>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3ADF82C-19CB-DFE6-4308-332619799BB2}"/>
              </a:ext>
            </a:extLst>
          </p:cNvPr>
          <p:cNvSpPr>
            <a:spLocks noGrp="1"/>
          </p:cNvSpPr>
          <p:nvPr>
            <p:ph type="body" idx="1"/>
          </p:nvPr>
        </p:nvSpPr>
        <p:spPr>
          <a:xfrm>
            <a:off x="101600" y="1520190"/>
            <a:ext cx="8813800" cy="4728210"/>
          </a:xfrm>
        </p:spPr>
        <p:txBody>
          <a:bodyPr>
            <a:normAutofit/>
          </a:bodyPr>
          <a:lstStyle/>
          <a:p>
            <a:pPr algn="just">
              <a:buFont typeface="Arial" panose="020B0604020202020204" pitchFamily="34" charset="0"/>
              <a:buChar char="•"/>
            </a:pPr>
            <a:r>
              <a:rPr lang="en-IN" sz="2000" b="1" i="0" u="none" strike="noStrike" dirty="0">
                <a:solidFill>
                  <a:srgbClr val="1D2125"/>
                </a:solidFill>
                <a:effectLst/>
                <a:latin typeface="Times New Roman" panose="02020603050405020304" pitchFamily="18" charset="0"/>
                <a:cs typeface="Times New Roman" panose="02020603050405020304" pitchFamily="18" charset="0"/>
              </a:rPr>
              <a:t>3. Security: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By building a document that can’t be changed and is encrypted end to end, blockchain allows for preventing copying and unauthorized movement. Privacy problems can likewise be managed on blockchain by individual data and individual authorizations to maintain access.</a:t>
            </a:r>
          </a:p>
          <a:p>
            <a:pPr marL="742950" lvl="1" indent="-285750"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It focuses on the security part also as blockchain is mainly known for its security. </a:t>
            </a:r>
          </a:p>
          <a:p>
            <a:pPr marL="742950" lvl="1" indent="-285750"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The security is so tight that it is very difficult to hack the ledger and steal or manipulate the information because of using a consensus algorithm. </a:t>
            </a:r>
          </a:p>
          <a:p>
            <a:pPr marL="742950" lvl="1" indent="-285750"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Any trades that are ever registered require to be decided upon according to the agreement approach. </a:t>
            </a:r>
          </a:p>
          <a:p>
            <a:pPr marL="742950" lvl="1" indent="-285750" algn="just">
              <a:buFont typeface="Arial" panose="020B0604020202020204" pitchFamily="34" charset="0"/>
              <a:buChar char="•"/>
            </a:pPr>
            <a:r>
              <a:rPr lang="en-IN" b="0" i="0" u="none" strike="noStrike" dirty="0">
                <a:solidFill>
                  <a:srgbClr val="1D2125"/>
                </a:solidFill>
                <a:effectLst/>
                <a:latin typeface="Times New Roman" panose="02020603050405020304" pitchFamily="18" charset="0"/>
                <a:cs typeface="Times New Roman" panose="02020603050405020304" pitchFamily="18" charset="0"/>
              </a:rPr>
              <a:t>Furthermore, the individual transaction is encrypted and has a verified connection with the previous transactions with help of hashing algorithms. </a:t>
            </a:r>
          </a:p>
          <a:p>
            <a:pPr marL="76200" indent="0">
              <a:buNone/>
            </a:pPr>
            <a:endParaRPr lang="en-US" dirty="0"/>
          </a:p>
        </p:txBody>
      </p:sp>
    </p:spTree>
    <p:extLst>
      <p:ext uri="{BB962C8B-B14F-4D97-AF65-F5344CB8AC3E}">
        <p14:creationId xmlns:p14="http://schemas.microsoft.com/office/powerpoint/2010/main" val="301433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ABDBC8D-EFE2-4691-DBE6-66AD1FE5D989}"/>
              </a:ext>
            </a:extLst>
          </p:cNvPr>
          <p:cNvSpPr>
            <a:spLocks noGrp="1"/>
          </p:cNvSpPr>
          <p:nvPr>
            <p:ph type="body" idx="1"/>
          </p:nvPr>
        </p:nvSpPr>
        <p:spPr>
          <a:xfrm>
            <a:off x="169333" y="1371600"/>
            <a:ext cx="8746067" cy="4876800"/>
          </a:xfrm>
        </p:spPr>
        <p:txBody>
          <a:bodyPr>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Network distribution: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When users load data into the approach, users cannot modify it and it’s hard to eliminate. Even small differences can be traceable, tracked, and registered then distributed on the blockchain ledger for all to view.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also concentrates on educating or making awareness regarding network distribution.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This particular supplies, at the identical moment, various advantages, by having this network distributed, in the foremost example, no one holds the network, permitting various users to consistently have numerous documents of the exact data.</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Moreover, this feature causes it immune and distributed to any kind of defeat as the point that a node dies accomplishes not suggest generalized failures in the P2P network.</a:t>
            </a:r>
          </a:p>
          <a:p>
            <a:pPr marL="76200" indent="0">
              <a:buNone/>
            </a:pPr>
            <a:endParaRPr lang="en-US" dirty="0"/>
          </a:p>
        </p:txBody>
      </p:sp>
      <p:sp>
        <p:nvSpPr>
          <p:cNvPr id="2" name="TextBox 1">
            <a:extLst>
              <a:ext uri="{FF2B5EF4-FFF2-40B4-BE49-F238E27FC236}">
                <a16:creationId xmlns:a16="http://schemas.microsoft.com/office/drawing/2014/main" id="{D1DF35DA-E6D3-834C-34B8-2E9DF3606B85}"/>
              </a:ext>
            </a:extLst>
          </p:cNvPr>
          <p:cNvSpPr txBox="1"/>
          <p:nvPr/>
        </p:nvSpPr>
        <p:spPr>
          <a:xfrm>
            <a:off x="1060173" y="960120"/>
            <a:ext cx="6599583" cy="461665"/>
          </a:xfrm>
          <a:prstGeom prst="rect">
            <a:avLst/>
          </a:prstGeom>
          <a:noFill/>
        </p:spPr>
        <p:txBody>
          <a:bodyPr wrap="square" rtlCol="0">
            <a:spAutoFit/>
          </a:bodyPr>
          <a:lstStyle/>
          <a:p>
            <a:r>
              <a:rPr lang="en-IN" sz="2400" b="0" i="0" u="none" strike="noStrike" dirty="0">
                <a:solidFill>
                  <a:srgbClr val="455A64"/>
                </a:solidFill>
                <a:effectLst/>
                <a:latin typeface="Poppins" pitchFamily="2" charset="77"/>
              </a:rPr>
              <a:t>Benefits of Blockchain Technology </a:t>
            </a:r>
            <a:endParaRPr lang="en-US" sz="2400" dirty="0"/>
          </a:p>
        </p:txBody>
      </p:sp>
    </p:spTree>
    <p:extLst>
      <p:ext uri="{BB962C8B-B14F-4D97-AF65-F5344CB8AC3E}">
        <p14:creationId xmlns:p14="http://schemas.microsoft.com/office/powerpoint/2010/main" val="1673020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4002-388F-9907-CF49-13F1830AB9C3}"/>
              </a:ext>
            </a:extLst>
          </p:cNvPr>
          <p:cNvSpPr>
            <a:spLocks noGrp="1"/>
          </p:cNvSpPr>
          <p:nvPr>
            <p:ph type="title"/>
          </p:nvPr>
        </p:nvSpPr>
        <p:spPr/>
        <p:txBody>
          <a:bodyPr/>
          <a:lstStyle/>
          <a:p>
            <a:br>
              <a:rPr lang="en-IN" sz="2400" dirty="0">
                <a:solidFill>
                  <a:srgbClr val="455A64"/>
                </a:solidFill>
                <a:latin typeface="Times New Roman" panose="02020603050405020304" pitchFamily="18" charset="0"/>
                <a:cs typeface="Times New Roman" panose="02020603050405020304" pitchFamily="18" charset="0"/>
              </a:rPr>
            </a:br>
            <a:br>
              <a:rPr lang="en-IN" sz="2400" dirty="0">
                <a:solidFill>
                  <a:srgbClr val="455A64"/>
                </a:solidFill>
                <a:latin typeface="Times New Roman" panose="02020603050405020304" pitchFamily="18" charset="0"/>
                <a:cs typeface="Times New Roman" panose="02020603050405020304" pitchFamily="18" charset="0"/>
              </a:rPr>
            </a:br>
            <a:r>
              <a:rPr lang="en-IN" sz="2400" b="0" i="0" u="none" strike="noStrike" dirty="0">
                <a:solidFill>
                  <a:srgbClr val="455A64"/>
                </a:solidFill>
                <a:effectLst/>
                <a:latin typeface="Poppins" pitchFamily="2" charset="77"/>
              </a:rPr>
              <a:t>Benefits of Blockchain Technology </a:t>
            </a:r>
            <a:br>
              <a:rPr lang="en-US" sz="2400" dirty="0"/>
            </a:br>
            <a:br>
              <a:rPr lang="en-US" sz="2400" dirty="0"/>
            </a:br>
            <a:br>
              <a:rPr lang="en-US" sz="2400" b="0" i="0" u="none" strike="noStrike" dirty="0">
                <a:solidFill>
                  <a:srgbClr val="1D2125"/>
                </a:solidFill>
                <a:effectLst/>
                <a:latin typeface="Poppins" pitchFamily="2" charset="77"/>
              </a:rPr>
            </a:br>
            <a:br>
              <a:rPr lang="en-US" b="0" i="0" u="none" strike="noStrike" dirty="0">
                <a:solidFill>
                  <a:srgbClr val="1D2125"/>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47CFA959-52CC-9F33-F8BA-58CF5730BA1C}"/>
              </a:ext>
            </a:extLst>
          </p:cNvPr>
          <p:cNvSpPr>
            <a:spLocks noGrp="1"/>
          </p:cNvSpPr>
          <p:nvPr>
            <p:ph type="body" idx="1"/>
          </p:nvPr>
        </p:nvSpPr>
        <p:spPr>
          <a:xfrm>
            <a:off x="112889" y="1497330"/>
            <a:ext cx="8802511" cy="4751070"/>
          </a:xfrm>
        </p:spPr>
        <p:txBody>
          <a:bodyPr>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5. Traceability: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With blockchain technology, users can stop all of the errors. Users’ store chains can evolve totally translucent and manageable to track. It allows users to join, outline, and track goods or assets to confirm they are not misapplied or returned during the procedure.</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Participants or members can easily track their business model using blockchain.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This will increase the growth of businesses as they will get the fault at the right time.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In blockchain technology, the collection chain evolves better transparently than ever.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allows every group to trace the interests and confirm that it is not substituted or misapplied during the collection chain approach.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Associations can also create the most out of blockchain traceability by executing it in place.</a:t>
            </a:r>
          </a:p>
        </p:txBody>
      </p:sp>
    </p:spTree>
    <p:extLst>
      <p:ext uri="{BB962C8B-B14F-4D97-AF65-F5344CB8AC3E}">
        <p14:creationId xmlns:p14="http://schemas.microsoft.com/office/powerpoint/2010/main" val="1118141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8CAF1-D486-4B77-DB28-05A94ECD8918}"/>
              </a:ext>
            </a:extLst>
          </p:cNvPr>
          <p:cNvSpPr>
            <a:spLocks noGrp="1"/>
          </p:cNvSpPr>
          <p:nvPr>
            <p:ph type="title"/>
          </p:nvPr>
        </p:nvSpPr>
        <p:spPr/>
        <p:txBody>
          <a:bodyPr/>
          <a:lstStyle/>
          <a:p>
            <a:br>
              <a:rPr lang="en-IN" b="1" i="0" u="none" strike="noStrike" dirty="0">
                <a:solidFill>
                  <a:srgbClr val="455A64"/>
                </a:solidFill>
                <a:effectLst/>
                <a:latin typeface="Poppins" pitchFamily="2" charset="77"/>
              </a:rPr>
            </a:br>
            <a:r>
              <a:rPr lang="en-IN" sz="2400" b="0" i="0" u="none" strike="noStrike" dirty="0">
                <a:solidFill>
                  <a:srgbClr val="455A64"/>
                </a:solidFill>
                <a:effectLst/>
                <a:latin typeface="Poppins" pitchFamily="2" charset="77"/>
              </a:rPr>
              <a:t>Benefits of Blockchain Technology </a:t>
            </a:r>
            <a:br>
              <a:rPr lang="en-IN"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693852EC-4D85-E45F-E1BD-928A9F6BE25D}"/>
              </a:ext>
            </a:extLst>
          </p:cNvPr>
          <p:cNvSpPr>
            <a:spLocks noGrp="1"/>
          </p:cNvSpPr>
          <p:nvPr>
            <p:ph type="body" idx="1"/>
          </p:nvPr>
        </p:nvSpPr>
        <p:spPr>
          <a:xfrm>
            <a:off x="112889" y="1752600"/>
            <a:ext cx="8802511" cy="4495800"/>
          </a:xfrm>
        </p:spPr>
        <p:txBody>
          <a:bodyPr>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6. Reduced Costs: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delivers protected surroundings where encrypted enterprise transactions between customer and seller can transpire without the requirement for third groups to moderate.</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Associations desire to decrease costs and delay the funds into creating something unique or enhancing existing approaches.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By operating blockchain, associations can obtain at cheaper costs associated with third-party agents.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Blockchain includes no inherited centralized performer, there is no necessity to consume on any dealer charges.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Moreover, there is a minor exchange must when it comes to validating a trade.</a:t>
            </a:r>
          </a:p>
          <a:p>
            <a:pPr marL="76200" indent="0">
              <a:buNone/>
            </a:pPr>
            <a:endParaRPr lang="en-US" dirty="0"/>
          </a:p>
        </p:txBody>
      </p:sp>
    </p:spTree>
    <p:extLst>
      <p:ext uri="{BB962C8B-B14F-4D97-AF65-F5344CB8AC3E}">
        <p14:creationId xmlns:p14="http://schemas.microsoft.com/office/powerpoint/2010/main" val="3473927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B1E8E6-31DB-B7EE-41F4-746C4E2FF75F}"/>
              </a:ext>
            </a:extLst>
          </p:cNvPr>
          <p:cNvSpPr>
            <a:spLocks noGrp="1"/>
          </p:cNvSpPr>
          <p:nvPr>
            <p:ph type="body" idx="1"/>
          </p:nvPr>
        </p:nvSpPr>
        <p:spPr>
          <a:xfrm>
            <a:off x="169333" y="1320800"/>
            <a:ext cx="8746067" cy="5102578"/>
          </a:xfrm>
        </p:spPr>
        <p:txBody>
          <a:bodyPr>
            <a:normAutofit/>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7. Availability: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Parties of blockchain P2P networks can get shut down from </a:t>
            </a:r>
            <a:r>
              <a:rPr lang="en-IN" sz="2000" b="0" i="0" u="none" strike="noStrike" dirty="0" err="1">
                <a:solidFill>
                  <a:srgbClr val="1D2125"/>
                </a:solidFill>
                <a:effectLst/>
                <a:latin typeface="Times New Roman" panose="02020603050405020304" pitchFamily="18" charset="0"/>
                <a:cs typeface="Times New Roman" panose="02020603050405020304" pitchFamily="18" charset="0"/>
              </a:rPr>
              <a:t>analyzing</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 the shape and correcting it when union producers submit the condition of the design.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Higher availability, efficiency, confidentiality, and flexibility to adjust any desired solution model. </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data can be recovered by users from anywhere around the world.</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 availability is higher as productivity increases by using blockchain because it divides each section into each department so that every individual can focus on a particular task or work.</a:t>
            </a:r>
          </a:p>
          <a:p>
            <a:pPr marL="76200" indent="0">
              <a:buNone/>
            </a:pPr>
            <a:endParaRPr lang="en-US" dirty="0"/>
          </a:p>
        </p:txBody>
      </p:sp>
      <p:sp>
        <p:nvSpPr>
          <p:cNvPr id="2" name="TextBox 1">
            <a:extLst>
              <a:ext uri="{FF2B5EF4-FFF2-40B4-BE49-F238E27FC236}">
                <a16:creationId xmlns:a16="http://schemas.microsoft.com/office/drawing/2014/main" id="{A8E6F2FB-E918-3295-82AC-6C670D0C57FF}"/>
              </a:ext>
            </a:extLst>
          </p:cNvPr>
          <p:cNvSpPr txBox="1"/>
          <p:nvPr/>
        </p:nvSpPr>
        <p:spPr>
          <a:xfrm>
            <a:off x="525780" y="925830"/>
            <a:ext cx="8069580" cy="1046440"/>
          </a:xfrm>
          <a:prstGeom prst="rect">
            <a:avLst/>
          </a:prstGeom>
          <a:noFill/>
        </p:spPr>
        <p:txBody>
          <a:bodyPr wrap="square" rtlCol="0">
            <a:spAutoFit/>
          </a:bodyPr>
          <a:lstStyle/>
          <a:p>
            <a:pPr algn="ctr"/>
            <a:r>
              <a:rPr lang="en-IN" sz="2400" b="0" i="0" u="none" strike="noStrike" dirty="0">
                <a:solidFill>
                  <a:srgbClr val="455A64"/>
                </a:solidFill>
                <a:effectLst/>
                <a:latin typeface="Poppins" pitchFamily="2" charset="77"/>
              </a:rPr>
              <a:t>Benefits of Blockchain Technology </a:t>
            </a:r>
            <a:br>
              <a:rPr lang="en-IN" sz="4000" b="0" i="0" u="none" strike="noStrike" dirty="0">
                <a:solidFill>
                  <a:srgbClr val="455A64"/>
                </a:solidFill>
                <a:effectLst/>
                <a:latin typeface="Poppins" pitchFamily="2" charset="77"/>
              </a:rPr>
            </a:br>
            <a:br>
              <a:rPr lang="en-IN" sz="2400" b="0" i="0" u="none" strike="noStrike" dirty="0">
                <a:solidFill>
                  <a:srgbClr val="455A64"/>
                </a:solidFill>
                <a:effectLst/>
                <a:latin typeface="Poppins" pitchFamily="2" charset="77"/>
              </a:rPr>
            </a:br>
            <a:endParaRPr lang="en-US" dirty="0"/>
          </a:p>
        </p:txBody>
      </p:sp>
    </p:spTree>
    <p:extLst>
      <p:ext uri="{BB962C8B-B14F-4D97-AF65-F5344CB8AC3E}">
        <p14:creationId xmlns:p14="http://schemas.microsoft.com/office/powerpoint/2010/main" val="3376768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5F275-E7E7-9F62-8163-377188C7D801}"/>
              </a:ext>
            </a:extLst>
          </p:cNvPr>
          <p:cNvSpPr>
            <a:spLocks noGrp="1"/>
          </p:cNvSpPr>
          <p:nvPr>
            <p:ph type="title"/>
          </p:nvPr>
        </p:nvSpPr>
        <p:spPr/>
        <p:txBody>
          <a:bodyPr/>
          <a:lstStyle/>
          <a:p>
            <a:r>
              <a:rPr lang="en-IN" sz="2400" b="0" i="0" u="none" strike="noStrike" dirty="0">
                <a:solidFill>
                  <a:srgbClr val="455A64"/>
                </a:solidFill>
                <a:effectLst/>
                <a:latin typeface="Poppins" pitchFamily="2" charset="77"/>
              </a:rPr>
              <a:t>Benefits of Blockchain Technology </a:t>
            </a:r>
            <a:endParaRPr lang="en-US" dirty="0"/>
          </a:p>
        </p:txBody>
      </p:sp>
      <p:sp>
        <p:nvSpPr>
          <p:cNvPr id="3" name="Text Placeholder 2">
            <a:extLst>
              <a:ext uri="{FF2B5EF4-FFF2-40B4-BE49-F238E27FC236}">
                <a16:creationId xmlns:a16="http://schemas.microsoft.com/office/drawing/2014/main" id="{CB95FCF8-91D4-A67C-3345-5E0612C57035}"/>
              </a:ext>
            </a:extLst>
          </p:cNvPr>
          <p:cNvSpPr>
            <a:spLocks noGrp="1"/>
          </p:cNvSpPr>
          <p:nvPr>
            <p:ph type="body" idx="1"/>
          </p:nvPr>
        </p:nvSpPr>
        <p:spPr>
          <a:xfrm>
            <a:off x="159026" y="1752600"/>
            <a:ext cx="8756374" cy="4495800"/>
          </a:xfrm>
        </p:spPr>
        <p:txBody>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8. Automation: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Blockchain transactions can be automated with smart contracts. Using smart contracts increases efficiency and speeds up the process. Once the pre-specified conditions in smart contracts are met then the next steps in the transaction or process are automatically triggered.</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Smart contracts reduce human intervention.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They also reduce reliance on third parties to verify that the terms of the contracts have been met.</a:t>
            </a:r>
          </a:p>
          <a:p>
            <a:endParaRPr lang="en-US" dirty="0"/>
          </a:p>
        </p:txBody>
      </p:sp>
    </p:spTree>
    <p:extLst>
      <p:ext uri="{BB962C8B-B14F-4D97-AF65-F5344CB8AC3E}">
        <p14:creationId xmlns:p14="http://schemas.microsoft.com/office/powerpoint/2010/main" val="1830628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74799-E1BF-53BA-D128-1DA63C54B652}"/>
              </a:ext>
            </a:extLst>
          </p:cNvPr>
          <p:cNvSpPr>
            <a:spLocks noGrp="1"/>
          </p:cNvSpPr>
          <p:nvPr>
            <p:ph type="title"/>
          </p:nvPr>
        </p:nvSpPr>
        <p:spPr/>
        <p:txBody>
          <a:bodyPr/>
          <a:lstStyle/>
          <a:p>
            <a:r>
              <a:rPr lang="en-IN" sz="2400" b="0" i="0" u="none" strike="noStrike" dirty="0">
                <a:solidFill>
                  <a:srgbClr val="455A64"/>
                </a:solidFill>
                <a:effectLst/>
                <a:latin typeface="Poppins" pitchFamily="2" charset="77"/>
              </a:rPr>
              <a:t>Benefits of Blockchain Technology </a:t>
            </a:r>
            <a:endParaRPr lang="en-US" dirty="0"/>
          </a:p>
        </p:txBody>
      </p:sp>
      <p:sp>
        <p:nvSpPr>
          <p:cNvPr id="3" name="Text Placeholder 2">
            <a:extLst>
              <a:ext uri="{FF2B5EF4-FFF2-40B4-BE49-F238E27FC236}">
                <a16:creationId xmlns:a16="http://schemas.microsoft.com/office/drawing/2014/main" id="{117BC29C-54A5-37AC-378A-E05EE910BCDD}"/>
              </a:ext>
            </a:extLst>
          </p:cNvPr>
          <p:cNvSpPr>
            <a:spLocks noGrp="1"/>
          </p:cNvSpPr>
          <p:nvPr>
            <p:ph type="body" idx="1"/>
          </p:nvPr>
        </p:nvSpPr>
        <p:spPr>
          <a:xfrm>
            <a:off x="132522" y="1752600"/>
            <a:ext cx="8782878" cy="4495800"/>
          </a:xfrm>
        </p:spPr>
        <p:txBody>
          <a:bodyPr>
            <a:normAutofit lnSpcReduction="10000"/>
          </a:bodyPr>
          <a:lstStyle/>
          <a:p>
            <a:pPr algn="just"/>
            <a:r>
              <a:rPr lang="en-IN" sz="2200" b="1" i="0" u="none" strike="noStrike" dirty="0">
                <a:solidFill>
                  <a:srgbClr val="1D2125"/>
                </a:solidFill>
                <a:effectLst/>
                <a:latin typeface="Times New Roman" panose="02020603050405020304" pitchFamily="18" charset="0"/>
                <a:cs typeface="Times New Roman" panose="02020603050405020304" pitchFamily="18" charset="0"/>
              </a:rPr>
              <a:t>9. Decentralized: </a:t>
            </a:r>
            <a:r>
              <a:rPr lang="en-IN" sz="2200" b="0" i="0" u="none" strike="noStrike" dirty="0">
                <a:solidFill>
                  <a:srgbClr val="1D2125"/>
                </a:solidFill>
                <a:effectLst/>
                <a:latin typeface="Times New Roman" panose="02020603050405020304" pitchFamily="18" charset="0"/>
                <a:cs typeface="Times New Roman" panose="02020603050405020304" pitchFamily="18" charset="0"/>
              </a:rPr>
              <a:t>Blockchain technology is used to hold data in a decentralized manner so everyone can confirm the accuracy or correctness of the data by using nil understanding evidence via which one group confirms the correctness of data to another group without disclosing anything regarding the information.</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Decentralization indicates the transfer of control and judgment created from a centralized organization to a P2P network. </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These networks attempt to reduce the level of trust that partners should put in individually and prevent their ability over each other.</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It creates blockchain and enhances security for users.</a:t>
            </a:r>
          </a:p>
          <a:p>
            <a:pPr algn="just">
              <a:buFont typeface="Arial" panose="020B0604020202020204" pitchFamily="34" charset="0"/>
              <a:buChar char="•"/>
            </a:pPr>
            <a:r>
              <a:rPr lang="en-IN" sz="2200" b="0" i="0" u="none" strike="noStrike" dirty="0">
                <a:solidFill>
                  <a:srgbClr val="1D2125"/>
                </a:solidFill>
                <a:effectLst/>
                <a:latin typeface="Times New Roman" panose="02020603050405020304" pitchFamily="18" charset="0"/>
                <a:cs typeface="Times New Roman" panose="02020603050405020304" pitchFamily="18" charset="0"/>
              </a:rPr>
              <a:t>In demand for someone to meddle with the blockchain, they would have to meddle with all the units of the chain and hack every node, which is unthinkable.</a:t>
            </a:r>
          </a:p>
          <a:p>
            <a:endParaRPr lang="en-US" dirty="0"/>
          </a:p>
        </p:txBody>
      </p:sp>
    </p:spTree>
    <p:extLst>
      <p:ext uri="{BB962C8B-B14F-4D97-AF65-F5344CB8AC3E}">
        <p14:creationId xmlns:p14="http://schemas.microsoft.com/office/powerpoint/2010/main" val="3385663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C4BF9-9138-3D7A-3FC2-9B58B19D6E71}"/>
              </a:ext>
            </a:extLst>
          </p:cNvPr>
          <p:cNvSpPr>
            <a:spLocks noGrp="1"/>
          </p:cNvSpPr>
          <p:nvPr>
            <p:ph type="title"/>
          </p:nvPr>
        </p:nvSpPr>
        <p:spPr/>
        <p:txBody>
          <a:bodyPr/>
          <a:lstStyle/>
          <a:p>
            <a:r>
              <a:rPr lang="en-IN" sz="2400" b="0" i="0" u="none" strike="noStrike" dirty="0">
                <a:solidFill>
                  <a:srgbClr val="455A64"/>
                </a:solidFill>
                <a:effectLst/>
                <a:latin typeface="Poppins" pitchFamily="2" charset="77"/>
              </a:rPr>
              <a:t>Benefits of Blockchain Technology </a:t>
            </a:r>
            <a:endParaRPr lang="en-US" dirty="0"/>
          </a:p>
        </p:txBody>
      </p:sp>
      <p:sp>
        <p:nvSpPr>
          <p:cNvPr id="3" name="Text Placeholder 2">
            <a:extLst>
              <a:ext uri="{FF2B5EF4-FFF2-40B4-BE49-F238E27FC236}">
                <a16:creationId xmlns:a16="http://schemas.microsoft.com/office/drawing/2014/main" id="{C0C8244D-A582-C6AF-5FAE-B24B1E5963B4}"/>
              </a:ext>
            </a:extLst>
          </p:cNvPr>
          <p:cNvSpPr>
            <a:spLocks noGrp="1"/>
          </p:cNvSpPr>
          <p:nvPr>
            <p:ph type="body" idx="1"/>
          </p:nvPr>
        </p:nvSpPr>
        <p:spPr>
          <a:xfrm>
            <a:off x="106017" y="1752600"/>
            <a:ext cx="8809383" cy="4495800"/>
          </a:xfrm>
        </p:spPr>
        <p:txBody>
          <a:bodyPr/>
          <a:lstStyle/>
          <a:p>
            <a:pPr algn="just"/>
            <a:r>
              <a:rPr lang="en-IN" sz="2000" b="1" i="0" u="none" strike="noStrike" dirty="0">
                <a:solidFill>
                  <a:srgbClr val="1D2125"/>
                </a:solidFill>
                <a:effectLst/>
                <a:latin typeface="Times New Roman" panose="02020603050405020304" pitchFamily="18" charset="0"/>
                <a:cs typeface="Times New Roman" panose="02020603050405020304" pitchFamily="18" charset="0"/>
              </a:rPr>
              <a:t>10. Tokenization: </a:t>
            </a:r>
            <a:r>
              <a:rPr lang="en-IN" sz="2000" b="0" i="0" u="none" strike="noStrike" dirty="0">
                <a:solidFill>
                  <a:srgbClr val="1D2125"/>
                </a:solidFill>
                <a:effectLst/>
                <a:latin typeface="Times New Roman" panose="02020603050405020304" pitchFamily="18" charset="0"/>
                <a:cs typeface="Times New Roman" panose="02020603050405020304" pitchFamily="18" charset="0"/>
              </a:rPr>
              <a:t>Tokenization is the method where the worth of an asset including digital as well as material, is transformed into a digital token that is then registered on and then transmitted through blockchain.</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has been noticed with digital skills and other virtual support, but tokenization has more general applications that could smooth business transactions.</a:t>
            </a:r>
          </a:p>
          <a:p>
            <a:pPr algn="just">
              <a:buFont typeface="Arial" panose="020B0604020202020204" pitchFamily="34" charset="0"/>
              <a:buChar char="•"/>
            </a:pPr>
            <a:r>
              <a:rPr lang="en-IN" sz="2000" b="0" i="0" u="none" strike="noStrike" dirty="0">
                <a:solidFill>
                  <a:srgbClr val="1D2125"/>
                </a:solidFill>
                <a:effectLst/>
                <a:latin typeface="Times New Roman" panose="02020603050405020304" pitchFamily="18" charset="0"/>
                <a:cs typeface="Times New Roman" panose="02020603050405020304" pitchFamily="18" charset="0"/>
              </a:rPr>
              <a:t>It is used to change carbon emission fundings under carbon cap schedules.</a:t>
            </a:r>
          </a:p>
          <a:p>
            <a:endParaRPr lang="en-US" dirty="0"/>
          </a:p>
        </p:txBody>
      </p:sp>
    </p:spTree>
    <p:extLst>
      <p:ext uri="{BB962C8B-B14F-4D97-AF65-F5344CB8AC3E}">
        <p14:creationId xmlns:p14="http://schemas.microsoft.com/office/powerpoint/2010/main" val="1044754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AF51A-9EBD-DEAC-F06D-1D4A67244BA4}"/>
              </a:ext>
            </a:extLst>
          </p:cNvPr>
          <p:cNvSpPr>
            <a:spLocks noGrp="1"/>
          </p:cNvSpPr>
          <p:nvPr>
            <p:ph type="title"/>
          </p:nvPr>
        </p:nvSpPr>
        <p:spPr/>
        <p:txBody>
          <a:bodyPr/>
          <a:lstStyle/>
          <a:p>
            <a:r>
              <a:rPr lang="en-IN" b="1" i="0" u="none" strike="noStrike" dirty="0">
                <a:solidFill>
                  <a:srgbClr val="1D2125"/>
                </a:solidFill>
                <a:effectLst/>
                <a:latin typeface="Poppins" pitchFamily="2" charset="77"/>
              </a:rPr>
              <a:t>Advantages of Blockchain Technology:</a:t>
            </a:r>
            <a:endParaRPr lang="en-US" dirty="0"/>
          </a:p>
        </p:txBody>
      </p:sp>
      <p:sp>
        <p:nvSpPr>
          <p:cNvPr id="3" name="Text Placeholder 2">
            <a:extLst>
              <a:ext uri="{FF2B5EF4-FFF2-40B4-BE49-F238E27FC236}">
                <a16:creationId xmlns:a16="http://schemas.microsoft.com/office/drawing/2014/main" id="{18F3BCE3-E92A-EDD2-ED9B-79C99C769077}"/>
              </a:ext>
            </a:extLst>
          </p:cNvPr>
          <p:cNvSpPr>
            <a:spLocks noGrp="1"/>
          </p:cNvSpPr>
          <p:nvPr>
            <p:ph type="body" idx="1"/>
          </p:nvPr>
        </p:nvSpPr>
        <p:spPr>
          <a:xfrm>
            <a:off x="198783" y="1752600"/>
            <a:ext cx="8716617" cy="4495800"/>
          </a:xfrm>
        </p:spPr>
        <p:txBody>
          <a:bodyPr>
            <a:normAutofit fontScale="85000" lnSpcReduction="20000"/>
          </a:bodyPr>
          <a:lstStyle/>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Open: </a:t>
            </a:r>
            <a:r>
              <a:rPr lang="en-IN" b="0" i="0" u="none" strike="noStrike" dirty="0">
                <a:solidFill>
                  <a:srgbClr val="1D2125"/>
                </a:solidFill>
                <a:effectLst/>
                <a:latin typeface="Times New Roman" panose="02020603050405020304" pitchFamily="18" charset="0"/>
                <a:cs typeface="Times New Roman" panose="02020603050405020304" pitchFamily="18" charset="0"/>
              </a:rPr>
              <a:t>One of the major advantages of blockchain technology is that it is accessible to all means anyone can become a participant in the contribution to blockchain technology, one does not require any permission from anybody to join the distributed network.</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Verifiable: </a:t>
            </a:r>
            <a:r>
              <a:rPr lang="en-IN" b="0" i="0" u="none" strike="noStrike" dirty="0">
                <a:solidFill>
                  <a:srgbClr val="1D2125"/>
                </a:solidFill>
                <a:effectLst/>
                <a:latin typeface="Times New Roman" panose="02020603050405020304" pitchFamily="18" charset="0"/>
                <a:cs typeface="Times New Roman" panose="02020603050405020304" pitchFamily="18" charset="0"/>
              </a:rPr>
              <a:t>Blockchain technology is used to store information in a decentralized manner so everyone can verify the correctness of the information by using zero-knowledge proof through which one party proves the correctness of data to another party without revealing anything about data.</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Permanent: </a:t>
            </a:r>
            <a:r>
              <a:rPr lang="en-IN" b="0" i="0" u="none" strike="noStrike" dirty="0">
                <a:solidFill>
                  <a:srgbClr val="1D2125"/>
                </a:solidFill>
                <a:effectLst/>
                <a:latin typeface="Times New Roman" panose="02020603050405020304" pitchFamily="18" charset="0"/>
                <a:cs typeface="Times New Roman" panose="02020603050405020304" pitchFamily="18" charset="0"/>
              </a:rPr>
              <a:t>Records or information which is stored using blockchain technology is permanent means one needs not worry about losing the data because duplicate copies are stored at each local node as it is a decentralized network that has a number of trustworthy nodes.</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Free from Censorship:</a:t>
            </a:r>
            <a:r>
              <a:rPr lang="en-IN" b="0" i="0" u="none" strike="noStrike" dirty="0">
                <a:solidFill>
                  <a:srgbClr val="1D2125"/>
                </a:solidFill>
                <a:effectLst/>
                <a:latin typeface="Times New Roman" panose="02020603050405020304" pitchFamily="18" charset="0"/>
                <a:cs typeface="Times New Roman" panose="02020603050405020304" pitchFamily="18" charset="0"/>
              </a:rPr>
              <a:t> Blockchain technology is considered free from censorship as it does not have control of any single party rather it has the concept of trustworthy nodes for validation and consensus protocols that approve transactions by using smart contracts.</a:t>
            </a:r>
          </a:p>
          <a:p>
            <a:endParaRPr lang="en-US" dirty="0"/>
          </a:p>
        </p:txBody>
      </p:sp>
    </p:spTree>
    <p:extLst>
      <p:ext uri="{BB962C8B-B14F-4D97-AF65-F5344CB8AC3E}">
        <p14:creationId xmlns:p14="http://schemas.microsoft.com/office/powerpoint/2010/main" val="2019711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356B-0445-CC2E-8F1D-F0FD143BA87F}"/>
              </a:ext>
            </a:extLst>
          </p:cNvPr>
          <p:cNvSpPr>
            <a:spLocks noGrp="1"/>
          </p:cNvSpPr>
          <p:nvPr>
            <p:ph type="title"/>
          </p:nvPr>
        </p:nvSpPr>
        <p:spPr/>
        <p:txBody>
          <a:bodyPr/>
          <a:lstStyle/>
          <a:p>
            <a:r>
              <a:rPr lang="en-IN" b="1" i="0" u="none" strike="noStrike" dirty="0">
                <a:solidFill>
                  <a:srgbClr val="1D2125"/>
                </a:solidFill>
                <a:effectLst/>
                <a:latin typeface="Poppins" pitchFamily="2" charset="77"/>
              </a:rPr>
              <a:t>Advantages of Blockchain Technology:</a:t>
            </a:r>
            <a:endParaRPr lang="en-US" dirty="0"/>
          </a:p>
        </p:txBody>
      </p:sp>
      <p:sp>
        <p:nvSpPr>
          <p:cNvPr id="3" name="Text Placeholder 2">
            <a:extLst>
              <a:ext uri="{FF2B5EF4-FFF2-40B4-BE49-F238E27FC236}">
                <a16:creationId xmlns:a16="http://schemas.microsoft.com/office/drawing/2014/main" id="{0B43BD41-A78B-9399-54B7-DBC02E565B04}"/>
              </a:ext>
            </a:extLst>
          </p:cNvPr>
          <p:cNvSpPr>
            <a:spLocks noGrp="1"/>
          </p:cNvSpPr>
          <p:nvPr>
            <p:ph type="body" idx="1"/>
          </p:nvPr>
        </p:nvSpPr>
        <p:spPr>
          <a:xfrm>
            <a:off x="92765" y="1752600"/>
            <a:ext cx="8822635" cy="4495800"/>
          </a:xfrm>
        </p:spPr>
        <p:txBody>
          <a:bodyPr>
            <a:normAutofit fontScale="85000" lnSpcReduction="20000"/>
          </a:bodyPr>
          <a:lstStyle/>
          <a:p>
            <a:pPr marL="76200" indent="0" algn="l">
              <a:buNone/>
            </a:pPr>
            <a:endParaRPr lang="en-IN" b="0" i="0" u="none" strike="noStrike" dirty="0">
              <a:solidFill>
                <a:srgbClr val="1D2125"/>
              </a:solidFill>
              <a:effectLst/>
              <a:latin typeface="Poppins" pitchFamily="2" charset="77"/>
            </a:endParaRP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Tighter Security:</a:t>
            </a:r>
            <a:r>
              <a:rPr lang="en-IN" b="0" i="0" u="none" strike="noStrike" dirty="0">
                <a:solidFill>
                  <a:srgbClr val="1D2125"/>
                </a:solidFill>
                <a:effectLst/>
                <a:latin typeface="Times New Roman" panose="02020603050405020304" pitchFamily="18" charset="0"/>
                <a:cs typeface="Times New Roman" panose="02020603050405020304" pitchFamily="18" charset="0"/>
              </a:rPr>
              <a:t> Blockchain uses hashing techniques to store each transaction on a block that is connected to each other so it has tighter security. It uses SHA 256 hashing technique for storing transactions.</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Immutability:</a:t>
            </a:r>
            <a:r>
              <a:rPr lang="en-IN" b="0" i="0" u="none" strike="noStrike" dirty="0">
                <a:solidFill>
                  <a:srgbClr val="1D2125"/>
                </a:solidFill>
                <a:effectLst/>
                <a:latin typeface="Times New Roman" panose="02020603050405020304" pitchFamily="18" charset="0"/>
                <a:cs typeface="Times New Roman" panose="02020603050405020304" pitchFamily="18" charset="0"/>
              </a:rPr>
              <a:t> Data cannot be tampered with in blockchain technology due to its decentralized structure so any change will be reflected in all the nodes so one cannot do fraud here, hence it can be claimed that transactions are tamper-proof.</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Transparency</a:t>
            </a:r>
            <a:r>
              <a:rPr lang="en-IN" b="0" i="0" u="none" strike="noStrike" dirty="0">
                <a:solidFill>
                  <a:srgbClr val="1D2125"/>
                </a:solidFill>
                <a:effectLst/>
                <a:latin typeface="Times New Roman" panose="02020603050405020304" pitchFamily="18" charset="0"/>
                <a:cs typeface="Times New Roman" panose="02020603050405020304" pitchFamily="18" charset="0"/>
              </a:rPr>
              <a:t>: It makes histories of transactions transparent everywhere all the nodes in the network have a copy of the transaction in the network. If any changes occur in the transaction it is visible to the other nodes.</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Efficiency</a:t>
            </a:r>
            <a:r>
              <a:rPr lang="en-IN" b="0" i="0" u="none" strike="noStrike" dirty="0">
                <a:solidFill>
                  <a:srgbClr val="1D2125"/>
                </a:solidFill>
                <a:effectLst/>
                <a:latin typeface="Times New Roman" panose="02020603050405020304" pitchFamily="18" charset="0"/>
                <a:cs typeface="Times New Roman" panose="02020603050405020304" pitchFamily="18" charset="0"/>
              </a:rPr>
              <a:t>: Blockchain removes any third-party intervention between transactions and removes the mistake making the system efficient and faster. Settlement is made easier and smooth.</a:t>
            </a:r>
          </a:p>
          <a:p>
            <a:pPr algn="just">
              <a:buFont typeface="+mj-lt"/>
              <a:buAutoNum type="arabicPeriod"/>
            </a:pPr>
            <a:r>
              <a:rPr lang="en-IN" b="1" i="0" u="none" strike="noStrike" dirty="0">
                <a:solidFill>
                  <a:srgbClr val="1D2125"/>
                </a:solidFill>
                <a:effectLst/>
                <a:latin typeface="Times New Roman" panose="02020603050405020304" pitchFamily="18" charset="0"/>
                <a:cs typeface="Times New Roman" panose="02020603050405020304" pitchFamily="18" charset="0"/>
              </a:rPr>
              <a:t>Cost Reduction</a:t>
            </a:r>
            <a:r>
              <a:rPr lang="en-IN" b="0" i="0" u="none" strike="noStrike" dirty="0">
                <a:solidFill>
                  <a:srgbClr val="1D2125"/>
                </a:solidFill>
                <a:effectLst/>
                <a:latin typeface="Times New Roman" panose="02020603050405020304" pitchFamily="18" charset="0"/>
                <a:cs typeface="Times New Roman" panose="02020603050405020304" pitchFamily="18" charset="0"/>
              </a:rPr>
              <a:t>: As blockchain needs no third man it reduces the cost for the businesses and gives trust to the other partner.</a:t>
            </a:r>
          </a:p>
          <a:p>
            <a:endParaRPr lang="en-US" dirty="0"/>
          </a:p>
        </p:txBody>
      </p:sp>
    </p:spTree>
    <p:extLst>
      <p:ext uri="{BB962C8B-B14F-4D97-AF65-F5344CB8AC3E}">
        <p14:creationId xmlns:p14="http://schemas.microsoft.com/office/powerpoint/2010/main" val="2385764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90CAC-5831-2EA5-BDA9-8F96CA970C8D}"/>
              </a:ext>
            </a:extLst>
          </p:cNvPr>
          <p:cNvSpPr>
            <a:spLocks noGrp="1"/>
          </p:cNvSpPr>
          <p:nvPr>
            <p:ph type="title"/>
          </p:nvPr>
        </p:nvSpPr>
        <p:spPr/>
        <p:txBody>
          <a:bodyPr/>
          <a:lstStyle/>
          <a:p>
            <a:r>
              <a:rPr lang="en-IN" b="1" i="0" u="none" strike="noStrike" dirty="0">
                <a:solidFill>
                  <a:srgbClr val="1D2125"/>
                </a:solidFill>
                <a:effectLst/>
                <a:latin typeface="Poppins" pitchFamily="2" charset="77"/>
              </a:rPr>
              <a:t>Disadvantages of Blockchain Technology:</a:t>
            </a:r>
            <a:br>
              <a:rPr lang="en-IN" b="0" i="0" u="none" strike="noStrike" dirty="0">
                <a:solidFill>
                  <a:srgbClr val="1D2125"/>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3A1D191F-A1AC-B4F5-82DE-CEE5D707E4E6}"/>
              </a:ext>
            </a:extLst>
          </p:cNvPr>
          <p:cNvSpPr>
            <a:spLocks noGrp="1"/>
          </p:cNvSpPr>
          <p:nvPr>
            <p:ph type="body" idx="1"/>
          </p:nvPr>
        </p:nvSpPr>
        <p:spPr>
          <a:xfrm>
            <a:off x="106017" y="1484243"/>
            <a:ext cx="8809383" cy="4764157"/>
          </a:xfrm>
        </p:spPr>
        <p:txBody>
          <a:bodyPr>
            <a:normAutofit fontScale="47500" lnSpcReduction="20000"/>
          </a:bodyPr>
          <a:lstStyle/>
          <a:p>
            <a:pPr marL="76200" indent="0" algn="just">
              <a:buNone/>
            </a:pPr>
            <a:r>
              <a:rPr lang="en-IN" sz="3400" b="0" i="0" u="none" strike="noStrike" dirty="0">
                <a:solidFill>
                  <a:srgbClr val="1D2125"/>
                </a:solidFill>
                <a:effectLst/>
                <a:latin typeface="Times New Roman" panose="02020603050405020304" pitchFamily="18" charset="0"/>
                <a:cs typeface="Times New Roman" panose="02020603050405020304" pitchFamily="18" charset="0"/>
              </a:rPr>
              <a:t>This section discusses the disadvantages of blockchain technology.</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Scalability:</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It is one of the biggest drawbacks of blockchain technology as it cannot be scaled due to the fixed size of the block for storing information. The block size is 1 MB due to which it can hold only a couple of transactions on a single block.</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Immaturity: </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Blockchain is only a couple-year-old technology so people do not have much confidence in it, they are not ready to invest in it yet several applications of blockchain are doing great in different industries but still it needs to win the confidence of even more people to be recognized for its complete utilization.</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Energy Consuming: </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For verifying any transaction a lot of energy is used so it becomes a problem according to the survey it is considered that 0.3 percent of the world’s electricity had been used by 2018 in the verification of transactions done using blockchain technology.</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Time-Consuming: </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To add the next block in the chain miners need to compute nonce values many times so this is a time-consuming process and needs to be speed up to be used for industrial purposes.</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Legal Formalities: </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In some countries, the use of blockchain technology applications is banned like cryptocurrency due to some environmental issues they are not promoting to use blockchain technology in the commercial sector.</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Storage</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Blockchain databases are stored on all the nodes of the network creates an issue with the storage, increasing number of transactions will require more storage.</a:t>
            </a:r>
          </a:p>
          <a:p>
            <a:pPr algn="just">
              <a:buFont typeface="+mj-lt"/>
              <a:buAutoNum type="arabicPeriod"/>
            </a:pPr>
            <a:r>
              <a:rPr lang="en-IN" sz="3400" b="1" i="0" u="none" strike="noStrike" dirty="0">
                <a:solidFill>
                  <a:srgbClr val="1D2125"/>
                </a:solidFill>
                <a:effectLst/>
                <a:latin typeface="Times New Roman" panose="02020603050405020304" pitchFamily="18" charset="0"/>
                <a:cs typeface="Times New Roman" panose="02020603050405020304" pitchFamily="18" charset="0"/>
              </a:rPr>
              <a:t>Regulations</a:t>
            </a:r>
            <a:r>
              <a:rPr lang="en-IN" sz="3400" b="0" i="0" u="none" strike="noStrike" dirty="0">
                <a:solidFill>
                  <a:srgbClr val="1D2125"/>
                </a:solidFill>
                <a:effectLst/>
                <a:latin typeface="Times New Roman" panose="02020603050405020304" pitchFamily="18" charset="0"/>
                <a:cs typeface="Times New Roman" panose="02020603050405020304" pitchFamily="18" charset="0"/>
              </a:rPr>
              <a:t>: Blockchain faces challenges with some financial institution. Other aspects of technology will be required in order to adopt blockchain in wider aspect. </a:t>
            </a:r>
          </a:p>
          <a:p>
            <a:endParaRPr lang="en-US" dirty="0"/>
          </a:p>
        </p:txBody>
      </p:sp>
    </p:spTree>
    <p:extLst>
      <p:ext uri="{BB962C8B-B14F-4D97-AF65-F5344CB8AC3E}">
        <p14:creationId xmlns:p14="http://schemas.microsoft.com/office/powerpoint/2010/main" val="3642027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1020C-6D25-F921-316D-759EF21F4B2F}"/>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Best Applications of Blockchain in the Real World</a:t>
            </a:r>
            <a:br>
              <a:rPr lang="en-IN" b="0" i="0" u="none" strike="noStrike" dirty="0">
                <a:solidFill>
                  <a:srgbClr val="455A64"/>
                </a:solidFill>
                <a:effectLst/>
                <a:latin typeface="Poppins" pitchFamily="2" charset="77"/>
              </a:rPr>
            </a:br>
            <a:endParaRPr lang="en-US" dirty="0"/>
          </a:p>
        </p:txBody>
      </p:sp>
      <p:sp>
        <p:nvSpPr>
          <p:cNvPr id="3" name="Text Placeholder 2">
            <a:extLst>
              <a:ext uri="{FF2B5EF4-FFF2-40B4-BE49-F238E27FC236}">
                <a16:creationId xmlns:a16="http://schemas.microsoft.com/office/drawing/2014/main" id="{8EEC608B-86EC-E31F-9610-E25E76030211}"/>
              </a:ext>
            </a:extLst>
          </p:cNvPr>
          <p:cNvSpPr>
            <a:spLocks noGrp="1"/>
          </p:cNvSpPr>
          <p:nvPr>
            <p:ph type="body" idx="1"/>
          </p:nvPr>
        </p:nvSpPr>
        <p:spPr>
          <a:xfrm>
            <a:off x="106017" y="1752600"/>
            <a:ext cx="8809383" cy="4495800"/>
          </a:xfrm>
        </p:spPr>
        <p:txBody>
          <a:bodyPr>
            <a:normAutofit/>
          </a:bodyPr>
          <a:lstStyle/>
          <a:p>
            <a:pPr algn="just" rtl="0"/>
            <a:r>
              <a:rPr lang="en-IN" sz="2000" b="0" i="0" u="none" strike="noStrike" dirty="0">
                <a:solidFill>
                  <a:srgbClr val="1D2125"/>
                </a:solidFill>
                <a:effectLst/>
                <a:latin typeface="Times New Roman" panose="02020603050405020304" pitchFamily="18" charset="0"/>
                <a:cs typeface="Times New Roman" panose="02020603050405020304" pitchFamily="18" charset="0"/>
              </a:rPr>
              <a:t>Blockchain is distributed which means everyone obtains a copy in the case of a public blockchain. So it is very difficult to modify the data in the blockchain because to do so every copy in every location would need to be changed (which is near to impossible) This makes blockchain both distributed and immutable along with maintaining transparency as the data in the block is not hidden in any way. All of these properties of blockchain ensure the highest levels of security which is why it is so popular in many applications that prioritize security and transparency. Nowadays, Blockchain applications are used by companies on a large scale.</a:t>
            </a:r>
          </a:p>
          <a:p>
            <a:endParaRPr lang="en-US" dirty="0"/>
          </a:p>
        </p:txBody>
      </p:sp>
    </p:spTree>
    <p:extLst>
      <p:ext uri="{BB962C8B-B14F-4D97-AF65-F5344CB8AC3E}">
        <p14:creationId xmlns:p14="http://schemas.microsoft.com/office/powerpoint/2010/main" val="1603688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69533-EA81-9255-1942-1A54D1600F5D}"/>
              </a:ext>
            </a:extLst>
          </p:cNvPr>
          <p:cNvSpPr>
            <a:spLocks noGrp="1"/>
          </p:cNvSpPr>
          <p:nvPr>
            <p:ph type="title"/>
          </p:nvPr>
        </p:nvSpPr>
        <p:spPr/>
        <p:txBody>
          <a:bodyPr/>
          <a:lstStyle/>
          <a:p>
            <a:r>
              <a:rPr lang="en-IN" b="0" i="0" u="none" strike="noStrike" dirty="0">
                <a:solidFill>
                  <a:srgbClr val="455A64"/>
                </a:solidFill>
                <a:effectLst/>
                <a:latin typeface="Poppins" pitchFamily="2" charset="77"/>
              </a:rPr>
              <a:t>Best Applications of Blockchain in the Real World</a:t>
            </a:r>
            <a:endParaRPr lang="en-US" dirty="0"/>
          </a:p>
        </p:txBody>
      </p:sp>
      <p:sp>
        <p:nvSpPr>
          <p:cNvPr id="3" name="Text Placeholder 2">
            <a:extLst>
              <a:ext uri="{FF2B5EF4-FFF2-40B4-BE49-F238E27FC236}">
                <a16:creationId xmlns:a16="http://schemas.microsoft.com/office/drawing/2014/main" id="{41B9A99C-3C34-F933-D5DE-43BAC8DC5D5D}"/>
              </a:ext>
            </a:extLst>
          </p:cNvPr>
          <p:cNvSpPr>
            <a:spLocks noGrp="1"/>
          </p:cNvSpPr>
          <p:nvPr>
            <p:ph type="body" idx="1"/>
          </p:nvPr>
        </p:nvSpPr>
        <p:spPr/>
        <p:txBody>
          <a:bodyPr/>
          <a:lstStyle/>
          <a:p>
            <a:r>
              <a:rPr lang="en-IN" b="0" i="0" u="none" strike="noStrike" dirty="0">
                <a:solidFill>
                  <a:srgbClr val="455A64"/>
                </a:solidFill>
                <a:effectLst/>
                <a:latin typeface="Poppins" pitchFamily="2" charset="77"/>
              </a:rPr>
              <a:t>1. Asset Management</a:t>
            </a:r>
          </a:p>
          <a:p>
            <a:r>
              <a:rPr lang="en-IN" b="0" i="0" u="none" strike="noStrike" dirty="0">
                <a:solidFill>
                  <a:srgbClr val="455A64"/>
                </a:solidFill>
                <a:effectLst/>
                <a:latin typeface="Poppins" pitchFamily="2" charset="77"/>
              </a:rPr>
              <a:t>2. Cross-Border Payments</a:t>
            </a:r>
          </a:p>
          <a:p>
            <a:r>
              <a:rPr lang="en-IN" b="0" i="0" u="none" strike="noStrike" dirty="0">
                <a:solidFill>
                  <a:srgbClr val="455A64"/>
                </a:solidFill>
                <a:effectLst/>
                <a:latin typeface="Poppins" pitchFamily="2" charset="77"/>
              </a:rPr>
              <a:t>3. Healthcare</a:t>
            </a:r>
          </a:p>
          <a:p>
            <a:r>
              <a:rPr lang="en-IN" b="0" i="0" u="none" strike="noStrike" dirty="0">
                <a:solidFill>
                  <a:srgbClr val="455A64"/>
                </a:solidFill>
                <a:effectLst/>
                <a:latin typeface="Poppins" pitchFamily="2" charset="77"/>
              </a:rPr>
              <a:t>4. Cryptocurrency</a:t>
            </a:r>
          </a:p>
          <a:p>
            <a:r>
              <a:rPr lang="en-IN" b="0" i="0" u="none" strike="noStrike" dirty="0">
                <a:solidFill>
                  <a:srgbClr val="455A64"/>
                </a:solidFill>
                <a:effectLst/>
                <a:latin typeface="Poppins" pitchFamily="2" charset="77"/>
              </a:rPr>
              <a:t>5. Birth and Death Certificates</a:t>
            </a:r>
          </a:p>
          <a:p>
            <a:r>
              <a:rPr lang="en-IN" b="0" i="0" u="none" strike="noStrike" dirty="0">
                <a:solidFill>
                  <a:srgbClr val="455A64"/>
                </a:solidFill>
                <a:effectLst/>
                <a:latin typeface="Poppins" pitchFamily="2" charset="77"/>
              </a:rPr>
              <a:t>6. Online Identity Verification</a:t>
            </a:r>
          </a:p>
          <a:p>
            <a:r>
              <a:rPr lang="en-IN" b="0" i="0" u="none" strike="noStrike" dirty="0">
                <a:solidFill>
                  <a:srgbClr val="455A64"/>
                </a:solidFill>
                <a:effectLst/>
                <a:latin typeface="Poppins" pitchFamily="2" charset="77"/>
              </a:rPr>
              <a:t>7. Internet of Things</a:t>
            </a:r>
          </a:p>
          <a:p>
            <a:r>
              <a:rPr lang="en-IN" b="0" i="0" u="none" strike="noStrike" dirty="0">
                <a:solidFill>
                  <a:srgbClr val="455A64"/>
                </a:solidFill>
                <a:effectLst/>
                <a:latin typeface="Poppins" pitchFamily="2" charset="77"/>
              </a:rPr>
              <a:t>8. Copyright and Royalties</a:t>
            </a:r>
          </a:p>
          <a:p>
            <a:endParaRPr lang="en-US" dirty="0"/>
          </a:p>
        </p:txBody>
      </p:sp>
    </p:spTree>
    <p:extLst>
      <p:ext uri="{BB962C8B-B14F-4D97-AF65-F5344CB8AC3E}">
        <p14:creationId xmlns:p14="http://schemas.microsoft.com/office/powerpoint/2010/main" val="3804283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22"/>
          <p:cNvSpPr txBox="1">
            <a:spLocks noGrp="1"/>
          </p:cNvSpPr>
          <p:nvPr>
            <p:ph type="title"/>
          </p:nvPr>
        </p:nvSpPr>
        <p:spPr>
          <a:xfrm>
            <a:off x="977900" y="762000"/>
            <a:ext cx="7924800" cy="609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2400"/>
              <a:buFont typeface="Cambria"/>
              <a:buNone/>
            </a:pPr>
            <a:r>
              <a:rPr lang="en-US" sz="2400" b="1" i="0" u="none" strike="noStrike" cap="none">
                <a:solidFill>
                  <a:srgbClr val="FF0000"/>
                </a:solidFill>
                <a:latin typeface="Cambria"/>
                <a:ea typeface="Cambria"/>
                <a:cs typeface="Cambria"/>
                <a:sym typeface="Cambria"/>
              </a:rPr>
              <a:t>References</a:t>
            </a:r>
            <a:endParaRPr sz="2400" b="1" i="0" u="none" strike="noStrike" cap="none">
              <a:solidFill>
                <a:srgbClr val="FF0000"/>
              </a:solidFill>
              <a:latin typeface="Cambria"/>
              <a:ea typeface="Cambria"/>
              <a:cs typeface="Cambria"/>
              <a:sym typeface="Cambria"/>
            </a:endParaRPr>
          </a:p>
        </p:txBody>
      </p:sp>
      <p:sp>
        <p:nvSpPr>
          <p:cNvPr id="458" name="Google Shape;458;p22"/>
          <p:cNvSpPr txBox="1">
            <a:spLocks noGrp="1"/>
          </p:cNvSpPr>
          <p:nvPr>
            <p:ph type="body" idx="1"/>
          </p:nvPr>
        </p:nvSpPr>
        <p:spPr>
          <a:xfrm>
            <a:off x="265043" y="1577008"/>
            <a:ext cx="8485557" cy="399889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2400"/>
              <a:buNone/>
            </a:pPr>
            <a:r>
              <a:rPr lang="en-US" sz="2000" b="1" i="0" u="none" dirty="0">
                <a:solidFill>
                  <a:schemeClr val="dk1"/>
                </a:solidFill>
                <a:latin typeface="Times New Roman" panose="02020603050405020304" pitchFamily="18" charset="0"/>
                <a:cs typeface="Times New Roman" panose="02020603050405020304" pitchFamily="18" charset="0"/>
                <a:sym typeface="Cambria"/>
              </a:rPr>
              <a:t>Text books:</a:t>
            </a:r>
            <a:endParaRPr sz="2000" b="0" i="0" u="none" dirty="0">
              <a:solidFill>
                <a:schemeClr val="dk1"/>
              </a:solidFill>
              <a:latin typeface="Times New Roman" panose="02020603050405020304" pitchFamily="18" charset="0"/>
              <a:cs typeface="Times New Roman" panose="02020603050405020304" pitchFamily="18" charset="0"/>
              <a:sym typeface="Cambria"/>
            </a:endParaRPr>
          </a:p>
          <a:p>
            <a:pPr algn="l"/>
            <a:r>
              <a:rPr lang="en-IN" sz="2000" b="1" i="0" u="none" strike="noStrike" dirty="0">
                <a:solidFill>
                  <a:srgbClr val="0F1111"/>
                </a:solidFill>
                <a:effectLst/>
                <a:latin typeface="Times New Roman" panose="02020603050405020304" pitchFamily="18" charset="0"/>
                <a:cs typeface="Times New Roman" panose="02020603050405020304" pitchFamily="18" charset="0"/>
              </a:rPr>
              <a:t>Blockchain Technology: Algorithms and Applications </a:t>
            </a:r>
            <a:r>
              <a:rPr lang="en-IN" sz="2000" b="1" i="0" u="none" strike="noStrike" dirty="0">
                <a:solidFill>
                  <a:srgbClr val="565959"/>
                </a:solidFill>
                <a:effectLst/>
                <a:latin typeface="Times New Roman" panose="02020603050405020304" pitchFamily="18" charset="0"/>
                <a:cs typeface="Times New Roman" panose="02020603050405020304" pitchFamily="18" charset="0"/>
              </a:rPr>
              <a:t>Paperback – 6 December 2023 </a:t>
            </a:r>
            <a:r>
              <a:rPr lang="en-IN" sz="2000" b="0" i="0" u="none" strike="noStrike" dirty="0">
                <a:solidFill>
                  <a:srgbClr val="0F1111"/>
                </a:solidFill>
                <a:effectLst/>
                <a:latin typeface="Times New Roman" panose="02020603050405020304" pitchFamily="18" charset="0"/>
                <a:cs typeface="Times New Roman" panose="02020603050405020304" pitchFamily="18" charset="0"/>
              </a:rPr>
              <a:t> </a:t>
            </a:r>
            <a:r>
              <a:rPr lang="en-IN" sz="2000" i="0" strike="noStrike" dirty="0">
                <a:solidFill>
                  <a:schemeClr val="tx1"/>
                </a:solidFill>
                <a:effectLst/>
                <a:latin typeface="Times New Roman" panose="02020603050405020304" pitchFamily="18" charset="0"/>
                <a:cs typeface="Times New Roman" panose="02020603050405020304" pitchFamily="18" charset="0"/>
              </a:rPr>
              <a:t>by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Asharaf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err="1">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Sivada</a:t>
            </a:r>
            <a:r>
              <a:rPr lang="en-IN" sz="2000" i="0" strike="noStrike" dirty="0" err="1">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Neelima</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Adarsh S.</a:t>
            </a:r>
            <a:r>
              <a:rPr lang="en-IN" sz="2000" i="0" strike="noStrike" dirty="0">
                <a:solidFill>
                  <a:schemeClr val="tx1"/>
                </a:solidFill>
                <a:effectLst/>
                <a:latin typeface="Times New Roman" panose="02020603050405020304" pitchFamily="18" charset="0"/>
                <a:cs typeface="Times New Roman" panose="02020603050405020304" pitchFamily="18" charset="0"/>
              </a:rPr>
              <a:t>  (Author), </a:t>
            </a:r>
            <a:r>
              <a:rPr lang="en-IN" sz="2000" i="0" strike="noStrike" dirty="0">
                <a:solidFill>
                  <a:schemeClr val="tx1"/>
                </a:solidFill>
                <a:effectLst/>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Franklin John</a:t>
            </a:r>
            <a:r>
              <a:rPr lang="en-IN" sz="2000" i="0" strike="noStrike" dirty="0">
                <a:solidFill>
                  <a:schemeClr val="tx1"/>
                </a:solidFill>
                <a:effectLst/>
                <a:latin typeface="Times New Roman" panose="02020603050405020304" pitchFamily="18" charset="0"/>
                <a:cs typeface="Times New Roman" panose="02020603050405020304" pitchFamily="18" charset="0"/>
              </a:rPr>
              <a:t>  (Author)</a:t>
            </a:r>
          </a:p>
          <a:p>
            <a:pPr algn="l"/>
            <a:r>
              <a:rPr lang="en-IN" sz="2000" b="0" i="0" u="none" strike="noStrike" dirty="0">
                <a:solidFill>
                  <a:srgbClr val="202124"/>
                </a:solidFill>
                <a:effectLst/>
                <a:latin typeface="Times New Roman" panose="02020603050405020304" pitchFamily="18" charset="0"/>
                <a:cs typeface="Times New Roman" panose="02020603050405020304" pitchFamily="18" charset="0"/>
              </a:rPr>
              <a:t>Blockchain Basics: A Non-Technical Introduction in 25 Steps</a:t>
            </a:r>
          </a:p>
          <a:p>
            <a:pPr marL="76200" indent="0" algn="l">
              <a:buNone/>
            </a:pPr>
            <a:r>
              <a:rPr lang="en-IN" sz="2000" b="0" i="0" u="none" strike="noStrike" dirty="0">
                <a:solidFill>
                  <a:srgbClr val="202124"/>
                </a:solidFill>
                <a:effectLst/>
                <a:latin typeface="Times New Roman" panose="02020603050405020304" pitchFamily="18" charset="0"/>
                <a:cs typeface="Times New Roman" panose="02020603050405020304" pitchFamily="18" charset="0"/>
              </a:rPr>
              <a:t>        Book by Daniel Drescher</a:t>
            </a:r>
          </a:p>
          <a:p>
            <a:pPr marL="0" lvl="0" indent="0" algn="l" rtl="0">
              <a:lnSpc>
                <a:spcPct val="100000"/>
              </a:lnSpc>
              <a:spcBef>
                <a:spcPts val="480"/>
              </a:spcBef>
              <a:spcAft>
                <a:spcPts val="0"/>
              </a:spcAft>
              <a:buClr>
                <a:schemeClr val="dk1"/>
              </a:buClr>
              <a:buSzPts val="2400"/>
              <a:buNone/>
            </a:pPr>
            <a:endParaRPr sz="2400" b="1" i="0" u="none" dirty="0">
              <a:solidFill>
                <a:schemeClr val="dk1"/>
              </a:solidFill>
              <a:latin typeface="Cambria"/>
              <a:ea typeface="Cambria"/>
              <a:cs typeface="Cambria"/>
              <a:sym typeface="Cambria"/>
            </a:endParaRPr>
          </a:p>
          <a:p>
            <a:pPr marL="0" lvl="0" indent="0" algn="l" rtl="0">
              <a:lnSpc>
                <a:spcPct val="100000"/>
              </a:lnSpc>
              <a:spcBef>
                <a:spcPts val="480"/>
              </a:spcBef>
              <a:spcAft>
                <a:spcPts val="0"/>
              </a:spcAft>
              <a:buClr>
                <a:schemeClr val="dk1"/>
              </a:buClr>
              <a:buSzPts val="2400"/>
              <a:buNone/>
            </a:pPr>
            <a:r>
              <a:rPr lang="en-US" sz="2400" b="1" i="0" u="none" dirty="0">
                <a:solidFill>
                  <a:schemeClr val="dk1"/>
                </a:solidFill>
                <a:latin typeface="Cambria"/>
                <a:ea typeface="Cambria"/>
                <a:cs typeface="Cambria"/>
                <a:sym typeface="Cambria"/>
              </a:rPr>
              <a:t>Websites:</a:t>
            </a:r>
            <a:endParaRPr sz="2400" b="1" i="0" u="sng" dirty="0">
              <a:solidFill>
                <a:schemeClr val="dk1"/>
              </a:solidFill>
              <a:latin typeface="Cambria"/>
              <a:ea typeface="Cambria"/>
              <a:cs typeface="Cambria"/>
              <a:sym typeface="Cambria"/>
            </a:endParaRPr>
          </a:p>
          <a:p>
            <a:pPr marL="0" lvl="0" indent="-114300" algn="l" rtl="0">
              <a:lnSpc>
                <a:spcPct val="100000"/>
              </a:lnSpc>
              <a:spcBef>
                <a:spcPts val="360"/>
              </a:spcBef>
              <a:spcAft>
                <a:spcPts val="0"/>
              </a:spcAft>
              <a:buClr>
                <a:schemeClr val="dk1"/>
              </a:buClr>
              <a:buSzPts val="1800"/>
              <a:buFont typeface="Arial"/>
              <a:buChar char="•"/>
            </a:pPr>
            <a:r>
              <a:rPr lang="en-US" sz="1800" b="0" i="0" u="none" dirty="0">
                <a:solidFill>
                  <a:schemeClr val="dk1"/>
                </a:solidFill>
                <a:latin typeface="Cambria"/>
                <a:ea typeface="Cambria"/>
                <a:cs typeface="Cambria"/>
                <a:sym typeface="Cambria"/>
              </a:rPr>
              <a:t>https://</a:t>
            </a:r>
            <a:r>
              <a:rPr lang="en-US" sz="1800" b="0" i="0" u="none" dirty="0" err="1">
                <a:solidFill>
                  <a:schemeClr val="dk1"/>
                </a:solidFill>
                <a:latin typeface="Cambria"/>
                <a:ea typeface="Cambria"/>
                <a:cs typeface="Cambria"/>
                <a:sym typeface="Cambria"/>
              </a:rPr>
              <a:t>ntiprit.gov.in</a:t>
            </a:r>
            <a:r>
              <a:rPr lang="en-US" sz="1800" b="0" i="0" u="none" dirty="0">
                <a:solidFill>
                  <a:schemeClr val="dk1"/>
                </a:solidFill>
                <a:latin typeface="Cambria"/>
                <a:ea typeface="Cambria"/>
                <a:cs typeface="Cambria"/>
                <a:sym typeface="Cambria"/>
              </a:rPr>
              <a:t>/pdf/</a:t>
            </a:r>
            <a:r>
              <a:rPr lang="en-US" sz="1800" b="0" i="0" u="none" dirty="0" err="1">
                <a:solidFill>
                  <a:schemeClr val="dk1"/>
                </a:solidFill>
                <a:latin typeface="Cambria"/>
                <a:ea typeface="Cambria"/>
                <a:cs typeface="Cambria"/>
                <a:sym typeface="Cambria"/>
              </a:rPr>
              <a:t>blockchainanddistributed</a:t>
            </a:r>
            <a:r>
              <a:rPr lang="en-US" sz="1800" b="0" i="0" u="none" dirty="0">
                <a:solidFill>
                  <a:schemeClr val="dk1"/>
                </a:solidFill>
                <a:latin typeface="Cambria"/>
                <a:ea typeface="Cambria"/>
                <a:cs typeface="Cambria"/>
                <a:sym typeface="Cambria"/>
              </a:rPr>
              <a:t>/</a:t>
            </a:r>
            <a:r>
              <a:rPr lang="en-US" sz="1800" b="0" i="0" u="none" dirty="0" err="1">
                <a:solidFill>
                  <a:schemeClr val="dk1"/>
                </a:solidFill>
                <a:latin typeface="Cambria"/>
                <a:ea typeface="Cambria"/>
                <a:cs typeface="Cambria"/>
                <a:sym typeface="Cambria"/>
              </a:rPr>
              <a:t>Blockchain_Introduction_KR.pdf</a:t>
            </a:r>
            <a:r>
              <a:rPr lang="en-US" sz="1800" b="0" i="0" u="none" dirty="0">
                <a:solidFill>
                  <a:schemeClr val="dk1"/>
                </a:solidFill>
                <a:latin typeface="Cambria"/>
                <a:ea typeface="Cambria"/>
                <a:cs typeface="Cambria"/>
                <a:sym typeface="Cambria"/>
              </a:rPr>
              <a:t> </a:t>
            </a:r>
          </a:p>
          <a:p>
            <a:pPr>
              <a:lnSpc>
                <a:spcPct val="150000"/>
              </a:lnSpc>
            </a:pPr>
            <a:r>
              <a:rPr lang="en-US" sz="1800" u="sng" dirty="0">
                <a:solidFill>
                  <a:srgbClr val="0000FF"/>
                </a:solidFill>
                <a:latin typeface="Lucida Console" panose="020B0609040504020204" pitchFamily="49" charset="0"/>
                <a:hlinkClick r:id="rId7"/>
              </a:rPr>
              <a:t>https://bitcoin.org/bitcoin.pdf</a:t>
            </a:r>
            <a:endParaRPr lang="en-US" sz="1800" u="sng" dirty="0">
              <a:solidFill>
                <a:srgbClr val="0000FF"/>
              </a:solidFill>
              <a:latin typeface="Lucida Console" panose="020B0609040504020204" pitchFamily="49"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23"/>
          <p:cNvSpPr txBox="1"/>
          <p:nvPr/>
        </p:nvSpPr>
        <p:spPr>
          <a:xfrm>
            <a:off x="0" y="0"/>
            <a:ext cx="9144000" cy="4686300"/>
          </a:xfrm>
          <a:prstGeom prst="rect">
            <a:avLst/>
          </a:prstGeom>
          <a:solidFill>
            <a:srgbClr val="984807">
              <a:alpha val="5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r>
              <a:rPr lang="en-US" sz="1800" b="0" i="0" u="none">
                <a:solidFill>
                  <a:srgbClr val="FFFFFF"/>
                </a:solidFill>
                <a:latin typeface="Calibri"/>
                <a:ea typeface="Calibri"/>
                <a:cs typeface="Calibri"/>
                <a:sym typeface="Calibri"/>
              </a:rPr>
              <a:t> </a:t>
            </a:r>
            <a:endParaRPr/>
          </a:p>
        </p:txBody>
      </p:sp>
      <p:cxnSp>
        <p:nvCxnSpPr>
          <p:cNvPr id="464" name="Google Shape;464;p23"/>
          <p:cNvCxnSpPr/>
          <p:nvPr/>
        </p:nvCxnSpPr>
        <p:spPr>
          <a:xfrm>
            <a:off x="7010400" y="0"/>
            <a:ext cx="1371600" cy="182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5" name="Google Shape;465;p23"/>
          <p:cNvCxnSpPr/>
          <p:nvPr/>
        </p:nvCxnSpPr>
        <p:spPr>
          <a:xfrm>
            <a:off x="7627937" y="0"/>
            <a:ext cx="496887" cy="663575"/>
          </a:xfrm>
          <a:prstGeom prst="straightConnector1">
            <a:avLst/>
          </a:prstGeom>
          <a:noFill/>
          <a:ln w="9525" cap="flat" cmpd="sng">
            <a:solidFill>
              <a:schemeClr val="accent2"/>
            </a:solidFill>
            <a:prstDash val="solid"/>
            <a:miter lim="800000"/>
            <a:headEnd type="none" w="med" len="med"/>
            <a:tailEnd type="none" w="med" len="med"/>
          </a:ln>
        </p:spPr>
      </p:cxnSp>
      <p:cxnSp>
        <p:nvCxnSpPr>
          <p:cNvPr id="466" name="Google Shape;466;p23"/>
          <p:cNvCxnSpPr/>
          <p:nvPr/>
        </p:nvCxnSpPr>
        <p:spPr>
          <a:xfrm>
            <a:off x="550862" y="6294437"/>
            <a:ext cx="419100" cy="558800"/>
          </a:xfrm>
          <a:prstGeom prst="straightConnector1">
            <a:avLst/>
          </a:prstGeom>
          <a:noFill/>
          <a:ln w="9525" cap="flat" cmpd="sng">
            <a:solidFill>
              <a:schemeClr val="accent2"/>
            </a:solidFill>
            <a:prstDash val="solid"/>
            <a:miter lim="800000"/>
            <a:headEnd type="none" w="med" len="med"/>
            <a:tailEnd type="none" w="med" len="med"/>
          </a:ln>
        </p:spPr>
      </p:cxnSp>
      <p:cxnSp>
        <p:nvCxnSpPr>
          <p:cNvPr id="467" name="Google Shape;467;p23"/>
          <p:cNvCxnSpPr/>
          <p:nvPr/>
        </p:nvCxnSpPr>
        <p:spPr>
          <a:xfrm>
            <a:off x="293687" y="5129212"/>
            <a:ext cx="1295400" cy="1728787"/>
          </a:xfrm>
          <a:prstGeom prst="straightConnector1">
            <a:avLst/>
          </a:prstGeom>
          <a:noFill/>
          <a:ln w="9525" cap="flat" cmpd="sng">
            <a:solidFill>
              <a:schemeClr val="accent2"/>
            </a:solidFill>
            <a:prstDash val="solid"/>
            <a:miter lim="800000"/>
            <a:headEnd type="none" w="med" len="med"/>
            <a:tailEnd type="none" w="med" len="med"/>
          </a:ln>
        </p:spPr>
      </p:cxnSp>
      <p:sp>
        <p:nvSpPr>
          <p:cNvPr id="468" name="Google Shape;468;p23"/>
          <p:cNvSpPr txBox="1"/>
          <p:nvPr/>
        </p:nvSpPr>
        <p:spPr>
          <a:xfrm>
            <a:off x="1114425" y="2249487"/>
            <a:ext cx="8043862" cy="1230312"/>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a:solidFill>
                  <a:srgbClr val="FFFFFF"/>
                </a:solidFill>
                <a:latin typeface="Arial"/>
                <a:ea typeface="Arial"/>
                <a:cs typeface="Arial"/>
                <a:sym typeface="Arial"/>
              </a:rPr>
              <a:t>THANK YOU</a:t>
            </a:r>
            <a:endParaRPr/>
          </a:p>
        </p:txBody>
      </p:sp>
      <p:sp>
        <p:nvSpPr>
          <p:cNvPr id="469" name="Google Shape;469;p23"/>
          <p:cNvSpPr/>
          <p:nvPr/>
        </p:nvSpPr>
        <p:spPr>
          <a:xfrm>
            <a:off x="1981200"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chemeClr val="lt1"/>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470" name="Google Shape;470;p23"/>
          <p:cNvSpPr/>
          <p:nvPr/>
        </p:nvSpPr>
        <p:spPr>
          <a:xfrm>
            <a:off x="2174875" y="1214437"/>
            <a:ext cx="1822450" cy="3225800"/>
          </a:xfrm>
          <a:custGeom>
            <a:avLst/>
            <a:gdLst/>
            <a:ahLst/>
            <a:cxnLst/>
            <a:rect l="l" t="t" r="r" b="b"/>
            <a:pathLst>
              <a:path w="2430463" h="3225800" extrusionOk="0">
                <a:moveTo>
                  <a:pt x="2430463" y="2413000"/>
                </a:moveTo>
                <a:lnTo>
                  <a:pt x="1612900" y="3225800"/>
                </a:lnTo>
                <a:lnTo>
                  <a:pt x="0" y="1612900"/>
                </a:lnTo>
                <a:lnTo>
                  <a:pt x="1612900" y="0"/>
                </a:lnTo>
                <a:lnTo>
                  <a:pt x="2430463" y="817563"/>
                </a:lnTo>
              </a:path>
            </a:pathLst>
          </a:custGeom>
          <a:noFill/>
          <a:ln w="38100" cap="flat" cmpd="sng">
            <a:solidFill>
              <a:srgbClr val="FFFFFF"/>
            </a:solidFill>
            <a:prstDash val="solid"/>
            <a:miter lim="524288"/>
            <a:headEnd type="none" w="med" len="med"/>
            <a:tailEnd type="none" w="med" len="med"/>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5.xml><?xml version="1.0" encoding="utf-8"?>
<a:theme xmlns:a="http://schemas.openxmlformats.org/drawingml/2006/main" name="1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1777</TotalTime>
  <Words>2135</Words>
  <Application>Microsoft Macintosh PowerPoint</Application>
  <PresentationFormat>On-screen Show (4:3)</PresentationFormat>
  <Paragraphs>121</Paragraphs>
  <Slides>21</Slides>
  <Notes>8</Notes>
  <HiddenSlides>0</HiddenSlides>
  <MMClips>0</MMClips>
  <ScaleCrop>false</ScaleCrop>
  <HeadingPairs>
    <vt:vector size="8" baseType="variant">
      <vt:variant>
        <vt:lpstr>Fonts Used</vt:lpstr>
      </vt:variant>
      <vt:variant>
        <vt:i4>8</vt:i4>
      </vt:variant>
      <vt:variant>
        <vt:lpstr>Theme</vt:lpstr>
      </vt:variant>
      <vt:variant>
        <vt:i4>15</vt:i4>
      </vt:variant>
      <vt:variant>
        <vt:lpstr>Embedded OLE Servers</vt:lpstr>
      </vt:variant>
      <vt:variant>
        <vt:i4>0</vt:i4>
      </vt:variant>
      <vt:variant>
        <vt:lpstr>Slide Titles</vt:lpstr>
      </vt:variant>
      <vt:variant>
        <vt:i4>21</vt:i4>
      </vt:variant>
    </vt:vector>
  </HeadingPairs>
  <TitlesOfParts>
    <vt:vector size="44" baseType="lpstr">
      <vt:lpstr>Times New Roman</vt:lpstr>
      <vt:lpstr>Noto Sans Symbols</vt:lpstr>
      <vt:lpstr>Lucida Console</vt:lpstr>
      <vt:lpstr>Calibri</vt:lpstr>
      <vt:lpstr>Poppins</vt:lpstr>
      <vt:lpstr>Arial Black</vt:lpstr>
      <vt:lpstr>Arial</vt:lpstr>
      <vt:lpstr>Cambria</vt:lpstr>
      <vt:lpstr>2_Office Theme</vt:lpstr>
      <vt:lpstr>3_Office Theme</vt:lpstr>
      <vt:lpstr>1_Office Theme</vt:lpstr>
      <vt:lpstr>11_Office Theme</vt:lpstr>
      <vt:lpstr>Office Theme</vt:lpstr>
      <vt:lpstr>1_Custom Design</vt:lpstr>
      <vt:lpstr>Custom Design</vt:lpstr>
      <vt:lpstr>4_Office Theme</vt:lpstr>
      <vt:lpstr>5_Office Theme</vt:lpstr>
      <vt:lpstr>6_Office Theme</vt:lpstr>
      <vt:lpstr>7_Office Theme</vt:lpstr>
      <vt:lpstr>8_Office Theme</vt:lpstr>
      <vt:lpstr>9_Office Theme</vt:lpstr>
      <vt:lpstr>10_Office Theme</vt:lpstr>
      <vt:lpstr>12_Office Theme</vt:lpstr>
      <vt:lpstr>PowerPoint Presentation</vt:lpstr>
      <vt:lpstr>Learning Objectives &amp; Outcomes</vt:lpstr>
      <vt:lpstr>Blockchain </vt:lpstr>
      <vt:lpstr>PowerPoint Presentation</vt:lpstr>
      <vt:lpstr>Benefits of Blockchain Technology </vt:lpstr>
      <vt:lpstr>PowerPoint Presentation</vt:lpstr>
      <vt:lpstr>Benefits of Blockchain Technology </vt:lpstr>
      <vt:lpstr>PowerPoint Presentation</vt:lpstr>
      <vt:lpstr>  Benefits of Blockchain Technology      </vt:lpstr>
      <vt:lpstr> Benefits of Blockchain Technology    </vt:lpstr>
      <vt:lpstr>PowerPoint Presentation</vt:lpstr>
      <vt:lpstr>Benefits of Blockchain Technology </vt:lpstr>
      <vt:lpstr>Benefits of Blockchain Technology </vt:lpstr>
      <vt:lpstr>Benefits of Blockchain Technology </vt:lpstr>
      <vt:lpstr>Advantages of Blockchain Technology:</vt:lpstr>
      <vt:lpstr>Advantages of Blockchain Technology:</vt:lpstr>
      <vt:lpstr>Disadvantages of Blockchain Technology: </vt:lpstr>
      <vt:lpstr>Best Applications of Blockchain in the Real World </vt:lpstr>
      <vt:lpstr>Best Applications of Blockchain in the Real World</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cgc</dc:creator>
  <cp:lastModifiedBy>Jagmeet Kaur</cp:lastModifiedBy>
  <cp:revision>74</cp:revision>
  <dcterms:created xsi:type="dcterms:W3CDTF">2013-12-12T17:34:34Z</dcterms:created>
  <dcterms:modified xsi:type="dcterms:W3CDTF">2024-06-26T00:59:54Z</dcterms:modified>
</cp:coreProperties>
</file>