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1"/>
  </p:notesMasterIdLst>
  <p:sldIdLst>
    <p:sldId id="256" r:id="rId16"/>
    <p:sldId id="259" r:id="rId17"/>
    <p:sldId id="268" r:id="rId18"/>
    <p:sldId id="269" r:id="rId19"/>
    <p:sldId id="270" r:id="rId20"/>
    <p:sldId id="279" r:id="rId21"/>
    <p:sldId id="280" r:id="rId22"/>
    <p:sldId id="281" r:id="rId23"/>
    <p:sldId id="282" r:id="rId24"/>
    <p:sldId id="283" r:id="rId25"/>
    <p:sldId id="285" r:id="rId26"/>
    <p:sldId id="286" r:id="rId27"/>
    <p:sldId id="288" r:id="rId28"/>
    <p:sldId id="277" r:id="rId29"/>
    <p:sldId id="278" r:id="rId30"/>
  </p:sldIdLst>
  <p:sldSz cx="9144000" cy="6858000" type="screen4x3"/>
  <p:notesSz cx="6858000" cy="9144000"/>
  <p:embeddedFontLst>
    <p:embeddedFont>
      <p:font typeface="Arial Black" panose="020B0604020202020204" pitchFamily="34" charset="0"/>
      <p:regular r:id="rId32"/>
      <p:bold r:id="rId33"/>
    </p:embeddedFont>
    <p:embeddedFont>
      <p:font typeface="Cambria" panose="02040503050406030204" pitchFamily="18" charset="0"/>
      <p:regular r:id="rId34"/>
      <p:bold r:id="rId35"/>
      <p:italic r:id="rId36"/>
      <p:boldItalic r:id="rId37"/>
    </p:embeddedFont>
    <p:embeddedFont>
      <p:font typeface="Lucida Console" panose="020B0609040504020204" pitchFamily="49" charset="0"/>
      <p:regular r:id="rId38"/>
    </p:embeddedFont>
    <p:embeddedFont>
      <p:font typeface="Poppins" pitchFamily="2" charset="77"/>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526"/>
    <p:restoredTop sz="94469"/>
  </p:normalViewPr>
  <p:slideViewPr>
    <p:cSldViewPr snapToGrid="0">
      <p:cViewPr varScale="1">
        <p:scale>
          <a:sx n="100" d="100"/>
          <a:sy n="100" d="100"/>
        </p:scale>
        <p:origin x="184" y="43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8.fntdata"/><Relationship Id="rId21" Type="http://schemas.openxmlformats.org/officeDocument/2006/relationships/slide" Target="slides/slide6.xml"/><Relationship Id="rId34" Type="http://schemas.openxmlformats.org/officeDocument/2006/relationships/font" Target="fonts/font3.fntdata"/><Relationship Id="rId42" Type="http://schemas.openxmlformats.org/officeDocument/2006/relationships/font" Target="fonts/font11.fntdata"/><Relationship Id="rId55"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3"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5.fntdata"/><Relationship Id="rId57"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font" Target="fonts/font4.fntdata"/><Relationship Id="rId56"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5.xml"/><Relationship Id="rId41" Type="http://schemas.openxmlformats.org/officeDocument/2006/relationships/font" Target="fonts/font10.fntdata"/><Relationship Id="rId5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amazon.in/s/ref=dp_byline_sr_book_1?ie=UTF8&amp;field-author=Asharaf+S.%3B&amp;search-alias=stripbooks" TargetMode="External"/><Relationship Id="rId7" Type="http://schemas.openxmlformats.org/officeDocument/2006/relationships/hyperlink" Target="https://bitcoin.org/bitcoin.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amazon.in/s/ref=dp_byline_sr_book_4?ie=UTF8&amp;field-author=Franklin+John&amp;search-alias=stripbooks" TargetMode="External"/><Relationship Id="rId5" Type="http://schemas.openxmlformats.org/officeDocument/2006/relationships/hyperlink" Target="https://www.amazon.in/s/ref=dp_byline_sr_book_3?ie=UTF8&amp;field-author=Adarsh+S.&amp;search-alias=stripbooks" TargetMode="External"/><Relationship Id="rId4" Type="http://schemas.openxmlformats.org/officeDocument/2006/relationships/hyperlink" Target="https://www.amazon.in/s/ref=dp_byline_sr_book_2?ie=UTF8&amp;field-author=Sivadas+Neelima&amp;search-alias=stripbook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Bitcoin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850121"/>
          </a:xfrm>
          <a:prstGeom prst="rect">
            <a:avLst/>
          </a:prstGeom>
          <a:noFill/>
          <a:ln>
            <a:noFill/>
          </a:ln>
        </p:spPr>
        <p:txBody>
          <a:bodyPr spcFirstLastPara="1" wrap="square" lIns="91425" tIns="45700" rIns="91425" bIns="45700" anchor="t" anchorCtr="0">
            <a:normAutofit fontScale="92500" lnSpcReduction="10000"/>
          </a:bodyPr>
          <a:lstStyle/>
          <a:p>
            <a:r>
              <a:rPr lang="en-IN" sz="2000" b="1" i="0" u="none" strike="noStrike" dirty="0">
                <a:solidFill>
                  <a:srgbClr val="1D2125"/>
                </a:solidFill>
                <a:effectLst/>
                <a:latin typeface="Times New Roman" panose="02020603050405020304" pitchFamily="18" charset="0"/>
                <a:cs typeface="Times New Roman" panose="02020603050405020304" pitchFamily="18" charset="0"/>
              </a:rPr>
              <a:t>Database: </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Generally a database is a data structure which is used for storing information. It is a organised collection or storage of data which is able to store a new data or access a existing data. The data stored in a database can be organized using a database management system. The database administrator can modify the data stored in the database. A database is implemented using the client-server network architecture.</a:t>
            </a:r>
          </a:p>
          <a:p>
            <a:r>
              <a:rPr lang="en-IN" sz="2000" b="1" i="0" u="none" strike="noStrike" dirty="0">
                <a:solidFill>
                  <a:srgbClr val="1D2125"/>
                </a:solidFill>
                <a:effectLst/>
                <a:latin typeface="Times New Roman" panose="02020603050405020304" pitchFamily="18" charset="0"/>
                <a:cs typeface="Times New Roman" panose="02020603050405020304" pitchFamily="18" charset="0"/>
              </a:rPr>
              <a:t>Blockchain:</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is a growing list of records, called blocks, that are linked using cryptography. Each block contains a cryptographic hash of the previous block, a timestamp, and transaction data. Here, modification of data is not permissible by design. It allows decentralized control and eliminates the risks of modification of data by other parties with sufficient access to the system.</a:t>
            </a:r>
          </a:p>
          <a:p>
            <a:r>
              <a:rPr lang="en-IN" sz="2000" b="0" i="0" u="none" strike="noStrike" dirty="0">
                <a:solidFill>
                  <a:srgbClr val="1D2125"/>
                </a:solidFill>
                <a:effectLst/>
                <a:latin typeface="Times New Roman" panose="02020603050405020304" pitchFamily="18" charset="0"/>
                <a:cs typeface="Times New Roman" panose="02020603050405020304" pitchFamily="18" charset="0"/>
              </a:rPr>
              <a:t>Key differences between Blockchain and a Database are:</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l">
              <a:buNone/>
            </a:pPr>
            <a:r>
              <a:rPr lang="en-IN" sz="2400" b="0" i="0" u="none" strike="noStrike" dirty="0">
                <a:solidFill>
                  <a:srgbClr val="455A64"/>
                </a:solidFill>
                <a:effectLst/>
                <a:latin typeface="Poppins" pitchFamily="2" charset="77"/>
              </a:rPr>
              <a:t>Difference between Blockchain and a Database</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graphicFrame>
        <p:nvGraphicFramePr>
          <p:cNvPr id="2" name="Table 1">
            <a:extLst>
              <a:ext uri="{FF2B5EF4-FFF2-40B4-BE49-F238E27FC236}">
                <a16:creationId xmlns:a16="http://schemas.microsoft.com/office/drawing/2014/main" id="{F1A67679-014E-DB33-66C4-3050C728C7CF}"/>
              </a:ext>
            </a:extLst>
          </p:cNvPr>
          <p:cNvGraphicFramePr>
            <a:graphicFrameLocks noGrp="1"/>
          </p:cNvGraphicFramePr>
          <p:nvPr>
            <p:extLst>
              <p:ext uri="{D42A27DB-BD31-4B8C-83A1-F6EECF244321}">
                <p14:modId xmlns:p14="http://schemas.microsoft.com/office/powerpoint/2010/main" val="4127012945"/>
              </p:ext>
            </p:extLst>
          </p:nvPr>
        </p:nvGraphicFramePr>
        <p:xfrm>
          <a:off x="901700" y="1143000"/>
          <a:ext cx="7613650" cy="5103299"/>
        </p:xfrm>
        <a:graphic>
          <a:graphicData uri="http://schemas.openxmlformats.org/drawingml/2006/table">
            <a:tbl>
              <a:tblPr/>
              <a:tblGrid>
                <a:gridCol w="3806825">
                  <a:extLst>
                    <a:ext uri="{9D8B030D-6E8A-4147-A177-3AD203B41FA5}">
                      <a16:colId xmlns:a16="http://schemas.microsoft.com/office/drawing/2014/main" val="2405291789"/>
                    </a:ext>
                  </a:extLst>
                </a:gridCol>
                <a:gridCol w="3806825">
                  <a:extLst>
                    <a:ext uri="{9D8B030D-6E8A-4147-A177-3AD203B41FA5}">
                      <a16:colId xmlns:a16="http://schemas.microsoft.com/office/drawing/2014/main" val="2163057715"/>
                    </a:ext>
                  </a:extLst>
                </a:gridCol>
              </a:tblGrid>
              <a:tr h="361035">
                <a:tc>
                  <a:txBody>
                    <a:bodyPr/>
                    <a:lstStyle/>
                    <a:p>
                      <a:pPr algn="l"/>
                      <a:r>
                        <a:rPr lang="en-IN">
                          <a:effectLst/>
                        </a:rPr>
                        <a:t>Database</a:t>
                      </a:r>
                    </a:p>
                  </a:txBody>
                  <a:tcPr anchor="ctr">
                    <a:lnL>
                      <a:noFill/>
                    </a:lnL>
                    <a:lnR>
                      <a:noFill/>
                    </a:lnR>
                    <a:lnT>
                      <a:noFill/>
                    </a:lnT>
                    <a:lnB>
                      <a:noFill/>
                    </a:lnB>
                    <a:noFill/>
                  </a:tcPr>
                </a:tc>
                <a:tc>
                  <a:txBody>
                    <a:bodyPr/>
                    <a:lstStyle/>
                    <a:p>
                      <a:pPr algn="l"/>
                      <a:r>
                        <a:rPr lang="en-IN">
                          <a:effectLst/>
                        </a:rPr>
                        <a:t>Blockchain</a:t>
                      </a:r>
                    </a:p>
                  </a:txBody>
                  <a:tcPr anchor="ctr">
                    <a:lnL>
                      <a:noFill/>
                    </a:lnL>
                    <a:lnR>
                      <a:noFill/>
                    </a:lnR>
                    <a:lnT>
                      <a:noFill/>
                    </a:lnT>
                    <a:lnB>
                      <a:noFill/>
                    </a:lnB>
                    <a:noFill/>
                  </a:tcPr>
                </a:tc>
                <a:extLst>
                  <a:ext uri="{0D108BD9-81ED-4DB2-BD59-A6C34878D82A}">
                    <a16:rowId xmlns:a16="http://schemas.microsoft.com/office/drawing/2014/main" val="652866457"/>
                  </a:ext>
                </a:extLst>
              </a:tr>
              <a:tr h="361035">
                <a:tc>
                  <a:txBody>
                    <a:bodyPr/>
                    <a:lstStyle/>
                    <a:p>
                      <a:r>
                        <a:rPr lang="en-IN">
                          <a:effectLst/>
                        </a:rPr>
                        <a:t>Database uses centralized storage of data.</a:t>
                      </a:r>
                    </a:p>
                  </a:txBody>
                  <a:tcPr anchor="ctr">
                    <a:lnL>
                      <a:noFill/>
                    </a:lnL>
                    <a:lnR>
                      <a:noFill/>
                    </a:lnR>
                    <a:lnT>
                      <a:noFill/>
                    </a:lnT>
                    <a:lnB>
                      <a:noFill/>
                    </a:lnB>
                    <a:noFill/>
                  </a:tcPr>
                </a:tc>
                <a:tc>
                  <a:txBody>
                    <a:bodyPr/>
                    <a:lstStyle/>
                    <a:p>
                      <a:r>
                        <a:rPr lang="en-IN">
                          <a:effectLst/>
                        </a:rPr>
                        <a:t>Blockchain uses decentralized storage of data.</a:t>
                      </a:r>
                    </a:p>
                  </a:txBody>
                  <a:tcPr anchor="ctr">
                    <a:lnL>
                      <a:noFill/>
                    </a:lnL>
                    <a:lnR>
                      <a:noFill/>
                    </a:lnR>
                    <a:lnT>
                      <a:noFill/>
                    </a:lnT>
                    <a:lnB>
                      <a:noFill/>
                    </a:lnB>
                    <a:noFill/>
                  </a:tcPr>
                </a:tc>
                <a:extLst>
                  <a:ext uri="{0D108BD9-81ED-4DB2-BD59-A6C34878D82A}">
                    <a16:rowId xmlns:a16="http://schemas.microsoft.com/office/drawing/2014/main" val="1173971182"/>
                  </a:ext>
                </a:extLst>
              </a:tr>
              <a:tr h="866483">
                <a:tc>
                  <a:txBody>
                    <a:bodyPr/>
                    <a:lstStyle/>
                    <a:p>
                      <a:r>
                        <a:rPr lang="en-IN" dirty="0">
                          <a:effectLst/>
                        </a:rPr>
                        <a:t>Database needs a Database admin or Database administrator to manage the stored data.</a:t>
                      </a:r>
                    </a:p>
                  </a:txBody>
                  <a:tcPr anchor="ctr">
                    <a:lnL>
                      <a:noFill/>
                    </a:lnL>
                    <a:lnR>
                      <a:noFill/>
                    </a:lnR>
                    <a:lnT>
                      <a:noFill/>
                    </a:lnT>
                    <a:lnB>
                      <a:noFill/>
                    </a:lnB>
                    <a:noFill/>
                  </a:tcPr>
                </a:tc>
                <a:tc>
                  <a:txBody>
                    <a:bodyPr/>
                    <a:lstStyle/>
                    <a:p>
                      <a:r>
                        <a:rPr lang="en-IN">
                          <a:effectLst/>
                        </a:rPr>
                        <a:t>There is no administrator in Blockchain.</a:t>
                      </a:r>
                    </a:p>
                  </a:txBody>
                  <a:tcPr anchor="ctr">
                    <a:lnL>
                      <a:noFill/>
                    </a:lnL>
                    <a:lnR>
                      <a:noFill/>
                    </a:lnR>
                    <a:lnT>
                      <a:noFill/>
                    </a:lnT>
                    <a:lnB>
                      <a:noFill/>
                    </a:lnB>
                    <a:noFill/>
                  </a:tcPr>
                </a:tc>
                <a:extLst>
                  <a:ext uri="{0D108BD9-81ED-4DB2-BD59-A6C34878D82A}">
                    <a16:rowId xmlns:a16="http://schemas.microsoft.com/office/drawing/2014/main" val="1204873175"/>
                  </a:ext>
                </a:extLst>
              </a:tr>
              <a:tr h="1371931">
                <a:tc>
                  <a:txBody>
                    <a:bodyPr/>
                    <a:lstStyle/>
                    <a:p>
                      <a:r>
                        <a:rPr lang="en-IN">
                          <a:effectLst/>
                        </a:rPr>
                        <a:t>Modifying data requires permission from database admin.</a:t>
                      </a:r>
                    </a:p>
                  </a:txBody>
                  <a:tcPr anchor="ctr">
                    <a:lnL>
                      <a:noFill/>
                    </a:lnL>
                    <a:lnR>
                      <a:noFill/>
                    </a:lnR>
                    <a:lnT>
                      <a:noFill/>
                    </a:lnT>
                    <a:lnB>
                      <a:noFill/>
                    </a:lnB>
                    <a:noFill/>
                  </a:tcPr>
                </a:tc>
                <a:tc>
                  <a:txBody>
                    <a:bodyPr/>
                    <a:lstStyle/>
                    <a:p>
                      <a:r>
                        <a:rPr lang="en-IN">
                          <a:effectLst/>
                        </a:rPr>
                        <a:t>Modifying data does not require permission. Users have a copy of data and by modifying the copies does not affect the master copy of the data as Blockchain is irresistible to modification of data.</a:t>
                      </a:r>
                    </a:p>
                  </a:txBody>
                  <a:tcPr anchor="ctr">
                    <a:lnL>
                      <a:noFill/>
                    </a:lnL>
                    <a:lnR>
                      <a:noFill/>
                    </a:lnR>
                    <a:lnT>
                      <a:noFill/>
                    </a:lnT>
                    <a:lnB>
                      <a:noFill/>
                    </a:lnB>
                    <a:noFill/>
                  </a:tcPr>
                </a:tc>
                <a:extLst>
                  <a:ext uri="{0D108BD9-81ED-4DB2-BD59-A6C34878D82A}">
                    <a16:rowId xmlns:a16="http://schemas.microsoft.com/office/drawing/2014/main" val="3770545666"/>
                  </a:ext>
                </a:extLst>
              </a:tr>
              <a:tr h="866483">
                <a:tc>
                  <a:txBody>
                    <a:bodyPr/>
                    <a:lstStyle/>
                    <a:p>
                      <a:r>
                        <a:rPr lang="en-IN">
                          <a:effectLst/>
                        </a:rPr>
                        <a:t>Centralized databases keep information that is up-to-date at a particular moment</a:t>
                      </a:r>
                    </a:p>
                  </a:txBody>
                  <a:tcPr anchor="ctr">
                    <a:lnL>
                      <a:noFill/>
                    </a:lnL>
                    <a:lnR>
                      <a:noFill/>
                    </a:lnR>
                    <a:lnT>
                      <a:noFill/>
                    </a:lnT>
                    <a:lnB>
                      <a:noFill/>
                    </a:lnB>
                    <a:noFill/>
                  </a:tcPr>
                </a:tc>
                <a:tc>
                  <a:txBody>
                    <a:bodyPr/>
                    <a:lstStyle/>
                    <a:p>
                      <a:r>
                        <a:rPr lang="en-IN">
                          <a:effectLst/>
                        </a:rPr>
                        <a:t>Blockchain keeps the present information as well as the past information that has been stored before.</a:t>
                      </a:r>
                    </a:p>
                  </a:txBody>
                  <a:tcPr anchor="ctr">
                    <a:lnL>
                      <a:noFill/>
                    </a:lnL>
                    <a:lnR>
                      <a:noFill/>
                    </a:lnR>
                    <a:lnT>
                      <a:noFill/>
                    </a:lnT>
                    <a:lnB>
                      <a:noFill/>
                    </a:lnB>
                    <a:noFill/>
                  </a:tcPr>
                </a:tc>
                <a:extLst>
                  <a:ext uri="{0D108BD9-81ED-4DB2-BD59-A6C34878D82A}">
                    <a16:rowId xmlns:a16="http://schemas.microsoft.com/office/drawing/2014/main" val="2015056068"/>
                  </a:ext>
                </a:extLst>
              </a:tr>
              <a:tr h="1119207">
                <a:tc>
                  <a:txBody>
                    <a:bodyPr/>
                    <a:lstStyle/>
                    <a:p>
                      <a:r>
                        <a:rPr lang="en-IN" dirty="0">
                          <a:effectLst/>
                        </a:rPr>
                        <a:t>Centralized databases are used as databases for a really long time and have a good performance record, but are slow for </a:t>
                      </a:r>
                      <a:r>
                        <a:rPr lang="en-IN" dirty="0" err="1">
                          <a:effectLst/>
                        </a:rPr>
                        <a:t>ertain</a:t>
                      </a:r>
                      <a:r>
                        <a:rPr lang="en-IN" dirty="0">
                          <a:effectLst/>
                        </a:rPr>
                        <a:t> functionalities.</a:t>
                      </a:r>
                    </a:p>
                  </a:txBody>
                  <a:tcPr anchor="ctr">
                    <a:lnL>
                      <a:noFill/>
                    </a:lnL>
                    <a:lnR>
                      <a:noFill/>
                    </a:lnR>
                    <a:lnT>
                      <a:noFill/>
                    </a:lnT>
                    <a:lnB>
                      <a:noFill/>
                    </a:lnB>
                    <a:noFill/>
                  </a:tcPr>
                </a:tc>
                <a:tc>
                  <a:txBody>
                    <a:bodyPr/>
                    <a:lstStyle/>
                    <a:p>
                      <a:r>
                        <a:rPr lang="en-IN" dirty="0">
                          <a:effectLst/>
                        </a:rPr>
                        <a:t>Blockchain is ideal for transaction platform but it slows down when used as databases, specially with large collection of data.</a:t>
                      </a:r>
                    </a:p>
                  </a:txBody>
                  <a:tcPr anchor="ctr">
                    <a:lnL>
                      <a:noFill/>
                    </a:lnL>
                    <a:lnR>
                      <a:noFill/>
                    </a:lnR>
                    <a:lnT>
                      <a:noFill/>
                    </a:lnT>
                    <a:lnB>
                      <a:noFill/>
                    </a:lnB>
                    <a:noFill/>
                  </a:tcPr>
                </a:tc>
                <a:extLst>
                  <a:ext uri="{0D108BD9-81ED-4DB2-BD59-A6C34878D82A}">
                    <a16:rowId xmlns:a16="http://schemas.microsoft.com/office/drawing/2014/main" val="260705495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Since we are familiar with both the terms and their features, let us now see the significant differences between them:</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1. A cloud is something that we can gain access to through the internet. It is cyberspace where we can access the data online. On the other hand, blockchain is an encrypted system that uses different styles of encryption and hash to store data in protected databases. The system distributes these data records over various nodes and forms a consensus on the position of the data they contain.</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Data in the form of records are immutable in blockchain, whereas data residing in the cloud are mutable. Blockchain does not provide any service as it is a magnificent technological advancement that is a decentralized, distributed ledger that keeps a record of the provenance of a digital asset. </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On the other hand, Cloud is a computing service that provides services in three principal formats such as Software as a Service (SaaS), Platform as a Service (PaaS), and Infrastructure as a Service (IaaS). Blockchain guarantees the prevention of the tempering of data without relying on any third-party trusted centralized authority, whereas the cloud does not assure complete integrity and tamper-free data. </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ctr"/>
            <a:r>
              <a:rPr lang="en-IN" sz="2400" b="1" i="0" u="none" strike="noStrike" dirty="0">
                <a:solidFill>
                  <a:srgbClr val="455A64"/>
                </a:solidFill>
                <a:effectLst/>
                <a:latin typeface="Poppins" pitchFamily="2" charset="77"/>
              </a:rPr>
              <a:t>Blockchain vs. Cloud Computing</a:t>
            </a:r>
            <a:endParaRPr lang="en-IN" sz="2400" b="0" i="0" u="none" strike="noStrike" dirty="0">
              <a:solidFill>
                <a:srgbClr val="455A64"/>
              </a:solidFill>
              <a:effectLst/>
              <a:latin typeface="Poppins" pitchFamily="2" charset="7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0" i="0" u="none" strike="noStrike" dirty="0">
                <a:solidFill>
                  <a:srgbClr val="455A64"/>
                </a:solidFill>
                <a:effectLst/>
                <a:latin typeface="Poppins" pitchFamily="2" charset="77"/>
              </a:rPr>
              <a:t>What is Blockchain as a Service?</a:t>
            </a: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fontScale="92500" lnSpcReduction="10000"/>
          </a:bodyPr>
          <a:lstStyle/>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Blockchain as a Service (BaaS) is a managed blockchain service that a third party provides in the cloud. You can develop blockchain applications and digital services while the cloud provider supplies the infrastructure and blockchain building tools. All you have to do is customize existing blockchain technology, which makes blockchain adoption faster and more efficient.   </a:t>
            </a:r>
          </a:p>
          <a:p>
            <a:pPr marL="76200" indent="0" algn="just">
              <a:buNone/>
            </a:pPr>
            <a:r>
              <a:rPr lang="en-IN" sz="1800" b="1" i="0" u="none" strike="noStrike" dirty="0">
                <a:solidFill>
                  <a:srgbClr val="455A64"/>
                </a:solidFill>
                <a:effectLst/>
                <a:latin typeface="Times New Roman" panose="02020603050405020304" pitchFamily="18" charset="0"/>
                <a:cs typeface="Times New Roman" panose="02020603050405020304" pitchFamily="18" charset="0"/>
              </a:rPr>
              <a:t>What are AWS Blockchain services?</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AWS Blockchain services provide purpose-built tools to support your requirement. You can use them to build everything from a centralized ledger database that maintains an immutable record of transactions to a multi-party, fully managed blockchain network that helps eliminate intermediaries. AWS has numerous validated blockchain solutions from partners who support all major blockchain protocols, including Hyperledger, Corda,  Ethereum, Quorum, and more. As a result, you can develop blockchain and ledger applications more easily, quickly, and efficiently with AWS. Some useful AWS Blockchain services are as follows:</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Amazon Quantum Ledger Database (QLDB) is a fully managed ledger database that provides a transparent, immutable, and cryptographically verifiable transaction log. It has a built-in journal that stores an accurate and sequenced entry of every data change. The journal is append-only, meaning that users can add data to the journal but cannot overwrite or delete it. </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are technologies that make your applications independent from your IT infrastructure resources. A container is a software code package containing an application’s code, its libraries, and other dependencies. Containerization makes your applications portable so that the same code can run on any device. A virtual machine is a digital copy of a physical machine. You can have multiple virtual machines with their own individual operating systems running on the same host operating system. In addition you can create a virtual machine that contains everything required to run your application.</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7855227" cy="400110"/>
          </a:xfrm>
          <a:prstGeom prst="rect">
            <a:avLst/>
          </a:prstGeom>
          <a:noFill/>
        </p:spPr>
        <p:txBody>
          <a:bodyPr wrap="square" rtlCol="0">
            <a:spAutoFit/>
          </a:bodyPr>
          <a:lstStyle/>
          <a:p>
            <a:pPr algn="l"/>
            <a:r>
              <a:rPr lang="en-IN" sz="2000" b="0" i="0" u="none" strike="noStrike" dirty="0">
                <a:solidFill>
                  <a:srgbClr val="455A64"/>
                </a:solidFill>
                <a:effectLst/>
                <a:latin typeface="Times New Roman" panose="02020603050405020304" pitchFamily="18" charset="0"/>
                <a:cs typeface="Times New Roman" panose="02020603050405020304" pitchFamily="18" charset="0"/>
              </a:rPr>
              <a:t>What's the Difference Between Containers and Virtual Machines?</a:t>
            </a:r>
          </a:p>
        </p:txBody>
      </p:sp>
    </p:spTree>
    <p:extLst>
      <p:ext uri="{BB962C8B-B14F-4D97-AF65-F5344CB8AC3E}">
        <p14:creationId xmlns:p14="http://schemas.microsoft.com/office/powerpoint/2010/main" val="167302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Where are containers and virtual machines used?</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are both deployment technologies. In the software development lifecycle, deployment is the mechanism that makes an application run efficiently on a server or device. The application requires several additional software components called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dependencies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that are closely related to the underlying operating system of the server. All these different software layers between the application code and the physical device are called the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application environment</a:t>
            </a:r>
            <a:r>
              <a:rPr lang="en-IN" sz="1200" b="0" i="0" u="none" strike="noStrike" dirty="0">
                <a:solidFill>
                  <a:srgbClr val="1D2125"/>
                </a:solidFill>
                <a:effectLst/>
                <a:latin typeface="Poppins" pitchFamily="2" charset="77"/>
              </a:rPr>
              <a:t>.</a:t>
            </a:r>
          </a:p>
        </p:txBody>
      </p:sp>
    </p:spTree>
    <p:extLst>
      <p:ext uri="{BB962C8B-B14F-4D97-AF65-F5344CB8AC3E}">
        <p14:creationId xmlns:p14="http://schemas.microsoft.com/office/powerpoint/2010/main" val="111814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1" i="0" u="none" strike="noStrike" dirty="0">
                <a:solidFill>
                  <a:srgbClr val="455A64"/>
                </a:solidFill>
                <a:effectLst/>
                <a:latin typeface="Poppins" pitchFamily="2" charset="77"/>
              </a:rPr>
              <a:t>Challenges in software deployment</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Organizations typically have to deploy applications in multiple environments—for example, developing on the Linux environment and testing on Windows—before releasing new features. Moving the application between environments can result in bugs and glitches, which lower productivity, due to missed dependencies. At the same time, building and testing the application in just one environment limits its usefulness. Here are some examples: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may have to develop different versions for users with different operating systems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Your system administrators must update and maintain all environments uniformly, increasing development costs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You may find it challenging to move your applications from on-premises data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to the cloud or between different cloud environments</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Purpose of virtual machines</a:t>
            </a:r>
            <a:endParaRPr lang="en-IN" sz="2000" b="0" i="0" u="none" strike="noStrike" dirty="0">
              <a:solidFill>
                <a:srgbClr val="455A64"/>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Historically, virtual machine technology was developed to efficiently use increasing physical hardware capacity and processing power. Running a single application environment on a single physical server underutilized hardware resources. Virtual machines allow organizations to install multiple operating systems and create multiple environments on the same physical machine.</a:t>
            </a:r>
          </a:p>
          <a:p>
            <a:pPr marL="76200" indent="0" algn="just">
              <a:buNone/>
            </a:pPr>
            <a:r>
              <a:rPr lang="en-IN" sz="2000" b="1" i="0" u="none" strike="noStrike" dirty="0">
                <a:solidFill>
                  <a:srgbClr val="455A64"/>
                </a:solidFill>
                <a:effectLst/>
                <a:latin typeface="Times New Roman" panose="02020603050405020304" pitchFamily="18" charset="0"/>
                <a:cs typeface="Times New Roman" panose="02020603050405020304" pitchFamily="18" charset="0"/>
              </a:rPr>
              <a:t>Purpose of containers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were created to package and run applications in a predictable and repeatable way across multiple environments. Instead of recreating the environment, you packaged the application to run on all types of physical or virtual environments. This is similar to putting an astronaut in a spacesuit instead of recreating the Earth's atmosphere for them on another planet.</a:t>
            </a:r>
          </a:p>
          <a:p>
            <a:pPr marL="76200" indent="0">
              <a:buNone/>
            </a:pPr>
            <a:endParaRPr lang="en-US" dirty="0"/>
          </a:p>
        </p:txBody>
      </p:sp>
    </p:spTree>
    <p:extLst>
      <p:ext uri="{BB962C8B-B14F-4D97-AF65-F5344CB8AC3E}">
        <p14:creationId xmlns:p14="http://schemas.microsoft.com/office/powerpoint/2010/main" val="337676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Containers and virtual machines allow for the full isolation of applications so that you can run them in multiple environments. They virtualize or abstract underlying infrastructure, so users don't have to worry about that. They also allow you to package your software infrastructure into a single file called an </a:t>
            </a:r>
            <a:r>
              <a:rPr lang="en-IN" sz="2000" b="0" i="1" u="none" strike="noStrike" dirty="0">
                <a:solidFill>
                  <a:srgbClr val="1D2125"/>
                </a:solidFill>
                <a:effectLst/>
                <a:latin typeface="Times New Roman" panose="02020603050405020304" pitchFamily="18" charset="0"/>
                <a:cs typeface="Times New Roman" panose="02020603050405020304" pitchFamily="18" charset="0"/>
              </a:rPr>
              <a:t>image file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You can use the image file to quickly set up and run your application anywhere. In addition, you can also use software processes to manage system configurations or scale to manage thousands of applications at once. However, the role and extent of use for containers and virtual machines vary depending on where and how the application is deployed.</a:t>
            </a:r>
          </a:p>
          <a:p>
            <a:pPr marL="76200" indent="0">
              <a:buNone/>
            </a:pPr>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1341912" y="782053"/>
            <a:ext cx="6887688" cy="677108"/>
          </a:xfrm>
          <a:prstGeom prst="rect">
            <a:avLst/>
          </a:prstGeom>
          <a:noFill/>
        </p:spPr>
        <p:txBody>
          <a:bodyPr wrap="square" rtlCol="0">
            <a:spAutoFit/>
          </a:bodyPr>
          <a:lstStyle/>
          <a:p>
            <a:pPr algn="l"/>
            <a:r>
              <a:rPr lang="en-IN" sz="2400" b="0" i="0" u="none" strike="noStrike" dirty="0">
                <a:solidFill>
                  <a:srgbClr val="455A64"/>
                </a:solidFill>
                <a:effectLst/>
                <a:latin typeface="Times New Roman" panose="02020603050405020304" pitchFamily="18" charset="0"/>
                <a:cs typeface="Times New Roman" panose="02020603050405020304" pitchFamily="18" charset="0"/>
              </a:rPr>
              <a:t>Similarities between containers and virtual machines</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6A4E47-FEB5-677E-46FC-4A732EE691AE}"/>
              </a:ext>
            </a:extLst>
          </p:cNvPr>
          <p:cNvGraphicFramePr>
            <a:graphicFrameLocks noGrp="1"/>
          </p:cNvGraphicFramePr>
          <p:nvPr>
            <p:extLst>
              <p:ext uri="{D42A27DB-BD31-4B8C-83A1-F6EECF244321}">
                <p14:modId xmlns:p14="http://schemas.microsoft.com/office/powerpoint/2010/main" val="1305942999"/>
              </p:ext>
            </p:extLst>
          </p:nvPr>
        </p:nvGraphicFramePr>
        <p:xfrm>
          <a:off x="1016000" y="1143000"/>
          <a:ext cx="7543800" cy="5092312"/>
        </p:xfrm>
        <a:graphic>
          <a:graphicData uri="http://schemas.openxmlformats.org/drawingml/2006/table">
            <a:tbl>
              <a:tblPr/>
              <a:tblGrid>
                <a:gridCol w="1143000">
                  <a:extLst>
                    <a:ext uri="{9D8B030D-6E8A-4147-A177-3AD203B41FA5}">
                      <a16:colId xmlns:a16="http://schemas.microsoft.com/office/drawing/2014/main" val="3983559957"/>
                    </a:ext>
                  </a:extLst>
                </a:gridCol>
                <a:gridCol w="3352800">
                  <a:extLst>
                    <a:ext uri="{9D8B030D-6E8A-4147-A177-3AD203B41FA5}">
                      <a16:colId xmlns:a16="http://schemas.microsoft.com/office/drawing/2014/main" val="312716945"/>
                    </a:ext>
                  </a:extLst>
                </a:gridCol>
                <a:gridCol w="3048000">
                  <a:extLst>
                    <a:ext uri="{9D8B030D-6E8A-4147-A177-3AD203B41FA5}">
                      <a16:colId xmlns:a16="http://schemas.microsoft.com/office/drawing/2014/main" val="986761408"/>
                    </a:ext>
                  </a:extLst>
                </a:gridCol>
              </a:tblGrid>
              <a:tr h="203805">
                <a:tc>
                  <a:txBody>
                    <a:bodyPr/>
                    <a:lstStyle/>
                    <a:p>
                      <a:r>
                        <a:rPr lang="en-IN" sz="1100" b="1">
                          <a:effectLst/>
                          <a:latin typeface="Times New Roman" panose="02020603050405020304" pitchFamily="18" charset="0"/>
                          <a:cs typeface="Times New Roman" panose="02020603050405020304" pitchFamily="18" charset="0"/>
                        </a:rPr>
                        <a:t>Characteristics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Container</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 machine</a:t>
                      </a:r>
                    </a:p>
                  </a:txBody>
                  <a:tcPr marL="52850" marR="52850" marT="26425" marB="26425" anchor="ctr">
                    <a:lnL>
                      <a:noFill/>
                    </a:lnL>
                    <a:lnR>
                      <a:noFill/>
                    </a:lnR>
                    <a:lnT>
                      <a:noFill/>
                    </a:lnT>
                    <a:lnB>
                      <a:noFill/>
                    </a:lnB>
                    <a:noFill/>
                  </a:tcPr>
                </a:tc>
                <a:extLst>
                  <a:ext uri="{0D108BD9-81ED-4DB2-BD59-A6C34878D82A}">
                    <a16:rowId xmlns:a16="http://schemas.microsoft.com/office/drawing/2014/main" val="1609494599"/>
                  </a:ext>
                </a:extLst>
              </a:tr>
              <a:tr h="917119">
                <a:tc>
                  <a:txBody>
                    <a:bodyPr/>
                    <a:lstStyle/>
                    <a:p>
                      <a:r>
                        <a:rPr lang="en-IN" sz="1100" b="1">
                          <a:effectLst/>
                          <a:latin typeface="Times New Roman" panose="02020603050405020304" pitchFamily="18" charset="0"/>
                          <a:cs typeface="Times New Roman" panose="02020603050405020304" pitchFamily="18" charset="0"/>
                        </a:rPr>
                        <a:t>Definition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Software code package containing an application’s code, its libraries, and other dependencies that make up the application running environment.</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Digital replica of a physical machine. Partitions the physical hardware into multiple environments.</a:t>
                      </a:r>
                    </a:p>
                  </a:txBody>
                  <a:tcPr marL="52850" marR="52850" marT="26425" marB="26425" anchor="ctr">
                    <a:lnL>
                      <a:noFill/>
                    </a:lnL>
                    <a:lnR>
                      <a:noFill/>
                    </a:lnR>
                    <a:lnT>
                      <a:noFill/>
                    </a:lnT>
                    <a:lnB>
                      <a:noFill/>
                    </a:lnB>
                    <a:noFill/>
                  </a:tcPr>
                </a:tc>
                <a:extLst>
                  <a:ext uri="{0D108BD9-81ED-4DB2-BD59-A6C34878D82A}">
                    <a16:rowId xmlns:a16="http://schemas.microsoft.com/office/drawing/2014/main" val="1267090271"/>
                  </a:ext>
                </a:extLst>
              </a:tr>
              <a:tr h="346467">
                <a:tc>
                  <a:txBody>
                    <a:bodyPr/>
                    <a:lstStyle/>
                    <a:p>
                      <a:r>
                        <a:rPr lang="en-IN" sz="1100" b="1" dirty="0">
                          <a:effectLst/>
                          <a:latin typeface="Times New Roman" panose="02020603050405020304" pitchFamily="18" charset="0"/>
                          <a:cs typeface="Times New Roman" panose="02020603050405020304" pitchFamily="18" charset="0"/>
                        </a:rPr>
                        <a:t>Virtualization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Virtualizes the operating system.</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Virtualizes the underlying physical infrastructure.</a:t>
                      </a:r>
                    </a:p>
                  </a:txBody>
                  <a:tcPr marL="52850" marR="52850" marT="26425" marB="26425" anchor="ctr">
                    <a:lnL>
                      <a:noFill/>
                    </a:lnL>
                    <a:lnR>
                      <a:noFill/>
                    </a:lnR>
                    <a:lnT>
                      <a:noFill/>
                    </a:lnT>
                    <a:lnB>
                      <a:noFill/>
                    </a:lnB>
                    <a:noFill/>
                  </a:tcPr>
                </a:tc>
                <a:extLst>
                  <a:ext uri="{0D108BD9-81ED-4DB2-BD59-A6C34878D82A}">
                    <a16:rowId xmlns:a16="http://schemas.microsoft.com/office/drawing/2014/main" val="1205491548"/>
                  </a:ext>
                </a:extLst>
              </a:tr>
              <a:tr h="631793">
                <a:tc>
                  <a:txBody>
                    <a:bodyPr/>
                    <a:lstStyle/>
                    <a:p>
                      <a:r>
                        <a:rPr lang="en-IN" sz="1100" b="1">
                          <a:effectLst/>
                          <a:latin typeface="Times New Roman" panose="02020603050405020304" pitchFamily="18" charset="0"/>
                          <a:cs typeface="Times New Roman" panose="02020603050405020304" pitchFamily="18" charset="0"/>
                        </a:rPr>
                        <a:t>Encapsulation</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Software layer above the operating system required for running the application or application component.</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Operating system, all software layers above it, multiple applications.</a:t>
                      </a:r>
                    </a:p>
                  </a:txBody>
                  <a:tcPr marL="52850" marR="52850" marT="26425" marB="26425" anchor="ctr">
                    <a:lnL>
                      <a:noFill/>
                    </a:lnL>
                    <a:lnR>
                      <a:noFill/>
                    </a:lnR>
                    <a:lnT>
                      <a:noFill/>
                    </a:lnT>
                    <a:lnB>
                      <a:noFill/>
                    </a:lnB>
                    <a:noFill/>
                  </a:tcPr>
                </a:tc>
                <a:extLst>
                  <a:ext uri="{0D108BD9-81ED-4DB2-BD59-A6C34878D82A}">
                    <a16:rowId xmlns:a16="http://schemas.microsoft.com/office/drawing/2014/main" val="781494044"/>
                  </a:ext>
                </a:extLst>
              </a:tr>
              <a:tr h="489130">
                <a:tc>
                  <a:txBody>
                    <a:bodyPr/>
                    <a:lstStyle/>
                    <a:p>
                      <a:r>
                        <a:rPr lang="en-IN" sz="1100" b="1">
                          <a:effectLst/>
                          <a:latin typeface="Times New Roman" panose="02020603050405020304" pitchFamily="18" charset="0"/>
                          <a:cs typeface="Times New Roman" panose="02020603050405020304" pitchFamily="18" charset="0"/>
                        </a:rPr>
                        <a:t>Technology</a:t>
                      </a:r>
                    </a:p>
                  </a:txBody>
                  <a:tcPr marL="52850" marR="52850" marT="26425" marB="26425" anchor="ctr">
                    <a:lnL>
                      <a:noFill/>
                    </a:lnL>
                    <a:lnR>
                      <a:noFill/>
                    </a:lnR>
                    <a:lnT>
                      <a:noFill/>
                    </a:lnT>
                    <a:lnB>
                      <a:noFill/>
                    </a:lnB>
                    <a:noFill/>
                  </a:tcPr>
                </a:tc>
                <a:tc>
                  <a:txBody>
                    <a:bodyPr/>
                    <a:lstStyle/>
                    <a:p>
                      <a:r>
                        <a:rPr lang="en-IN" sz="1100" b="1" dirty="0">
                          <a:effectLst/>
                          <a:latin typeface="Times New Roman" panose="02020603050405020304" pitchFamily="18" charset="0"/>
                          <a:cs typeface="Times New Roman" panose="02020603050405020304" pitchFamily="18" charset="0"/>
                        </a:rPr>
                        <a:t>Container engine coordinates with the underlying operating system for resources. </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Hypervisor coordinates with underlying operating system or hardware. </a:t>
                      </a:r>
                    </a:p>
                  </a:txBody>
                  <a:tcPr marL="52850" marR="52850" marT="26425" marB="26425" anchor="ctr">
                    <a:lnL>
                      <a:noFill/>
                    </a:lnL>
                    <a:lnR>
                      <a:noFill/>
                    </a:lnR>
                    <a:lnT>
                      <a:noFill/>
                    </a:lnT>
                    <a:lnB>
                      <a:noFill/>
                    </a:lnB>
                    <a:noFill/>
                  </a:tcPr>
                </a:tc>
                <a:extLst>
                  <a:ext uri="{0D108BD9-81ED-4DB2-BD59-A6C34878D82A}">
                    <a16:rowId xmlns:a16="http://schemas.microsoft.com/office/drawing/2014/main" val="1492550830"/>
                  </a:ext>
                </a:extLst>
              </a:tr>
              <a:tr h="346467">
                <a:tc>
                  <a:txBody>
                    <a:bodyPr/>
                    <a:lstStyle/>
                    <a:p>
                      <a:r>
                        <a:rPr lang="en-IN" sz="1100" b="1" dirty="0">
                          <a:effectLst/>
                          <a:latin typeface="Times New Roman" panose="02020603050405020304" pitchFamily="18" charset="0"/>
                          <a:cs typeface="Times New Roman" panose="02020603050405020304" pitchFamily="18" charset="0"/>
                        </a:rPr>
                        <a:t>Size</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Lighter weight (think in terms of MB).</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Much larger (think in terms of GB).</a:t>
                      </a:r>
                    </a:p>
                  </a:txBody>
                  <a:tcPr marL="52850" marR="52850" marT="26425" marB="26425" anchor="ctr">
                    <a:lnL>
                      <a:noFill/>
                    </a:lnL>
                    <a:lnR>
                      <a:noFill/>
                    </a:lnR>
                    <a:lnT>
                      <a:noFill/>
                    </a:lnT>
                    <a:lnB>
                      <a:noFill/>
                    </a:lnB>
                    <a:noFill/>
                  </a:tcPr>
                </a:tc>
                <a:extLst>
                  <a:ext uri="{0D108BD9-81ED-4DB2-BD59-A6C34878D82A}">
                    <a16:rowId xmlns:a16="http://schemas.microsoft.com/office/drawing/2014/main" val="1447111645"/>
                  </a:ext>
                </a:extLst>
              </a:tr>
              <a:tr h="489130">
                <a:tc>
                  <a:txBody>
                    <a:bodyPr/>
                    <a:lstStyle/>
                    <a:p>
                      <a:r>
                        <a:rPr lang="en-IN" sz="1100" b="1">
                          <a:effectLst/>
                          <a:latin typeface="Times New Roman" panose="02020603050405020304" pitchFamily="18" charset="0"/>
                          <a:cs typeface="Times New Roman" panose="02020603050405020304" pitchFamily="18" charset="0"/>
                        </a:rPr>
                        <a:t>Control</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Less control of the environment outside the container.</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More control over the entire environment.</a:t>
                      </a:r>
                    </a:p>
                  </a:txBody>
                  <a:tcPr marL="52850" marR="52850" marT="26425" marB="26425" anchor="ctr">
                    <a:lnL>
                      <a:noFill/>
                    </a:lnL>
                    <a:lnR>
                      <a:noFill/>
                    </a:lnR>
                    <a:lnT>
                      <a:noFill/>
                    </a:lnT>
                    <a:lnB>
                      <a:noFill/>
                    </a:lnB>
                    <a:noFill/>
                  </a:tcPr>
                </a:tc>
                <a:extLst>
                  <a:ext uri="{0D108BD9-81ED-4DB2-BD59-A6C34878D82A}">
                    <a16:rowId xmlns:a16="http://schemas.microsoft.com/office/drawing/2014/main" val="641399694"/>
                  </a:ext>
                </a:extLst>
              </a:tr>
              <a:tr h="631793">
                <a:tc>
                  <a:txBody>
                    <a:bodyPr/>
                    <a:lstStyle/>
                    <a:p>
                      <a:r>
                        <a:rPr lang="en-IN" sz="1100" b="1">
                          <a:effectLst/>
                          <a:latin typeface="Times New Roman" panose="02020603050405020304" pitchFamily="18" charset="0"/>
                          <a:cs typeface="Times New Roman" panose="02020603050405020304" pitchFamily="18" charset="0"/>
                        </a:rPr>
                        <a:t>Flexibility</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More flexible. You can quickly migrate between on-premises and cloud-centered environments.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Less flexible. Migration has challenges.</a:t>
                      </a:r>
                    </a:p>
                  </a:txBody>
                  <a:tcPr marL="52850" marR="52850" marT="26425" marB="26425" anchor="ctr">
                    <a:lnL>
                      <a:noFill/>
                    </a:lnL>
                    <a:lnR>
                      <a:noFill/>
                    </a:lnR>
                    <a:lnT>
                      <a:noFill/>
                    </a:lnT>
                    <a:lnB>
                      <a:noFill/>
                    </a:lnB>
                    <a:noFill/>
                  </a:tcPr>
                </a:tc>
                <a:extLst>
                  <a:ext uri="{0D108BD9-81ED-4DB2-BD59-A6C34878D82A}">
                    <a16:rowId xmlns:a16="http://schemas.microsoft.com/office/drawing/2014/main" val="2900723780"/>
                  </a:ext>
                </a:extLst>
              </a:tr>
              <a:tr h="631793">
                <a:tc>
                  <a:txBody>
                    <a:bodyPr/>
                    <a:lstStyle/>
                    <a:p>
                      <a:r>
                        <a:rPr lang="en-IN" sz="1100" b="1">
                          <a:effectLst/>
                          <a:latin typeface="Times New Roman" panose="02020603050405020304" pitchFamily="18" charset="0"/>
                          <a:cs typeface="Times New Roman" panose="02020603050405020304" pitchFamily="18" charset="0"/>
                        </a:rPr>
                        <a:t>Scalability</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Highly scalable. Granular scalability possible with microservices.</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Scaling can be costly. Requires switching from on-premises to cloud instances for cost-effective scale.</a:t>
                      </a:r>
                    </a:p>
                  </a:txBody>
                  <a:tcPr marL="52850" marR="52850" marT="26425" marB="26425" anchor="ctr">
                    <a:lnL>
                      <a:noFill/>
                    </a:lnL>
                    <a:lnR>
                      <a:noFill/>
                    </a:lnR>
                    <a:lnT>
                      <a:noFill/>
                    </a:lnT>
                    <a:lnB>
                      <a:noFill/>
                    </a:lnB>
                    <a:noFill/>
                  </a:tcPr>
                </a:tc>
                <a:extLst>
                  <a:ext uri="{0D108BD9-81ED-4DB2-BD59-A6C34878D82A}">
                    <a16:rowId xmlns:a16="http://schemas.microsoft.com/office/drawing/2014/main" val="3407054073"/>
                  </a:ext>
                </a:extLst>
              </a:tr>
              <a:tr h="346467">
                <a:tc>
                  <a:txBody>
                    <a:bodyPr/>
                    <a:lstStyle/>
                    <a:p>
                      <a:r>
                        <a:rPr lang="en-IN" sz="1100" b="1">
                          <a:effectLst/>
                          <a:latin typeface="Times New Roman" panose="02020603050405020304" pitchFamily="18" charset="0"/>
                          <a:cs typeface="Times New Roman" panose="02020603050405020304" pitchFamily="18" charset="0"/>
                        </a:rPr>
                        <a:t> </a:t>
                      </a:r>
                    </a:p>
                  </a:txBody>
                  <a:tcPr marL="52850" marR="52850" marT="26425" marB="26425" anchor="ctr">
                    <a:lnL>
                      <a:noFill/>
                    </a:lnL>
                    <a:lnR>
                      <a:noFill/>
                    </a:lnR>
                    <a:lnT>
                      <a:noFill/>
                    </a:lnT>
                    <a:lnB>
                      <a:noFill/>
                    </a:lnB>
                    <a:noFill/>
                  </a:tcPr>
                </a:tc>
                <a:tc>
                  <a:txBody>
                    <a:bodyPr/>
                    <a:lstStyle/>
                    <a:p>
                      <a:r>
                        <a:rPr lang="en-IN" sz="1100" b="1">
                          <a:effectLst/>
                          <a:latin typeface="Times New Roman" panose="02020603050405020304" pitchFamily="18" charset="0"/>
                          <a:cs typeface="Times New Roman" panose="02020603050405020304" pitchFamily="18" charset="0"/>
                        </a:rPr>
                        <a:t>Learn more about Containers</a:t>
                      </a:r>
                    </a:p>
                  </a:txBody>
                  <a:tcPr marL="52850" marR="52850" marT="26425" marB="26425" anchor="ctr">
                    <a:lnL>
                      <a:noFill/>
                    </a:lnL>
                    <a:lnR>
                      <a:noFill/>
                    </a:lnR>
                    <a:lnT>
                      <a:noFill/>
                    </a:lnT>
                    <a:lnB>
                      <a:noFill/>
                    </a:lnB>
                    <a:noFill/>
                  </a:tcPr>
                </a:tc>
                <a:tc>
                  <a:txBody>
                    <a:bodyPr/>
                    <a:lstStyle/>
                    <a:p>
                      <a:r>
                        <a:rPr lang="en-IN" sz="1100" b="1" dirty="0">
                          <a:effectLst/>
                          <a:latin typeface="Times New Roman" panose="02020603050405020304" pitchFamily="18" charset="0"/>
                          <a:cs typeface="Times New Roman" panose="02020603050405020304" pitchFamily="18" charset="0"/>
                        </a:rPr>
                        <a:t>Learn more about Virtual Machines</a:t>
                      </a:r>
                    </a:p>
                  </a:txBody>
                  <a:tcPr marL="52850" marR="52850" marT="26425" marB="26425" anchor="ctr">
                    <a:lnL>
                      <a:noFill/>
                    </a:lnL>
                    <a:lnR>
                      <a:noFill/>
                    </a:lnR>
                    <a:lnT>
                      <a:noFill/>
                    </a:lnT>
                    <a:lnB>
                      <a:noFill/>
                    </a:lnB>
                    <a:noFill/>
                  </a:tcPr>
                </a:tc>
                <a:extLst>
                  <a:ext uri="{0D108BD9-81ED-4DB2-BD59-A6C34878D82A}">
                    <a16:rowId xmlns:a16="http://schemas.microsoft.com/office/drawing/2014/main" val="678066274"/>
                  </a:ext>
                </a:extLst>
              </a:tr>
            </a:tbl>
          </a:graphicData>
        </a:graphic>
      </p:graphicFrame>
    </p:spTree>
    <p:extLst>
      <p:ext uri="{BB962C8B-B14F-4D97-AF65-F5344CB8AC3E}">
        <p14:creationId xmlns:p14="http://schemas.microsoft.com/office/powerpoint/2010/main" val="104475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a:br>
              <a:rPr lang="en-IN" b="0" i="0" u="none" strike="noStrike" dirty="0">
                <a:solidFill>
                  <a:srgbClr val="1D2125"/>
                </a:solidFill>
                <a:effectLst/>
                <a:latin typeface="Poppins" pitchFamily="2" charset="77"/>
              </a:rPr>
            </a:br>
            <a:r>
              <a:rPr lang="en-IN" sz="2400" b="0" i="0" u="none" strike="noStrike" dirty="0">
                <a:solidFill>
                  <a:srgbClr val="455A64"/>
                </a:solidFill>
                <a:effectLst/>
                <a:latin typeface="Poppins" pitchFamily="2" charset="77"/>
              </a:rPr>
              <a:t>How can AWS help with your containers and virtual machines?</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has several services to support all your application deployment needs. Here are some examples: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App2Container is a containerization tool that allows software developers to modernize legacy applications. Developers use AWS App2Container to turn Java and .NET applications into containerized applications.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Container Registry (Amazon ECR</a:t>
            </a:r>
            <a:r>
              <a:rPr lang="en-IN" sz="1600" b="0" i="0" u="sng" strike="noStrike" dirty="0">
                <a:solidFill>
                  <a:srgbClr val="1D2125"/>
                </a:solidFill>
                <a:effectLst/>
                <a:latin typeface="Times New Roman" panose="02020603050405020304" pitchFamily="18" charset="0"/>
                <a:cs typeface="Times New Roman" panose="02020603050405020304" pitchFamily="18" charset="0"/>
              </a:rPr>
              <a:t>)</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highly available and secure private container repository that makes it easy to store and manage Docker container images.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Container Service (Amazon ECS</a:t>
            </a:r>
            <a:r>
              <a:rPr lang="en-IN" sz="1600" b="0" i="0" u="sng" strike="noStrike" dirty="0">
                <a:solidFill>
                  <a:srgbClr val="1D2125"/>
                </a:solidFill>
                <a:effectLst/>
                <a:latin typeface="Times New Roman" panose="02020603050405020304" pitchFamily="18" charset="0"/>
                <a:cs typeface="Times New Roman" panose="02020603050405020304" pitchFamily="18" charset="0"/>
              </a:rPr>
              <a:t>)</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highly scalable, high-performance container orchestration service to run Docker containers on the AWS Cloud.</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Amazon Elastic Compute Cloud (Amazon EC2) lets you exercise granular control over your cloud instances and choose the processors, storage, and networking you want.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AWS </a:t>
            </a:r>
            <a:r>
              <a:rPr lang="en-IN" sz="1600" b="0" i="0" u="none" strike="noStrike" dirty="0" err="1">
                <a:solidFill>
                  <a:srgbClr val="1D2125"/>
                </a:solidFill>
                <a:effectLst/>
                <a:latin typeface="Times New Roman" panose="02020603050405020304" pitchFamily="18" charset="0"/>
                <a:cs typeface="Times New Roman" panose="02020603050405020304" pitchFamily="18" charset="0"/>
              </a:rPr>
              <a:t>Fargate</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is a technology for Amazon ECS that lets you run Docker containers without deploying or managing infrastructure.</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VMWare Cloud on AWS lets you simplify and accelerate the migration of mission-critical production workloads from on-premises virtual machines to the AWS Cloud.</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Id7"/>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1856</TotalTime>
  <Words>1872</Words>
  <Application>Microsoft Macintosh PowerPoint</Application>
  <PresentationFormat>On-screen Show (4:3)</PresentationFormat>
  <Paragraphs>104</Paragraphs>
  <Slides>15</Slides>
  <Notes>7</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15</vt:i4>
      </vt:variant>
    </vt:vector>
  </HeadingPairs>
  <TitlesOfParts>
    <vt:vector size="37" baseType="lpstr">
      <vt:lpstr>Times New Roman</vt:lpstr>
      <vt:lpstr>Lucida Console</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Bitcoin </vt:lpstr>
      <vt:lpstr>PowerPoint Presentation</vt:lpstr>
      <vt:lpstr>PowerPoint Presentation</vt:lpstr>
      <vt:lpstr>PowerPoint Presentation</vt:lpstr>
      <vt:lpstr>What is Blockchain as a Service?</vt:lpstr>
      <vt:lpstr>PowerPoint Presentation</vt:lpstr>
      <vt:lpstr>       Where are containers and virtual machines used?        </vt:lpstr>
      <vt:lpstr>     Challenges in software deployment       </vt:lpstr>
      <vt:lpstr>PowerPoint Presentation</vt:lpstr>
      <vt:lpstr>PowerPoint Presentation</vt:lpstr>
      <vt:lpstr>PowerPoint Presentation</vt:lpstr>
      <vt:lpstr> How can AWS help with your containers and virtual machines?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130</cp:revision>
  <dcterms:created xsi:type="dcterms:W3CDTF">2013-12-12T17:34:34Z</dcterms:created>
  <dcterms:modified xsi:type="dcterms:W3CDTF">2024-06-26T03:10:17Z</dcterms:modified>
</cp:coreProperties>
</file>