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svg" ContentType="image/svg+xml"/>
  <Default Extension="emf" ContentType="image/x-emf"/>
  <Default Extension="jpg" ContentType="image/jpeg"/>
  <Default Extension="tiff" ContentType="image/tiff"/>
  <Default Extension="bin" ContentType="application/vnd.openxmlformats-officedocument.oleObject"/>
  <Default Extension="rels" ContentType="application/vnd.openxmlformats-package.relationship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Masters/slideMaster4.xml" ContentType="application/vnd.openxmlformats-officedocument.presentationml.slideMaster+xml"/>
  <Override PartName="/ppt/slideMasters/theme/theme6.xml" ContentType="application/vnd.openxmlformats-officedocument.theme+xml"/>
  <Override PartName="/ppt/slideLayouts/slideLayout19.xml" ContentType="application/vnd.openxmlformats-officedocument.presentationml.slideLayout+xml"/>
  <Override PartName="/ppt/slideMasters/slideMaster7.xml" ContentType="application/vnd.openxmlformats-officedocument.presentationml.slideMaster+xml"/>
  <Override PartName="/ppt/slideMasters/theme/theme9.xml" ContentType="application/vnd.openxmlformats-officedocument.theme+xml"/>
  <Override PartName="/ppt/slideLayouts/slideLayout22.xml" ContentType="application/vnd.openxmlformats-officedocument.presentationml.slideLayout+xml"/>
  <Override PartName="/ppt/slideMasters/slideMaster11.xml" ContentType="application/vnd.openxmlformats-officedocument.presentationml.slideMaster+xml"/>
  <Override PartName="/ppt/slideMasters/theme/theme13.xml" ContentType="application/vnd.openxmlformats-officedocument.theme+xml"/>
  <Override PartName="/ppt/slideLayouts/slideLayout26.xml" ContentType="application/vnd.openxmlformats-officedocument.presentationml.slideLayout+xml"/>
  <Override PartName="/ppt/slideMasters/slideMaster13.xml" ContentType="application/vnd.openxmlformats-officedocument.presentationml.slideMaster+xml"/>
  <Override PartName="/ppt/slideMasters/theme/theme15.xml" ContentType="application/vnd.openxmlformats-officedocument.theme+xml"/>
  <Override PartName="/ppt/slideLayouts/slideLayout28.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1.xml" ContentType="application/vnd.openxmlformats-officedocument.presentationml.notesSlide+xml"/>
  <Override PartName="/ppt/slides/slide22.xml" ContentType="application/vnd.openxmlformats-officedocument.presentationml.slide+xml"/>
  <Override PartName="/ppt/notesSlides/notesSlide2.xml" ContentType="application/vnd.openxmlformats-officedocument.presentationml.notesSlide+xml"/>
  <Override PartName="/ppt/slides/slide23.xml" ContentType="application/vnd.openxmlformats-officedocument.presentationml.slide+xml"/>
  <Override PartName="/ppt/notesSlides/notesSlide3.xml" ContentType="application/vnd.openxmlformats-officedocument.presentationml.notesSlide+xml"/>
  <Override PartName="/ppt/slides/slide24.xml" ContentType="application/vnd.openxmlformats-officedocument.presentationml.slide+xml"/>
  <Override PartName="/ppt/notesSlides/notesSlide4.xml" ContentType="application/vnd.openxmlformats-officedocument.presentationml.notesSlide+xml"/>
  <Override PartName="/ppt/slides/slide25.xml" ContentType="application/vnd.openxmlformats-officedocument.presentationml.slide+xml"/>
  <Override PartName="/ppt/notesSlides/notesSlide5.xml" ContentType="application/vnd.openxmlformats-officedocument.presentationml.notesSlide+xml"/>
  <Override PartName="/ppt/slides/slide26.xml" ContentType="application/vnd.openxmlformats-officedocument.presentationml.slide+xml"/>
  <Override PartName="/ppt/notesSlides/notesSlide6.xml" ContentType="application/vnd.openxmlformats-officedocument.presentationml.notes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7.xml" ContentType="application/vnd.openxmlformats-officedocument.presentationml.notesSlide+xml"/>
  <Override PartName="/ppt/slides/slide41.xml" ContentType="application/vnd.openxmlformats-officedocument.presentationml.slide+xml"/>
  <Override PartName="/ppt/notesSlides/notesSlide8.xml" ContentType="application/vnd.openxmlformats-officedocument.presentationml.notesSlide+xml"/>
  <Override PartName="/ppt/slides/slide42.xml" ContentType="application/vnd.openxmlformats-officedocument.presentationml.slide+xml"/>
  <Override PartName="/ppt/notesSlides/notesSlide9.xml" ContentType="application/vnd.openxmlformats-officedocument.presentationml.notesSlide+xml"/>
  <Override PartName="/ppt/slides/slide43.xml" ContentType="application/vnd.openxmlformats-officedocument.presentationml.slide+xml"/>
  <Override PartName="/ppt/notesSlides/notesSlide10.xml" ContentType="application/vnd.openxmlformats-officedocument.presentationml.notesSlide+xml"/>
  <Override PartName="/ppt/slides/slide44.xml" ContentType="application/vnd.openxmlformats-officedocument.presentationml.slide+xml"/>
  <Override PartName="/ppt/notesSlides/notesSlide11.xml" ContentType="application/vnd.openxmlformats-officedocument.presentationml.notesSlide+xml"/>
  <Override PartName="/ppt/slides/slide45.xml" ContentType="application/vnd.openxmlformats-officedocument.presentationml.slide+xml"/>
  <Override PartName="/ppt/notesSlides/notesSlide12.xml" ContentType="application/vnd.openxmlformats-officedocument.presentationml.notesSlide+xml"/>
  <Override PartName="/ppt/slides/slide46.xml" ContentType="application/vnd.openxmlformats-officedocument.presentationml.slide+xml"/>
  <Override PartName="/ppt/notesSlides/notesSlide13.xml" ContentType="application/vnd.openxmlformats-officedocument.presentationml.notes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14.xml" ContentType="application/vnd.openxmlformats-officedocument.presentationml.notesSlide+xml"/>
  <Override PartName="/ppt/slides/slide59.xml" ContentType="application/vnd.openxmlformats-officedocument.presentationml.slide+xml"/>
  <Override PartName="/ppt/notesSlides/notesSlide15.xml" ContentType="application/vnd.openxmlformats-officedocument.presentationml.notesSlide+xml"/>
  <Override PartName="/ppt/slides/slide60.xml" ContentType="application/vnd.openxmlformats-officedocument.presentationml.slide+xml"/>
  <Override PartName="/ppt/notesSlides/notesSlide16.xml" ContentType="application/vnd.openxmlformats-officedocument.presentationml.notesSlide+xml"/>
  <Override PartName="/ppt/slides/slide61.xml" ContentType="application/vnd.openxmlformats-officedocument.presentationml.slide+xml"/>
  <Override PartName="/ppt/notesSlides/notesSlide17.xml" ContentType="application/vnd.openxmlformats-officedocument.presentationml.notesSlide+xml"/>
  <Override PartName="/ppt/slides/slide62.xml" ContentType="application/vnd.openxmlformats-officedocument.presentationml.slide+xml"/>
  <Override PartName="/ppt/notesSlides/notesSlide18.xml" ContentType="application/vnd.openxmlformats-officedocument.presentationml.notesSlide+xml"/>
  <Override PartName="/ppt/slides/slide63.xml" ContentType="application/vnd.openxmlformats-officedocument.presentationml.slide+xml"/>
  <Override PartName="/ppt/notesSlides/notesSlide19.xml" ContentType="application/vnd.openxmlformats-officedocument.presentationml.notesSlide+xml"/>
  <Override PartName="/ppt/slides/slide64.xml" ContentType="application/vnd.openxmlformats-officedocument.presentationml.slide+xml"/>
  <Override PartName="/ppt/notesSlides/notesSlide20.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21.xml" ContentType="application/vnd.openxmlformats-officedocument.presentationml.notesSlide+xml"/>
  <Override PartName="/ppt/slides/slide84.xml" ContentType="application/vnd.openxmlformats-officedocument.presentationml.slide+xml"/>
  <Override PartName="/ppt/notesSlides/notesSlide22.xml" ContentType="application/vnd.openxmlformats-officedocument.presentationml.notesSlide+xml"/>
  <Override PartName="/ppt/slides/slide85.xml" ContentType="application/vnd.openxmlformats-officedocument.presentationml.slide+xml"/>
  <Override PartName="/ppt/notesSlides/notesSlide23.xml" ContentType="application/vnd.openxmlformats-officedocument.presentationml.notesSlide+xml"/>
  <Override PartName="/ppt/slides/slide86.xml" ContentType="application/vnd.openxmlformats-officedocument.presentationml.slide+xml"/>
  <Override PartName="/ppt/notesSlides/notesSlide24.xml" ContentType="application/vnd.openxmlformats-officedocument.presentationml.notesSlide+xml"/>
  <Override PartName="/ppt/slides/slide87.xml" ContentType="application/vnd.openxmlformats-officedocument.presentationml.slide+xml"/>
  <Override PartName="/ppt/notesSlides/notesSlide25.xml" ContentType="application/vnd.openxmlformats-officedocument.presentationml.notesSlide+xml"/>
  <Override PartName="/ppt/slides/slide88.xml" ContentType="application/vnd.openxmlformats-officedocument.presentationml.slide+xml"/>
  <Override PartName="/ppt/notesSlides/notesSlide26.xml" ContentType="application/vnd.openxmlformats-officedocument.presentationml.notesSlide+xml"/>
  <Override PartName="/ppt/slides/slide89.xml" ContentType="application/vnd.openxmlformats-officedocument.presentationml.slide+xml"/>
  <Override PartName="/ppt/notesSlides/notesSlide27.xml" ContentType="application/vnd.openxmlformats-officedocument.presentationml.notes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Slides/notesSlide28.xml" ContentType="application/vnd.openxmlformats-officedocument.presentationml.notesSlide+xml"/>
  <Override PartName="/ppt/slides/slide100.xml" ContentType="application/vnd.openxmlformats-officedocument.presentationml.slide+xml"/>
  <Override PartName="/ppt/notesSlides/notesSlide29.xml" ContentType="application/vnd.openxmlformats-officedocument.presentationml.notesSlide+xml"/>
  <Override PartName="/ppt/slides/slide101.xml" ContentType="application/vnd.openxmlformats-officedocument.presentationml.slide+xml"/>
  <Override PartName="/ppt/notesSlides/notesSlide30.xml" ContentType="application/vnd.openxmlformats-officedocument.presentationml.notesSlide+xml"/>
  <Override PartName="/ppt/slides/slide102.xml" ContentType="application/vnd.openxmlformats-officedocument.presentationml.slide+xml"/>
  <Override PartName="/ppt/notesSlides/notesSlide31.xml" ContentType="application/vnd.openxmlformats-officedocument.presentationml.notesSlide+xml"/>
  <Override PartName="/ppt/slides/slide103.xml" ContentType="application/vnd.openxmlformats-officedocument.presentationml.slide+xml"/>
  <Override PartName="/ppt/notesSlides/notesSlide32.xml" ContentType="application/vnd.openxmlformats-officedocument.presentationml.notesSlide+xml"/>
  <Override PartName="/ppt/slides/slide104.xml" ContentType="application/vnd.openxmlformats-officedocument.presentationml.slide+xml"/>
  <Override PartName="/ppt/notesSlides/notesSlide33.xml" ContentType="application/vnd.openxmlformats-officedocument.presentationml.notesSlide+xml"/>
  <Override PartName="/ppt/slides/slide105.xml" ContentType="application/vnd.openxmlformats-officedocument.presentationml.slide+xml"/>
  <Override PartName="/ppt/notesSlides/notesSlide34.xml" ContentType="application/vnd.openxmlformats-officedocument.presentationml.notes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Slides/notesSlide35.xml" ContentType="application/vnd.openxmlformats-officedocument.presentationml.notesSlide+xml"/>
  <Override PartName="/ppt/slides/slide115.xml" ContentType="application/vnd.openxmlformats-officedocument.presentationml.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576863d19b414a79" /><Relationship Type="http://schemas.openxmlformats.org/package/2006/relationships/metadata/core-properties" Target="/docProps/core.xml" Id="Rc4f7babba3f34047" /><Relationship Type="http://schemas.openxmlformats.org/officeDocument/2006/relationships/extended-properties" Target="/docProps/app.xml" Id="R30526b3637bb4776"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4b989b31b6a74da2"/>
    <p:sldMasterId id="2147483669" r:id="R644c07caeb464015"/>
    <p:sldMasterId id="2147483675" r:id="R2101226205504587"/>
    <p:sldMasterId id="2147483683" r:id="R79afa556ef5d4d58"/>
    <p:sldMasterId id="2147483687" r:id="R7eba87e3b4104579"/>
  </p:sldMasterIdLst>
  <p:notesMasterIdLst>
    <p:notesMasterId r:id="R58a305251b474771"/>
  </p:notesMasterIdLst>
  <p:handoutMasterIdLst>
    <p:handoutMasterId r:id="Rfad99af7e81044c7"/>
  </p:handoutMasterIdLst>
  <p:sldIdLst>
    <p:sldId id="256" r:id="R4eabe5b88b8b4cf9"/>
    <p:sldId id="257" r:id="R0457ffbada504913"/>
    <p:sldId id="258" r:id="R22e80bd8807a45cd"/>
    <p:sldId id="259" r:id="R7effdcc3b6f4440c"/>
    <p:sldId id="260" r:id="R2f9ef5401def4478"/>
    <p:sldId id="261" r:id="R9327f1256e3e4f18"/>
    <p:sldId id="262" r:id="R5a227fba91b34472"/>
    <p:sldId id="263" r:id="R5a25f506403e420d"/>
    <p:sldId id="264" r:id="R43a31b1329534560"/>
    <p:sldId id="265" r:id="R4c85d76dfa3a4d79"/>
    <p:sldId id="266" r:id="Rab594cb20be94a66"/>
    <p:sldId id="267" r:id="R9ab00a04829f4b22"/>
    <p:sldId id="268" r:id="R22601c525b8943d1"/>
    <p:sldId id="269" r:id="R7e04944d497c498b"/>
    <p:sldId id="270" r:id="R736529c2d1f74cdd"/>
    <p:sldId id="271" r:id="Rac9ac8236ab4467d"/>
    <p:sldId id="272" r:id="R40a4fb7647844b4e"/>
    <p:sldId id="273" r:id="R30b790cde3854532"/>
    <p:sldId id="274" r:id="R5b2478ff1ba24762"/>
    <p:sldId id="275" r:id="R8714976b0f2d4664"/>
    <p:sldId id="276" r:id="R2e7bf2e341a24eca"/>
    <p:sldId id="277" r:id="R3e0a2c536a6a401d"/>
    <p:sldId id="278" r:id="R280b929b94914add"/>
    <p:sldId id="279" r:id="Rb45dc69de8854c8f"/>
    <p:sldId id="280" r:id="R5fd4857f885f414c"/>
    <p:sldId id="281" r:id="R00baeaf2cd744a64"/>
    <p:sldId id="282" r:id="Rb077898508ff4c24"/>
    <p:sldId id="283" r:id="R53fed17c2fa34a05"/>
    <p:sldId id="284" r:id="R69cbdafa64664e08"/>
    <p:sldId id="285" r:id="R0d35ac8f74214e4e"/>
    <p:sldId id="286" r:id="Re24f5b14cdfb4e6f"/>
    <p:sldId id="287" r:id="Rcc782da6bb304beb"/>
    <p:sldId id="288" r:id="Rb6e5b7b5190e44eb"/>
    <p:sldId id="289" r:id="Re796ffbde79e412a"/>
    <p:sldId id="290" r:id="Rdc45a5bf147a42fc"/>
    <p:sldId id="291" r:id="Rc9812107a1b94166"/>
    <p:sldId id="292" r:id="R43be9f2dfac44fac"/>
    <p:sldId id="293" r:id="R7fcc779f1e094d8d"/>
    <p:sldId id="294" r:id="R6f9fbf9b40c944c7"/>
    <p:sldId id="295" r:id="R9aaf560dbe3c4093"/>
    <p:sldId id="296" r:id="Rf61833bc2b784ab4"/>
    <p:sldId id="297" r:id="R050652b9c9fc4b14"/>
    <p:sldId id="298" r:id="R5fcc976d11fd4056"/>
    <p:sldId id="299" r:id="R10cefd907c524dde"/>
    <p:sldId id="300" r:id="Rbacdf4cd7a30453a"/>
    <p:sldId id="301" r:id="R454b64bddae1489f"/>
    <p:sldId id="302" r:id="R570b88d3990e455a"/>
    <p:sldId id="303" r:id="R18a9abe8606f4ebd"/>
    <p:sldId id="304" r:id="R4394115a4e164f30"/>
    <p:sldId id="305" r:id="Rfc08b4a4849c4123"/>
    <p:sldId id="306" r:id="Re3d3578c985843cc"/>
    <p:sldId id="307" r:id="Rb833daa8d5074790"/>
    <p:sldId id="308" r:id="R1095af38d5ae4965"/>
    <p:sldId id="309" r:id="Rd0898963e5a84059"/>
    <p:sldId id="310" r:id="R363df8ba2d8b45bf"/>
    <p:sldId id="311" r:id="R5ea0c73b1c074209"/>
    <p:sldId id="312" r:id="Rd6416f284aab43ff"/>
    <p:sldId id="313" r:id="R714ac4c452a64b6c"/>
    <p:sldId id="314" r:id="Re4f6a8bc8bcd4992"/>
    <p:sldId id="315" r:id="R2d37a3f2cd044b86"/>
    <p:sldId id="316" r:id="R87f420cc9ce64cbe"/>
    <p:sldId id="317" r:id="Rb4c54c32493447a3"/>
    <p:sldId id="318" r:id="R5563f2d253e44186"/>
    <p:sldId id="319" r:id="R5f34ae1cbc4a48d7"/>
    <p:sldId id="320" r:id="R84df9819593c42a8"/>
    <p:sldId id="321" r:id="R9d07f4784b6b4d51"/>
    <p:sldId id="322" r:id="R46c1e130b3e34a2c"/>
    <p:sldId id="323" r:id="R83a35fbe9bdf4915"/>
    <p:sldId id="324" r:id="Rabc8478f2a674e52"/>
    <p:sldId id="325" r:id="R5985dcb5cd5d42a4"/>
    <p:sldId id="326" r:id="Re6ff13f94c3643a7"/>
    <p:sldId id="327" r:id="Rb7bf01d361c54ed6"/>
    <p:sldId id="328" r:id="Rd6535f194f39413c"/>
    <p:sldId id="329" r:id="R9ef8ca9f56ca463e"/>
    <p:sldId id="330" r:id="R6f24b1097a7346fb"/>
    <p:sldId id="331" r:id="R33bc364bcada4db3"/>
    <p:sldId id="332" r:id="R64185a7fb8594b36"/>
    <p:sldId id="333" r:id="R93d0cfa5a008431c"/>
    <p:sldId id="334" r:id="R9a6b2595d8c1470d"/>
    <p:sldId id="335" r:id="R6836d422eb184290"/>
    <p:sldId id="336" r:id="Re63b4ec0c40c41ce"/>
    <p:sldId id="337" r:id="R1237808519824326"/>
    <p:sldId id="338" r:id="Rf335b9f0736943b9"/>
    <p:sldId id="339" r:id="R3308207e946c49a6"/>
    <p:sldId id="340" r:id="Rc1e0a62ffeed4d92"/>
    <p:sldId id="341" r:id="Re5a8ea4a24b242a6"/>
    <p:sldId id="342" r:id="R519d65c473bb4e43"/>
    <p:sldId id="343" r:id="R517c1b917a2148c7"/>
    <p:sldId id="344" r:id="R454b3c02baff4063"/>
    <p:sldId id="345" r:id="R54cb8375b44843d7"/>
    <p:sldId id="346" r:id="Rc9ebd4d0b5ee408a"/>
    <p:sldId id="347" r:id="R46e9d3ef19cb448e"/>
    <p:sldId id="348" r:id="R931a052aa1fb481c"/>
    <p:sldId id="349" r:id="Rea55240ac0604610"/>
    <p:sldId id="350" r:id="R67c8881a468a4b02"/>
    <p:sldId id="351" r:id="Rdb2c3fcccbec4e35"/>
    <p:sldId id="352" r:id="R1039c13aea5b472b"/>
    <p:sldId id="353" r:id="R61688c94aa324f72"/>
    <p:sldId id="354" r:id="Rac45078fd47a4a5b"/>
    <p:sldId id="355" r:id="Rde9b7a138104487a"/>
    <p:sldId id="356" r:id="R459d189c5cc44ea1"/>
    <p:sldId id="357" r:id="R984c54a112274085"/>
    <p:sldId id="358" r:id="Rcc860105950449fe"/>
    <p:sldId id="359" r:id="R5d945871eb104f8d"/>
    <p:sldId id="360" r:id="Re3c66ef37efc4afb"/>
    <p:sldId id="361" r:id="Reec54b20fcdf46c0"/>
    <p:sldId id="362" r:id="Rd8de492e686b4966"/>
    <p:sldId id="363" r:id="Rc6053380395c4134"/>
    <p:sldId id="364" r:id="Raa6411dee9174da0"/>
    <p:sldId id="365" r:id="R29eae268af504f29"/>
    <p:sldId id="366" r:id="R6d1f85c254654f33"/>
    <p:sldId id="367" r:id="Rfe28e4e945b34322"/>
    <p:sldId id="368" r:id="Rdf16ead1ca1742bc"/>
    <p:sldId id="369" r:id="Rfc5e624f97c348b8"/>
    <p:sldId id="370" r:id="R250d74ca319744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C2C2C"/>
    <a:srgbClr val="FF40FF"/>
    <a:srgbClr val="FF00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30"/>
    <p:restoredTop sz="86422"/>
  </p:normalViewPr>
  <p:slideViewPr>
    <p:cSldViewPr snapToObjects="1">
      <p:cViewPr varScale="1">
        <p:scale>
          <a:sx n="102" d="100"/>
          <a:sy n="102" d="100"/>
        </p:scale>
        <p:origin x="216" y="576"/>
      </p:cViewPr>
      <p:guideLst/>
    </p:cSldViewPr>
  </p:slideViewPr>
  <p:outlineViewPr>
    <p:cViewPr>
      <p:scale>
        <a:sx n="33" d="100"/>
        <a:sy n="33" d="100"/>
      </p:scale>
      <p:origin x="0" y="-2816"/>
    </p:cViewPr>
  </p:outlineViewPr>
  <p:notesTextViewPr>
    <p:cViewPr>
      <p:scale>
        <a:sx n="1" d="1"/>
        <a:sy n="1" d="1"/>
      </p:scale>
      <p:origin x="0" y="0"/>
    </p:cViewPr>
  </p:notesTextViewPr>
  <p:sorterViewPr>
    <p:cViewPr>
      <p:scale>
        <a:sx n="66" d="100"/>
        <a:sy n="66" d="100"/>
      </p:scale>
      <p:origin x="0" y="0"/>
    </p:cViewPr>
  </p:sorterViewPr>
  <p:notesViewPr>
    <p:cSldViewPr snapToObjects="1" showGuides="1">
      <p:cViewPr varScale="1">
        <p:scale>
          <a:sx n="121" d="100"/>
          <a:sy n="121" d="100"/>
        </p:scale>
        <p:origin x="3864" y="16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fad99af7e81044c7" /><Relationship Type="http://schemas.openxmlformats.org/officeDocument/2006/relationships/notesMaster" Target="/ppt/notesMasters/notesMaster1.xml" Id="R58a305251b474771" /><Relationship Type="http://schemas.openxmlformats.org/officeDocument/2006/relationships/presProps" Target="/ppt/presProps.xml" Id="Rd82c22b17ba94e33" /><Relationship Type="http://schemas.openxmlformats.org/officeDocument/2006/relationships/viewProps" Target="/ppt/viewProps.xml" Id="Rd431321bd21d4501" /><Relationship Type="http://schemas.openxmlformats.org/officeDocument/2006/relationships/slideMaster" Target="/ppt/slideMasters/slideMaster1.xml" Id="R4b989b31b6a74da2" /><Relationship Type="http://schemas.openxmlformats.org/officeDocument/2006/relationships/theme" Target="/ppt/slideMasters/theme/theme3.xml" Id="Rb73d4fc17b694b3d" /><Relationship Type="http://schemas.openxmlformats.org/officeDocument/2006/relationships/slideMaster" Target="/ppt/slideMasters/slideMaster4.xml" Id="R644c07caeb464015" /><Relationship Type="http://schemas.openxmlformats.org/officeDocument/2006/relationships/slideMaster" Target="/ppt/slideMasters/slideMaster7.xml" Id="R2101226205504587" /><Relationship Type="http://schemas.openxmlformats.org/officeDocument/2006/relationships/slideMaster" Target="/ppt/slideMasters/slideMaster11.xml" Id="R79afa556ef5d4d58" /><Relationship Type="http://schemas.openxmlformats.org/officeDocument/2006/relationships/slideMaster" Target="/ppt/slideMasters/slideMaster13.xml" Id="R7eba87e3b4104579" /><Relationship Type="http://schemas.openxmlformats.org/officeDocument/2006/relationships/slide" Target="/ppt/slides/slide1.xml" Id="R4eabe5b88b8b4cf9" /><Relationship Type="http://schemas.openxmlformats.org/officeDocument/2006/relationships/slide" Target="/ppt/slides/slide2.xml" Id="R0457ffbada504913" /><Relationship Type="http://schemas.openxmlformats.org/officeDocument/2006/relationships/slide" Target="/ppt/slides/slide3.xml" Id="R22e80bd8807a45cd" /><Relationship Type="http://schemas.openxmlformats.org/officeDocument/2006/relationships/slide" Target="/ppt/slides/slide4.xml" Id="R7effdcc3b6f4440c" /><Relationship Type="http://schemas.openxmlformats.org/officeDocument/2006/relationships/slide" Target="/ppt/slides/slide5.xml" Id="R2f9ef5401def4478" /><Relationship Type="http://schemas.openxmlformats.org/officeDocument/2006/relationships/slide" Target="/ppt/slides/slide6.xml" Id="R9327f1256e3e4f18" /><Relationship Type="http://schemas.openxmlformats.org/officeDocument/2006/relationships/slide" Target="/ppt/slides/slide7.xml" Id="R5a227fba91b34472" /><Relationship Type="http://schemas.openxmlformats.org/officeDocument/2006/relationships/slide" Target="/ppt/slides/slide8.xml" Id="R5a25f506403e420d" /><Relationship Type="http://schemas.openxmlformats.org/officeDocument/2006/relationships/slide" Target="/ppt/slides/slide9.xml" Id="R43a31b1329534560" /><Relationship Type="http://schemas.openxmlformats.org/officeDocument/2006/relationships/slide" Target="/ppt/slides/slide10.xml" Id="R4c85d76dfa3a4d79" /><Relationship Type="http://schemas.openxmlformats.org/officeDocument/2006/relationships/slide" Target="/ppt/slides/slide11.xml" Id="Rab594cb20be94a66" /><Relationship Type="http://schemas.openxmlformats.org/officeDocument/2006/relationships/slide" Target="/ppt/slides/slide12.xml" Id="R9ab00a04829f4b22" /><Relationship Type="http://schemas.openxmlformats.org/officeDocument/2006/relationships/slide" Target="/ppt/slides/slide13.xml" Id="R22601c525b8943d1" /><Relationship Type="http://schemas.openxmlformats.org/officeDocument/2006/relationships/slide" Target="/ppt/slides/slide14.xml" Id="R7e04944d497c498b" /><Relationship Type="http://schemas.openxmlformats.org/officeDocument/2006/relationships/slide" Target="/ppt/slides/slide15.xml" Id="R736529c2d1f74cdd" /><Relationship Type="http://schemas.openxmlformats.org/officeDocument/2006/relationships/slide" Target="/ppt/slides/slide16.xml" Id="Rac9ac8236ab4467d" /><Relationship Type="http://schemas.openxmlformats.org/officeDocument/2006/relationships/slide" Target="/ppt/slides/slide17.xml" Id="R40a4fb7647844b4e" /><Relationship Type="http://schemas.openxmlformats.org/officeDocument/2006/relationships/slide" Target="/ppt/slides/slide18.xml" Id="R30b790cde3854532" /><Relationship Type="http://schemas.openxmlformats.org/officeDocument/2006/relationships/slide" Target="/ppt/slides/slide19.xml" Id="R5b2478ff1ba24762" /><Relationship Type="http://schemas.openxmlformats.org/officeDocument/2006/relationships/slide" Target="/ppt/slides/slide20.xml" Id="R8714976b0f2d4664" /><Relationship Type="http://schemas.openxmlformats.org/officeDocument/2006/relationships/slide" Target="/ppt/slides/slide21.xml" Id="R2e7bf2e341a24eca" /><Relationship Type="http://schemas.openxmlformats.org/officeDocument/2006/relationships/slide" Target="/ppt/slides/slide22.xml" Id="R3e0a2c536a6a401d" /><Relationship Type="http://schemas.openxmlformats.org/officeDocument/2006/relationships/slide" Target="/ppt/slides/slide23.xml" Id="R280b929b94914add" /><Relationship Type="http://schemas.openxmlformats.org/officeDocument/2006/relationships/slide" Target="/ppt/slides/slide24.xml" Id="Rb45dc69de8854c8f" /><Relationship Type="http://schemas.openxmlformats.org/officeDocument/2006/relationships/slide" Target="/ppt/slides/slide25.xml" Id="R5fd4857f885f414c" /><Relationship Type="http://schemas.openxmlformats.org/officeDocument/2006/relationships/slide" Target="/ppt/slides/slide26.xml" Id="R00baeaf2cd744a64" /><Relationship Type="http://schemas.openxmlformats.org/officeDocument/2006/relationships/slide" Target="/ppt/slides/slide27.xml" Id="Rb077898508ff4c24" /><Relationship Type="http://schemas.openxmlformats.org/officeDocument/2006/relationships/slide" Target="/ppt/slides/slide28.xml" Id="R53fed17c2fa34a05" /><Relationship Type="http://schemas.openxmlformats.org/officeDocument/2006/relationships/slide" Target="/ppt/slides/slide29.xml" Id="R69cbdafa64664e08" /><Relationship Type="http://schemas.openxmlformats.org/officeDocument/2006/relationships/slide" Target="/ppt/slides/slide30.xml" Id="R0d35ac8f74214e4e" /><Relationship Type="http://schemas.openxmlformats.org/officeDocument/2006/relationships/slide" Target="/ppt/slides/slide31.xml" Id="Re24f5b14cdfb4e6f" /><Relationship Type="http://schemas.openxmlformats.org/officeDocument/2006/relationships/slide" Target="/ppt/slides/slide32.xml" Id="Rcc782da6bb304beb" /><Relationship Type="http://schemas.openxmlformats.org/officeDocument/2006/relationships/slide" Target="/ppt/slides/slide33.xml" Id="Rb6e5b7b5190e44eb" /><Relationship Type="http://schemas.openxmlformats.org/officeDocument/2006/relationships/slide" Target="/ppt/slides/slide34.xml" Id="Re796ffbde79e412a" /><Relationship Type="http://schemas.openxmlformats.org/officeDocument/2006/relationships/slide" Target="/ppt/slides/slide35.xml" Id="Rdc45a5bf147a42fc" /><Relationship Type="http://schemas.openxmlformats.org/officeDocument/2006/relationships/slide" Target="/ppt/slides/slide36.xml" Id="Rc9812107a1b94166" /><Relationship Type="http://schemas.openxmlformats.org/officeDocument/2006/relationships/slide" Target="/ppt/slides/slide37.xml" Id="R43be9f2dfac44fac" /><Relationship Type="http://schemas.openxmlformats.org/officeDocument/2006/relationships/slide" Target="/ppt/slides/slide38.xml" Id="R7fcc779f1e094d8d" /><Relationship Type="http://schemas.openxmlformats.org/officeDocument/2006/relationships/slide" Target="/ppt/slides/slide39.xml" Id="R6f9fbf9b40c944c7" /><Relationship Type="http://schemas.openxmlformats.org/officeDocument/2006/relationships/slide" Target="/ppt/slides/slide40.xml" Id="R9aaf560dbe3c4093" /><Relationship Type="http://schemas.openxmlformats.org/officeDocument/2006/relationships/slide" Target="/ppt/slides/slide41.xml" Id="Rf61833bc2b784ab4" /><Relationship Type="http://schemas.openxmlformats.org/officeDocument/2006/relationships/slide" Target="/ppt/slides/slide42.xml" Id="R050652b9c9fc4b14" /><Relationship Type="http://schemas.openxmlformats.org/officeDocument/2006/relationships/slide" Target="/ppt/slides/slide43.xml" Id="R5fcc976d11fd4056" /><Relationship Type="http://schemas.openxmlformats.org/officeDocument/2006/relationships/slide" Target="/ppt/slides/slide44.xml" Id="R10cefd907c524dde" /><Relationship Type="http://schemas.openxmlformats.org/officeDocument/2006/relationships/slide" Target="/ppt/slides/slide45.xml" Id="Rbacdf4cd7a30453a" /><Relationship Type="http://schemas.openxmlformats.org/officeDocument/2006/relationships/slide" Target="/ppt/slides/slide46.xml" Id="R454b64bddae1489f" /><Relationship Type="http://schemas.openxmlformats.org/officeDocument/2006/relationships/slide" Target="/ppt/slides/slide47.xml" Id="R570b88d3990e455a" /><Relationship Type="http://schemas.openxmlformats.org/officeDocument/2006/relationships/slide" Target="/ppt/slides/slide48.xml" Id="R18a9abe8606f4ebd" /><Relationship Type="http://schemas.openxmlformats.org/officeDocument/2006/relationships/slide" Target="/ppt/slides/slide49.xml" Id="R4394115a4e164f30" /><Relationship Type="http://schemas.openxmlformats.org/officeDocument/2006/relationships/slide" Target="/ppt/slides/slide50.xml" Id="Rfc08b4a4849c4123" /><Relationship Type="http://schemas.openxmlformats.org/officeDocument/2006/relationships/slide" Target="/ppt/slides/slide51.xml" Id="Re3d3578c985843cc" /><Relationship Type="http://schemas.openxmlformats.org/officeDocument/2006/relationships/slide" Target="/ppt/slides/slide52.xml" Id="Rb833daa8d5074790" /><Relationship Type="http://schemas.openxmlformats.org/officeDocument/2006/relationships/slide" Target="/ppt/slides/slide53.xml" Id="R1095af38d5ae4965" /><Relationship Type="http://schemas.openxmlformats.org/officeDocument/2006/relationships/slide" Target="/ppt/slides/slide54.xml" Id="Rd0898963e5a84059" /><Relationship Type="http://schemas.openxmlformats.org/officeDocument/2006/relationships/slide" Target="/ppt/slides/slide55.xml" Id="R363df8ba2d8b45bf" /><Relationship Type="http://schemas.openxmlformats.org/officeDocument/2006/relationships/slide" Target="/ppt/slides/slide56.xml" Id="R5ea0c73b1c074209" /><Relationship Type="http://schemas.openxmlformats.org/officeDocument/2006/relationships/slide" Target="/ppt/slides/slide57.xml" Id="Rd6416f284aab43ff" /><Relationship Type="http://schemas.openxmlformats.org/officeDocument/2006/relationships/slide" Target="/ppt/slides/slide58.xml" Id="R714ac4c452a64b6c" /><Relationship Type="http://schemas.openxmlformats.org/officeDocument/2006/relationships/slide" Target="/ppt/slides/slide59.xml" Id="Re4f6a8bc8bcd4992" /><Relationship Type="http://schemas.openxmlformats.org/officeDocument/2006/relationships/slide" Target="/ppt/slides/slide60.xml" Id="R2d37a3f2cd044b86" /><Relationship Type="http://schemas.openxmlformats.org/officeDocument/2006/relationships/slide" Target="/ppt/slides/slide61.xml" Id="R87f420cc9ce64cbe" /><Relationship Type="http://schemas.openxmlformats.org/officeDocument/2006/relationships/slide" Target="/ppt/slides/slide62.xml" Id="Rb4c54c32493447a3" /><Relationship Type="http://schemas.openxmlformats.org/officeDocument/2006/relationships/slide" Target="/ppt/slides/slide63.xml" Id="R5563f2d253e44186" /><Relationship Type="http://schemas.openxmlformats.org/officeDocument/2006/relationships/slide" Target="/ppt/slides/slide64.xml" Id="R5f34ae1cbc4a48d7" /><Relationship Type="http://schemas.openxmlformats.org/officeDocument/2006/relationships/slide" Target="/ppt/slides/slide65.xml" Id="R84df9819593c42a8" /><Relationship Type="http://schemas.openxmlformats.org/officeDocument/2006/relationships/slide" Target="/ppt/slides/slide66.xml" Id="R9d07f4784b6b4d51" /><Relationship Type="http://schemas.openxmlformats.org/officeDocument/2006/relationships/slide" Target="/ppt/slides/slide67.xml" Id="R46c1e130b3e34a2c" /><Relationship Type="http://schemas.openxmlformats.org/officeDocument/2006/relationships/slide" Target="/ppt/slides/slide68.xml" Id="R83a35fbe9bdf4915" /><Relationship Type="http://schemas.openxmlformats.org/officeDocument/2006/relationships/slide" Target="/ppt/slides/slide69.xml" Id="Rabc8478f2a674e52" /><Relationship Type="http://schemas.openxmlformats.org/officeDocument/2006/relationships/slide" Target="/ppt/slides/slide70.xml" Id="R5985dcb5cd5d42a4" /><Relationship Type="http://schemas.openxmlformats.org/officeDocument/2006/relationships/slide" Target="/ppt/slides/slide71.xml" Id="Re6ff13f94c3643a7" /><Relationship Type="http://schemas.openxmlformats.org/officeDocument/2006/relationships/slide" Target="/ppt/slides/slide72.xml" Id="Rb7bf01d361c54ed6" /><Relationship Type="http://schemas.openxmlformats.org/officeDocument/2006/relationships/slide" Target="/ppt/slides/slide73.xml" Id="Rd6535f194f39413c" /><Relationship Type="http://schemas.openxmlformats.org/officeDocument/2006/relationships/slide" Target="/ppt/slides/slide74.xml" Id="R9ef8ca9f56ca463e" /><Relationship Type="http://schemas.openxmlformats.org/officeDocument/2006/relationships/slide" Target="/ppt/slides/slide75.xml" Id="R6f24b1097a7346fb" /><Relationship Type="http://schemas.openxmlformats.org/officeDocument/2006/relationships/slide" Target="/ppt/slides/slide76.xml" Id="R33bc364bcada4db3" /><Relationship Type="http://schemas.openxmlformats.org/officeDocument/2006/relationships/slide" Target="/ppt/slides/slide77.xml" Id="R64185a7fb8594b36" /><Relationship Type="http://schemas.openxmlformats.org/officeDocument/2006/relationships/slide" Target="/ppt/slides/slide78.xml" Id="R93d0cfa5a008431c" /><Relationship Type="http://schemas.openxmlformats.org/officeDocument/2006/relationships/slide" Target="/ppt/slides/slide79.xml" Id="R9a6b2595d8c1470d" /><Relationship Type="http://schemas.openxmlformats.org/officeDocument/2006/relationships/slide" Target="/ppt/slides/slide80.xml" Id="R6836d422eb184290" /><Relationship Type="http://schemas.openxmlformats.org/officeDocument/2006/relationships/slide" Target="/ppt/slides/slide81.xml" Id="Re63b4ec0c40c41ce" /><Relationship Type="http://schemas.openxmlformats.org/officeDocument/2006/relationships/slide" Target="/ppt/slides/slide82.xml" Id="R1237808519824326" /><Relationship Type="http://schemas.openxmlformats.org/officeDocument/2006/relationships/slide" Target="/ppt/slides/slide83.xml" Id="Rf335b9f0736943b9" /><Relationship Type="http://schemas.openxmlformats.org/officeDocument/2006/relationships/slide" Target="/ppt/slides/slide84.xml" Id="R3308207e946c49a6" /><Relationship Type="http://schemas.openxmlformats.org/officeDocument/2006/relationships/slide" Target="/ppt/slides/slide85.xml" Id="Rc1e0a62ffeed4d92" /><Relationship Type="http://schemas.openxmlformats.org/officeDocument/2006/relationships/slide" Target="/ppt/slides/slide86.xml" Id="Re5a8ea4a24b242a6" /><Relationship Type="http://schemas.openxmlformats.org/officeDocument/2006/relationships/slide" Target="/ppt/slides/slide87.xml" Id="R519d65c473bb4e43" /><Relationship Type="http://schemas.openxmlformats.org/officeDocument/2006/relationships/slide" Target="/ppt/slides/slide88.xml" Id="R517c1b917a2148c7" /><Relationship Type="http://schemas.openxmlformats.org/officeDocument/2006/relationships/slide" Target="/ppt/slides/slide89.xml" Id="R454b3c02baff4063" /><Relationship Type="http://schemas.openxmlformats.org/officeDocument/2006/relationships/slide" Target="/ppt/slides/slide90.xml" Id="R54cb8375b44843d7" /><Relationship Type="http://schemas.openxmlformats.org/officeDocument/2006/relationships/slide" Target="/ppt/slides/slide91.xml" Id="Rc9ebd4d0b5ee408a" /><Relationship Type="http://schemas.openxmlformats.org/officeDocument/2006/relationships/slide" Target="/ppt/slides/slide92.xml" Id="R46e9d3ef19cb448e" /><Relationship Type="http://schemas.openxmlformats.org/officeDocument/2006/relationships/slide" Target="/ppt/slides/slide93.xml" Id="R931a052aa1fb481c" /><Relationship Type="http://schemas.openxmlformats.org/officeDocument/2006/relationships/slide" Target="/ppt/slides/slide94.xml" Id="Rea55240ac0604610" /><Relationship Type="http://schemas.openxmlformats.org/officeDocument/2006/relationships/slide" Target="/ppt/slides/slide95.xml" Id="R67c8881a468a4b02" /><Relationship Type="http://schemas.openxmlformats.org/officeDocument/2006/relationships/slide" Target="/ppt/slides/slide96.xml" Id="Rdb2c3fcccbec4e35" /><Relationship Type="http://schemas.openxmlformats.org/officeDocument/2006/relationships/slide" Target="/ppt/slides/slide97.xml" Id="R1039c13aea5b472b" /><Relationship Type="http://schemas.openxmlformats.org/officeDocument/2006/relationships/slide" Target="/ppt/slides/slide98.xml" Id="R61688c94aa324f72" /><Relationship Type="http://schemas.openxmlformats.org/officeDocument/2006/relationships/slide" Target="/ppt/slides/slide99.xml" Id="Rac45078fd47a4a5b" /><Relationship Type="http://schemas.openxmlformats.org/officeDocument/2006/relationships/slide" Target="/ppt/slides/slide100.xml" Id="Rde9b7a138104487a" /><Relationship Type="http://schemas.openxmlformats.org/officeDocument/2006/relationships/slide" Target="/ppt/slides/slide101.xml" Id="R459d189c5cc44ea1" /><Relationship Type="http://schemas.openxmlformats.org/officeDocument/2006/relationships/slide" Target="/ppt/slides/slide102.xml" Id="R984c54a112274085" /><Relationship Type="http://schemas.openxmlformats.org/officeDocument/2006/relationships/slide" Target="/ppt/slides/slide103.xml" Id="Rcc860105950449fe" /><Relationship Type="http://schemas.openxmlformats.org/officeDocument/2006/relationships/slide" Target="/ppt/slides/slide104.xml" Id="R5d945871eb104f8d" /><Relationship Type="http://schemas.openxmlformats.org/officeDocument/2006/relationships/slide" Target="/ppt/slides/slide105.xml" Id="Re3c66ef37efc4afb" /><Relationship Type="http://schemas.openxmlformats.org/officeDocument/2006/relationships/slide" Target="/ppt/slides/slide106.xml" Id="Reec54b20fcdf46c0" /><Relationship Type="http://schemas.openxmlformats.org/officeDocument/2006/relationships/slide" Target="/ppt/slides/slide107.xml" Id="Rd8de492e686b4966" /><Relationship Type="http://schemas.openxmlformats.org/officeDocument/2006/relationships/slide" Target="/ppt/slides/slide108.xml" Id="Rc6053380395c4134" /><Relationship Type="http://schemas.openxmlformats.org/officeDocument/2006/relationships/slide" Target="/ppt/slides/slide109.xml" Id="Raa6411dee9174da0" /><Relationship Type="http://schemas.openxmlformats.org/officeDocument/2006/relationships/slide" Target="/ppt/slides/slide110.xml" Id="R29eae268af504f29" /><Relationship Type="http://schemas.openxmlformats.org/officeDocument/2006/relationships/slide" Target="/ppt/slides/slide111.xml" Id="R6d1f85c254654f33" /><Relationship Type="http://schemas.openxmlformats.org/officeDocument/2006/relationships/slide" Target="/ppt/slides/slide112.xml" Id="Rfe28e4e945b34322" /><Relationship Type="http://schemas.openxmlformats.org/officeDocument/2006/relationships/slide" Target="/ppt/slides/slide113.xml" Id="Rdf16ead1ca1742bc" /><Relationship Type="http://schemas.openxmlformats.org/officeDocument/2006/relationships/slide" Target="/ppt/slides/slide114.xml" Id="Rfc5e624f97c348b8" /><Relationship Type="http://schemas.openxmlformats.org/officeDocument/2006/relationships/slide" Target="/ppt/slides/slide115.xml" Id="R250d74ca31974427" /></Relationships>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c826a38fb49d4d6a"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7C1157E-F41D-D748-8B69-7140BA26C9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C732F0C-C3BE-9347-8A3D-93C7DD35FC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EC103C-0C00-5144-B134-6065E402762D}" type="datetime1">
              <a:rPr lang="en-GB"/>
              <a:t>25/06/2024</a:t>
            </a:fld>
            <a:endParaRPr lang="en-US"/>
          </a:p>
        </p:txBody>
      </p:sp>
      <p:sp>
        <p:nvSpPr>
          <p:cNvPr id="4" name="Footer Placeholder 3">
            <a:extLst>
              <a:ext uri="{FF2B5EF4-FFF2-40B4-BE49-F238E27FC236}">
                <a16:creationId xmlns:a16="http://schemas.microsoft.com/office/drawing/2014/main" id="{F1B9C81F-45DF-3942-B5BB-AFF6409293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C535E9-87A8-4E42-A7E7-ECCB491EE7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AB2214-6F48-7B47-BA9F-4377B0ABE2D4}" type="slidenum">
              <a:rPr lang="en-US"/>
              <a:t>‹#›</a:t>
            </a:fld>
            <a:endParaRPr lang="en-US"/>
          </a:p>
        </p:txBody>
      </p:sp>
    </p:spTree>
    <p:extLst>
      <p:ext uri="{BB962C8B-B14F-4D97-AF65-F5344CB8AC3E}">
        <p14:creationId xmlns:p14="http://schemas.microsoft.com/office/powerpoint/2010/main" val="1902863442"/>
      </p:ext>
    </p:extLst>
  </p:cSld>
  <p:clrMap bg1="lt1" tx1="dk1" bg2="lt2" tx2="dk2" accent1="accent1" accent2="accent2" accent3="accent3" accent4="accent4" accent5="accent5" accent6="accent6" hlink="hlink" folHlink="folHlink"/>
  <p:hf hdr="0" ftr="0"/>
</p:handoutMaster>
</file>

<file path=ppt/handout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a4a9e4bb0bc54c5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97CFCD-DFD6-F34D-95F2-86875A23819B}" type="datetime1">
              <a:rPr lang="en-GB"/>
              <a:t>25/06/2024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35C6A4-13EB-334F-862B-598CD5A9818C}" type="slidenum">
              <a:rPr lang="en-US"/>
              <a:t>‹#›</a:t>
            </a:fld>
            <a:endParaRPr lang="en-US"/>
          </a:p>
        </p:txBody>
      </p:sp>
    </p:spTree>
    <p:extLst>
      <p:ext uri="{BB962C8B-B14F-4D97-AF65-F5344CB8AC3E}">
        <p14:creationId xmlns:p14="http://schemas.microsoft.com/office/powerpoint/2010/main" val="56426307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21.xml" Id="R477603c04f1b4d75" /><Relationship Type="http://schemas.openxmlformats.org/officeDocument/2006/relationships/notesMaster" Target="/ppt/notesMasters/notesMaster1.xml" Id="R1e3cbeb7f44c48a8" /></Relationships>
</file>

<file path=ppt/notesSlides/_rels/notesSlide2.xml.rels>&#65279;<?xml version="1.0" encoding="utf-8"?><Relationships xmlns="http://schemas.openxmlformats.org/package/2006/relationships"><Relationship Type="http://schemas.openxmlformats.org/officeDocument/2006/relationships/slide" Target="/ppt/slides/slide22.xml" Id="R47db113829b54af8" /><Relationship Type="http://schemas.openxmlformats.org/officeDocument/2006/relationships/notesMaster" Target="/ppt/notesMasters/notesMaster1.xml" Id="Rbf7d159efb8e444d" /></Relationships>
</file>

<file path=ppt/notesSlides/_rels/notesSlide3.xml.rels>&#65279;<?xml version="1.0" encoding="utf-8"?><Relationships xmlns="http://schemas.openxmlformats.org/package/2006/relationships"><Relationship Type="http://schemas.openxmlformats.org/officeDocument/2006/relationships/slide" Target="/ppt/slides/slide23.xml" Id="R31bda5a6985746b9" /><Relationship Type="http://schemas.openxmlformats.org/officeDocument/2006/relationships/notesMaster" Target="/ppt/notesMasters/notesMaster1.xml" Id="R024c94f249684be3" /></Relationships>
</file>

<file path=ppt/notesSlides/_rels/notesSlide4.xml.rels>&#65279;<?xml version="1.0" encoding="utf-8"?><Relationships xmlns="http://schemas.openxmlformats.org/package/2006/relationships"><Relationship Type="http://schemas.openxmlformats.org/officeDocument/2006/relationships/slide" Target="/ppt/slides/slide24.xml" Id="R2e9e9019bb9b47a1" /><Relationship Type="http://schemas.openxmlformats.org/officeDocument/2006/relationships/notesMaster" Target="/ppt/notesMasters/notesMaster1.xml" Id="Rb4fa4ecf1338432d" /></Relationships>
</file>

<file path=ppt/notesSlides/_rels/notesSlide5.xml.rels>&#65279;<?xml version="1.0" encoding="utf-8"?><Relationships xmlns="http://schemas.openxmlformats.org/package/2006/relationships"><Relationship Type="http://schemas.openxmlformats.org/officeDocument/2006/relationships/slide" Target="/ppt/slides/slide25.xml" Id="Rd24d713ce79b4378" /><Relationship Type="http://schemas.openxmlformats.org/officeDocument/2006/relationships/notesMaster" Target="/ppt/notesMasters/notesMaster1.xml" Id="Rf8d6249f19d643c6" /></Relationships>
</file>

<file path=ppt/notesSlides/_rels/notesSlide6.xml.rels>&#65279;<?xml version="1.0" encoding="utf-8"?><Relationships xmlns="http://schemas.openxmlformats.org/package/2006/relationships"><Relationship Type="http://schemas.openxmlformats.org/officeDocument/2006/relationships/slide" Target="/ppt/slides/slide26.xml" Id="R98a73b393d9e4ca8" /><Relationship Type="http://schemas.openxmlformats.org/officeDocument/2006/relationships/notesMaster" Target="/ppt/notesMasters/notesMaster1.xml" Id="R4a5df685105e447a" /></Relationships>
</file>

<file path=ppt/notesSlides/_rels/notesSlide7.xml.rels>&#65279;<?xml version="1.0" encoding="utf-8"?><Relationships xmlns="http://schemas.openxmlformats.org/package/2006/relationships"><Relationship Type="http://schemas.openxmlformats.org/officeDocument/2006/relationships/slide" Target="/ppt/slides/slide40.xml" Id="R97dd360e39964868" /><Relationship Type="http://schemas.openxmlformats.org/officeDocument/2006/relationships/notesMaster" Target="/ppt/notesMasters/notesMaster1.xml" Id="R3e6c7daa712c46f9" /></Relationships>
</file>

<file path=ppt/notesSlides/_rels/notesSlide8.xml.rels>&#65279;<?xml version="1.0" encoding="utf-8"?><Relationships xmlns="http://schemas.openxmlformats.org/package/2006/relationships"><Relationship Type="http://schemas.openxmlformats.org/officeDocument/2006/relationships/slide" Target="/ppt/slides/slide41.xml" Id="R1621fcad66e74967" /><Relationship Type="http://schemas.openxmlformats.org/officeDocument/2006/relationships/notesMaster" Target="/ppt/notesMasters/notesMaster1.xml" Id="R3139a117e0f34d42" /></Relationships>
</file>

<file path=ppt/notesSlides/_rels/notesSlide9.xml.rels>&#65279;<?xml version="1.0" encoding="utf-8"?><Relationships xmlns="http://schemas.openxmlformats.org/package/2006/relationships"><Relationship Type="http://schemas.openxmlformats.org/officeDocument/2006/relationships/slide" Target="/ppt/slides/slide42.xml" Id="Rfb534a1133f2423d" /><Relationship Type="http://schemas.openxmlformats.org/officeDocument/2006/relationships/notesMaster" Target="/ppt/notesMasters/notesMaster1.xml" Id="R7933676f16634d23" /></Relationships>
</file>

<file path=ppt/notesSlides/_rels/notesSlide10.xml.rels>&#65279;<?xml version="1.0" encoding="utf-8"?><Relationships xmlns="http://schemas.openxmlformats.org/package/2006/relationships"><Relationship Type="http://schemas.openxmlformats.org/officeDocument/2006/relationships/slide" Target="/ppt/slides/slide43.xml" Id="Raacdd70ad8b54e61" /><Relationship Type="http://schemas.openxmlformats.org/officeDocument/2006/relationships/notesMaster" Target="/ppt/notesMasters/notesMaster1.xml" Id="Rc43321ad63ac4412" /></Relationships>
</file>

<file path=ppt/notesSlides/_rels/notesSlide11.xml.rels>&#65279;<?xml version="1.0" encoding="utf-8"?><Relationships xmlns="http://schemas.openxmlformats.org/package/2006/relationships"><Relationship Type="http://schemas.openxmlformats.org/officeDocument/2006/relationships/slide" Target="/ppt/slides/slide44.xml" Id="Rb7ea2efc0c0c4316" /><Relationship Type="http://schemas.openxmlformats.org/officeDocument/2006/relationships/notesMaster" Target="/ppt/notesMasters/notesMaster1.xml" Id="R5d967e42dbbe47c8" /></Relationships>
</file>

<file path=ppt/notesSlides/_rels/notesSlide12.xml.rels>&#65279;<?xml version="1.0" encoding="utf-8"?><Relationships xmlns="http://schemas.openxmlformats.org/package/2006/relationships"><Relationship Type="http://schemas.openxmlformats.org/officeDocument/2006/relationships/slide" Target="/ppt/slides/slide45.xml" Id="R484003a086e34e48" /><Relationship Type="http://schemas.openxmlformats.org/officeDocument/2006/relationships/notesMaster" Target="/ppt/notesMasters/notesMaster1.xml" Id="R8929e0223a20421b" /></Relationships>
</file>

<file path=ppt/notesSlides/_rels/notesSlide13.xml.rels>&#65279;<?xml version="1.0" encoding="utf-8"?><Relationships xmlns="http://schemas.openxmlformats.org/package/2006/relationships"><Relationship Type="http://schemas.openxmlformats.org/officeDocument/2006/relationships/slide" Target="/ppt/slides/slide46.xml" Id="Rb1c1f083e1ff40cb" /><Relationship Type="http://schemas.openxmlformats.org/officeDocument/2006/relationships/notesMaster" Target="/ppt/notesMasters/notesMaster1.xml" Id="R28ee2698a43f4eaf" /></Relationships>
</file>

<file path=ppt/notesSlides/_rels/notesSlide14.xml.rels>&#65279;<?xml version="1.0" encoding="utf-8"?><Relationships xmlns="http://schemas.openxmlformats.org/package/2006/relationships"><Relationship Type="http://schemas.openxmlformats.org/officeDocument/2006/relationships/slide" Target="/ppt/slides/slide58.xml" Id="Rb50927f8691e4818" /><Relationship Type="http://schemas.openxmlformats.org/officeDocument/2006/relationships/notesMaster" Target="/ppt/notesMasters/notesMaster1.xml" Id="R60903e0c75ad46f2" /></Relationships>
</file>

<file path=ppt/notesSlides/_rels/notesSlide15.xml.rels>&#65279;<?xml version="1.0" encoding="utf-8"?><Relationships xmlns="http://schemas.openxmlformats.org/package/2006/relationships"><Relationship Type="http://schemas.openxmlformats.org/officeDocument/2006/relationships/slide" Target="/ppt/slides/slide59.xml" Id="Rc8729b9ffce145af" /><Relationship Type="http://schemas.openxmlformats.org/officeDocument/2006/relationships/notesMaster" Target="/ppt/notesMasters/notesMaster1.xml" Id="Rdfe1984e5bfa47cb" /></Relationships>
</file>

<file path=ppt/notesSlides/_rels/notesSlide16.xml.rels>&#65279;<?xml version="1.0" encoding="utf-8"?><Relationships xmlns="http://schemas.openxmlformats.org/package/2006/relationships"><Relationship Type="http://schemas.openxmlformats.org/officeDocument/2006/relationships/slide" Target="/ppt/slides/slide60.xml" Id="R7360d2ffd959473d" /><Relationship Type="http://schemas.openxmlformats.org/officeDocument/2006/relationships/notesMaster" Target="/ppt/notesMasters/notesMaster1.xml" Id="R7439d916d2c74786" /></Relationships>
</file>

<file path=ppt/notesSlides/_rels/notesSlide17.xml.rels>&#65279;<?xml version="1.0" encoding="utf-8"?><Relationships xmlns="http://schemas.openxmlformats.org/package/2006/relationships"><Relationship Type="http://schemas.openxmlformats.org/officeDocument/2006/relationships/slide" Target="/ppt/slides/slide61.xml" Id="R46a354b120844eb5" /><Relationship Type="http://schemas.openxmlformats.org/officeDocument/2006/relationships/notesMaster" Target="/ppt/notesMasters/notesMaster1.xml" Id="Rcf7bf2b28a5e40c8" /></Relationships>
</file>

<file path=ppt/notesSlides/_rels/notesSlide18.xml.rels>&#65279;<?xml version="1.0" encoding="utf-8"?><Relationships xmlns="http://schemas.openxmlformats.org/package/2006/relationships"><Relationship Type="http://schemas.openxmlformats.org/officeDocument/2006/relationships/slide" Target="/ppt/slides/slide62.xml" Id="R6f7493f876594e24" /><Relationship Type="http://schemas.openxmlformats.org/officeDocument/2006/relationships/notesMaster" Target="/ppt/notesMasters/notesMaster1.xml" Id="R1510573d3dba4d33" /></Relationships>
</file>

<file path=ppt/notesSlides/_rels/notesSlide19.xml.rels>&#65279;<?xml version="1.0" encoding="utf-8"?><Relationships xmlns="http://schemas.openxmlformats.org/package/2006/relationships"><Relationship Type="http://schemas.openxmlformats.org/officeDocument/2006/relationships/slide" Target="/ppt/slides/slide63.xml" Id="R58972a15e3c848b5" /><Relationship Type="http://schemas.openxmlformats.org/officeDocument/2006/relationships/notesMaster" Target="/ppt/notesMasters/notesMaster1.xml" Id="Rbb656624f5274918" /></Relationships>
</file>

<file path=ppt/notesSlides/_rels/notesSlide20.xml.rels>&#65279;<?xml version="1.0" encoding="utf-8"?><Relationships xmlns="http://schemas.openxmlformats.org/package/2006/relationships"><Relationship Type="http://schemas.openxmlformats.org/officeDocument/2006/relationships/slide" Target="/ppt/slides/slide64.xml" Id="R89bc873a0fec49c0" /><Relationship Type="http://schemas.openxmlformats.org/officeDocument/2006/relationships/notesMaster" Target="/ppt/notesMasters/notesMaster1.xml" Id="R7b9c3ea44da24c18" /></Relationships>
</file>

<file path=ppt/notesSlides/_rels/notesSlide21.xml.rels>&#65279;<?xml version="1.0" encoding="utf-8"?><Relationships xmlns="http://schemas.openxmlformats.org/package/2006/relationships"><Relationship Type="http://schemas.openxmlformats.org/officeDocument/2006/relationships/slide" Target="/ppt/slides/slide83.xml" Id="Rb0595a9c3d73423f" /><Relationship Type="http://schemas.openxmlformats.org/officeDocument/2006/relationships/notesMaster" Target="/ppt/notesMasters/notesMaster1.xml" Id="R1c9c141bc288499b" /></Relationships>
</file>

<file path=ppt/notesSlides/_rels/notesSlide22.xml.rels>&#65279;<?xml version="1.0" encoding="utf-8"?><Relationships xmlns="http://schemas.openxmlformats.org/package/2006/relationships"><Relationship Type="http://schemas.openxmlformats.org/officeDocument/2006/relationships/slide" Target="/ppt/slides/slide84.xml" Id="Rb9621a2d8f2d484b" /><Relationship Type="http://schemas.openxmlformats.org/officeDocument/2006/relationships/notesMaster" Target="/ppt/notesMasters/notesMaster1.xml" Id="R1094d99daba94031" /></Relationships>
</file>

<file path=ppt/notesSlides/_rels/notesSlide23.xml.rels>&#65279;<?xml version="1.0" encoding="utf-8"?><Relationships xmlns="http://schemas.openxmlformats.org/package/2006/relationships"><Relationship Type="http://schemas.openxmlformats.org/officeDocument/2006/relationships/slide" Target="/ppt/slides/slide85.xml" Id="R8f3333c3c20c492d" /><Relationship Type="http://schemas.openxmlformats.org/officeDocument/2006/relationships/notesMaster" Target="/ppt/notesMasters/notesMaster1.xml" Id="R17153770244248a1" /></Relationships>
</file>

<file path=ppt/notesSlides/_rels/notesSlide24.xml.rels>&#65279;<?xml version="1.0" encoding="utf-8"?><Relationships xmlns="http://schemas.openxmlformats.org/package/2006/relationships"><Relationship Type="http://schemas.openxmlformats.org/officeDocument/2006/relationships/slide" Target="/ppt/slides/slide86.xml" Id="Ra80bca9be321496b" /><Relationship Type="http://schemas.openxmlformats.org/officeDocument/2006/relationships/notesMaster" Target="/ppt/notesMasters/notesMaster1.xml" Id="Ra3eae0f351b84fe1" /></Relationships>
</file>

<file path=ppt/notesSlides/_rels/notesSlide25.xml.rels>&#65279;<?xml version="1.0" encoding="utf-8"?><Relationships xmlns="http://schemas.openxmlformats.org/package/2006/relationships"><Relationship Type="http://schemas.openxmlformats.org/officeDocument/2006/relationships/slide" Target="/ppt/slides/slide87.xml" Id="R1dfe123c731449f3" /><Relationship Type="http://schemas.openxmlformats.org/officeDocument/2006/relationships/notesMaster" Target="/ppt/notesMasters/notesMaster1.xml" Id="R61400e2fb9a74073" /></Relationships>
</file>

<file path=ppt/notesSlides/_rels/notesSlide26.xml.rels>&#65279;<?xml version="1.0" encoding="utf-8"?><Relationships xmlns="http://schemas.openxmlformats.org/package/2006/relationships"><Relationship Type="http://schemas.openxmlformats.org/officeDocument/2006/relationships/slide" Target="/ppt/slides/slide88.xml" Id="Rb0593c0f3084498c" /><Relationship Type="http://schemas.openxmlformats.org/officeDocument/2006/relationships/notesMaster" Target="/ppt/notesMasters/notesMaster1.xml" Id="R3a8cb0c4eb554f2e" /></Relationships>
</file>

<file path=ppt/notesSlides/_rels/notesSlide27.xml.rels>&#65279;<?xml version="1.0" encoding="utf-8"?><Relationships xmlns="http://schemas.openxmlformats.org/package/2006/relationships"><Relationship Type="http://schemas.openxmlformats.org/officeDocument/2006/relationships/slide" Target="/ppt/slides/slide89.xml" Id="Rfa465fc3bc4d4411" /><Relationship Type="http://schemas.openxmlformats.org/officeDocument/2006/relationships/notesMaster" Target="/ppt/notesMasters/notesMaster1.xml" Id="Rf21edc54d83a4690" /></Relationships>
</file>

<file path=ppt/notesSlides/_rels/notesSlide28.xml.rels>&#65279;<?xml version="1.0" encoding="utf-8"?><Relationships xmlns="http://schemas.openxmlformats.org/package/2006/relationships"><Relationship Type="http://schemas.openxmlformats.org/officeDocument/2006/relationships/slide" Target="/ppt/slides/slide99.xml" Id="R863c71785ab84656" /><Relationship Type="http://schemas.openxmlformats.org/officeDocument/2006/relationships/notesMaster" Target="/ppt/notesMasters/notesMaster1.xml" Id="R2f32c3bdabf146a2" /></Relationships>
</file>

<file path=ppt/notesSlides/_rels/notesSlide29.xml.rels>&#65279;<?xml version="1.0" encoding="utf-8"?><Relationships xmlns="http://schemas.openxmlformats.org/package/2006/relationships"><Relationship Type="http://schemas.openxmlformats.org/officeDocument/2006/relationships/slide" Target="/ppt/slides/slide100.xml" Id="Rb277dfb7659f4764" /><Relationship Type="http://schemas.openxmlformats.org/officeDocument/2006/relationships/notesMaster" Target="/ppt/notesMasters/notesMaster1.xml" Id="R43a8775e7ccf4f53" /></Relationships>
</file>

<file path=ppt/notesSlides/_rels/notesSlide30.xml.rels>&#65279;<?xml version="1.0" encoding="utf-8"?><Relationships xmlns="http://schemas.openxmlformats.org/package/2006/relationships"><Relationship Type="http://schemas.openxmlformats.org/officeDocument/2006/relationships/slide" Target="/ppt/slides/slide101.xml" Id="R82ddcc09faee46ba" /><Relationship Type="http://schemas.openxmlformats.org/officeDocument/2006/relationships/notesMaster" Target="/ppt/notesMasters/notesMaster1.xml" Id="R2dd232ab82d54339" /></Relationships>
</file>

<file path=ppt/notesSlides/_rels/notesSlide31.xml.rels>&#65279;<?xml version="1.0" encoding="utf-8"?><Relationships xmlns="http://schemas.openxmlformats.org/package/2006/relationships"><Relationship Type="http://schemas.openxmlformats.org/officeDocument/2006/relationships/slide" Target="/ppt/slides/slide102.xml" Id="R73e0f9cea5b64509" /><Relationship Type="http://schemas.openxmlformats.org/officeDocument/2006/relationships/notesMaster" Target="/ppt/notesMasters/notesMaster1.xml" Id="Rcebd042c90dd4bb9" /></Relationships>
</file>

<file path=ppt/notesSlides/_rels/notesSlide32.xml.rels>&#65279;<?xml version="1.0" encoding="utf-8"?><Relationships xmlns="http://schemas.openxmlformats.org/package/2006/relationships"><Relationship Type="http://schemas.openxmlformats.org/officeDocument/2006/relationships/slide" Target="/ppt/slides/slide103.xml" Id="R8883bbb947ff4654" /><Relationship Type="http://schemas.openxmlformats.org/officeDocument/2006/relationships/notesMaster" Target="/ppt/notesMasters/notesMaster1.xml" Id="Ra9df078ae4ce41bb" /></Relationships>
</file>

<file path=ppt/notesSlides/_rels/notesSlide33.xml.rels>&#65279;<?xml version="1.0" encoding="utf-8"?><Relationships xmlns="http://schemas.openxmlformats.org/package/2006/relationships"><Relationship Type="http://schemas.openxmlformats.org/officeDocument/2006/relationships/slide" Target="/ppt/slides/slide104.xml" Id="Ref47019510574fbf" /><Relationship Type="http://schemas.openxmlformats.org/officeDocument/2006/relationships/notesMaster" Target="/ppt/notesMasters/notesMaster1.xml" Id="Re73aa9e881c44cb5" /></Relationships>
</file>

<file path=ppt/notesSlides/_rels/notesSlide34.xml.rels>&#65279;<?xml version="1.0" encoding="utf-8"?><Relationships xmlns="http://schemas.openxmlformats.org/package/2006/relationships"><Relationship Type="http://schemas.openxmlformats.org/officeDocument/2006/relationships/slide" Target="/ppt/slides/slide105.xml" Id="Rb583d1251e234698" /><Relationship Type="http://schemas.openxmlformats.org/officeDocument/2006/relationships/notesMaster" Target="/ppt/notesMasters/notesMaster1.xml" Id="Rb71ccc5a88c54693" /></Relationships>
</file>

<file path=ppt/notesSlides/_rels/notesSlide35.xml.rels>&#65279;<?xml version="1.0" encoding="utf-8"?><Relationships xmlns="http://schemas.openxmlformats.org/package/2006/relationships"><Relationship Type="http://schemas.openxmlformats.org/officeDocument/2006/relationships/slide" Target="/ppt/slides/slide114.xml" Id="R1cc2f96d2fed41ca" /><Relationship Type="http://schemas.openxmlformats.org/officeDocument/2006/relationships/notesMaster" Target="/ppt/notesMasters/notesMaster1.xml" Id="R401ba6a134a94875" /></Relationships>
</file>

<file path=ppt/notesSlides/_rels/notesSlide36.xml.rels>&#65279;<?xml version="1.0" encoding="utf-8"?><Relationships xmlns="http://schemas.openxmlformats.org/package/2006/relationships"><Relationship Type="http://schemas.openxmlformats.org/officeDocument/2006/relationships/slide" Target="/ppt/slides/slide115.xml" Id="R7487424de03548db" /><Relationship Type="http://schemas.openxmlformats.org/officeDocument/2006/relationships/notesMaster" Target="/ppt/notesMasters/notesMaster1.xml" Id="R06ed1cc11a7f4d68"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16f571c11944e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4.xml" Id="R18709428d2a9454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7.xml" Id="R0f17c126dbeb473e"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1.xml" Id="R8f8e7cb022ba4d80"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3.xml" Id="R5f9374cf0e1c4c17"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DCAF7-AA06-1040-B1E0-8E15D9C5161B}"/>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FF5B501-CBFE-104D-BB25-66D22875F063}"/>
              </a:ext>
            </a:extLst>
          </p:cNvPr>
          <p:cNvSpPr>
            <a:spLocks noGrp="1"/>
          </p:cNvSpPr>
          <p:nvPr>
            <p:ph idx="1"/>
          </p:nvPr>
        </p:nvSpPr>
        <p:spPr>
          <a:xfrm>
            <a:off x="648000" y="1404000"/>
            <a:ext cx="10800000" cy="4752000"/>
          </a:xfrm>
        </p:spPr>
        <p:txBody>
          <a:bodyPr/>
          <a:lstStyle>
            <a:lvl1pPr>
              <a:defRPr sz="20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8985F08-8E72-9148-82A1-2C591DFBDC0E}"/>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1FFB84F-73DC-4C43-AC13-67A9ADC1B225}" type="datetime1">
              <a:rPr lang="en-GB"/>
              <a:pPr/>
              <a:t>25/06/2024</a:t>
            </a:fld>
            <a:endParaRPr lang="en-US"/>
          </a:p>
        </p:txBody>
      </p:sp>
      <p:sp>
        <p:nvSpPr>
          <p:cNvPr id="5" name="Footer Placeholder 4">
            <a:extLst>
              <a:ext uri="{FF2B5EF4-FFF2-40B4-BE49-F238E27FC236}">
                <a16:creationId xmlns:a16="http://schemas.microsoft.com/office/drawing/2014/main" id="{B94366E4-48A8-C248-8403-C00951EFCD6A}"/>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7" name="Slide Number Placeholder 5">
            <a:extLst>
              <a:ext uri="{FF2B5EF4-FFF2-40B4-BE49-F238E27FC236}">
                <a16:creationId xmlns:a16="http://schemas.microsoft.com/office/drawing/2014/main" id="{CEEB4CF7-D339-7A46-8B33-C97F7A447C18}"/>
              </a:ext>
            </a:extLst>
          </p:cNvPr>
          <p:cNvSpPr>
            <a:spLocks noGrp="1"/>
          </p:cNvSpPr>
          <p:nvPr>
            <p:ph type="sldNum" sz="quarter" idx="4"/>
          </p:nvPr>
        </p:nvSpPr>
        <p:spPr>
          <a:xfrm>
            <a:off x="11160000" y="576000"/>
            <a:ext cx="540000" cy="288032"/>
          </a:xfrm>
          <a:prstGeom prst="rect">
            <a:avLst/>
          </a:prstGeom>
        </p:spPr>
        <p:txBody>
          <a:bodyPr vert="horz" lIns="91440" tIns="45720" rIns="91440" bIns="45720" rtlCol="0" anchor="ctr"/>
          <a:lstStyle>
            <a:lvl1pPr algn="ctr">
              <a:defRPr sz="1200" b="1">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fld id="{2D5587A6-0F28-234D-9116-41BE2E1A2AC2}" type="slidenum">
              <a:rPr lang="en-US"/>
              <a:pPr/>
              <a:t>‹#›</a:t>
            </a:fld>
            <a:endParaRPr lang="en-US" dirty="0"/>
          </a:p>
        </p:txBody>
      </p:sp>
    </p:spTree>
    <p:extLst>
      <p:ext uri="{BB962C8B-B14F-4D97-AF65-F5344CB8AC3E}">
        <p14:creationId xmlns:p14="http://schemas.microsoft.com/office/powerpoint/2010/main" val="2209516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png" Id="Rc0ae3f6e314b4a00" /><Relationship Type="http://schemas.openxmlformats.org/officeDocument/2006/relationships/image" Target="/ppt/media/image.svg" Id="R5c5d4447d0e548f6" /><Relationship Type="http://schemas.openxmlformats.org/officeDocument/2006/relationships/image" Target="/ppt/media/image.emf" Id="R4f5f68adb79249e0" /><Relationship Type="http://schemas.openxmlformats.org/officeDocument/2006/relationships/theme" Target="/ppt/slideMasters/theme/theme3.xml" Id="R5e22902da2ed4919" /><Relationship Type="http://schemas.openxmlformats.org/officeDocument/2006/relationships/slideLayout" Target="/ppt/slideLayouts/slideLayout1.xml" Id="R89a82518ed814314" /></Relationships>
</file>

<file path=ppt/slideMasters/_rels/slideMaster4.xml.rels>&#65279;<?xml version="1.0" encoding="utf-8"?><Relationships xmlns="http://schemas.openxmlformats.org/package/2006/relationships"><Relationship Type="http://schemas.openxmlformats.org/officeDocument/2006/relationships/image" Target="/ppt/media/image.jpg" Id="R86ecfa7e74674cb4" /><Relationship Type="http://schemas.openxmlformats.org/officeDocument/2006/relationships/theme" Target="/ppt/slideMasters/theme/theme6.xml" Id="R24d8b3674bd346ca" /><Relationship Type="http://schemas.openxmlformats.org/officeDocument/2006/relationships/slideLayout" Target="/ppt/slideLayouts/slideLayout19.xml" Id="Rcf7ba87e1a2942a0" /></Relationships>
</file>

<file path=ppt/slideMasters/_rels/slideMaster7.xml.rels>&#65279;<?xml version="1.0" encoding="utf-8"?><Relationships xmlns="http://schemas.openxmlformats.org/package/2006/relationships"><Relationship Type="http://schemas.openxmlformats.org/officeDocument/2006/relationships/image" Target="/ppt/media/image.jpg" Id="R2b72506b88d64a0f" /><Relationship Type="http://schemas.openxmlformats.org/officeDocument/2006/relationships/theme" Target="/ppt/slideMasters/theme/theme9.xml" Id="R7e98b2c7546343d6" /><Relationship Type="http://schemas.openxmlformats.org/officeDocument/2006/relationships/slideLayout" Target="/ppt/slideLayouts/slideLayout22.xml" Id="R0a248cfe23eb44ed" /></Relationships>
</file>

<file path=ppt/slideMasters/_rels/slideMaster11.xml.rels>&#65279;<?xml version="1.0" encoding="utf-8"?><Relationships xmlns="http://schemas.openxmlformats.org/package/2006/relationships"><Relationship Type="http://schemas.openxmlformats.org/officeDocument/2006/relationships/image" Target="/ppt/media/image.jpg" Id="R6a58246172f349f5" /><Relationship Type="http://schemas.openxmlformats.org/officeDocument/2006/relationships/theme" Target="/ppt/slideMasters/theme/theme13.xml" Id="R0515aeb5775a4643" /><Relationship Type="http://schemas.openxmlformats.org/officeDocument/2006/relationships/slideLayout" Target="/ppt/slideLayouts/slideLayout26.xml" Id="R7fc41f1dd5f042ee" /></Relationships>
</file>

<file path=ppt/slideMasters/_rels/slideMaster13.xml.rels>&#65279;<?xml version="1.0" encoding="utf-8"?><Relationships xmlns="http://schemas.openxmlformats.org/package/2006/relationships"><Relationship Type="http://schemas.openxmlformats.org/officeDocument/2006/relationships/image" Target="/ppt/media/image.jpg" Id="Rfe51184baefa469c" /><Relationship Type="http://schemas.openxmlformats.org/officeDocument/2006/relationships/theme" Target="/ppt/slideMasters/theme/theme15.xml" Id="Rf358f5b849d941f2" /><Relationship Type="http://schemas.openxmlformats.org/officeDocument/2006/relationships/slideLayout" Target="/ppt/slideLayouts/slideLayout28.xml" Id="Rd30530c78024456c" /></Relationships>
</file>

<file path=ppt/slideMasters/slideMaster1.xml><?xml version="1.0" encoding="utf-8"?>
<p:sldMaster xmlns:a16="http://schemas.microsoft.com/office/drawing/2014/main" xmlns:asvg="http://schemas.microsoft.com/office/drawing/2016/SVG/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6AE425C8-279E-D14C-A350-756694D4E5A6}"/>
              </a:ext>
            </a:extLst>
          </p:cNvPr>
          <p:cNvPicPr>
            <a:picLocks/>
          </p:cNvPicPr>
          <p:nvPr userDrawn="1"/>
        </p:nvPicPr>
        <p:blipFill>
          <a:blip r:embed="Rc0ae3f6e314b4a00">
            <a:extLst>
              <a:ext uri="{96DAC541-7B7A-43D3-8B79-37D633B846F1}">
                <asvg:svgBlip xmlns:asvg="http://schemas.microsoft.com/office/drawing/2016/SVG/main" r:embed="R5c5d4447d0e548f6"/>
              </a:ext>
            </a:extLst>
          </a:blip>
          <a:stretch>
            <a:fillRect/>
          </a:stretch>
        </p:blipFill>
        <p:spPr>
          <a:xfrm flipV="1">
            <a:off x="7872000" y="0"/>
            <a:ext cx="4320000" cy="6858000"/>
          </a:xfrm>
          <a:prstGeom prst="rect">
            <a:avLst/>
          </a:prstGeom>
        </p:spPr>
      </p:pic>
      <p:pic>
        <p:nvPicPr>
          <p:cNvPr id="8" name="Picture 7">
            <a:extLst>
              <a:ext uri="{FF2B5EF4-FFF2-40B4-BE49-F238E27FC236}">
                <a16:creationId xmlns:a16="http://schemas.microsoft.com/office/drawing/2014/main" id="{DFCD7A0B-833F-2348-AFD5-63C91BB6B1C7}"/>
              </a:ext>
            </a:extLst>
          </p:cNvPr>
          <p:cNvPicPr>
            <a:picLocks noChangeAspect="1"/>
          </p:cNvPicPr>
          <p:nvPr userDrawn="1"/>
        </p:nvPicPr>
        <p:blipFill>
          <a:blip r:embed="R4f5f68adb79249e0"/>
          <a:stretch>
            <a:fillRect/>
          </a:stretch>
        </p:blipFill>
        <p:spPr>
          <a:xfrm>
            <a:off x="11160000" y="540000"/>
            <a:ext cx="540000" cy="432000"/>
          </a:xfrm>
          <a:prstGeom prst="rect">
            <a:avLst/>
          </a:prstGeom>
        </p:spPr>
      </p:pic>
      <p:sp>
        <p:nvSpPr>
          <p:cNvPr id="2" name="Title Placeholder 1">
            <a:extLst>
              <a:ext uri="{FF2B5EF4-FFF2-40B4-BE49-F238E27FC236}">
                <a16:creationId xmlns:a16="http://schemas.microsoft.com/office/drawing/2014/main" id="{6E23A4D2-6AEA-4D4B-A196-57E4312E7AF0}"/>
              </a:ext>
            </a:extLst>
          </p:cNvPr>
          <p:cNvSpPr>
            <a:spLocks noGrp="1"/>
          </p:cNvSpPr>
          <p:nvPr>
            <p:ph type="title"/>
          </p:nvPr>
        </p:nvSpPr>
        <p:spPr>
          <a:xfrm>
            <a:off x="648000" y="360000"/>
            <a:ext cx="10078412" cy="864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49EFD75-EDA9-4D48-A65C-1E8AAC9553E1}"/>
              </a:ext>
            </a:extLst>
          </p:cNvPr>
          <p:cNvSpPr>
            <a:spLocks noGrp="1"/>
          </p:cNvSpPr>
          <p:nvPr>
            <p:ph type="body" idx="1"/>
          </p:nvPr>
        </p:nvSpPr>
        <p:spPr>
          <a:xfrm>
            <a:off x="648000" y="1404000"/>
            <a:ext cx="10800000" cy="475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D0CCB4-FEA3-3F47-9B84-5FF4FDC992A2}"/>
              </a:ext>
            </a:extLst>
          </p:cNvPr>
          <p:cNvSpPr>
            <a:spLocks noGrp="1"/>
          </p:cNvSpPr>
          <p:nvPr>
            <p:ph type="dt" sz="half" idx="2"/>
          </p:nvPr>
        </p:nvSpPr>
        <p:spPr>
          <a:xfrm>
            <a:off x="9288000" y="6336000"/>
            <a:ext cx="2160000" cy="288000"/>
          </a:xfrm>
          <a:prstGeom prst="rect">
            <a:avLst/>
          </a:prstGeom>
        </p:spPr>
        <p:txBody>
          <a:bodyPr vert="horz" lIns="91440" tIns="45720" rIns="91440" bIns="45720" rtlCol="0" anchor="ctr"/>
          <a:lstStyle>
            <a:lvl1pPr algn="r">
              <a:defRPr sz="1100">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fld id="{A0CEF12D-8022-E647-B033-82324AAEB22F}" type="datetime1">
              <a:rPr lang="en-GB"/>
              <a:pPr/>
              <a:t>25/06/2024</a:t>
            </a:fld>
            <a:endParaRPr lang="en-US"/>
          </a:p>
        </p:txBody>
      </p:sp>
      <p:sp>
        <p:nvSpPr>
          <p:cNvPr id="5" name="Footer Placeholder 4">
            <a:extLst>
              <a:ext uri="{FF2B5EF4-FFF2-40B4-BE49-F238E27FC236}">
                <a16:creationId xmlns:a16="http://schemas.microsoft.com/office/drawing/2014/main" id="{A525BCCB-9CF8-3C41-9007-5D7A97003E16}"/>
              </a:ext>
            </a:extLst>
          </p:cNvPr>
          <p:cNvSpPr>
            <a:spLocks noGrp="1"/>
          </p:cNvSpPr>
          <p:nvPr>
            <p:ph type="ftr" sz="quarter" idx="3"/>
          </p:nvPr>
        </p:nvSpPr>
        <p:spPr>
          <a:xfrm>
            <a:off x="648000" y="6336000"/>
            <a:ext cx="6480000" cy="288000"/>
          </a:xfrm>
          <a:prstGeom prst="rect">
            <a:avLst/>
          </a:prstGeom>
        </p:spPr>
        <p:txBody>
          <a:bodyPr vert="horz" lIns="91440" tIns="45720" rIns="91440" bIns="45720" rtlCol="0" anchor="ctr"/>
          <a:lstStyle>
            <a:lvl1pPr algn="l">
              <a:defRPr sz="1100">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6D0E48E0-D7D3-694B-B72B-F287A0765CDC}"/>
              </a:ext>
            </a:extLst>
          </p:cNvPr>
          <p:cNvSpPr>
            <a:spLocks noGrp="1"/>
          </p:cNvSpPr>
          <p:nvPr>
            <p:ph type="sldNum" sz="quarter" idx="4"/>
          </p:nvPr>
        </p:nvSpPr>
        <p:spPr>
          <a:xfrm>
            <a:off x="11160000" y="576000"/>
            <a:ext cx="540000" cy="288032"/>
          </a:xfrm>
          <a:prstGeom prst="rect">
            <a:avLst/>
          </a:prstGeom>
        </p:spPr>
        <p:txBody>
          <a:bodyPr vert="horz" lIns="91440" tIns="45720" rIns="91440" bIns="45720" rtlCol="0" anchor="ctr"/>
          <a:lstStyle>
            <a:lvl1pPr algn="ctr">
              <a:defRPr sz="1200" b="1">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fld id="{2D5587A6-0F28-234D-9116-41BE2E1A2AC2}" type="slidenum">
              <a:rPr lang="en-US"/>
              <a:pPr/>
              <a:t>‹#›</a:t>
            </a:fld>
            <a:endParaRPr lang="en-US" dirty="0"/>
          </a:p>
        </p:txBody>
      </p:sp>
    </p:spTree>
    <p:extLst>
      <p:ext uri="{BB962C8B-B14F-4D97-AF65-F5344CB8AC3E}">
        <p14:creationId xmlns:p14="http://schemas.microsoft.com/office/powerpoint/2010/main" val="872115170"/>
      </p:ext>
    </p:extLst>
  </p:cSld>
  <p:clrMap bg1="lt1" tx1="dk1" bg2="lt2" tx2="dk2" accent1="accent1" accent2="accent2" accent3="accent3" accent4="accent4" accent5="accent5" accent6="accent6" hlink="hlink" folHlink="folHlink"/>
  <p:sldLayoutIdLst>
    <p:sldLayoutId id="2147483649" r:id="R89a82518ed814314"/>
  </p:sldLayoutIdLst>
  <p:hf hdr="0" ftr="0" dt="0"/>
  <p:txStyles>
    <p:titleStyle>
      <a:lvl1pPr algn="l" defTabSz="914400" rtl="0" eaLnBrk="1" latinLnBrk="0" hangingPunct="1">
        <a:lnSpc>
          <a:spcPct val="100000"/>
        </a:lnSpc>
        <a:spcBef>
          <a:spcPct val="0"/>
        </a:spcBef>
        <a:buNone/>
        <a:defRPr sz="3200" b="0" kern="1200">
          <a:solidFill>
            <a:srgbClr val="2C2C2C"/>
          </a:solidFill>
          <a:latin typeface="Arial" panose="020B0604020202020204" pitchFamily="34" charset="0"/>
          <a:ea typeface="Open Sans" panose="020B0606030504020204" pitchFamily="34" charset="0"/>
          <a:cs typeface="Arial" panose="020B0604020202020204" pitchFamily="34" charset="0"/>
        </a:defRPr>
      </a:lvl1pPr>
    </p:titleStyle>
    <p:bodyStyle>
      <a:lvl1pPr marL="228600" indent="-228600" algn="l" defTabSz="914400" rtl="0" eaLnBrk="1" latinLnBrk="0" hangingPunct="1">
        <a:lnSpc>
          <a:spcPct val="140000"/>
        </a:lnSpc>
        <a:spcBef>
          <a:spcPts val="800"/>
        </a:spcBef>
        <a:buFont typeface="Arial" panose="020B0604020202020204" pitchFamily="34" charset="0"/>
        <a:buChar char="•"/>
        <a:defRPr sz="2000" kern="1200">
          <a:solidFill>
            <a:srgbClr val="2C2C2C"/>
          </a:solidFill>
          <a:latin typeface="Arial" panose="020B0604020202020204" pitchFamily="34" charset="0"/>
          <a:ea typeface="Open Sans" panose="020B0606030504020204" pitchFamily="34" charset="0"/>
          <a:cs typeface="Arial" panose="020B0604020202020204" pitchFamily="34" charset="0"/>
        </a:defRPr>
      </a:lvl1pPr>
      <a:lvl2pPr marL="685800" indent="-228600" algn="l" defTabSz="914400" rtl="0" eaLnBrk="1" latinLnBrk="0" hangingPunct="1">
        <a:lnSpc>
          <a:spcPct val="140000"/>
        </a:lnSpc>
        <a:spcBef>
          <a:spcPts val="800"/>
        </a:spcBef>
        <a:buFont typeface="Arial" panose="020B0604020202020204" pitchFamily="34" charset="0"/>
        <a:buChar char="•"/>
        <a:defRPr sz="1800" kern="1200">
          <a:solidFill>
            <a:srgbClr val="2C2C2C"/>
          </a:solidFill>
          <a:latin typeface="Arial" panose="020B0604020202020204" pitchFamily="34" charset="0"/>
          <a:ea typeface="Open Sans" panose="020B0606030504020204" pitchFamily="34" charset="0"/>
          <a:cs typeface="Arial" panose="020B0604020202020204" pitchFamily="34" charset="0"/>
        </a:defRPr>
      </a:lvl2pPr>
      <a:lvl3pPr marL="1143000" indent="-228600" algn="l" defTabSz="914400" rtl="0" eaLnBrk="1" latinLnBrk="0" hangingPunct="1">
        <a:lnSpc>
          <a:spcPct val="140000"/>
        </a:lnSpc>
        <a:spcBef>
          <a:spcPts val="800"/>
        </a:spcBef>
        <a:buFont typeface="Arial" panose="020B0604020202020204" pitchFamily="34" charset="0"/>
        <a:buChar char="•"/>
        <a:defRPr sz="1800" kern="1200">
          <a:solidFill>
            <a:srgbClr val="2C2C2C"/>
          </a:solidFill>
          <a:latin typeface="Arial" panose="020B0604020202020204" pitchFamily="34" charset="0"/>
          <a:ea typeface="Open Sans" panose="020B0606030504020204" pitchFamily="34" charset="0"/>
          <a:cs typeface="Arial" panose="020B0604020202020204" pitchFamily="34" charset="0"/>
        </a:defRPr>
      </a:lvl3pPr>
      <a:lvl4pPr marL="1600200" indent="-228600" algn="l" defTabSz="914400" rtl="0" eaLnBrk="1" latinLnBrk="0" hangingPunct="1">
        <a:lnSpc>
          <a:spcPct val="140000"/>
        </a:lnSpc>
        <a:spcBef>
          <a:spcPts val="800"/>
        </a:spcBef>
        <a:buFont typeface="Arial" panose="020B0604020202020204" pitchFamily="34" charset="0"/>
        <a:buChar char="•"/>
        <a:defRPr sz="1600" kern="1200">
          <a:solidFill>
            <a:srgbClr val="2C2C2C"/>
          </a:solidFill>
          <a:latin typeface="Arial" panose="020B0604020202020204" pitchFamily="34" charset="0"/>
          <a:ea typeface="Open Sans" panose="020B0606030504020204" pitchFamily="34" charset="0"/>
          <a:cs typeface="Arial" panose="020B0604020202020204" pitchFamily="34" charset="0"/>
        </a:defRPr>
      </a:lvl4pPr>
      <a:lvl5pPr marL="2057400" indent="-228600" algn="l" defTabSz="914400" rtl="0" eaLnBrk="1" latinLnBrk="0" hangingPunct="1">
        <a:lnSpc>
          <a:spcPct val="140000"/>
        </a:lnSpc>
        <a:spcBef>
          <a:spcPts val="800"/>
        </a:spcBef>
        <a:buFont typeface="Arial" panose="020B0604020202020204" pitchFamily="34" charset="0"/>
        <a:buChar char="•"/>
        <a:defRPr sz="1600" kern="1200">
          <a:solidFill>
            <a:srgbClr val="2C2C2C"/>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86ecfa7e74674cb4">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70" r:id="Rcf7ba87e1a2942a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2b72506b88d64a0f">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6" r:id="R0a248cfe23eb44ed"/>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6a58246172f349f5">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4" r:id="R7fc41f1dd5f042ee"/>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fe51184baefa469c">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88" r:id="Rd30530c78024456c"/>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theme/theme3.xml><?xml version="1.0" encoding="utf-8"?>
<a:theme xmlns:a="http://schemas.openxmlformats.org/drawingml/2006/main" name="Packt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Masters/theme/theme6.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9.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1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15.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2c9351e0ba4b86" /></Relationships>
</file>

<file path=ppt/slides/_rels/slide2.xml.rels>&#65279;<?xml version="1.0" encoding="utf-8"?><Relationships xmlns="http://schemas.openxmlformats.org/package/2006/relationships"><Relationship Type="http://schemas.openxmlformats.org/officeDocument/2006/relationships/image" Target="/ppt/media/image.tiff" Id="R29a2e616a3d941ed" /><Relationship Type="http://schemas.openxmlformats.org/officeDocument/2006/relationships/image" Target="/ppt/media/image2.tiff" Id="R10ce7b0edb344870" /><Relationship Type="http://schemas.openxmlformats.org/officeDocument/2006/relationships/image" Target="/ppt/media/image3.tiff" Id="R661cf4526cbd42b5" /><Relationship Type="http://schemas.openxmlformats.org/officeDocument/2006/relationships/image" Target="/ppt/media/image4.tiff" Id="Rd5724141f4de4968" /><Relationship Type="http://schemas.openxmlformats.org/officeDocument/2006/relationships/image" Target="/ppt/media/image5.tiff" Id="R98c7948e4f404814" /><Relationship Type="http://schemas.openxmlformats.org/officeDocument/2006/relationships/image" Target="/ppt/media/image6.tiff" Id="Rafa3a2f4e82248c9" /><Relationship Type="http://schemas.openxmlformats.org/officeDocument/2006/relationships/image" Target="/ppt/media/image8.png" Id="R880fcf6a497845f6" /><Relationship Type="http://schemas.openxmlformats.org/officeDocument/2006/relationships/image" Target="/ppt/media/image9.png" Id="Rbb9f80a76ccb4274" /><Relationship Type="http://schemas.openxmlformats.org/officeDocument/2006/relationships/slideLayout" Target="/ppt/slideLayouts/slideLayout1.xml" Id="R3ba38eefeac14a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607a9b6bb9491d" /></Relationships>
</file>

<file path=ppt/slides/_rels/slide4.xml.rels>&#65279;<?xml version="1.0" encoding="utf-8"?><Relationships xmlns="http://schemas.openxmlformats.org/package/2006/relationships"><Relationship Type="http://schemas.openxmlformats.org/officeDocument/2006/relationships/image" Target="/ppt/media/image7.tiff" Id="R1944ca5154e64d69" /><Relationship Type="http://schemas.openxmlformats.org/officeDocument/2006/relationships/image" Target="/ppt/media/image8.tiff" Id="R815672e841da4067" /><Relationship Type="http://schemas.openxmlformats.org/officeDocument/2006/relationships/slideLayout" Target="/ppt/slideLayouts/slideLayout1.xml" Id="R3453a83901e94e8a" /></Relationships>
</file>

<file path=ppt/slides/_rels/slide5.xml.rels>&#65279;<?xml version="1.0" encoding="utf-8"?><Relationships xmlns="http://schemas.openxmlformats.org/package/2006/relationships"><Relationship Type="http://schemas.openxmlformats.org/officeDocument/2006/relationships/image" Target="/ppt/media/image10.png" Id="Rdd757fc323dd4df4" /><Relationship Type="http://schemas.openxmlformats.org/officeDocument/2006/relationships/slideLayout" Target="/ppt/slideLayouts/slideLayout1.xml" Id="R03a365da0233430b" /></Relationships>
</file>

<file path=ppt/slides/_rels/slide6.xml.rels>&#65279;<?xml version="1.0" encoding="utf-8"?><Relationships xmlns="http://schemas.openxmlformats.org/package/2006/relationships"><Relationship Type="http://schemas.openxmlformats.org/officeDocument/2006/relationships/image" Target="/ppt/media/image11.png" Id="R925b2c9a5f9449e0" /><Relationship Type="http://schemas.openxmlformats.org/officeDocument/2006/relationships/slideLayout" Target="/ppt/slideLayouts/slideLayout1.xml" Id="R6f5c4b1f497f42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53583d087844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de2ad2b44b4f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54dbbe3b244fab" /></Relationships>
</file>

<file path=ppt/slides/_rels/slide10.xml.rels>&#65279;<?xml version="1.0" encoding="utf-8"?><Relationships xmlns="http://schemas.openxmlformats.org/package/2006/relationships"><Relationship Type="http://schemas.openxmlformats.org/officeDocument/2006/relationships/image" Target="/ppt/media/image12.png" Id="Rc1717b4159de44ed" /><Relationship Type="http://schemas.openxmlformats.org/officeDocument/2006/relationships/slideLayout" Target="/ppt/slideLayouts/slideLayout1.xml" Id="R361f7fea2c854d28" /></Relationships>
</file>

<file path=ppt/slides/_rels/slide11.xml.rels>&#65279;<?xml version="1.0" encoding="utf-8"?><Relationships xmlns="http://schemas.openxmlformats.org/package/2006/relationships"><Relationship Type="http://schemas.openxmlformats.org/officeDocument/2006/relationships/image" Target="/ppt/media/image13.png" Id="Rc5b79fb10026414d" /><Relationship Type="http://schemas.openxmlformats.org/officeDocument/2006/relationships/slideLayout" Target="/ppt/slideLayouts/slideLayout1.xml" Id="Rc117ddb36d3145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34045e2bcc4d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3c556fb85c42ac" /></Relationships>
</file>

<file path=ppt/slides/_rels/slide14.xml.rels>&#65279;<?xml version="1.0" encoding="utf-8"?><Relationships xmlns="http://schemas.openxmlformats.org/package/2006/relationships"><Relationship Type="http://schemas.openxmlformats.org/officeDocument/2006/relationships/image" Target="/ppt/media/image14.png" Id="R1b2d6e508e18401b" /><Relationship Type="http://schemas.openxmlformats.org/officeDocument/2006/relationships/image" Target="/ppt/media/image3.svg" Id="Re7efb6d925754caa" /><Relationship Type="http://schemas.openxmlformats.org/officeDocument/2006/relationships/image" Target="/ppt/media/image15.png" Id="Rce63a136ea4c4548" /><Relationship Type="http://schemas.openxmlformats.org/officeDocument/2006/relationships/image" Target="/ppt/media/image4.svg" Id="R6147302b53024374" /><Relationship Type="http://schemas.openxmlformats.org/officeDocument/2006/relationships/image" Target="/ppt/media/image16.png" Id="R8b6f972512844500" /><Relationship Type="http://schemas.openxmlformats.org/officeDocument/2006/relationships/image" Target="/ppt/media/image5.svg" Id="R53d2c1d854f641ef" /><Relationship Type="http://schemas.openxmlformats.org/officeDocument/2006/relationships/image" Target="/ppt/media/image17.png" Id="R53bdf45456f3407f" /><Relationship Type="http://schemas.openxmlformats.org/officeDocument/2006/relationships/image" Target="/ppt/media/image6.svg" Id="Rf87a6ac71842458d" /><Relationship Type="http://schemas.openxmlformats.org/officeDocument/2006/relationships/image" Target="/ppt/media/image18.png" Id="R3809c591e7c74062" /><Relationship Type="http://schemas.openxmlformats.org/officeDocument/2006/relationships/image" Target="/ppt/media/image7.svg" Id="R5f8ebfa973884e4d" /><Relationship Type="http://schemas.openxmlformats.org/officeDocument/2006/relationships/image" Target="/ppt/media/image19.png" Id="Rf1fcbac6ab7d4d1b" /><Relationship Type="http://schemas.openxmlformats.org/officeDocument/2006/relationships/image" Target="/ppt/media/image8.svg" Id="R7dc2903c37aa4b8f" /><Relationship Type="http://schemas.openxmlformats.org/officeDocument/2006/relationships/image" Target="/ppt/media/image20.png" Id="R60837116fa7f4be2" /><Relationship Type="http://schemas.openxmlformats.org/officeDocument/2006/relationships/image" Target="/ppt/media/image9.svg" Id="R5d9bff4396734839" /><Relationship Type="http://schemas.openxmlformats.org/officeDocument/2006/relationships/image" Target="/ppt/media/image21.png" Id="R385c93b7d7fc46d6" /><Relationship Type="http://schemas.openxmlformats.org/officeDocument/2006/relationships/image" Target="/ppt/media/image10.svg" Id="Rf6ddd06cc6ec45ac" /><Relationship Type="http://schemas.openxmlformats.org/officeDocument/2006/relationships/slideLayout" Target="/ppt/slideLayouts/slideLayout1.xml" Id="Re6e0d988737149d1" /></Relationships>
</file>

<file path=ppt/slides/_rels/slide15.xml.rels>&#65279;<?xml version="1.0" encoding="utf-8"?><Relationships xmlns="http://schemas.openxmlformats.org/package/2006/relationships"><Relationship Type="http://schemas.openxmlformats.org/officeDocument/2006/relationships/image" Target="/ppt/media/image22.png" Id="Rf9e3b60627f84149" /><Relationship Type="http://schemas.openxmlformats.org/officeDocument/2006/relationships/slideLayout" Target="/ppt/slideLayouts/slideLayout1.xml" Id="R7b34600990784c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48c01a471b4d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30290dfec942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004aeaff7f44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fc11080198427f" /><Relationship Type="http://schemas.openxmlformats.org/officeDocument/2006/relationships/hyperlink" Target="https://bitcoin.org/bitcoin.pdf" TargetMode="External" Id="rcIde8bd91ae64524a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832ba26d71647f6" /></Relationships>
</file>

<file path=ppt/slides/_rels/slide21.xml.rels>&#65279;<?xml version="1.0" encoding="utf-8"?><Relationships xmlns="http://schemas.openxmlformats.org/package/2006/relationships"><Relationship Type="http://schemas.openxmlformats.org/officeDocument/2006/relationships/image" Target="/ppt/media/image23.png" Id="R52fd9543aa9b464d" /><Relationship Type="http://schemas.openxmlformats.org/officeDocument/2006/relationships/image" Target="/ppt/media/image24.png" Id="R98250d2b8abf4552" /><Relationship Type="http://schemas.openxmlformats.org/officeDocument/2006/relationships/image" Target="/ppt/media/image25.png" Id="Rf4a2c5a61f684dea" /><Relationship Type="http://schemas.openxmlformats.org/officeDocument/2006/relationships/oleObject" Target="/ppt/slides/embeddings/embeddedObject.bin" Id="Rc4d82a26747a43af" /><Relationship Type="http://schemas.openxmlformats.org/officeDocument/2006/relationships/oleObject" Target="/ppt/slides/embeddings/embeddedObject2.bin" Id="R16dadee8941f439e" /><Relationship Type="http://schemas.openxmlformats.org/officeDocument/2006/relationships/notesSlide" Target="/ppt/notesSlides/notesSlide1.xml" Id="Rf394ad7d36da4548" /><Relationship Type="http://schemas.openxmlformats.org/officeDocument/2006/relationships/slideLayout" Target="/ppt/slideLayouts/slideLayout28.xml" Id="R3414d6eb9b024915" /></Relationships>
</file>

<file path=ppt/slides/_rels/slide22.xml.rels>&#65279;<?xml version="1.0" encoding="utf-8"?><Relationships xmlns="http://schemas.openxmlformats.org/package/2006/relationships"><Relationship Type="http://schemas.openxmlformats.org/officeDocument/2006/relationships/notesSlide" Target="/ppt/notesSlides/notesSlide2.xml" Id="R56393870bdc64455" /><Relationship Type="http://schemas.openxmlformats.org/officeDocument/2006/relationships/slideLayout" Target="/ppt/slideLayouts/slideLayout28.xml" Id="Reab036a7a4964db5" /></Relationships>
</file>

<file path=ppt/slides/_rels/slide23.xml.rels>&#65279;<?xml version="1.0" encoding="utf-8"?><Relationships xmlns="http://schemas.openxmlformats.org/package/2006/relationships"><Relationship Type="http://schemas.openxmlformats.org/officeDocument/2006/relationships/notesSlide" Target="/ppt/notesSlides/notesSlide3.xml" Id="Re29f5e2babb7496f" /><Relationship Type="http://schemas.openxmlformats.org/officeDocument/2006/relationships/slideLayout" Target="/ppt/slideLayouts/slideLayout26.xml" Id="Ra946dc0b3a4d4778" /></Relationships>
</file>

<file path=ppt/slides/_rels/slide24.xml.rels>&#65279;<?xml version="1.0" encoding="utf-8"?><Relationships xmlns="http://schemas.openxmlformats.org/package/2006/relationships"><Relationship Type="http://schemas.openxmlformats.org/officeDocument/2006/relationships/notesSlide" Target="/ppt/notesSlides/notesSlide4.xml" Id="R193868e8612c4b4d" /><Relationship Type="http://schemas.openxmlformats.org/officeDocument/2006/relationships/slideLayout" Target="/ppt/slideLayouts/slideLayout19.xml" Id="R62b998450df94c58" /></Relationships>
</file>

<file path=ppt/slides/_rels/slide25.xml.rels>&#65279;<?xml version="1.0" encoding="utf-8"?><Relationships xmlns="http://schemas.openxmlformats.org/package/2006/relationships"><Relationship Type="http://schemas.openxmlformats.org/officeDocument/2006/relationships/notesSlide" Target="/ppt/notesSlides/notesSlide5.xml" Id="R2cab5cb7b3ee4d56" /><Relationship Type="http://schemas.openxmlformats.org/officeDocument/2006/relationships/slideLayout" Target="/ppt/slideLayouts/slideLayout28.xml" Id="R647ae28b7e934c57" /></Relationships>
</file>

<file path=ppt/slides/_rels/slide26.xml.rels>&#65279;<?xml version="1.0" encoding="utf-8"?><Relationships xmlns="http://schemas.openxmlformats.org/package/2006/relationships"><Relationship Type="http://schemas.openxmlformats.org/officeDocument/2006/relationships/notesSlide" Target="/ppt/notesSlides/notesSlide6.xml" Id="R2c1f5c1f64364d18" /><Relationship Type="http://schemas.openxmlformats.org/officeDocument/2006/relationships/slideLayout" Target="/ppt/slideLayouts/slideLayout28.xml" Id="Re77874f3ce53441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8.xml" Id="Rdfa50ac198da4e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8.xml" Id="Raa7c8493aa8d45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8.xml" Id="Rf517fabf3dec459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8.xml" Id="Rc4bf1b306cdd42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8.xml" Id="R8dce95fac19449f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8.xml" Id="Ra592923c258043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8.xml" Id="Rf60675fe63d3466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8.xml" Id="R2223d3aa5edb4cc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8.xml" Id="R0ef7aa59349f431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8.xml" Id="R0e4970b72c8445b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8.xml" Id="R82b41dfc5413443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8.xml" Id="R193a9714bad7488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8.xml" Id="Rcbcaf096349a46ba" /></Relationships>
</file>

<file path=ppt/slides/_rels/slide40.xml.rels>&#65279;<?xml version="1.0" encoding="utf-8"?><Relationships xmlns="http://schemas.openxmlformats.org/package/2006/relationships"><Relationship Type="http://schemas.openxmlformats.org/officeDocument/2006/relationships/notesSlide" Target="/ppt/notesSlides/notesSlide7.xml" Id="R858b6e905f374f07" /><Relationship Type="http://schemas.openxmlformats.org/officeDocument/2006/relationships/slideLayout" Target="/ppt/slideLayouts/slideLayout28.xml" Id="R337baccc0b9d4517" /><Relationship Type="http://schemas.openxmlformats.org/officeDocument/2006/relationships/hyperlink" Target="https://www.amazon.in/s/ref=dp_byline_sr_book_1?ie=UTF8&amp;field-author=Asharaf+S.%3B&amp;search-alias=stripbooks" TargetMode="External" Id="rcId43392e6b5a674350" /><Relationship Type="http://schemas.openxmlformats.org/officeDocument/2006/relationships/hyperlink" Target="https://www.amazon.in/s/ref=dp_byline_sr_book_2?ie=UTF8&amp;field-author=Sivadas+Neelima&amp;search-alias=stripbooks" TargetMode="External" Id="rcId6673af826c7d4ca5" /><Relationship Type="http://schemas.openxmlformats.org/officeDocument/2006/relationships/hyperlink" Target="https://www.amazon.in/s/ref=dp_byline_sr_book_3?ie=UTF8&amp;field-author=Adarsh+S.&amp;search-alias=stripbooks" TargetMode="External" Id="rcId08f9c449a46e410e" /><Relationship Type="http://schemas.openxmlformats.org/officeDocument/2006/relationships/hyperlink" Target="https://www.amazon.in/s/ref=dp_byline_sr_book_4?ie=UTF8&amp;field-author=Franklin+John&amp;search-alias=stripbooks" TargetMode="External" Id="rcId80555075301141cd" /><Relationship Type="http://schemas.openxmlformats.org/officeDocument/2006/relationships/hyperlink" Target="https://bitcoin.org/bitcoin.pdf" TargetMode="External" Id="rcIde2b9c2dd92444eb4" /></Relationships>
</file>

<file path=ppt/slides/_rels/slide41.xml.rels>&#65279;<?xml version="1.0" encoding="utf-8"?><Relationships xmlns="http://schemas.openxmlformats.org/package/2006/relationships"><Relationship Type="http://schemas.openxmlformats.org/officeDocument/2006/relationships/notesSlide" Target="/ppt/notesSlides/notesSlide8.xml" Id="R9d8f8f7b20b74944" /><Relationship Type="http://schemas.openxmlformats.org/officeDocument/2006/relationships/slideLayout" Target="/ppt/slideLayouts/slideLayout22.xml" Id="Rc429f760f50b4900" /></Relationships>
</file>

<file path=ppt/slides/_rels/slide42.xml.rels>&#65279;<?xml version="1.0" encoding="utf-8"?><Relationships xmlns="http://schemas.openxmlformats.org/package/2006/relationships"><Relationship Type="http://schemas.openxmlformats.org/officeDocument/2006/relationships/image" Target="/ppt/media/image23.png" Id="R635982dcb00f474c" /><Relationship Type="http://schemas.openxmlformats.org/officeDocument/2006/relationships/image" Target="/ppt/media/image24.png" Id="R4231df546f5a4ce9" /><Relationship Type="http://schemas.openxmlformats.org/officeDocument/2006/relationships/image" Target="/ppt/media/image25.png" Id="R7206f2bd33394875" /><Relationship Type="http://schemas.openxmlformats.org/officeDocument/2006/relationships/oleObject" Target="/ppt/slides/embeddings/embeddedObject3.bin" Id="R32560861104c4715" /><Relationship Type="http://schemas.openxmlformats.org/officeDocument/2006/relationships/oleObject" Target="/ppt/slides/embeddings/embeddedObject4.bin" Id="Rd75b408f28394c13" /><Relationship Type="http://schemas.openxmlformats.org/officeDocument/2006/relationships/notesSlide" Target="/ppt/notesSlides/notesSlide9.xml" Id="R809492aa250347df" /><Relationship Type="http://schemas.openxmlformats.org/officeDocument/2006/relationships/slideLayout" Target="/ppt/slideLayouts/slideLayout28.xml" Id="R422757db67ea4b58" /></Relationships>
</file>

<file path=ppt/slides/_rels/slide43.xml.rels>&#65279;<?xml version="1.0" encoding="utf-8"?><Relationships xmlns="http://schemas.openxmlformats.org/package/2006/relationships"><Relationship Type="http://schemas.openxmlformats.org/officeDocument/2006/relationships/notesSlide" Target="/ppt/notesSlides/notesSlide10.xml" Id="R7459e8c23085499c" /><Relationship Type="http://schemas.openxmlformats.org/officeDocument/2006/relationships/slideLayout" Target="/ppt/slideLayouts/slideLayout26.xml" Id="Raf825660c6004d3f" /></Relationships>
</file>

<file path=ppt/slides/_rels/slide44.xml.rels>&#65279;<?xml version="1.0" encoding="utf-8"?><Relationships xmlns="http://schemas.openxmlformats.org/package/2006/relationships"><Relationship Type="http://schemas.openxmlformats.org/officeDocument/2006/relationships/notesSlide" Target="/ppt/notesSlides/notesSlide11.xml" Id="Rf68a13d4e5a0434e" /><Relationship Type="http://schemas.openxmlformats.org/officeDocument/2006/relationships/slideLayout" Target="/ppt/slideLayouts/slideLayout19.xml" Id="R7745a5e6c65f439e" /></Relationships>
</file>

<file path=ppt/slides/_rels/slide45.xml.rels>&#65279;<?xml version="1.0" encoding="utf-8"?><Relationships xmlns="http://schemas.openxmlformats.org/package/2006/relationships"><Relationship Type="http://schemas.openxmlformats.org/officeDocument/2006/relationships/notesSlide" Target="/ppt/notesSlides/notesSlide12.xml" Id="R3e5272123a104b06" /><Relationship Type="http://schemas.openxmlformats.org/officeDocument/2006/relationships/slideLayout" Target="/ppt/slideLayouts/slideLayout28.xml" Id="R4239f9141dec472e" /></Relationships>
</file>

<file path=ppt/slides/_rels/slide46.xml.rels>&#65279;<?xml version="1.0" encoding="utf-8"?><Relationships xmlns="http://schemas.openxmlformats.org/package/2006/relationships"><Relationship Type="http://schemas.openxmlformats.org/officeDocument/2006/relationships/notesSlide" Target="/ppt/notesSlides/notesSlide13.xml" Id="R06e0b03971044241" /><Relationship Type="http://schemas.openxmlformats.org/officeDocument/2006/relationships/slideLayout" Target="/ppt/slideLayouts/slideLayout28.xml" Id="R774dcffa706b46d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8.xml" Id="Rbde48390326a4eb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8.xml" Id="R92fe483685944f8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8.xml" Id="R6fb490f759e34e1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8.xml" Id="R906068274f044b8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8.xml" Id="R951f5b5fbf0c4b7c" /></Relationships>
</file>

<file path=ppt/slides/_rels/slide52.xml.rels>&#65279;<?xml version="1.0" encoding="utf-8"?><Relationships xmlns="http://schemas.openxmlformats.org/package/2006/relationships"><Relationship Type="http://schemas.openxmlformats.org/officeDocument/2006/relationships/image" Target="/ppt/media/image26.png" Id="R300ccde577c7410f" /><Relationship Type="http://schemas.openxmlformats.org/officeDocument/2006/relationships/slideLayout" Target="/ppt/slideLayouts/slideLayout28.xml" Id="R87312f0c148a4ad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8.xml" Id="R2f52365870ee417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8.xml" Id="Ra3882beb112c402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8.xml" Id="R31f203ebfd9a48c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8.xml" Id="Refc052f96f4a4b1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8.xml" Id="R8c8c80ad8c7d4907" /></Relationships>
</file>

<file path=ppt/slides/_rels/slide58.xml.rels>&#65279;<?xml version="1.0" encoding="utf-8"?><Relationships xmlns="http://schemas.openxmlformats.org/package/2006/relationships"><Relationship Type="http://schemas.openxmlformats.org/officeDocument/2006/relationships/notesSlide" Target="/ppt/notesSlides/notesSlide14.xml" Id="R2d1a30db2a1846de" /><Relationship Type="http://schemas.openxmlformats.org/officeDocument/2006/relationships/slideLayout" Target="/ppt/slideLayouts/slideLayout28.xml" Id="R2830afe30b764fc1" /><Relationship Type="http://schemas.openxmlformats.org/officeDocument/2006/relationships/hyperlink" Target="https://www.amazon.in/s/ref=dp_byline_sr_book_1?ie=UTF8&amp;field-author=Asharaf+S.%3B&amp;search-alias=stripbooks" TargetMode="External" Id="rcId29ad5d5f098c434c" /><Relationship Type="http://schemas.openxmlformats.org/officeDocument/2006/relationships/hyperlink" Target="https://www.amazon.in/s/ref=dp_byline_sr_book_2?ie=UTF8&amp;field-author=Sivadas+Neelima&amp;search-alias=stripbooks" TargetMode="External" Id="rcId84025b3a1f0d4ed4" /><Relationship Type="http://schemas.openxmlformats.org/officeDocument/2006/relationships/hyperlink" Target="https://www.amazon.in/s/ref=dp_byline_sr_book_3?ie=UTF8&amp;field-author=Adarsh+S.&amp;search-alias=stripbooks" TargetMode="External" Id="rcId32a5321caca14204" /><Relationship Type="http://schemas.openxmlformats.org/officeDocument/2006/relationships/hyperlink" Target="https://www.amazon.in/s/ref=dp_byline_sr_book_4?ie=UTF8&amp;field-author=Franklin+John&amp;search-alias=stripbooks" TargetMode="External" Id="rcId7480ad6641c44a5a" /><Relationship Type="http://schemas.openxmlformats.org/officeDocument/2006/relationships/hyperlink" Target="https://bitcoin.org/bitcoin.pdf" TargetMode="External" Id="rcIdd717c960acc44856" /></Relationships>
</file>

<file path=ppt/slides/_rels/slide59.xml.rels>&#65279;<?xml version="1.0" encoding="utf-8"?><Relationships xmlns="http://schemas.openxmlformats.org/package/2006/relationships"><Relationship Type="http://schemas.openxmlformats.org/officeDocument/2006/relationships/notesSlide" Target="/ppt/notesSlides/notesSlide15.xml" Id="Rc4b9d1b5782c4290" /><Relationship Type="http://schemas.openxmlformats.org/officeDocument/2006/relationships/slideLayout" Target="/ppt/slideLayouts/slideLayout22.xml" Id="Rb6c416b1ed104c6d" /></Relationships>
</file>

<file path=ppt/slides/_rels/slide60.xml.rels>&#65279;<?xml version="1.0" encoding="utf-8"?><Relationships xmlns="http://schemas.openxmlformats.org/package/2006/relationships"><Relationship Type="http://schemas.openxmlformats.org/officeDocument/2006/relationships/image" Target="/ppt/media/image23.png" Id="R5d5d5c89a0694138" /><Relationship Type="http://schemas.openxmlformats.org/officeDocument/2006/relationships/image" Target="/ppt/media/image24.png" Id="R5d25bb1cc6a640ec" /><Relationship Type="http://schemas.openxmlformats.org/officeDocument/2006/relationships/image" Target="/ppt/media/image25.png" Id="Rd826a74e42e44fba" /><Relationship Type="http://schemas.openxmlformats.org/officeDocument/2006/relationships/oleObject" Target="/ppt/slides/embeddings/embeddedObject5.bin" Id="R1642c4630d154e0a" /><Relationship Type="http://schemas.openxmlformats.org/officeDocument/2006/relationships/oleObject" Target="/ppt/slides/embeddings/embeddedObject6.bin" Id="Rd8a67eb15f1f4f20" /><Relationship Type="http://schemas.openxmlformats.org/officeDocument/2006/relationships/notesSlide" Target="/ppt/notesSlides/notesSlide16.xml" Id="R08b50f3d97d045f5" /><Relationship Type="http://schemas.openxmlformats.org/officeDocument/2006/relationships/slideLayout" Target="/ppt/slideLayouts/slideLayout28.xml" Id="R5e2fd3f4e64d4fb4" /></Relationships>
</file>

<file path=ppt/slides/_rels/slide61.xml.rels>&#65279;<?xml version="1.0" encoding="utf-8"?><Relationships xmlns="http://schemas.openxmlformats.org/package/2006/relationships"><Relationship Type="http://schemas.openxmlformats.org/officeDocument/2006/relationships/notesSlide" Target="/ppt/notesSlides/notesSlide17.xml" Id="Rd8b046d057704bf0" /><Relationship Type="http://schemas.openxmlformats.org/officeDocument/2006/relationships/slideLayout" Target="/ppt/slideLayouts/slideLayout26.xml" Id="R5976c5f47162459d" /></Relationships>
</file>

<file path=ppt/slides/_rels/slide62.xml.rels>&#65279;<?xml version="1.0" encoding="utf-8"?><Relationships xmlns="http://schemas.openxmlformats.org/package/2006/relationships"><Relationship Type="http://schemas.openxmlformats.org/officeDocument/2006/relationships/image" Target="/ppt/media/image27.png" Id="R149e2b49be4349ae" /><Relationship Type="http://schemas.openxmlformats.org/officeDocument/2006/relationships/notesSlide" Target="/ppt/notesSlides/notesSlide18.xml" Id="R635dd8dd8b5f40f3" /><Relationship Type="http://schemas.openxmlformats.org/officeDocument/2006/relationships/slideLayout" Target="/ppt/slideLayouts/slideLayout19.xml" Id="Rbc1841d0f3d64e76" /></Relationships>
</file>

<file path=ppt/slides/_rels/slide63.xml.rels>&#65279;<?xml version="1.0" encoding="utf-8"?><Relationships xmlns="http://schemas.openxmlformats.org/package/2006/relationships"><Relationship Type="http://schemas.openxmlformats.org/officeDocument/2006/relationships/notesSlide" Target="/ppt/notesSlides/notesSlide19.xml" Id="Rb215c835e063444c" /><Relationship Type="http://schemas.openxmlformats.org/officeDocument/2006/relationships/slideLayout" Target="/ppt/slideLayouts/slideLayout28.xml" Id="Rd066a4c636264ee0" /></Relationships>
</file>

<file path=ppt/slides/_rels/slide64.xml.rels>&#65279;<?xml version="1.0" encoding="utf-8"?><Relationships xmlns="http://schemas.openxmlformats.org/package/2006/relationships"><Relationship Type="http://schemas.openxmlformats.org/officeDocument/2006/relationships/notesSlide" Target="/ppt/notesSlides/notesSlide20.xml" Id="Rd6f58e4aba2843dc" /><Relationship Type="http://schemas.openxmlformats.org/officeDocument/2006/relationships/slideLayout" Target="/ppt/slideLayouts/slideLayout28.xml" Id="R4b3bfbdaf2084ca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28.xml" Id="R4af62bfd95c24e8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28.xml" Id="R514beb7a16fa4de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28.xml" Id="R678ea3736a494ff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8.xml" Id="R9868749f6ac4450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28.xml" Id="R1b6272182c54411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28.xml" Id="R36de4589c4d64e87" /></Relationships>
</file>

<file path=ppt/slides/_rels/slide71.xml.rels>&#65279;<?xml version="1.0" encoding="utf-8"?><Relationships xmlns="http://schemas.openxmlformats.org/package/2006/relationships"><Relationship Type="http://schemas.openxmlformats.org/officeDocument/2006/relationships/slideLayout" Target="/ppt/slideLayouts/slideLayout28.xml" Id="R7d5bec2e00bf4253" /></Relationships>
</file>

<file path=ppt/slides/_rels/slide72.xml.rels>&#65279;<?xml version="1.0" encoding="utf-8"?><Relationships xmlns="http://schemas.openxmlformats.org/package/2006/relationships"><Relationship Type="http://schemas.openxmlformats.org/officeDocument/2006/relationships/image" Target="/ppt/media/image28.png" Id="R88baf9239cd94a75" /><Relationship Type="http://schemas.openxmlformats.org/officeDocument/2006/relationships/slideLayout" Target="/ppt/slideLayouts/slideLayout28.xml" Id="R1c603cdecc934a5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28.xml" Id="R02b87c6d6f4c4fc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28.xml" Id="R653ea32d80d749fa" /></Relationships>
</file>

<file path=ppt/slides/_rels/slide75.xml.rels>&#65279;<?xml version="1.0" encoding="utf-8"?><Relationships xmlns="http://schemas.openxmlformats.org/package/2006/relationships"><Relationship Type="http://schemas.openxmlformats.org/officeDocument/2006/relationships/image" Target="/ppt/media/image29.png" Id="R32c71b913a5a4d8d" /><Relationship Type="http://schemas.openxmlformats.org/officeDocument/2006/relationships/slideLayout" Target="/ppt/slideLayouts/slideLayout28.xml" Id="R1567365d9b0f4c47"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8.xml" Id="Rb345a82eb4b243f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28.xml" Id="R1c01f447c400440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28.xml" Id="R1d74608b11c042bc" /></Relationships>
</file>

<file path=ppt/slides/_rels/slide79.xml.rels>&#65279;<?xml version="1.0" encoding="utf-8"?><Relationships xmlns="http://schemas.openxmlformats.org/package/2006/relationships"><Relationship Type="http://schemas.openxmlformats.org/officeDocument/2006/relationships/slideLayout" Target="/ppt/slideLayouts/slideLayout28.xml" Id="Rde43585953874830" /></Relationships>
</file>

<file path=ppt/slides/_rels/slide80.xml.rels>&#65279;<?xml version="1.0" encoding="utf-8"?><Relationships xmlns="http://schemas.openxmlformats.org/package/2006/relationships"><Relationship Type="http://schemas.openxmlformats.org/officeDocument/2006/relationships/slideLayout" Target="/ppt/slideLayouts/slideLayout28.xml" Id="R52d9f2bd3b7b4f3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28.xml" Id="Re8a55d7150f242c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28.xml" Id="Rb6183b7c256f4a60" /></Relationships>
</file>

<file path=ppt/slides/_rels/slide83.xml.rels>&#65279;<?xml version="1.0" encoding="utf-8"?><Relationships xmlns="http://schemas.openxmlformats.org/package/2006/relationships"><Relationship Type="http://schemas.openxmlformats.org/officeDocument/2006/relationships/notesSlide" Target="/ppt/notesSlides/notesSlide21.xml" Id="Radecfa83293c4323" /><Relationship Type="http://schemas.openxmlformats.org/officeDocument/2006/relationships/slideLayout" Target="/ppt/slideLayouts/slideLayout28.xml" Id="Raffefd119e6a4179" /><Relationship Type="http://schemas.openxmlformats.org/officeDocument/2006/relationships/hyperlink" Target="https://www.amazon.in/s/ref=dp_byline_sr_book_1?ie=UTF8&amp;field-author=Asharaf+S.%3B&amp;search-alias=stripbooks" TargetMode="External" Id="rcIddad949ed3eba46f1" /><Relationship Type="http://schemas.openxmlformats.org/officeDocument/2006/relationships/hyperlink" Target="https://www.amazon.in/s/ref=dp_byline_sr_book_2?ie=UTF8&amp;field-author=Sivadas+Neelima&amp;search-alias=stripbooks" TargetMode="External" Id="rcId41c7ff8d5d8745c2" /><Relationship Type="http://schemas.openxmlformats.org/officeDocument/2006/relationships/hyperlink" Target="https://www.amazon.in/s/ref=dp_byline_sr_book_3?ie=UTF8&amp;field-author=Adarsh+S.&amp;search-alias=stripbooks" TargetMode="External" Id="rcId428a9dc84231444b" /><Relationship Type="http://schemas.openxmlformats.org/officeDocument/2006/relationships/hyperlink" Target="https://www.amazon.in/s/ref=dp_byline_sr_book_4?ie=UTF8&amp;field-author=Franklin+John&amp;search-alias=stripbooks" TargetMode="External" Id="rcIdaa4fe2705f024bc3" /><Relationship Type="http://schemas.openxmlformats.org/officeDocument/2006/relationships/hyperlink" Target="https://bitcoin.org/bitcoin.pdf" TargetMode="External" Id="rcIdcadcd0bb8c6747ab" /></Relationships>
</file>

<file path=ppt/slides/_rels/slide84.xml.rels>&#65279;<?xml version="1.0" encoding="utf-8"?><Relationships xmlns="http://schemas.openxmlformats.org/package/2006/relationships"><Relationship Type="http://schemas.openxmlformats.org/officeDocument/2006/relationships/notesSlide" Target="/ppt/notesSlides/notesSlide22.xml" Id="Ref32fb9a42844260" /><Relationship Type="http://schemas.openxmlformats.org/officeDocument/2006/relationships/slideLayout" Target="/ppt/slideLayouts/slideLayout22.xml" Id="R78d2a41fd18f41d5" /></Relationships>
</file>

<file path=ppt/slides/_rels/slide85.xml.rels>&#65279;<?xml version="1.0" encoding="utf-8"?><Relationships xmlns="http://schemas.openxmlformats.org/package/2006/relationships"><Relationship Type="http://schemas.openxmlformats.org/officeDocument/2006/relationships/image" Target="/ppt/media/image23.png" Id="R1b2e7c4d9e454f25" /><Relationship Type="http://schemas.openxmlformats.org/officeDocument/2006/relationships/image" Target="/ppt/media/image24.png" Id="R9a7df46e6b514b01" /><Relationship Type="http://schemas.openxmlformats.org/officeDocument/2006/relationships/image" Target="/ppt/media/image25.png" Id="R2dd9291fb5804bcf" /><Relationship Type="http://schemas.openxmlformats.org/officeDocument/2006/relationships/oleObject" Target="/ppt/slides/embeddings/embeddedObject7.bin" Id="Rfaca28ac8ba4421c" /><Relationship Type="http://schemas.openxmlformats.org/officeDocument/2006/relationships/oleObject" Target="/ppt/slides/embeddings/embeddedObject8.bin" Id="Rd264742249de4439" /><Relationship Type="http://schemas.openxmlformats.org/officeDocument/2006/relationships/notesSlide" Target="/ppt/notesSlides/notesSlide23.xml" Id="Ra7b0437c603243f0" /><Relationship Type="http://schemas.openxmlformats.org/officeDocument/2006/relationships/slideLayout" Target="/ppt/slideLayouts/slideLayout28.xml" Id="Rf43588d7c43242d7" /></Relationships>
</file>

<file path=ppt/slides/_rels/slide86.xml.rels>&#65279;<?xml version="1.0" encoding="utf-8"?><Relationships xmlns="http://schemas.openxmlformats.org/package/2006/relationships"><Relationship Type="http://schemas.openxmlformats.org/officeDocument/2006/relationships/notesSlide" Target="/ppt/notesSlides/notesSlide24.xml" Id="Re679dd4600ac4e00" /><Relationship Type="http://schemas.openxmlformats.org/officeDocument/2006/relationships/slideLayout" Target="/ppt/slideLayouts/slideLayout26.xml" Id="R2114783398104528" /></Relationships>
</file>

<file path=ppt/slides/_rels/slide87.xml.rels>&#65279;<?xml version="1.0" encoding="utf-8"?><Relationships xmlns="http://schemas.openxmlformats.org/package/2006/relationships"><Relationship Type="http://schemas.openxmlformats.org/officeDocument/2006/relationships/notesSlide" Target="/ppt/notesSlides/notesSlide25.xml" Id="R688b89ff8cad45c1" /><Relationship Type="http://schemas.openxmlformats.org/officeDocument/2006/relationships/slideLayout" Target="/ppt/slideLayouts/slideLayout19.xml" Id="Rc5e58c6c03f84f51" /></Relationships>
</file>

<file path=ppt/slides/_rels/slide88.xml.rels>&#65279;<?xml version="1.0" encoding="utf-8"?><Relationships xmlns="http://schemas.openxmlformats.org/package/2006/relationships"><Relationship Type="http://schemas.openxmlformats.org/officeDocument/2006/relationships/notesSlide" Target="/ppt/notesSlides/notesSlide26.xml" Id="R608187793a8f4db1" /><Relationship Type="http://schemas.openxmlformats.org/officeDocument/2006/relationships/slideLayout" Target="/ppt/slideLayouts/slideLayout28.xml" Id="R19bb687a1d6241bf" /></Relationships>
</file>

<file path=ppt/slides/_rels/slide89.xml.rels>&#65279;<?xml version="1.0" encoding="utf-8"?><Relationships xmlns="http://schemas.openxmlformats.org/package/2006/relationships"><Relationship Type="http://schemas.openxmlformats.org/officeDocument/2006/relationships/notesSlide" Target="/ppt/notesSlides/notesSlide27.xml" Id="R7eef9ef4c2384a2b" /><Relationship Type="http://schemas.openxmlformats.org/officeDocument/2006/relationships/slideLayout" Target="/ppt/slideLayouts/slideLayout28.xml" Id="R373bb7aa23be4936" /><Relationship Type="http://schemas.openxmlformats.org/officeDocument/2006/relationships/hyperlink" Target="https://www.geeksforgeeks.org/blockchain-technology-introduction/" TargetMode="External" Id="rcId44e4132346a54ff0" /></Relationships>
</file>

<file path=ppt/slides/_rels/slide90.xml.rels>&#65279;<?xml version="1.0" encoding="utf-8"?><Relationships xmlns="http://schemas.openxmlformats.org/package/2006/relationships"><Relationship Type="http://schemas.openxmlformats.org/officeDocument/2006/relationships/slideLayout" Target="/ppt/slideLayouts/slideLayout28.xml" Id="R6126c9f6241e4f32" /></Relationships>
</file>

<file path=ppt/slides/_rels/slide91.xml.rels>&#65279;<?xml version="1.0" encoding="utf-8"?><Relationships xmlns="http://schemas.openxmlformats.org/package/2006/relationships"><Relationship Type="http://schemas.openxmlformats.org/officeDocument/2006/relationships/slideLayout" Target="/ppt/slideLayouts/slideLayout28.xml" Id="R642d8df3d38a4bc3" /></Relationships>
</file>

<file path=ppt/slides/_rels/slide92.xml.rels>&#65279;<?xml version="1.0" encoding="utf-8"?><Relationships xmlns="http://schemas.openxmlformats.org/package/2006/relationships"><Relationship Type="http://schemas.openxmlformats.org/officeDocument/2006/relationships/slideLayout" Target="/ppt/slideLayouts/slideLayout28.xml" Id="Rc0b6f781f8394303" /></Relationships>
</file>

<file path=ppt/slides/_rels/slide93.xml.rels>&#65279;<?xml version="1.0" encoding="utf-8"?><Relationships xmlns="http://schemas.openxmlformats.org/package/2006/relationships"><Relationship Type="http://schemas.openxmlformats.org/officeDocument/2006/relationships/slideLayout" Target="/ppt/slideLayouts/slideLayout28.xml" Id="R8a7c1e226cea47f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28.xml" Id="R5f50f7f6b5e540e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28.xml" Id="Rffcc9c64aa9e4b3d" /></Relationships>
</file>

<file path=ppt/slides/_rels/slide96.xml.rels>&#65279;<?xml version="1.0" encoding="utf-8"?><Relationships xmlns="http://schemas.openxmlformats.org/package/2006/relationships"><Relationship Type="http://schemas.openxmlformats.org/officeDocument/2006/relationships/slideLayout" Target="/ppt/slideLayouts/slideLayout28.xml" Id="R5b185a8347cc45a3" /><Relationship Type="http://schemas.openxmlformats.org/officeDocument/2006/relationships/hyperlink" Target="https://www.forbes.com/advisor/in/investing/cryptocurrency/best-bitcoin-wallets-in-india/" TargetMode="External" Id="rcId63ac56b4ce6848c6" /></Relationships>
</file>

<file path=ppt/slides/_rels/slide97.xml.rels>&#65279;<?xml version="1.0" encoding="utf-8"?><Relationships xmlns="http://schemas.openxmlformats.org/package/2006/relationships"><Relationship Type="http://schemas.openxmlformats.org/officeDocument/2006/relationships/slideLayout" Target="/ppt/slideLayouts/slideLayout28.xml" Id="Rb221760d1c244ffb" /></Relationships>
</file>

<file path=ppt/slides/_rels/slide98.xml.rels>&#65279;<?xml version="1.0" encoding="utf-8"?><Relationships xmlns="http://schemas.openxmlformats.org/package/2006/relationships"><Relationship Type="http://schemas.openxmlformats.org/officeDocument/2006/relationships/slideLayout" Target="/ppt/slideLayouts/slideLayout28.xml" Id="R714385a3775447d5" /></Relationships>
</file>

<file path=ppt/slides/_rels/slide99.xml.rels>&#65279;<?xml version="1.0" encoding="utf-8"?><Relationships xmlns="http://schemas.openxmlformats.org/package/2006/relationships"><Relationship Type="http://schemas.openxmlformats.org/officeDocument/2006/relationships/notesSlide" Target="/ppt/notesSlides/notesSlide28.xml" Id="Rffbc3ebb81374407" /><Relationship Type="http://schemas.openxmlformats.org/officeDocument/2006/relationships/slideLayout" Target="/ppt/slideLayouts/slideLayout28.xml" Id="R6c0067274efa4567" /><Relationship Type="http://schemas.openxmlformats.org/officeDocument/2006/relationships/hyperlink" Target="https://www.amazon.in/s/ref=dp_byline_sr_book_1?ie=UTF8&amp;field-author=Asharaf+S.%3B&amp;search-alias=stripbooks" TargetMode="External" Id="rcId66516a4f8cf14c93" /><Relationship Type="http://schemas.openxmlformats.org/officeDocument/2006/relationships/hyperlink" Target="https://www.amazon.in/s/ref=dp_byline_sr_book_2?ie=UTF8&amp;field-author=Sivadas+Neelima&amp;search-alias=stripbooks" TargetMode="External" Id="rcId51e22899ed234d8f" /><Relationship Type="http://schemas.openxmlformats.org/officeDocument/2006/relationships/hyperlink" Target="https://www.amazon.in/s/ref=dp_byline_sr_book_3?ie=UTF8&amp;field-author=Adarsh+S.&amp;search-alias=stripbooks" TargetMode="External" Id="rcIdd46e712cc2044667" /><Relationship Type="http://schemas.openxmlformats.org/officeDocument/2006/relationships/hyperlink" Target="https://www.amazon.in/s/ref=dp_byline_sr_book_4?ie=UTF8&amp;field-author=Franklin+John&amp;search-alias=stripbooks" TargetMode="External" Id="rcId0fbfde4353c94b0f" /><Relationship Type="http://schemas.openxmlformats.org/officeDocument/2006/relationships/hyperlink" Target="https://bitcoin.org/bitcoin.pdf" TargetMode="External" Id="rcIdc21b3c7ce8d84095" /></Relationships>
</file>

<file path=ppt/slides/_rels/slide100.xml.rels>&#65279;<?xml version="1.0" encoding="utf-8"?><Relationships xmlns="http://schemas.openxmlformats.org/package/2006/relationships"><Relationship Type="http://schemas.openxmlformats.org/officeDocument/2006/relationships/notesSlide" Target="/ppt/notesSlides/notesSlide29.xml" Id="R9f8675269e824ab7" /><Relationship Type="http://schemas.openxmlformats.org/officeDocument/2006/relationships/slideLayout" Target="/ppt/slideLayouts/slideLayout22.xml" Id="R7c165a033fa14491" /></Relationships>
</file>

<file path=ppt/slides/_rels/slide101.xml.rels>&#65279;<?xml version="1.0" encoding="utf-8"?><Relationships xmlns="http://schemas.openxmlformats.org/package/2006/relationships"><Relationship Type="http://schemas.openxmlformats.org/officeDocument/2006/relationships/image" Target="/ppt/media/image23.png" Id="R00484dc9557c481c" /><Relationship Type="http://schemas.openxmlformats.org/officeDocument/2006/relationships/image" Target="/ppt/media/image24.png" Id="R3546f7dc2e86419f" /><Relationship Type="http://schemas.openxmlformats.org/officeDocument/2006/relationships/image" Target="/ppt/media/image25.png" Id="R8b4d33fa033b4c79" /><Relationship Type="http://schemas.openxmlformats.org/officeDocument/2006/relationships/oleObject" Target="/ppt/slides/embeddings/embeddedObject9.bin" Id="R07a6f235110c4c0e" /><Relationship Type="http://schemas.openxmlformats.org/officeDocument/2006/relationships/oleObject" Target="/ppt/slides/embeddings/embeddedObject10.bin" Id="R115bb6e2ea2a4908" /><Relationship Type="http://schemas.openxmlformats.org/officeDocument/2006/relationships/notesSlide" Target="/ppt/notesSlides/notesSlide30.xml" Id="R0d0ffe5f29ce42d1" /><Relationship Type="http://schemas.openxmlformats.org/officeDocument/2006/relationships/slideLayout" Target="/ppt/slideLayouts/slideLayout28.xml" Id="R8df5a2d724334fb0" /></Relationships>
</file>

<file path=ppt/slides/_rels/slide102.xml.rels>&#65279;<?xml version="1.0" encoding="utf-8"?><Relationships xmlns="http://schemas.openxmlformats.org/package/2006/relationships"><Relationship Type="http://schemas.openxmlformats.org/officeDocument/2006/relationships/notesSlide" Target="/ppt/notesSlides/notesSlide31.xml" Id="R3794a6d9ae1c470a" /><Relationship Type="http://schemas.openxmlformats.org/officeDocument/2006/relationships/slideLayout" Target="/ppt/slideLayouts/slideLayout26.xml" Id="Rebd0026702ab42e1" /></Relationships>
</file>

<file path=ppt/slides/_rels/slide103.xml.rels>&#65279;<?xml version="1.0" encoding="utf-8"?><Relationships xmlns="http://schemas.openxmlformats.org/package/2006/relationships"><Relationship Type="http://schemas.openxmlformats.org/officeDocument/2006/relationships/notesSlide" Target="/ppt/notesSlides/notesSlide32.xml" Id="Rd918b6e448de4523" /><Relationship Type="http://schemas.openxmlformats.org/officeDocument/2006/relationships/slideLayout" Target="/ppt/slideLayouts/slideLayout19.xml" Id="R43c59ed8a66d425d" /></Relationships>
</file>

<file path=ppt/slides/_rels/slide104.xml.rels>&#65279;<?xml version="1.0" encoding="utf-8"?><Relationships xmlns="http://schemas.openxmlformats.org/package/2006/relationships"><Relationship Type="http://schemas.openxmlformats.org/officeDocument/2006/relationships/notesSlide" Target="/ppt/notesSlides/notesSlide33.xml" Id="R831c93442a5e4d29" /><Relationship Type="http://schemas.openxmlformats.org/officeDocument/2006/relationships/slideLayout" Target="/ppt/slideLayouts/slideLayout28.xml" Id="Rc76eb15498a44500" /></Relationships>
</file>

<file path=ppt/slides/_rels/slide105.xml.rels>&#65279;<?xml version="1.0" encoding="utf-8"?><Relationships xmlns="http://schemas.openxmlformats.org/package/2006/relationships"><Relationship Type="http://schemas.openxmlformats.org/officeDocument/2006/relationships/notesSlide" Target="/ppt/notesSlides/notesSlide34.xml" Id="Red92b6b9f13044aa" /><Relationship Type="http://schemas.openxmlformats.org/officeDocument/2006/relationships/slideLayout" Target="/ppt/slideLayouts/slideLayout28.xml" Id="Raa8ed83c79014f04"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28.xml" Id="R2f1340164b4346a1"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28.xml" Id="Rb0d2590eee244be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28.xml" Id="Rbb10ee4393524ce8"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28.xml" Id="R117c22552a3247c1"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28.xml" Id="R5a1b5c91908e45b9"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28.xml" Id="Rd07b6c34b482447c"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28.xml" Id="R35156c10a09f4b1d"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28.xml" Id="Reb4bcdf7474c4dd8" /></Relationships>
</file>

<file path=ppt/slides/_rels/slide114.xml.rels>&#65279;<?xml version="1.0" encoding="utf-8"?><Relationships xmlns="http://schemas.openxmlformats.org/package/2006/relationships"><Relationship Type="http://schemas.openxmlformats.org/officeDocument/2006/relationships/notesSlide" Target="/ppt/notesSlides/notesSlide35.xml" Id="R79549b4a6ee645ee" /><Relationship Type="http://schemas.openxmlformats.org/officeDocument/2006/relationships/slideLayout" Target="/ppt/slideLayouts/slideLayout28.xml" Id="R58f1ca6ff42a4620" /><Relationship Type="http://schemas.openxmlformats.org/officeDocument/2006/relationships/hyperlink" Target="https://www.amazon.in/s/ref=dp_byline_sr_book_1?ie=UTF8&amp;field-author=Asharaf+S.%3B&amp;search-alias=stripbooks" TargetMode="External" Id="rcId7ce679ef4dc841d7" /><Relationship Type="http://schemas.openxmlformats.org/officeDocument/2006/relationships/hyperlink" Target="https://www.amazon.in/s/ref=dp_byline_sr_book_2?ie=UTF8&amp;field-author=Sivadas+Neelima&amp;search-alias=stripbooks" TargetMode="External" Id="rcId3fcc58edaa764de1" /><Relationship Type="http://schemas.openxmlformats.org/officeDocument/2006/relationships/hyperlink" Target="https://www.amazon.in/s/ref=dp_byline_sr_book_3?ie=UTF8&amp;field-author=Adarsh+S.&amp;search-alias=stripbooks" TargetMode="External" Id="rcId3f68bfc05b6549db" /><Relationship Type="http://schemas.openxmlformats.org/officeDocument/2006/relationships/hyperlink" Target="https://www.amazon.in/s/ref=dp_byline_sr_book_4?ie=UTF8&amp;field-author=Franklin+John&amp;search-alias=stripbooks" TargetMode="External" Id="rcIdc2e08f5196794551" /><Relationship Type="http://schemas.openxmlformats.org/officeDocument/2006/relationships/hyperlink" Target="https://bitcoin.org/bitcoin.pdf" TargetMode="External" Id="rcIde61dd03a2ae5445b" /></Relationships>
</file>

<file path=ppt/slides/_rels/slide115.xml.rels>&#65279;<?xml version="1.0" encoding="utf-8"?><Relationships xmlns="http://schemas.openxmlformats.org/package/2006/relationships"><Relationship Type="http://schemas.openxmlformats.org/officeDocument/2006/relationships/notesSlide" Target="/ppt/notesSlides/notesSlide36.xml" Id="R0578ca5b1bb1409d" /><Relationship Type="http://schemas.openxmlformats.org/officeDocument/2006/relationships/slideLayout" Target="/ppt/slideLayouts/slideLayout22.xml" Id="R37bd3113101d4a7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F7E96-FF29-4DC7-B387-5996DACB8DCF}"/>
              </a:ext>
            </a:extLst>
          </p:cNvPr>
          <p:cNvSpPr>
            <a:spLocks noGrp="1"/>
          </p:cNvSpPr>
          <p:nvPr>
            <p:ph type="title"/>
          </p:nvPr>
        </p:nvSpPr>
        <p:spPr/>
        <p:txBody>
          <a:bodyPr/>
          <a:lstStyle/>
          <a:p>
            <a:r>
              <a:rPr lang="en-US" dirty="0"/>
              <a:t>Outline</a:t>
            </a:r>
          </a:p>
        </p:txBody>
      </p:sp>
      <p:sp>
        <p:nvSpPr>
          <p:cNvPr id="3" name="Subtitle 2">
            <a:extLst>
              <a:ext uri="{FF2B5EF4-FFF2-40B4-BE49-F238E27FC236}">
                <a16:creationId xmlns:a16="http://schemas.microsoft.com/office/drawing/2014/main" id="{0EDA914D-3136-4D3D-B3B5-0EB7A98E2004}"/>
              </a:ext>
            </a:extLst>
          </p:cNvPr>
          <p:cNvSpPr>
            <a:spLocks noGrp="1"/>
          </p:cNvSpPr>
          <p:nvPr>
            <p:ph idx="1"/>
          </p:nvPr>
        </p:nvSpPr>
        <p:spPr/>
        <p:txBody>
          <a:bodyPr/>
          <a:lstStyle/>
          <a:p>
            <a:pPr lvl="0">
              <a:lnSpc>
                <a:spcPct val="150000"/>
              </a:lnSpc>
            </a:pPr>
            <a:r>
              <a:rPr lang="en-US" dirty="0"/>
              <a:t>Describing the fundamentals of distributed systems</a:t>
            </a:r>
          </a:p>
          <a:p>
            <a:pPr lvl="0">
              <a:lnSpc>
                <a:spcPct val="150000"/>
              </a:lnSpc>
            </a:pPr>
            <a:r>
              <a:rPr lang="en-US" dirty="0"/>
              <a:t>Defining blockchain technology</a:t>
            </a:r>
          </a:p>
          <a:p>
            <a:pPr lvl="0">
              <a:lnSpc>
                <a:spcPct val="150000"/>
              </a:lnSpc>
            </a:pPr>
            <a:r>
              <a:rPr lang="en-US" dirty="0"/>
              <a:t>Understanding how blockchain technology was developed</a:t>
            </a:r>
          </a:p>
          <a:p>
            <a:pPr lvl="0">
              <a:lnSpc>
                <a:spcPct val="150000"/>
              </a:lnSpc>
            </a:pPr>
            <a:r>
              <a:rPr lang="en-US" dirty="0"/>
              <a:t>Detailing the elements of a blockchain</a:t>
            </a:r>
          </a:p>
          <a:p>
            <a:pPr lvl="0">
              <a:lnSpc>
                <a:spcPct val="150000"/>
              </a:lnSpc>
            </a:pPr>
            <a:r>
              <a:rPr lang="en-US" dirty="0"/>
              <a:t>Identifying the benefits and limitations of blockchain technology</a:t>
            </a:r>
          </a:p>
        </p:txBody>
      </p:sp>
      <p:sp>
        <p:nvSpPr>
          <p:cNvPr id="4" name="Slide Number Placeholder 3">
            <a:extLst>
              <a:ext uri="{FF2B5EF4-FFF2-40B4-BE49-F238E27FC236}">
                <a16:creationId xmlns:a16="http://schemas.microsoft.com/office/drawing/2014/main" id="{34D340E7-101C-484E-B220-BACCA66DC646}"/>
              </a:ext>
            </a:extLst>
          </p:cNvPr>
          <p:cNvSpPr>
            <a:spLocks noGrp="1"/>
          </p:cNvSpPr>
          <p:nvPr>
            <p:ph type="sldNum" sz="quarter" idx="4"/>
          </p:nvPr>
        </p:nvSpPr>
        <p:spPr/>
        <p:txBody>
          <a:bodyPr/>
          <a:lstStyle/>
          <a:p>
            <a:fld id="{2D5587A6-0F28-234D-9116-41BE2E1A2AC2}" type="slidenum">
              <a:rPr lang="en-US"/>
              <a:t>1</a:t>
            </a:fld>
            <a:endParaRPr lang="en-US"/>
          </a:p>
        </p:txBody>
      </p:sp>
    </p:spTree>
    <p:extLst>
      <p:ext uri="{BB962C8B-B14F-4D97-AF65-F5344CB8AC3E}">
        <p14:creationId xmlns:p14="http://schemas.microsoft.com/office/powerpoint/2010/main" val="444328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1CBF-6379-6144-9230-DD7A8679B00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46887ACC-4876-104B-8507-129C6DBC975D}"/>
              </a:ext>
            </a:extLst>
          </p:cNvPr>
          <p:cNvSpPr>
            <a:spLocks noGrp="1"/>
          </p:cNvSpPr>
          <p:nvPr>
            <p:ph idx="1"/>
          </p:nvPr>
        </p:nvSpPr>
        <p:spPr/>
        <p:txBody>
          <a:bodyPr/>
          <a:lstStyle/>
          <a:p>
            <a:pPr marL="0" lvl="0" indent="0">
              <a:lnSpc>
                <a:spcPct val="150000"/>
              </a:lnSpc>
              <a:buNone/>
            </a:pPr>
            <a:r>
              <a:rPr lang="en-US" dirty="0"/>
              <a:t>Blockchain is a new revolutionary technology that will change our lives. In this chapter we will cover the theory of </a:t>
            </a:r>
            <a:r>
              <a:rPr lang="en-US" dirty="0" err="1"/>
              <a:t>blockchain</a:t>
            </a:r>
            <a:r>
              <a:rPr lang="en-US" dirty="0"/>
              <a:t> technology, and its technical foundations.</a:t>
            </a:r>
          </a:p>
        </p:txBody>
      </p:sp>
      <p:sp>
        <p:nvSpPr>
          <p:cNvPr id="4" name="Slide Number Placeholder 3">
            <a:extLst>
              <a:ext uri="{FF2B5EF4-FFF2-40B4-BE49-F238E27FC236}">
                <a16:creationId xmlns:a16="http://schemas.microsoft.com/office/drawing/2014/main" id="{DF2A6A42-78A0-2C46-8C05-9CBA1E6D6448}"/>
              </a:ext>
            </a:extLst>
          </p:cNvPr>
          <p:cNvSpPr>
            <a:spLocks noGrp="1"/>
          </p:cNvSpPr>
          <p:nvPr>
            <p:ph type="sldNum" sz="quarter" idx="4"/>
          </p:nvPr>
        </p:nvSpPr>
        <p:spPr/>
        <p:txBody>
          <a:bodyPr/>
          <a:lstStyle/>
          <a:p>
            <a:fld id="{2D5587A6-0F28-234D-9116-41BE2E1A2AC2}" type="slidenum">
              <a:rPr lang="en-US"/>
              <a:pPr/>
              <a:t>2</a:t>
            </a:fld>
            <a:endParaRPr lang="en-US" dirty="0"/>
          </a:p>
        </p:txBody>
      </p:sp>
      <p:sp>
        <p:nvSpPr>
          <p:cNvPr id="5" name="Title 1">
            <a:extLst>
              <a:ext uri="{FF2B5EF4-FFF2-40B4-BE49-F238E27FC236}">
                <a16:creationId xmlns:a16="http://schemas.microsoft.com/office/drawing/2014/main" id="{52732FAD-C005-484D-99AD-FC7EF15E928F}"/>
              </a:ext>
            </a:extLst>
          </p:cNvPr>
          <p:cNvSpPr txBox="1">
            <a:spLocks/>
          </p:cNvSpPr>
          <p:nvPr/>
        </p:nvSpPr>
        <p:spPr>
          <a:xfrm>
            <a:off x="476075" y="202163"/>
            <a:ext cx="10515600" cy="93969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3200" b="0" kern="1200">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endParaRPr lang="en-US" sz="3500" b="1" dirty="0"/>
          </a:p>
        </p:txBody>
      </p:sp>
      <p:pic>
        <p:nvPicPr>
          <p:cNvPr id="7" name="Picture 6">
            <a:extLst>
              <a:ext uri="{FF2B5EF4-FFF2-40B4-BE49-F238E27FC236}">
                <a16:creationId xmlns:a16="http://schemas.microsoft.com/office/drawing/2014/main" id="{3C6525AB-F33C-7C48-973E-0EA9787B41F2}"/>
              </a:ext>
            </a:extLst>
          </p:cNvPr>
          <p:cNvPicPr>
            <a:picLocks noChangeAspect="1"/>
          </p:cNvPicPr>
          <p:nvPr/>
        </p:nvPicPr>
        <p:blipFill>
          <a:blip r:embed="R29a2e616a3d941ed"/>
          <a:stretch>
            <a:fillRect/>
          </a:stretch>
        </p:blipFill>
        <p:spPr>
          <a:xfrm>
            <a:off x="760070" y="2778887"/>
            <a:ext cx="2550289" cy="3187861"/>
          </a:xfrm>
          <a:prstGeom prst="rect">
            <a:avLst/>
          </a:prstGeom>
        </p:spPr>
      </p:pic>
      <p:pic>
        <p:nvPicPr>
          <p:cNvPr id="8" name="Picture 7">
            <a:extLst>
              <a:ext uri="{FF2B5EF4-FFF2-40B4-BE49-F238E27FC236}">
                <a16:creationId xmlns:a16="http://schemas.microsoft.com/office/drawing/2014/main" id="{453438AF-B332-9D4D-B3FC-77B6BAA5FBFE}"/>
              </a:ext>
            </a:extLst>
          </p:cNvPr>
          <p:cNvPicPr>
            <a:picLocks noChangeAspect="1"/>
          </p:cNvPicPr>
          <p:nvPr/>
        </p:nvPicPr>
        <p:blipFill>
          <a:blip r:embed="R10ce7b0edb344870"/>
          <a:stretch>
            <a:fillRect/>
          </a:stretch>
        </p:blipFill>
        <p:spPr>
          <a:xfrm>
            <a:off x="5482429" y="2768235"/>
            <a:ext cx="1805402" cy="1805402"/>
          </a:xfrm>
          <a:prstGeom prst="rect">
            <a:avLst/>
          </a:prstGeom>
        </p:spPr>
      </p:pic>
      <p:pic>
        <p:nvPicPr>
          <p:cNvPr id="9" name="Picture 8">
            <a:extLst>
              <a:ext uri="{FF2B5EF4-FFF2-40B4-BE49-F238E27FC236}">
                <a16:creationId xmlns:a16="http://schemas.microsoft.com/office/drawing/2014/main" id="{9C3EDB07-EA66-804E-8C3A-65CFCBFE7743}"/>
              </a:ext>
            </a:extLst>
          </p:cNvPr>
          <p:cNvPicPr>
            <a:picLocks noChangeAspect="1"/>
          </p:cNvPicPr>
          <p:nvPr/>
        </p:nvPicPr>
        <p:blipFill>
          <a:blip r:embed="R661cf4526cbd42b5"/>
          <a:stretch>
            <a:fillRect/>
          </a:stretch>
        </p:blipFill>
        <p:spPr>
          <a:xfrm>
            <a:off x="7412014" y="2778887"/>
            <a:ext cx="2562165" cy="1769964"/>
          </a:xfrm>
          <a:prstGeom prst="rect">
            <a:avLst/>
          </a:prstGeom>
        </p:spPr>
      </p:pic>
      <p:pic>
        <p:nvPicPr>
          <p:cNvPr id="10" name="Picture 9">
            <a:extLst>
              <a:ext uri="{FF2B5EF4-FFF2-40B4-BE49-F238E27FC236}">
                <a16:creationId xmlns:a16="http://schemas.microsoft.com/office/drawing/2014/main" id="{32B74970-B5D5-324F-A1A5-A9BD18451A3A}"/>
              </a:ext>
            </a:extLst>
          </p:cNvPr>
          <p:cNvPicPr>
            <a:picLocks noChangeAspect="1"/>
          </p:cNvPicPr>
          <p:nvPr/>
        </p:nvPicPr>
        <p:blipFill>
          <a:blip r:embed="Rd5724141f4de4968"/>
          <a:stretch>
            <a:fillRect/>
          </a:stretch>
        </p:blipFill>
        <p:spPr>
          <a:xfrm>
            <a:off x="3342545" y="4702543"/>
            <a:ext cx="2342405" cy="1264205"/>
          </a:xfrm>
          <a:prstGeom prst="rect">
            <a:avLst/>
          </a:prstGeom>
        </p:spPr>
      </p:pic>
      <p:pic>
        <p:nvPicPr>
          <p:cNvPr id="11" name="Picture 10">
            <a:extLst>
              <a:ext uri="{FF2B5EF4-FFF2-40B4-BE49-F238E27FC236}">
                <a16:creationId xmlns:a16="http://schemas.microsoft.com/office/drawing/2014/main" id="{3718E750-686D-C340-94F6-B1A4FDD131EB}"/>
              </a:ext>
            </a:extLst>
          </p:cNvPr>
          <p:cNvPicPr>
            <a:picLocks noChangeAspect="1"/>
          </p:cNvPicPr>
          <p:nvPr/>
        </p:nvPicPr>
        <p:blipFill>
          <a:blip r:embed="R98c7948e4f404814"/>
          <a:stretch>
            <a:fillRect/>
          </a:stretch>
        </p:blipFill>
        <p:spPr>
          <a:xfrm>
            <a:off x="7080867" y="4625828"/>
            <a:ext cx="2893312" cy="1340920"/>
          </a:xfrm>
          <a:prstGeom prst="rect">
            <a:avLst/>
          </a:prstGeom>
        </p:spPr>
      </p:pic>
      <p:pic>
        <p:nvPicPr>
          <p:cNvPr id="12" name="Picture 11">
            <a:extLst>
              <a:ext uri="{FF2B5EF4-FFF2-40B4-BE49-F238E27FC236}">
                <a16:creationId xmlns:a16="http://schemas.microsoft.com/office/drawing/2014/main" id="{FBD269F9-C858-374D-A124-3C6A837C418E}"/>
              </a:ext>
            </a:extLst>
          </p:cNvPr>
          <p:cNvPicPr>
            <a:picLocks noChangeAspect="1"/>
          </p:cNvPicPr>
          <p:nvPr/>
        </p:nvPicPr>
        <p:blipFill>
          <a:blip r:embed="Rafa3a2f4e82248c9"/>
          <a:stretch>
            <a:fillRect/>
          </a:stretch>
        </p:blipFill>
        <p:spPr>
          <a:xfrm>
            <a:off x="10098361" y="2778887"/>
            <a:ext cx="1700812" cy="3187861"/>
          </a:xfrm>
          <a:prstGeom prst="rect">
            <a:avLst/>
          </a:prstGeom>
        </p:spPr>
      </p:pic>
      <p:pic>
        <p:nvPicPr>
          <p:cNvPr id="14" name="Picture 13">
            <a:extLst>
              <a:ext uri="{FF2B5EF4-FFF2-40B4-BE49-F238E27FC236}">
                <a16:creationId xmlns:a16="http://schemas.microsoft.com/office/drawing/2014/main" id="{AB1C3653-5283-BC4B-8951-C628D40A5BF9}"/>
              </a:ext>
            </a:extLst>
          </p:cNvPr>
          <p:cNvPicPr>
            <a:picLocks noChangeAspect="1"/>
          </p:cNvPicPr>
          <p:nvPr/>
        </p:nvPicPr>
        <p:blipFill>
          <a:blip r:embed="R880fcf6a497845f6">
            <a:extLst>
              <a:ext uri="{BEBA8EAE-BF5A-486C-A8C5-ECC9F3942E4B}">
                <a14:imgProps xmlns:a14="http://schemas.microsoft.com/office/drawing/2010/main">
                  <a14:imgLayer>
                    <a14:imgEffect>
                      <a14:saturation sat="0"/>
                    </a14:imgEffect>
                  </a14:imgLayer>
                </a14:imgProps>
              </a:ext>
            </a:extLst>
          </a:blip>
          <a:stretch>
            <a:fillRect/>
          </a:stretch>
        </p:blipFill>
        <p:spPr>
          <a:xfrm>
            <a:off x="5684950" y="4702543"/>
            <a:ext cx="1339614" cy="1281201"/>
          </a:xfrm>
          <a:prstGeom prst="rect">
            <a:avLst/>
          </a:prstGeom>
          <a:noFill/>
        </p:spPr>
      </p:pic>
      <p:pic>
        <p:nvPicPr>
          <p:cNvPr id="15" name="Picture 14">
            <a:extLst>
              <a:ext uri="{FF2B5EF4-FFF2-40B4-BE49-F238E27FC236}">
                <a16:creationId xmlns:a16="http://schemas.microsoft.com/office/drawing/2014/main" id="{0EEF46FA-9B2E-444B-9A98-165BE86E21A1}"/>
              </a:ext>
            </a:extLst>
          </p:cNvPr>
          <p:cNvPicPr>
            <a:picLocks noChangeAspect="1"/>
          </p:cNvPicPr>
          <p:nvPr/>
        </p:nvPicPr>
        <p:blipFill>
          <a:blip r:embed="Rbb9f80a76ccb4274"/>
          <a:stretch>
            <a:fillRect/>
          </a:stretch>
        </p:blipFill>
        <p:spPr>
          <a:xfrm>
            <a:off x="3575720" y="2768235"/>
            <a:ext cx="1555536" cy="1913684"/>
          </a:xfrm>
          <a:prstGeom prst="rect">
            <a:avLst/>
          </a:prstGeom>
        </p:spPr>
      </p:pic>
    </p:spTree>
    <p:extLst>
      <p:ext uri="{BB962C8B-B14F-4D97-AF65-F5344CB8AC3E}">
        <p14:creationId xmlns:p14="http://schemas.microsoft.com/office/powerpoint/2010/main" val="126484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4920-F12B-8B4F-8B62-75375E49FC5F}"/>
              </a:ext>
            </a:extLst>
          </p:cNvPr>
          <p:cNvSpPr>
            <a:spLocks noGrp="1"/>
          </p:cNvSpPr>
          <p:nvPr>
            <p:ph type="title"/>
          </p:nvPr>
        </p:nvSpPr>
        <p:spPr/>
        <p:txBody>
          <a:bodyPr/>
          <a:lstStyle/>
          <a:p>
            <a:r>
              <a:rPr lang="en-US" dirty="0"/>
              <a:t>Introducing distributed computing</a:t>
            </a:r>
          </a:p>
        </p:txBody>
      </p:sp>
      <p:sp>
        <p:nvSpPr>
          <p:cNvPr id="3" name="Content Placeholder 2">
            <a:extLst>
              <a:ext uri="{FF2B5EF4-FFF2-40B4-BE49-F238E27FC236}">
                <a16:creationId xmlns:a16="http://schemas.microsoft.com/office/drawing/2014/main" id="{F6555DC7-9014-0A4C-AA7F-28AA98CE3962}"/>
              </a:ext>
            </a:extLst>
          </p:cNvPr>
          <p:cNvSpPr>
            <a:spLocks noGrp="1"/>
          </p:cNvSpPr>
          <p:nvPr>
            <p:ph idx="1"/>
          </p:nvPr>
        </p:nvSpPr>
        <p:spPr/>
        <p:txBody>
          <a:bodyPr/>
          <a:lstStyle/>
          <a:p>
            <a:r>
              <a:rPr lang="en-US" dirty="0"/>
              <a:t>A distributed system is a computing paradigm whereby two or more nodes work with one another, in a coordinated fashion, to achieve a common outcome. </a:t>
            </a:r>
          </a:p>
          <a:p>
            <a:r>
              <a:rPr lang="en-US" dirty="0"/>
              <a:t>A distributed system is modeled in such a way that end users see it as a single logical platform. </a:t>
            </a:r>
          </a:p>
          <a:p>
            <a:r>
              <a:rPr lang="en-US" dirty="0"/>
              <a:t>Examples include clusters and clouds.</a:t>
            </a:r>
          </a:p>
          <a:p>
            <a:pPr marL="0" indent="0">
              <a:buNone/>
            </a:pPr>
            <a:endParaRPr lang="en-US" dirty="0"/>
          </a:p>
        </p:txBody>
      </p:sp>
      <p:sp>
        <p:nvSpPr>
          <p:cNvPr id="4" name="Slide Number Placeholder 3">
            <a:extLst>
              <a:ext uri="{FF2B5EF4-FFF2-40B4-BE49-F238E27FC236}">
                <a16:creationId xmlns:a16="http://schemas.microsoft.com/office/drawing/2014/main" id="{5D95BA53-F328-D64E-9259-B4A786605802}"/>
              </a:ext>
            </a:extLst>
          </p:cNvPr>
          <p:cNvSpPr>
            <a:spLocks noGrp="1"/>
          </p:cNvSpPr>
          <p:nvPr>
            <p:ph type="sldNum" sz="quarter" idx="4"/>
          </p:nvPr>
        </p:nvSpPr>
        <p:spPr/>
        <p:txBody>
          <a:bodyPr/>
          <a:lstStyle/>
          <a:p>
            <a:fld id="{2D5587A6-0F28-234D-9116-41BE2E1A2AC2}" type="slidenum">
              <a:rPr lang="en-US"/>
              <a:pPr/>
              <a:t>3</a:t>
            </a:fld>
            <a:endParaRPr lang="en-US" dirty="0"/>
          </a:p>
        </p:txBody>
      </p:sp>
    </p:spTree>
    <p:extLst>
      <p:ext uri="{BB962C8B-B14F-4D97-AF65-F5344CB8AC3E}">
        <p14:creationId xmlns:p14="http://schemas.microsoft.com/office/powerpoint/2010/main" val="2036069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1097A83-8A5B-804A-BA40-C32F158F3D2A}"/>
              </a:ext>
            </a:extLst>
          </p:cNvPr>
          <p:cNvSpPr>
            <a:spLocks noGrp="1"/>
          </p:cNvSpPr>
          <p:nvPr>
            <p:ph type="title"/>
          </p:nvPr>
        </p:nvSpPr>
        <p:spPr>
          <a:xfrm>
            <a:off x="512274" y="247432"/>
            <a:ext cx="4990168" cy="1352751"/>
          </a:xfrm>
        </p:spPr>
        <p:txBody>
          <a:bodyPr>
            <a:noAutofit/>
          </a:bodyPr>
          <a:lstStyle/>
          <a:p>
            <a:pPr lvl="0" eaLnBrk="0" fontAlgn="base" hangingPunct="0">
              <a:lnSpc>
                <a:spcPct val="100000"/>
              </a:lnSpc>
              <a:spcAft>
                <a:spcPct val="0"/>
              </a:spcAft>
            </a:pPr>
            <a:r>
              <a:rPr lang="en-US" altLang="en-US" dirty="0">
                <a:solidFill>
                  <a:srgbClr val="000000"/>
                </a:solidFill>
                <a:latin typeface="Arial" panose="020B0604020202020204" pitchFamily="34" charset="0"/>
                <a:ea typeface="Palatino Linotype" panose="02040502050505030304" pitchFamily="18" charset="0"/>
                <a:cs typeface="Palatino Linotype" panose="02040502050505030304" pitchFamily="18" charset="0"/>
              </a:rPr>
              <a:t>The Byzantine Generals problem</a:t>
            </a:r>
            <a:endParaRPr lang="en-US" altLang="en-US" sz="6000" dirty="0">
              <a:latin typeface="Arial" panose="020B0604020202020204" pitchFamily="34" charset="0"/>
            </a:endParaRPr>
          </a:p>
        </p:txBody>
      </p:sp>
      <p:sp>
        <p:nvSpPr>
          <p:cNvPr id="6" name="TextBox 5">
            <a:extLst>
              <a:ext uri="{FF2B5EF4-FFF2-40B4-BE49-F238E27FC236}">
                <a16:creationId xmlns:a16="http://schemas.microsoft.com/office/drawing/2014/main" id="{137B7218-F879-864C-9BA6-FF3FB6B4EE78}"/>
              </a:ext>
            </a:extLst>
          </p:cNvPr>
          <p:cNvSpPr txBox="1"/>
          <p:nvPr/>
        </p:nvSpPr>
        <p:spPr>
          <a:xfrm>
            <a:off x="4468415" y="5543583"/>
            <a:ext cx="3496492" cy="830997"/>
          </a:xfrm>
          <a:prstGeom prst="rect">
            <a:avLst/>
          </a:prstGeom>
          <a:noFill/>
        </p:spPr>
        <p:txBody>
          <a:bodyPr wrap="square" rtlCol="0">
            <a:spAutoFit/>
          </a:bodyPr>
          <a:lstStyle/>
          <a:p>
            <a:r>
              <a:rPr lang="en-US" sz="2400" dirty="0"/>
              <a:t>Attack or retreat?</a:t>
            </a:r>
          </a:p>
          <a:p>
            <a:r>
              <a:rPr lang="en-US" sz="2400" dirty="0"/>
              <a:t>Consensus required to win</a:t>
            </a:r>
          </a:p>
        </p:txBody>
      </p:sp>
      <p:pic>
        <p:nvPicPr>
          <p:cNvPr id="7" name="Picture 6">
            <a:extLst>
              <a:ext uri="{FF2B5EF4-FFF2-40B4-BE49-F238E27FC236}">
                <a16:creationId xmlns:a16="http://schemas.microsoft.com/office/drawing/2014/main" id="{FA7EDE8B-7DA7-0D40-93A1-376610911861}"/>
              </a:ext>
            </a:extLst>
          </p:cNvPr>
          <p:cNvPicPr>
            <a:picLocks noChangeAspect="1"/>
          </p:cNvPicPr>
          <p:nvPr/>
        </p:nvPicPr>
        <p:blipFill>
          <a:blip r:embed="R1944ca5154e64d69"/>
          <a:stretch>
            <a:fillRect/>
          </a:stretch>
        </p:blipFill>
        <p:spPr>
          <a:xfrm>
            <a:off x="5089983" y="2392275"/>
            <a:ext cx="1734149" cy="1441787"/>
          </a:xfrm>
          <a:prstGeom prst="rect">
            <a:avLst/>
          </a:prstGeom>
        </p:spPr>
      </p:pic>
      <p:grpSp>
        <p:nvGrpSpPr>
          <p:cNvPr id="8" name="Group 7">
            <a:extLst>
              <a:ext uri="{FF2B5EF4-FFF2-40B4-BE49-F238E27FC236}">
                <a16:creationId xmlns:a16="http://schemas.microsoft.com/office/drawing/2014/main" id="{8C5E3FC6-FC37-494D-80F0-3A982E2C4124}"/>
              </a:ext>
            </a:extLst>
          </p:cNvPr>
          <p:cNvGrpSpPr/>
          <p:nvPr/>
        </p:nvGrpSpPr>
        <p:grpSpPr>
          <a:xfrm>
            <a:off x="3248149" y="3742264"/>
            <a:ext cx="1135812" cy="1548997"/>
            <a:chOff x="3248149" y="3742264"/>
            <a:chExt cx="1135812" cy="1548997"/>
          </a:xfrm>
        </p:grpSpPr>
        <p:grpSp>
          <p:nvGrpSpPr>
            <p:cNvPr id="9" name="Group 8">
              <a:extLst>
                <a:ext uri="{FF2B5EF4-FFF2-40B4-BE49-F238E27FC236}">
                  <a16:creationId xmlns:a16="http://schemas.microsoft.com/office/drawing/2014/main" id="{F3C8E4FD-7C2F-D547-A716-E73BA8F2A0CF}"/>
                </a:ext>
              </a:extLst>
            </p:cNvPr>
            <p:cNvGrpSpPr/>
            <p:nvPr/>
          </p:nvGrpSpPr>
          <p:grpSpPr>
            <a:xfrm>
              <a:off x="3355860" y="4074689"/>
              <a:ext cx="1028101" cy="1216572"/>
              <a:chOff x="3355860" y="4074689"/>
              <a:chExt cx="1028101" cy="1216572"/>
            </a:xfrm>
          </p:grpSpPr>
          <p:pic>
            <p:nvPicPr>
              <p:cNvPr id="12" name="Picture 11">
                <a:extLst>
                  <a:ext uri="{FF2B5EF4-FFF2-40B4-BE49-F238E27FC236}">
                    <a16:creationId xmlns:a16="http://schemas.microsoft.com/office/drawing/2014/main" id="{E4262855-11C3-AD44-85FF-50617518648E}"/>
                  </a:ext>
                </a:extLst>
              </p:cNvPr>
              <p:cNvPicPr>
                <a:picLocks noChangeAspect="1"/>
              </p:cNvPicPr>
              <p:nvPr/>
            </p:nvPicPr>
            <p:blipFill>
              <a:blip r:embed="R815672e841da4067"/>
              <a:stretch>
                <a:fillRect/>
              </a:stretch>
            </p:blipFill>
            <p:spPr>
              <a:xfrm>
                <a:off x="3676663" y="4074689"/>
                <a:ext cx="707298" cy="1040144"/>
              </a:xfrm>
              <a:prstGeom prst="rect">
                <a:avLst/>
              </a:prstGeom>
            </p:spPr>
          </p:pic>
          <p:pic>
            <p:nvPicPr>
              <p:cNvPr id="13" name="Picture 12">
                <a:extLst>
                  <a:ext uri="{FF2B5EF4-FFF2-40B4-BE49-F238E27FC236}">
                    <a16:creationId xmlns:a16="http://schemas.microsoft.com/office/drawing/2014/main" id="{34870FF8-115F-7442-A95C-D8CDA2443523}"/>
                  </a:ext>
                </a:extLst>
              </p:cNvPr>
              <p:cNvPicPr>
                <a:picLocks noChangeAspect="1"/>
              </p:cNvPicPr>
              <p:nvPr/>
            </p:nvPicPr>
            <p:blipFill>
              <a:blip r:embed="R815672e841da4067"/>
              <a:stretch>
                <a:fillRect/>
              </a:stretch>
            </p:blipFill>
            <p:spPr>
              <a:xfrm>
                <a:off x="3355860" y="4452845"/>
                <a:ext cx="570123" cy="838416"/>
              </a:xfrm>
              <a:prstGeom prst="rect">
                <a:avLst/>
              </a:prstGeom>
            </p:spPr>
          </p:pic>
        </p:grpSp>
        <p:sp>
          <p:nvSpPr>
            <p:cNvPr id="10" name="TextBox 9">
              <a:extLst>
                <a:ext uri="{FF2B5EF4-FFF2-40B4-BE49-F238E27FC236}">
                  <a16:creationId xmlns:a16="http://schemas.microsoft.com/office/drawing/2014/main" id="{EFA224BA-AE39-344E-9F04-00B080A56191}"/>
                </a:ext>
              </a:extLst>
            </p:cNvPr>
            <p:cNvSpPr txBox="1"/>
            <p:nvPr/>
          </p:nvSpPr>
          <p:spPr>
            <a:xfrm>
              <a:off x="3925983" y="3754129"/>
              <a:ext cx="249320" cy="400110"/>
            </a:xfrm>
            <a:prstGeom prst="rect">
              <a:avLst/>
            </a:prstGeom>
            <a:noFill/>
          </p:spPr>
          <p:txBody>
            <a:bodyPr wrap="square" rtlCol="0">
              <a:spAutoFit/>
            </a:bodyPr>
            <a:lstStyle/>
            <a:p>
              <a:r>
                <a:rPr lang="en-US" sz="2000" b="1" dirty="0"/>
                <a:t>?</a:t>
              </a:r>
              <a:endParaRPr lang="en-US" b="1" dirty="0"/>
            </a:p>
          </p:txBody>
        </p:sp>
        <p:sp>
          <p:nvSpPr>
            <p:cNvPr id="11" name="TextBox 10">
              <a:extLst>
                <a:ext uri="{FF2B5EF4-FFF2-40B4-BE49-F238E27FC236}">
                  <a16:creationId xmlns:a16="http://schemas.microsoft.com/office/drawing/2014/main" id="{F9C0B300-53FD-824D-98C0-E2DB3DA95240}"/>
                </a:ext>
              </a:extLst>
            </p:cNvPr>
            <p:cNvSpPr txBox="1"/>
            <p:nvPr/>
          </p:nvSpPr>
          <p:spPr>
            <a:xfrm>
              <a:off x="3248149" y="3742264"/>
              <a:ext cx="857027" cy="400110"/>
            </a:xfrm>
            <a:prstGeom prst="rect">
              <a:avLst/>
            </a:prstGeom>
            <a:noFill/>
          </p:spPr>
          <p:txBody>
            <a:bodyPr wrap="square" rtlCol="0">
              <a:spAutoFit/>
            </a:bodyPr>
            <a:lstStyle/>
            <a:p>
              <a:r>
                <a:rPr lang="en-US" sz="2000" b="1" dirty="0">
                  <a:solidFill>
                    <a:schemeClr val="accent6"/>
                  </a:solidFill>
                </a:rPr>
                <a:t>Attack</a:t>
              </a:r>
              <a:endParaRPr lang="en-US" b="1" dirty="0">
                <a:solidFill>
                  <a:schemeClr val="accent6"/>
                </a:solidFill>
              </a:endParaRPr>
            </a:p>
          </p:txBody>
        </p:sp>
      </p:grpSp>
      <p:grpSp>
        <p:nvGrpSpPr>
          <p:cNvPr id="14" name="Group 13">
            <a:extLst>
              <a:ext uri="{FF2B5EF4-FFF2-40B4-BE49-F238E27FC236}">
                <a16:creationId xmlns:a16="http://schemas.microsoft.com/office/drawing/2014/main" id="{287442D9-DB52-4B44-8AEC-EEE8B438DE0A}"/>
              </a:ext>
            </a:extLst>
          </p:cNvPr>
          <p:cNvGrpSpPr/>
          <p:nvPr/>
        </p:nvGrpSpPr>
        <p:grpSpPr>
          <a:xfrm>
            <a:off x="2280242" y="1488416"/>
            <a:ext cx="1396421" cy="1847051"/>
            <a:chOff x="2280242" y="1488416"/>
            <a:chExt cx="1396421" cy="1847051"/>
          </a:xfrm>
        </p:grpSpPr>
        <p:grpSp>
          <p:nvGrpSpPr>
            <p:cNvPr id="15" name="Group 14">
              <a:extLst>
                <a:ext uri="{FF2B5EF4-FFF2-40B4-BE49-F238E27FC236}">
                  <a16:creationId xmlns:a16="http://schemas.microsoft.com/office/drawing/2014/main" id="{9C8548DA-510C-7C45-AC43-8FA8B34B35DB}"/>
                </a:ext>
              </a:extLst>
            </p:cNvPr>
            <p:cNvGrpSpPr/>
            <p:nvPr/>
          </p:nvGrpSpPr>
          <p:grpSpPr>
            <a:xfrm>
              <a:off x="2280242" y="1872204"/>
              <a:ext cx="1396421" cy="1463263"/>
              <a:chOff x="2280242" y="1872204"/>
              <a:chExt cx="1396421" cy="1463263"/>
            </a:xfrm>
          </p:grpSpPr>
          <p:pic>
            <p:nvPicPr>
              <p:cNvPr id="18" name="Picture 17">
                <a:extLst>
                  <a:ext uri="{FF2B5EF4-FFF2-40B4-BE49-F238E27FC236}">
                    <a16:creationId xmlns:a16="http://schemas.microsoft.com/office/drawing/2014/main" id="{F542AFE6-729A-2A4D-ABE4-7DE2A6229ECB}"/>
                  </a:ext>
                </a:extLst>
              </p:cNvPr>
              <p:cNvPicPr>
                <a:picLocks noChangeAspect="1"/>
              </p:cNvPicPr>
              <p:nvPr/>
            </p:nvPicPr>
            <p:blipFill>
              <a:blip r:embed="R815672e841da4067"/>
              <a:stretch>
                <a:fillRect/>
              </a:stretch>
            </p:blipFill>
            <p:spPr>
              <a:xfrm>
                <a:off x="2969365" y="1872204"/>
                <a:ext cx="707298" cy="1040144"/>
              </a:xfrm>
              <a:prstGeom prst="rect">
                <a:avLst/>
              </a:prstGeom>
            </p:spPr>
          </p:pic>
          <p:pic>
            <p:nvPicPr>
              <p:cNvPr id="19" name="Picture 18">
                <a:extLst>
                  <a:ext uri="{FF2B5EF4-FFF2-40B4-BE49-F238E27FC236}">
                    <a16:creationId xmlns:a16="http://schemas.microsoft.com/office/drawing/2014/main" id="{3E25BF37-5CBA-CF48-97E4-7959ADCCF278}"/>
                  </a:ext>
                </a:extLst>
              </p:cNvPr>
              <p:cNvPicPr>
                <a:picLocks noChangeAspect="1"/>
              </p:cNvPicPr>
              <p:nvPr/>
            </p:nvPicPr>
            <p:blipFill>
              <a:blip r:embed="R815672e841da4067"/>
              <a:stretch>
                <a:fillRect/>
              </a:stretch>
            </p:blipFill>
            <p:spPr>
              <a:xfrm>
                <a:off x="2280242" y="1898790"/>
                <a:ext cx="707298" cy="1040144"/>
              </a:xfrm>
              <a:prstGeom prst="rect">
                <a:avLst/>
              </a:prstGeom>
            </p:spPr>
          </p:pic>
          <p:pic>
            <p:nvPicPr>
              <p:cNvPr id="20" name="Picture 19">
                <a:extLst>
                  <a:ext uri="{FF2B5EF4-FFF2-40B4-BE49-F238E27FC236}">
                    <a16:creationId xmlns:a16="http://schemas.microsoft.com/office/drawing/2014/main" id="{978149DE-9209-E64E-8BA9-76CDDF974240}"/>
                  </a:ext>
                </a:extLst>
              </p:cNvPr>
              <p:cNvPicPr>
                <a:picLocks noChangeAspect="1"/>
              </p:cNvPicPr>
              <p:nvPr/>
            </p:nvPicPr>
            <p:blipFill>
              <a:blip r:embed="R815672e841da4067"/>
              <a:stretch>
                <a:fillRect/>
              </a:stretch>
            </p:blipFill>
            <p:spPr>
              <a:xfrm>
                <a:off x="2606084" y="2295323"/>
                <a:ext cx="707298" cy="1040144"/>
              </a:xfrm>
              <a:prstGeom prst="rect">
                <a:avLst/>
              </a:prstGeom>
            </p:spPr>
          </p:pic>
        </p:grpSp>
        <p:sp>
          <p:nvSpPr>
            <p:cNvPr id="16" name="TextBox 15">
              <a:extLst>
                <a:ext uri="{FF2B5EF4-FFF2-40B4-BE49-F238E27FC236}">
                  <a16:creationId xmlns:a16="http://schemas.microsoft.com/office/drawing/2014/main" id="{C29E9A02-882E-1849-8909-C2E7196AB44C}"/>
                </a:ext>
              </a:extLst>
            </p:cNvPr>
            <p:cNvSpPr txBox="1"/>
            <p:nvPr/>
          </p:nvSpPr>
          <p:spPr>
            <a:xfrm>
              <a:off x="3228650" y="1514098"/>
              <a:ext cx="249320" cy="400110"/>
            </a:xfrm>
            <a:prstGeom prst="rect">
              <a:avLst/>
            </a:prstGeom>
            <a:noFill/>
          </p:spPr>
          <p:txBody>
            <a:bodyPr wrap="square" rtlCol="0">
              <a:spAutoFit/>
            </a:bodyPr>
            <a:lstStyle/>
            <a:p>
              <a:r>
                <a:rPr lang="en-US" sz="2000" b="1" dirty="0"/>
                <a:t>?</a:t>
              </a:r>
              <a:endParaRPr lang="en-US" b="1" dirty="0"/>
            </a:p>
          </p:txBody>
        </p:sp>
        <p:sp>
          <p:nvSpPr>
            <p:cNvPr id="17" name="TextBox 16">
              <a:extLst>
                <a:ext uri="{FF2B5EF4-FFF2-40B4-BE49-F238E27FC236}">
                  <a16:creationId xmlns:a16="http://schemas.microsoft.com/office/drawing/2014/main" id="{6789F871-AC0A-7648-838C-6EE732DB894F}"/>
                </a:ext>
              </a:extLst>
            </p:cNvPr>
            <p:cNvSpPr txBox="1"/>
            <p:nvPr/>
          </p:nvSpPr>
          <p:spPr>
            <a:xfrm>
              <a:off x="2396358" y="1488416"/>
              <a:ext cx="995648" cy="400110"/>
            </a:xfrm>
            <a:prstGeom prst="rect">
              <a:avLst/>
            </a:prstGeom>
            <a:noFill/>
          </p:spPr>
          <p:txBody>
            <a:bodyPr wrap="square" rtlCol="0">
              <a:spAutoFit/>
            </a:bodyPr>
            <a:lstStyle/>
            <a:p>
              <a:r>
                <a:rPr lang="en-US" sz="2000" b="1" dirty="0">
                  <a:solidFill>
                    <a:srgbClr val="FF0000"/>
                  </a:solidFill>
                </a:rPr>
                <a:t>Retreat</a:t>
              </a:r>
              <a:endParaRPr lang="en-US" b="1" dirty="0">
                <a:solidFill>
                  <a:srgbClr val="FF0000"/>
                </a:solidFill>
              </a:endParaRPr>
            </a:p>
          </p:txBody>
        </p:sp>
      </p:grpSp>
      <p:grpSp>
        <p:nvGrpSpPr>
          <p:cNvPr id="21" name="Group 20">
            <a:extLst>
              <a:ext uri="{FF2B5EF4-FFF2-40B4-BE49-F238E27FC236}">
                <a16:creationId xmlns:a16="http://schemas.microsoft.com/office/drawing/2014/main" id="{C7857459-2045-F144-9408-DCD9AEDBFE48}"/>
              </a:ext>
            </a:extLst>
          </p:cNvPr>
          <p:cNvGrpSpPr/>
          <p:nvPr/>
        </p:nvGrpSpPr>
        <p:grpSpPr>
          <a:xfrm>
            <a:off x="7650159" y="3133143"/>
            <a:ext cx="1681443" cy="2187604"/>
            <a:chOff x="7650159" y="3133143"/>
            <a:chExt cx="1681443" cy="2187604"/>
          </a:xfrm>
        </p:grpSpPr>
        <p:pic>
          <p:nvPicPr>
            <p:cNvPr id="22" name="Picture 21">
              <a:extLst>
                <a:ext uri="{FF2B5EF4-FFF2-40B4-BE49-F238E27FC236}">
                  <a16:creationId xmlns:a16="http://schemas.microsoft.com/office/drawing/2014/main" id="{D84D33AE-4C21-E34F-9D27-C79CCD20D63E}"/>
                </a:ext>
              </a:extLst>
            </p:cNvPr>
            <p:cNvPicPr>
              <a:picLocks noChangeAspect="1"/>
            </p:cNvPicPr>
            <p:nvPr/>
          </p:nvPicPr>
          <p:blipFill>
            <a:blip r:embed="R815672e841da4067"/>
            <a:stretch>
              <a:fillRect/>
            </a:stretch>
          </p:blipFill>
          <p:spPr>
            <a:xfrm flipH="1">
              <a:off x="8225340" y="3954184"/>
              <a:ext cx="753978" cy="1040144"/>
            </a:xfrm>
            <a:prstGeom prst="rect">
              <a:avLst/>
            </a:prstGeom>
          </p:spPr>
        </p:pic>
        <p:pic>
          <p:nvPicPr>
            <p:cNvPr id="23" name="Picture 22">
              <a:extLst>
                <a:ext uri="{FF2B5EF4-FFF2-40B4-BE49-F238E27FC236}">
                  <a16:creationId xmlns:a16="http://schemas.microsoft.com/office/drawing/2014/main" id="{849C8F48-2E33-4D4A-9D6D-090A9B770F1E}"/>
                </a:ext>
              </a:extLst>
            </p:cNvPr>
            <p:cNvPicPr>
              <a:picLocks noChangeAspect="1"/>
            </p:cNvPicPr>
            <p:nvPr/>
          </p:nvPicPr>
          <p:blipFill>
            <a:blip r:embed="R815672e841da4067"/>
            <a:stretch>
              <a:fillRect/>
            </a:stretch>
          </p:blipFill>
          <p:spPr>
            <a:xfrm flipH="1">
              <a:off x="7650159" y="3507392"/>
              <a:ext cx="753978" cy="1040144"/>
            </a:xfrm>
            <a:prstGeom prst="rect">
              <a:avLst/>
            </a:prstGeom>
          </p:spPr>
        </p:pic>
        <p:pic>
          <p:nvPicPr>
            <p:cNvPr id="24" name="Picture 23">
              <a:extLst>
                <a:ext uri="{FF2B5EF4-FFF2-40B4-BE49-F238E27FC236}">
                  <a16:creationId xmlns:a16="http://schemas.microsoft.com/office/drawing/2014/main" id="{B0D524D4-6871-494A-AD94-7F50DDDA15BB}"/>
                </a:ext>
              </a:extLst>
            </p:cNvPr>
            <p:cNvPicPr>
              <a:picLocks noChangeAspect="1"/>
            </p:cNvPicPr>
            <p:nvPr/>
          </p:nvPicPr>
          <p:blipFill>
            <a:blip r:embed="R815672e841da4067"/>
            <a:stretch>
              <a:fillRect/>
            </a:stretch>
          </p:blipFill>
          <p:spPr>
            <a:xfrm flipH="1">
              <a:off x="8724939" y="4483830"/>
              <a:ext cx="606663" cy="836917"/>
            </a:xfrm>
            <a:prstGeom prst="rect">
              <a:avLst/>
            </a:prstGeom>
          </p:spPr>
        </p:pic>
        <p:pic>
          <p:nvPicPr>
            <p:cNvPr id="25" name="Picture 24">
              <a:extLst>
                <a:ext uri="{FF2B5EF4-FFF2-40B4-BE49-F238E27FC236}">
                  <a16:creationId xmlns:a16="http://schemas.microsoft.com/office/drawing/2014/main" id="{06BE3B3F-1331-9A42-A49F-86EF0E1FE0DD}"/>
                </a:ext>
              </a:extLst>
            </p:cNvPr>
            <p:cNvPicPr>
              <a:picLocks noChangeAspect="1"/>
            </p:cNvPicPr>
            <p:nvPr/>
          </p:nvPicPr>
          <p:blipFill>
            <a:blip r:embed="R815672e841da4067"/>
            <a:stretch>
              <a:fillRect/>
            </a:stretch>
          </p:blipFill>
          <p:spPr>
            <a:xfrm flipH="1">
              <a:off x="8602329" y="3693775"/>
              <a:ext cx="606663" cy="836917"/>
            </a:xfrm>
            <a:prstGeom prst="rect">
              <a:avLst/>
            </a:prstGeom>
          </p:spPr>
        </p:pic>
        <p:sp>
          <p:nvSpPr>
            <p:cNvPr id="26" name="TextBox 25">
              <a:extLst>
                <a:ext uri="{FF2B5EF4-FFF2-40B4-BE49-F238E27FC236}">
                  <a16:creationId xmlns:a16="http://schemas.microsoft.com/office/drawing/2014/main" id="{A901EBC1-7FE4-EE44-BAB0-893B5F48C75C}"/>
                </a:ext>
              </a:extLst>
            </p:cNvPr>
            <p:cNvSpPr txBox="1"/>
            <p:nvPr/>
          </p:nvSpPr>
          <p:spPr>
            <a:xfrm>
              <a:off x="8789920" y="3133143"/>
              <a:ext cx="249320" cy="400110"/>
            </a:xfrm>
            <a:prstGeom prst="rect">
              <a:avLst/>
            </a:prstGeom>
            <a:noFill/>
          </p:spPr>
          <p:txBody>
            <a:bodyPr wrap="square" rtlCol="0">
              <a:spAutoFit/>
            </a:bodyPr>
            <a:lstStyle/>
            <a:p>
              <a:r>
                <a:rPr lang="en-US" sz="2000" b="1" dirty="0"/>
                <a:t>?</a:t>
              </a:r>
              <a:endParaRPr lang="en-US" b="1" dirty="0"/>
            </a:p>
          </p:txBody>
        </p:sp>
        <p:sp>
          <p:nvSpPr>
            <p:cNvPr id="27" name="TextBox 26">
              <a:extLst>
                <a:ext uri="{FF2B5EF4-FFF2-40B4-BE49-F238E27FC236}">
                  <a16:creationId xmlns:a16="http://schemas.microsoft.com/office/drawing/2014/main" id="{1521CEEF-85FF-7142-BEE1-907EBBA50ADC}"/>
                </a:ext>
              </a:extLst>
            </p:cNvPr>
            <p:cNvSpPr txBox="1"/>
            <p:nvPr/>
          </p:nvSpPr>
          <p:spPr>
            <a:xfrm>
              <a:off x="8005409" y="3133143"/>
              <a:ext cx="995648" cy="400110"/>
            </a:xfrm>
            <a:prstGeom prst="rect">
              <a:avLst/>
            </a:prstGeom>
            <a:noFill/>
          </p:spPr>
          <p:txBody>
            <a:bodyPr wrap="square" rtlCol="0">
              <a:spAutoFit/>
            </a:bodyPr>
            <a:lstStyle/>
            <a:p>
              <a:r>
                <a:rPr lang="en-US" sz="2000" b="1" dirty="0">
                  <a:solidFill>
                    <a:srgbClr val="FF0000"/>
                  </a:solidFill>
                </a:rPr>
                <a:t>Retreat</a:t>
              </a:r>
              <a:endParaRPr lang="en-US" b="1" dirty="0">
                <a:solidFill>
                  <a:srgbClr val="FF0000"/>
                </a:solidFill>
              </a:endParaRPr>
            </a:p>
          </p:txBody>
        </p:sp>
      </p:grpSp>
      <p:grpSp>
        <p:nvGrpSpPr>
          <p:cNvPr id="28" name="Group 27">
            <a:extLst>
              <a:ext uri="{FF2B5EF4-FFF2-40B4-BE49-F238E27FC236}">
                <a16:creationId xmlns:a16="http://schemas.microsoft.com/office/drawing/2014/main" id="{A6B58967-7C75-9040-8903-CE9D6B1A9831}"/>
              </a:ext>
            </a:extLst>
          </p:cNvPr>
          <p:cNvGrpSpPr/>
          <p:nvPr/>
        </p:nvGrpSpPr>
        <p:grpSpPr>
          <a:xfrm>
            <a:off x="5315530" y="606592"/>
            <a:ext cx="1195098" cy="1489827"/>
            <a:chOff x="5312062" y="525484"/>
            <a:chExt cx="1195098" cy="1489827"/>
          </a:xfrm>
        </p:grpSpPr>
        <p:grpSp>
          <p:nvGrpSpPr>
            <p:cNvPr id="29" name="Group 28">
              <a:extLst>
                <a:ext uri="{FF2B5EF4-FFF2-40B4-BE49-F238E27FC236}">
                  <a16:creationId xmlns:a16="http://schemas.microsoft.com/office/drawing/2014/main" id="{C2D5D7EE-2014-6142-8B65-74ABE3020C0D}"/>
                </a:ext>
              </a:extLst>
            </p:cNvPr>
            <p:cNvGrpSpPr/>
            <p:nvPr/>
          </p:nvGrpSpPr>
          <p:grpSpPr>
            <a:xfrm>
              <a:off x="5443795" y="862209"/>
              <a:ext cx="1063365" cy="1153102"/>
              <a:chOff x="5443795" y="862209"/>
              <a:chExt cx="1063365" cy="1153102"/>
            </a:xfrm>
          </p:grpSpPr>
          <p:pic>
            <p:nvPicPr>
              <p:cNvPr id="31" name="Picture 30">
                <a:extLst>
                  <a:ext uri="{FF2B5EF4-FFF2-40B4-BE49-F238E27FC236}">
                    <a16:creationId xmlns:a16="http://schemas.microsoft.com/office/drawing/2014/main" id="{07F8B46E-20CF-5346-8416-00A923390032}"/>
                  </a:ext>
                </a:extLst>
              </p:cNvPr>
              <p:cNvPicPr>
                <a:picLocks noChangeAspect="1"/>
              </p:cNvPicPr>
              <p:nvPr/>
            </p:nvPicPr>
            <p:blipFill>
              <a:blip r:embed="R815672e841da4067"/>
              <a:stretch>
                <a:fillRect/>
              </a:stretch>
            </p:blipFill>
            <p:spPr>
              <a:xfrm flipH="1">
                <a:off x="5443795" y="862209"/>
                <a:ext cx="753978" cy="1040144"/>
              </a:xfrm>
              <a:prstGeom prst="rect">
                <a:avLst/>
              </a:prstGeom>
            </p:spPr>
          </p:pic>
          <p:pic>
            <p:nvPicPr>
              <p:cNvPr id="32" name="Picture 31">
                <a:extLst>
                  <a:ext uri="{FF2B5EF4-FFF2-40B4-BE49-F238E27FC236}">
                    <a16:creationId xmlns:a16="http://schemas.microsoft.com/office/drawing/2014/main" id="{1646C759-013E-B941-A340-9225CD992408}"/>
                  </a:ext>
                </a:extLst>
              </p:cNvPr>
              <p:cNvPicPr>
                <a:picLocks noChangeAspect="1"/>
              </p:cNvPicPr>
              <p:nvPr/>
            </p:nvPicPr>
            <p:blipFill>
              <a:blip r:embed="R815672e841da4067"/>
              <a:stretch>
                <a:fillRect/>
              </a:stretch>
            </p:blipFill>
            <p:spPr>
              <a:xfrm flipH="1">
                <a:off x="5783774" y="1017370"/>
                <a:ext cx="723386" cy="997941"/>
              </a:xfrm>
              <a:prstGeom prst="rect">
                <a:avLst/>
              </a:prstGeom>
            </p:spPr>
          </p:pic>
        </p:grpSp>
        <p:sp>
          <p:nvSpPr>
            <p:cNvPr id="30" name="TextBox 29">
              <a:extLst>
                <a:ext uri="{FF2B5EF4-FFF2-40B4-BE49-F238E27FC236}">
                  <a16:creationId xmlns:a16="http://schemas.microsoft.com/office/drawing/2014/main" id="{0DEDE7CA-E7A8-D44B-AFA7-281ADE4B28DB}"/>
                </a:ext>
              </a:extLst>
            </p:cNvPr>
            <p:cNvSpPr txBox="1"/>
            <p:nvPr/>
          </p:nvSpPr>
          <p:spPr>
            <a:xfrm>
              <a:off x="5312062" y="525484"/>
              <a:ext cx="1024570" cy="400110"/>
            </a:xfrm>
            <a:prstGeom prst="rect">
              <a:avLst/>
            </a:prstGeom>
            <a:noFill/>
          </p:spPr>
          <p:txBody>
            <a:bodyPr wrap="square" rtlCol="0">
              <a:spAutoFit/>
            </a:bodyPr>
            <a:lstStyle/>
            <a:p>
              <a:r>
                <a:rPr lang="en-US" sz="2000" b="1" dirty="0">
                  <a:solidFill>
                    <a:schemeClr val="accent6"/>
                  </a:solidFill>
                </a:rPr>
                <a:t>Attack</a:t>
              </a:r>
              <a:r>
                <a:rPr lang="en-US" sz="2000" b="1" dirty="0"/>
                <a:t>?</a:t>
              </a:r>
              <a:endParaRPr lang="en-US" b="1" dirty="0"/>
            </a:p>
          </p:txBody>
        </p:sp>
      </p:grpSp>
      <p:grpSp>
        <p:nvGrpSpPr>
          <p:cNvPr id="33" name="Group 32">
            <a:extLst>
              <a:ext uri="{FF2B5EF4-FFF2-40B4-BE49-F238E27FC236}">
                <a16:creationId xmlns:a16="http://schemas.microsoft.com/office/drawing/2014/main" id="{EBB65D92-EFC6-7D4B-BCB3-4E782C0DE81F}"/>
              </a:ext>
            </a:extLst>
          </p:cNvPr>
          <p:cNvGrpSpPr/>
          <p:nvPr/>
        </p:nvGrpSpPr>
        <p:grpSpPr>
          <a:xfrm>
            <a:off x="7531068" y="1017370"/>
            <a:ext cx="2101573" cy="1818369"/>
            <a:chOff x="7531068" y="1017370"/>
            <a:chExt cx="2101573" cy="1818369"/>
          </a:xfrm>
        </p:grpSpPr>
        <p:grpSp>
          <p:nvGrpSpPr>
            <p:cNvPr id="34" name="Group 33">
              <a:extLst>
                <a:ext uri="{FF2B5EF4-FFF2-40B4-BE49-F238E27FC236}">
                  <a16:creationId xmlns:a16="http://schemas.microsoft.com/office/drawing/2014/main" id="{D2F90696-3106-B645-AC4D-F7510A0C01BB}"/>
                </a:ext>
              </a:extLst>
            </p:cNvPr>
            <p:cNvGrpSpPr/>
            <p:nvPr/>
          </p:nvGrpSpPr>
          <p:grpSpPr>
            <a:xfrm>
              <a:off x="7964906" y="1351506"/>
              <a:ext cx="1667735" cy="1484233"/>
              <a:chOff x="7964906" y="1351506"/>
              <a:chExt cx="1667735" cy="1484233"/>
            </a:xfrm>
          </p:grpSpPr>
          <p:pic>
            <p:nvPicPr>
              <p:cNvPr id="37" name="Picture 36">
                <a:extLst>
                  <a:ext uri="{FF2B5EF4-FFF2-40B4-BE49-F238E27FC236}">
                    <a16:creationId xmlns:a16="http://schemas.microsoft.com/office/drawing/2014/main" id="{93DB95BA-FAE4-7B4A-AE7B-B3D3BD49461A}"/>
                  </a:ext>
                </a:extLst>
              </p:cNvPr>
              <p:cNvPicPr>
                <a:picLocks noChangeAspect="1"/>
              </p:cNvPicPr>
              <p:nvPr/>
            </p:nvPicPr>
            <p:blipFill>
              <a:blip r:embed="R815672e841da4067"/>
              <a:stretch>
                <a:fillRect/>
              </a:stretch>
            </p:blipFill>
            <p:spPr>
              <a:xfrm flipH="1">
                <a:off x="7964906" y="1351506"/>
                <a:ext cx="753978" cy="1040144"/>
              </a:xfrm>
              <a:prstGeom prst="rect">
                <a:avLst/>
              </a:prstGeom>
            </p:spPr>
          </p:pic>
          <p:pic>
            <p:nvPicPr>
              <p:cNvPr id="38" name="Picture 37">
                <a:extLst>
                  <a:ext uri="{FF2B5EF4-FFF2-40B4-BE49-F238E27FC236}">
                    <a16:creationId xmlns:a16="http://schemas.microsoft.com/office/drawing/2014/main" id="{939399AC-0A73-E640-ABDD-9E5D142E8B9C}"/>
                  </a:ext>
                </a:extLst>
              </p:cNvPr>
              <p:cNvPicPr>
                <a:picLocks noChangeAspect="1"/>
              </p:cNvPicPr>
              <p:nvPr/>
            </p:nvPicPr>
            <p:blipFill>
              <a:blip r:embed="R815672e841da4067"/>
              <a:stretch>
                <a:fillRect/>
              </a:stretch>
            </p:blipFill>
            <p:spPr>
              <a:xfrm flipH="1">
                <a:off x="8537591" y="1574865"/>
                <a:ext cx="604370" cy="833753"/>
              </a:xfrm>
              <a:prstGeom prst="rect">
                <a:avLst/>
              </a:prstGeom>
            </p:spPr>
          </p:pic>
          <p:pic>
            <p:nvPicPr>
              <p:cNvPr id="39" name="Picture 38">
                <a:extLst>
                  <a:ext uri="{FF2B5EF4-FFF2-40B4-BE49-F238E27FC236}">
                    <a16:creationId xmlns:a16="http://schemas.microsoft.com/office/drawing/2014/main" id="{2D298072-86F2-8743-BC3C-F50B93A3FEFC}"/>
                  </a:ext>
                </a:extLst>
              </p:cNvPr>
              <p:cNvPicPr>
                <a:picLocks noChangeAspect="1"/>
              </p:cNvPicPr>
              <p:nvPr/>
            </p:nvPicPr>
            <p:blipFill>
              <a:blip r:embed="R815672e841da4067"/>
              <a:stretch>
                <a:fillRect/>
              </a:stretch>
            </p:blipFill>
            <p:spPr>
              <a:xfrm flipH="1">
                <a:off x="9028271" y="1495240"/>
                <a:ext cx="604370" cy="833753"/>
              </a:xfrm>
              <a:prstGeom prst="rect">
                <a:avLst/>
              </a:prstGeom>
            </p:spPr>
          </p:pic>
          <p:pic>
            <p:nvPicPr>
              <p:cNvPr id="40" name="Picture 39">
                <a:extLst>
                  <a:ext uri="{FF2B5EF4-FFF2-40B4-BE49-F238E27FC236}">
                    <a16:creationId xmlns:a16="http://schemas.microsoft.com/office/drawing/2014/main" id="{E9D80C64-7152-A94D-9BE4-6577D6348CD0}"/>
                  </a:ext>
                </a:extLst>
              </p:cNvPr>
              <p:cNvPicPr>
                <a:picLocks noChangeAspect="1"/>
              </p:cNvPicPr>
              <p:nvPr/>
            </p:nvPicPr>
            <p:blipFill>
              <a:blip r:embed="R815672e841da4067"/>
              <a:stretch>
                <a:fillRect/>
              </a:stretch>
            </p:blipFill>
            <p:spPr>
              <a:xfrm flipH="1">
                <a:off x="8914580" y="2001986"/>
                <a:ext cx="604370" cy="833753"/>
              </a:xfrm>
              <a:prstGeom prst="rect">
                <a:avLst/>
              </a:prstGeom>
            </p:spPr>
          </p:pic>
        </p:grpSp>
        <p:sp>
          <p:nvSpPr>
            <p:cNvPr id="35" name="TextBox 34">
              <a:extLst>
                <a:ext uri="{FF2B5EF4-FFF2-40B4-BE49-F238E27FC236}">
                  <a16:creationId xmlns:a16="http://schemas.microsoft.com/office/drawing/2014/main" id="{4B8BE726-C1D1-D544-8F56-2B724429FE5D}"/>
                </a:ext>
              </a:extLst>
            </p:cNvPr>
            <p:cNvSpPr txBox="1"/>
            <p:nvPr/>
          </p:nvSpPr>
          <p:spPr>
            <a:xfrm>
              <a:off x="8217235" y="1017370"/>
              <a:ext cx="249320" cy="400110"/>
            </a:xfrm>
            <a:prstGeom prst="rect">
              <a:avLst/>
            </a:prstGeom>
            <a:noFill/>
          </p:spPr>
          <p:txBody>
            <a:bodyPr wrap="square" rtlCol="0">
              <a:spAutoFit/>
            </a:bodyPr>
            <a:lstStyle/>
            <a:p>
              <a:r>
                <a:rPr lang="en-US" sz="2000" b="1" dirty="0"/>
                <a:t>?</a:t>
              </a:r>
              <a:endParaRPr lang="en-US" b="1" dirty="0"/>
            </a:p>
          </p:txBody>
        </p:sp>
        <p:sp>
          <p:nvSpPr>
            <p:cNvPr id="36" name="TextBox 35">
              <a:extLst>
                <a:ext uri="{FF2B5EF4-FFF2-40B4-BE49-F238E27FC236}">
                  <a16:creationId xmlns:a16="http://schemas.microsoft.com/office/drawing/2014/main" id="{2378B6C9-A1DB-1846-ACED-7637F4269E4F}"/>
                </a:ext>
              </a:extLst>
            </p:cNvPr>
            <p:cNvSpPr txBox="1"/>
            <p:nvPr/>
          </p:nvSpPr>
          <p:spPr>
            <a:xfrm>
              <a:off x="7531068" y="1022363"/>
              <a:ext cx="857027" cy="400110"/>
            </a:xfrm>
            <a:prstGeom prst="rect">
              <a:avLst/>
            </a:prstGeom>
            <a:noFill/>
          </p:spPr>
          <p:txBody>
            <a:bodyPr wrap="square" rtlCol="0">
              <a:spAutoFit/>
            </a:bodyPr>
            <a:lstStyle/>
            <a:p>
              <a:r>
                <a:rPr lang="en-US" sz="2000" b="1" dirty="0">
                  <a:solidFill>
                    <a:schemeClr val="accent6"/>
                  </a:solidFill>
                </a:rPr>
                <a:t>Attack</a:t>
              </a:r>
              <a:endParaRPr lang="en-US" b="1" dirty="0">
                <a:solidFill>
                  <a:schemeClr val="accent6"/>
                </a:solidFill>
              </a:endParaRPr>
            </a:p>
          </p:txBody>
        </p:sp>
      </p:grpSp>
      <p:sp>
        <p:nvSpPr>
          <p:cNvPr id="2" name="TextBox 1"/>
          <p:cNvSpPr txBox="1"/>
          <p:nvPr/>
        </p:nvSpPr>
        <p:spPr>
          <a:xfrm>
            <a:off x="11187307" y="571363"/>
            <a:ext cx="504056" cy="276999"/>
          </a:xfrm>
          <a:prstGeom prst="rect">
            <a:avLst/>
          </a:prstGeom>
          <a:noFill/>
        </p:spPr>
        <p:txBody>
          <a:bodyPr wrap="square" rtlCol="0">
            <a:spAutoFit/>
          </a:bodyPr>
          <a:lstStyle/>
          <a:p>
            <a:pPr algn="ctr"/>
            <a:r>
              <a:rPr lang="en-GB" sz="1200" b="1" dirty="0">
                <a:latin typeface="Arial" panose="020B0604020202020204" pitchFamily="34" charset="0"/>
                <a:cs typeface="Arial" panose="020B0604020202020204" pitchFamily="34" charset="0"/>
              </a:rPr>
              <a:t>5</a:t>
            </a:r>
          </a:p>
        </p:txBody>
      </p:sp>
    </p:spTree>
    <p:extLst>
      <p:ext uri="{BB962C8B-B14F-4D97-AF65-F5344CB8AC3E}">
        <p14:creationId xmlns:p14="http://schemas.microsoft.com/office/powerpoint/2010/main" val="1394624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23FF44-1803-A747-8BAB-2E5CE2C71681}"/>
              </a:ext>
            </a:extLst>
          </p:cNvPr>
          <p:cNvSpPr>
            <a:spLocks noGrp="1"/>
          </p:cNvSpPr>
          <p:nvPr>
            <p:ph type="sldNum" sz="quarter" idx="4"/>
          </p:nvPr>
        </p:nvSpPr>
        <p:spPr>
          <a:xfrm>
            <a:off x="11146476" y="579157"/>
            <a:ext cx="540000" cy="288032"/>
          </a:xfrm>
        </p:spPr>
        <p:txBody>
          <a:bodyPr/>
          <a:lstStyle/>
          <a:p>
            <a:fld id="{2D5587A6-0F28-234D-9116-41BE2E1A2AC2}" type="slidenum">
              <a:rPr lang="en-US"/>
              <a:pPr/>
              <a:t>5</a:t>
            </a:fld>
            <a:endParaRPr lang="en-US" dirty="0"/>
          </a:p>
        </p:txBody>
      </p:sp>
      <p:sp>
        <p:nvSpPr>
          <p:cNvPr id="5" name="Title 1">
            <a:extLst>
              <a:ext uri="{FF2B5EF4-FFF2-40B4-BE49-F238E27FC236}">
                <a16:creationId xmlns:a16="http://schemas.microsoft.com/office/drawing/2014/main" id="{11E523B1-5DC8-4E46-8E22-74C9A38CE15B}"/>
              </a:ext>
            </a:extLst>
          </p:cNvPr>
          <p:cNvSpPr txBox="1">
            <a:spLocks/>
          </p:cNvSpPr>
          <p:nvPr/>
        </p:nvSpPr>
        <p:spPr>
          <a:xfrm>
            <a:off x="525462" y="303237"/>
            <a:ext cx="10515600" cy="132556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3200" b="0" kern="1200">
                <a:solidFill>
                  <a:srgbClr val="2C2C2C"/>
                </a:solidFill>
                <a:latin typeface="Arial" panose="020B0604020202020204" pitchFamily="34" charset="0"/>
                <a:ea typeface="Open Sans" panose="020B0606030504020204" pitchFamily="34" charset="0"/>
                <a:cs typeface="Arial" panose="020B0604020202020204" pitchFamily="34" charset="0"/>
              </a:defRPr>
            </a:lvl1pPr>
          </a:lstStyle>
          <a:p>
            <a:r>
              <a:rPr lang="en-GB" dirty="0"/>
              <a:t>Design of a distributed system</a:t>
            </a:r>
            <a:br>
              <a:rPr lang="en-GB" sz="3600" dirty="0"/>
            </a:br>
            <a:endParaRPr lang="en-US" sz="3500" b="1" dirty="0"/>
          </a:p>
        </p:txBody>
      </p:sp>
      <p:pic>
        <p:nvPicPr>
          <p:cNvPr id="6" name="Picture 1" descr="page35image3854624">
            <a:extLst>
              <a:ext uri="{FF2B5EF4-FFF2-40B4-BE49-F238E27FC236}">
                <a16:creationId xmlns:a16="http://schemas.microsoft.com/office/drawing/2014/main" id="{163A6D1F-31A9-3345-8CBD-FEE99F4228B7}"/>
              </a:ext>
            </a:extLst>
          </p:cNvPr>
          <p:cNvPicPr>
            <a:picLocks noGrp="1" noChangeAspect="1" noChangeArrowheads="1"/>
          </p:cNvPicPr>
          <p:nvPr>
            <p:ph idx="1"/>
          </p:nvPr>
        </p:nvPicPr>
        <p:blipFill>
          <a:blip r:embed="Rdd757fc323dd4df4">
            <a:extLst>
              <a:ext uri="{28A0092B-C50C-407E-A947-70E740481C1C}">
                <a14:useLocalDpi xmlns:a14="http://schemas.microsoft.com/office/drawing/2010/main" val="0"/>
              </a:ext>
            </a:extLst>
          </a:blip>
          <a:srcRect/>
          <a:stretch>
            <a:fillRect/>
          </a:stretch>
        </p:blipFill>
        <p:spPr bwMode="auto">
          <a:xfrm>
            <a:off x="3359696" y="1628800"/>
            <a:ext cx="4847132" cy="398786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057ABF9-8C07-8545-B5F2-330841965134}"/>
              </a:ext>
            </a:extLst>
          </p:cNvPr>
          <p:cNvSpPr/>
          <p:nvPr/>
        </p:nvSpPr>
        <p:spPr>
          <a:xfrm>
            <a:off x="3081992" y="5896759"/>
            <a:ext cx="5707140" cy="369332"/>
          </a:xfrm>
          <a:prstGeom prst="rect">
            <a:avLst/>
          </a:prstGeom>
        </p:spPr>
        <p:txBody>
          <a:bodyPr wrap="none">
            <a:spAutoFit/>
          </a:bodyPr>
          <a:lstStyle/>
          <a:p>
            <a:r>
              <a:rPr lang="en-GB" dirty="0"/>
              <a:t>N4 is a Byzantine node, L2 is broken or a slow network link </a:t>
            </a:r>
            <a:endParaRPr lang="en-US" dirty="0"/>
          </a:p>
        </p:txBody>
      </p:sp>
    </p:spTree>
    <p:extLst>
      <p:ext uri="{BB962C8B-B14F-4D97-AF65-F5344CB8AC3E}">
        <p14:creationId xmlns:p14="http://schemas.microsoft.com/office/powerpoint/2010/main" val="1622873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104D60-0EC0-7B4F-AD62-3515EFE6D77A}"/>
              </a:ext>
            </a:extLst>
          </p:cNvPr>
          <p:cNvSpPr>
            <a:spLocks noGrp="1"/>
          </p:cNvSpPr>
          <p:nvPr>
            <p:ph type="sldNum" sz="quarter" idx="4"/>
          </p:nvPr>
        </p:nvSpPr>
        <p:spPr/>
        <p:txBody>
          <a:bodyPr/>
          <a:lstStyle/>
          <a:p>
            <a:fld id="{2D5587A6-0F28-234D-9116-41BE2E1A2AC2}" type="slidenum">
              <a:rPr lang="en-US"/>
              <a:pPr/>
              <a:t>6</a:t>
            </a:fld>
            <a:endParaRPr lang="en-US" dirty="0"/>
          </a:p>
        </p:txBody>
      </p:sp>
      <p:sp>
        <p:nvSpPr>
          <p:cNvPr id="8" name="Title 1">
            <a:extLst>
              <a:ext uri="{FF2B5EF4-FFF2-40B4-BE49-F238E27FC236}">
                <a16:creationId xmlns:a16="http://schemas.microsoft.com/office/drawing/2014/main" id="{8AF0B72F-DF93-3D42-A6B1-5726BA7F01AC}"/>
              </a:ext>
            </a:extLst>
          </p:cNvPr>
          <p:cNvSpPr>
            <a:spLocks noGrp="1"/>
          </p:cNvSpPr>
          <p:nvPr>
            <p:ph type="title"/>
          </p:nvPr>
        </p:nvSpPr>
        <p:spPr>
          <a:xfrm>
            <a:off x="838200" y="365125"/>
            <a:ext cx="3817640" cy="831627"/>
          </a:xfrm>
        </p:spPr>
        <p:txBody>
          <a:bodyPr/>
          <a:lstStyle/>
          <a:p>
            <a:r>
              <a:rPr lang="en-US" dirty="0"/>
              <a:t>CAP theorem</a:t>
            </a:r>
          </a:p>
        </p:txBody>
      </p:sp>
      <p:sp>
        <p:nvSpPr>
          <p:cNvPr id="9" name="Content Placeholder 2">
            <a:extLst>
              <a:ext uri="{FF2B5EF4-FFF2-40B4-BE49-F238E27FC236}">
                <a16:creationId xmlns:a16="http://schemas.microsoft.com/office/drawing/2014/main" id="{826CC14F-28F5-194A-9EFA-0A728A2A4B21}"/>
              </a:ext>
            </a:extLst>
          </p:cNvPr>
          <p:cNvSpPr>
            <a:spLocks noGrp="1"/>
          </p:cNvSpPr>
          <p:nvPr>
            <p:ph idx="1"/>
          </p:nvPr>
        </p:nvSpPr>
        <p:spPr>
          <a:xfrm>
            <a:off x="838200" y="1340768"/>
            <a:ext cx="10515600" cy="4351338"/>
          </a:xfrm>
        </p:spPr>
        <p:txBody>
          <a:bodyPr>
            <a:normAutofit/>
          </a:bodyPr>
          <a:lstStyle/>
          <a:p>
            <a:pPr marL="0" indent="0">
              <a:buNone/>
            </a:pPr>
            <a:r>
              <a:rPr lang="en-US" dirty="0"/>
              <a:t>This states that a distributed system cannot have all three of the desired properties simultaneously; that is:</a:t>
            </a:r>
          </a:p>
          <a:p>
            <a:pPr lvl="1"/>
            <a:r>
              <a:rPr lang="en-US" dirty="0"/>
              <a:t>Consistency</a:t>
            </a:r>
          </a:p>
          <a:p>
            <a:pPr lvl="1"/>
            <a:r>
              <a:rPr lang="en-US" dirty="0"/>
              <a:t>Availability</a:t>
            </a:r>
          </a:p>
          <a:p>
            <a:pPr lvl="1"/>
            <a:r>
              <a:rPr lang="en-US" dirty="0"/>
              <a:t>Partition tolerance</a:t>
            </a:r>
          </a:p>
        </p:txBody>
      </p:sp>
      <p:pic>
        <p:nvPicPr>
          <p:cNvPr id="10" name="Picture 9">
            <a:extLst>
              <a:ext uri="{FF2B5EF4-FFF2-40B4-BE49-F238E27FC236}">
                <a16:creationId xmlns:a16="http://schemas.microsoft.com/office/drawing/2014/main" id="{AB5759FE-7F6A-C84D-AE2A-027DFEEE9DB6}"/>
              </a:ext>
            </a:extLst>
          </p:cNvPr>
          <p:cNvPicPr>
            <a:picLocks noChangeAspect="1"/>
          </p:cNvPicPr>
          <p:nvPr/>
        </p:nvPicPr>
        <p:blipFill>
          <a:blip r:embed="R925b2c9a5f9449e0"/>
          <a:stretch>
            <a:fillRect/>
          </a:stretch>
        </p:blipFill>
        <p:spPr>
          <a:xfrm>
            <a:off x="4799856" y="2564904"/>
            <a:ext cx="3805064" cy="3868481"/>
          </a:xfrm>
          <a:prstGeom prst="rect">
            <a:avLst/>
          </a:prstGeom>
        </p:spPr>
      </p:pic>
    </p:spTree>
    <p:extLst>
      <p:ext uri="{BB962C8B-B14F-4D97-AF65-F5344CB8AC3E}">
        <p14:creationId xmlns:p14="http://schemas.microsoft.com/office/powerpoint/2010/main" val="421392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11BE0F-58DB-BE4C-81D9-F37E548DF8E3}"/>
              </a:ext>
            </a:extLst>
          </p:cNvPr>
          <p:cNvSpPr>
            <a:spLocks noGrp="1"/>
          </p:cNvSpPr>
          <p:nvPr>
            <p:ph type="sldNum" sz="quarter" idx="4"/>
          </p:nvPr>
        </p:nvSpPr>
        <p:spPr/>
        <p:txBody>
          <a:bodyPr/>
          <a:lstStyle/>
          <a:p>
            <a:fld id="{2D5587A6-0F28-234D-9116-41BE2E1A2AC2}" type="slidenum">
              <a:rPr lang="en-US"/>
              <a:pPr/>
              <a:t>7</a:t>
            </a:fld>
            <a:endParaRPr lang="en-US" dirty="0"/>
          </a:p>
        </p:txBody>
      </p:sp>
      <p:sp>
        <p:nvSpPr>
          <p:cNvPr id="5" name="Title 1">
            <a:extLst>
              <a:ext uri="{FF2B5EF4-FFF2-40B4-BE49-F238E27FC236}">
                <a16:creationId xmlns:a16="http://schemas.microsoft.com/office/drawing/2014/main" id="{8FAC8E35-5A05-6F47-9DBE-877A1FC9D991}"/>
              </a:ext>
            </a:extLst>
          </p:cNvPr>
          <p:cNvSpPr>
            <a:spLocks noGrp="1"/>
          </p:cNvSpPr>
          <p:nvPr>
            <p:ph type="title"/>
          </p:nvPr>
        </p:nvSpPr>
        <p:spPr>
          <a:xfrm>
            <a:off x="644400" y="276401"/>
            <a:ext cx="10515600" cy="1064367"/>
          </a:xfrm>
        </p:spPr>
        <p:txBody>
          <a:bodyPr>
            <a:normAutofit/>
          </a:bodyPr>
          <a:lstStyle/>
          <a:p>
            <a:r>
              <a:rPr lang="en-US" dirty="0"/>
              <a:t>Types of faults in distributed systems</a:t>
            </a:r>
          </a:p>
        </p:txBody>
      </p:sp>
      <p:sp>
        <p:nvSpPr>
          <p:cNvPr id="6" name="Content Placeholder 2">
            <a:extLst>
              <a:ext uri="{FF2B5EF4-FFF2-40B4-BE49-F238E27FC236}">
                <a16:creationId xmlns:a16="http://schemas.microsoft.com/office/drawing/2014/main" id="{7597A204-FE33-0941-8E60-43EE8E2B463B}"/>
              </a:ext>
            </a:extLst>
          </p:cNvPr>
          <p:cNvSpPr>
            <a:spLocks noGrp="1"/>
          </p:cNvSpPr>
          <p:nvPr>
            <p:ph idx="1"/>
          </p:nvPr>
        </p:nvSpPr>
        <p:spPr>
          <a:xfrm>
            <a:off x="838200" y="1825625"/>
            <a:ext cx="10515600" cy="4351338"/>
          </a:xfrm>
        </p:spPr>
        <p:txBody>
          <a:bodyPr>
            <a:normAutofit/>
          </a:bodyPr>
          <a:lstStyle/>
          <a:p>
            <a:endParaRPr lang="en-US" dirty="0"/>
          </a:p>
          <a:p>
            <a:pPr marL="0" indent="0">
              <a:buNone/>
            </a:pPr>
            <a:r>
              <a:rPr lang="en-US" dirty="0"/>
              <a:t>Fail-stop faults (crash faults)</a:t>
            </a:r>
          </a:p>
          <a:p>
            <a:pPr lvl="1"/>
            <a:r>
              <a:rPr lang="en-US" dirty="0"/>
              <a:t>Where components crash or cease to operate</a:t>
            </a:r>
          </a:p>
          <a:p>
            <a:pPr lvl="1"/>
            <a:r>
              <a:rPr lang="en-US" dirty="0"/>
              <a:t>Simpler to deal with</a:t>
            </a:r>
          </a:p>
          <a:p>
            <a:pPr marL="0" indent="0">
              <a:buNone/>
            </a:pPr>
            <a:r>
              <a:rPr lang="en-US" dirty="0"/>
              <a:t>Byzantine faults</a:t>
            </a:r>
          </a:p>
          <a:p>
            <a:pPr lvl="1"/>
            <a:r>
              <a:rPr lang="en-US" dirty="0"/>
              <a:t>Where components are potentially untrustworthy or malicious</a:t>
            </a:r>
          </a:p>
          <a:p>
            <a:pPr lvl="1"/>
            <a:r>
              <a:rPr lang="en-US" dirty="0"/>
              <a:t>Difficult to deal with</a:t>
            </a:r>
          </a:p>
        </p:txBody>
      </p:sp>
    </p:spTree>
    <p:extLst>
      <p:ext uri="{BB962C8B-B14F-4D97-AF65-F5344CB8AC3E}">
        <p14:creationId xmlns:p14="http://schemas.microsoft.com/office/powerpoint/2010/main" val="3468592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B65461-7C46-0748-A0C2-321A591614F8}"/>
              </a:ext>
            </a:extLst>
          </p:cNvPr>
          <p:cNvSpPr>
            <a:spLocks noGrp="1"/>
          </p:cNvSpPr>
          <p:nvPr>
            <p:ph type="sldNum" sz="quarter" idx="4"/>
          </p:nvPr>
        </p:nvSpPr>
        <p:spPr/>
        <p:txBody>
          <a:bodyPr/>
          <a:lstStyle/>
          <a:p>
            <a:fld id="{2D5587A6-0F28-234D-9116-41BE2E1A2AC2}" type="slidenum">
              <a:rPr lang="en-US"/>
              <a:pPr/>
              <a:t>8</a:t>
            </a:fld>
            <a:endParaRPr lang="en-US" dirty="0"/>
          </a:p>
        </p:txBody>
      </p:sp>
      <p:sp>
        <p:nvSpPr>
          <p:cNvPr id="5" name="Title 1">
            <a:extLst>
              <a:ext uri="{FF2B5EF4-FFF2-40B4-BE49-F238E27FC236}">
                <a16:creationId xmlns:a16="http://schemas.microsoft.com/office/drawing/2014/main" id="{9C61D09F-222D-7942-897F-A0D6603DE0F4}"/>
              </a:ext>
            </a:extLst>
          </p:cNvPr>
          <p:cNvSpPr>
            <a:spLocks noGrp="1"/>
          </p:cNvSpPr>
          <p:nvPr>
            <p:ph type="title"/>
          </p:nvPr>
        </p:nvSpPr>
        <p:spPr>
          <a:xfrm>
            <a:off x="648000" y="360000"/>
            <a:ext cx="10078412" cy="864000"/>
          </a:xfrm>
        </p:spPr>
        <p:txBody>
          <a:bodyPr>
            <a:normAutofit/>
          </a:bodyPr>
          <a:lstStyle/>
          <a:p>
            <a:r>
              <a:rPr lang="en-US" dirty="0"/>
              <a:t>Defining ‘Blockchain’</a:t>
            </a:r>
          </a:p>
        </p:txBody>
      </p:sp>
      <p:sp>
        <p:nvSpPr>
          <p:cNvPr id="6" name="Rectangle 5">
            <a:extLst>
              <a:ext uri="{FF2B5EF4-FFF2-40B4-BE49-F238E27FC236}">
                <a16:creationId xmlns:a16="http://schemas.microsoft.com/office/drawing/2014/main" id="{EE5FC0A2-E211-FC44-8914-68A2796504CB}"/>
              </a:ext>
            </a:extLst>
          </p:cNvPr>
          <p:cNvSpPr/>
          <p:nvPr/>
        </p:nvSpPr>
        <p:spPr>
          <a:xfrm>
            <a:off x="870818" y="1973178"/>
            <a:ext cx="8249518" cy="3170099"/>
          </a:xfrm>
          <a:prstGeom prst="rect">
            <a:avLst/>
          </a:prstGeom>
        </p:spPr>
        <p:txBody>
          <a:bodyPr wrap="square">
            <a:spAutoFit/>
          </a:bodyPr>
          <a:lstStyle/>
          <a:p>
            <a:r>
              <a:rPr lang="en-US" sz="2000" b="1" dirty="0"/>
              <a:t>Layman's definition: </a:t>
            </a:r>
            <a:r>
              <a:rPr lang="en-US" sz="2000" dirty="0"/>
              <a:t>Blockchain is an ever-growing, secure, shared recordkeeping system in which each user of the data holds a copy of the records, which can only be updated if all parties involved in a transaction agree to update.</a:t>
            </a:r>
          </a:p>
          <a:p>
            <a:endParaRPr lang="en-US" sz="2000" dirty="0"/>
          </a:p>
          <a:p>
            <a:endParaRPr lang="en-US" sz="2000" b="1" dirty="0"/>
          </a:p>
          <a:p>
            <a:r>
              <a:rPr lang="en-US" sz="2000" b="1" dirty="0"/>
              <a:t>Technical definition: </a:t>
            </a:r>
            <a:r>
              <a:rPr lang="en-US" sz="2000" dirty="0"/>
              <a:t>Blockchain is a peer-to-peer distributed ledger that is cryptographically-secure, append-only, immutable (extremely hard to change), and updateable only via consensus or agreement among peers. </a:t>
            </a:r>
          </a:p>
          <a:p>
            <a:endParaRPr lang="en-US" sz="2000" dirty="0"/>
          </a:p>
        </p:txBody>
      </p:sp>
    </p:spTree>
    <p:extLst>
      <p:ext uri="{BB962C8B-B14F-4D97-AF65-F5344CB8AC3E}">
        <p14:creationId xmlns:p14="http://schemas.microsoft.com/office/powerpoint/2010/main" val="1686273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FBF0E2-210B-B64C-B091-70095DCDE30A}"/>
              </a:ext>
            </a:extLst>
          </p:cNvPr>
          <p:cNvSpPr>
            <a:spLocks noGrp="1"/>
          </p:cNvSpPr>
          <p:nvPr>
            <p:ph type="sldNum" sz="quarter" idx="4"/>
          </p:nvPr>
        </p:nvSpPr>
        <p:spPr/>
        <p:txBody>
          <a:bodyPr/>
          <a:lstStyle/>
          <a:p>
            <a:fld id="{2D5587A6-0F28-234D-9116-41BE2E1A2AC2}" type="slidenum">
              <a:rPr lang="en-US"/>
              <a:pPr/>
              <a:t>9</a:t>
            </a:fld>
            <a:endParaRPr lang="en-US" dirty="0"/>
          </a:p>
        </p:txBody>
      </p:sp>
      <p:sp>
        <p:nvSpPr>
          <p:cNvPr id="5" name="Title 1">
            <a:extLst>
              <a:ext uri="{FF2B5EF4-FFF2-40B4-BE49-F238E27FC236}">
                <a16:creationId xmlns:a16="http://schemas.microsoft.com/office/drawing/2014/main" id="{A9DD0AAE-283F-3E41-8EEA-1D3BEAFEA735}"/>
              </a:ext>
            </a:extLst>
          </p:cNvPr>
          <p:cNvSpPr>
            <a:spLocks noGrp="1"/>
          </p:cNvSpPr>
          <p:nvPr>
            <p:ph type="title"/>
          </p:nvPr>
        </p:nvSpPr>
        <p:spPr>
          <a:xfrm>
            <a:off x="644400" y="365125"/>
            <a:ext cx="10515600" cy="903635"/>
          </a:xfrm>
        </p:spPr>
        <p:txBody>
          <a:bodyPr/>
          <a:lstStyle/>
          <a:p>
            <a:r>
              <a:rPr lang="en-US" dirty="0" err="1"/>
              <a:t>Blockchain</a:t>
            </a:r>
            <a:r>
              <a:rPr lang="en-US" dirty="0"/>
              <a:t> definition</a:t>
            </a:r>
          </a:p>
        </p:txBody>
      </p:sp>
      <p:sp>
        <p:nvSpPr>
          <p:cNvPr id="6" name="Content Placeholder 2">
            <a:extLst>
              <a:ext uri="{FF2B5EF4-FFF2-40B4-BE49-F238E27FC236}">
                <a16:creationId xmlns:a16="http://schemas.microsoft.com/office/drawing/2014/main" id="{AD79C73F-1C2C-7040-A887-02088C5C362D}"/>
              </a:ext>
            </a:extLst>
          </p:cNvPr>
          <p:cNvSpPr>
            <a:spLocks noGrp="1"/>
          </p:cNvSpPr>
          <p:nvPr>
            <p:ph idx="1"/>
          </p:nvPr>
        </p:nvSpPr>
        <p:spPr>
          <a:xfrm>
            <a:off x="838200" y="1825625"/>
            <a:ext cx="10515600" cy="4351338"/>
          </a:xfrm>
        </p:spPr>
        <p:txBody>
          <a:bodyPr/>
          <a:lstStyle/>
          <a:p>
            <a:r>
              <a:rPr lang="en-US" dirty="0"/>
              <a:t>Peer-to-peer</a:t>
            </a:r>
          </a:p>
          <a:p>
            <a:r>
              <a:rPr lang="en-US" dirty="0"/>
              <a:t>Distributed ledger</a:t>
            </a:r>
          </a:p>
          <a:p>
            <a:r>
              <a:rPr lang="en-US" dirty="0"/>
              <a:t>Cryptographically secure</a:t>
            </a:r>
          </a:p>
          <a:p>
            <a:r>
              <a:rPr lang="en-US" dirty="0"/>
              <a:t>Append only</a:t>
            </a:r>
          </a:p>
          <a:p>
            <a:r>
              <a:rPr lang="en-US" dirty="0"/>
              <a:t>Updateable via consensus (consensus-driven)</a:t>
            </a:r>
          </a:p>
          <a:p>
            <a:endParaRPr lang="en-US" b="1" dirty="0"/>
          </a:p>
          <a:p>
            <a:endParaRPr lang="en-US" dirty="0"/>
          </a:p>
        </p:txBody>
      </p:sp>
    </p:spTree>
    <p:extLst>
      <p:ext uri="{BB962C8B-B14F-4D97-AF65-F5344CB8AC3E}">
        <p14:creationId xmlns:p14="http://schemas.microsoft.com/office/powerpoint/2010/main" val="2746813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1D12BF8-19C2-EB48-A560-1F47092F1B37}"/>
              </a:ext>
            </a:extLst>
          </p:cNvPr>
          <p:cNvSpPr>
            <a:spLocks noGrp="1"/>
          </p:cNvSpPr>
          <p:nvPr>
            <p:ph type="title"/>
          </p:nvPr>
        </p:nvSpPr>
        <p:spPr>
          <a:xfrm>
            <a:off x="623392" y="365125"/>
            <a:ext cx="10515600" cy="831627"/>
          </a:xfrm>
        </p:spPr>
        <p:txBody>
          <a:bodyPr/>
          <a:lstStyle/>
          <a:p>
            <a:r>
              <a:rPr lang="en-US" dirty="0"/>
              <a:t>How did </a:t>
            </a:r>
            <a:r>
              <a:rPr lang="en-US" dirty="0" err="1"/>
              <a:t>blockchain</a:t>
            </a:r>
            <a:r>
              <a:rPr lang="en-US" dirty="0"/>
              <a:t> technology develop?</a:t>
            </a:r>
          </a:p>
        </p:txBody>
      </p:sp>
      <p:sp>
        <p:nvSpPr>
          <p:cNvPr id="6" name="Content Placeholder 2">
            <a:extLst>
              <a:ext uri="{FF2B5EF4-FFF2-40B4-BE49-F238E27FC236}">
                <a16:creationId xmlns:a16="http://schemas.microsoft.com/office/drawing/2014/main" id="{D3E9C348-099C-CD48-B571-0322416EA179}"/>
              </a:ext>
            </a:extLst>
          </p:cNvPr>
          <p:cNvSpPr>
            <a:spLocks noGrp="1"/>
          </p:cNvSpPr>
          <p:nvPr>
            <p:ph idx="1"/>
          </p:nvPr>
        </p:nvSpPr>
        <p:spPr>
          <a:xfrm>
            <a:off x="834616" y="1696844"/>
            <a:ext cx="5765440" cy="2092196"/>
          </a:xfrm>
        </p:spPr>
        <p:txBody>
          <a:bodyPr>
            <a:normAutofit fontScale="77500" lnSpcReduction="20000"/>
          </a:bodyPr>
          <a:lstStyle/>
          <a:p>
            <a:r>
              <a:rPr lang="en-GB" sz="1800" dirty="0"/>
              <a:t>1950s – Hash functions</a:t>
            </a:r>
          </a:p>
          <a:p>
            <a:r>
              <a:rPr lang="en-GB" sz="1800" dirty="0"/>
              <a:t>1970s – Merkle trees - hashes in a tree structure</a:t>
            </a:r>
          </a:p>
          <a:p>
            <a:r>
              <a:rPr lang="en-GB" sz="1800" dirty="0"/>
              <a:t>1970s continued – Research in distributed systems, consensus, state machine replication</a:t>
            </a:r>
          </a:p>
          <a:p>
            <a:r>
              <a:rPr lang="en-GB" sz="1800" dirty="0"/>
              <a:t>1980s – Hash chains for secure logins</a:t>
            </a:r>
          </a:p>
          <a:p>
            <a:r>
              <a:rPr lang="en-GB" sz="1800" dirty="0"/>
              <a:t>1990s – e-Cash for e-payments </a:t>
            </a:r>
          </a:p>
          <a:p>
            <a:endParaRPr lang="en-GB" sz="1800" dirty="0"/>
          </a:p>
        </p:txBody>
      </p:sp>
      <p:pic>
        <p:nvPicPr>
          <p:cNvPr id="7" name="Picture 6">
            <a:extLst>
              <a:ext uri="{FF2B5EF4-FFF2-40B4-BE49-F238E27FC236}">
                <a16:creationId xmlns:a16="http://schemas.microsoft.com/office/drawing/2014/main" id="{60754D92-95F9-1D46-BEFC-323B8A9D724A}"/>
              </a:ext>
            </a:extLst>
          </p:cNvPr>
          <p:cNvPicPr>
            <a:picLocks noChangeAspect="1"/>
          </p:cNvPicPr>
          <p:nvPr/>
        </p:nvPicPr>
        <p:blipFill>
          <a:blip r:embed="Rc1717b4159de44ed"/>
          <a:stretch>
            <a:fillRect/>
          </a:stretch>
        </p:blipFill>
        <p:spPr>
          <a:xfrm>
            <a:off x="1343472" y="3933056"/>
            <a:ext cx="7205242" cy="2571998"/>
          </a:xfrm>
          <a:prstGeom prst="rect">
            <a:avLst/>
          </a:prstGeom>
        </p:spPr>
      </p:pic>
      <p:sp>
        <p:nvSpPr>
          <p:cNvPr id="8" name="Content Placeholder 2">
            <a:extLst>
              <a:ext uri="{FF2B5EF4-FFF2-40B4-BE49-F238E27FC236}">
                <a16:creationId xmlns:a16="http://schemas.microsoft.com/office/drawing/2014/main" id="{8336411E-F011-8640-8DC5-27E1754168BB}"/>
              </a:ext>
            </a:extLst>
          </p:cNvPr>
          <p:cNvSpPr txBox="1">
            <a:spLocks/>
          </p:cNvSpPr>
          <p:nvPr/>
        </p:nvSpPr>
        <p:spPr>
          <a:xfrm>
            <a:off x="6600056" y="1690688"/>
            <a:ext cx="5145505" cy="2098352"/>
          </a:xfrm>
          <a:prstGeom prst="rect">
            <a:avLst/>
          </a:prstGeom>
        </p:spPr>
        <p:txBody>
          <a:bodyPr vert="horz" lIns="91440" tIns="45720" rIns="91440" bIns="45720" rtlCol="0">
            <a:noAutofit/>
          </a:bodyPr>
          <a:lstStyle>
            <a:lvl1pPr marL="228600" indent="-228600" algn="l" defTabSz="914400" rtl="0" eaLnBrk="1" latinLnBrk="0" hangingPunct="1">
              <a:lnSpc>
                <a:spcPct val="140000"/>
              </a:lnSpc>
              <a:spcBef>
                <a:spcPts val="800"/>
              </a:spcBef>
              <a:buFont typeface="Arial" panose="020B0604020202020204" pitchFamily="34" charset="0"/>
              <a:buChar char="•"/>
              <a:defRPr sz="2000" kern="1200">
                <a:solidFill>
                  <a:srgbClr val="2C2C2C"/>
                </a:solidFill>
                <a:latin typeface="Arial" panose="020B0604020202020204" pitchFamily="34" charset="0"/>
                <a:ea typeface="Open Sans" panose="020B0606030504020204" pitchFamily="34" charset="0"/>
                <a:cs typeface="Arial" panose="020B0604020202020204" pitchFamily="34" charset="0"/>
              </a:defRPr>
            </a:lvl1pPr>
            <a:lvl2pPr marL="685800" indent="-228600" algn="l" defTabSz="914400" rtl="0" eaLnBrk="1" latinLnBrk="0" hangingPunct="1">
              <a:lnSpc>
                <a:spcPct val="140000"/>
              </a:lnSpc>
              <a:spcBef>
                <a:spcPts val="800"/>
              </a:spcBef>
              <a:buFont typeface="Arial" panose="020B0604020202020204" pitchFamily="34" charset="0"/>
              <a:buChar char="•"/>
              <a:defRPr sz="1800" kern="1200">
                <a:solidFill>
                  <a:srgbClr val="2C2C2C"/>
                </a:solidFill>
                <a:latin typeface="Arial" panose="020B0604020202020204" pitchFamily="34" charset="0"/>
                <a:ea typeface="Open Sans" panose="020B0606030504020204" pitchFamily="34" charset="0"/>
                <a:cs typeface="Arial" panose="020B0604020202020204" pitchFamily="34" charset="0"/>
              </a:defRPr>
            </a:lvl2pPr>
            <a:lvl3pPr marL="1143000" indent="-228600" algn="l" defTabSz="914400" rtl="0" eaLnBrk="1" latinLnBrk="0" hangingPunct="1">
              <a:lnSpc>
                <a:spcPct val="140000"/>
              </a:lnSpc>
              <a:spcBef>
                <a:spcPts val="800"/>
              </a:spcBef>
              <a:buFont typeface="Arial" panose="020B0604020202020204" pitchFamily="34" charset="0"/>
              <a:buChar char="•"/>
              <a:defRPr sz="1800" kern="1200">
                <a:solidFill>
                  <a:srgbClr val="2C2C2C"/>
                </a:solidFill>
                <a:latin typeface="Arial" panose="020B0604020202020204" pitchFamily="34" charset="0"/>
                <a:ea typeface="Open Sans" panose="020B0606030504020204" pitchFamily="34" charset="0"/>
                <a:cs typeface="Arial" panose="020B0604020202020204" pitchFamily="34" charset="0"/>
              </a:defRPr>
            </a:lvl3pPr>
            <a:lvl4pPr marL="1600200" indent="-228600" algn="l" defTabSz="914400" rtl="0" eaLnBrk="1" latinLnBrk="0" hangingPunct="1">
              <a:lnSpc>
                <a:spcPct val="140000"/>
              </a:lnSpc>
              <a:spcBef>
                <a:spcPts val="800"/>
              </a:spcBef>
              <a:buFont typeface="Arial" panose="020B0604020202020204" pitchFamily="34" charset="0"/>
              <a:buChar char="•"/>
              <a:defRPr sz="1600" kern="1200">
                <a:solidFill>
                  <a:srgbClr val="2C2C2C"/>
                </a:solidFill>
                <a:latin typeface="Arial" panose="020B0604020202020204" pitchFamily="34" charset="0"/>
                <a:ea typeface="Open Sans" panose="020B0606030504020204" pitchFamily="34" charset="0"/>
                <a:cs typeface="Arial" panose="020B0604020202020204" pitchFamily="34" charset="0"/>
              </a:defRPr>
            </a:lvl4pPr>
            <a:lvl5pPr marL="2057400" indent="-228600" algn="l" defTabSz="914400" rtl="0" eaLnBrk="1" latinLnBrk="0" hangingPunct="1">
              <a:lnSpc>
                <a:spcPct val="140000"/>
              </a:lnSpc>
              <a:spcBef>
                <a:spcPts val="800"/>
              </a:spcBef>
              <a:buFont typeface="Arial" panose="020B0604020202020204" pitchFamily="34" charset="0"/>
              <a:buChar char="•"/>
              <a:defRPr sz="1600" kern="1200">
                <a:solidFill>
                  <a:srgbClr val="2C2C2C"/>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a:t>1991 – Secure timestamping of digital documents.</a:t>
            </a:r>
          </a:p>
          <a:p>
            <a:r>
              <a:rPr lang="en-GB" sz="1400" dirty="0"/>
              <a:t>1992 – </a:t>
            </a:r>
            <a:r>
              <a:rPr lang="en-GB" sz="1400" dirty="0" err="1"/>
              <a:t>Hashcash</a:t>
            </a:r>
            <a:r>
              <a:rPr lang="en-GB" sz="1400" dirty="0"/>
              <a:t> idea to combat junk emails </a:t>
            </a:r>
          </a:p>
          <a:p>
            <a:r>
              <a:rPr lang="en-GB" sz="1400" dirty="0"/>
              <a:t>1994 – S/KEY application for Unix login. </a:t>
            </a:r>
          </a:p>
          <a:p>
            <a:r>
              <a:rPr lang="en-GB" sz="1400" dirty="0"/>
              <a:t>1997/2002 – </a:t>
            </a:r>
            <a:r>
              <a:rPr lang="en-GB" sz="1400" dirty="0" err="1"/>
              <a:t>Hashcash</a:t>
            </a:r>
            <a:r>
              <a:rPr lang="en-GB" sz="1400" dirty="0"/>
              <a:t> </a:t>
            </a:r>
          </a:p>
          <a:p>
            <a:r>
              <a:rPr lang="en-GB" sz="1400" dirty="0"/>
              <a:t>2008/2009 – Bitcoin (the first </a:t>
            </a:r>
            <a:r>
              <a:rPr lang="en-GB" sz="1400" dirty="0" err="1"/>
              <a:t>blockchain</a:t>
            </a:r>
            <a:r>
              <a:rPr lang="en-GB" sz="1400" dirty="0"/>
              <a:t>)</a:t>
            </a:r>
          </a:p>
        </p:txBody>
      </p:sp>
      <p:sp>
        <p:nvSpPr>
          <p:cNvPr id="9" name="Slide Number Placeholder 3">
            <a:extLst>
              <a:ext uri="{FF2B5EF4-FFF2-40B4-BE49-F238E27FC236}">
                <a16:creationId xmlns:a16="http://schemas.microsoft.com/office/drawing/2014/main" id="{CFFBF0E2-210B-B64C-B091-70095DCDE30A}"/>
              </a:ext>
            </a:extLst>
          </p:cNvPr>
          <p:cNvSpPr>
            <a:spLocks noGrp="1"/>
          </p:cNvSpPr>
          <p:nvPr>
            <p:ph type="sldNum" sz="quarter" idx="4"/>
          </p:nvPr>
        </p:nvSpPr>
        <p:spPr>
          <a:xfrm>
            <a:off x="11160000" y="576000"/>
            <a:ext cx="540000" cy="288032"/>
          </a:xfrm>
        </p:spPr>
        <p:txBody>
          <a:bodyPr/>
          <a:lstStyle/>
          <a:p>
            <a:r>
              <a:rPr lang="en-US" dirty="0"/>
              <a:t>11</a:t>
            </a:r>
          </a:p>
        </p:txBody>
      </p:sp>
    </p:spTree>
    <p:extLst>
      <p:ext uri="{BB962C8B-B14F-4D97-AF65-F5344CB8AC3E}">
        <p14:creationId xmlns:p14="http://schemas.microsoft.com/office/powerpoint/2010/main" val="161424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FE43A20-38AD-D841-8063-88056C14566B}"/>
              </a:ext>
            </a:extLst>
          </p:cNvPr>
          <p:cNvSpPr>
            <a:spLocks noGrp="1"/>
          </p:cNvSpPr>
          <p:nvPr>
            <p:ph type="title"/>
          </p:nvPr>
        </p:nvSpPr>
        <p:spPr>
          <a:xfrm>
            <a:off x="623392" y="332657"/>
            <a:ext cx="10192280" cy="864096"/>
          </a:xfrm>
        </p:spPr>
        <p:txBody>
          <a:bodyPr>
            <a:normAutofit/>
          </a:bodyPr>
          <a:lstStyle/>
          <a:p>
            <a:r>
              <a:rPr lang="en-US" dirty="0"/>
              <a:t>Architectural view of Blockchain</a:t>
            </a:r>
          </a:p>
        </p:txBody>
      </p:sp>
      <p:pic>
        <p:nvPicPr>
          <p:cNvPr id="6" name="Picture 5">
            <a:extLst>
              <a:ext uri="{FF2B5EF4-FFF2-40B4-BE49-F238E27FC236}">
                <a16:creationId xmlns:a16="http://schemas.microsoft.com/office/drawing/2014/main" id="{F79E3504-20F3-C74E-939B-89224DA76948}"/>
              </a:ext>
            </a:extLst>
          </p:cNvPr>
          <p:cNvPicPr/>
          <p:nvPr/>
        </p:nvPicPr>
        <p:blipFill>
          <a:blip r:embed="Rc5b79fb10026414d"/>
          <a:stretch>
            <a:fillRect/>
          </a:stretch>
        </p:blipFill>
        <p:spPr>
          <a:xfrm>
            <a:off x="2711624" y="1412776"/>
            <a:ext cx="6840760" cy="5184576"/>
          </a:xfrm>
          <a:prstGeom prst="rect">
            <a:avLst/>
          </a:prstGeom>
        </p:spPr>
      </p:pic>
      <p:sp>
        <p:nvSpPr>
          <p:cNvPr id="4" name="Slide Number Placeholder 3">
            <a:extLst>
              <a:ext uri="{FF2B5EF4-FFF2-40B4-BE49-F238E27FC236}">
                <a16:creationId xmlns:a16="http://schemas.microsoft.com/office/drawing/2014/main" id="{CFFBF0E2-210B-B64C-B091-70095DCDE30A}"/>
              </a:ext>
            </a:extLst>
          </p:cNvPr>
          <p:cNvSpPr>
            <a:spLocks noGrp="1"/>
          </p:cNvSpPr>
          <p:nvPr>
            <p:ph type="sldNum" sz="quarter" idx="4"/>
          </p:nvPr>
        </p:nvSpPr>
        <p:spPr>
          <a:xfrm>
            <a:off x="11160000" y="576000"/>
            <a:ext cx="540000" cy="288032"/>
          </a:xfrm>
        </p:spPr>
        <p:txBody>
          <a:bodyPr/>
          <a:lstStyle/>
          <a:p>
            <a:r>
              <a:rPr lang="en-US" dirty="0"/>
              <a:t>12</a:t>
            </a:r>
          </a:p>
        </p:txBody>
      </p:sp>
    </p:spTree>
    <p:extLst>
      <p:ext uri="{BB962C8B-B14F-4D97-AF65-F5344CB8AC3E}">
        <p14:creationId xmlns:p14="http://schemas.microsoft.com/office/powerpoint/2010/main" val="145099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urved Connector 4">
            <a:extLst>
              <a:ext uri="{FF2B5EF4-FFF2-40B4-BE49-F238E27FC236}">
                <a16:creationId xmlns:a16="http://schemas.microsoft.com/office/drawing/2014/main" id="{7A4FD404-76E4-3546-B171-38F8C396DF5E}"/>
              </a:ext>
            </a:extLst>
          </p:cNvPr>
          <p:cNvCxnSpPr>
            <a:cxnSpLocks/>
          </p:cNvCxnSpPr>
          <p:nvPr/>
        </p:nvCxnSpPr>
        <p:spPr>
          <a:xfrm rot="10800000" flipV="1">
            <a:off x="5987716" y="1652336"/>
            <a:ext cx="1363579" cy="120315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F4A599-54C3-E446-BFC7-F94EB9485298}"/>
              </a:ext>
            </a:extLst>
          </p:cNvPr>
          <p:cNvSpPr/>
          <p:nvPr/>
        </p:nvSpPr>
        <p:spPr>
          <a:xfrm>
            <a:off x="421102" y="1652336"/>
            <a:ext cx="2101516" cy="33848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Genesis block</a:t>
            </a:r>
          </a:p>
          <a:p>
            <a:pPr algn="ctr"/>
            <a:endParaRPr lang="en-US" dirty="0"/>
          </a:p>
          <a:p>
            <a:pPr algn="ctr"/>
            <a:r>
              <a:rPr lang="en-US" dirty="0"/>
              <a:t>Transactions &amp; other data</a:t>
            </a:r>
          </a:p>
        </p:txBody>
      </p:sp>
      <p:cxnSp>
        <p:nvCxnSpPr>
          <p:cNvPr id="7" name="Curved Connector 6">
            <a:extLst>
              <a:ext uri="{FF2B5EF4-FFF2-40B4-BE49-F238E27FC236}">
                <a16:creationId xmlns:a16="http://schemas.microsoft.com/office/drawing/2014/main" id="{4FC8FA8D-291B-E74F-BF78-0E12271B3441}"/>
              </a:ext>
            </a:extLst>
          </p:cNvPr>
          <p:cNvCxnSpPr>
            <a:cxnSpLocks/>
          </p:cNvCxnSpPr>
          <p:nvPr/>
        </p:nvCxnSpPr>
        <p:spPr>
          <a:xfrm rot="10800000" flipV="1">
            <a:off x="2522619" y="1652336"/>
            <a:ext cx="1363579" cy="120315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B4C96CD-1E61-A048-B466-4EEC2C6203D8}"/>
              </a:ext>
            </a:extLst>
          </p:cNvPr>
          <p:cNvGrpSpPr/>
          <p:nvPr/>
        </p:nvGrpSpPr>
        <p:grpSpPr>
          <a:xfrm>
            <a:off x="3886198" y="1652336"/>
            <a:ext cx="2101517" cy="3384884"/>
            <a:chOff x="4588041" y="1475872"/>
            <a:chExt cx="2101517" cy="3384884"/>
          </a:xfrm>
        </p:grpSpPr>
        <p:sp>
          <p:nvSpPr>
            <p:cNvPr id="9" name="Rectangle 8">
              <a:extLst>
                <a:ext uri="{FF2B5EF4-FFF2-40B4-BE49-F238E27FC236}">
                  <a16:creationId xmlns:a16="http://schemas.microsoft.com/office/drawing/2014/main" id="{E69692FA-B863-E745-97D6-64F44B6CC983}"/>
                </a:ext>
              </a:extLst>
            </p:cNvPr>
            <p:cNvSpPr/>
            <p:nvPr/>
          </p:nvSpPr>
          <p:spPr>
            <a:xfrm>
              <a:off x="4588042" y="1475872"/>
              <a:ext cx="2101516" cy="33848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Block 1</a:t>
              </a:r>
            </a:p>
            <a:p>
              <a:pPr algn="ctr"/>
              <a:r>
                <a:rPr lang="en-US" dirty="0"/>
                <a:t>Transactions &amp; other data</a:t>
              </a:r>
            </a:p>
          </p:txBody>
        </p:sp>
        <p:sp>
          <p:nvSpPr>
            <p:cNvPr id="10" name="Rectangle 9">
              <a:extLst>
                <a:ext uri="{FF2B5EF4-FFF2-40B4-BE49-F238E27FC236}">
                  <a16:creationId xmlns:a16="http://schemas.microsoft.com/office/drawing/2014/main" id="{0F1ED2F9-6F96-924C-A1A6-859E983CF6B3}"/>
                </a:ext>
              </a:extLst>
            </p:cNvPr>
            <p:cNvSpPr/>
            <p:nvPr/>
          </p:nvSpPr>
          <p:spPr>
            <a:xfrm>
              <a:off x="4588041" y="1475872"/>
              <a:ext cx="2101516" cy="601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Previous hash</a:t>
              </a:r>
            </a:p>
          </p:txBody>
        </p:sp>
      </p:grpSp>
      <p:grpSp>
        <p:nvGrpSpPr>
          <p:cNvPr id="11" name="Group 10">
            <a:extLst>
              <a:ext uri="{FF2B5EF4-FFF2-40B4-BE49-F238E27FC236}">
                <a16:creationId xmlns:a16="http://schemas.microsoft.com/office/drawing/2014/main" id="{8749789A-153F-FD4E-BCB3-BA16E1498A6A}"/>
              </a:ext>
            </a:extLst>
          </p:cNvPr>
          <p:cNvGrpSpPr/>
          <p:nvPr/>
        </p:nvGrpSpPr>
        <p:grpSpPr>
          <a:xfrm>
            <a:off x="7351294" y="1652336"/>
            <a:ext cx="2101516" cy="3384886"/>
            <a:chOff x="8053137" y="1475872"/>
            <a:chExt cx="2101516" cy="3384886"/>
          </a:xfrm>
        </p:grpSpPr>
        <p:sp>
          <p:nvSpPr>
            <p:cNvPr id="12" name="Rectangle 11">
              <a:extLst>
                <a:ext uri="{FF2B5EF4-FFF2-40B4-BE49-F238E27FC236}">
                  <a16:creationId xmlns:a16="http://schemas.microsoft.com/office/drawing/2014/main" id="{C4294AE6-2A85-6241-B99F-BBC199724851}"/>
                </a:ext>
              </a:extLst>
            </p:cNvPr>
            <p:cNvSpPr/>
            <p:nvPr/>
          </p:nvSpPr>
          <p:spPr>
            <a:xfrm>
              <a:off x="8053137" y="1475874"/>
              <a:ext cx="2101516" cy="33848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Block 2</a:t>
              </a:r>
            </a:p>
            <a:p>
              <a:pPr algn="ctr"/>
              <a:r>
                <a:rPr lang="en-US" dirty="0"/>
                <a:t>Transactions &amp; other data</a:t>
              </a:r>
            </a:p>
          </p:txBody>
        </p:sp>
        <p:sp>
          <p:nvSpPr>
            <p:cNvPr id="13" name="Rectangle 12">
              <a:extLst>
                <a:ext uri="{FF2B5EF4-FFF2-40B4-BE49-F238E27FC236}">
                  <a16:creationId xmlns:a16="http://schemas.microsoft.com/office/drawing/2014/main" id="{FA736937-3E64-0A47-93C8-929A3725EF58}"/>
                </a:ext>
              </a:extLst>
            </p:cNvPr>
            <p:cNvSpPr/>
            <p:nvPr/>
          </p:nvSpPr>
          <p:spPr>
            <a:xfrm>
              <a:off x="8053137" y="1475872"/>
              <a:ext cx="2101516" cy="601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Previous hash</a:t>
              </a:r>
            </a:p>
          </p:txBody>
        </p:sp>
      </p:grpSp>
      <p:sp>
        <p:nvSpPr>
          <p:cNvPr id="14" name="TextBox 13">
            <a:extLst>
              <a:ext uri="{FF2B5EF4-FFF2-40B4-BE49-F238E27FC236}">
                <a16:creationId xmlns:a16="http://schemas.microsoft.com/office/drawing/2014/main" id="{37ADB759-D9F5-AE44-BE9A-6D42149F4BAC}"/>
              </a:ext>
            </a:extLst>
          </p:cNvPr>
          <p:cNvSpPr txBox="1"/>
          <p:nvPr/>
        </p:nvSpPr>
        <p:spPr>
          <a:xfrm>
            <a:off x="9452810" y="2870612"/>
            <a:ext cx="1668379" cy="646331"/>
          </a:xfrm>
          <a:prstGeom prst="rect">
            <a:avLst/>
          </a:prstGeom>
          <a:noFill/>
        </p:spPr>
        <p:txBody>
          <a:bodyPr wrap="square" rtlCol="0">
            <a:spAutoFit/>
          </a:bodyPr>
          <a:lstStyle/>
          <a:p>
            <a:r>
              <a:rPr lang="en-US" sz="3600" b="1" dirty="0"/>
              <a:t>. . . . .</a:t>
            </a:r>
          </a:p>
        </p:txBody>
      </p:sp>
      <p:grpSp>
        <p:nvGrpSpPr>
          <p:cNvPr id="15" name="Group 14">
            <a:extLst>
              <a:ext uri="{FF2B5EF4-FFF2-40B4-BE49-F238E27FC236}">
                <a16:creationId xmlns:a16="http://schemas.microsoft.com/office/drawing/2014/main" id="{B9C34F52-F006-F346-B000-E4AE3017BFDD}"/>
              </a:ext>
            </a:extLst>
          </p:cNvPr>
          <p:cNvGrpSpPr/>
          <p:nvPr/>
        </p:nvGrpSpPr>
        <p:grpSpPr>
          <a:xfrm>
            <a:off x="10595813" y="2001254"/>
            <a:ext cx="1419725" cy="2582782"/>
            <a:chOff x="8053137" y="1036435"/>
            <a:chExt cx="2101516" cy="3824323"/>
          </a:xfrm>
        </p:grpSpPr>
        <p:sp>
          <p:nvSpPr>
            <p:cNvPr id="16" name="Rectangle 15">
              <a:extLst>
                <a:ext uri="{FF2B5EF4-FFF2-40B4-BE49-F238E27FC236}">
                  <a16:creationId xmlns:a16="http://schemas.microsoft.com/office/drawing/2014/main" id="{B80DA463-6236-BF48-93DF-BEE37AD7FCDA}"/>
                </a:ext>
              </a:extLst>
            </p:cNvPr>
            <p:cNvSpPr/>
            <p:nvPr/>
          </p:nvSpPr>
          <p:spPr>
            <a:xfrm>
              <a:off x="8053137" y="1475874"/>
              <a:ext cx="2101516" cy="33848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Block N </a:t>
              </a:r>
            </a:p>
            <a:p>
              <a:pPr algn="ctr"/>
              <a:endParaRPr lang="en-US" dirty="0"/>
            </a:p>
            <a:p>
              <a:pPr algn="ctr"/>
              <a:r>
                <a:rPr lang="en-US" dirty="0"/>
                <a:t>Transactions &amp; other data</a:t>
              </a:r>
            </a:p>
          </p:txBody>
        </p:sp>
        <p:sp>
          <p:nvSpPr>
            <p:cNvPr id="17" name="Rectangle 16">
              <a:extLst>
                <a:ext uri="{FF2B5EF4-FFF2-40B4-BE49-F238E27FC236}">
                  <a16:creationId xmlns:a16="http://schemas.microsoft.com/office/drawing/2014/main" id="{E7537D4C-09B8-3A46-AAF1-EFC6D69A0675}"/>
                </a:ext>
              </a:extLst>
            </p:cNvPr>
            <p:cNvSpPr/>
            <p:nvPr/>
          </p:nvSpPr>
          <p:spPr>
            <a:xfrm>
              <a:off x="8053137" y="1036435"/>
              <a:ext cx="2101516" cy="10410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Previous hash</a:t>
              </a:r>
            </a:p>
          </p:txBody>
        </p:sp>
      </p:grpSp>
      <p:sp>
        <p:nvSpPr>
          <p:cNvPr id="18" name="TextBox 17">
            <a:extLst>
              <a:ext uri="{FF2B5EF4-FFF2-40B4-BE49-F238E27FC236}">
                <a16:creationId xmlns:a16="http://schemas.microsoft.com/office/drawing/2014/main" id="{37889166-6976-D647-8D0D-E7DE2E6B3A20}"/>
              </a:ext>
            </a:extLst>
          </p:cNvPr>
          <p:cNvSpPr txBox="1"/>
          <p:nvPr/>
        </p:nvSpPr>
        <p:spPr>
          <a:xfrm>
            <a:off x="746175" y="476674"/>
            <a:ext cx="7620001" cy="584775"/>
          </a:xfrm>
          <a:prstGeom prst="rect">
            <a:avLst/>
          </a:prstGeom>
          <a:noFill/>
        </p:spPr>
        <p:txBody>
          <a:bodyPr wrap="square" rtlCol="0">
            <a:spAutoFit/>
          </a:bodyPr>
          <a:lstStyle/>
          <a:p>
            <a:r>
              <a:rPr lang="en-US" sz="3200" dirty="0">
                <a:solidFill>
                  <a:prstClr val="black"/>
                </a:solidFill>
                <a:latin typeface="Arial" panose="020B0604020202020204" pitchFamily="34" charset="0"/>
                <a:ea typeface="+mj-ea"/>
                <a:cs typeface="Arial" panose="020B0604020202020204" pitchFamily="34" charset="0"/>
              </a:rPr>
              <a:t>Generic structure of a blockchain</a:t>
            </a:r>
            <a:endParaRPr lang="en-US" dirty="0">
              <a:latin typeface="Arial" panose="020B0604020202020204" pitchFamily="34" charset="0"/>
              <a:cs typeface="Arial" panose="020B0604020202020204" pitchFamily="34" charset="0"/>
            </a:endParaRPr>
          </a:p>
        </p:txBody>
      </p:sp>
      <p:sp>
        <p:nvSpPr>
          <p:cNvPr id="19" name="Slide Number Placeholder 3">
            <a:extLst>
              <a:ext uri="{FF2B5EF4-FFF2-40B4-BE49-F238E27FC236}">
                <a16:creationId xmlns:a16="http://schemas.microsoft.com/office/drawing/2014/main" id="{CFFBF0E2-210B-B64C-B091-70095DCDE30A}"/>
              </a:ext>
            </a:extLst>
          </p:cNvPr>
          <p:cNvSpPr>
            <a:spLocks noGrp="1"/>
          </p:cNvSpPr>
          <p:nvPr>
            <p:ph type="sldNum" sz="quarter" idx="4"/>
          </p:nvPr>
        </p:nvSpPr>
        <p:spPr>
          <a:xfrm>
            <a:off x="11160000" y="576000"/>
            <a:ext cx="540000" cy="288032"/>
          </a:xfrm>
        </p:spPr>
        <p:txBody>
          <a:bodyPr/>
          <a:lstStyle/>
          <a:p>
            <a:r>
              <a:rPr lang="en-US" dirty="0"/>
              <a:t>13</a:t>
            </a:r>
          </a:p>
        </p:txBody>
      </p:sp>
    </p:spTree>
    <p:extLst>
      <p:ext uri="{BB962C8B-B14F-4D97-AF65-F5344CB8AC3E}">
        <p14:creationId xmlns:p14="http://schemas.microsoft.com/office/powerpoint/2010/main" val="346115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16478-67A3-A344-A13E-F8E1F4C9A4C2}"/>
              </a:ext>
            </a:extLst>
          </p:cNvPr>
          <p:cNvSpPr>
            <a:spLocks noGrp="1"/>
          </p:cNvSpPr>
          <p:nvPr>
            <p:ph type="sldNum" sz="quarter" idx="4"/>
          </p:nvPr>
        </p:nvSpPr>
        <p:spPr/>
        <p:txBody>
          <a:bodyPr/>
          <a:lstStyle/>
          <a:p>
            <a:fld id="{2D5587A6-0F28-234D-9116-41BE2E1A2AC2}" type="slidenum">
              <a:rPr lang="en-US"/>
              <a:pPr/>
              <a:t>13</a:t>
            </a:fld>
            <a:endParaRPr lang="en-US" dirty="0"/>
          </a:p>
        </p:txBody>
      </p:sp>
      <p:sp>
        <p:nvSpPr>
          <p:cNvPr id="5" name="Title 1">
            <a:extLst>
              <a:ext uri="{FF2B5EF4-FFF2-40B4-BE49-F238E27FC236}">
                <a16:creationId xmlns:a16="http://schemas.microsoft.com/office/drawing/2014/main" id="{4D788DAB-E2EC-9749-9F4C-A019ADAC3014}"/>
              </a:ext>
            </a:extLst>
          </p:cNvPr>
          <p:cNvSpPr>
            <a:spLocks noGrp="1"/>
          </p:cNvSpPr>
          <p:nvPr>
            <p:ph type="title"/>
          </p:nvPr>
        </p:nvSpPr>
        <p:spPr>
          <a:xfrm>
            <a:off x="644400" y="460813"/>
            <a:ext cx="10515600" cy="735940"/>
          </a:xfrm>
        </p:spPr>
        <p:txBody>
          <a:bodyPr>
            <a:normAutofit/>
          </a:bodyPr>
          <a:lstStyle/>
          <a:p>
            <a:r>
              <a:rPr lang="en-US" dirty="0"/>
              <a:t>Generic elements of a blockchain</a:t>
            </a:r>
          </a:p>
        </p:txBody>
      </p:sp>
      <p:sp>
        <p:nvSpPr>
          <p:cNvPr id="6" name="Content Placeholder 2">
            <a:extLst>
              <a:ext uri="{FF2B5EF4-FFF2-40B4-BE49-F238E27FC236}">
                <a16:creationId xmlns:a16="http://schemas.microsoft.com/office/drawing/2014/main" id="{587BB9EE-25D4-D041-96F0-E974689877EB}"/>
              </a:ext>
            </a:extLst>
          </p:cNvPr>
          <p:cNvSpPr>
            <a:spLocks noGrp="1"/>
          </p:cNvSpPr>
          <p:nvPr>
            <p:ph idx="1"/>
          </p:nvPr>
        </p:nvSpPr>
        <p:spPr>
          <a:xfrm>
            <a:off x="479376" y="1556792"/>
            <a:ext cx="10515600" cy="4783405"/>
          </a:xfrm>
        </p:spPr>
        <p:txBody>
          <a:bodyPr>
            <a:normAutofit fontScale="92500" lnSpcReduction="20000"/>
          </a:bodyPr>
          <a:lstStyle/>
          <a:p>
            <a:pPr>
              <a:lnSpc>
                <a:spcPct val="150000"/>
              </a:lnSpc>
            </a:pPr>
            <a:r>
              <a:rPr lang="en-US" sz="2000" dirty="0"/>
              <a:t>Addresses</a:t>
            </a:r>
          </a:p>
          <a:p>
            <a:pPr>
              <a:lnSpc>
                <a:spcPct val="150000"/>
              </a:lnSpc>
            </a:pPr>
            <a:r>
              <a:rPr lang="en-US" sz="2000" dirty="0"/>
              <a:t>Accounts</a:t>
            </a:r>
          </a:p>
          <a:p>
            <a:pPr>
              <a:lnSpc>
                <a:spcPct val="150000"/>
              </a:lnSpc>
            </a:pPr>
            <a:r>
              <a:rPr lang="en-US" sz="2000" dirty="0"/>
              <a:t>Transactions</a:t>
            </a:r>
          </a:p>
          <a:p>
            <a:pPr>
              <a:lnSpc>
                <a:spcPct val="150000"/>
              </a:lnSpc>
            </a:pPr>
            <a:r>
              <a:rPr lang="en-US" sz="2000" dirty="0"/>
              <a:t>Blocks</a:t>
            </a:r>
            <a:endParaRPr lang="en-US" sz="1600" dirty="0"/>
          </a:p>
          <a:p>
            <a:pPr>
              <a:lnSpc>
                <a:spcPct val="150000"/>
              </a:lnSpc>
            </a:pPr>
            <a:r>
              <a:rPr lang="en-US" sz="2000" dirty="0"/>
              <a:t>Peer-to-peer network</a:t>
            </a:r>
          </a:p>
          <a:p>
            <a:pPr>
              <a:lnSpc>
                <a:spcPct val="150000"/>
              </a:lnSpc>
            </a:pPr>
            <a:r>
              <a:rPr lang="en-US" sz="2000" dirty="0"/>
              <a:t>Scripting or programming language</a:t>
            </a:r>
          </a:p>
          <a:p>
            <a:pPr>
              <a:lnSpc>
                <a:spcPct val="150000"/>
              </a:lnSpc>
            </a:pPr>
            <a:r>
              <a:rPr lang="en-US" sz="2000" dirty="0"/>
              <a:t>Virtual machine</a:t>
            </a:r>
          </a:p>
          <a:p>
            <a:pPr>
              <a:lnSpc>
                <a:spcPct val="150000"/>
              </a:lnSpc>
            </a:pPr>
            <a:r>
              <a:rPr lang="en-US" sz="2000" dirty="0"/>
              <a:t>State machine</a:t>
            </a:r>
          </a:p>
          <a:p>
            <a:pPr>
              <a:lnSpc>
                <a:spcPct val="150000"/>
              </a:lnSpc>
            </a:pPr>
            <a:r>
              <a:rPr lang="en-US" sz="2000" dirty="0"/>
              <a:t>Nodes</a:t>
            </a:r>
          </a:p>
          <a:p>
            <a:pPr>
              <a:lnSpc>
                <a:spcPct val="150000"/>
              </a:lnSpc>
            </a:pPr>
            <a:r>
              <a:rPr lang="en-US" sz="2000" dirty="0"/>
              <a:t>Smart contracts</a:t>
            </a:r>
          </a:p>
          <a:p>
            <a:pPr>
              <a:lnSpc>
                <a:spcPct val="150000"/>
              </a:lnSpc>
              <a:buFontTx/>
              <a:buChar char="-"/>
            </a:pPr>
            <a:endParaRPr lang="en-US" sz="2000" dirty="0"/>
          </a:p>
          <a:p>
            <a:pPr>
              <a:lnSpc>
                <a:spcPct val="150000"/>
              </a:lnSpc>
              <a:buFontTx/>
              <a:buChar char="-"/>
            </a:pPr>
            <a:endParaRPr lang="en-US" sz="2000" dirty="0"/>
          </a:p>
          <a:p>
            <a:pPr lvl="1">
              <a:lnSpc>
                <a:spcPct val="150000"/>
              </a:lnSpc>
              <a:buFontTx/>
              <a:buChar char="-"/>
            </a:pPr>
            <a:endParaRPr lang="en-US" sz="1600" dirty="0"/>
          </a:p>
        </p:txBody>
      </p:sp>
    </p:spTree>
    <p:extLst>
      <p:ext uri="{BB962C8B-B14F-4D97-AF65-F5344CB8AC3E}">
        <p14:creationId xmlns:p14="http://schemas.microsoft.com/office/powerpoint/2010/main" val="2690143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7B6E4B-0CFB-574E-8B38-B6BD369128AB}"/>
              </a:ext>
            </a:extLst>
          </p:cNvPr>
          <p:cNvSpPr>
            <a:spLocks noGrp="1"/>
          </p:cNvSpPr>
          <p:nvPr>
            <p:ph type="sldNum" sz="quarter" idx="4"/>
          </p:nvPr>
        </p:nvSpPr>
        <p:spPr/>
        <p:txBody>
          <a:bodyPr/>
          <a:lstStyle/>
          <a:p>
            <a:fld id="{2D5587A6-0F28-234D-9116-41BE2E1A2AC2}" type="slidenum">
              <a:rPr lang="en-US"/>
              <a:pPr/>
              <a:t>14</a:t>
            </a:fld>
            <a:endParaRPr lang="en-US" dirty="0"/>
          </a:p>
        </p:txBody>
      </p:sp>
      <p:sp>
        <p:nvSpPr>
          <p:cNvPr id="5" name="Title 1">
            <a:extLst>
              <a:ext uri="{FF2B5EF4-FFF2-40B4-BE49-F238E27FC236}">
                <a16:creationId xmlns:a16="http://schemas.microsoft.com/office/drawing/2014/main" id="{40B93AAF-C66A-674F-A028-4C20D6DE5445}"/>
              </a:ext>
            </a:extLst>
          </p:cNvPr>
          <p:cNvSpPr>
            <a:spLocks noGrp="1"/>
          </p:cNvSpPr>
          <p:nvPr>
            <p:ph type="title"/>
          </p:nvPr>
        </p:nvSpPr>
        <p:spPr>
          <a:xfrm>
            <a:off x="687219" y="448160"/>
            <a:ext cx="10515600" cy="597401"/>
          </a:xfrm>
        </p:spPr>
        <p:txBody>
          <a:bodyPr>
            <a:normAutofit/>
          </a:bodyPr>
          <a:lstStyle/>
          <a:p>
            <a:r>
              <a:rPr lang="en-US" dirty="0"/>
              <a:t>How a </a:t>
            </a:r>
            <a:r>
              <a:rPr lang="en-US" dirty="0" err="1"/>
              <a:t>blockchain</a:t>
            </a:r>
            <a:r>
              <a:rPr lang="en-US" dirty="0"/>
              <a:t> works</a:t>
            </a:r>
          </a:p>
        </p:txBody>
      </p:sp>
      <p:pic>
        <p:nvPicPr>
          <p:cNvPr id="6" name="Graphic 5" descr="Gears">
            <a:extLst>
              <a:ext uri="{FF2B5EF4-FFF2-40B4-BE49-F238E27FC236}">
                <a16:creationId xmlns:a16="http://schemas.microsoft.com/office/drawing/2014/main" id="{1676E78F-4FA8-7941-9F70-8566AE36DD92}"/>
              </a:ext>
            </a:extLst>
          </p:cNvPr>
          <p:cNvPicPr>
            <a:picLocks noChangeAspect="1"/>
          </p:cNvPicPr>
          <p:nvPr/>
        </p:nvPicPr>
        <p:blipFill>
          <a:blip r:embed="R1b2d6e508e18401b">
            <a:extLst>
              <a:ext uri="{96DAC541-7B7A-43D3-8B79-37D633B846F1}">
                <asvg:svgBlip xmlns:asvg="http://schemas.microsoft.com/office/drawing/2016/SVG/main" r:embed="Re7efb6d925754caa"/>
              </a:ext>
            </a:extLst>
          </a:blip>
          <a:stretch>
            <a:fillRect/>
          </a:stretch>
        </p:blipFill>
        <p:spPr>
          <a:xfrm>
            <a:off x="6796948" y="1856801"/>
            <a:ext cx="1129308" cy="1129308"/>
          </a:xfrm>
          <a:prstGeom prst="rect">
            <a:avLst/>
          </a:prstGeom>
        </p:spPr>
      </p:pic>
      <p:pic>
        <p:nvPicPr>
          <p:cNvPr id="7" name="Graphic 6" descr="LineStraight">
            <a:extLst>
              <a:ext uri="{FF2B5EF4-FFF2-40B4-BE49-F238E27FC236}">
                <a16:creationId xmlns:a16="http://schemas.microsoft.com/office/drawing/2014/main" id="{85F5CBEA-8775-D544-A6DD-76EACB615CA5}"/>
              </a:ext>
            </a:extLst>
          </p:cNvPr>
          <p:cNvPicPr>
            <a:picLocks noChangeAspect="1"/>
          </p:cNvPicPr>
          <p:nvPr/>
        </p:nvPicPr>
        <p:blipFill>
          <a:blip r:embed="Rce63a136ea4c4548">
            <a:extLst>
              <a:ext uri="{96DAC541-7B7A-43D3-8B79-37D633B846F1}">
                <asvg:svgBlip xmlns:asvg="http://schemas.microsoft.com/office/drawing/2016/SVG/main" r:embed="R6147302b53024374"/>
              </a:ext>
            </a:extLst>
          </a:blip>
          <a:stretch>
            <a:fillRect/>
          </a:stretch>
        </p:blipFill>
        <p:spPr>
          <a:xfrm rot="10800000">
            <a:off x="3488899" y="2043709"/>
            <a:ext cx="914400" cy="914400"/>
          </a:xfrm>
          <a:prstGeom prst="rect">
            <a:avLst/>
          </a:prstGeom>
        </p:spPr>
      </p:pic>
      <p:pic>
        <p:nvPicPr>
          <p:cNvPr id="8" name="Graphic 7" descr="LineStraight">
            <a:extLst>
              <a:ext uri="{FF2B5EF4-FFF2-40B4-BE49-F238E27FC236}">
                <a16:creationId xmlns:a16="http://schemas.microsoft.com/office/drawing/2014/main" id="{F82B5CD9-B920-4440-806D-96F1C0496813}"/>
              </a:ext>
            </a:extLst>
          </p:cNvPr>
          <p:cNvPicPr>
            <a:picLocks noChangeAspect="1"/>
          </p:cNvPicPr>
          <p:nvPr/>
        </p:nvPicPr>
        <p:blipFill>
          <a:blip r:embed="Rce63a136ea4c4548">
            <a:extLst>
              <a:ext uri="{96DAC541-7B7A-43D3-8B79-37D633B846F1}">
                <asvg:svgBlip xmlns:asvg="http://schemas.microsoft.com/office/drawing/2016/SVG/main" r:embed="R6147302b53024374"/>
              </a:ext>
            </a:extLst>
          </a:blip>
          <a:stretch>
            <a:fillRect/>
          </a:stretch>
        </p:blipFill>
        <p:spPr>
          <a:xfrm rot="10800000">
            <a:off x="5686425" y="2016333"/>
            <a:ext cx="1126902" cy="914400"/>
          </a:xfrm>
          <a:prstGeom prst="rect">
            <a:avLst/>
          </a:prstGeom>
        </p:spPr>
      </p:pic>
      <p:pic>
        <p:nvPicPr>
          <p:cNvPr id="9" name="Graphic 8" descr="LineStraight">
            <a:extLst>
              <a:ext uri="{FF2B5EF4-FFF2-40B4-BE49-F238E27FC236}">
                <a16:creationId xmlns:a16="http://schemas.microsoft.com/office/drawing/2014/main" id="{204E5C88-309F-8842-91AB-C3D5DFAD8EAA}"/>
              </a:ext>
            </a:extLst>
          </p:cNvPr>
          <p:cNvPicPr>
            <a:picLocks noChangeAspect="1"/>
          </p:cNvPicPr>
          <p:nvPr/>
        </p:nvPicPr>
        <p:blipFill>
          <a:blip r:embed="Rce63a136ea4c4548">
            <a:extLst>
              <a:ext uri="{96DAC541-7B7A-43D3-8B79-37D633B846F1}">
                <asvg:svgBlip xmlns:asvg="http://schemas.microsoft.com/office/drawing/2016/SVG/main" r:embed="R6147302b53024374"/>
              </a:ext>
            </a:extLst>
          </a:blip>
          <a:stretch>
            <a:fillRect/>
          </a:stretch>
        </p:blipFill>
        <p:spPr>
          <a:xfrm rot="10800000">
            <a:off x="7719116" y="2037346"/>
            <a:ext cx="1238195" cy="914400"/>
          </a:xfrm>
          <a:prstGeom prst="rect">
            <a:avLst/>
          </a:prstGeom>
        </p:spPr>
      </p:pic>
      <p:grpSp>
        <p:nvGrpSpPr>
          <p:cNvPr id="10" name="Group 9">
            <a:extLst>
              <a:ext uri="{FF2B5EF4-FFF2-40B4-BE49-F238E27FC236}">
                <a16:creationId xmlns:a16="http://schemas.microsoft.com/office/drawing/2014/main" id="{B4884AA2-357B-6743-8B05-B4066BE379F3}"/>
              </a:ext>
            </a:extLst>
          </p:cNvPr>
          <p:cNvGrpSpPr/>
          <p:nvPr/>
        </p:nvGrpSpPr>
        <p:grpSpPr>
          <a:xfrm>
            <a:off x="873016" y="1820777"/>
            <a:ext cx="2538663" cy="1347537"/>
            <a:chOff x="1334100" y="1823628"/>
            <a:chExt cx="2538663" cy="1347537"/>
          </a:xfrm>
        </p:grpSpPr>
        <p:sp>
          <p:nvSpPr>
            <p:cNvPr id="11" name="Rectangle 10">
              <a:extLst>
                <a:ext uri="{FF2B5EF4-FFF2-40B4-BE49-F238E27FC236}">
                  <a16:creationId xmlns:a16="http://schemas.microsoft.com/office/drawing/2014/main" id="{E2240F3A-CC8A-B54A-878E-327118E38A01}"/>
                </a:ext>
              </a:extLst>
            </p:cNvPr>
            <p:cNvSpPr/>
            <p:nvPr/>
          </p:nvSpPr>
          <p:spPr>
            <a:xfrm>
              <a:off x="1334100" y="1823628"/>
              <a:ext cx="2538663" cy="13475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Man">
              <a:extLst>
                <a:ext uri="{FF2B5EF4-FFF2-40B4-BE49-F238E27FC236}">
                  <a16:creationId xmlns:a16="http://schemas.microsoft.com/office/drawing/2014/main" id="{B207E95B-0A78-2947-8CBB-B0E1AF80167A}"/>
                </a:ext>
              </a:extLst>
            </p:cNvPr>
            <p:cNvPicPr>
              <a:picLocks noChangeAspect="1"/>
            </p:cNvPicPr>
            <p:nvPr/>
          </p:nvPicPr>
          <p:blipFill>
            <a:blip r:embed="R8b6f972512844500">
              <a:extLst>
                <a:ext uri="{96DAC541-7B7A-43D3-8B79-37D633B846F1}">
                  <asvg:svgBlip xmlns:asvg="http://schemas.microsoft.com/office/drawing/2016/SVG/main" r:embed="R53d2c1d854f641ef"/>
                </a:ext>
              </a:extLst>
            </a:blip>
            <a:stretch>
              <a:fillRect/>
            </a:stretch>
          </p:blipFill>
          <p:spPr>
            <a:xfrm>
              <a:off x="1334100" y="2080300"/>
              <a:ext cx="914400" cy="914400"/>
            </a:xfrm>
            <a:prstGeom prst="rect">
              <a:avLst/>
            </a:prstGeom>
          </p:spPr>
        </p:pic>
        <p:pic>
          <p:nvPicPr>
            <p:cNvPr id="13" name="Graphic 12" descr="Woman">
              <a:extLst>
                <a:ext uri="{FF2B5EF4-FFF2-40B4-BE49-F238E27FC236}">
                  <a16:creationId xmlns:a16="http://schemas.microsoft.com/office/drawing/2014/main" id="{2522AD0B-0E46-B746-B6CE-3EC8F7DE6EB3}"/>
                </a:ext>
              </a:extLst>
            </p:cNvPr>
            <p:cNvPicPr>
              <a:picLocks noChangeAspect="1"/>
            </p:cNvPicPr>
            <p:nvPr/>
          </p:nvPicPr>
          <p:blipFill>
            <a:blip r:embed="R53bdf45456f3407f">
              <a:extLst>
                <a:ext uri="{96DAC541-7B7A-43D3-8B79-37D633B846F1}">
                  <asvg:svgBlip xmlns:asvg="http://schemas.microsoft.com/office/drawing/2016/SVG/main" r:embed="Rf87a6ac71842458d"/>
                </a:ext>
              </a:extLst>
            </a:blip>
            <a:stretch>
              <a:fillRect/>
            </a:stretch>
          </p:blipFill>
          <p:spPr>
            <a:xfrm>
              <a:off x="2958363" y="2076289"/>
              <a:ext cx="914400" cy="914400"/>
            </a:xfrm>
            <a:prstGeom prst="rect">
              <a:avLst/>
            </a:prstGeom>
          </p:spPr>
        </p:pic>
        <p:pic>
          <p:nvPicPr>
            <p:cNvPr id="14" name="Graphic 13" descr="LineStraight">
              <a:extLst>
                <a:ext uri="{FF2B5EF4-FFF2-40B4-BE49-F238E27FC236}">
                  <a16:creationId xmlns:a16="http://schemas.microsoft.com/office/drawing/2014/main" id="{892A45B6-4E12-784A-9999-11EFC23E052C}"/>
                </a:ext>
              </a:extLst>
            </p:cNvPr>
            <p:cNvPicPr>
              <a:picLocks noChangeAspect="1"/>
            </p:cNvPicPr>
            <p:nvPr/>
          </p:nvPicPr>
          <p:blipFill>
            <a:blip r:embed="Rce63a136ea4c4548">
              <a:extLst>
                <a:ext uri="{96DAC541-7B7A-43D3-8B79-37D633B846F1}">
                  <asvg:svgBlip xmlns:asvg="http://schemas.microsoft.com/office/drawing/2016/SVG/main" r:embed="R6147302b53024374"/>
                </a:ext>
              </a:extLst>
            </a:blip>
            <a:stretch>
              <a:fillRect/>
            </a:stretch>
          </p:blipFill>
          <p:spPr>
            <a:xfrm rot="10800000">
              <a:off x="2146232" y="2088322"/>
              <a:ext cx="914400" cy="914400"/>
            </a:xfrm>
            <a:prstGeom prst="rect">
              <a:avLst/>
            </a:prstGeom>
          </p:spPr>
        </p:pic>
        <p:pic>
          <p:nvPicPr>
            <p:cNvPr id="15" name="Graphic 14" descr="Document">
              <a:extLst>
                <a:ext uri="{FF2B5EF4-FFF2-40B4-BE49-F238E27FC236}">
                  <a16:creationId xmlns:a16="http://schemas.microsoft.com/office/drawing/2014/main" id="{29636E68-0BC4-804D-A979-11AB72FE312B}"/>
                </a:ext>
              </a:extLst>
            </p:cNvPr>
            <p:cNvPicPr>
              <a:picLocks noChangeAspect="1"/>
            </p:cNvPicPr>
            <p:nvPr/>
          </p:nvPicPr>
          <p:blipFill>
            <a:blip r:embed="R3809c591e7c74062">
              <a:extLst>
                <a:ext uri="{96DAC541-7B7A-43D3-8B79-37D633B846F1}">
                  <asvg:svgBlip xmlns:asvg="http://schemas.microsoft.com/office/drawing/2016/SVG/main" r:embed="R5f8ebfa973884e4d"/>
                </a:ext>
              </a:extLst>
            </a:blip>
            <a:stretch>
              <a:fillRect/>
            </a:stretch>
          </p:blipFill>
          <p:spPr>
            <a:xfrm>
              <a:off x="2322495" y="2016076"/>
              <a:ext cx="529446" cy="529446"/>
            </a:xfrm>
            <a:prstGeom prst="rect">
              <a:avLst/>
            </a:prstGeom>
          </p:spPr>
        </p:pic>
      </p:grpSp>
      <p:pic>
        <p:nvPicPr>
          <p:cNvPr id="16" name="Graphic 15" descr="Network">
            <a:extLst>
              <a:ext uri="{FF2B5EF4-FFF2-40B4-BE49-F238E27FC236}">
                <a16:creationId xmlns:a16="http://schemas.microsoft.com/office/drawing/2014/main" id="{D9E4C065-4C2B-704A-8F14-426396053B7D}"/>
              </a:ext>
            </a:extLst>
          </p:cNvPr>
          <p:cNvPicPr>
            <a:picLocks noChangeAspect="1"/>
          </p:cNvPicPr>
          <p:nvPr/>
        </p:nvPicPr>
        <p:blipFill>
          <a:blip r:embed="Rf1fcbac6ab7d4d1b">
            <a:extLst>
              <a:ext uri="{96DAC541-7B7A-43D3-8B79-37D633B846F1}">
                <asvg:svgBlip xmlns:asvg="http://schemas.microsoft.com/office/drawing/2016/SVG/main" r:embed="R7dc2903c37aa4b8f"/>
              </a:ext>
            </a:extLst>
          </a:blip>
          <a:stretch>
            <a:fillRect/>
          </a:stretch>
        </p:blipFill>
        <p:spPr>
          <a:xfrm>
            <a:off x="4357452" y="1785745"/>
            <a:ext cx="1328973" cy="1328973"/>
          </a:xfrm>
          <a:prstGeom prst="rect">
            <a:avLst/>
          </a:prstGeom>
        </p:spPr>
      </p:pic>
      <p:pic>
        <p:nvPicPr>
          <p:cNvPr id="17" name="Graphic 16" descr="Newspaper">
            <a:extLst>
              <a:ext uri="{FF2B5EF4-FFF2-40B4-BE49-F238E27FC236}">
                <a16:creationId xmlns:a16="http://schemas.microsoft.com/office/drawing/2014/main" id="{A14F24A6-D4B2-744D-AA00-B2C8A482BB04}"/>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8765741" y="1772596"/>
            <a:ext cx="1359626" cy="1359626"/>
          </a:xfrm>
          <a:prstGeom prst="rect">
            <a:avLst/>
          </a:prstGeom>
        </p:spPr>
      </p:pic>
      <p:pic>
        <p:nvPicPr>
          <p:cNvPr id="18" name="Graphic 17" descr="LineStraight">
            <a:extLst>
              <a:ext uri="{FF2B5EF4-FFF2-40B4-BE49-F238E27FC236}">
                <a16:creationId xmlns:a16="http://schemas.microsoft.com/office/drawing/2014/main" id="{6CC0FE23-265D-E543-BE80-B428558DD4A1}"/>
              </a:ext>
            </a:extLst>
          </p:cNvPr>
          <p:cNvPicPr>
            <a:picLocks noChangeAspect="1"/>
          </p:cNvPicPr>
          <p:nvPr/>
        </p:nvPicPr>
        <p:blipFill>
          <a:blip r:embed="Rce63a136ea4c4548">
            <a:extLst>
              <a:ext uri="{96DAC541-7B7A-43D3-8B79-37D633B846F1}">
                <asvg:svgBlip xmlns:asvg="http://schemas.microsoft.com/office/drawing/2016/SVG/main" r:embed="R6147302b53024374"/>
              </a:ext>
            </a:extLst>
          </a:blip>
          <a:stretch>
            <a:fillRect/>
          </a:stretch>
        </p:blipFill>
        <p:spPr>
          <a:xfrm rot="16200000">
            <a:off x="8722888" y="3210906"/>
            <a:ext cx="1297340" cy="762862"/>
          </a:xfrm>
          <a:prstGeom prst="rect">
            <a:avLst/>
          </a:prstGeom>
        </p:spPr>
      </p:pic>
      <p:pic>
        <p:nvPicPr>
          <p:cNvPr id="19" name="Graphic 18" descr="Newspaper">
            <a:extLst>
              <a:ext uri="{FF2B5EF4-FFF2-40B4-BE49-F238E27FC236}">
                <a16:creationId xmlns:a16="http://schemas.microsoft.com/office/drawing/2014/main" id="{94BD03ED-7031-CD4B-A032-1DC1E30167CD}"/>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8834467" y="4272358"/>
            <a:ext cx="914400" cy="914400"/>
          </a:xfrm>
          <a:prstGeom prst="rect">
            <a:avLst/>
          </a:prstGeom>
        </p:spPr>
      </p:pic>
      <p:grpSp>
        <p:nvGrpSpPr>
          <p:cNvPr id="20" name="Group 19">
            <a:extLst>
              <a:ext uri="{FF2B5EF4-FFF2-40B4-BE49-F238E27FC236}">
                <a16:creationId xmlns:a16="http://schemas.microsoft.com/office/drawing/2014/main" id="{4C4A6A8E-2E17-224E-934D-ABDBCC443D08}"/>
              </a:ext>
            </a:extLst>
          </p:cNvPr>
          <p:cNvGrpSpPr/>
          <p:nvPr/>
        </p:nvGrpSpPr>
        <p:grpSpPr>
          <a:xfrm>
            <a:off x="2923851" y="3785360"/>
            <a:ext cx="6175254" cy="1386383"/>
            <a:chOff x="2923851" y="3785360"/>
            <a:chExt cx="6175254" cy="1386383"/>
          </a:xfrm>
        </p:grpSpPr>
        <p:pic>
          <p:nvPicPr>
            <p:cNvPr id="21" name="Graphic 20" descr="LineUturn">
              <a:extLst>
                <a:ext uri="{FF2B5EF4-FFF2-40B4-BE49-F238E27FC236}">
                  <a16:creationId xmlns:a16="http://schemas.microsoft.com/office/drawing/2014/main" id="{946F8D6E-E6BB-4942-87C2-60220DF9798B}"/>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4304184" y="3796970"/>
              <a:ext cx="606659" cy="606659"/>
            </a:xfrm>
            <a:prstGeom prst="rect">
              <a:avLst/>
            </a:prstGeom>
          </p:spPr>
        </p:pic>
        <p:pic>
          <p:nvPicPr>
            <p:cNvPr id="22" name="Graphic 21" descr="LineUturn">
              <a:extLst>
                <a:ext uri="{FF2B5EF4-FFF2-40B4-BE49-F238E27FC236}">
                  <a16:creationId xmlns:a16="http://schemas.microsoft.com/office/drawing/2014/main" id="{A3AA9B82-D404-4947-8BC1-297808710DD4}"/>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3429177" y="3793935"/>
              <a:ext cx="604323" cy="604323"/>
            </a:xfrm>
            <a:prstGeom prst="rect">
              <a:avLst/>
            </a:prstGeom>
          </p:spPr>
        </p:pic>
        <p:pic>
          <p:nvPicPr>
            <p:cNvPr id="23" name="Graphic 22" descr="LineUturn">
              <a:extLst>
                <a:ext uri="{FF2B5EF4-FFF2-40B4-BE49-F238E27FC236}">
                  <a16:creationId xmlns:a16="http://schemas.microsoft.com/office/drawing/2014/main" id="{D8C360DE-B841-6F4A-81B1-B8B0143450BE}"/>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5098679" y="3785360"/>
              <a:ext cx="606659" cy="606659"/>
            </a:xfrm>
            <a:prstGeom prst="rect">
              <a:avLst/>
            </a:prstGeom>
          </p:spPr>
        </p:pic>
        <p:pic>
          <p:nvPicPr>
            <p:cNvPr id="24" name="Graphic 23" descr="LineUturn">
              <a:extLst>
                <a:ext uri="{FF2B5EF4-FFF2-40B4-BE49-F238E27FC236}">
                  <a16:creationId xmlns:a16="http://schemas.microsoft.com/office/drawing/2014/main" id="{CBD9D0AC-C0F1-2249-89CA-078A32233E99}"/>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8492446" y="3839660"/>
              <a:ext cx="606659" cy="606659"/>
            </a:xfrm>
            <a:prstGeom prst="rect">
              <a:avLst/>
            </a:prstGeom>
          </p:spPr>
        </p:pic>
        <p:grpSp>
          <p:nvGrpSpPr>
            <p:cNvPr id="25" name="Group 24">
              <a:extLst>
                <a:ext uri="{FF2B5EF4-FFF2-40B4-BE49-F238E27FC236}">
                  <a16:creationId xmlns:a16="http://schemas.microsoft.com/office/drawing/2014/main" id="{A8F330C0-9C60-364A-81EC-403241ABC828}"/>
                </a:ext>
              </a:extLst>
            </p:cNvPr>
            <p:cNvGrpSpPr/>
            <p:nvPr/>
          </p:nvGrpSpPr>
          <p:grpSpPr>
            <a:xfrm>
              <a:off x="2923851" y="3809548"/>
              <a:ext cx="5985539" cy="1362195"/>
              <a:chOff x="3017375" y="3747164"/>
              <a:chExt cx="5985539" cy="1362195"/>
            </a:xfrm>
          </p:grpSpPr>
          <p:pic>
            <p:nvPicPr>
              <p:cNvPr id="26" name="Graphic 25" descr="Newspaper">
                <a:extLst>
                  <a:ext uri="{FF2B5EF4-FFF2-40B4-BE49-F238E27FC236}">
                    <a16:creationId xmlns:a16="http://schemas.microsoft.com/office/drawing/2014/main" id="{C58F9C28-3D53-3C44-A0F9-C3EA025B2A56}"/>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5533217" y="4170046"/>
                <a:ext cx="914400" cy="914400"/>
              </a:xfrm>
              <a:prstGeom prst="rect">
                <a:avLst/>
              </a:prstGeom>
            </p:spPr>
          </p:pic>
          <p:pic>
            <p:nvPicPr>
              <p:cNvPr id="27" name="Graphic 26" descr="Newspaper">
                <a:extLst>
                  <a:ext uri="{FF2B5EF4-FFF2-40B4-BE49-F238E27FC236}">
                    <a16:creationId xmlns:a16="http://schemas.microsoft.com/office/drawing/2014/main" id="{08519C98-E85F-4B46-AF7F-D3C69CB5507D}"/>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7259516" y="4191849"/>
                <a:ext cx="914400" cy="914400"/>
              </a:xfrm>
              <a:prstGeom prst="rect">
                <a:avLst/>
              </a:prstGeom>
            </p:spPr>
          </p:pic>
          <p:pic>
            <p:nvPicPr>
              <p:cNvPr id="28" name="Graphic 27" descr="Newspaper">
                <a:extLst>
                  <a:ext uri="{FF2B5EF4-FFF2-40B4-BE49-F238E27FC236}">
                    <a16:creationId xmlns:a16="http://schemas.microsoft.com/office/drawing/2014/main" id="{CCBB1753-66C3-A045-A292-2AA57E088254}"/>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6416094" y="4194959"/>
                <a:ext cx="914400" cy="914400"/>
              </a:xfrm>
              <a:prstGeom prst="rect">
                <a:avLst/>
              </a:prstGeom>
            </p:spPr>
          </p:pic>
          <p:pic>
            <p:nvPicPr>
              <p:cNvPr id="29" name="Graphic 28" descr="LineUturn">
                <a:extLst>
                  <a:ext uri="{FF2B5EF4-FFF2-40B4-BE49-F238E27FC236}">
                    <a16:creationId xmlns:a16="http://schemas.microsoft.com/office/drawing/2014/main" id="{AD327E42-C00F-A442-A1DB-EA9A1125A101}"/>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6913550" y="3777276"/>
                <a:ext cx="606659" cy="606659"/>
              </a:xfrm>
              <a:prstGeom prst="rect">
                <a:avLst/>
              </a:prstGeom>
            </p:spPr>
          </p:pic>
          <p:pic>
            <p:nvPicPr>
              <p:cNvPr id="30" name="Graphic 29" descr="LineUturn">
                <a:extLst>
                  <a:ext uri="{FF2B5EF4-FFF2-40B4-BE49-F238E27FC236}">
                    <a16:creationId xmlns:a16="http://schemas.microsoft.com/office/drawing/2014/main" id="{417834B6-D1E0-834B-821C-840E9DC95485}"/>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6038543" y="3774241"/>
                <a:ext cx="604323" cy="604323"/>
              </a:xfrm>
              <a:prstGeom prst="rect">
                <a:avLst/>
              </a:prstGeom>
            </p:spPr>
          </p:pic>
          <p:pic>
            <p:nvPicPr>
              <p:cNvPr id="31" name="Graphic 30" descr="Newspaper">
                <a:extLst>
                  <a:ext uri="{FF2B5EF4-FFF2-40B4-BE49-F238E27FC236}">
                    <a16:creationId xmlns:a16="http://schemas.microsoft.com/office/drawing/2014/main" id="{B5B10858-0E66-E949-A811-C61429F61AC9}"/>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3017375" y="4127356"/>
                <a:ext cx="914400" cy="914400"/>
              </a:xfrm>
              <a:prstGeom prst="rect">
                <a:avLst/>
              </a:prstGeom>
            </p:spPr>
          </p:pic>
          <p:pic>
            <p:nvPicPr>
              <p:cNvPr id="32" name="Graphic 31" descr="Newspaper">
                <a:extLst>
                  <a:ext uri="{FF2B5EF4-FFF2-40B4-BE49-F238E27FC236}">
                    <a16:creationId xmlns:a16="http://schemas.microsoft.com/office/drawing/2014/main" id="{C5A6A86F-9C15-1245-BC7A-E178858652B1}"/>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4743674" y="4149159"/>
                <a:ext cx="914400" cy="914400"/>
              </a:xfrm>
              <a:prstGeom prst="rect">
                <a:avLst/>
              </a:prstGeom>
            </p:spPr>
          </p:pic>
          <p:pic>
            <p:nvPicPr>
              <p:cNvPr id="33" name="Graphic 32" descr="Newspaper">
                <a:extLst>
                  <a:ext uri="{FF2B5EF4-FFF2-40B4-BE49-F238E27FC236}">
                    <a16:creationId xmlns:a16="http://schemas.microsoft.com/office/drawing/2014/main" id="{474D3030-6DB4-E34B-A41A-B6CD7150E409}"/>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3900252" y="4152269"/>
                <a:ext cx="914400" cy="914400"/>
              </a:xfrm>
              <a:prstGeom prst="rect">
                <a:avLst/>
              </a:prstGeom>
            </p:spPr>
          </p:pic>
          <p:pic>
            <p:nvPicPr>
              <p:cNvPr id="34" name="Graphic 33" descr="Newspaper">
                <a:extLst>
                  <a:ext uri="{FF2B5EF4-FFF2-40B4-BE49-F238E27FC236}">
                    <a16:creationId xmlns:a16="http://schemas.microsoft.com/office/drawing/2014/main" id="{46ED2470-7927-3747-8D43-3727CBDCF422}"/>
                  </a:ext>
                </a:extLst>
              </p:cNvPr>
              <p:cNvPicPr>
                <a:picLocks noChangeAspect="1"/>
              </p:cNvPicPr>
              <p:nvPr/>
            </p:nvPicPr>
            <p:blipFill>
              <a:blip r:embed="R60837116fa7f4be2">
                <a:extLst>
                  <a:ext uri="{96DAC541-7B7A-43D3-8B79-37D633B846F1}">
                    <asvg:svgBlip xmlns:asvg="http://schemas.microsoft.com/office/drawing/2016/SVG/main" r:embed="R5d9bff4396734839"/>
                  </a:ext>
                </a:extLst>
              </a:blip>
              <a:stretch>
                <a:fillRect/>
              </a:stretch>
            </p:blipFill>
            <p:spPr>
              <a:xfrm>
                <a:off x="8088514" y="4194959"/>
                <a:ext cx="914400" cy="914400"/>
              </a:xfrm>
              <a:prstGeom prst="rect">
                <a:avLst/>
              </a:prstGeom>
            </p:spPr>
          </p:pic>
          <p:pic>
            <p:nvPicPr>
              <p:cNvPr id="35" name="Graphic 34" descr="LineUturn">
                <a:extLst>
                  <a:ext uri="{FF2B5EF4-FFF2-40B4-BE49-F238E27FC236}">
                    <a16:creationId xmlns:a16="http://schemas.microsoft.com/office/drawing/2014/main" id="{D73CB8B3-D6AA-5C40-B6DB-4E918F02CEC8}"/>
                  </a:ext>
                </a:extLst>
              </p:cNvPr>
              <p:cNvPicPr>
                <a:picLocks noChangeAspect="1"/>
              </p:cNvPicPr>
              <p:nvPr/>
            </p:nvPicPr>
            <p:blipFill>
              <a:blip r:embed="R385c93b7d7fc46d6">
                <a:extLst>
                  <a:ext uri="{96DAC541-7B7A-43D3-8B79-37D633B846F1}">
                    <asvg:svgBlip xmlns:asvg="http://schemas.microsoft.com/office/drawing/2016/SVG/main" r:embed="Rf6ddd06cc6ec45ac"/>
                  </a:ext>
                </a:extLst>
              </a:blip>
              <a:stretch>
                <a:fillRect/>
              </a:stretch>
            </p:blipFill>
            <p:spPr>
              <a:xfrm rot="16200000">
                <a:off x="7730583" y="3747164"/>
                <a:ext cx="606659" cy="606659"/>
              </a:xfrm>
              <a:prstGeom prst="rect">
                <a:avLst/>
              </a:prstGeom>
            </p:spPr>
          </p:pic>
        </p:grpSp>
      </p:grpSp>
      <p:sp>
        <p:nvSpPr>
          <p:cNvPr id="36" name="TextBox 35">
            <a:extLst>
              <a:ext uri="{FF2B5EF4-FFF2-40B4-BE49-F238E27FC236}">
                <a16:creationId xmlns:a16="http://schemas.microsoft.com/office/drawing/2014/main" id="{1944966D-710B-8442-B294-B2ED83D09BDC}"/>
              </a:ext>
            </a:extLst>
          </p:cNvPr>
          <p:cNvSpPr txBox="1"/>
          <p:nvPr/>
        </p:nvSpPr>
        <p:spPr>
          <a:xfrm>
            <a:off x="664438" y="1429627"/>
            <a:ext cx="3068245" cy="369332"/>
          </a:xfrm>
          <a:prstGeom prst="rect">
            <a:avLst/>
          </a:prstGeom>
          <a:noFill/>
        </p:spPr>
        <p:txBody>
          <a:bodyPr wrap="square" rtlCol="0">
            <a:spAutoFit/>
          </a:bodyPr>
          <a:lstStyle/>
          <a:p>
            <a:r>
              <a:rPr lang="en-US" b="1" dirty="0"/>
              <a:t>1.</a:t>
            </a:r>
            <a:r>
              <a:rPr lang="en-US" dirty="0"/>
              <a:t> User X transacts with User Y</a:t>
            </a:r>
          </a:p>
        </p:txBody>
      </p:sp>
      <p:sp>
        <p:nvSpPr>
          <p:cNvPr id="37" name="TextBox 36">
            <a:extLst>
              <a:ext uri="{FF2B5EF4-FFF2-40B4-BE49-F238E27FC236}">
                <a16:creationId xmlns:a16="http://schemas.microsoft.com/office/drawing/2014/main" id="{B551CBC0-24E2-EE4A-AD31-356FD024A389}"/>
              </a:ext>
            </a:extLst>
          </p:cNvPr>
          <p:cNvSpPr txBox="1"/>
          <p:nvPr/>
        </p:nvSpPr>
        <p:spPr>
          <a:xfrm>
            <a:off x="483514" y="3187927"/>
            <a:ext cx="3452455" cy="369332"/>
          </a:xfrm>
          <a:prstGeom prst="rect">
            <a:avLst/>
          </a:prstGeom>
          <a:noFill/>
        </p:spPr>
        <p:txBody>
          <a:bodyPr wrap="square" rtlCol="0">
            <a:spAutoFit/>
          </a:bodyPr>
          <a:lstStyle/>
          <a:p>
            <a:r>
              <a:rPr lang="en-US" dirty="0"/>
              <a:t>Smart contract or transfer of value</a:t>
            </a:r>
          </a:p>
        </p:txBody>
      </p:sp>
      <p:sp>
        <p:nvSpPr>
          <p:cNvPr id="38" name="TextBox 37">
            <a:extLst>
              <a:ext uri="{FF2B5EF4-FFF2-40B4-BE49-F238E27FC236}">
                <a16:creationId xmlns:a16="http://schemas.microsoft.com/office/drawing/2014/main" id="{59B52FEC-E87A-C248-9628-9B6F16E26C01}"/>
              </a:ext>
            </a:extLst>
          </p:cNvPr>
          <p:cNvSpPr txBox="1"/>
          <p:nvPr/>
        </p:nvSpPr>
        <p:spPr>
          <a:xfrm>
            <a:off x="3830271" y="1447434"/>
            <a:ext cx="2553770" cy="369332"/>
          </a:xfrm>
          <a:prstGeom prst="rect">
            <a:avLst/>
          </a:prstGeom>
          <a:noFill/>
        </p:spPr>
        <p:txBody>
          <a:bodyPr wrap="square" rtlCol="0">
            <a:spAutoFit/>
          </a:bodyPr>
          <a:lstStyle/>
          <a:p>
            <a:r>
              <a:rPr lang="en-US" b="1" dirty="0"/>
              <a:t>2.</a:t>
            </a:r>
            <a:r>
              <a:rPr lang="en-US" dirty="0"/>
              <a:t> Transaction broadcast</a:t>
            </a:r>
          </a:p>
        </p:txBody>
      </p:sp>
      <p:sp>
        <p:nvSpPr>
          <p:cNvPr id="39" name="TextBox 38">
            <a:extLst>
              <a:ext uri="{FF2B5EF4-FFF2-40B4-BE49-F238E27FC236}">
                <a16:creationId xmlns:a16="http://schemas.microsoft.com/office/drawing/2014/main" id="{0BAEA505-BF10-8E4A-82A9-B14245678795}"/>
              </a:ext>
            </a:extLst>
          </p:cNvPr>
          <p:cNvSpPr txBox="1"/>
          <p:nvPr/>
        </p:nvSpPr>
        <p:spPr>
          <a:xfrm>
            <a:off x="6389619" y="1457976"/>
            <a:ext cx="2775324" cy="369332"/>
          </a:xfrm>
          <a:prstGeom prst="rect">
            <a:avLst/>
          </a:prstGeom>
          <a:noFill/>
        </p:spPr>
        <p:txBody>
          <a:bodyPr wrap="square" rtlCol="0">
            <a:spAutoFit/>
          </a:bodyPr>
          <a:lstStyle/>
          <a:p>
            <a:r>
              <a:rPr lang="en-US" b="1" dirty="0"/>
              <a:t>3.</a:t>
            </a:r>
            <a:r>
              <a:rPr lang="en-US" dirty="0"/>
              <a:t> Find new block (mining)</a:t>
            </a:r>
          </a:p>
        </p:txBody>
      </p:sp>
      <p:sp>
        <p:nvSpPr>
          <p:cNvPr id="40" name="TextBox 39">
            <a:extLst>
              <a:ext uri="{FF2B5EF4-FFF2-40B4-BE49-F238E27FC236}">
                <a16:creationId xmlns:a16="http://schemas.microsoft.com/office/drawing/2014/main" id="{08154EA6-7B2A-2841-BCC6-39DEFBECD7A4}"/>
              </a:ext>
            </a:extLst>
          </p:cNvPr>
          <p:cNvSpPr txBox="1"/>
          <p:nvPr/>
        </p:nvSpPr>
        <p:spPr>
          <a:xfrm>
            <a:off x="8990127" y="1455398"/>
            <a:ext cx="2775324" cy="369332"/>
          </a:xfrm>
          <a:prstGeom prst="rect">
            <a:avLst/>
          </a:prstGeom>
          <a:noFill/>
        </p:spPr>
        <p:txBody>
          <a:bodyPr wrap="square" rtlCol="0">
            <a:spAutoFit/>
          </a:bodyPr>
          <a:lstStyle/>
          <a:p>
            <a:r>
              <a:rPr lang="en-US" b="1" dirty="0"/>
              <a:t>4.</a:t>
            </a:r>
            <a:r>
              <a:rPr lang="en-US" dirty="0"/>
              <a:t> New block found (mined)</a:t>
            </a:r>
          </a:p>
        </p:txBody>
      </p:sp>
      <p:sp>
        <p:nvSpPr>
          <p:cNvPr id="41" name="TextBox 40">
            <a:extLst>
              <a:ext uri="{FF2B5EF4-FFF2-40B4-BE49-F238E27FC236}">
                <a16:creationId xmlns:a16="http://schemas.microsoft.com/office/drawing/2014/main" id="{8236E479-DDB4-124E-92EC-41646A807E96}"/>
              </a:ext>
            </a:extLst>
          </p:cNvPr>
          <p:cNvSpPr txBox="1"/>
          <p:nvPr/>
        </p:nvSpPr>
        <p:spPr>
          <a:xfrm>
            <a:off x="9748867" y="4409502"/>
            <a:ext cx="2343956" cy="646331"/>
          </a:xfrm>
          <a:prstGeom prst="rect">
            <a:avLst/>
          </a:prstGeom>
          <a:noFill/>
        </p:spPr>
        <p:txBody>
          <a:bodyPr wrap="square" rtlCol="0">
            <a:spAutoFit/>
          </a:bodyPr>
          <a:lstStyle/>
          <a:p>
            <a:r>
              <a:rPr lang="en-US" b="1" dirty="0"/>
              <a:t>5.</a:t>
            </a:r>
            <a:r>
              <a:rPr lang="en-US" dirty="0"/>
              <a:t> Add new block to the blockchain</a:t>
            </a:r>
          </a:p>
        </p:txBody>
      </p:sp>
    </p:spTree>
    <p:extLst>
      <p:ext uri="{BB962C8B-B14F-4D97-AF65-F5344CB8AC3E}">
        <p14:creationId xmlns:p14="http://schemas.microsoft.com/office/powerpoint/2010/main" val="2934246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2F488-18DE-B945-9826-4B229CF7A100}"/>
              </a:ext>
            </a:extLst>
          </p:cNvPr>
          <p:cNvSpPr>
            <a:spLocks noGrp="1"/>
          </p:cNvSpPr>
          <p:nvPr>
            <p:ph type="title"/>
          </p:nvPr>
        </p:nvSpPr>
        <p:spPr>
          <a:xfrm>
            <a:off x="623392" y="404664"/>
            <a:ext cx="10515600" cy="788925"/>
          </a:xfrm>
        </p:spPr>
        <p:txBody>
          <a:bodyPr>
            <a:normAutofit/>
          </a:bodyPr>
          <a:lstStyle/>
          <a:p>
            <a:r>
              <a:rPr lang="en-US" dirty="0"/>
              <a:t>Generic block structure</a:t>
            </a:r>
          </a:p>
        </p:txBody>
      </p:sp>
      <p:pic>
        <p:nvPicPr>
          <p:cNvPr id="6" name="Picture 5">
            <a:extLst>
              <a:ext uri="{FF2B5EF4-FFF2-40B4-BE49-F238E27FC236}">
                <a16:creationId xmlns:a16="http://schemas.microsoft.com/office/drawing/2014/main" id="{C2908EDA-99AE-3844-A673-1A615104CB4E}"/>
              </a:ext>
            </a:extLst>
          </p:cNvPr>
          <p:cNvPicPr/>
          <p:nvPr/>
        </p:nvPicPr>
        <p:blipFill>
          <a:blip r:embed="Rf9e3b60627f84149"/>
          <a:stretch>
            <a:fillRect/>
          </a:stretch>
        </p:blipFill>
        <p:spPr bwMode="auto">
          <a:xfrm>
            <a:off x="3635129" y="1412776"/>
            <a:ext cx="4251783" cy="3958464"/>
          </a:xfrm>
          <a:prstGeom prst="rect">
            <a:avLst/>
          </a:prstGeom>
        </p:spPr>
      </p:pic>
      <p:sp>
        <p:nvSpPr>
          <p:cNvPr id="4" name="Slide Number Placeholder 3">
            <a:extLst>
              <a:ext uri="{FF2B5EF4-FFF2-40B4-BE49-F238E27FC236}">
                <a16:creationId xmlns:a16="http://schemas.microsoft.com/office/drawing/2014/main" id="{CFFBF0E2-210B-B64C-B091-70095DCDE30A}"/>
              </a:ext>
            </a:extLst>
          </p:cNvPr>
          <p:cNvSpPr>
            <a:spLocks noGrp="1"/>
          </p:cNvSpPr>
          <p:nvPr>
            <p:ph type="sldNum" sz="quarter" idx="4"/>
          </p:nvPr>
        </p:nvSpPr>
        <p:spPr>
          <a:xfrm>
            <a:off x="11160000" y="576000"/>
            <a:ext cx="540000" cy="288032"/>
          </a:xfrm>
        </p:spPr>
        <p:txBody>
          <a:bodyPr/>
          <a:lstStyle/>
          <a:p>
            <a:r>
              <a:rPr lang="en-US" dirty="0"/>
              <a:t>16</a:t>
            </a:r>
          </a:p>
        </p:txBody>
      </p:sp>
    </p:spTree>
    <p:extLst>
      <p:ext uri="{BB962C8B-B14F-4D97-AF65-F5344CB8AC3E}">
        <p14:creationId xmlns:p14="http://schemas.microsoft.com/office/powerpoint/2010/main" val="640570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9679CA-8E46-1F4F-9412-ED26BD289872}"/>
              </a:ext>
            </a:extLst>
          </p:cNvPr>
          <p:cNvSpPr>
            <a:spLocks noGrp="1"/>
          </p:cNvSpPr>
          <p:nvPr>
            <p:ph type="sldNum" sz="quarter" idx="4"/>
          </p:nvPr>
        </p:nvSpPr>
        <p:spPr/>
        <p:txBody>
          <a:bodyPr/>
          <a:lstStyle/>
          <a:p>
            <a:fld id="{2D5587A6-0F28-234D-9116-41BE2E1A2AC2}" type="slidenum">
              <a:rPr lang="en-US"/>
              <a:pPr/>
              <a:t>16</a:t>
            </a:fld>
            <a:endParaRPr lang="en-US" dirty="0"/>
          </a:p>
        </p:txBody>
      </p:sp>
      <p:sp>
        <p:nvSpPr>
          <p:cNvPr id="5" name="Title 1">
            <a:extLst>
              <a:ext uri="{FF2B5EF4-FFF2-40B4-BE49-F238E27FC236}">
                <a16:creationId xmlns:a16="http://schemas.microsoft.com/office/drawing/2014/main" id="{AA41313E-B09F-8E45-AE31-7FBB3AA39B28}"/>
              </a:ext>
            </a:extLst>
          </p:cNvPr>
          <p:cNvSpPr>
            <a:spLocks noGrp="1"/>
          </p:cNvSpPr>
          <p:nvPr>
            <p:ph type="title"/>
          </p:nvPr>
        </p:nvSpPr>
        <p:spPr>
          <a:xfrm>
            <a:off x="644400" y="317042"/>
            <a:ext cx="10515600" cy="805948"/>
          </a:xfrm>
        </p:spPr>
        <p:txBody>
          <a:bodyPr>
            <a:normAutofit/>
          </a:bodyPr>
          <a:lstStyle/>
          <a:p>
            <a:r>
              <a:rPr lang="en-GB" dirty="0"/>
              <a:t>Benefits of </a:t>
            </a:r>
            <a:r>
              <a:rPr lang="en-GB" dirty="0" err="1"/>
              <a:t>blockchain</a:t>
            </a:r>
            <a:endParaRPr lang="en-US" dirty="0"/>
          </a:p>
        </p:txBody>
      </p:sp>
      <p:sp>
        <p:nvSpPr>
          <p:cNvPr id="6" name="Content Placeholder 2">
            <a:extLst>
              <a:ext uri="{FF2B5EF4-FFF2-40B4-BE49-F238E27FC236}">
                <a16:creationId xmlns:a16="http://schemas.microsoft.com/office/drawing/2014/main" id="{E92D515E-6851-5647-BB5A-4E214B702D0D}"/>
              </a:ext>
            </a:extLst>
          </p:cNvPr>
          <p:cNvSpPr>
            <a:spLocks noGrp="1"/>
          </p:cNvSpPr>
          <p:nvPr>
            <p:ph idx="1"/>
          </p:nvPr>
        </p:nvSpPr>
        <p:spPr>
          <a:xfrm>
            <a:off x="838200" y="1171073"/>
            <a:ext cx="10515600" cy="5005889"/>
          </a:xfrm>
        </p:spPr>
        <p:txBody>
          <a:bodyPr>
            <a:normAutofit fontScale="92500" lnSpcReduction="10000"/>
          </a:bodyPr>
          <a:lstStyle/>
          <a:p>
            <a:r>
              <a:rPr lang="en-US" sz="2400" dirty="0"/>
              <a:t>Decentralization</a:t>
            </a:r>
          </a:p>
          <a:p>
            <a:r>
              <a:rPr lang="en-US" sz="2400" dirty="0"/>
              <a:t>Transparency</a:t>
            </a:r>
          </a:p>
          <a:p>
            <a:r>
              <a:rPr lang="en-US" sz="2400" dirty="0"/>
              <a:t>Trust</a:t>
            </a:r>
          </a:p>
          <a:p>
            <a:r>
              <a:rPr lang="en-US" sz="2400" dirty="0"/>
              <a:t>Immutability</a:t>
            </a:r>
          </a:p>
          <a:p>
            <a:r>
              <a:rPr lang="en-US" sz="2400" dirty="0"/>
              <a:t>High availability</a:t>
            </a:r>
          </a:p>
          <a:p>
            <a:r>
              <a:rPr lang="en-US" sz="2400" dirty="0"/>
              <a:t>Highly secure</a:t>
            </a:r>
          </a:p>
          <a:p>
            <a:r>
              <a:rPr lang="en-US" sz="2400" dirty="0"/>
              <a:t>Simplification of current paradigms</a:t>
            </a:r>
          </a:p>
          <a:p>
            <a:r>
              <a:rPr lang="en-US" sz="2400" dirty="0"/>
              <a:t>Faster transactions</a:t>
            </a:r>
          </a:p>
          <a:p>
            <a:r>
              <a:rPr lang="en-US" sz="2400" dirty="0"/>
              <a:t>Cost saving</a:t>
            </a:r>
            <a:endParaRPr lang="en-US" dirty="0"/>
          </a:p>
        </p:txBody>
      </p:sp>
    </p:spTree>
    <p:extLst>
      <p:ext uri="{BB962C8B-B14F-4D97-AF65-F5344CB8AC3E}">
        <p14:creationId xmlns:p14="http://schemas.microsoft.com/office/powerpoint/2010/main" val="4140986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2FA924-3B19-334B-870F-869787352197}"/>
              </a:ext>
            </a:extLst>
          </p:cNvPr>
          <p:cNvSpPr>
            <a:spLocks noGrp="1"/>
          </p:cNvSpPr>
          <p:nvPr>
            <p:ph type="sldNum" sz="quarter" idx="4"/>
          </p:nvPr>
        </p:nvSpPr>
        <p:spPr/>
        <p:txBody>
          <a:bodyPr/>
          <a:lstStyle/>
          <a:p>
            <a:fld id="{2D5587A6-0F28-234D-9116-41BE2E1A2AC2}" type="slidenum">
              <a:rPr lang="en-US"/>
              <a:pPr/>
              <a:t>17</a:t>
            </a:fld>
            <a:endParaRPr lang="en-US" dirty="0"/>
          </a:p>
        </p:txBody>
      </p:sp>
      <p:sp>
        <p:nvSpPr>
          <p:cNvPr id="5" name="Title 1">
            <a:extLst>
              <a:ext uri="{FF2B5EF4-FFF2-40B4-BE49-F238E27FC236}">
                <a16:creationId xmlns:a16="http://schemas.microsoft.com/office/drawing/2014/main" id="{5F7622D0-EC8B-A94D-B7AB-EADAE668BBC4}"/>
              </a:ext>
            </a:extLst>
          </p:cNvPr>
          <p:cNvSpPr>
            <a:spLocks noGrp="1"/>
          </p:cNvSpPr>
          <p:nvPr>
            <p:ph type="title"/>
          </p:nvPr>
        </p:nvSpPr>
        <p:spPr>
          <a:xfrm>
            <a:off x="637403" y="268198"/>
            <a:ext cx="10515600" cy="903635"/>
          </a:xfrm>
        </p:spPr>
        <p:txBody>
          <a:bodyPr/>
          <a:lstStyle/>
          <a:p>
            <a:r>
              <a:rPr lang="en-GB" dirty="0"/>
              <a:t>Limitations of blockchain</a:t>
            </a:r>
            <a:endParaRPr lang="en-US" dirty="0"/>
          </a:p>
        </p:txBody>
      </p:sp>
      <p:sp>
        <p:nvSpPr>
          <p:cNvPr id="6" name="Content Placeholder 2">
            <a:extLst>
              <a:ext uri="{FF2B5EF4-FFF2-40B4-BE49-F238E27FC236}">
                <a16:creationId xmlns:a16="http://schemas.microsoft.com/office/drawing/2014/main" id="{00336A4E-2F95-324C-A8AF-3302F69D8242}"/>
              </a:ext>
            </a:extLst>
          </p:cNvPr>
          <p:cNvSpPr>
            <a:spLocks noGrp="1"/>
          </p:cNvSpPr>
          <p:nvPr>
            <p:ph idx="1"/>
          </p:nvPr>
        </p:nvSpPr>
        <p:spPr>
          <a:xfrm>
            <a:off x="839416" y="1171833"/>
            <a:ext cx="10515600" cy="4351338"/>
          </a:xfrm>
        </p:spPr>
        <p:txBody>
          <a:bodyPr>
            <a:normAutofit/>
          </a:bodyPr>
          <a:lstStyle/>
          <a:p>
            <a:r>
              <a:rPr lang="en-US" sz="2200" dirty="0"/>
              <a:t>Scalability</a:t>
            </a:r>
          </a:p>
          <a:p>
            <a:r>
              <a:rPr lang="en-US" sz="2200" dirty="0"/>
              <a:t>Adaptability</a:t>
            </a:r>
          </a:p>
          <a:p>
            <a:r>
              <a:rPr lang="en-US" sz="2200" dirty="0"/>
              <a:t>Regulation</a:t>
            </a:r>
          </a:p>
          <a:p>
            <a:r>
              <a:rPr lang="en-US" sz="2200" dirty="0"/>
              <a:t>Relatively immature technology</a:t>
            </a:r>
          </a:p>
          <a:p>
            <a:r>
              <a:rPr lang="en-US" sz="2200" dirty="0"/>
              <a:t>Privacy</a:t>
            </a:r>
          </a:p>
        </p:txBody>
      </p:sp>
    </p:spTree>
    <p:extLst>
      <p:ext uri="{BB962C8B-B14F-4D97-AF65-F5344CB8AC3E}">
        <p14:creationId xmlns:p14="http://schemas.microsoft.com/office/powerpoint/2010/main" val="252258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D8B9A03-F013-5F4C-9E27-71DB0648D416}"/>
              </a:ext>
            </a:extLst>
          </p:cNvPr>
          <p:cNvSpPr>
            <a:spLocks noGrp="1"/>
          </p:cNvSpPr>
          <p:nvPr>
            <p:ph type="title"/>
          </p:nvPr>
        </p:nvSpPr>
        <p:spPr>
          <a:xfrm>
            <a:off x="663407" y="365125"/>
            <a:ext cx="10515600" cy="831627"/>
          </a:xfrm>
        </p:spPr>
        <p:txBody>
          <a:bodyPr/>
          <a:lstStyle/>
          <a:p>
            <a:r>
              <a:rPr lang="en-US" dirty="0"/>
              <a:t>Features of a blockchain </a:t>
            </a:r>
          </a:p>
        </p:txBody>
      </p:sp>
      <p:sp>
        <p:nvSpPr>
          <p:cNvPr id="6" name="Content Placeholder 2">
            <a:extLst>
              <a:ext uri="{FF2B5EF4-FFF2-40B4-BE49-F238E27FC236}">
                <a16:creationId xmlns:a16="http://schemas.microsoft.com/office/drawing/2014/main" id="{7B3EF293-A30B-6A43-ACF4-C12E58E01D50}"/>
              </a:ext>
            </a:extLst>
          </p:cNvPr>
          <p:cNvSpPr>
            <a:spLocks noGrp="1"/>
          </p:cNvSpPr>
          <p:nvPr>
            <p:ph idx="1"/>
          </p:nvPr>
        </p:nvSpPr>
        <p:spPr>
          <a:xfrm>
            <a:off x="839416" y="1196752"/>
            <a:ext cx="10515600" cy="4351338"/>
          </a:xfrm>
        </p:spPr>
        <p:txBody>
          <a:bodyPr>
            <a:normAutofit/>
          </a:bodyPr>
          <a:lstStyle/>
          <a:p>
            <a:r>
              <a:rPr lang="en-US" dirty="0"/>
              <a:t>Distributed consensus</a:t>
            </a:r>
          </a:p>
          <a:p>
            <a:r>
              <a:rPr lang="en-US" dirty="0"/>
              <a:t>Transaction verification</a:t>
            </a:r>
          </a:p>
          <a:p>
            <a:r>
              <a:rPr lang="en-US" dirty="0"/>
              <a:t>Platform for smart contracts</a:t>
            </a:r>
          </a:p>
          <a:p>
            <a:r>
              <a:rPr lang="en-US" dirty="0"/>
              <a:t>Transferring value between peers</a:t>
            </a:r>
          </a:p>
          <a:p>
            <a:r>
              <a:rPr lang="en-US" dirty="0"/>
              <a:t>Generation of cryptocurrency</a:t>
            </a:r>
          </a:p>
          <a:p>
            <a:r>
              <a:rPr lang="en-US" dirty="0"/>
              <a:t>Provider of security</a:t>
            </a:r>
          </a:p>
          <a:p>
            <a:r>
              <a:rPr lang="en-US" dirty="0"/>
              <a:t>Immutability</a:t>
            </a:r>
          </a:p>
          <a:p>
            <a:r>
              <a:rPr lang="en-US" dirty="0"/>
              <a:t>Uniqueness</a:t>
            </a:r>
          </a:p>
        </p:txBody>
      </p:sp>
      <p:sp>
        <p:nvSpPr>
          <p:cNvPr id="4" name="Slide Number Placeholder 3">
            <a:extLst>
              <a:ext uri="{FF2B5EF4-FFF2-40B4-BE49-F238E27FC236}">
                <a16:creationId xmlns:a16="http://schemas.microsoft.com/office/drawing/2014/main" id="{002FA924-3B19-334B-870F-869787352197}"/>
              </a:ext>
            </a:extLst>
          </p:cNvPr>
          <p:cNvSpPr>
            <a:spLocks noGrp="1"/>
          </p:cNvSpPr>
          <p:nvPr>
            <p:ph type="sldNum" sz="quarter" idx="4"/>
          </p:nvPr>
        </p:nvSpPr>
        <p:spPr>
          <a:xfrm>
            <a:off x="11160000" y="576000"/>
            <a:ext cx="540000" cy="288032"/>
          </a:xfrm>
        </p:spPr>
        <p:txBody>
          <a:bodyPr/>
          <a:lstStyle/>
          <a:p>
            <a:r>
              <a:rPr lang="en-US" dirty="0"/>
              <a:t>19</a:t>
            </a:r>
          </a:p>
        </p:txBody>
      </p:sp>
    </p:spTree>
    <p:extLst>
      <p:ext uri="{BB962C8B-B14F-4D97-AF65-F5344CB8AC3E}">
        <p14:creationId xmlns:p14="http://schemas.microsoft.com/office/powerpoint/2010/main" val="2545680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3F76A5-1546-484A-BEF1-229F5D7A9937}"/>
              </a:ext>
            </a:extLst>
          </p:cNvPr>
          <p:cNvSpPr>
            <a:spLocks noGrp="1"/>
          </p:cNvSpPr>
          <p:nvPr>
            <p:ph type="title"/>
          </p:nvPr>
        </p:nvSpPr>
        <p:spPr>
          <a:xfrm>
            <a:off x="644400" y="282430"/>
            <a:ext cx="10515600" cy="877312"/>
          </a:xfrm>
        </p:spPr>
        <p:txBody>
          <a:bodyPr>
            <a:normAutofit/>
          </a:bodyPr>
          <a:lstStyle/>
          <a:p>
            <a:r>
              <a:rPr lang="en-US" dirty="0"/>
              <a:t>Exercise</a:t>
            </a:r>
            <a:endParaRPr lang="en-US" sz="3500" dirty="0"/>
          </a:p>
        </p:txBody>
      </p:sp>
      <p:sp>
        <p:nvSpPr>
          <p:cNvPr id="6" name="Content Placeholder 2">
            <a:extLst>
              <a:ext uri="{FF2B5EF4-FFF2-40B4-BE49-F238E27FC236}">
                <a16:creationId xmlns:a16="http://schemas.microsoft.com/office/drawing/2014/main" id="{4EA8CC67-3535-AD47-BC05-2FC1100DD24A}"/>
              </a:ext>
            </a:extLst>
          </p:cNvPr>
          <p:cNvSpPr>
            <a:spLocks noGrp="1"/>
          </p:cNvSpPr>
          <p:nvPr>
            <p:ph idx="1"/>
          </p:nvPr>
        </p:nvSpPr>
        <p:spPr>
          <a:xfrm>
            <a:off x="503230" y="1707932"/>
            <a:ext cx="10515600" cy="4351338"/>
          </a:xfrm>
        </p:spPr>
        <p:txBody>
          <a:bodyPr>
            <a:normAutofit/>
          </a:bodyPr>
          <a:lstStyle/>
          <a:p>
            <a:pPr>
              <a:lnSpc>
                <a:spcPct val="150000"/>
              </a:lnSpc>
            </a:pPr>
            <a:r>
              <a:rPr lang="en-US" sz="2000" dirty="0"/>
              <a:t>Think about a scenario where blockchain can solve a challenge at your </a:t>
            </a:r>
            <a:r>
              <a:rPr lang="en-US" dirty="0"/>
              <a:t>place of work or education, </a:t>
            </a:r>
            <a:r>
              <a:rPr lang="en-US" sz="2000" dirty="0"/>
              <a:t>or in your community.</a:t>
            </a:r>
          </a:p>
          <a:p>
            <a:pPr>
              <a:lnSpc>
                <a:spcPct val="150000"/>
              </a:lnSpc>
            </a:pPr>
            <a:r>
              <a:rPr lang="en-US" sz="2000" dirty="0"/>
              <a:t>Read the Bitcoin paper at </a:t>
            </a:r>
            <a:r>
              <a:rPr lang="en-US" sz="2000" u="sng" dirty="0">
                <a:solidFill>
                  <a:srgbClr val="0000FF"/>
                </a:solidFill>
                <a:latin typeface="Lucida Console" panose="020B0609040504020204" pitchFamily="49" charset="0"/>
                <a:hlinkClick r:id="rcIde8bd91ae64524a51"/>
              </a:rPr>
              <a:t>https://bitcoin.org/bitcoin.pdf</a:t>
            </a:r>
            <a:endParaRPr lang="en-US" sz="2000" u="sng" dirty="0">
              <a:solidFill>
                <a:srgbClr val="0000FF"/>
              </a:solidFill>
              <a:latin typeface="Lucida Console" panose="020B0609040504020204" pitchFamily="49" charset="0"/>
            </a:endParaRPr>
          </a:p>
          <a:p>
            <a:pPr marL="0" indent="0">
              <a:lnSpc>
                <a:spcPct val="150000"/>
              </a:lnSpc>
              <a:buNone/>
            </a:pPr>
            <a:br>
              <a:rPr lang="en-US" sz="2000" dirty="0"/>
            </a:br>
            <a:endParaRPr lang="en-US" sz="2000" dirty="0"/>
          </a:p>
        </p:txBody>
      </p:sp>
      <p:sp>
        <p:nvSpPr>
          <p:cNvPr id="4" name="Slide Number Placeholder 3">
            <a:extLst>
              <a:ext uri="{FF2B5EF4-FFF2-40B4-BE49-F238E27FC236}">
                <a16:creationId xmlns:a16="http://schemas.microsoft.com/office/drawing/2014/main" id="{002FA924-3B19-334B-870F-869787352197}"/>
              </a:ext>
            </a:extLst>
          </p:cNvPr>
          <p:cNvSpPr>
            <a:spLocks noGrp="1"/>
          </p:cNvSpPr>
          <p:nvPr>
            <p:ph type="sldNum" sz="quarter" idx="4"/>
          </p:nvPr>
        </p:nvSpPr>
        <p:spPr>
          <a:xfrm>
            <a:off x="11160000" y="576000"/>
            <a:ext cx="540000" cy="288032"/>
          </a:xfrm>
        </p:spPr>
        <p:txBody>
          <a:bodyPr/>
          <a:lstStyle/>
          <a:p>
            <a:r>
              <a:rPr lang="en-US" dirty="0"/>
              <a:t>20</a:t>
            </a:r>
          </a:p>
        </p:txBody>
      </p:sp>
    </p:spTree>
    <p:extLst>
      <p:ext uri="{BB962C8B-B14F-4D97-AF65-F5344CB8AC3E}">
        <p14:creationId xmlns:p14="http://schemas.microsoft.com/office/powerpoint/2010/main" val="2368850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286B79-9648-EE45-BD47-1494585BF8E2}"/>
              </a:ext>
            </a:extLst>
          </p:cNvPr>
          <p:cNvSpPr>
            <a:spLocks noGrp="1"/>
          </p:cNvSpPr>
          <p:nvPr>
            <p:ph type="sldNum" sz="quarter" idx="4"/>
          </p:nvPr>
        </p:nvSpPr>
        <p:spPr/>
        <p:txBody>
          <a:bodyPr/>
          <a:lstStyle/>
          <a:p>
            <a:fld id="{2D5587A6-0F28-234D-9116-41BE2E1A2AC2}" type="slidenum">
              <a:rPr lang="en-US"/>
              <a:pPr/>
              <a:t>20</a:t>
            </a:fld>
            <a:endParaRPr lang="en-US" dirty="0"/>
          </a:p>
        </p:txBody>
      </p:sp>
      <p:sp>
        <p:nvSpPr>
          <p:cNvPr id="5" name="Title 1">
            <a:extLst>
              <a:ext uri="{FF2B5EF4-FFF2-40B4-BE49-F238E27FC236}">
                <a16:creationId xmlns:a16="http://schemas.microsoft.com/office/drawing/2014/main" id="{872E5761-29F9-DF43-853C-BBC35CE1CE23}"/>
              </a:ext>
            </a:extLst>
          </p:cNvPr>
          <p:cNvSpPr>
            <a:spLocks noGrp="1"/>
          </p:cNvSpPr>
          <p:nvPr>
            <p:ph type="title"/>
          </p:nvPr>
        </p:nvSpPr>
        <p:spPr>
          <a:xfrm>
            <a:off x="644400" y="260648"/>
            <a:ext cx="10515600" cy="1079491"/>
          </a:xfrm>
        </p:spPr>
        <p:txBody>
          <a:bodyPr>
            <a:normAutofit/>
          </a:bodyPr>
          <a:lstStyle/>
          <a:p>
            <a:r>
              <a:rPr lang="en-US" dirty="0"/>
              <a:t>Summary</a:t>
            </a:r>
            <a:endParaRPr lang="en-US" sz="3500" dirty="0"/>
          </a:p>
        </p:txBody>
      </p:sp>
      <p:sp>
        <p:nvSpPr>
          <p:cNvPr id="6" name="Content Placeholder 2">
            <a:extLst>
              <a:ext uri="{FF2B5EF4-FFF2-40B4-BE49-F238E27FC236}">
                <a16:creationId xmlns:a16="http://schemas.microsoft.com/office/drawing/2014/main" id="{11384C24-A771-164F-90F8-091586799B57}"/>
              </a:ext>
            </a:extLst>
          </p:cNvPr>
          <p:cNvSpPr>
            <a:spLocks noGrp="1"/>
          </p:cNvSpPr>
          <p:nvPr>
            <p:ph idx="1"/>
          </p:nvPr>
        </p:nvSpPr>
        <p:spPr>
          <a:xfrm>
            <a:off x="519702" y="1628800"/>
            <a:ext cx="10515600" cy="4680520"/>
          </a:xfrm>
        </p:spPr>
        <p:txBody>
          <a:bodyPr>
            <a:normAutofit lnSpcReduction="10000"/>
          </a:bodyPr>
          <a:lstStyle/>
          <a:p>
            <a:pPr marL="0" lvl="0" indent="0">
              <a:lnSpc>
                <a:spcPct val="150000"/>
              </a:lnSpc>
              <a:buNone/>
            </a:pPr>
            <a:r>
              <a:rPr lang="en-US" sz="2000" dirty="0"/>
              <a:t>In this presentation, we:</a:t>
            </a:r>
          </a:p>
          <a:p>
            <a:pPr lvl="0">
              <a:lnSpc>
                <a:spcPct val="150000"/>
              </a:lnSpc>
            </a:pPr>
            <a:r>
              <a:rPr lang="en-US" dirty="0"/>
              <a:t>Covered the d</a:t>
            </a:r>
            <a:r>
              <a:rPr lang="en-US" sz="2000" dirty="0"/>
              <a:t>esign of a distributed system </a:t>
            </a:r>
            <a:r>
              <a:rPr lang="en-US" dirty="0"/>
              <a:t>and</a:t>
            </a:r>
            <a:r>
              <a:rPr lang="en-US" sz="2000" dirty="0"/>
              <a:t> </a:t>
            </a:r>
            <a:r>
              <a:rPr lang="en-US" dirty="0"/>
              <a:t>f</a:t>
            </a:r>
            <a:r>
              <a:rPr lang="en-US" sz="2000" dirty="0"/>
              <a:t>aults in distributed systems.</a:t>
            </a:r>
          </a:p>
          <a:p>
            <a:pPr lvl="0">
              <a:lnSpc>
                <a:spcPct val="150000"/>
              </a:lnSpc>
            </a:pPr>
            <a:r>
              <a:rPr lang="en-US" dirty="0"/>
              <a:t>Defined </a:t>
            </a:r>
            <a:r>
              <a:rPr lang="en-US" sz="2000" dirty="0"/>
              <a:t>blockchain as a distributed ledger—a replicated digital ledger which is immutable and updateable only via consensus.</a:t>
            </a:r>
          </a:p>
          <a:p>
            <a:pPr lvl="0">
              <a:lnSpc>
                <a:spcPct val="150000"/>
              </a:lnSpc>
            </a:pPr>
            <a:r>
              <a:rPr lang="en-US" sz="2000" dirty="0"/>
              <a:t>Introduced precursors to </a:t>
            </a:r>
            <a:r>
              <a:rPr lang="en-US" dirty="0"/>
              <a:t>b</a:t>
            </a:r>
            <a:r>
              <a:rPr lang="en-US" sz="2000" dirty="0"/>
              <a:t>lockchain technology such as hash functions, consensus mechanisms, Hashcash, and e-cash schemes. </a:t>
            </a:r>
          </a:p>
          <a:p>
            <a:pPr lvl="0">
              <a:lnSpc>
                <a:spcPct val="150000"/>
              </a:lnSpc>
            </a:pPr>
            <a:r>
              <a:rPr lang="en-US" sz="2000" dirty="0"/>
              <a:t>Explored various elements of a blockchain, such as addresses, peer-to-peer networks, blocks, and transactions.</a:t>
            </a:r>
          </a:p>
          <a:p>
            <a:pPr lvl="0">
              <a:lnSpc>
                <a:spcPct val="150000"/>
              </a:lnSpc>
            </a:pPr>
            <a:r>
              <a:rPr lang="en-US" sz="2000" dirty="0"/>
              <a:t>Considered the benefits and limitations of blockchain technology.</a:t>
            </a:r>
          </a:p>
        </p:txBody>
      </p:sp>
    </p:spTree>
    <p:extLst>
      <p:ext uri="{BB962C8B-B14F-4D97-AF65-F5344CB8AC3E}">
        <p14:creationId xmlns:p14="http://schemas.microsoft.com/office/powerpoint/2010/main" val="3921426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c4d82a26747a43af" imgW="2478087" imgH="3148012" progId="">
                  <p:embed/>
                </p:oleObj>
              </mc:Choice>
              <mc:Fallback>
                <p:oleObj r:id="R16dadee8941f439e" imgW="2478087" imgH="3148012" progId="">
                  <p:embed/>
                  <p:pic>
                    <p:nvPicPr>
                      <p:cNvPr id="317" name="Google Shape;317;p1"/>
                      <p:cNvPicPr preferRelativeResize="0"/>
                      <p:nvPr/>
                    </p:nvPicPr>
                    <p:blipFill rotWithShape="1">
                      <a:blip r:embed="R52fd9543aa9b464d">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98250d2b8abf4552">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f4a2c5a61f684dea">
            <a:alphaModFix/>
          </a:blip>
          <a:srcRect/>
          <a:stretch/>
        </p:blipFill>
        <p:spPr>
          <a:xfrm>
            <a:off x="76200" y="76200"/>
            <a:ext cx="2613025" cy="1295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a:bodyPr>
          <a:lstStyle/>
          <a:p>
            <a:pPr algn="just"/>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Blockchain is the backbone Technology of Digital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CryptoCurrency</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BitCoin</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Blockchaintechnology</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is a digital or ledger technology that evaluates the records and makes track of it in a peer-to-peer network.  Each transaction is verified by the majority of participants of the system. It contains every single record of each transaction. </a:t>
            </a: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000" b="1" i="0" u="none" strike="noStrike" dirty="0">
                <a:solidFill>
                  <a:srgbClr val="455A64"/>
                </a:solidFill>
                <a:effectLst/>
                <a:latin typeface="Poppins" pitchFamily="2" charset="77"/>
              </a:rPr>
              <a:t>Blockchain</a:t>
            </a:r>
            <a:endParaRPr lang="en-IN" sz="2000" b="0" i="0" u="none" strike="noStrike" dirty="0">
              <a:solidFill>
                <a:srgbClr val="455A64"/>
              </a:solidFill>
              <a:effectLst/>
              <a:latin typeface="Poppins" pitchFamily="2" charset="77"/>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r>
              <a:rPr lang="en-IN" sz="2400" b="0" i="0" u="none" strike="noStrike" dirty="0">
                <a:solidFill>
                  <a:srgbClr val="455A64"/>
                </a:solidFill>
                <a:effectLst/>
                <a:latin typeface="Poppins" pitchFamily="2" charset="77"/>
              </a:rPr>
              <a:t>Benefits of Blockchain Technology </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benefits of blockchain technology: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1. Efficiency: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simplifying these methods with blockchain, dealings can be achieved quickly and more efficiently.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Efficiency only indicates that transactions once registered on the blockchain, can’t be modified or removed.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On the blockchain, all transactions are timely and date-wise noted, so there’s a permanent chronology.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Therefore, blockchain can be employed to track information over the short and long term, allowing a secure, trustworthy version of knowledge.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is utilized to digitize genuine estate transactions to keep control of property headers.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2. Transparency: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produces a track that establishes the origin of an investment at every step of its records. It is achievable to transfer data regarding origin directly with clients.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Transparency is one of the major difficulties in the IT world.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To enhance transparency, associations have attempted to execute more rules and protocols.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main goal of the blockchain is to make the business model transparent which includes transactions, wallets, etc.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So that no single individual can make the changes without knowing other participants in the business model. </a:t>
            </a:r>
            <a:endParaRPr sz="2000" b="0" i="0" u="none" dirty="0">
              <a:solidFill>
                <a:schemeClr val="dk1"/>
              </a:solidFill>
              <a:latin typeface="Times New Roman" panose="02020603050405020304" pitchFamily="18" charset="0"/>
              <a:cs typeface="Times New Roman" panose="02020603050405020304" pitchFamily="18" charset="0"/>
              <a:sym typeface="Cambria"/>
            </a:endParaRPr>
          </a:p>
        </p:txBody>
      </p:sp>
      <p:sp>
        <p:nvSpPr>
          <p:cNvPr id="2" name="TextBox 1">
            <a:extLst>
              <a:ext uri="{FF2B5EF4-FFF2-40B4-BE49-F238E27FC236}">
                <a16:creationId xmlns:a16="http://schemas.microsoft.com/office/drawing/2014/main" id="{C459B39F-4A70-72FA-8395-0BE174608CCD}"/>
              </a:ext>
            </a:extLst>
          </p:cNvPr>
          <p:cNvSpPr txBox="1"/>
          <p:nvPr/>
        </p:nvSpPr>
        <p:spPr>
          <a:xfrm>
            <a:off x="1484243" y="788670"/>
            <a:ext cx="6877879" cy="523220"/>
          </a:xfrm>
          <a:prstGeom prst="rect">
            <a:avLst/>
          </a:prstGeom>
          <a:noFill/>
        </p:spPr>
        <p:txBody>
          <a:bodyPr wrap="square" rtlCol="0">
            <a:spAutoFit/>
          </a:bodyPr>
          <a:lstStyle/>
          <a:p>
            <a:pPr algn="l"/>
            <a:r>
              <a:rPr lang="en-IN" sz="2800" b="0" i="0" u="none" strike="noStrike" dirty="0">
                <a:solidFill>
                  <a:srgbClr val="455A64"/>
                </a:solidFill>
                <a:effectLst/>
                <a:latin typeface="Poppins" pitchFamily="2" charset="77"/>
              </a:rPr>
              <a:t>Benefits of Blockchain Technology </a:t>
            </a:r>
            <a:endParaRPr lang="en-IN" sz="2800" b="0" i="0" u="none" strike="noStrike" dirty="0">
              <a:solidFill>
                <a:srgbClr val="455A6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0" i="0" u="none" strike="noStrike" dirty="0">
                <a:solidFill>
                  <a:srgbClr val="455A64"/>
                </a:solidFill>
                <a:effectLst/>
                <a:latin typeface="Poppins" pitchFamily="2" charset="77"/>
              </a:rPr>
              <a:t>Benefits of Blockchain Technology </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3. Security: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building a document that can’t be changed and is encrypted end to end, blockchain allows for preventing copying and unauthorized movement. Privacy problems can likewise be managed on blockchain by individual data and individual authorizations to maintain access.</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focuses on the security part also as blockchain is mainly known for its security.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The security is so tight that it is very difficult to hack the ledger and steal or manipulate the information because of using a consensus algorithm.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Any trades that are ever registered require to be decided upon according to the agreement approach.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Furthermore, the individual transaction is encrypted and has a verified connection with the previous transactions with help of hashing algorithms. </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Network distribution: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users load data into the approach, users cannot modify it and it’s hard to eliminate. Even small differences can be traceable, tracked, and registered then distributed on the blockchain ledger for all to view.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also concentrates on educating or making awareness regarding network distribution.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This particular supplies, at the identical moment, various advantages, by having this network distributed, in the foremost example, no one holds the network, permitting various users to consistently have numerous documents of the exact data.</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Moreover, this feature causes it immune and distributed to any kind of defeat as the point that a node dies accomplishes not suggest generalized failures in the P2P network.</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r>
              <a:rPr lang="en-IN" sz="2400" b="0" i="0" u="none" strike="noStrike" dirty="0">
                <a:solidFill>
                  <a:srgbClr val="455A64"/>
                </a:solidFill>
                <a:effectLst/>
                <a:latin typeface="Poppins" pitchFamily="2" charset="77"/>
              </a:rPr>
              <a:t>Benefits of Blockchain Technology </a:t>
            </a:r>
            <a:endParaRPr lang="en-US" sz="2400" dirty="0"/>
          </a:p>
        </p:txBody>
      </p:sp>
    </p:spTree>
    <p:extLst>
      <p:ext uri="{BB962C8B-B14F-4D97-AF65-F5344CB8AC3E}">
        <p14:creationId xmlns:p14="http://schemas.microsoft.com/office/powerpoint/2010/main" val="167302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Benefits of Blockchain Technology </a:t>
            </a: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5. Traceability: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With blockchain technology, users can stop all of the errors. Users’ store chains can evolve totally translucent and manageable to track. It allows users to join, outline, and track goods or assets to confirm they are not misapplied or returned during the procedure.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Participants or members can easily track their business model using blockchain.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This will increase the growth of businesses as they will get the fault at the right time.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blockchain technology, the collection chain evolves better transparently than ever.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allows every group to trace the interests and confirm that it is not substituted or misapplied during the collection chain approach.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Associations can also create the most out of blockchain traceability by executing it in place.</a:t>
            </a:r>
          </a:p>
        </p:txBody>
      </p:sp>
    </p:spTree>
    <p:extLst>
      <p:ext uri="{BB962C8B-B14F-4D97-AF65-F5344CB8AC3E}">
        <p14:creationId xmlns:p14="http://schemas.microsoft.com/office/powerpoint/2010/main" val="1118141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Benefits of Blockchain Technology </a:t>
            </a: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6. Reduced Costs: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delivers protected surroundings where encrypted enterprise transactions between customer and seller can transpire without the requirement for third groups to moderate.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Associations desire to decrease costs and delay the funds into creating something unique or enhancing existing approaches.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operating blockchain, associations can obtain at cheaper costs associated with third-party agents.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includes no inherited centralized performer, there is no necessity to consume on any dealer charges.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Moreover, there is a minor exchange must when it comes to validating a trade.</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7. Availability: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Parties of blockchain P2P networks can get shut down from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analyzing</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shape and correcting it when union producers submit the condition of the design.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Higher availability, efficiency, confidentiality, and flexibility to adjust any desired solution model.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data can be recovered by users from anywhere around the world.</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availability is higher as productivity increases by using blockchain because it divides each section into each department so that every individual can focus on a particular task or work.</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046440"/>
          </a:xfrm>
          <a:prstGeom prst="rect">
            <a:avLst/>
          </a:prstGeom>
          <a:noFill/>
        </p:spPr>
        <p:txBody>
          <a:bodyPr wrap="square" rtlCol="0">
            <a:spAutoFit/>
          </a:bodyPr>
          <a:lstStyle/>
          <a:p>
            <a:pPr algn="ctr"/>
            <a:r>
              <a:rPr lang="en-IN" sz="2400" b="0" i="0" u="none" strike="noStrike" dirty="0">
                <a:solidFill>
                  <a:srgbClr val="455A64"/>
                </a:solidFill>
                <a:effectLst/>
                <a:latin typeface="Poppins" pitchFamily="2" charset="77"/>
              </a:rPr>
              <a:t>Benefits of Blockchain Technology </a:t>
            </a: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F275-E7E7-9F62-8163-377188C7D80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CB95FCF8-91D4-A67C-3345-5E0612C57035}"/>
              </a:ext>
            </a:extLst>
          </p:cNvPr>
          <p:cNvSpPr>
            <a:spLocks noGrp="1"/>
          </p:cNvSpPr>
          <p:nvPr>
            <p:ph type="body" idx="1"/>
          </p:nvPr>
        </p:nvSpPr>
        <p:spPr>
          <a:xfrm>
            <a:off x="159026" y="1752600"/>
            <a:ext cx="8756374" cy="4495800"/>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8. Automation: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transactions can be automated with smart contracts. Using smart contracts increases efficiency and speeds up the process. Once the pre-specified conditions in smart contracts are met then the next steps in the transaction or process are automatically triggered.</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Smart contracts reduce human intervention.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They also reduce reliance on third parties to verify that the terms of the contracts have been met.</a:t>
            </a:r>
          </a:p>
          <a:p>
            <a:endParaRPr lang="en-US" dirty="0"/>
          </a:p>
        </p:txBody>
      </p:sp>
    </p:spTree>
    <p:extLst>
      <p:ext uri="{BB962C8B-B14F-4D97-AF65-F5344CB8AC3E}">
        <p14:creationId xmlns:p14="http://schemas.microsoft.com/office/powerpoint/2010/main" val="1830628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74799-E1BF-53BA-D128-1DA63C54B652}"/>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752600"/>
            <a:ext cx="8782878" cy="4495800"/>
          </a:xfrm>
        </p:spPr>
        <p:txBody>
          <a:bodyPr>
            <a:normAutofit lnSpcReduction="10000"/>
          </a:bodyPr>
          <a:lstStyle/>
          <a:p>
            <a:pPr algn="just"/>
            <a:r>
              <a:rPr lang="en-IN" sz="2200" b="1" i="0" u="none" strike="noStrike" dirty="0">
                <a:solidFill>
                  <a:srgbClr val="1D2125"/>
                </a:solidFill>
                <a:effectLst/>
                <a:latin typeface="Times New Roman" panose="02020603050405020304" pitchFamily="18" charset="0"/>
                <a:cs typeface="Times New Roman" panose="02020603050405020304" pitchFamily="18" charset="0"/>
              </a:rPr>
              <a:t>9. Decentralized: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Blockchain technology is used to hold data in a decentralized manner so everyone can confirm the accuracy or correctness of the data by using nil understanding evidence via which one group confirms the correctness of data to another group without disclosing anything regarding the information.</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Decentralization indicates the transfer of control and judgment created from a centralized organization to a P2P network. </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These networks attempt to reduce the level of trust that partners should put in individually and prevent their ability over each other.</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creates blockchain and enhances security for users.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In demand for someone to meddle with the blockchain, they would have to meddle with all the units of the chain and hack every node, which is unthinkable.</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4BF9-9138-3D7A-3FC2-9B58B19D6E7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752600"/>
            <a:ext cx="8809383" cy="4495800"/>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10. Tokenization: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Tokenization is the method where the worth of an asset including digital as well as material, is transformed into a digital token that is then registered on and then transmitted through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has been noticed with digital skills and other virtual support, but tokenization has more general applications that could smooth business transactions.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used to change carbon emission fundings under carbon cap schedules.</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AF51A-9EBD-DEAC-F06D-1D4A67244BA4}"/>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Advantages of Blockchain Technology:</a:t>
            </a:r>
            <a:endParaRPr lang="en-US" dirty="0"/>
          </a:p>
        </p:txBody>
      </p:sp>
      <p:sp>
        <p:nvSpPr>
          <p:cNvPr id="3" name="Text Placeholder 2">
            <a:extLst>
              <a:ext uri="{FF2B5EF4-FFF2-40B4-BE49-F238E27FC236}">
                <a16:creationId xmlns:a16="http://schemas.microsoft.com/office/drawing/2014/main" id="{18F3BCE3-E92A-EDD2-ED9B-79C99C769077}"/>
              </a:ext>
            </a:extLst>
          </p:cNvPr>
          <p:cNvSpPr>
            <a:spLocks noGrp="1"/>
          </p:cNvSpPr>
          <p:nvPr>
            <p:ph type="body" idx="1"/>
          </p:nvPr>
        </p:nvSpPr>
        <p:spPr>
          <a:xfrm>
            <a:off x="198783" y="1752600"/>
            <a:ext cx="8716617" cy="4495800"/>
          </a:xfrm>
        </p:spPr>
        <p:txBody>
          <a:bodyPr>
            <a:normAutofit fontScale="85000" lnSpcReduction="20000"/>
          </a:bodyPr>
          <a:lstStyle/>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Open: </a:t>
            </a:r>
            <a:r>
              <a:rPr lang="en-IN" b="0" i="0" u="none" strike="noStrike" dirty="0">
                <a:solidFill>
                  <a:srgbClr val="1D2125"/>
                </a:solidFill>
                <a:effectLst/>
                <a:latin typeface="Times New Roman" panose="02020603050405020304" pitchFamily="18" charset="0"/>
                <a:cs typeface="Times New Roman" panose="02020603050405020304" pitchFamily="18" charset="0"/>
              </a:rPr>
              <a:t>One of the major advantages of blockchain technology is that it is accessible to all means anyone can become a participant in the contribution to blockchain technology, one does not require any permission from anybody to join the distributed network.</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Verifiable: </a:t>
            </a:r>
            <a:r>
              <a:rPr lang="en-IN" b="0" i="0" u="none" strike="noStrike" dirty="0">
                <a:solidFill>
                  <a:srgbClr val="1D2125"/>
                </a:solidFill>
                <a:effectLst/>
                <a:latin typeface="Times New Roman" panose="02020603050405020304" pitchFamily="18" charset="0"/>
                <a:cs typeface="Times New Roman" panose="02020603050405020304" pitchFamily="18" charset="0"/>
              </a:rPr>
              <a:t>Blockchain technology is used to store information in a decentralized manner so everyone can verify the correctness of the information by using zero-knowledge proof through which one party proves the correctness of data to another party without revealing anything about data.</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Permanent: </a:t>
            </a:r>
            <a:r>
              <a:rPr lang="en-IN" b="0" i="0" u="none" strike="noStrike" dirty="0">
                <a:solidFill>
                  <a:srgbClr val="1D2125"/>
                </a:solidFill>
                <a:effectLst/>
                <a:latin typeface="Times New Roman" panose="02020603050405020304" pitchFamily="18" charset="0"/>
                <a:cs typeface="Times New Roman" panose="02020603050405020304" pitchFamily="18" charset="0"/>
              </a:rPr>
              <a:t>Records or information which is stored using blockchain technology is permanent means one needs not worry about losing the data because duplicate copies are stored at each local node as it is a decentralized network that has a number of trustworthy nodes.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Free from Censorship:</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technology is considered free from censorship as it does not have control of any single party rather it has the concept of trustworthy nodes for validation and consensus protocols that approve transactions by using smart contracts.</a:t>
            </a:r>
          </a:p>
          <a:p>
            <a:endParaRPr lang="en-US" dirty="0"/>
          </a:p>
        </p:txBody>
      </p:sp>
    </p:spTree>
    <p:extLst>
      <p:ext uri="{BB962C8B-B14F-4D97-AF65-F5344CB8AC3E}">
        <p14:creationId xmlns:p14="http://schemas.microsoft.com/office/powerpoint/2010/main" val="2019711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Advantages of Blockchain Technology:</a:t>
            </a:r>
            <a:endParaRPr lang="en-US" dirty="0"/>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fontScale="85000" lnSpcReduction="20000"/>
          </a:bodyPr>
          <a:lstStyle/>
          <a:p>
            <a:pPr marL="76200" indent="0" algn="l">
              <a:buNone/>
            </a:pPr>
            <a:endParaRPr lang="en-IN" b="0" i="0" u="none" strike="noStrike" dirty="0">
              <a:solidFill>
                <a:srgbClr val="1D2125"/>
              </a:solidFill>
              <a:effectLst/>
              <a:latin typeface="Poppins" pitchFamily="2" charset="77"/>
            </a:endParaRP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Tighter Security:</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uses hashing techniques to store each transaction on a block that is connected to each other so it has tighter security. It uses SHA 256 hashing technique for storing transactions.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Immutability:</a:t>
            </a:r>
            <a:r>
              <a:rPr lang="en-IN" b="0" i="0" u="none" strike="noStrike" dirty="0">
                <a:solidFill>
                  <a:srgbClr val="1D2125"/>
                </a:solidFill>
                <a:effectLst/>
                <a:latin typeface="Times New Roman" panose="02020603050405020304" pitchFamily="18" charset="0"/>
                <a:cs typeface="Times New Roman" panose="02020603050405020304" pitchFamily="18" charset="0"/>
              </a:rPr>
              <a:t> Data cannot be tampered with in blockchain technology due to its decentralized structure so any change will be reflected in all the nodes so one cannot do fraud here, hence it can be claimed that transactions are tamper-proof.</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Transparency</a:t>
            </a:r>
            <a:r>
              <a:rPr lang="en-IN" b="0" i="0" u="none" strike="noStrike" dirty="0">
                <a:solidFill>
                  <a:srgbClr val="1D2125"/>
                </a:solidFill>
                <a:effectLst/>
                <a:latin typeface="Times New Roman" panose="02020603050405020304" pitchFamily="18" charset="0"/>
                <a:cs typeface="Times New Roman" panose="02020603050405020304" pitchFamily="18" charset="0"/>
              </a:rPr>
              <a:t>: It makes histories of transactions transparent everywhere all the nodes in the network have a copy of the transaction in the network. If any changes occur in the transaction it is visible to the other nodes.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Efficiency</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removes any third-party intervention between transactions and removes the mistake making the system efficient and faster. Settlement is made easier and smooth.</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Cost Reduction</a:t>
            </a:r>
            <a:r>
              <a:rPr lang="en-IN" b="0" i="0" u="none" strike="noStrike" dirty="0">
                <a:solidFill>
                  <a:srgbClr val="1D2125"/>
                </a:solidFill>
                <a:effectLst/>
                <a:latin typeface="Times New Roman" panose="02020603050405020304" pitchFamily="18" charset="0"/>
                <a:cs typeface="Times New Roman" panose="02020603050405020304" pitchFamily="18" charset="0"/>
              </a:rPr>
              <a:t>: As blockchain needs no third man it reduces the cost for the businesses and gives trust to the other partner.</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0CAC-5831-2EA5-BDA9-8F96CA970C8D}"/>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Disadvantages of Blockchain Technology:</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484243"/>
            <a:ext cx="8809383" cy="4764157"/>
          </a:xfrm>
        </p:spPr>
        <p:txBody>
          <a:bodyPr>
            <a:normAutofit fontScale="47500" lnSpcReduction="20000"/>
          </a:bodyPr>
          <a:lstStyle/>
          <a:p>
            <a:pPr marL="76200" indent="0" algn="just">
              <a:buNone/>
            </a:pPr>
            <a:r>
              <a:rPr lang="en-IN" sz="3400" b="0" i="0" u="none" strike="noStrike" dirty="0">
                <a:solidFill>
                  <a:srgbClr val="1D2125"/>
                </a:solidFill>
                <a:effectLst/>
                <a:latin typeface="Times New Roman" panose="02020603050405020304" pitchFamily="18" charset="0"/>
                <a:cs typeface="Times New Roman" panose="02020603050405020304" pitchFamily="18" charset="0"/>
              </a:rPr>
              <a:t>This section discusses the disadvantages of blockchain technology.</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Scalability:</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It is one of the biggest drawbacks of blockchain technology as it cannot be scaled due to the fixed size of the block for storing information. The block size is 1 MB due to which it can hold only a couple of transactions on a single block.</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Immaturity: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Blockchain is only a couple-year-old technology so people do not have much confidence in it, they are not ready to invest in it yet several applications of blockchain are doing great in different industries but still it needs to win the confidence of even more people to be recognized for its complete utilization.</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Energy Consuming: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For verifying any transaction a lot of energy is used so it becomes a problem according to the survey it is considered that 0.3 percent of the world’s electricity had been used by 2018 in the verification of transactions done using blockchain technology.</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Time-Consuming: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To add the next block in the chain miners need to compute nonce values many times so this is a time-consuming process and needs to be speed up to be used for industrial purposes.</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Legal Formalities: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In some countries, the use of blockchain technology applications is banned like cryptocurrency due to some environmental issues they are not promoting to use blockchain technology in the commercial sector.</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Storage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Blockchain databases are stored on all the nodes of the network creates an issue with the storage, increasing number of transactions will require more storage.</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Regulations</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Blockchain faces challenges with some financial institution. Other aspects of technology will be required in order to adopt blockchain in wider aspect. </a:t>
            </a:r>
          </a:p>
          <a:p>
            <a:endParaRPr lang="en-US" dirty="0"/>
          </a:p>
        </p:txBody>
      </p:sp>
    </p:spTree>
    <p:extLst>
      <p:ext uri="{BB962C8B-B14F-4D97-AF65-F5344CB8AC3E}">
        <p14:creationId xmlns:p14="http://schemas.microsoft.com/office/powerpoint/2010/main" val="3642027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020C-6D25-F921-316D-759EF21F4B2F}"/>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Best Applications of Blockchain in the Real World</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8EEC608B-86EC-E31F-9610-E25E76030211}"/>
              </a:ext>
            </a:extLst>
          </p:cNvPr>
          <p:cNvSpPr>
            <a:spLocks noGrp="1"/>
          </p:cNvSpPr>
          <p:nvPr>
            <p:ph type="body" idx="1"/>
          </p:nvPr>
        </p:nvSpPr>
        <p:spPr>
          <a:xfrm>
            <a:off x="106017" y="1752600"/>
            <a:ext cx="8809383" cy="4495800"/>
          </a:xfrm>
        </p:spPr>
        <p:txBody>
          <a:bodyPr>
            <a:normAutofit/>
          </a:bodyPr>
          <a:lstStyle/>
          <a:p>
            <a:pPr algn="just" rtl="0"/>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is distributed which means everyone obtains a copy in the case of a public blockchain. So it is very difficult to modify the data in the blockchain because to do so every copy in every location would need to be changed (which is near to impossible) This makes blockchain both distributed and immutable along with maintaining transparency as the data in the block is not hidden in any way. All of these properties of blockchain ensure the highest levels of security which is why it is so popular in many applications that prioritize security and transparency. Nowadays, Blockchain applications are used by companies on a large scale.</a:t>
            </a:r>
          </a:p>
          <a:p>
            <a:endParaRPr lang="en-US" dirty="0"/>
          </a:p>
        </p:txBody>
      </p:sp>
    </p:spTree>
    <p:extLst>
      <p:ext uri="{BB962C8B-B14F-4D97-AF65-F5344CB8AC3E}">
        <p14:creationId xmlns:p14="http://schemas.microsoft.com/office/powerpoint/2010/main" val="1603688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9533-EA81-9255-1942-1A54D1600F5D}"/>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Best Applications of Blockchain in the Real World</a:t>
            </a:r>
            <a:endParaRPr lang="en-US" dirty="0"/>
          </a:p>
        </p:txBody>
      </p:sp>
      <p:sp>
        <p:nvSpPr>
          <p:cNvPr id="3" name="Text Placeholder 2">
            <a:extLst>
              <a:ext uri="{FF2B5EF4-FFF2-40B4-BE49-F238E27FC236}">
                <a16:creationId xmlns:a16="http://schemas.microsoft.com/office/drawing/2014/main" id="{41B9A99C-3C34-F933-D5DE-43BAC8DC5D5D}"/>
              </a:ext>
            </a:extLst>
          </p:cNvPr>
          <p:cNvSpPr>
            <a:spLocks noGrp="1"/>
          </p:cNvSpPr>
          <p:nvPr>
            <p:ph type="body" idx="1"/>
          </p:nvPr>
        </p:nvSpPr>
        <p:spPr/>
        <p:txBody>
          <a:bodyPr/>
          <a:lstStyle/>
          <a:p>
            <a:r>
              <a:rPr lang="en-IN" b="0" i="0" u="none" strike="noStrike" dirty="0">
                <a:solidFill>
                  <a:srgbClr val="455A64"/>
                </a:solidFill>
                <a:effectLst/>
                <a:latin typeface="Poppins" pitchFamily="2" charset="77"/>
              </a:rPr>
              <a:t>1. Asset Management</a:t>
            </a:r>
          </a:p>
          <a:p>
            <a:r>
              <a:rPr lang="en-IN" b="0" i="0" u="none" strike="noStrike" dirty="0">
                <a:solidFill>
                  <a:srgbClr val="455A64"/>
                </a:solidFill>
                <a:effectLst/>
                <a:latin typeface="Poppins" pitchFamily="2" charset="77"/>
              </a:rPr>
              <a:t>2. Cross-Border Payments</a:t>
            </a:r>
          </a:p>
          <a:p>
            <a:r>
              <a:rPr lang="en-IN" b="0" i="0" u="none" strike="noStrike" dirty="0">
                <a:solidFill>
                  <a:srgbClr val="455A64"/>
                </a:solidFill>
                <a:effectLst/>
                <a:latin typeface="Poppins" pitchFamily="2" charset="77"/>
              </a:rPr>
              <a:t>3. Healthcare</a:t>
            </a:r>
          </a:p>
          <a:p>
            <a:r>
              <a:rPr lang="en-IN" b="0" i="0" u="none" strike="noStrike" dirty="0">
                <a:solidFill>
                  <a:srgbClr val="455A64"/>
                </a:solidFill>
                <a:effectLst/>
                <a:latin typeface="Poppins" pitchFamily="2" charset="77"/>
              </a:rPr>
              <a:t>4. Cryptocurrency</a:t>
            </a:r>
          </a:p>
          <a:p>
            <a:r>
              <a:rPr lang="en-IN" b="0" i="0" u="none" strike="noStrike" dirty="0">
                <a:solidFill>
                  <a:srgbClr val="455A64"/>
                </a:solidFill>
                <a:effectLst/>
                <a:latin typeface="Poppins" pitchFamily="2" charset="77"/>
              </a:rPr>
              <a:t>5. Birth and Death Certificates</a:t>
            </a:r>
          </a:p>
          <a:p>
            <a:r>
              <a:rPr lang="en-IN" b="0" i="0" u="none" strike="noStrike" dirty="0">
                <a:solidFill>
                  <a:srgbClr val="455A64"/>
                </a:solidFill>
                <a:effectLst/>
                <a:latin typeface="Poppins" pitchFamily="2" charset="77"/>
              </a:rPr>
              <a:t>6. Online Identity Verification</a:t>
            </a:r>
          </a:p>
          <a:p>
            <a:r>
              <a:rPr lang="en-IN" b="0" i="0" u="none" strike="noStrike" dirty="0">
                <a:solidFill>
                  <a:srgbClr val="455A64"/>
                </a:solidFill>
                <a:effectLst/>
                <a:latin typeface="Poppins" pitchFamily="2" charset="77"/>
              </a:rPr>
              <a:t>7. Internet of Things</a:t>
            </a:r>
          </a:p>
          <a:p>
            <a:r>
              <a:rPr lang="en-IN" b="0" i="0" u="none" strike="noStrike" dirty="0">
                <a:solidFill>
                  <a:srgbClr val="455A64"/>
                </a:solidFill>
                <a:effectLst/>
                <a:latin typeface="Poppins" pitchFamily="2" charset="77"/>
              </a:rPr>
              <a:t>8. Copyright and Royalties</a:t>
            </a:r>
          </a:p>
          <a:p>
            <a:endParaRPr lang="en-US" dirty="0"/>
          </a:p>
        </p:txBody>
      </p:sp>
    </p:spTree>
    <p:extLst>
      <p:ext uri="{BB962C8B-B14F-4D97-AF65-F5344CB8AC3E}">
        <p14:creationId xmlns:p14="http://schemas.microsoft.com/office/powerpoint/2010/main" val="3804283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43392e6b5a674350">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6673af826c7d4ca5">
                  <a:extLst>
                    <a:ext uri="{A12FA001-AC4F-418D-AE19-62706E023703}">
                      <ahyp:hlinkClr xmlns:ahyp="http://schemas.microsoft.com/office/drawing/2018/hyperlinkcolor" val="tx"/>
                    </a:ext>
                  </a:extLst>
                </a:hlinkClick>
              </a:rPr>
              <a:t>Sivada</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6673af826c7d4ca5">
                  <a:extLst>
                    <a:ext uri="{A12FA001-AC4F-418D-AE19-62706E023703}">
                      <ahyp:hlinkClr xmlns:ahyp="http://schemas.microsoft.com/office/drawing/2018/hyperlinkcolor" val="tx"/>
                    </a:ext>
                  </a:extLst>
                </a:hlinkClick>
              </a:rPr>
              <a:t>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6673af826c7d4ca5">
                  <a:extLst>
                    <a:ext uri="{A12FA001-AC4F-418D-AE19-62706E023703}">
                      <ahyp:hlinkClr xmlns:ahyp="http://schemas.microsoft.com/office/drawing/2018/hyperlinkcolor" val="tx"/>
                    </a:ext>
                  </a:extLst>
                </a:hlinkClick>
              </a:rPr>
              <a:t>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6673af826c7d4ca5">
                  <a:extLst>
                    <a:ext uri="{A12FA001-AC4F-418D-AE19-62706E023703}">
                      <ahyp:hlinkClr xmlns:ahyp="http://schemas.microsoft.com/office/drawing/2018/hyperlinkcolor" val="tx"/>
                    </a:ext>
                  </a:extLst>
                </a:hlinkClick>
              </a:rPr>
              <a:t>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08f9c449a46e410e">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80555075301141cd">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cIde2b9c2dd92444eb4"/>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32560861104c4715" imgW="2478087" imgH="3148012" progId="">
                  <p:embed/>
                </p:oleObj>
              </mc:Choice>
              <mc:Fallback>
                <p:oleObj r:id="Rd75b408f28394c13" imgW="2478087" imgH="3148012" progId="">
                  <p:embed/>
                  <p:pic>
                    <p:nvPicPr>
                      <p:cNvPr id="317" name="Google Shape;317;p1"/>
                      <p:cNvPicPr preferRelativeResize="0"/>
                      <p:nvPr/>
                    </p:nvPicPr>
                    <p:blipFill rotWithShape="1">
                      <a:blip r:embed="R635982dcb00f474c">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4231df546f5a4ce9">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7206f2bd33394875">
            <a:alphaModFix/>
          </a:blip>
          <a:srcRect/>
          <a:stretch/>
        </p:blipFill>
        <p:spPr>
          <a:xfrm>
            <a:off x="76200" y="76200"/>
            <a:ext cx="2613025" cy="1295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fontScale="85000" lnSpcReduction="20000"/>
          </a:bodyPr>
          <a:lstStyle/>
          <a:p>
            <a:pPr algn="just"/>
            <a:r>
              <a:rPr lang="en-IN"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Components of Blockchain Network</a:t>
            </a:r>
            <a:br>
              <a:rPr lang="en-IN" dirty="0">
                <a:latin typeface="Times New Roman" panose="02020603050405020304" pitchFamily="18" charset="0"/>
                <a:cs typeface="Times New Roman" panose="02020603050405020304" pitchFamily="18" charset="0"/>
              </a:rPr>
            </a:br>
            <a:r>
              <a:rPr lang="en-IN" b="0" i="0" u="none" strike="noStrike" dirty="0">
                <a:solidFill>
                  <a:srgbClr val="1D2125"/>
                </a:solidFill>
                <a:effectLst/>
                <a:latin typeface="Times New Roman" panose="02020603050405020304" pitchFamily="18" charset="0"/>
                <a:cs typeface="Times New Roman" panose="02020603050405020304" pitchFamily="18" charset="0"/>
              </a:rPr>
              <a:t>As per the name ‘Blockchain‘, it itself suggests that information (</a:t>
            </a:r>
            <a:r>
              <a:rPr lang="en-IN"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b="0" i="0" u="none" strike="noStrike" dirty="0">
                <a:solidFill>
                  <a:srgbClr val="1D2125"/>
                </a:solidFill>
                <a:effectLst/>
                <a:latin typeface="Times New Roman" panose="02020603050405020304" pitchFamily="18" charset="0"/>
                <a:cs typeface="Times New Roman" panose="02020603050405020304" pitchFamily="18" charset="0"/>
              </a:rPr>
              <a:t> transactions) will be stored in the form of blocks. Every node can see the block, but they can’t tamper with them. If a block value is tampered the hash value associated with that block changes and that block will be disconnected from the network. On an average of 12.6 seconds, every node in the blockchain network gets the most updated blockchain. The technology behind Bitcoins is the </a:t>
            </a:r>
            <a:r>
              <a:rPr lang="en-IN" b="1" i="0" u="none" strike="noStrike" dirty="0">
                <a:solidFill>
                  <a:srgbClr val="1D2125"/>
                </a:solidFill>
                <a:effectLst/>
                <a:latin typeface="Times New Roman" panose="02020603050405020304" pitchFamily="18" charset="0"/>
                <a:cs typeface="Times New Roman" panose="02020603050405020304" pitchFamily="18" charset="0"/>
              </a:rPr>
              <a:t>Blockchain Network</a:t>
            </a:r>
            <a:r>
              <a:rPr lang="en-IN" b="0" i="0" u="none" strike="noStrike" dirty="0">
                <a:solidFill>
                  <a:srgbClr val="1D2125"/>
                </a:solidFill>
                <a:effectLst/>
                <a:latin typeface="Times New Roman" panose="02020603050405020304" pitchFamily="18" charset="0"/>
                <a:cs typeface="Times New Roman" panose="02020603050405020304" pitchFamily="18" charset="0"/>
              </a:rPr>
              <a:t>. Following are the components of a Blockchain network –</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Node</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Ledger</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Wallet</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Nonce</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Hash</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pPr marL="88900" indent="0" algn="ctr">
              <a:buNone/>
            </a:pP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fontScale="47500" lnSpcReduction="20000"/>
          </a:bodyPr>
          <a:lstStyle/>
          <a:p>
            <a:pPr marL="76200" indent="0" algn="l">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1. Node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of two types – Full Node and Partial Node. </a:t>
            </a:r>
          </a:p>
          <a:p>
            <a:pPr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Full Node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maintains a full copy of all the transactions. It has the capacity to validate, accept and reject the transactions.</a:t>
            </a:r>
          </a:p>
          <a:p>
            <a:pPr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Partial Node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also called a Lightweight Node because it doesn’t maintain the whole copy of the blockchain ledger. It maintains only the hash value of the transaction. The whole transaction is accessed using this hash value only. These nodes have low storage and low computational power.</a:t>
            </a:r>
          </a:p>
          <a:p>
            <a:pPr marL="76200" indent="0" algn="l">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2. Ledger –</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a digital database of information.  Here, we have used the term ‘digital’ because the currency exchanged between different nodes is digital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cryptocurrency. There are three types of ledger. They are –</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Public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open and transparent to all. Anyone in the blockchain network can read or write something.</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Distributed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In this ledger, all nodes have a local copy of the database. Here, a group of nodes collectively execute the job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verify transactions, add blocks in the blockchain.</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Decentralized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In this ledger, no one node or group of nodes has a central control. Every node participates in the execution of the job.</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0" y="1201783"/>
            <a:ext cx="9026434" cy="5046617"/>
          </a:xfrm>
          <a:prstGeom prst="rect">
            <a:avLst/>
          </a:prstGeom>
          <a:noFill/>
          <a:ln>
            <a:noFill/>
          </a:ln>
        </p:spPr>
        <p:txBody>
          <a:bodyPr spcFirstLastPara="1" wrap="square" lIns="91425" tIns="45700" rIns="91425" bIns="45700" anchor="t" anchorCtr="0">
            <a:noAutofit/>
          </a:bodyPr>
          <a:lstStyle/>
          <a:p>
            <a:pPr algn="l"/>
            <a:r>
              <a:rPr lang="en-IN" sz="1800" b="1" i="0" u="none" strike="noStrike" dirty="0">
                <a:solidFill>
                  <a:srgbClr val="1D2125"/>
                </a:solidFill>
                <a:effectLst/>
                <a:latin typeface="Times New Roman" panose="02020603050405020304" pitchFamily="18" charset="0"/>
                <a:cs typeface="Times New Roman" panose="02020603050405020304" pitchFamily="18" charset="0"/>
              </a:rPr>
              <a:t>3. Wallet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a digital wallet that allows user to store their cryptocurrency. Every node in the blockchain network has a Wallet. Privacy of a wallet in a blockchain network is maintained using public and private key pairs. In a wallet, there is no need for currency conversion as the currency in the wallet is universally acceptable. Cryptocurrency wallets are mainly of two types –</a:t>
            </a:r>
          </a:p>
          <a:p>
            <a:pPr algn="l">
              <a:buFont typeface="+mj-lt"/>
              <a:buAutoNum type="arabicPeriod"/>
            </a:pPr>
            <a:r>
              <a:rPr lang="en-IN" sz="1800" b="1" i="0" u="none" strike="noStrike" dirty="0">
                <a:solidFill>
                  <a:srgbClr val="1D2125"/>
                </a:solidFill>
                <a:effectLst/>
                <a:latin typeface="Times New Roman" panose="02020603050405020304" pitchFamily="18" charset="0"/>
                <a:cs typeface="Times New Roman" panose="02020603050405020304" pitchFamily="18" charset="0"/>
              </a:rPr>
              <a:t>Hot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are used for online day-to-day transactions connected to the internet. Hackers can attack this wallet as it is connected to the internet. Hot wallets are further classified into two types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a. Online/ Web wallets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run on the cloud platform. Examples – </a:t>
            </a:r>
            <a:r>
              <a:rPr lang="en-IN" sz="1800" b="0" i="0" u="none" strike="noStrike" dirty="0" err="1">
                <a:solidFill>
                  <a:srgbClr val="1D2125"/>
                </a:solidFill>
                <a:effectLst/>
                <a:latin typeface="Times New Roman" panose="02020603050405020304" pitchFamily="18" charset="0"/>
                <a:cs typeface="Times New Roman" panose="02020603050405020304" pitchFamily="18" charset="0"/>
              </a:rPr>
              <a:t>MyEther</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Wallet, </a:t>
            </a:r>
            <a:r>
              <a:rPr lang="en-IN" sz="1800" b="0" i="0" u="none" strike="noStrike" dirty="0" err="1">
                <a:solidFill>
                  <a:srgbClr val="1D2125"/>
                </a:solidFill>
                <a:effectLst/>
                <a:latin typeface="Times New Roman" panose="02020603050405020304" pitchFamily="18" charset="0"/>
                <a:cs typeface="Times New Roman" panose="02020603050405020304" pitchFamily="18" charset="0"/>
              </a:rPr>
              <a:t>MetaMask</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Wallet.</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b. Software wallets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consists of desktop wallets and mobile wallets. Desktop wallets can be downloaded on a desktop and the user has full control of the wallet. An example of a desktop wallet is Electrum.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c. Mobile wallets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They are designed to operate on smartphone devices. Example – mycelium.</a:t>
            </a:r>
          </a:p>
        </p:txBody>
      </p:sp>
      <p:sp>
        <p:nvSpPr>
          <p:cNvPr id="2" name="TextBox 1">
            <a:extLst>
              <a:ext uri="{FF2B5EF4-FFF2-40B4-BE49-F238E27FC236}">
                <a16:creationId xmlns:a16="http://schemas.microsoft.com/office/drawing/2014/main" id="{C459B39F-4A70-72FA-8395-0BE174608CCD}"/>
              </a:ext>
            </a:extLst>
          </p:cNvPr>
          <p:cNvSpPr txBox="1"/>
          <p:nvPr/>
        </p:nvSpPr>
        <p:spPr>
          <a:xfrm>
            <a:off x="1484243" y="788670"/>
            <a:ext cx="6877879" cy="523220"/>
          </a:xfrm>
          <a:prstGeom prst="rect">
            <a:avLst/>
          </a:prstGeom>
          <a:noFill/>
        </p:spPr>
        <p:txBody>
          <a:bodyPr wrap="square" rtlCol="0">
            <a:spAutoFit/>
          </a:bodyPr>
          <a:lstStyle/>
          <a:p>
            <a:pPr algn="l"/>
            <a:r>
              <a:rPr lang="en-IN" sz="28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IN" sz="2800" b="0" i="0" u="none" strike="noStrike" dirty="0">
              <a:solidFill>
                <a:srgbClr val="455A6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lnSpcReduction="10000"/>
          </a:bodyPr>
          <a:lstStyle/>
          <a:p>
            <a:pPr>
              <a:buFont typeface="+mj-lt"/>
              <a:buAutoNum type="arabicPeriod"/>
            </a:pPr>
            <a:r>
              <a:rPr lang="en-IN" sz="1800" b="1" i="0" u="none" strike="noStrike" dirty="0">
                <a:solidFill>
                  <a:srgbClr val="1D2125"/>
                </a:solidFill>
                <a:effectLst/>
                <a:latin typeface="Times New Roman" panose="02020603050405020304" pitchFamily="18" charset="0"/>
                <a:cs typeface="Times New Roman" panose="02020603050405020304" pitchFamily="18" charset="0"/>
              </a:rPr>
              <a:t>Cold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are not connected to the internet. It is very safe and hackers cannot attack it. These wallets are purchased by the user. Example – Paper wallet, hardware wallet.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a. Paper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They are offline wallets in which a piece of paper is used that contains the crypto address. The private key is printed in QR code format. QR code is scanned for cryptocurrency transactions.</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b. Hardware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a physical electronic device that uses a random number generator that is associated with the wallet.</a:t>
            </a:r>
          </a:p>
          <a:p>
            <a:pPr marL="76200" indent="0">
              <a:buNone/>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 focus of wallets is on these three things –</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Privacy</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Transactions should be secure</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Easy to use</a:t>
            </a:r>
          </a:p>
          <a:p>
            <a:pPr marL="76200" indent="0">
              <a:buNone/>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Privacy of a wallet is maintained using public and private key pairs. Transactions are made secure as a private key is used both to send fund and to open the encrypted message.</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fontScale="92500"/>
          </a:bodyPr>
          <a:lstStyle/>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4. Nonce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A nonce is an abbreviation for “number only used once,” which is a number added to a hashed or encrypted block in a blockchain. It is the 32-bit number generated randomly only one time that assists to create a new block or validate a transaction. It is used to make the transaction more secure.</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hard to select the number which can be used as the nonce. It requires a vital amount of trial-and-error. First, a miner guesses a nonce. Then, it appends the guessed nonce to the hash of the current header. After that, it rehashes the value and compares this to the target hash. Now it checks that whether the resulting hash value meets the requirements or not. If all the conditions are met, it means that the miner has created an answer and is granted the block.</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5. Hash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 data is mapped to a fixed size using hashing. It plays a very important role in cryptography. In a blockchain network hash value of one transaction is the input of another transaction. Properties of the hash function are as follows –</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Collision resistant</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Hiding</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Puzzle friendliness</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ct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US" sz="2400" dirty="0"/>
          </a:p>
        </p:txBody>
      </p:sp>
    </p:spTree>
    <p:extLst>
      <p:ext uri="{BB962C8B-B14F-4D97-AF65-F5344CB8AC3E}">
        <p14:creationId xmlns:p14="http://schemas.microsoft.com/office/powerpoint/2010/main" val="1673020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How Does the Blockchain Work</a:t>
            </a: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is a distributed database that stores information electronically in a digital format and is shared among the nodes of a computer network. A typical difference between a blockchain and a database is how data is structured. A blockchain is a shared, immutable ledger as the name suggests structures data into chunks or blocks, and a database structures data into tables. A blockchain is a chain of blocks. Once a block is filled with data and it is chained to the previous blocks. Different types of information can be stored on the blockchain network but the most important is transactions. </a:t>
            </a:r>
          </a:p>
        </p:txBody>
      </p:sp>
    </p:spTree>
    <p:extLst>
      <p:ext uri="{BB962C8B-B14F-4D97-AF65-F5344CB8AC3E}">
        <p14:creationId xmlns:p14="http://schemas.microsoft.com/office/powerpoint/2010/main" val="11181410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b="1" i="0" u="none" strike="noStrike" dirty="0">
                <a:solidFill>
                  <a:srgbClr val="455A64"/>
                </a:solidFill>
                <a:effectLst/>
                <a:latin typeface="Poppins" pitchFamily="2" charset="77"/>
              </a:rPr>
              <a:t>How Does a Blockchain Work?</a:t>
            </a: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1. Facilitating a transaction: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new transaction enters the blockchain network. All the information that needs to be transmitted is doubly encrypted using public and private keys.</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2. Verification of transaction: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transaction is then transmitted to the network of peer-to-peer computers distributed across the world. All the nodes on the network will check for the validity of the transaction like if a sufficient balance is available for carrying out the transaction.</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3. Formation of a new block: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a typical blockchain network there are many nodes and many transactions get verified at a time. Once the transaction is verified and declared a legitimate transaction, it will be added to the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All the verified transactions at a particular node form 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and such multiple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form a block. </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4. Consensus Algorithm: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The nodes that form a block will try to add the block to the blockchain network to make it permanent. But if every node is allowed to add blocks in this manner then it will disrupt the working of the blockchain network. To solve this problem, the nodes use a consensus mechanism to ensure that every new block that is added to the Blockchain is the one and only version of the truth that is agreed upon by all the nodes in the Blockchain, and only a valid block is securely attached to the blockchain. The node that is selected to add a block to the blockchain will get a reward and hence we call them “miners”. The consensus algorithm creates a hash code for that block which is required to add the block to the blockchain.</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5. Addition of the new block to the blockchain: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After the newly created block has got its hash value and is authenticated, now it is ready to be added to the blockchain. In every block, there is a hash value of the previous block and that is how the blocks are cryptographically linked to each other to form a blockchain. A new block gets added to the open end of the blockchain.</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6. Transaction complete: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As soon as the block is added to the blockchain the transaction is completed and the details of this transaction are permanently stored in the blockchain. Anyone can fetch the details of the transaction and confirm the transaction.</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723549"/>
          </a:xfrm>
          <a:prstGeom prst="rect">
            <a:avLst/>
          </a:prstGeom>
          <a:noFill/>
        </p:spPr>
        <p:txBody>
          <a:bodyPr wrap="square" rtlCol="0">
            <a:spAutoFit/>
          </a:bodyPr>
          <a:lstStyle/>
          <a:p>
            <a:pPr algn="ctr"/>
            <a:r>
              <a:rPr lang="en-IN" sz="2800" b="1" i="0" u="none" strike="noStrike" dirty="0">
                <a:solidFill>
                  <a:srgbClr val="455A64"/>
                </a:solidFill>
                <a:effectLst/>
                <a:latin typeface="Times New Roman" panose="02020603050405020304" pitchFamily="18" charset="0"/>
                <a:cs typeface="Times New Roman" panose="02020603050405020304" pitchFamily="18" charset="0"/>
              </a:rPr>
              <a:t>How Does a Blockchain Work?</a:t>
            </a:r>
            <a:br>
              <a:rPr lang="en-IN" sz="2800" b="0" i="0" u="none" strike="noStrike" dirty="0">
                <a:solidFill>
                  <a:srgbClr val="455A64"/>
                </a:solidFill>
                <a:effectLst/>
                <a:latin typeface="Times New Roman" panose="02020603050405020304" pitchFamily="18" charset="0"/>
                <a:cs typeface="Times New Roman" panose="02020603050405020304" pitchFamily="18" charset="0"/>
              </a:rPr>
            </a:b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F275-E7E7-9F62-8163-377188C7D80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pic>
        <p:nvPicPr>
          <p:cNvPr id="1026" name="Picture 2" descr="Blockchain Working">
            <a:extLst>
              <a:ext uri="{FF2B5EF4-FFF2-40B4-BE49-F238E27FC236}">
                <a16:creationId xmlns:a16="http://schemas.microsoft.com/office/drawing/2014/main" id="{53A552AD-894C-CBD5-80BB-BEB33ED13C0F}"/>
              </a:ext>
            </a:extLst>
          </p:cNvPr>
          <p:cNvPicPr>
            <a:picLocks noChangeAspect="1" noChangeArrowheads="1"/>
          </p:cNvPicPr>
          <p:nvPr/>
        </p:nvPicPr>
        <p:blipFill>
          <a:blip r:embed="R300ccde577c7410f">
            <a:extLst>
              <a:ext uri="{28A0092B-C50C-407E-A947-70E740481C1C}">
                <a14:useLocalDpi xmlns:a14="http://schemas.microsoft.com/office/drawing/2010/main" val="0"/>
              </a:ext>
            </a:extLst>
          </a:blip>
          <a:srcRect/>
          <a:stretch>
            <a:fillRect/>
          </a:stretch>
        </p:blipFill>
        <p:spPr bwMode="auto">
          <a:xfrm>
            <a:off x="228600" y="1142999"/>
            <a:ext cx="8445137" cy="5022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628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understand this working of blockchain with the help of an example:</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say Jack and Phil are two nodes on the bitcoin blockchain network who wants to carry out a transaction between them.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1: Facilitating the transaction: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Jack wants to send 20 BTC to Phil via the Blockchain network.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2: Verification of transaction: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message for verification will be sent to all the nodes on the network. All the nodes will check the important parameters related to the transaction like Does Jack has sufficient balance i.e. at least 20BTC to perform the transaction. Is Jack a registered node? Is Phil a registered node? After checking the parameters the transaction is verified.</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3: Formation of a new block: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number of verified transactions stack up in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and get stored in a block. This verified transaction will also get stored in a block.</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423851"/>
            <a:ext cx="8809383" cy="4824549"/>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4: Consensus algorithm: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Since here we are talking about bitcoins so the Proof-of-Work consensus algorithm will be used for block verification. In proof-of-work, the system assigns the target hash value to a node, and according to this, it must come up with a hash for the new block. The node has to calculate the hash value for the new block that is less than the target value. If two or more miners mine the same block at the same time, the block with more difficulty is selected. The others are known as stale blocks. Mining usually rewards miners with blockchain currency. In this case, the blockchain currency is bitcoin.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5: Addition of the new block in the blockchain: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After the newly created block has got the hash value and authentication through proof-of-work only then it will be added to the network and the transaction will mark as complete. Phil will receive 20 BTC from Jack.</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new block will be linked to the open end of the blockchain. </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F3BCE3-E92A-EDD2-ED9B-79C99C769077}"/>
              </a:ext>
            </a:extLst>
          </p:cNvPr>
          <p:cNvSpPr>
            <a:spLocks noGrp="1"/>
          </p:cNvSpPr>
          <p:nvPr>
            <p:ph type="body" idx="1"/>
          </p:nvPr>
        </p:nvSpPr>
        <p:spPr>
          <a:xfrm>
            <a:off x="198783" y="1384663"/>
            <a:ext cx="8716617" cy="4863737"/>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6: Transaction complete: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soon as the block is added to the blockchain, the transaction will take place and 20 BTCs will get transferred from Jack’s wallet to Phil’s wallet. The details of the transaction are permanently secured on the blockchain.</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Anyone on the network can fetch the information and confirm the transaction. This will help to keep track of all the transactions and to verify whether any user is trying to double spend. For example, if Jack tries to carry out a transaction in the future, the rest of the nodes can check Jack’s past transaction records to check whether Jack has enough balance to carry out the current transaction. If there is enough balance then the transaction will be approved.</a:t>
            </a:r>
          </a:p>
          <a:p>
            <a:endParaRPr lang="en-US" dirty="0"/>
          </a:p>
        </p:txBody>
      </p:sp>
    </p:spTree>
    <p:extLst>
      <p:ext uri="{BB962C8B-B14F-4D97-AF65-F5344CB8AC3E}">
        <p14:creationId xmlns:p14="http://schemas.microsoft.com/office/powerpoint/2010/main" val="20197119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indent="0">
              <a:buNone/>
            </a:pPr>
            <a:br>
              <a:rPr lang="en-IN" b="0" i="0" u="none" strike="noStrike" dirty="0">
                <a:solidFill>
                  <a:srgbClr val="1D2125"/>
                </a:solidFill>
                <a:effectLst/>
                <a:latin typeface="Poppins" pitchFamily="2" charset="77"/>
              </a:rPr>
            </a:br>
            <a:r>
              <a:rPr lang="en-IN" b="1" i="0" u="none" strike="noStrike" dirty="0">
                <a:solidFill>
                  <a:srgbClr val="455A64"/>
                </a:solidFill>
                <a:effectLst/>
                <a:latin typeface="Poppins" pitchFamily="2" charset="77"/>
              </a:rPr>
              <a:t>Is Blockchain Secure?</a:t>
            </a: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the most basic way, one can think of a blockchain as a linked list. Each of the next items in the list is dependent on the previous item, except for the first block, also known as the genesis block, which is hardcoded into the blockchain. In the blockchain, each block contains the hash of the previous block’s header and a hash of the transactions in the Merkle tree of the current block. In this way, each block is cryptographically chained to the previous block. Let’s understand with an example what happens when someone attempts to change a transaction or block data in a blockchain network.</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484243"/>
            <a:ext cx="8809383" cy="4764157"/>
          </a:xfrm>
        </p:spPr>
        <p:txBody>
          <a:bodyPr>
            <a:noAutofit/>
          </a:bodyPr>
          <a:lstStyle/>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Suppose, there is a chain of 10 blocks, where the 10</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depends on the 9</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the 9</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block depends on the 8</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and so on.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this way, the 10</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depends on all the previous blocks and the genesis block as well.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If someone tries to change data on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then the attacker will have to change data on all the later blocks as well, otherwise, the blockchain will become invalid since the later blocks depend on the hash value present in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block and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has changed, but not the later blocks.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Thus, as the blocks are added, immutability increases as changing the block is an expensive operation.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Also, to add/change a block in a blockchain, a consensus algorithm is used by nodes in the blockchain network. In order to compensate for the change in one block, one must have to recalculate the hash of every block to update the hash value of the block header in the next block. This will involve a lot of time and computational resources.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order to succeed with such kind of attack, the hacker has to simultaneously control and change 51% or more copies of the blockchain so that their new copy becomes the majority copy and thus the agreed-upon chain.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Thus, requiring an immense amount of time, money, and computational resources.</a:t>
            </a:r>
          </a:p>
        </p:txBody>
      </p:sp>
    </p:spTree>
    <p:extLst>
      <p:ext uri="{BB962C8B-B14F-4D97-AF65-F5344CB8AC3E}">
        <p14:creationId xmlns:p14="http://schemas.microsoft.com/office/powerpoint/2010/main" val="3642027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29ad5d5f098c434c">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84025b3a1f0d4ed4">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84025b3a1f0d4ed4">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32a5321caca14204">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7480ad6641c44a5a">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cIdd717c960acc44856"/>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1642c4630d154e0a" imgW="2478087" imgH="3148012" progId="">
                  <p:embed/>
                </p:oleObj>
              </mc:Choice>
              <mc:Fallback>
                <p:oleObj r:id="Rd8a67eb15f1f4f20" imgW="2478087" imgH="3148012" progId="">
                  <p:embed/>
                  <p:pic>
                    <p:nvPicPr>
                      <p:cNvPr id="317" name="Google Shape;317;p1"/>
                      <p:cNvPicPr preferRelativeResize="0"/>
                      <p:nvPr/>
                    </p:nvPicPr>
                    <p:blipFill rotWithShape="1">
                      <a:blip r:embed="R5d5d5c89a0694138">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5d25bb1cc6a640ec">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d826a74e42e44fba">
            <a:alphaModFix/>
          </a:blip>
          <a:srcRect/>
          <a:stretch/>
        </p:blipFill>
        <p:spPr>
          <a:xfrm>
            <a:off x="76200" y="76200"/>
            <a:ext cx="2613025" cy="12954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2399685"/>
          </a:xfrm>
          <a:prstGeom prst="rect">
            <a:avLst/>
          </a:prstGeom>
          <a:noFill/>
          <a:ln>
            <a:noFill/>
          </a:ln>
        </p:spPr>
        <p:txBody>
          <a:bodyPr spcFirstLastPara="1" wrap="square" lIns="91425" tIns="45700" rIns="91425" bIns="45700" anchor="t" anchorCtr="0">
            <a:normAutofit fontScale="77500" lnSpcReduction="200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network is known as a distributed, decentralized, and immutable peer-to-peer digital ledger to record transactions and data from different computer nodes. Generally, Blockchains are created for specific purposes including users getting varied types of tasks or access.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Blockchain, a ledger of records known as Blocks is connected using cryptography. Every block includes a cryptographic hash of the previous block, transaction data, and a timestamp. Blockchain also abolishes data supplication and increases security via data integrity.</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0" i="0" u="none" strike="noStrike" dirty="0">
                <a:solidFill>
                  <a:srgbClr val="455A64"/>
                </a:solidFill>
                <a:effectLst/>
                <a:latin typeface="Poppins" pitchFamily="2" charset="77"/>
              </a:rPr>
              <a:t>What is Blockchain Network?</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8" name="Picture 4" descr="Blockchain network">
            <a:extLst>
              <a:ext uri="{FF2B5EF4-FFF2-40B4-BE49-F238E27FC236}">
                <a16:creationId xmlns:a16="http://schemas.microsoft.com/office/drawing/2014/main" id="{53634EC7-B5E3-9E29-D546-D72097945521}"/>
              </a:ext>
            </a:extLst>
          </p:cNvPr>
          <p:cNvPicPr>
            <a:picLocks noChangeAspect="1" noChangeArrowheads="1"/>
          </p:cNvPicPr>
          <p:nvPr/>
        </p:nvPicPr>
        <p:blipFill>
          <a:blip r:embed="R149e2b49be4349ae">
            <a:extLst>
              <a:ext uri="{28A0092B-C50C-407E-A947-70E740481C1C}">
                <a14:useLocalDpi xmlns:a14="http://schemas.microsoft.com/office/drawing/2010/main" val="0"/>
              </a:ext>
            </a:extLst>
          </a:blip>
          <a:srcRect/>
          <a:stretch>
            <a:fillRect/>
          </a:stretch>
        </p:blipFill>
        <p:spPr bwMode="auto">
          <a:xfrm>
            <a:off x="1066801" y="2883513"/>
            <a:ext cx="6910136" cy="34410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pPr algn="l"/>
            <a:r>
              <a:rPr lang="en-IN" sz="2400" b="0" i="0" u="none" strike="noStrike" dirty="0">
                <a:solidFill>
                  <a:srgbClr val="455A64"/>
                </a:solidFill>
                <a:effectLst/>
                <a:latin typeface="Poppins" pitchFamily="2" charset="77"/>
              </a:rPr>
              <a:t>Need for Different Types of Blockchain Networks</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fontScale="92500" lnSpcReduction="10000"/>
          </a:bodyPr>
          <a:lstStyle/>
          <a:p>
            <a:pPr marL="76200" indent="0" algn="just">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There are four main types of Blockchain networks- </a:t>
            </a:r>
            <a:r>
              <a:rPr lang="en-IN" b="1" i="0" u="none" strike="noStrike" dirty="0">
                <a:solidFill>
                  <a:srgbClr val="1D2125"/>
                </a:solidFill>
                <a:effectLst/>
                <a:latin typeface="Times New Roman" panose="02020603050405020304" pitchFamily="18" charset="0"/>
                <a:cs typeface="Times New Roman" panose="02020603050405020304" pitchFamily="18" charset="0"/>
              </a:rPr>
              <a:t>Public, Private, Hybrid,</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b="1" i="0" u="none" strike="noStrike" dirty="0">
                <a:solidFill>
                  <a:srgbClr val="1D2125"/>
                </a:solidFill>
                <a:effectLst/>
                <a:latin typeface="Times New Roman" panose="02020603050405020304" pitchFamily="18" charset="0"/>
                <a:cs typeface="Times New Roman" panose="02020603050405020304" pitchFamily="18" charset="0"/>
              </a:rPr>
              <a:t>Consortium</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here, the question arises why we need these different Blockchain types or networks.</a:t>
            </a:r>
          </a:p>
          <a:p>
            <a:pPr marL="76200" indent="0" algn="just">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The need for different Blockchain types arises because of diverse requirements and to address specific challenges. Look at the following reasons to know the need for diverse types of Blockchain-</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Privacy and Security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Scalability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Smart Contract Capabilities</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Cost &amp; Efficiency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Consensus Mechanism</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Regulatory Compliance</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Interoperability</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1. Privacy and Security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Some specific businesses and industries go for Blockchain services to have augmented privacy and data confidentiality. If they go for a public Blockchain, it reveals all the transactional data to the public, hence they prefer permissioned or private blockchains to limit access &amp; visibility to allowed participants only to ensure confidentiality.</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2. Scalability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Top Blockchain development companies use different Blockchain networks as per their capability to manage the number of participants and transactions. Some Blockchain networks are created for high transaction output, making them appropriate for apps that need fast processing, while others also go for decentralization leading to lower scalability. In terms of scalability, some companies are seeking for blockchain staffing solutions.</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lnSpcReduction="10000"/>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3. Smart Contract Capabilities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Intricate smart contracts are not supported by all types of Blockchains; hence businesses need to use different Blockchain in order to handle them. Different networks cater to different levels of programmability enabling professionals to select the most appropriate platform depending on their app requirements.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4. Cost &amp; Efficiency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network efficiency and cost of transaction fees may differ significantly based on different Blockchains. Some Blockchain applications may need low-cost transactions, on the other hand, others prioritize efficiency and speed over costs.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5. Consensus Mechanism</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Varied Blockchain networks employ different consensus mechanisms such as Proof of Stake, Proof of Work, Delegated Proof of Stake, etc. Also, businesses’ choice of consensus mechanism is based on aspects like energy efficiency, security, block finality, and decentralization.</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6. Regulatory Compliance</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various industries and use cases requiring adherence to particular regulatory requirements. In comparison to public Blockchains, permissioned or private Blockchains allow for more control over users and data shared by them aiding compliance with related laws and regulations.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7. Interoperability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several Blockchains and distributed ledgers available that have made interoperability vital. Hence, different networks are there to ensure smooth interconnection and secure data exchange allowing smooth data flow across different systems.</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Tree>
    <p:extLst>
      <p:ext uri="{BB962C8B-B14F-4D97-AF65-F5344CB8AC3E}">
        <p14:creationId xmlns:p14="http://schemas.microsoft.com/office/powerpoint/2010/main" val="16730200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Different Types of Blockchain Networks?</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multiple ways to create Blockchain solutions, but depending on the business use and requirements, it is essential to choose a suitable blockchain network. Every Blockchain is created specifically for a purpose and to address particular issues.</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Check out the below different types of Blockchain networks including public, private, hybrid, and consortium-</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Consortium Blockchain</a:t>
            </a:r>
          </a:p>
          <a:p>
            <a:br>
              <a:rPr lang="en-IN" sz="1600" dirty="0"/>
            </a:b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1410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1. Public Blockchain</a:t>
            </a: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Among all types of Blockchains, Public blockchains are the most used types. These allow everyone to join the network and are fully decentralized. It has a transparent digital ledger that can be accessed by anyone without any restriction or permission.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it comes to private vs public Blockchain, public blockchains facilitate users for open participation and equal merits to validate and authenticate transactions to the chain. Every user in the network keeps a copy of the entire Blockchain along with security and redundancy.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blockchains use consensus mechanisms such as Proof of Stake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or Proof of Work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In this,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depends on computational power for transaction validation, on the other hand,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uses the stake of users AKA cryptocurrency holdings.  </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92500" lnSpcReduction="20000"/>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Having no central authority makes it unaffected by censorship and a single point of failure.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High level of transparency as all transactions are visible publicly resulting in enhanced trust and accountability.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vast network of nodes provides high-level security and a robust consensus mechanism.</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Anyone is allowed to join the network leading to innovation and inclusivity.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Users are incentivized to sustain and validate the Blockchain fostering network sustainability.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blockchains may have high fees for transactions at the time of heavy network usage.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consensus mechanism used in some public Blockchains such as Bitcoin requires high computational power and leads to many environmental issues.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Due to the openness, public blockchains can conflict with regulatory requirements in some areas, making it hard to conform to local regulations.</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723549"/>
          </a:xfrm>
          <a:prstGeom prst="rect">
            <a:avLst/>
          </a:prstGeom>
          <a:noFill/>
        </p:spPr>
        <p:txBody>
          <a:bodyPr wrap="square" rtlCol="0">
            <a:spAutoFit/>
          </a:bodyPr>
          <a:lstStyle/>
          <a:p>
            <a:pPr algn="ctr"/>
            <a:r>
              <a:rPr lang="en-IN" sz="2800" b="1" i="0" u="none" strike="noStrike" dirty="0">
                <a:solidFill>
                  <a:srgbClr val="455A64"/>
                </a:solidFill>
                <a:effectLst/>
                <a:latin typeface="Times New Roman" panose="02020603050405020304" pitchFamily="18" charset="0"/>
                <a:cs typeface="Times New Roman" panose="02020603050405020304" pitchFamily="18" charset="0"/>
              </a:rPr>
              <a:t>Public Blockchain</a:t>
            </a:r>
            <a:br>
              <a:rPr lang="en-IN" sz="2800" b="0" i="0" u="none" strike="noStrike" dirty="0">
                <a:solidFill>
                  <a:srgbClr val="455A64"/>
                </a:solidFill>
                <a:effectLst/>
                <a:latin typeface="Times New Roman" panose="02020603050405020304" pitchFamily="18" charset="0"/>
                <a:cs typeface="Times New Roman" panose="02020603050405020304" pitchFamily="18" charset="0"/>
              </a:rPr>
            </a:b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fontScale="925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blockchains only allow participants with authorized and validated information. This works as a distributed ledger technology operating in a restricted network, a selected group of participants, and with limited access.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public vs private blockchains, public blockchains are open to anyone but private blockchains are permissioned reflecting the allowance to only pre-approved participants.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blockchains permit organizations to have more control over all the data and processes making them compatible with industry regulations and other policies.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Also, the consensus mechanism is faster and more efficient in comparison to the public blockchain as there are limited participants. It makes private blockchain suitable for enterprise-level apps with paramount privacy and speed.</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Above all, private blockchains provide enhanced security as it is only accessible to limited members only leading to less risk of unauthorized access and possible risks.</a:t>
            </a:r>
          </a:p>
          <a:p>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2550695" y="782053"/>
            <a:ext cx="3777916" cy="738664"/>
          </a:xfrm>
          <a:prstGeom prst="rect">
            <a:avLst/>
          </a:prstGeom>
          <a:noFill/>
        </p:spPr>
        <p:txBody>
          <a:bodyPr wrap="square" rtlCol="0">
            <a:spAutoFit/>
          </a:bodyPr>
          <a:lstStyle/>
          <a:p>
            <a:r>
              <a:rPr lang="en-IN" sz="2800" b="1" i="0" u="none" strike="noStrike" dirty="0">
                <a:solidFill>
                  <a:srgbClr val="455A64"/>
                </a:solidFill>
                <a:effectLst/>
                <a:latin typeface="Times New Roman" panose="02020603050405020304" pitchFamily="18" charset="0"/>
                <a:cs typeface="Times New Roman" panose="02020603050405020304" pitchFamily="18" charset="0"/>
              </a:rPr>
              <a:t>2. Private Blockchain</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423851"/>
            <a:ext cx="8809383" cy="4824549"/>
          </a:xfrm>
        </p:spPr>
        <p:txBody>
          <a:bodyPr>
            <a:normAutofit fontScale="92500" lnSpcReduction="10000"/>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provides limited access to only trusted participants alleviating the risk of illegal entry and possible attacks.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Faster transactions and speed along with enhanced data confidentiality and privacy.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private blockchain can be customized according to specific organizational requirements.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Fewer validators and nodes result in less operational costs in comparison to public blockchains.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Smaller network size results in more efficient consensus mechanisms.</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Decreased level of decentralization due to a controlled number of participants.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selected group of validators or authorized nodes can have a single point of failure if any of them gets malfunctions or compromises.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Creating and maintaining a private blockchain can lead to enhanced Blockchain app development costs due to significant investment in administration and infrastructure.</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AE50F-36D4-16A8-54FD-26C5EE8A7BBD}"/>
              </a:ext>
            </a:extLst>
          </p:cNvPr>
          <p:cNvSpPr txBox="1"/>
          <p:nvPr/>
        </p:nvSpPr>
        <p:spPr>
          <a:xfrm>
            <a:off x="4162926" y="830179"/>
            <a:ext cx="3466013" cy="738664"/>
          </a:xfrm>
          <a:prstGeom prst="rect">
            <a:avLst/>
          </a:prstGeom>
          <a:noFill/>
        </p:spPr>
        <p:txBody>
          <a:bodyPr wrap="none" rtlCol="0">
            <a:spAutoFit/>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3</a:t>
            </a:r>
            <a:r>
              <a:rPr lang="en-IN" sz="2800" b="1" i="0" u="none" strike="noStrike" dirty="0">
                <a:solidFill>
                  <a:srgbClr val="455A64"/>
                </a:solidFill>
                <a:effectLst/>
                <a:latin typeface="Times New Roman" panose="02020603050405020304" pitchFamily="18" charset="0"/>
                <a:cs typeface="Times New Roman" panose="02020603050405020304" pitchFamily="18" charset="0"/>
              </a:rPr>
              <a:t>. Hybrid Blockchain</a:t>
            </a:r>
          </a:p>
          <a:p>
            <a:endParaRPr lang="en-US" dirty="0"/>
          </a:p>
        </p:txBody>
      </p:sp>
      <p:pic>
        <p:nvPicPr>
          <p:cNvPr id="2052" name="Picture 4" descr="Hybrid-Blockchain">
            <a:extLst>
              <a:ext uri="{FF2B5EF4-FFF2-40B4-BE49-F238E27FC236}">
                <a16:creationId xmlns:a16="http://schemas.microsoft.com/office/drawing/2014/main" id="{E242EB8C-27BF-97D1-7FA3-36F0A17A63C7}"/>
              </a:ext>
            </a:extLst>
          </p:cNvPr>
          <p:cNvPicPr>
            <a:picLocks noChangeAspect="1" noChangeArrowheads="1"/>
          </p:cNvPicPr>
          <p:nvPr/>
        </p:nvPicPr>
        <p:blipFill>
          <a:blip r:embed="R88baf9239cd94a75">
            <a:extLst>
              <a:ext uri="{28A0092B-C50C-407E-A947-70E740481C1C}">
                <a14:useLocalDpi xmlns:a14="http://schemas.microsoft.com/office/drawing/2010/main" val="0"/>
              </a:ext>
            </a:extLst>
          </a:blip>
          <a:srcRect/>
          <a:stretch>
            <a:fillRect/>
          </a:stretch>
        </p:blipFill>
        <p:spPr bwMode="auto">
          <a:xfrm>
            <a:off x="782053" y="1443788"/>
            <a:ext cx="7375357" cy="4283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119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indent="0">
              <a:buNone/>
            </a:pPr>
            <a:br>
              <a:rPr lang="en-IN" b="0" i="0" u="none" strike="noStrike" dirty="0">
                <a:solidFill>
                  <a:srgbClr val="1D2125"/>
                </a:solidFill>
                <a:effectLst/>
                <a:latin typeface="Poppins" pitchFamily="2" charset="77"/>
              </a:rPr>
            </a:br>
            <a:r>
              <a:rPr lang="en-IN" sz="2400" b="0" i="0" u="none" strike="noStrike" dirty="0">
                <a:solidFill>
                  <a:srgbClr val="1D2125"/>
                </a:solidFill>
                <a:effectLst/>
                <a:latin typeface="Poppins" pitchFamily="2" charset="77"/>
              </a:rPr>
              <a:t>Hybrid Blockchain</a:t>
            </a: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 is among the types of Blockchain networks that is an amalgamation of public and private Blockchain networks. It comprises the best of both networks enabling decentralization, transparency, and immutability similar to public Blockchain. The Hybrid Blockchain network also has some elements of private blockchains such as faster transaction processing and enhanced privacy.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Blockchains store confidential transactions and sensitive data on a private network that is only available to authorized participants including consortiums or businesses. On the other hand, less sensitive data will be stored on the public chain leading to inclusivity and openness.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Hybrid Blockchain network is specifically beneficial for industries such as healthcare, finance, and supply chain management requiring regulatory compliance and secure data handling.</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094875"/>
            <a:ext cx="8809383" cy="5153526"/>
          </a:xfrm>
        </p:spPr>
        <p:txBody>
          <a:bodyPr>
            <a:noAutofit/>
          </a:bodyPr>
          <a:lstStyle/>
          <a:p>
            <a:pPr marL="76200" indent="0" algn="just">
              <a:buNone/>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16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blend of public and private networks enables higher scalability by adapting a larger number of transactions.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hybrid approach facilitates organizations to tailor their blockchain infrastructure to align their specific use cases providing more flexibility than a regular solution.</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Employing a combination of public and private networks would be more cost-efficient than adopting an entire private blockchain network.</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This network is helpful to develop trust between participants as it creates a balance between data confidentiality and openness.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Private chains offer quicker transaction processing in comparison to entire public blockchains to enhance system performance overall.</a:t>
            </a:r>
          </a:p>
          <a:p>
            <a:pPr marL="76200" indent="0" algn="just">
              <a:buNone/>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16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 Hybrid Blockchain network adds complexity to the entire architecture and needs appropriate integration &amp; synchronization between private and public components.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Hybrid model can have potential attack vectors as both private and public chains require to be secured properly.</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combination of private and public elements may raise governing concerns, particularly about data privacy and compliance in related industries.</a:t>
            </a:r>
          </a:p>
        </p:txBody>
      </p:sp>
    </p:spTree>
    <p:extLst>
      <p:ext uri="{BB962C8B-B14F-4D97-AF65-F5344CB8AC3E}">
        <p14:creationId xmlns:p14="http://schemas.microsoft.com/office/powerpoint/2010/main" val="36420271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FC6D-70F3-E382-F25E-A9EF4841A7C7}"/>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4. Consortium Blockchain</a:t>
            </a:r>
            <a:br>
              <a:rPr lang="en-IN" b="0" i="0" u="none" strike="noStrike" dirty="0">
                <a:solidFill>
                  <a:srgbClr val="455A64"/>
                </a:solidFill>
                <a:effectLst/>
                <a:latin typeface="Poppins" pitchFamily="2" charset="77"/>
              </a:rPr>
            </a:br>
            <a:endParaRPr lang="en-US" dirty="0"/>
          </a:p>
        </p:txBody>
      </p:sp>
      <p:pic>
        <p:nvPicPr>
          <p:cNvPr id="3074" name="Picture 2" descr="Consortium-Blockchain">
            <a:extLst>
              <a:ext uri="{FF2B5EF4-FFF2-40B4-BE49-F238E27FC236}">
                <a16:creationId xmlns:a16="http://schemas.microsoft.com/office/drawing/2014/main" id="{B58F43B7-CF4D-A651-1AB6-AE0F689220FE}"/>
              </a:ext>
            </a:extLst>
          </p:cNvPr>
          <p:cNvPicPr>
            <a:picLocks noChangeAspect="1" noChangeArrowheads="1"/>
          </p:cNvPicPr>
          <p:nvPr/>
        </p:nvPicPr>
        <p:blipFill>
          <a:blip r:embed="R32c71b913a5a4d8d">
            <a:extLst>
              <a:ext uri="{28A0092B-C50C-407E-A947-70E740481C1C}">
                <a14:useLocalDpi xmlns:a14="http://schemas.microsoft.com/office/drawing/2010/main" val="0"/>
              </a:ext>
            </a:extLst>
          </a:blip>
          <a:srcRect/>
          <a:stretch>
            <a:fillRect/>
          </a:stretch>
        </p:blipFill>
        <p:spPr bwMode="auto">
          <a:xfrm>
            <a:off x="1094875" y="1676400"/>
            <a:ext cx="6713620" cy="438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105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4048-3B7B-661D-E3B3-6E324E31E058}"/>
              </a:ext>
            </a:extLst>
          </p:cNvPr>
          <p:cNvSpPr>
            <a:spLocks noGrp="1"/>
          </p:cNvSpPr>
          <p:nvPr>
            <p:ph type="title"/>
          </p:nvPr>
        </p:nvSpPr>
        <p:spPr/>
        <p:txBody>
          <a:bodyPr/>
          <a:lstStyle/>
          <a:p>
            <a:r>
              <a:rPr lang="en-IN" b="0" i="0" u="none" strike="noStrike" dirty="0">
                <a:solidFill>
                  <a:srgbClr val="1D2125"/>
                </a:solidFill>
                <a:effectLst/>
                <a:latin typeface="Poppins" pitchFamily="2" charset="77"/>
              </a:rPr>
              <a:t>Consortium Blockchain</a:t>
            </a:r>
            <a:endParaRPr lang="en-US" dirty="0"/>
          </a:p>
        </p:txBody>
      </p:sp>
      <p:sp>
        <p:nvSpPr>
          <p:cNvPr id="3" name="Text Placeholder 2">
            <a:extLst>
              <a:ext uri="{FF2B5EF4-FFF2-40B4-BE49-F238E27FC236}">
                <a16:creationId xmlns:a16="http://schemas.microsoft.com/office/drawing/2014/main" id="{0396876E-44C6-9C90-93DA-F1A3C0E3873D}"/>
              </a:ext>
            </a:extLst>
          </p:cNvPr>
          <p:cNvSpPr>
            <a:spLocks noGrp="1"/>
          </p:cNvSpPr>
          <p:nvPr>
            <p:ph type="body" idx="1"/>
          </p:nvPr>
        </p:nvSpPr>
        <p:spPr>
          <a:xfrm>
            <a:off x="168442" y="1752600"/>
            <a:ext cx="8746958" cy="4495800"/>
          </a:xfrm>
        </p:spPr>
        <p:txBody>
          <a:bodyPr>
            <a:normAutofit fontScale="85000" lnSpcReduction="20000"/>
          </a:bodyPr>
          <a:lstStyle/>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Consortium Blockchain network works as a distributed ledger technology comprising the benefits of both private and public blockchain networks. In this network, a group of trusted and pre-chosen participants including organizations, companies, or government entities create a network to maintain and authorize the blockchain collaboratively.</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Unlike public Blockchains that are open to everyone and private blockchains regulated by a single entity, the Consortium Blockchain network provides a middle way. It allows consortium members to share confidential data securely while continuing transparency and decentralization.</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The governance model of consortium blockchain includes a consensus protocol agreed upon by the active individuals to enable validated transactions that are added to the Blockchain ledger transparently.</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It leads to enhanced trust and less risk of malicious activities. Overall, consortium blockchains maintain a balance between the decentralization advantages of public blockchains and the controlled access needed for enterprise use cases.</a:t>
            </a:r>
          </a:p>
          <a:p>
            <a:endParaRPr lang="en-US" dirty="0"/>
          </a:p>
        </p:txBody>
      </p:sp>
    </p:spTree>
    <p:extLst>
      <p:ext uri="{BB962C8B-B14F-4D97-AF65-F5344CB8AC3E}">
        <p14:creationId xmlns:p14="http://schemas.microsoft.com/office/powerpoint/2010/main" val="29179353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B187B31-3CE7-F912-71EC-363D1535BDF4}"/>
              </a:ext>
            </a:extLst>
          </p:cNvPr>
          <p:cNvSpPr>
            <a:spLocks noGrp="1"/>
          </p:cNvSpPr>
          <p:nvPr>
            <p:ph type="body" idx="1"/>
          </p:nvPr>
        </p:nvSpPr>
        <p:spPr>
          <a:xfrm>
            <a:off x="228600" y="950495"/>
            <a:ext cx="8686800" cy="5297905"/>
          </a:xfrm>
        </p:spPr>
        <p:txBody>
          <a:bodyPr>
            <a:normAutofit fontScale="47500" lnSpcReduction="20000"/>
          </a:bodyPr>
          <a:lstStyle/>
          <a:p>
            <a:pPr algn="just"/>
            <a:r>
              <a:rPr lang="en-IN" sz="33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33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Restricted access to trusted users guarantees the security and confidentiality of sensitive data while lessening the risk of unauthorized access or attacks.</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The consortium has a smaller group of validators; hence its consensus mechanism can be faster and more efficient leading to better scalability.</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Less need for intricate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(proof of work) or consensus algorithms outcomes in transaction fees and lower energy consumption.</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This network facilitates smooth collaborations and data distribution between organizations resulting in managed workflows and enhanced interoperability.</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The Consortium Blockchain network can be customized to align with the specific requirements of participants which makes it simple to execute industry-specific use cases.</a:t>
            </a:r>
          </a:p>
          <a:p>
            <a:pPr marL="76200" indent="0" algn="just">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33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Decisions related to consensus mechanisms, updates, and network rules need an agreement among consortium members resulting in possible governance clashes and interruptions in executing changes.</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Though consortium blockchains provide more privacy in comparison to public blockchains that can lead to less transparency for external stakeholders and auditors. It makes data accuracy verification harder on the blockchain.</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When the Consortium is controlled by strong entities, there is always a risk of collusion in negotiating the justice and neutrality of the network.</a:t>
            </a:r>
          </a:p>
          <a:p>
            <a:endParaRPr lang="en-US" dirty="0"/>
          </a:p>
        </p:txBody>
      </p:sp>
    </p:spTree>
    <p:extLst>
      <p:ext uri="{BB962C8B-B14F-4D97-AF65-F5344CB8AC3E}">
        <p14:creationId xmlns:p14="http://schemas.microsoft.com/office/powerpoint/2010/main" val="15343926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5CC9-A64F-F584-251A-98AB735F3744}"/>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Types of Blockchain Protocols</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2ACCDB47-9D64-A24A-0D75-CE1B6D9A1292}"/>
              </a:ext>
            </a:extLst>
          </p:cNvPr>
          <p:cNvSpPr>
            <a:spLocks noGrp="1"/>
          </p:cNvSpPr>
          <p:nvPr>
            <p:ph type="body" idx="1"/>
          </p:nvPr>
        </p:nvSpPr>
        <p:spPr>
          <a:xfrm>
            <a:off x="204537" y="1752600"/>
            <a:ext cx="8710863" cy="4495800"/>
          </a:xfrm>
        </p:spPr>
        <p:txBody>
          <a:bodyPr>
            <a:normAutofit fontScale="85000" lnSpcReduction="20000"/>
          </a:bodyPr>
          <a:lstStyle/>
          <a:p>
            <a:pPr marL="76200" indent="0" algn="l">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Below are some of the types of blockchain protocols:</a:t>
            </a:r>
          </a:p>
          <a:p>
            <a:pPr algn="l"/>
            <a:r>
              <a:rPr lang="en-IN" b="1" i="0" u="none" strike="noStrike" dirty="0">
                <a:solidFill>
                  <a:srgbClr val="1D2125"/>
                </a:solidFill>
                <a:effectLst/>
                <a:latin typeface="Times New Roman" panose="02020603050405020304" pitchFamily="18" charset="0"/>
                <a:cs typeface="Times New Roman" panose="02020603050405020304" pitchFamily="18" charset="0"/>
              </a:rPr>
              <a:t>1. Hyperledger: </a:t>
            </a:r>
            <a:r>
              <a:rPr lang="en-IN" b="0" i="0" u="none" strike="noStrike" dirty="0">
                <a:solidFill>
                  <a:srgbClr val="1D2125"/>
                </a:solidFill>
                <a:effectLst/>
                <a:latin typeface="Times New Roman" panose="02020603050405020304" pitchFamily="18" charset="0"/>
                <a:cs typeface="Times New Roman" panose="02020603050405020304" pitchFamily="18" charset="0"/>
              </a:rPr>
              <a:t>Hyperledger is an open-source framework that is developed by Linux. It helps the enterprises to provide blockchain solutions, and how to create a secured blockchain protocol. It was developed in the year 2015. It enables international business transactions. It supports Python and there are many libraries that help in software development. The main aim is to provide universal guidelines for Blockchain implementation.</a:t>
            </a:r>
          </a:p>
          <a:p>
            <a:pPr marL="76200" indent="0" algn="l">
              <a:buNone/>
            </a:pPr>
            <a:r>
              <a:rPr lang="en-IN"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provides enhanced services because of the tools and presence of a large number of libraries.</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is open-source hence anyone can contribute.</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helps in international transactions.</a:t>
            </a:r>
          </a:p>
          <a:p>
            <a:pPr marL="76200" indent="0" algn="l">
              <a:buNone/>
            </a:pPr>
            <a:r>
              <a:rPr lang="en-IN"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There is a lack of use cases as well as skilled programmers.</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is not a network fault-tolerant.</a:t>
            </a:r>
          </a:p>
          <a:p>
            <a:endParaRPr lang="en-US" dirty="0"/>
          </a:p>
        </p:txBody>
      </p:sp>
    </p:spTree>
    <p:extLst>
      <p:ext uri="{BB962C8B-B14F-4D97-AF65-F5344CB8AC3E}">
        <p14:creationId xmlns:p14="http://schemas.microsoft.com/office/powerpoint/2010/main" val="37244235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6123-C0DE-2C63-AE0C-7CCFB16F89BB}"/>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Types of Blockchain Protocols</a:t>
            </a:r>
            <a:endParaRPr lang="en-US" dirty="0"/>
          </a:p>
        </p:txBody>
      </p:sp>
      <p:sp>
        <p:nvSpPr>
          <p:cNvPr id="3" name="Text Placeholder 2">
            <a:extLst>
              <a:ext uri="{FF2B5EF4-FFF2-40B4-BE49-F238E27FC236}">
                <a16:creationId xmlns:a16="http://schemas.microsoft.com/office/drawing/2014/main" id="{44C04505-BA78-5E94-DE20-2F7F8CD8F507}"/>
              </a:ext>
            </a:extLst>
          </p:cNvPr>
          <p:cNvSpPr>
            <a:spLocks noGrp="1"/>
          </p:cNvSpPr>
          <p:nvPr>
            <p:ph type="body" idx="1"/>
          </p:nvPr>
        </p:nvSpPr>
        <p:spPr>
          <a:xfrm>
            <a:off x="144379" y="1752600"/>
            <a:ext cx="8771021" cy="4495800"/>
          </a:xfrm>
        </p:spPr>
        <p:txBody>
          <a:bodyPr>
            <a:normAutofit fontScale="77500" lnSpcReduction="20000"/>
          </a:bodyPr>
          <a:lstStyle/>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2. Quorum: </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Quorum is another enterprise blockchain protocol that aims to address the problems related to finance. It is open source project associated with Ethereum. It was developed by JP Morgan.  It can change how financial enterprises function and implement blockchain. It is open-source and nowadays has become one of the best enterprise blockchain frameworks.</a:t>
            </a:r>
          </a:p>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9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has the ability to solve any financial query</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is an open-source framework</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provides better performance and provides an enhanced experience of transaction</a:t>
            </a:r>
          </a:p>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9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Lack of scalability</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Lack of security and privacy</a:t>
            </a:r>
          </a:p>
          <a:p>
            <a:endParaRPr lang="en-US" dirty="0"/>
          </a:p>
        </p:txBody>
      </p:sp>
    </p:spTree>
    <p:extLst>
      <p:ext uri="{BB962C8B-B14F-4D97-AF65-F5344CB8AC3E}">
        <p14:creationId xmlns:p14="http://schemas.microsoft.com/office/powerpoint/2010/main" val="35146332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A14D-24CF-1B23-E351-EC9858A09F5D}"/>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BE2EB02B-DFF1-6353-D63B-642258FF1ABF}"/>
              </a:ext>
            </a:extLst>
          </p:cNvPr>
          <p:cNvSpPr>
            <a:spLocks noGrp="1"/>
          </p:cNvSpPr>
          <p:nvPr>
            <p:ph type="body" idx="1"/>
          </p:nvPr>
        </p:nvSpPr>
        <p:spPr>
          <a:xfrm>
            <a:off x="84221" y="1752600"/>
            <a:ext cx="8831179" cy="4495800"/>
          </a:xfrm>
        </p:spPr>
        <p:txBody>
          <a:bodyPr>
            <a:normAutofit/>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3. Corda: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Corda is an enterprise protocol. It is handled by the R3 banking consortium. This protocol is useful in the field of banking and financial organizations. It utilizes consensus algorithms to maintain transparency and security. It is also an open-source framework.  It allows for the building of interoperable blockchain networks with strict privacy.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provides enhanced security.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stable and scalable</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not very flexible as only parties involved in the transaction can take part in the decision.</a:t>
            </a:r>
          </a:p>
          <a:p>
            <a:endParaRPr lang="en-US" dirty="0"/>
          </a:p>
        </p:txBody>
      </p:sp>
    </p:spTree>
    <p:extLst>
      <p:ext uri="{BB962C8B-B14F-4D97-AF65-F5344CB8AC3E}">
        <p14:creationId xmlns:p14="http://schemas.microsoft.com/office/powerpoint/2010/main" val="5860737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A0CA-5FE9-151A-C113-2AC53EE78636}"/>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6C8CFDD8-FF29-5D1B-51B4-0CDE913F06BA}"/>
              </a:ext>
            </a:extLst>
          </p:cNvPr>
          <p:cNvSpPr>
            <a:spLocks noGrp="1"/>
          </p:cNvSpPr>
          <p:nvPr>
            <p:ph type="body" idx="1"/>
          </p:nvPr>
        </p:nvSpPr>
        <p:spPr>
          <a:xfrm>
            <a:off x="144379" y="1752600"/>
            <a:ext cx="8771021" cy="4495800"/>
          </a:xfrm>
        </p:spPr>
        <p:txBody>
          <a:bodyPr>
            <a:normAutofit lnSpcReduction="10000"/>
          </a:bodyPr>
          <a:lstStyle/>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4. Enterprise Ethereum: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Ethereum is one of the public blockchain suite protocols. It defines the platform for decentralized applications. It is the blockchain of choice for developers and enterprises, who are creating technology based upon it to change the way many industries operate. However, for private permissioned networks, enterprise Ethereum is used. It is mostly used for privacy, scalability, and improved performance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an enhanced version of Ethereum and hence supports more privacy.</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scalable.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volatile and has high transaction fees.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prone to online hacking.</a:t>
            </a:r>
          </a:p>
          <a:p>
            <a:endParaRPr lang="en-US" dirty="0"/>
          </a:p>
        </p:txBody>
      </p:sp>
    </p:spTree>
    <p:extLst>
      <p:ext uri="{BB962C8B-B14F-4D97-AF65-F5344CB8AC3E}">
        <p14:creationId xmlns:p14="http://schemas.microsoft.com/office/powerpoint/2010/main" val="1233848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B440-4787-1002-46D8-E714385FF999}"/>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F309DF82-C54B-906E-B68B-BAE97D4E7EC5}"/>
              </a:ext>
            </a:extLst>
          </p:cNvPr>
          <p:cNvSpPr>
            <a:spLocks noGrp="1"/>
          </p:cNvSpPr>
          <p:nvPr>
            <p:ph type="body" idx="1"/>
          </p:nvPr>
        </p:nvSpPr>
        <p:spPr>
          <a:xfrm>
            <a:off x="108284" y="1752600"/>
            <a:ext cx="8807116" cy="4495800"/>
          </a:xfrm>
        </p:spPr>
        <p:txBody>
          <a:bodyPr>
            <a:normAutofit/>
          </a:bodyPr>
          <a:lstStyle/>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5. Multichain: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Multichain is an open-source and was established for private blockchain networks. It was developed to help profit-making corporations. It allows to set up of a private blockchain network. It is a private company that offers API for Blockchain development. It is a cross-chain router protocol.  It allows users to swap tokens between different blockchains using a bridge.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helps to establish private blockchains that can be used by certain organizations.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Multichain allows customizing rules for tokens, transaction control, etc.</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does not support smart contracts.</a:t>
            </a:r>
          </a:p>
          <a:p>
            <a:endParaRPr lang="en-US" dirty="0"/>
          </a:p>
        </p:txBody>
      </p:sp>
    </p:spTree>
    <p:extLst>
      <p:ext uri="{BB962C8B-B14F-4D97-AF65-F5344CB8AC3E}">
        <p14:creationId xmlns:p14="http://schemas.microsoft.com/office/powerpoint/2010/main" val="10779173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dad949ed3eba46f1">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41c7ff8d5d8745c2">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41c7ff8d5d8745c2">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428a9dc84231444b">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aa4fe2705f024bc3">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cIdcadcd0bb8c6747ab"/>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faca28ac8ba4421c" imgW="2478087" imgH="3148012" progId="">
                  <p:embed/>
                </p:oleObj>
              </mc:Choice>
              <mc:Fallback>
                <p:oleObj r:id="Rd264742249de4439" imgW="2478087" imgH="3148012" progId="">
                  <p:embed/>
                  <p:pic>
                    <p:nvPicPr>
                      <p:cNvPr id="317" name="Google Shape;317;p1"/>
                      <p:cNvPicPr preferRelativeResize="0"/>
                      <p:nvPr/>
                    </p:nvPicPr>
                    <p:blipFill rotWithShape="1">
                      <a:blip r:embed="R1b2e7c4d9e454f25">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9a7df46e6b514b01">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2dd9291fb5804bcf">
            <a:alphaModFix/>
          </a:blip>
          <a:srcRect/>
          <a:stretch/>
        </p:blipFill>
        <p:spPr>
          <a:xfrm>
            <a:off x="76200" y="76200"/>
            <a:ext cx="2613025" cy="12954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Bitcoin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850121"/>
          </a:xfrm>
          <a:prstGeom prst="rect">
            <a:avLst/>
          </a:prstGeom>
          <a:noFill/>
          <a:ln>
            <a:noFill/>
          </a:ln>
        </p:spPr>
        <p:txBody>
          <a:bodyPr spcFirstLastPara="1" wrap="square" lIns="91425" tIns="45700" rIns="91425" bIns="45700" anchor="t" anchorCtr="0">
            <a:normAutofit fontScale="92500" lnSpcReduction="20000"/>
          </a:bodyPr>
          <a:lstStyle/>
          <a:p>
            <a:pPr marL="889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a number of currencies in this world used for trading amenities. Rupee, Dollar, Pound Euro, and Yen are some of them. These are printed currencies and coins and you might be having one of these in your wallet. But bitcoin is a currency you can not touch, you can not see but you can efficiently use it to trade amenities. It is an electronically stored currency. It can be stored in your mobiles, computers, or any storage media as a virtual currency.</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is an innovative digital payment system. It is an example of a cryptocurrency and the next big thing in finance.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a virtual currency designed to act as money and outside the control of any person or group thus eliminating the need for third-party in financial transactions.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used as a reward for the miners in bitcoin mining.</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can be purchased on several exchanges.</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0" i="0" u="none" strike="noStrike" dirty="0">
                <a:solidFill>
                  <a:srgbClr val="455A64"/>
                </a:solidFill>
                <a:effectLst/>
                <a:latin typeface="Poppins" pitchFamily="2" charset="77"/>
              </a:rPr>
              <a:t>What is Bitcoin</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43000"/>
            <a:ext cx="7848600" cy="320601"/>
          </a:xfrm>
          <a:prstGeom prst="rect">
            <a:avLst/>
          </a:prstGeom>
          <a:noFill/>
          <a:ln>
            <a:noFill/>
          </a:ln>
        </p:spPr>
        <p:txBody>
          <a:bodyPr spcFirstLastPara="1" wrap="square" lIns="0" tIns="12700" rIns="0" bIns="0" anchor="ctr" anchorCtr="0">
            <a:spAutoFit/>
          </a:bodyPr>
          <a:lstStyle/>
          <a:p>
            <a:pPr algn="l"/>
            <a:r>
              <a:rPr lang="en-IN" sz="2000" b="1" i="0" u="none" strike="noStrike" dirty="0">
                <a:solidFill>
                  <a:srgbClr val="1D2125"/>
                </a:solidFill>
                <a:effectLst/>
                <a:latin typeface="Times New Roman" panose="02020603050405020304" pitchFamily="18" charset="0"/>
                <a:cs typeface="Times New Roman" panose="02020603050405020304" pitchFamily="18" charset="0"/>
              </a:rPr>
              <a:t>There are 3 ways you can get a bitcoin in your electronic storage:</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a:bodyPr>
          <a:lstStyle/>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Trade Money For Bitcoin: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Say that the value of a bitcoin is 1 lakh rupees, so if you want a bitcoin, you can trade a bitcoin in place of 1 lakh rupees. This Bitcoin will further be stored in your electronic storage media which you can further use.</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Trade Goods For Bitcoin: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Say that the value of a bitcoin is 1 lakh rupees and you have a commodity that has its value as 1 lakh rupees, so you can trade that commodity in place of a bitcoin, and the bitcoin will be stored in your electronic storage media.</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Mine Bitcoins: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Other than trading, you can also mine bitcoins. Since it is a decentralized currency, there is no authority that brings bitcoins into the market. Bitcoins only come into the market by mining them.</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Distributed: </a:t>
            </a:r>
            <a:r>
              <a:rPr lang="en-IN" sz="2000" b="0" i="0" strike="noStrike" dirty="0">
                <a:solidFill>
                  <a:schemeClr val="tx1"/>
                </a:solidFill>
                <a:effectLst/>
                <a:latin typeface="Times New Roman" panose="02020603050405020304" pitchFamily="18" charset="0"/>
                <a:cs typeface="Times New Roman" panose="02020603050405020304" pitchFamily="18" charset="0"/>
              </a:rPr>
              <a:t>All bitcoin transactions are recorded in a public ledger known as the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cId44e4132346a54ff0">
                  <a:extLst>
                    <a:ext uri="{A12FA001-AC4F-418D-AE19-62706E023703}">
                      <ahyp:hlinkClr xmlns:ahyp="http://schemas.microsoft.com/office/drawing/2018/hyperlinkcolor" val="tx"/>
                    </a:ext>
                  </a:extLst>
                </a:hlinkClick>
              </a:rPr>
              <a:t>blockchain</a:t>
            </a:r>
            <a:r>
              <a:rPr lang="en-IN" sz="2000" b="0" i="0" strike="noStrike" dirty="0">
                <a:solidFill>
                  <a:schemeClr val="tx1"/>
                </a:solidFill>
                <a:effectLst/>
                <a:latin typeface="Times New Roman" panose="02020603050405020304" pitchFamily="18" charset="0"/>
                <a:cs typeface="Times New Roman" panose="02020603050405020304" pitchFamily="18" charset="0"/>
              </a:rPr>
              <a:t>. There are nodes in the network that maintain copies of the ledger and contribute to the correct propagation of the transactions following the rules of the protocols making it impossible for the network to suffer downtime.</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Decentralized: </a:t>
            </a:r>
            <a:r>
              <a:rPr lang="en-IN" sz="2000" b="0" i="0" strike="noStrike" dirty="0">
                <a:solidFill>
                  <a:schemeClr val="tx1"/>
                </a:solidFill>
                <a:effectLst/>
                <a:latin typeface="Times New Roman" panose="02020603050405020304" pitchFamily="18" charset="0"/>
                <a:cs typeface="Times New Roman" panose="02020603050405020304" pitchFamily="18" charset="0"/>
              </a:rPr>
              <a:t>There is no third party or no CEO who controls the bitcoin network. The network consists of willing participants who agree to the rules of a protocol and changes to the protocol are done by the consensus of its users. This makes bitcoin a quasi-political system.</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Transparent: </a:t>
            </a:r>
            <a:r>
              <a:rPr lang="en-IN" sz="2000" b="0" i="0" strike="noStrike" dirty="0">
                <a:solidFill>
                  <a:schemeClr val="tx1"/>
                </a:solidFill>
                <a:effectLst/>
                <a:latin typeface="Times New Roman" panose="02020603050405020304" pitchFamily="18" charset="0"/>
                <a:cs typeface="Times New Roman" panose="02020603050405020304" pitchFamily="18" charset="0"/>
              </a:rPr>
              <a:t>The addition of new transactions to the blockchain ledger and the state of the bitcoin network is arrived upon by consensus in a transparent manner according to the rules of the protocol.</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Peer-to-peer: </a:t>
            </a:r>
            <a:r>
              <a:rPr lang="en-IN" sz="2000" b="0" i="0" strike="noStrike" dirty="0">
                <a:solidFill>
                  <a:schemeClr val="tx1"/>
                </a:solidFill>
                <a:effectLst/>
                <a:latin typeface="Times New Roman" panose="02020603050405020304" pitchFamily="18" charset="0"/>
                <a:cs typeface="Times New Roman" panose="02020603050405020304" pitchFamily="18" charset="0"/>
              </a:rPr>
              <a:t>In Bitcoin transactions, the payments go straight from one party to another party so there is no need for any third party to act as an intermediary.</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ctr"/>
            <a:r>
              <a:rPr lang="en-IN" sz="2400" b="1" i="0" u="none" strike="noStrike" dirty="0">
                <a:solidFill>
                  <a:srgbClr val="455A64"/>
                </a:solidFill>
                <a:effectLst/>
                <a:latin typeface="Poppins" pitchFamily="2" charset="77"/>
              </a:rPr>
              <a:t>Features:</a:t>
            </a:r>
            <a:endParaRPr lang="en-IN" sz="2400" b="0" i="0" u="none" strike="noStrike" dirty="0">
              <a:solidFill>
                <a:srgbClr val="455A64"/>
              </a:solidFill>
              <a:effectLst/>
              <a:latin typeface="Poppins" pitchFamily="2" charset="77"/>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pPr algn="ctr"/>
            <a:r>
              <a:rPr lang="en-IN" sz="2400" b="1" i="0" u="none" strike="noStrike" dirty="0">
                <a:solidFill>
                  <a:srgbClr val="455A64"/>
                </a:solidFill>
                <a:effectLst/>
                <a:latin typeface="Poppins" pitchFamily="2" charset="77"/>
              </a:rPr>
              <a:t>Features:</a:t>
            </a:r>
            <a:endParaRPr lang="en-IN" sz="2400"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buFont typeface="Arial" panose="020B0604020202020204" pitchFamily="34" charset="0"/>
              <a:buChar char="•"/>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Censorship resistant: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bitcoin transactions are pseudo-anonymous and users possess the keys to their bitcoin holdings, so it is difficult for the authorities to ban users from using their assets. This provides economic freedom to the users.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All bitcoin transactions are available publicly for everyone to see. All the transactions are recorded, which eliminates the possibility of fraudulent transactions.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Permissionless: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is completely open access and ready to use for everyone, there are no complicated rules of entry. Any transaction that follows the set algorithm will be processed with certainty.</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Pseudo-anonymous: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tied to addresses that take the form of randomly generated alphanumeric strings.</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lnSpcReduction="100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digitally signed for security. Everyone on the network gets to know about a transaction. Anyone can create a bitcoin wallet by downloading the bitcoin program. Each bitcoin wallet has two things: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like an address or an account number via which any user or account can receive bitcoins.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Private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like a digital signature via which anyone can send bitcoins.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public key can be shared with anyone but the private key must be held by the owner. If the private key gets hacked or stolen then bitcoin gets lost.</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A bitcoin transaction contains three pieces of information:</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Private key: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first part contains the bitcoin wallet address of the sender i.e. the private key.</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Amount of bitcoin to be transferred: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second part contains the amount that has been sent.</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third part contains the bitcoin wallet address of the recipient i.e. the public key. </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ctr"/>
            <a:r>
              <a:rPr lang="en-IN" sz="2400" b="0" i="0" u="none" strike="noStrike" dirty="0">
                <a:solidFill>
                  <a:srgbClr val="455A64"/>
                </a:solidFill>
                <a:effectLst/>
                <a:latin typeface="Poppins" pitchFamily="2" charset="77"/>
              </a:rPr>
              <a:t>How Do Bitcoin Transactions Work?</a:t>
            </a:r>
          </a:p>
        </p:txBody>
      </p:sp>
    </p:spTree>
    <p:extLst>
      <p:ext uri="{BB962C8B-B14F-4D97-AF65-F5344CB8AC3E}">
        <p14:creationId xmlns:p14="http://schemas.microsoft.com/office/powerpoint/2010/main" val="16730200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Benefits of Bitcoin</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Autofit/>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advantages of using bitcoins: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User anonymity: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users can have multiple public keys and are identified by numerical codes. This ensures that the transactions cannot be traced back to the user. Even if the wallet address becomes public, the user can generate a new wallet address to keep information safe.</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Transparency: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recorded on the public ledger blockchain. The transactions are permanently viewable, which gives transparency to the system but they are secure and fraud-resistant at the same time due to blockchain technology.</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Accessibility: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is a very versatile and accessible currency. It takes a few minutes to transfer bitcoins to another user, so it can be used to buy goods and services from a variety of places accepting bitcoins. This makes spending bitcoin easy in another country with little or no fees applied.</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Independence from central authority: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is a decentralized currency, which means there is no dependence on any single governing authority for verifying transactions. This means that the authorities are not likely to freeze or demand back the bitcoins.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Low transaction fees: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Standard wire transfers involve transaction fees and exchange costs. Since bitcoin transactions do not involve any government authority so the transaction fees are very low compared to bank transfers.</a:t>
            </a:r>
          </a:p>
        </p:txBody>
      </p:sp>
    </p:spTree>
    <p:extLst>
      <p:ext uri="{BB962C8B-B14F-4D97-AF65-F5344CB8AC3E}">
        <p14:creationId xmlns:p14="http://schemas.microsoft.com/office/powerpoint/2010/main" val="11181410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Drawbacks of Bitcoin</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lnSpcReduction="10000"/>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cons of using bitcoin:</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Volatility: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There are various factors that contribute to the bitcoin’s volatility like uncertainty about its future value, security breaches, headline-making news, and one of the most important reasons is the scarcity of bitcoins. It is known that there is a limit of 21 million bitcoins that could ever exist which is why some regard bitcoin as a scarce resource. This scarcity makes bitcoin’s price variable.</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 government regulations: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Unlike the investments that are done through central banks, bitcoins transactions are not regulated by any central authority due to a decentralized framework. This means that bitcoin’s transactions don’t come with legal protection and are irreversible which makes them susceptible to crimes.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 buyer protection: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If the goods are bought using bitcoins and the seller does not send the promised goods then nothing can be done to reverse the transactions and since there is no central authority so no legal protection can be provided in this case. </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Not widely accepted: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Bitcoins are still only accepted by a small group of online merchants. This makes it unfeasible to rely completely on bitcoin as a currency and replace it with traditional bank transactions.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Irreversible: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There is a lack of security in bitcoin transactions due to the anonymous and non-regulated nature of the bitcoin transactions. If the wrong amount is sent or the amount is sent to the wrong recipient then nothing can be done to reverse the transactions.</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mining is a complex computational and technological process of validating the bitcoin transactions over the Bitcoin network. It is like a process of validating a block on the chain network and getting paid in Bitcoin. </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People who are involved in this process of mining are known as miners. The reason why it is called ‘mining’, is because just like any other form of natural resources, there is a finite number of Bitcoins available. The maximum amount of Bitcoin that can be created or mined is 21 million. Just like real mining, in Bitcoin mining, one needs to invest energy in order to generate or create Bitcoins. And here, the energy is in the form of electrical energy to mine Bitcoins. The miners compete against each other to solve complex hash puzzles, which are encoded cryptographically to verify the blocks containing transactions.</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this race of guessing, whosoever becomes the first miner to guess the number gets a chance to update the ledger of transactions on the Bitcoin blockchain network and also receives a reward of newly-minted Bitcoins. It is to be noted that this guessing of specific numbers is all done by the computer. So, the more powerful a computer one has, the more guesses a miner can make per second, and thus it increases the chances of winning this race. Bitcoin mining is primarily done:</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A)      To bring new coins into circulation and validate ongoing transactions.</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B)      To check counterfeiting and double-spend.</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C)      Maintain the ledger in a decentralized manner.</a:t>
            </a:r>
          </a:p>
          <a:p>
            <a:pPr marL="76200" indent="0">
              <a:buNone/>
            </a:pPr>
            <a:endParaRPr lang="en-US" dirty="0"/>
          </a:p>
        </p:txBody>
      </p:sp>
      <p:sp>
        <p:nvSpPr>
          <p:cNvPr id="4" name="TextBox 3">
            <a:extLst>
              <a:ext uri="{FF2B5EF4-FFF2-40B4-BE49-F238E27FC236}">
                <a16:creationId xmlns:a16="http://schemas.microsoft.com/office/drawing/2014/main" id="{F76EBDFA-043F-EEA3-BC1C-91B980911258}"/>
              </a:ext>
            </a:extLst>
          </p:cNvPr>
          <p:cNvSpPr txBox="1"/>
          <p:nvPr/>
        </p:nvSpPr>
        <p:spPr>
          <a:xfrm>
            <a:off x="3883231" y="665018"/>
            <a:ext cx="3738524" cy="738664"/>
          </a:xfrm>
          <a:prstGeom prst="rect">
            <a:avLst/>
          </a:prstGeom>
          <a:noFill/>
        </p:spPr>
        <p:txBody>
          <a:bodyPr wrap="none" rtlCol="0">
            <a:spAutoFit/>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What is Bitcoin Mining?</a:t>
            </a:r>
          </a:p>
          <a:p>
            <a:endParaRPr lang="en-US" dirty="0"/>
          </a:p>
        </p:txBody>
      </p:sp>
    </p:spTree>
    <p:extLst>
      <p:ext uri="{BB962C8B-B14F-4D97-AF65-F5344CB8AC3E}">
        <p14:creationId xmlns:p14="http://schemas.microsoft.com/office/powerpoint/2010/main" val="33767681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break down the mining process to understand how it works and what is required to start the process:</a:t>
            </a: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Setting-up Of Powerful Hardware Resources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Before a miner can initiate the process of minting Bitcoins, they need to set up their own rigs in terms of powerful computer resources and other specific tools to solve the complex puzzles efficiently. As mining hardware, they would require either graphics processing units (GPUs) with advanced graphic cards, field programmable gate array (FPGAs), or application specific integrated circuits (ASICs) for efficient and effective mining.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At present, ASIC-based hardware is the most advanced and capable of creating huge amounts of hashes per second. However, such advanced hardware is costly and may range in thousands of dollars.</a:t>
            </a:r>
          </a:p>
          <a:p>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1341912" y="782053"/>
            <a:ext cx="6887688" cy="738664"/>
          </a:xfrm>
          <a:prstGeom prst="rect">
            <a:avLst/>
          </a:prstGeom>
          <a:noFill/>
        </p:spPr>
        <p:txBody>
          <a:bodyPr wrap="square" rtlCol="0">
            <a:spAutoFit/>
          </a:bodyPr>
          <a:lstStyle/>
          <a:p>
            <a:pPr algn="l"/>
            <a:r>
              <a:rPr lang="en-IN" sz="2800" b="0" i="0" u="none" strike="noStrike" dirty="0">
                <a:solidFill>
                  <a:srgbClr val="455A64"/>
                </a:solidFill>
                <a:effectLst/>
                <a:latin typeface="Poppins" pitchFamily="2" charset="77"/>
              </a:rPr>
              <a:t>How Does Bitcoin Mining Work?</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771896" y="760021"/>
            <a:ext cx="8143504" cy="5488379"/>
          </a:xfrm>
        </p:spPr>
        <p:txBody>
          <a:bodyPr>
            <a:noAutofit/>
          </a:bodyPr>
          <a:lstStyle/>
          <a:p>
            <a:pPr marL="76200" indent="0" algn="just">
              <a:buNone/>
            </a:pPr>
            <a:r>
              <a:rPr lang="en-IN" sz="1800" b="1" i="0" strike="noStrike" dirty="0">
                <a:solidFill>
                  <a:schemeClr val="tx1"/>
                </a:solidFill>
                <a:effectLst/>
                <a:latin typeface="Times New Roman" panose="02020603050405020304" pitchFamily="18" charset="0"/>
                <a:cs typeface="Times New Roman" panose="02020603050405020304" pitchFamily="18" charset="0"/>
              </a:rPr>
              <a:t>Installing Mining Software and E-Wallets</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Other than powerful hardware requirements, miners need specific software such as CG miner, XMR miner, </a:t>
            </a:r>
            <a:r>
              <a:rPr lang="en-IN" sz="1800" b="0" i="0" strike="noStrike" dirty="0" err="1">
                <a:solidFill>
                  <a:schemeClr val="tx1"/>
                </a:solidFill>
                <a:effectLst/>
                <a:latin typeface="Times New Roman" panose="02020603050405020304" pitchFamily="18" charset="0"/>
                <a:cs typeface="Times New Roman" panose="02020603050405020304" pitchFamily="18" charset="0"/>
              </a:rPr>
              <a:t>multiminer</a:t>
            </a:r>
            <a:r>
              <a:rPr lang="en-IN" sz="1800" b="0" i="0" strike="noStrike" dirty="0">
                <a:solidFill>
                  <a:schemeClr val="tx1"/>
                </a:solidFill>
                <a:effectLst/>
                <a:latin typeface="Times New Roman" panose="02020603050405020304" pitchFamily="18" charset="0"/>
                <a:cs typeface="Times New Roman" panose="02020603050405020304" pitchFamily="18" charset="0"/>
              </a:rPr>
              <a:t>. Many of this software are free to download and can run on Windows and Mac computers. Once the software is connected to the necessary hardware, you are all set for Bitcoin mining. </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The miner would also require an e-wallet to store their rewards as Bitcoins. A </a:t>
            </a:r>
            <a:r>
              <a:rPr lang="en-IN" sz="1800" b="0" i="0" strike="noStrike" dirty="0">
                <a:solidFill>
                  <a:schemeClr val="tx1"/>
                </a:solidFill>
                <a:effectLst/>
                <a:latin typeface="Times New Roman" panose="02020603050405020304" pitchFamily="18" charset="0"/>
                <a:cs typeface="Times New Roman" panose="02020603050405020304" pitchFamily="18" charset="0"/>
                <a:hlinkClick r:id="rcId63ac56b4ce6848c6">
                  <a:extLst>
                    <a:ext uri="{A12FA001-AC4F-418D-AE19-62706E023703}">
                      <ahyp:hlinkClr xmlns:ahyp="http://schemas.microsoft.com/office/drawing/2018/hyperlinkcolor" val="tx"/>
                    </a:ext>
                  </a:extLst>
                </a:hlinkClick>
              </a:rPr>
              <a:t>bitcoin wallets</a:t>
            </a:r>
            <a:r>
              <a:rPr lang="en-IN" sz="1800" b="0" i="0" strike="noStrike" dirty="0">
                <a:solidFill>
                  <a:schemeClr val="tx1"/>
                </a:solidFill>
                <a:effectLst/>
                <a:latin typeface="Times New Roman" panose="02020603050405020304" pitchFamily="18" charset="0"/>
                <a:cs typeface="Times New Roman" panose="02020603050405020304" pitchFamily="18" charset="0"/>
              </a:rPr>
              <a:t> a digital place that facilitates in storing, transferring and accepting Bitcoin or other cryptocurrencies.</a:t>
            </a:r>
          </a:p>
          <a:p>
            <a:pPr marL="76200" indent="0" algn="just">
              <a:buNone/>
            </a:pPr>
            <a:r>
              <a:rPr lang="en-IN" sz="1800" b="1" i="0" strike="noStrike" dirty="0">
                <a:solidFill>
                  <a:schemeClr val="tx1"/>
                </a:solidFill>
                <a:effectLst/>
                <a:latin typeface="Times New Roman" panose="02020603050405020304" pitchFamily="18" charset="0"/>
                <a:cs typeface="Times New Roman" panose="02020603050405020304" pitchFamily="18" charset="0"/>
              </a:rPr>
              <a:t>Mining Pool or Solo Mining</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Miners can opt whether they want to mine solo or go for pool mining. As it is not that easy to mine alone, mining pools were invented. In a mining pool, groups of miners are formed together to deal with the growing difficulty of mining. Each miner is paid for their share of work. </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Mining Bitcoins in a pool with combined computation power also promotes efficient mining with reduced mining difficulty to solve a block. This also promotes the participation of small miners to have a chance of earning Bitcoin, even though they will only receive a certain part of the reward.</a:t>
            </a:r>
          </a:p>
          <a:p>
            <a:pPr algn="just"/>
            <a:r>
              <a:rPr lang="en-IN" sz="1800" b="1" i="0" strike="noStrike" dirty="0">
                <a:solidFill>
                  <a:schemeClr val="tx1"/>
                </a:solidFill>
                <a:effectLst/>
                <a:latin typeface="Times New Roman" panose="02020603050405020304" pitchFamily="18" charset="0"/>
                <a:cs typeface="Times New Roman" panose="02020603050405020304" pitchFamily="18" charset="0"/>
              </a:rPr>
              <a:t>More Miners = Reliable + more secured network</a:t>
            </a:r>
            <a:endParaRPr lang="en-IN" sz="1800" b="0" i="0" strike="noStrike"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7545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a:br>
              <a:rPr lang="en-IN" b="0" i="0" u="none" strike="noStrike" dirty="0">
                <a:solidFill>
                  <a:srgbClr val="1D2125"/>
                </a:solidFill>
                <a:effectLst/>
                <a:latin typeface="Poppins" pitchFamily="2" charset="77"/>
              </a:rPr>
            </a:br>
            <a:r>
              <a:rPr lang="en-IN" sz="2400" b="0" i="0" u="none" strike="noStrike" dirty="0">
                <a:solidFill>
                  <a:srgbClr val="455A64"/>
                </a:solidFill>
                <a:effectLst/>
                <a:latin typeface="Poppins" pitchFamily="2" charset="77"/>
              </a:rPr>
              <a:t>Types Of Bitcoin Mining</a:t>
            </a:r>
            <a:br>
              <a:rPr lang="en-IN" sz="2400" b="0" i="0" u="none" strike="noStrike" dirty="0">
                <a:solidFill>
                  <a:srgbClr val="455A64"/>
                </a:solidFill>
                <a:effectLst/>
                <a:latin typeface="Poppins" pitchFamily="2" charset="77"/>
              </a:rPr>
            </a:b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fontScale="85000" lnSpcReduction="10000"/>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mining can be done in several ways and forms, each delivering different levels of hashing power and block rewards. Here are the various ways that one can mine Bitcoin:</a:t>
            </a: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CPU Mining</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Bitcoin was launched in 2009 and was mined for the first time, it got mined via central processing units (CPUs), which is also known as the brain of a computer, containing all the circuitry required to process input and output results. In the early days of Bitcoins, it was easy to mine it via CPUs as there were only very few miners and Bitcoin was also at its infant stage.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GPU Mining</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Gradually when the acceptance and popularity of Bitcoin increased over the time, along with the competition among miners, graphics processing units (GPU) mining came into the picture.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GPUs based systems, which are mainly used for gaming, modern video editing, proved to be more efficient for mining with better hash rate than CPUs. The first software for GPU mining was launched in 2010. However, the GPU mining of Bitcoin was fairly short lived and got replaced by a new kind of hardware- ASIC by 2015.</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094875"/>
            <a:ext cx="8809383" cy="5153526"/>
          </a:xfrm>
        </p:spPr>
        <p:txBody>
          <a:bodyPr>
            <a:noAutofit/>
          </a:bodyPr>
          <a:lstStyle/>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ASIC Mining</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ASIC is a short for application-specific integrated circuit is a kind of hardware which is designed for mining cryptocurrencies only. It was launched in 2012, and proved to be 200 times more powerful than basic GPU miners. However, ASIC mining rigs are very expensive, with prices ranging from $2,000 to $15,000. With varying power consumption and electricity costs along with network difficulties, purchasing ASIC miners could be very high-priced.</a:t>
            </a:r>
          </a:p>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FPGA Mining</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FPGA stands for field-programmable gate array (FPGA), which is a better choice between GPU miners and ASIC miners in terms of speed and cost efficiency. FPGAs are also able to stabilize vigorous hashing power as they are not meant to be locked into mining a specific coin or algorithm like ASIC miners. The kind of hardware technology gives flexibility to the miner to reuse the set-up if they change your mining activity for something else. FPGA miners are good options for crypto enthusiasts that don’t want to invest huge sums on mining hardware.</a:t>
            </a:r>
          </a:p>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Cloud Mining </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This is a latest way of mining Bitcoins, where the miner can buy a cloud mining service or purchase a contract from a cloud mining provider who is specialized in cryptocurrency mining rigs. This facilitates the miner to mine Bitcoins without bearing the sunk costs and maintenance requirements of mining hardware set up. But one is required to be very cautious in order to choose a reputed cloud miner to avoid any kind of scams or frauds.</a:t>
            </a:r>
          </a:p>
        </p:txBody>
      </p:sp>
      <p:sp>
        <p:nvSpPr>
          <p:cNvPr id="2" name="TextBox 1">
            <a:extLst>
              <a:ext uri="{FF2B5EF4-FFF2-40B4-BE49-F238E27FC236}">
                <a16:creationId xmlns:a16="http://schemas.microsoft.com/office/drawing/2014/main" id="{FBBD77D8-BE2B-6D17-10FC-578C07186EAC}"/>
              </a:ext>
            </a:extLst>
          </p:cNvPr>
          <p:cNvSpPr txBox="1"/>
          <p:nvPr/>
        </p:nvSpPr>
        <p:spPr>
          <a:xfrm>
            <a:off x="3835730" y="712519"/>
            <a:ext cx="2781531" cy="400110"/>
          </a:xfrm>
          <a:prstGeom prst="rect">
            <a:avLst/>
          </a:prstGeom>
          <a:noFill/>
        </p:spPr>
        <p:txBody>
          <a:bodyPr wrap="none" rtlCol="0">
            <a:spAutoFit/>
          </a:bodyPr>
          <a:lstStyle/>
          <a:p>
            <a:r>
              <a:rPr lang="en-IN" sz="2000" b="0" i="0" u="none" strike="noStrike" dirty="0">
                <a:solidFill>
                  <a:srgbClr val="455A64"/>
                </a:solidFill>
                <a:effectLst/>
                <a:latin typeface="Times New Roman" panose="02020603050405020304" pitchFamily="18" charset="0"/>
                <a:cs typeface="Times New Roman" panose="02020603050405020304" pitchFamily="18" charset="0"/>
              </a:rPr>
              <a:t>Types Of Bitcoin Mining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0271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66516a4f8cf14c9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51e22899ed234d8f">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51e22899ed234d8f">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d46e712cc2044667">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0fbfde4353c94b0f">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cIdc21b3c7ce8d84095"/>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07a6f235110c4c0e" imgW="2478087" imgH="3148012" progId="">
                  <p:embed/>
                </p:oleObj>
              </mc:Choice>
              <mc:Fallback>
                <p:oleObj r:id="R115bb6e2ea2a4908" imgW="2478087" imgH="3148012" progId="">
                  <p:embed/>
                  <p:pic>
                    <p:nvPicPr>
                      <p:cNvPr id="317" name="Google Shape;317;p1"/>
                      <p:cNvPicPr preferRelativeResize="0"/>
                      <p:nvPr/>
                    </p:nvPicPr>
                    <p:blipFill rotWithShape="1">
                      <a:blip r:embed="R00484dc9557c481c">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3546f7dc2e86419f">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8b4d33fa033b4c79">
            <a:alphaModFix/>
          </a:blip>
          <a:srcRect/>
          <a:stretch/>
        </p:blipFill>
        <p:spPr>
          <a:xfrm>
            <a:off x="76200" y="76200"/>
            <a:ext cx="2613025" cy="12954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Bitcoin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850121"/>
          </a:xfrm>
          <a:prstGeom prst="rect">
            <a:avLst/>
          </a:prstGeom>
          <a:noFill/>
          <a:ln>
            <a:noFill/>
          </a:ln>
        </p:spPr>
        <p:txBody>
          <a:bodyPr spcFirstLastPara="1" wrap="square" lIns="91425" tIns="45700" rIns="91425" bIns="45700" anchor="t" anchorCtr="0">
            <a:normAutofit fontScale="92500" lnSpcReduction="10000"/>
          </a:bodyPr>
          <a:lstStyle/>
          <a:p>
            <a:r>
              <a:rPr lang="en-IN" sz="2000" b="1" i="0" u="none" strike="noStrike" dirty="0">
                <a:solidFill>
                  <a:srgbClr val="1D2125"/>
                </a:solidFill>
                <a:effectLst/>
                <a:latin typeface="Times New Roman" panose="02020603050405020304" pitchFamily="18" charset="0"/>
                <a:cs typeface="Times New Roman" panose="02020603050405020304" pitchFamily="18" charset="0"/>
              </a:rPr>
              <a:t>Database: </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Generally a database is a data structure which is used for storing information. It is a organised collection or storage of data which is able to store a new data or access a existing data. The data stored in a database can be organized using a database management system. The database administrator can modify the data stored in the database. A database is implemented using the client-server network architecture.</a:t>
            </a:r>
          </a:p>
          <a:p>
            <a:r>
              <a:rPr lang="en-IN" sz="2000" b="1" i="0" u="none" strike="noStrike" dirty="0">
                <a:solidFill>
                  <a:srgbClr val="1D2125"/>
                </a:solidFill>
                <a:effectLst/>
                <a:latin typeface="Times New Roman" panose="02020603050405020304" pitchFamily="18" charset="0"/>
                <a:cs typeface="Times New Roman" panose="02020603050405020304" pitchFamily="18" charset="0"/>
              </a:rPr>
              <a:t>Blockchain:</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is a growing list of records, called blocks, that are linked using cryptography. Each block contains a cryptographic hash of the previous block, a timestamp, and transaction data. Here, modification of data is not permissible by design. It allows decentralized control and eliminates the risks of modification of data by other parties with sufficient access to the system.</a:t>
            </a:r>
          </a:p>
          <a:p>
            <a:r>
              <a:rPr lang="en-IN" sz="2000" b="0" i="0" u="none" strike="noStrike" dirty="0">
                <a:solidFill>
                  <a:srgbClr val="1D2125"/>
                </a:solidFill>
                <a:effectLst/>
                <a:latin typeface="Times New Roman" panose="02020603050405020304" pitchFamily="18" charset="0"/>
                <a:cs typeface="Times New Roman" panose="02020603050405020304" pitchFamily="18" charset="0"/>
              </a:rPr>
              <a:t>Key differences between Blockchain and a Database are:</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l">
              <a:buNone/>
            </a:pPr>
            <a:r>
              <a:rPr lang="en-IN" sz="2400" b="0" i="0" u="none" strike="noStrike" dirty="0">
                <a:solidFill>
                  <a:srgbClr val="455A64"/>
                </a:solidFill>
                <a:effectLst/>
                <a:latin typeface="Poppins" pitchFamily="2" charset="77"/>
              </a:rPr>
              <a:t>Difference between Blockchain and a Database</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graphicFrame>
        <p:nvGraphicFramePr>
          <p:cNvPr id="2" name="Table 1">
            <a:extLst>
              <a:ext uri="{FF2B5EF4-FFF2-40B4-BE49-F238E27FC236}">
                <a16:creationId xmlns:a16="http://schemas.microsoft.com/office/drawing/2014/main" id="{F1A67679-014E-DB33-66C4-3050C728C7CF}"/>
              </a:ext>
            </a:extLst>
          </p:cNvPr>
          <p:cNvGraphicFramePr>
            <a:graphicFrameLocks noGrp="1"/>
          </p:cNvGraphicFramePr>
          <p:nvPr>
            <p:extLst>
              <p:ext uri="{D42A27DB-BD31-4B8C-83A1-F6EECF244321}">
                <p14:modId xmlns:p14="http://schemas.microsoft.com/office/powerpoint/2010/main" val="4127012945"/>
              </p:ext>
            </p:extLst>
          </p:nvPr>
        </p:nvGraphicFramePr>
        <p:xfrm>
          <a:off x="901700" y="1143000"/>
          <a:ext cx="7613650" cy="5103299"/>
        </p:xfrm>
        <a:graphic>
          <a:graphicData uri="http://schemas.openxmlformats.org/drawingml/2006/table">
            <a:tbl>
              <a:tblPr/>
              <a:tblGrid>
                <a:gridCol w="3806825">
                  <a:extLst>
                    <a:ext uri="{9D8B030D-6E8A-4147-A177-3AD203B41FA5}">
                      <a16:colId xmlns:a16="http://schemas.microsoft.com/office/drawing/2014/main" val="2405291789"/>
                    </a:ext>
                  </a:extLst>
                </a:gridCol>
                <a:gridCol w="3806825">
                  <a:extLst>
                    <a:ext uri="{9D8B030D-6E8A-4147-A177-3AD203B41FA5}">
                      <a16:colId xmlns:a16="http://schemas.microsoft.com/office/drawing/2014/main" val="2163057715"/>
                    </a:ext>
                  </a:extLst>
                </a:gridCol>
              </a:tblGrid>
              <a:tr h="361035">
                <a:tc>
                  <a:txBody>
                    <a:bodyPr/>
                    <a:lstStyle/>
                    <a:p>
                      <a:pPr algn="l"/>
                      <a:r>
                        <a:rPr lang="en-IN">
                          <a:effectLst/>
                        </a:rPr>
                        <a:t>Database</a:t>
                      </a:r>
                    </a:p>
                  </a:txBody>
                  <a:tcPr anchor="ctr">
                    <a:lnL>
                      <a:noFill/>
                    </a:lnL>
                    <a:lnR>
                      <a:noFill/>
                    </a:lnR>
                    <a:lnT>
                      <a:noFill/>
                    </a:lnT>
                    <a:lnB>
                      <a:noFill/>
                    </a:lnB>
                    <a:noFill/>
                  </a:tcPr>
                </a:tc>
                <a:tc>
                  <a:txBody>
                    <a:bodyPr/>
                    <a:lstStyle/>
                    <a:p>
                      <a:pPr algn="l"/>
                      <a:r>
                        <a:rPr lang="en-IN">
                          <a:effectLst/>
                        </a:rPr>
                        <a:t>Blockchain</a:t>
                      </a:r>
                    </a:p>
                  </a:txBody>
                  <a:tcPr anchor="ctr">
                    <a:lnL>
                      <a:noFill/>
                    </a:lnL>
                    <a:lnR>
                      <a:noFill/>
                    </a:lnR>
                    <a:lnT>
                      <a:noFill/>
                    </a:lnT>
                    <a:lnB>
                      <a:noFill/>
                    </a:lnB>
                    <a:noFill/>
                  </a:tcPr>
                </a:tc>
                <a:extLst>
                  <a:ext uri="{0D108BD9-81ED-4DB2-BD59-A6C34878D82A}">
                    <a16:rowId xmlns:a16="http://schemas.microsoft.com/office/drawing/2014/main" val="652866457"/>
                  </a:ext>
                </a:extLst>
              </a:tr>
              <a:tr h="361035">
                <a:tc>
                  <a:txBody>
                    <a:bodyPr/>
                    <a:lstStyle/>
                    <a:p>
                      <a:r>
                        <a:rPr lang="en-IN">
                          <a:effectLst/>
                        </a:rPr>
                        <a:t>Database uses centralized storage of data.</a:t>
                      </a:r>
                    </a:p>
                  </a:txBody>
                  <a:tcPr anchor="ctr">
                    <a:lnL>
                      <a:noFill/>
                    </a:lnL>
                    <a:lnR>
                      <a:noFill/>
                    </a:lnR>
                    <a:lnT>
                      <a:noFill/>
                    </a:lnT>
                    <a:lnB>
                      <a:noFill/>
                    </a:lnB>
                    <a:noFill/>
                  </a:tcPr>
                </a:tc>
                <a:tc>
                  <a:txBody>
                    <a:bodyPr/>
                    <a:lstStyle/>
                    <a:p>
                      <a:r>
                        <a:rPr lang="en-IN">
                          <a:effectLst/>
                        </a:rPr>
                        <a:t>Blockchain uses decentralized storage of data.</a:t>
                      </a:r>
                    </a:p>
                  </a:txBody>
                  <a:tcPr anchor="ctr">
                    <a:lnL>
                      <a:noFill/>
                    </a:lnL>
                    <a:lnR>
                      <a:noFill/>
                    </a:lnR>
                    <a:lnT>
                      <a:noFill/>
                    </a:lnT>
                    <a:lnB>
                      <a:noFill/>
                    </a:lnB>
                    <a:noFill/>
                  </a:tcPr>
                </a:tc>
                <a:extLst>
                  <a:ext uri="{0D108BD9-81ED-4DB2-BD59-A6C34878D82A}">
                    <a16:rowId xmlns:a16="http://schemas.microsoft.com/office/drawing/2014/main" val="1173971182"/>
                  </a:ext>
                </a:extLst>
              </a:tr>
              <a:tr h="866483">
                <a:tc>
                  <a:txBody>
                    <a:bodyPr/>
                    <a:lstStyle/>
                    <a:p>
                      <a:r>
                        <a:rPr lang="en-IN" dirty="0">
                          <a:effectLst/>
                        </a:rPr>
                        <a:t>Database needs a Database admin or Database administrator to manage the stored data.</a:t>
                      </a:r>
                    </a:p>
                  </a:txBody>
                  <a:tcPr anchor="ctr">
                    <a:lnL>
                      <a:noFill/>
                    </a:lnL>
                    <a:lnR>
                      <a:noFill/>
                    </a:lnR>
                    <a:lnT>
                      <a:noFill/>
                    </a:lnT>
                    <a:lnB>
                      <a:noFill/>
                    </a:lnB>
                    <a:noFill/>
                  </a:tcPr>
                </a:tc>
                <a:tc>
                  <a:txBody>
                    <a:bodyPr/>
                    <a:lstStyle/>
                    <a:p>
                      <a:r>
                        <a:rPr lang="en-IN">
                          <a:effectLst/>
                        </a:rPr>
                        <a:t>There is no administrator in Blockchain.</a:t>
                      </a:r>
                    </a:p>
                  </a:txBody>
                  <a:tcPr anchor="ctr">
                    <a:lnL>
                      <a:noFill/>
                    </a:lnL>
                    <a:lnR>
                      <a:noFill/>
                    </a:lnR>
                    <a:lnT>
                      <a:noFill/>
                    </a:lnT>
                    <a:lnB>
                      <a:noFill/>
                    </a:lnB>
                    <a:noFill/>
                  </a:tcPr>
                </a:tc>
                <a:extLst>
                  <a:ext uri="{0D108BD9-81ED-4DB2-BD59-A6C34878D82A}">
                    <a16:rowId xmlns:a16="http://schemas.microsoft.com/office/drawing/2014/main" val="1204873175"/>
                  </a:ext>
                </a:extLst>
              </a:tr>
              <a:tr h="1371931">
                <a:tc>
                  <a:txBody>
                    <a:bodyPr/>
                    <a:lstStyle/>
                    <a:p>
                      <a:r>
                        <a:rPr lang="en-IN">
                          <a:effectLst/>
                        </a:rPr>
                        <a:t>Modifying data requires permission from database admin.</a:t>
                      </a:r>
                    </a:p>
                  </a:txBody>
                  <a:tcPr anchor="ctr">
                    <a:lnL>
                      <a:noFill/>
                    </a:lnL>
                    <a:lnR>
                      <a:noFill/>
                    </a:lnR>
                    <a:lnT>
                      <a:noFill/>
                    </a:lnT>
                    <a:lnB>
                      <a:noFill/>
                    </a:lnB>
                    <a:noFill/>
                  </a:tcPr>
                </a:tc>
                <a:tc>
                  <a:txBody>
                    <a:bodyPr/>
                    <a:lstStyle/>
                    <a:p>
                      <a:r>
                        <a:rPr lang="en-IN">
                          <a:effectLst/>
                        </a:rPr>
                        <a:t>Modifying data does not require permission. Users have a copy of data and by modifying the copies does not affect the master copy of the data as Blockchain is irresistible to modification of data.</a:t>
                      </a:r>
                    </a:p>
                  </a:txBody>
                  <a:tcPr anchor="ctr">
                    <a:lnL>
                      <a:noFill/>
                    </a:lnL>
                    <a:lnR>
                      <a:noFill/>
                    </a:lnR>
                    <a:lnT>
                      <a:noFill/>
                    </a:lnT>
                    <a:lnB>
                      <a:noFill/>
                    </a:lnB>
                    <a:noFill/>
                  </a:tcPr>
                </a:tc>
                <a:extLst>
                  <a:ext uri="{0D108BD9-81ED-4DB2-BD59-A6C34878D82A}">
                    <a16:rowId xmlns:a16="http://schemas.microsoft.com/office/drawing/2014/main" val="3770545666"/>
                  </a:ext>
                </a:extLst>
              </a:tr>
              <a:tr h="866483">
                <a:tc>
                  <a:txBody>
                    <a:bodyPr/>
                    <a:lstStyle/>
                    <a:p>
                      <a:r>
                        <a:rPr lang="en-IN">
                          <a:effectLst/>
                        </a:rPr>
                        <a:t>Centralized databases keep information that is up-to-date at a particular moment</a:t>
                      </a:r>
                    </a:p>
                  </a:txBody>
                  <a:tcPr anchor="ctr">
                    <a:lnL>
                      <a:noFill/>
                    </a:lnL>
                    <a:lnR>
                      <a:noFill/>
                    </a:lnR>
                    <a:lnT>
                      <a:noFill/>
                    </a:lnT>
                    <a:lnB>
                      <a:noFill/>
                    </a:lnB>
                    <a:noFill/>
                  </a:tcPr>
                </a:tc>
                <a:tc>
                  <a:txBody>
                    <a:bodyPr/>
                    <a:lstStyle/>
                    <a:p>
                      <a:r>
                        <a:rPr lang="en-IN">
                          <a:effectLst/>
                        </a:rPr>
                        <a:t>Blockchain keeps the present information as well as the past information that has been stored before.</a:t>
                      </a:r>
                    </a:p>
                  </a:txBody>
                  <a:tcPr anchor="ctr">
                    <a:lnL>
                      <a:noFill/>
                    </a:lnL>
                    <a:lnR>
                      <a:noFill/>
                    </a:lnR>
                    <a:lnT>
                      <a:noFill/>
                    </a:lnT>
                    <a:lnB>
                      <a:noFill/>
                    </a:lnB>
                    <a:noFill/>
                  </a:tcPr>
                </a:tc>
                <a:extLst>
                  <a:ext uri="{0D108BD9-81ED-4DB2-BD59-A6C34878D82A}">
                    <a16:rowId xmlns:a16="http://schemas.microsoft.com/office/drawing/2014/main" val="2015056068"/>
                  </a:ext>
                </a:extLst>
              </a:tr>
              <a:tr h="1119207">
                <a:tc>
                  <a:txBody>
                    <a:bodyPr/>
                    <a:lstStyle/>
                    <a:p>
                      <a:r>
                        <a:rPr lang="en-IN" dirty="0">
                          <a:effectLst/>
                        </a:rPr>
                        <a:t>Centralized databases are used as databases for a really long time and have a good performance record, but are slow for </a:t>
                      </a:r>
                      <a:r>
                        <a:rPr lang="en-IN" dirty="0" err="1">
                          <a:effectLst/>
                        </a:rPr>
                        <a:t>ertain</a:t>
                      </a:r>
                      <a:r>
                        <a:rPr lang="en-IN" dirty="0">
                          <a:effectLst/>
                        </a:rPr>
                        <a:t> functionalities.</a:t>
                      </a:r>
                    </a:p>
                  </a:txBody>
                  <a:tcPr anchor="ctr">
                    <a:lnL>
                      <a:noFill/>
                    </a:lnL>
                    <a:lnR>
                      <a:noFill/>
                    </a:lnR>
                    <a:lnT>
                      <a:noFill/>
                    </a:lnT>
                    <a:lnB>
                      <a:noFill/>
                    </a:lnB>
                    <a:noFill/>
                  </a:tcPr>
                </a:tc>
                <a:tc>
                  <a:txBody>
                    <a:bodyPr/>
                    <a:lstStyle/>
                    <a:p>
                      <a:r>
                        <a:rPr lang="en-IN" dirty="0">
                          <a:effectLst/>
                        </a:rPr>
                        <a:t>Blockchain is ideal for transaction platform but it slows down when used as databases, specially with large collection of data.</a:t>
                      </a:r>
                    </a:p>
                  </a:txBody>
                  <a:tcPr anchor="ctr">
                    <a:lnL>
                      <a:noFill/>
                    </a:lnL>
                    <a:lnR>
                      <a:noFill/>
                    </a:lnR>
                    <a:lnT>
                      <a:noFill/>
                    </a:lnT>
                    <a:lnB>
                      <a:noFill/>
                    </a:lnB>
                    <a:noFill/>
                  </a:tcPr>
                </a:tc>
                <a:extLst>
                  <a:ext uri="{0D108BD9-81ED-4DB2-BD59-A6C34878D82A}">
                    <a16:rowId xmlns:a16="http://schemas.microsoft.com/office/drawing/2014/main" val="2607054955"/>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Since we are familiar with both the terms and their features, let us now see the significant differences between them:</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1. A cloud is something that we can gain access to through the internet. It is cyberspace where we can access the data online. On the other hand, blockchain is an encrypted system that uses different styles of encryption and hash to store data in protected databases. The system distributes these data records over various nodes and forms a consensus on the position of the data they contain.</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Data in the form of records are immutable in blockchain, whereas data residing in the cloud are mutable. Blockchain does not provide any service as it is a magnificent technological advancement that is a decentralized, distributed ledger that keeps a record of the provenance of a digital asset. </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On the other hand, Cloud is a computing service that provides services in three principal formats such as Software as a Service (SaaS), Platform as a Service (PaaS), and Infrastructure as a Service (IaaS). Blockchain guarantees the prevention of the tempering of data without relying on any third-party trusted centralized authority, whereas the cloud does not assure complete integrity and tamper-free data. </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ctr"/>
            <a:r>
              <a:rPr lang="en-IN" sz="2400" b="1" i="0" u="none" strike="noStrike" dirty="0">
                <a:solidFill>
                  <a:srgbClr val="455A64"/>
                </a:solidFill>
                <a:effectLst/>
                <a:latin typeface="Poppins" pitchFamily="2" charset="77"/>
              </a:rPr>
              <a:t>Blockchain vs. Cloud Computing</a:t>
            </a:r>
            <a:endParaRPr lang="en-IN" sz="2400" b="0" i="0" u="none" strike="noStrike" dirty="0">
              <a:solidFill>
                <a:srgbClr val="455A64"/>
              </a:solidFill>
              <a:effectLst/>
              <a:latin typeface="Poppins" pitchFamily="2" charset="77"/>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0" i="0" u="none" strike="noStrike" dirty="0">
                <a:solidFill>
                  <a:srgbClr val="455A64"/>
                </a:solidFill>
                <a:effectLst/>
                <a:latin typeface="Poppins" pitchFamily="2" charset="77"/>
              </a:rPr>
              <a:t>What is Blockchain as a Service?</a:t>
            </a: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fontScale="92500" lnSpcReduction="10000"/>
          </a:bodyPr>
          <a:lstStyle/>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Blockchain as a Service (BaaS) is a managed blockchain service that a third party provides in the cloud. You can develop blockchain applications and digital services while the cloud provider supplies the infrastructure and blockchain building tools. All you have to do is customize existing blockchain technology, which makes blockchain adoption faster and more efficient.   </a:t>
            </a:r>
          </a:p>
          <a:p>
            <a:pPr marL="76200" indent="0" algn="just">
              <a:buNone/>
            </a:pPr>
            <a:r>
              <a:rPr lang="en-IN" sz="1800" b="1" i="0" u="none" strike="noStrike" dirty="0">
                <a:solidFill>
                  <a:srgbClr val="455A64"/>
                </a:solidFill>
                <a:effectLst/>
                <a:latin typeface="Times New Roman" panose="02020603050405020304" pitchFamily="18" charset="0"/>
                <a:cs typeface="Times New Roman" panose="02020603050405020304" pitchFamily="18" charset="0"/>
              </a:rPr>
              <a:t>What are AWS Blockchain services?</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AWS Blockchain services provide purpose-built tools to support your requirement. You can use them to build everything from a centralized ledger database that maintains an immutable record of transactions to a multi-party, fully managed blockchain network that helps eliminate intermediaries. AWS has numerous validated blockchain solutions from partners who support all major blockchain protocols, including Hyperledger, Corda,  Ethereum, Quorum, and more. As a result, you can develop blockchain and ledger applications more easily, quickly, and efficiently with AWS. Some useful AWS Blockchain services are as follows:</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Amazon Quantum Ledger Database (QLDB) is a fully managed ledger database that provides a transparent, immutable, and cryptographically verifiable transaction log. It has a built-in journal that stores an accurate and sequenced entry of every data change. The journal is append-only, meaning that users can add data to the journal but cannot overwrite or delete it. </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are technologies that make your applications independent from your IT infrastructure resources. A container is a software code package containing an application’s code, its libraries, and other dependencies. Containerization makes your applications portable so that the same code can run on any device. A virtual machine is a digital copy of a physical machine. You can have multiple virtual machines with their own individual operating systems running on the same host operating system. In addition you can create a virtual machine that contains everything required to run your application.</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7855227" cy="400110"/>
          </a:xfrm>
          <a:prstGeom prst="rect">
            <a:avLst/>
          </a:prstGeom>
          <a:noFill/>
        </p:spPr>
        <p:txBody>
          <a:bodyPr wrap="square" rtlCol="0">
            <a:spAutoFit/>
          </a:bodyPr>
          <a:lstStyle/>
          <a:p>
            <a:pPr algn="l"/>
            <a:r>
              <a:rPr lang="en-IN" sz="2000" b="0" i="0" u="none" strike="noStrike" dirty="0">
                <a:solidFill>
                  <a:srgbClr val="455A64"/>
                </a:solidFill>
                <a:effectLst/>
                <a:latin typeface="Times New Roman" panose="02020603050405020304" pitchFamily="18" charset="0"/>
                <a:cs typeface="Times New Roman" panose="02020603050405020304" pitchFamily="18" charset="0"/>
              </a:rPr>
              <a:t>What's the Difference Between Containers and Virtual Machines?</a:t>
            </a:r>
          </a:p>
        </p:txBody>
      </p:sp>
    </p:spTree>
    <p:extLst>
      <p:ext uri="{BB962C8B-B14F-4D97-AF65-F5344CB8AC3E}">
        <p14:creationId xmlns:p14="http://schemas.microsoft.com/office/powerpoint/2010/main" val="16730200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Where are containers and virtual machines used?</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are both deployment technologies. In the software development lifecycle, deployment is the mechanism that makes an application run efficiently on a server or device. The application requires several additional software components called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dependencies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that are closely related to the underlying operating system of the server. All these different software layers between the application code and the physical device are called the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application environment</a:t>
            </a:r>
            <a:r>
              <a:rPr lang="en-IN" sz="1200" b="0" i="0" u="none" strike="noStrike" dirty="0">
                <a:solidFill>
                  <a:srgbClr val="1D2125"/>
                </a:solidFill>
                <a:effectLst/>
                <a:latin typeface="Poppins" pitchFamily="2" charset="77"/>
              </a:rPr>
              <a:t>.</a:t>
            </a:r>
          </a:p>
        </p:txBody>
      </p:sp>
    </p:spTree>
    <p:extLst>
      <p:ext uri="{BB962C8B-B14F-4D97-AF65-F5344CB8AC3E}">
        <p14:creationId xmlns:p14="http://schemas.microsoft.com/office/powerpoint/2010/main" val="11181410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1" i="0" u="none" strike="noStrike" dirty="0">
                <a:solidFill>
                  <a:srgbClr val="455A64"/>
                </a:solidFill>
                <a:effectLst/>
                <a:latin typeface="Poppins" pitchFamily="2" charset="77"/>
              </a:rPr>
              <a:t>Challenges in software deployment</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Organizations typically have to deploy applications in multiple environments—for example, developing on the Linux environment and testing on Windows—before releasing new features. Moving the application between environments can result in bugs and glitches, which lower productivity, due to missed dependencies. At the same time, building and testing the application in just one environment limits its usefulness. Here are some examples: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may have to develop different versions for users with different operating systems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Your system administrators must update and maintain all environments uniformly, increasing development costs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may find it challenging to move your applications from on-premises data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to the cloud or between different cloud environments</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Purpose of virtual machines</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Historically, virtual machine technology was developed to efficiently use increasing physical hardware capacity and processing power. Running a single application environment on a single physical server underutilized hardware resources. Virtual machines allow organizations to install multiple operating systems and create multiple environments on the same physical machine.</a:t>
            </a:r>
          </a:p>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Purpose of containers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were created to package and run applications in a predictable and repeatable way across multiple environments. Instead of recreating the environment, you packaged the application to run on all types of physical or virtual environments. This is similar to putting an astronaut in a spacesuit instead of recreating the Earth's atmosphere for them on another planet.</a:t>
            </a:r>
          </a:p>
          <a:p>
            <a:pPr marL="76200" indent="0">
              <a:buNone/>
            </a:pPr>
            <a:endParaRPr lang="en-US" dirty="0"/>
          </a:p>
        </p:txBody>
      </p:sp>
    </p:spTree>
    <p:extLst>
      <p:ext uri="{BB962C8B-B14F-4D97-AF65-F5344CB8AC3E}">
        <p14:creationId xmlns:p14="http://schemas.microsoft.com/office/powerpoint/2010/main" val="33767681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allow for the full isolation of applications so that you can run them in multiple environments. They virtualize or abstract underlying infrastructure, so users don't have to worry about that. They also allow you to package your software infrastructure into a single file called an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image file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You can use the image file to quickly set up and run your application anywhere. In addition, you can also use software processes to manage system configurations or scale to manage thousands of applications at once. However, the role and extent of use for containers and virtual machines vary depending on where and how the application is deployed.</a:t>
            </a:r>
          </a:p>
          <a:p>
            <a:pPr marL="76200" indent="0">
              <a:buNone/>
            </a:pPr>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1341912" y="782053"/>
            <a:ext cx="6887688" cy="677108"/>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Similarities between containers and virtual machines</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6A4E47-FEB5-677E-46FC-4A732EE691AE}"/>
              </a:ext>
            </a:extLst>
          </p:cNvPr>
          <p:cNvGraphicFramePr>
            <a:graphicFrameLocks noGrp="1"/>
          </p:cNvGraphicFramePr>
          <p:nvPr>
            <p:extLst>
              <p:ext uri="{D42A27DB-BD31-4B8C-83A1-F6EECF244321}">
                <p14:modId xmlns:p14="http://schemas.microsoft.com/office/powerpoint/2010/main" val="1305942999"/>
              </p:ext>
            </p:extLst>
          </p:nvPr>
        </p:nvGraphicFramePr>
        <p:xfrm>
          <a:off x="1016000" y="1143000"/>
          <a:ext cx="7543800" cy="5092312"/>
        </p:xfrm>
        <a:graphic>
          <a:graphicData uri="http://schemas.openxmlformats.org/drawingml/2006/table">
            <a:tbl>
              <a:tblPr/>
              <a:tblGrid>
                <a:gridCol w="1143000">
                  <a:extLst>
                    <a:ext uri="{9D8B030D-6E8A-4147-A177-3AD203B41FA5}">
                      <a16:colId xmlns:a16="http://schemas.microsoft.com/office/drawing/2014/main" val="3983559957"/>
                    </a:ext>
                  </a:extLst>
                </a:gridCol>
                <a:gridCol w="3352800">
                  <a:extLst>
                    <a:ext uri="{9D8B030D-6E8A-4147-A177-3AD203B41FA5}">
                      <a16:colId xmlns:a16="http://schemas.microsoft.com/office/drawing/2014/main" val="312716945"/>
                    </a:ext>
                  </a:extLst>
                </a:gridCol>
                <a:gridCol w="3048000">
                  <a:extLst>
                    <a:ext uri="{9D8B030D-6E8A-4147-A177-3AD203B41FA5}">
                      <a16:colId xmlns:a16="http://schemas.microsoft.com/office/drawing/2014/main" val="986761408"/>
                    </a:ext>
                  </a:extLst>
                </a:gridCol>
              </a:tblGrid>
              <a:tr h="203805">
                <a:tc>
                  <a:txBody>
                    <a:bodyPr/>
                    <a:lstStyle/>
                    <a:p>
                      <a:r>
                        <a:rPr lang="en-IN" sz="1100" b="1">
                          <a:effectLst/>
                          <a:latin typeface="Times New Roman" panose="02020603050405020304" pitchFamily="18" charset="0"/>
                          <a:cs typeface="Times New Roman" panose="02020603050405020304" pitchFamily="18" charset="0"/>
                        </a:rPr>
                        <a:t>Characteristics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Container</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 machine</a:t>
                      </a:r>
                    </a:p>
                  </a:txBody>
                  <a:tcPr marL="52850" marR="52850" marT="26425" marB="26425" anchor="ctr">
                    <a:lnL>
                      <a:noFill/>
                    </a:lnL>
                    <a:lnR>
                      <a:noFill/>
                    </a:lnR>
                    <a:lnT>
                      <a:noFill/>
                    </a:lnT>
                    <a:lnB>
                      <a:noFill/>
                    </a:lnB>
                    <a:noFill/>
                  </a:tcPr>
                </a:tc>
                <a:extLst>
                  <a:ext uri="{0D108BD9-81ED-4DB2-BD59-A6C34878D82A}">
                    <a16:rowId xmlns:a16="http://schemas.microsoft.com/office/drawing/2014/main" val="1609494599"/>
                  </a:ext>
                </a:extLst>
              </a:tr>
              <a:tr h="917119">
                <a:tc>
                  <a:txBody>
                    <a:bodyPr/>
                    <a:lstStyle/>
                    <a:p>
                      <a:r>
                        <a:rPr lang="en-IN" sz="1100" b="1">
                          <a:effectLst/>
                          <a:latin typeface="Times New Roman" panose="02020603050405020304" pitchFamily="18" charset="0"/>
                          <a:cs typeface="Times New Roman" panose="02020603050405020304" pitchFamily="18" charset="0"/>
                        </a:rPr>
                        <a:t>Definition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Software code package containing an application’s code, its libraries, and other dependencies that make up the application running environment.</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Digital replica of a physical machine. Partitions the physical hardware into multiple environments.</a:t>
                      </a:r>
                    </a:p>
                  </a:txBody>
                  <a:tcPr marL="52850" marR="52850" marT="26425" marB="26425" anchor="ctr">
                    <a:lnL>
                      <a:noFill/>
                    </a:lnL>
                    <a:lnR>
                      <a:noFill/>
                    </a:lnR>
                    <a:lnT>
                      <a:noFill/>
                    </a:lnT>
                    <a:lnB>
                      <a:noFill/>
                    </a:lnB>
                    <a:noFill/>
                  </a:tcPr>
                </a:tc>
                <a:extLst>
                  <a:ext uri="{0D108BD9-81ED-4DB2-BD59-A6C34878D82A}">
                    <a16:rowId xmlns:a16="http://schemas.microsoft.com/office/drawing/2014/main" val="1267090271"/>
                  </a:ext>
                </a:extLst>
              </a:tr>
              <a:tr h="346467">
                <a:tc>
                  <a:txBody>
                    <a:bodyPr/>
                    <a:lstStyle/>
                    <a:p>
                      <a:r>
                        <a:rPr lang="en-IN" sz="1100" b="1" dirty="0">
                          <a:effectLst/>
                          <a:latin typeface="Times New Roman" panose="02020603050405020304" pitchFamily="18" charset="0"/>
                          <a:cs typeface="Times New Roman" panose="02020603050405020304" pitchFamily="18" charset="0"/>
                        </a:rPr>
                        <a:t>Virtualization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Virtualizes the operating system.</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Virtualizes the underlying physical infrastructure.</a:t>
                      </a:r>
                    </a:p>
                  </a:txBody>
                  <a:tcPr marL="52850" marR="52850" marT="26425" marB="26425" anchor="ctr">
                    <a:lnL>
                      <a:noFill/>
                    </a:lnL>
                    <a:lnR>
                      <a:noFill/>
                    </a:lnR>
                    <a:lnT>
                      <a:noFill/>
                    </a:lnT>
                    <a:lnB>
                      <a:noFill/>
                    </a:lnB>
                    <a:noFill/>
                  </a:tcPr>
                </a:tc>
                <a:extLst>
                  <a:ext uri="{0D108BD9-81ED-4DB2-BD59-A6C34878D82A}">
                    <a16:rowId xmlns:a16="http://schemas.microsoft.com/office/drawing/2014/main" val="1205491548"/>
                  </a:ext>
                </a:extLst>
              </a:tr>
              <a:tr h="631793">
                <a:tc>
                  <a:txBody>
                    <a:bodyPr/>
                    <a:lstStyle/>
                    <a:p>
                      <a:r>
                        <a:rPr lang="en-IN" sz="1100" b="1">
                          <a:effectLst/>
                          <a:latin typeface="Times New Roman" panose="02020603050405020304" pitchFamily="18" charset="0"/>
                          <a:cs typeface="Times New Roman" panose="02020603050405020304" pitchFamily="18" charset="0"/>
                        </a:rPr>
                        <a:t>Encapsulation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Software layer above the operating system required for running the application or application component.</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Operating system, all software layers above it, multiple applications.</a:t>
                      </a:r>
                    </a:p>
                  </a:txBody>
                  <a:tcPr marL="52850" marR="52850" marT="26425" marB="26425" anchor="ctr">
                    <a:lnL>
                      <a:noFill/>
                    </a:lnL>
                    <a:lnR>
                      <a:noFill/>
                    </a:lnR>
                    <a:lnT>
                      <a:noFill/>
                    </a:lnT>
                    <a:lnB>
                      <a:noFill/>
                    </a:lnB>
                    <a:noFill/>
                  </a:tcPr>
                </a:tc>
                <a:extLst>
                  <a:ext uri="{0D108BD9-81ED-4DB2-BD59-A6C34878D82A}">
                    <a16:rowId xmlns:a16="http://schemas.microsoft.com/office/drawing/2014/main" val="781494044"/>
                  </a:ext>
                </a:extLst>
              </a:tr>
              <a:tr h="489130">
                <a:tc>
                  <a:txBody>
                    <a:bodyPr/>
                    <a:lstStyle/>
                    <a:p>
                      <a:r>
                        <a:rPr lang="en-IN" sz="1100" b="1">
                          <a:effectLst/>
                          <a:latin typeface="Times New Roman" panose="02020603050405020304" pitchFamily="18" charset="0"/>
                          <a:cs typeface="Times New Roman" panose="02020603050405020304" pitchFamily="18" charset="0"/>
                        </a:rPr>
                        <a:t>Technology</a:t>
                      </a:r>
                    </a:p>
                  </a:txBody>
                  <a:tcPr marL="52850" marR="52850" marT="26425" marB="26425" anchor="ctr">
                    <a:lnL>
                      <a:noFill/>
                    </a:lnL>
                    <a:lnR>
                      <a:noFill/>
                    </a:lnR>
                    <a:lnT>
                      <a:noFill/>
                    </a:lnT>
                    <a:lnB>
                      <a:noFill/>
                    </a:lnB>
                    <a:noFill/>
                  </a:tcPr>
                </a:tc>
                <a:tc>
                  <a:txBody>
                    <a:bodyPr/>
                    <a:lstStyle/>
                    <a:p>
                      <a:r>
                        <a:rPr lang="en-IN" sz="1100" b="1" dirty="0">
                          <a:effectLst/>
                          <a:latin typeface="Times New Roman" panose="02020603050405020304" pitchFamily="18" charset="0"/>
                          <a:cs typeface="Times New Roman" panose="02020603050405020304" pitchFamily="18" charset="0"/>
                        </a:rPr>
                        <a:t>Container engine coordinates with the underlying operating system for resources. </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Hypervisor coordinates with underlying operating system or hardware. </a:t>
                      </a:r>
                    </a:p>
                  </a:txBody>
                  <a:tcPr marL="52850" marR="52850" marT="26425" marB="26425" anchor="ctr">
                    <a:lnL>
                      <a:noFill/>
                    </a:lnL>
                    <a:lnR>
                      <a:noFill/>
                    </a:lnR>
                    <a:lnT>
                      <a:noFill/>
                    </a:lnT>
                    <a:lnB>
                      <a:noFill/>
                    </a:lnB>
                    <a:noFill/>
                  </a:tcPr>
                </a:tc>
                <a:extLst>
                  <a:ext uri="{0D108BD9-81ED-4DB2-BD59-A6C34878D82A}">
                    <a16:rowId xmlns:a16="http://schemas.microsoft.com/office/drawing/2014/main" val="1492550830"/>
                  </a:ext>
                </a:extLst>
              </a:tr>
              <a:tr h="346467">
                <a:tc>
                  <a:txBody>
                    <a:bodyPr/>
                    <a:lstStyle/>
                    <a:p>
                      <a:r>
                        <a:rPr lang="en-IN" sz="1100" b="1" dirty="0">
                          <a:effectLst/>
                          <a:latin typeface="Times New Roman" panose="02020603050405020304" pitchFamily="18" charset="0"/>
                          <a:cs typeface="Times New Roman" panose="02020603050405020304" pitchFamily="18" charset="0"/>
                        </a:rPr>
                        <a:t>Size</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Lighter weight (think in terms of MB).</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Much larger (think in terms of GB).</a:t>
                      </a:r>
                    </a:p>
                  </a:txBody>
                  <a:tcPr marL="52850" marR="52850" marT="26425" marB="26425" anchor="ctr">
                    <a:lnL>
                      <a:noFill/>
                    </a:lnL>
                    <a:lnR>
                      <a:noFill/>
                    </a:lnR>
                    <a:lnT>
                      <a:noFill/>
                    </a:lnT>
                    <a:lnB>
                      <a:noFill/>
                    </a:lnB>
                    <a:noFill/>
                  </a:tcPr>
                </a:tc>
                <a:extLst>
                  <a:ext uri="{0D108BD9-81ED-4DB2-BD59-A6C34878D82A}">
                    <a16:rowId xmlns:a16="http://schemas.microsoft.com/office/drawing/2014/main" val="1447111645"/>
                  </a:ext>
                </a:extLst>
              </a:tr>
              <a:tr h="489130">
                <a:tc>
                  <a:txBody>
                    <a:bodyPr/>
                    <a:lstStyle/>
                    <a:p>
                      <a:r>
                        <a:rPr lang="en-IN" sz="1100" b="1">
                          <a:effectLst/>
                          <a:latin typeface="Times New Roman" panose="02020603050405020304" pitchFamily="18" charset="0"/>
                          <a:cs typeface="Times New Roman" panose="02020603050405020304" pitchFamily="18" charset="0"/>
                        </a:rPr>
                        <a:t>Control</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Less control of the environment outside the container.</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More control over the entire environment.</a:t>
                      </a:r>
                    </a:p>
                  </a:txBody>
                  <a:tcPr marL="52850" marR="52850" marT="26425" marB="26425" anchor="ctr">
                    <a:lnL>
                      <a:noFill/>
                    </a:lnL>
                    <a:lnR>
                      <a:noFill/>
                    </a:lnR>
                    <a:lnT>
                      <a:noFill/>
                    </a:lnT>
                    <a:lnB>
                      <a:noFill/>
                    </a:lnB>
                    <a:noFill/>
                  </a:tcPr>
                </a:tc>
                <a:extLst>
                  <a:ext uri="{0D108BD9-81ED-4DB2-BD59-A6C34878D82A}">
                    <a16:rowId xmlns:a16="http://schemas.microsoft.com/office/drawing/2014/main" val="641399694"/>
                  </a:ext>
                </a:extLst>
              </a:tr>
              <a:tr h="631793">
                <a:tc>
                  <a:txBody>
                    <a:bodyPr/>
                    <a:lstStyle/>
                    <a:p>
                      <a:r>
                        <a:rPr lang="en-IN" sz="1100" b="1">
                          <a:effectLst/>
                          <a:latin typeface="Times New Roman" panose="02020603050405020304" pitchFamily="18" charset="0"/>
                          <a:cs typeface="Times New Roman" panose="02020603050405020304" pitchFamily="18" charset="0"/>
                        </a:rPr>
                        <a:t>Flexibility</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More flexible. You can quickly migrate between on-premises and cloud-centered environments.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Less flexible. Migration has challenges.</a:t>
                      </a:r>
                    </a:p>
                  </a:txBody>
                  <a:tcPr marL="52850" marR="52850" marT="26425" marB="26425" anchor="ctr">
                    <a:lnL>
                      <a:noFill/>
                    </a:lnL>
                    <a:lnR>
                      <a:noFill/>
                    </a:lnR>
                    <a:lnT>
                      <a:noFill/>
                    </a:lnT>
                    <a:lnB>
                      <a:noFill/>
                    </a:lnB>
                    <a:noFill/>
                  </a:tcPr>
                </a:tc>
                <a:extLst>
                  <a:ext uri="{0D108BD9-81ED-4DB2-BD59-A6C34878D82A}">
                    <a16:rowId xmlns:a16="http://schemas.microsoft.com/office/drawing/2014/main" val="2900723780"/>
                  </a:ext>
                </a:extLst>
              </a:tr>
              <a:tr h="631793">
                <a:tc>
                  <a:txBody>
                    <a:bodyPr/>
                    <a:lstStyle/>
                    <a:p>
                      <a:r>
                        <a:rPr lang="en-IN" sz="1100" b="1">
                          <a:effectLst/>
                          <a:latin typeface="Times New Roman" panose="02020603050405020304" pitchFamily="18" charset="0"/>
                          <a:cs typeface="Times New Roman" panose="02020603050405020304" pitchFamily="18" charset="0"/>
                        </a:rPr>
                        <a:t>Scalability</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Highly scalable. Granular scalability possible with microservices.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Scaling can be costly. Requires switching from on-premises to cloud instances for cost-effective scale.</a:t>
                      </a:r>
                    </a:p>
                  </a:txBody>
                  <a:tcPr marL="52850" marR="52850" marT="26425" marB="26425" anchor="ctr">
                    <a:lnL>
                      <a:noFill/>
                    </a:lnL>
                    <a:lnR>
                      <a:noFill/>
                    </a:lnR>
                    <a:lnT>
                      <a:noFill/>
                    </a:lnT>
                    <a:lnB>
                      <a:noFill/>
                    </a:lnB>
                    <a:noFill/>
                  </a:tcPr>
                </a:tc>
                <a:extLst>
                  <a:ext uri="{0D108BD9-81ED-4DB2-BD59-A6C34878D82A}">
                    <a16:rowId xmlns:a16="http://schemas.microsoft.com/office/drawing/2014/main" val="3407054073"/>
                  </a:ext>
                </a:extLst>
              </a:tr>
              <a:tr h="346467">
                <a:tc>
                  <a:txBody>
                    <a:bodyPr/>
                    <a:lstStyle/>
                    <a:p>
                      <a:r>
                        <a:rPr lang="en-IN" sz="1100" b="1">
                          <a:effectLst/>
                          <a:latin typeface="Times New Roman" panose="02020603050405020304" pitchFamily="18" charset="0"/>
                          <a:cs typeface="Times New Roman" panose="02020603050405020304" pitchFamily="18" charset="0"/>
                        </a:rPr>
                        <a:t> </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Learn more about Containers</a:t>
                      </a:r>
                    </a:p>
                  </a:txBody>
                  <a:tcPr marL="52850" marR="52850" marT="26425" marB="26425" anchor="ctr">
                    <a:lnL>
                      <a:noFill/>
                    </a:lnL>
                    <a:lnR>
                      <a:noFill/>
                    </a:lnR>
                    <a:lnT>
                      <a:noFill/>
                    </a:lnT>
                    <a:lnB>
                      <a:noFill/>
                    </a:lnB>
                    <a:noFill/>
                  </a:tcPr>
                </a:tc>
                <a:tc>
                  <a:txBody>
                    <a:bodyPr/>
                    <a:lstStyle/>
                    <a:p>
                      <a:r>
                        <a:rPr lang="en-IN" sz="1100" b="1" dirty="0">
                          <a:effectLst/>
                          <a:latin typeface="Times New Roman" panose="02020603050405020304" pitchFamily="18" charset="0"/>
                          <a:cs typeface="Times New Roman" panose="02020603050405020304" pitchFamily="18" charset="0"/>
                        </a:rPr>
                        <a:t>Learn more about Virtual Machines</a:t>
                      </a:r>
                    </a:p>
                  </a:txBody>
                  <a:tcPr marL="52850" marR="52850" marT="26425" marB="26425" anchor="ctr">
                    <a:lnL>
                      <a:noFill/>
                    </a:lnL>
                    <a:lnR>
                      <a:noFill/>
                    </a:lnR>
                    <a:lnT>
                      <a:noFill/>
                    </a:lnT>
                    <a:lnB>
                      <a:noFill/>
                    </a:lnB>
                    <a:noFill/>
                  </a:tcPr>
                </a:tc>
                <a:extLst>
                  <a:ext uri="{0D108BD9-81ED-4DB2-BD59-A6C34878D82A}">
                    <a16:rowId xmlns:a16="http://schemas.microsoft.com/office/drawing/2014/main" val="678066274"/>
                  </a:ext>
                </a:extLst>
              </a:tr>
            </a:tbl>
          </a:graphicData>
        </a:graphic>
      </p:graphicFrame>
    </p:spTree>
    <p:extLst>
      <p:ext uri="{BB962C8B-B14F-4D97-AF65-F5344CB8AC3E}">
        <p14:creationId xmlns:p14="http://schemas.microsoft.com/office/powerpoint/2010/main" val="10447545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a:br>
              <a:rPr lang="en-IN" b="0" i="0" u="none" strike="noStrike" dirty="0">
                <a:solidFill>
                  <a:srgbClr val="1D2125"/>
                </a:solidFill>
                <a:effectLst/>
                <a:latin typeface="Poppins" pitchFamily="2" charset="77"/>
              </a:rPr>
            </a:br>
            <a:r>
              <a:rPr lang="en-IN" sz="2400" b="0" i="0" u="none" strike="noStrike" dirty="0">
                <a:solidFill>
                  <a:srgbClr val="455A64"/>
                </a:solidFill>
                <a:effectLst/>
                <a:latin typeface="Poppins" pitchFamily="2" charset="77"/>
              </a:rPr>
              <a:t>How can AWS help with your containers and virtual machines?</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has several services to support all your application deployment needs. Here are some examples: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App2Container is a containerization tool that allows software developers to modernize legacy applications. Developers use AWS App2Container to turn Java and .NET applications into containerized applications.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Container Registry (Amazon ECR</a:t>
            </a:r>
            <a:r>
              <a:rPr lang="en-IN" sz="1600" b="0" i="0" u="sng" strike="noStrike" dirty="0">
                <a:solidFill>
                  <a:srgbClr val="1D2125"/>
                </a:solidFill>
                <a:effectLst/>
                <a:latin typeface="Times New Roman" panose="02020603050405020304" pitchFamily="18" charset="0"/>
                <a:cs typeface="Times New Roman" panose="02020603050405020304" pitchFamily="18" charset="0"/>
              </a:rPr>
              <a:t>)</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highly available and secure private container repository that makes it easy to store and manage Docker container images.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Container Service (Amazon ECS</a:t>
            </a:r>
            <a:r>
              <a:rPr lang="en-IN" sz="1600" b="0" i="0" u="sng" strike="noStrike" dirty="0">
                <a:solidFill>
                  <a:srgbClr val="1D2125"/>
                </a:solidFill>
                <a:effectLst/>
                <a:latin typeface="Times New Roman" panose="02020603050405020304" pitchFamily="18" charset="0"/>
                <a:cs typeface="Times New Roman" panose="02020603050405020304" pitchFamily="18" charset="0"/>
              </a:rPr>
              <a:t>)</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highly scalable, high-performance container orchestration service to run Docker containers on the AWS Cloud.</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Compute Cloud (Amazon EC2) lets you exercise granular control over your cloud instances and choose the processors, storage, and networking you want.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a:t>
            </a:r>
            <a:r>
              <a:rPr lang="en-IN" sz="1600" b="0" i="0" u="none" strike="noStrike" dirty="0" err="1">
                <a:solidFill>
                  <a:srgbClr val="1D2125"/>
                </a:solidFill>
                <a:effectLst/>
                <a:latin typeface="Times New Roman" panose="02020603050405020304" pitchFamily="18" charset="0"/>
                <a:cs typeface="Times New Roman" panose="02020603050405020304" pitchFamily="18" charset="0"/>
              </a:rPr>
              <a:t>Fargate</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technology for Amazon ECS that lets you run Docker containers without deploying or managing infrastructure.</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VMWare Cloud on AWS lets you simplify and accelerate the migration of mission-critical production workloads from on-premises virtual machines to the AWS Cloud.</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7ce679ef4dc841d7">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cId3fcc58edaa764de1">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3fcc58edaa764de1">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3f68bfc05b6549db">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cIdc2e08f5196794551">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cIde61dd03a2ae5445b"/>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TotalTime>425</TotalTime>
  <Words>710</Words>
  <Application>Microsoft Macintosh PowerPoint</Application>
  <PresentationFormat>Widescreen</PresentationFormat>
  <Paragraphs>153</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Lucida Console</vt:lpstr>
      <vt:lpstr>Packt Training</vt:lpstr>
      <vt:lpstr>Outline</vt:lpstr>
      <vt:lpstr>Introduction</vt:lpstr>
      <vt:lpstr>Introducing distributed computing</vt:lpstr>
      <vt:lpstr>The Byzantine Generals problem</vt:lpstr>
      <vt:lpstr>PowerPoint Presentation</vt:lpstr>
      <vt:lpstr>CAP theorem</vt:lpstr>
      <vt:lpstr>Types of faults in distributed systems</vt:lpstr>
      <vt:lpstr>Defining ‘Blockchain’</vt:lpstr>
      <vt:lpstr>Blockchain definition</vt:lpstr>
      <vt:lpstr>How did blockchain technology develop?</vt:lpstr>
      <vt:lpstr>Architectural view of Blockchain</vt:lpstr>
      <vt:lpstr>PowerPoint Presentation</vt:lpstr>
      <vt:lpstr>Generic elements of a blockchain</vt:lpstr>
      <vt:lpstr>How a blockchain works</vt:lpstr>
      <vt:lpstr>Generic block structure</vt:lpstr>
      <vt:lpstr>Benefits of blockchain</vt:lpstr>
      <vt:lpstr>Limitations of blockchain</vt:lpstr>
      <vt:lpstr>Features of a blockchain </vt:lpstr>
      <vt:lpstr>Exercise</vt:lpstr>
      <vt:lpstr>Summary</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Microsoft Office User</dc:creator>
  <lastModifiedBy>Jagmeet Kaur</lastModifiedBy>
  <revision>71</revision>
  <lastPrinted>2018-06-05T12:50:25.0000000Z</lastPrinted>
  <dcterms:created xsi:type="dcterms:W3CDTF">2018-06-05T09:17:37.0000000Z</dcterms:created>
  <dcterms:modified xsi:type="dcterms:W3CDTF">2024-11-21T18:46:45.1390000Z</dcterms:modified>
</coreProperties>
</file>