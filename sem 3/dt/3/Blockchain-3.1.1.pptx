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8" r:id="rId3"/>
    <p:sldId id="259" r:id="rId4"/>
    <p:sldId id="261" r:id="rId5"/>
    <p:sldId id="260" r:id="rId6"/>
    <p:sldId id="278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dward Doxey" initials="ED" lastIdx="9" clrIdx="0">
    <p:extLst>
      <p:ext uri="{19B8F6BF-5375-455C-9EA6-DF929625EA0E}">
        <p15:presenceInfo xmlns:p15="http://schemas.microsoft.com/office/powerpoint/2012/main" userId="S-1-5-21-226508970-3071066648-2496781527-17276" providerId="AD"/>
      </p:ext>
    </p:extLst>
  </p:cmAuthor>
  <p:cmAuthor id="2" name="IB" initials="MOU" lastIdx="5" clrIdx="1">
    <p:extLst>
      <p:ext uri="{19B8F6BF-5375-455C-9EA6-DF929625EA0E}">
        <p15:presenceInfo xmlns:p15="http://schemas.microsoft.com/office/powerpoint/2012/main" userId="IB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C2C2C"/>
    <a:srgbClr val="FF40FF"/>
    <a:srgbClr val="FF0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30"/>
    <p:restoredTop sz="86422"/>
  </p:normalViewPr>
  <p:slideViewPr>
    <p:cSldViewPr snapToObjects="1">
      <p:cViewPr varScale="1">
        <p:scale>
          <a:sx n="102" d="100"/>
          <a:sy n="102" d="100"/>
        </p:scale>
        <p:origin x="216" y="576"/>
      </p:cViewPr>
      <p:guideLst/>
    </p:cSldViewPr>
  </p:slideViewPr>
  <p:outlineViewPr>
    <p:cViewPr>
      <p:scale>
        <a:sx n="33" d="100"/>
        <a:sy n="33" d="100"/>
      </p:scale>
      <p:origin x="0" y="-281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 showGuides="1">
      <p:cViewPr varScale="1">
        <p:scale>
          <a:sx n="121" d="100"/>
          <a:sy n="121" d="100"/>
        </p:scale>
        <p:origin x="386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7C1157E-F41D-D748-8B69-7140BA26C9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32F0C-C3BE-9347-8A3D-93C7DD35FC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EC103C-0C00-5144-B134-6065E402762D}" type="datetime1">
              <a:rPr lang="en-GB" smtClean="0"/>
              <a:t>25/06/2024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9C81F-45DF-3942-B5BB-AFF6409293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535E9-87A8-4E42-A7E7-ECCB491EE7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AB2214-6F48-7B47-BA9F-4377B0ABE2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634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7CFCD-DFD6-F34D-95F2-86875A23819B}" type="datetime1">
              <a:rPr lang="en-GB" smtClean="0"/>
              <a:t>25/06/2024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5C6A4-13EB-334F-862B-598CD5A981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63079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EBAA-2F39-3941-B36E-6CA80D201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" y="1080000"/>
            <a:ext cx="10080000" cy="237600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30EB3-3F40-D64C-A1AD-1D8CF2EDB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" y="3600000"/>
            <a:ext cx="10080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F9E7C-27BF-0B47-97CE-96E21ED0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20003F6-9FA2-F04E-AA53-1C0C7743172A}" type="datetime1">
              <a:rPr lang="en-GB" smtClean="0"/>
              <a:pPr/>
              <a:t>25/06/2024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26B7-A7B8-0043-9B2B-84EB56AD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AF09BA4-C874-394D-BD6F-A467115F6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fld id="{2D5587A6-0F28-234D-9116-41BE2E1A2AC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8AC70F3-85B6-F946-A3C7-59F302B3616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800" y="504000"/>
            <a:ext cx="1332000" cy="43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90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EBAA-2F39-3941-B36E-6CA80D201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00" y="1080000"/>
            <a:ext cx="10080000" cy="237600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30EB3-3F40-D64C-A1AD-1D8CF2EDB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8000" y="3600000"/>
            <a:ext cx="10080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F9E7C-27BF-0B47-97CE-96E21ED00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003F6-9FA2-F04E-AA53-1C0C7743172A}" type="datetime1">
              <a:rPr lang="en-GB" smtClean="0"/>
              <a:t>25/06/2024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A26B7-A7B8-0043-9B2B-84EB56AD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70887-57E7-3A43-BB1A-5812E9526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2196FCD-AF99-A040-BFB2-5769EE97611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800" y="504000"/>
            <a:ext cx="1332000" cy="43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1346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CAF7-AA06-1040-B1E0-8E15D9C51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5B501-CBFE-104D-BB25-66D22875F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000" y="1404000"/>
            <a:ext cx="10800000" cy="475200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5F08-8E72-9148-82A1-2C591DFB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1FFB84F-73DC-4C43-AC13-67A9ADC1B225}" type="datetime1">
              <a:rPr lang="en-GB" smtClean="0"/>
              <a:pPr/>
              <a:t>25/06/2024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66E4-48A8-C248-8403-C00951EF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EEB4CF7-D339-7A46-8B33-C97F7A447C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fld id="{2D5587A6-0F28-234D-9116-41BE2E1A2A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51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11F1-9EFF-7144-9125-3139B4E1C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999" y="576000"/>
            <a:ext cx="3311999" cy="15840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7E45-EC2E-6A48-999E-8DBA374C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7999" y="1260000"/>
            <a:ext cx="7200001" cy="48960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B9F23F-F468-1142-A98D-597B3EBFA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7999" y="2340000"/>
            <a:ext cx="3312000" cy="3816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037A2-B8BC-4D46-AA82-267CC5E77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AC278-FEFB-4949-87C8-2F7B048D5B30}" type="datetime1">
              <a:rPr lang="en-GB" smtClean="0"/>
              <a:t>25/06/2024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1E40FC-CC75-5C49-B153-71011361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0EBE3-CD47-DA41-8665-99A541C1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4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39A8-FECC-1549-9FD2-BB4362008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0CBC2C-B15B-964F-ACEE-BEB2DAF7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A2DF1-82CB-3949-8DC2-ECE30178A186}" type="datetime1">
              <a:rPr lang="en-GB" smtClean="0"/>
              <a:t>25/06/2024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40B73-B3DD-3E49-89F6-7D6344C2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02C64-D1FE-5E4F-84AE-101D7BAC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08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reencast">
    <p:bg>
      <p:bgPr>
        <a:solidFill>
          <a:srgbClr val="FF4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FFE9E8-50C7-8249-8A2A-C78D5187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D5587A6-0F28-234D-9116-41BE2E1A2AC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56A25-91D5-724D-A11F-39696A1993AD}"/>
              </a:ext>
            </a:extLst>
          </p:cNvPr>
          <p:cNvSpPr txBox="1"/>
          <p:nvPr userDrawn="1"/>
        </p:nvSpPr>
        <p:spPr>
          <a:xfrm>
            <a:off x="648000" y="2625003"/>
            <a:ext cx="6816803" cy="83099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800" b="0" i="0" u="none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Screencast Placeholder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F77107-76F4-9144-A972-88C0AFF26277}"/>
              </a:ext>
            </a:extLst>
          </p:cNvPr>
          <p:cNvSpPr txBox="1"/>
          <p:nvPr userDrawn="1"/>
        </p:nvSpPr>
        <p:spPr>
          <a:xfrm>
            <a:off x="648000" y="3600000"/>
            <a:ext cx="10080000" cy="9935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l" defTabSz="914400" rtl="0" eaLnBrk="1" latinLnBrk="0" hangingPunct="1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None/>
            </a:pPr>
            <a:r>
              <a:rPr lang="en-US" sz="2200" kern="12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You should delete this slide before recording, otherwise it will skew your slide numbers.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A0C97EFC-6E59-C249-9F99-21A17B278F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8000" y="6336000"/>
            <a:ext cx="2160000" cy="288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D3AC278-FEFB-4949-87C8-2F7B048D5B30}" type="datetime1">
              <a:rPr lang="en-GB" smtClean="0"/>
              <a:pPr/>
              <a:t>25/06/2024</a:t>
            </a:fld>
            <a:endParaRPr lang="en-US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C396A9A-B7C9-0C46-97D1-1DB9C8C8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8000" y="6336000"/>
            <a:ext cx="6480000" cy="288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5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emf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6AE425C8-279E-D14C-A350-756694D4E5A6}"/>
              </a:ext>
            </a:extLst>
          </p:cNvPr>
          <p:cNvPicPr>
            <a:picLocks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7872000" y="0"/>
            <a:ext cx="43200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CD7A0B-833F-2348-AFD5-63C91BB6B1C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1160000" y="540000"/>
            <a:ext cx="540000" cy="432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3A4D2-6AEA-4D4B-A196-57E4312E7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360000"/>
            <a:ext cx="10078412" cy="86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EFD75-EDA9-4D48-A65C-1E8AAC955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8000" y="1404000"/>
            <a:ext cx="10800000" cy="475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CCB4-FEA3-3F47-9B84-5FF4FDC99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88000" y="6336000"/>
            <a:ext cx="21600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fld id="{A0CEF12D-8022-E647-B033-82324AAEB22F}" type="datetime1">
              <a:rPr lang="en-GB" smtClean="0"/>
              <a:pPr/>
              <a:t>25/06/2024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5BCCB-9CF8-3C41-9007-5D7A97003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8000" y="6336000"/>
            <a:ext cx="6480000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E48E0-D7D3-694B-B72B-F287A0765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fld id="{2D5587A6-0F28-234D-9116-41BE2E1A2A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115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0" r:id="rId3"/>
    <p:sldLayoutId id="2147483656" r:id="rId4"/>
    <p:sldLayoutId id="2147483654" r:id="rId5"/>
    <p:sldLayoutId id="2147483660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rgbClr val="2C2C2C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rgbClr val="2C2C2C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4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rgbClr val="2C2C2C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4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rgbClr val="2C2C2C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4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rgbClr val="2C2C2C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40000"/>
        </a:lnSpc>
        <a:spcBef>
          <a:spcPts val="800"/>
        </a:spcBef>
        <a:buFont typeface="Arial" panose="020B0604020202020204" pitchFamily="34" charset="0"/>
        <a:buChar char="•"/>
        <a:defRPr sz="1600" kern="1200">
          <a:solidFill>
            <a:srgbClr val="2C2C2C"/>
          </a:solidFill>
          <a:latin typeface="Arial" panose="020B0604020202020204" pitchFamily="34" charset="0"/>
          <a:ea typeface="Open Sans" panose="020B0606030504020204" pitchFamily="34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tiff"/><Relationship Id="rId7" Type="http://schemas.openxmlformats.org/officeDocument/2006/relationships/image" Target="../media/image11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tiff"/><Relationship Id="rId5" Type="http://schemas.openxmlformats.org/officeDocument/2006/relationships/image" Target="../media/image9.tiff"/><Relationship Id="rId4" Type="http://schemas.openxmlformats.org/officeDocument/2006/relationships/image" Target="../media/image8.tiff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" Type="http://schemas.openxmlformats.org/officeDocument/2006/relationships/image" Target="../media/image20.png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bitcoin.org/bitcoin.pdf" TargetMode="Externa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F7E96-FF29-4DC7-B387-5996DACB8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A914D-3136-4D3D-B3B5-0EB7A98E2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/>
              <a:t>Describing the fundamentals of distributed systems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Defining blockchain technology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Understanding how blockchain technology was developed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Detailing the elements of a blockchain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Identifying the benefits and limitations of blockchain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40E7-101C-484E-B220-BACCA66DC6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2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71CBF-6379-6144-9230-DD7A8679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87ACC-4876-104B-8507-129C6DBC9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50000"/>
              </a:lnSpc>
              <a:buNone/>
            </a:pPr>
            <a:r>
              <a:rPr lang="en-US" dirty="0"/>
              <a:t>Blockchain is a new revolutionary technology that will change our lives. In this chapter we will cover the theory of </a:t>
            </a:r>
            <a:r>
              <a:rPr lang="en-US" dirty="0" err="1"/>
              <a:t>blockchain</a:t>
            </a:r>
            <a:r>
              <a:rPr lang="en-US" dirty="0"/>
              <a:t> technology, and its technical foundations.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A6A42-78A0-2C46-8C05-9CBA1E6D6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732FAD-C005-484D-99AD-FC7EF15E928F}"/>
              </a:ext>
            </a:extLst>
          </p:cNvPr>
          <p:cNvSpPr txBox="1">
            <a:spLocks/>
          </p:cNvSpPr>
          <p:nvPr/>
        </p:nvSpPr>
        <p:spPr>
          <a:xfrm>
            <a:off x="476075" y="202163"/>
            <a:ext cx="10515600" cy="939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endParaRPr lang="en-US" sz="35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6525AB-F33C-7C48-973E-0EA9787B4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70" y="2778887"/>
            <a:ext cx="2550289" cy="31878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3438AF-B332-9D4D-B3FC-77B6BAA5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429" y="2768235"/>
            <a:ext cx="1805402" cy="1805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3EDB07-EA66-804E-8C3A-65CFCBFE7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2014" y="2778887"/>
            <a:ext cx="2562165" cy="17699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B74970-B5D5-324F-A1A5-A9BD18451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2545" y="4702543"/>
            <a:ext cx="2342405" cy="126420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18E750-686D-C340-94F6-B1A4FDD131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0867" y="4625828"/>
            <a:ext cx="2893312" cy="13409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BD269F9-C858-374D-A124-3C6A837C41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361" y="2778887"/>
            <a:ext cx="1700812" cy="31878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1C3653-5283-BC4B-8951-C628D40A5B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84950" y="4702543"/>
            <a:ext cx="1339614" cy="1281201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EF46FA-9B2E-444B-9A98-165BE86E21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5720" y="2768235"/>
            <a:ext cx="1555536" cy="191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49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14920-F12B-8B4F-8B62-75375E49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Introducing distributed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55DC7-9014-0A4C-AA7F-28AA98CE3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distributed system is a computing paradigm whereby two or more nodes work with one another, in a coordinated fashion, to achieve a common outcome. </a:t>
            </a:r>
          </a:p>
          <a:p>
            <a:r>
              <a:rPr lang="en-US" dirty="0"/>
              <a:t>A distributed system is modeled in such a way that end users see it as a single logical platform. </a:t>
            </a:r>
          </a:p>
          <a:p>
            <a:r>
              <a:rPr lang="en-US" dirty="0"/>
              <a:t>Examples include clusters and clouds.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95BA53-F328-D64E-9259-B4A786605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06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097A83-8A5B-804A-BA40-C32F158F3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74" y="247432"/>
            <a:ext cx="4990168" cy="1352751"/>
          </a:xfrm>
        </p:spPr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The Byzantine Generals problem</a:t>
            </a: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7B7218-F879-864C-9BA6-FF3FB6B4EE78}"/>
              </a:ext>
            </a:extLst>
          </p:cNvPr>
          <p:cNvSpPr txBox="1"/>
          <p:nvPr/>
        </p:nvSpPr>
        <p:spPr>
          <a:xfrm>
            <a:off x="4468415" y="5543583"/>
            <a:ext cx="34964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Attack or retreat?</a:t>
            </a:r>
          </a:p>
          <a:p>
            <a:r>
              <a:rPr lang="en-US" sz="2400" dirty="0"/>
              <a:t>Consensus required to win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7EDE8B-7DA7-0D40-93A1-376610911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983" y="2392275"/>
            <a:ext cx="1734149" cy="1441787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C5E3FC6-FC37-494D-80F0-3A982E2C4124}"/>
              </a:ext>
            </a:extLst>
          </p:cNvPr>
          <p:cNvGrpSpPr/>
          <p:nvPr/>
        </p:nvGrpSpPr>
        <p:grpSpPr>
          <a:xfrm>
            <a:off x="3248149" y="3742264"/>
            <a:ext cx="1135812" cy="1548997"/>
            <a:chOff x="3248149" y="3742264"/>
            <a:chExt cx="1135812" cy="154899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F3C8E4FD-7C2F-D547-A716-E73BA8F2A0CF}"/>
                </a:ext>
              </a:extLst>
            </p:cNvPr>
            <p:cNvGrpSpPr/>
            <p:nvPr/>
          </p:nvGrpSpPr>
          <p:grpSpPr>
            <a:xfrm>
              <a:off x="3355860" y="4074689"/>
              <a:ext cx="1028101" cy="1216572"/>
              <a:chOff x="3355860" y="4074689"/>
              <a:chExt cx="1028101" cy="1216572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4262855-11C3-AD44-85FF-5061751864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76663" y="4074689"/>
                <a:ext cx="707298" cy="1040144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34870FF8-115F-7442-A95C-D8CDA24435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5860" y="4452845"/>
                <a:ext cx="570123" cy="838416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A224BA-AE39-344E-9F04-00B080A56191}"/>
                </a:ext>
              </a:extLst>
            </p:cNvPr>
            <p:cNvSpPr txBox="1"/>
            <p:nvPr/>
          </p:nvSpPr>
          <p:spPr>
            <a:xfrm>
              <a:off x="3925983" y="3754129"/>
              <a:ext cx="249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?</a:t>
              </a:r>
              <a:endParaRPr lang="en-US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9C0B300-53FD-824D-98C0-E2DB3DA95240}"/>
                </a:ext>
              </a:extLst>
            </p:cNvPr>
            <p:cNvSpPr txBox="1"/>
            <p:nvPr/>
          </p:nvSpPr>
          <p:spPr>
            <a:xfrm>
              <a:off x="3248149" y="3742264"/>
              <a:ext cx="8570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Attack</a:t>
              </a:r>
              <a:endParaRPr lang="en-US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7442D9-DB52-4B44-8AEC-EEE8B438DE0A}"/>
              </a:ext>
            </a:extLst>
          </p:cNvPr>
          <p:cNvGrpSpPr/>
          <p:nvPr/>
        </p:nvGrpSpPr>
        <p:grpSpPr>
          <a:xfrm>
            <a:off x="2280242" y="1488416"/>
            <a:ext cx="1396421" cy="1847051"/>
            <a:chOff x="2280242" y="1488416"/>
            <a:chExt cx="1396421" cy="184705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8548DA-510C-7C45-AC43-8FA8B34B35DB}"/>
                </a:ext>
              </a:extLst>
            </p:cNvPr>
            <p:cNvGrpSpPr/>
            <p:nvPr/>
          </p:nvGrpSpPr>
          <p:grpSpPr>
            <a:xfrm>
              <a:off x="2280242" y="1872204"/>
              <a:ext cx="1396421" cy="1463263"/>
              <a:chOff x="2280242" y="1872204"/>
              <a:chExt cx="1396421" cy="146326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F542AFE6-729A-2A4D-ABE4-7DE2A6229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69365" y="1872204"/>
                <a:ext cx="707298" cy="1040144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3E25BF37-5CBA-CF48-97E4-7959ADCCF2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0242" y="1898790"/>
                <a:ext cx="707298" cy="1040144"/>
              </a:xfrm>
              <a:prstGeom prst="rect">
                <a:avLst/>
              </a:prstGeom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978149DE-9209-E64E-8BA9-76CDDF9742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06084" y="2295323"/>
                <a:ext cx="707298" cy="1040144"/>
              </a:xfrm>
              <a:prstGeom prst="rect">
                <a:avLst/>
              </a:prstGeom>
            </p:spPr>
          </p:pic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29E9A02-882E-1849-8909-C2E7196AB44C}"/>
                </a:ext>
              </a:extLst>
            </p:cNvPr>
            <p:cNvSpPr txBox="1"/>
            <p:nvPr/>
          </p:nvSpPr>
          <p:spPr>
            <a:xfrm>
              <a:off x="3228650" y="1514098"/>
              <a:ext cx="249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?</a:t>
              </a:r>
              <a:endParaRPr lang="en-US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789F871-AC0A-7648-838C-6EE732DB894F}"/>
                </a:ext>
              </a:extLst>
            </p:cNvPr>
            <p:cNvSpPr txBox="1"/>
            <p:nvPr/>
          </p:nvSpPr>
          <p:spPr>
            <a:xfrm>
              <a:off x="2396358" y="1488416"/>
              <a:ext cx="9956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Retreat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857459-2045-F144-9408-DCD9AEDBFE48}"/>
              </a:ext>
            </a:extLst>
          </p:cNvPr>
          <p:cNvGrpSpPr/>
          <p:nvPr/>
        </p:nvGrpSpPr>
        <p:grpSpPr>
          <a:xfrm>
            <a:off x="7650159" y="3133143"/>
            <a:ext cx="1681443" cy="2187604"/>
            <a:chOff x="7650159" y="3133143"/>
            <a:chExt cx="1681443" cy="218760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D84D33AE-4C21-E34F-9D27-C79CCD20D6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8225340" y="3954184"/>
              <a:ext cx="753978" cy="1040144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49C8F48-2E33-4D4A-9D6D-090A9B770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7650159" y="3507392"/>
              <a:ext cx="753978" cy="1040144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0D524D4-6871-494A-AD94-7F50DDDA1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8724939" y="4483830"/>
              <a:ext cx="606663" cy="83691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6BE3B3F-1331-9A42-A49F-86EF0E1FE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8602329" y="3693775"/>
              <a:ext cx="606663" cy="836917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01EBC1-7FE4-EE44-BAB0-893B5F48C75C}"/>
                </a:ext>
              </a:extLst>
            </p:cNvPr>
            <p:cNvSpPr txBox="1"/>
            <p:nvPr/>
          </p:nvSpPr>
          <p:spPr>
            <a:xfrm>
              <a:off x="8789920" y="3133143"/>
              <a:ext cx="249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?</a:t>
              </a:r>
              <a:endParaRPr lang="en-US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21CEEF-85FF-7142-BEE1-907EBBA50ADC}"/>
                </a:ext>
              </a:extLst>
            </p:cNvPr>
            <p:cNvSpPr txBox="1"/>
            <p:nvPr/>
          </p:nvSpPr>
          <p:spPr>
            <a:xfrm>
              <a:off x="8005409" y="3133143"/>
              <a:ext cx="99564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rgbClr val="FF0000"/>
                  </a:solidFill>
                </a:rPr>
                <a:t>Retreat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B58967-7C75-9040-8903-CE9D6B1A9831}"/>
              </a:ext>
            </a:extLst>
          </p:cNvPr>
          <p:cNvGrpSpPr/>
          <p:nvPr/>
        </p:nvGrpSpPr>
        <p:grpSpPr>
          <a:xfrm>
            <a:off x="5315530" y="606592"/>
            <a:ext cx="1195098" cy="1489827"/>
            <a:chOff x="5312062" y="525484"/>
            <a:chExt cx="1195098" cy="1489827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2D5D7EE-2014-6142-8B65-74ABE3020C0D}"/>
                </a:ext>
              </a:extLst>
            </p:cNvPr>
            <p:cNvGrpSpPr/>
            <p:nvPr/>
          </p:nvGrpSpPr>
          <p:grpSpPr>
            <a:xfrm>
              <a:off x="5443795" y="862209"/>
              <a:ext cx="1063365" cy="1153102"/>
              <a:chOff x="5443795" y="862209"/>
              <a:chExt cx="1063365" cy="1153102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7F8B46E-20CF-5346-8416-00A923390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5443795" y="862209"/>
                <a:ext cx="753978" cy="1040144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1646C759-013E-B941-A340-9225CD9924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5783774" y="1017370"/>
                <a:ext cx="723386" cy="997941"/>
              </a:xfrm>
              <a:prstGeom prst="rect">
                <a:avLst/>
              </a:prstGeom>
            </p:spPr>
          </p:pic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DEDE7CA-E7A8-D44B-AFA7-281ADE4B28DB}"/>
                </a:ext>
              </a:extLst>
            </p:cNvPr>
            <p:cNvSpPr txBox="1"/>
            <p:nvPr/>
          </p:nvSpPr>
          <p:spPr>
            <a:xfrm>
              <a:off x="5312062" y="525484"/>
              <a:ext cx="10245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Attack</a:t>
              </a:r>
              <a:r>
                <a:rPr lang="en-US" sz="2000" b="1" dirty="0"/>
                <a:t>?</a:t>
              </a:r>
              <a:endParaRPr lang="en-US" b="1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B65D92-EFC6-7D4B-BCB3-4E782C0DE81F}"/>
              </a:ext>
            </a:extLst>
          </p:cNvPr>
          <p:cNvGrpSpPr/>
          <p:nvPr/>
        </p:nvGrpSpPr>
        <p:grpSpPr>
          <a:xfrm>
            <a:off x="7531068" y="1017370"/>
            <a:ext cx="2101573" cy="1818369"/>
            <a:chOff x="7531068" y="1017370"/>
            <a:chExt cx="2101573" cy="181836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2F90696-3106-B645-AC4D-F7510A0C01BB}"/>
                </a:ext>
              </a:extLst>
            </p:cNvPr>
            <p:cNvGrpSpPr/>
            <p:nvPr/>
          </p:nvGrpSpPr>
          <p:grpSpPr>
            <a:xfrm>
              <a:off x="7964906" y="1351506"/>
              <a:ext cx="1667735" cy="1484233"/>
              <a:chOff x="7964906" y="1351506"/>
              <a:chExt cx="1667735" cy="1484233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93DB95BA-FAE4-7B4A-AE7B-B3D3BD4946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7964906" y="1351506"/>
                <a:ext cx="753978" cy="1040144"/>
              </a:xfrm>
              <a:prstGeom prst="rect">
                <a:avLst/>
              </a:prstGeom>
            </p:spPr>
          </p:pic>
          <p:pic>
            <p:nvPicPr>
              <p:cNvPr id="38" name="Picture 37">
                <a:extLst>
                  <a:ext uri="{FF2B5EF4-FFF2-40B4-BE49-F238E27FC236}">
                    <a16:creationId xmlns:a16="http://schemas.microsoft.com/office/drawing/2014/main" id="{939399AC-0A73-E640-ABDD-9E5D142E8B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8537591" y="1574865"/>
                <a:ext cx="604370" cy="833753"/>
              </a:xfrm>
              <a:prstGeom prst="rect">
                <a:avLst/>
              </a:prstGeom>
            </p:spPr>
          </p:pic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2D298072-86F2-8743-BC3C-F50B93A3F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9028271" y="1495240"/>
                <a:ext cx="604370" cy="833753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E9D80C64-7152-A94D-9BE4-6577D6348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8914580" y="2001986"/>
                <a:ext cx="604370" cy="833753"/>
              </a:xfrm>
              <a:prstGeom prst="rect">
                <a:avLst/>
              </a:prstGeom>
            </p:spPr>
          </p:pic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8BE726-C1D1-D544-8F56-2B724429FE5D}"/>
                </a:ext>
              </a:extLst>
            </p:cNvPr>
            <p:cNvSpPr txBox="1"/>
            <p:nvPr/>
          </p:nvSpPr>
          <p:spPr>
            <a:xfrm>
              <a:off x="8217235" y="1017370"/>
              <a:ext cx="24932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?</a:t>
              </a:r>
              <a:endParaRPr lang="en-US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378B6C9-A1DB-1846-ACED-7637F4269E4F}"/>
                </a:ext>
              </a:extLst>
            </p:cNvPr>
            <p:cNvSpPr txBox="1"/>
            <p:nvPr/>
          </p:nvSpPr>
          <p:spPr>
            <a:xfrm>
              <a:off x="7531068" y="1022363"/>
              <a:ext cx="8570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solidFill>
                    <a:schemeClr val="accent6"/>
                  </a:solidFill>
                </a:rPr>
                <a:t>Attack</a:t>
              </a:r>
              <a:endParaRPr lang="en-US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1187307" y="57136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94624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3FF44-1803-A747-8BAB-2E5CE2C71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476" y="579157"/>
            <a:ext cx="540000" cy="288032"/>
          </a:xfrm>
        </p:spPr>
        <p:txBody>
          <a:bodyPr/>
          <a:lstStyle/>
          <a:p>
            <a:fld id="{2D5587A6-0F28-234D-9116-41BE2E1A2AC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1E523B1-5DC8-4E46-8E22-74C9A38CE15B}"/>
              </a:ext>
            </a:extLst>
          </p:cNvPr>
          <p:cNvSpPr txBox="1">
            <a:spLocks/>
          </p:cNvSpPr>
          <p:nvPr/>
        </p:nvSpPr>
        <p:spPr>
          <a:xfrm>
            <a:off x="525462" y="3032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Design of a distributed system</a:t>
            </a:r>
            <a:br>
              <a:rPr lang="en-GB" sz="3600" dirty="0"/>
            </a:br>
            <a:endParaRPr lang="en-US" sz="3500" b="1" dirty="0"/>
          </a:p>
        </p:txBody>
      </p:sp>
      <p:pic>
        <p:nvPicPr>
          <p:cNvPr id="6" name="Picture 1" descr="page35image3854624">
            <a:extLst>
              <a:ext uri="{FF2B5EF4-FFF2-40B4-BE49-F238E27FC236}">
                <a16:creationId xmlns:a16="http://schemas.microsoft.com/office/drawing/2014/main" id="{163A6D1F-31A9-3345-8CBD-FEE99F4228B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696" y="1628800"/>
            <a:ext cx="4847132" cy="3987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57ABF9-8C07-8545-B5F2-330841965134}"/>
              </a:ext>
            </a:extLst>
          </p:cNvPr>
          <p:cNvSpPr/>
          <p:nvPr/>
        </p:nvSpPr>
        <p:spPr>
          <a:xfrm>
            <a:off x="3081992" y="5896759"/>
            <a:ext cx="57071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N4 is a Byzantine node, L2 is broken or a slow network link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873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04D60-0EC0-7B4F-AD62-3515EFE6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AF0B72F-DF93-3D42-A6B1-5726BA7F0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17640" cy="831627"/>
          </a:xfrm>
        </p:spPr>
        <p:txBody>
          <a:bodyPr/>
          <a:lstStyle/>
          <a:p>
            <a:r>
              <a:rPr lang="en-US" dirty="0"/>
              <a:t>CAP theorem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26CC14F-28F5-194A-9EFA-0A728A2A4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076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states that a distributed system cannot have all three of the desired properties simultaneously; that is:</a:t>
            </a:r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 dirty="0"/>
              <a:t>Availability</a:t>
            </a:r>
          </a:p>
          <a:p>
            <a:pPr lvl="1"/>
            <a:r>
              <a:rPr lang="en-US" dirty="0"/>
              <a:t>Partition tolerance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759FE-7F6A-C84D-AE2A-027DFEEE9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2564904"/>
            <a:ext cx="3805064" cy="38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29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1BE0F-58DB-BE4C-81D9-F37E548DF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AC8E35-5A05-6F47-9DBE-877A1FC9D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00" y="276401"/>
            <a:ext cx="10515600" cy="1064367"/>
          </a:xfrm>
        </p:spPr>
        <p:txBody>
          <a:bodyPr>
            <a:normAutofit/>
          </a:bodyPr>
          <a:lstStyle/>
          <a:p>
            <a:r>
              <a:rPr lang="en-US" dirty="0"/>
              <a:t>Types of faults in distributed systems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97A204-FE33-0941-8E60-43EE8E2B4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dirty="0"/>
              <a:t>Fail-stop faults (crash faults)</a:t>
            </a:r>
          </a:p>
          <a:p>
            <a:pPr lvl="1"/>
            <a:r>
              <a:rPr lang="en-US" dirty="0"/>
              <a:t>Where components crash or cease to operate</a:t>
            </a:r>
          </a:p>
          <a:p>
            <a:pPr lvl="1"/>
            <a:r>
              <a:rPr lang="en-US" dirty="0"/>
              <a:t>Simpler to deal with</a:t>
            </a:r>
          </a:p>
          <a:p>
            <a:pPr marL="0" indent="0">
              <a:buNone/>
            </a:pPr>
            <a:r>
              <a:rPr lang="en-US" dirty="0"/>
              <a:t>Byzantine faults</a:t>
            </a:r>
          </a:p>
          <a:p>
            <a:pPr lvl="1"/>
            <a:r>
              <a:rPr lang="en-US" dirty="0"/>
              <a:t>Where components are potentially untrustworthy or malicious</a:t>
            </a:r>
          </a:p>
          <a:p>
            <a:pPr lvl="1"/>
            <a:r>
              <a:rPr lang="en-US" dirty="0"/>
              <a:t>Difficult to deal with</a:t>
            </a:r>
          </a:p>
        </p:txBody>
      </p:sp>
    </p:spTree>
    <p:extLst>
      <p:ext uri="{BB962C8B-B14F-4D97-AF65-F5344CB8AC3E}">
        <p14:creationId xmlns:p14="http://schemas.microsoft.com/office/powerpoint/2010/main" val="346859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65461-7C46-0748-A0C2-321A59161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61D09F-222D-7942-897F-A0D6603D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360000"/>
            <a:ext cx="10078412" cy="864000"/>
          </a:xfrm>
        </p:spPr>
        <p:txBody>
          <a:bodyPr>
            <a:normAutofit/>
          </a:bodyPr>
          <a:lstStyle/>
          <a:p>
            <a:r>
              <a:rPr lang="en-US" dirty="0"/>
              <a:t>Defining ‘Blockchain’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5FC0A2-E211-FC44-8914-68A2796504CB}"/>
              </a:ext>
            </a:extLst>
          </p:cNvPr>
          <p:cNvSpPr/>
          <p:nvPr/>
        </p:nvSpPr>
        <p:spPr>
          <a:xfrm>
            <a:off x="870818" y="1973178"/>
            <a:ext cx="8249518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Layman's definition: </a:t>
            </a:r>
            <a:r>
              <a:rPr lang="en-US" sz="2000" dirty="0"/>
              <a:t>Blockchain is an ever-growing, secure, shared recordkeeping system in which each user of the data holds a copy of the records, which can only be updated if all parties involved in a transaction agree to update.</a:t>
            </a:r>
          </a:p>
          <a:p>
            <a:endParaRPr lang="en-US" sz="2000" dirty="0"/>
          </a:p>
          <a:p>
            <a:endParaRPr lang="en-US" sz="2000" b="1" dirty="0"/>
          </a:p>
          <a:p>
            <a:r>
              <a:rPr lang="en-US" sz="2000" b="1" dirty="0"/>
              <a:t>Technical definition: </a:t>
            </a:r>
            <a:r>
              <a:rPr lang="en-US" sz="2000" dirty="0"/>
              <a:t>Blockchain is a peer-to-peer distributed ledger that is cryptographically-secure, append-only, immutable (extremely hard to change), and updateable only via consensus or agreement among peers.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86273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BF0E2-210B-B64C-B091-70095DCD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DD0AAE-283F-3E41-8EEA-1D3BEAFEA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00" y="365125"/>
            <a:ext cx="10515600" cy="903635"/>
          </a:xfrm>
        </p:spPr>
        <p:txBody>
          <a:bodyPr/>
          <a:lstStyle/>
          <a:p>
            <a:r>
              <a:rPr lang="en-US" dirty="0" err="1"/>
              <a:t>Blockchain</a:t>
            </a:r>
            <a:r>
              <a:rPr lang="en-US" dirty="0"/>
              <a:t> definition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D79C73F-1C2C-7040-A887-02088C5C3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Peer-to-peer</a:t>
            </a:r>
          </a:p>
          <a:p>
            <a:r>
              <a:rPr lang="en-US" dirty="0"/>
              <a:t>Distributed ledger</a:t>
            </a:r>
          </a:p>
          <a:p>
            <a:r>
              <a:rPr lang="en-US" dirty="0"/>
              <a:t>Cryptographically secure</a:t>
            </a:r>
          </a:p>
          <a:p>
            <a:r>
              <a:rPr lang="en-US" dirty="0"/>
              <a:t>Append only</a:t>
            </a:r>
          </a:p>
          <a:p>
            <a:r>
              <a:rPr lang="en-US" dirty="0"/>
              <a:t>Updateable via consensus (consensus-driven)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813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1D12BF8-19C2-EB48-A560-1F47092F1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65125"/>
            <a:ext cx="10515600" cy="831627"/>
          </a:xfrm>
        </p:spPr>
        <p:txBody>
          <a:bodyPr/>
          <a:lstStyle/>
          <a:p>
            <a:r>
              <a:rPr lang="en-US" dirty="0"/>
              <a:t>How did </a:t>
            </a:r>
            <a:r>
              <a:rPr lang="en-US" dirty="0" err="1"/>
              <a:t>blockchain</a:t>
            </a:r>
            <a:r>
              <a:rPr lang="en-US" dirty="0"/>
              <a:t> technology develop?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E9C348-099C-CD48-B571-0322416EA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16" y="1696844"/>
            <a:ext cx="5765440" cy="2092196"/>
          </a:xfrm>
        </p:spPr>
        <p:txBody>
          <a:bodyPr>
            <a:normAutofit fontScale="77500" lnSpcReduction="20000"/>
          </a:bodyPr>
          <a:lstStyle/>
          <a:p>
            <a:r>
              <a:rPr lang="en-GB" sz="1800" dirty="0"/>
              <a:t>1950s – Hash functions</a:t>
            </a:r>
          </a:p>
          <a:p>
            <a:r>
              <a:rPr lang="en-GB" sz="1800" dirty="0"/>
              <a:t>1970s – Merkle trees - hashes in a tree structure</a:t>
            </a:r>
          </a:p>
          <a:p>
            <a:r>
              <a:rPr lang="en-GB" sz="1800" dirty="0"/>
              <a:t>1970s continued – Research in distributed systems, consensus, state machine replication</a:t>
            </a:r>
          </a:p>
          <a:p>
            <a:r>
              <a:rPr lang="en-GB" sz="1800" dirty="0"/>
              <a:t>1980s – Hash chains for secure logins</a:t>
            </a:r>
          </a:p>
          <a:p>
            <a:r>
              <a:rPr lang="en-GB" sz="1800" dirty="0"/>
              <a:t>1990s – e-Cash for e-payments </a:t>
            </a:r>
          </a:p>
          <a:p>
            <a:endParaRPr lang="en-GB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754D92-95F9-1D46-BEFC-323B8A9D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3933056"/>
            <a:ext cx="7205242" cy="257199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36411E-F011-8640-8DC5-27E1754168BB}"/>
              </a:ext>
            </a:extLst>
          </p:cNvPr>
          <p:cNvSpPr txBox="1">
            <a:spLocks/>
          </p:cNvSpPr>
          <p:nvPr/>
        </p:nvSpPr>
        <p:spPr>
          <a:xfrm>
            <a:off x="6600056" y="1690688"/>
            <a:ext cx="5145505" cy="20983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4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2C2C2C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/>
              <a:t>1991 – Secure timestamping of digital documents.</a:t>
            </a:r>
          </a:p>
          <a:p>
            <a:r>
              <a:rPr lang="en-GB" sz="1400" dirty="0"/>
              <a:t>1992 – </a:t>
            </a:r>
            <a:r>
              <a:rPr lang="en-GB" sz="1400" dirty="0" err="1"/>
              <a:t>Hashcash</a:t>
            </a:r>
            <a:r>
              <a:rPr lang="en-GB" sz="1400" dirty="0"/>
              <a:t> idea to combat junk emails </a:t>
            </a:r>
          </a:p>
          <a:p>
            <a:r>
              <a:rPr lang="en-GB" sz="1400" dirty="0"/>
              <a:t>1994 – S/KEY application for Unix login. </a:t>
            </a:r>
          </a:p>
          <a:p>
            <a:r>
              <a:rPr lang="en-GB" sz="1400" dirty="0"/>
              <a:t>1997/2002 – </a:t>
            </a:r>
            <a:r>
              <a:rPr lang="en-GB" sz="1400" dirty="0" err="1"/>
              <a:t>Hashcash</a:t>
            </a:r>
            <a:r>
              <a:rPr lang="en-GB" sz="1400" dirty="0"/>
              <a:t> </a:t>
            </a:r>
          </a:p>
          <a:p>
            <a:r>
              <a:rPr lang="en-GB" sz="1400" dirty="0"/>
              <a:t>2008/2009 – Bitcoin (the first </a:t>
            </a:r>
            <a:r>
              <a:rPr lang="en-GB" sz="1400" dirty="0" err="1"/>
              <a:t>blockchain</a:t>
            </a:r>
            <a:r>
              <a:rPr lang="en-GB" sz="1400" dirty="0"/>
              <a:t>)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CFFBF0E2-210B-B64C-B091-70095DCD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424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FE43A20-38AD-D841-8063-88056C14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7"/>
            <a:ext cx="10192280" cy="864096"/>
          </a:xfrm>
        </p:spPr>
        <p:txBody>
          <a:bodyPr>
            <a:normAutofit/>
          </a:bodyPr>
          <a:lstStyle/>
          <a:p>
            <a:r>
              <a:rPr lang="en-US" dirty="0"/>
              <a:t>Architectural view of Blockchain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E3504-20F3-C74E-939B-89224DA769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11624" y="1412776"/>
            <a:ext cx="6840760" cy="518457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BF0E2-210B-B64C-B091-70095DCD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</p:spPr>
        <p:txBody>
          <a:bodyPr/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099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urved Connector 4">
            <a:extLst>
              <a:ext uri="{FF2B5EF4-FFF2-40B4-BE49-F238E27FC236}">
                <a16:creationId xmlns:a16="http://schemas.microsoft.com/office/drawing/2014/main" id="{7A4FD404-76E4-3546-B171-38F8C396DF5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87716" y="1652336"/>
            <a:ext cx="1363579" cy="120315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CF4A599-54C3-E446-BFC7-F94EB9485298}"/>
              </a:ext>
            </a:extLst>
          </p:cNvPr>
          <p:cNvSpPr/>
          <p:nvPr/>
        </p:nvSpPr>
        <p:spPr>
          <a:xfrm>
            <a:off x="421102" y="1652336"/>
            <a:ext cx="2101516" cy="3384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Genesis block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Transactions &amp; other data</a:t>
            </a:r>
          </a:p>
        </p:txBody>
      </p:sp>
      <p:cxnSp>
        <p:nvCxnSpPr>
          <p:cNvPr id="7" name="Curved Connector 6">
            <a:extLst>
              <a:ext uri="{FF2B5EF4-FFF2-40B4-BE49-F238E27FC236}">
                <a16:creationId xmlns:a16="http://schemas.microsoft.com/office/drawing/2014/main" id="{4FC8FA8D-291B-E74F-BF78-0E12271B34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522619" y="1652336"/>
            <a:ext cx="1363579" cy="120315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AB4C96CD-1E61-A048-B466-4EEC2C6203D8}"/>
              </a:ext>
            </a:extLst>
          </p:cNvPr>
          <p:cNvGrpSpPr/>
          <p:nvPr/>
        </p:nvGrpSpPr>
        <p:grpSpPr>
          <a:xfrm>
            <a:off x="3886198" y="1652336"/>
            <a:ext cx="2101517" cy="3384884"/>
            <a:chOff x="4588041" y="1475872"/>
            <a:chExt cx="2101517" cy="33848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9692FA-B863-E745-97D6-64F44B6CC983}"/>
                </a:ext>
              </a:extLst>
            </p:cNvPr>
            <p:cNvSpPr/>
            <p:nvPr/>
          </p:nvSpPr>
          <p:spPr>
            <a:xfrm>
              <a:off x="4588042" y="1475872"/>
              <a:ext cx="2101516" cy="33848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Block 1</a:t>
              </a:r>
            </a:p>
            <a:p>
              <a:pPr algn="ctr"/>
              <a:r>
                <a:rPr lang="en-US" dirty="0"/>
                <a:t>Transactions &amp; other data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1ED2F9-6F96-924C-A1A6-859E983CF6B3}"/>
                </a:ext>
              </a:extLst>
            </p:cNvPr>
            <p:cNvSpPr/>
            <p:nvPr/>
          </p:nvSpPr>
          <p:spPr>
            <a:xfrm>
              <a:off x="4588041" y="1475872"/>
              <a:ext cx="2101516" cy="6015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Previous hash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749789A-153F-FD4E-BCB3-BA16E1498A6A}"/>
              </a:ext>
            </a:extLst>
          </p:cNvPr>
          <p:cNvGrpSpPr/>
          <p:nvPr/>
        </p:nvGrpSpPr>
        <p:grpSpPr>
          <a:xfrm>
            <a:off x="7351294" y="1652336"/>
            <a:ext cx="2101516" cy="3384886"/>
            <a:chOff x="8053137" y="1475872"/>
            <a:chExt cx="2101516" cy="33848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294AE6-2A85-6241-B99F-BBC199724851}"/>
                </a:ext>
              </a:extLst>
            </p:cNvPr>
            <p:cNvSpPr/>
            <p:nvPr/>
          </p:nvSpPr>
          <p:spPr>
            <a:xfrm>
              <a:off x="8053137" y="1475874"/>
              <a:ext cx="2101516" cy="33848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Block 2</a:t>
              </a:r>
            </a:p>
            <a:p>
              <a:pPr algn="ctr"/>
              <a:r>
                <a:rPr lang="en-US" dirty="0"/>
                <a:t>Transactions &amp; other data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736937-3E64-0A47-93C8-929A3725EF58}"/>
                </a:ext>
              </a:extLst>
            </p:cNvPr>
            <p:cNvSpPr/>
            <p:nvPr/>
          </p:nvSpPr>
          <p:spPr>
            <a:xfrm>
              <a:off x="8053137" y="1475872"/>
              <a:ext cx="2101516" cy="60157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Previous hash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7ADB759-D9F5-AE44-BE9A-6D42149F4BAC}"/>
              </a:ext>
            </a:extLst>
          </p:cNvPr>
          <p:cNvSpPr txBox="1"/>
          <p:nvPr/>
        </p:nvSpPr>
        <p:spPr>
          <a:xfrm>
            <a:off x="9452810" y="2870612"/>
            <a:ext cx="1668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. . . . 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9C34F52-F006-F346-B000-E4AE3017BFDD}"/>
              </a:ext>
            </a:extLst>
          </p:cNvPr>
          <p:cNvGrpSpPr/>
          <p:nvPr/>
        </p:nvGrpSpPr>
        <p:grpSpPr>
          <a:xfrm>
            <a:off x="10595813" y="2001254"/>
            <a:ext cx="1419725" cy="2582782"/>
            <a:chOff x="8053137" y="1036435"/>
            <a:chExt cx="2101516" cy="382432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80DA463-6236-BF48-93DF-BEE37AD7FCDA}"/>
                </a:ext>
              </a:extLst>
            </p:cNvPr>
            <p:cNvSpPr/>
            <p:nvPr/>
          </p:nvSpPr>
          <p:spPr>
            <a:xfrm>
              <a:off x="8053137" y="1475874"/>
              <a:ext cx="2101516" cy="338488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Block N 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Transactions &amp; other data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7537D4C-09B8-3A46-AAF1-EFC6D69A0675}"/>
                </a:ext>
              </a:extLst>
            </p:cNvPr>
            <p:cNvSpPr/>
            <p:nvPr/>
          </p:nvSpPr>
          <p:spPr>
            <a:xfrm>
              <a:off x="8053137" y="1036435"/>
              <a:ext cx="2101516" cy="104101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Previous hash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7889166-6976-D647-8D0D-E7DE2E6B3A20}"/>
              </a:ext>
            </a:extLst>
          </p:cNvPr>
          <p:cNvSpPr txBox="1"/>
          <p:nvPr/>
        </p:nvSpPr>
        <p:spPr>
          <a:xfrm>
            <a:off x="746175" y="476674"/>
            <a:ext cx="762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prstClr val="black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Generic structure of a blockchain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CFFBF0E2-210B-B64C-B091-70095DCD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6115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16478-67A3-A344-A13E-F8E1F4C9A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788DAB-E2EC-9749-9F4C-A019ADAC3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00" y="460813"/>
            <a:ext cx="10515600" cy="735940"/>
          </a:xfrm>
        </p:spPr>
        <p:txBody>
          <a:bodyPr>
            <a:normAutofit/>
          </a:bodyPr>
          <a:lstStyle/>
          <a:p>
            <a:r>
              <a:rPr lang="en-US" dirty="0"/>
              <a:t>Generic elements of a blockchain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87BB9EE-25D4-D041-96F0-E97468987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76" y="1556792"/>
            <a:ext cx="10515600" cy="478340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Addresses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Accounts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Transactions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Blocks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/>
              <a:t>Peer-to-peer network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Scripting or programming language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Virtual machine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State machine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Nodes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Smart contracts</a:t>
            </a:r>
          </a:p>
          <a:p>
            <a:pPr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>
              <a:lnSpc>
                <a:spcPct val="150000"/>
              </a:lnSpc>
              <a:buFontTx/>
              <a:buChar char="-"/>
            </a:pPr>
            <a:endParaRPr lang="en-US" sz="2000" dirty="0"/>
          </a:p>
          <a:p>
            <a:pPr lvl="1">
              <a:lnSpc>
                <a:spcPct val="150000"/>
              </a:lnSpc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90143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B6E4B-0CFB-574E-8B38-B6BD36912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B93AAF-C66A-674F-A028-4C20D6DE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19" y="448160"/>
            <a:ext cx="10515600" cy="597401"/>
          </a:xfrm>
        </p:spPr>
        <p:txBody>
          <a:bodyPr>
            <a:normAutofit/>
          </a:bodyPr>
          <a:lstStyle/>
          <a:p>
            <a:r>
              <a:rPr lang="en-US" dirty="0"/>
              <a:t>How a </a:t>
            </a:r>
            <a:r>
              <a:rPr lang="en-US" dirty="0" err="1"/>
              <a:t>blockchain</a:t>
            </a:r>
            <a:r>
              <a:rPr lang="en-US" dirty="0"/>
              <a:t> works</a:t>
            </a:r>
          </a:p>
        </p:txBody>
      </p:sp>
      <p:pic>
        <p:nvPicPr>
          <p:cNvPr id="6" name="Graphic 5" descr="Gears">
            <a:extLst>
              <a:ext uri="{FF2B5EF4-FFF2-40B4-BE49-F238E27FC236}">
                <a16:creationId xmlns:a16="http://schemas.microsoft.com/office/drawing/2014/main" id="{1676E78F-4FA8-7941-9F70-8566AE36D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6948" y="1856801"/>
            <a:ext cx="1129308" cy="1129308"/>
          </a:xfrm>
          <a:prstGeom prst="rect">
            <a:avLst/>
          </a:prstGeom>
        </p:spPr>
      </p:pic>
      <p:pic>
        <p:nvPicPr>
          <p:cNvPr id="7" name="Graphic 6" descr="LineStraight">
            <a:extLst>
              <a:ext uri="{FF2B5EF4-FFF2-40B4-BE49-F238E27FC236}">
                <a16:creationId xmlns:a16="http://schemas.microsoft.com/office/drawing/2014/main" id="{85F5CBEA-8775-D544-A6DD-76EACB615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3488899" y="2043709"/>
            <a:ext cx="914400" cy="914400"/>
          </a:xfrm>
          <a:prstGeom prst="rect">
            <a:avLst/>
          </a:prstGeom>
        </p:spPr>
      </p:pic>
      <p:pic>
        <p:nvPicPr>
          <p:cNvPr id="8" name="Graphic 7" descr="LineStraight">
            <a:extLst>
              <a:ext uri="{FF2B5EF4-FFF2-40B4-BE49-F238E27FC236}">
                <a16:creationId xmlns:a16="http://schemas.microsoft.com/office/drawing/2014/main" id="{F82B5CD9-B920-4440-806D-96F1C0496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5686425" y="2016333"/>
            <a:ext cx="1126902" cy="914400"/>
          </a:xfrm>
          <a:prstGeom prst="rect">
            <a:avLst/>
          </a:prstGeom>
        </p:spPr>
      </p:pic>
      <p:pic>
        <p:nvPicPr>
          <p:cNvPr id="9" name="Graphic 8" descr="LineStraight">
            <a:extLst>
              <a:ext uri="{FF2B5EF4-FFF2-40B4-BE49-F238E27FC236}">
                <a16:creationId xmlns:a16="http://schemas.microsoft.com/office/drawing/2014/main" id="{204E5C88-309F-8842-91AB-C3D5DFAD8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7719116" y="2037346"/>
            <a:ext cx="1238195" cy="9144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4884AA2-357B-6743-8B05-B4066BE379F3}"/>
              </a:ext>
            </a:extLst>
          </p:cNvPr>
          <p:cNvGrpSpPr/>
          <p:nvPr/>
        </p:nvGrpSpPr>
        <p:grpSpPr>
          <a:xfrm>
            <a:off x="873016" y="1820777"/>
            <a:ext cx="2538663" cy="1347537"/>
            <a:chOff x="1334100" y="1823628"/>
            <a:chExt cx="2538663" cy="134753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240F3A-CC8A-B54A-878E-327118E38A01}"/>
                </a:ext>
              </a:extLst>
            </p:cNvPr>
            <p:cNvSpPr/>
            <p:nvPr/>
          </p:nvSpPr>
          <p:spPr>
            <a:xfrm>
              <a:off x="1334100" y="1823628"/>
              <a:ext cx="2538663" cy="134753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Man">
              <a:extLst>
                <a:ext uri="{FF2B5EF4-FFF2-40B4-BE49-F238E27FC236}">
                  <a16:creationId xmlns:a16="http://schemas.microsoft.com/office/drawing/2014/main" id="{B207E95B-0A78-2947-8CBB-B0E1AF80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34100" y="2080300"/>
              <a:ext cx="914400" cy="914400"/>
            </a:xfrm>
            <a:prstGeom prst="rect">
              <a:avLst/>
            </a:prstGeom>
          </p:spPr>
        </p:pic>
        <p:pic>
          <p:nvPicPr>
            <p:cNvPr id="13" name="Graphic 12" descr="Woman">
              <a:extLst>
                <a:ext uri="{FF2B5EF4-FFF2-40B4-BE49-F238E27FC236}">
                  <a16:creationId xmlns:a16="http://schemas.microsoft.com/office/drawing/2014/main" id="{2522AD0B-0E46-B746-B6CE-3EC8F7DE6E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58363" y="2076289"/>
              <a:ext cx="914400" cy="914400"/>
            </a:xfrm>
            <a:prstGeom prst="rect">
              <a:avLst/>
            </a:prstGeom>
          </p:spPr>
        </p:pic>
        <p:pic>
          <p:nvPicPr>
            <p:cNvPr id="14" name="Graphic 13" descr="LineStraight">
              <a:extLst>
                <a:ext uri="{FF2B5EF4-FFF2-40B4-BE49-F238E27FC236}">
                  <a16:creationId xmlns:a16="http://schemas.microsoft.com/office/drawing/2014/main" id="{892A45B6-4E12-784A-9999-11EFC23E0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2146232" y="2088322"/>
              <a:ext cx="914400" cy="914400"/>
            </a:xfrm>
            <a:prstGeom prst="rect">
              <a:avLst/>
            </a:prstGeom>
          </p:spPr>
        </p:pic>
        <p:pic>
          <p:nvPicPr>
            <p:cNvPr id="15" name="Graphic 14" descr="Document">
              <a:extLst>
                <a:ext uri="{FF2B5EF4-FFF2-40B4-BE49-F238E27FC236}">
                  <a16:creationId xmlns:a16="http://schemas.microsoft.com/office/drawing/2014/main" id="{29636E68-0BC4-804D-A979-11AB72FE3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322495" y="2016076"/>
              <a:ext cx="529446" cy="529446"/>
            </a:xfrm>
            <a:prstGeom prst="rect">
              <a:avLst/>
            </a:prstGeom>
          </p:spPr>
        </p:pic>
      </p:grpSp>
      <p:pic>
        <p:nvPicPr>
          <p:cNvPr id="16" name="Graphic 15" descr="Network">
            <a:extLst>
              <a:ext uri="{FF2B5EF4-FFF2-40B4-BE49-F238E27FC236}">
                <a16:creationId xmlns:a16="http://schemas.microsoft.com/office/drawing/2014/main" id="{D9E4C065-4C2B-704A-8F14-426396053B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57452" y="1785745"/>
            <a:ext cx="1328973" cy="1328973"/>
          </a:xfrm>
          <a:prstGeom prst="rect">
            <a:avLst/>
          </a:prstGeom>
        </p:spPr>
      </p:pic>
      <p:pic>
        <p:nvPicPr>
          <p:cNvPr id="17" name="Graphic 16" descr="Newspaper">
            <a:extLst>
              <a:ext uri="{FF2B5EF4-FFF2-40B4-BE49-F238E27FC236}">
                <a16:creationId xmlns:a16="http://schemas.microsoft.com/office/drawing/2014/main" id="{A14F24A6-D4B2-744D-AA00-B2C8A482BB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765741" y="1772596"/>
            <a:ext cx="1359626" cy="1359626"/>
          </a:xfrm>
          <a:prstGeom prst="rect">
            <a:avLst/>
          </a:prstGeom>
        </p:spPr>
      </p:pic>
      <p:pic>
        <p:nvPicPr>
          <p:cNvPr id="18" name="Graphic 17" descr="LineStraight">
            <a:extLst>
              <a:ext uri="{FF2B5EF4-FFF2-40B4-BE49-F238E27FC236}">
                <a16:creationId xmlns:a16="http://schemas.microsoft.com/office/drawing/2014/main" id="{6CC0FE23-265D-E543-BE80-B428558DD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8722888" y="3210906"/>
            <a:ext cx="1297340" cy="762862"/>
          </a:xfrm>
          <a:prstGeom prst="rect">
            <a:avLst/>
          </a:prstGeom>
        </p:spPr>
      </p:pic>
      <p:pic>
        <p:nvPicPr>
          <p:cNvPr id="19" name="Graphic 18" descr="Newspaper">
            <a:extLst>
              <a:ext uri="{FF2B5EF4-FFF2-40B4-BE49-F238E27FC236}">
                <a16:creationId xmlns:a16="http://schemas.microsoft.com/office/drawing/2014/main" id="{94BD03ED-7031-CD4B-A032-1DC1E3016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34467" y="4272358"/>
            <a:ext cx="914400" cy="914400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C4A6A8E-2E17-224E-934D-ABDBCC443D08}"/>
              </a:ext>
            </a:extLst>
          </p:cNvPr>
          <p:cNvGrpSpPr/>
          <p:nvPr/>
        </p:nvGrpSpPr>
        <p:grpSpPr>
          <a:xfrm>
            <a:off x="2923851" y="3785360"/>
            <a:ext cx="6175254" cy="1386383"/>
            <a:chOff x="2923851" y="3785360"/>
            <a:chExt cx="6175254" cy="1386383"/>
          </a:xfrm>
        </p:grpSpPr>
        <p:pic>
          <p:nvPicPr>
            <p:cNvPr id="21" name="Graphic 20" descr="LineUturn">
              <a:extLst>
                <a:ext uri="{FF2B5EF4-FFF2-40B4-BE49-F238E27FC236}">
                  <a16:creationId xmlns:a16="http://schemas.microsoft.com/office/drawing/2014/main" id="{946F8D6E-E6BB-4942-87C2-60220DF97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6200000">
              <a:off x="4304184" y="3796970"/>
              <a:ext cx="606659" cy="606659"/>
            </a:xfrm>
            <a:prstGeom prst="rect">
              <a:avLst/>
            </a:prstGeom>
          </p:spPr>
        </p:pic>
        <p:pic>
          <p:nvPicPr>
            <p:cNvPr id="22" name="Graphic 21" descr="LineUturn">
              <a:extLst>
                <a:ext uri="{FF2B5EF4-FFF2-40B4-BE49-F238E27FC236}">
                  <a16:creationId xmlns:a16="http://schemas.microsoft.com/office/drawing/2014/main" id="{A3AA9B82-D404-4947-8BC1-297808710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6200000">
              <a:off x="3429177" y="3793935"/>
              <a:ext cx="604323" cy="604323"/>
            </a:xfrm>
            <a:prstGeom prst="rect">
              <a:avLst/>
            </a:prstGeom>
          </p:spPr>
        </p:pic>
        <p:pic>
          <p:nvPicPr>
            <p:cNvPr id="23" name="Graphic 22" descr="LineUturn">
              <a:extLst>
                <a:ext uri="{FF2B5EF4-FFF2-40B4-BE49-F238E27FC236}">
                  <a16:creationId xmlns:a16="http://schemas.microsoft.com/office/drawing/2014/main" id="{D8C360DE-B841-6F4A-81B1-B8B0143450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6200000">
              <a:off x="5098679" y="3785360"/>
              <a:ext cx="606659" cy="606659"/>
            </a:xfrm>
            <a:prstGeom prst="rect">
              <a:avLst/>
            </a:prstGeom>
          </p:spPr>
        </p:pic>
        <p:pic>
          <p:nvPicPr>
            <p:cNvPr id="24" name="Graphic 23" descr="LineUturn">
              <a:extLst>
                <a:ext uri="{FF2B5EF4-FFF2-40B4-BE49-F238E27FC236}">
                  <a16:creationId xmlns:a16="http://schemas.microsoft.com/office/drawing/2014/main" id="{CBD9D0AC-C0F1-2249-89CA-078A32233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rot="16200000">
              <a:off x="8492446" y="3839660"/>
              <a:ext cx="606659" cy="606659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8F330C0-9C60-364A-81EC-403241ABC828}"/>
                </a:ext>
              </a:extLst>
            </p:cNvPr>
            <p:cNvGrpSpPr/>
            <p:nvPr/>
          </p:nvGrpSpPr>
          <p:grpSpPr>
            <a:xfrm>
              <a:off x="2923851" y="3809548"/>
              <a:ext cx="5985539" cy="1362195"/>
              <a:chOff x="3017375" y="3747164"/>
              <a:chExt cx="5985539" cy="1362195"/>
            </a:xfrm>
          </p:grpSpPr>
          <p:pic>
            <p:nvPicPr>
              <p:cNvPr id="26" name="Graphic 25" descr="Newspaper">
                <a:extLst>
                  <a:ext uri="{FF2B5EF4-FFF2-40B4-BE49-F238E27FC236}">
                    <a16:creationId xmlns:a16="http://schemas.microsoft.com/office/drawing/2014/main" id="{C58F9C28-3D53-3C44-A0F9-C3EA025B2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5533217" y="417004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7" name="Graphic 26" descr="Newspaper">
                <a:extLst>
                  <a:ext uri="{FF2B5EF4-FFF2-40B4-BE49-F238E27FC236}">
                    <a16:creationId xmlns:a16="http://schemas.microsoft.com/office/drawing/2014/main" id="{08519C98-E85F-4B46-AF7F-D3C69CB550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7259516" y="419184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8" name="Graphic 27" descr="Newspaper">
                <a:extLst>
                  <a:ext uri="{FF2B5EF4-FFF2-40B4-BE49-F238E27FC236}">
                    <a16:creationId xmlns:a16="http://schemas.microsoft.com/office/drawing/2014/main" id="{CCBB1753-66C3-A045-A292-2AA57E0882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416094" y="419495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9" name="Graphic 28" descr="LineUturn">
                <a:extLst>
                  <a:ext uri="{FF2B5EF4-FFF2-40B4-BE49-F238E27FC236}">
                    <a16:creationId xmlns:a16="http://schemas.microsoft.com/office/drawing/2014/main" id="{AD327E42-C00F-A442-A1DB-EA9A1125A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6200000">
                <a:off x="6913550" y="3777276"/>
                <a:ext cx="606659" cy="606659"/>
              </a:xfrm>
              <a:prstGeom prst="rect">
                <a:avLst/>
              </a:prstGeom>
            </p:spPr>
          </p:pic>
          <p:pic>
            <p:nvPicPr>
              <p:cNvPr id="30" name="Graphic 29" descr="LineUturn">
                <a:extLst>
                  <a:ext uri="{FF2B5EF4-FFF2-40B4-BE49-F238E27FC236}">
                    <a16:creationId xmlns:a16="http://schemas.microsoft.com/office/drawing/2014/main" id="{417834B6-D1E0-834B-821C-840E9DC954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6200000">
                <a:off x="6038543" y="3774241"/>
                <a:ext cx="604323" cy="604323"/>
              </a:xfrm>
              <a:prstGeom prst="rect">
                <a:avLst/>
              </a:prstGeom>
            </p:spPr>
          </p:pic>
          <p:pic>
            <p:nvPicPr>
              <p:cNvPr id="31" name="Graphic 30" descr="Newspaper">
                <a:extLst>
                  <a:ext uri="{FF2B5EF4-FFF2-40B4-BE49-F238E27FC236}">
                    <a16:creationId xmlns:a16="http://schemas.microsoft.com/office/drawing/2014/main" id="{B5B10858-0E66-E949-A811-C61429F61A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017375" y="4127356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2" name="Graphic 31" descr="Newspaper">
                <a:extLst>
                  <a:ext uri="{FF2B5EF4-FFF2-40B4-BE49-F238E27FC236}">
                    <a16:creationId xmlns:a16="http://schemas.microsoft.com/office/drawing/2014/main" id="{C5A6A86F-9C15-1245-BC7A-E17885865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743674" y="414915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3" name="Graphic 32" descr="Newspaper">
                <a:extLst>
                  <a:ext uri="{FF2B5EF4-FFF2-40B4-BE49-F238E27FC236}">
                    <a16:creationId xmlns:a16="http://schemas.microsoft.com/office/drawing/2014/main" id="{474D3030-6DB4-E34B-A41A-B6CD7150E4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900252" y="415226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4" name="Graphic 33" descr="Newspaper">
                <a:extLst>
                  <a:ext uri="{FF2B5EF4-FFF2-40B4-BE49-F238E27FC236}">
                    <a16:creationId xmlns:a16="http://schemas.microsoft.com/office/drawing/2014/main" id="{46ED2470-7927-3747-8D43-3727CBDCF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8088514" y="4194959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5" name="Graphic 34" descr="LineUturn">
                <a:extLst>
                  <a:ext uri="{FF2B5EF4-FFF2-40B4-BE49-F238E27FC236}">
                    <a16:creationId xmlns:a16="http://schemas.microsoft.com/office/drawing/2014/main" id="{D73CB8B3-D6AA-5C40-B6DB-4E918F02CE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rot="16200000">
                <a:off x="7730583" y="3747164"/>
                <a:ext cx="606659" cy="606659"/>
              </a:xfrm>
              <a:prstGeom prst="rect">
                <a:avLst/>
              </a:prstGeom>
            </p:spPr>
          </p:pic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944966D-710B-8442-B294-B2ED83D09BDC}"/>
              </a:ext>
            </a:extLst>
          </p:cNvPr>
          <p:cNvSpPr txBox="1"/>
          <p:nvPr/>
        </p:nvSpPr>
        <p:spPr>
          <a:xfrm>
            <a:off x="664438" y="1429627"/>
            <a:ext cx="3068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</a:t>
            </a:r>
            <a:r>
              <a:rPr lang="en-US" dirty="0"/>
              <a:t> User X transacts with User 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51CBC0-24E2-EE4A-AD31-356FD024A389}"/>
              </a:ext>
            </a:extLst>
          </p:cNvPr>
          <p:cNvSpPr txBox="1"/>
          <p:nvPr/>
        </p:nvSpPr>
        <p:spPr>
          <a:xfrm>
            <a:off x="483514" y="3187927"/>
            <a:ext cx="3452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contract or transfer of value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9B52FEC-E87A-C248-9628-9B6F16E26C01}"/>
              </a:ext>
            </a:extLst>
          </p:cNvPr>
          <p:cNvSpPr txBox="1"/>
          <p:nvPr/>
        </p:nvSpPr>
        <p:spPr>
          <a:xfrm>
            <a:off x="3830271" y="1447434"/>
            <a:ext cx="2553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</a:t>
            </a:r>
            <a:r>
              <a:rPr lang="en-US" dirty="0"/>
              <a:t> Transaction broadcast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AEA505-BF10-8E4A-82A9-B14245678795}"/>
              </a:ext>
            </a:extLst>
          </p:cNvPr>
          <p:cNvSpPr txBox="1"/>
          <p:nvPr/>
        </p:nvSpPr>
        <p:spPr>
          <a:xfrm>
            <a:off x="6389619" y="1457976"/>
            <a:ext cx="277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</a:t>
            </a:r>
            <a:r>
              <a:rPr lang="en-US" dirty="0"/>
              <a:t> Find new block (mining)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154EA6-7B2A-2841-BCC6-39DEFBECD7A4}"/>
              </a:ext>
            </a:extLst>
          </p:cNvPr>
          <p:cNvSpPr txBox="1"/>
          <p:nvPr/>
        </p:nvSpPr>
        <p:spPr>
          <a:xfrm>
            <a:off x="8990127" y="1455398"/>
            <a:ext cx="277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</a:t>
            </a:r>
            <a:r>
              <a:rPr lang="en-US" dirty="0"/>
              <a:t> New block found (mined)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36E479-DDB4-124E-92EC-41646A807E96}"/>
              </a:ext>
            </a:extLst>
          </p:cNvPr>
          <p:cNvSpPr txBox="1"/>
          <p:nvPr/>
        </p:nvSpPr>
        <p:spPr>
          <a:xfrm>
            <a:off x="9748867" y="4409502"/>
            <a:ext cx="2343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</a:t>
            </a:r>
            <a:r>
              <a:rPr lang="en-US" dirty="0"/>
              <a:t> Add new block to the blockchain</a:t>
            </a:r>
          </a:p>
        </p:txBody>
      </p:sp>
    </p:spTree>
    <p:extLst>
      <p:ext uri="{BB962C8B-B14F-4D97-AF65-F5344CB8AC3E}">
        <p14:creationId xmlns:p14="http://schemas.microsoft.com/office/powerpoint/2010/main" val="2934246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D2F488-18DE-B945-9826-4B229CF7A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404664"/>
            <a:ext cx="10515600" cy="788925"/>
          </a:xfrm>
        </p:spPr>
        <p:txBody>
          <a:bodyPr>
            <a:normAutofit/>
          </a:bodyPr>
          <a:lstStyle/>
          <a:p>
            <a:r>
              <a:rPr lang="en-US" dirty="0"/>
              <a:t>Generic block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908EDA-99AE-3844-A673-1A615104CB4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3635129" y="1412776"/>
            <a:ext cx="4251783" cy="395846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BF0E2-210B-B64C-B091-70095DCDE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</p:spPr>
        <p:txBody>
          <a:bodyPr/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40570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679CA-8E46-1F4F-9412-ED26BD2898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41313E-B09F-8E45-AE31-7FBB3AA39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00" y="317042"/>
            <a:ext cx="10515600" cy="805948"/>
          </a:xfrm>
        </p:spPr>
        <p:txBody>
          <a:bodyPr>
            <a:normAutofit/>
          </a:bodyPr>
          <a:lstStyle/>
          <a:p>
            <a:r>
              <a:rPr lang="en-GB" dirty="0"/>
              <a:t>Benefits of </a:t>
            </a:r>
            <a:r>
              <a:rPr lang="en-GB" dirty="0" err="1"/>
              <a:t>blockchain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2D515E-6851-5647-BB5A-4E214B702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073"/>
            <a:ext cx="10515600" cy="500588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Decentralization</a:t>
            </a:r>
          </a:p>
          <a:p>
            <a:r>
              <a:rPr lang="en-US" sz="2400" dirty="0"/>
              <a:t>Transparency</a:t>
            </a:r>
          </a:p>
          <a:p>
            <a:r>
              <a:rPr lang="en-US" sz="2400" dirty="0"/>
              <a:t>Trust</a:t>
            </a:r>
          </a:p>
          <a:p>
            <a:r>
              <a:rPr lang="en-US" sz="2400" dirty="0"/>
              <a:t>Immutability</a:t>
            </a:r>
          </a:p>
          <a:p>
            <a:r>
              <a:rPr lang="en-US" sz="2400" dirty="0"/>
              <a:t>High availability</a:t>
            </a:r>
          </a:p>
          <a:p>
            <a:r>
              <a:rPr lang="en-US" sz="2400" dirty="0"/>
              <a:t>Highly secure</a:t>
            </a:r>
          </a:p>
          <a:p>
            <a:r>
              <a:rPr lang="en-US" sz="2400" dirty="0"/>
              <a:t>Simplification of current paradigms</a:t>
            </a:r>
          </a:p>
          <a:p>
            <a:r>
              <a:rPr lang="en-US" sz="2400" dirty="0"/>
              <a:t>Faster transactions</a:t>
            </a:r>
          </a:p>
          <a:p>
            <a:r>
              <a:rPr lang="en-US" sz="2400" dirty="0"/>
              <a:t>Cost saving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86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FA924-3B19-334B-870F-869787352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7622D0-EC8B-A94D-B7AB-EADAE668B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403" y="268198"/>
            <a:ext cx="10515600" cy="903635"/>
          </a:xfrm>
        </p:spPr>
        <p:txBody>
          <a:bodyPr/>
          <a:lstStyle/>
          <a:p>
            <a:r>
              <a:rPr lang="en-GB" dirty="0"/>
              <a:t>Limitations of blockchain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336A4E-2F95-324C-A8AF-3302F69D8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171833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/>
              <a:t>Scalability</a:t>
            </a:r>
          </a:p>
          <a:p>
            <a:r>
              <a:rPr lang="en-US" sz="2200" dirty="0"/>
              <a:t>Adaptability</a:t>
            </a:r>
          </a:p>
          <a:p>
            <a:r>
              <a:rPr lang="en-US" sz="2200" dirty="0"/>
              <a:t>Regulation</a:t>
            </a:r>
          </a:p>
          <a:p>
            <a:r>
              <a:rPr lang="en-US" sz="2200" dirty="0"/>
              <a:t>Relatively immature technology</a:t>
            </a:r>
          </a:p>
          <a:p>
            <a:r>
              <a:rPr lang="en-US" sz="2200" dirty="0"/>
              <a:t>Privacy</a:t>
            </a:r>
          </a:p>
        </p:txBody>
      </p:sp>
    </p:spTree>
    <p:extLst>
      <p:ext uri="{BB962C8B-B14F-4D97-AF65-F5344CB8AC3E}">
        <p14:creationId xmlns:p14="http://schemas.microsoft.com/office/powerpoint/2010/main" val="252258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8B9A03-F013-5F4C-9E27-71DB0648D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07" y="365125"/>
            <a:ext cx="10515600" cy="831627"/>
          </a:xfrm>
        </p:spPr>
        <p:txBody>
          <a:bodyPr/>
          <a:lstStyle/>
          <a:p>
            <a:r>
              <a:rPr lang="en-US" dirty="0"/>
              <a:t>Features of a blockchain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B3EF293-A30B-6A43-ACF4-C12E58E01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416" y="119675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Distributed consensus</a:t>
            </a:r>
          </a:p>
          <a:p>
            <a:r>
              <a:rPr lang="en-US" dirty="0"/>
              <a:t>Transaction verification</a:t>
            </a:r>
          </a:p>
          <a:p>
            <a:r>
              <a:rPr lang="en-US" dirty="0"/>
              <a:t>Platform for smart contracts</a:t>
            </a:r>
          </a:p>
          <a:p>
            <a:r>
              <a:rPr lang="en-US" dirty="0"/>
              <a:t>Transferring value between peers</a:t>
            </a:r>
          </a:p>
          <a:p>
            <a:r>
              <a:rPr lang="en-US" dirty="0"/>
              <a:t>Generation of cryptocurrency</a:t>
            </a:r>
          </a:p>
          <a:p>
            <a:r>
              <a:rPr lang="en-US" dirty="0"/>
              <a:t>Provider of security</a:t>
            </a:r>
          </a:p>
          <a:p>
            <a:r>
              <a:rPr lang="en-US" dirty="0"/>
              <a:t>Immutability</a:t>
            </a:r>
          </a:p>
          <a:p>
            <a:r>
              <a:rPr lang="en-US" dirty="0"/>
              <a:t>Uniqueness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FA924-3B19-334B-870F-869787352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</p:spPr>
        <p:txBody>
          <a:bodyPr/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545680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3F76A5-1546-484A-BEF1-229F5D7A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00" y="282430"/>
            <a:ext cx="10515600" cy="877312"/>
          </a:xfrm>
        </p:spPr>
        <p:txBody>
          <a:bodyPr>
            <a:normAutofit/>
          </a:bodyPr>
          <a:lstStyle/>
          <a:p>
            <a:r>
              <a:rPr lang="en-US" dirty="0"/>
              <a:t>Exercise</a:t>
            </a:r>
            <a:endParaRPr lang="en-US" sz="35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A8CC67-3535-AD47-BC05-2FC1100DD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230" y="1707932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Think about a scenario where blockchain can solve a challenge at your </a:t>
            </a:r>
            <a:r>
              <a:rPr lang="en-US" dirty="0"/>
              <a:t>place of work or education, </a:t>
            </a:r>
            <a:r>
              <a:rPr lang="en-US" sz="2000" dirty="0"/>
              <a:t>or in your community.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Read the Bitcoin paper at </a:t>
            </a:r>
            <a:r>
              <a:rPr lang="en-US" sz="2000" u="sng" dirty="0">
                <a:solidFill>
                  <a:srgbClr val="0000FF"/>
                </a:solidFill>
                <a:latin typeface="Lucida Console" panose="020B0609040504020204" pitchFamily="49" charset="0"/>
                <a:hlinkClick r:id="rId2"/>
              </a:rPr>
              <a:t>https://bitcoin.org/bitcoin.pdf</a:t>
            </a:r>
            <a:endParaRPr lang="en-US" sz="2000" u="sng" dirty="0">
              <a:solidFill>
                <a:srgbClr val="0000FF"/>
              </a:solidFill>
              <a:latin typeface="Lucida Console" panose="020B0609040504020204" pitchFamily="49" charset="0"/>
            </a:endParaRPr>
          </a:p>
          <a:p>
            <a:pPr marL="0" indent="0">
              <a:lnSpc>
                <a:spcPct val="150000"/>
              </a:lnSpc>
              <a:buNone/>
            </a:pPr>
            <a:br>
              <a:rPr lang="en-US" sz="2000" dirty="0"/>
            </a:b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FA924-3B19-334B-870F-869787352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000" y="576000"/>
            <a:ext cx="540000" cy="288032"/>
          </a:xfrm>
        </p:spPr>
        <p:txBody>
          <a:bodyPr/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368850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86B79-9648-EE45-BD47-1494585BF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D5587A6-0F28-234D-9116-41BE2E1A2AC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72E5761-29F9-DF43-853C-BBC35CE1C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400" y="260648"/>
            <a:ext cx="10515600" cy="1079491"/>
          </a:xfrm>
        </p:spPr>
        <p:txBody>
          <a:bodyPr>
            <a:normAutofit/>
          </a:bodyPr>
          <a:lstStyle/>
          <a:p>
            <a:r>
              <a:rPr lang="en-US" dirty="0"/>
              <a:t>Summary</a:t>
            </a:r>
            <a:endParaRPr lang="en-US" sz="35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384C24-A771-164F-90F8-091586799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02" y="1628800"/>
            <a:ext cx="10515600" cy="4680520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sz="2000" dirty="0"/>
              <a:t>In this presentation, we: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Covered the d</a:t>
            </a:r>
            <a:r>
              <a:rPr lang="en-US" sz="2000" dirty="0"/>
              <a:t>esign of a distributed system </a:t>
            </a:r>
            <a:r>
              <a:rPr lang="en-US" dirty="0"/>
              <a:t>and</a:t>
            </a:r>
            <a:r>
              <a:rPr lang="en-US" sz="2000" dirty="0"/>
              <a:t> </a:t>
            </a:r>
            <a:r>
              <a:rPr lang="en-US" dirty="0"/>
              <a:t>f</a:t>
            </a:r>
            <a:r>
              <a:rPr lang="en-US" sz="2000" dirty="0"/>
              <a:t>aults in distributed systems.</a:t>
            </a:r>
          </a:p>
          <a:p>
            <a:pPr lvl="0">
              <a:lnSpc>
                <a:spcPct val="150000"/>
              </a:lnSpc>
            </a:pPr>
            <a:r>
              <a:rPr lang="en-US" dirty="0"/>
              <a:t>Defined </a:t>
            </a:r>
            <a:r>
              <a:rPr lang="en-US" sz="2000" dirty="0"/>
              <a:t>blockchain as a distributed ledger—a replicated digital ledger which is immutable and updateable only via consensus.</a:t>
            </a:r>
          </a:p>
          <a:p>
            <a:pPr lvl="0">
              <a:lnSpc>
                <a:spcPct val="150000"/>
              </a:lnSpc>
            </a:pPr>
            <a:r>
              <a:rPr lang="en-US" sz="2000" dirty="0"/>
              <a:t>Introduced precursors to </a:t>
            </a:r>
            <a:r>
              <a:rPr lang="en-US" dirty="0"/>
              <a:t>b</a:t>
            </a:r>
            <a:r>
              <a:rPr lang="en-US" sz="2000" dirty="0"/>
              <a:t>lockchain technology such as hash functions, consensus mechanisms, Hashcash, and e-cash schemes. </a:t>
            </a:r>
          </a:p>
          <a:p>
            <a:pPr lvl="0">
              <a:lnSpc>
                <a:spcPct val="150000"/>
              </a:lnSpc>
            </a:pPr>
            <a:r>
              <a:rPr lang="en-US" sz="2000" dirty="0"/>
              <a:t>Explored various elements of a blockchain, such as addresses, peer-to-peer networks, blocks, and transactions.</a:t>
            </a:r>
          </a:p>
          <a:p>
            <a:pPr lvl="0">
              <a:lnSpc>
                <a:spcPct val="150000"/>
              </a:lnSpc>
            </a:pPr>
            <a:r>
              <a:rPr lang="en-US" sz="2000" dirty="0"/>
              <a:t>Considered the benefits and limitations of blockchain technology.</a:t>
            </a:r>
          </a:p>
        </p:txBody>
      </p:sp>
    </p:spTree>
    <p:extLst>
      <p:ext uri="{BB962C8B-B14F-4D97-AF65-F5344CB8AC3E}">
        <p14:creationId xmlns:p14="http://schemas.microsoft.com/office/powerpoint/2010/main" val="3921426713"/>
      </p:ext>
    </p:extLst>
  </p:cSld>
  <p:clrMapOvr>
    <a:masterClrMapping/>
  </p:clrMapOvr>
</p:sld>
</file>

<file path=ppt/theme/theme1.xml><?xml version="1.0" encoding="utf-8"?>
<a:theme xmlns:a="http://schemas.openxmlformats.org/drawingml/2006/main" name="Packt Trainin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710</Words>
  <Application>Microsoft Macintosh PowerPoint</Application>
  <PresentationFormat>Widescreen</PresentationFormat>
  <Paragraphs>153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Lucida Console</vt:lpstr>
      <vt:lpstr>Packt Training</vt:lpstr>
      <vt:lpstr>Outline</vt:lpstr>
      <vt:lpstr>Introduction</vt:lpstr>
      <vt:lpstr>Introducing distributed computing</vt:lpstr>
      <vt:lpstr>The Byzantine Generals problem</vt:lpstr>
      <vt:lpstr>PowerPoint Presentation</vt:lpstr>
      <vt:lpstr>CAP theorem</vt:lpstr>
      <vt:lpstr>Types of faults in distributed systems</vt:lpstr>
      <vt:lpstr>Defining ‘Blockchain’</vt:lpstr>
      <vt:lpstr>Blockchain definition</vt:lpstr>
      <vt:lpstr>How did blockchain technology develop?</vt:lpstr>
      <vt:lpstr>Architectural view of Blockchain</vt:lpstr>
      <vt:lpstr>PowerPoint Presentation</vt:lpstr>
      <vt:lpstr>Generic elements of a blockchain</vt:lpstr>
      <vt:lpstr>How a blockchain works</vt:lpstr>
      <vt:lpstr>Generic block structure</vt:lpstr>
      <vt:lpstr>Benefits of blockchain</vt:lpstr>
      <vt:lpstr>Limitations of blockchain</vt:lpstr>
      <vt:lpstr>Features of a blockchain </vt:lpstr>
      <vt:lpstr>Exercise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Jagmeet Kaur</cp:lastModifiedBy>
  <cp:revision>71</cp:revision>
  <cp:lastPrinted>2018-06-05T12:50:25Z</cp:lastPrinted>
  <dcterms:created xsi:type="dcterms:W3CDTF">2018-06-05T09:17:37Z</dcterms:created>
  <dcterms:modified xsi:type="dcterms:W3CDTF">2024-06-25T16:16:13Z</dcterms:modified>
</cp:coreProperties>
</file>