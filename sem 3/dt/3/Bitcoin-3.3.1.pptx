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2"/>
  </p:notesMasterIdLst>
  <p:sldIdLst>
    <p:sldId id="256" r:id="rId16"/>
    <p:sldId id="259" r:id="rId17"/>
    <p:sldId id="268" r:id="rId18"/>
    <p:sldId id="269" r:id="rId19"/>
    <p:sldId id="270" r:id="rId20"/>
    <p:sldId id="279" r:id="rId21"/>
    <p:sldId id="280" r:id="rId22"/>
    <p:sldId id="281" r:id="rId23"/>
    <p:sldId id="282" r:id="rId24"/>
    <p:sldId id="283" r:id="rId25"/>
    <p:sldId id="285" r:id="rId26"/>
    <p:sldId id="286" r:id="rId27"/>
    <p:sldId id="288" r:id="rId28"/>
    <p:sldId id="289" r:id="rId29"/>
    <p:sldId id="277" r:id="rId30"/>
    <p:sldId id="278" r:id="rId31"/>
  </p:sldIdLst>
  <p:sldSz cx="9144000" cy="6858000" type="screen4x3"/>
  <p:notesSz cx="6858000" cy="9144000"/>
  <p:embeddedFontLst>
    <p:embeddedFont>
      <p:font typeface="Arial Black" panose="020B0604020202020204" pitchFamily="34" charset="0"/>
      <p:regular r:id="rId33"/>
      <p:bold r:id="rId34"/>
    </p:embeddedFont>
    <p:embeddedFont>
      <p:font typeface="Cambria" panose="02040503050406030204" pitchFamily="18" charset="0"/>
      <p:regular r:id="rId35"/>
      <p:bold r:id="rId36"/>
      <p:italic r:id="rId37"/>
      <p:boldItalic r:id="rId38"/>
    </p:embeddedFont>
    <p:embeddedFont>
      <p:font typeface="Lucida Console" panose="020B0609040504020204" pitchFamily="49" charset="0"/>
      <p:regular r:id="rId39"/>
    </p:embeddedFont>
    <p:embeddedFont>
      <p:font typeface="Poppins" pitchFamily="2" charset="77"/>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081"/>
    <p:restoredTop sz="94469"/>
  </p:normalViewPr>
  <p:slideViewPr>
    <p:cSldViewPr snapToGrid="0">
      <p:cViewPr varScale="1">
        <p:scale>
          <a:sx n="107" d="100"/>
          <a:sy n="107" d="100"/>
        </p:scale>
        <p:origin x="176" y="28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7.fntdata"/><Relationship Id="rId21" Type="http://schemas.openxmlformats.org/officeDocument/2006/relationships/slide" Target="slides/slide6.xml"/><Relationship Id="rId34" Type="http://schemas.openxmlformats.org/officeDocument/2006/relationships/font" Target="fonts/font2.fntdata"/><Relationship Id="rId42"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3"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font" Target="fonts/font3.fntdata"/><Relationship Id="rId43"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5.xml"/><Relationship Id="rId41" Type="http://schemas.openxmlformats.org/officeDocument/2006/relationships/font" Target="fonts/font9.fntdata"/><Relationship Id="rId5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blockchain-technology-introduction/"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www.forbes.com/advisor/in/investing/cryptocurrency/best-bitcoin-wallets-in-india/"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amazon.in/s/ref=dp_byline_sr_book_1?ie=UTF8&amp;field-author=Asharaf+S.%3B&amp;search-alias=stripbooks" TargetMode="External"/><Relationship Id="rId7" Type="http://schemas.openxmlformats.org/officeDocument/2006/relationships/hyperlink" Target="https://bitcoin.org/bitcoin.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amazon.in/s/ref=dp_byline_sr_book_4?ie=UTF8&amp;field-author=Franklin+John&amp;search-alias=stripbooks" TargetMode="External"/><Relationship Id="rId5" Type="http://schemas.openxmlformats.org/officeDocument/2006/relationships/hyperlink" Target="https://www.amazon.in/s/ref=dp_byline_sr_book_3?ie=UTF8&amp;field-author=Adarsh+S.&amp;search-alias=stripbooks" TargetMode="External"/><Relationship Id="rId4" Type="http://schemas.openxmlformats.org/officeDocument/2006/relationships/hyperlink" Target="https://www.amazon.in/s/ref=dp_byline_sr_book_2?ie=UTF8&amp;field-author=Sivadas+Neelima&amp;search-alias=stripbooks"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Bitcoin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850121"/>
          </a:xfrm>
          <a:prstGeom prst="rect">
            <a:avLst/>
          </a:prstGeom>
          <a:noFill/>
          <a:ln>
            <a:noFill/>
          </a:ln>
        </p:spPr>
        <p:txBody>
          <a:bodyPr spcFirstLastPara="1" wrap="square" lIns="91425" tIns="45700" rIns="91425" bIns="45700" anchor="t" anchorCtr="0">
            <a:normAutofit fontScale="92500" lnSpcReduction="20000"/>
          </a:bodyPr>
          <a:lstStyle/>
          <a:p>
            <a:pPr marL="889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 are a number of currencies in this world used for trading amenities. Rupee, Dollar, Pound Euro, and Yen are some of them. These are printed currencies and coins and you might be having one of these in your wallet. But bitcoin is a currency you can not touch, you can not see but you can efficiently use it to trade amenities. It is an electronically stored currency. It can be stored in your mobiles, computers, or any storage media as a virtual currency.</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is an innovative digital payment system. It is an example of a cryptocurrency and the next big thing in finance.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a virtual currency designed to act as money and outside the control of any person or group thus eliminating the need for third-party in financial transactions.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used as a reward for the miners in bitcoin mining.</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can be purchased on several exchanges.</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0" i="0" u="none" strike="noStrike" dirty="0">
                <a:solidFill>
                  <a:srgbClr val="455A64"/>
                </a:solidFill>
                <a:effectLst/>
                <a:latin typeface="Poppins" pitchFamily="2" charset="77"/>
              </a:rPr>
              <a:t>What is Bitcoin</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43000"/>
            <a:ext cx="7848600" cy="320601"/>
          </a:xfrm>
          <a:prstGeom prst="rect">
            <a:avLst/>
          </a:prstGeom>
          <a:noFill/>
          <a:ln>
            <a:noFill/>
          </a:ln>
        </p:spPr>
        <p:txBody>
          <a:bodyPr spcFirstLastPara="1" wrap="square" lIns="0" tIns="12700" rIns="0" bIns="0" anchor="ctr" anchorCtr="0">
            <a:spAutoFit/>
          </a:bodyPr>
          <a:lstStyle/>
          <a:p>
            <a:pPr algn="l"/>
            <a:r>
              <a:rPr lang="en-IN" sz="2000" b="1" i="0" u="none" strike="noStrike" dirty="0">
                <a:solidFill>
                  <a:srgbClr val="1D2125"/>
                </a:solidFill>
                <a:effectLst/>
                <a:latin typeface="Times New Roman" panose="02020603050405020304" pitchFamily="18" charset="0"/>
                <a:cs typeface="Times New Roman" panose="02020603050405020304" pitchFamily="18" charset="0"/>
              </a:rPr>
              <a:t>There are 3 ways you can get a bitcoin in your electronic storage:</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a:bodyPr>
          <a:lstStyle/>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Trade Money For Bitcoin: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Say that the value of a bitcoin is 1 lakh rupees, so if you want a bitcoin, you can trade a bitcoin in place of 1 lakh rupees. This Bitcoin will further be stored in your electronic storage media which you can further use.</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Trade Goods For Bitcoin: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Say that the value of a bitcoin is 1 lakh rupees and you have a commodity that has its value as 1 lakh rupees, so you can trade that commodity in place of a bitcoin, and the bitcoin will be stored in your electronic storage media.</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Mine Bitcoins: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Other than trading, you can also mine bitcoins. Since it is a decentralized currency, there is no authority that brings bitcoins into the market. Bitcoins only come into the market by mining them.</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58783" y="1467853"/>
            <a:ext cx="9026434" cy="4792579"/>
          </a:xfrm>
          <a:prstGeom prst="rect">
            <a:avLst/>
          </a:prstGeom>
          <a:noFill/>
          <a:ln>
            <a:noFill/>
          </a:ln>
        </p:spPr>
        <p:txBody>
          <a:bodyPr spcFirstLastPara="1" wrap="square" lIns="91425" tIns="45700" rIns="91425" bIns="45700" anchor="t" anchorCtr="0">
            <a:noAutofit/>
          </a:bodyPr>
          <a:lstStyle/>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Distributed: </a:t>
            </a:r>
            <a:r>
              <a:rPr lang="en-IN" sz="2000" b="0" i="0" strike="noStrike" dirty="0">
                <a:solidFill>
                  <a:schemeClr val="tx1"/>
                </a:solidFill>
                <a:effectLst/>
                <a:latin typeface="Times New Roman" panose="02020603050405020304" pitchFamily="18" charset="0"/>
                <a:cs typeface="Times New Roman" panose="02020603050405020304" pitchFamily="18" charset="0"/>
              </a:rPr>
              <a:t>All bitcoin transactions are recorded in a public ledger known as the </a:t>
            </a:r>
            <a:r>
              <a:rPr lang="en-IN" sz="2000" b="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blockchain</a:t>
            </a:r>
            <a:r>
              <a:rPr lang="en-IN" sz="2000" b="0" i="0" strike="noStrike" dirty="0">
                <a:solidFill>
                  <a:schemeClr val="tx1"/>
                </a:solidFill>
                <a:effectLst/>
                <a:latin typeface="Times New Roman" panose="02020603050405020304" pitchFamily="18" charset="0"/>
                <a:cs typeface="Times New Roman" panose="02020603050405020304" pitchFamily="18" charset="0"/>
              </a:rPr>
              <a:t>. There are nodes in the network that maintain copies of the ledger and contribute to the correct propagation of the transactions following the rules of the protocols making it impossible for the network to suffer downtime.</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Decentralized: </a:t>
            </a:r>
            <a:r>
              <a:rPr lang="en-IN" sz="2000" b="0" i="0" strike="noStrike" dirty="0">
                <a:solidFill>
                  <a:schemeClr val="tx1"/>
                </a:solidFill>
                <a:effectLst/>
                <a:latin typeface="Times New Roman" panose="02020603050405020304" pitchFamily="18" charset="0"/>
                <a:cs typeface="Times New Roman" panose="02020603050405020304" pitchFamily="18" charset="0"/>
              </a:rPr>
              <a:t>There is no third party or no CEO who controls the bitcoin network. The network consists of willing participants who agree to the rules of a protocol and changes to the protocol are done by the consensus of its users. This makes bitcoin a quasi-political system.</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Transparent: </a:t>
            </a:r>
            <a:r>
              <a:rPr lang="en-IN" sz="2000" b="0" i="0" strike="noStrike" dirty="0">
                <a:solidFill>
                  <a:schemeClr val="tx1"/>
                </a:solidFill>
                <a:effectLst/>
                <a:latin typeface="Times New Roman" panose="02020603050405020304" pitchFamily="18" charset="0"/>
                <a:cs typeface="Times New Roman" panose="02020603050405020304" pitchFamily="18" charset="0"/>
              </a:rPr>
              <a:t>The addition of new transactions to the blockchain ledger and the state of the bitcoin network is arrived upon by consensus in a transparent manner according to the rules of the protocol.</a:t>
            </a:r>
          </a:p>
          <a:p>
            <a:pPr algn="just">
              <a:buFont typeface="Arial" panose="020B0604020202020204" pitchFamily="34" charset="0"/>
              <a:buChar char="•"/>
            </a:pPr>
            <a:r>
              <a:rPr lang="en-IN" sz="2000" b="1" i="0" strike="noStrike" dirty="0">
                <a:solidFill>
                  <a:schemeClr val="tx1"/>
                </a:solidFill>
                <a:effectLst/>
                <a:latin typeface="Times New Roman" panose="02020603050405020304" pitchFamily="18" charset="0"/>
                <a:cs typeface="Times New Roman" panose="02020603050405020304" pitchFamily="18" charset="0"/>
              </a:rPr>
              <a:t>Peer-to-peer: </a:t>
            </a:r>
            <a:r>
              <a:rPr lang="en-IN" sz="2000" b="0" i="0" strike="noStrike" dirty="0">
                <a:solidFill>
                  <a:schemeClr val="tx1"/>
                </a:solidFill>
                <a:effectLst/>
                <a:latin typeface="Times New Roman" panose="02020603050405020304" pitchFamily="18" charset="0"/>
                <a:cs typeface="Times New Roman" panose="02020603050405020304" pitchFamily="18" charset="0"/>
              </a:rPr>
              <a:t>In Bitcoin transactions, the payments go straight from one party to another party so there is no need for any third party to act as an intermediary.</a:t>
            </a:r>
          </a:p>
        </p:txBody>
      </p:sp>
      <p:sp>
        <p:nvSpPr>
          <p:cNvPr id="2" name="TextBox 1">
            <a:extLst>
              <a:ext uri="{FF2B5EF4-FFF2-40B4-BE49-F238E27FC236}">
                <a16:creationId xmlns:a16="http://schemas.microsoft.com/office/drawing/2014/main" id="{C459B39F-4A70-72FA-8395-0BE174608CCD}"/>
              </a:ext>
            </a:extLst>
          </p:cNvPr>
          <p:cNvSpPr txBox="1"/>
          <p:nvPr/>
        </p:nvSpPr>
        <p:spPr>
          <a:xfrm>
            <a:off x="1106905" y="788670"/>
            <a:ext cx="7255217" cy="461665"/>
          </a:xfrm>
          <a:prstGeom prst="rect">
            <a:avLst/>
          </a:prstGeom>
          <a:noFill/>
        </p:spPr>
        <p:txBody>
          <a:bodyPr wrap="square" rtlCol="0">
            <a:spAutoFit/>
          </a:bodyPr>
          <a:lstStyle/>
          <a:p>
            <a:pPr algn="ctr"/>
            <a:r>
              <a:rPr lang="en-IN" sz="2400" b="1" i="0" u="none" strike="noStrike" dirty="0">
                <a:solidFill>
                  <a:srgbClr val="455A64"/>
                </a:solidFill>
                <a:effectLst/>
                <a:latin typeface="Poppins" pitchFamily="2" charset="77"/>
              </a:rPr>
              <a:t>Features:</a:t>
            </a:r>
            <a:endParaRPr lang="en-IN" sz="2400" b="0" i="0" u="none" strike="noStrike" dirty="0">
              <a:solidFill>
                <a:srgbClr val="455A64"/>
              </a:solidFill>
              <a:effectLst/>
              <a:latin typeface="Poppins" pitchFamily="2" charset="7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pPr algn="ctr"/>
            <a:r>
              <a:rPr lang="en-IN" sz="2400" b="1" i="0" u="none" strike="noStrike" dirty="0">
                <a:solidFill>
                  <a:srgbClr val="455A64"/>
                </a:solidFill>
                <a:effectLst/>
                <a:latin typeface="Poppins" pitchFamily="2" charset="77"/>
              </a:rPr>
              <a:t>Features:</a:t>
            </a:r>
            <a:endParaRPr lang="en-IN" sz="2400"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buFont typeface="Arial" panose="020B0604020202020204" pitchFamily="34" charset="0"/>
              <a:buChar char="•"/>
            </a:pPr>
            <a:r>
              <a:rPr lang="en-IN" sz="2000" b="0" i="0" u="none" strike="noStrike" dirty="0">
                <a:solidFill>
                  <a:srgbClr val="455A64"/>
                </a:solidFill>
                <a:effectLst/>
                <a:latin typeface="Times New Roman" panose="02020603050405020304" pitchFamily="18" charset="0"/>
                <a:cs typeface="Times New Roman" panose="02020603050405020304" pitchFamily="18" charset="0"/>
              </a:rPr>
              <a:t>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Censorship resistant: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bitcoin transactions are pseudo-anonymous and users possess the keys to their bitcoin holdings, so it is difficult for the authorities to ban users from using their assets. This provides economic freedom to the users.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All bitcoin transactions are available publicly for everyone to see. All the transactions are recorded, which eliminates the possibility of fraudulent transactions.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Permissionless: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is completely open access and ready to use for everyone, there are no complicated rules of entry. Any transaction that follows the set algorithm will be processed with certainty.</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Pseudo-anonymous: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tied to addresses that take the form of randomly generated alphanumeric strings.</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lnSpcReduction="10000"/>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digitally signed for security. Everyone on the network gets to know about a transaction. Anyone can create a bitcoin wallet by downloading the bitcoin program. Each bitcoin wallet has two things: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like an address or an account number via which any user or account can receive bitcoins.</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Private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like a digital signature via which anyone can send bitcoins.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public key can be shared with anyone but the private key must be held by the owner. If the private key gets hacked or stolen then bitcoin gets lost.</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A bitcoin transaction contains three pieces of information:</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Private key: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first part contains the bitcoin wallet address of the sender i.e. the private key.</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Amount of bitcoin to be transferred: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second part contains the amount that has been sent.</a:t>
            </a:r>
          </a:p>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Public key: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third part contains the bitcoin wallet address of the recipient i.e. the public key. </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ctr"/>
            <a:r>
              <a:rPr lang="en-IN" sz="2400" b="0" i="0" u="none" strike="noStrike" dirty="0">
                <a:solidFill>
                  <a:srgbClr val="455A64"/>
                </a:solidFill>
                <a:effectLst/>
                <a:latin typeface="Poppins" pitchFamily="2" charset="77"/>
              </a:rPr>
              <a:t>How Do Bitcoin Transactions Work?</a:t>
            </a:r>
          </a:p>
        </p:txBody>
      </p:sp>
    </p:spTree>
    <p:extLst>
      <p:ext uri="{BB962C8B-B14F-4D97-AF65-F5344CB8AC3E}">
        <p14:creationId xmlns:p14="http://schemas.microsoft.com/office/powerpoint/2010/main" val="167302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Benefits of Bitcoin</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Autofit/>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advantages of using bitcoins: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User anonymity: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users can have multiple public keys and are identified by numerical codes. This ensures that the transactions cannot be traced back to the user. Even if the wallet address becomes public, the user can generate a new wallet address to keep information safe.</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Transparency: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transactions are recorded on the public ledger blockchain. The transactions are permanently viewable, which gives transparency to the system but they are secure and fraud-resistant at the same time due to blockchain technology.</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Accessibility: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is a very versatile and accessible currency. It takes a few minutes to transfer bitcoins to another user, so it can be used to buy goods and services from a variety of places accepting bitcoins. This makes spending bitcoin easy in another country with little or no fees applied.</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Independence from central authority: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is a decentralized currency, which means there is no dependence on any single governing authority for verifying transactions. This means that the authorities are not likely to freeze or demand back the bitcoins.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Low transaction fees: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Standard wire transfers involve transaction fees and exchange costs. Since bitcoin transactions do not involve any government authority so the transaction fees are very low compared to bank transfers.</a:t>
            </a:r>
          </a:p>
        </p:txBody>
      </p:sp>
    </p:spTree>
    <p:extLst>
      <p:ext uri="{BB962C8B-B14F-4D97-AF65-F5344CB8AC3E}">
        <p14:creationId xmlns:p14="http://schemas.microsoft.com/office/powerpoint/2010/main" val="111814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Drawbacks of Bitcoin</a:t>
            </a:r>
            <a:br>
              <a:rPr lang="en-IN" sz="24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528011"/>
            <a:ext cx="8802511" cy="4720389"/>
          </a:xfrm>
        </p:spPr>
        <p:txBody>
          <a:bodyPr>
            <a:normAutofit lnSpcReduction="10000"/>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cons of using bitcoin:</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Volatility: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There are various factors that contribute to the bitcoin’s volatility like uncertainty about its future value, security breaches, headline-making news, and one of the most important reasons is the scarcity of bitcoins. It is known that there is a limit of 21 million bitcoins that could ever exist which is why some regard bitcoin as a scarce resource. This scarcity makes bitcoin’s price variable.</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 government regulations: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Unlike the investments that are done through central banks, bitcoins transactions are not regulated by any central authority due to a decentralized framework. This means that bitcoin’s transactions don’t come with legal protection and are irreversible which makes them susceptible to crimes.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 buyer protection: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If the goods are bought using bitcoins and the seller does not send the promised goods then nothing can be done to reverse the transactions and since there is no central authority so no legal protection can be provided in this case. </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Not widely accepted: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Bitcoins are still only accepted by a small group of online merchants. This makes it unfeasible to rely completely on bitcoin as a currency and replace it with traditional bank transactions.</a:t>
            </a:r>
          </a:p>
          <a:p>
            <a:pPr algn="just">
              <a:buFont typeface="Arial" panose="020B0604020202020204" pitchFamily="34" charset="0"/>
              <a:buChar char="•"/>
            </a:pPr>
            <a:r>
              <a:rPr lang="en-IN" sz="1600" b="1" i="0" u="none" strike="noStrike" dirty="0">
                <a:solidFill>
                  <a:srgbClr val="1D2125"/>
                </a:solidFill>
                <a:effectLst/>
                <a:latin typeface="Times New Roman" panose="02020603050405020304" pitchFamily="18" charset="0"/>
                <a:cs typeface="Times New Roman" panose="02020603050405020304" pitchFamily="18" charset="0"/>
              </a:rPr>
              <a:t>Irreversible: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There is a lack of security in bitcoin transactions due to the anonymous and non-regulated nature of the bitcoin transactions. If the wrong amount is sent or the amount is sent to the wrong recipient then nothing can be done to reverse the transactions.</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Bitcoin mining is a complex computational and technological process of validating the bitcoin transactions over the Bitcoin network. It is like a process of validating a block on the chain network and getting paid in Bitcoin. </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People who are involved in this process of mining are known as miners. The reason why it is called ‘mining’, is because just like any other form of natural resources, there is a finite number of Bitcoins available. The maximum amount of Bitcoin that can be created or mined is 21 million. Just like real mining, in Bitcoin mining, one needs to invest energy in order to generate or create Bitcoins. And here, the energy is in the form of electrical energy to mine Bitcoins. The miners compete against each other to solve complex hash puzzles, which are encoded cryptographically to verify the blocks containing transactions.</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this race of guessing, whosoever becomes the first miner to guess the number gets a chance to update the ledger of transactions on the Bitcoin blockchain network and also receives a reward of newly-minted Bitcoins. It is to be noted that this guessing of specific numbers is all done by the computer. So, the more powerful a computer one has, the more guesses a miner can make per second, and thus it increases the chances of winning this race. Bitcoin mining is primarily done:</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A)      To bring new coins into circulation and validate ongoing transactions.</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B)      To check counterfeiting and double-spend.</a:t>
            </a:r>
          </a:p>
          <a:p>
            <a:pPr algn="just"/>
            <a:r>
              <a:rPr lang="en-IN" sz="1600" b="0" i="0" u="none" strike="noStrike" dirty="0">
                <a:solidFill>
                  <a:srgbClr val="1D2125"/>
                </a:solidFill>
                <a:effectLst/>
                <a:latin typeface="Times New Roman" panose="02020603050405020304" pitchFamily="18" charset="0"/>
                <a:cs typeface="Times New Roman" panose="02020603050405020304" pitchFamily="18" charset="0"/>
              </a:rPr>
              <a:t>C)      Maintain the ledger in a decentralized manner.</a:t>
            </a:r>
          </a:p>
          <a:p>
            <a:pPr marL="76200" indent="0">
              <a:buNone/>
            </a:pPr>
            <a:endParaRPr lang="en-US" dirty="0"/>
          </a:p>
        </p:txBody>
      </p:sp>
      <p:sp>
        <p:nvSpPr>
          <p:cNvPr id="4" name="TextBox 3">
            <a:extLst>
              <a:ext uri="{FF2B5EF4-FFF2-40B4-BE49-F238E27FC236}">
                <a16:creationId xmlns:a16="http://schemas.microsoft.com/office/drawing/2014/main" id="{F76EBDFA-043F-EEA3-BC1C-91B980911258}"/>
              </a:ext>
            </a:extLst>
          </p:cNvPr>
          <p:cNvSpPr txBox="1"/>
          <p:nvPr/>
        </p:nvSpPr>
        <p:spPr>
          <a:xfrm>
            <a:off x="3883231" y="665018"/>
            <a:ext cx="3738524" cy="738664"/>
          </a:xfrm>
          <a:prstGeom prst="rect">
            <a:avLst/>
          </a:prstGeom>
          <a:noFill/>
        </p:spPr>
        <p:txBody>
          <a:bodyPr wrap="none" rtlCol="0">
            <a:spAutoFit/>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What is Bitcoin Mining?</a:t>
            </a:r>
          </a:p>
          <a:p>
            <a:endParaRPr lang="en-US" dirty="0"/>
          </a:p>
        </p:txBody>
      </p:sp>
    </p:spTree>
    <p:extLst>
      <p:ext uri="{BB962C8B-B14F-4D97-AF65-F5344CB8AC3E}">
        <p14:creationId xmlns:p14="http://schemas.microsoft.com/office/powerpoint/2010/main" val="337676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break down the mining process to understand how it works and what is required to start the process:</a:t>
            </a: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Setting-up Of Powerful Hardware Resources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Before a miner can initiate the process of minting Bitcoins, they need to set up their own rigs in terms of powerful computer resources and other specific tools to solve the complex puzzles efficiently. As mining hardware, they would require either graphics processing units (GPUs) with advanced graphic cards, field programmable gate array (FPGAs), or application specific integrated circuits (ASICs) for efficient and effective mining.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At present, ASIC-based hardware is the most advanced and capable of creating huge amounts of hashes per second. However, such advanced hardware is costly and may range in thousands of dollars.</a:t>
            </a:r>
          </a:p>
          <a:p>
            <a:br>
              <a:rPr lang="en-IN" sz="1600" dirty="0"/>
            </a:br>
            <a:endParaRPr lang="en-US" dirty="0"/>
          </a:p>
        </p:txBody>
      </p:sp>
      <p:sp>
        <p:nvSpPr>
          <p:cNvPr id="2" name="TextBox 1">
            <a:extLst>
              <a:ext uri="{FF2B5EF4-FFF2-40B4-BE49-F238E27FC236}">
                <a16:creationId xmlns:a16="http://schemas.microsoft.com/office/drawing/2014/main" id="{DDDF501F-E571-F8AA-21C6-B7A3848FAB7A}"/>
              </a:ext>
            </a:extLst>
          </p:cNvPr>
          <p:cNvSpPr txBox="1"/>
          <p:nvPr/>
        </p:nvSpPr>
        <p:spPr>
          <a:xfrm>
            <a:off x="1341912" y="782053"/>
            <a:ext cx="6887688" cy="738664"/>
          </a:xfrm>
          <a:prstGeom prst="rect">
            <a:avLst/>
          </a:prstGeom>
          <a:noFill/>
        </p:spPr>
        <p:txBody>
          <a:bodyPr wrap="square" rtlCol="0">
            <a:spAutoFit/>
          </a:bodyPr>
          <a:lstStyle/>
          <a:p>
            <a:pPr algn="l"/>
            <a:r>
              <a:rPr lang="en-IN" sz="2800" b="0" i="0" u="none" strike="noStrike" dirty="0">
                <a:solidFill>
                  <a:srgbClr val="455A64"/>
                </a:solidFill>
                <a:effectLst/>
                <a:latin typeface="Poppins" pitchFamily="2" charset="77"/>
              </a:rPr>
              <a:t>How Does Bitcoin Mining Work?</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771896" y="760021"/>
            <a:ext cx="8143504" cy="5488379"/>
          </a:xfrm>
        </p:spPr>
        <p:txBody>
          <a:bodyPr>
            <a:noAutofit/>
          </a:bodyPr>
          <a:lstStyle/>
          <a:p>
            <a:pPr marL="76200" indent="0" algn="just">
              <a:buNone/>
            </a:pPr>
            <a:r>
              <a:rPr lang="en-IN" sz="1800" b="1" i="0" strike="noStrike" dirty="0">
                <a:solidFill>
                  <a:schemeClr val="tx1"/>
                </a:solidFill>
                <a:effectLst/>
                <a:latin typeface="Times New Roman" panose="02020603050405020304" pitchFamily="18" charset="0"/>
                <a:cs typeface="Times New Roman" panose="02020603050405020304" pitchFamily="18" charset="0"/>
              </a:rPr>
              <a:t>Installing Mining Software and E-Wallets</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Other than powerful hardware requirements, miners need specific software such as CG miner, XMR miner, </a:t>
            </a:r>
            <a:r>
              <a:rPr lang="en-IN" sz="1800" b="0" i="0" strike="noStrike" dirty="0" err="1">
                <a:solidFill>
                  <a:schemeClr val="tx1"/>
                </a:solidFill>
                <a:effectLst/>
                <a:latin typeface="Times New Roman" panose="02020603050405020304" pitchFamily="18" charset="0"/>
                <a:cs typeface="Times New Roman" panose="02020603050405020304" pitchFamily="18" charset="0"/>
              </a:rPr>
              <a:t>multiminer</a:t>
            </a:r>
            <a:r>
              <a:rPr lang="en-IN" sz="1800" b="0" i="0" strike="noStrike" dirty="0">
                <a:solidFill>
                  <a:schemeClr val="tx1"/>
                </a:solidFill>
                <a:effectLst/>
                <a:latin typeface="Times New Roman" panose="02020603050405020304" pitchFamily="18" charset="0"/>
                <a:cs typeface="Times New Roman" panose="02020603050405020304" pitchFamily="18" charset="0"/>
              </a:rPr>
              <a:t>. Many of this software are free to download and can run on Windows and Mac computers. Once the software is connected to the necessary hardware, you are all set for Bitcoin mining. </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The miner would also require an e-wallet to store their rewards as Bitcoins. A </a:t>
            </a:r>
            <a:r>
              <a:rPr lang="en-IN" sz="1800" b="0" i="0" strike="noStrike"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bitcoin wallets</a:t>
            </a:r>
            <a:r>
              <a:rPr lang="en-IN" sz="1800" b="0" i="0" strike="noStrike" dirty="0">
                <a:solidFill>
                  <a:schemeClr val="tx1"/>
                </a:solidFill>
                <a:effectLst/>
                <a:latin typeface="Times New Roman" panose="02020603050405020304" pitchFamily="18" charset="0"/>
                <a:cs typeface="Times New Roman" panose="02020603050405020304" pitchFamily="18" charset="0"/>
              </a:rPr>
              <a:t> a digital place that facilitates in storing, transferring and accepting Bitcoin or other cryptocurrencies.</a:t>
            </a:r>
          </a:p>
          <a:p>
            <a:pPr marL="76200" indent="0" algn="just">
              <a:buNone/>
            </a:pPr>
            <a:r>
              <a:rPr lang="en-IN" sz="1800" b="1" i="0" strike="noStrike" dirty="0">
                <a:solidFill>
                  <a:schemeClr val="tx1"/>
                </a:solidFill>
                <a:effectLst/>
                <a:latin typeface="Times New Roman" panose="02020603050405020304" pitchFamily="18" charset="0"/>
                <a:cs typeface="Times New Roman" panose="02020603050405020304" pitchFamily="18" charset="0"/>
              </a:rPr>
              <a:t>Mining Pool or Solo Mining</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Miners can opt whether they want to mine solo or go for pool mining. As it is not that easy to mine alone, mining pools were invented. In a mining pool, groups of miners are formed together to deal with the growing difficulty of mining. Each miner is paid for their share of work. </a:t>
            </a:r>
          </a:p>
          <a:p>
            <a:pPr algn="just"/>
            <a:r>
              <a:rPr lang="en-IN" sz="1800" b="0" i="0" strike="noStrike" dirty="0">
                <a:solidFill>
                  <a:schemeClr val="tx1"/>
                </a:solidFill>
                <a:effectLst/>
                <a:latin typeface="Times New Roman" panose="02020603050405020304" pitchFamily="18" charset="0"/>
                <a:cs typeface="Times New Roman" panose="02020603050405020304" pitchFamily="18" charset="0"/>
              </a:rPr>
              <a:t>Mining Bitcoins in a pool with combined computation power also promotes efficient mining with reduced mining difficulty to solve a block. This also promotes the participation of small miners to have a chance of earning Bitcoin, even though they will only receive a certain part of the reward.</a:t>
            </a:r>
          </a:p>
          <a:p>
            <a:pPr algn="just"/>
            <a:r>
              <a:rPr lang="en-IN" sz="1800" b="1" i="0" strike="noStrike" dirty="0">
                <a:solidFill>
                  <a:schemeClr val="tx1"/>
                </a:solidFill>
                <a:effectLst/>
                <a:latin typeface="Times New Roman" panose="02020603050405020304" pitchFamily="18" charset="0"/>
                <a:cs typeface="Times New Roman" panose="02020603050405020304" pitchFamily="18" charset="0"/>
              </a:rPr>
              <a:t>More Miners = Reliable + more secured network</a:t>
            </a:r>
            <a:endParaRPr lang="en-IN" sz="1800" b="0" i="0" strike="noStrike"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754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a:br>
              <a:rPr lang="en-IN" b="0" i="0" u="none" strike="noStrike" dirty="0">
                <a:solidFill>
                  <a:srgbClr val="1D2125"/>
                </a:solidFill>
                <a:effectLst/>
                <a:latin typeface="Poppins" pitchFamily="2" charset="77"/>
              </a:rPr>
            </a:br>
            <a:r>
              <a:rPr lang="en-IN" sz="2400" b="0" i="0" u="none" strike="noStrike" dirty="0">
                <a:solidFill>
                  <a:srgbClr val="455A64"/>
                </a:solidFill>
                <a:effectLst/>
                <a:latin typeface="Poppins" pitchFamily="2" charset="77"/>
              </a:rPr>
              <a:t>Types Of Bitcoin Mining</a:t>
            </a:r>
            <a:br>
              <a:rPr lang="en-IN" sz="2400" b="0" i="0" u="none" strike="noStrike" dirty="0">
                <a:solidFill>
                  <a:srgbClr val="455A64"/>
                </a:solidFill>
                <a:effectLst/>
                <a:latin typeface="Poppins" pitchFamily="2" charset="77"/>
              </a:rPr>
            </a:b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fontScale="85000" lnSpcReduction="10000"/>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Bitcoin mining can be done in several ways and forms, each delivering different levels of hashing power and block rewards. Here are the various ways that one can mine Bitcoin:</a:t>
            </a: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CPU Mining</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Bitcoin was launched in 2009 and was mined for the first time, it got mined via central processing units (CPUs), which is also known as the brain of a computer, containing all the circuitry required to process input and output results. In the early days of Bitcoins, it was easy to mine it via CPUs as there were only very few miners and Bitcoin was also at its infant stage.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455A64"/>
                </a:solidFill>
                <a:effectLst/>
                <a:latin typeface="Times New Roman" panose="02020603050405020304" pitchFamily="18" charset="0"/>
                <a:cs typeface="Times New Roman" panose="02020603050405020304" pitchFamily="18" charset="0"/>
              </a:rPr>
              <a:t>GPU Mining</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Gradually when the acceptance and popularity of Bitcoin increased over the time, along with the competition among miners, graphics processing units (GPU) mining came into the picture.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GPUs based systems, which are mainly used for gaming, modern video editing, proved to be more efficient for mining with better hash rate than CPUs. The first software for GPU mining was launched in 2010. However, the GPU mining of Bitcoin was fairly short lived and got replaced by a new kind of hardware- ASIC by 2015.</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094875"/>
            <a:ext cx="8809383" cy="5153526"/>
          </a:xfrm>
        </p:spPr>
        <p:txBody>
          <a:bodyPr>
            <a:noAutofit/>
          </a:bodyPr>
          <a:lstStyle/>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ASIC Mining</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ASIC is a short for application-specific integrated circuit is a kind of hardware which is designed for mining cryptocurrencies only. It was launched in 2012, and proved to be 200 times more powerful than basic GPU miners. However, ASIC mining rigs are very expensive, with prices ranging from $2,000 to $15,000. With varying power consumption and electricity costs along with network difficulties, purchasing ASIC miners could be very high-priced.</a:t>
            </a:r>
          </a:p>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FPGA Mining</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FPGA stands for field-programmable gate array (FPGA), which is a better choice between GPU miners and ASIC miners in terms of speed and cost efficiency. FPGAs are also able to stabilize vigorous hashing power as they are not meant to be locked into mining a specific coin or algorithm like ASIC miners. The kind of hardware technology gives flexibility to the miner to reuse the set-up if they change your mining activity for something else. FPGA miners are good options for crypto enthusiasts that don’t want to invest huge sums on mining hardware.</a:t>
            </a:r>
          </a:p>
          <a:p>
            <a:pPr algn="just"/>
            <a:r>
              <a:rPr lang="en-IN" sz="1600" b="0" i="0" u="none" strike="noStrike" dirty="0">
                <a:solidFill>
                  <a:srgbClr val="455A64"/>
                </a:solidFill>
                <a:effectLst/>
                <a:latin typeface="Times New Roman" panose="02020603050405020304" pitchFamily="18" charset="0"/>
                <a:cs typeface="Times New Roman" panose="02020603050405020304" pitchFamily="18" charset="0"/>
              </a:rPr>
              <a:t>Cloud Mining </a:t>
            </a:r>
          </a:p>
          <a:p>
            <a:pPr marL="76200" indent="0" algn="just">
              <a:buNone/>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This is a latest way of mining Bitcoins, where the miner can buy a cloud mining service or purchase a contract from a cloud mining provider who is specialized in cryptocurrency mining rigs. This facilitates the miner to mine Bitcoins without bearing the sunk costs and maintenance requirements of mining hardware set up. But one is required to be very cautious in order to choose a reputed cloud miner to avoid any kind of scams or frauds.</a:t>
            </a:r>
          </a:p>
        </p:txBody>
      </p:sp>
      <p:sp>
        <p:nvSpPr>
          <p:cNvPr id="2" name="TextBox 1">
            <a:extLst>
              <a:ext uri="{FF2B5EF4-FFF2-40B4-BE49-F238E27FC236}">
                <a16:creationId xmlns:a16="http://schemas.microsoft.com/office/drawing/2014/main" id="{FBBD77D8-BE2B-6D17-10FC-578C07186EAC}"/>
              </a:ext>
            </a:extLst>
          </p:cNvPr>
          <p:cNvSpPr txBox="1"/>
          <p:nvPr/>
        </p:nvSpPr>
        <p:spPr>
          <a:xfrm>
            <a:off x="3835730" y="712519"/>
            <a:ext cx="2781531" cy="400110"/>
          </a:xfrm>
          <a:prstGeom prst="rect">
            <a:avLst/>
          </a:prstGeom>
          <a:noFill/>
        </p:spPr>
        <p:txBody>
          <a:bodyPr wrap="none" rtlCol="0">
            <a:spAutoFit/>
          </a:bodyPr>
          <a:lstStyle/>
          <a:p>
            <a:r>
              <a:rPr lang="en-IN" sz="2000" b="0" i="0" u="none" strike="noStrike" dirty="0">
                <a:solidFill>
                  <a:srgbClr val="455A64"/>
                </a:solidFill>
                <a:effectLst/>
                <a:latin typeface="Times New Roman" panose="02020603050405020304" pitchFamily="18" charset="0"/>
                <a:cs typeface="Times New Roman" panose="02020603050405020304" pitchFamily="18" charset="0"/>
              </a:rPr>
              <a:t>Types Of Bitcoin Mining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027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Id7"/>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1827</TotalTime>
  <Words>2595</Words>
  <Application>Microsoft Macintosh PowerPoint</Application>
  <PresentationFormat>On-screen Show (4:3)</PresentationFormat>
  <Paragraphs>100</Paragraphs>
  <Slides>16</Slides>
  <Notes>7</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16</vt:i4>
      </vt:variant>
    </vt:vector>
  </HeadingPairs>
  <TitlesOfParts>
    <vt:vector size="38" baseType="lpstr">
      <vt:lpstr>Times New Roman</vt:lpstr>
      <vt:lpstr>Lucida Console</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Bitcoin </vt:lpstr>
      <vt:lpstr>PowerPoint Presentation</vt:lpstr>
      <vt:lpstr>There are 3 ways you can get a bitcoin in your electronic storage:</vt:lpstr>
      <vt:lpstr>PowerPoint Presentation</vt:lpstr>
      <vt:lpstr>Features:</vt:lpstr>
      <vt:lpstr>PowerPoint Presentation</vt:lpstr>
      <vt:lpstr>    Benefits of Bitcoin       </vt:lpstr>
      <vt:lpstr>    Drawbacks of Bitcoin      </vt:lpstr>
      <vt:lpstr>PowerPoint Presentation</vt:lpstr>
      <vt:lpstr>PowerPoint Presentation</vt:lpstr>
      <vt:lpstr>PowerPoint Presentation</vt:lpstr>
      <vt:lpstr> Types Of Bitcoin Mining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118</cp:revision>
  <dcterms:created xsi:type="dcterms:W3CDTF">2013-12-12T17:34:34Z</dcterms:created>
  <dcterms:modified xsi:type="dcterms:W3CDTF">2024-06-26T02:28:35Z</dcterms:modified>
</cp:coreProperties>
</file>