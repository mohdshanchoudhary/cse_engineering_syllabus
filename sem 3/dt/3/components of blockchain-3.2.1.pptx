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34"/>
  </p:notesMasterIdLst>
  <p:sldIdLst>
    <p:sldId id="256" r:id="rId16"/>
    <p:sldId id="259" r:id="rId17"/>
    <p:sldId id="268" r:id="rId18"/>
    <p:sldId id="269" r:id="rId19"/>
    <p:sldId id="270" r:id="rId20"/>
    <p:sldId id="279" r:id="rId21"/>
    <p:sldId id="280" r:id="rId22"/>
    <p:sldId id="281" r:id="rId23"/>
    <p:sldId id="282" r:id="rId24"/>
    <p:sldId id="283" r:id="rId25"/>
    <p:sldId id="284" r:id="rId26"/>
    <p:sldId id="285" r:id="rId27"/>
    <p:sldId id="286" r:id="rId28"/>
    <p:sldId id="287" r:id="rId29"/>
    <p:sldId id="288" r:id="rId30"/>
    <p:sldId id="289" r:id="rId31"/>
    <p:sldId id="277" r:id="rId32"/>
    <p:sldId id="278" r:id="rId33"/>
  </p:sldIdLst>
  <p:sldSz cx="9144000" cy="6858000" type="screen4x3"/>
  <p:notesSz cx="6858000" cy="9144000"/>
  <p:embeddedFontLst>
    <p:embeddedFont>
      <p:font typeface="Arial Black" panose="020B0604020202020204" pitchFamily="34" charset="0"/>
      <p:regular r:id="rId35"/>
      <p:bold r:id="rId36"/>
    </p:embeddedFont>
    <p:embeddedFont>
      <p:font typeface="Cambria" panose="02040503050406030204" pitchFamily="18" charset="0"/>
      <p:regular r:id="rId37"/>
      <p:bold r:id="rId38"/>
      <p:italic r:id="rId39"/>
      <p:boldItalic r:id="rId40"/>
    </p:embeddedFont>
    <p:embeddedFont>
      <p:font typeface="Lucida Console" panose="020B0609040504020204" pitchFamily="49" charset="0"/>
      <p:regular r:id="rId41"/>
    </p:embeddedFont>
    <p:embeddedFont>
      <p:font typeface="Poppins" pitchFamily="2" charset="77"/>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0032"/>
    <p:restoredTop sz="94485"/>
  </p:normalViewPr>
  <p:slideViewPr>
    <p:cSldViewPr snapToGrid="0">
      <p:cViewPr varScale="1">
        <p:scale>
          <a:sx n="98" d="100"/>
          <a:sy n="98" d="100"/>
        </p:scale>
        <p:origin x="192" y="504"/>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font" Target="fonts/font5.fntdata"/><Relationship Id="rId21" Type="http://schemas.openxmlformats.org/officeDocument/2006/relationships/slide" Target="slides/slide6.xml"/><Relationship Id="rId34" Type="http://schemas.openxmlformats.org/officeDocument/2006/relationships/notesMaster" Target="notesMasters/notesMaster1.xml"/><Relationship Id="rId42"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font" Target="fonts/font2.fntdata"/><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font" Target="fonts/font10.fntdata"/><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font" Target="fonts/font1.fntdata"/><Relationship Id="rId43" Type="http://schemas.openxmlformats.org/officeDocument/2006/relationships/font" Target="fonts/font9.fntdata"/><Relationship Id="rId8" Type="http://schemas.openxmlformats.org/officeDocument/2006/relationships/slideMaster" Target="slideMasters/slideMaster8.xml"/><Relationship Id="rId51" Type="http://customschemas.google.com/relationships/presentationmetadata" Target="meta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font" Target="fonts/font4.fntdata"/><Relationship Id="rId20" Type="http://schemas.openxmlformats.org/officeDocument/2006/relationships/slide" Target="slides/slide5.xml"/><Relationship Id="rId41" Type="http://schemas.openxmlformats.org/officeDocument/2006/relationships/font" Target="fonts/font7.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amazon.in/s/ref=dp_byline_sr_book_1?ie=UTF8&amp;field-author=Asharaf+S.%3B&amp;search-alias=stripbooks" TargetMode="External"/><Relationship Id="rId7" Type="http://schemas.openxmlformats.org/officeDocument/2006/relationships/hyperlink" Target="https://bitcoin.org/bitcoin.pdf"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amazon.in/s/ref=dp_byline_sr_book_4?ie=UTF8&amp;field-author=Franklin+John&amp;search-alias=stripbooks" TargetMode="External"/><Relationship Id="rId5" Type="http://schemas.openxmlformats.org/officeDocument/2006/relationships/hyperlink" Target="https://www.amazon.in/s/ref=dp_byline_sr_book_3?ie=UTF8&amp;field-author=Adarsh+S.&amp;search-alias=stripbooks" TargetMode="External"/><Relationship Id="rId4" Type="http://schemas.openxmlformats.org/officeDocument/2006/relationships/hyperlink" Target="https://www.amazon.in/s/ref=dp_byline_sr_book_2?ie=UTF8&amp;field-author=Sivadas+Neelima&amp;search-alias=stripbooks"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dirty="0">
                <a:solidFill>
                  <a:schemeClr val="dk1"/>
                </a:solidFill>
                <a:latin typeface="Times New Roman"/>
                <a:ea typeface="Times New Roman"/>
                <a:cs typeface="Times New Roman"/>
                <a:sym typeface="Times New Roman"/>
              </a:rPr>
              <a:t>Topic: </a:t>
            </a:r>
            <a:r>
              <a:rPr lang="en-US" sz="2000" b="1" dirty="0">
                <a:solidFill>
                  <a:schemeClr val="dk1"/>
                </a:solidFill>
                <a:latin typeface="Times New Roman"/>
                <a:ea typeface="Times New Roman"/>
                <a:cs typeface="Times New Roman"/>
                <a:sym typeface="Times New Roman"/>
              </a:rPr>
              <a:t>Blockchain</a:t>
            </a:r>
            <a:endParaRPr dirty="0"/>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dirty="0">
                <a:solidFill>
                  <a:srgbClr val="FF0000"/>
                </a:solidFill>
                <a:latin typeface="Times New Roman"/>
                <a:ea typeface="Times New Roman"/>
                <a:cs typeface="Times New Roman"/>
                <a:sym typeface="Times New Roman"/>
              </a:rPr>
              <a:t>Blockchain </a:t>
            </a:r>
            <a:endParaRPr sz="4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4756979"/>
          </a:xfrm>
          <a:prstGeom prst="rect">
            <a:avLst/>
          </a:prstGeom>
          <a:noFill/>
          <a:ln>
            <a:noFill/>
          </a:ln>
        </p:spPr>
        <p:txBody>
          <a:bodyPr spcFirstLastPara="1" wrap="square" lIns="91425" tIns="45700" rIns="91425" bIns="45700" anchor="t" anchorCtr="0">
            <a:normAutofit fontScale="85000" lnSpcReduction="20000"/>
          </a:bodyPr>
          <a:lstStyle/>
          <a:p>
            <a:pPr algn="just"/>
            <a:r>
              <a:rPr lang="en-IN"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Components of Blockchain Network</a:t>
            </a:r>
            <a:br>
              <a:rPr lang="en-IN" dirty="0">
                <a:latin typeface="Times New Roman" panose="02020603050405020304" pitchFamily="18" charset="0"/>
                <a:cs typeface="Times New Roman" panose="02020603050405020304" pitchFamily="18" charset="0"/>
              </a:rPr>
            </a:br>
            <a:r>
              <a:rPr lang="en-IN" b="0" i="0" u="none" strike="noStrike" dirty="0">
                <a:solidFill>
                  <a:srgbClr val="1D2125"/>
                </a:solidFill>
                <a:effectLst/>
                <a:latin typeface="Times New Roman" panose="02020603050405020304" pitchFamily="18" charset="0"/>
                <a:cs typeface="Times New Roman" panose="02020603050405020304" pitchFamily="18" charset="0"/>
              </a:rPr>
              <a:t>As per the name ‘Blockchain‘, it itself suggests that information (</a:t>
            </a:r>
            <a:r>
              <a:rPr lang="en-IN" b="0" i="0" u="none" strike="noStrike" dirty="0" err="1">
                <a:solidFill>
                  <a:srgbClr val="1D2125"/>
                </a:solidFill>
                <a:effectLst/>
                <a:latin typeface="Times New Roman" panose="02020603050405020304" pitchFamily="18" charset="0"/>
                <a:cs typeface="Times New Roman" panose="02020603050405020304" pitchFamily="18" charset="0"/>
              </a:rPr>
              <a:t>i.e</a:t>
            </a:r>
            <a:r>
              <a:rPr lang="en-IN" b="0" i="0" u="none" strike="noStrike" dirty="0">
                <a:solidFill>
                  <a:srgbClr val="1D2125"/>
                </a:solidFill>
                <a:effectLst/>
                <a:latin typeface="Times New Roman" panose="02020603050405020304" pitchFamily="18" charset="0"/>
                <a:cs typeface="Times New Roman" panose="02020603050405020304" pitchFamily="18" charset="0"/>
              </a:rPr>
              <a:t> transactions) will be stored in the form of blocks. Every node can see the block, but they can’t tamper with them. If a block value is tampered the hash value associated with that block changes and that block will be disconnected from the network. On an average of 12.6 seconds, every node in the blockchain network gets the most updated blockchain. The technology behind Bitcoins is the </a:t>
            </a:r>
            <a:r>
              <a:rPr lang="en-IN" b="1" i="0" u="none" strike="noStrike" dirty="0">
                <a:solidFill>
                  <a:srgbClr val="1D2125"/>
                </a:solidFill>
                <a:effectLst/>
                <a:latin typeface="Times New Roman" panose="02020603050405020304" pitchFamily="18" charset="0"/>
                <a:cs typeface="Times New Roman" panose="02020603050405020304" pitchFamily="18" charset="0"/>
              </a:rPr>
              <a:t>Blockchain Network</a:t>
            </a:r>
            <a:r>
              <a:rPr lang="en-IN" b="0" i="0" u="none" strike="noStrike" dirty="0">
                <a:solidFill>
                  <a:srgbClr val="1D2125"/>
                </a:solidFill>
                <a:effectLst/>
                <a:latin typeface="Times New Roman" panose="02020603050405020304" pitchFamily="18" charset="0"/>
                <a:cs typeface="Times New Roman" panose="02020603050405020304" pitchFamily="18" charset="0"/>
              </a:rPr>
              <a:t>. Following are the components of a Blockchain network –</a:t>
            </a:r>
          </a:p>
          <a:p>
            <a:pPr algn="just">
              <a:buFont typeface="+mj-lt"/>
              <a:buAutoNum type="arabicPeriod"/>
            </a:pPr>
            <a:r>
              <a:rPr lang="en-IN" b="0" i="0" u="none" strike="noStrike" dirty="0">
                <a:solidFill>
                  <a:srgbClr val="1D2125"/>
                </a:solidFill>
                <a:effectLst/>
                <a:latin typeface="Times New Roman" panose="02020603050405020304" pitchFamily="18" charset="0"/>
                <a:cs typeface="Times New Roman" panose="02020603050405020304" pitchFamily="18" charset="0"/>
              </a:rPr>
              <a:t>Node</a:t>
            </a:r>
          </a:p>
          <a:p>
            <a:pPr algn="just">
              <a:buFont typeface="+mj-lt"/>
              <a:buAutoNum type="arabicPeriod"/>
            </a:pPr>
            <a:r>
              <a:rPr lang="en-IN" b="0" i="0" u="none" strike="noStrike" dirty="0">
                <a:solidFill>
                  <a:srgbClr val="1D2125"/>
                </a:solidFill>
                <a:effectLst/>
                <a:latin typeface="Times New Roman" panose="02020603050405020304" pitchFamily="18" charset="0"/>
                <a:cs typeface="Times New Roman" panose="02020603050405020304" pitchFamily="18" charset="0"/>
              </a:rPr>
              <a:t>Ledger</a:t>
            </a:r>
          </a:p>
          <a:p>
            <a:pPr algn="just">
              <a:buFont typeface="+mj-lt"/>
              <a:buAutoNum type="arabicPeriod"/>
            </a:pPr>
            <a:r>
              <a:rPr lang="en-IN" b="0" i="0" u="none" strike="noStrike" dirty="0">
                <a:solidFill>
                  <a:srgbClr val="1D2125"/>
                </a:solidFill>
                <a:effectLst/>
                <a:latin typeface="Times New Roman" panose="02020603050405020304" pitchFamily="18" charset="0"/>
                <a:cs typeface="Times New Roman" panose="02020603050405020304" pitchFamily="18" charset="0"/>
              </a:rPr>
              <a:t>Wallet</a:t>
            </a:r>
          </a:p>
          <a:p>
            <a:pPr algn="just">
              <a:buFont typeface="+mj-lt"/>
              <a:buAutoNum type="arabicPeriod"/>
            </a:pPr>
            <a:r>
              <a:rPr lang="en-IN" b="0" i="0" u="none" strike="noStrike" dirty="0">
                <a:solidFill>
                  <a:srgbClr val="1D2125"/>
                </a:solidFill>
                <a:effectLst/>
                <a:latin typeface="Times New Roman" panose="02020603050405020304" pitchFamily="18" charset="0"/>
                <a:cs typeface="Times New Roman" panose="02020603050405020304" pitchFamily="18" charset="0"/>
              </a:rPr>
              <a:t>Nonce</a:t>
            </a:r>
          </a:p>
          <a:p>
            <a:pPr algn="just">
              <a:buFont typeface="+mj-lt"/>
              <a:buAutoNum type="arabicPeriod"/>
            </a:pPr>
            <a:r>
              <a:rPr lang="en-IN" b="0" i="0" u="none" strike="noStrike" dirty="0">
                <a:solidFill>
                  <a:srgbClr val="1D2125"/>
                </a:solidFill>
                <a:effectLst/>
                <a:latin typeface="Times New Roman" panose="02020603050405020304" pitchFamily="18" charset="0"/>
                <a:cs typeface="Times New Roman" panose="02020603050405020304" pitchFamily="18" charset="0"/>
              </a:rPr>
              <a:t>Hash</a:t>
            </a:r>
          </a:p>
          <a:p>
            <a:pPr marL="88900" indent="0" algn="just">
              <a:buNone/>
            </a:pPr>
            <a:br>
              <a:rPr lang="en-IN" dirty="0">
                <a:latin typeface="Times New Roman" panose="02020603050405020304" pitchFamily="18" charset="0"/>
                <a:cs typeface="Times New Roman" panose="02020603050405020304" pitchFamily="18" charset="0"/>
              </a:rPr>
            </a:br>
            <a:r>
              <a:rPr lang="en-IN"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400" b="1" i="0" u="none" strike="noStrike" dirty="0">
                <a:solidFill>
                  <a:srgbClr val="455A64"/>
                </a:solidFill>
                <a:effectLst/>
                <a:latin typeface="Times New Roman" panose="02020603050405020304" pitchFamily="18" charset="0"/>
                <a:cs typeface="Times New Roman" panose="02020603050405020304" pitchFamily="18" charset="0"/>
              </a:rPr>
              <a:t>Components of Blockchain Network</a:t>
            </a: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812223"/>
            <a:ext cx="7848600" cy="382156"/>
          </a:xfrm>
          <a:prstGeom prst="rect">
            <a:avLst/>
          </a:prstGeom>
          <a:noFill/>
          <a:ln>
            <a:noFill/>
          </a:ln>
        </p:spPr>
        <p:txBody>
          <a:bodyPr spcFirstLastPara="1" wrap="square" lIns="0" tIns="12700" rIns="0" bIns="0" anchor="ctr" anchorCtr="0">
            <a:spAutoFit/>
          </a:bodyPr>
          <a:lstStyle/>
          <a:p>
            <a:pPr marL="88900" indent="0" algn="ctr">
              <a:buNone/>
            </a:pPr>
            <a:r>
              <a:rPr lang="en-IN" sz="2400" b="1" i="0" u="none" strike="noStrike" dirty="0">
                <a:solidFill>
                  <a:srgbClr val="455A64"/>
                </a:solidFill>
                <a:effectLst/>
                <a:latin typeface="Times New Roman" panose="02020603050405020304" pitchFamily="18" charset="0"/>
                <a:cs typeface="Times New Roman" panose="02020603050405020304" pitchFamily="18" charset="0"/>
              </a:rPr>
              <a:t>Components of Blockchain Network</a:t>
            </a: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209006" y="1384663"/>
            <a:ext cx="8706394" cy="4863737"/>
          </a:xfrm>
          <a:prstGeom prst="rect">
            <a:avLst/>
          </a:prstGeom>
          <a:noFill/>
          <a:ln>
            <a:noFill/>
          </a:ln>
        </p:spPr>
        <p:txBody>
          <a:bodyPr spcFirstLastPara="1" wrap="square" lIns="91425" tIns="45700" rIns="91425" bIns="45700" anchor="t" anchorCtr="0">
            <a:normAutofit fontScale="47500" lnSpcReduction="20000"/>
          </a:bodyPr>
          <a:lstStyle/>
          <a:p>
            <a:pPr marL="76200" indent="0" algn="l">
              <a:buNone/>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1. Node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It is of two types – Full Node and Partial Node. </a:t>
            </a:r>
          </a:p>
          <a:p>
            <a:pPr algn="l">
              <a:buFont typeface="Arial" panose="020B0604020202020204" pitchFamily="34" charset="0"/>
              <a:buChar char="•"/>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Full Node</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It maintains a full copy of all the transactions. It has the capacity to validate, accept and reject the transactions.</a:t>
            </a:r>
          </a:p>
          <a:p>
            <a:pPr algn="l">
              <a:buFont typeface="Arial" panose="020B0604020202020204" pitchFamily="34" charset="0"/>
              <a:buChar char="•"/>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Partial Node</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It is also called a Lightweight Node because it doesn’t maintain the whole copy of the blockchain ledger. It maintains only the hash value of the transaction. The whole transaction is accessed using this hash value only. These nodes have low storage and low computational power.</a:t>
            </a:r>
          </a:p>
          <a:p>
            <a:pPr marL="76200" indent="0" algn="l">
              <a:buNone/>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2. Ledger –</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It is a digital database of information.  Here, we have used the term ‘digital’ because the currency exchanged between different nodes is digital </a:t>
            </a:r>
            <a:r>
              <a:rPr lang="en-IN" sz="3300" b="0" i="0" u="none" strike="noStrike" dirty="0" err="1">
                <a:solidFill>
                  <a:srgbClr val="1D2125"/>
                </a:solidFill>
                <a:effectLst/>
                <a:latin typeface="Times New Roman" panose="02020603050405020304" pitchFamily="18" charset="0"/>
                <a:cs typeface="Times New Roman" panose="02020603050405020304" pitchFamily="18" charset="0"/>
              </a:rPr>
              <a:t>i.e</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cryptocurrency. There are three types of ledger. They are –</a:t>
            </a:r>
          </a:p>
          <a:p>
            <a:pPr marL="742950" lvl="1" indent="-285750" algn="l">
              <a:buFont typeface="Arial" panose="020B0604020202020204" pitchFamily="34" charset="0"/>
              <a:buChar char="•"/>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Public Ledger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It is open and transparent to all. Anyone in the blockchain network can read or write something.</a:t>
            </a:r>
          </a:p>
          <a:p>
            <a:pPr marL="742950" lvl="1" indent="-285750" algn="l">
              <a:buFont typeface="Arial" panose="020B0604020202020204" pitchFamily="34" charset="0"/>
              <a:buChar char="•"/>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Distributed Ledger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In this ledger, all nodes have a local copy of the database. Here, a group of nodes collectively execute the job </a:t>
            </a:r>
            <a:r>
              <a:rPr lang="en-IN" sz="3300" b="0" i="0" u="none" strike="noStrike" dirty="0" err="1">
                <a:solidFill>
                  <a:srgbClr val="1D2125"/>
                </a:solidFill>
                <a:effectLst/>
                <a:latin typeface="Times New Roman" panose="02020603050405020304" pitchFamily="18" charset="0"/>
                <a:cs typeface="Times New Roman" panose="02020603050405020304" pitchFamily="18" charset="0"/>
              </a:rPr>
              <a:t>i.e</a:t>
            </a:r>
            <a:r>
              <a:rPr lang="en-IN" sz="3300" b="0" i="0" u="none" strike="noStrike" dirty="0">
                <a:solidFill>
                  <a:srgbClr val="1D2125"/>
                </a:solidFill>
                <a:effectLst/>
                <a:latin typeface="Times New Roman" panose="02020603050405020304" pitchFamily="18" charset="0"/>
                <a:cs typeface="Times New Roman" panose="02020603050405020304" pitchFamily="18" charset="0"/>
              </a:rPr>
              <a:t> verify transactions, add blocks in the blockchain.</a:t>
            </a:r>
          </a:p>
          <a:p>
            <a:pPr marL="742950" lvl="1" indent="-285750" algn="l">
              <a:buFont typeface="Arial" panose="020B0604020202020204" pitchFamily="34" charset="0"/>
              <a:buChar char="•"/>
            </a:pPr>
            <a:r>
              <a:rPr lang="en-IN" sz="3300" b="1" i="0" u="none" strike="noStrike" dirty="0">
                <a:solidFill>
                  <a:srgbClr val="1D2125"/>
                </a:solidFill>
                <a:effectLst/>
                <a:latin typeface="Times New Roman" panose="02020603050405020304" pitchFamily="18" charset="0"/>
                <a:cs typeface="Times New Roman" panose="02020603050405020304" pitchFamily="18" charset="0"/>
              </a:rPr>
              <a:t>Decentralized Ledger – </a:t>
            </a:r>
            <a:br>
              <a:rPr lang="en-IN" sz="3300" b="0" i="0" u="none" strike="noStrike" dirty="0">
                <a:solidFill>
                  <a:srgbClr val="1D2125"/>
                </a:solidFill>
                <a:effectLst/>
                <a:latin typeface="Times New Roman" panose="02020603050405020304" pitchFamily="18" charset="0"/>
                <a:cs typeface="Times New Roman" panose="02020603050405020304" pitchFamily="18" charset="0"/>
              </a:rPr>
            </a:br>
            <a:r>
              <a:rPr lang="en-IN" sz="3300" b="0" i="0" u="none" strike="noStrike" dirty="0">
                <a:solidFill>
                  <a:srgbClr val="1D2125"/>
                </a:solidFill>
                <a:effectLst/>
                <a:latin typeface="Times New Roman" panose="02020603050405020304" pitchFamily="18" charset="0"/>
                <a:cs typeface="Times New Roman" panose="02020603050405020304" pitchFamily="18" charset="0"/>
              </a:rPr>
              <a:t>In this ledger, no one node or group of nodes has a central control. Every node participates in the execution of the job.</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0" y="1201783"/>
            <a:ext cx="9026434" cy="5046617"/>
          </a:xfrm>
          <a:prstGeom prst="rect">
            <a:avLst/>
          </a:prstGeom>
          <a:noFill/>
          <a:ln>
            <a:noFill/>
          </a:ln>
        </p:spPr>
        <p:txBody>
          <a:bodyPr spcFirstLastPara="1" wrap="square" lIns="91425" tIns="45700" rIns="91425" bIns="45700" anchor="t" anchorCtr="0">
            <a:noAutofit/>
          </a:bodyPr>
          <a:lstStyle/>
          <a:p>
            <a:pPr algn="l"/>
            <a:r>
              <a:rPr lang="en-IN" sz="1800" b="1" i="0" u="none" strike="noStrike" dirty="0">
                <a:solidFill>
                  <a:srgbClr val="1D2125"/>
                </a:solidFill>
                <a:effectLst/>
                <a:latin typeface="Times New Roman" panose="02020603050405020304" pitchFamily="18" charset="0"/>
                <a:cs typeface="Times New Roman" panose="02020603050405020304" pitchFamily="18" charset="0"/>
              </a:rPr>
              <a:t>3. Wallet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It is a digital wallet that allows user to store their cryptocurrency. Every node in the blockchain network has a Wallet. Privacy of a wallet in a blockchain network is maintained using public and private key pairs. In a wallet, there is no need for currency conversion as the currency in the wallet is universally acceptable. Cryptocurrency wallets are mainly of two types –</a:t>
            </a:r>
          </a:p>
          <a:p>
            <a:pPr algn="l">
              <a:buFont typeface="+mj-lt"/>
              <a:buAutoNum type="arabicPeriod"/>
            </a:pPr>
            <a:r>
              <a:rPr lang="en-IN" sz="1800" b="1" i="0" u="none" strike="noStrike" dirty="0">
                <a:solidFill>
                  <a:srgbClr val="1D2125"/>
                </a:solidFill>
                <a:effectLst/>
                <a:latin typeface="Times New Roman" panose="02020603050405020304" pitchFamily="18" charset="0"/>
                <a:cs typeface="Times New Roman" panose="02020603050405020304" pitchFamily="18" charset="0"/>
              </a:rPr>
              <a:t>Hot Wallet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These wallets are used for online day-to-day transactions connected to the internet. Hackers can attack this wallet as it is connected to the internet. Hot wallets are further classified into two types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1" i="0" u="none" strike="noStrike" dirty="0">
                <a:solidFill>
                  <a:srgbClr val="1D2125"/>
                </a:solidFill>
                <a:effectLst/>
                <a:latin typeface="Times New Roman" panose="02020603050405020304" pitchFamily="18" charset="0"/>
                <a:cs typeface="Times New Roman" panose="02020603050405020304" pitchFamily="18" charset="0"/>
              </a:rPr>
              <a:t>a. Online/ Web wallets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These wallets run on the cloud platform. Examples – </a:t>
            </a:r>
            <a:r>
              <a:rPr lang="en-IN" sz="1800" b="0" i="0" u="none" strike="noStrike" dirty="0" err="1">
                <a:solidFill>
                  <a:srgbClr val="1D2125"/>
                </a:solidFill>
                <a:effectLst/>
                <a:latin typeface="Times New Roman" panose="02020603050405020304" pitchFamily="18" charset="0"/>
                <a:cs typeface="Times New Roman" panose="02020603050405020304" pitchFamily="18" charset="0"/>
              </a:rPr>
              <a:t>MyEther</a:t>
            </a:r>
            <a:r>
              <a:rPr lang="en-IN" sz="1800" b="0" i="0" u="none" strike="noStrike" dirty="0">
                <a:solidFill>
                  <a:srgbClr val="1D2125"/>
                </a:solidFill>
                <a:effectLst/>
                <a:latin typeface="Times New Roman" panose="02020603050405020304" pitchFamily="18" charset="0"/>
                <a:cs typeface="Times New Roman" panose="02020603050405020304" pitchFamily="18" charset="0"/>
              </a:rPr>
              <a:t> Wallet, </a:t>
            </a:r>
            <a:r>
              <a:rPr lang="en-IN" sz="1800" b="0" i="0" u="none" strike="noStrike" dirty="0" err="1">
                <a:solidFill>
                  <a:srgbClr val="1D2125"/>
                </a:solidFill>
                <a:effectLst/>
                <a:latin typeface="Times New Roman" panose="02020603050405020304" pitchFamily="18" charset="0"/>
                <a:cs typeface="Times New Roman" panose="02020603050405020304" pitchFamily="18" charset="0"/>
              </a:rPr>
              <a:t>MetaMask</a:t>
            </a:r>
            <a:r>
              <a:rPr lang="en-IN" sz="1800" b="0" i="0" u="none" strike="noStrike" dirty="0">
                <a:solidFill>
                  <a:srgbClr val="1D2125"/>
                </a:solidFill>
                <a:effectLst/>
                <a:latin typeface="Times New Roman" panose="02020603050405020304" pitchFamily="18" charset="0"/>
                <a:cs typeface="Times New Roman" panose="02020603050405020304" pitchFamily="18" charset="0"/>
              </a:rPr>
              <a:t> Wallet.</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1" i="0" u="none" strike="noStrike" dirty="0">
                <a:solidFill>
                  <a:srgbClr val="1D2125"/>
                </a:solidFill>
                <a:effectLst/>
                <a:latin typeface="Times New Roman" panose="02020603050405020304" pitchFamily="18" charset="0"/>
                <a:cs typeface="Times New Roman" panose="02020603050405020304" pitchFamily="18" charset="0"/>
              </a:rPr>
              <a:t>b. Software wallets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It consists of desktop wallets and mobile wallets. Desktop wallets can be downloaded on a desktop and the user has full control of the wallet. An example of a desktop wallet is Electrum.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1" i="0" u="none" strike="noStrike" dirty="0">
                <a:solidFill>
                  <a:srgbClr val="1D2125"/>
                </a:solidFill>
                <a:effectLst/>
                <a:latin typeface="Times New Roman" panose="02020603050405020304" pitchFamily="18" charset="0"/>
                <a:cs typeface="Times New Roman" panose="02020603050405020304" pitchFamily="18" charset="0"/>
              </a:rPr>
              <a:t>c. Mobile wallets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They are designed to operate on smartphone devices. Example – mycelium.</a:t>
            </a:r>
          </a:p>
        </p:txBody>
      </p:sp>
      <p:sp>
        <p:nvSpPr>
          <p:cNvPr id="2" name="TextBox 1">
            <a:extLst>
              <a:ext uri="{FF2B5EF4-FFF2-40B4-BE49-F238E27FC236}">
                <a16:creationId xmlns:a16="http://schemas.microsoft.com/office/drawing/2014/main" id="{C459B39F-4A70-72FA-8395-0BE174608CCD}"/>
              </a:ext>
            </a:extLst>
          </p:cNvPr>
          <p:cNvSpPr txBox="1"/>
          <p:nvPr/>
        </p:nvSpPr>
        <p:spPr>
          <a:xfrm>
            <a:off x="1484243" y="788670"/>
            <a:ext cx="6877879" cy="523220"/>
          </a:xfrm>
          <a:prstGeom prst="rect">
            <a:avLst/>
          </a:prstGeom>
          <a:noFill/>
        </p:spPr>
        <p:txBody>
          <a:bodyPr wrap="square" rtlCol="0">
            <a:spAutoFit/>
          </a:bodyPr>
          <a:lstStyle/>
          <a:p>
            <a:pPr algn="l"/>
            <a:r>
              <a:rPr lang="en-IN" sz="2800" b="1" i="0" u="none" strike="noStrike" dirty="0">
                <a:solidFill>
                  <a:srgbClr val="455A64"/>
                </a:solidFill>
                <a:effectLst/>
                <a:latin typeface="Times New Roman" panose="02020603050405020304" pitchFamily="18" charset="0"/>
                <a:cs typeface="Times New Roman" panose="02020603050405020304" pitchFamily="18" charset="0"/>
              </a:rPr>
              <a:t>Components of Blockchain Network</a:t>
            </a:r>
            <a:endParaRPr lang="en-IN" sz="2800" b="0" i="0" u="none" strike="noStrike" dirty="0">
              <a:solidFill>
                <a:srgbClr val="455A6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r>
              <a:rPr lang="en-IN" sz="2400" b="1" i="0" u="none" strike="noStrike" dirty="0">
                <a:solidFill>
                  <a:srgbClr val="455A64"/>
                </a:solidFill>
                <a:effectLst/>
                <a:latin typeface="Times New Roman" panose="02020603050405020304" pitchFamily="18" charset="0"/>
                <a:cs typeface="Times New Roman" panose="02020603050405020304" pitchFamily="18" charset="0"/>
              </a:rPr>
              <a:t>Components of Blockchain Network</a:t>
            </a:r>
            <a:endParaRPr lang="en-IN" sz="2400" b="0" i="0" u="none" strike="noStrike" dirty="0">
              <a:solidFill>
                <a:srgbClr val="455A64"/>
              </a:solidFill>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lnSpcReduction="10000"/>
          </a:bodyPr>
          <a:lstStyle/>
          <a:p>
            <a:pPr>
              <a:buFont typeface="+mj-lt"/>
              <a:buAutoNum type="arabicPeriod"/>
            </a:pPr>
            <a:r>
              <a:rPr lang="en-IN" sz="1800" b="1" i="0" u="none" strike="noStrike" dirty="0">
                <a:solidFill>
                  <a:srgbClr val="1D2125"/>
                </a:solidFill>
                <a:effectLst/>
                <a:latin typeface="Times New Roman" panose="02020603050405020304" pitchFamily="18" charset="0"/>
                <a:cs typeface="Times New Roman" panose="02020603050405020304" pitchFamily="18" charset="0"/>
              </a:rPr>
              <a:t>Cold Wallet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These wallets are not connected to the internet. It is very safe and hackers cannot attack it. These wallets are purchased by the user. Example – Paper wallet, hardware wallet.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1" i="0" u="none" strike="noStrike" dirty="0">
                <a:solidFill>
                  <a:srgbClr val="1D2125"/>
                </a:solidFill>
                <a:effectLst/>
                <a:latin typeface="Times New Roman" panose="02020603050405020304" pitchFamily="18" charset="0"/>
                <a:cs typeface="Times New Roman" panose="02020603050405020304" pitchFamily="18" charset="0"/>
              </a:rPr>
              <a:t>a. Paper wallet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They are offline wallets in which a piece of paper is used that contains the crypto address. The private key is printed in QR code format. QR code is scanned for cryptocurrency transactions.</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1" i="0" u="none" strike="noStrike" dirty="0">
                <a:solidFill>
                  <a:srgbClr val="1D2125"/>
                </a:solidFill>
                <a:effectLst/>
                <a:latin typeface="Times New Roman" panose="02020603050405020304" pitchFamily="18" charset="0"/>
                <a:cs typeface="Times New Roman" panose="02020603050405020304" pitchFamily="18" charset="0"/>
              </a:rPr>
              <a:t>b. Hardware wallet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It is a physical electronic device that uses a random number generator that is associated with the wallet.</a:t>
            </a:r>
          </a:p>
          <a:p>
            <a:pPr marL="76200" indent="0">
              <a:buNone/>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 focus of wallets is on these three things –</a:t>
            </a:r>
          </a:p>
          <a:p>
            <a:pPr>
              <a:buFont typeface="+mj-lt"/>
              <a:buAutoNum type="arabicPeriod"/>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Privacy</a:t>
            </a:r>
          </a:p>
          <a:p>
            <a:pPr>
              <a:buFont typeface="+mj-lt"/>
              <a:buAutoNum type="arabicPeriod"/>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Transactions should be secure</a:t>
            </a:r>
          </a:p>
          <a:p>
            <a:pPr>
              <a:buFont typeface="+mj-lt"/>
              <a:buAutoNum type="arabicPeriod"/>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Easy to use</a:t>
            </a:r>
          </a:p>
          <a:p>
            <a:pPr marL="76200" indent="0">
              <a:buNone/>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Privacy of a wallet is maintained using public and private key pairs. Transactions are made secure as a private key is used both to send fund and to open the encrypted message.</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fontScale="92500"/>
          </a:bodyPr>
          <a:lstStyle/>
          <a:p>
            <a:pPr algn="just"/>
            <a:r>
              <a:rPr lang="en-IN" sz="1800" b="1" i="0" u="none" strike="noStrike" dirty="0">
                <a:solidFill>
                  <a:srgbClr val="1D2125"/>
                </a:solidFill>
                <a:effectLst/>
                <a:latin typeface="Times New Roman" panose="02020603050405020304" pitchFamily="18" charset="0"/>
                <a:cs typeface="Times New Roman" panose="02020603050405020304" pitchFamily="18" charset="0"/>
              </a:rPr>
              <a:t>4. Nonce –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A nonce is an abbreviation for “number only used once,” which is a number added to a hashed or encrypted block in a blockchain. It is the 32-bit number generated randomly only one time that assists to create a new block or validate a transaction. It is used to make the transaction more secure.</a:t>
            </a:r>
          </a:p>
          <a:p>
            <a:pPr algn="just"/>
            <a:r>
              <a:rPr lang="en-IN" sz="1800" b="0" i="0" u="none" strike="noStrike" dirty="0">
                <a:solidFill>
                  <a:srgbClr val="1D2125"/>
                </a:solidFill>
                <a:effectLst/>
                <a:latin typeface="Times New Roman" panose="02020603050405020304" pitchFamily="18" charset="0"/>
                <a:cs typeface="Times New Roman" panose="02020603050405020304" pitchFamily="18" charset="0"/>
              </a:rPr>
              <a:t>It is hard to select the number which can be used as the nonce. It requires a vital amount of trial-and-error. First, a miner guesses a nonce. Then, it appends the guessed nonce to the hash of the current header. After that, it rehashes the value and compares this to the target hash. Now it checks that whether the resulting hash value meets the requirements or not. If all the conditions are met, it means that the miner has created an answer and is granted the block.</a:t>
            </a:r>
          </a:p>
          <a:p>
            <a:pPr algn="just"/>
            <a:r>
              <a:rPr lang="en-IN" sz="1800" b="1" i="0" u="none" strike="noStrike" dirty="0">
                <a:solidFill>
                  <a:srgbClr val="1D2125"/>
                </a:solidFill>
                <a:effectLst/>
                <a:latin typeface="Times New Roman" panose="02020603050405020304" pitchFamily="18" charset="0"/>
                <a:cs typeface="Times New Roman" panose="02020603050405020304" pitchFamily="18" charset="0"/>
              </a:rPr>
              <a:t>5. Hash –</a:t>
            </a:r>
            <a:br>
              <a:rPr lang="en-IN" sz="1800" b="0" i="0" u="none" strike="noStrike" dirty="0">
                <a:solidFill>
                  <a:srgbClr val="1D2125"/>
                </a:solidFill>
                <a:effectLst/>
                <a:latin typeface="Times New Roman" panose="02020603050405020304" pitchFamily="18" charset="0"/>
                <a:cs typeface="Times New Roman" panose="02020603050405020304" pitchFamily="18" charset="0"/>
              </a:rPr>
            </a:br>
            <a:r>
              <a:rPr lang="en-IN" sz="1800" b="0" i="0" u="none" strike="noStrike" dirty="0">
                <a:solidFill>
                  <a:srgbClr val="1D2125"/>
                </a:solidFill>
                <a:effectLst/>
                <a:latin typeface="Times New Roman" panose="02020603050405020304" pitchFamily="18" charset="0"/>
                <a:cs typeface="Times New Roman" panose="02020603050405020304" pitchFamily="18" charset="0"/>
              </a:rPr>
              <a:t>The data is mapped to a fixed size using hashing. It plays a very important role in cryptography. In a blockchain network hash value of one transaction is the input of another transaction. Properties of the hash function are as follows –</a:t>
            </a:r>
          </a:p>
          <a:p>
            <a:pPr algn="just">
              <a:buFont typeface="Arial" panose="020B0604020202020204" pitchFamily="34" charset="0"/>
              <a:buChar char="•"/>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Collision resistant</a:t>
            </a:r>
          </a:p>
          <a:p>
            <a:pPr algn="just">
              <a:buFont typeface="Arial" panose="020B0604020202020204" pitchFamily="34" charset="0"/>
              <a:buChar char="•"/>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Hiding</a:t>
            </a:r>
          </a:p>
          <a:p>
            <a:pPr algn="just">
              <a:buFont typeface="Arial" panose="020B0604020202020204" pitchFamily="34" charset="0"/>
              <a:buChar char="•"/>
            </a:pPr>
            <a:r>
              <a:rPr lang="en-IN" sz="1800" b="0" i="0" u="none" strike="noStrike" dirty="0">
                <a:solidFill>
                  <a:srgbClr val="1D2125"/>
                </a:solidFill>
                <a:effectLst/>
                <a:latin typeface="Times New Roman" panose="02020603050405020304" pitchFamily="18" charset="0"/>
                <a:cs typeface="Times New Roman" panose="02020603050405020304" pitchFamily="18" charset="0"/>
              </a:rPr>
              <a:t>Puzzle friendliness</a:t>
            </a:r>
          </a:p>
          <a:p>
            <a:pPr marL="76200" indent="0">
              <a:buNone/>
            </a:pPr>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1060173" y="960120"/>
            <a:ext cx="6599583" cy="461665"/>
          </a:xfrm>
          <a:prstGeom prst="rect">
            <a:avLst/>
          </a:prstGeom>
          <a:noFill/>
        </p:spPr>
        <p:txBody>
          <a:bodyPr wrap="square" rtlCol="0">
            <a:spAutoFit/>
          </a:bodyPr>
          <a:lstStyle/>
          <a:p>
            <a:pPr algn="ctr"/>
            <a:r>
              <a:rPr lang="en-IN" sz="2400" b="1" i="0" u="none" strike="noStrike" dirty="0">
                <a:solidFill>
                  <a:srgbClr val="455A64"/>
                </a:solidFill>
                <a:effectLst/>
                <a:latin typeface="Times New Roman" panose="02020603050405020304" pitchFamily="18" charset="0"/>
                <a:cs typeface="Times New Roman" panose="02020603050405020304" pitchFamily="18" charset="0"/>
              </a:rPr>
              <a:t>Components of Blockchain Network</a:t>
            </a:r>
            <a:endParaRPr lang="en-US" sz="2400" dirty="0"/>
          </a:p>
        </p:txBody>
      </p:sp>
    </p:spTree>
    <p:extLst>
      <p:ext uri="{BB962C8B-B14F-4D97-AF65-F5344CB8AC3E}">
        <p14:creationId xmlns:p14="http://schemas.microsoft.com/office/powerpoint/2010/main" val="1673020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b="0" i="0" u="none" strike="noStrike" dirty="0">
                <a:solidFill>
                  <a:srgbClr val="455A64"/>
                </a:solidFill>
                <a:effectLst/>
                <a:latin typeface="Poppins" pitchFamily="2" charset="77"/>
              </a:rPr>
              <a:t>How Does the Blockchain Work</a:t>
            </a:r>
            <a:br>
              <a:rPr lang="en-IN" sz="2400" b="0" i="0" u="none" strike="noStrike" dirty="0">
                <a:solidFill>
                  <a:srgbClr val="455A64"/>
                </a:solidFill>
                <a:effectLst/>
                <a:latin typeface="Poppins" pitchFamily="2" charset="77"/>
              </a:rPr>
            </a:br>
            <a:br>
              <a:rPr lang="en-US" sz="2400" dirty="0"/>
            </a:b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 blockchain is a distributed database that stores information electronically in a digital format and is shared among the nodes of a computer network. A typical difference between a blockchain and a database is how data is structured. A blockchain is a shared, immutable ledger as the name suggests structures data into chunks or blocks, and a database structures data into tables. A blockchain is a chain of blocks. Once a block is filled with data and it is chained to the previous blocks. Different types of information can be stored on the blockchain network but the most important is transactions. </a:t>
            </a:r>
          </a:p>
        </p:txBody>
      </p:sp>
    </p:spTree>
    <p:extLst>
      <p:ext uri="{BB962C8B-B14F-4D97-AF65-F5344CB8AC3E}">
        <p14:creationId xmlns:p14="http://schemas.microsoft.com/office/powerpoint/2010/main" val="111814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br>
              <a:rPr lang="en-IN" b="1" i="0" u="none" strike="noStrike" dirty="0">
                <a:solidFill>
                  <a:srgbClr val="455A64"/>
                </a:solidFill>
                <a:effectLst/>
                <a:latin typeface="Poppins" pitchFamily="2" charset="77"/>
              </a:rPr>
            </a:br>
            <a:r>
              <a:rPr lang="en-IN" b="1" i="0" u="none" strike="noStrike" dirty="0">
                <a:solidFill>
                  <a:srgbClr val="455A64"/>
                </a:solidFill>
                <a:effectLst/>
                <a:latin typeface="Poppins" pitchFamily="2" charset="77"/>
              </a:rPr>
              <a:t>How Does a Blockchain Work?</a:t>
            </a:r>
            <a:br>
              <a:rPr lang="en-IN" b="0" i="0" u="none" strike="noStrike" dirty="0">
                <a:solidFill>
                  <a:srgbClr val="455A64"/>
                </a:solidFill>
                <a:effectLst/>
                <a:latin typeface="Poppins" pitchFamily="2" charset="77"/>
              </a:rPr>
            </a:b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752600"/>
            <a:ext cx="8802511" cy="4495800"/>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1. Facilitating a transaction: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 new transaction enters the blockchain network. All the information that needs to be transmitted is doubly encrypted using public and private keys.</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2. Verification of transaction:</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The transaction is then transmitted to the network of peer-to-peer computers distributed across the world. All the nodes on the network will check for the validity of the transaction like if a sufficient balance is available for carrying out the transaction.</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3. Formation of a new block: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In a typical blockchain network there are many nodes and many transactions get verified at a time. Once the transaction is verified and declared a legitimate transaction, it will be added to the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mempool</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All the verified transactions at a particular node form a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mempool</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and such multiple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mempools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form a block. </a:t>
            </a:r>
          </a:p>
          <a:p>
            <a:pPr marL="76200" indent="0">
              <a:buNone/>
            </a:pPr>
            <a:endParaRPr lang="en-US" dirty="0"/>
          </a:p>
        </p:txBody>
      </p:sp>
    </p:spTree>
    <p:extLst>
      <p:ext uri="{BB962C8B-B14F-4D97-AF65-F5344CB8AC3E}">
        <p14:creationId xmlns:p14="http://schemas.microsoft.com/office/powerpoint/2010/main" val="3473927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a:bodyPr>
          <a:lstStyle/>
          <a:p>
            <a:pPr algn="just"/>
            <a:r>
              <a:rPr lang="en-IN" sz="1800" b="1" i="0" u="none" strike="noStrike" dirty="0">
                <a:solidFill>
                  <a:srgbClr val="1D2125"/>
                </a:solidFill>
                <a:effectLst/>
                <a:latin typeface="Times New Roman" panose="02020603050405020304" pitchFamily="18" charset="0"/>
                <a:cs typeface="Times New Roman" panose="02020603050405020304" pitchFamily="18" charset="0"/>
              </a:rPr>
              <a:t>4. Consensus Algorithm: </a:t>
            </a:r>
            <a:r>
              <a:rPr lang="en-IN" sz="1800" b="0" i="0" u="none" strike="noStrike" dirty="0">
                <a:solidFill>
                  <a:srgbClr val="1D2125"/>
                </a:solidFill>
                <a:effectLst/>
                <a:latin typeface="Times New Roman" panose="02020603050405020304" pitchFamily="18" charset="0"/>
                <a:cs typeface="Times New Roman" panose="02020603050405020304" pitchFamily="18" charset="0"/>
              </a:rPr>
              <a:t> The nodes that form a block will try to add the block to the blockchain network to make it permanent. But if every node is allowed to add blocks in this manner then it will disrupt the working of the blockchain network. To solve this problem, the nodes use a consensus mechanism to ensure that every new block that is added to the Blockchain is the one and only version of the truth that is agreed upon by all the nodes in the Blockchain, and only a valid block is securely attached to the blockchain. The node that is selected to add a block to the blockchain will get a reward and hence we call them “miners”. The consensus algorithm creates a hash code for that block which is required to add the block to the blockchain.</a:t>
            </a:r>
          </a:p>
          <a:p>
            <a:pPr algn="just"/>
            <a:r>
              <a:rPr lang="en-IN" sz="1800" b="1" i="0" u="none" strike="noStrike" dirty="0">
                <a:solidFill>
                  <a:srgbClr val="1D2125"/>
                </a:solidFill>
                <a:effectLst/>
                <a:latin typeface="Times New Roman" panose="02020603050405020304" pitchFamily="18" charset="0"/>
                <a:cs typeface="Times New Roman" panose="02020603050405020304" pitchFamily="18" charset="0"/>
              </a:rPr>
              <a:t>5. Addition of the new block to the blockchain: </a:t>
            </a:r>
            <a:r>
              <a:rPr lang="en-IN" sz="1800" b="0" i="0" u="none" strike="noStrike" dirty="0">
                <a:solidFill>
                  <a:srgbClr val="1D2125"/>
                </a:solidFill>
                <a:effectLst/>
                <a:latin typeface="Times New Roman" panose="02020603050405020304" pitchFamily="18" charset="0"/>
                <a:cs typeface="Times New Roman" panose="02020603050405020304" pitchFamily="18" charset="0"/>
              </a:rPr>
              <a:t>After the newly created block has got its hash value and is authenticated, now it is ready to be added to the blockchain. In every block, there is a hash value of the previous block and that is how the blocks are cryptographically linked to each other to form a blockchain. A new block gets added to the open end of the blockchain.</a:t>
            </a:r>
          </a:p>
          <a:p>
            <a:pPr algn="just"/>
            <a:r>
              <a:rPr lang="en-IN" sz="1800" b="1" i="0" u="none" strike="noStrike" dirty="0">
                <a:solidFill>
                  <a:srgbClr val="1D2125"/>
                </a:solidFill>
                <a:effectLst/>
                <a:latin typeface="Times New Roman" panose="02020603050405020304" pitchFamily="18" charset="0"/>
                <a:cs typeface="Times New Roman" panose="02020603050405020304" pitchFamily="18" charset="0"/>
              </a:rPr>
              <a:t>6. Transaction complete: </a:t>
            </a:r>
            <a:r>
              <a:rPr lang="en-IN" sz="1800" b="0" i="0" u="none" strike="noStrike" dirty="0">
                <a:solidFill>
                  <a:srgbClr val="1D2125"/>
                </a:solidFill>
                <a:effectLst/>
                <a:latin typeface="Times New Roman" panose="02020603050405020304" pitchFamily="18" charset="0"/>
                <a:cs typeface="Times New Roman" panose="02020603050405020304" pitchFamily="18" charset="0"/>
              </a:rPr>
              <a:t>As soon as the block is added to the blockchain the transaction is completed and the details of this transaction are permanently stored in the blockchain. Anyone can fetch the details of the transaction and confirm the transaction.</a:t>
            </a:r>
          </a:p>
          <a:p>
            <a:pPr marL="76200" indent="0">
              <a:buNone/>
            </a:pPr>
            <a:endParaRPr lang="en-US" dirty="0"/>
          </a:p>
        </p:txBody>
      </p:sp>
      <p:sp>
        <p:nvSpPr>
          <p:cNvPr id="2" name="TextBox 1">
            <a:extLst>
              <a:ext uri="{FF2B5EF4-FFF2-40B4-BE49-F238E27FC236}">
                <a16:creationId xmlns:a16="http://schemas.microsoft.com/office/drawing/2014/main" id="{A8E6F2FB-E918-3295-82AC-6C670D0C57FF}"/>
              </a:ext>
            </a:extLst>
          </p:cNvPr>
          <p:cNvSpPr txBox="1"/>
          <p:nvPr/>
        </p:nvSpPr>
        <p:spPr>
          <a:xfrm>
            <a:off x="525780" y="925830"/>
            <a:ext cx="8069580" cy="1723549"/>
          </a:xfrm>
          <a:prstGeom prst="rect">
            <a:avLst/>
          </a:prstGeom>
          <a:noFill/>
        </p:spPr>
        <p:txBody>
          <a:bodyPr wrap="square" rtlCol="0">
            <a:spAutoFit/>
          </a:bodyPr>
          <a:lstStyle/>
          <a:p>
            <a:pPr algn="ctr"/>
            <a:r>
              <a:rPr lang="en-IN" sz="2800" b="1" i="0" u="none" strike="noStrike" dirty="0">
                <a:solidFill>
                  <a:srgbClr val="455A64"/>
                </a:solidFill>
                <a:effectLst/>
                <a:latin typeface="Times New Roman" panose="02020603050405020304" pitchFamily="18" charset="0"/>
                <a:cs typeface="Times New Roman" panose="02020603050405020304" pitchFamily="18" charset="0"/>
              </a:rPr>
              <a:t>How Does a Blockchain Work?</a:t>
            </a:r>
            <a:br>
              <a:rPr lang="en-IN" sz="2800" b="0" i="0" u="none" strike="noStrike" dirty="0">
                <a:solidFill>
                  <a:srgbClr val="455A64"/>
                </a:solidFill>
                <a:effectLst/>
                <a:latin typeface="Times New Roman" panose="02020603050405020304" pitchFamily="18" charset="0"/>
                <a:cs typeface="Times New Roman" panose="02020603050405020304" pitchFamily="18" charset="0"/>
              </a:rPr>
            </a:br>
            <a:br>
              <a:rPr lang="en-IN" sz="40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endParaRPr lang="en-US" dirty="0"/>
          </a:p>
        </p:txBody>
      </p:sp>
    </p:spTree>
    <p:extLst>
      <p:ext uri="{BB962C8B-B14F-4D97-AF65-F5344CB8AC3E}">
        <p14:creationId xmlns:p14="http://schemas.microsoft.com/office/powerpoint/2010/main" val="3376768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5F275-E7E7-9F62-8163-377188C7D801}"/>
              </a:ext>
            </a:extLst>
          </p:cNvPr>
          <p:cNvSpPr>
            <a:spLocks noGrp="1"/>
          </p:cNvSpPr>
          <p:nvPr>
            <p:ph type="title"/>
          </p:nvPr>
        </p:nvSpPr>
        <p:spPr/>
        <p:txBody>
          <a:bodyPr/>
          <a:lstStyle/>
          <a:p>
            <a:r>
              <a:rPr lang="en-IN" sz="2400" b="0" i="0" u="none" strike="noStrike" dirty="0">
                <a:solidFill>
                  <a:srgbClr val="455A64"/>
                </a:solidFill>
                <a:effectLst/>
                <a:latin typeface="Poppins" pitchFamily="2" charset="77"/>
              </a:rPr>
              <a:t>Benefits of Blockchain Technology </a:t>
            </a:r>
            <a:endParaRPr lang="en-US" dirty="0"/>
          </a:p>
        </p:txBody>
      </p:sp>
      <p:pic>
        <p:nvPicPr>
          <p:cNvPr id="1026" name="Picture 2" descr="Blockchain Working">
            <a:extLst>
              <a:ext uri="{FF2B5EF4-FFF2-40B4-BE49-F238E27FC236}">
                <a16:creationId xmlns:a16="http://schemas.microsoft.com/office/drawing/2014/main" id="{53A552AD-894C-CBD5-80BB-BEB33ED13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142999"/>
            <a:ext cx="8445137" cy="5022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628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7BC29C-54A5-37AC-378A-E05EE910BCDD}"/>
              </a:ext>
            </a:extLst>
          </p:cNvPr>
          <p:cNvSpPr>
            <a:spLocks noGrp="1"/>
          </p:cNvSpPr>
          <p:nvPr>
            <p:ph type="body" idx="1"/>
          </p:nvPr>
        </p:nvSpPr>
        <p:spPr>
          <a:xfrm>
            <a:off x="132522" y="1384663"/>
            <a:ext cx="8782878" cy="4863737"/>
          </a:xfrm>
        </p:spPr>
        <p:txBody>
          <a:bodyPr>
            <a:normAutofit/>
          </a:bodyPr>
          <a:lstStyle/>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Let’s understand this working of blockchain with the help of an example:</a:t>
            </a:r>
          </a:p>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Let’s say Jack and Phil are two nodes on the bitcoin blockchain network who wants to carry out a transaction between them. </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1: Facilitating the transaction:</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Jack wants to send 20 BTC to Phil via the Blockchain network. </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2: Verification of transaction: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message for verification will be sent to all the nodes on the network. All the nodes will check the important parameters related to the transaction like Does Jack has sufficient balance i.e. at least 20BTC to perform the transaction. Is Jack a registered node? Is Phil a registered node? After checking the parameters the transaction is verified.</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3: Formation of a new block: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 number of verified transactions stack up in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mempools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and get stored in a block. This verified transaction will also get stored in a block.</a:t>
            </a:r>
          </a:p>
          <a:p>
            <a:endParaRPr lang="en-US" dirty="0"/>
          </a:p>
        </p:txBody>
      </p:sp>
    </p:spTree>
    <p:extLst>
      <p:ext uri="{BB962C8B-B14F-4D97-AF65-F5344CB8AC3E}">
        <p14:creationId xmlns:p14="http://schemas.microsoft.com/office/powerpoint/2010/main" val="3385663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0C8244D-A582-C6AF-5FAE-B24B1E5963B4}"/>
              </a:ext>
            </a:extLst>
          </p:cNvPr>
          <p:cNvSpPr>
            <a:spLocks noGrp="1"/>
          </p:cNvSpPr>
          <p:nvPr>
            <p:ph type="body" idx="1"/>
          </p:nvPr>
        </p:nvSpPr>
        <p:spPr>
          <a:xfrm>
            <a:off x="106017" y="1423851"/>
            <a:ext cx="8809383" cy="4824549"/>
          </a:xfrm>
        </p:spPr>
        <p:txBody>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4: Consensus algorithm: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Since here we are talking about bitcoins so the Proof-of-Work consensus algorithm will be used for block verification. In proof-of-work, the system assigns the target hash value to a node, and according to this, it must come up with a hash for the new block. The node has to calculate the hash value for the new block that is less than the target value. If two or more miners mine the same block at the same time, the block with more difficulty is selected. The others are known as stale blocks. Mining usually rewards miners with blockchain currency. In this case, the blockchain currency is bitcoin. </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5: Addition of the new block in the blockchain: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After the newly created block has got the hash value and authentication through proof-of-work only then it will be added to the network and the transaction will mark as complete. Phil will receive 20 BTC from Jack.</a:t>
            </a:r>
            <a:br>
              <a:rPr lang="en-IN" sz="2000" b="0" i="0" u="none" strike="noStrike" dirty="0">
                <a:solidFill>
                  <a:srgbClr val="1D2125"/>
                </a:solidFill>
                <a:effectLst/>
                <a:latin typeface="Times New Roman" panose="02020603050405020304" pitchFamily="18" charset="0"/>
                <a:cs typeface="Times New Roman" panose="02020603050405020304" pitchFamily="18" charset="0"/>
              </a:rPr>
            </a:b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new block will be linked to the open end of the blockchain. </a:t>
            </a:r>
          </a:p>
          <a:p>
            <a:endParaRPr lang="en-US" dirty="0"/>
          </a:p>
        </p:txBody>
      </p:sp>
    </p:spTree>
    <p:extLst>
      <p:ext uri="{BB962C8B-B14F-4D97-AF65-F5344CB8AC3E}">
        <p14:creationId xmlns:p14="http://schemas.microsoft.com/office/powerpoint/2010/main" val="1044754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F3BCE3-E92A-EDD2-ED9B-79C99C769077}"/>
              </a:ext>
            </a:extLst>
          </p:cNvPr>
          <p:cNvSpPr>
            <a:spLocks noGrp="1"/>
          </p:cNvSpPr>
          <p:nvPr>
            <p:ph type="body" idx="1"/>
          </p:nvPr>
        </p:nvSpPr>
        <p:spPr>
          <a:xfrm>
            <a:off x="198783" y="1384663"/>
            <a:ext cx="8716617" cy="4863737"/>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Step 6: Transaction complete: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As soon as the block is added to the blockchain, the transaction will take place and 20 BTCs will get transferred from Jack’s wallet to Phil’s wallet. The details of the transaction are permanently secured on the blockchain.</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Anyone on the network can fetch the information and confirm the transaction. This will help to keep track of all the transactions and to verify whether any user is trying to double spend. For example, if Jack tries to carry out a transaction in the future, the rest of the nodes can check Jack’s past transaction records to check whether Jack has enough balance to carry out the current transaction. If there is enough balance then the transaction will be approved.</a:t>
            </a:r>
          </a:p>
          <a:p>
            <a:endParaRPr lang="en-US" dirty="0"/>
          </a:p>
        </p:txBody>
      </p:sp>
    </p:spTree>
    <p:extLst>
      <p:ext uri="{BB962C8B-B14F-4D97-AF65-F5344CB8AC3E}">
        <p14:creationId xmlns:p14="http://schemas.microsoft.com/office/powerpoint/2010/main" val="2019711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356B-0445-CC2E-8F1D-F0FD143BA87F}"/>
              </a:ext>
            </a:extLst>
          </p:cNvPr>
          <p:cNvSpPr>
            <a:spLocks noGrp="1"/>
          </p:cNvSpPr>
          <p:nvPr>
            <p:ph type="title"/>
          </p:nvPr>
        </p:nvSpPr>
        <p:spPr/>
        <p:txBody>
          <a:bodyPr/>
          <a:lstStyle/>
          <a:p>
            <a:pPr marL="76200" indent="0">
              <a:buNone/>
            </a:pPr>
            <a:br>
              <a:rPr lang="en-IN" b="0" i="0" u="none" strike="noStrike" dirty="0">
                <a:solidFill>
                  <a:srgbClr val="1D2125"/>
                </a:solidFill>
                <a:effectLst/>
                <a:latin typeface="Poppins" pitchFamily="2" charset="77"/>
              </a:rPr>
            </a:br>
            <a:r>
              <a:rPr lang="en-IN" b="1" i="0" u="none" strike="noStrike" dirty="0">
                <a:solidFill>
                  <a:srgbClr val="455A64"/>
                </a:solidFill>
                <a:effectLst/>
                <a:latin typeface="Poppins" pitchFamily="2" charset="77"/>
              </a:rPr>
              <a:t>Is Blockchain Secure?</a:t>
            </a:r>
            <a:endParaRPr lang="en-IN" b="0" i="0" u="none" strike="noStrike" dirty="0">
              <a:solidFill>
                <a:srgbClr val="455A64"/>
              </a:solidFill>
              <a:effectLst/>
              <a:latin typeface="Poppins" pitchFamily="2" charset="77"/>
            </a:endParaRPr>
          </a:p>
        </p:txBody>
      </p:sp>
      <p:sp>
        <p:nvSpPr>
          <p:cNvPr id="3" name="Text Placeholder 2">
            <a:extLst>
              <a:ext uri="{FF2B5EF4-FFF2-40B4-BE49-F238E27FC236}">
                <a16:creationId xmlns:a16="http://schemas.microsoft.com/office/drawing/2014/main" id="{0B43BD41-A78B-9399-54B7-DBC02E565B04}"/>
              </a:ext>
            </a:extLst>
          </p:cNvPr>
          <p:cNvSpPr>
            <a:spLocks noGrp="1"/>
          </p:cNvSpPr>
          <p:nvPr>
            <p:ph type="body" idx="1"/>
          </p:nvPr>
        </p:nvSpPr>
        <p:spPr>
          <a:xfrm>
            <a:off x="92765" y="1752600"/>
            <a:ext cx="8822635" cy="449580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In the most basic way, one can think of a blockchain as a linked list. Each of the next items in the list is dependent on the previous item, except for the first block, also known as the genesis block, which is hardcoded into the blockchain. In the blockchain, each block contains the hash of the previous block’s header and a hash of the transactions in the Merkle tree of the current block. In this way, each block is cryptographically chained to the previous block. Let’s understand with an example what happens when someone attempts to change a transaction or block data in a blockchain network.</a:t>
            </a:r>
          </a:p>
          <a:p>
            <a:endParaRPr lang="en-US" dirty="0"/>
          </a:p>
        </p:txBody>
      </p:sp>
    </p:spTree>
    <p:extLst>
      <p:ext uri="{BB962C8B-B14F-4D97-AF65-F5344CB8AC3E}">
        <p14:creationId xmlns:p14="http://schemas.microsoft.com/office/powerpoint/2010/main" val="2385764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1D191F-A1AC-B4F5-82DE-CEE5D707E4E6}"/>
              </a:ext>
            </a:extLst>
          </p:cNvPr>
          <p:cNvSpPr>
            <a:spLocks noGrp="1"/>
          </p:cNvSpPr>
          <p:nvPr>
            <p:ph type="body" idx="1"/>
          </p:nvPr>
        </p:nvSpPr>
        <p:spPr>
          <a:xfrm>
            <a:off x="106017" y="1484243"/>
            <a:ext cx="8809383" cy="4764157"/>
          </a:xfrm>
        </p:spPr>
        <p:txBody>
          <a:bodyPr>
            <a:noAutofit/>
          </a:bodyPr>
          <a:lstStyle/>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Suppose, there is a chain of 10 blocks, where the 10</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th</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depends on the 9</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th</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the 9</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th</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block depends on the 8</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th</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and so on.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In this way, the 10</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th</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depends on all the previous blocks and the genesis block as well.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If someone tries to change data on the 2</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nd</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then the attacker will have to change data on all the later blocks as well, otherwise, the blockchain will become invalid since the later blocks depend on the hash value present in the 2</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nd </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block and the 2</a:t>
            </a:r>
            <a:r>
              <a:rPr lang="en-IN" sz="1600" b="0" i="0" u="none" strike="noStrike" baseline="30000" dirty="0">
                <a:solidFill>
                  <a:srgbClr val="1D2125"/>
                </a:solidFill>
                <a:effectLst/>
                <a:latin typeface="Times New Roman" panose="02020603050405020304" pitchFamily="18" charset="0"/>
                <a:cs typeface="Times New Roman" panose="02020603050405020304" pitchFamily="18" charset="0"/>
              </a:rPr>
              <a:t>nd</a:t>
            </a:r>
            <a:r>
              <a:rPr lang="en-IN" sz="1600" b="0" i="0" u="none" strike="noStrike" dirty="0">
                <a:solidFill>
                  <a:srgbClr val="1D2125"/>
                </a:solidFill>
                <a:effectLst/>
                <a:latin typeface="Times New Roman" panose="02020603050405020304" pitchFamily="18" charset="0"/>
                <a:cs typeface="Times New Roman" panose="02020603050405020304" pitchFamily="18" charset="0"/>
              </a:rPr>
              <a:t> block has changed, but not the later blocks.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Thus, as the blocks are added, immutability increases as changing the block is an expensive operation.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Also, to add/change a block in a blockchain, a consensus algorithm is used by nodes in the blockchain network. In order to compensate for the change in one block, one must have to recalculate the hash of every block to update the hash value of the block header in the next block. This will involve a lot of time and computational resources.</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In order to succeed with such kind of attack, the hacker has to simultaneously control and change 51% or more copies of the blockchain so that their new copy becomes the majority copy and thus the agreed-upon chain. </a:t>
            </a:r>
          </a:p>
          <a:p>
            <a:pPr algn="just">
              <a:buFont typeface="Arial" panose="020B0604020202020204" pitchFamily="34" charset="0"/>
              <a:buChar char="•"/>
            </a:pPr>
            <a:r>
              <a:rPr lang="en-IN" sz="1600" b="0" i="0" u="none" strike="noStrike" dirty="0">
                <a:solidFill>
                  <a:srgbClr val="1D2125"/>
                </a:solidFill>
                <a:effectLst/>
                <a:latin typeface="Times New Roman" panose="02020603050405020304" pitchFamily="18" charset="0"/>
                <a:cs typeface="Times New Roman" panose="02020603050405020304" pitchFamily="18" charset="0"/>
              </a:rPr>
              <a:t>Thus, requiring an immense amount of time, money, and computational resources.</a:t>
            </a:r>
          </a:p>
        </p:txBody>
      </p:sp>
    </p:spTree>
    <p:extLst>
      <p:ext uri="{BB962C8B-B14F-4D97-AF65-F5344CB8AC3E}">
        <p14:creationId xmlns:p14="http://schemas.microsoft.com/office/powerpoint/2010/main" val="3642027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265043" y="1577008"/>
            <a:ext cx="8485557" cy="39988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i="0" u="none" dirty="0">
                <a:solidFill>
                  <a:schemeClr val="dk1"/>
                </a:solidFill>
                <a:latin typeface="Times New Roman" panose="02020603050405020304" pitchFamily="18" charset="0"/>
                <a:cs typeface="Times New Roman" panose="02020603050405020304" pitchFamily="18" charset="0"/>
                <a:sym typeface="Cambria"/>
              </a:rPr>
              <a:t>Text books:</a:t>
            </a:r>
            <a:endParaRPr sz="2000" b="0" i="0" u="none" dirty="0">
              <a:solidFill>
                <a:schemeClr val="dk1"/>
              </a:solidFill>
              <a:latin typeface="Times New Roman" panose="02020603050405020304" pitchFamily="18" charset="0"/>
              <a:cs typeface="Times New Roman" panose="02020603050405020304" pitchFamily="18" charset="0"/>
              <a:sym typeface="Cambria"/>
            </a:endParaRPr>
          </a:p>
          <a:p>
            <a:pPr algn="l"/>
            <a:r>
              <a:rPr lang="en-IN" sz="2000" b="1" i="0" u="none" strike="noStrike" dirty="0">
                <a:solidFill>
                  <a:srgbClr val="0F1111"/>
                </a:solidFill>
                <a:effectLst/>
                <a:latin typeface="Times New Roman" panose="02020603050405020304" pitchFamily="18" charset="0"/>
                <a:cs typeface="Times New Roman" panose="02020603050405020304" pitchFamily="18" charset="0"/>
              </a:rPr>
              <a:t>Blockchain Technology: Algorithms and Applications </a:t>
            </a:r>
            <a:r>
              <a:rPr lang="en-IN" sz="2000" b="1" i="0" u="none" strike="noStrike" dirty="0">
                <a:solidFill>
                  <a:srgbClr val="565959"/>
                </a:solidFill>
                <a:effectLst/>
                <a:latin typeface="Times New Roman" panose="02020603050405020304" pitchFamily="18" charset="0"/>
                <a:cs typeface="Times New Roman" panose="02020603050405020304" pitchFamily="18" charset="0"/>
              </a:rPr>
              <a:t>Paperback – 6 December 2023 </a:t>
            </a:r>
            <a:r>
              <a:rPr lang="en-IN" sz="2000" b="0" i="0" u="none" strike="noStrike" dirty="0">
                <a:solidFill>
                  <a:srgbClr val="0F1111"/>
                </a:solidFill>
                <a:effectLst/>
                <a:latin typeface="Times New Roman" panose="02020603050405020304" pitchFamily="18" charset="0"/>
                <a:cs typeface="Times New Roman" panose="02020603050405020304" pitchFamily="18" charset="0"/>
              </a:rPr>
              <a:t> </a:t>
            </a:r>
            <a:r>
              <a:rPr lang="en-IN" sz="2000" i="0" strike="noStrike" dirty="0">
                <a:solidFill>
                  <a:schemeClr val="tx1"/>
                </a:solidFill>
                <a:effectLst/>
                <a:latin typeface="Times New Roman" panose="02020603050405020304" pitchFamily="18" charset="0"/>
                <a:cs typeface="Times New Roman" panose="02020603050405020304" pitchFamily="18" charset="0"/>
              </a:rPr>
              <a:t>by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Asharaf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Sivadas</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Neelima</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Adarsh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Franklin John</a:t>
            </a:r>
            <a:r>
              <a:rPr lang="en-IN" sz="2000" i="0" strike="noStrike" dirty="0">
                <a:solidFill>
                  <a:schemeClr val="tx1"/>
                </a:solidFill>
                <a:effectLst/>
                <a:latin typeface="Times New Roman" panose="02020603050405020304" pitchFamily="18" charset="0"/>
                <a:cs typeface="Times New Roman" panose="02020603050405020304" pitchFamily="18" charset="0"/>
              </a:rPr>
              <a:t>  (Author)</a:t>
            </a:r>
          </a:p>
          <a:p>
            <a:pPr algn="l"/>
            <a:r>
              <a:rPr lang="en-IN" sz="2000" b="0" i="0" u="none" strike="noStrike" dirty="0">
                <a:solidFill>
                  <a:srgbClr val="202124"/>
                </a:solidFill>
                <a:effectLst/>
                <a:latin typeface="Times New Roman" panose="02020603050405020304" pitchFamily="18" charset="0"/>
                <a:cs typeface="Times New Roman" panose="02020603050405020304" pitchFamily="18" charset="0"/>
              </a:rPr>
              <a:t>Blockchain Basics: A Non-Technical Introduction in 25 Steps</a:t>
            </a:r>
          </a:p>
          <a:p>
            <a:pPr marL="76200" indent="0" algn="l">
              <a:buNone/>
            </a:pPr>
            <a:r>
              <a:rPr lang="en-IN" sz="2000" b="0" i="0" u="none" strike="noStrike" dirty="0">
                <a:solidFill>
                  <a:srgbClr val="202124"/>
                </a:solidFill>
                <a:effectLst/>
                <a:latin typeface="Times New Roman" panose="02020603050405020304" pitchFamily="18" charset="0"/>
                <a:cs typeface="Times New Roman" panose="02020603050405020304" pitchFamily="18" charset="0"/>
              </a:rPr>
              <a:t>        Book by Daniel Drescher</a:t>
            </a:r>
          </a:p>
          <a:p>
            <a:pPr marL="0" lvl="0" indent="0" algn="l" rtl="0">
              <a:lnSpc>
                <a:spcPct val="100000"/>
              </a:lnSpc>
              <a:spcBef>
                <a:spcPts val="480"/>
              </a:spcBef>
              <a:spcAft>
                <a:spcPts val="0"/>
              </a:spcAft>
              <a:buClr>
                <a:schemeClr val="dk1"/>
              </a:buClr>
              <a:buSzPts val="2400"/>
              <a:buNone/>
            </a:pPr>
            <a:endParaRPr sz="2400" b="1" i="0" u="none" dirty="0">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dirty="0">
                <a:solidFill>
                  <a:schemeClr val="dk1"/>
                </a:solidFill>
                <a:latin typeface="Cambria"/>
                <a:ea typeface="Cambria"/>
                <a:cs typeface="Cambria"/>
                <a:sym typeface="Cambria"/>
              </a:rPr>
              <a:t>Websites:</a:t>
            </a:r>
            <a:endParaRPr sz="2400" b="1" i="0" u="sng" dirty="0">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dirty="0">
                <a:solidFill>
                  <a:schemeClr val="dk1"/>
                </a:solidFill>
                <a:latin typeface="Cambria"/>
                <a:ea typeface="Cambria"/>
                <a:cs typeface="Cambria"/>
                <a:sym typeface="Cambria"/>
              </a:rPr>
              <a:t>https://</a:t>
            </a:r>
            <a:r>
              <a:rPr lang="en-US" sz="1800" b="0" i="0" u="none" dirty="0" err="1">
                <a:solidFill>
                  <a:schemeClr val="dk1"/>
                </a:solidFill>
                <a:latin typeface="Cambria"/>
                <a:ea typeface="Cambria"/>
                <a:cs typeface="Cambria"/>
                <a:sym typeface="Cambria"/>
              </a:rPr>
              <a:t>ntiprit.gov.in</a:t>
            </a:r>
            <a:r>
              <a:rPr lang="en-US" sz="1800" b="0" i="0" u="none" dirty="0">
                <a:solidFill>
                  <a:schemeClr val="dk1"/>
                </a:solidFill>
                <a:latin typeface="Cambria"/>
                <a:ea typeface="Cambria"/>
                <a:cs typeface="Cambria"/>
                <a:sym typeface="Cambria"/>
              </a:rPr>
              <a:t>/pdf/</a:t>
            </a:r>
            <a:r>
              <a:rPr lang="en-US" sz="1800" b="0" i="0" u="none" dirty="0" err="1">
                <a:solidFill>
                  <a:schemeClr val="dk1"/>
                </a:solidFill>
                <a:latin typeface="Cambria"/>
                <a:ea typeface="Cambria"/>
                <a:cs typeface="Cambria"/>
                <a:sym typeface="Cambria"/>
              </a:rPr>
              <a:t>blockchainanddistributed</a:t>
            </a:r>
            <a:r>
              <a:rPr lang="en-US" sz="1800" b="0" i="0" u="none" dirty="0">
                <a:solidFill>
                  <a:schemeClr val="dk1"/>
                </a:solidFill>
                <a:latin typeface="Cambria"/>
                <a:ea typeface="Cambria"/>
                <a:cs typeface="Cambria"/>
                <a:sym typeface="Cambria"/>
              </a:rPr>
              <a:t>/</a:t>
            </a:r>
            <a:r>
              <a:rPr lang="en-US" sz="1800" b="0" i="0" u="none" dirty="0" err="1">
                <a:solidFill>
                  <a:schemeClr val="dk1"/>
                </a:solidFill>
                <a:latin typeface="Cambria"/>
                <a:ea typeface="Cambria"/>
                <a:cs typeface="Cambria"/>
                <a:sym typeface="Cambria"/>
              </a:rPr>
              <a:t>Blockchain_Introduction_KR.pdf</a:t>
            </a:r>
            <a:r>
              <a:rPr lang="en-US" sz="1800" b="0" i="0" u="none" dirty="0">
                <a:solidFill>
                  <a:schemeClr val="dk1"/>
                </a:solidFill>
                <a:latin typeface="Cambria"/>
                <a:ea typeface="Cambria"/>
                <a:cs typeface="Cambria"/>
                <a:sym typeface="Cambria"/>
              </a:rPr>
              <a:t> </a:t>
            </a:r>
          </a:p>
          <a:p>
            <a:pPr>
              <a:lnSpc>
                <a:spcPct val="150000"/>
              </a:lnSpc>
            </a:pPr>
            <a:r>
              <a:rPr lang="en-US" sz="1800" u="sng" dirty="0">
                <a:solidFill>
                  <a:srgbClr val="0000FF"/>
                </a:solidFill>
                <a:latin typeface="Lucida Console" panose="020B0609040504020204" pitchFamily="49" charset="0"/>
                <a:hlinkClick r:id="rId7"/>
              </a:rPr>
              <a:t>https://bitcoin.org/bitcoin.pdf</a:t>
            </a:r>
            <a:endParaRPr lang="en-US" sz="1800" u="sng" dirty="0">
              <a:solidFill>
                <a:srgbClr val="0000FF"/>
              </a:solidFill>
              <a:latin typeface="Lucida Console" panose="020B06090405040202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1792</TotalTime>
  <Words>2504</Words>
  <Application>Microsoft Macintosh PowerPoint</Application>
  <PresentationFormat>On-screen Show (4:3)</PresentationFormat>
  <Paragraphs>85</Paragraphs>
  <Slides>18</Slides>
  <Notes>7</Notes>
  <HiddenSlides>0</HiddenSlides>
  <MMClips>0</MMClips>
  <ScaleCrop>false</ScaleCrop>
  <HeadingPairs>
    <vt:vector size="8" baseType="variant">
      <vt:variant>
        <vt:lpstr>Fonts Used</vt:lpstr>
      </vt:variant>
      <vt:variant>
        <vt:i4>7</vt:i4>
      </vt:variant>
      <vt:variant>
        <vt:lpstr>Theme</vt:lpstr>
      </vt:variant>
      <vt:variant>
        <vt:i4>15</vt:i4>
      </vt:variant>
      <vt:variant>
        <vt:lpstr>Embedded OLE Servers</vt:lpstr>
      </vt:variant>
      <vt:variant>
        <vt:i4>0</vt:i4>
      </vt:variant>
      <vt:variant>
        <vt:lpstr>Slide Titles</vt:lpstr>
      </vt:variant>
      <vt:variant>
        <vt:i4>18</vt:i4>
      </vt:variant>
    </vt:vector>
  </HeadingPairs>
  <TitlesOfParts>
    <vt:vector size="40" baseType="lpstr">
      <vt:lpstr>Times New Roman</vt:lpstr>
      <vt:lpstr>Lucida Console</vt:lpstr>
      <vt:lpstr>Calibri</vt:lpstr>
      <vt:lpstr>Poppins</vt:lpstr>
      <vt:lpstr>Arial Black</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Blockchain </vt:lpstr>
      <vt:lpstr>PowerPoint Presentation</vt:lpstr>
      <vt:lpstr>Components of Blockchain Network</vt:lpstr>
      <vt:lpstr>PowerPoint Presentation</vt:lpstr>
      <vt:lpstr>Components of Blockchain Network</vt:lpstr>
      <vt:lpstr>PowerPoint Presentation</vt:lpstr>
      <vt:lpstr>    How Does the Blockchain Work      </vt:lpstr>
      <vt:lpstr>  How Does a Blockchain Work?    </vt:lpstr>
      <vt:lpstr>PowerPoint Presentation</vt:lpstr>
      <vt:lpstr>Benefits of Blockchain Technology </vt:lpstr>
      <vt:lpstr>PowerPoint Presentation</vt:lpstr>
      <vt:lpstr>PowerPoint Presentation</vt:lpstr>
      <vt:lpstr>PowerPoint Presentation</vt:lpstr>
      <vt:lpstr> Is Blockchain Secure?</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84</cp:revision>
  <dcterms:created xsi:type="dcterms:W3CDTF">2013-12-12T17:34:34Z</dcterms:created>
  <dcterms:modified xsi:type="dcterms:W3CDTF">2024-06-26T01:25:00Z</dcterms:modified>
</cp:coreProperties>
</file>