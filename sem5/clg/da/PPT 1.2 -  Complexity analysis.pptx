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1"/>
  </p:notesMasterIdLst>
  <p:sldIdLst>
    <p:sldId id="256" r:id="rId2"/>
    <p:sldId id="312" r:id="rId3"/>
    <p:sldId id="284" r:id="rId4"/>
    <p:sldId id="314" r:id="rId5"/>
    <p:sldId id="315" r:id="rId6"/>
    <p:sldId id="317" r:id="rId7"/>
    <p:sldId id="318" r:id="rId8"/>
    <p:sldId id="319" r:id="rId9"/>
    <p:sldId id="320" r:id="rId10"/>
    <p:sldId id="321" r:id="rId11"/>
    <p:sldId id="322" r:id="rId12"/>
    <p:sldId id="323" r:id="rId13"/>
    <p:sldId id="332" r:id="rId14"/>
    <p:sldId id="330" r:id="rId15"/>
    <p:sldId id="331" r:id="rId16"/>
    <p:sldId id="333" r:id="rId17"/>
    <p:sldId id="334" r:id="rId18"/>
    <p:sldId id="336" r:id="rId19"/>
    <p:sldId id="311" r:id="rId20"/>
  </p:sldIdLst>
  <p:sldSz cx="9144000" cy="5143500" type="screen16x9"/>
  <p:notesSz cx="6858000" cy="9144000"/>
  <p:embeddedFontLst>
    <p:embeddedFont>
      <p:font typeface="Arial Black" panose="020B0A04020102020204" pitchFamily="34" charset="0"/>
      <p:bold r:id="rId22"/>
    </p:embeddedFont>
    <p:embeddedFont>
      <p:font typeface="Cambria" panose="02040503050406030204" pitchFamily="18" charset="0"/>
      <p:regular r:id="rId23"/>
      <p:bold r:id="rId24"/>
      <p:italic r:id="rId25"/>
      <p:boldItalic r:id="rId26"/>
    </p:embeddedFont>
    <p:embeddedFont>
      <p:font typeface="Lato" panose="020F0502020204030203" pitchFamily="34" charset="0"/>
      <p:regular r:id="rId27"/>
      <p:bold r:id="rId28"/>
      <p:italic r:id="rId29"/>
      <p:boldItalic r:id="rId30"/>
    </p:embeddedFont>
    <p:embeddedFont>
      <p:font typeface="Vladimir Script" panose="03050402040407070305" pitchFamily="66"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57" d="100"/>
          <a:sy n="57" d="100"/>
        </p:scale>
        <p:origin x="58" y="7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E1C681-A5F2-4CD9-9192-8CDED311BA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48B34-F6A5-DF19-4111-A068194944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CA6E172-D444-FC00-6B33-317641F08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827B3C-4A96-D842-C587-3271EC42D30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F06B59-0229-602E-B610-9525220615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AEA2AB-7645-5208-0E63-7560412EF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2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8169236-1955-4128-44C5-58E9D95D49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024DF0-1674-8F51-EEBC-683769584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4BF737-175F-7667-E78E-646A8BB49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724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FE7DBFD-3CD4-72CB-B3B4-A8E2B4B1866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18742C-0AE0-A994-B2ED-A9BFF88C0F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89BB3F3-8FD5-23EA-C014-0FA6CAB91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491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44B758-C87D-505D-C3C8-A549E1C79E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60E0FE7-490F-D759-32A7-C75DA6EDA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F9AA489-D2BD-8969-C629-E8BC8C695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9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16C3BF0-F04D-CC55-01DE-5846136227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C26BBB-3EE0-C367-EB17-2F01B7585D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ED12312-F8C0-DB82-75C0-FC2758C0D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2370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F1E0EE1-A63F-12F4-10BB-2B0C5E51B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949B4A-8DCA-5D8A-F91E-E3E3181692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D7E994A-6713-82F4-3A2F-AD2DA1A7B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1222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D04F549-C923-1FA6-0572-8E4FDBDC54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0D34990-FEC3-FB89-4B02-268714D73F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7BCAEBB-22C0-CF35-0C48-E613A3B456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3046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65DF209-F70B-D346-7CAD-F327973A4AA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F278F86-62B3-04BA-72AF-285D9D5D6A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A2B0163-0369-FCE8-AFFD-EDC379A61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9840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A1CEF5-13BF-471C-50F9-DAD18A547A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DA82E9-4E8D-3B65-E4CF-424ECC6A7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62D4F-5FDA-D649-09FF-AFAD4FCD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65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22EF6A6-3B86-409E-00F7-E71B05DEC0B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F737BE0-1811-D403-FE9C-7D9F9254BA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C259C-E2D3-C61B-0E90-DB7F2E206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100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AA7785E-43D4-9EF1-1A87-45D7A3143A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20DF-19AB-06E9-7D1B-B9B877EBE6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2DAF3E8-4FE5-228D-D4E4-2C8EBAB1BF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75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8BDF5E7-F95C-899B-EC14-E8E986C7DD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5BA061-2CC0-FC5F-90C5-EB6DD8F82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8A0E1B-B8B2-DFD2-0A4F-7F72575EE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2996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6B53972-8CFD-533B-1C4D-268D3A8B82F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BAB7A-5EF3-5546-4BB0-C26EE502D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4E556B0-B3F6-5788-1709-ADC00D5B8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136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35021AF-CA61-088F-7F01-7FAD5B65361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0B85296-32E7-6F2C-C488-8EB7229AA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2BA18F8-0BB4-69BB-7AA0-AEDCAD35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4683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introduction-to-algorithm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www.tutorialspoint.com/design_and_analysis_of_algorithms/design_and_analysis_of_algorithms_asymptotic_notations_apriori.htm"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onlinecourses.nptel.ac.in/noc23_cs96/preview"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linkedin.com/learning/learning-algorithms" TargetMode="External"/><Relationship Id="rId5" Type="http://schemas.openxmlformats.org/officeDocument/2006/relationships/hyperlink" Target="https://nptel.ac.in/courses/106106208" TargetMode="External"/><Relationship Id="rId4" Type="http://schemas.openxmlformats.org/officeDocument/2006/relationships/hyperlink" Target="https://nptel.ac.in/courses/106106131"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378962" y="747117"/>
            <a:ext cx="8652959" cy="440834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COMPUTER SCIENCE 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dirty="0">
                <a:solidFill>
                  <a:schemeClr val="bg2"/>
                </a:solidFill>
                <a:latin typeface="Times New Roman"/>
                <a:ea typeface="Times New Roman"/>
                <a:cs typeface="Times New Roman"/>
                <a:sym typeface="Times New Roman"/>
              </a:rPr>
              <a:t>Bachelor of Engineering</a:t>
            </a:r>
            <a:endParaRPr lang="en-US" sz="2000" dirty="0">
              <a:solidFill>
                <a:schemeClr val="bg2"/>
              </a:solidFill>
            </a:endParaRPr>
          </a:p>
          <a:p>
            <a:pPr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980"/>
              </a:spcBef>
              <a:buClr>
                <a:schemeClr val="dk1"/>
              </a:buClr>
              <a:buSzPts val="2800"/>
            </a:pPr>
            <a:r>
              <a:rPr lang="en-US" sz="2400" b="1" i="0" u="none" dirty="0">
                <a:solidFill>
                  <a:schemeClr val="bg2"/>
                </a:solidFill>
                <a:latin typeface="Arial"/>
                <a:ea typeface="Arial"/>
                <a:cs typeface="Arial"/>
                <a:sym typeface="Arial"/>
              </a:rPr>
              <a:t>Design and Analysis of Algorithms</a:t>
            </a:r>
          </a:p>
          <a:p>
            <a:pPr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(23</a:t>
            </a:r>
            <a:r>
              <a:rPr lang="en-US" sz="2400" b="0" i="0" u="none" dirty="0">
                <a:solidFill>
                  <a:schemeClr val="bg2"/>
                </a:solidFill>
                <a:latin typeface="Times New Roman"/>
                <a:ea typeface="Times New Roman"/>
                <a:cs typeface="Times New Roman"/>
                <a:sym typeface="Times New Roman"/>
              </a:rPr>
              <a:t>CS</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-301/IT</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No.2</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altLang="en-US" sz="1800" b="1" dirty="0">
                <a:solidFill>
                  <a:srgbClr val="000000"/>
                </a:solidFill>
                <a:latin typeface="Times New Roman" panose="02020603050405020304" pitchFamily="18" charset="0"/>
                <a:cs typeface="Calibri" panose="020F0502020204030204" pitchFamily="34" charset="0"/>
              </a:rPr>
              <a:t>Time and Space complexity, Average and worst-case Analysis, Asymptotic notations </a:t>
            </a:r>
            <a:endParaRPr lang="en-US" altLang="en-US" sz="1800" b="1" dirty="0">
              <a:latin typeface="Times New Roman" panose="02020603050405020304" pitchFamily="18" charset="0"/>
              <a:cs typeface="Times New Roman" panose="02020603050405020304" pitchFamily="18" charset="0"/>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Richa Dhiman E11307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mbria"/>
                  <a:ea typeface="Cambria"/>
                  <a:cs typeface="Cambria"/>
                  <a:sym typeface="Cambria"/>
                </a:rPr>
                <a:t>Learning Objectives &amp; Outcomes</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5" name="Content Placeholder 2">
            <a:extLst>
              <a:ext uri="{FF2B5EF4-FFF2-40B4-BE49-F238E27FC236}">
                <a16:creationId xmlns:a16="http://schemas.microsoft.com/office/drawing/2014/main" id="{4E3F3421-C03E-BBDF-3E3C-0A794E4644E4}"/>
              </a:ext>
            </a:extLst>
          </p:cNvPr>
          <p:cNvSpPr txBox="1">
            <a:spLocks/>
          </p:cNvSpPr>
          <p:nvPr/>
        </p:nvSpPr>
        <p:spPr bwMode="auto">
          <a:xfrm>
            <a:off x="756676" y="794956"/>
            <a:ext cx="8001000" cy="4108667"/>
          </a:xfrm>
          <a:prstGeom prst="rect">
            <a:avLst/>
          </a:prstGeom>
          <a:noFill/>
          <a:ln>
            <a:noFill/>
          </a:ln>
        </p:spPr>
        <p:txBody>
          <a:bodyPr spcFirstLastPara="1" vert="horz" wrap="square" lIns="91440" tIns="45720" rIns="91440" bIns="45720" numCol="1" anchor="t" anchorCtr="0" compatLnSpc="1">
            <a:prstTxWarp prst="textNoShape">
              <a:avLst/>
            </a:prstTxWarp>
            <a:norm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a:spcBef>
                <a:spcPts val="0"/>
              </a:spcBef>
              <a:buSzPts val="2000"/>
              <a:buFont typeface="Arial" panose="020B0604020202020204" pitchFamily="34" charset="0"/>
              <a:buNone/>
              <a:defRPr/>
            </a:pPr>
            <a:r>
              <a:rPr lang="en-US" b="1" dirty="0">
                <a:solidFill>
                  <a:schemeClr val="bg2"/>
                </a:solidFill>
              </a:rPr>
              <a:t>Objective:</a:t>
            </a:r>
          </a:p>
          <a:p>
            <a:pPr>
              <a:defRPr/>
            </a:pPr>
            <a:r>
              <a:rPr lang="en-US" dirty="0">
                <a:solidFill>
                  <a:schemeClr val="bg2"/>
                </a:solidFill>
              </a:rPr>
              <a:t>To understand meaning of Complexity analysis and why it is needful to perform analysis of algorithm </a:t>
            </a:r>
          </a:p>
          <a:p>
            <a:pPr marL="0" indent="0">
              <a:buFont typeface="Arial" panose="020B0604020202020204" pitchFamily="34" charset="0"/>
              <a:buNone/>
              <a:defRPr/>
            </a:pPr>
            <a:endParaRPr lang="en-US" dirty="0">
              <a:solidFill>
                <a:schemeClr val="bg2"/>
              </a:solidFill>
            </a:endParaRPr>
          </a:p>
          <a:p>
            <a:pPr marL="0" indent="0">
              <a:buFont typeface="Arial" panose="020B0604020202020204" pitchFamily="34" charset="0"/>
              <a:buNone/>
              <a:defRPr/>
            </a:pPr>
            <a:r>
              <a:rPr lang="en-US" b="1" dirty="0">
                <a:solidFill>
                  <a:schemeClr val="bg2"/>
                </a:solidFill>
              </a:rPr>
              <a:t>Outcome:</a:t>
            </a:r>
          </a:p>
          <a:p>
            <a:pPr>
              <a:defRPr/>
            </a:pPr>
            <a:r>
              <a:rPr lang="en-US" dirty="0">
                <a:solidFill>
                  <a:schemeClr val="bg2"/>
                </a:solidFill>
              </a:rPr>
              <a:t>Student will understand the time and space complexity of algorithms.</a:t>
            </a:r>
          </a:p>
          <a:p>
            <a:pPr>
              <a:defRPr/>
            </a:pPr>
            <a:r>
              <a:rPr lang="en-US" dirty="0">
                <a:solidFill>
                  <a:schemeClr val="bg2"/>
                </a:solidFill>
              </a:rPr>
              <a:t>Also understand the different asymptotic notations.</a:t>
            </a:r>
          </a:p>
        </p:txBody>
      </p:sp>
    </p:spTree>
    <p:extLst>
      <p:ext uri="{BB962C8B-B14F-4D97-AF65-F5344CB8AC3E}">
        <p14:creationId xmlns:p14="http://schemas.microsoft.com/office/powerpoint/2010/main" val="21072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3" name="Google Shape;144;p23">
            <a:extLst>
              <a:ext uri="{FF2B5EF4-FFF2-40B4-BE49-F238E27FC236}">
                <a16:creationId xmlns:a16="http://schemas.microsoft.com/office/drawing/2014/main" id="{19970182-1CE9-216C-955B-532E7EEF8454}"/>
              </a:ext>
            </a:extLst>
          </p:cNvPr>
          <p:cNvSpPr txBox="1">
            <a:spLocks/>
          </p:cNvSpPr>
          <p:nvPr/>
        </p:nvSpPr>
        <p:spPr>
          <a:xfrm>
            <a:off x="757500" y="252493"/>
            <a:ext cx="7924800" cy="481794"/>
          </a:xfrm>
          <a:prstGeom prst="rect">
            <a:avLst/>
          </a:prstGeom>
        </p:spPr>
        <p:txBody>
          <a:bodyPr spcFirstLastPara="1" wrap="square" lIns="91425" tIns="45700" rIns="91425" bIns="45700"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Complexity of Algorithm</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4" name="Google Shape;145;p23">
            <a:extLst>
              <a:ext uri="{FF2B5EF4-FFF2-40B4-BE49-F238E27FC236}">
                <a16:creationId xmlns:a16="http://schemas.microsoft.com/office/drawing/2014/main" id="{06B5875C-530E-9C2B-B067-3EC1213EDD7D}"/>
              </a:ext>
            </a:extLst>
          </p:cNvPr>
          <p:cNvSpPr txBox="1">
            <a:spLocks/>
          </p:cNvSpPr>
          <p:nvPr/>
        </p:nvSpPr>
        <p:spPr bwMode="auto">
          <a:xfrm>
            <a:off x="681300" y="910584"/>
            <a:ext cx="8001000" cy="3908551"/>
          </a:xfrm>
          <a:prstGeom prst="rect">
            <a:avLst/>
          </a:prstGeom>
          <a:noFill/>
          <a:ln>
            <a:noFill/>
          </a:ln>
        </p:spPr>
        <p:txBody>
          <a:bodyPr spcFirstLastPara="1" vert="horz" wrap="square" lIns="91425" tIns="45700" rIns="91425" bIns="45700" numCol="1" anchor="t" anchorCtr="0" compatLnSpc="1">
            <a:prstTxWarp prst="textNoShape">
              <a:avLst/>
            </a:prstTxWarp>
            <a:normAutofit fontScale="92500" lnSpcReduction="20000"/>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algn="just">
              <a:defRPr/>
            </a:pPr>
            <a:r>
              <a:rPr lang="en-US" dirty="0">
                <a:solidFill>
                  <a:schemeClr val="bg2"/>
                </a:solidFill>
              </a:rPr>
              <a:t>In designing of Algorithm, complexity analysis of an algorithm is an essential aspect. Mainly, algorithmic complexity is concerned about its performance, how fast or slow it works.</a:t>
            </a:r>
          </a:p>
          <a:p>
            <a:pPr algn="just">
              <a:defRPr/>
            </a:pPr>
            <a:r>
              <a:rPr lang="en-US" dirty="0">
                <a:solidFill>
                  <a:schemeClr val="bg2"/>
                </a:solidFill>
              </a:rPr>
              <a:t>The complexity of an algorithm describes the efficiency of the algorithm in terms of the amount of the memory required to process the data and the processing time.</a:t>
            </a:r>
          </a:p>
          <a:p>
            <a:pPr algn="just">
              <a:defRPr/>
            </a:pPr>
            <a:r>
              <a:rPr lang="en-US" dirty="0">
                <a:solidFill>
                  <a:schemeClr val="bg2"/>
                </a:solidFill>
              </a:rPr>
              <a:t>It is very convenient to classify algorithm based on the relative amount of </a:t>
            </a:r>
            <a:r>
              <a:rPr lang="en-US" b="1" dirty="0">
                <a:solidFill>
                  <a:schemeClr val="bg2"/>
                </a:solidFill>
              </a:rPr>
              <a:t>time</a:t>
            </a:r>
            <a:r>
              <a:rPr lang="en-US" dirty="0">
                <a:solidFill>
                  <a:schemeClr val="bg2"/>
                </a:solidFill>
              </a:rPr>
              <a:t> or relative amount of </a:t>
            </a:r>
            <a:r>
              <a:rPr lang="en-US" b="1" dirty="0">
                <a:solidFill>
                  <a:schemeClr val="bg2"/>
                </a:solidFill>
              </a:rPr>
              <a:t>space</a:t>
            </a:r>
            <a:r>
              <a:rPr lang="en-US" dirty="0">
                <a:solidFill>
                  <a:schemeClr val="bg2"/>
                </a:solidFill>
              </a:rPr>
              <a:t> they required and specify the growth of time/space requirement as a function of input size.</a:t>
            </a:r>
          </a:p>
          <a:p>
            <a:pPr marL="0" indent="0" algn="just">
              <a:buFont typeface="Arial" panose="020B0604020202020204" pitchFamily="34" charset="0"/>
              <a:buNone/>
              <a:defRPr/>
            </a:pPr>
            <a:endParaRPr lang="en-US" sz="2000" dirty="0">
              <a:solidFill>
                <a:schemeClr val="bg2"/>
              </a:solidFill>
            </a:endParaRP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C85D7-2162-3728-41C8-9CA50DA575A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7259D0E-39AA-3258-E915-0F5AE1AE1FE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C82D24C-CFB6-10CB-9BE5-A8DE190188C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2" name="Google Shape;144;p23">
            <a:extLst>
              <a:ext uri="{FF2B5EF4-FFF2-40B4-BE49-F238E27FC236}">
                <a16:creationId xmlns:a16="http://schemas.microsoft.com/office/drawing/2014/main" id="{92D30BC4-A77B-EE03-27BE-FA7CFF00CCAC}"/>
              </a:ext>
            </a:extLst>
          </p:cNvPr>
          <p:cNvSpPr txBox="1">
            <a:spLocks/>
          </p:cNvSpPr>
          <p:nvPr/>
        </p:nvSpPr>
        <p:spPr>
          <a:xfrm>
            <a:off x="968776" y="197075"/>
            <a:ext cx="7924800" cy="496869"/>
          </a:xfrm>
          <a:prstGeom prst="rect">
            <a:avLst/>
          </a:prstGeom>
        </p:spPr>
        <p:txBody>
          <a:bodyPr spcFirstLastPara="1" wrap="square" lIns="91425" tIns="45700" rIns="91425" bIns="45700"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Time Complexity</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5" name="Google Shape;145;p23">
            <a:extLst>
              <a:ext uri="{FF2B5EF4-FFF2-40B4-BE49-F238E27FC236}">
                <a16:creationId xmlns:a16="http://schemas.microsoft.com/office/drawing/2014/main" id="{2CF956CA-9D6F-8682-3A9B-7CF0415798BA}"/>
              </a:ext>
            </a:extLst>
          </p:cNvPr>
          <p:cNvSpPr txBox="1">
            <a:spLocks/>
          </p:cNvSpPr>
          <p:nvPr/>
        </p:nvSpPr>
        <p:spPr bwMode="auto">
          <a:xfrm>
            <a:off x="757500" y="1047219"/>
            <a:ext cx="8001000" cy="3664411"/>
          </a:xfrm>
          <a:prstGeom prst="rect">
            <a:avLst/>
          </a:prstGeom>
          <a:noFill/>
          <a:ln>
            <a:noFill/>
          </a:ln>
        </p:spPr>
        <p:txBody>
          <a:bodyPr spcFirstLastPara="1" vert="horz" wrap="square" lIns="91425" tIns="45700" rIns="91425" bIns="45700" numCol="1" anchor="t" anchorCtr="0" compatLnSpc="1">
            <a:prstTxWarp prst="textNoShape">
              <a:avLst/>
            </a:prstTxWarp>
            <a:norm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algn="just">
              <a:defRPr/>
            </a:pPr>
            <a:r>
              <a:rPr lang="en-US" sz="2200" dirty="0">
                <a:solidFill>
                  <a:schemeClr val="bg2"/>
                </a:solidFill>
              </a:rPr>
              <a:t>It’s a function describing the amount of time required to run an algorithm in terms of the size of the input.</a:t>
            </a:r>
          </a:p>
          <a:p>
            <a:pPr marL="0" indent="0" algn="just">
              <a:buFont typeface="Arial" panose="020B0604020202020204" pitchFamily="34" charset="0"/>
              <a:buNone/>
              <a:defRPr/>
            </a:pPr>
            <a:endParaRPr lang="en-US" sz="2200" dirty="0">
              <a:solidFill>
                <a:schemeClr val="bg2"/>
              </a:solidFill>
            </a:endParaRPr>
          </a:p>
          <a:p>
            <a:pPr algn="just">
              <a:defRPr/>
            </a:pPr>
            <a:r>
              <a:rPr lang="en-US" sz="2200" dirty="0">
                <a:solidFill>
                  <a:schemeClr val="bg2"/>
                </a:solidFill>
              </a:rPr>
              <a:t>"Time" can mean the number of memory accesses performed, the </a:t>
            </a:r>
            <a:r>
              <a:rPr lang="en-US" sz="2200" b="1" dirty="0">
                <a:solidFill>
                  <a:schemeClr val="bg2"/>
                </a:solidFill>
              </a:rPr>
              <a:t>number of comparisons between integers</a:t>
            </a:r>
            <a:r>
              <a:rPr lang="en-US" sz="2200" dirty="0">
                <a:solidFill>
                  <a:schemeClr val="bg2"/>
                </a:solidFill>
              </a:rPr>
              <a:t>, </a:t>
            </a:r>
            <a:r>
              <a:rPr lang="en-US" sz="2200" b="1" dirty="0">
                <a:solidFill>
                  <a:schemeClr val="bg2"/>
                </a:solidFill>
              </a:rPr>
              <a:t>the number of times some inner loop is executed</a:t>
            </a:r>
            <a:r>
              <a:rPr lang="en-US" sz="2200" dirty="0">
                <a:solidFill>
                  <a:schemeClr val="bg2"/>
                </a:solidFill>
              </a:rPr>
              <a:t>, or some other natural unit related to the amount of real time the algorithm will take.</a:t>
            </a:r>
          </a:p>
        </p:txBody>
      </p:sp>
    </p:spTree>
    <p:extLst>
      <p:ext uri="{BB962C8B-B14F-4D97-AF65-F5344CB8AC3E}">
        <p14:creationId xmlns:p14="http://schemas.microsoft.com/office/powerpoint/2010/main" val="259646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AE9B3A-F835-EA9F-375F-E58709572D7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CCDAEDE-ABD1-E62B-C206-E4DF3D0D102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6" name="Google Shape;144;p23">
            <a:extLst>
              <a:ext uri="{FF2B5EF4-FFF2-40B4-BE49-F238E27FC236}">
                <a16:creationId xmlns:a16="http://schemas.microsoft.com/office/drawing/2014/main" id="{F1E28DEF-2D75-83C3-8C79-D14072E6B540}"/>
              </a:ext>
            </a:extLst>
          </p:cNvPr>
          <p:cNvSpPr txBox="1">
            <a:spLocks/>
          </p:cNvSpPr>
          <p:nvPr/>
        </p:nvSpPr>
        <p:spPr>
          <a:xfrm>
            <a:off x="805248" y="88964"/>
            <a:ext cx="7924800" cy="609600"/>
          </a:xfrm>
          <a:prstGeom prst="rect">
            <a:avLst/>
          </a:prstGeom>
        </p:spPr>
        <p:txBody>
          <a:bodyPr spcFirstLastPara="1" wrap="square" lIns="91425" tIns="45700" rIns="91425" bIns="45700"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Space Complexity</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8" name="Google Shape;145;p23">
            <a:extLst>
              <a:ext uri="{FF2B5EF4-FFF2-40B4-BE49-F238E27FC236}">
                <a16:creationId xmlns:a16="http://schemas.microsoft.com/office/drawing/2014/main" id="{92EF6D5E-8F3A-3030-E7FC-8F4EB6D0EF1D}"/>
              </a:ext>
            </a:extLst>
          </p:cNvPr>
          <p:cNvSpPr txBox="1">
            <a:spLocks noGrp="1"/>
          </p:cNvSpPr>
          <p:nvPr>
            <p:ph type="body" idx="1"/>
          </p:nvPr>
        </p:nvSpPr>
        <p:spPr bwMode="auto">
          <a:xfrm>
            <a:off x="729048" y="1050324"/>
            <a:ext cx="8001000" cy="3744098"/>
          </a:xfrm>
        </p:spPr>
        <p:txBody>
          <a:bodyPr vert="horz" wrap="square" lIns="91425" tIns="45700" rIns="91425" bIns="45700" numCol="1" anchor="t" anchorCtr="0" compatLnSpc="1">
            <a:prstTxWarp prst="textNoShape">
              <a:avLst/>
            </a:prstTxWarp>
          </a:bodyPr>
          <a:lstStyle/>
          <a:p>
            <a:pPr algn="just">
              <a:defRPr/>
            </a:pPr>
            <a:r>
              <a:rPr lang="en-US" sz="2200" dirty="0">
                <a:solidFill>
                  <a:schemeClr val="bg2"/>
                </a:solidFill>
              </a:rPr>
              <a:t>Some forms of analysis could be done based on how much space an algorithm needs to complete its task. This space complexity analysis was critical in the early days of computing when storage space on the computer was limited. When considering this algorithm are divided into those that need extra space to do their work and those that work in place.</a:t>
            </a:r>
          </a:p>
          <a:p>
            <a:pPr algn="just">
              <a:defRPr/>
            </a:pPr>
            <a:r>
              <a:rPr lang="en-US" sz="2200" dirty="0">
                <a:solidFill>
                  <a:schemeClr val="bg2"/>
                </a:solidFill>
              </a:rPr>
              <a:t>But now a day's problem of space rarely occurs because space on the computer (internal or external) is enough.</a:t>
            </a:r>
          </a:p>
        </p:txBody>
      </p:sp>
    </p:spTree>
    <p:extLst>
      <p:ext uri="{BB962C8B-B14F-4D97-AF65-F5344CB8AC3E}">
        <p14:creationId xmlns:p14="http://schemas.microsoft.com/office/powerpoint/2010/main" val="66240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66223F7-9809-BE29-714E-38632F4599B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59937E7-EC35-0CA6-69EF-64D57377620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423D0D5-2563-3DDF-DDBE-37059391059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2" name="Google Shape;338;p6">
            <a:extLst>
              <a:ext uri="{FF2B5EF4-FFF2-40B4-BE49-F238E27FC236}">
                <a16:creationId xmlns:a16="http://schemas.microsoft.com/office/drawing/2014/main" id="{D1F9A300-9B9D-BBB7-D672-C4A723753B21}"/>
              </a:ext>
            </a:extLst>
          </p:cNvPr>
          <p:cNvSpPr txBox="1">
            <a:spLocks/>
          </p:cNvSpPr>
          <p:nvPr/>
        </p:nvSpPr>
        <p:spPr>
          <a:xfrm>
            <a:off x="968776" y="36560"/>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Asymptotic Notations</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10" name="Google Shape;145;p23">
            <a:extLst>
              <a:ext uri="{FF2B5EF4-FFF2-40B4-BE49-F238E27FC236}">
                <a16:creationId xmlns:a16="http://schemas.microsoft.com/office/drawing/2014/main" id="{09ACAFBD-DEDB-EB68-AA42-FD41276DD77A}"/>
              </a:ext>
            </a:extLst>
          </p:cNvPr>
          <p:cNvSpPr txBox="1">
            <a:spLocks/>
          </p:cNvSpPr>
          <p:nvPr/>
        </p:nvSpPr>
        <p:spPr bwMode="auto">
          <a:xfrm>
            <a:off x="750550" y="695587"/>
            <a:ext cx="8001000" cy="4361926"/>
          </a:xfrm>
          <a:prstGeom prst="rect">
            <a:avLst/>
          </a:prstGeom>
          <a:noFill/>
          <a:ln>
            <a:noFill/>
          </a:ln>
        </p:spPr>
        <p:txBody>
          <a:bodyPr spcFirstLastPara="1" vert="horz" wrap="square" lIns="91425" tIns="45700" rIns="91425" bIns="45700" numCol="1" anchor="t" anchorCtr="0" compatLnSpc="1">
            <a:prstTxWarp prst="textNoShape">
              <a:avLst/>
            </a:prstTxWarp>
            <a:normAutofit fontScale="47500" lnSpcReduction="20000"/>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algn="just">
              <a:defRPr/>
            </a:pPr>
            <a:r>
              <a:rPr lang="en-US" sz="4000" dirty="0">
                <a:solidFill>
                  <a:schemeClr val="bg2"/>
                </a:solidFill>
              </a:rPr>
              <a:t>Execution time of an algorithm depends on the instruction set, processor speed, disk I/O speed, etc. Hence, we </a:t>
            </a:r>
            <a:r>
              <a:rPr lang="en-US" sz="4000" b="1" dirty="0">
                <a:solidFill>
                  <a:schemeClr val="bg2"/>
                </a:solidFill>
              </a:rPr>
              <a:t>estimate the efficiency of an algorithm asymptotically</a:t>
            </a:r>
            <a:r>
              <a:rPr lang="en-US" sz="4000" dirty="0">
                <a:solidFill>
                  <a:schemeClr val="bg2"/>
                </a:solidFill>
              </a:rPr>
              <a:t>.</a:t>
            </a:r>
          </a:p>
          <a:p>
            <a:pPr algn="just">
              <a:defRPr/>
            </a:pPr>
            <a:r>
              <a:rPr lang="en-US" sz="4000" dirty="0">
                <a:solidFill>
                  <a:schemeClr val="bg2"/>
                </a:solidFill>
              </a:rPr>
              <a:t>Time function of an algorithm is represented by </a:t>
            </a:r>
            <a:r>
              <a:rPr lang="en-US" sz="4000" b="1" dirty="0">
                <a:solidFill>
                  <a:schemeClr val="bg2"/>
                </a:solidFill>
              </a:rPr>
              <a:t>T(n)</a:t>
            </a:r>
            <a:r>
              <a:rPr lang="en-US" sz="4000" dirty="0">
                <a:solidFill>
                  <a:schemeClr val="bg2"/>
                </a:solidFill>
              </a:rPr>
              <a:t>, where </a:t>
            </a:r>
            <a:r>
              <a:rPr lang="en-US" sz="4000" b="1" dirty="0">
                <a:solidFill>
                  <a:schemeClr val="bg2"/>
                </a:solidFill>
              </a:rPr>
              <a:t>n</a:t>
            </a:r>
            <a:r>
              <a:rPr lang="en-US" sz="4000" dirty="0">
                <a:solidFill>
                  <a:schemeClr val="bg2"/>
                </a:solidFill>
              </a:rPr>
              <a:t> is the input size.</a:t>
            </a:r>
          </a:p>
          <a:p>
            <a:pPr algn="just">
              <a:defRPr/>
            </a:pPr>
            <a:r>
              <a:rPr lang="en-US" sz="4000" dirty="0">
                <a:solidFill>
                  <a:schemeClr val="bg2"/>
                </a:solidFill>
              </a:rPr>
              <a:t>Different types of asymptotic notations are used to represent the complexity of an algorithm. Following asymptotic notations are used to calculate the running time complexity of an algorithm.</a:t>
            </a:r>
          </a:p>
          <a:p>
            <a:pPr lvl="2" algn="just">
              <a:defRPr/>
            </a:pPr>
            <a:r>
              <a:rPr lang="en-US" sz="3100" dirty="0">
                <a:solidFill>
                  <a:schemeClr val="bg2"/>
                </a:solidFill>
                <a:latin typeface="Cambria" pitchFamily="18" charset="0"/>
              </a:rPr>
              <a:t>O − Big Oh</a:t>
            </a:r>
          </a:p>
          <a:p>
            <a:pPr lvl="2" algn="just">
              <a:defRPr/>
            </a:pPr>
            <a:r>
              <a:rPr lang="en-US" sz="3100" dirty="0">
                <a:solidFill>
                  <a:schemeClr val="bg2"/>
                </a:solidFill>
                <a:latin typeface="Cambria" pitchFamily="18" charset="0"/>
              </a:rPr>
              <a:t>Ω − Big omega</a:t>
            </a:r>
          </a:p>
          <a:p>
            <a:pPr lvl="2" algn="just">
              <a:defRPr/>
            </a:pPr>
            <a:r>
              <a:rPr lang="en-US" sz="3100" dirty="0">
                <a:solidFill>
                  <a:schemeClr val="bg2"/>
                </a:solidFill>
                <a:latin typeface="Cambria" pitchFamily="18" charset="0"/>
              </a:rPr>
              <a:t>θ − Big theta</a:t>
            </a:r>
          </a:p>
          <a:p>
            <a:pPr lvl="2" algn="just">
              <a:defRPr/>
            </a:pPr>
            <a:r>
              <a:rPr lang="en-US" sz="3100" dirty="0">
                <a:solidFill>
                  <a:schemeClr val="bg2"/>
                </a:solidFill>
                <a:latin typeface="Cambria" pitchFamily="18" charset="0"/>
              </a:rPr>
              <a:t>o − Little Oh</a:t>
            </a:r>
          </a:p>
          <a:p>
            <a:pPr lvl="2" algn="just">
              <a:defRPr/>
            </a:pPr>
            <a:r>
              <a:rPr lang="en-US" sz="3100" dirty="0">
                <a:solidFill>
                  <a:schemeClr val="bg2"/>
                </a:solidFill>
                <a:latin typeface="Cambria" pitchFamily="18" charset="0"/>
              </a:rPr>
              <a:t>ω − Little omega</a:t>
            </a:r>
          </a:p>
        </p:txBody>
      </p:sp>
    </p:spTree>
    <p:extLst>
      <p:ext uri="{BB962C8B-B14F-4D97-AF65-F5344CB8AC3E}">
        <p14:creationId xmlns:p14="http://schemas.microsoft.com/office/powerpoint/2010/main" val="175514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698E66-F84E-170D-A0A4-F7906E6DCB0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F4F0A3-AC9F-881C-38CF-FCABC87F7D4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FE9E69A-0B72-58B1-5875-98C4F59242D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2" name="Google Shape;350;p8">
            <a:extLst>
              <a:ext uri="{FF2B5EF4-FFF2-40B4-BE49-F238E27FC236}">
                <a16:creationId xmlns:a16="http://schemas.microsoft.com/office/drawing/2014/main" id="{E968C95A-E4DC-052B-1B7E-3FF2C6B0D803}"/>
              </a:ext>
            </a:extLst>
          </p:cNvPr>
          <p:cNvSpPr txBox="1">
            <a:spLocks/>
          </p:cNvSpPr>
          <p:nvPr/>
        </p:nvSpPr>
        <p:spPr>
          <a:xfrm>
            <a:off x="968776" y="141863"/>
            <a:ext cx="7924800" cy="3944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3" name="Google Shape;351;p8">
            <a:extLst>
              <a:ext uri="{FF2B5EF4-FFF2-40B4-BE49-F238E27FC236}">
                <a16:creationId xmlns:a16="http://schemas.microsoft.com/office/drawing/2014/main" id="{15429A14-E9A0-9728-63C2-270308ABD24D}"/>
              </a:ext>
            </a:extLst>
          </p:cNvPr>
          <p:cNvSpPr txBox="1">
            <a:spLocks/>
          </p:cNvSpPr>
          <p:nvPr/>
        </p:nvSpPr>
        <p:spPr>
          <a:xfrm>
            <a:off x="743986" y="969074"/>
            <a:ext cx="8001000" cy="35197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342900" indent="-196850">
              <a:spcBef>
                <a:spcPts val="460"/>
              </a:spcBef>
              <a:buSzPts val="2300"/>
              <a:buFont typeface="Arial"/>
              <a:buNone/>
            </a:pPr>
            <a:endParaRPr lang="en-US" sz="2300" dirty="0">
              <a:solidFill>
                <a:schemeClr val="bg2"/>
              </a:solidFill>
            </a:endParaRPr>
          </a:p>
        </p:txBody>
      </p:sp>
      <p:sp>
        <p:nvSpPr>
          <p:cNvPr id="4" name="Google Shape;144;p23">
            <a:extLst>
              <a:ext uri="{FF2B5EF4-FFF2-40B4-BE49-F238E27FC236}">
                <a16:creationId xmlns:a16="http://schemas.microsoft.com/office/drawing/2014/main" id="{18C52171-4FA9-F87B-681D-82BABD638921}"/>
              </a:ext>
            </a:extLst>
          </p:cNvPr>
          <p:cNvSpPr txBox="1">
            <a:spLocks/>
          </p:cNvSpPr>
          <p:nvPr/>
        </p:nvSpPr>
        <p:spPr>
          <a:xfrm>
            <a:off x="743986" y="350876"/>
            <a:ext cx="7924800" cy="498585"/>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Big-oh notation (O) (Asymptotic Upper Bound)</a:t>
            </a:r>
            <a:endParaRPr kumimoji="0" lang="en-US" sz="3200" b="1" i="0" u="none" strike="noStrike" kern="1200" cap="none" spc="0" normalizeH="0" baseline="0" noProof="0" dirty="0">
              <a:ln>
                <a:noFill/>
              </a:ln>
              <a:solidFill>
                <a:schemeClr val="bg2"/>
              </a:solidFill>
              <a:effectLst/>
              <a:uLnTx/>
              <a:uFillTx/>
              <a:latin typeface="Cambria"/>
              <a:ea typeface="Cambria"/>
              <a:cs typeface="Cambria"/>
              <a:sym typeface="Cambria"/>
            </a:endParaRPr>
          </a:p>
        </p:txBody>
      </p:sp>
      <p:sp>
        <p:nvSpPr>
          <p:cNvPr id="5" name="Google Shape;145;p23">
            <a:extLst>
              <a:ext uri="{FF2B5EF4-FFF2-40B4-BE49-F238E27FC236}">
                <a16:creationId xmlns:a16="http://schemas.microsoft.com/office/drawing/2014/main" id="{F8DF7464-94E5-4D56-4BDA-2ADCAABDE2C5}"/>
              </a:ext>
            </a:extLst>
          </p:cNvPr>
          <p:cNvSpPr txBox="1">
            <a:spLocks/>
          </p:cNvSpPr>
          <p:nvPr/>
        </p:nvSpPr>
        <p:spPr bwMode="auto">
          <a:xfrm>
            <a:off x="667786" y="1271239"/>
            <a:ext cx="8001000" cy="3374901"/>
          </a:xfrm>
          <a:prstGeom prst="rect">
            <a:avLst/>
          </a:prstGeom>
          <a:noFill/>
        </p:spPr>
        <p:txBody>
          <a:bodyPr vert="horz" wrap="square" lIns="91425" tIns="45700" rIns="91425" bIns="4570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‘O’ (Big Oh) is the most commonly used notation. A function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f(n)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can be represented is the order of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g(n)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that is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O(g(n))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if there exists a value of positive integer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as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n</a:t>
            </a:r>
            <a:r>
              <a:rPr kumimoji="0" lang="en-US" sz="2000" b="1" i="0" u="none" strike="noStrike" kern="1200" cap="none" spc="0" normalizeH="0" baseline="-25000" noProof="0" dirty="0">
                <a:ln>
                  <a:noFill/>
                </a:ln>
                <a:solidFill>
                  <a:sysClr val="windowText" lastClr="000000"/>
                </a:solidFill>
                <a:effectLst/>
                <a:uLnTx/>
                <a:uFillTx/>
                <a:latin typeface="Cambria" pitchFamily="18" charset="0"/>
                <a:ea typeface="+mn-ea"/>
                <a:cs typeface="+mn-cs"/>
              </a:rPr>
              <a:t>0</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and a positive constant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c</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such that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105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105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Hence, function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g(n)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is an upper bound for function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f(n)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as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g(n)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grows faster than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f(n)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pt-BR" sz="2000" b="1" i="0" u="none" strike="noStrike" kern="1200" cap="none" spc="0" normalizeH="0" baseline="0" noProof="0" dirty="0">
              <a:ln>
                <a:noFill/>
              </a:ln>
              <a:solidFill>
                <a:srgbClr val="C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46571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30559D-113C-CA36-943F-FB81436000C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DE20160-C47E-3755-260A-77F95E87624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BAD650A-C296-32D4-88D6-EC65A0BB20C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Google Shape;350;p8">
            <a:extLst>
              <a:ext uri="{FF2B5EF4-FFF2-40B4-BE49-F238E27FC236}">
                <a16:creationId xmlns:a16="http://schemas.microsoft.com/office/drawing/2014/main" id="{B846DD7C-EFA9-1E0D-BE4D-AAC22C6A37AD}"/>
              </a:ext>
            </a:extLst>
          </p:cNvPr>
          <p:cNvSpPr txBox="1">
            <a:spLocks/>
          </p:cNvSpPr>
          <p:nvPr/>
        </p:nvSpPr>
        <p:spPr>
          <a:xfrm>
            <a:off x="968776" y="40555"/>
            <a:ext cx="7417724"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8" name="Google Shape;144;p23">
            <a:extLst>
              <a:ext uri="{FF2B5EF4-FFF2-40B4-BE49-F238E27FC236}">
                <a16:creationId xmlns:a16="http://schemas.microsoft.com/office/drawing/2014/main" id="{5AF05DA7-AADE-3FC0-019F-E0B4212C65BC}"/>
              </a:ext>
            </a:extLst>
          </p:cNvPr>
          <p:cNvSpPr txBox="1">
            <a:spLocks/>
          </p:cNvSpPr>
          <p:nvPr/>
        </p:nvSpPr>
        <p:spPr>
          <a:xfrm>
            <a:off x="684724" y="230459"/>
            <a:ext cx="7924800" cy="419696"/>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Omega Notation(Ω) (Asymptotic Lower Bound)</a:t>
            </a:r>
            <a:endParaRPr kumimoji="0" lang="en-US" sz="3200" b="1" i="0" u="none" strike="noStrike" kern="1200" cap="none" spc="0" normalizeH="0" baseline="0" noProof="0" dirty="0">
              <a:ln>
                <a:noFill/>
              </a:ln>
              <a:solidFill>
                <a:schemeClr val="bg2"/>
              </a:solidFill>
              <a:effectLst/>
              <a:uLnTx/>
              <a:uFillTx/>
              <a:latin typeface="Cambria"/>
              <a:ea typeface="Cambria"/>
              <a:cs typeface="Cambria"/>
              <a:sym typeface="Cambria"/>
            </a:endParaRPr>
          </a:p>
        </p:txBody>
      </p:sp>
      <p:sp>
        <p:nvSpPr>
          <p:cNvPr id="9" name="Google Shape;145;p23">
            <a:extLst>
              <a:ext uri="{FF2B5EF4-FFF2-40B4-BE49-F238E27FC236}">
                <a16:creationId xmlns:a16="http://schemas.microsoft.com/office/drawing/2014/main" id="{3F556AE9-DBFA-FB5B-03CA-DB725B8AF7BF}"/>
              </a:ext>
            </a:extLst>
          </p:cNvPr>
          <p:cNvSpPr txBox="1">
            <a:spLocks/>
          </p:cNvSpPr>
          <p:nvPr/>
        </p:nvSpPr>
        <p:spPr bwMode="auto">
          <a:xfrm>
            <a:off x="608524" y="914400"/>
            <a:ext cx="8001000" cy="4284454"/>
          </a:xfrm>
          <a:prstGeom prst="rect">
            <a:avLst/>
          </a:prstGeom>
          <a:noFill/>
        </p:spPr>
        <p:txBody>
          <a:bodyPr vert="horz" wrap="square" lIns="91425" tIns="45700" rIns="91425" bIns="4570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We say that </a:t>
            </a:r>
            <a:r>
              <a:rPr kumimoji="0" lang="en-US" sz="2000" b="1" i="0" u="none" strike="noStrike" kern="1200" cap="none" spc="0" normalizeH="0" baseline="0" noProof="0" dirty="0">
                <a:ln>
                  <a:noFill/>
                </a:ln>
                <a:solidFill>
                  <a:srgbClr val="FF0000"/>
                </a:solidFill>
                <a:effectLst/>
                <a:uLnTx/>
                <a:uFillTx/>
                <a:latin typeface="Cambria" pitchFamily="18" charset="0"/>
                <a:ea typeface="+mn-ea"/>
                <a:cs typeface="+mn-cs"/>
              </a:rPr>
              <a:t>f(n)=Ω(g(n))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when there exists constant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c</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that </a:t>
            </a:r>
            <a:r>
              <a:rPr kumimoji="0" lang="en-US" sz="2000" b="1" i="0" u="none" strike="noStrike" kern="1200" cap="none" spc="0" normalizeH="0" baseline="0" noProof="0" dirty="0">
                <a:ln>
                  <a:noFill/>
                </a:ln>
                <a:solidFill>
                  <a:srgbClr val="FF0000"/>
                </a:solidFill>
                <a:effectLst/>
                <a:uLnTx/>
                <a:uFillTx/>
                <a:latin typeface="Cambria" pitchFamily="18" charset="0"/>
                <a:ea typeface="+mn-ea"/>
                <a:cs typeface="+mn-cs"/>
              </a:rPr>
              <a:t>f(n)⩾</a:t>
            </a:r>
            <a:r>
              <a:rPr kumimoji="0" lang="en-US" sz="2000" b="1" i="0" u="none" strike="noStrike" kern="1200" cap="none" spc="0" normalizeH="0" baseline="0" noProof="0" dirty="0" err="1">
                <a:ln>
                  <a:noFill/>
                </a:ln>
                <a:solidFill>
                  <a:srgbClr val="FF0000"/>
                </a:solidFill>
                <a:effectLst/>
                <a:uLnTx/>
                <a:uFillTx/>
                <a:latin typeface="Cambria" pitchFamily="18" charset="0"/>
                <a:ea typeface="+mn-ea"/>
                <a:cs typeface="+mn-cs"/>
              </a:rPr>
              <a:t>c.g</a:t>
            </a:r>
            <a:r>
              <a:rPr kumimoji="0" lang="en-US" sz="2000" b="1" i="0" u="none" strike="noStrike" kern="1200" cap="none" spc="0" normalizeH="0" baseline="0" noProof="0" dirty="0">
                <a:ln>
                  <a:noFill/>
                </a:ln>
                <a:solidFill>
                  <a:srgbClr val="FF0000"/>
                </a:solidFill>
                <a:effectLst/>
                <a:uLnTx/>
                <a:uFillTx/>
                <a:latin typeface="Cambria" pitchFamily="18" charset="0"/>
                <a:ea typeface="+mn-ea"/>
                <a:cs typeface="+mn-cs"/>
              </a:rPr>
              <a:t>(n)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for all sufficiently large value of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Here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is a positive integer. It means function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g</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is a lower bound for function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f</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after a certain value of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n, f</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will never go below </a:t>
            </a:r>
            <a:r>
              <a:rPr kumimoji="0" lang="en-US" sz="2000" b="1" i="1" u="none" strike="noStrike" kern="1200" cap="none" spc="0" normalizeH="0" baseline="0" noProof="0" dirty="0">
                <a:ln>
                  <a:noFill/>
                </a:ln>
                <a:solidFill>
                  <a:sysClr val="windowText" lastClr="000000"/>
                </a:solidFill>
                <a:effectLst/>
                <a:uLnTx/>
                <a:uFillTx/>
                <a:latin typeface="Cambria" pitchFamily="18" charset="0"/>
                <a:ea typeface="+mn-ea"/>
                <a:cs typeface="+mn-cs"/>
              </a:rPr>
              <a:t>g</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10" name="Picture 2">
            <a:extLst>
              <a:ext uri="{FF2B5EF4-FFF2-40B4-BE49-F238E27FC236}">
                <a16:creationId xmlns:a16="http://schemas.microsoft.com/office/drawing/2014/main" id="{D0E567D9-895C-E4E1-1113-F2DF95DF6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776" y="2304584"/>
            <a:ext cx="7796212" cy="2463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937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D565F7-7B58-5C3B-FCDC-E6C0CFEF1F9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F31FAFF-7FEE-BA83-A704-9D5C6DCDD8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B2FAA1B1-2426-1794-67B3-848ED1C7161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
        <p:nvSpPr>
          <p:cNvPr id="6" name="Google Shape;144;p23">
            <a:extLst>
              <a:ext uri="{FF2B5EF4-FFF2-40B4-BE49-F238E27FC236}">
                <a16:creationId xmlns:a16="http://schemas.microsoft.com/office/drawing/2014/main" id="{DB3C5A43-A37B-232E-59FC-45101EBB2551}"/>
              </a:ext>
            </a:extLst>
          </p:cNvPr>
          <p:cNvSpPr txBox="1">
            <a:spLocks/>
          </p:cNvSpPr>
          <p:nvPr/>
        </p:nvSpPr>
        <p:spPr>
          <a:xfrm>
            <a:off x="833700" y="197075"/>
            <a:ext cx="7924800" cy="609600"/>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Theta (θ) (Asymptotic Tight Bound)</a:t>
            </a:r>
            <a:endParaRPr kumimoji="0" lang="en-US" sz="3200" b="1" i="0" u="none" strike="noStrike" kern="1200" cap="none" spc="0" normalizeH="0" baseline="0" noProof="0" dirty="0">
              <a:ln>
                <a:noFill/>
              </a:ln>
              <a:solidFill>
                <a:schemeClr val="bg2"/>
              </a:solidFill>
              <a:effectLst/>
              <a:uLnTx/>
              <a:uFillTx/>
              <a:latin typeface="Cambria"/>
              <a:ea typeface="Cambria"/>
              <a:cs typeface="Cambria"/>
              <a:sym typeface="Cambria"/>
            </a:endParaRPr>
          </a:p>
        </p:txBody>
      </p:sp>
      <p:sp>
        <p:nvSpPr>
          <p:cNvPr id="8" name="Google Shape;145;p23">
            <a:extLst>
              <a:ext uri="{FF2B5EF4-FFF2-40B4-BE49-F238E27FC236}">
                <a16:creationId xmlns:a16="http://schemas.microsoft.com/office/drawing/2014/main" id="{22669C96-8DB9-5C96-899D-A08D0DC20033}"/>
              </a:ext>
            </a:extLst>
          </p:cNvPr>
          <p:cNvSpPr txBox="1">
            <a:spLocks/>
          </p:cNvSpPr>
          <p:nvPr/>
        </p:nvSpPr>
        <p:spPr bwMode="auto">
          <a:xfrm>
            <a:off x="757500" y="806675"/>
            <a:ext cx="8001000" cy="4495800"/>
          </a:xfrm>
          <a:prstGeom prst="rect">
            <a:avLst/>
          </a:prstGeom>
          <a:noFill/>
        </p:spPr>
        <p:txBody>
          <a:bodyPr vert="horz" wrap="square" lIns="91425" tIns="45700" rIns="91425" bIns="4570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We say that </a:t>
            </a:r>
            <a:r>
              <a:rPr kumimoji="0" lang="en-US" sz="2000" b="1" i="0" u="none" strike="noStrike" kern="1200" cap="none" spc="0" normalizeH="0" baseline="0" noProof="0" dirty="0">
                <a:ln>
                  <a:noFill/>
                </a:ln>
                <a:solidFill>
                  <a:srgbClr val="FF0000"/>
                </a:solidFill>
                <a:effectLst/>
                <a:uLnTx/>
                <a:uFillTx/>
                <a:latin typeface="Cambria" pitchFamily="18" charset="0"/>
                <a:ea typeface="+mn-ea"/>
                <a:cs typeface="+mn-cs"/>
              </a:rPr>
              <a:t>f(n)=θ(g(n))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when there exist constants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c</a:t>
            </a:r>
            <a:r>
              <a:rPr kumimoji="0" lang="en-US" sz="2000" b="1" i="0" u="none" strike="noStrike" kern="1200" cap="none" spc="0" normalizeH="0" baseline="-25000" noProof="0" dirty="0">
                <a:ln>
                  <a:noFill/>
                </a:ln>
                <a:solidFill>
                  <a:sysClr val="windowText" lastClr="000000"/>
                </a:solidFill>
                <a:effectLst/>
                <a:uLnTx/>
                <a:uFillTx/>
                <a:latin typeface="Cambria" pitchFamily="18" charset="0"/>
                <a:ea typeface="+mn-ea"/>
                <a:cs typeface="+mn-cs"/>
              </a:rPr>
              <a:t>1</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and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c</a:t>
            </a:r>
            <a:r>
              <a:rPr kumimoji="0" lang="en-US" sz="2000" b="1" i="0" u="none" strike="noStrike" kern="1200" cap="none" spc="0" normalizeH="0" baseline="-25000" noProof="0" dirty="0">
                <a:ln>
                  <a:noFill/>
                </a:ln>
                <a:solidFill>
                  <a:sysClr val="windowText" lastClr="000000"/>
                </a:solidFill>
                <a:effectLst/>
                <a:uLnTx/>
                <a:uFillTx/>
                <a:latin typeface="Cambria" pitchFamily="18" charset="0"/>
                <a:ea typeface="+mn-ea"/>
                <a:cs typeface="+mn-cs"/>
              </a:rPr>
              <a:t>2</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that </a:t>
            </a:r>
            <a:r>
              <a:rPr kumimoji="0" lang="en-US" sz="2000" b="1" i="0" u="none" strike="noStrike" kern="1200" cap="none" spc="0" normalizeH="0" baseline="0" noProof="0" dirty="0">
                <a:ln>
                  <a:noFill/>
                </a:ln>
                <a:solidFill>
                  <a:srgbClr val="FF0000"/>
                </a:solidFill>
                <a:effectLst/>
                <a:uLnTx/>
                <a:uFillTx/>
                <a:latin typeface="Cambria" pitchFamily="18" charset="0"/>
                <a:ea typeface="+mn-ea"/>
                <a:cs typeface="+mn-cs"/>
              </a:rPr>
              <a:t>c1.g(n)⩽f(n)⩽c2.g(n) </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for all sufficiently large value of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Here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n</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is a positive integer.</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This means function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g</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 is a tight bound for function </a:t>
            </a:r>
            <a:r>
              <a:rPr kumimoji="0" lang="en-US" sz="2000" b="1" i="0" u="none" strike="noStrike" kern="1200" cap="none" spc="0" normalizeH="0" baseline="0" noProof="0" dirty="0">
                <a:ln>
                  <a:noFill/>
                </a:ln>
                <a:solidFill>
                  <a:sysClr val="windowText" lastClr="000000"/>
                </a:solidFill>
                <a:effectLst/>
                <a:uLnTx/>
                <a:uFillTx/>
                <a:latin typeface="Cambria" pitchFamily="18" charset="0"/>
                <a:ea typeface="+mn-ea"/>
                <a:cs typeface="+mn-cs"/>
              </a:rPr>
              <a:t>f</a:t>
            </a:r>
            <a:r>
              <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rPr>
              <a:t>.</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pic>
        <p:nvPicPr>
          <p:cNvPr id="9" name="Picture 4">
            <a:extLst>
              <a:ext uri="{FF2B5EF4-FFF2-40B4-BE49-F238E27FC236}">
                <a16:creationId xmlns:a16="http://schemas.microsoft.com/office/drawing/2014/main" id="{E524AA0B-C8FD-5322-B0C7-C101F1D96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700" y="2378926"/>
            <a:ext cx="8131175" cy="244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71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EC0536-BF5D-71F0-87EA-F1E1B410598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FCDD88A-2ADF-8A48-80BA-D52FEC540C5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FA94115-363C-5364-F65C-CCEE1956B27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
        <p:nvSpPr>
          <p:cNvPr id="4" name="Google Shape;144;p23">
            <a:extLst>
              <a:ext uri="{FF2B5EF4-FFF2-40B4-BE49-F238E27FC236}">
                <a16:creationId xmlns:a16="http://schemas.microsoft.com/office/drawing/2014/main" id="{533813E6-E08C-8B46-8E20-CF81BAA1F87F}"/>
              </a:ext>
            </a:extLst>
          </p:cNvPr>
          <p:cNvSpPr txBox="1">
            <a:spLocks/>
          </p:cNvSpPr>
          <p:nvPr/>
        </p:nvSpPr>
        <p:spPr>
          <a:xfrm>
            <a:off x="833700" y="197075"/>
            <a:ext cx="7924800" cy="552161"/>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Little </a:t>
            </a:r>
            <a:r>
              <a:rPr kumimoji="0" lang="el-GR" sz="3200" b="1" i="0" u="none" strike="noStrike" kern="1200" cap="none" spc="0" normalizeH="0" baseline="0" noProof="0" dirty="0">
                <a:ln>
                  <a:noFill/>
                </a:ln>
                <a:solidFill>
                  <a:schemeClr val="bg2"/>
                </a:solidFill>
                <a:effectLst/>
                <a:uLnTx/>
                <a:uFillTx/>
                <a:latin typeface="Cambria" pitchFamily="18" charset="0"/>
                <a:ea typeface="+mj-ea"/>
                <a:cs typeface="+mj-cs"/>
              </a:rPr>
              <a:t>ο </a:t>
            </a: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asymptotic notation</a:t>
            </a:r>
            <a:endParaRPr kumimoji="0" lang="en-US" sz="3200" b="1" i="0" u="none" strike="noStrike" kern="1200" cap="none" spc="0" normalizeH="0" baseline="0" noProof="0" dirty="0">
              <a:ln>
                <a:noFill/>
              </a:ln>
              <a:solidFill>
                <a:schemeClr val="bg2"/>
              </a:solidFill>
              <a:effectLst/>
              <a:uLnTx/>
              <a:uFillTx/>
              <a:latin typeface="Cambria"/>
              <a:ea typeface="Cambria"/>
              <a:cs typeface="Cambria"/>
              <a:sym typeface="Cambria"/>
            </a:endParaRPr>
          </a:p>
        </p:txBody>
      </p:sp>
      <p:sp>
        <p:nvSpPr>
          <p:cNvPr id="5" name="Google Shape;145;p23">
            <a:extLst>
              <a:ext uri="{FF2B5EF4-FFF2-40B4-BE49-F238E27FC236}">
                <a16:creationId xmlns:a16="http://schemas.microsoft.com/office/drawing/2014/main" id="{755AA104-B2D7-EB00-B066-354329DB9C8C}"/>
              </a:ext>
            </a:extLst>
          </p:cNvPr>
          <p:cNvSpPr txBox="1">
            <a:spLocks/>
          </p:cNvSpPr>
          <p:nvPr/>
        </p:nvSpPr>
        <p:spPr bwMode="auto">
          <a:xfrm>
            <a:off x="757500" y="882875"/>
            <a:ext cx="8001000" cy="4072184"/>
          </a:xfrm>
          <a:prstGeom prst="rect">
            <a:avLst/>
          </a:prstGeom>
          <a:noFill/>
        </p:spPr>
        <p:txBody>
          <a:bodyPr vert="horz" wrap="square" lIns="91425" tIns="45700" rIns="91425" bIns="4570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200" b="0" i="0" u="none" strike="noStrike" kern="1200" cap="none" spc="0" normalizeH="0" baseline="0" noProof="0">
                <a:ln>
                  <a:noFill/>
                </a:ln>
                <a:solidFill>
                  <a:sysClr val="windowText" lastClr="000000"/>
                </a:solidFill>
                <a:effectLst/>
                <a:uLnTx/>
                <a:uFillTx/>
                <a:latin typeface="Cambria" pitchFamily="18" charset="0"/>
                <a:ea typeface="+mn-ea"/>
                <a:cs typeface="+mn-cs"/>
              </a:rPr>
              <a:t>Big-Ο is used as a tight upper-bound on the growth of an algorithm’s effort (this effort is described by the function f(n)), even though, as written, it can also be a loose upper-bound. </a:t>
            </a:r>
            <a:r>
              <a:rPr kumimoji="0" lang="en-US" sz="2200" b="1" i="0" u="none" strike="noStrike" kern="1200" cap="none" spc="0" normalizeH="0" baseline="0" noProof="0">
                <a:ln>
                  <a:noFill/>
                </a:ln>
                <a:solidFill>
                  <a:sysClr val="windowText" lastClr="000000"/>
                </a:solidFill>
                <a:effectLst/>
                <a:uLnTx/>
                <a:uFillTx/>
                <a:latin typeface="Cambria" pitchFamily="18" charset="0"/>
                <a:ea typeface="+mn-ea"/>
                <a:cs typeface="+mn-cs"/>
              </a:rPr>
              <a:t>“Little-ο” (ο()) notation is used to describe an upper-bound that cannot be tight.</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2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200" b="0" i="0" u="none" strike="noStrike" kern="1200" cap="none" spc="0" normalizeH="0" baseline="0" noProof="0">
                <a:ln>
                  <a:noFill/>
                </a:ln>
                <a:solidFill>
                  <a:sysClr val="windowText" lastClr="000000"/>
                </a:solidFill>
                <a:effectLst/>
                <a:uLnTx/>
                <a:uFillTx/>
                <a:latin typeface="Cambria" pitchFamily="18" charset="0"/>
                <a:ea typeface="+mn-ea"/>
                <a:cs typeface="+mn-cs"/>
              </a:rPr>
              <a:t>Let f(n) and g(n) be functions that map positive integers to positive real numbers. We say that </a:t>
            </a:r>
            <a:r>
              <a:rPr kumimoji="0" lang="en-US" sz="2200" b="1" i="0" u="none" strike="noStrike" kern="1200" cap="none" spc="0" normalizeH="0" baseline="0" noProof="0">
                <a:ln>
                  <a:noFill/>
                </a:ln>
                <a:solidFill>
                  <a:srgbClr val="FF0000"/>
                </a:solidFill>
                <a:effectLst/>
                <a:uLnTx/>
                <a:uFillTx/>
                <a:latin typeface="Cambria" pitchFamily="18" charset="0"/>
                <a:ea typeface="+mn-ea"/>
                <a:cs typeface="+mn-cs"/>
              </a:rPr>
              <a:t>f(n) = ο(g(n)) </a:t>
            </a:r>
            <a:r>
              <a:rPr kumimoji="0" lang="en-US" sz="2200" b="0" i="0" u="none" strike="noStrike" kern="1200" cap="none" spc="0" normalizeH="0" baseline="0" noProof="0">
                <a:ln>
                  <a:noFill/>
                </a:ln>
                <a:solidFill>
                  <a:sysClr val="windowText" lastClr="000000"/>
                </a:solidFill>
                <a:effectLst/>
                <a:uLnTx/>
                <a:uFillTx/>
                <a:latin typeface="Cambria" pitchFamily="18" charset="0"/>
                <a:ea typeface="+mn-ea"/>
                <a:cs typeface="+mn-cs"/>
              </a:rPr>
              <a:t>if for </a:t>
            </a:r>
            <a:r>
              <a:rPr kumimoji="0" lang="en-US" sz="2200" b="1" i="0" u="none" strike="noStrike" kern="1200" cap="none" spc="0" normalizeH="0" baseline="0" noProof="0">
                <a:ln>
                  <a:noFill/>
                </a:ln>
                <a:solidFill>
                  <a:sysClr val="windowText" lastClr="000000"/>
                </a:solidFill>
                <a:effectLst/>
                <a:uLnTx/>
                <a:uFillTx/>
                <a:latin typeface="Cambria" pitchFamily="18" charset="0"/>
                <a:ea typeface="+mn-ea"/>
                <a:cs typeface="+mn-cs"/>
              </a:rPr>
              <a:t>any real</a:t>
            </a:r>
            <a:r>
              <a:rPr kumimoji="0" lang="en-US" sz="2200" b="0" i="0" u="none" strike="noStrike" kern="1200" cap="none" spc="0" normalizeH="0" baseline="0" noProof="0">
                <a:ln>
                  <a:noFill/>
                </a:ln>
                <a:solidFill>
                  <a:sysClr val="windowText" lastClr="000000"/>
                </a:solidFill>
                <a:effectLst/>
                <a:uLnTx/>
                <a:uFillTx/>
                <a:latin typeface="Cambria" pitchFamily="18" charset="0"/>
                <a:ea typeface="+mn-ea"/>
                <a:cs typeface="+mn-cs"/>
              </a:rPr>
              <a:t> constant c &gt; 0, there exists an integer constant n0 ≥ 1 such that </a:t>
            </a:r>
            <a:r>
              <a:rPr kumimoji="0" lang="en-US" sz="2200" b="1" i="0" u="none" strike="noStrike" kern="1200" cap="none" spc="0" normalizeH="0" baseline="0" noProof="0">
                <a:ln>
                  <a:noFill/>
                </a:ln>
                <a:solidFill>
                  <a:srgbClr val="FF0000"/>
                </a:solidFill>
                <a:effectLst/>
                <a:uLnTx/>
                <a:uFillTx/>
                <a:latin typeface="Cambria" pitchFamily="18" charset="0"/>
                <a:ea typeface="+mn-ea"/>
                <a:cs typeface="+mn-cs"/>
              </a:rPr>
              <a:t>0 ≤ f(n) &lt; c*g(n).</a:t>
            </a:r>
            <a:endParaRPr kumimoji="0" lang="en-US" sz="2200" b="1" i="0" u="none" strike="noStrike" kern="1200" cap="none" spc="0" normalizeH="0" baseline="0" noProof="0" dirty="0">
              <a:ln>
                <a:noFill/>
              </a:ln>
              <a:solidFill>
                <a:srgbClr val="FF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13450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7FE174C-2C6C-BACB-E1EF-E7CF8749373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39610BC-42CA-7267-440D-E771D9DD4C92}"/>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67F62AB-1496-B1F6-0FDD-173D6F0A2D2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5" name="Google Shape;144;p23">
            <a:extLst>
              <a:ext uri="{FF2B5EF4-FFF2-40B4-BE49-F238E27FC236}">
                <a16:creationId xmlns:a16="http://schemas.microsoft.com/office/drawing/2014/main" id="{F2349FC6-68AA-99C1-3297-254FC573D0E3}"/>
              </a:ext>
            </a:extLst>
          </p:cNvPr>
          <p:cNvSpPr txBox="1">
            <a:spLocks/>
          </p:cNvSpPr>
          <p:nvPr/>
        </p:nvSpPr>
        <p:spPr>
          <a:xfrm>
            <a:off x="757500" y="197075"/>
            <a:ext cx="7924800" cy="528704"/>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Little </a:t>
            </a:r>
            <a:r>
              <a:rPr kumimoji="0" lang="el-GR" sz="3200" b="1" i="0" u="none" strike="noStrike" kern="1200" cap="none" spc="0" normalizeH="0" baseline="0" noProof="0" dirty="0">
                <a:ln>
                  <a:noFill/>
                </a:ln>
                <a:solidFill>
                  <a:schemeClr val="bg2"/>
                </a:solidFill>
                <a:effectLst/>
                <a:uLnTx/>
                <a:uFillTx/>
                <a:latin typeface="Cambria" pitchFamily="18" charset="0"/>
                <a:ea typeface="+mj-ea"/>
                <a:cs typeface="+mj-cs"/>
              </a:rPr>
              <a:t>ω </a:t>
            </a:r>
            <a:r>
              <a:rPr kumimoji="0" lang="en-US" sz="3200" b="1" i="0" u="none" strike="noStrike" kern="1200" cap="none" spc="0" normalizeH="0" baseline="0" noProof="0" dirty="0">
                <a:ln>
                  <a:noFill/>
                </a:ln>
                <a:solidFill>
                  <a:schemeClr val="bg2"/>
                </a:solidFill>
                <a:effectLst/>
                <a:uLnTx/>
                <a:uFillTx/>
                <a:latin typeface="Cambria" pitchFamily="18" charset="0"/>
                <a:ea typeface="+mj-ea"/>
                <a:cs typeface="+mj-cs"/>
              </a:rPr>
              <a:t>asymptotic notation</a:t>
            </a:r>
            <a:endParaRPr kumimoji="0" lang="en-US" sz="3200" b="1" i="0" u="none" strike="noStrike" kern="1200" cap="none" spc="0" normalizeH="0" baseline="0" noProof="0" dirty="0">
              <a:ln>
                <a:noFill/>
              </a:ln>
              <a:solidFill>
                <a:schemeClr val="bg2"/>
              </a:solidFill>
              <a:effectLst/>
              <a:uLnTx/>
              <a:uFillTx/>
              <a:latin typeface="Cambria"/>
              <a:ea typeface="Cambria"/>
              <a:cs typeface="Cambria"/>
              <a:sym typeface="Cambria"/>
            </a:endParaRPr>
          </a:p>
        </p:txBody>
      </p:sp>
      <p:sp>
        <p:nvSpPr>
          <p:cNvPr id="6" name="Google Shape;145;p23">
            <a:extLst>
              <a:ext uri="{FF2B5EF4-FFF2-40B4-BE49-F238E27FC236}">
                <a16:creationId xmlns:a16="http://schemas.microsoft.com/office/drawing/2014/main" id="{199BAF4A-2DFE-F62A-E93C-F1257BE50758}"/>
              </a:ext>
            </a:extLst>
          </p:cNvPr>
          <p:cNvSpPr txBox="1">
            <a:spLocks/>
          </p:cNvSpPr>
          <p:nvPr/>
        </p:nvSpPr>
        <p:spPr bwMode="auto">
          <a:xfrm>
            <a:off x="681300" y="882875"/>
            <a:ext cx="8001000" cy="3899190"/>
          </a:xfrm>
          <a:prstGeom prst="rect">
            <a:avLst/>
          </a:prstGeom>
          <a:noFill/>
        </p:spPr>
        <p:txBody>
          <a:bodyPr vert="horz" wrap="square" lIns="91425" tIns="45700" rIns="91425" bIns="4570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ysClr val="windowText" lastClr="000000"/>
                </a:solidFill>
                <a:effectLst/>
                <a:uLnTx/>
                <a:uFillTx/>
                <a:latin typeface="Cambria" pitchFamily="18" charset="0"/>
                <a:ea typeface="+mn-ea"/>
                <a:cs typeface="+mn-cs"/>
              </a:rPr>
              <a:t>Let f(n) and g(n) be functions that map positive integers to positive real numbers. We say that </a:t>
            </a:r>
            <a:r>
              <a:rPr kumimoji="0" lang="en-US" sz="2200" b="1" i="0" u="none" strike="noStrike" kern="1200" cap="none" spc="0" normalizeH="0" baseline="0" noProof="0" dirty="0">
                <a:ln>
                  <a:noFill/>
                </a:ln>
                <a:solidFill>
                  <a:srgbClr val="FF0000"/>
                </a:solidFill>
                <a:effectLst/>
                <a:uLnTx/>
                <a:uFillTx/>
                <a:latin typeface="Cambria" pitchFamily="18" charset="0"/>
                <a:ea typeface="+mn-ea"/>
                <a:cs typeface="+mn-cs"/>
              </a:rPr>
              <a:t>f(n) = ω(g(n)) </a:t>
            </a:r>
            <a:r>
              <a:rPr kumimoji="0" lang="en-US" sz="22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for any real constant c &gt; 0, there exists an integer constant n0 ≥ 1 such that </a:t>
            </a:r>
            <a:r>
              <a:rPr kumimoji="0" lang="en-US" sz="2200" b="1" i="0" u="none" strike="noStrike" kern="1200" cap="none" spc="0" normalizeH="0" baseline="0" noProof="0" dirty="0">
                <a:ln>
                  <a:noFill/>
                </a:ln>
                <a:solidFill>
                  <a:srgbClr val="FF0000"/>
                </a:solidFill>
                <a:effectLst/>
                <a:uLnTx/>
                <a:uFillTx/>
                <a:latin typeface="Cambria" pitchFamily="18" charset="0"/>
                <a:ea typeface="+mn-ea"/>
                <a:cs typeface="+mn-cs"/>
              </a:rPr>
              <a:t>f(n) &gt; c * g(n) ≥ 0 </a:t>
            </a:r>
            <a:r>
              <a:rPr kumimoji="0" lang="en-US" sz="2200" b="0" i="0" u="none" strike="noStrike" kern="1200" cap="none" spc="0" normalizeH="0" baseline="0" noProof="0" dirty="0">
                <a:ln>
                  <a:noFill/>
                </a:ln>
                <a:solidFill>
                  <a:sysClr val="windowText" lastClr="000000"/>
                </a:solidFill>
                <a:effectLst/>
                <a:uLnTx/>
                <a:uFillTx/>
                <a:latin typeface="Cambria" pitchFamily="18" charset="0"/>
                <a:ea typeface="+mn-ea"/>
                <a:cs typeface="+mn-cs"/>
              </a:rPr>
              <a:t>for every integer n ≥ n0.</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2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ysClr val="windowText" lastClr="000000"/>
                </a:solidFill>
                <a:effectLst/>
                <a:uLnTx/>
                <a:uFillTx/>
                <a:latin typeface="Cambria" pitchFamily="18" charset="0"/>
                <a:ea typeface="+mn-ea"/>
                <a:cs typeface="+mn-cs"/>
              </a:rPr>
              <a:t>f(n) has a higher growth rate than g(n),so main difference between Big Omega (Ω) and little omega (ω) lies in their definitions:</a:t>
            </a:r>
          </a:p>
          <a:p>
            <a:pPr marL="742950" marR="0" lvl="1" indent="-28575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In the case of </a:t>
            </a:r>
            <a:r>
              <a:rPr kumimoji="0" lang="en-US" sz="2000" b="1" i="0" u="none" strike="noStrike" kern="1200" cap="none" spc="0" normalizeH="0" baseline="0" noProof="0" dirty="0">
                <a:ln>
                  <a:noFill/>
                </a:ln>
                <a:solidFill>
                  <a:sysClr val="windowText" lastClr="000000"/>
                </a:solidFill>
                <a:effectLst/>
                <a:uLnTx/>
                <a:uFillTx/>
                <a:latin typeface="Calibri"/>
                <a:ea typeface="+mn-ea"/>
                <a:cs typeface="+mn-cs"/>
              </a:rPr>
              <a:t>Big Omega f(n)=Ω(g(n)) </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and the bound is </a:t>
            </a:r>
            <a:r>
              <a:rPr kumimoji="0" lang="en-US" sz="2000" b="1" i="0" u="none" strike="noStrike" kern="1200" cap="none" spc="0" normalizeH="0" baseline="0" noProof="0" dirty="0">
                <a:ln>
                  <a:noFill/>
                </a:ln>
                <a:solidFill>
                  <a:sysClr val="windowText" lastClr="000000"/>
                </a:solidFill>
                <a:effectLst/>
                <a:uLnTx/>
                <a:uFillTx/>
                <a:latin typeface="Calibri"/>
                <a:ea typeface="+mn-ea"/>
                <a:cs typeface="+mn-cs"/>
              </a:rPr>
              <a:t>0&lt;=c*g(n)&lt;=f(n), </a:t>
            </a:r>
          </a:p>
          <a:p>
            <a:pPr marL="742950" marR="0" lvl="1" indent="-28575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but in case of </a:t>
            </a:r>
            <a:r>
              <a:rPr kumimoji="0" lang="en-US" sz="2000" b="1" i="0" u="none" strike="noStrike" kern="1200" cap="none" spc="0" normalizeH="0" baseline="0" noProof="0" dirty="0">
                <a:ln>
                  <a:noFill/>
                </a:ln>
                <a:solidFill>
                  <a:sysClr val="windowText" lastClr="000000"/>
                </a:solidFill>
                <a:effectLst/>
                <a:uLnTx/>
                <a:uFillTx/>
                <a:latin typeface="Calibri"/>
                <a:ea typeface="+mn-ea"/>
                <a:cs typeface="+mn-cs"/>
              </a:rPr>
              <a:t>little omega</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 it is true for </a:t>
            </a:r>
            <a:r>
              <a:rPr kumimoji="0" lang="en-US" sz="2000" b="1" i="0" u="none" strike="noStrike" kern="1200" cap="none" spc="0" normalizeH="0" baseline="0" noProof="0" dirty="0">
                <a:ln>
                  <a:noFill/>
                </a:ln>
                <a:solidFill>
                  <a:sysClr val="windowText" lastClr="000000"/>
                </a:solidFill>
                <a:effectLst/>
                <a:uLnTx/>
                <a:uFillTx/>
                <a:latin typeface="Calibri"/>
                <a:ea typeface="+mn-ea"/>
                <a:cs typeface="+mn-cs"/>
              </a:rPr>
              <a:t>0&lt;=c*g(n)&lt;f(n).</a:t>
            </a:r>
          </a:p>
        </p:txBody>
      </p:sp>
    </p:spTree>
    <p:extLst>
      <p:ext uri="{BB962C8B-B14F-4D97-AF65-F5344CB8AC3E}">
        <p14:creationId xmlns:p14="http://schemas.microsoft.com/office/powerpoint/2010/main" val="649321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18E393-2F51-EB19-24F3-365F9B677C6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7625D6E-BE07-D5DE-44E0-C5F84CC863C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802C3F7-EF4B-C0D1-3F4C-BC5308BA67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pic>
        <p:nvPicPr>
          <p:cNvPr id="5" name="Picture 4">
            <a:extLst>
              <a:ext uri="{FF2B5EF4-FFF2-40B4-BE49-F238E27FC236}">
                <a16:creationId xmlns:a16="http://schemas.microsoft.com/office/drawing/2014/main" id="{F97C9A6D-8941-C6A1-9FFE-34E08B93B4F3}"/>
              </a:ext>
            </a:extLst>
          </p:cNvPr>
          <p:cNvPicPr>
            <a:picLocks noChangeAspect="1"/>
          </p:cNvPicPr>
          <p:nvPr/>
        </p:nvPicPr>
        <p:blipFill>
          <a:blip r:embed="rId3"/>
          <a:stretch>
            <a:fillRect/>
          </a:stretch>
        </p:blipFill>
        <p:spPr>
          <a:xfrm>
            <a:off x="824767" y="701337"/>
            <a:ext cx="7933733" cy="3759452"/>
          </a:xfrm>
          <a:prstGeom prst="rect">
            <a:avLst/>
          </a:prstGeom>
        </p:spPr>
      </p:pic>
      <p:sp>
        <p:nvSpPr>
          <p:cNvPr id="8" name="TextBox 7">
            <a:extLst>
              <a:ext uri="{FF2B5EF4-FFF2-40B4-BE49-F238E27FC236}">
                <a16:creationId xmlns:a16="http://schemas.microsoft.com/office/drawing/2014/main" id="{E75066A9-12F0-2BBE-D4A9-B4FBD39FEBB9}"/>
              </a:ext>
            </a:extLst>
          </p:cNvPr>
          <p:cNvSpPr txBox="1"/>
          <p:nvPr/>
        </p:nvSpPr>
        <p:spPr>
          <a:xfrm>
            <a:off x="494270" y="4336825"/>
            <a:ext cx="8498692" cy="707886"/>
          </a:xfrm>
          <a:prstGeom prst="rect">
            <a:avLst/>
          </a:prstGeom>
          <a:noFill/>
        </p:spPr>
        <p:txBody>
          <a:bodyPr wrap="square">
            <a:spAutoFit/>
          </a:bodyPr>
          <a:lstStyle/>
          <a:p>
            <a:r>
              <a:rPr lang="en-IN" sz="1000" b="1" dirty="0"/>
              <a:t>Source</a:t>
            </a:r>
            <a:r>
              <a:rPr lang="en-IN" sz="1000" dirty="0"/>
              <a:t>: https://in.images.search.yahoo.com/search/images;_ylt=Awr1SgI9JDNoBAIAmWW7HAx.;_ylu=Y29sbwNzZzMEcG9zAzEEdnRpZAMEc2VjA3BpdnM-?p=asymptotic+notation&amp;fr2=piv-web&amp;type=E210IN885G0&amp;fr=mcafee#id=3&amp;iurl=https%3A%2F%2Flearnloner.com%2Fwp-content%2Fuploads%2F2023%2F04%2FAsymptoyic-Notations.png&amp;action=click</a:t>
            </a:r>
          </a:p>
        </p:txBody>
      </p:sp>
    </p:spTree>
    <p:extLst>
      <p:ext uri="{BB962C8B-B14F-4D97-AF65-F5344CB8AC3E}">
        <p14:creationId xmlns:p14="http://schemas.microsoft.com/office/powerpoint/2010/main" val="3229634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41A732-D0F0-17B1-B627-DB7F5C983C3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F187A80-B81E-8273-161A-1C2F1A9691F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3ADC4BE-724D-BC03-5D67-42F1D9732F8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Google Shape;398;p16">
            <a:extLst>
              <a:ext uri="{FF2B5EF4-FFF2-40B4-BE49-F238E27FC236}">
                <a16:creationId xmlns:a16="http://schemas.microsoft.com/office/drawing/2014/main" id="{C1F7B2A6-F326-C535-25E2-C1FF3909D4C8}"/>
              </a:ext>
            </a:extLst>
          </p:cNvPr>
          <p:cNvSpPr txBox="1">
            <a:spLocks/>
          </p:cNvSpPr>
          <p:nvPr/>
        </p:nvSpPr>
        <p:spPr>
          <a:xfrm>
            <a:off x="795600" y="158467"/>
            <a:ext cx="7552800" cy="47059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Summary</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3">
            <a:extLst>
              <a:ext uri="{FF2B5EF4-FFF2-40B4-BE49-F238E27FC236}">
                <a16:creationId xmlns:a16="http://schemas.microsoft.com/office/drawing/2014/main" id="{3169C9AD-953F-8CD3-1222-2BD34429CAF0}"/>
              </a:ext>
            </a:extLst>
          </p:cNvPr>
          <p:cNvSpPr txBox="1">
            <a:spLocks noChangeArrowheads="1"/>
          </p:cNvSpPr>
          <p:nvPr/>
        </p:nvSpPr>
        <p:spPr bwMode="auto">
          <a:xfrm>
            <a:off x="833700" y="806675"/>
            <a:ext cx="8001000" cy="332048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endParaRPr kumimoji="0" lang="en-US" altLang="en-US" sz="2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914400" rtl="0" eaLnBrk="0" fontAlgn="base" latinLnBrk="0" hangingPunct="0">
              <a:lnSpc>
                <a:spcPct val="100000"/>
              </a:lnSpc>
              <a:spcBef>
                <a:spcPts val="400"/>
              </a:spcBef>
              <a:spcAft>
                <a:spcPct val="0"/>
              </a:spcAft>
              <a:buClr>
                <a:srgbClr val="000000"/>
              </a:buClr>
              <a:buSzPts val="2000"/>
              <a:buFont typeface="Arial" panose="020B0604020202020204" pitchFamily="34" charset="0"/>
              <a:buNone/>
              <a:tabLst/>
              <a:defRPr/>
            </a:pPr>
            <a:r>
              <a:rPr kumimoji="0" lang="en-US" altLang="en-US" sz="2400" b="0" i="0" u="none" strike="noStrike" kern="1200" cap="none" spc="0" normalizeH="0" baseline="0" noProof="0">
                <a:ln>
                  <a:noFill/>
                </a:ln>
                <a:solidFill>
                  <a:srgbClr val="000000"/>
                </a:solidFill>
                <a:effectLst/>
                <a:uLnTx/>
                <a:uFillTx/>
                <a:latin typeface="Cambria" pitchFamily="18" charset="0"/>
                <a:ea typeface="Cambria" panose="02040503050406030204" pitchFamily="18" charset="0"/>
                <a:cs typeface="Cambria" panose="02040503050406030204" pitchFamily="18" charset="0"/>
                <a:sym typeface="Cambria" panose="02040503050406030204" pitchFamily="18" charset="0"/>
              </a:rPr>
              <a:t>Complexity of algorithm</a:t>
            </a:r>
          </a:p>
          <a:p>
            <a:pPr marL="742950" marR="0" lvl="1" indent="-285750" algn="l" defTabSz="914400" rtl="0" eaLnBrk="0" fontAlgn="base" latinLnBrk="0" hangingPunct="0">
              <a:lnSpc>
                <a:spcPct val="100000"/>
              </a:lnSpc>
              <a:spcBef>
                <a:spcPts val="400"/>
              </a:spcBef>
              <a:spcAft>
                <a:spcPct val="0"/>
              </a:spcAft>
              <a:buClr>
                <a:srgbClr val="000000"/>
              </a:buClr>
              <a:buSzPts val="2000"/>
              <a:buFont typeface="Arial" panose="020B0604020202020204" pitchFamily="34" charset="0"/>
              <a:buChar char="•"/>
              <a:tabLst/>
              <a:defRPr/>
            </a:pPr>
            <a:r>
              <a:rPr kumimoji="0" lang="en-US" altLang="en-US" sz="2200" b="0" i="0" u="none" strike="noStrike" kern="120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Cambria" panose="02040503050406030204" pitchFamily="18" charset="0"/>
                <a:sym typeface="Cambria" panose="02040503050406030204" pitchFamily="18" charset="0"/>
              </a:rPr>
              <a:t>Time and space Complexity</a:t>
            </a:r>
          </a:p>
          <a:p>
            <a:pPr marL="742950" marR="0" lvl="1" indent="-285750" algn="l" defTabSz="914400" rtl="0" eaLnBrk="0" fontAlgn="base" latinLnBrk="0" hangingPunct="0">
              <a:lnSpc>
                <a:spcPct val="100000"/>
              </a:lnSpc>
              <a:spcBef>
                <a:spcPts val="400"/>
              </a:spcBef>
              <a:spcAft>
                <a:spcPct val="0"/>
              </a:spcAft>
              <a:buClr>
                <a:srgbClr val="000000"/>
              </a:buClr>
              <a:buSzPts val="2000"/>
              <a:buFont typeface="Arial" panose="020B0604020202020204" pitchFamily="34" charset="0"/>
              <a:buChar char="•"/>
              <a:tabLst/>
              <a:defRPr/>
            </a:pPr>
            <a:r>
              <a:rPr kumimoji="0" lang="en-US" altLang="en-US" sz="2200" b="0" i="0" u="none" strike="noStrike" kern="1200" cap="none" spc="0" normalizeH="0" baseline="0" noProof="0">
                <a:ln>
                  <a:noFill/>
                </a:ln>
                <a:solidFill>
                  <a:sysClr val="windowText" lastClr="000000"/>
                </a:solidFill>
                <a:effectLst/>
                <a:uLnTx/>
                <a:uFillTx/>
                <a:latin typeface="Calibri"/>
                <a:ea typeface="+mn-ea"/>
                <a:cs typeface="+mn-cs"/>
              </a:rPr>
              <a:t>Various Asymptotic Notations</a:t>
            </a:r>
            <a:endParaRPr kumimoji="0" lang="en-US" altLang="en-US" sz="2200" b="1" i="0" u="none" strike="noStrike" kern="1200" cap="none" spc="0" normalizeH="0" baseline="0" noProof="0">
              <a:ln>
                <a:noFill/>
              </a:ln>
              <a:solidFill>
                <a:srgbClr val="000000"/>
              </a:solidFill>
              <a:effectLst/>
              <a:uLnTx/>
              <a:uFillTx/>
              <a:latin typeface="Calibri"/>
              <a:ea typeface="Cambria" panose="02040503050406030204" pitchFamily="18" charset="0"/>
              <a:cs typeface="Cambria" panose="02040503050406030204" pitchFamily="18" charset="0"/>
              <a:sym typeface="Cambria" panose="02040503050406030204" pitchFamily="18" charset="0"/>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701280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34F766-A176-EC7F-DA61-121F22B5631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2884BC-C924-1064-8AE8-EA2EEEF3175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2EF7270C-BEA4-72D0-7C70-EF18C77EEAA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Google Shape;398;p16">
            <a:extLst>
              <a:ext uri="{FF2B5EF4-FFF2-40B4-BE49-F238E27FC236}">
                <a16:creationId xmlns:a16="http://schemas.microsoft.com/office/drawing/2014/main" id="{29C0C67A-C50A-18DC-412A-99E3C5164A3A}"/>
              </a:ext>
            </a:extLst>
          </p:cNvPr>
          <p:cNvSpPr txBox="1">
            <a:spLocks/>
          </p:cNvSpPr>
          <p:nvPr/>
        </p:nvSpPr>
        <p:spPr>
          <a:xfrm>
            <a:off x="845130" y="26473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Next Lecture</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60EFD6F-9F17-E30C-4597-42345A217F64}"/>
              </a:ext>
            </a:extLst>
          </p:cNvPr>
          <p:cNvSpPr txBox="1"/>
          <p:nvPr/>
        </p:nvSpPr>
        <p:spPr>
          <a:xfrm>
            <a:off x="845130" y="1053083"/>
            <a:ext cx="8001000" cy="954107"/>
          </a:xfrm>
          <a:prstGeom prst="rect">
            <a:avLst/>
          </a:prstGeom>
          <a:noFill/>
        </p:spPr>
        <p:txBody>
          <a:bodyPr wrap="square">
            <a:spAutoFit/>
          </a:bodyPr>
          <a:lstStyle/>
          <a:p>
            <a:r>
              <a:rPr lang="en-US" altLang="en-US" sz="2800" dirty="0">
                <a:latin typeface="Calibri" panose="020F0502020204030204" pitchFamily="34" charset="0"/>
                <a:ea typeface="Calibri" panose="020F0502020204030204" pitchFamily="34" charset="0"/>
                <a:cs typeface="Calibri" panose="020F0502020204030204" pitchFamily="34" charset="0"/>
              </a:rPr>
              <a:t>R</a:t>
            </a:r>
            <a:r>
              <a:rPr lang="en-US" alt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ecurrence equations and their solution: substitution method, recursion-tree method, master method </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0214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7FC081-CD9A-5890-31B1-05B3C94BF6C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37BF6050-4B71-52AA-64DB-492D3464A4B8}"/>
              </a:ext>
            </a:extLst>
          </p:cNvPr>
          <p:cNvSpPr txBox="1">
            <a:spLocks noGrp="1"/>
          </p:cNvSpPr>
          <p:nvPr>
            <p:ph type="body" idx="1"/>
          </p:nvPr>
        </p:nvSpPr>
        <p:spPr>
          <a:xfrm>
            <a:off x="385500" y="1136714"/>
            <a:ext cx="8001000" cy="3700236"/>
          </a:xfrm>
          <a:prstGeom prst="rect">
            <a:avLst/>
          </a:prstGeom>
          <a:noFill/>
          <a:ln>
            <a:noFill/>
          </a:ln>
        </p:spPr>
        <p:txBody>
          <a:bodyPr spcFirstLastPara="1" wrap="square" lIns="91425" tIns="45700" rIns="91425" bIns="45700" anchor="t" anchorCtr="0">
            <a:normAutofit fontScale="70000" lnSpcReduction="20000"/>
          </a:bodyPr>
          <a:lstStyle/>
          <a:p>
            <a:pPr>
              <a:buNone/>
            </a:pPr>
            <a:r>
              <a:rPr lang="en-US" b="1" dirty="0">
                <a:solidFill>
                  <a:schemeClr val="bg2"/>
                </a:solidFill>
              </a:rPr>
              <a:t>1. Which of the following statements is TRUE about asymptotic notations?</a:t>
            </a:r>
            <a:endParaRPr lang="en-US" dirty="0">
              <a:solidFill>
                <a:schemeClr val="bg2"/>
              </a:solidFill>
            </a:endParaRPr>
          </a:p>
          <a:p>
            <a:r>
              <a:rPr lang="en-US" dirty="0">
                <a:solidFill>
                  <a:schemeClr val="bg2"/>
                </a:solidFill>
              </a:rPr>
              <a:t>A. Big-O gives the best-case time complexity of an algorithm.</a:t>
            </a:r>
            <a:br>
              <a:rPr lang="en-US" dirty="0">
                <a:solidFill>
                  <a:schemeClr val="bg2"/>
                </a:solidFill>
              </a:rPr>
            </a:br>
            <a:r>
              <a:rPr lang="en-US" dirty="0">
                <a:solidFill>
                  <a:schemeClr val="bg2"/>
                </a:solidFill>
              </a:rPr>
              <a:t>B. Omega notation describes the average-case performance of an algorithm.</a:t>
            </a:r>
            <a:br>
              <a:rPr lang="en-US" dirty="0">
                <a:solidFill>
                  <a:schemeClr val="bg2"/>
                </a:solidFill>
              </a:rPr>
            </a:br>
            <a:r>
              <a:rPr lang="en-US" dirty="0">
                <a:solidFill>
                  <a:schemeClr val="bg2"/>
                </a:solidFill>
              </a:rPr>
              <a:t>C. Theta notation gives both the upper and lower bound of an algorithm's running time.</a:t>
            </a:r>
            <a:br>
              <a:rPr lang="en-US" dirty="0">
                <a:solidFill>
                  <a:schemeClr val="bg2"/>
                </a:solidFill>
              </a:rPr>
            </a:br>
            <a:r>
              <a:rPr lang="en-US" dirty="0">
                <a:solidFill>
                  <a:schemeClr val="bg2"/>
                </a:solidFill>
              </a:rPr>
              <a:t>D. Big-Omega provides the worst-case upper bound of an algorithm.</a:t>
            </a:r>
          </a:p>
          <a:p>
            <a:pPr>
              <a:buNone/>
            </a:pPr>
            <a:r>
              <a:rPr lang="en-US" b="1" dirty="0">
                <a:solidFill>
                  <a:schemeClr val="bg2"/>
                </a:solidFill>
              </a:rPr>
              <a:t>2. Which of the following notations provides the tightest bound on the growth of an algorithm's running time?</a:t>
            </a:r>
            <a:endParaRPr lang="en-US" dirty="0">
              <a:solidFill>
                <a:schemeClr val="bg2"/>
              </a:solidFill>
            </a:endParaRPr>
          </a:p>
          <a:p>
            <a:r>
              <a:rPr lang="en-US" dirty="0">
                <a:solidFill>
                  <a:schemeClr val="bg2"/>
                </a:solidFill>
              </a:rPr>
              <a:t>A. Big-O (O)</a:t>
            </a:r>
            <a:br>
              <a:rPr lang="en-US" dirty="0">
                <a:solidFill>
                  <a:schemeClr val="bg2"/>
                </a:solidFill>
              </a:rPr>
            </a:br>
            <a:r>
              <a:rPr lang="en-US" dirty="0">
                <a:solidFill>
                  <a:schemeClr val="bg2"/>
                </a:solidFill>
              </a:rPr>
              <a:t>B. Big-Omega (Ω)</a:t>
            </a:r>
            <a:br>
              <a:rPr lang="en-US" dirty="0">
                <a:solidFill>
                  <a:schemeClr val="bg2"/>
                </a:solidFill>
              </a:rPr>
            </a:br>
            <a:r>
              <a:rPr lang="en-US" dirty="0">
                <a:solidFill>
                  <a:schemeClr val="bg2"/>
                </a:solidFill>
              </a:rPr>
              <a:t>C. Big-Theta (Θ)</a:t>
            </a:r>
            <a:br>
              <a:rPr lang="en-US" dirty="0">
                <a:solidFill>
                  <a:schemeClr val="bg2"/>
                </a:solidFill>
              </a:rPr>
            </a:br>
            <a:r>
              <a:rPr lang="en-US" dirty="0">
                <a:solidFill>
                  <a:schemeClr val="bg2"/>
                </a:solidFill>
              </a:rPr>
              <a:t>D. None of the above</a:t>
            </a:r>
          </a:p>
          <a:p>
            <a:pPr marL="76200" indent="0">
              <a:buNone/>
            </a:pPr>
            <a:endParaRPr lang="en-US" b="1" dirty="0">
              <a:solidFill>
                <a:schemeClr val="bg2"/>
              </a:solidFill>
            </a:endParaRPr>
          </a:p>
        </p:txBody>
      </p:sp>
      <p:sp>
        <p:nvSpPr>
          <p:cNvPr id="7" name="TextBox 6">
            <a:extLst>
              <a:ext uri="{FF2B5EF4-FFF2-40B4-BE49-F238E27FC236}">
                <a16:creationId xmlns:a16="http://schemas.microsoft.com/office/drawing/2014/main" id="{7F91A00A-7547-9CA1-AE7A-367A9D78131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Google Shape;398;p16">
            <a:extLst>
              <a:ext uri="{FF2B5EF4-FFF2-40B4-BE49-F238E27FC236}">
                <a16:creationId xmlns:a16="http://schemas.microsoft.com/office/drawing/2014/main" id="{6A560F48-626F-3E22-D367-BDFCE56FCAB9}"/>
              </a:ext>
            </a:extLst>
          </p:cNvPr>
          <p:cNvSpPr txBox="1">
            <a:spLocks/>
          </p:cNvSpPr>
          <p:nvPr/>
        </p:nvSpPr>
        <p:spPr>
          <a:xfrm>
            <a:off x="1068162" y="306550"/>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Quiz</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2976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C16E0BE-5E4E-D8A1-5CB2-8142F9754DB8}"/>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227BF8B-63CF-08D9-3EFB-1157B57C139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7C2C36-4064-467E-F174-5CD0AE20BD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Google Shape;392;p15">
            <a:extLst>
              <a:ext uri="{FF2B5EF4-FFF2-40B4-BE49-F238E27FC236}">
                <a16:creationId xmlns:a16="http://schemas.microsoft.com/office/drawing/2014/main" id="{4B714057-CA43-4B1E-290C-27F7B4BBA00C}"/>
              </a:ext>
            </a:extLst>
          </p:cNvPr>
          <p:cNvSpPr txBox="1">
            <a:spLocks/>
          </p:cNvSpPr>
          <p:nvPr/>
        </p:nvSpPr>
        <p:spPr>
          <a:xfrm>
            <a:off x="952500" y="342338"/>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C00000"/>
              </a:buClr>
              <a:buSzPts val="24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t>References/ Articles/ Videos</a:t>
            </a:r>
            <a:b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br>
            <a:endPar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6" name="Google Shape;157;p25">
            <a:extLst>
              <a:ext uri="{FF2B5EF4-FFF2-40B4-BE49-F238E27FC236}">
                <a16:creationId xmlns:a16="http://schemas.microsoft.com/office/drawing/2014/main" id="{666028C3-69D6-6360-D031-B8F7BD79943D}"/>
              </a:ext>
            </a:extLst>
          </p:cNvPr>
          <p:cNvSpPr txBox="1">
            <a:spLocks/>
          </p:cNvSpPr>
          <p:nvPr/>
        </p:nvSpPr>
        <p:spPr>
          <a:xfrm>
            <a:off x="800243" y="951938"/>
            <a:ext cx="8001000" cy="3632419"/>
          </a:xfrm>
          <a:prstGeom prst="rect">
            <a:avLst/>
          </a:prstGeom>
          <a:noFill/>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None/>
              <a:tabLst/>
              <a:defRPr/>
            </a:pPr>
            <a:r>
              <a:rPr kumimoji="0" lang="en-US" sz="2400" b="1" i="0" u="none" strike="noStrike" kern="1200" cap="none" spc="0" normalizeH="0" baseline="0" noProof="0" dirty="0">
                <a:ln>
                  <a:noFill/>
                </a:ln>
                <a:solidFill>
                  <a:schemeClr val="bg2"/>
                </a:solidFill>
                <a:effectLst/>
                <a:uLnTx/>
                <a:uFillTx/>
                <a:latin typeface="Cambria" pitchFamily="18" charset="0"/>
                <a:ea typeface="+mn-ea"/>
                <a:cs typeface="+mn-cs"/>
              </a:rPr>
              <a:t>Text books:</a:t>
            </a:r>
            <a:endParaRPr kumimoji="0" lang="en-US" sz="2400" b="0" i="0" u="none" strike="noStrike" kern="1200" cap="none" spc="0" normalizeH="0" baseline="0" noProof="0" dirty="0">
              <a:ln>
                <a:noFill/>
              </a:ln>
              <a:solidFill>
                <a:schemeClr val="bg2"/>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schemeClr val="bg2"/>
                </a:solidFill>
                <a:effectLst/>
                <a:uLnTx/>
                <a:uFillTx/>
                <a:latin typeface="Cambria" pitchFamily="18" charset="0"/>
                <a:ea typeface="+mn-ea"/>
                <a:cs typeface="+mn-cs"/>
              </a:rPr>
              <a:t>Cormen</a:t>
            </a: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 </a:t>
            </a:r>
            <a:r>
              <a:rPr kumimoji="0" lang="en-US" sz="1800" b="0" i="0" u="none" strike="noStrike" kern="1200" cap="none" spc="0" normalizeH="0" baseline="0" noProof="0" dirty="0" err="1">
                <a:ln>
                  <a:noFill/>
                </a:ln>
                <a:solidFill>
                  <a:schemeClr val="bg2"/>
                </a:solidFill>
                <a:effectLst/>
                <a:uLnTx/>
                <a:uFillTx/>
                <a:latin typeface="Cambria" pitchFamily="18" charset="0"/>
                <a:ea typeface="+mn-ea"/>
                <a:cs typeface="+mn-cs"/>
              </a:rPr>
              <a:t>Leiserson</a:t>
            </a: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 Rivest, Stein, “</a:t>
            </a:r>
            <a:r>
              <a:rPr kumimoji="0" lang="en-US" sz="1800" b="0" i="1" u="none" strike="noStrike" kern="1200" cap="none" spc="0" normalizeH="0" baseline="0" noProof="0" dirty="0">
                <a:ln>
                  <a:noFill/>
                </a:ln>
                <a:solidFill>
                  <a:schemeClr val="bg2"/>
                </a:solidFill>
                <a:effectLst/>
                <a:uLnTx/>
                <a:uFillTx/>
                <a:latin typeface="Cambria" pitchFamily="18" charset="0"/>
                <a:ea typeface="+mn-ea"/>
                <a:cs typeface="+mn-cs"/>
              </a:rPr>
              <a:t>Introduction to Algorithms</a:t>
            </a: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 Prentice Hall of India, 3</a:t>
            </a:r>
            <a:r>
              <a:rPr kumimoji="0" lang="en-US" sz="1800" b="0" i="0" u="none" strike="noStrike" kern="1200" cap="none" spc="0" normalizeH="0" baseline="30000" noProof="0" dirty="0">
                <a:ln>
                  <a:noFill/>
                </a:ln>
                <a:solidFill>
                  <a:schemeClr val="bg2"/>
                </a:solidFill>
                <a:effectLst/>
                <a:uLnTx/>
                <a:uFillTx/>
                <a:latin typeface="Cambria" pitchFamily="18" charset="0"/>
                <a:ea typeface="+mn-ea"/>
                <a:cs typeface="+mn-cs"/>
              </a:rPr>
              <a:t>rd</a:t>
            </a: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 edition 2012. problem, Graph coloring.</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Horowitz, Sahni and Rajasekaran, “</a:t>
            </a:r>
            <a:r>
              <a:rPr kumimoji="0" lang="en-US" sz="1800" b="0" i="1" u="none" strike="noStrike" kern="1200" cap="none" spc="0" normalizeH="0" baseline="0" noProof="0" dirty="0">
                <a:ln>
                  <a:noFill/>
                </a:ln>
                <a:solidFill>
                  <a:schemeClr val="bg2"/>
                </a:solidFill>
                <a:effectLst/>
                <a:uLnTx/>
                <a:uFillTx/>
                <a:latin typeface="Cambria" pitchFamily="18" charset="0"/>
                <a:ea typeface="+mn-ea"/>
                <a:cs typeface="+mn-cs"/>
              </a:rPr>
              <a:t>Fundamentals of </a:t>
            </a:r>
            <a:r>
              <a:rPr kumimoji="0" lang="en-US" sz="1800" b="0" i="1" u="none" strike="noStrike" kern="1200" cap="none" spc="0" normalizeH="0" baseline="0" noProof="0" dirty="0" err="1">
                <a:ln>
                  <a:noFill/>
                </a:ln>
                <a:solidFill>
                  <a:schemeClr val="bg2"/>
                </a:solidFill>
                <a:effectLst/>
                <a:uLnTx/>
                <a:uFillTx/>
                <a:latin typeface="Cambria" pitchFamily="18" charset="0"/>
                <a:ea typeface="+mn-ea"/>
                <a:cs typeface="+mn-cs"/>
              </a:rPr>
              <a:t>ComputerAlgorithms</a:t>
            </a:r>
            <a:r>
              <a:rPr kumimoji="0" lang="en-US" sz="1800" b="0" i="1" u="none" strike="noStrike" kern="1200" cap="none" spc="0" normalizeH="0" baseline="0" noProof="0" dirty="0">
                <a:ln>
                  <a:noFill/>
                </a:ln>
                <a:solidFill>
                  <a:schemeClr val="bg2"/>
                </a:solidFill>
                <a:effectLst/>
                <a:uLnTx/>
                <a:uFillTx/>
                <a:latin typeface="Cambria" pitchFamily="18" charset="0"/>
                <a:ea typeface="+mn-ea"/>
                <a:cs typeface="+mn-cs"/>
              </a:rPr>
              <a:t>”</a:t>
            </a: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 University Press (India), 2</a:t>
            </a:r>
            <a:r>
              <a:rPr kumimoji="0" lang="en-US" sz="1800" b="0" i="0" u="none" strike="noStrike" kern="1200" cap="none" spc="0" normalizeH="0" baseline="30000" noProof="0" dirty="0">
                <a:ln>
                  <a:noFill/>
                </a:ln>
                <a:solidFill>
                  <a:schemeClr val="bg2"/>
                </a:solidFill>
                <a:effectLst/>
                <a:uLnTx/>
                <a:uFillTx/>
                <a:latin typeface="Cambria" pitchFamily="18" charset="0"/>
                <a:ea typeface="+mn-ea"/>
                <a:cs typeface="+mn-cs"/>
              </a:rPr>
              <a:t>nd</a:t>
            </a: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rPr>
              <a:t> edition</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1" i="0" u="none" strike="noStrike" kern="1200" cap="none" spc="0" normalizeH="0" baseline="0" noProof="0" dirty="0">
              <a:ln>
                <a:noFill/>
              </a:ln>
              <a:solidFill>
                <a:schemeClr val="bg2"/>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chemeClr val="bg2"/>
                </a:solidFill>
                <a:effectLst/>
                <a:uLnTx/>
                <a:uFillTx/>
                <a:latin typeface="Cambria" pitchFamily="18" charset="0"/>
                <a:ea typeface="+mn-ea"/>
                <a:cs typeface="+mn-cs"/>
              </a:rPr>
              <a:t>Websites:</a:t>
            </a:r>
            <a:endParaRPr kumimoji="0" lang="en-US" sz="2400" b="1" i="0" u="sng" strike="noStrike" kern="1200" cap="none" spc="0" normalizeH="0" baseline="0" noProof="0" dirty="0">
              <a:ln>
                <a:noFill/>
              </a:ln>
              <a:solidFill>
                <a:schemeClr val="bg2"/>
              </a:solidFill>
              <a:effectLst/>
              <a:uLnTx/>
              <a:uFillTx/>
              <a:latin typeface="Cambria" pitchFamily="18" charset="0"/>
              <a:ea typeface="+mn-ea"/>
              <a:cs typeface="+mn-cs"/>
              <a:hlinkClick r:id="rId3">
                <a:extLst>
                  <a:ext uri="{A12FA001-AC4F-418D-AE19-62706E023703}">
                    <ahyp:hlinkClr xmlns:ahyp="http://schemas.microsoft.com/office/drawing/2018/hyperlinkcolor" val="tx"/>
                  </a:ext>
                </a:extLst>
              </a:hlinkClick>
            </a:endParaRPr>
          </a:p>
          <a:p>
            <a:pPr marL="457200" marR="0" lvl="0" indent="-457200" algn="l" defTabSz="914400" rtl="0" eaLnBrk="0" fontAlgn="base" latinLnBrk="0" hangingPunct="0">
              <a:lnSpc>
                <a:spcPct val="100000"/>
              </a:lnSpc>
              <a:spcBef>
                <a:spcPts val="480"/>
              </a:spcBef>
              <a:spcAft>
                <a:spcPts val="0"/>
              </a:spcAft>
              <a:buClr>
                <a:sysClr val="windowText" lastClr="000000"/>
              </a:buClr>
              <a:buSzPts val="2400"/>
              <a:buFont typeface="Arial"/>
              <a:buAutoNum type="arabicPeriod"/>
              <a:tabLst/>
              <a:defRPr/>
            </a:pPr>
            <a:r>
              <a:rPr kumimoji="0" lang="en-US" sz="1800" b="0" i="0" u="none" strike="noStrike" kern="1200" cap="none" spc="0" normalizeH="0" baseline="0" noProof="0" dirty="0">
                <a:ln>
                  <a:noFill/>
                </a:ln>
                <a:solidFill>
                  <a:schemeClr val="bg2"/>
                </a:solidFill>
                <a:effectLst/>
                <a:uLnTx/>
                <a:uFillTx/>
                <a:latin typeface="Cambria" pitchFamily="18" charset="0"/>
                <a:ea typeface="+mn-ea"/>
                <a:cs typeface="+mn-cs"/>
                <a:hlinkClick r:id="rId4">
                  <a:extLst>
                    <a:ext uri="{A12FA001-AC4F-418D-AE19-62706E023703}">
                      <ahyp:hlinkClr xmlns:ahyp="http://schemas.microsoft.com/office/drawing/2018/hyperlinkcolor" val="tx"/>
                    </a:ext>
                  </a:extLst>
                </a:hlinkClick>
              </a:rPr>
              <a:t>https://www.tutorialspoint.com/design_and_analysis_of_algorithms/design_and_analysis_of_algorithms_asymptotic_notations_apriori.htm</a:t>
            </a:r>
            <a:endParaRPr kumimoji="0" lang="en-US" sz="1800" b="0" i="0" u="none" strike="noStrike" kern="1200" cap="none" spc="0" normalizeH="0" baseline="0" noProof="0" dirty="0">
              <a:ln>
                <a:noFill/>
              </a:ln>
              <a:solidFill>
                <a:schemeClr val="bg2"/>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dirty="0">
              <a:ln>
                <a:noFill/>
              </a:ln>
              <a:solidFill>
                <a:sysClr val="windowText" lastClr="000000"/>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dirty="0">
              <a:ln>
                <a:noFill/>
              </a:ln>
              <a:solidFill>
                <a:sysClr val="windowText" lastClr="000000"/>
              </a:solidFill>
              <a:effectLst/>
              <a:uLnTx/>
              <a:uFillTx/>
              <a:latin typeface="Cambria"/>
              <a:ea typeface="Cambria"/>
              <a:cs typeface="Cambria"/>
              <a:sym typeface="Cambria"/>
            </a:endParaRPr>
          </a:p>
        </p:txBody>
      </p:sp>
    </p:spTree>
    <p:extLst>
      <p:ext uri="{BB962C8B-B14F-4D97-AF65-F5344CB8AC3E}">
        <p14:creationId xmlns:p14="http://schemas.microsoft.com/office/powerpoint/2010/main" val="3439820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C23ABF-C8EE-EA05-F7EE-2B8C43F1E87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93698A8-3266-35AD-BB7C-2D517F1F531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8BF33F5-B0C9-AAA6-044A-76C3D9E8D88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Google Shape;398;p16">
            <a:extLst>
              <a:ext uri="{FF2B5EF4-FFF2-40B4-BE49-F238E27FC236}">
                <a16:creationId xmlns:a16="http://schemas.microsoft.com/office/drawing/2014/main" id="{6F49410F-EBB5-30E5-9EAD-BE507179EEE1}"/>
              </a:ext>
            </a:extLst>
          </p:cNvPr>
          <p:cNvSpPr txBox="1">
            <a:spLocks/>
          </p:cNvSpPr>
          <p:nvPr/>
        </p:nvSpPr>
        <p:spPr>
          <a:xfrm>
            <a:off x="992604" y="30879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Google Shape;399;p16">
            <a:extLst>
              <a:ext uri="{FF2B5EF4-FFF2-40B4-BE49-F238E27FC236}">
                <a16:creationId xmlns:a16="http://schemas.microsoft.com/office/drawing/2014/main" id="{FD57801D-30BB-E7C7-3950-4312264ED9AE}"/>
              </a:ext>
            </a:extLst>
          </p:cNvPr>
          <p:cNvSpPr txBox="1">
            <a:spLocks/>
          </p:cNvSpPr>
          <p:nvPr/>
        </p:nvSpPr>
        <p:spPr>
          <a:xfrm>
            <a:off x="757500" y="1781227"/>
            <a:ext cx="8001000" cy="2778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927100" lvl="1" indent="-457200">
              <a:spcBef>
                <a:spcPts val="0"/>
              </a:spcBef>
              <a:buClr>
                <a:srgbClr val="000000"/>
              </a:buClr>
              <a:buSzPts val="200"/>
              <a:buFont typeface="+mj-lt"/>
              <a:buAutoNum type="arabicPeriod"/>
            </a:pPr>
            <a:endParaRPr lang="en-IN" dirty="0"/>
          </a:p>
          <a:p>
            <a:pPr marL="584200" indent="-457200">
              <a:spcBef>
                <a:spcPts val="400"/>
              </a:spcBef>
              <a:buSzPts val="2000"/>
              <a:buFont typeface="+mj-lt"/>
              <a:buAutoNum type="arabicPeriod"/>
            </a:pPr>
            <a:r>
              <a:rPr lang="en-IN" sz="2000" dirty="0">
                <a:latin typeface="Calibri"/>
                <a:ea typeface="Calibri"/>
                <a:cs typeface="Calibri"/>
                <a:sym typeface="Calibri"/>
                <a:hlinkClick r:id="rId3"/>
              </a:rPr>
              <a:t>https://onlinecourses.nptel.ac.in/noc23_cs96/preview</a:t>
            </a:r>
            <a:r>
              <a:rPr lang="en-IN" sz="2000" dirty="0">
                <a:latin typeface="Calibri"/>
                <a:ea typeface="Calibri"/>
                <a:cs typeface="Calibri"/>
                <a:sym typeface="Calibri"/>
              </a:rPr>
              <a:t> </a:t>
            </a:r>
          </a:p>
          <a:p>
            <a:pPr marL="584200" indent="-457200">
              <a:spcBef>
                <a:spcPts val="400"/>
              </a:spcBef>
              <a:buSzPts val="2000"/>
              <a:buFont typeface="+mj-lt"/>
              <a:buAutoNum type="arabicPeriod"/>
            </a:pPr>
            <a:r>
              <a:rPr lang="en-IN" sz="2000" dirty="0">
                <a:latin typeface="Calibri"/>
                <a:ea typeface="Calibri"/>
                <a:cs typeface="Calibri"/>
                <a:sym typeface="Calibri"/>
                <a:hlinkClick r:id="rId4"/>
              </a:rPr>
              <a:t>https://nptel.ac.in/courses/106106131</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5"/>
              </a:rPr>
              <a:t>https://nptel.ac.in/courses/106106208</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6"/>
              </a:rPr>
              <a:t>https://www.linkedin.com/learning/learning-algorithms</a:t>
            </a: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p:txBody>
      </p:sp>
    </p:spTree>
    <p:extLst>
      <p:ext uri="{BB962C8B-B14F-4D97-AF65-F5344CB8AC3E}">
        <p14:creationId xmlns:p14="http://schemas.microsoft.com/office/powerpoint/2010/main" val="1229055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141664-9E0A-0C54-B96F-BED84C5451E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468A3DE-696B-7FC9-013F-76B2E3B5B3BB}"/>
              </a:ext>
            </a:extLst>
          </p:cNvPr>
          <p:cNvSpPr txBox="1">
            <a:spLocks noGrp="1"/>
          </p:cNvSpPr>
          <p:nvPr>
            <p:ph type="body" idx="1"/>
          </p:nvPr>
        </p:nvSpPr>
        <p:spPr>
          <a:xfrm>
            <a:off x="385500" y="1429459"/>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657B4478-479B-A962-4153-A5D9BEBE8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Google Shape;398;p16">
            <a:extLst>
              <a:ext uri="{FF2B5EF4-FFF2-40B4-BE49-F238E27FC236}">
                <a16:creationId xmlns:a16="http://schemas.microsoft.com/office/drawing/2014/main" id="{5CF26446-8E74-2ED0-D707-24246C6EC751}"/>
              </a:ext>
            </a:extLst>
          </p:cNvPr>
          <p:cNvSpPr txBox="1">
            <a:spLocks/>
          </p:cNvSpPr>
          <p:nvPr/>
        </p:nvSpPr>
        <p:spPr>
          <a:xfrm>
            <a:off x="876443" y="39376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32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7123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1432125" y="1709456"/>
            <a:ext cx="6000750" cy="2186100"/>
          </a:xfrm>
          <a:prstGeom prst="rect">
            <a:avLst/>
          </a:prstGeom>
          <a:noFill/>
          <a:ln>
            <a:noFill/>
          </a:ln>
        </p:spPr>
        <p:txBody>
          <a:bodyPr spcFirstLastPara="1" wrap="square" lIns="68569" tIns="34275" rIns="68569" bIns="34275" anchor="t" anchorCtr="0">
            <a:normAutofit/>
          </a:bodyPr>
          <a:lstStyle/>
          <a:p>
            <a:pPr marL="257175" indent="-257175"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257175" indent="-257175"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538976" y="1765040"/>
            <a:ext cx="7328595"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45989" y="3980946"/>
            <a:ext cx="4403925"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richa.e11307@cumail.in</a:t>
            </a:r>
          </a:p>
        </p:txBody>
      </p:sp>
      <p:sp>
        <p:nvSpPr>
          <p:cNvPr id="5" name="TextBox 4"/>
          <p:cNvSpPr txBox="1"/>
          <p:nvPr/>
        </p:nvSpPr>
        <p:spPr>
          <a:xfrm>
            <a:off x="8279765" y="361440"/>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18</a:t>
            </a:r>
          </a:p>
        </p:txBody>
      </p:sp>
    </p:spTree>
    <p:extLst>
      <p:ext uri="{BB962C8B-B14F-4D97-AF65-F5344CB8AC3E}">
        <p14:creationId xmlns:p14="http://schemas.microsoft.com/office/powerpoint/2010/main" val="2407500439"/>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832</TotalTime>
  <Words>1446</Words>
  <Application>Microsoft Office PowerPoint</Application>
  <PresentationFormat>On-screen Show (16:9)</PresentationFormat>
  <Paragraphs>139</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Black</vt:lpstr>
      <vt:lpstr>Times New Roman</vt:lpstr>
      <vt:lpstr>Calibri</vt:lpstr>
      <vt:lpstr>Lato</vt:lpstr>
      <vt:lpstr>Cambria</vt:lpstr>
      <vt:lpstr>Vladimir Script</vt:lpstr>
      <vt:lpstr>Wingdings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Richa Dhiman</cp:lastModifiedBy>
  <cp:revision>139</cp:revision>
  <dcterms:modified xsi:type="dcterms:W3CDTF">2025-05-28T04:55:43Z</dcterms:modified>
</cp:coreProperties>
</file>