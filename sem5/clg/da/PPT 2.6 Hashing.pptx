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312" r:id="rId3"/>
    <p:sldId id="284" r:id="rId4"/>
    <p:sldId id="314" r:id="rId5"/>
    <p:sldId id="315" r:id="rId6"/>
    <p:sldId id="317" r:id="rId7"/>
    <p:sldId id="318" r:id="rId8"/>
    <p:sldId id="337" r:id="rId9"/>
    <p:sldId id="319" r:id="rId10"/>
    <p:sldId id="332" r:id="rId11"/>
    <p:sldId id="330" r:id="rId12"/>
    <p:sldId id="331" r:id="rId13"/>
    <p:sldId id="333" r:id="rId14"/>
    <p:sldId id="334" r:id="rId15"/>
    <p:sldId id="336" r:id="rId16"/>
    <p:sldId id="311" r:id="rId17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Vladimir Script" panose="03050402040407070305" pitchFamily="66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64" autoAdjust="0"/>
    <p:restoredTop sz="94660"/>
  </p:normalViewPr>
  <p:slideViewPr>
    <p:cSldViewPr snapToGrid="0">
      <p:cViewPr varScale="1">
        <p:scale>
          <a:sx n="57" d="100"/>
          <a:sy n="57" d="100"/>
        </p:scale>
        <p:origin x="58" y="7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5E1C681-A5F2-4CD9-9192-8CDED311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B848B34-F6A5-DF19-4111-A06819494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ECA6E172-D444-FC00-6B33-317641F08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8553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2827B3C-4A96-D842-C587-3271EC42D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2F06B59-0229-602E-B610-9525220615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4AEA2AB-7645-5208-0E63-7560412EF8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9257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8169236-1955-4128-44C5-58E9D95D4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8024DF0-1674-8F51-EEBC-683769584F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7D4BF737-175F-7667-E78E-646A8BB495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87247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FE7DBFD-3CD4-72CB-B3B4-A8E2B4B18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C18742C-0AE0-A994-B2ED-A9BFF88C0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E89BB3F3-8FD5-23EA-C014-0FA6CAB913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39491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2C8EF92-0F6B-878D-2023-6B079BC61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FDC9ED3-C56A-E15C-9794-F0A0751BA4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E3597C1-C7F0-07E4-CC00-1C1FE85A32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44899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044B758-C87D-505D-C3C8-A549E1C7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60E0FE7-490F-D759-32A7-C75DA6EDA0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F9AA489-D2BD-8969-C629-E8BC8C6956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2918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DA1CEF5-13BF-471C-50F9-DAD18A54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EDA82E9-4E8D-3B65-E4CF-424ECC6A7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B662D4F-5FDA-D649-09FF-AFAD4FCD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5965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22EF6A6-3B86-409E-00F7-E71B05DEC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F737BE0-1811-D403-FE9C-7D9F9254BA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B6C259C-E2D3-C61B-0E90-DB7F2E206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61002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5AA7785E-43D4-9EF1-1A87-45D7A3143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C9920DF-19AB-06E9-7D1B-B9B877EBE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2DAF3E8-4FE5-228D-D4E4-2C8EBAB1BF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0755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8BDF5E7-F95C-899B-EC14-E8E986C7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75BA061-2CC0-FC5F-90C5-EB6DD8F82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D8A0E1B-B8B2-DFD2-0A4F-7F72575EE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29968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6B53972-8CFD-533B-1C4D-268D3A8B8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BAB7A-5EF3-5546-4BB0-C26EE502D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4E556B0-B3F6-5788-1709-ADC00D5B86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21369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35021AF-CA61-088F-7F01-7FAD5B653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0B85296-32E7-6F2C-C488-8EB7229AAA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2BA18F8-0BB4-69BB-7AA0-AEDCAD3591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346831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introduction-to-algorithms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includehelp.com/data-structure-tutorial/hashing.aspx" TargetMode="External"/><Relationship Id="rId4" Type="http://schemas.openxmlformats.org/officeDocument/2006/relationships/hyperlink" Target="https://www.gatevidyalay.com/hashing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3_cs96/preview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learning/learning-algorithms" TargetMode="External"/><Relationship Id="rId5" Type="http://schemas.openxmlformats.org/officeDocument/2006/relationships/hyperlink" Target="https://nptel.ac.in/courses/106106208" TargetMode="External"/><Relationship Id="rId4" Type="http://schemas.openxmlformats.org/officeDocument/2006/relationships/hyperlink" Target="https://nptel.ac.in/courses/106106131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951584"/>
            <a:ext cx="8213400" cy="4131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i="0" u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</a:t>
            </a:r>
            <a:endParaRPr lang="en-US" sz="3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COMPUTER SCIENCE ENGINEERING</a:t>
            </a:r>
            <a:endParaRPr lang="en-US" sz="3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Engineering</a:t>
            </a:r>
            <a:endParaRPr lang="en-US" sz="2000" dirty="0">
              <a:solidFill>
                <a:schemeClr val="bg2"/>
              </a:solidFill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Semester: 6th</a:t>
            </a:r>
            <a:endParaRPr lang="en-US" sz="2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1" i="0" u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Design and Analysis of Algorithms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(23</a:t>
            </a: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</a:t>
            </a:r>
            <a:r>
              <a:rPr lang="en-US" sz="24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-301/IT</a:t>
            </a:r>
            <a:r>
              <a:rPr lang="en-US" sz="24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-301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 1                    Chapter No.  2                   Lecture No. 9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Hashing</a:t>
            </a:r>
            <a:endParaRPr lang="en-US" sz="1800" b="1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Richa Dhiman E11307                                                    Assistant Professor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Jul-Dec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3200" b="1" i="0" u="none" strike="noStrike" cap="none" dirty="0">
                  <a:solidFill>
                    <a:schemeClr val="bg2"/>
                  </a:solidFill>
                  <a:latin typeface="Cambria"/>
                  <a:ea typeface="Cambria"/>
                  <a:cs typeface="Cambria"/>
                  <a:sym typeface="Cambria"/>
                </a:rPr>
                <a:t>Learning Objectives &amp; Outcomes</a:t>
              </a:r>
              <a:endPara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AFA6F94-43D6-DB9E-6998-39BBECFFBE4B}"/>
              </a:ext>
            </a:extLst>
          </p:cNvPr>
          <p:cNvSpPr txBox="1">
            <a:spLocks/>
          </p:cNvSpPr>
          <p:nvPr/>
        </p:nvSpPr>
        <p:spPr bwMode="auto">
          <a:xfrm>
            <a:off x="756676" y="936267"/>
            <a:ext cx="8001000" cy="375500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Text" lastClr="000000"/>
              </a:buClr>
              <a:buSzPts val="20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Objective: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To understand the meaning of Hashing and its technique.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Outcome: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Student will understand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   Importance of Hashing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   Techniques of hashing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231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8E0F9992-62FC-4C63-BED6-091FF56DEF08}"/>
              </a:ext>
            </a:extLst>
          </p:cNvPr>
          <p:cNvSpPr/>
          <p:nvPr/>
        </p:nvSpPr>
        <p:spPr>
          <a:xfrm>
            <a:off x="760020" y="218172"/>
            <a:ext cx="8265225" cy="444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65431E6-BF9E-3157-6679-1DEEDAC19B6A}"/>
              </a:ext>
            </a:extLst>
          </p:cNvPr>
          <p:cNvSpPr txBox="1">
            <a:spLocks/>
          </p:cNvSpPr>
          <p:nvPr/>
        </p:nvSpPr>
        <p:spPr>
          <a:xfrm>
            <a:off x="968776" y="221149"/>
            <a:ext cx="7640748" cy="49156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Hashing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D9D968-E238-881A-C30A-822830AE1DA1}"/>
              </a:ext>
            </a:extLst>
          </p:cNvPr>
          <p:cNvSpPr txBox="1">
            <a:spLocks/>
          </p:cNvSpPr>
          <p:nvPr/>
        </p:nvSpPr>
        <p:spPr bwMode="auto">
          <a:xfrm>
            <a:off x="892576" y="906949"/>
            <a:ext cx="7714217" cy="362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Hashing is a well-known technique to search any particular element among several elements.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It minimizes the number of comparisons while performing the search.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An array data structure called as </a:t>
            </a: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Hash table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is used to store the data items.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Based on the hash key value, data items are inserted into the hash table.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49C85D7-2162-3728-41C8-9CA50DA5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7259D0E-39AA-3258-E915-0F5AE1AE1F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82D24C-CFB6-10CB-9BE5-A8DE190188CE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83AEE7-436B-63AF-1803-AB4972D17722}"/>
              </a:ext>
            </a:extLst>
          </p:cNvPr>
          <p:cNvSpPr txBox="1">
            <a:spLocks/>
          </p:cNvSpPr>
          <p:nvPr/>
        </p:nvSpPr>
        <p:spPr>
          <a:xfrm>
            <a:off x="757500" y="393764"/>
            <a:ext cx="7723891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Hashing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5" name="Picture 2" descr="https://www.gatevidyalay.com/wp-content/uploads/2018/06/Hashing-Diagram.png">
            <a:extLst>
              <a:ext uri="{FF2B5EF4-FFF2-40B4-BE49-F238E27FC236}">
                <a16:creationId xmlns:a16="http://schemas.microsoft.com/office/drawing/2014/main" id="{43CD3E5A-ADC8-8FF6-7469-30756AC5D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299" y="1268476"/>
            <a:ext cx="7419091" cy="3303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6460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FFAE9B3A-F835-EA9F-375F-E58709572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7D1F1F6-CAAE-FC79-FD0B-3C78DFCE2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CDAEDE-ABD1-E62B-C206-E4DF3D0D1024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685454A-0CA5-DEAE-8FDB-4909793C64C7}"/>
              </a:ext>
            </a:extLst>
          </p:cNvPr>
          <p:cNvSpPr txBox="1">
            <a:spLocks/>
          </p:cNvSpPr>
          <p:nvPr/>
        </p:nvSpPr>
        <p:spPr>
          <a:xfrm>
            <a:off x="968776" y="197075"/>
            <a:ext cx="7640748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Types of Hashing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A93115B-B41C-4F6D-9F3D-487710EF5F56}"/>
              </a:ext>
            </a:extLst>
          </p:cNvPr>
          <p:cNvSpPr txBox="1">
            <a:spLocks/>
          </p:cNvSpPr>
          <p:nvPr/>
        </p:nvSpPr>
        <p:spPr bwMode="auto">
          <a:xfrm>
            <a:off x="895307" y="1054741"/>
            <a:ext cx="7714217" cy="3649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Mid Square Hash Function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Division Hash Function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Folding Hash Function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2404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66223F7-9809-BE29-714E-38632F459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59937E7-EC35-0CA6-69EF-64D5737762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23D0D5-2563-3DDF-DDBE-37059391059E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3AB1AB-9A6A-A269-017D-76B9E2C3FB52}"/>
              </a:ext>
            </a:extLst>
          </p:cNvPr>
          <p:cNvSpPr txBox="1">
            <a:spLocks/>
          </p:cNvSpPr>
          <p:nvPr/>
        </p:nvSpPr>
        <p:spPr>
          <a:xfrm>
            <a:off x="1138500" y="197075"/>
            <a:ext cx="7369396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Division method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</a:b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29C820-63A6-0981-ECBB-E7E3D136A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00" y="754288"/>
            <a:ext cx="8001000" cy="4014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In this the hash function is dependent upon the remainder of a division. For example:-if the record 52,68,99,84 is to be placed in a hash table and let us take the table size is 10.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Then: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h(key)=record% table size. 2=52%10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8=68%10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9=99%10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4=84%10</a:t>
            </a:r>
          </a:p>
        </p:txBody>
      </p:sp>
      <p:pic>
        <p:nvPicPr>
          <p:cNvPr id="6" name="Picture 2" descr="Division method">
            <a:extLst>
              <a:ext uri="{FF2B5EF4-FFF2-40B4-BE49-F238E27FC236}">
                <a16:creationId xmlns:a16="http://schemas.microsoft.com/office/drawing/2014/main" id="{8D2C0A9F-5775-273B-E64F-A9C742C50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496" y="2027583"/>
            <a:ext cx="2057400" cy="2741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5142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D698E66-F84E-170D-A0A4-F7906E6D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8F4F0A3-AC9F-881C-38CF-FCABC87F7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9E69A-0B72-58B1-5875-98C4F59242D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6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C942200-D6DC-7B50-97CB-E15EEA9A6542}"/>
              </a:ext>
            </a:extLst>
          </p:cNvPr>
          <p:cNvSpPr txBox="1">
            <a:spLocks/>
          </p:cNvSpPr>
          <p:nvPr/>
        </p:nvSpPr>
        <p:spPr>
          <a:xfrm>
            <a:off x="966045" y="323314"/>
            <a:ext cx="7640748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Mid square method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</a:b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2A31230-F612-C218-F5F6-08936B007452}"/>
              </a:ext>
            </a:extLst>
          </p:cNvPr>
          <p:cNvSpPr txBox="1">
            <a:spLocks/>
          </p:cNvSpPr>
          <p:nvPr/>
        </p:nvSpPr>
        <p:spPr bwMode="auto">
          <a:xfrm>
            <a:off x="892576" y="882875"/>
            <a:ext cx="7714217" cy="29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In this method firstly key is squared and then mid part of the result is taken as the index. For example: consider that if we want to place a record of 3101 and the size of table is 1000. So 3101*3101=9616201 i.e. 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h (3101) = 162 (middle 3 digit)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5719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001CD90-D227-171D-18D3-455E223F0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BD2DA66-7EB0-4A2F-4931-D7D424F441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03FB15-F4E2-F6FA-7DE3-36084D042ED9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6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B62E0B2-04ED-3917-6CC4-DC1803CAC02D}"/>
              </a:ext>
            </a:extLst>
          </p:cNvPr>
          <p:cNvSpPr txBox="1">
            <a:spLocks/>
          </p:cNvSpPr>
          <p:nvPr/>
        </p:nvSpPr>
        <p:spPr>
          <a:xfrm>
            <a:off x="966045" y="323314"/>
            <a:ext cx="7640748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9EAC5CF-C204-5885-36C1-85EC2AC8E8A6}"/>
              </a:ext>
            </a:extLst>
          </p:cNvPr>
          <p:cNvSpPr txBox="1">
            <a:spLocks/>
          </p:cNvSpPr>
          <p:nvPr/>
        </p:nvSpPr>
        <p:spPr bwMode="auto">
          <a:xfrm>
            <a:off x="892576" y="882875"/>
            <a:ext cx="7714217" cy="29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2FBC6D-0924-9C37-E4A8-8D8F514545F2}"/>
              </a:ext>
            </a:extLst>
          </p:cNvPr>
          <p:cNvSpPr txBox="1">
            <a:spLocks/>
          </p:cNvSpPr>
          <p:nvPr/>
        </p:nvSpPr>
        <p:spPr>
          <a:xfrm>
            <a:off x="833700" y="462170"/>
            <a:ext cx="7552800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Digit folding method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</a:b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0586F-39AB-B1AB-5BEC-05989A104552}"/>
              </a:ext>
            </a:extLst>
          </p:cNvPr>
          <p:cNvSpPr txBox="1">
            <a:spLocks/>
          </p:cNvSpPr>
          <p:nvPr/>
        </p:nvSpPr>
        <p:spPr bwMode="auto">
          <a:xfrm>
            <a:off x="685453" y="1071770"/>
            <a:ext cx="7849293" cy="3569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In this method the key is divided into separate parts and by using some simple operations these parts are combined to produce a hash key. For example: consider a record of 12465512 then it will be divided into parts i.e. 124, 655, 12. After dividing the parts combine these parts by adding it.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H(key)=124+655+12 =791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3183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B30559D-113C-CA36-943F-FB8143600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DE20160-C47E-3755-260A-77F95E8762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AD650A-C296-32D4-88D6-EC65A0BB20C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sp>
        <p:nvSpPr>
          <p:cNvPr id="2" name="Google Shape;350;p8">
            <a:extLst>
              <a:ext uri="{FF2B5EF4-FFF2-40B4-BE49-F238E27FC236}">
                <a16:creationId xmlns:a16="http://schemas.microsoft.com/office/drawing/2014/main" id="{B846DD7C-EFA9-1E0D-BE4D-AAC22C6A37AD}"/>
              </a:ext>
            </a:extLst>
          </p:cNvPr>
          <p:cNvSpPr txBox="1">
            <a:spLocks/>
          </p:cNvSpPr>
          <p:nvPr/>
        </p:nvSpPr>
        <p:spPr>
          <a:xfrm>
            <a:off x="968776" y="40555"/>
            <a:ext cx="741772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400"/>
              <a:buFont typeface="Cambria"/>
              <a:buNone/>
            </a:pPr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Applications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38C8C1-E3C3-6BEC-B0B8-CBF3F3965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776" y="1257159"/>
            <a:ext cx="556915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retrieval using hash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indexing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Symbol tables in compilers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Password storage (secure hashing)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Cryptography and digital signatures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Checksums and file integrity verification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Cache implementation (web and database caches)</a:t>
            </a:r>
          </a:p>
        </p:txBody>
      </p:sp>
    </p:spTree>
    <p:extLst>
      <p:ext uri="{BB962C8B-B14F-4D97-AF65-F5344CB8AC3E}">
        <p14:creationId xmlns:p14="http://schemas.microsoft.com/office/powerpoint/2010/main" val="1499376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341A732-D0F0-17B1-B627-DB7F5C983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F187A80-B81E-8273-161A-1C2F1A969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ADC4BE-724D-BC03-5D67-42F1D9732F86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17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C1F7B2A6-F326-C535-25E2-C1FF3909D4C8}"/>
              </a:ext>
            </a:extLst>
          </p:cNvPr>
          <p:cNvSpPr txBox="1">
            <a:spLocks/>
          </p:cNvSpPr>
          <p:nvPr/>
        </p:nvSpPr>
        <p:spPr>
          <a:xfrm>
            <a:off x="867300" y="272853"/>
            <a:ext cx="7552800" cy="47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800"/>
              <a:buFont typeface="Cambria"/>
              <a:buNone/>
            </a:pPr>
            <a:r>
              <a:rPr lang="en-US" sz="4000" b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Summary</a:t>
            </a:r>
            <a:endParaRPr lang="en-US" sz="4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E9888E-58EF-211B-6570-60B71A446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300" y="1060174"/>
            <a:ext cx="8001000" cy="316727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itchFamily="18" charset="0"/>
                <a:ea typeface="Cambria" pitchFamily="18" charset="0"/>
                <a:cs typeface="Cambria" pitchFamily="18" charset="0"/>
                <a:sym typeface="Cambria" pitchFamily="18" charset="0"/>
              </a:rPr>
              <a:t>Introduction to Hashing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3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values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Types of Hashing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3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Mid Square Hash Function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3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Division Hash Function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3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Folding Hash Function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1280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834F766-A176-EC7F-DA61-121F22B5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2884BC-C924-1064-8AE8-EA2EEEF31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05373" y="1218360"/>
            <a:ext cx="8001000" cy="180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Heaps and Graphs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F7270C-BEA4-72D0-7C70-EF18C77EEAA8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18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29C0C67A-C50A-18DC-412A-99E3C5164A3A}"/>
              </a:ext>
            </a:extLst>
          </p:cNvPr>
          <p:cNvSpPr txBox="1">
            <a:spLocks/>
          </p:cNvSpPr>
          <p:nvPr/>
        </p:nvSpPr>
        <p:spPr>
          <a:xfrm>
            <a:off x="805373" y="249775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800"/>
              <a:buFont typeface="Cambria"/>
              <a:buNone/>
            </a:pPr>
            <a:r>
              <a:rPr lang="en-US" sz="4000" b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Next Lecture</a:t>
            </a:r>
            <a:endParaRPr lang="en-US" sz="4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214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57FC081-CD9A-5890-31B1-05B3C94BF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F91A00A-7547-9CA1-AE7A-367A9D781316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19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6A560F48-626F-3E22-D367-BDFCE56FCAB9}"/>
              </a:ext>
            </a:extLst>
          </p:cNvPr>
          <p:cNvSpPr txBox="1">
            <a:spLocks/>
          </p:cNvSpPr>
          <p:nvPr/>
        </p:nvSpPr>
        <p:spPr>
          <a:xfrm>
            <a:off x="1068162" y="30655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800"/>
              <a:buFont typeface="Cambria"/>
              <a:buNone/>
            </a:pPr>
            <a:r>
              <a:rPr lang="en-US" sz="4000" b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Quiz</a:t>
            </a:r>
            <a:endParaRPr lang="en-US" sz="4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E27C9C-8559-5EB0-1FB5-FDCC0C493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033" y="1072202"/>
            <a:ext cx="747993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main purpose of hashing?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Sorting data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Compressing data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Fast data retrieval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Encrypting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of the following is a common hashing technique?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Merge Hash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Modulo Division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Stack Hashing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Sequential Mapping</a:t>
            </a:r>
          </a:p>
        </p:txBody>
      </p:sp>
    </p:spTree>
    <p:extLst>
      <p:ext uri="{BB962C8B-B14F-4D97-AF65-F5344CB8AC3E}">
        <p14:creationId xmlns:p14="http://schemas.microsoft.com/office/powerpoint/2010/main" val="4222976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C16E0BE-5E4E-D8A1-5CB2-8142F9754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227BF8B-63CF-08D9-3EFB-1157B57C13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C2C36-4064-467E-F174-5CD0AE20BD03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20</a:t>
            </a:r>
          </a:p>
        </p:txBody>
      </p:sp>
      <p:sp>
        <p:nvSpPr>
          <p:cNvPr id="2" name="Google Shape;392;p15">
            <a:extLst>
              <a:ext uri="{FF2B5EF4-FFF2-40B4-BE49-F238E27FC236}">
                <a16:creationId xmlns:a16="http://schemas.microsoft.com/office/drawing/2014/main" id="{4B714057-CA43-4B1E-290C-27F7B4BBA00C}"/>
              </a:ext>
            </a:extLst>
          </p:cNvPr>
          <p:cNvSpPr txBox="1">
            <a:spLocks/>
          </p:cNvSpPr>
          <p:nvPr/>
        </p:nvSpPr>
        <p:spPr>
          <a:xfrm>
            <a:off x="952500" y="342338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C00000"/>
              </a:buClr>
              <a:buSzPts val="2400"/>
            </a:pPr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References/ Articles/ Videos</a:t>
            </a:r>
            <a:b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4000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/>
            </a:endParaRPr>
          </a:p>
        </p:txBody>
      </p:sp>
      <p:sp>
        <p:nvSpPr>
          <p:cNvPr id="6" name="Google Shape;157;p25">
            <a:extLst>
              <a:ext uri="{FF2B5EF4-FFF2-40B4-BE49-F238E27FC236}">
                <a16:creationId xmlns:a16="http://schemas.microsoft.com/office/drawing/2014/main" id="{047D7A5F-D532-9A85-2336-A989AB466211}"/>
              </a:ext>
            </a:extLst>
          </p:cNvPr>
          <p:cNvSpPr txBox="1">
            <a:spLocks/>
          </p:cNvSpPr>
          <p:nvPr/>
        </p:nvSpPr>
        <p:spPr>
          <a:xfrm>
            <a:off x="836838" y="806675"/>
            <a:ext cx="8001000" cy="3994487"/>
          </a:xfrm>
          <a:prstGeom prst="rect">
            <a:avLst/>
          </a:prstGeom>
          <a:noFill/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ysClr val="windowText" lastClr="000000"/>
              </a:buClr>
              <a:buSzPts val="24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Text books: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Cormen, Leiserson, Rivest, Stein, “</a:t>
            </a: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Introduction to Algorithms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”, Prentice Hall of India, 3</a:t>
            </a:r>
            <a:r>
              <a: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rd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edition 2012. problem, Graph coloring.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Horowitz, Sahni and Rajasekaran, “</a:t>
            </a: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Fundamentals of ComputerAlgorithms”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, University Press (India), 2</a:t>
            </a:r>
            <a:r>
              <a:rPr kumimoji="0" lang="en-US" sz="1800" b="0" i="0" u="none" strike="noStrike" kern="120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nd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edition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Websites:</a:t>
            </a:r>
            <a:endParaRPr kumimoji="0" lang="en-US" sz="2400" b="1" i="0" u="sng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  <a:hlinkClick r:id="rId3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ysClr val="windowText" lastClr="000000"/>
              </a:buClr>
              <a:buSzPts val="2400"/>
              <a:buFont typeface="Arial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  <a:hlinkClick r:id="rId4"/>
              </a:rPr>
              <a:t>https://www.gatevidyalay.com/hashing/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ysClr val="windowText" lastClr="000000"/>
              </a:buClr>
              <a:buSzPts val="2400"/>
              <a:buFont typeface="Arial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  <a:hlinkClick r:id="rId5"/>
              </a:rPr>
              <a:t>https://www.includehelp.com/data-structure-tutorial/hashing.aspx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ysClr val="windowText" lastClr="000000"/>
              </a:buClr>
              <a:buSzPts val="2400"/>
              <a:buFont typeface="Arial"/>
              <a:buAutoNum type="arabicPeriod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439820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C23ABF-C8EE-EA05-F7EE-2B8C43F1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93698A8-3266-35AD-BB7C-2D517F1F53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F33F5-B0C9-AAA6-044A-76C3D9E8D88A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21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6F49410F-EBB5-30E5-9EAD-BE507179EEE1}"/>
              </a:ext>
            </a:extLst>
          </p:cNvPr>
          <p:cNvSpPr txBox="1">
            <a:spLocks/>
          </p:cNvSpPr>
          <p:nvPr/>
        </p:nvSpPr>
        <p:spPr>
          <a:xfrm>
            <a:off x="948000" y="583857"/>
            <a:ext cx="7924800" cy="65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1900"/>
            </a:pPr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Faculty-curated videos, NPTEL, Coursera, LinkedIn, or other relevant learning resources</a:t>
            </a:r>
          </a:p>
        </p:txBody>
      </p:sp>
      <p:sp>
        <p:nvSpPr>
          <p:cNvPr id="3" name="Google Shape;399;p16">
            <a:extLst>
              <a:ext uri="{FF2B5EF4-FFF2-40B4-BE49-F238E27FC236}">
                <a16:creationId xmlns:a16="http://schemas.microsoft.com/office/drawing/2014/main" id="{FD57801D-30BB-E7C7-3950-4312264ED9AE}"/>
              </a:ext>
            </a:extLst>
          </p:cNvPr>
          <p:cNvSpPr txBox="1">
            <a:spLocks/>
          </p:cNvSpPr>
          <p:nvPr/>
        </p:nvSpPr>
        <p:spPr>
          <a:xfrm>
            <a:off x="757500" y="1781227"/>
            <a:ext cx="8001000" cy="277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27100" lvl="1" indent="-457200">
              <a:spcBef>
                <a:spcPts val="0"/>
              </a:spcBef>
              <a:buClr>
                <a:srgbClr val="000000"/>
              </a:buClr>
              <a:buSzPts val="200"/>
              <a:buFont typeface="+mj-lt"/>
              <a:buAutoNum type="arabicPeriod"/>
            </a:pPr>
            <a:endParaRPr lang="en-IN" dirty="0"/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3"/>
              </a:rPr>
              <a:t>https://onlinecourses.nptel.ac.in/noc23_cs96/preview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4"/>
              </a:rPr>
              <a:t>https://nptel.ac.in/courses/106106131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5"/>
              </a:rPr>
              <a:t>https://nptel.ac.in/courses/106106208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6"/>
              </a:rPr>
              <a:t>https://www.linkedin.com/learning/learning-algorithms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127000" indent="0">
              <a:spcBef>
                <a:spcPts val="400"/>
              </a:spcBef>
              <a:buSzPts val="2000"/>
              <a:buFont typeface="Arial"/>
              <a:buNone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127000" indent="0">
              <a:spcBef>
                <a:spcPts val="400"/>
              </a:spcBef>
              <a:buSzPts val="2000"/>
              <a:buFont typeface="Arial"/>
              <a:buNone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9055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3141664-9E0A-0C54-B96F-BED84C545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468A3DE-696B-7FC9-013F-76B2E3B5B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7B4478-479B-A962-4153-A5D9BEBE8CD1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23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5CF26446-8E74-2ED0-D707-24246C6EC751}"/>
              </a:ext>
            </a:extLst>
          </p:cNvPr>
          <p:cNvSpPr txBox="1">
            <a:spLocks/>
          </p:cNvSpPr>
          <p:nvPr/>
        </p:nvSpPr>
        <p:spPr>
          <a:xfrm>
            <a:off x="876443" y="393764"/>
            <a:ext cx="7924800" cy="65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1900"/>
            </a:pPr>
            <a:r>
              <a: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Class-Wise </a:t>
            </a:r>
            <a:r>
              <a:rPr lang="en-IN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Feedback</a:t>
            </a:r>
            <a:endParaRPr lang="en-US" sz="40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123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32125" y="1709456"/>
            <a:ext cx="6000750" cy="21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indent="-257175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indent="-257175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457200" y="2270562"/>
            <a:ext cx="7328595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6000" b="1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45989" y="3980946"/>
            <a:ext cx="44039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richa.e11307@cumail.in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9765" y="361440"/>
            <a:ext cx="3353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050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407500439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663</Words>
  <Application>Microsoft Office PowerPoint</Application>
  <PresentationFormat>On-screen Show (16:9)</PresentationFormat>
  <Paragraphs>120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Arial Black</vt:lpstr>
      <vt:lpstr>Times New Roman</vt:lpstr>
      <vt:lpstr>Calibri</vt:lpstr>
      <vt:lpstr>Lato</vt:lpstr>
      <vt:lpstr>Cambria</vt:lpstr>
      <vt:lpstr>Vladimir Script</vt:lpstr>
      <vt:lpstr>Wingdings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Richa Dhiman</cp:lastModifiedBy>
  <cp:revision>124</cp:revision>
  <dcterms:modified xsi:type="dcterms:W3CDTF">2025-05-28T04:52:42Z</dcterms:modified>
</cp:coreProperties>
</file>