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312" r:id="rId3"/>
    <p:sldId id="284" r:id="rId4"/>
    <p:sldId id="314" r:id="rId5"/>
    <p:sldId id="315" r:id="rId6"/>
    <p:sldId id="317" r:id="rId7"/>
    <p:sldId id="318" r:id="rId8"/>
    <p:sldId id="337" r:id="rId9"/>
    <p:sldId id="338" r:id="rId10"/>
    <p:sldId id="339" r:id="rId11"/>
    <p:sldId id="340" r:id="rId12"/>
    <p:sldId id="341" r:id="rId13"/>
    <p:sldId id="319" r:id="rId14"/>
    <p:sldId id="343" r:id="rId15"/>
    <p:sldId id="342" r:id="rId16"/>
    <p:sldId id="345" r:id="rId17"/>
    <p:sldId id="346" r:id="rId18"/>
    <p:sldId id="347" r:id="rId19"/>
    <p:sldId id="348" r:id="rId20"/>
    <p:sldId id="349" r:id="rId21"/>
    <p:sldId id="350" r:id="rId22"/>
    <p:sldId id="351" r:id="rId23"/>
    <p:sldId id="352" r:id="rId24"/>
    <p:sldId id="344" r:id="rId25"/>
    <p:sldId id="332" r:id="rId26"/>
    <p:sldId id="330" r:id="rId27"/>
    <p:sldId id="331" r:id="rId28"/>
    <p:sldId id="333" r:id="rId29"/>
    <p:sldId id="334" r:id="rId30"/>
    <p:sldId id="336" r:id="rId31"/>
    <p:sldId id="311" r:id="rId32"/>
  </p:sldIdLst>
  <p:sldSz cx="9144000" cy="5143500" type="screen16x9"/>
  <p:notesSz cx="6858000" cy="9144000"/>
  <p:embeddedFontLst>
    <p:embeddedFont>
      <p:font typeface="Arial Black" panose="020B0A04020102020204" pitchFamily="34" charset="0"/>
      <p:bold r:id="rId34"/>
    </p:embeddedFont>
    <p:embeddedFont>
      <p:font typeface="Cambria" panose="02040503050406030204" pitchFamily="18" charset="0"/>
      <p:regular r:id="rId35"/>
      <p:bold r:id="rId36"/>
      <p:italic r:id="rId37"/>
      <p:boldItalic r:id="rId38"/>
    </p:embeddedFont>
    <p:embeddedFont>
      <p:font typeface="Lato" panose="020F0502020204030203" pitchFamily="34" charset="0"/>
      <p:regular r:id="rId39"/>
      <p:bold r:id="rId40"/>
      <p:italic r:id="rId41"/>
      <p:boldItalic r:id="rId42"/>
    </p:embeddedFont>
    <p:embeddedFont>
      <p:font typeface="Vladimir Script" panose="03050402040407070305" pitchFamily="66" charset="0"/>
      <p:regular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8" roundtripDataSignature="AMtx7mgIfgr8mz0h5oJT84AK2itezMzV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7377635-EB9D-4884-B79A-0D259F93817B}">
  <a:tblStyle styleId="{97377635-EB9D-4884-B79A-0D259F93817B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9E9"/>
          </a:solidFill>
        </a:fill>
      </a:tcStyle>
    </a:wholeTbl>
    <a:band1H>
      <a:tcTxStyle/>
      <a:tcStyle>
        <a:tcBdr/>
        <a:fill>
          <a:solidFill>
            <a:srgbClr val="D0D0D0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0D0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264" autoAdjust="0"/>
    <p:restoredTop sz="94660"/>
  </p:normalViewPr>
  <p:slideViewPr>
    <p:cSldViewPr snapToGrid="0">
      <p:cViewPr>
        <p:scale>
          <a:sx n="100" d="100"/>
          <a:sy n="100" d="100"/>
        </p:scale>
        <p:origin x="686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font" Target="fonts/font9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font" Target="fonts/font10.fntdata"/><Relationship Id="rId48" Type="http://customschemas.google.com/relationships/presentationmetadata" Target="meta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20" Type="http://schemas.openxmlformats.org/officeDocument/2006/relationships/slide" Target="slides/slide19.xml"/><Relationship Id="rId41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9308111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452151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800AA9E-45AA-4AC2-8AA2-7DA856E9A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286550A3-8119-6875-5A21-C5D3DA1F86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1F8D45D-F0E2-4C9E-7AD4-3CC086F6FF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518280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4BB2C93B-7FE2-A8D6-21D2-CB1FAAB41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B35863A3-7B58-0DD0-4438-352440F081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1C70A685-A7E2-6333-F188-6854C80611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119162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75E1C681-A5F2-4CD9-9192-8CDED311B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CB848B34-F6A5-DF19-4111-A068194944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ECA6E172-D444-FC00-6B33-317641F086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85530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B2827B3C-4A96-D842-C587-3271EC42D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72F06B59-0229-602E-B610-9525220615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F4AEA2AB-7645-5208-0E63-7560412EF8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692578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C8169236-1955-4128-44C5-58E9D95D4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08024DF0-1674-8F51-EEBC-683769584F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7D4BF737-175F-7667-E78E-646A8BB495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872474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8FE7DBFD-3CD4-72CB-B3B4-A8E2B4B18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DC18742C-0AE0-A994-B2ED-A9BFF88C0F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E89BB3F3-8FD5-23EA-C014-0FA6CAB913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394911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1D94A35B-1F72-481D-8473-094BCF48F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5BDD35CF-9F00-152D-C9B0-375ED30A2B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FAAB1858-7279-90B6-4A7B-5A018D8089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94298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99A51F36-7155-8E54-465A-A5ACCEC84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04D814C0-F7D3-B63E-D650-72569F470B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92CA0E39-0754-CF97-42C3-81A534729A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597881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B4EBEA1C-373D-8282-0FD5-89D2E69AB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539AA141-5348-AE54-E5F2-13F48CB070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5C71B9E6-E12F-06C9-0C8C-AB59A0005D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201343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42FDF89C-CE44-8B55-4077-886A9ADB9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F774FF4A-B434-A8B6-3630-24B350985B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57E8F901-5FFC-E1B9-D9B8-43F990F519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48981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7E9659EF-CB1A-184E-59E9-9BDC9A661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E9803305-CE79-9A1D-1DE2-D9ACBD8E7B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9E0EE53D-2DB9-97DD-4864-588E85436D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718594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0044B758-C87D-505D-C3C8-A549E1C79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E60E0FE7-490F-D759-32A7-C75DA6EDA0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DF9AA489-D2BD-8969-C629-E8BC8C6956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929189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78C3BC68-F480-61E3-426B-7D0FA6584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6A774AB9-47A8-8E7A-F31C-4322CF8FA4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B9878571-10F1-ED57-BD2C-8B4EB9FC36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190116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EF7F30AC-EE59-AD68-0022-7F2EDCCF8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227DF1B7-1798-CE31-4098-E713FFD1EF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0C4C1F2D-A602-E6F2-5177-9B49FA6E35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616639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61A3855-CA0F-DD72-D5E8-E13449647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61860BC1-B2CB-C4F6-6C05-7720C356F7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27903AD9-BC38-D143-D513-3C36F4C261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93999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695DF51E-7807-E93C-BE87-4EACF8D28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6AD78D20-A7B6-1E3F-6A45-0FED2519BC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57537CB5-9EDD-4AAC-FE10-C73A544B71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3307855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C742B20B-6733-03D1-478C-D5BA98045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CC5D7874-61D4-2539-7B3F-15102F6A92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1E8657DC-BD43-7052-8CFB-8EF42C20FA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4960023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BC11ECEC-15A4-EFAC-ADE7-A1EEA7917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58D402F3-A267-BBD2-D3E3-BD59F6A06C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EE48042-D3AB-E3EE-E3CD-E7EA43BA1D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7271755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AC41B3D0-57B5-3290-6322-FB388DCCC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4025B2E2-B794-0ADC-7550-FFE9B8BEEB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D328268-34D3-8DDD-2D9E-EA577383DB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0199937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F95FDD38-6B7D-AEA2-DC3C-1992A8F00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6FD5CA43-85D1-21F0-4A54-080DD2C720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F3334D79-B8FD-C268-F0F9-D66AB20625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9991651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D696952A-7D3A-9E1B-36D4-213EFC3A6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1ABCF92A-2E13-A609-5946-D2AA2F40C4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7DDEFCBB-9D3F-AC5C-B52C-9151130375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7759476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E66F9B4D-AF04-E3DE-07EC-742BEC0C1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CB6E61A7-DF9C-651E-59BA-FB711758F0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19EC27FD-516D-3895-C2B3-60FC42680E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5179617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6DDBA1A4-32DE-5BC1-C8D2-805DAA2AF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9218247E-AE15-056D-6C49-FF48D7028D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90800D6B-28A7-85BC-A9F1-B22C221004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3681352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BDA1CEF5-13BF-471C-50F9-DAD18A547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2EDA82E9-4E8D-3B65-E4CF-424ECC6A78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FB662D4F-5FDA-D649-09FF-AFAD4FCDD7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6596546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022EF6A6-3B86-409E-00F7-E71B05DEC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BF737BE0-1811-D403-FE9C-7D9F9254BA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FB6C259C-E2D3-C61B-0E90-DB7F2E2067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8610028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5AA7785E-43D4-9EF1-1A87-45D7A3143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7C9920DF-19AB-06E9-7D1B-B9B877EBE6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D2DAF3E8-4FE5-228D-D4E4-2C8EBAB1BF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507553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18BDF5E7-F95C-899B-EC14-E8E986C7D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B75BA061-2CC0-FC5F-90C5-EB6DD8F82D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FD8A0E1B-B8B2-DFD2-0A4F-7F72575EEC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3299685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86B53972-8CFD-533B-1C4D-268D3A8B8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286BAB7A-5EF3-5546-4BB0-C26EE502D3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24E556B0-B3F6-5788-1709-ADC00D5B86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5213690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A35021AF-CA61-088F-7F01-7FAD5B653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20B85296-32E7-6F2C-C488-8EB7229AAA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2BA18F8-0BB4-69BB-7AA0-AEDCAD3591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3468319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8CC7291-0158-2CF9-E3E7-C104BA876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8B9D57E8-6C07-996D-1CC3-BF44C62ABF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B91E2C0C-79EA-9DB7-B0A8-4CEF2F72D7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45618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OBJECT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9"/>
          <p:cNvSpPr txBox="1">
            <a:spLocks noGrp="1"/>
          </p:cNvSpPr>
          <p:nvPr>
            <p:ph type="body" idx="1"/>
          </p:nvPr>
        </p:nvSpPr>
        <p:spPr>
          <a:xfrm>
            <a:off x="914400" y="1314450"/>
            <a:ext cx="8001000" cy="33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3" name="Picture 2" descr="A red rectangular sign with a logo and a globe&#10;&#10;AI-generated content may be incorrect.">
            <a:extLst>
              <a:ext uri="{FF2B5EF4-FFF2-40B4-BE49-F238E27FC236}">
                <a16:creationId xmlns:a16="http://schemas.microsoft.com/office/drawing/2014/main" id="{E3B45E01-6076-AFEE-F2AB-CE7DAC5DAF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906" y="22034"/>
            <a:ext cx="652311" cy="104895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1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" name="Google Shape;18;p3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3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" name="Google Shape;21;p31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2" name="Google Shape;22;p31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3" name="Google Shape;23;p3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5F213-031A-95AD-897E-DD31668AD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EDF7FE-8238-E952-EC20-938FFD7042D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272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oogle Shape;25;p3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3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3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" name="Google Shape;28;p32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3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" name="Google Shape;32;p3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3" name="Google Shape;33;p3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3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" name="Google Shape;35;p33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6" name="Google Shape;36;p33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3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" name="Google Shape;40;p3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1" name="Google Shape;41;p3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3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" name="Google Shape;43;p3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4" name="Google Shape;44;p34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34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3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" name="Google Shape;49;p3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3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3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" name="Google Shape;52;p3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3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" name="Google Shape;56;p3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7" name="Google Shape;57;p3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3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" name="Google Shape;59;p36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0" name="Google Shape;60;p36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37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64" name="Google Shape;64;p3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3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p37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3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8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" name="Google Shape;70;p3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1" name="Google Shape;71;p3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3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" name="Google Shape;73;p38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74" name="Google Shape;74;p38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5" name="Google Shape;75;p38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3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9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9" name="Google Shape;79;p3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p4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82" name="Google Shape;82;p4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4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" name="Google Shape;84;p40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" name="Google Shape;85;p40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4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0E067-05BA-3068-8F0D-B3C073B80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99BB7D-4B8D-4670-0220-D1EB44F3B35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750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2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2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3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introduction-to-algorithms/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utorialspoint.com/data_structures_algorithms/heap_data_structure.htm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onlinecourses.nptel.ac.in/noc23_cs96/preview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linkedin.com/learning/learning-algorithms" TargetMode="External"/><Relationship Id="rId5" Type="http://schemas.openxmlformats.org/officeDocument/2006/relationships/hyperlink" Target="https://nptel.ac.in/courses/106106208" TargetMode="External"/><Relationship Id="rId4" Type="http://schemas.openxmlformats.org/officeDocument/2006/relationships/hyperlink" Target="https://nptel.ac.in/courses/106106131" TargetMode="Externa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handigarh University Archives - Worldwide Transcript"/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37" y="1217517"/>
            <a:ext cx="2782983" cy="2782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3" name="Google Shape;93;p1"/>
          <p:cNvSpPr txBox="1"/>
          <p:nvPr/>
        </p:nvSpPr>
        <p:spPr>
          <a:xfrm>
            <a:off x="6572250" y="48815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 rot="10800000" flipH="1">
            <a:off x="7796638" y="4287563"/>
            <a:ext cx="968400" cy="867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 flipH="1">
            <a:off x="5284799" y="-48815"/>
            <a:ext cx="3859200" cy="4389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1593056" y="1519145"/>
            <a:ext cx="5122200" cy="11856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2659">
                <a:srgbClr val="FFFFFF">
                  <a:alpha val="0"/>
                </a:srgbClr>
              </a:gs>
              <a:gs pos="15000">
                <a:srgbClr val="FFFFFF">
                  <a:alpha val="33333"/>
                </a:srgbClr>
              </a:gs>
              <a:gs pos="51000">
                <a:schemeClr val="lt1"/>
              </a:gs>
              <a:gs pos="94000">
                <a:srgbClr val="FFFFFF">
                  <a:alpha val="33333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/>
          <p:nvPr/>
        </p:nvSpPr>
        <p:spPr>
          <a:xfrm flipH="1">
            <a:off x="7360500" y="3929250"/>
            <a:ext cx="1774800" cy="1200300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771896" y="951584"/>
            <a:ext cx="8213400" cy="4131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2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UNIVERSITY INSTITUTE OF </a:t>
            </a:r>
            <a:r>
              <a:rPr lang="en-US" sz="3200" b="1" i="0" u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ENGINEERING</a:t>
            </a:r>
            <a:endParaRPr lang="en-US" sz="32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200" b="1" i="0" u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COMPUTER SCIENCE ENGINEERING</a:t>
            </a:r>
            <a:endParaRPr lang="en-US" sz="32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000" b="0" i="0" u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Bachelor of Engineering</a:t>
            </a:r>
            <a:endParaRPr lang="en-US" sz="2000" dirty="0">
              <a:solidFill>
                <a:schemeClr val="bg2"/>
              </a:solidFill>
            </a:endParaRPr>
          </a:p>
          <a:p>
            <a:pPr algn="ctr">
              <a:lnSpc>
                <a:spcPct val="90000"/>
              </a:lnSpc>
              <a:spcBef>
                <a:spcPts val="1120"/>
              </a:spcBef>
              <a:buClr>
                <a:schemeClr val="dk1"/>
              </a:buClr>
              <a:buSzPts val="2800"/>
            </a:pPr>
            <a:r>
              <a:rPr lang="en-US" sz="2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Semester: 6th</a:t>
            </a:r>
            <a:endParaRPr lang="en-US" sz="20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lnSpc>
                <a:spcPct val="90000"/>
              </a:lnSpc>
              <a:spcBef>
                <a:spcPts val="980"/>
              </a:spcBef>
              <a:buClr>
                <a:schemeClr val="dk1"/>
              </a:buClr>
              <a:buSzPts val="2800"/>
            </a:pPr>
            <a:r>
              <a:rPr lang="en-US" sz="2400" b="1" i="0" u="none" dirty="0">
                <a:solidFill>
                  <a:schemeClr val="bg2"/>
                </a:solidFill>
                <a:latin typeface="Arial"/>
                <a:ea typeface="Arial"/>
                <a:cs typeface="Arial"/>
                <a:sym typeface="Arial"/>
              </a:rPr>
              <a:t>Design and Analysis of Algorithms</a:t>
            </a:r>
          </a:p>
          <a:p>
            <a:pPr algn="ctr">
              <a:lnSpc>
                <a:spcPct val="90000"/>
              </a:lnSpc>
              <a:spcBef>
                <a:spcPts val="980"/>
              </a:spcBef>
              <a:buClr>
                <a:schemeClr val="dk1"/>
              </a:buClr>
              <a:buSzPts val="2800"/>
            </a:pPr>
            <a:r>
              <a:rPr lang="en-US" sz="24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(23</a:t>
            </a:r>
            <a:r>
              <a:rPr lang="en-US" sz="2400" b="0" i="0" u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</a:t>
            </a:r>
            <a:r>
              <a:rPr lang="en-US" sz="2400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2400" b="0" i="0" u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-301/IT</a:t>
            </a:r>
            <a:r>
              <a:rPr lang="en-US" sz="2400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2400" b="0" i="0" u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-301</a:t>
            </a:r>
            <a:r>
              <a:rPr lang="en-US" sz="24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US" sz="16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spcBef>
                <a:spcPts val="1120"/>
              </a:spcBef>
              <a:buSzPts val="3200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Unit No.  1                    Chapter No.  2                   Lecture No. 11</a:t>
            </a:r>
          </a:p>
          <a:p>
            <a:pPr>
              <a:spcBef>
                <a:spcPts val="1120"/>
              </a:spcBef>
              <a:buSzPts val="3200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Topic : </a:t>
            </a:r>
            <a:r>
              <a:rPr lang="en-US" altLang="en-US" sz="1800" b="1" dirty="0">
                <a:solidFill>
                  <a:srgbClr val="26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Heaps </a:t>
            </a:r>
          </a:p>
          <a:p>
            <a:pPr>
              <a:spcBef>
                <a:spcPts val="1120"/>
              </a:spcBef>
              <a:buSzPts val="3200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Richa Dhiman E11307                                                    Assistant Professor</a:t>
            </a:r>
            <a:endParaRPr lang="en-US" sz="32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5E2170-6E52-163D-4579-180ED8258362}"/>
              </a:ext>
            </a:extLst>
          </p:cNvPr>
          <p:cNvSpPr txBox="1"/>
          <p:nvPr/>
        </p:nvSpPr>
        <p:spPr>
          <a:xfrm>
            <a:off x="5284800" y="0"/>
            <a:ext cx="385919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800" b="1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Academic Session 2025-26 </a:t>
            </a:r>
          </a:p>
          <a:p>
            <a:pPr algn="r"/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ODD Semester Jul-Dec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0EF27945-C1E1-DDBF-6B5A-32A668D1B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B82306DF-DC71-A9BC-8B35-D6290EE31CD4}"/>
              </a:ext>
            </a:extLst>
          </p:cNvPr>
          <p:cNvGrpSpPr/>
          <p:nvPr/>
        </p:nvGrpSpPr>
        <p:grpSpPr>
          <a:xfrm>
            <a:off x="724394" y="218172"/>
            <a:ext cx="8300849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CFDB14A8-16BA-BF7C-C8D7-1E6DAD65FFC9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B1FC2D67-AE60-4AB2-F4BD-027A2C4342A0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3200" b="1" i="0" u="none" strike="noStrike" cap="none" dirty="0">
                  <a:solidFill>
                    <a:schemeClr val="bg2"/>
                  </a:solidFill>
                  <a:latin typeface="Cambria"/>
                  <a:ea typeface="Cambria"/>
                  <a:cs typeface="Cambria"/>
                  <a:sym typeface="Cambria"/>
                </a:rPr>
                <a:t>Learning Objectives &amp; Outcomes</a:t>
              </a:r>
              <a:endParaRPr lang="en-US" sz="32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E628AF9-4A95-9B24-7285-C761F1A66E62}"/>
              </a:ext>
            </a:extLst>
          </p:cNvPr>
          <p:cNvSpPr txBox="1">
            <a:spLocks/>
          </p:cNvSpPr>
          <p:nvPr/>
        </p:nvSpPr>
        <p:spPr bwMode="auto">
          <a:xfrm>
            <a:off x="892576" y="794957"/>
            <a:ext cx="8001000" cy="3830052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mbria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ysClr val="windowText" lastClr="000000"/>
              </a:buClr>
              <a:buSzPts val="2000"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/>
                <a:ea typeface="Cambria"/>
                <a:cs typeface="Cambria"/>
                <a:sym typeface="Cambria"/>
              </a:rPr>
              <a:t>Objective:</a:t>
            </a: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To understand the Heap and its types.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To understand heapsort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Outcome: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Student will understand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    Heap and its types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    Heap sort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72310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0F165C73-F363-A304-734E-7CBF8D3F9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>
            <a:extLst>
              <a:ext uri="{FF2B5EF4-FFF2-40B4-BE49-F238E27FC236}">
                <a16:creationId xmlns:a16="http://schemas.microsoft.com/office/drawing/2014/main" id="{8E0F9992-62FC-4C63-BED6-091FF56DEF08}"/>
              </a:ext>
            </a:extLst>
          </p:cNvPr>
          <p:cNvSpPr/>
          <p:nvPr/>
        </p:nvSpPr>
        <p:spPr>
          <a:xfrm>
            <a:off x="760020" y="218172"/>
            <a:ext cx="8265225" cy="444600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bg2"/>
              </a:solidFill>
            </a:endParaRPr>
          </a:p>
        </p:txBody>
      </p: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8B576DE2-C283-2E3E-CC36-4B7ABE8B87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2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CD139AD-F3B2-237B-0F9B-CCDC2C526F9A}"/>
              </a:ext>
            </a:extLst>
          </p:cNvPr>
          <p:cNvSpPr txBox="1">
            <a:spLocks/>
          </p:cNvSpPr>
          <p:nvPr/>
        </p:nvSpPr>
        <p:spPr>
          <a:xfrm>
            <a:off x="968776" y="221149"/>
            <a:ext cx="7509079" cy="6096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anchor="ctr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Cambria" pitchFamily="18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Heap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E1E31BF-2AC4-F16C-F3B0-932C263BB655}"/>
              </a:ext>
            </a:extLst>
          </p:cNvPr>
          <p:cNvSpPr txBox="1">
            <a:spLocks/>
          </p:cNvSpPr>
          <p:nvPr/>
        </p:nvSpPr>
        <p:spPr bwMode="auto">
          <a:xfrm>
            <a:off x="1028242" y="830749"/>
            <a:ext cx="7581282" cy="4091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mbria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A Heap is a special Tree-based data structure in which the tree is a complete binary tree. Generally, Heaps can be of two types: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Max-Heap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: In a Max-Heap the key present at the root node must be greatest among the keys present at all of it’s children. The same property must be recursively true for all sub-trees in that Binary Tree.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Min-Heap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: In a Min-Heap the key present at the root node must be minimum among the keys present at all of it’s children. The same property must be recursively true for all sub-trees in that Binary Tree.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7512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949C85D7-2162-3728-41C8-9CA50DA57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97259D0E-39AA-3258-E915-0F5AE1AE1F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82D24C-CFB6-10CB-9BE5-A8DE190188CE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3</a:t>
            </a:r>
            <a:endParaRPr lang="en-IN" dirty="0"/>
          </a:p>
        </p:txBody>
      </p:sp>
      <p:pic>
        <p:nvPicPr>
          <p:cNvPr id="2" name="Picture 2" descr="https://media.geeksforgeeks.org/wp-content/cdn-uploads/MinHeapAndMaxHeap.png">
            <a:extLst>
              <a:ext uri="{FF2B5EF4-FFF2-40B4-BE49-F238E27FC236}">
                <a16:creationId xmlns:a16="http://schemas.microsoft.com/office/drawing/2014/main" id="{A3B04041-4ECE-9EBB-A14A-0D2E77346F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516" y="239875"/>
            <a:ext cx="8215312" cy="4919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964608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FFAE9B3A-F835-EA9F-375F-E58709572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F7D1F1F6-CAAE-FC79-FD0B-3C78DFCE25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CDAEDE-ABD1-E62B-C206-E4DF3D0D1024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4</a:t>
            </a:r>
            <a:endParaRPr lang="en-IN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AA5D8AF-26A2-773F-89F4-38088AB1C62C}"/>
              </a:ext>
            </a:extLst>
          </p:cNvPr>
          <p:cNvSpPr txBox="1">
            <a:spLocks/>
          </p:cNvSpPr>
          <p:nvPr/>
        </p:nvSpPr>
        <p:spPr>
          <a:xfrm>
            <a:off x="968776" y="266034"/>
            <a:ext cx="7640748" cy="6096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anchor="ctr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Cambria" pitchFamily="18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Methods or Operations of Heap</a:t>
            </a:r>
            <a:b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</a:b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3B01330-D89A-E7C8-F391-18E143CBBFD2}"/>
              </a:ext>
            </a:extLst>
          </p:cNvPr>
          <p:cNvSpPr txBox="1">
            <a:spLocks/>
          </p:cNvSpPr>
          <p:nvPr/>
        </p:nvSpPr>
        <p:spPr bwMode="auto">
          <a:xfrm>
            <a:off x="968776" y="806675"/>
            <a:ext cx="7714217" cy="4030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mbria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find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 - find an item in a heap.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insert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 - add an item in a heap ensuring the heap property is maintained min-heap and max-heap property.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delete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 - remove an item in a heap.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extract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 - return the value of an item and then delete from heap.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replace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 - extract or pop the root and insert or push a new item in a heap ensuring the heap property has maintained min-heap and max-heap property.</a:t>
            </a:r>
            <a:endParaRPr kumimoji="0" lang="en-US" altLang="en-US" sz="24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62404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566223F7-9809-BE29-714E-38632F459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059937E7-EC35-0CA6-69EF-64D5737762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23D0D5-2563-3DDF-DDBE-37059391059E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5</a:t>
            </a:r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961626C-AFD3-2571-5346-F93E3E455E2C}"/>
              </a:ext>
            </a:extLst>
          </p:cNvPr>
          <p:cNvSpPr txBox="1">
            <a:spLocks/>
          </p:cNvSpPr>
          <p:nvPr/>
        </p:nvSpPr>
        <p:spPr bwMode="auto">
          <a:xfrm>
            <a:off x="968776" y="806675"/>
            <a:ext cx="7714217" cy="4030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mbria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Apart from the above mentioned basic operations, there are other operations such as: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size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 - returns the size of heap.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is-empty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 - returns 'true' if heap is empty or 'false' if it has value.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merge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 - joining or union of two heaps, all the values from both heaps are included but the original heaps are preserved.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meld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 - joining of two heaps where the values from both heaps are included but the original heaps are destroyed.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0AAE697-93EA-CAF4-6C24-7954A557DA19}"/>
              </a:ext>
            </a:extLst>
          </p:cNvPr>
          <p:cNvSpPr txBox="1">
            <a:spLocks/>
          </p:cNvSpPr>
          <p:nvPr/>
        </p:nvSpPr>
        <p:spPr>
          <a:xfrm>
            <a:off x="608524" y="295420"/>
            <a:ext cx="8001000" cy="6096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anchor="ctr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Cambria" pitchFamily="18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Methods or Operations of Heap (Contd..)</a:t>
            </a:r>
            <a:b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</a:b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7551428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DD698E66-F84E-170D-A0A4-F7906E6DC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98F4F0A3-AC9F-881C-38CF-FCABC87F7D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E9E69A-0B72-58B1-5875-98C4F59242D5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6</a:t>
            </a:r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F338BDF-82E5-DCE7-47D5-D5BE6338EAD8}"/>
              </a:ext>
            </a:extLst>
          </p:cNvPr>
          <p:cNvSpPr txBox="1">
            <a:spLocks/>
          </p:cNvSpPr>
          <p:nvPr/>
        </p:nvSpPr>
        <p:spPr>
          <a:xfrm>
            <a:off x="1105127" y="120875"/>
            <a:ext cx="7640748" cy="6096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anchor="ctr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Cambria" pitchFamily="18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Max-Heap &amp; Array Representation</a:t>
            </a:r>
            <a:endParaRPr kumimoji="0" lang="en-IN" sz="3200" b="1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8A87B15F-5A27-E7F2-DE84-FD75811CB1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85610" y="746885"/>
            <a:ext cx="7007080" cy="2168594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4F81BD">
                <a:gamma/>
                <a:shade val="60000"/>
                <a:invGamma/>
              </a:srgbClr>
            </a:prst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2B30852-D7E9-7A61-B45E-B8D3DFC5EC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818878" y="3160487"/>
            <a:ext cx="2118096" cy="1716313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4F81BD">
                <a:gamma/>
                <a:shade val="60000"/>
                <a:invGamma/>
              </a:srgbClr>
            </a:prstShdw>
          </a:effectLst>
        </p:spPr>
      </p:pic>
    </p:spTree>
    <p:extLst>
      <p:ext uri="{BB962C8B-B14F-4D97-AF65-F5344CB8AC3E}">
        <p14:creationId xmlns:p14="http://schemas.microsoft.com/office/powerpoint/2010/main" val="3465719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9FE9F236-4D33-D729-9B4F-319F99A11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6322149C-F603-DD83-6D32-FF4DFC2CBA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B464BC-0793-6240-838B-56E7E369DD4A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5</a:t>
            </a: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D93FA1-B351-A613-5235-33C96E649DA0}"/>
              </a:ext>
            </a:extLst>
          </p:cNvPr>
          <p:cNvSpPr txBox="1">
            <a:spLocks/>
          </p:cNvSpPr>
          <p:nvPr/>
        </p:nvSpPr>
        <p:spPr>
          <a:xfrm>
            <a:off x="1007165" y="197075"/>
            <a:ext cx="7602359" cy="504643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anchor="ctr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Cambria" pitchFamily="18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Maintaining the heap property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67BEF0-416C-B1AC-0B99-26A677C88D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30017" y="828900"/>
            <a:ext cx="5954444" cy="3703343"/>
          </a:xfrm>
          <a:prstGeom prst="rect">
            <a:avLst/>
          </a:prstGeom>
          <a:noFill/>
          <a:effectLst>
            <a:prstShdw prst="shdw17" dist="17961" dir="2700000">
              <a:srgbClr val="4F81BD">
                <a:gamma/>
                <a:shade val="60000"/>
                <a:invGamma/>
              </a:srgbClr>
            </a:prstShdw>
          </a:effectLst>
        </p:spPr>
      </p:pic>
    </p:spTree>
    <p:extLst>
      <p:ext uri="{BB962C8B-B14F-4D97-AF65-F5344CB8AC3E}">
        <p14:creationId xmlns:p14="http://schemas.microsoft.com/office/powerpoint/2010/main" val="12736659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F0FC000F-DFFD-E6A6-E001-413ABF044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1523F218-6E9C-9971-D7D3-39ACFAAF79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995AAE-7E05-F1BE-4F87-AC2F0631D6D7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5</a:t>
            </a:r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C9C87E2-3B71-3762-D6C5-01C0F7AF8959}"/>
              </a:ext>
            </a:extLst>
          </p:cNvPr>
          <p:cNvSpPr txBox="1">
            <a:spLocks/>
          </p:cNvSpPr>
          <p:nvPr/>
        </p:nvSpPr>
        <p:spPr>
          <a:xfrm>
            <a:off x="968776" y="197075"/>
            <a:ext cx="7417724" cy="6096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anchor="ctr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Cambria" pitchFamily="18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Example of maintaining Max Heap:</a:t>
            </a:r>
            <a:endParaRPr kumimoji="0" lang="en-IN" sz="3200" b="1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9AE07C-6184-9154-B661-804484288D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78302" y="871763"/>
            <a:ext cx="7408808" cy="3753246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4F81BD">
                <a:gamma/>
                <a:shade val="60000"/>
                <a:invGamma/>
              </a:srgbClr>
            </a:prstShdw>
          </a:effectLst>
        </p:spPr>
      </p:pic>
    </p:spTree>
    <p:extLst>
      <p:ext uri="{BB962C8B-B14F-4D97-AF65-F5344CB8AC3E}">
        <p14:creationId xmlns:p14="http://schemas.microsoft.com/office/powerpoint/2010/main" val="32511595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246B3FF9-136F-EB30-69BA-AECFBD188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13559F21-222B-01D5-E48B-8DB00F35D6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D3EC60-158F-7972-427B-7B1153E1E2C2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5</a:t>
            </a: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54F658-226A-371B-D850-639EFEA1FA1A}"/>
              </a:ext>
            </a:extLst>
          </p:cNvPr>
          <p:cNvSpPr txBox="1">
            <a:spLocks/>
          </p:cNvSpPr>
          <p:nvPr/>
        </p:nvSpPr>
        <p:spPr>
          <a:xfrm>
            <a:off x="1007165" y="197075"/>
            <a:ext cx="7602359" cy="504643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anchor="ctr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Cambria" pitchFamily="18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Maintaining the heap property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8FED36-E5BF-6DAE-B383-5B49FD4D06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30017" y="828900"/>
            <a:ext cx="5954444" cy="3703343"/>
          </a:xfrm>
          <a:prstGeom prst="rect">
            <a:avLst/>
          </a:prstGeom>
          <a:noFill/>
          <a:effectLst>
            <a:prstShdw prst="shdw17" dist="17961" dir="2700000">
              <a:srgbClr val="4F81BD">
                <a:gamma/>
                <a:shade val="60000"/>
                <a:invGamma/>
              </a:srgbClr>
            </a:prstShdw>
          </a:effectLst>
        </p:spPr>
      </p:pic>
    </p:spTree>
    <p:extLst>
      <p:ext uri="{BB962C8B-B14F-4D97-AF65-F5344CB8AC3E}">
        <p14:creationId xmlns:p14="http://schemas.microsoft.com/office/powerpoint/2010/main" val="38412466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5B2B5D25-3D48-3686-359A-2DCF32CB0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88A66F03-C6DD-C91F-819A-7BC2A0321F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3F1169-2F73-BAE9-4ED2-E32E985F9412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5</a:t>
            </a:r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39295E0-877C-23B7-55B0-72DCD62645AF}"/>
              </a:ext>
            </a:extLst>
          </p:cNvPr>
          <p:cNvSpPr txBox="1">
            <a:spLocks/>
          </p:cNvSpPr>
          <p:nvPr/>
        </p:nvSpPr>
        <p:spPr>
          <a:xfrm>
            <a:off x="968776" y="197075"/>
            <a:ext cx="7417724" cy="482786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anchor="ctr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Cambria" pitchFamily="18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Example of maintaining Max Heap:</a:t>
            </a:r>
            <a:endParaRPr kumimoji="0" lang="en-IN" sz="3200" b="1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6E9133-9E2E-F223-BDA9-CEAAA12B84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78302" y="871763"/>
            <a:ext cx="7408808" cy="399178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4F81BD">
                <a:gamma/>
                <a:shade val="60000"/>
                <a:invGamma/>
              </a:srgbClr>
            </a:prstShdw>
          </a:effectLst>
        </p:spPr>
      </p:pic>
    </p:spTree>
    <p:extLst>
      <p:ext uri="{BB962C8B-B14F-4D97-AF65-F5344CB8AC3E}">
        <p14:creationId xmlns:p14="http://schemas.microsoft.com/office/powerpoint/2010/main" val="30088699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134CD4C8-3825-FBA3-E6E7-9F301E450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97A6F2CC-E687-4B70-38F3-8276D5DB18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CEF5D5-32B1-90E1-CBDD-A03EC797FFF6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5</a:t>
            </a: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D72580-4E8F-DE62-CC4B-9CDE4553DEF6}"/>
              </a:ext>
            </a:extLst>
          </p:cNvPr>
          <p:cNvSpPr txBox="1">
            <a:spLocks/>
          </p:cNvSpPr>
          <p:nvPr/>
        </p:nvSpPr>
        <p:spPr>
          <a:xfrm>
            <a:off x="968776" y="197075"/>
            <a:ext cx="7313833" cy="6096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anchor="ctr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Cambria" pitchFamily="18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Building a heap</a:t>
            </a: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B440EEDC-45E3-98D8-FE39-E9EB72079C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24451" y="1492475"/>
            <a:ext cx="5517607" cy="2060575"/>
          </a:xfrm>
          <a:prstGeom prst="rect">
            <a:avLst/>
          </a:prstGeom>
          <a:noFill/>
          <a:effectLst>
            <a:prstShdw prst="shdw17" dist="17961" dir="2700000">
              <a:srgbClr val="4F81BD">
                <a:gamma/>
                <a:shade val="60000"/>
                <a:invGamma/>
              </a:srgbClr>
            </a:prstShdw>
          </a:effectLst>
        </p:spPr>
      </p:pic>
    </p:spTree>
    <p:extLst>
      <p:ext uri="{BB962C8B-B14F-4D97-AF65-F5344CB8AC3E}">
        <p14:creationId xmlns:p14="http://schemas.microsoft.com/office/powerpoint/2010/main" val="29985968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8B30559D-113C-CA36-943F-FB8143600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9DE20160-C47E-3755-260A-77F95E8762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AD650A-C296-32D4-88D6-EC65A0BB20C1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7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838FD46-4797-EA98-CBD9-18EFFB4595EA}"/>
              </a:ext>
            </a:extLst>
          </p:cNvPr>
          <p:cNvSpPr txBox="1">
            <a:spLocks/>
          </p:cNvSpPr>
          <p:nvPr/>
        </p:nvSpPr>
        <p:spPr>
          <a:xfrm>
            <a:off x="990600" y="249326"/>
            <a:ext cx="7395900" cy="6096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anchor="ctr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Cambria" pitchFamily="18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Example of Building Max Heap</a:t>
            </a:r>
            <a:endParaRPr kumimoji="0" lang="en-IN" sz="3200" b="1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9E998A66-6E8B-9DE6-5231-1CFF55BE7C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60384" y="1008600"/>
            <a:ext cx="6623231" cy="3741649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4F81BD">
                <a:gamma/>
                <a:shade val="60000"/>
                <a:invGamma/>
              </a:srgbClr>
            </a:prstShdw>
          </a:effectLst>
        </p:spPr>
      </p:pic>
    </p:spTree>
    <p:extLst>
      <p:ext uri="{BB962C8B-B14F-4D97-AF65-F5344CB8AC3E}">
        <p14:creationId xmlns:p14="http://schemas.microsoft.com/office/powerpoint/2010/main" val="14993762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C79AABCB-A67D-7ADF-0972-E2D91A8A8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7C7BB78E-1170-0283-D292-87E9A2FDB6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51DE92-8B2E-7D39-0F69-0314630A0C4B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7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B08EE0-FD99-6354-D445-A47B562F2B26}"/>
              </a:ext>
            </a:extLst>
          </p:cNvPr>
          <p:cNvSpPr txBox="1">
            <a:spLocks/>
          </p:cNvSpPr>
          <p:nvPr/>
        </p:nvSpPr>
        <p:spPr>
          <a:xfrm>
            <a:off x="887896" y="236832"/>
            <a:ext cx="7870604" cy="6096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anchor="ctr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Cambria" pitchFamily="18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Example of Building Max Heap (Contd..)</a:t>
            </a:r>
            <a:endParaRPr kumimoji="0" lang="en-IN" sz="3200" b="1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F7EA6B-1337-5740-BDB7-CD7F26BCC7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07401" y="1522707"/>
            <a:ext cx="7328569" cy="260032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4F81BD">
                <a:gamma/>
                <a:shade val="60000"/>
                <a:invGamma/>
              </a:srgbClr>
            </a:prstShdw>
          </a:effectLst>
        </p:spPr>
      </p:pic>
    </p:spTree>
    <p:extLst>
      <p:ext uri="{BB962C8B-B14F-4D97-AF65-F5344CB8AC3E}">
        <p14:creationId xmlns:p14="http://schemas.microsoft.com/office/powerpoint/2010/main" val="10771734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F2AF0739-C946-1E80-86E1-F3EA3C1C5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AFAA7146-A6B9-0F03-E5BC-A53466AC2F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424DC3-4E81-8194-D0E4-3E81F4C9D392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7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7329C2-A4AE-A366-0762-020CCDC77492}"/>
              </a:ext>
            </a:extLst>
          </p:cNvPr>
          <p:cNvSpPr txBox="1">
            <a:spLocks/>
          </p:cNvSpPr>
          <p:nvPr/>
        </p:nvSpPr>
        <p:spPr>
          <a:xfrm>
            <a:off x="968776" y="197075"/>
            <a:ext cx="7525867" cy="6096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anchor="ctr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Cambria" pitchFamily="18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Heap Sort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7530562-D92A-67BA-1110-6953FE5D49F7}"/>
              </a:ext>
            </a:extLst>
          </p:cNvPr>
          <p:cNvSpPr txBox="1">
            <a:spLocks/>
          </p:cNvSpPr>
          <p:nvPr/>
        </p:nvSpPr>
        <p:spPr>
          <a:xfrm>
            <a:off x="892576" y="882875"/>
            <a:ext cx="7598231" cy="4063550"/>
          </a:xfrm>
          <a:prstGeom prst="rect">
            <a:avLst/>
          </a:prstGeom>
          <a:noFill/>
        </p:spPr>
        <p:txBody>
          <a:bodyPr>
            <a:normAutofit fontScale="92500" lnSpcReduction="2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mbria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Heaps can be used in sorting an array. In max-heaps, maximum element will always be at the root. Heap Sort uses this property of heap to sort the array.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Consider an array </a:t>
            </a:r>
            <a:r>
              <a:rPr kumimoji="0" lang="en-IN" sz="24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Arr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 which is to be sorted using Heap Sort. 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Initially build a max heap of elements in Arr.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The root element, that is </a:t>
            </a:r>
            <a:r>
              <a:rPr kumimoji="0" lang="en-IN" sz="24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Arr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[1], will contain maximum element of Arr. After that, swap this element with the last element of </a:t>
            </a:r>
            <a:r>
              <a:rPr kumimoji="0" lang="en-IN" sz="24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Arr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 and </a:t>
            </a:r>
            <a:r>
              <a:rPr kumimoji="0" lang="en-IN" sz="24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heapify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 the max heap excluding the last element which is already in its correct position and then decrease the length of heap by one.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Repeat the step 2, until all the elements are in their correct position</a:t>
            </a:r>
          </a:p>
        </p:txBody>
      </p:sp>
    </p:spTree>
    <p:extLst>
      <p:ext uri="{BB962C8B-B14F-4D97-AF65-F5344CB8AC3E}">
        <p14:creationId xmlns:p14="http://schemas.microsoft.com/office/powerpoint/2010/main" val="6424895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70A086B7-8482-E059-1268-B67F85A45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AA4BBDCD-F906-FBD2-A910-8A00EBEBC0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77BAEB-B18D-70BD-D3CA-E6185B7558A0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7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6570A8-FE8F-BDC0-1F12-393045B21B31}"/>
              </a:ext>
            </a:extLst>
          </p:cNvPr>
          <p:cNvSpPr txBox="1">
            <a:spLocks/>
          </p:cNvSpPr>
          <p:nvPr/>
        </p:nvSpPr>
        <p:spPr>
          <a:xfrm>
            <a:off x="968776" y="298174"/>
            <a:ext cx="7505672" cy="6096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anchor="ctr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Cambria" pitchFamily="18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Heap Sort Algorithm</a:t>
            </a:r>
            <a:endParaRPr kumimoji="0" lang="en-IN" sz="3200" b="1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EA153B-6BAF-C53A-6B3C-0F6181A923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73576" y="1164949"/>
            <a:ext cx="5160150" cy="248602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4F81BD">
                <a:gamma/>
                <a:shade val="60000"/>
                <a:invGamma/>
              </a:srgbClr>
            </a:prstShdw>
          </a:effectLst>
        </p:spPr>
      </p:pic>
    </p:spTree>
    <p:extLst>
      <p:ext uri="{BB962C8B-B14F-4D97-AF65-F5344CB8AC3E}">
        <p14:creationId xmlns:p14="http://schemas.microsoft.com/office/powerpoint/2010/main" val="19480596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8CBDFE2E-AF05-A28F-9692-FBF67064C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7A119E1E-8968-4AAA-A820-A5534D7CB6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C91F9E-5D7B-B04C-E0BA-D0B4EF8A86C1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7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8541EF-EE3A-DD98-3FD2-D22977F076C4}"/>
              </a:ext>
            </a:extLst>
          </p:cNvPr>
          <p:cNvSpPr txBox="1">
            <a:spLocks/>
          </p:cNvSpPr>
          <p:nvPr/>
        </p:nvSpPr>
        <p:spPr>
          <a:xfrm>
            <a:off x="914400" y="234494"/>
            <a:ext cx="7288696" cy="6096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anchor="ctr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Cambria" pitchFamily="18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Example: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82EE91-C565-3C46-980E-A7BD1A593993}"/>
              </a:ext>
            </a:extLst>
          </p:cNvPr>
          <p:cNvSpPr txBox="1">
            <a:spLocks/>
          </p:cNvSpPr>
          <p:nvPr/>
        </p:nvSpPr>
        <p:spPr>
          <a:xfrm>
            <a:off x="803559" y="970722"/>
            <a:ext cx="8001000" cy="3813313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mbria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In the diagram below, initially there is an unsorted array </a:t>
            </a:r>
            <a:r>
              <a:rPr kumimoji="0" lang="en-IN" sz="24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Arr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 having 6 elements and then max-heap will be built.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1524A8-9CF0-3F97-B833-FD9F8B2DD3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2870" y="1814789"/>
            <a:ext cx="4916556" cy="29692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630325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BD86E3F9-1128-43C0-A416-398EF40B8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85E5D694-06A1-F6D0-D893-5D2057ECA2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D7D552-C8A1-3197-7832-7034F3F7E852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7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F812A3-2D74-5B1E-0589-2B87599923A6}"/>
              </a:ext>
            </a:extLst>
          </p:cNvPr>
          <p:cNvSpPr txBox="1">
            <a:spLocks/>
          </p:cNvSpPr>
          <p:nvPr/>
        </p:nvSpPr>
        <p:spPr>
          <a:xfrm>
            <a:off x="833700" y="197075"/>
            <a:ext cx="7775824" cy="6096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 anchor="ctr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Cambria" pitchFamily="18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mbria" pitchFamily="18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Example (Contd.)</a:t>
            </a:r>
            <a:endParaRPr kumimoji="0" lang="en-IN" sz="32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F7A85-B1A7-A355-ED9C-08315F3264E9}"/>
              </a:ext>
            </a:extLst>
          </p:cNvPr>
          <p:cNvSpPr txBox="1">
            <a:spLocks/>
          </p:cNvSpPr>
          <p:nvPr/>
        </p:nvSpPr>
        <p:spPr bwMode="auto">
          <a:xfrm>
            <a:off x="757500" y="882875"/>
            <a:ext cx="7850592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mbria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alt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After building max-heap, the elements in the array Arr will be: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IN" altLang="en-US" sz="24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mbria" pitchFamily="18" charset="0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4B7F6B-5E5A-6D25-FFD1-5DD5DB4C44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4300" y="2330675"/>
            <a:ext cx="5299149" cy="201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430948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6D8A04BE-568E-5AA7-FDC8-FDA2A3362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018484FA-13B7-F444-5280-9D86E76462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2F56CB-F62E-C66F-193B-DCA66A7B6309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7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71E42E60-00DA-44A6-C48A-27945AD3E28D}"/>
              </a:ext>
            </a:extLst>
          </p:cNvPr>
          <p:cNvSpPr txBox="1">
            <a:spLocks/>
          </p:cNvSpPr>
          <p:nvPr/>
        </p:nvSpPr>
        <p:spPr bwMode="auto">
          <a:xfrm>
            <a:off x="914400" y="1981201"/>
            <a:ext cx="8001000" cy="29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85000" lnSpcReduction="1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mbria" pitchFamily="18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IN" alt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Step 1: 8 is swapped with 5.</a:t>
            </a:r>
            <a:br>
              <a:rPr kumimoji="0" lang="en-IN" alt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</a:br>
            <a:r>
              <a:rPr kumimoji="0" lang="en-IN" alt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Step 2: 8 is disconnected from heap as 8 is in correct position now and.</a:t>
            </a:r>
            <a:br>
              <a:rPr kumimoji="0" lang="en-IN" alt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</a:br>
            <a:r>
              <a:rPr kumimoji="0" lang="en-IN" alt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Step 3: Max-heap is created and 7 is swapped with 3.</a:t>
            </a:r>
            <a:br>
              <a:rPr kumimoji="0" lang="en-IN" alt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</a:br>
            <a:r>
              <a:rPr kumimoji="0" lang="en-IN" alt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Step 4: 7 is disconnected from heap.</a:t>
            </a:r>
            <a:br>
              <a:rPr kumimoji="0" lang="en-IN" alt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</a:br>
            <a:r>
              <a:rPr kumimoji="0" lang="en-IN" alt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Step 5: Max heap is created and 5 is swapped with 1.</a:t>
            </a:r>
            <a:br>
              <a:rPr kumimoji="0" lang="en-IN" alt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</a:br>
            <a:r>
              <a:rPr kumimoji="0" lang="en-IN" alt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Step 6: 5 is disconnected from heap.</a:t>
            </a:r>
            <a:br>
              <a:rPr kumimoji="0" lang="en-IN" alt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</a:br>
            <a:r>
              <a:rPr kumimoji="0" lang="en-IN" alt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Step 7: Max heap is created and 4 is swapped with 3.</a:t>
            </a:r>
            <a:br>
              <a:rPr kumimoji="0" lang="en-IN" alt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</a:br>
            <a:r>
              <a:rPr kumimoji="0" lang="en-IN" alt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Step 8: 4 is disconnected from heap.</a:t>
            </a:r>
            <a:br>
              <a:rPr kumimoji="0" lang="en-IN" alt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</a:br>
            <a:r>
              <a:rPr kumimoji="0" lang="en-IN" alt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Step 9: Max heap is created and 3 is swapped with 1.</a:t>
            </a:r>
            <a:br>
              <a:rPr kumimoji="0" lang="en-IN" alt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</a:br>
            <a:r>
              <a:rPr kumimoji="0" lang="en-IN" alt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mbria" pitchFamily="18" charset="0"/>
                <a:ea typeface="+mn-ea"/>
                <a:cs typeface="+mn-cs"/>
              </a:rPr>
              <a:t>Step 10: 3 is disconnected.</a:t>
            </a:r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08ECBEF0-66D4-1845-3D2D-12AAE7E398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152400"/>
            <a:ext cx="5400675" cy="11856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06417EDB-8E5E-8B4D-D97A-C40A1D2C0A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90600" y="152400"/>
            <a:ext cx="2254250" cy="1211413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4F81BD">
                <a:gamma/>
                <a:shade val="60000"/>
                <a:invGamma/>
              </a:srgbClr>
            </a:prstShdw>
          </a:effectLst>
        </p:spPr>
      </p:pic>
    </p:spTree>
    <p:extLst>
      <p:ext uri="{BB962C8B-B14F-4D97-AF65-F5344CB8AC3E}">
        <p14:creationId xmlns:p14="http://schemas.microsoft.com/office/powerpoint/2010/main" val="23434270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58ED7B2B-3C4C-BD32-368E-5CEFDE5B1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927B80D8-21D1-DE9C-8555-7FF8FD9C0E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D8B6B9-BC1E-BF2D-C361-72F4E77BC59A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7</a:t>
            </a:r>
          </a:p>
        </p:txBody>
      </p:sp>
      <p:pic>
        <p:nvPicPr>
          <p:cNvPr id="2" name="Content Placeholder 3">
            <a:extLst>
              <a:ext uri="{FF2B5EF4-FFF2-40B4-BE49-F238E27FC236}">
                <a16:creationId xmlns:a16="http://schemas.microsoft.com/office/drawing/2014/main" id="{76C64002-F4D1-23D7-8167-28AE4C435B0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457200"/>
            <a:ext cx="7010400" cy="44593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824608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F6C0D815-F79F-B6C0-4173-D6CE8FCA0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8C44F073-D7B1-0B43-612A-57E2390D5B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13DE7D-9E53-F98F-7AD4-414F13E31DFC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7</a:t>
            </a:r>
          </a:p>
        </p:txBody>
      </p:sp>
      <p:pic>
        <p:nvPicPr>
          <p:cNvPr id="2" name="Content Placeholder 3">
            <a:extLst>
              <a:ext uri="{FF2B5EF4-FFF2-40B4-BE49-F238E27FC236}">
                <a16:creationId xmlns:a16="http://schemas.microsoft.com/office/drawing/2014/main" id="{87AB18A7-ECEF-5169-A38B-D55572C4869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533400"/>
            <a:ext cx="7036904" cy="41711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578885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4BCF74A6-9F08-DA88-30B3-1CA9DFFF3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3E9E831B-C8FE-EFD0-C6CA-0254A839D2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9926E1-83C5-7AC7-DD75-C7509F5DC9EE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7</a:t>
            </a:r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4D3FD728-4EA0-CEC9-6A3D-6094EA9A92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6100" y="164725"/>
            <a:ext cx="701040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4">
            <a:extLst>
              <a:ext uri="{FF2B5EF4-FFF2-40B4-BE49-F238E27FC236}">
                <a16:creationId xmlns:a16="http://schemas.microsoft.com/office/drawing/2014/main" id="{5ECF3356-5576-5684-B186-AEBA42EED8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3700" y="2755525"/>
            <a:ext cx="6553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After all the steps, we will get a sorted array.</a:t>
            </a:r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C27AD4CE-C976-8334-B021-89DBD6A8DC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3350" y="3286500"/>
            <a:ext cx="5543550" cy="169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641998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D73A307A-CE29-BC0F-29E7-7B3F013D1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52317C32-BF02-363F-B0BF-AC61D94334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2FDCCC-37D4-B40E-F581-8DEC0D7B0664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7</a:t>
            </a: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FE3FE487-110B-7EFE-A77B-67D86AC01E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58694" y="393764"/>
            <a:ext cx="7315754" cy="4350514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</p:pic>
    </p:spTree>
    <p:extLst>
      <p:ext uri="{BB962C8B-B14F-4D97-AF65-F5344CB8AC3E}">
        <p14:creationId xmlns:p14="http://schemas.microsoft.com/office/powerpoint/2010/main" val="7704844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481CAD2E-7B1E-B9AE-05E7-E193B5890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2AB1DB98-E4DE-2538-5CF2-41F9DB8E3A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06BD16-DDA5-BC67-773C-32225A52841F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7</a:t>
            </a:r>
          </a:p>
        </p:txBody>
      </p:sp>
      <p:sp>
        <p:nvSpPr>
          <p:cNvPr id="2" name="Google Shape;350;p8">
            <a:extLst>
              <a:ext uri="{FF2B5EF4-FFF2-40B4-BE49-F238E27FC236}">
                <a16:creationId xmlns:a16="http://schemas.microsoft.com/office/drawing/2014/main" id="{1ED60611-3D8C-2FED-A4C2-BDF07FA8EF50}"/>
              </a:ext>
            </a:extLst>
          </p:cNvPr>
          <p:cNvSpPr txBox="1">
            <a:spLocks/>
          </p:cNvSpPr>
          <p:nvPr/>
        </p:nvSpPr>
        <p:spPr>
          <a:xfrm>
            <a:off x="968776" y="40555"/>
            <a:ext cx="7417724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C00000"/>
              </a:buClr>
              <a:buSzPts val="2400"/>
              <a:buFont typeface="Cambria"/>
              <a:buNone/>
            </a:pPr>
            <a:r>
              <a:rPr lang="en-US" sz="40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mbria"/>
              </a:rPr>
              <a:t>Applications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107FEA0-DA52-9BE0-254F-D8CBE3C16E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8776" y="806675"/>
            <a:ext cx="6861174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Job Scheduling Systems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Bandwidth Management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CPU Task Scheduling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Memory Management (Garbage Collection)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Event-Driven Simulations</a:t>
            </a:r>
          </a:p>
        </p:txBody>
      </p:sp>
    </p:spTree>
    <p:extLst>
      <p:ext uri="{BB962C8B-B14F-4D97-AF65-F5344CB8AC3E}">
        <p14:creationId xmlns:p14="http://schemas.microsoft.com/office/powerpoint/2010/main" val="35688247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A341A732-D0F0-17B1-B627-DB7F5C983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8F187A80-B81E-8273-161A-1C2F1A9691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ADC4BE-724D-BC03-5D67-42F1D9732F86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17</a:t>
            </a:r>
          </a:p>
        </p:txBody>
      </p:sp>
      <p:sp>
        <p:nvSpPr>
          <p:cNvPr id="2" name="Google Shape;398;p16">
            <a:extLst>
              <a:ext uri="{FF2B5EF4-FFF2-40B4-BE49-F238E27FC236}">
                <a16:creationId xmlns:a16="http://schemas.microsoft.com/office/drawing/2014/main" id="{C1F7B2A6-F326-C535-25E2-C1FF3909D4C8}"/>
              </a:ext>
            </a:extLst>
          </p:cNvPr>
          <p:cNvSpPr txBox="1">
            <a:spLocks/>
          </p:cNvSpPr>
          <p:nvPr/>
        </p:nvSpPr>
        <p:spPr>
          <a:xfrm>
            <a:off x="833700" y="88964"/>
            <a:ext cx="7552800" cy="470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C00000"/>
              </a:buClr>
              <a:buSzPts val="2800"/>
              <a:buFont typeface="Cambria"/>
              <a:buNone/>
            </a:pPr>
            <a:r>
              <a:rPr lang="en-US" sz="4000" b="1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mbria"/>
              </a:rPr>
              <a:t>Summary</a:t>
            </a:r>
            <a:endParaRPr lang="en-US" sz="40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EC2617-B205-DEFF-881E-AA8B19B424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1962" y="806675"/>
            <a:ext cx="8001000" cy="342076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ct val="0"/>
              </a:spcBef>
              <a:buClr>
                <a:srgbClr val="000000"/>
              </a:buClr>
              <a:buSzPts val="2000"/>
              <a:buFont typeface="Arial" panose="020B0604020202020204" pitchFamily="34" charset="0"/>
              <a:buNone/>
              <a:defRPr/>
            </a:pPr>
            <a:r>
              <a:rPr lang="en-US" altLang="en-US" dirty="0">
                <a:solidFill>
                  <a:schemeClr val="bg2"/>
                </a:solidFill>
                <a:ea typeface="Cambria" pitchFamily="18" charset="0"/>
                <a:cs typeface="Cambria" pitchFamily="18" charset="0"/>
                <a:sym typeface="Cambria" pitchFamily="18" charset="0"/>
              </a:rPr>
              <a:t>Introduction to Heaps</a:t>
            </a:r>
          </a:p>
          <a:p>
            <a:pPr lvl="1">
              <a:spcBef>
                <a:spcPct val="0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en-US" altLang="en-US" sz="2300" dirty="0">
                <a:solidFill>
                  <a:schemeClr val="bg2"/>
                </a:solidFill>
              </a:rPr>
              <a:t>Basic terms</a:t>
            </a:r>
          </a:p>
          <a:p>
            <a:pPr marL="457200" lvl="1" indent="0">
              <a:spcBef>
                <a:spcPct val="0"/>
              </a:spcBef>
              <a:buClr>
                <a:srgbClr val="000000"/>
              </a:buClr>
              <a:buFont typeface="Arial" panose="020B0604020202020204" pitchFamily="34" charset="0"/>
              <a:buNone/>
              <a:defRPr/>
            </a:pPr>
            <a:endParaRPr lang="en-US" altLang="en-US" sz="2400" dirty="0">
              <a:solidFill>
                <a:schemeClr val="bg2"/>
              </a:solidFill>
            </a:endParaRPr>
          </a:p>
          <a:p>
            <a:pPr marL="457200" lvl="1" indent="0">
              <a:spcBef>
                <a:spcPct val="0"/>
              </a:spcBef>
              <a:buClr>
                <a:srgbClr val="000000"/>
              </a:buClr>
              <a:buFont typeface="Arial" panose="020B0604020202020204" pitchFamily="34" charset="0"/>
              <a:buNone/>
              <a:defRPr/>
            </a:pPr>
            <a:r>
              <a:rPr lang="en-US" altLang="en-US" sz="2400" dirty="0">
                <a:solidFill>
                  <a:schemeClr val="bg2"/>
                </a:solidFill>
              </a:rPr>
              <a:t>Types of Heaps</a:t>
            </a:r>
          </a:p>
          <a:p>
            <a:pPr lvl="1">
              <a:spcBef>
                <a:spcPct val="0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solidFill>
                  <a:schemeClr val="bg2"/>
                </a:solidFill>
              </a:rPr>
              <a:t>Max-heap</a:t>
            </a:r>
          </a:p>
          <a:p>
            <a:pPr lvl="1">
              <a:spcBef>
                <a:spcPct val="0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solidFill>
                  <a:schemeClr val="bg2"/>
                </a:solidFill>
              </a:rPr>
              <a:t>Min-heap</a:t>
            </a:r>
          </a:p>
          <a:p>
            <a:pPr lvl="1">
              <a:spcBef>
                <a:spcPct val="0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endParaRPr lang="en-US" altLang="en-US" sz="2400" dirty="0">
              <a:solidFill>
                <a:schemeClr val="bg2"/>
              </a:solidFill>
            </a:endParaRPr>
          </a:p>
          <a:p>
            <a:pPr lvl="1">
              <a:spcBef>
                <a:spcPct val="0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en-US" altLang="en-US" sz="2400" dirty="0">
                <a:solidFill>
                  <a:schemeClr val="bg2"/>
                </a:solidFill>
              </a:rPr>
              <a:t>Heap Sort</a:t>
            </a:r>
          </a:p>
          <a:p>
            <a:pPr lvl="1">
              <a:spcBef>
                <a:spcPct val="0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endParaRPr lang="en-US" altLang="en-US" sz="2400" dirty="0"/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7012802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8834F766-A176-EC7F-DA61-121F22B56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C22884BC-C924-1064-8AE8-EA2EEEF317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F7270C-BEA4-72D0-7C70-EF18C77EEAA8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18</a:t>
            </a:r>
          </a:p>
        </p:txBody>
      </p:sp>
      <p:sp>
        <p:nvSpPr>
          <p:cNvPr id="2" name="Google Shape;398;p16">
            <a:extLst>
              <a:ext uri="{FF2B5EF4-FFF2-40B4-BE49-F238E27FC236}">
                <a16:creationId xmlns:a16="http://schemas.microsoft.com/office/drawing/2014/main" id="{29C0C67A-C50A-18DC-412A-99E3C5164A3A}"/>
              </a:ext>
            </a:extLst>
          </p:cNvPr>
          <p:cNvSpPr txBox="1">
            <a:spLocks/>
          </p:cNvSpPr>
          <p:nvPr/>
        </p:nvSpPr>
        <p:spPr>
          <a:xfrm>
            <a:off x="845130" y="264735"/>
            <a:ext cx="7924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C00000"/>
              </a:buClr>
              <a:buSzPts val="2800"/>
              <a:buFont typeface="Cambria"/>
              <a:buNone/>
            </a:pPr>
            <a:r>
              <a:rPr lang="en-US" sz="4000" b="1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mbria"/>
              </a:rPr>
              <a:t>Next Lecture</a:t>
            </a:r>
            <a:endParaRPr lang="en-US" sz="40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432E31-17F2-24E4-4864-9A36FB7A0BA0}"/>
              </a:ext>
            </a:extLst>
          </p:cNvPr>
          <p:cNvSpPr txBox="1"/>
          <p:nvPr/>
        </p:nvSpPr>
        <p:spPr>
          <a:xfrm>
            <a:off x="757500" y="1186755"/>
            <a:ext cx="78981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Graphs</a:t>
            </a:r>
            <a:endParaRPr lang="en-IN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02148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357FC081-CD9A-5890-31B1-05B3C94BF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37BF6050-4B71-52AA-64DB-492D3464A4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91A00A-7547-9CA1-AE7A-367A9D781316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19</a:t>
            </a:r>
          </a:p>
        </p:txBody>
      </p:sp>
      <p:sp>
        <p:nvSpPr>
          <p:cNvPr id="2" name="Google Shape;398;p16">
            <a:extLst>
              <a:ext uri="{FF2B5EF4-FFF2-40B4-BE49-F238E27FC236}">
                <a16:creationId xmlns:a16="http://schemas.microsoft.com/office/drawing/2014/main" id="{6A560F48-626F-3E22-D367-BDFCE56FCAB9}"/>
              </a:ext>
            </a:extLst>
          </p:cNvPr>
          <p:cNvSpPr txBox="1">
            <a:spLocks/>
          </p:cNvSpPr>
          <p:nvPr/>
        </p:nvSpPr>
        <p:spPr>
          <a:xfrm>
            <a:off x="1068162" y="197075"/>
            <a:ext cx="7924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C00000"/>
              </a:buClr>
              <a:buSzPts val="2800"/>
              <a:buFont typeface="Cambria"/>
              <a:buNone/>
            </a:pPr>
            <a:r>
              <a:rPr lang="en-US" sz="40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mbria"/>
              </a:rPr>
              <a:t>Quiz</a:t>
            </a:r>
            <a:endParaRPr lang="en-US" sz="40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13C147D-A384-28BF-232E-B57460190F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106" y="917763"/>
            <a:ext cx="792480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the time complexity of inserting an element into a binary heap of size n?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A) O(1)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B) O(log n)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C) O(n)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D) O(n log 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Which data structure is most commonly used to implement a binary heap?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A) Linked list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B) Array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C) Hash table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D) Binary search tree</a:t>
            </a:r>
          </a:p>
        </p:txBody>
      </p:sp>
    </p:spTree>
    <p:extLst>
      <p:ext uri="{BB962C8B-B14F-4D97-AF65-F5344CB8AC3E}">
        <p14:creationId xmlns:p14="http://schemas.microsoft.com/office/powerpoint/2010/main" val="42229768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8C16E0BE-5E4E-D8A1-5CB2-8142F9754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B227BF8B-63CF-08D9-3EFB-1157B57C13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7C2C36-4064-467E-F174-5CD0AE20BD03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20</a:t>
            </a:r>
          </a:p>
        </p:txBody>
      </p:sp>
      <p:sp>
        <p:nvSpPr>
          <p:cNvPr id="2" name="Google Shape;392;p15">
            <a:extLst>
              <a:ext uri="{FF2B5EF4-FFF2-40B4-BE49-F238E27FC236}">
                <a16:creationId xmlns:a16="http://schemas.microsoft.com/office/drawing/2014/main" id="{4B714057-CA43-4B1E-290C-27F7B4BBA00C}"/>
              </a:ext>
            </a:extLst>
          </p:cNvPr>
          <p:cNvSpPr txBox="1">
            <a:spLocks/>
          </p:cNvSpPr>
          <p:nvPr/>
        </p:nvSpPr>
        <p:spPr>
          <a:xfrm>
            <a:off x="952500" y="342338"/>
            <a:ext cx="7924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C00000"/>
              </a:buClr>
              <a:buSzPts val="2400"/>
            </a:pPr>
            <a:r>
              <a:rPr lang="en-US" sz="40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References/ Articles/ Videos</a:t>
            </a:r>
            <a:br>
              <a:rPr lang="en-US" sz="40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4000" b="1" dirty="0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mbria"/>
            </a:endParaRPr>
          </a:p>
        </p:txBody>
      </p:sp>
      <p:sp>
        <p:nvSpPr>
          <p:cNvPr id="5" name="Google Shape;157;p25">
            <a:extLst>
              <a:ext uri="{FF2B5EF4-FFF2-40B4-BE49-F238E27FC236}">
                <a16:creationId xmlns:a16="http://schemas.microsoft.com/office/drawing/2014/main" id="{FCC1F8F8-22E7-8748-7EE2-8308B2E4F00C}"/>
              </a:ext>
            </a:extLst>
          </p:cNvPr>
          <p:cNvSpPr txBox="1">
            <a:spLocks/>
          </p:cNvSpPr>
          <p:nvPr/>
        </p:nvSpPr>
        <p:spPr>
          <a:xfrm>
            <a:off x="757500" y="806674"/>
            <a:ext cx="8001000" cy="399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b="1" dirty="0">
                <a:solidFill>
                  <a:schemeClr val="bg2"/>
                </a:solidFill>
              </a:rPr>
              <a:t>Text books:</a:t>
            </a:r>
            <a:endParaRPr lang="en-US" dirty="0">
              <a:solidFill>
                <a:schemeClr val="bg2"/>
              </a:solidFill>
            </a:endParaRPr>
          </a:p>
          <a:p>
            <a:pPr>
              <a:defRPr/>
            </a:pPr>
            <a:r>
              <a:rPr lang="en-US" sz="1800" dirty="0" err="1">
                <a:solidFill>
                  <a:schemeClr val="bg2"/>
                </a:solidFill>
              </a:rPr>
              <a:t>Cormen</a:t>
            </a:r>
            <a:r>
              <a:rPr lang="en-US" sz="1800" dirty="0">
                <a:solidFill>
                  <a:schemeClr val="bg2"/>
                </a:solidFill>
              </a:rPr>
              <a:t>, </a:t>
            </a:r>
            <a:r>
              <a:rPr lang="en-US" sz="1800" dirty="0" err="1">
                <a:solidFill>
                  <a:schemeClr val="bg2"/>
                </a:solidFill>
              </a:rPr>
              <a:t>Leiserson</a:t>
            </a:r>
            <a:r>
              <a:rPr lang="en-US" sz="1800" dirty="0">
                <a:solidFill>
                  <a:schemeClr val="bg2"/>
                </a:solidFill>
              </a:rPr>
              <a:t>, Rivest, Stein, “</a:t>
            </a:r>
            <a:r>
              <a:rPr lang="en-US" sz="1800" i="1" dirty="0">
                <a:solidFill>
                  <a:schemeClr val="bg2"/>
                </a:solidFill>
              </a:rPr>
              <a:t>Introduction to Algorithms</a:t>
            </a:r>
            <a:r>
              <a:rPr lang="en-US" sz="1800" dirty="0">
                <a:solidFill>
                  <a:schemeClr val="bg2"/>
                </a:solidFill>
              </a:rPr>
              <a:t>”, Prentice Hall of India, 3</a:t>
            </a:r>
            <a:r>
              <a:rPr lang="en-US" sz="1800" baseline="30000" dirty="0">
                <a:solidFill>
                  <a:schemeClr val="bg2"/>
                </a:solidFill>
              </a:rPr>
              <a:t>rd</a:t>
            </a:r>
            <a:r>
              <a:rPr lang="en-US" sz="1800" dirty="0">
                <a:solidFill>
                  <a:schemeClr val="bg2"/>
                </a:solidFill>
              </a:rPr>
              <a:t> edition 2012. problem, Graph coloring.</a:t>
            </a:r>
          </a:p>
          <a:p>
            <a:pPr>
              <a:defRPr/>
            </a:pPr>
            <a:r>
              <a:rPr lang="en-US" sz="1800" dirty="0">
                <a:solidFill>
                  <a:schemeClr val="bg2"/>
                </a:solidFill>
              </a:rPr>
              <a:t>Horowitz, Sahni and Rajasekaran, “</a:t>
            </a:r>
            <a:r>
              <a:rPr lang="en-US" sz="1800" i="1" dirty="0">
                <a:solidFill>
                  <a:schemeClr val="bg2"/>
                </a:solidFill>
              </a:rPr>
              <a:t>Fundamentals of </a:t>
            </a:r>
            <a:r>
              <a:rPr lang="en-US" sz="1800" i="1" dirty="0" err="1">
                <a:solidFill>
                  <a:schemeClr val="bg2"/>
                </a:solidFill>
              </a:rPr>
              <a:t>ComputerAlgorithms</a:t>
            </a:r>
            <a:r>
              <a:rPr lang="en-US" sz="1800" i="1" dirty="0">
                <a:solidFill>
                  <a:schemeClr val="bg2"/>
                </a:solidFill>
              </a:rPr>
              <a:t>”</a:t>
            </a:r>
            <a:r>
              <a:rPr lang="en-US" sz="1800" dirty="0">
                <a:solidFill>
                  <a:schemeClr val="bg2"/>
                </a:solidFill>
              </a:rPr>
              <a:t>, University Press (India), 2</a:t>
            </a:r>
            <a:r>
              <a:rPr lang="en-US" sz="1800" baseline="30000" dirty="0">
                <a:solidFill>
                  <a:schemeClr val="bg2"/>
                </a:solidFill>
              </a:rPr>
              <a:t>nd</a:t>
            </a:r>
            <a:r>
              <a:rPr lang="en-US" sz="1800" dirty="0">
                <a:solidFill>
                  <a:schemeClr val="bg2"/>
                </a:solidFill>
              </a:rPr>
              <a:t> edition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US" b="1" dirty="0">
              <a:solidFill>
                <a:schemeClr val="bg2"/>
              </a:solidFill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b="1" dirty="0">
                <a:solidFill>
                  <a:schemeClr val="bg2"/>
                </a:solidFill>
              </a:rPr>
              <a:t>Websites:</a:t>
            </a:r>
            <a:endParaRPr lang="en-US" b="1" u="sng" dirty="0">
              <a:solidFill>
                <a:schemeClr val="bg2"/>
              </a:solidFill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indent="-457200">
              <a:buFont typeface="Arial"/>
              <a:buAutoNum type="arabicPeriod"/>
              <a:defRPr/>
            </a:pPr>
            <a:r>
              <a:rPr lang="en-US" sz="1800" dirty="0">
                <a:solidFill>
                  <a:schemeClr val="bg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https://www.tutorialspoint.com/data_structures_algorithms/heap_data_structure.htm</a:t>
            </a:r>
            <a:endParaRPr lang="en-US" sz="1800" dirty="0">
              <a:solidFill>
                <a:schemeClr val="bg2"/>
              </a:solidFill>
            </a:endParaRPr>
          </a:p>
          <a:p>
            <a:pPr indent="-457200">
              <a:buFont typeface="Arial"/>
              <a:buAutoNum type="arabicPeriod"/>
              <a:defRPr/>
            </a:pPr>
            <a:r>
              <a:rPr lang="en-US" sz="2000" dirty="0">
                <a:solidFill>
                  <a:schemeClr val="bg2"/>
                </a:solidFill>
              </a:rPr>
              <a:t>https://www.geeksforgeeks.org/</a:t>
            </a:r>
          </a:p>
        </p:txBody>
      </p:sp>
    </p:spTree>
    <p:extLst>
      <p:ext uri="{BB962C8B-B14F-4D97-AF65-F5344CB8AC3E}">
        <p14:creationId xmlns:p14="http://schemas.microsoft.com/office/powerpoint/2010/main" val="34398201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C6C23ABF-C8EE-EA05-F7EE-2B8C43F1E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593698A8-3266-35AD-BB7C-2D517F1F53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BF33F5-B0C9-AAA6-044A-76C3D9E8D88A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21</a:t>
            </a:r>
          </a:p>
        </p:txBody>
      </p:sp>
      <p:sp>
        <p:nvSpPr>
          <p:cNvPr id="2" name="Google Shape;398;p16">
            <a:extLst>
              <a:ext uri="{FF2B5EF4-FFF2-40B4-BE49-F238E27FC236}">
                <a16:creationId xmlns:a16="http://schemas.microsoft.com/office/drawing/2014/main" id="{6F49410F-EBB5-30E5-9EAD-BE507179EEE1}"/>
              </a:ext>
            </a:extLst>
          </p:cNvPr>
          <p:cNvSpPr txBox="1">
            <a:spLocks/>
          </p:cNvSpPr>
          <p:nvPr/>
        </p:nvSpPr>
        <p:spPr>
          <a:xfrm>
            <a:off x="948000" y="583857"/>
            <a:ext cx="7924800" cy="659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SzPts val="1900"/>
            </a:pPr>
            <a:r>
              <a:rPr lang="en-US" sz="40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Faculty-curated videos, NPTEL, Coursera, LinkedIn, or other relevant learning resources</a:t>
            </a:r>
          </a:p>
        </p:txBody>
      </p:sp>
      <p:sp>
        <p:nvSpPr>
          <p:cNvPr id="3" name="Google Shape;399;p16">
            <a:extLst>
              <a:ext uri="{FF2B5EF4-FFF2-40B4-BE49-F238E27FC236}">
                <a16:creationId xmlns:a16="http://schemas.microsoft.com/office/drawing/2014/main" id="{FD57801D-30BB-E7C7-3950-4312264ED9AE}"/>
              </a:ext>
            </a:extLst>
          </p:cNvPr>
          <p:cNvSpPr txBox="1">
            <a:spLocks/>
          </p:cNvSpPr>
          <p:nvPr/>
        </p:nvSpPr>
        <p:spPr>
          <a:xfrm>
            <a:off x="757500" y="1781227"/>
            <a:ext cx="8001000" cy="277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27100" lvl="1" indent="-457200">
              <a:spcBef>
                <a:spcPts val="0"/>
              </a:spcBef>
              <a:buClr>
                <a:srgbClr val="000000"/>
              </a:buClr>
              <a:buSzPts val="200"/>
              <a:buFont typeface="+mj-lt"/>
              <a:buAutoNum type="arabicPeriod"/>
            </a:pPr>
            <a:endParaRPr lang="en-IN" dirty="0"/>
          </a:p>
          <a:p>
            <a:pPr marL="584200" indent="-457200">
              <a:spcBef>
                <a:spcPts val="400"/>
              </a:spcBef>
              <a:buSzPts val="2000"/>
              <a:buFont typeface="+mj-lt"/>
              <a:buAutoNum type="arabicPeriod"/>
            </a:pPr>
            <a:r>
              <a:rPr lang="en-IN" sz="2000" dirty="0">
                <a:latin typeface="Calibri"/>
                <a:ea typeface="Calibri"/>
                <a:cs typeface="Calibri"/>
                <a:sym typeface="Calibri"/>
                <a:hlinkClick r:id="rId3"/>
              </a:rPr>
              <a:t>https://onlinecourses.nptel.ac.in/noc23_cs96/preview</a:t>
            </a:r>
            <a:r>
              <a:rPr lang="en-IN" sz="2000" dirty="0">
                <a:latin typeface="Calibri"/>
                <a:ea typeface="Calibri"/>
                <a:cs typeface="Calibri"/>
                <a:sym typeface="Calibri"/>
              </a:rPr>
              <a:t> </a:t>
            </a:r>
          </a:p>
          <a:p>
            <a:pPr marL="584200" indent="-457200">
              <a:spcBef>
                <a:spcPts val="400"/>
              </a:spcBef>
              <a:buSzPts val="2000"/>
              <a:buFont typeface="+mj-lt"/>
              <a:buAutoNum type="arabicPeriod"/>
            </a:pPr>
            <a:r>
              <a:rPr lang="en-IN" sz="2000" dirty="0">
                <a:latin typeface="Calibri"/>
                <a:ea typeface="Calibri"/>
                <a:cs typeface="Calibri"/>
                <a:sym typeface="Calibri"/>
                <a:hlinkClick r:id="rId4"/>
              </a:rPr>
              <a:t>https://nptel.ac.in/courses/106106131</a:t>
            </a:r>
            <a:endParaRPr lang="en-IN" sz="2000" dirty="0">
              <a:latin typeface="Calibri"/>
              <a:ea typeface="Calibri"/>
              <a:cs typeface="Calibri"/>
              <a:sym typeface="Calibri"/>
            </a:endParaRPr>
          </a:p>
          <a:p>
            <a:pPr marL="584200" indent="-457200">
              <a:spcBef>
                <a:spcPts val="400"/>
              </a:spcBef>
              <a:buSzPts val="2000"/>
              <a:buFont typeface="+mj-lt"/>
              <a:buAutoNum type="arabicPeriod"/>
            </a:pPr>
            <a:r>
              <a:rPr lang="en-IN" sz="2000" dirty="0">
                <a:latin typeface="Calibri"/>
                <a:ea typeface="Calibri"/>
                <a:cs typeface="Calibri"/>
                <a:sym typeface="Calibri"/>
                <a:hlinkClick r:id="rId5"/>
              </a:rPr>
              <a:t>https://nptel.ac.in/courses/106106208</a:t>
            </a:r>
            <a:endParaRPr lang="en-IN" sz="2000" dirty="0">
              <a:latin typeface="Calibri"/>
              <a:ea typeface="Calibri"/>
              <a:cs typeface="Calibri"/>
              <a:sym typeface="Calibri"/>
            </a:endParaRPr>
          </a:p>
          <a:p>
            <a:pPr marL="584200" indent="-457200">
              <a:spcBef>
                <a:spcPts val="400"/>
              </a:spcBef>
              <a:buSzPts val="2000"/>
              <a:buFont typeface="+mj-lt"/>
              <a:buAutoNum type="arabicPeriod"/>
            </a:pPr>
            <a:r>
              <a:rPr lang="en-IN" sz="2000" dirty="0">
                <a:latin typeface="Calibri"/>
                <a:ea typeface="Calibri"/>
                <a:cs typeface="Calibri"/>
                <a:sym typeface="Calibri"/>
                <a:hlinkClick r:id="rId6"/>
              </a:rPr>
              <a:t>https://www.linkedin.com/learning/learning-algorithms</a:t>
            </a:r>
            <a:endParaRPr lang="en-IN" sz="2000" dirty="0">
              <a:latin typeface="Calibri"/>
              <a:ea typeface="Calibri"/>
              <a:cs typeface="Calibri"/>
              <a:sym typeface="Calibri"/>
            </a:endParaRPr>
          </a:p>
          <a:p>
            <a:pPr marL="127000" indent="0">
              <a:spcBef>
                <a:spcPts val="400"/>
              </a:spcBef>
              <a:buSzPts val="2000"/>
              <a:buFont typeface="Arial"/>
              <a:buNone/>
            </a:pPr>
            <a:endParaRPr lang="en-IN" sz="2000" dirty="0">
              <a:latin typeface="Calibri"/>
              <a:ea typeface="Calibri"/>
              <a:cs typeface="Calibri"/>
              <a:sym typeface="Calibri"/>
            </a:endParaRPr>
          </a:p>
          <a:p>
            <a:pPr marL="127000" indent="0">
              <a:spcBef>
                <a:spcPts val="400"/>
              </a:spcBef>
              <a:buSzPts val="2000"/>
              <a:buFont typeface="Arial"/>
              <a:buNone/>
            </a:pPr>
            <a:endParaRPr lang="en-IN" sz="2000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290558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53141664-9E0A-0C54-B96F-BED84C545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C468A3DE-696B-7FC9-013F-76B2E3B5B3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7B4478-479B-A962-4153-A5D9BEBE8CD1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23</a:t>
            </a:r>
          </a:p>
        </p:txBody>
      </p:sp>
      <p:sp>
        <p:nvSpPr>
          <p:cNvPr id="2" name="Google Shape;398;p16">
            <a:extLst>
              <a:ext uri="{FF2B5EF4-FFF2-40B4-BE49-F238E27FC236}">
                <a16:creationId xmlns:a16="http://schemas.microsoft.com/office/drawing/2014/main" id="{5CF26446-8E74-2ED0-D707-24246C6EC751}"/>
              </a:ext>
            </a:extLst>
          </p:cNvPr>
          <p:cNvSpPr txBox="1">
            <a:spLocks/>
          </p:cNvSpPr>
          <p:nvPr/>
        </p:nvSpPr>
        <p:spPr>
          <a:xfrm>
            <a:off x="876443" y="393764"/>
            <a:ext cx="7924800" cy="659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SzPts val="1900"/>
            </a:pPr>
            <a:r>
              <a: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Class-Wise </a:t>
            </a:r>
            <a:r>
              <a:rPr lang="en-IN" sz="40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Feedback</a:t>
            </a:r>
            <a:endParaRPr lang="en-US" sz="4000" b="1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71230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8A55AB18-D4CA-00FD-9048-6518AF6BF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F1900A86-A15B-28B5-54CA-49F17AC3B9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432125" y="1709456"/>
            <a:ext cx="6000750" cy="21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rmAutofit/>
          </a:bodyPr>
          <a:lstStyle/>
          <a:p>
            <a:pPr marL="257175" indent="-257175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57175" indent="-257175" algn="just">
              <a:lnSpc>
                <a:spcPct val="100000"/>
              </a:lnSpc>
              <a:buNone/>
            </a:pPr>
            <a:r>
              <a:rPr lang="en-US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11F095B4-BE95-F6C7-73C0-ED3F8AB0372C}"/>
              </a:ext>
            </a:extLst>
          </p:cNvPr>
          <p:cNvSpPr txBox="1"/>
          <p:nvPr/>
        </p:nvSpPr>
        <p:spPr>
          <a:xfrm>
            <a:off x="457200" y="2270562"/>
            <a:ext cx="7328595" cy="900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6000" b="1" dirty="0">
                <a:solidFill>
                  <a:srgbClr val="FF0000"/>
                </a:solidFill>
                <a:latin typeface="Vladimir Script" panose="03050402040407070305" pitchFamily="66" charset="0"/>
                <a:ea typeface="Calibri" panose="020F0502020204030204" pitchFamily="34" charset="0"/>
                <a:cs typeface="Calibri" panose="020F0502020204030204" pitchFamily="34" charset="0"/>
              </a:rPr>
              <a:t>Thank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2A2976-DC1D-EB73-7C31-7FA517DF4948}"/>
              </a:ext>
            </a:extLst>
          </p:cNvPr>
          <p:cNvSpPr txBox="1"/>
          <p:nvPr/>
        </p:nvSpPr>
        <p:spPr>
          <a:xfrm>
            <a:off x="345989" y="3980946"/>
            <a:ext cx="440392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queries</a:t>
            </a:r>
          </a:p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Email: richa.e11307@cumail.in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79765" y="361440"/>
            <a:ext cx="33534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sz="1050" dirty="0"/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2407500439"/>
      </p:ext>
    </p:extLst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823</TotalTime>
  <Words>1079</Words>
  <Application>Microsoft Office PowerPoint</Application>
  <PresentationFormat>On-screen Show (16:9)</PresentationFormat>
  <Paragraphs>183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0" baseType="lpstr">
      <vt:lpstr>Arial</vt:lpstr>
      <vt:lpstr>Arial Black</vt:lpstr>
      <vt:lpstr>Times New Roman</vt:lpstr>
      <vt:lpstr>Lato</vt:lpstr>
      <vt:lpstr>Calibri</vt:lpstr>
      <vt:lpstr>Cambria</vt:lpstr>
      <vt:lpstr>Vladimir Script</vt:lpstr>
      <vt:lpstr>Wingdings</vt:lpstr>
      <vt:lpstr>Streamline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sony</dc:creator>
  <cp:lastModifiedBy>Richa Dhiman</cp:lastModifiedBy>
  <cp:revision>127</cp:revision>
  <dcterms:modified xsi:type="dcterms:W3CDTF">2025-05-28T04:45:25Z</dcterms:modified>
</cp:coreProperties>
</file>