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312" r:id="rId3"/>
    <p:sldId id="284" r:id="rId4"/>
    <p:sldId id="314" r:id="rId5"/>
    <p:sldId id="315" r:id="rId6"/>
    <p:sldId id="317" r:id="rId7"/>
    <p:sldId id="318" r:id="rId8"/>
    <p:sldId id="319" r:id="rId9"/>
    <p:sldId id="348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8" r:id="rId18"/>
    <p:sldId id="329" r:id="rId19"/>
    <p:sldId id="337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32" r:id="rId29"/>
    <p:sldId id="330" r:id="rId30"/>
    <p:sldId id="331" r:id="rId31"/>
    <p:sldId id="346" r:id="rId32"/>
    <p:sldId id="347" r:id="rId33"/>
    <p:sldId id="333" r:id="rId34"/>
    <p:sldId id="334" r:id="rId35"/>
    <p:sldId id="336" r:id="rId36"/>
    <p:sldId id="311" r:id="rId3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Lato" panose="020F0502020204030203" pitchFamily="34" charset="0"/>
      <p:regular r:id="rId44"/>
      <p:bold r:id="rId45"/>
      <p:italic r:id="rId46"/>
      <p:boldItalic r:id="rId47"/>
    </p:embeddedFont>
    <p:embeddedFont>
      <p:font typeface="Vladimir Script" panose="03050402040407070305" pitchFamily="66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" y="7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E1C681-A5F2-4CD9-9192-8CDED311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848B34-F6A5-DF19-4111-A06819494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CA6E172-D444-FC00-6B33-317641F0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55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2827B3C-4A96-D842-C587-3271EC4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2F06B59-0229-602E-B610-952522061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4AEA2AB-7645-5208-0E63-7560412E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25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8169236-1955-4128-44C5-58E9D95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8024DF0-1674-8F51-EEBC-683769584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D4BF737-175F-7667-E78E-646A8BB49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724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49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91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6DDF863-FDA7-E1A0-5A09-68D4C1DC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B03C203-12AC-27B9-3FFA-C7A7D6E50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32BBBB1-2558-D4FE-881C-D2B28D830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6335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16C3BF0-F04D-CC55-01DE-58461362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1C26BBB-3EE0-C367-EB17-2F01B7585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ED12312-F8C0-DB82-75C0-FC2758C0D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2370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F1E0EE1-A63F-12F4-10BB-2B0C5E51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3949B4A-8DCA-5D8A-F91E-E3E318169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D7E994A-6713-82F4-3A2F-AD2DA1A7B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1222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D04F549-C923-1FA6-0572-8E4FDBD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0D34990-FEC3-FB89-4B02-268714D73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7BCAEBB-22C0-CF35-0C48-E613A3B45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3046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65DF209-F70B-D346-7CAD-F327973A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F278F86-62B3-04BA-72AF-285D9D5D6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A2B0163-0369-FCE8-AFFD-EDC379A61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9840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E3711B1-371D-2583-D61A-67C35F3E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C593DF-5E72-43B4-DFE4-C87365070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F3C8862-36D6-FFCC-8D89-0C289A5B8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8074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147491A-4919-2F1D-0F6F-8CDCA0D7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18FB7EC-7F87-3F2F-DBEA-6A6F91B76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E50D082-34EA-751E-4314-000B6F1EC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9775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E103896-EA66-2A63-0191-6F8310FB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8ED3CB1-23E7-AA3F-12AD-954EA5704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C9439C9-F903-88F3-01AD-62544D3B7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9823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435E93B-760C-8ED5-670A-51004776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F55EDF5-3431-0161-D83B-C6A600AA9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94B9FFF-5686-5341-600F-0E6EFDFCB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297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6CBB9AA-334B-2D83-1877-63B23095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7313BD4-A33A-2B0B-1D75-4C54A0552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5B6475B-FFAE-0233-F072-686754F34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65658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8A0F956-2836-53AE-7298-960C2263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C3691A9-B417-1CE8-3E84-EDD89DEAB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8E3C9CE-FA91-5B92-BC37-8544218FF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83643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0685E72-996B-2BEA-A688-9ECBA370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543F9C3-1D55-ACDF-6748-46718419B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5FEDEB3-221D-51E0-97F2-0552D87EC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98359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7F1A330-55C8-3CB1-85BD-917D99AA9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F77D44C-443D-818A-A741-FFC2F72D7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E564296-64CB-5A4B-011D-33241FA3E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0666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C85C6B1-4BEE-1D54-397D-2D437A7F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A093FD3-F19E-9FCE-7F75-A2F9EE49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3EFBD06-EF76-C369-F61D-365A40C3F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5681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C625FE7-AC2F-6DB0-967F-9181FCBC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E9D4AFF-0C7D-EBE8-E998-6E887C0254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5D300E3-2277-07E3-6341-4FBBC7711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63125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AEB40FD-5DCE-254B-F8A6-BEB23680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6C6D62C-8EC8-FA8D-72BA-2B29EB894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108D743-9102-FD06-D023-30FC273B7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6357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E043C8-1055-89B0-88C7-E7A51054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6B27C4C-0DF8-9D21-5088-108BAA5FD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5267294-B25C-5AC4-BC31-E1C283326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63902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807BCBF-DD90-B64B-01B7-0A1A2DCD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DE9FFBC-85D2-A223-AEB4-0B2048844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B5AD55-CFC8-CB3B-1579-CBEB91269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37616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5E151C-78D3-A0D7-3962-203290E1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32940A3-2D9D-8B02-F3ED-047C9BFDF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47719C7-9D4B-79C5-F506-D1D37AE5D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42474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A1CEF5-13BF-471C-50F9-DAD18A54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EDA82E9-4E8D-3B65-E4CF-424ECC6A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62D4F-5FDA-D649-09FF-AFAD4FCD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59654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22EF6A6-3B86-409E-00F7-E71B05DE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737BE0-1811-D403-FE9C-7D9F9254B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C259C-E2D3-C61B-0E90-DB7F2E206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6100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AA7785E-43D4-9EF1-1A87-45D7A314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9920DF-19AB-06E9-7D1B-B9B877EBE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2DAF3E8-4FE5-228D-D4E4-2C8EBAB1B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0755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7694C35-ECEE-CB80-7ABC-D5A66ED2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A54C26-967D-0F1B-E277-6B0F66AF0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F9BDAD6-1FF8-F41C-7CDC-5E4E6BD88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76222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11A4484-BDE5-0941-3E3D-823FD437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749D1F0-B4B1-C98F-FD81-351208468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4863A83-2112-8A5C-CF94-F91435A69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92030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8BDF5E7-F95C-899B-EC14-E8E986C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75BA061-2CC0-FC5F-90C5-EB6DD8F8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8A0E1B-B8B2-DFD2-0A4F-7F72575E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29968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21369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35021AF-CA61-088F-7F01-7FAD5B65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0B85296-32E7-6F2C-C488-8EB7229AA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2BA18F8-0BB4-69BB-7AA0-AEDCAD359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46831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lgorithms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javatpoint.com/daa-recurrence-relation#:~:text=Recurrence%20Relation,its%20values%20on%20smaller%20inputs.&amp;text=For%20Example%2C%20the%20Worst%20Case,is%20described%20by%20the%20recurrence.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471129" y="615553"/>
            <a:ext cx="8606334" cy="440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</a:t>
            </a:r>
            <a:endParaRPr lang="en-US" sz="2000" dirty="0">
              <a:solidFill>
                <a:schemeClr val="bg2"/>
              </a:solidFill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Semester: 6th</a:t>
            </a: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i="0" u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Design and Analysis of Algorithms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(23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-301/IT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1                   Lecture No. 5,6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recurrence equations and their solution: substitution method, recursion-tree method, master method </a:t>
            </a:r>
            <a:endParaRPr lang="en-US" sz="1800" b="1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 Dhiman E11307                                                    Assistant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bg2"/>
                  </a:solidFill>
                  <a:latin typeface="Cambria"/>
                  <a:ea typeface="Cambria"/>
                  <a:cs typeface="Cambria"/>
                  <a:sym typeface="Cambria"/>
                </a:rPr>
                <a:t>Learning Objectives &amp; Outcomes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5F7465-F95D-F6A4-15DF-46606F52F5A5}"/>
              </a:ext>
            </a:extLst>
          </p:cNvPr>
          <p:cNvSpPr txBox="1">
            <a:spLocks/>
          </p:cNvSpPr>
          <p:nvPr/>
        </p:nvSpPr>
        <p:spPr bwMode="auto">
          <a:xfrm>
            <a:off x="874318" y="901700"/>
            <a:ext cx="8001000" cy="3683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Objective: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 understand Recurrence relation and its various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Outcome: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Student will understand Recurrence relation and its various types and how to solve problems using these methods.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3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5" name="Google Shape;144;p23">
            <a:extLst>
              <a:ext uri="{FF2B5EF4-FFF2-40B4-BE49-F238E27FC236}">
                <a16:creationId xmlns:a16="http://schemas.microsoft.com/office/drawing/2014/main" id="{A75E0278-59B6-C625-F142-93F3E7AFD040}"/>
              </a:ext>
            </a:extLst>
          </p:cNvPr>
          <p:cNvSpPr txBox="1">
            <a:spLocks/>
          </p:cNvSpPr>
          <p:nvPr/>
        </p:nvSpPr>
        <p:spPr>
          <a:xfrm>
            <a:off x="757500" y="197074"/>
            <a:ext cx="7924800" cy="70462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Recurrence Relation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6" name="Google Shape;145;p23">
            <a:extLst>
              <a:ext uri="{FF2B5EF4-FFF2-40B4-BE49-F238E27FC236}">
                <a16:creationId xmlns:a16="http://schemas.microsoft.com/office/drawing/2014/main" id="{77034DE0-6BA7-BCEA-C76E-234CA08B7B84}"/>
              </a:ext>
            </a:extLst>
          </p:cNvPr>
          <p:cNvSpPr txBox="1">
            <a:spLocks/>
          </p:cNvSpPr>
          <p:nvPr/>
        </p:nvSpPr>
        <p:spPr bwMode="auto">
          <a:xfrm>
            <a:off x="681300" y="1150381"/>
            <a:ext cx="8001000" cy="3186443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recurrence relation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for the sequence, a0, a1, ...an, is an equation that relates an to certain of its predecessors a0, a1, ... , an-1.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Initial conditions for the sequence a0, a1, ... are explicitly given values for a finite number of the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terms of the sequence.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9C85D7-2162-3728-41C8-9CA50DA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7259D0E-39AA-3258-E915-0F5AE1AE1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2D24C-CFB6-10CB-9BE5-A8DE190188C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6" name="Google Shape;144;p23">
            <a:extLst>
              <a:ext uri="{FF2B5EF4-FFF2-40B4-BE49-F238E27FC236}">
                <a16:creationId xmlns:a16="http://schemas.microsoft.com/office/drawing/2014/main" id="{2E2B661B-AFC8-0E5A-5E53-EFF0CAACE108}"/>
              </a:ext>
            </a:extLst>
          </p:cNvPr>
          <p:cNvSpPr txBox="1">
            <a:spLocks/>
          </p:cNvSpPr>
          <p:nvPr/>
        </p:nvSpPr>
        <p:spPr>
          <a:xfrm>
            <a:off x="833700" y="155038"/>
            <a:ext cx="7924800" cy="66433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Definition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145;p23">
            <a:extLst>
              <a:ext uri="{FF2B5EF4-FFF2-40B4-BE49-F238E27FC236}">
                <a16:creationId xmlns:a16="http://schemas.microsoft.com/office/drawing/2014/main" id="{AF2D5C67-94FD-3D72-4B6D-CE9CEF01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0" y="1168400"/>
            <a:ext cx="8001000" cy="334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 recurrence relation, T(n), is a recursive function of integer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variable 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Like all recursive functions, it has both recursive case and base case.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Example: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0282D11-8BE1-9AF4-1A15-D0E6DBC06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0" y="2925387"/>
            <a:ext cx="5246688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4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FAE9B3A-F835-EA9F-375F-E5870957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7D1F1F6-CAAE-FC79-FD0B-3C78DFCE2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DAEDE-ABD1-E62B-C206-E4DF3D0D102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16" name="Google Shape;144;p23">
            <a:extLst>
              <a:ext uri="{FF2B5EF4-FFF2-40B4-BE49-F238E27FC236}">
                <a16:creationId xmlns:a16="http://schemas.microsoft.com/office/drawing/2014/main" id="{E82638AB-6B48-DC84-E657-AAB66675AA89}"/>
              </a:ext>
            </a:extLst>
          </p:cNvPr>
          <p:cNvSpPr txBox="1">
            <a:spLocks/>
          </p:cNvSpPr>
          <p:nvPr/>
        </p:nvSpPr>
        <p:spPr>
          <a:xfrm>
            <a:off x="757500" y="197075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Definition (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Contd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…)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" name="Google Shape;145;p23">
            <a:extLst>
              <a:ext uri="{FF2B5EF4-FFF2-40B4-BE49-F238E27FC236}">
                <a16:creationId xmlns:a16="http://schemas.microsoft.com/office/drawing/2014/main" id="{2E05E289-012B-C92A-ADFF-17FA73360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400" y="1219012"/>
            <a:ext cx="8001000" cy="332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portion of the definition that does not contain T is called 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base case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of the recurrence relation; the portion that contains T is called 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recurrent or recursive case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Recurrence relations are useful for expressing the running times (i.e., the number of basic operations executed) of recursive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algorithms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24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66223F7-9809-BE29-714E-38632F45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59937E7-EC35-0CA6-69EF-64D573776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3D0D5-2563-3DDF-DDBE-37059391059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4" name="Google Shape;144;p23">
            <a:extLst>
              <a:ext uri="{FF2B5EF4-FFF2-40B4-BE49-F238E27FC236}">
                <a16:creationId xmlns:a16="http://schemas.microsoft.com/office/drawing/2014/main" id="{A8531885-F21F-2957-291C-8F63F0D8A95B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924800" cy="53293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Solving Recurrence Relation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:a16="http://schemas.microsoft.com/office/drawing/2014/main" id="{98AF2A2C-3D71-D59C-0DBC-4F8F93699849}"/>
              </a:ext>
            </a:extLst>
          </p:cNvPr>
          <p:cNvSpPr txBox="1">
            <a:spLocks/>
          </p:cNvSpPr>
          <p:nvPr/>
        </p:nvSpPr>
        <p:spPr bwMode="auto">
          <a:xfrm>
            <a:off x="757500" y="882875"/>
            <a:ext cx="8001000" cy="3930425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 solve a recurrence relation T(n) we need to derive a form of T(n) that is not a recurrence relation. Such a form is called a “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closed form”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of the recurrence relation.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There are four methods to solve recurrence relations that represent the running time of recursive methods: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Iteration method (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unrolling and summing)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Substitution method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Recursion Tree method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Master method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14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9E69A-0B72-58B1-5875-98C4F59242D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6" name="Google Shape;144;p23">
            <a:extLst>
              <a:ext uri="{FF2B5EF4-FFF2-40B4-BE49-F238E27FC236}">
                <a16:creationId xmlns:a16="http://schemas.microsoft.com/office/drawing/2014/main" id="{950CCF8A-E0EF-9008-BF33-612BA7B53953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Iteration method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8" name="Google Shape;145;p23">
            <a:extLst>
              <a:ext uri="{FF2B5EF4-FFF2-40B4-BE49-F238E27FC236}">
                <a16:creationId xmlns:a16="http://schemas.microsoft.com/office/drawing/2014/main" id="{348D5506-614E-2F28-27CE-00FF56C22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0" y="882875"/>
            <a:ext cx="8001000" cy="370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Steps: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Expand the recurrence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Express the expansion as a summation by plugging the recurrence back into itself until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see a pattern.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Evaluate the summation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71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650A-C296-32D4-88D6-EC65A0BB20C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933500-B399-F8C3-BBF3-BC55153C31FC}"/>
              </a:ext>
            </a:extLst>
          </p:cNvPr>
          <p:cNvSpPr txBox="1">
            <a:spLocks/>
          </p:cNvSpPr>
          <p:nvPr/>
        </p:nvSpPr>
        <p:spPr>
          <a:xfrm>
            <a:off x="968776" y="393764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1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66222D3-C642-C911-298F-C692A2990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863" y="1311141"/>
            <a:ext cx="8448675" cy="28956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1499376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2D4630D-5E5F-D3FA-CDC7-7CECA7A5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693CEED-5F0D-2C09-6CB6-1C7A280429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0D6F1-6081-88A2-E484-BF927B83075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C3F246-4E0B-7CD7-B88D-AE985D1C4C5B}"/>
              </a:ext>
            </a:extLst>
          </p:cNvPr>
          <p:cNvSpPr txBox="1">
            <a:spLocks/>
          </p:cNvSpPr>
          <p:nvPr/>
        </p:nvSpPr>
        <p:spPr>
          <a:xfrm>
            <a:off x="968776" y="393764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2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58300ED-CFAB-927D-7E6A-854969BDC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8237" y="1183975"/>
            <a:ext cx="6867525" cy="33909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15774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2D565F7-7B58-5C3B-FCDC-E6C0CFEF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F31FAFF-7FEE-BA83-A704-9D5C6DCDD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AA1B1-2426-1794-67B3-848ED1C7161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8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E5AF78-A635-69DA-44A2-8D492D9D6489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4177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3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3E5307D-A35C-5776-1836-F52F55F05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8776" y="1064912"/>
            <a:ext cx="7596035" cy="36290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25371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EEC0536-BF5D-71F0-87EA-F1E1B410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FCDD88A-2ADF-8A48-80BA-D52FEC540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94115-363C-5364-F65C-CCEE1956B27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9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FC347-4E4A-88DB-6E35-D5B4F5CD37AD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640748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4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05D64-4087-D9CF-D2EB-54825E817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1223" y="1145875"/>
            <a:ext cx="7867277" cy="34671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313450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7FE174C-2C6C-BACB-E1EF-E7CF8749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39610BC-42CA-7267-440D-E771D9DD4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F62AB-1496-B1F6-0FDD-173D6F0A2D2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AAC530-2D53-C0F4-52AC-9D656B5BBE0F}"/>
              </a:ext>
            </a:extLst>
          </p:cNvPr>
          <p:cNvSpPr txBox="1">
            <a:spLocks/>
          </p:cNvSpPr>
          <p:nvPr/>
        </p:nvSpPr>
        <p:spPr>
          <a:xfrm>
            <a:off x="965200" y="197075"/>
            <a:ext cx="76443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5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762089-1ABB-D5EB-BD49-CB87DE1E7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2381" y="1199925"/>
            <a:ext cx="7849962" cy="31369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64932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A18E393-2F51-EB19-24F3-365F9B67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7625D6E-BE07-D5DE-44E0-C5F84CC86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2C3F7-EF4B-C0D1-3F4C-BC5308BA675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225068-7C1F-FF91-619C-37F939B72903}"/>
              </a:ext>
            </a:extLst>
          </p:cNvPr>
          <p:cNvSpPr txBox="1">
            <a:spLocks/>
          </p:cNvSpPr>
          <p:nvPr/>
        </p:nvSpPr>
        <p:spPr>
          <a:xfrm>
            <a:off x="1600200" y="85987"/>
            <a:ext cx="6402658" cy="42538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6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6473975-A8C5-7279-AE0F-51DDFC1EA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8600" y="619387"/>
            <a:ext cx="6731000" cy="4267136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322963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5EE71D1-7E4C-9A19-B1B0-FFE86311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973ED05-330D-6F74-8DBD-D04B781EE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55D24-D161-8DDC-2D87-3D43417FA29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sp>
        <p:nvSpPr>
          <p:cNvPr id="4" name="Google Shape;144;p23">
            <a:extLst>
              <a:ext uri="{FF2B5EF4-FFF2-40B4-BE49-F238E27FC236}">
                <a16:creationId xmlns:a16="http://schemas.microsoft.com/office/drawing/2014/main" id="{7EBA843C-DDCC-E734-6586-83D23E4A8036}"/>
              </a:ext>
            </a:extLst>
          </p:cNvPr>
          <p:cNvSpPr txBox="1">
            <a:spLocks/>
          </p:cNvSpPr>
          <p:nvPr/>
        </p:nvSpPr>
        <p:spPr>
          <a:xfrm>
            <a:off x="1077022" y="239605"/>
            <a:ext cx="7915940" cy="56707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Substitution Method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:a16="http://schemas.microsoft.com/office/drawing/2014/main" id="{97434DEC-C61B-D29D-1634-58FE99C1161F}"/>
              </a:ext>
            </a:extLst>
          </p:cNvPr>
          <p:cNvSpPr txBox="1">
            <a:spLocks/>
          </p:cNvSpPr>
          <p:nvPr/>
        </p:nvSpPr>
        <p:spPr bwMode="auto">
          <a:xfrm>
            <a:off x="991962" y="849205"/>
            <a:ext cx="8001000" cy="3951395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substitution method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A.k.a. the “making a good guess method”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Guess the form of the answer, then use induction to find the constants and show that solution works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an example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merge sort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T(n) = 2T(n/2) +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cn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guess that the answer is O(n lg n)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Prove it by induction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similarly show T(n) = </a:t>
            </a:r>
            <a:r>
              <a:rPr kumimoji="0" lang="el-G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Ω(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lg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n), thus </a:t>
            </a:r>
            <a:r>
              <a:rPr kumimoji="0" lang="el-G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Θ(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lg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678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EDD4AF3-DA94-D6A0-2AC4-E934CDB0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9BE66D1-0307-3CB4-53A4-1023590A6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4B0F7-3D51-3816-CBA0-71BA2C69356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sp>
        <p:nvSpPr>
          <p:cNvPr id="4" name="Google Shape;144;p23">
            <a:extLst>
              <a:ext uri="{FF2B5EF4-FFF2-40B4-BE49-F238E27FC236}">
                <a16:creationId xmlns:a16="http://schemas.microsoft.com/office/drawing/2014/main" id="{5FC6A187-6749-FC01-D405-47ED74FB996A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7758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of Substitution Method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:a16="http://schemas.microsoft.com/office/drawing/2014/main" id="{5C526012-9F90-F713-A33F-1F623EEB84D1}"/>
              </a:ext>
            </a:extLst>
          </p:cNvPr>
          <p:cNvSpPr txBox="1">
            <a:spLocks/>
          </p:cNvSpPr>
          <p:nvPr/>
        </p:nvSpPr>
        <p:spPr bwMode="auto">
          <a:xfrm>
            <a:off x="832268" y="882875"/>
            <a:ext cx="7775824" cy="3816125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Example: T(n) = 2T(n/2) + 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Guess T(n) ≤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log n for some constant c (that is, T(n)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= O(n log n))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T(n) = 2T(n/2) + n ≤ 2(c n/2 log n/2 ) +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= cn log n/2 +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= cn log n − cn log 2 +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= cn log n − cn + 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if c ≥ 1 , condition is satisfied.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Thus, T(n) = O(n log n)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890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FD339BC-2988-866F-6816-068F5066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7540205-E2A2-B070-97D2-4A2AAA40F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1AE22-6971-5E87-F4A5-D658D237281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CAC7071-8694-CB53-A166-A294E0F9F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76200"/>
            <a:ext cx="6553200" cy="50673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700405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733F852-A886-8227-6767-5F182C71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AB50379-C410-4336-E07F-3787939FE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90169-2A0D-E993-F871-5879DBD6C48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sp>
        <p:nvSpPr>
          <p:cNvPr id="2" name="Google Shape;144;p23">
            <a:extLst>
              <a:ext uri="{FF2B5EF4-FFF2-40B4-BE49-F238E27FC236}">
                <a16:creationId xmlns:a16="http://schemas.microsoft.com/office/drawing/2014/main" id="{2D030AE6-EE26-B6A1-6205-0FDBB14A5A24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7758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Recursive Tree Methods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145;p23">
            <a:extLst>
              <a:ext uri="{FF2B5EF4-FFF2-40B4-BE49-F238E27FC236}">
                <a16:creationId xmlns:a16="http://schemas.microsoft.com/office/drawing/2014/main" id="{406BE2E0-7107-5129-ECE3-11BA1BB0E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0" y="806675"/>
            <a:ext cx="7850592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 recursion tree models the costs (time) of a recursive execution of an algorithm.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Recursion Tree Method which is in the form of a tree where at each level nodes are expanded.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recursion tree method is good for generating guesses for the substitution </a:t>
            </a: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method.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general, we consider the second term in recurrence as root.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It is useful when the divide &amp; Conquer algorithm is used.</a:t>
            </a:r>
          </a:p>
        </p:txBody>
      </p:sp>
    </p:spTree>
    <p:extLst>
      <p:ext uri="{BB962C8B-B14F-4D97-AF65-F5344CB8AC3E}">
        <p14:creationId xmlns:p14="http://schemas.microsoft.com/office/powerpoint/2010/main" val="3687422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86620C3-2F0C-7D5F-F007-46E5CC0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D73298B-3630-FF6C-CE52-520A613B4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E581D-F020-1394-D9A7-F1DB3F1AF7B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sp>
        <p:nvSpPr>
          <p:cNvPr id="6" name="Google Shape;144;p23">
            <a:extLst>
              <a:ext uri="{FF2B5EF4-FFF2-40B4-BE49-F238E27FC236}">
                <a16:creationId xmlns:a16="http://schemas.microsoft.com/office/drawing/2014/main" id="{1D57D4A9-93F6-FC8D-791E-D9616A173591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7758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Recursive Tree Methods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1610A8-CAE5-B79C-4BFC-1A557258A241}"/>
              </a:ext>
            </a:extLst>
          </p:cNvPr>
          <p:cNvSpPr txBox="1">
            <a:spLocks/>
          </p:cNvSpPr>
          <p:nvPr/>
        </p:nvSpPr>
        <p:spPr bwMode="auto">
          <a:xfrm>
            <a:off x="800243" y="1161862"/>
            <a:ext cx="8001000" cy="343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recursion-tree method can be unreliable.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recursion-tree method promotes intuition, however.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this case, only the largest term in the geometric series matters; all of the other terms are swallowed up by the Θ(·) notation.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896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3AD1DFA-BF2D-423C-6FCE-C60D21CB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C968E45-3CF5-EB52-8888-A973220A3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65434-06B7-B4E4-75F9-52CBA0C6B91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87DC72F-9D4D-B20F-4BC9-6416634F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0500" y="79375"/>
            <a:ext cx="6845300" cy="49371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4068084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05613DB-D0BD-8C12-42AC-E4D2621F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D19136F-C4FB-C8A2-A114-0C94C2357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0AC0C-814F-584F-B4BB-7A6BDD957F12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23143F-3C13-8FCC-22A7-646F13707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239875"/>
            <a:ext cx="6057900" cy="46355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2067149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9B0372F-46B3-7D97-AF80-FBA9A7D1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476DC9BD-3FFF-4DEB-FE1D-ACBFA17E1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88D6D-8E4D-64E3-4E48-452FB8C40D2D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42912391-F067-E66B-15C5-5E5F7A7F0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"/>
            <a:ext cx="5676900" cy="49784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291270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59DC6C1-C240-1F2B-13CF-98F1D341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B0BC790-8590-0838-EB52-DA60FB178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0C13A-D5E1-001E-9E76-BF5B948C74FE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sp>
        <p:nvSpPr>
          <p:cNvPr id="3" name="Google Shape;144;p23">
            <a:extLst>
              <a:ext uri="{FF2B5EF4-FFF2-40B4-BE49-F238E27FC236}">
                <a16:creationId xmlns:a16="http://schemas.microsoft.com/office/drawing/2014/main" id="{9EE9E5F1-E557-D6E0-CDAC-224877DE91CF}"/>
              </a:ext>
            </a:extLst>
          </p:cNvPr>
          <p:cNvSpPr txBox="1">
            <a:spLocks/>
          </p:cNvSpPr>
          <p:nvPr/>
        </p:nvSpPr>
        <p:spPr>
          <a:xfrm>
            <a:off x="1034492" y="175810"/>
            <a:ext cx="7575032" cy="52599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of recursion tree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0C017-B591-A6B6-0251-B3E03843D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12" y="1014011"/>
            <a:ext cx="7935848" cy="381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146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655024-8F37-68D8-62A1-8B6E1CC2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2D62E0C-97AD-EBE0-513E-C550F80A9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35A3B-707A-0F24-2361-E23D046BCB52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sp>
        <p:nvSpPr>
          <p:cNvPr id="2" name="Google Shape;144;p23">
            <a:extLst>
              <a:ext uri="{FF2B5EF4-FFF2-40B4-BE49-F238E27FC236}">
                <a16:creationId xmlns:a16="http://schemas.microsoft.com/office/drawing/2014/main" id="{06A949EA-DCF2-3DF4-5FFF-6C7CD4AD3622}"/>
              </a:ext>
            </a:extLst>
          </p:cNvPr>
          <p:cNvSpPr txBox="1">
            <a:spLocks/>
          </p:cNvSpPr>
          <p:nvPr/>
        </p:nvSpPr>
        <p:spPr>
          <a:xfrm>
            <a:off x="927100" y="197075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The Master Theorem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:a16="http://schemas.microsoft.com/office/drawing/2014/main" id="{404B0AA9-3B2C-03D8-A81D-7713E90D7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882875"/>
            <a:ext cx="8001000" cy="381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Given: a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divide and conquer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algorithm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algorithm that divides the problem of size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into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subproblems, each of size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the cost of each stage (i.e., the work to divide the problem + combine solved subproblems) be described by the function </a:t>
            </a:r>
            <a:r>
              <a:rPr kumimoji="0" lang="en-IN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Then, the Master Theorem gives us a method for the algorithm’s running time: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1100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C85DA-2E01-C06F-F84B-DB0DF80B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D343E69-9D6D-16AE-A4CE-F872DF606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75739-1C71-D140-C139-8E02A01083A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ADE67D3-3302-4AA1-40C6-34D0C7FC3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3125" y="1092200"/>
            <a:ext cx="7397750" cy="235426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681622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79A44AB-CC77-C8E4-6199-40F8F045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75BF5B6-B020-49C3-C231-996E7CE2C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CFF30-2BD8-BC84-471C-84E16CD9462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DCB8B57-1307-3709-EE44-A2A900925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33350"/>
            <a:ext cx="7691700" cy="46418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2331853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878400A-9088-4075-7485-0975BBBE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605FD04-682E-8440-59DF-77F54839AF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C21DF-07EF-DF02-D2AF-1B05C60EC52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sp>
        <p:nvSpPr>
          <p:cNvPr id="2" name="Google Shape;144;p23">
            <a:extLst>
              <a:ext uri="{FF2B5EF4-FFF2-40B4-BE49-F238E27FC236}">
                <a16:creationId xmlns:a16="http://schemas.microsoft.com/office/drawing/2014/main" id="{D395FAF2-D050-F19E-DB9D-40FB4BFA9567}"/>
              </a:ext>
            </a:extLst>
          </p:cNvPr>
          <p:cNvSpPr txBox="1">
            <a:spLocks/>
          </p:cNvSpPr>
          <p:nvPr/>
        </p:nvSpPr>
        <p:spPr>
          <a:xfrm>
            <a:off x="1105900" y="197075"/>
            <a:ext cx="7503623" cy="53285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The Master Theorem (Contd..)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BA4A5576-5618-2869-A9A7-E97164A69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747938"/>
            <a:ext cx="7503623" cy="409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7200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8ABB716-1569-B74C-99EB-D7F50B16F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E12E8A5-A7D9-4809-D7EF-7DB3029EE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CA788-F429-610D-F430-64437FE894A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sp>
        <p:nvSpPr>
          <p:cNvPr id="2" name="Google Shape;144;p23">
            <a:extLst>
              <a:ext uri="{FF2B5EF4-FFF2-40B4-BE49-F238E27FC236}">
                <a16:creationId xmlns:a16="http://schemas.microsoft.com/office/drawing/2014/main" id="{40303101-C0C4-9F23-81F8-38709201E3AA}"/>
              </a:ext>
            </a:extLst>
          </p:cNvPr>
          <p:cNvSpPr txBox="1">
            <a:spLocks/>
          </p:cNvSpPr>
          <p:nvPr/>
        </p:nvSpPr>
        <p:spPr>
          <a:xfrm>
            <a:off x="882875" y="88964"/>
            <a:ext cx="7726649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Using the Master Theorem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4FCE39-3349-59D6-EA21-132B3B311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82" y="766827"/>
            <a:ext cx="7726649" cy="403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5554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341A732-D0F0-17B1-B627-DB7F5C98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F187A80-B81E-8273-161A-1C2F1A96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DC4BE-724D-BC03-5D67-42F1D9732F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C1F7B2A6-F326-C535-25E2-C1FF3909D4C8}"/>
              </a:ext>
            </a:extLst>
          </p:cNvPr>
          <p:cNvSpPr txBox="1">
            <a:spLocks/>
          </p:cNvSpPr>
          <p:nvPr/>
        </p:nvSpPr>
        <p:spPr>
          <a:xfrm>
            <a:off x="833700" y="229218"/>
            <a:ext cx="7552800" cy="47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Summary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197E291-7923-8F33-F0B1-679C0C7CC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962" y="1112838"/>
            <a:ext cx="8001000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r>
              <a:rPr lang="en-IN" alt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Recurrence Relation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 method (</a:t>
            </a:r>
            <a:r>
              <a:rPr lang="en-US" altLang="en-US" sz="2400" i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unrolling and summing)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alt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Recursion Tree method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alt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Substitution method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alt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 method</a:t>
            </a:r>
          </a:p>
        </p:txBody>
      </p:sp>
    </p:spTree>
    <p:extLst>
      <p:ext uri="{BB962C8B-B14F-4D97-AF65-F5344CB8AC3E}">
        <p14:creationId xmlns:p14="http://schemas.microsoft.com/office/powerpoint/2010/main" val="2701280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834F766-A176-EC7F-DA61-121F22B5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2884BC-C924-1064-8AE8-EA2EEEF31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7270C-BEA4-72D0-7C70-EF18C77EEAA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29C0C67A-C50A-18DC-412A-99E3C5164A3A}"/>
              </a:ext>
            </a:extLst>
          </p:cNvPr>
          <p:cNvSpPr txBox="1">
            <a:spLocks/>
          </p:cNvSpPr>
          <p:nvPr/>
        </p:nvSpPr>
        <p:spPr>
          <a:xfrm>
            <a:off x="845130" y="26473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Next Lecture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32E31-17F2-24E4-4864-9A36FB7A0BA0}"/>
              </a:ext>
            </a:extLst>
          </p:cNvPr>
          <p:cNvSpPr txBox="1"/>
          <p:nvPr/>
        </p:nvSpPr>
        <p:spPr>
          <a:xfrm>
            <a:off x="757500" y="1186755"/>
            <a:ext cx="7898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Arrays, Stack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214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57FC081-CD9A-5890-31B1-05B3C94B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91A00A-7547-9CA1-AE7A-367A9D78131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A560F48-626F-3E22-D367-BDFCE56FCAB9}"/>
              </a:ext>
            </a:extLst>
          </p:cNvPr>
          <p:cNvSpPr txBox="1">
            <a:spLocks/>
          </p:cNvSpPr>
          <p:nvPr/>
        </p:nvSpPr>
        <p:spPr>
          <a:xfrm>
            <a:off x="1068162" y="215932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97F3871-8B55-0B5D-E09D-A6C1DD0CAD9E}"/>
              </a:ext>
            </a:extLst>
          </p:cNvPr>
          <p:cNvSpPr txBox="1">
            <a:spLocks/>
          </p:cNvSpPr>
          <p:nvPr/>
        </p:nvSpPr>
        <p:spPr>
          <a:xfrm>
            <a:off x="800243" y="955477"/>
            <a:ext cx="8001000" cy="3794324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1) What is the time complexity of following code: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int a =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for (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= 0;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&lt; N;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   for (j = N; j &gt;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; j--)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       a = a +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+ j;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   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}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O(N*log(N))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 * Sqrt(N))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O(N*N)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976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8B805D9-4AAB-026C-7303-E3185477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BEC5FD-0D06-8237-CE81-3C752EAB69C9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E9A8FD6C-7125-0074-F7C3-AF1807DB51D7}"/>
              </a:ext>
            </a:extLst>
          </p:cNvPr>
          <p:cNvSpPr txBox="1">
            <a:spLocks/>
          </p:cNvSpPr>
          <p:nvPr/>
        </p:nvSpPr>
        <p:spPr>
          <a:xfrm>
            <a:off x="1068162" y="88964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BA2D0E-9526-C4E0-BACB-C937C652C5D3}"/>
              </a:ext>
            </a:extLst>
          </p:cNvPr>
          <p:cNvSpPr txBox="1">
            <a:spLocks/>
          </p:cNvSpPr>
          <p:nvPr/>
        </p:nvSpPr>
        <p:spPr>
          <a:xfrm>
            <a:off x="800243" y="647700"/>
            <a:ext cx="8001000" cy="4279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457200">
              <a:buFont typeface="Arial" panose="020B0604020202020204" pitchFamily="34" charset="0"/>
              <a:buAutoNum type="arabicParenR"/>
              <a:defRPr/>
            </a:pPr>
            <a:r>
              <a:rPr lang="en-US" dirty="0">
                <a:solidFill>
                  <a:schemeClr val="bg2"/>
                </a:solidFill>
              </a:rPr>
              <a:t>Find time complexity of given recurrence relation using Recurrence tree Method.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bg2"/>
                </a:solidFill>
              </a:rPr>
              <a:t>       </a:t>
            </a:r>
            <a:r>
              <a:rPr lang="en-US" b="1" dirty="0">
                <a:solidFill>
                  <a:schemeClr val="bg2"/>
                </a:solidFill>
              </a:rPr>
              <a:t>T(n)= 2T(n/2)+n   for all n&gt;1 ,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       T(1)= 1     for  n=1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>
              <a:solidFill>
                <a:schemeClr val="bg2"/>
              </a:solidFill>
            </a:endParaRPr>
          </a:p>
          <a:p>
            <a:pPr indent="-457200">
              <a:buFont typeface="Arial" panose="020B0604020202020204" pitchFamily="34" charset="0"/>
              <a:buAutoNum type="alphaLcParenR"/>
              <a:defRPr/>
            </a:pPr>
            <a:r>
              <a:rPr lang="en-US" dirty="0">
                <a:solidFill>
                  <a:schemeClr val="bg2"/>
                </a:solidFill>
              </a:rPr>
              <a:t>O(n*n)</a:t>
            </a:r>
          </a:p>
          <a:p>
            <a:pPr indent="-457200">
              <a:buFont typeface="Arial" panose="020B0604020202020204" pitchFamily="34" charset="0"/>
              <a:buAutoNum type="alphaLcParenR"/>
              <a:defRPr/>
            </a:pPr>
            <a:r>
              <a:rPr lang="en-US" dirty="0">
                <a:solidFill>
                  <a:schemeClr val="bg2"/>
                </a:solidFill>
              </a:rPr>
              <a:t>O(n log n)</a:t>
            </a:r>
          </a:p>
          <a:p>
            <a:pPr indent="-457200">
              <a:buFont typeface="Arial" panose="020B0604020202020204" pitchFamily="34" charset="0"/>
              <a:buAutoNum type="alphaLcParenR"/>
              <a:defRPr/>
            </a:pPr>
            <a:r>
              <a:rPr lang="en-US" dirty="0">
                <a:solidFill>
                  <a:schemeClr val="bg2"/>
                </a:solidFill>
              </a:rPr>
              <a:t>O(n^2 log n)</a:t>
            </a:r>
          </a:p>
          <a:p>
            <a:pPr indent="-457200">
              <a:buFont typeface="Arial" panose="020B0604020202020204" pitchFamily="34" charset="0"/>
              <a:buAutoNum type="alphaLcParenR"/>
              <a:defRPr/>
            </a:pPr>
            <a:r>
              <a:rPr lang="en-US" dirty="0">
                <a:solidFill>
                  <a:schemeClr val="bg2"/>
                </a:solidFill>
              </a:rPr>
              <a:t>O(n)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173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8E31514-B781-F9EB-FD5D-F9C67939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C11E82-A42C-E45E-0C0A-2A57C36BFB09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E4734754-09FF-76AD-0734-A40B5F355426}"/>
              </a:ext>
            </a:extLst>
          </p:cNvPr>
          <p:cNvSpPr txBox="1">
            <a:spLocks/>
          </p:cNvSpPr>
          <p:nvPr/>
        </p:nvSpPr>
        <p:spPr>
          <a:xfrm>
            <a:off x="1068162" y="215932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85399-EE70-4968-7065-B4C3AE983CAB}"/>
              </a:ext>
            </a:extLst>
          </p:cNvPr>
          <p:cNvSpPr txBox="1">
            <a:spLocks/>
          </p:cNvSpPr>
          <p:nvPr/>
        </p:nvSpPr>
        <p:spPr>
          <a:xfrm>
            <a:off x="991962" y="955477"/>
            <a:ext cx="8001000" cy="44958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2) Find time complexity of given recurrence relation using Recurrence tree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    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T(n)= T(n-1)+n   for all n&gt;0 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     T(1)= 1     for  n=0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O(n*n)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 log n)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O(n^2 log n)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O(n)</a:t>
            </a: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188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C16E0BE-5E4E-D8A1-5CB2-8142F97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7C2C36-4064-467E-F174-5CD0AE20BD0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  <p:sp>
        <p:nvSpPr>
          <p:cNvPr id="2" name="Google Shape;392;p15">
            <a:extLst>
              <a:ext uri="{FF2B5EF4-FFF2-40B4-BE49-F238E27FC236}">
                <a16:creationId xmlns:a16="http://schemas.microsoft.com/office/drawing/2014/main" id="{4B714057-CA43-4B1E-290C-27F7B4BBA00C}"/>
              </a:ext>
            </a:extLst>
          </p:cNvPr>
          <p:cNvSpPr txBox="1">
            <a:spLocks/>
          </p:cNvSpPr>
          <p:nvPr/>
        </p:nvSpPr>
        <p:spPr>
          <a:xfrm>
            <a:off x="952500" y="342338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C00000"/>
              </a:buClr>
              <a:buSzPts val="2400"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References/ Articles/ Videos</a:t>
            </a:r>
            <a:b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9" name="Google Shape;157;p25">
            <a:extLst>
              <a:ext uri="{FF2B5EF4-FFF2-40B4-BE49-F238E27FC236}">
                <a16:creationId xmlns:a16="http://schemas.microsoft.com/office/drawing/2014/main" id="{D3C7DBC6-E24B-712B-4B22-D2B3A84749FF}"/>
              </a:ext>
            </a:extLst>
          </p:cNvPr>
          <p:cNvSpPr txBox="1">
            <a:spLocks/>
          </p:cNvSpPr>
          <p:nvPr/>
        </p:nvSpPr>
        <p:spPr>
          <a:xfrm>
            <a:off x="876300" y="825500"/>
            <a:ext cx="8001000" cy="3975662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Text books: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Cormen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Leiserson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Rivest, Stein, “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Introduction to Algorithms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”, Prentice Hall of India,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 2012. problem, Graph coloring.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Horowitz, Sahni and Rajasekaran, “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Fundamentals of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ComputerAlgorithms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”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University Press (India),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Websites:</a:t>
            </a: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  <a:hlinkClick r:id="rId3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  <a:hlinkClick r:id="rId4"/>
              </a:rPr>
              <a:t>https://www.javatpoint.com/daa-recurrence-relation#:~:text=Recurrence%20Relation,its%20values%20on%20smaller%20inputs.&amp;text=For%20Example%2C%20the%20Worst%20Case,is%20described%20by%20the%20recurrence.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048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39820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F33F5-B0C9-AAA6-044A-76C3D9E8D88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21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948000" y="583857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1781227"/>
            <a:ext cx="8001000" cy="277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https://onlinecourses.nptel.ac.in/noc23_cs96/preview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055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3141664-9E0A-0C54-B96F-BED84C54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468A3DE-696B-7FC9-013F-76B2E3B5B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B4478-479B-A962-4153-A5D9BEBE8CD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23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5CF26446-8E74-2ED0-D707-24246C6EC751}"/>
              </a:ext>
            </a:extLst>
          </p:cNvPr>
          <p:cNvSpPr txBox="1">
            <a:spLocks/>
          </p:cNvSpPr>
          <p:nvPr/>
        </p:nvSpPr>
        <p:spPr>
          <a:xfrm>
            <a:off x="876443" y="393764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Class-Wise </a:t>
            </a:r>
            <a:r>
              <a:rPr lang="en-IN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en-US" sz="32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3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457200" y="2270562"/>
            <a:ext cx="732859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45989" y="3980946"/>
            <a:ext cx="44039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richa.e11307@cumail.in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765" y="361440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0750043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1318</Words>
  <Application>Microsoft Office PowerPoint</Application>
  <PresentationFormat>On-screen Show (16:9)</PresentationFormat>
  <Paragraphs>234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Arial Black</vt:lpstr>
      <vt:lpstr>Times New Roman</vt:lpstr>
      <vt:lpstr>Calibri</vt:lpstr>
      <vt:lpstr>Cambria</vt:lpstr>
      <vt:lpstr>Vladimir Script</vt:lpstr>
      <vt:lpstr>Wingdings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Richa Dhiman</cp:lastModifiedBy>
  <cp:revision>144</cp:revision>
  <dcterms:modified xsi:type="dcterms:W3CDTF">2025-05-28T04:56:03Z</dcterms:modified>
</cp:coreProperties>
</file>