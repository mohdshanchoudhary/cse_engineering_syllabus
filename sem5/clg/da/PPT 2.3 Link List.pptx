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312" r:id="rId3"/>
    <p:sldId id="284" r:id="rId4"/>
    <p:sldId id="314" r:id="rId5"/>
    <p:sldId id="315" r:id="rId6"/>
    <p:sldId id="317" r:id="rId7"/>
    <p:sldId id="318" r:id="rId8"/>
    <p:sldId id="319" r:id="rId9"/>
    <p:sldId id="332" r:id="rId10"/>
    <p:sldId id="330" r:id="rId11"/>
    <p:sldId id="331" r:id="rId12"/>
    <p:sldId id="333" r:id="rId13"/>
    <p:sldId id="334" r:id="rId14"/>
    <p:sldId id="336" r:id="rId15"/>
    <p:sldId id="311" r:id="rId16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Vladimir Script" panose="03050402040407070305" pitchFamily="66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64" autoAdjust="0"/>
    <p:restoredTop sz="94660"/>
  </p:normalViewPr>
  <p:slideViewPr>
    <p:cSldViewPr snapToGrid="0">
      <p:cViewPr varScale="1">
        <p:scale>
          <a:sx n="57" d="100"/>
          <a:sy n="57" d="100"/>
        </p:scale>
        <p:origin x="58" y="7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5E1C681-A5F2-4CD9-9192-8CDED311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B848B34-F6A5-DF19-4111-A06819494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CA6E172-D444-FC00-6B33-317641F08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8553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2827B3C-4A96-D842-C587-3271EC42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2F06B59-0229-602E-B610-9525220615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4AEA2AB-7645-5208-0E63-7560412EF8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9257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8169236-1955-4128-44C5-58E9D95D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8024DF0-1674-8F51-EEBC-683769584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D4BF737-175F-7667-E78E-646A8BB49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7247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FE7DBFD-3CD4-72CB-B3B4-A8E2B4B1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C18742C-0AE0-A994-B2ED-A9BFF88C0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89BB3F3-8FD5-23EA-C014-0FA6CAB91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9491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044B758-C87D-505D-C3C8-A549E1C7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60E0FE7-490F-D759-32A7-C75DA6EDA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F9AA489-D2BD-8969-C629-E8BC8C695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2918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DA1CEF5-13BF-471C-50F9-DAD18A54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EDA82E9-4E8D-3B65-E4CF-424ECC6A7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B662D4F-5FDA-D649-09FF-AFAD4FCD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5965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22EF6A6-3B86-409E-00F7-E71B05DEC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F737BE0-1811-D403-FE9C-7D9F9254BA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B6C259C-E2D3-C61B-0E90-DB7F2E206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61002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AA7785E-43D4-9EF1-1A87-45D7A314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C9920DF-19AB-06E9-7D1B-B9B877EBE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2DAF3E8-4FE5-228D-D4E4-2C8EBAB1B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075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8BDF5E7-F95C-899B-EC14-E8E986C7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75BA061-2CC0-FC5F-90C5-EB6DD8F82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D8A0E1B-B8B2-DFD2-0A4F-7F72575EE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2996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6B53972-8CFD-533B-1C4D-268D3A8B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BAB7A-5EF3-5546-4BB0-C26EE502D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4E556B0-B3F6-5788-1709-ADC00D5B8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21369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35021AF-CA61-088F-7F01-7FAD5B653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0B85296-32E7-6F2C-C488-8EB7229AA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2BA18F8-0BB4-69BB-7AA0-AEDCAD359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4683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introduction-to-algorithms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eeksforgeeks.org/data-structures/linked-list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3_cs96/preview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learning/learning-algorithms" TargetMode="External"/><Relationship Id="rId5" Type="http://schemas.openxmlformats.org/officeDocument/2006/relationships/hyperlink" Target="https://nptel.ac.in/courses/106106208" TargetMode="External"/><Relationship Id="rId4" Type="http://schemas.openxmlformats.org/officeDocument/2006/relationships/hyperlink" Target="https://nptel.ac.in/courses/106106131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951584"/>
            <a:ext cx="8213400" cy="4131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i="0" u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COMPUTER SCIENCE ENGINEERING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</a:t>
            </a:r>
            <a:endParaRPr lang="en-US" sz="2000" dirty="0">
              <a:solidFill>
                <a:schemeClr val="bg2"/>
              </a:solidFill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Semester: 6th</a:t>
            </a:r>
            <a:endParaRPr lang="en-US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i="0" u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Design and Analysis of Algorithms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(23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-301/IT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-301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 1                    Chapter No.  3                   Lecture No.8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endParaRPr lang="en-US" sz="1800" b="1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Richa Dhiman E11307                                                    Assistant Professor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3200" b="1" i="0" u="none" strike="noStrike" cap="none" dirty="0">
                  <a:solidFill>
                    <a:schemeClr val="bg2"/>
                  </a:solidFill>
                  <a:latin typeface="Cambria"/>
                  <a:ea typeface="Cambria"/>
                  <a:cs typeface="Cambria"/>
                  <a:sym typeface="Cambria"/>
                </a:rPr>
                <a:t>Learning Objectives &amp; Outcomes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BB9480-1EB9-9332-3EA5-A9C6796E8D97}"/>
              </a:ext>
            </a:extLst>
          </p:cNvPr>
          <p:cNvSpPr txBox="1">
            <a:spLocks/>
          </p:cNvSpPr>
          <p:nvPr/>
        </p:nvSpPr>
        <p:spPr bwMode="auto">
          <a:xfrm>
            <a:off x="874318" y="949036"/>
            <a:ext cx="8001000" cy="36922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Text" lastClr="000000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Objective: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To understand the use of linked list and its types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Also understand operation performed on linked list.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Outcome: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Student will understand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   Linked list and operation performed on linked list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231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3B56F1E-4F6E-A41F-A90D-58E5F146ECC2}"/>
              </a:ext>
            </a:extLst>
          </p:cNvPr>
          <p:cNvSpPr txBox="1">
            <a:spLocks/>
          </p:cNvSpPr>
          <p:nvPr/>
        </p:nvSpPr>
        <p:spPr>
          <a:xfrm>
            <a:off x="948138" y="342900"/>
            <a:ext cx="7438362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Link List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A0DA7D-48D5-CA32-2277-A92E01D09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138" y="1028700"/>
            <a:ext cx="83058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 linked list is a linear data structure, in which the elements are not stored at contiguous memory locations. The elements in a linked list are linked using pointers as shown in the below image: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pic>
        <p:nvPicPr>
          <p:cNvPr id="5" name="Picture 5" descr="https://media.geeksforgeeks.org/wp-content/cdn-uploads/gq/2013/03/Linkedlist.png">
            <a:extLst>
              <a:ext uri="{FF2B5EF4-FFF2-40B4-BE49-F238E27FC236}">
                <a16:creationId xmlns:a16="http://schemas.microsoft.com/office/drawing/2014/main" id="{6427A679-97B8-23E0-D9F4-4E98FA80A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38" y="3238500"/>
            <a:ext cx="855503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49C85D7-2162-3728-41C8-9CA50DA5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7259D0E-39AA-3258-E915-0F5AE1AE1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2D24C-CFB6-10CB-9BE5-A8DE190188C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2" name="Google Shape;107;p17">
            <a:extLst>
              <a:ext uri="{FF2B5EF4-FFF2-40B4-BE49-F238E27FC236}">
                <a16:creationId xmlns:a16="http://schemas.microsoft.com/office/drawing/2014/main" id="{0D9FB33C-593F-C832-B2AD-351A03750D28}"/>
              </a:ext>
            </a:extLst>
          </p:cNvPr>
          <p:cNvSpPr txBox="1">
            <a:spLocks/>
          </p:cNvSpPr>
          <p:nvPr/>
        </p:nvSpPr>
        <p:spPr>
          <a:xfrm>
            <a:off x="968776" y="197075"/>
            <a:ext cx="74177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Representation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5" name="Google Shape;108;p17">
            <a:extLst>
              <a:ext uri="{FF2B5EF4-FFF2-40B4-BE49-F238E27FC236}">
                <a16:creationId xmlns:a16="http://schemas.microsoft.com/office/drawing/2014/main" id="{A2AE168B-7D56-6589-7AF2-463322D31B43}"/>
              </a:ext>
            </a:extLst>
          </p:cNvPr>
          <p:cNvSpPr txBox="1">
            <a:spLocks/>
          </p:cNvSpPr>
          <p:nvPr/>
        </p:nvSpPr>
        <p:spPr bwMode="auto">
          <a:xfrm>
            <a:off x="897452" y="1014608"/>
            <a:ext cx="7489048" cy="3444658"/>
          </a:xfrm>
          <a:prstGeom prst="rect">
            <a:avLst/>
          </a:prstGeom>
          <a:noFill/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 linked list is represented by a pointer to the first node of the linked list. The first node is called the head. If the linked list is empty, then the value of the head is NULL.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Each node in a list consists of at least two parts: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1) </a:t>
            </a: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2) Pointer (Or Reference) to the next node</a:t>
            </a:r>
          </a:p>
        </p:txBody>
      </p:sp>
    </p:spTree>
    <p:extLst>
      <p:ext uri="{BB962C8B-B14F-4D97-AF65-F5344CB8AC3E}">
        <p14:creationId xmlns:p14="http://schemas.microsoft.com/office/powerpoint/2010/main" val="259646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FAE9B3A-F835-EA9F-375F-E58709572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7D1F1F6-CAAE-FC79-FD0B-3C78DFCE2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DAEDE-ABD1-E62B-C206-E4DF3D0D102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DA2A48-A062-C797-DBC8-C44F01F15B3D}"/>
              </a:ext>
            </a:extLst>
          </p:cNvPr>
          <p:cNvSpPr txBox="1">
            <a:spLocks noChangeArrowheads="1"/>
          </p:cNvSpPr>
          <p:nvPr/>
        </p:nvSpPr>
        <p:spPr>
          <a:xfrm>
            <a:off x="968776" y="197075"/>
            <a:ext cx="74177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Singly Linked List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88A26-11F7-0ABC-862F-5B374C200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576" y="882875"/>
            <a:ext cx="7600071" cy="20574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Singly linked lists contain nodes which have a 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data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part as well as an 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address part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i.e. next, which points to the next node in the sequence of nodes.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The operations we can perform on singly linked lists are 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insertion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, 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deletion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and 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traversal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</a:b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pic>
        <p:nvPicPr>
          <p:cNvPr id="6" name="Picture 8" descr="Linear Linked List">
            <a:extLst>
              <a:ext uri="{FF2B5EF4-FFF2-40B4-BE49-F238E27FC236}">
                <a16:creationId xmlns:a16="http://schemas.microsoft.com/office/drawing/2014/main" id="{A733C642-3662-D304-E120-F6A1FA7DD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376" y="3016475"/>
            <a:ext cx="6350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240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66223F7-9809-BE29-714E-38632F45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59937E7-EC35-0CA6-69EF-64D573776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3D0D5-2563-3DDF-DDBE-37059391059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87BA96-8388-937B-FA99-E8E0E7AC2AF3}"/>
              </a:ext>
            </a:extLst>
          </p:cNvPr>
          <p:cNvSpPr txBox="1">
            <a:spLocks/>
          </p:cNvSpPr>
          <p:nvPr/>
        </p:nvSpPr>
        <p:spPr>
          <a:xfrm>
            <a:off x="968776" y="393764"/>
            <a:ext cx="7523871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Doubly Linked List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</a:b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826FA0-C01C-C891-EA76-F2DFF6E6F0DB}"/>
              </a:ext>
            </a:extLst>
          </p:cNvPr>
          <p:cNvSpPr txBox="1">
            <a:spLocks/>
          </p:cNvSpPr>
          <p:nvPr/>
        </p:nvSpPr>
        <p:spPr>
          <a:xfrm>
            <a:off x="892576" y="1225830"/>
            <a:ext cx="8001000" cy="1143000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 a doubly linked list, each node contains a 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data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part and two addresses, one for the 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previous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node and one for the 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next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node.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pic>
        <p:nvPicPr>
          <p:cNvPr id="6" name="Picture 2" descr="Double Linked List">
            <a:extLst>
              <a:ext uri="{FF2B5EF4-FFF2-40B4-BE49-F238E27FC236}">
                <a16:creationId xmlns:a16="http://schemas.microsoft.com/office/drawing/2014/main" id="{F0B284FD-8569-AD90-7CAE-1AA26B81A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76" y="2663889"/>
            <a:ext cx="88392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514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D698E66-F84E-170D-A0A4-F7906E6D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8F4F0A3-AC9F-881C-38CF-FCABC87F7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9E69A-0B72-58B1-5875-98C4F59242D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6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D46910-D792-9467-DEA8-60B32BFED4AB}"/>
              </a:ext>
            </a:extLst>
          </p:cNvPr>
          <p:cNvSpPr txBox="1">
            <a:spLocks/>
          </p:cNvSpPr>
          <p:nvPr/>
        </p:nvSpPr>
        <p:spPr>
          <a:xfrm>
            <a:off x="880746" y="233702"/>
            <a:ext cx="7658947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Circular Linked List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</a:b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F0733E-A26B-595A-D401-25B6B4DF505C}"/>
              </a:ext>
            </a:extLst>
          </p:cNvPr>
          <p:cNvSpPr txBox="1">
            <a:spLocks/>
          </p:cNvSpPr>
          <p:nvPr/>
        </p:nvSpPr>
        <p:spPr bwMode="auto">
          <a:xfrm>
            <a:off x="757500" y="936449"/>
            <a:ext cx="7852024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 circular linked list the last node of the list holds the address of the first node hence forming a circular chain</a:t>
            </a:r>
          </a:p>
        </p:txBody>
      </p:sp>
      <p:pic>
        <p:nvPicPr>
          <p:cNvPr id="6" name="Picture 2" descr="Circular Linked List">
            <a:extLst>
              <a:ext uri="{FF2B5EF4-FFF2-40B4-BE49-F238E27FC236}">
                <a16:creationId xmlns:a16="http://schemas.microsoft.com/office/drawing/2014/main" id="{9BA35A11-C995-C10F-7E04-5734856E8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00" y="2155649"/>
            <a:ext cx="7143441" cy="2666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571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B30559D-113C-CA36-943F-FB814360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DE20160-C47E-3755-260A-77F95E876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D650A-C296-32D4-88D6-EC65A0BB20C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2" name="Google Shape;350;p8">
            <a:extLst>
              <a:ext uri="{FF2B5EF4-FFF2-40B4-BE49-F238E27FC236}">
                <a16:creationId xmlns:a16="http://schemas.microsoft.com/office/drawing/2014/main" id="{B846DD7C-EFA9-1E0D-BE4D-AAC22C6A37AD}"/>
              </a:ext>
            </a:extLst>
          </p:cNvPr>
          <p:cNvSpPr txBox="1">
            <a:spLocks/>
          </p:cNvSpPr>
          <p:nvPr/>
        </p:nvSpPr>
        <p:spPr>
          <a:xfrm>
            <a:off x="968776" y="40555"/>
            <a:ext cx="741772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DB3286-FF48-7219-73F1-365CBCAC0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00" y="797395"/>
            <a:ext cx="813607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memory allocation (heap management)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of stacks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of queues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representations (adjacency lists)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Hash tables (collision handling via chaining)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scheduling in operating systems (round-robin)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management (free lists, garbage collection)</a:t>
            </a:r>
          </a:p>
        </p:txBody>
      </p:sp>
    </p:spTree>
    <p:extLst>
      <p:ext uri="{BB962C8B-B14F-4D97-AF65-F5344CB8AC3E}">
        <p14:creationId xmlns:p14="http://schemas.microsoft.com/office/powerpoint/2010/main" val="1499376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341A732-D0F0-17B1-B627-DB7F5C98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F187A80-B81E-8273-161A-1C2F1A969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DC4BE-724D-BC03-5D67-42F1D9732F8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17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C1F7B2A6-F326-C535-25E2-C1FF3909D4C8}"/>
              </a:ext>
            </a:extLst>
          </p:cNvPr>
          <p:cNvSpPr txBox="1">
            <a:spLocks/>
          </p:cNvSpPr>
          <p:nvPr/>
        </p:nvSpPr>
        <p:spPr>
          <a:xfrm>
            <a:off x="833700" y="88964"/>
            <a:ext cx="7552800" cy="47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Summary</a:t>
            </a:r>
            <a:endParaRPr lang="en-US" sz="4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01A8DD-0E3A-3F15-DA99-451E8054D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700" y="806675"/>
            <a:ext cx="8001000" cy="340437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Cambria" pitchFamily="18" charset="0"/>
                <a:sym typeface="Cambria" pitchFamily="18" charset="0"/>
              </a:rPr>
              <a:t>Introduction to Link List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Representation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Types of Link List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LL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Double LL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Circular 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280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834F766-A176-EC7F-DA61-121F22B5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2884BC-C924-1064-8AE8-EA2EEEF31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7270C-BEA4-72D0-7C70-EF18C77EEAA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18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29C0C67A-C50A-18DC-412A-99E3C5164A3A}"/>
              </a:ext>
            </a:extLst>
          </p:cNvPr>
          <p:cNvSpPr txBox="1">
            <a:spLocks/>
          </p:cNvSpPr>
          <p:nvPr/>
        </p:nvSpPr>
        <p:spPr>
          <a:xfrm>
            <a:off x="845130" y="264735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Next Lecture</a:t>
            </a:r>
            <a:endParaRPr lang="en-US" sz="4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0A44F2-600D-A170-E158-227D54A1DD94}"/>
              </a:ext>
            </a:extLst>
          </p:cNvPr>
          <p:cNvSpPr txBox="1"/>
          <p:nvPr/>
        </p:nvSpPr>
        <p:spPr>
          <a:xfrm>
            <a:off x="1239253" y="142202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Hashing</a:t>
            </a:r>
          </a:p>
        </p:txBody>
      </p:sp>
    </p:spTree>
    <p:extLst>
      <p:ext uri="{BB962C8B-B14F-4D97-AF65-F5344CB8AC3E}">
        <p14:creationId xmlns:p14="http://schemas.microsoft.com/office/powerpoint/2010/main" val="930214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57FC081-CD9A-5890-31B1-05B3C94BF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7BF6050-4B71-52AA-64DB-492D3464A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91A00A-7547-9CA1-AE7A-367A9D78131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19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6A560F48-626F-3E22-D367-BDFCE56FCAB9}"/>
              </a:ext>
            </a:extLst>
          </p:cNvPr>
          <p:cNvSpPr txBox="1">
            <a:spLocks/>
          </p:cNvSpPr>
          <p:nvPr/>
        </p:nvSpPr>
        <p:spPr>
          <a:xfrm>
            <a:off x="1068162" y="30655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Quiz</a:t>
            </a:r>
            <a:endParaRPr lang="en-US" sz="4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4A19C74-1743-F932-F5DE-1964B993C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00" y="1012838"/>
            <a:ext cx="785202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of the following is true about a singly linked list?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Each node has a pointer to both previous and next nodes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Each node has only a data field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Each node has a pointer to the next node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Nodes are stored in contiguous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time complexity of inserting an element at the beginning of a singly linked list?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O(1)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O(n)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O(log n)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O(n log n)</a:t>
            </a:r>
          </a:p>
        </p:txBody>
      </p:sp>
    </p:spTree>
    <p:extLst>
      <p:ext uri="{BB962C8B-B14F-4D97-AF65-F5344CB8AC3E}">
        <p14:creationId xmlns:p14="http://schemas.microsoft.com/office/powerpoint/2010/main" val="4222976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C16E0BE-5E4E-D8A1-5CB2-8142F975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227BF8B-63CF-08D9-3EFB-1157B57C1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C2C36-4064-467E-F174-5CD0AE20BD0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20</a:t>
            </a:r>
          </a:p>
        </p:txBody>
      </p:sp>
      <p:sp>
        <p:nvSpPr>
          <p:cNvPr id="2" name="Google Shape;392;p15">
            <a:extLst>
              <a:ext uri="{FF2B5EF4-FFF2-40B4-BE49-F238E27FC236}">
                <a16:creationId xmlns:a16="http://schemas.microsoft.com/office/drawing/2014/main" id="{4B714057-CA43-4B1E-290C-27F7B4BBA00C}"/>
              </a:ext>
            </a:extLst>
          </p:cNvPr>
          <p:cNvSpPr txBox="1">
            <a:spLocks/>
          </p:cNvSpPr>
          <p:nvPr/>
        </p:nvSpPr>
        <p:spPr>
          <a:xfrm>
            <a:off x="952500" y="342338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C00000"/>
              </a:buClr>
              <a:buSzPts val="2400"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References/ Articles/ Videos</a:t>
            </a:r>
            <a:b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0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4" name="Google Shape;157;p25">
            <a:extLst>
              <a:ext uri="{FF2B5EF4-FFF2-40B4-BE49-F238E27FC236}">
                <a16:creationId xmlns:a16="http://schemas.microsoft.com/office/drawing/2014/main" id="{FDD24906-9A2A-C860-1419-90245ABD814B}"/>
              </a:ext>
            </a:extLst>
          </p:cNvPr>
          <p:cNvSpPr txBox="1">
            <a:spLocks/>
          </p:cNvSpPr>
          <p:nvPr/>
        </p:nvSpPr>
        <p:spPr>
          <a:xfrm>
            <a:off x="914400" y="806675"/>
            <a:ext cx="8001000" cy="3801420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Text books: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Cormen, Leiserson, Rivest, Stein, “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Introduction to Algorithms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”, Prentice Hall of India, 3</a:t>
            </a:r>
            <a:r>
              <a: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rd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edition 2012. problem, Graph coloring.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Horowitz, Sahni and Rajasekaran, “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Fundamentals of ComputerAlgorithms”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, University Press (India), 2</a:t>
            </a:r>
            <a:r>
              <a: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nd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edition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Websites:</a:t>
            </a:r>
            <a:endParaRPr kumimoji="0" lang="en-US" sz="2400" b="1" i="0" u="sng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  <a:hlinkClick r:id="rId3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  <a:hlinkClick r:id="rId4"/>
              </a:rPr>
              <a:t>https://www.geeksforgeeks.org/data-structures/linked-list/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39820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C23ABF-C8EE-EA05-F7EE-2B8C43F1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93698A8-3266-35AD-BB7C-2D517F1F5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F33F5-B0C9-AAA6-044A-76C3D9E8D88A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21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6F49410F-EBB5-30E5-9EAD-BE507179EEE1}"/>
              </a:ext>
            </a:extLst>
          </p:cNvPr>
          <p:cNvSpPr txBox="1">
            <a:spLocks/>
          </p:cNvSpPr>
          <p:nvPr/>
        </p:nvSpPr>
        <p:spPr>
          <a:xfrm>
            <a:off x="948000" y="583857"/>
            <a:ext cx="7924800" cy="65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1900"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Faculty-curated videos, NPTEL, Coursera, LinkedIn, or other relevant learning resources</a:t>
            </a:r>
          </a:p>
        </p:txBody>
      </p:sp>
      <p:sp>
        <p:nvSpPr>
          <p:cNvPr id="3" name="Google Shape;399;p16">
            <a:extLst>
              <a:ext uri="{FF2B5EF4-FFF2-40B4-BE49-F238E27FC236}">
                <a16:creationId xmlns:a16="http://schemas.microsoft.com/office/drawing/2014/main" id="{FD57801D-30BB-E7C7-3950-4312264ED9AE}"/>
              </a:ext>
            </a:extLst>
          </p:cNvPr>
          <p:cNvSpPr txBox="1">
            <a:spLocks/>
          </p:cNvSpPr>
          <p:nvPr/>
        </p:nvSpPr>
        <p:spPr>
          <a:xfrm>
            <a:off x="757500" y="1781227"/>
            <a:ext cx="8001000" cy="277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27100" lvl="1" indent="-457200">
              <a:spcBef>
                <a:spcPts val="0"/>
              </a:spcBef>
              <a:buClr>
                <a:srgbClr val="000000"/>
              </a:buClr>
              <a:buSzPts val="200"/>
              <a:buFont typeface="+mj-lt"/>
              <a:buAutoNum type="arabicPeriod"/>
            </a:pPr>
            <a:endParaRPr lang="en-IN" dirty="0"/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3"/>
              </a:rPr>
              <a:t>https://onlinecourses.nptel.ac.in/noc23_cs96/preview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4"/>
              </a:rPr>
              <a:t>https://nptel.ac.in/courses/106106131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5"/>
              </a:rPr>
              <a:t>https://nptel.ac.in/courses/106106208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6"/>
              </a:rPr>
              <a:t>https://www.linkedin.com/learning/learning-algorithms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9055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3141664-9E0A-0C54-B96F-BED84C545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468A3DE-696B-7FC9-013F-76B2E3B5B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B4478-479B-A962-4153-A5D9BEBE8CD1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23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5CF26446-8E74-2ED0-D707-24246C6EC751}"/>
              </a:ext>
            </a:extLst>
          </p:cNvPr>
          <p:cNvSpPr txBox="1">
            <a:spLocks/>
          </p:cNvSpPr>
          <p:nvPr/>
        </p:nvSpPr>
        <p:spPr>
          <a:xfrm>
            <a:off x="876443" y="393764"/>
            <a:ext cx="7924800" cy="65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1900"/>
            </a:pPr>
            <a:r>
              <a: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Class-Wise </a:t>
            </a:r>
            <a:r>
              <a:rPr lang="en-IN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</a:t>
            </a:r>
            <a:endParaRPr lang="en-US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123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32125" y="1709456"/>
            <a:ext cx="6000750" cy="21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indent="-257175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553844" y="1802211"/>
            <a:ext cx="7328595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6000" b="1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45989" y="3980946"/>
            <a:ext cx="44039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richa.e11307@cumail.in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9765" y="361440"/>
            <a:ext cx="335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05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07500439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667</Words>
  <Application>Microsoft Office PowerPoint</Application>
  <PresentationFormat>On-screen Show (16:9)</PresentationFormat>
  <Paragraphs>113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Lato</vt:lpstr>
      <vt:lpstr>Arial</vt:lpstr>
      <vt:lpstr>Arial Black</vt:lpstr>
      <vt:lpstr>Times New Roman</vt:lpstr>
      <vt:lpstr>Calibri</vt:lpstr>
      <vt:lpstr>Cambria</vt:lpstr>
      <vt:lpstr>Vladimir Script</vt:lpstr>
      <vt:lpstr>Wingdings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Richa Dhiman</cp:lastModifiedBy>
  <cp:revision>119</cp:revision>
  <dcterms:modified xsi:type="dcterms:W3CDTF">2025-05-28T04:53:31Z</dcterms:modified>
</cp:coreProperties>
</file>