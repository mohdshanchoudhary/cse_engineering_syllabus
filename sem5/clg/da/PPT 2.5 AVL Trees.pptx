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5"/>
  </p:notesMasterIdLst>
  <p:sldIdLst>
    <p:sldId id="256" r:id="rId2"/>
    <p:sldId id="312" r:id="rId3"/>
    <p:sldId id="284" r:id="rId4"/>
    <p:sldId id="314" r:id="rId5"/>
    <p:sldId id="315" r:id="rId6"/>
    <p:sldId id="317" r:id="rId7"/>
    <p:sldId id="318" r:id="rId8"/>
    <p:sldId id="319" r:id="rId9"/>
    <p:sldId id="337" r:id="rId10"/>
    <p:sldId id="338" r:id="rId11"/>
    <p:sldId id="339" r:id="rId12"/>
    <p:sldId id="320" r:id="rId13"/>
    <p:sldId id="321" r:id="rId14"/>
    <p:sldId id="322" r:id="rId15"/>
    <p:sldId id="323" r:id="rId16"/>
    <p:sldId id="324" r:id="rId17"/>
    <p:sldId id="332" r:id="rId18"/>
    <p:sldId id="330" r:id="rId19"/>
    <p:sldId id="331" r:id="rId20"/>
    <p:sldId id="333" r:id="rId21"/>
    <p:sldId id="334" r:id="rId22"/>
    <p:sldId id="336" r:id="rId23"/>
    <p:sldId id="311" r:id="rId24"/>
  </p:sldIdLst>
  <p:sldSz cx="9144000" cy="5143500" type="screen16x9"/>
  <p:notesSz cx="6858000" cy="9144000"/>
  <p:embeddedFontLst>
    <p:embeddedFont>
      <p:font typeface="Arial Black" panose="020B0A04020102020204" pitchFamily="34" charset="0"/>
      <p:bold r:id="rId26"/>
    </p:embeddedFont>
    <p:embeddedFont>
      <p:font typeface="Cambria" panose="02040503050406030204" pitchFamily="18" charset="0"/>
      <p:regular r:id="rId27"/>
      <p:bold r:id="rId28"/>
      <p:italic r:id="rId29"/>
      <p:boldItalic r:id="rId30"/>
    </p:embeddedFont>
    <p:embeddedFont>
      <p:font typeface="Lato" panose="020F0502020204030203" pitchFamily="34" charset="0"/>
      <p:regular r:id="rId31"/>
      <p:bold r:id="rId32"/>
      <p:italic r:id="rId33"/>
      <p:boldItalic r:id="rId34"/>
    </p:embeddedFont>
    <p:embeddedFont>
      <p:font typeface="Vladimir Script" panose="03050402040407070305" pitchFamily="66"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4660"/>
  </p:normalViewPr>
  <p:slideViewPr>
    <p:cSldViewPr snapToGrid="0">
      <p:cViewPr varScale="1">
        <p:scale>
          <a:sx n="57" d="100"/>
          <a:sy n="57" d="100"/>
        </p:scale>
        <p:origin x="58" y="7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font" Target="fonts/font9.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E1C681-A5F2-4CD9-9192-8CDED311BA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B848B34-F6A5-DF19-4111-A068194944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ECA6E172-D444-FC00-6B33-317641F086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53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827B3C-4A96-D842-C587-3271EC42D30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2F06B59-0229-602E-B610-9525220615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4AEA2AB-7645-5208-0E63-7560412EF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925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8169236-1955-4128-44C5-58E9D95D49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8024DF0-1674-8F51-EEBC-683769584F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D4BF737-175F-7667-E78E-646A8BB49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7247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FE7DBFD-3CD4-72CB-B3B4-A8E2B4B1866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C18742C-0AE0-A994-B2ED-A9BFF88C0F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89BB3F3-8FD5-23EA-C014-0FA6CAB91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9491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044B758-C87D-505D-C3C8-A549E1C79E3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60E0FE7-490F-D759-32A7-C75DA6EDA0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F9AA489-D2BD-8969-C629-E8BC8C695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91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04CCA90-8675-B95E-DC38-11DDCB2250F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8F12120-D0DA-D474-34DB-426BD4A473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6886CB1-E10C-CB34-BA28-B82FFBBF18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5304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521040-EC45-497D-5A19-7BA011F83F7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0388E9F-5512-5E6D-FF50-F2774645D5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0FC404B-B618-B7A4-AD60-CBD1FCE99D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388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D818FFB-F412-D98D-D0BA-80822B9283B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31F90FC-A129-C4F3-3458-E75C586F62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7380850-D490-8774-4425-962F246676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636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16C3BF0-F04D-CC55-01DE-5846136227C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1C26BBB-3EE0-C367-EB17-2F01B7585D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ED12312-F8C0-DB82-75C0-FC2758C0DB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2370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F1E0EE1-A63F-12F4-10BB-2B0C5E51B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3949B4A-8DCA-5D8A-F91E-E3E3181692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D7E994A-6713-82F4-3A2F-AD2DA1A7B7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1222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D04F549-C923-1FA6-0572-8E4FDBDC549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0D34990-FEC3-FB89-4B02-268714D73F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7BCAEBB-22C0-CF35-0C48-E613A3B456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3046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65DF209-F70B-D346-7CAD-F327973A4AA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F278F86-62B3-04BA-72AF-285D9D5D6A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A2B0163-0369-FCE8-AFFD-EDC379A61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9840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E3711B1-371D-2583-D61A-67C35F3E445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7C593DF-5E72-43B4-DFE4-C8736507055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F3C8862-36D6-FFCC-8D89-0C289A5B8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8074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A1CEF5-13BF-471C-50F9-DAD18A547A0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EDA82E9-4E8D-3B65-E4CF-424ECC6A78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62D4F-5FDA-D649-09FF-AFAD4FCD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65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22EF6A6-3B86-409E-00F7-E71B05DEC0B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F737BE0-1811-D403-FE9C-7D9F9254BA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C259C-E2D3-C61B-0E90-DB7F2E206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100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AA7785E-43D4-9EF1-1A87-45D7A3143A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9920DF-19AB-06E9-7D1B-B9B877EBE6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2DAF3E8-4FE5-228D-D4E4-2C8EBAB1BF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0755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8BDF5E7-F95C-899B-EC14-E8E986C7DDD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75BA061-2CC0-FC5F-90C5-EB6DD8F82D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8A0E1B-B8B2-DFD2-0A4F-7F72575EE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2996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6B53972-8CFD-533B-1C4D-268D3A8B82F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BAB7A-5EF3-5546-4BB0-C26EE502D3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4E556B0-B3F6-5788-1709-ADC00D5B8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2136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35021AF-CA61-088F-7F01-7FAD5B65361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0B85296-32E7-6F2C-C488-8EB7229AAA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2BA18F8-0BB4-69BB-7AA0-AEDCAD359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4683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introduction-to-algorithms/"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hyperlink" Target="https://www.geeksforgeeks.org/avl-tree-set-1-insertion/" TargetMode="External"/><Relationship Id="rId4" Type="http://schemas.openxmlformats.org/officeDocument/2006/relationships/hyperlink" Target="https://www.tutorialride.com/data-structures/trees-in-data-structure.htm"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onlinecourses.nptel.ac.in/noc23_cs96/preview"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www.linkedin.com/learning/learning-algorithms" TargetMode="External"/><Relationship Id="rId5" Type="http://schemas.openxmlformats.org/officeDocument/2006/relationships/hyperlink" Target="https://nptel.ac.in/courses/106106208" TargetMode="External"/><Relationship Id="rId4" Type="http://schemas.openxmlformats.org/officeDocument/2006/relationships/hyperlink" Target="https://nptel.ac.in/courses/106106131"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771896" y="951584"/>
            <a:ext cx="8213400" cy="4131347"/>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COMPUTER SCIENCE 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dirty="0">
                <a:solidFill>
                  <a:schemeClr val="bg2"/>
                </a:solidFill>
                <a:latin typeface="Times New Roman"/>
                <a:ea typeface="Times New Roman"/>
                <a:cs typeface="Times New Roman"/>
                <a:sym typeface="Times New Roman"/>
              </a:rPr>
              <a:t>Bachelor of Engineering</a:t>
            </a:r>
            <a:endParaRPr lang="en-US" sz="2000" dirty="0">
              <a:solidFill>
                <a:schemeClr val="bg2"/>
              </a:solidFill>
            </a:endParaRPr>
          </a:p>
          <a:p>
            <a:pPr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 6th</a:t>
            </a: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980"/>
              </a:spcBef>
              <a:buClr>
                <a:schemeClr val="dk1"/>
              </a:buClr>
              <a:buSzPts val="2800"/>
            </a:pPr>
            <a:r>
              <a:rPr lang="en-US" sz="2400" b="1" i="0" u="none" dirty="0">
                <a:solidFill>
                  <a:schemeClr val="bg2"/>
                </a:solidFill>
                <a:latin typeface="Arial"/>
                <a:ea typeface="Arial"/>
                <a:cs typeface="Arial"/>
                <a:sym typeface="Arial"/>
              </a:rPr>
              <a:t>Design and Analysis of Algorithms</a:t>
            </a:r>
          </a:p>
          <a:p>
            <a:pPr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(23</a:t>
            </a:r>
            <a:r>
              <a:rPr lang="en-US" sz="2400" b="0" i="0" u="none" dirty="0">
                <a:solidFill>
                  <a:schemeClr val="bg2"/>
                </a:solidFill>
                <a:latin typeface="Times New Roman"/>
                <a:ea typeface="Times New Roman"/>
                <a:cs typeface="Times New Roman"/>
                <a:sym typeface="Times New Roman"/>
              </a:rPr>
              <a:t>CS</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-301/IT</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2                  Lecture No.10</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altLang="en-US" sz="1800" b="1" dirty="0">
                <a:solidFill>
                  <a:srgbClr val="000000"/>
                </a:solidFill>
                <a:latin typeface="Times New Roman" panose="02020603050405020304" pitchFamily="18" charset="0"/>
                <a:cs typeface="Calibri" panose="020F0502020204030204" pitchFamily="34" charset="0"/>
              </a:rPr>
              <a:t>AVL Trees</a:t>
            </a:r>
            <a:endParaRPr lang="en-US" sz="1800" b="1" i="0" u="none" dirty="0">
              <a:solidFill>
                <a:schemeClr val="bg2"/>
              </a:solidFill>
              <a:latin typeface="Times New Roman"/>
              <a:ea typeface="Times New Roman"/>
              <a:cs typeface="Times New Roman"/>
              <a:sym typeface="Times New Roman"/>
            </a:endParaRP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Richa Dhiman E11307                                                    Assistant Professor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i="0" u="none" strike="noStrike" cap="none" dirty="0">
                  <a:solidFill>
                    <a:schemeClr val="bg2"/>
                  </a:solidFill>
                  <a:latin typeface="Cambria"/>
                  <a:ea typeface="Cambria"/>
                  <a:cs typeface="Cambria"/>
                  <a:sym typeface="Cambria"/>
                </a:rPr>
                <a:t>Learning Objectives &amp; Outcomes</a:t>
              </a:r>
              <a:endPar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6" name="Content Placeholder 2">
            <a:extLst>
              <a:ext uri="{FF2B5EF4-FFF2-40B4-BE49-F238E27FC236}">
                <a16:creationId xmlns:a16="http://schemas.microsoft.com/office/drawing/2014/main" id="{62BEAA81-582F-A9A2-F6D3-115B46D5A9B8}"/>
              </a:ext>
            </a:extLst>
          </p:cNvPr>
          <p:cNvSpPr txBox="1">
            <a:spLocks/>
          </p:cNvSpPr>
          <p:nvPr/>
        </p:nvSpPr>
        <p:spPr bwMode="auto">
          <a:xfrm>
            <a:off x="892576" y="794957"/>
            <a:ext cx="8001000" cy="3989078"/>
          </a:xfrm>
          <a:prstGeom prst="rect">
            <a:avLst/>
          </a:prstGeom>
          <a:noFill/>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ts val="0"/>
              </a:spcBef>
              <a:spcAft>
                <a:spcPts val="0"/>
              </a:spcAft>
              <a:buClr>
                <a:sysClr val="windowText" lastClr="000000"/>
              </a:buClr>
              <a:buSzPts val="2000"/>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a:ea typeface="Cambria"/>
                <a:cs typeface="Cambria"/>
                <a:sym typeface="Cambria"/>
              </a:rPr>
              <a:t>Objective:</a:t>
            </a:r>
            <a:endPar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To understand the meaning of Tree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To Study its Hierarchical Structure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To analyze its Parent and Child node structure.</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Outcome: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Student will understand</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Tree and operations performed on tree</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Different Tree Types</a:t>
            </a: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107231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3" name="Title 1">
            <a:extLst>
              <a:ext uri="{FF2B5EF4-FFF2-40B4-BE49-F238E27FC236}">
                <a16:creationId xmlns:a16="http://schemas.microsoft.com/office/drawing/2014/main" id="{AB54353A-4285-9774-DF36-2CF12E7BFDE0}"/>
              </a:ext>
            </a:extLst>
          </p:cNvPr>
          <p:cNvSpPr txBox="1">
            <a:spLocks/>
          </p:cNvSpPr>
          <p:nvPr/>
        </p:nvSpPr>
        <p:spPr>
          <a:xfrm>
            <a:off x="833700" y="197075"/>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AVL Tree</a:t>
            </a:r>
          </a:p>
        </p:txBody>
      </p:sp>
      <p:sp>
        <p:nvSpPr>
          <p:cNvPr id="4" name="Content Placeholder 2">
            <a:extLst>
              <a:ext uri="{FF2B5EF4-FFF2-40B4-BE49-F238E27FC236}">
                <a16:creationId xmlns:a16="http://schemas.microsoft.com/office/drawing/2014/main" id="{0ADEFBA3-5812-6907-B73C-34B74C6CF19D}"/>
              </a:ext>
            </a:extLst>
          </p:cNvPr>
          <p:cNvSpPr txBox="1">
            <a:spLocks/>
          </p:cNvSpPr>
          <p:nvPr/>
        </p:nvSpPr>
        <p:spPr bwMode="auto">
          <a:xfrm>
            <a:off x="757500" y="882875"/>
            <a:ext cx="7850592" cy="4063550"/>
          </a:xfrm>
          <a:prstGeom prst="rect">
            <a:avLst/>
          </a:prstGeom>
          <a:noFill/>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AVL tree is a self-balancing Binary Search Tree (BST) where the difference between heights of left and right subtrees cannot be more than one for all nodes.</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Why AVL Trees?</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Most of the BST operations (e.g., search, max, min, insert, delete.. </a:t>
            </a:r>
            <a:r>
              <a:rPr kumimoji="0" lang="en-US" altLang="en-US"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etc</a:t>
            </a: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take O(h) time where h is the height of the BST. The cost of these operations may become O(n) for a skewed Binary tree. If we make sure that height of the tree remains O(Logn) after every insertion and deletion, then we can guarantee an upper bound of O(Logn) for all these operations</a:t>
            </a: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9C85D7-2162-3728-41C8-9CA50DA575A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C82D24C-CFB6-10CB-9BE5-A8DE190188C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2" name="Title 1">
            <a:extLst>
              <a:ext uri="{FF2B5EF4-FFF2-40B4-BE49-F238E27FC236}">
                <a16:creationId xmlns:a16="http://schemas.microsoft.com/office/drawing/2014/main" id="{60F93765-737A-3468-AB35-4808618C13ED}"/>
              </a:ext>
            </a:extLst>
          </p:cNvPr>
          <p:cNvSpPr txBox="1">
            <a:spLocks/>
          </p:cNvSpPr>
          <p:nvPr/>
        </p:nvSpPr>
        <p:spPr>
          <a:xfrm>
            <a:off x="1181100" y="197075"/>
            <a:ext cx="678180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Example</a:t>
            </a:r>
          </a:p>
        </p:txBody>
      </p:sp>
      <p:pic>
        <p:nvPicPr>
          <p:cNvPr id="5" name="Picture 2" descr="https://media.geeksforgeeks.org/wp-content/cdn-uploads/AVL-Tree1.jpg">
            <a:extLst>
              <a:ext uri="{FF2B5EF4-FFF2-40B4-BE49-F238E27FC236}">
                <a16:creationId xmlns:a16="http://schemas.microsoft.com/office/drawing/2014/main" id="{489881BB-ED75-E8BF-A735-7F928F8E25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512" y="806675"/>
            <a:ext cx="4829175" cy="271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C650908B-CDD4-7D35-23CB-667BEC2B54FE}"/>
              </a:ext>
            </a:extLst>
          </p:cNvPr>
          <p:cNvSpPr>
            <a:spLocks noChangeArrowheads="1"/>
          </p:cNvSpPr>
          <p:nvPr/>
        </p:nvSpPr>
        <p:spPr bwMode="auto">
          <a:xfrm>
            <a:off x="762000" y="3792312"/>
            <a:ext cx="7620000"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fontAlgn="base">
              <a:spcBef>
                <a:spcPct val="0"/>
              </a:spcBef>
              <a:spcAft>
                <a:spcPct val="0"/>
              </a:spcAft>
              <a:buClrTx/>
              <a:buFontTx/>
              <a:buNone/>
            </a:pPr>
            <a:r>
              <a:rPr lang="en-US" altLang="en-US" sz="2300" kern="1200">
                <a:solidFill>
                  <a:prstClr val="black"/>
                </a:solidFill>
                <a:latin typeface="Cambria" panose="02040503050406030204" pitchFamily="18" charset="0"/>
                <a:ea typeface="+mn-ea"/>
              </a:rPr>
              <a:t>The above tree is AVL because differences between heights of left and right subtrees for every node is less than or equal to 1.</a:t>
            </a:r>
          </a:p>
        </p:txBody>
      </p:sp>
    </p:spTree>
    <p:extLst>
      <p:ext uri="{BB962C8B-B14F-4D97-AF65-F5344CB8AC3E}">
        <p14:creationId xmlns:p14="http://schemas.microsoft.com/office/powerpoint/2010/main" val="259646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FAE9B3A-F835-EA9F-375F-E58709572D7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7D1F1F6-CAAE-FC79-FD0B-3C78DFCE252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CCDAEDE-ABD1-E62B-C206-E4DF3D0D102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sp>
        <p:nvSpPr>
          <p:cNvPr id="3" name="Content Placeholder 2">
            <a:extLst>
              <a:ext uri="{FF2B5EF4-FFF2-40B4-BE49-F238E27FC236}">
                <a16:creationId xmlns:a16="http://schemas.microsoft.com/office/drawing/2014/main" id="{6290084E-2413-179B-D816-35CCC9C8279F}"/>
              </a:ext>
            </a:extLst>
          </p:cNvPr>
          <p:cNvSpPr txBox="1">
            <a:spLocks noChangeArrowheads="1"/>
          </p:cNvSpPr>
          <p:nvPr/>
        </p:nvSpPr>
        <p:spPr bwMode="auto">
          <a:xfrm>
            <a:off x="892576" y="85987"/>
            <a:ext cx="8001000" cy="47378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AVL tree is a self-balancing Binary Search Tree (BST) where the difference between heights of left and right subtrees cannot be more than one for all nodes.</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What if the input to binary search tree comes in a sorted (ascending or descending) manner? It will then look like this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4" name="Picture 6" descr="Unbalanced BST">
            <a:extLst>
              <a:ext uri="{FF2B5EF4-FFF2-40B4-BE49-F238E27FC236}">
                <a16:creationId xmlns:a16="http://schemas.microsoft.com/office/drawing/2014/main" id="{25E0F935-D491-F3EB-41C1-06B49554AF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776" y="2397387"/>
            <a:ext cx="5237163" cy="232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240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66223F7-9809-BE29-714E-38632F4599B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59937E7-EC35-0CA6-69EF-64D57377620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423D0D5-2563-3DDF-DDBE-37059391059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sp>
        <p:nvSpPr>
          <p:cNvPr id="4" name="Content Placeholder 2">
            <a:extLst>
              <a:ext uri="{FF2B5EF4-FFF2-40B4-BE49-F238E27FC236}">
                <a16:creationId xmlns:a16="http://schemas.microsoft.com/office/drawing/2014/main" id="{1D10F974-94C2-CA51-E0FD-E35708EF72F7}"/>
              </a:ext>
            </a:extLst>
          </p:cNvPr>
          <p:cNvSpPr txBox="1">
            <a:spLocks noChangeArrowheads="1"/>
          </p:cNvSpPr>
          <p:nvPr/>
        </p:nvSpPr>
        <p:spPr bwMode="auto">
          <a:xfrm>
            <a:off x="892576" y="393764"/>
            <a:ext cx="8001000" cy="449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It is observed that BST's worst-case performance is closest to linear search algorithms, that is Ο(n). In real-time data, we cannot predict data pattern and their frequencies. So, a need arises to balance out the existing BST.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Named after their inventor Adelson, Velski &amp; Landis, AVL trees are height balancing binary search tree. AVL tree checks the height of the left and the right sub-trees and assures that the difference is not more than 1. This difference is called the Balance Factor.</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175514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D698E66-F84E-170D-A0A4-F7906E6DCB0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F4F0A3-AC9F-881C-38CF-FCABC87F7D4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FE9E69A-0B72-58B1-5875-98C4F59242D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sp>
        <p:nvSpPr>
          <p:cNvPr id="5" name="Content Placeholder 2">
            <a:extLst>
              <a:ext uri="{FF2B5EF4-FFF2-40B4-BE49-F238E27FC236}">
                <a16:creationId xmlns:a16="http://schemas.microsoft.com/office/drawing/2014/main" id="{0B75D5F2-925A-FE96-3FF9-46108DE62583}"/>
              </a:ext>
            </a:extLst>
          </p:cNvPr>
          <p:cNvSpPr txBox="1">
            <a:spLocks noChangeArrowheads="1"/>
          </p:cNvSpPr>
          <p:nvPr/>
        </p:nvSpPr>
        <p:spPr bwMode="auto">
          <a:xfrm>
            <a:off x="892576" y="239875"/>
            <a:ext cx="7716948" cy="470318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r>
              <a:rPr kumimoji="0" lang="en-IN" altLang="en-US" sz="1700" b="0" i="0" u="none" strike="noStrike" kern="1200" cap="none" spc="0" normalizeH="0" baseline="0" noProof="0">
                <a:ln>
                  <a:noFill/>
                </a:ln>
                <a:solidFill>
                  <a:srgbClr val="262626"/>
                </a:solidFill>
                <a:effectLst/>
                <a:uLnTx/>
                <a:uFillTx/>
                <a:latin typeface="Times New Roman" panose="02020603050405020304" pitchFamily="18" charset="0"/>
                <a:ea typeface="+mn-ea"/>
                <a:cs typeface="Times New Roman" panose="02020603050405020304" pitchFamily="18" charset="0"/>
              </a:rPr>
              <a:t>Here we see that the first tree is balanced and the next two trees are not balanced </a:t>
            </a:r>
            <a:endParaRPr kumimoji="0" lang="en-IN" altLang="en-US" sz="1700" b="0" i="0" u="none" strike="noStrike" kern="1200" cap="none" spc="0" normalizeH="0" baseline="0" noProof="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endParaRPr kumimoji="0" lang="en-IN" altLang="en-US" sz="22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endParaRPr kumimoji="0" lang="en-IN" altLang="en-US" sz="22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endParaRPr kumimoji="0" lang="en-IN" altLang="en-US" sz="22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endParaRPr kumimoji="0" lang="en-IN" altLang="en-US" sz="22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endParaRPr kumimoji="0" lang="en-IN" altLang="en-US" sz="22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endParaRPr kumimoji="0" lang="en-IN" altLang="en-US" sz="22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endParaRPr kumimoji="0" lang="en-IN" altLang="en-US" sz="22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just" defTabSz="914400" rtl="0" eaLnBrk="0" fontAlgn="base" latinLnBrk="0" hangingPunct="0">
              <a:lnSpc>
                <a:spcPct val="130000"/>
              </a:lnSpc>
              <a:spcBef>
                <a:spcPct val="20000"/>
              </a:spcBef>
              <a:spcAft>
                <a:spcPts val="800"/>
              </a:spcAft>
              <a:buClrTx/>
              <a:buSzTx/>
              <a:buFont typeface="Arial" panose="020B0604020202020204" pitchFamily="34" charset="0"/>
              <a:buChar char="•"/>
              <a:tabLst/>
              <a:defRPr/>
            </a:pPr>
            <a:r>
              <a:rPr kumimoji="0" lang="en-IN" altLang="en-US" sz="1700" b="0" i="0" u="none" strike="noStrike" kern="1200" cap="none" spc="0" normalizeH="0" baseline="0" noProof="0">
                <a:ln>
                  <a:noFill/>
                </a:ln>
                <a:solidFill>
                  <a:srgbClr val="262626"/>
                </a:solidFill>
                <a:effectLst/>
                <a:uLnTx/>
                <a:uFillTx/>
                <a:latin typeface="Times New Roman" panose="02020603050405020304" pitchFamily="18" charset="0"/>
                <a:ea typeface="+mn-ea"/>
                <a:cs typeface="Times New Roman" panose="02020603050405020304" pitchFamily="18" charset="0"/>
              </a:rPr>
              <a:t>In the second tree, the left subtree of C has height 2 and the right subtree has height 0, so the difference is 2. In the third tree, the right subtree of A has height 2 and the left is missing, so it is 0, and the difference is 2 again. AVL tree permits difference (balance factor) to be only 1.</a:t>
            </a:r>
            <a:endParaRPr kumimoji="0" lang="en-IN" altLang="en-US" sz="1700" b="0"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Calibri" panose="020F0502020204030204" pitchFamily="34" charset="0"/>
            </a:endParaRPr>
          </a:p>
          <a:p>
            <a:pPr marL="342900" marR="0" lvl="0" indent="-342900" algn="just" defTabSz="914400" rtl="0" eaLnBrk="0" fontAlgn="base" latinLnBrk="0" hangingPunct="0">
              <a:lnSpc>
                <a:spcPct val="130000"/>
              </a:lnSpc>
              <a:spcBef>
                <a:spcPct val="20000"/>
              </a:spcBef>
              <a:spcAft>
                <a:spcPts val="800"/>
              </a:spcAft>
              <a:buClrTx/>
              <a:buSzTx/>
              <a:buFont typeface="Arial" panose="020B0604020202020204" pitchFamily="34" charset="0"/>
              <a:buChar char="•"/>
              <a:tabLst/>
              <a:defRPr/>
            </a:pPr>
            <a:r>
              <a:rPr kumimoji="0" lang="en-IN" altLang="en-US" sz="1700" b="1" i="1" u="none" strike="noStrike" kern="1200" cap="none" spc="0" normalizeH="0" baseline="0" noProof="0">
                <a:ln>
                  <a:noFill/>
                </a:ln>
                <a:solidFill>
                  <a:srgbClr val="262626"/>
                </a:solidFill>
                <a:effectLst/>
                <a:uLnTx/>
                <a:uFillTx/>
                <a:latin typeface="Times New Roman" panose="02020603050405020304" pitchFamily="18" charset="0"/>
                <a:ea typeface="+mn-ea"/>
                <a:cs typeface="Times New Roman" panose="02020603050405020304" pitchFamily="18" charset="0"/>
              </a:rPr>
              <a:t>BalanceFactor</a:t>
            </a:r>
            <a:r>
              <a:rPr kumimoji="0" lang="en-IN" altLang="en-US" sz="1700" b="0" i="0" u="none" strike="noStrike" kern="1200" cap="none" spc="0" normalizeH="0" baseline="0" noProof="0">
                <a:ln>
                  <a:noFill/>
                </a:ln>
                <a:solidFill>
                  <a:srgbClr val="262626"/>
                </a:solidFill>
                <a:effectLst/>
                <a:uLnTx/>
                <a:uFillTx/>
                <a:latin typeface="Times New Roman" panose="02020603050405020304" pitchFamily="18" charset="0"/>
                <a:ea typeface="+mn-ea"/>
                <a:cs typeface="Times New Roman" panose="02020603050405020304" pitchFamily="18" charset="0"/>
              </a:rPr>
              <a:t> = height(left-sutree) − height(right-sutree)</a:t>
            </a:r>
            <a:endParaRPr kumimoji="0" lang="en-IN" altLang="en-US" sz="1700" b="0"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Calibri" panose="020F0502020204030204" pitchFamily="34" charset="0"/>
            </a:endParaRPr>
          </a:p>
          <a:p>
            <a:pPr marL="342900" marR="0" lvl="0" indent="-342900" algn="just" defTabSz="914400" rtl="0" eaLnBrk="0" fontAlgn="base" latinLnBrk="0" hangingPunct="0">
              <a:lnSpc>
                <a:spcPct val="130000"/>
              </a:lnSpc>
              <a:spcBef>
                <a:spcPct val="20000"/>
              </a:spcBef>
              <a:spcAft>
                <a:spcPts val="800"/>
              </a:spcAft>
              <a:buClrTx/>
              <a:buSzTx/>
              <a:buFont typeface="Arial" panose="020B0604020202020204" pitchFamily="34" charset="0"/>
              <a:buChar char="•"/>
              <a:tabLst/>
              <a:defRPr/>
            </a:pPr>
            <a:r>
              <a:rPr kumimoji="0" lang="en-IN" altLang="en-US" sz="1700" b="0" i="0" u="none" strike="noStrike" kern="1200" cap="none" spc="0" normalizeH="0" baseline="0" noProof="0">
                <a:ln>
                  <a:noFill/>
                </a:ln>
                <a:solidFill>
                  <a:srgbClr val="262626"/>
                </a:solidFill>
                <a:effectLst/>
                <a:uLnTx/>
                <a:uFillTx/>
                <a:latin typeface="Times New Roman" panose="02020603050405020304" pitchFamily="18" charset="0"/>
                <a:ea typeface="+mn-ea"/>
                <a:cs typeface="Times New Roman" panose="02020603050405020304" pitchFamily="18" charset="0"/>
              </a:rPr>
              <a:t>If the difference in the height of left and right sub-trees is more than 1, the tree is balanced using some rotation techniques.</a:t>
            </a:r>
            <a:endParaRPr kumimoji="0" lang="en-IN" altLang="en-US" sz="1700" b="0"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80000"/>
              </a:lnSpc>
              <a:spcBef>
                <a:spcPct val="20000"/>
              </a:spcBef>
              <a:spcAft>
                <a:spcPct val="0"/>
              </a:spcAft>
              <a:buClrTx/>
              <a:buSzTx/>
              <a:buFont typeface="Arial" panose="020B0604020202020204" pitchFamily="34" charset="0"/>
              <a:buChar char="•"/>
              <a:tabLst/>
              <a:defRPr/>
            </a:pPr>
            <a:endParaRPr kumimoji="0" lang="en-IN" altLang="en-US" sz="22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6" name="Picture 3" descr="Unbalanced AVL Trees">
            <a:extLst>
              <a:ext uri="{FF2B5EF4-FFF2-40B4-BE49-F238E27FC236}">
                <a16:creationId xmlns:a16="http://schemas.microsoft.com/office/drawing/2014/main" id="{CBFEE5D7-D067-CD02-DBD2-078BC366A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150" y="617791"/>
            <a:ext cx="6019800" cy="1608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571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B30559D-113C-CA36-943F-FB81436000C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DE20160-C47E-3755-260A-77F95E87624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CBAD650A-C296-32D4-88D6-EC65A0BB20C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4" name="Content Placeholder 2">
            <a:extLst>
              <a:ext uri="{FF2B5EF4-FFF2-40B4-BE49-F238E27FC236}">
                <a16:creationId xmlns:a16="http://schemas.microsoft.com/office/drawing/2014/main" id="{A5E88DB7-090F-E8FE-E7F9-A204A14F59EA}"/>
              </a:ext>
            </a:extLst>
          </p:cNvPr>
          <p:cNvSpPr txBox="1">
            <a:spLocks noChangeArrowheads="1"/>
          </p:cNvSpPr>
          <p:nvPr/>
        </p:nvSpPr>
        <p:spPr bwMode="auto">
          <a:xfrm>
            <a:off x="892576" y="239875"/>
            <a:ext cx="8001000" cy="449926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50000"/>
              </a:lnSpc>
              <a:spcBef>
                <a:spcPct val="20000"/>
              </a:spcBef>
              <a:spcAft>
                <a:spcPts val="800"/>
              </a:spcAft>
              <a:buClrTx/>
              <a:buSzTx/>
              <a:buFont typeface="Arial" panose="020B0604020202020204" pitchFamily="34" charset="0"/>
              <a:buChar char="•"/>
              <a:tabLst/>
              <a:defRPr/>
            </a:pPr>
            <a:r>
              <a:rPr kumimoji="0" lang="en-IN" altLang="en-US"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AVL Rotations</a:t>
            </a:r>
            <a:endParaRPr kumimoji="0" lang="en-IN" altLang="en-US" b="0" i="0" u="none" strike="noStrike" kern="120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50000"/>
              </a:lnSpc>
              <a:spcBef>
                <a:spcPct val="20000"/>
              </a:spcBef>
              <a:spcAft>
                <a:spcPts val="800"/>
              </a:spcAft>
              <a:buClrTx/>
              <a:buSzTx/>
              <a:buFont typeface="Arial" panose="020B0604020202020204" pitchFamily="34" charset="0"/>
              <a:buChar char="•"/>
              <a:tabLst/>
              <a:defRPr/>
            </a:pPr>
            <a:r>
              <a:rPr kumimoji="0" lang="en-IN" alt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To balance itself, an AVL tree may perform the following four kinds of rotations </a:t>
            </a:r>
            <a:endParaRPr kumimoji="0" lang="en-IN"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ea typeface="+mn-ea"/>
              <a:cs typeface="Calibri" panose="020F0502020204030204" pitchFamily="34" charset="0"/>
            </a:endParaRPr>
          </a:p>
          <a:p>
            <a:pPr marL="742950" marR="0" lvl="1" indent="-342900" algn="just" defTabSz="914400" rtl="0" eaLnBrk="0" fontAlgn="base" latinLnBrk="0" hangingPunct="0">
              <a:lnSpc>
                <a:spcPct val="150000"/>
              </a:lnSpc>
              <a:spcBef>
                <a:spcPct val="20000"/>
              </a:spcBef>
              <a:spcAft>
                <a:spcPts val="800"/>
              </a:spcAft>
              <a:buClrTx/>
              <a:buSzPts val="1000"/>
              <a:buFont typeface="Symbol" panose="05050102010706020507" pitchFamily="18" charset="2"/>
              <a:buChar char=""/>
              <a:tabLst/>
              <a:defRPr/>
            </a:pPr>
            <a:r>
              <a:rPr kumimoji="0" lang="en-I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Left rotation</a:t>
            </a:r>
            <a:endParaRPr kumimoji="0" lang="en-IN" altLang="en-US" sz="1800" b="0" i="0" u="none" strike="noStrike" kern="1200" cap="none" spc="0" normalizeH="0" baseline="0" noProof="0" dirty="0">
              <a:ln>
                <a:noFill/>
              </a:ln>
              <a:solidFill>
                <a:sysClr val="windowText" lastClr="000000"/>
              </a:solidFill>
              <a:effectLst/>
              <a:uLnTx/>
              <a:uFillTx/>
              <a:latin typeface="Calibri"/>
              <a:ea typeface="+mn-ea"/>
              <a:cs typeface="Calibri" panose="020F0502020204030204" pitchFamily="34" charset="0"/>
            </a:endParaRPr>
          </a:p>
          <a:p>
            <a:pPr marL="742950" marR="0" lvl="1" indent="-342900" algn="just" defTabSz="914400" rtl="0" eaLnBrk="0" fontAlgn="base" latinLnBrk="0" hangingPunct="0">
              <a:lnSpc>
                <a:spcPct val="150000"/>
              </a:lnSpc>
              <a:spcBef>
                <a:spcPct val="20000"/>
              </a:spcBef>
              <a:spcAft>
                <a:spcPts val="800"/>
              </a:spcAft>
              <a:buClrTx/>
              <a:buSzPts val="1000"/>
              <a:buFont typeface="Symbol" panose="05050102010706020507" pitchFamily="18" charset="2"/>
              <a:buChar char=""/>
              <a:tabLst/>
              <a:defRPr/>
            </a:pPr>
            <a:r>
              <a:rPr kumimoji="0" lang="en-I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Right rotation</a:t>
            </a:r>
            <a:endParaRPr kumimoji="0" lang="en-IN" altLang="en-US" sz="1800" b="0" i="0" u="none" strike="noStrike" kern="1200" cap="none" spc="0" normalizeH="0" baseline="0" noProof="0" dirty="0">
              <a:ln>
                <a:noFill/>
              </a:ln>
              <a:solidFill>
                <a:sysClr val="windowText" lastClr="000000"/>
              </a:solidFill>
              <a:effectLst/>
              <a:uLnTx/>
              <a:uFillTx/>
              <a:latin typeface="Calibri"/>
              <a:ea typeface="+mn-ea"/>
              <a:cs typeface="Calibri" panose="020F0502020204030204" pitchFamily="34" charset="0"/>
            </a:endParaRPr>
          </a:p>
          <a:p>
            <a:pPr marL="742950" marR="0" lvl="1" indent="-342900" algn="just" defTabSz="914400" rtl="0" eaLnBrk="0" fontAlgn="base" latinLnBrk="0" hangingPunct="0">
              <a:lnSpc>
                <a:spcPct val="150000"/>
              </a:lnSpc>
              <a:spcBef>
                <a:spcPct val="20000"/>
              </a:spcBef>
              <a:spcAft>
                <a:spcPts val="800"/>
              </a:spcAft>
              <a:buClrTx/>
              <a:buSzPts val="1000"/>
              <a:buFont typeface="Symbol" panose="05050102010706020507" pitchFamily="18" charset="2"/>
              <a:buChar char=""/>
              <a:tabLst/>
              <a:defRPr/>
            </a:pPr>
            <a:r>
              <a:rPr kumimoji="0" lang="en-I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Left-Right rotation</a:t>
            </a:r>
            <a:endParaRPr kumimoji="0" lang="en-IN" altLang="en-US" sz="1800" b="0" i="0" u="none" strike="noStrike" kern="1200" cap="none" spc="0" normalizeH="0" baseline="0" noProof="0" dirty="0">
              <a:ln>
                <a:noFill/>
              </a:ln>
              <a:solidFill>
                <a:sysClr val="windowText" lastClr="000000"/>
              </a:solidFill>
              <a:effectLst/>
              <a:uLnTx/>
              <a:uFillTx/>
              <a:latin typeface="Calibri"/>
              <a:ea typeface="+mn-ea"/>
              <a:cs typeface="Calibri" panose="020F0502020204030204" pitchFamily="34" charset="0"/>
            </a:endParaRPr>
          </a:p>
          <a:p>
            <a:pPr marL="742950" marR="0" lvl="1" indent="-342900" algn="just" defTabSz="914400" rtl="0" eaLnBrk="0" fontAlgn="base" latinLnBrk="0" hangingPunct="0">
              <a:lnSpc>
                <a:spcPct val="150000"/>
              </a:lnSpc>
              <a:spcBef>
                <a:spcPct val="20000"/>
              </a:spcBef>
              <a:spcAft>
                <a:spcPts val="800"/>
              </a:spcAft>
              <a:buClrTx/>
              <a:buSzPts val="1000"/>
              <a:buFont typeface="Symbol" panose="05050102010706020507" pitchFamily="18" charset="2"/>
              <a:buChar char=""/>
              <a:tabLst/>
              <a:defRPr/>
            </a:pPr>
            <a:r>
              <a:rPr kumimoji="0" lang="en-I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Right-Left rotation</a:t>
            </a:r>
            <a:endParaRPr kumimoji="0" lang="en-IN" altLang="en-US" sz="1800" b="0" i="0" u="none" strike="noStrike" kern="1200" cap="none" spc="0" normalizeH="0" baseline="0" noProof="0" dirty="0">
              <a:ln>
                <a:noFill/>
              </a:ln>
              <a:solidFill>
                <a:sysClr val="windowText" lastClr="000000"/>
              </a:solidFill>
              <a:effectLst/>
              <a:uLnTx/>
              <a:uFillTx/>
              <a:latin typeface="Calibri"/>
              <a:ea typeface="+mn-ea"/>
              <a:cs typeface="Calibri" panose="020F0502020204030204" pitchFamily="34" charset="0"/>
            </a:endParaRPr>
          </a:p>
        </p:txBody>
      </p:sp>
    </p:spTree>
    <p:extLst>
      <p:ext uri="{BB962C8B-B14F-4D97-AF65-F5344CB8AC3E}">
        <p14:creationId xmlns:p14="http://schemas.microsoft.com/office/powerpoint/2010/main" val="1499376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C968952-9F81-729C-53B4-D1C17C8294FF}"/>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680ABD5A-3729-5B5D-F38D-F62740DADD4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600E050-3776-6C4A-0FC4-F25E0C03508C}"/>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4" name="Content Placeholder 2">
            <a:extLst>
              <a:ext uri="{FF2B5EF4-FFF2-40B4-BE49-F238E27FC236}">
                <a16:creationId xmlns:a16="http://schemas.microsoft.com/office/drawing/2014/main" id="{45CB1C0D-1BE9-6C0C-C77D-4978EFF421CF}"/>
              </a:ext>
            </a:extLst>
          </p:cNvPr>
          <p:cNvSpPr txBox="1">
            <a:spLocks noChangeArrowheads="1"/>
          </p:cNvSpPr>
          <p:nvPr/>
        </p:nvSpPr>
        <p:spPr bwMode="auto">
          <a:xfrm>
            <a:off x="892576" y="239875"/>
            <a:ext cx="7865924" cy="4817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Left Rotation</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If a tree becomes unbalanced, when a node is inserted into the right subtree of the right subtree, then we perform a single left rotation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In our example, node A has become unbalanced as a node is inserted in the right subtree of A's right subtree. We perform the left rotation by making A the left-subtree of B.</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5" name="Picture 5" descr="Left Rotation">
            <a:extLst>
              <a:ext uri="{FF2B5EF4-FFF2-40B4-BE49-F238E27FC236}">
                <a16:creationId xmlns:a16="http://schemas.microsoft.com/office/drawing/2014/main" id="{4CCD4741-33D5-93C5-D349-C3399F180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5875" y="1993311"/>
            <a:ext cx="4759325" cy="157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1039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621860D-FC55-0EE3-C19E-3835007BA8AF}"/>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04FCFAA-B4E8-8879-7669-8FC45A94812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E3C56823-62CA-407D-5A43-4B436B4E7168}"/>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4" name="Content Placeholder 2">
            <a:extLst>
              <a:ext uri="{FF2B5EF4-FFF2-40B4-BE49-F238E27FC236}">
                <a16:creationId xmlns:a16="http://schemas.microsoft.com/office/drawing/2014/main" id="{607FD65A-8F92-4493-0EEB-1BBEEAE05B49}"/>
              </a:ext>
            </a:extLst>
          </p:cNvPr>
          <p:cNvSpPr txBox="1">
            <a:spLocks/>
          </p:cNvSpPr>
          <p:nvPr/>
        </p:nvSpPr>
        <p:spPr>
          <a:xfrm>
            <a:off x="892576" y="239875"/>
            <a:ext cx="7716948" cy="4597168"/>
          </a:xfrm>
          <a:prstGeom prst="rect">
            <a:avLst/>
          </a:prstGeom>
          <a:noFill/>
        </p:spPr>
        <p:txBody>
          <a:bodyPr>
            <a:normAutofit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Right Rotation</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AVL tree may become unbalanced, if a node is inserted in the left subtree of the left subtree. The tree then needs a right rotation.</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As depicted, the unbalanced node becomes the right child of its left child by performing a right rotation.</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5" name="Picture 5" descr="Right Rotation">
            <a:extLst>
              <a:ext uri="{FF2B5EF4-FFF2-40B4-BE49-F238E27FC236}">
                <a16:creationId xmlns:a16="http://schemas.microsoft.com/office/drawing/2014/main" id="{CC83BC0A-9428-6388-28C1-6EE45C57B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1387" y="2000897"/>
            <a:ext cx="4759325"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1796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6BD9DD3-EE34-B766-3412-56FA517B4C0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17C59E0D-46D2-DEB5-D40B-EE85AD53A2E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DCE912B-6B30-DE4A-8454-301C99D78E2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pic>
        <p:nvPicPr>
          <p:cNvPr id="4" name="Content Placeholder 3">
            <a:extLst>
              <a:ext uri="{FF2B5EF4-FFF2-40B4-BE49-F238E27FC236}">
                <a16:creationId xmlns:a16="http://schemas.microsoft.com/office/drawing/2014/main" id="{4F9ED5AE-0EA8-F0A5-3D97-A19E3CB43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165" y="85987"/>
            <a:ext cx="7886411" cy="4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632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2D565F7-7B58-5C3B-FCDC-E6C0CFEF1F9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F31FAFF-7FEE-BA83-A704-9D5C6DCDD8D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B2FAA1B1-2426-1794-67B3-848ED1C7161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8</a:t>
            </a:r>
            <a:endParaRPr lang="en-IN" dirty="0"/>
          </a:p>
        </p:txBody>
      </p:sp>
      <p:sp>
        <p:nvSpPr>
          <p:cNvPr id="4" name="Content Placeholder 2">
            <a:extLst>
              <a:ext uri="{FF2B5EF4-FFF2-40B4-BE49-F238E27FC236}">
                <a16:creationId xmlns:a16="http://schemas.microsoft.com/office/drawing/2014/main" id="{CCB4702E-7789-FA86-8EB2-F6683BE16E54}"/>
              </a:ext>
            </a:extLst>
          </p:cNvPr>
          <p:cNvSpPr txBox="1">
            <a:spLocks/>
          </p:cNvSpPr>
          <p:nvPr/>
        </p:nvSpPr>
        <p:spPr>
          <a:xfrm>
            <a:off x="892576" y="393764"/>
            <a:ext cx="7716948" cy="4058966"/>
          </a:xfrm>
          <a:prstGeom prst="rect">
            <a:avLst/>
          </a:prstGeom>
          <a:noFill/>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a:pPr>
            <a:r>
              <a:rPr kumimoji="0" lang="en-IN" b="1" i="0" u="none" strike="noStrike" kern="1200" cap="none" spc="0" normalizeH="0" baseline="0" noProof="0" dirty="0">
                <a:ln>
                  <a:noFill/>
                </a:ln>
                <a:solidFill>
                  <a:srgbClr val="262626"/>
                </a:solidFill>
                <a:effectLst/>
                <a:uLnTx/>
                <a:uFillTx/>
                <a:latin typeface="Times New Roman" panose="02020603050405020304" pitchFamily="18" charset="0"/>
                <a:ea typeface="Times New Roman" panose="02020603050405020304" pitchFamily="18" charset="0"/>
                <a:cs typeface="+mn-cs"/>
              </a:rPr>
              <a:t>Right-Left Rotation</a:t>
            </a:r>
            <a:endParaRPr kumimoji="0" lang="en-IN"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rPr>
              <a:t>The second type of double rotation is Right-Left Rotation. It is a combination of right rotation followed by left rotation.</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53712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EEC0536-BF5D-71F0-87EA-F1E1B410598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DFCDD88A-2ADF-8A48-80BA-D52FEC540C5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FA94115-363C-5364-F65C-CCEE1956B27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9</a:t>
            </a:r>
            <a:endParaRPr lang="en-IN" dirty="0"/>
          </a:p>
        </p:txBody>
      </p:sp>
      <p:pic>
        <p:nvPicPr>
          <p:cNvPr id="2" name="Content Placeholder 3">
            <a:extLst>
              <a:ext uri="{FF2B5EF4-FFF2-40B4-BE49-F238E27FC236}">
                <a16:creationId xmlns:a16="http://schemas.microsoft.com/office/drawing/2014/main" id="{199DF16D-5515-9D1B-F4C9-1D2A4B4E7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8124" y="85987"/>
            <a:ext cx="7391400" cy="497152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4504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7FE174C-2C6C-BACB-E1EF-E7CF8749373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39610BC-42CA-7267-440D-E771D9DD4C92}"/>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67F62AB-1496-B1F6-0FDD-173D6F0A2D2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3" name="Content Placeholder 2">
            <a:extLst>
              <a:ext uri="{FF2B5EF4-FFF2-40B4-BE49-F238E27FC236}">
                <a16:creationId xmlns:a16="http://schemas.microsoft.com/office/drawing/2014/main" id="{EEE9E319-E951-73FF-A765-03B4D922A88A}"/>
              </a:ext>
            </a:extLst>
          </p:cNvPr>
          <p:cNvSpPr txBox="1">
            <a:spLocks noChangeArrowheads="1"/>
          </p:cNvSpPr>
          <p:nvPr/>
        </p:nvSpPr>
        <p:spPr bwMode="auto">
          <a:xfrm>
            <a:off x="1141924" y="393764"/>
            <a:ext cx="7467600" cy="449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50000"/>
              </a:lnSpc>
              <a:spcBef>
                <a:spcPct val="20000"/>
              </a:spcBef>
              <a:spcAft>
                <a:spcPts val="800"/>
              </a:spcAft>
              <a:buClrTx/>
              <a:buSzTx/>
              <a:buFont typeface="Arial" panose="020B0604020202020204" pitchFamily="34" charset="0"/>
              <a:buChar char="•"/>
              <a:tabLst/>
              <a:defRPr/>
            </a:pPr>
            <a:r>
              <a:rPr kumimoji="0" lang="en-IN" altLang="en-US"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Left-Right Rotation</a:t>
            </a:r>
            <a:endParaRPr kumimoji="0" lang="en-IN" altLang="en-US" b="0" i="0" u="none" strike="noStrike" kern="120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50000"/>
              </a:lnSpc>
              <a:spcBef>
                <a:spcPct val="20000"/>
              </a:spcBef>
              <a:spcAft>
                <a:spcPts val="800"/>
              </a:spcAft>
              <a:buClrTx/>
              <a:buSzTx/>
              <a:buFont typeface="Arial" panose="020B0604020202020204" pitchFamily="34" charset="0"/>
              <a:buChar char="•"/>
              <a:tabLst/>
              <a:defRPr/>
            </a:pPr>
            <a:r>
              <a:rPr kumimoji="0" lang="en-I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Double rotations are slightly complex version of already explained versions of rotations. To understand them better, we should take note of each action performed while rotation. Let's first check how to perform Left-Right rotation. A left-right rotation is a combination of left rotation followed by right rotation.</a:t>
            </a:r>
            <a:endParaRPr kumimoji="0" lang="en-IN" altLang="en-US" sz="1800" b="0" i="0" u="none" strike="noStrike" kern="1200" cap="none" spc="0" normalizeH="0" baseline="0" noProof="0" dirty="0">
              <a:ln>
                <a:noFill/>
              </a:ln>
              <a:solidFill>
                <a:sysClr val="windowText" lastClr="000000"/>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649321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18E393-2F51-EB19-24F3-365F9B677C6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7625D6E-BE07-D5DE-44E0-C5F84CC863C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802C3F7-EF4B-C0D1-3F4C-BC5308BA67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4" name="Title 1">
            <a:extLst>
              <a:ext uri="{FF2B5EF4-FFF2-40B4-BE49-F238E27FC236}">
                <a16:creationId xmlns:a16="http://schemas.microsoft.com/office/drawing/2014/main" id="{34512661-7A5F-13D5-E49D-0120AFC92FED}"/>
              </a:ext>
            </a:extLst>
          </p:cNvPr>
          <p:cNvSpPr txBox="1">
            <a:spLocks/>
          </p:cNvSpPr>
          <p:nvPr/>
        </p:nvSpPr>
        <p:spPr>
          <a:xfrm>
            <a:off x="833700" y="197075"/>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Red black tree</a:t>
            </a:r>
          </a:p>
        </p:txBody>
      </p:sp>
      <p:sp>
        <p:nvSpPr>
          <p:cNvPr id="5" name="Content Placeholder 2">
            <a:extLst>
              <a:ext uri="{FF2B5EF4-FFF2-40B4-BE49-F238E27FC236}">
                <a16:creationId xmlns:a16="http://schemas.microsoft.com/office/drawing/2014/main" id="{79FAC540-2E83-997A-A1E3-F12C5235F37A}"/>
              </a:ext>
            </a:extLst>
          </p:cNvPr>
          <p:cNvSpPr txBox="1">
            <a:spLocks/>
          </p:cNvSpPr>
          <p:nvPr/>
        </p:nvSpPr>
        <p:spPr>
          <a:xfrm>
            <a:off x="907908" y="806675"/>
            <a:ext cx="7850592" cy="3831586"/>
          </a:xfrm>
          <a:prstGeom prst="rect">
            <a:avLst/>
          </a:prstGeom>
          <a:noFill/>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Red-Black Tree is a self-balancing Binary Search Tree (BST) where every node follows following rules:</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1) </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Every node has a color either red or black.</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2) </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Root of tree is always black.</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3) </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There are no two adjacent red nodes (A red node cannot have a red parent or red child).</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4) </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Every path from a node (including root) to any of its descendant NULL node has the same number of black nodes.</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229634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5EE71D1-7E4C-9A19-B1B0-FFE86311093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D973ED05-330D-6F74-8DBD-D04B781EEA6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14B55D24-D161-8DDC-2D87-3D43417FA29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4" name="Content Placeholder 2">
            <a:extLst>
              <a:ext uri="{FF2B5EF4-FFF2-40B4-BE49-F238E27FC236}">
                <a16:creationId xmlns:a16="http://schemas.microsoft.com/office/drawing/2014/main" id="{1B426132-B9E4-4A6B-AF4F-7D0149936EEE}"/>
              </a:ext>
            </a:extLst>
          </p:cNvPr>
          <p:cNvSpPr txBox="1">
            <a:spLocks/>
          </p:cNvSpPr>
          <p:nvPr/>
        </p:nvSpPr>
        <p:spPr bwMode="auto">
          <a:xfrm>
            <a:off x="909900" y="986823"/>
            <a:ext cx="7324200" cy="378520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Most of the BST operations (e.g., search, max, min, insert, delete.. </a:t>
            </a:r>
            <a:r>
              <a:rPr kumimoji="0" lang="en-US" altLang="en-US"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etc</a:t>
            </a: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take O(h) time where h is the height of the BST. The cost of these operations may become O(n) for a skewed Binary tree. If we make sure that height of the tree remains O(Logn) after every insertion and deletion, then we can guarantee an upper bound of O(Logn) for all these operations. The height of a Red-Black tree is always O(Logn) where n is the number of nodes in the tree.</a:t>
            </a:r>
          </a:p>
        </p:txBody>
      </p:sp>
      <p:sp>
        <p:nvSpPr>
          <p:cNvPr id="5" name="Title 1">
            <a:extLst>
              <a:ext uri="{FF2B5EF4-FFF2-40B4-BE49-F238E27FC236}">
                <a16:creationId xmlns:a16="http://schemas.microsoft.com/office/drawing/2014/main" id="{B1B25BA7-C7B6-8578-07F0-51A59453CCA6}"/>
              </a:ext>
            </a:extLst>
          </p:cNvPr>
          <p:cNvSpPr txBox="1">
            <a:spLocks/>
          </p:cNvSpPr>
          <p:nvPr/>
        </p:nvSpPr>
        <p:spPr>
          <a:xfrm>
            <a:off x="1062300" y="197075"/>
            <a:ext cx="732420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Why Red black tree?</a:t>
            </a:r>
          </a:p>
        </p:txBody>
      </p:sp>
    </p:spTree>
    <p:extLst>
      <p:ext uri="{BB962C8B-B14F-4D97-AF65-F5344CB8AC3E}">
        <p14:creationId xmlns:p14="http://schemas.microsoft.com/office/powerpoint/2010/main" val="3040678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341A732-D0F0-17B1-B627-DB7F5C983C3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F187A80-B81E-8273-161A-1C2F1A9691F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3ADC4BE-724D-BC03-5D67-42F1D9732F8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Google Shape;398;p16">
            <a:extLst>
              <a:ext uri="{FF2B5EF4-FFF2-40B4-BE49-F238E27FC236}">
                <a16:creationId xmlns:a16="http://schemas.microsoft.com/office/drawing/2014/main" id="{C1F7B2A6-F326-C535-25E2-C1FF3909D4C8}"/>
              </a:ext>
            </a:extLst>
          </p:cNvPr>
          <p:cNvSpPr txBox="1">
            <a:spLocks/>
          </p:cNvSpPr>
          <p:nvPr/>
        </p:nvSpPr>
        <p:spPr>
          <a:xfrm>
            <a:off x="833700" y="88964"/>
            <a:ext cx="7552800" cy="47059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Summary</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Rectangle 3">
            <a:extLst>
              <a:ext uri="{FF2B5EF4-FFF2-40B4-BE49-F238E27FC236}">
                <a16:creationId xmlns:a16="http://schemas.microsoft.com/office/drawing/2014/main" id="{D7768007-5AF4-3C6A-4C6D-AE3313B5AC03}"/>
              </a:ext>
            </a:extLst>
          </p:cNvPr>
          <p:cNvSpPr txBox="1">
            <a:spLocks noChangeArrowheads="1"/>
          </p:cNvSpPr>
          <p:nvPr/>
        </p:nvSpPr>
        <p:spPr bwMode="auto">
          <a:xfrm>
            <a:off x="991962" y="912691"/>
            <a:ext cx="7394538" cy="3530150"/>
          </a:xfrm>
          <a:prstGeom prst="rect">
            <a:avLst/>
          </a:prstGeom>
          <a:noFill/>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marR="0" lvl="1" indent="0" algn="l" defTabSz="914400" rtl="0" eaLnBrk="0" fontAlgn="base" latinLnBrk="0" hangingPunct="0">
              <a:lnSpc>
                <a:spcPct val="100000"/>
              </a:lnSpc>
              <a:spcBef>
                <a:spcPct val="0"/>
              </a:spcBef>
              <a:spcAft>
                <a:spcPct val="0"/>
              </a:spcAft>
              <a:buClr>
                <a:srgbClr val="000000"/>
              </a:buClr>
              <a:buSzPts val="2000"/>
              <a:buNone/>
              <a:tabLst/>
              <a:defRPr/>
            </a:pPr>
            <a:endParaRPr kumimoji="0" lang="en-US" altLang="en-US" sz="2300" b="0" i="0" u="none" strike="noStrike" kern="1200" cap="none" spc="0" normalizeH="0" baseline="0" noProof="0" dirty="0">
              <a:ln>
                <a:noFill/>
              </a:ln>
              <a:solidFill>
                <a:sysClr val="windowText" lastClr="000000"/>
              </a:solidFill>
              <a:effectLst/>
              <a:uLnTx/>
              <a:uFillTx/>
              <a:latin typeface="Calibri"/>
              <a:ea typeface="+mn-ea"/>
              <a:cs typeface="+mn-cs"/>
            </a:endParaRPr>
          </a:p>
          <a:p>
            <a:pPr marL="457200" marR="0" lvl="1" indent="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Calibri"/>
                <a:ea typeface="+mn-ea"/>
                <a:cs typeface="+mn-cs"/>
              </a:rPr>
              <a:t>Types of Trees</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libri"/>
                <a:ea typeface="+mn-ea"/>
                <a:cs typeface="+mn-cs"/>
              </a:rPr>
              <a:t>AVL trees</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lang="en-US" altLang="en-US" sz="2400" dirty="0">
                <a:solidFill>
                  <a:sysClr val="windowText" lastClr="000000"/>
                </a:solidFill>
                <a:latin typeface="Calibri"/>
              </a:rPr>
              <a:t>Red Black tree Introduction</a:t>
            </a: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701280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834F766-A176-EC7F-DA61-121F22B5631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2884BC-C924-1064-8AE8-EA2EEEF3175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2EF7270C-BEA4-72D0-7C70-EF18C77EEAA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Google Shape;398;p16">
            <a:extLst>
              <a:ext uri="{FF2B5EF4-FFF2-40B4-BE49-F238E27FC236}">
                <a16:creationId xmlns:a16="http://schemas.microsoft.com/office/drawing/2014/main" id="{29C0C67A-C50A-18DC-412A-99E3C5164A3A}"/>
              </a:ext>
            </a:extLst>
          </p:cNvPr>
          <p:cNvSpPr txBox="1">
            <a:spLocks/>
          </p:cNvSpPr>
          <p:nvPr/>
        </p:nvSpPr>
        <p:spPr>
          <a:xfrm>
            <a:off x="845130" y="264735"/>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Next Lecture</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C960D00-5F60-7F31-12F3-3C3D9A31674B}"/>
              </a:ext>
            </a:extLst>
          </p:cNvPr>
          <p:cNvSpPr txBox="1"/>
          <p:nvPr/>
        </p:nvSpPr>
        <p:spPr>
          <a:xfrm>
            <a:off x="1053548" y="1114248"/>
            <a:ext cx="4572000" cy="523220"/>
          </a:xfrm>
          <a:prstGeom prst="rect">
            <a:avLst/>
          </a:prstGeom>
          <a:noFill/>
        </p:spPr>
        <p:txBody>
          <a:bodyPr wrap="square">
            <a:spAutoFit/>
          </a:bodyPr>
          <a:lstStyle/>
          <a:p>
            <a:pPr marL="0" indent="0">
              <a:spcBef>
                <a:spcPct val="0"/>
              </a:spcBef>
              <a:buClr>
                <a:srgbClr val="000000"/>
              </a:buClr>
              <a:buSzPts val="2000"/>
              <a:buFont typeface="Arial" panose="020B0604020202020204" pitchFamily="34" charset="0"/>
              <a:buNone/>
              <a:defRPr/>
            </a:pP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pitchFamily="18" charset="0"/>
              </a:rPr>
              <a:t>- Hashing</a:t>
            </a:r>
            <a:endParaRPr lang="en-US" alt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0214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7FC081-CD9A-5890-31B1-05B3C94BF6C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37BF6050-4B71-52AA-64DB-492D3464A4B8}"/>
              </a:ext>
            </a:extLst>
          </p:cNvPr>
          <p:cNvSpPr txBox="1">
            <a:spLocks noGrp="1"/>
          </p:cNvSpPr>
          <p:nvPr>
            <p:ph type="body" idx="1"/>
          </p:nvPr>
        </p:nvSpPr>
        <p:spPr>
          <a:xfrm>
            <a:off x="1286648" y="4072460"/>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7F91A00A-7547-9CA1-AE7A-367A9D78131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Google Shape;398;p16">
            <a:extLst>
              <a:ext uri="{FF2B5EF4-FFF2-40B4-BE49-F238E27FC236}">
                <a16:creationId xmlns:a16="http://schemas.microsoft.com/office/drawing/2014/main" id="{6A560F48-626F-3E22-D367-BDFCE56FCAB9}"/>
              </a:ext>
            </a:extLst>
          </p:cNvPr>
          <p:cNvSpPr txBox="1">
            <a:spLocks/>
          </p:cNvSpPr>
          <p:nvPr/>
        </p:nvSpPr>
        <p:spPr>
          <a:xfrm>
            <a:off x="609600" y="306550"/>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Quiz</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B0563876-7E14-BD4C-EAB9-9EFC39AD48C3}"/>
              </a:ext>
            </a:extLst>
          </p:cNvPr>
          <p:cNvSpPr>
            <a:spLocks noChangeArrowheads="1"/>
          </p:cNvSpPr>
          <p:nvPr/>
        </p:nvSpPr>
        <p:spPr bwMode="auto">
          <a:xfrm>
            <a:off x="978909" y="1051298"/>
            <a:ext cx="763061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What does AVL in AVL Tree stand for?</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A) Adelson-</a:t>
            </a:r>
            <a:r>
              <a:rPr kumimoji="0" lang="en-US" altLang="en-US" sz="2400" b="0" i="0" u="none" strike="noStrike" cap="none" normalizeH="0" baseline="0" dirty="0" err="1">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Velsky</a:t>
            </a: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 and Landis</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B) Automatic Variable Listing</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C) Advanced Vector Level</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D) None of the above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Which condition must be satisfied in an AVL Tree?</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A) All nodes must be complete</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B) Tree must be balanced after every insertion and deletion</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C) Tree should not contain duplicate values</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D) All nodes must be leaf nodes</a:t>
            </a:r>
          </a:p>
        </p:txBody>
      </p:sp>
    </p:spTree>
    <p:extLst>
      <p:ext uri="{BB962C8B-B14F-4D97-AF65-F5344CB8AC3E}">
        <p14:creationId xmlns:p14="http://schemas.microsoft.com/office/powerpoint/2010/main" val="4222976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C16E0BE-5E4E-D8A1-5CB2-8142F9754DB8}"/>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227BF8B-63CF-08D9-3EFB-1157B57C139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C7C2C36-4064-467E-F174-5CD0AE20BD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Google Shape;392;p15">
            <a:extLst>
              <a:ext uri="{FF2B5EF4-FFF2-40B4-BE49-F238E27FC236}">
                <a16:creationId xmlns:a16="http://schemas.microsoft.com/office/drawing/2014/main" id="{4B714057-CA43-4B1E-290C-27F7B4BBA00C}"/>
              </a:ext>
            </a:extLst>
          </p:cNvPr>
          <p:cNvSpPr txBox="1">
            <a:spLocks/>
          </p:cNvSpPr>
          <p:nvPr/>
        </p:nvSpPr>
        <p:spPr>
          <a:xfrm>
            <a:off x="952500" y="342338"/>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C00000"/>
              </a:buClr>
              <a:buSzPts val="24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References/ Articles/ Videos</a:t>
            </a:r>
            <a:b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br>
            <a:endParaRPr lang="en-US" sz="4000" b="1" dirty="0">
              <a:solidFill>
                <a:srgbClr val="C00000"/>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4" name="Google Shape;157;p25">
            <a:extLst>
              <a:ext uri="{FF2B5EF4-FFF2-40B4-BE49-F238E27FC236}">
                <a16:creationId xmlns:a16="http://schemas.microsoft.com/office/drawing/2014/main" id="{B47717F6-CD55-B2BF-283B-BDB3F0A46D4F}"/>
              </a:ext>
            </a:extLst>
          </p:cNvPr>
          <p:cNvSpPr txBox="1">
            <a:spLocks/>
          </p:cNvSpPr>
          <p:nvPr/>
        </p:nvSpPr>
        <p:spPr>
          <a:xfrm>
            <a:off x="952500" y="806675"/>
            <a:ext cx="8001000" cy="399448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buFont typeface="Arial" panose="020B0604020202020204" pitchFamily="34" charset="0"/>
              <a:buNone/>
              <a:defRPr/>
            </a:pPr>
            <a:r>
              <a:rPr lang="en-US" b="1" dirty="0">
                <a:solidFill>
                  <a:schemeClr val="bg2"/>
                </a:solidFill>
              </a:rPr>
              <a:t>Text books:</a:t>
            </a:r>
            <a:endParaRPr lang="en-US" dirty="0">
              <a:solidFill>
                <a:schemeClr val="bg2"/>
              </a:solidFill>
            </a:endParaRPr>
          </a:p>
          <a:p>
            <a:pPr>
              <a:defRPr/>
            </a:pPr>
            <a:r>
              <a:rPr lang="en-US" sz="1800" dirty="0" err="1">
                <a:solidFill>
                  <a:schemeClr val="bg2"/>
                </a:solidFill>
              </a:rPr>
              <a:t>Cormen</a:t>
            </a:r>
            <a:r>
              <a:rPr lang="en-US" sz="1800" dirty="0">
                <a:solidFill>
                  <a:schemeClr val="bg2"/>
                </a:solidFill>
              </a:rPr>
              <a:t>, </a:t>
            </a:r>
            <a:r>
              <a:rPr lang="en-US" sz="1800" dirty="0" err="1">
                <a:solidFill>
                  <a:schemeClr val="bg2"/>
                </a:solidFill>
              </a:rPr>
              <a:t>Leiserson</a:t>
            </a:r>
            <a:r>
              <a:rPr lang="en-US" sz="1800" dirty="0">
                <a:solidFill>
                  <a:schemeClr val="bg2"/>
                </a:solidFill>
              </a:rPr>
              <a:t>, Rivest, Stein, “</a:t>
            </a:r>
            <a:r>
              <a:rPr lang="en-US" sz="1800" i="1" dirty="0">
                <a:solidFill>
                  <a:schemeClr val="bg2"/>
                </a:solidFill>
              </a:rPr>
              <a:t>Introduction to Algorithms</a:t>
            </a:r>
            <a:r>
              <a:rPr lang="en-US" sz="1800" dirty="0">
                <a:solidFill>
                  <a:schemeClr val="bg2"/>
                </a:solidFill>
              </a:rPr>
              <a:t>”, Prentice Hall of India, 3</a:t>
            </a:r>
            <a:r>
              <a:rPr lang="en-US" sz="1800" baseline="30000" dirty="0">
                <a:solidFill>
                  <a:schemeClr val="bg2"/>
                </a:solidFill>
              </a:rPr>
              <a:t>rd</a:t>
            </a:r>
            <a:r>
              <a:rPr lang="en-US" sz="1800" dirty="0">
                <a:solidFill>
                  <a:schemeClr val="bg2"/>
                </a:solidFill>
              </a:rPr>
              <a:t> edition 2012. problem, Graph coloring.</a:t>
            </a:r>
          </a:p>
          <a:p>
            <a:pPr>
              <a:defRPr/>
            </a:pPr>
            <a:r>
              <a:rPr lang="en-US" sz="1800" dirty="0">
                <a:solidFill>
                  <a:schemeClr val="bg2"/>
                </a:solidFill>
              </a:rPr>
              <a:t>Horowitz, Sahni and Rajasekaran, “</a:t>
            </a:r>
            <a:r>
              <a:rPr lang="en-US" sz="1800" i="1" dirty="0">
                <a:solidFill>
                  <a:schemeClr val="bg2"/>
                </a:solidFill>
              </a:rPr>
              <a:t>Fundamentals of </a:t>
            </a:r>
            <a:r>
              <a:rPr lang="en-US" sz="1800" i="1" dirty="0" err="1">
                <a:solidFill>
                  <a:schemeClr val="bg2"/>
                </a:solidFill>
              </a:rPr>
              <a:t>ComputerAlgorithms</a:t>
            </a:r>
            <a:r>
              <a:rPr lang="en-US" sz="1800" i="1" dirty="0">
                <a:solidFill>
                  <a:schemeClr val="bg2"/>
                </a:solidFill>
              </a:rPr>
              <a:t>”</a:t>
            </a:r>
            <a:r>
              <a:rPr lang="en-US" sz="1800" dirty="0">
                <a:solidFill>
                  <a:schemeClr val="bg2"/>
                </a:solidFill>
              </a:rPr>
              <a:t>, University Press (India), 2</a:t>
            </a:r>
            <a:r>
              <a:rPr lang="en-US" sz="1800" baseline="30000" dirty="0">
                <a:solidFill>
                  <a:schemeClr val="bg2"/>
                </a:solidFill>
              </a:rPr>
              <a:t>nd</a:t>
            </a:r>
            <a:r>
              <a:rPr lang="en-US" sz="1800" dirty="0">
                <a:solidFill>
                  <a:schemeClr val="bg2"/>
                </a:solidFill>
              </a:rPr>
              <a:t> edition</a:t>
            </a:r>
            <a:endParaRPr lang="en-US" b="1" dirty="0">
              <a:solidFill>
                <a:schemeClr val="bg2"/>
              </a:solidFill>
            </a:endParaRPr>
          </a:p>
          <a:p>
            <a:pPr marL="0" indent="0">
              <a:buFont typeface="Arial" panose="020B0604020202020204" pitchFamily="34" charset="0"/>
              <a:buNone/>
              <a:defRPr/>
            </a:pPr>
            <a:r>
              <a:rPr lang="en-US" b="1" dirty="0">
                <a:solidFill>
                  <a:schemeClr val="bg2"/>
                </a:solidFill>
              </a:rPr>
              <a:t>Websites:</a:t>
            </a:r>
            <a:endParaRPr lang="en-US" b="1" u="sng" dirty="0">
              <a:solidFill>
                <a:schemeClr val="bg2"/>
              </a:solidFill>
              <a:hlinkClick r:id="rId3">
                <a:extLst>
                  <a:ext uri="{A12FA001-AC4F-418D-AE19-62706E023703}">
                    <ahyp:hlinkClr xmlns:ahyp="http://schemas.microsoft.com/office/drawing/2018/hyperlinkcolor" val="tx"/>
                  </a:ext>
                </a:extLst>
              </a:hlinkClick>
            </a:endParaRPr>
          </a:p>
          <a:p>
            <a:pPr indent="-457200">
              <a:buFont typeface="Arial"/>
              <a:buAutoNum type="arabicPeriod"/>
              <a:defRPr/>
            </a:pPr>
            <a:r>
              <a:rPr lang="en-US" sz="1800" dirty="0">
                <a:solidFill>
                  <a:schemeClr val="bg2"/>
                </a:solidFill>
                <a:hlinkClick r:id="rId4">
                  <a:extLst>
                    <a:ext uri="{A12FA001-AC4F-418D-AE19-62706E023703}">
                      <ahyp:hlinkClr xmlns:ahyp="http://schemas.microsoft.com/office/drawing/2018/hyperlinkcolor" val="tx"/>
                    </a:ext>
                  </a:extLst>
                </a:hlinkClick>
              </a:rPr>
              <a:t>https://www.tutorialride.com/data-structures/trees-in-data-structure.htm</a:t>
            </a:r>
            <a:endParaRPr lang="en-US" sz="1800" dirty="0">
              <a:solidFill>
                <a:schemeClr val="bg2"/>
              </a:solidFill>
            </a:endParaRPr>
          </a:p>
          <a:p>
            <a:pPr indent="-457200">
              <a:buFont typeface="Arial"/>
              <a:buAutoNum type="arabicPeriod"/>
              <a:defRPr/>
            </a:pPr>
            <a:r>
              <a:rPr lang="en-US" sz="2000" dirty="0">
                <a:solidFill>
                  <a:schemeClr val="bg2"/>
                </a:solidFill>
                <a:hlinkClick r:id="rId5">
                  <a:extLst>
                    <a:ext uri="{A12FA001-AC4F-418D-AE19-62706E023703}">
                      <ahyp:hlinkClr xmlns:ahyp="http://schemas.microsoft.com/office/drawing/2018/hyperlinkcolor" val="tx"/>
                    </a:ext>
                  </a:extLst>
                </a:hlinkClick>
              </a:rPr>
              <a:t>https://www.geeksforgeeks.org/avl-tree-set-1-insertion/</a:t>
            </a:r>
            <a:endParaRPr lang="en-US" sz="2000" dirty="0">
              <a:solidFill>
                <a:schemeClr val="bg2"/>
              </a:solidFill>
            </a:endParaRPr>
          </a:p>
        </p:txBody>
      </p:sp>
    </p:spTree>
    <p:extLst>
      <p:ext uri="{BB962C8B-B14F-4D97-AF65-F5344CB8AC3E}">
        <p14:creationId xmlns:p14="http://schemas.microsoft.com/office/powerpoint/2010/main" val="3439820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C23ABF-C8EE-EA05-F7EE-2B8C43F1E87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93698A8-3266-35AD-BB7C-2D517F1F531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8BF33F5-B0C9-AAA6-044A-76C3D9E8D88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Google Shape;398;p16">
            <a:extLst>
              <a:ext uri="{FF2B5EF4-FFF2-40B4-BE49-F238E27FC236}">
                <a16:creationId xmlns:a16="http://schemas.microsoft.com/office/drawing/2014/main" id="{6F49410F-EBB5-30E5-9EAD-BE507179EEE1}"/>
              </a:ext>
            </a:extLst>
          </p:cNvPr>
          <p:cNvSpPr txBox="1">
            <a:spLocks/>
          </p:cNvSpPr>
          <p:nvPr/>
        </p:nvSpPr>
        <p:spPr>
          <a:xfrm>
            <a:off x="948000" y="583857"/>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Google Shape;399;p16">
            <a:extLst>
              <a:ext uri="{FF2B5EF4-FFF2-40B4-BE49-F238E27FC236}">
                <a16:creationId xmlns:a16="http://schemas.microsoft.com/office/drawing/2014/main" id="{FD57801D-30BB-E7C7-3950-4312264ED9AE}"/>
              </a:ext>
            </a:extLst>
          </p:cNvPr>
          <p:cNvSpPr txBox="1">
            <a:spLocks/>
          </p:cNvSpPr>
          <p:nvPr/>
        </p:nvSpPr>
        <p:spPr>
          <a:xfrm>
            <a:off x="757500" y="1781227"/>
            <a:ext cx="8001000" cy="27784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927100" lvl="1" indent="-457200">
              <a:spcBef>
                <a:spcPts val="0"/>
              </a:spcBef>
              <a:buClr>
                <a:srgbClr val="000000"/>
              </a:buClr>
              <a:buSzPts val="200"/>
              <a:buFont typeface="+mj-lt"/>
              <a:buAutoNum type="arabicPeriod"/>
            </a:pPr>
            <a:endParaRPr lang="en-IN" dirty="0"/>
          </a:p>
          <a:p>
            <a:pPr marL="584200" indent="-457200">
              <a:spcBef>
                <a:spcPts val="400"/>
              </a:spcBef>
              <a:buSzPts val="2000"/>
              <a:buFont typeface="+mj-lt"/>
              <a:buAutoNum type="arabicPeriod"/>
            </a:pPr>
            <a:r>
              <a:rPr lang="en-IN" sz="2000" dirty="0">
                <a:latin typeface="Calibri"/>
                <a:ea typeface="Calibri"/>
                <a:cs typeface="Calibri"/>
                <a:sym typeface="Calibri"/>
                <a:hlinkClick r:id="rId3"/>
              </a:rPr>
              <a:t>https://onlinecourses.nptel.ac.in/noc23_cs96/preview</a:t>
            </a:r>
            <a:r>
              <a:rPr lang="en-IN" sz="2000" dirty="0">
                <a:latin typeface="Calibri"/>
                <a:ea typeface="Calibri"/>
                <a:cs typeface="Calibri"/>
                <a:sym typeface="Calibri"/>
              </a:rPr>
              <a:t> </a:t>
            </a:r>
          </a:p>
          <a:p>
            <a:pPr marL="584200" indent="-457200">
              <a:spcBef>
                <a:spcPts val="400"/>
              </a:spcBef>
              <a:buSzPts val="2000"/>
              <a:buFont typeface="+mj-lt"/>
              <a:buAutoNum type="arabicPeriod"/>
            </a:pPr>
            <a:r>
              <a:rPr lang="en-IN" sz="2000" dirty="0">
                <a:latin typeface="Calibri"/>
                <a:ea typeface="Calibri"/>
                <a:cs typeface="Calibri"/>
                <a:sym typeface="Calibri"/>
                <a:hlinkClick r:id="rId4"/>
              </a:rPr>
              <a:t>https://nptel.ac.in/courses/106106131</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5"/>
              </a:rPr>
              <a:t>https://nptel.ac.in/courses/106106208</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6"/>
              </a:rPr>
              <a:t>https://www.linkedin.com/learning/learning-algorithms</a:t>
            </a: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p:txBody>
      </p:sp>
    </p:spTree>
    <p:extLst>
      <p:ext uri="{BB962C8B-B14F-4D97-AF65-F5344CB8AC3E}">
        <p14:creationId xmlns:p14="http://schemas.microsoft.com/office/powerpoint/2010/main" val="1229055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3141664-9E0A-0C54-B96F-BED84C5451EF}"/>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468A3DE-696B-7FC9-013F-76B2E3B5B3B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657B4478-479B-A962-4153-A5D9BEBE8CD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Google Shape;398;p16">
            <a:extLst>
              <a:ext uri="{FF2B5EF4-FFF2-40B4-BE49-F238E27FC236}">
                <a16:creationId xmlns:a16="http://schemas.microsoft.com/office/drawing/2014/main" id="{5CF26446-8E74-2ED0-D707-24246C6EC751}"/>
              </a:ext>
            </a:extLst>
          </p:cNvPr>
          <p:cNvSpPr txBox="1">
            <a:spLocks/>
          </p:cNvSpPr>
          <p:nvPr/>
        </p:nvSpPr>
        <p:spPr>
          <a:xfrm>
            <a:off x="876443" y="393764"/>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7123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1432125" y="1709456"/>
            <a:ext cx="6000750" cy="2186100"/>
          </a:xfrm>
          <a:prstGeom prst="rect">
            <a:avLst/>
          </a:prstGeom>
          <a:noFill/>
          <a:ln>
            <a:noFill/>
          </a:ln>
        </p:spPr>
        <p:txBody>
          <a:bodyPr spcFirstLastPara="1" wrap="square" lIns="68569" tIns="34275" rIns="68569" bIns="34275" anchor="t" anchorCtr="0">
            <a:normAutofit/>
          </a:bodyPr>
          <a:lstStyle/>
          <a:p>
            <a:pPr marL="257175" indent="-257175" algn="just">
              <a:lnSpc>
                <a:spcPct val="100000"/>
              </a:lnSpc>
              <a:spcBef>
                <a:spcPts val="0"/>
              </a:spcBef>
              <a:buNone/>
            </a:pPr>
            <a:r>
              <a:rPr lang="en-US" dirty="0">
                <a:solidFill>
                  <a:schemeClr val="bg2"/>
                </a:solidFill>
                <a:latin typeface="Times New Roman"/>
                <a:ea typeface="Times New Roman"/>
                <a:cs typeface="Times New Roman"/>
                <a:sym typeface="Times New Roman"/>
              </a:rPr>
              <a:t> </a:t>
            </a:r>
            <a:endParaRPr b="1" dirty="0">
              <a:solidFill>
                <a:schemeClr val="bg2"/>
              </a:solidFill>
              <a:latin typeface="Times New Roman"/>
              <a:ea typeface="Times New Roman"/>
              <a:cs typeface="Times New Roman"/>
              <a:sym typeface="Times New Roman"/>
            </a:endParaRPr>
          </a:p>
          <a:p>
            <a:pPr marL="257175" indent="-257175" algn="just">
              <a:lnSpc>
                <a:spcPct val="100000"/>
              </a:lnSpc>
              <a:buNone/>
            </a:pPr>
            <a:r>
              <a:rPr lang="en-US" dirty="0">
                <a:solidFill>
                  <a:schemeClr val="bg2"/>
                </a:solidFill>
                <a:latin typeface="Times New Roman"/>
                <a:ea typeface="Times New Roman"/>
                <a:cs typeface="Times New Roman"/>
                <a:sym typeface="Times New Roman"/>
              </a:rPr>
              <a:t> </a:t>
            </a:r>
            <a:endParaRPr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457200" y="2270562"/>
            <a:ext cx="7328595" cy="900216"/>
          </a:xfrm>
          <a:prstGeom prst="rect">
            <a:avLst/>
          </a:prstGeom>
          <a:noFill/>
          <a:ln>
            <a:noFill/>
          </a:ln>
        </p:spPr>
        <p:txBody>
          <a:bodyPr spcFirstLastPara="1" wrap="square" lIns="68569" tIns="34275" rIns="68569" bIns="34275" anchor="t" anchorCtr="0">
            <a:spAutoFit/>
          </a:bodyPr>
          <a:lstStyle/>
          <a:p>
            <a:pPr algn="ctr">
              <a:lnSpc>
                <a:spcPct val="90000"/>
              </a:lnSpc>
            </a:pPr>
            <a:r>
              <a:rPr lang="en-US" sz="6000" b="1" dirty="0">
                <a:solidFill>
                  <a:srgbClr val="FF0000"/>
                </a:solidFill>
                <a:latin typeface="Vladimir Script" panose="03050402040407070305" pitchFamily="66" charset="0"/>
                <a:ea typeface="Calibri" panose="020F050202020403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45989" y="3980946"/>
            <a:ext cx="4403925"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For queries</a:t>
            </a:r>
          </a:p>
          <a:p>
            <a:r>
              <a:rPr lang="en-US" sz="1500" dirty="0">
                <a:latin typeface="Calibri" panose="020F0502020204030204" pitchFamily="34" charset="0"/>
                <a:ea typeface="Calibri" panose="020F0502020204030204" pitchFamily="34" charset="0"/>
                <a:cs typeface="Calibri" panose="020F0502020204030204" pitchFamily="34" charset="0"/>
              </a:rPr>
              <a:t>Email: richa.e11307@cumail.in</a:t>
            </a:r>
          </a:p>
        </p:txBody>
      </p:sp>
      <p:sp>
        <p:nvSpPr>
          <p:cNvPr id="5" name="TextBox 4"/>
          <p:cNvSpPr txBox="1"/>
          <p:nvPr/>
        </p:nvSpPr>
        <p:spPr>
          <a:xfrm>
            <a:off x="8279765" y="361440"/>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24</a:t>
            </a:r>
          </a:p>
        </p:txBody>
      </p:sp>
    </p:spTree>
    <p:extLst>
      <p:ext uri="{BB962C8B-B14F-4D97-AF65-F5344CB8AC3E}">
        <p14:creationId xmlns:p14="http://schemas.microsoft.com/office/powerpoint/2010/main" val="2407500439"/>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879</TotalTime>
  <Words>1265</Words>
  <Application>Microsoft Office PowerPoint</Application>
  <PresentationFormat>On-screen Show (16:9)</PresentationFormat>
  <Paragraphs>166</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Symbol</vt:lpstr>
      <vt:lpstr>Arial</vt:lpstr>
      <vt:lpstr>Arial Black</vt:lpstr>
      <vt:lpstr>Times New Roman</vt:lpstr>
      <vt:lpstr>Calibri</vt:lpstr>
      <vt:lpstr>Cambria</vt:lpstr>
      <vt:lpstr>Lato</vt:lpstr>
      <vt:lpstr>Vladimir Script</vt:lpstr>
      <vt:lpstr>Wingdings</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Richa Dhiman</cp:lastModifiedBy>
  <cp:revision>127</cp:revision>
  <dcterms:modified xsi:type="dcterms:W3CDTF">2025-05-28T04:52:59Z</dcterms:modified>
</cp:coreProperties>
</file>