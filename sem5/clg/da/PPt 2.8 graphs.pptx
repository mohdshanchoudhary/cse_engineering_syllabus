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56" r:id="rId2"/>
    <p:sldId id="312" r:id="rId3"/>
    <p:sldId id="284" r:id="rId4"/>
    <p:sldId id="314" r:id="rId5"/>
    <p:sldId id="315" r:id="rId6"/>
    <p:sldId id="317" r:id="rId7"/>
    <p:sldId id="318" r:id="rId8"/>
    <p:sldId id="319" r:id="rId9"/>
    <p:sldId id="337" r:id="rId10"/>
    <p:sldId id="332" r:id="rId11"/>
    <p:sldId id="330" r:id="rId12"/>
    <p:sldId id="331" r:id="rId13"/>
    <p:sldId id="333" r:id="rId14"/>
    <p:sldId id="334" r:id="rId15"/>
    <p:sldId id="336" r:id="rId16"/>
    <p:sldId id="311" r:id="rId17"/>
  </p:sldIdLst>
  <p:sldSz cx="9144000" cy="5143500" type="screen16x9"/>
  <p:notesSz cx="6858000" cy="9144000"/>
  <p:embeddedFontLst>
    <p:embeddedFont>
      <p:font typeface="Arial Black" panose="020B0A04020102020204" pitchFamily="34" charset="0"/>
      <p:bold r:id="rId19"/>
    </p:embeddedFont>
    <p:embeddedFont>
      <p:font typeface="Cambria" panose="02040503050406030204" pitchFamily="18" charset="0"/>
      <p:regular r:id="rId20"/>
      <p:bold r:id="rId21"/>
      <p:italic r:id="rId22"/>
      <p:boldItalic r:id="rId23"/>
    </p:embeddedFont>
    <p:embeddedFont>
      <p:font typeface="Consolas" panose="020B0609020204030204" pitchFamily="49"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Vladimir Script" panose="03050402040407070305" pitchFamily="66"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57" d="100"/>
          <a:sy n="57" d="100"/>
        </p:scale>
        <p:origin x="58" y="7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E1C681-A5F2-4CD9-9192-8CDED311BA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48B34-F6A5-DF19-4111-A068194944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CA6E172-D444-FC00-6B33-317641F08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827B3C-4A96-D842-C587-3271EC42D30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F06B59-0229-602E-B610-9525220615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AEA2AB-7645-5208-0E63-7560412EF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2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8169236-1955-4128-44C5-58E9D95D49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024DF0-1674-8F51-EEBC-683769584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4BF737-175F-7667-E78E-646A8BB49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724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FE7DBFD-3CD4-72CB-B3B4-A8E2B4B1866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18742C-0AE0-A994-B2ED-A9BFF88C0F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89BB3F3-8FD5-23EA-C014-0FA6CAB91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491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44B758-C87D-505D-C3C8-A549E1C79E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60E0FE7-490F-D759-32A7-C75DA6EDA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F9AA489-D2BD-8969-C629-E8BC8C695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9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A1932D3-CCDB-06BE-462C-C7B9D3A01F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3562735-2320-021C-43DB-17FAA8689A5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5876D07-EB80-4BF0-B510-8D1AC56BA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9337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A1CEF5-13BF-471C-50F9-DAD18A547A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DA82E9-4E8D-3B65-E4CF-424ECC6A7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62D4F-5FDA-D649-09FF-AFAD4FCD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65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22EF6A6-3B86-409E-00F7-E71B05DEC0B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F737BE0-1811-D403-FE9C-7D9F9254BA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C259C-E2D3-C61B-0E90-DB7F2E206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100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AA7785E-43D4-9EF1-1A87-45D7A3143A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20DF-19AB-06E9-7D1B-B9B877EBE6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2DAF3E8-4FE5-228D-D4E4-2C8EBAB1BF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75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8BDF5E7-F95C-899B-EC14-E8E986C7DD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5BA061-2CC0-FC5F-90C5-EB6DD8F82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8A0E1B-B8B2-DFD2-0A4F-7F72575EE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2996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6B53972-8CFD-533B-1C4D-268D3A8B82F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BAB7A-5EF3-5546-4BB0-C26EE502D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4E556B0-B3F6-5788-1709-ADC00D5B8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136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35021AF-CA61-088F-7F01-7FAD5B65361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0B85296-32E7-6F2C-C488-8EB7229AA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2BA18F8-0BB4-69BB-7AA0-AEDCAD35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4683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introduction-to-algorithm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www.geeksforgeeks.org/difference-between-bfs-and-df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onlinecourses.nptel.ac.in/noc23_cs96/preview"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linkedin.com/learning/learning-algorithms" TargetMode="External"/><Relationship Id="rId5" Type="http://schemas.openxmlformats.org/officeDocument/2006/relationships/hyperlink" Target="https://nptel.ac.in/courses/106106208" TargetMode="External"/><Relationship Id="rId4" Type="http://schemas.openxmlformats.org/officeDocument/2006/relationships/hyperlink" Target="https://nptel.ac.in/courses/106106131"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71896" y="951584"/>
            <a:ext cx="8213400" cy="413134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COMPUTER SCIENCE 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dirty="0">
                <a:solidFill>
                  <a:schemeClr val="bg2"/>
                </a:solidFill>
                <a:latin typeface="Times New Roman"/>
                <a:ea typeface="Times New Roman"/>
                <a:cs typeface="Times New Roman"/>
                <a:sym typeface="Times New Roman"/>
              </a:rPr>
              <a:t>Bachelor of Engineering</a:t>
            </a:r>
            <a:endParaRPr lang="en-US" sz="2000" dirty="0">
              <a:solidFill>
                <a:schemeClr val="bg2"/>
              </a:solidFill>
            </a:endParaRPr>
          </a:p>
          <a:p>
            <a:pPr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980"/>
              </a:spcBef>
              <a:buClr>
                <a:schemeClr val="dk1"/>
              </a:buClr>
              <a:buSzPts val="2800"/>
            </a:pPr>
            <a:r>
              <a:rPr lang="en-US" sz="2400" b="1" i="0" u="none" dirty="0">
                <a:solidFill>
                  <a:schemeClr val="bg2"/>
                </a:solidFill>
                <a:latin typeface="Arial"/>
                <a:ea typeface="Arial"/>
                <a:cs typeface="Arial"/>
                <a:sym typeface="Arial"/>
              </a:rPr>
              <a:t>Design and Analysis of Algorithms</a:t>
            </a:r>
          </a:p>
          <a:p>
            <a:pPr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(23</a:t>
            </a:r>
            <a:r>
              <a:rPr lang="en-US" sz="2400" b="0" i="0" u="none" dirty="0">
                <a:solidFill>
                  <a:schemeClr val="bg2"/>
                </a:solidFill>
                <a:latin typeface="Times New Roman"/>
                <a:ea typeface="Times New Roman"/>
                <a:cs typeface="Times New Roman"/>
                <a:sym typeface="Times New Roman"/>
              </a:rPr>
              <a:t>CS</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-301/IT</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2                   Lecture No. 11</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sz="1800" b="1" i="0" u="none" dirty="0">
                <a:solidFill>
                  <a:schemeClr val="dk1"/>
                </a:solidFill>
                <a:latin typeface="Times New Roman"/>
                <a:ea typeface="Times New Roman"/>
                <a:cs typeface="Times New Roman"/>
                <a:sym typeface="Times New Roman"/>
              </a:rPr>
              <a:t> </a:t>
            </a:r>
            <a:r>
              <a:rPr lang="en-US" sz="1800" b="1" i="0" u="none" dirty="0">
                <a:solidFill>
                  <a:schemeClr val="bg2"/>
                </a:solidFill>
                <a:latin typeface="Times New Roman"/>
                <a:ea typeface="Times New Roman"/>
                <a:cs typeface="Times New Roman"/>
                <a:sym typeface="Times New Roman"/>
              </a:rPr>
              <a:t>Graphs</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Richa Dhiman E11307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i="0" u="none" strike="noStrike" cap="none" dirty="0">
                  <a:solidFill>
                    <a:schemeClr val="bg2"/>
                  </a:solidFill>
                  <a:latin typeface="Cambria"/>
                  <a:ea typeface="Cambria"/>
                  <a:cs typeface="Cambria"/>
                  <a:sym typeface="Cambria"/>
                </a:rPr>
                <a:t>Learning Objectives &amp; Outcomes</a:t>
              </a:r>
              <a:endPar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6" name="Content Placeholder 2">
            <a:extLst>
              <a:ext uri="{FF2B5EF4-FFF2-40B4-BE49-F238E27FC236}">
                <a16:creationId xmlns:a16="http://schemas.microsoft.com/office/drawing/2014/main" id="{61B4B491-49A5-63E5-FDBF-26775355CF45}"/>
              </a:ext>
            </a:extLst>
          </p:cNvPr>
          <p:cNvSpPr txBox="1">
            <a:spLocks/>
          </p:cNvSpPr>
          <p:nvPr/>
        </p:nvSpPr>
        <p:spPr bwMode="auto">
          <a:xfrm>
            <a:off x="1024243" y="794957"/>
            <a:ext cx="8001000" cy="3936069"/>
          </a:xfrm>
          <a:prstGeom prst="rect">
            <a:avLst/>
          </a:prstGeom>
          <a:noFill/>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ts val="0"/>
              </a:spcBef>
              <a:spcAft>
                <a:spcPts val="0"/>
              </a:spcAft>
              <a:buClr>
                <a:sysClr val="windowText" lastClr="000000"/>
              </a:buClr>
              <a:buSzPts val="2000"/>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a:ea typeface="Cambria"/>
                <a:cs typeface="Cambria"/>
                <a:sym typeface="Cambria"/>
              </a:rPr>
              <a:t>Objective:</a:t>
            </a:r>
            <a:endPar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To understand the Graph and types of Graphs.</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Outcome: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Student will understand</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Graph and its types.</a:t>
            </a: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1072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8E0F9992-62FC-4C63-BED6-091FF56DEF08}"/>
              </a:ext>
            </a:extLst>
          </p:cNvPr>
          <p:cNvSpPr/>
          <p:nvPr/>
        </p:nvSpPr>
        <p:spPr>
          <a:xfrm>
            <a:off x="760020" y="218172"/>
            <a:ext cx="8265225"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3" name="Title 1">
            <a:extLst>
              <a:ext uri="{FF2B5EF4-FFF2-40B4-BE49-F238E27FC236}">
                <a16:creationId xmlns:a16="http://schemas.microsoft.com/office/drawing/2014/main" id="{7550BD34-18F5-7EF5-E4EE-EC72FF05D67C}"/>
              </a:ext>
            </a:extLst>
          </p:cNvPr>
          <p:cNvSpPr txBox="1">
            <a:spLocks/>
          </p:cNvSpPr>
          <p:nvPr/>
        </p:nvSpPr>
        <p:spPr>
          <a:xfrm>
            <a:off x="833700" y="307136"/>
            <a:ext cx="755028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Graph</a:t>
            </a:r>
          </a:p>
        </p:txBody>
      </p:sp>
      <p:sp>
        <p:nvSpPr>
          <p:cNvPr id="4" name="Content Placeholder 2">
            <a:extLst>
              <a:ext uri="{FF2B5EF4-FFF2-40B4-BE49-F238E27FC236}">
                <a16:creationId xmlns:a16="http://schemas.microsoft.com/office/drawing/2014/main" id="{EE5EB141-3EF7-34B7-66B9-E071997C94B3}"/>
              </a:ext>
            </a:extLst>
          </p:cNvPr>
          <p:cNvSpPr txBox="1">
            <a:spLocks/>
          </p:cNvSpPr>
          <p:nvPr/>
        </p:nvSpPr>
        <p:spPr bwMode="auto">
          <a:xfrm>
            <a:off x="757500" y="992936"/>
            <a:ext cx="7622879" cy="368508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 Graph is a non-linear data structure consisting of nodes and edges. The nodes are sometimes also referred to as vertices and the edges are lines or arcs that connect any two nodes in the graph.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More formally a Graph can be defined as,</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1"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1" u="none" strike="noStrike" kern="1200" cap="none" spc="0" normalizeH="0" baseline="0" noProof="0" dirty="0">
                <a:ln>
                  <a:noFill/>
                </a:ln>
                <a:solidFill>
                  <a:sysClr val="windowText" lastClr="000000"/>
                </a:solidFill>
                <a:effectLst/>
                <a:uLnTx/>
                <a:uFillTx/>
                <a:latin typeface="Cambria" pitchFamily="18" charset="0"/>
                <a:ea typeface="+mn-ea"/>
                <a:cs typeface="+mn-cs"/>
              </a:rPr>
              <a:t>A Graph consists of a finite set of vertices(or nodes) and set of Edges which connect a pair of nodes.</a:t>
            </a: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C85D7-2162-3728-41C8-9CA50DA575A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7259D0E-39AA-3258-E915-0F5AE1AE1FE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C82D24C-CFB6-10CB-9BE5-A8DE190188C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2" name="Content Placeholder 2">
            <a:extLst>
              <a:ext uri="{FF2B5EF4-FFF2-40B4-BE49-F238E27FC236}">
                <a16:creationId xmlns:a16="http://schemas.microsoft.com/office/drawing/2014/main" id="{53897EE3-8B39-9F6F-75BC-56C0C1198B6A}"/>
              </a:ext>
            </a:extLst>
          </p:cNvPr>
          <p:cNvSpPr txBox="1">
            <a:spLocks/>
          </p:cNvSpPr>
          <p:nvPr/>
        </p:nvSpPr>
        <p:spPr bwMode="auto">
          <a:xfrm>
            <a:off x="892576" y="3594164"/>
            <a:ext cx="8001000" cy="13223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In the above Graph, the set of vertices V = {0,1,2,3,4} and the set of edges E = {01, 12, 23, 34, 04, 14, 13}.</a:t>
            </a:r>
          </a:p>
        </p:txBody>
      </p:sp>
      <p:pic>
        <p:nvPicPr>
          <p:cNvPr id="5" name="Picture 2" descr="https://media.geeksforgeeks.org/wp-content/cdn-uploads/undirectedgraph.png">
            <a:extLst>
              <a:ext uri="{FF2B5EF4-FFF2-40B4-BE49-F238E27FC236}">
                <a16:creationId xmlns:a16="http://schemas.microsoft.com/office/drawing/2014/main" id="{5F02115C-C29C-B3F0-4647-49F36E92AF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976" y="393764"/>
            <a:ext cx="6088063" cy="2620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646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AE9B3A-F835-EA9F-375F-E58709572D7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7D1F1F6-CAAE-FC79-FD0B-3C78DFCE252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CCDAEDE-ABD1-E62B-C206-E4DF3D0D102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3" name="Title 1">
            <a:extLst>
              <a:ext uri="{FF2B5EF4-FFF2-40B4-BE49-F238E27FC236}">
                <a16:creationId xmlns:a16="http://schemas.microsoft.com/office/drawing/2014/main" id="{E24434C6-8C29-3EAE-0CF4-DD28633A73A5}"/>
              </a:ext>
            </a:extLst>
          </p:cNvPr>
          <p:cNvSpPr txBox="1">
            <a:spLocks/>
          </p:cNvSpPr>
          <p:nvPr/>
        </p:nvSpPr>
        <p:spPr>
          <a:xfrm>
            <a:off x="892576" y="298734"/>
            <a:ext cx="7546615"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4" name="Content Placeholder 2">
            <a:extLst>
              <a:ext uri="{FF2B5EF4-FFF2-40B4-BE49-F238E27FC236}">
                <a16:creationId xmlns:a16="http://schemas.microsoft.com/office/drawing/2014/main" id="{E89A026F-DD74-8654-9675-D9A3235047D0}"/>
              </a:ext>
            </a:extLst>
          </p:cNvPr>
          <p:cNvSpPr txBox="1">
            <a:spLocks/>
          </p:cNvSpPr>
          <p:nvPr/>
        </p:nvSpPr>
        <p:spPr bwMode="auto">
          <a:xfrm>
            <a:off x="892576" y="1079564"/>
            <a:ext cx="8001000" cy="379723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Graphs are used to solve many real-life problems. </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Graphs are used to represent networks. The networks may include paths in a city or telephone network or circuit network. </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Graphs are also used in social networks like </a:t>
            </a:r>
            <a:r>
              <a:rPr kumimoji="0" lang="en-US" alt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linkedIn</a:t>
            </a: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Facebook. For example, in Facebook, each person is represented with a vertex(or node). Each node is a structure and contains information like person id, name, gender, locale etc.</a:t>
            </a:r>
          </a:p>
        </p:txBody>
      </p:sp>
    </p:spTree>
    <p:extLst>
      <p:ext uri="{BB962C8B-B14F-4D97-AF65-F5344CB8AC3E}">
        <p14:creationId xmlns:p14="http://schemas.microsoft.com/office/powerpoint/2010/main" val="66240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66223F7-9809-BE29-714E-38632F4599B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59937E7-EC35-0CA6-69EF-64D57377620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423D0D5-2563-3DDF-DDBE-37059391059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4" name="Title 1">
            <a:extLst>
              <a:ext uri="{FF2B5EF4-FFF2-40B4-BE49-F238E27FC236}">
                <a16:creationId xmlns:a16="http://schemas.microsoft.com/office/drawing/2014/main" id="{641901A2-91D9-0203-3DF2-626F987EE101}"/>
              </a:ext>
            </a:extLst>
          </p:cNvPr>
          <p:cNvSpPr txBox="1">
            <a:spLocks/>
          </p:cNvSpPr>
          <p:nvPr/>
        </p:nvSpPr>
        <p:spPr>
          <a:xfrm>
            <a:off x="968776" y="197075"/>
            <a:ext cx="74177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C00000"/>
                </a:solidFill>
                <a:effectLst/>
                <a:uLnTx/>
                <a:uFillTx/>
                <a:latin typeface="Cambria" pitchFamily="18" charset="0"/>
                <a:ea typeface="+mj-ea"/>
                <a:cs typeface="+mj-cs"/>
              </a:rPr>
              <a:t>DFS</a:t>
            </a:r>
            <a:endParaRPr kumimoji="0" lang="en-US" sz="2400" b="1" i="0" u="none" strike="noStrike" kern="1200" cap="none" spc="0" normalizeH="0" baseline="0" noProof="0" dirty="0">
              <a:ln>
                <a:noFill/>
              </a:ln>
              <a:solidFill>
                <a:srgbClr val="C00000"/>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AB802099-D1ED-555B-0097-C41F93E31E8F}"/>
              </a:ext>
            </a:extLst>
          </p:cNvPr>
          <p:cNvSpPr txBox="1">
            <a:spLocks/>
          </p:cNvSpPr>
          <p:nvPr/>
        </p:nvSpPr>
        <p:spPr bwMode="auto">
          <a:xfrm>
            <a:off x="892576" y="882875"/>
            <a:ext cx="7489048" cy="38348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ClrTx/>
            </a:pPr>
            <a:r>
              <a:rPr lang="en-US" altLang="en-US" b="1" dirty="0">
                <a:solidFill>
                  <a:schemeClr val="bg2"/>
                </a:solidFill>
                <a:latin typeface="Times New Roman" panose="02020603050405020304" pitchFamily="18" charset="0"/>
                <a:cs typeface="Times New Roman" panose="02020603050405020304" pitchFamily="18" charset="0"/>
              </a:rPr>
              <a:t>DFS</a:t>
            </a:r>
            <a:r>
              <a:rPr lang="en-US" altLang="en-US" dirty="0">
                <a:solidFill>
                  <a:schemeClr val="bg2"/>
                </a:solidFill>
                <a:latin typeface="Times New Roman" panose="02020603050405020304" pitchFamily="18" charset="0"/>
                <a:cs typeface="Times New Roman" panose="02020603050405020304" pitchFamily="18" charset="0"/>
              </a:rPr>
              <a:t> stands for </a:t>
            </a:r>
            <a:r>
              <a:rPr lang="en-US" altLang="en-US" b="1" dirty="0">
                <a:solidFill>
                  <a:schemeClr val="bg2"/>
                </a:solidFill>
                <a:latin typeface="Times New Roman" panose="02020603050405020304" pitchFamily="18" charset="0"/>
                <a:cs typeface="Times New Roman" panose="02020603050405020304" pitchFamily="18" charset="0"/>
              </a:rPr>
              <a:t>Depth First Search</a:t>
            </a:r>
            <a:r>
              <a:rPr lang="en-US" altLang="en-US" dirty="0">
                <a:solidFill>
                  <a:schemeClr val="bg2"/>
                </a:solidFill>
                <a:latin typeface="Times New Roman" panose="02020603050405020304" pitchFamily="18" charset="0"/>
                <a:cs typeface="Times New Roman" panose="02020603050405020304" pitchFamily="18" charset="0"/>
              </a:rPr>
              <a:t> is a edge based technique. It uses the Stack data structure, performs two stages, first visited vertices are pushed into stack and second if there is no vertices then visited vertices are popped.</a:t>
            </a:r>
            <a:br>
              <a:rPr lang="en-US" altLang="en-US" dirty="0">
                <a:solidFill>
                  <a:schemeClr val="bg2"/>
                </a:solidFill>
                <a:latin typeface="Times New Roman" panose="02020603050405020304" pitchFamily="18" charset="0"/>
                <a:cs typeface="Times New Roman" panose="02020603050405020304" pitchFamily="18" charset="0"/>
              </a:rPr>
            </a:br>
            <a:r>
              <a:rPr lang="en-US" altLang="en-US" b="1" dirty="0">
                <a:solidFill>
                  <a:schemeClr val="bg2"/>
                </a:solidFill>
                <a:latin typeface="Times New Roman" panose="02020603050405020304" pitchFamily="18" charset="0"/>
                <a:cs typeface="Times New Roman" panose="02020603050405020304" pitchFamily="18" charset="0"/>
              </a:rPr>
              <a:t>Ex-</a:t>
            </a:r>
            <a:endParaRPr lang="en-US" altLang="en-US" dirty="0">
              <a:solidFill>
                <a:schemeClr val="bg2"/>
              </a:solidFill>
              <a:latin typeface="Times New Roman" panose="02020603050405020304" pitchFamily="18" charset="0"/>
              <a:cs typeface="Times New Roman" panose="02020603050405020304" pitchFamily="18" charset="0"/>
            </a:endParaRPr>
          </a:p>
          <a:p>
            <a:pPr>
              <a:buClrTx/>
            </a:pPr>
            <a:endParaRPr lang="en-US" altLang="en-US" b="1" dirty="0">
              <a:solidFill>
                <a:schemeClr val="bg2"/>
              </a:solidFill>
              <a:latin typeface="Times New Roman" panose="02020603050405020304" pitchFamily="18" charset="0"/>
              <a:cs typeface="Times New Roman" panose="02020603050405020304" pitchFamily="18" charset="0"/>
            </a:endParaRPr>
          </a:p>
          <a:p>
            <a:pPr>
              <a:buClrTx/>
            </a:pPr>
            <a:endParaRPr lang="en-US" altLang="en-US" b="1" dirty="0">
              <a:solidFill>
                <a:schemeClr val="bg2"/>
              </a:solidFill>
              <a:latin typeface="Times New Roman" panose="02020603050405020304" pitchFamily="18" charset="0"/>
              <a:cs typeface="Times New Roman" panose="02020603050405020304" pitchFamily="18" charset="0"/>
            </a:endParaRPr>
          </a:p>
          <a:p>
            <a:pPr>
              <a:buClrTx/>
            </a:pPr>
            <a:endParaRPr lang="en-US" altLang="en-US" b="1" dirty="0">
              <a:solidFill>
                <a:schemeClr val="bg2"/>
              </a:solidFill>
              <a:latin typeface="Times New Roman" panose="02020603050405020304" pitchFamily="18" charset="0"/>
              <a:cs typeface="Times New Roman" panose="02020603050405020304" pitchFamily="18" charset="0"/>
            </a:endParaRPr>
          </a:p>
          <a:p>
            <a:pPr>
              <a:buClrTx/>
            </a:pPr>
            <a:r>
              <a:rPr lang="en-US" altLang="en-US" b="1" dirty="0">
                <a:solidFill>
                  <a:schemeClr val="bg2"/>
                </a:solidFill>
                <a:latin typeface="Times New Roman" panose="02020603050405020304" pitchFamily="18" charset="0"/>
                <a:cs typeface="Times New Roman" panose="02020603050405020304" pitchFamily="18" charset="0"/>
              </a:rPr>
              <a:t>Output is: </a:t>
            </a:r>
            <a:r>
              <a:rPr lang="pt-BR" altLang="en-US" dirty="0">
                <a:solidFill>
                  <a:schemeClr val="bg2"/>
                </a:solidFill>
                <a:latin typeface="Times New Roman" panose="02020603050405020304" pitchFamily="18" charset="0"/>
                <a:cs typeface="Times New Roman" panose="02020603050405020304" pitchFamily="18" charset="0"/>
              </a:rPr>
              <a:t>A, B, D, C, E, F</a:t>
            </a:r>
            <a:endParaRPr lang="en-US" altLang="en-US" dirty="0">
              <a:solidFill>
                <a:schemeClr val="bg2"/>
              </a:solidFill>
              <a:latin typeface="Times New Roman" panose="02020603050405020304" pitchFamily="18" charset="0"/>
              <a:cs typeface="Times New Roman" panose="02020603050405020304" pitchFamily="18" charset="0"/>
            </a:endParaRPr>
          </a:p>
          <a:p>
            <a:pPr>
              <a:buClrTx/>
            </a:pPr>
            <a:endParaRPr lang="en-US" altLang="en-US" dirty="0">
              <a:solidFill>
                <a:schemeClr val="bg2"/>
              </a:solidFill>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C90646B1-1416-E72F-BB53-D737FCDFD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127" y="2541337"/>
            <a:ext cx="1171575" cy="132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514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698E66-F84E-170D-A0A4-F7906E6DCB0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F4F0A3-AC9F-881C-38CF-FCABC87F7D4C}"/>
              </a:ext>
            </a:extLst>
          </p:cNvPr>
          <p:cNvSpPr txBox="1">
            <a:spLocks noGrp="1"/>
          </p:cNvSpPr>
          <p:nvPr>
            <p:ph type="body" idx="1"/>
          </p:nvPr>
        </p:nvSpPr>
        <p:spPr>
          <a:xfrm>
            <a:off x="381923" y="1457250"/>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FE9E69A-0B72-58B1-5875-98C4F59242D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4" name="Title 1">
            <a:extLst>
              <a:ext uri="{FF2B5EF4-FFF2-40B4-BE49-F238E27FC236}">
                <a16:creationId xmlns:a16="http://schemas.microsoft.com/office/drawing/2014/main" id="{0442FE60-CD60-B370-16CC-D897F51C7F08}"/>
              </a:ext>
            </a:extLst>
          </p:cNvPr>
          <p:cNvSpPr txBox="1">
            <a:spLocks/>
          </p:cNvSpPr>
          <p:nvPr/>
        </p:nvSpPr>
        <p:spPr>
          <a:xfrm>
            <a:off x="833700" y="197075"/>
            <a:ext cx="75528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C00000"/>
                </a:solidFill>
                <a:effectLst/>
                <a:uLnTx/>
                <a:uFillTx/>
                <a:latin typeface="Cambria" pitchFamily="18" charset="0"/>
                <a:ea typeface="+mj-ea"/>
                <a:cs typeface="+mj-cs"/>
              </a:rPr>
              <a:t>BFS</a:t>
            </a:r>
            <a:endParaRPr kumimoji="0" lang="en-US" sz="2400" b="1" i="0" u="none" strike="noStrike" kern="1200" cap="none" spc="0" normalizeH="0" baseline="0" noProof="0" dirty="0">
              <a:ln>
                <a:noFill/>
              </a:ln>
              <a:solidFill>
                <a:srgbClr val="C00000"/>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B4D6EA47-EDFC-17F8-F096-92B6A6D5445C}"/>
              </a:ext>
            </a:extLst>
          </p:cNvPr>
          <p:cNvSpPr txBox="1">
            <a:spLocks/>
          </p:cNvSpPr>
          <p:nvPr/>
        </p:nvSpPr>
        <p:spPr bwMode="auto">
          <a:xfrm>
            <a:off x="757500" y="882875"/>
            <a:ext cx="7625423" cy="40635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BFS stands for Breadth First Search is a vertex based technique for finding a shortest path in graph. It uses a Queue data structure which follows first in first out. In BFS, one vertex is selected at a time when it is visited and marked then its adjacent are visited and stored in the queue. It is slower than DFS.</a:t>
            </a:r>
          </a:p>
        </p:txBody>
      </p:sp>
      <p:pic>
        <p:nvPicPr>
          <p:cNvPr id="10" name="Picture 2">
            <a:extLst>
              <a:ext uri="{FF2B5EF4-FFF2-40B4-BE49-F238E27FC236}">
                <a16:creationId xmlns:a16="http://schemas.microsoft.com/office/drawing/2014/main" id="{07C42435-8B9B-14F8-5785-310419E39E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270" y="3348800"/>
            <a:ext cx="1295400" cy="152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TextBox 20">
            <a:extLst>
              <a:ext uri="{FF2B5EF4-FFF2-40B4-BE49-F238E27FC236}">
                <a16:creationId xmlns:a16="http://schemas.microsoft.com/office/drawing/2014/main" id="{00DEBFD9-E505-1AEA-978B-482D6C5B45FD}"/>
              </a:ext>
            </a:extLst>
          </p:cNvPr>
          <p:cNvSpPr txBox="1"/>
          <p:nvPr/>
        </p:nvSpPr>
        <p:spPr>
          <a:xfrm>
            <a:off x="3374796" y="4171251"/>
            <a:ext cx="2058595" cy="553998"/>
          </a:xfrm>
          <a:prstGeom prst="rect">
            <a:avLst/>
          </a:prstGeom>
          <a:noFill/>
        </p:spPr>
        <p:txBody>
          <a:bodyPr wrap="square">
            <a:spAutoFit/>
          </a:bodyPr>
          <a:lstStyle/>
          <a:p>
            <a:r>
              <a:rPr lang="en-US" altLang="en-US" sz="1600" b="1" dirty="0">
                <a:latin typeface="Roboto" panose="02000000000000000000" pitchFamily="2" charset="0"/>
              </a:rPr>
              <a:t>Output is:</a:t>
            </a:r>
            <a:endParaRPr lang="en-US" altLang="en-US" dirty="0">
              <a:latin typeface="Consolas" panose="020B0609020204030204" pitchFamily="49" charset="0"/>
            </a:endParaRPr>
          </a:p>
          <a:p>
            <a:r>
              <a:rPr lang="en-US" altLang="en-US" dirty="0">
                <a:latin typeface="Consolas" panose="020B0609020204030204" pitchFamily="49" charset="0"/>
              </a:rPr>
              <a:t>A, B, C, D, E, F</a:t>
            </a:r>
            <a:r>
              <a:rPr lang="en-US" altLang="en-US" sz="1000" dirty="0"/>
              <a:t> </a:t>
            </a:r>
            <a:endParaRPr lang="en-US" altLang="en-US" sz="2400" dirty="0"/>
          </a:p>
        </p:txBody>
      </p:sp>
    </p:spTree>
    <p:extLst>
      <p:ext uri="{BB962C8B-B14F-4D97-AF65-F5344CB8AC3E}">
        <p14:creationId xmlns:p14="http://schemas.microsoft.com/office/powerpoint/2010/main" val="346571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30559D-113C-CA36-943F-FB81436000C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DE20160-C47E-3755-260A-77F95E87624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BAD650A-C296-32D4-88D6-EC65A0BB20C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pic>
        <p:nvPicPr>
          <p:cNvPr id="4" name="Picture 2" descr="DFS on Binary Tree Array">
            <a:extLst>
              <a:ext uri="{FF2B5EF4-FFF2-40B4-BE49-F238E27FC236}">
                <a16:creationId xmlns:a16="http://schemas.microsoft.com/office/drawing/2014/main" id="{D50B4FA0-8C99-8C08-C3EA-F94FB637F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500" y="239874"/>
            <a:ext cx="7239000" cy="4451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937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0447B22-5410-13CF-1326-D2D22424783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27B573F1-752D-78C9-E205-774AA6ADA09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40A6164-6F21-71D5-D7DB-3CE2ACB01F5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Google Shape;350;p8">
            <a:extLst>
              <a:ext uri="{FF2B5EF4-FFF2-40B4-BE49-F238E27FC236}">
                <a16:creationId xmlns:a16="http://schemas.microsoft.com/office/drawing/2014/main" id="{CF885888-F974-60D0-3C86-4494DD52F594}"/>
              </a:ext>
            </a:extLst>
          </p:cNvPr>
          <p:cNvSpPr txBox="1">
            <a:spLocks/>
          </p:cNvSpPr>
          <p:nvPr/>
        </p:nvSpPr>
        <p:spPr>
          <a:xfrm>
            <a:off x="968776" y="40555"/>
            <a:ext cx="7417724"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Applications</a:t>
            </a:r>
          </a:p>
        </p:txBody>
      </p:sp>
      <p:sp>
        <p:nvSpPr>
          <p:cNvPr id="4" name="Rectangle 1">
            <a:extLst>
              <a:ext uri="{FF2B5EF4-FFF2-40B4-BE49-F238E27FC236}">
                <a16:creationId xmlns:a16="http://schemas.microsoft.com/office/drawing/2014/main" id="{64173E7C-CA62-2F02-ABB7-2E6925182037}"/>
              </a:ext>
            </a:extLst>
          </p:cNvPr>
          <p:cNvSpPr>
            <a:spLocks noChangeArrowheads="1"/>
          </p:cNvSpPr>
          <p:nvPr/>
        </p:nvSpPr>
        <p:spPr bwMode="auto">
          <a:xfrm>
            <a:off x="802496" y="986599"/>
            <a:ext cx="753900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Social Networks</a:t>
            </a: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Web Page Ranking</a:t>
            </a:r>
            <a:r>
              <a:rPr kumimoji="0" lang="en-US" altLang="en-US" sz="2400" b="0" i="0" u="none" strike="noStrike" cap="none" normalizeH="0" baseline="0" dirty="0">
                <a:ln>
                  <a:noFill/>
                </a:ln>
                <a:solidFill>
                  <a:schemeClr val="bg2"/>
                </a:solidFill>
                <a:effectLst/>
                <a:latin typeface="Arial" panose="020B0604020202020204" pitchFamily="34" charset="0"/>
              </a:rPr>
              <a:t> (e.g., PageRank in search engines)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Computer Networks and Routing</a:t>
            </a: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Geographic Information Systems (GIS) / Mapping</a:t>
            </a: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Recommendation Engines</a:t>
            </a: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Dependency Resolution</a:t>
            </a:r>
            <a:r>
              <a:rPr kumimoji="0" lang="en-US" altLang="en-US" sz="2400" b="0" i="0" u="none" strike="noStrike" cap="none" normalizeH="0" baseline="0" dirty="0">
                <a:ln>
                  <a:noFill/>
                </a:ln>
                <a:solidFill>
                  <a:schemeClr val="bg2"/>
                </a:solidFill>
                <a:effectLst/>
                <a:latin typeface="Arial" panose="020B0604020202020204" pitchFamily="34" charset="0"/>
              </a:rPr>
              <a:t> (e.g., package managers, build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2"/>
                </a:solidFill>
                <a:effectLst/>
                <a:latin typeface="Arial" panose="020B0604020202020204" pitchFamily="34" charset="0"/>
              </a:rPr>
              <a:t>Scheduling and Resource Allocation</a:t>
            </a:r>
            <a:r>
              <a:rPr kumimoji="0" lang="en-US" altLang="en-US" sz="2400" b="0" i="0" u="none" strike="noStrike" cap="none" normalizeH="0" baseline="0" dirty="0">
                <a:ln>
                  <a:noFill/>
                </a:ln>
                <a:solidFill>
                  <a:schemeClr val="bg2"/>
                </a:solidFill>
                <a:effectLst/>
                <a:latin typeface="Arial" panose="020B0604020202020204" pitchFamily="34" charset="0"/>
              </a:rPr>
              <a:t> (e.g., task graphs)</a:t>
            </a:r>
          </a:p>
        </p:txBody>
      </p:sp>
    </p:spTree>
    <p:extLst>
      <p:ext uri="{BB962C8B-B14F-4D97-AF65-F5344CB8AC3E}">
        <p14:creationId xmlns:p14="http://schemas.microsoft.com/office/powerpoint/2010/main" val="366870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41A732-D0F0-17B1-B627-DB7F5C983C3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F187A80-B81E-8273-161A-1C2F1A9691F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3ADC4BE-724D-BC03-5D67-42F1D9732F86}"/>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Google Shape;398;p16">
            <a:extLst>
              <a:ext uri="{FF2B5EF4-FFF2-40B4-BE49-F238E27FC236}">
                <a16:creationId xmlns:a16="http://schemas.microsoft.com/office/drawing/2014/main" id="{C1F7B2A6-F326-C535-25E2-C1FF3909D4C8}"/>
              </a:ext>
            </a:extLst>
          </p:cNvPr>
          <p:cNvSpPr txBox="1">
            <a:spLocks/>
          </p:cNvSpPr>
          <p:nvPr/>
        </p:nvSpPr>
        <p:spPr>
          <a:xfrm>
            <a:off x="833700" y="88964"/>
            <a:ext cx="7552800" cy="47059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Summary</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Google Shape;399;p16">
            <a:extLst>
              <a:ext uri="{FF2B5EF4-FFF2-40B4-BE49-F238E27FC236}">
                <a16:creationId xmlns:a16="http://schemas.microsoft.com/office/drawing/2014/main" id="{7732D21E-1F3B-A981-34CB-57EAB40CC90A}"/>
              </a:ext>
            </a:extLst>
          </p:cNvPr>
          <p:cNvSpPr txBox="1">
            <a:spLocks/>
          </p:cNvSpPr>
          <p:nvPr/>
        </p:nvSpPr>
        <p:spPr>
          <a:xfrm>
            <a:off x="643200" y="866204"/>
            <a:ext cx="8001000" cy="347062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endParaRPr lang="en-US" dirty="0">
              <a:solidFill>
                <a:schemeClr val="bg2"/>
              </a:solidFill>
            </a:endParaRPr>
          </a:p>
          <a:p>
            <a:pPr marL="0" indent="0">
              <a:lnSpc>
                <a:spcPct val="100000"/>
              </a:lnSpc>
              <a:spcBef>
                <a:spcPts val="0"/>
              </a:spcBef>
              <a:buClr>
                <a:srgbClr val="000000"/>
              </a:buClr>
              <a:buFont typeface="Arial"/>
              <a:buNone/>
            </a:pPr>
            <a:r>
              <a:rPr lang="en-US" dirty="0">
                <a:solidFill>
                  <a:schemeClr val="bg2"/>
                </a:solidFill>
              </a:rPr>
              <a:t>Introduction to Algorithm</a:t>
            </a:r>
          </a:p>
          <a:p>
            <a:pPr marL="742950" lvl="1" indent="-285750">
              <a:lnSpc>
                <a:spcPct val="100000"/>
              </a:lnSpc>
              <a:spcBef>
                <a:spcPts val="0"/>
              </a:spcBef>
              <a:buClr>
                <a:srgbClr val="000000"/>
              </a:buClr>
              <a:buSzPts val="200"/>
              <a:buFont typeface="Arial"/>
              <a:buChar char="•"/>
            </a:pPr>
            <a:r>
              <a:rPr lang="en-US" sz="2300" dirty="0">
                <a:solidFill>
                  <a:schemeClr val="bg2"/>
                </a:solidFill>
              </a:rPr>
              <a:t>Characteristic of algorithm</a:t>
            </a:r>
            <a:endParaRPr lang="en-US" dirty="0">
              <a:solidFill>
                <a:schemeClr val="bg2"/>
              </a:solidFill>
            </a:endParaRPr>
          </a:p>
          <a:p>
            <a:pPr marL="742950" lvl="1" indent="-285750">
              <a:lnSpc>
                <a:spcPct val="100000"/>
              </a:lnSpc>
              <a:spcBef>
                <a:spcPts val="0"/>
              </a:spcBef>
              <a:buClr>
                <a:srgbClr val="000000"/>
              </a:buClr>
              <a:buSzPts val="200"/>
              <a:buFont typeface="Arial"/>
              <a:buChar char="•"/>
            </a:pPr>
            <a:r>
              <a:rPr lang="en-US" sz="2300" dirty="0">
                <a:solidFill>
                  <a:schemeClr val="bg2"/>
                </a:solidFill>
              </a:rPr>
              <a:t>Needs and specification of algorithm</a:t>
            </a:r>
            <a:endParaRPr lang="en-US" dirty="0">
              <a:solidFill>
                <a:schemeClr val="bg2"/>
              </a:solidFill>
            </a:endParaRPr>
          </a:p>
          <a:p>
            <a:pPr marL="742950" lvl="1" indent="-273050">
              <a:lnSpc>
                <a:spcPct val="100000"/>
              </a:lnSpc>
              <a:spcBef>
                <a:spcPts val="0"/>
              </a:spcBef>
              <a:buClr>
                <a:srgbClr val="000000"/>
              </a:buClr>
              <a:buSzPts val="200"/>
              <a:buFont typeface="Arial"/>
              <a:buNone/>
            </a:pPr>
            <a:endParaRPr lang="en-US" dirty="0">
              <a:solidFill>
                <a:schemeClr val="bg2"/>
              </a:solidFill>
            </a:endParaRPr>
          </a:p>
          <a:p>
            <a:pPr marL="342900" indent="-215900">
              <a:spcBef>
                <a:spcPts val="400"/>
              </a:spcBef>
              <a:buSzPts val="2000"/>
              <a:buFont typeface="Arial"/>
              <a:buNone/>
            </a:pPr>
            <a:endParaRPr lang="en-US" sz="2000" dirty="0">
              <a:solidFill>
                <a:schemeClr val="bg2"/>
              </a:solidFill>
              <a:latin typeface="Calibri"/>
              <a:ea typeface="Calibri"/>
              <a:cs typeface="Calibri"/>
              <a:sym typeface="Calibri"/>
            </a:endParaRPr>
          </a:p>
        </p:txBody>
      </p:sp>
    </p:spTree>
    <p:extLst>
      <p:ext uri="{BB962C8B-B14F-4D97-AF65-F5344CB8AC3E}">
        <p14:creationId xmlns:p14="http://schemas.microsoft.com/office/powerpoint/2010/main" val="2701280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34F766-A176-EC7F-DA61-121F22B5631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2884BC-C924-1064-8AE8-EA2EEEF3175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2EF7270C-BEA4-72D0-7C70-EF18C77EEAA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Google Shape;398;p16">
            <a:extLst>
              <a:ext uri="{FF2B5EF4-FFF2-40B4-BE49-F238E27FC236}">
                <a16:creationId xmlns:a16="http://schemas.microsoft.com/office/drawing/2014/main" id="{29C0C67A-C50A-18DC-412A-99E3C5164A3A}"/>
              </a:ext>
            </a:extLst>
          </p:cNvPr>
          <p:cNvSpPr txBox="1">
            <a:spLocks/>
          </p:cNvSpPr>
          <p:nvPr/>
        </p:nvSpPr>
        <p:spPr>
          <a:xfrm>
            <a:off x="845130" y="26473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Next Lecture</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7432E31-17F2-24E4-4864-9A36FB7A0BA0}"/>
              </a:ext>
            </a:extLst>
          </p:cNvPr>
          <p:cNvSpPr txBox="1"/>
          <p:nvPr/>
        </p:nvSpPr>
        <p:spPr>
          <a:xfrm>
            <a:off x="845130" y="1422025"/>
            <a:ext cx="7898130" cy="461665"/>
          </a:xfrm>
          <a:prstGeom prst="rect">
            <a:avLst/>
          </a:prstGeom>
          <a:noFill/>
        </p:spPr>
        <p:txBody>
          <a:bodyPr wrap="square">
            <a:spAutoFit/>
          </a:bodyPr>
          <a:lstStyle/>
          <a:p>
            <a:pPr marL="0" indent="0">
              <a:spcBef>
                <a:spcPct val="0"/>
              </a:spcBef>
              <a:buClr>
                <a:srgbClr val="000000"/>
              </a:buClr>
              <a:buSzPts val="2000"/>
              <a:buFont typeface="Arial" panose="020B0604020202020204" pitchFamily="34" charset="0"/>
              <a:buNone/>
              <a:defRPr/>
            </a:pPr>
            <a:r>
              <a:rPr lang="en-US" altLang="en-US" sz="2400" dirty="0">
                <a:solidFill>
                  <a:srgbClr val="000000"/>
                </a:solidFill>
                <a:ea typeface="Cambria" pitchFamily="18" charset="0"/>
                <a:cs typeface="Cambria" pitchFamily="18" charset="0"/>
                <a:sym typeface="Cambria" pitchFamily="18" charset="0"/>
              </a:rPr>
              <a:t> Sorting in linear time: counting sort</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0214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7FC081-CD9A-5890-31B1-05B3C94BF6C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37BF6050-4B71-52AA-64DB-492D3464A4B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7F91A00A-7547-9CA1-AE7A-367A9D78131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Google Shape;398;p16">
            <a:extLst>
              <a:ext uri="{FF2B5EF4-FFF2-40B4-BE49-F238E27FC236}">
                <a16:creationId xmlns:a16="http://schemas.microsoft.com/office/drawing/2014/main" id="{6A560F48-626F-3E22-D367-BDFCE56FCAB9}"/>
              </a:ext>
            </a:extLst>
          </p:cNvPr>
          <p:cNvSpPr txBox="1">
            <a:spLocks/>
          </p:cNvSpPr>
          <p:nvPr/>
        </p:nvSpPr>
        <p:spPr>
          <a:xfrm>
            <a:off x="1219200" y="249350"/>
            <a:ext cx="71673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Quiz</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5399345-4451-67AD-FA83-BED1F37CDE5D}"/>
              </a:ext>
            </a:extLst>
          </p:cNvPr>
          <p:cNvSpPr txBox="1"/>
          <p:nvPr/>
        </p:nvSpPr>
        <p:spPr>
          <a:xfrm>
            <a:off x="1023404" y="1022313"/>
            <a:ext cx="7870604" cy="3477875"/>
          </a:xfrm>
          <a:prstGeom prst="rect">
            <a:avLst/>
          </a:prstGeom>
          <a:noFill/>
        </p:spPr>
        <p:txBody>
          <a:bodyPr wrap="square">
            <a:spAutoFit/>
          </a:bodyPr>
          <a:lstStyle/>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In a weighted graph with nonnegative weights, which algorithm finds the shortest path from a single source to all other vertices?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A) Bellman-Ford</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 Dijkstra’s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 Floyd-Warshall</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D) Kruskal’s</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Which of these is a property of a tree when considered as a graph?</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A) It can contain cycles.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 It has exactly V edges for V vertices.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 It is a connected, acyclic undirected graph with V – 1 edges.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D) It is always directed.</a:t>
            </a:r>
          </a:p>
        </p:txBody>
      </p:sp>
    </p:spTree>
    <p:extLst>
      <p:ext uri="{BB962C8B-B14F-4D97-AF65-F5344CB8AC3E}">
        <p14:creationId xmlns:p14="http://schemas.microsoft.com/office/powerpoint/2010/main" val="4222976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C16E0BE-5E4E-D8A1-5CB2-8142F9754DB8}"/>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227BF8B-63CF-08D9-3EFB-1157B57C139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7C2C36-4064-467E-F174-5CD0AE20BD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Google Shape;392;p15">
            <a:extLst>
              <a:ext uri="{FF2B5EF4-FFF2-40B4-BE49-F238E27FC236}">
                <a16:creationId xmlns:a16="http://schemas.microsoft.com/office/drawing/2014/main" id="{4B714057-CA43-4B1E-290C-27F7B4BBA00C}"/>
              </a:ext>
            </a:extLst>
          </p:cNvPr>
          <p:cNvSpPr txBox="1">
            <a:spLocks/>
          </p:cNvSpPr>
          <p:nvPr/>
        </p:nvSpPr>
        <p:spPr>
          <a:xfrm>
            <a:off x="952500" y="342338"/>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C00000"/>
              </a:buClr>
              <a:buSzPts val="24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References/ Articles/ Videos</a:t>
            </a:r>
            <a:b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br>
            <a:endParaRPr lang="en-US" sz="40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4" name="Google Shape;157;p25">
            <a:extLst>
              <a:ext uri="{FF2B5EF4-FFF2-40B4-BE49-F238E27FC236}">
                <a16:creationId xmlns:a16="http://schemas.microsoft.com/office/drawing/2014/main" id="{4D3F54C9-0FC3-C737-A041-77D5879E5D9B}"/>
              </a:ext>
            </a:extLst>
          </p:cNvPr>
          <p:cNvSpPr txBox="1">
            <a:spLocks/>
          </p:cNvSpPr>
          <p:nvPr/>
        </p:nvSpPr>
        <p:spPr>
          <a:xfrm>
            <a:off x="836838" y="806675"/>
            <a:ext cx="8001000" cy="372556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buFont typeface="Arial" panose="020B0604020202020204" pitchFamily="34" charset="0"/>
              <a:buNone/>
              <a:defRPr/>
            </a:pPr>
            <a:r>
              <a:rPr lang="en-US" b="1" dirty="0">
                <a:solidFill>
                  <a:schemeClr val="bg2"/>
                </a:solidFill>
              </a:rPr>
              <a:t>Text books:</a:t>
            </a:r>
            <a:endParaRPr lang="en-US" dirty="0">
              <a:solidFill>
                <a:schemeClr val="bg2"/>
              </a:solidFill>
            </a:endParaRPr>
          </a:p>
          <a:p>
            <a:pPr>
              <a:defRPr/>
            </a:pPr>
            <a:r>
              <a:rPr lang="en-US" sz="1800" dirty="0" err="1">
                <a:solidFill>
                  <a:schemeClr val="bg2"/>
                </a:solidFill>
              </a:rPr>
              <a:t>Cormen</a:t>
            </a:r>
            <a:r>
              <a:rPr lang="en-US" sz="1800" dirty="0">
                <a:solidFill>
                  <a:schemeClr val="bg2"/>
                </a:solidFill>
              </a:rPr>
              <a:t>, </a:t>
            </a:r>
            <a:r>
              <a:rPr lang="en-US" sz="1800" dirty="0" err="1">
                <a:solidFill>
                  <a:schemeClr val="bg2"/>
                </a:solidFill>
              </a:rPr>
              <a:t>Leiserson</a:t>
            </a:r>
            <a:r>
              <a:rPr lang="en-US" sz="1800" dirty="0">
                <a:solidFill>
                  <a:schemeClr val="bg2"/>
                </a:solidFill>
              </a:rPr>
              <a:t>, Rivest, Stein, “</a:t>
            </a:r>
            <a:r>
              <a:rPr lang="en-US" sz="1800" i="1" dirty="0">
                <a:solidFill>
                  <a:schemeClr val="bg2"/>
                </a:solidFill>
              </a:rPr>
              <a:t>Introduction to Algorithms</a:t>
            </a:r>
            <a:r>
              <a:rPr lang="en-US" sz="1800" dirty="0">
                <a:solidFill>
                  <a:schemeClr val="bg2"/>
                </a:solidFill>
              </a:rPr>
              <a:t>”, Prentice Hall of India, 3</a:t>
            </a:r>
            <a:r>
              <a:rPr lang="en-US" sz="1800" baseline="30000" dirty="0">
                <a:solidFill>
                  <a:schemeClr val="bg2"/>
                </a:solidFill>
              </a:rPr>
              <a:t>rd</a:t>
            </a:r>
            <a:r>
              <a:rPr lang="en-US" sz="1800" dirty="0">
                <a:solidFill>
                  <a:schemeClr val="bg2"/>
                </a:solidFill>
              </a:rPr>
              <a:t> edition 2012. problem, Graph coloring.</a:t>
            </a:r>
          </a:p>
          <a:p>
            <a:pPr>
              <a:defRPr/>
            </a:pPr>
            <a:r>
              <a:rPr lang="en-US" sz="1800" dirty="0">
                <a:solidFill>
                  <a:schemeClr val="bg2"/>
                </a:solidFill>
              </a:rPr>
              <a:t>Horowitz, Sahni and Rajasekaran, “</a:t>
            </a:r>
            <a:r>
              <a:rPr lang="en-US" sz="1800" i="1" dirty="0">
                <a:solidFill>
                  <a:schemeClr val="bg2"/>
                </a:solidFill>
              </a:rPr>
              <a:t>Fundamentals of </a:t>
            </a:r>
            <a:r>
              <a:rPr lang="en-US" sz="1800" i="1" dirty="0" err="1">
                <a:solidFill>
                  <a:schemeClr val="bg2"/>
                </a:solidFill>
              </a:rPr>
              <a:t>ComputerAlgorithms</a:t>
            </a:r>
            <a:r>
              <a:rPr lang="en-US" sz="1800" i="1" dirty="0">
                <a:solidFill>
                  <a:schemeClr val="bg2"/>
                </a:solidFill>
              </a:rPr>
              <a:t>”</a:t>
            </a:r>
            <a:r>
              <a:rPr lang="en-US" sz="1800" dirty="0">
                <a:solidFill>
                  <a:schemeClr val="bg2"/>
                </a:solidFill>
              </a:rPr>
              <a:t>, University Press (India), 2</a:t>
            </a:r>
            <a:r>
              <a:rPr lang="en-US" sz="1800" baseline="30000" dirty="0">
                <a:solidFill>
                  <a:schemeClr val="bg2"/>
                </a:solidFill>
              </a:rPr>
              <a:t>nd</a:t>
            </a:r>
            <a:r>
              <a:rPr lang="en-US" sz="1800" dirty="0">
                <a:solidFill>
                  <a:schemeClr val="bg2"/>
                </a:solidFill>
              </a:rPr>
              <a:t> edition</a:t>
            </a:r>
          </a:p>
          <a:p>
            <a:pPr marL="0" indent="0">
              <a:buFont typeface="Arial" panose="020B0604020202020204" pitchFamily="34" charset="0"/>
              <a:buNone/>
              <a:defRPr/>
            </a:pPr>
            <a:endParaRPr lang="en-US" b="1" dirty="0">
              <a:solidFill>
                <a:schemeClr val="bg2"/>
              </a:solidFill>
            </a:endParaRPr>
          </a:p>
          <a:p>
            <a:pPr marL="0" indent="0">
              <a:buFont typeface="Arial" panose="020B0604020202020204" pitchFamily="34" charset="0"/>
              <a:buNone/>
              <a:defRPr/>
            </a:pPr>
            <a:r>
              <a:rPr lang="en-US" b="1" dirty="0">
                <a:solidFill>
                  <a:schemeClr val="bg2"/>
                </a:solidFill>
              </a:rPr>
              <a:t>Websites:</a:t>
            </a:r>
            <a:endParaRPr lang="en-US" b="1" u="sng" dirty="0">
              <a:solidFill>
                <a:schemeClr val="bg2"/>
              </a:solidFill>
              <a:hlinkClick r:id="rId3">
                <a:extLst>
                  <a:ext uri="{A12FA001-AC4F-418D-AE19-62706E023703}">
                    <ahyp:hlinkClr xmlns:ahyp="http://schemas.microsoft.com/office/drawing/2018/hyperlinkcolor" val="tx"/>
                  </a:ext>
                </a:extLst>
              </a:hlinkClick>
            </a:endParaRPr>
          </a:p>
          <a:p>
            <a:pPr indent="-457200">
              <a:buFont typeface="Arial"/>
              <a:buAutoNum type="arabicPeriod"/>
              <a:defRPr/>
            </a:pPr>
            <a:r>
              <a:rPr lang="en-US" sz="1800" dirty="0">
                <a:solidFill>
                  <a:schemeClr val="bg2"/>
                </a:solidFill>
              </a:rPr>
              <a:t>geeksforgeeks.org/graph-data-structure-and-algorithms/</a:t>
            </a:r>
          </a:p>
          <a:p>
            <a:pPr indent="-457200">
              <a:buFont typeface="Arial"/>
              <a:buAutoNum type="arabicPeriod"/>
              <a:defRPr/>
            </a:pPr>
            <a:r>
              <a:rPr lang="en-US" sz="1800" dirty="0">
                <a:solidFill>
                  <a:schemeClr val="bg2"/>
                </a:solidFill>
                <a:hlinkClick r:id="rId4">
                  <a:extLst>
                    <a:ext uri="{A12FA001-AC4F-418D-AE19-62706E023703}">
                      <ahyp:hlinkClr xmlns:ahyp="http://schemas.microsoft.com/office/drawing/2018/hyperlinkcolor" val="tx"/>
                    </a:ext>
                  </a:extLst>
                </a:hlinkClick>
              </a:rPr>
              <a:t>https://www.geeksforgeeks.org/difference-between-bfs-and-dfs/</a:t>
            </a:r>
            <a:endParaRPr lang="en-US" sz="1800" dirty="0">
              <a:solidFill>
                <a:schemeClr val="bg2"/>
              </a:solidFill>
            </a:endParaRPr>
          </a:p>
          <a:p>
            <a:pPr indent="-457200">
              <a:buFont typeface="Arial"/>
              <a:buAutoNum type="arabicPeriod"/>
              <a:defRPr/>
            </a:pPr>
            <a:endParaRPr lang="en-US" sz="2000" dirty="0">
              <a:solidFill>
                <a:schemeClr val="bg2"/>
              </a:solidFill>
            </a:endParaRPr>
          </a:p>
        </p:txBody>
      </p:sp>
    </p:spTree>
    <p:extLst>
      <p:ext uri="{BB962C8B-B14F-4D97-AF65-F5344CB8AC3E}">
        <p14:creationId xmlns:p14="http://schemas.microsoft.com/office/powerpoint/2010/main" val="3439820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C23ABF-C8EE-EA05-F7EE-2B8C43F1E87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93698A8-3266-35AD-BB7C-2D517F1F531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8BF33F5-B0C9-AAA6-044A-76C3D9E8D88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Google Shape;398;p16">
            <a:extLst>
              <a:ext uri="{FF2B5EF4-FFF2-40B4-BE49-F238E27FC236}">
                <a16:creationId xmlns:a16="http://schemas.microsoft.com/office/drawing/2014/main" id="{6F49410F-EBB5-30E5-9EAD-BE507179EEE1}"/>
              </a:ext>
            </a:extLst>
          </p:cNvPr>
          <p:cNvSpPr txBox="1">
            <a:spLocks/>
          </p:cNvSpPr>
          <p:nvPr/>
        </p:nvSpPr>
        <p:spPr>
          <a:xfrm>
            <a:off x="948000" y="583857"/>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Google Shape;399;p16">
            <a:extLst>
              <a:ext uri="{FF2B5EF4-FFF2-40B4-BE49-F238E27FC236}">
                <a16:creationId xmlns:a16="http://schemas.microsoft.com/office/drawing/2014/main" id="{FD57801D-30BB-E7C7-3950-4312264ED9AE}"/>
              </a:ext>
            </a:extLst>
          </p:cNvPr>
          <p:cNvSpPr txBox="1">
            <a:spLocks/>
          </p:cNvSpPr>
          <p:nvPr/>
        </p:nvSpPr>
        <p:spPr>
          <a:xfrm>
            <a:off x="757500" y="1781227"/>
            <a:ext cx="8001000" cy="2778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927100" lvl="1" indent="-457200">
              <a:spcBef>
                <a:spcPts val="0"/>
              </a:spcBef>
              <a:buClr>
                <a:srgbClr val="000000"/>
              </a:buClr>
              <a:buSzPts val="200"/>
              <a:buFont typeface="+mj-lt"/>
              <a:buAutoNum type="arabicPeriod"/>
            </a:pPr>
            <a:endParaRPr lang="en-IN" dirty="0"/>
          </a:p>
          <a:p>
            <a:pPr marL="584200" indent="-457200">
              <a:spcBef>
                <a:spcPts val="400"/>
              </a:spcBef>
              <a:buSzPts val="2000"/>
              <a:buFont typeface="+mj-lt"/>
              <a:buAutoNum type="arabicPeriod"/>
            </a:pPr>
            <a:r>
              <a:rPr lang="en-IN" sz="2000" dirty="0">
                <a:latin typeface="Calibri"/>
                <a:ea typeface="Calibri"/>
                <a:cs typeface="Calibri"/>
                <a:sym typeface="Calibri"/>
                <a:hlinkClick r:id="rId3"/>
              </a:rPr>
              <a:t>https://onlinecourses.nptel.ac.in/noc23_cs96/preview</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rPr>
              <a:t> </a:t>
            </a:r>
            <a:r>
              <a:rPr lang="en-IN" sz="2000" dirty="0">
                <a:latin typeface="Calibri"/>
                <a:ea typeface="Calibri"/>
                <a:cs typeface="Calibri"/>
                <a:sym typeface="Calibri"/>
                <a:hlinkClick r:id="rId4"/>
              </a:rPr>
              <a:t>https://nptel.ac.in/courses/106106131</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5"/>
              </a:rPr>
              <a:t>https://nptel.ac.in/courses/106106208</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6"/>
              </a:rPr>
              <a:t>https://www.linkedin.com/learning/learning-algorithms</a:t>
            </a: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p:txBody>
      </p:sp>
    </p:spTree>
    <p:extLst>
      <p:ext uri="{BB962C8B-B14F-4D97-AF65-F5344CB8AC3E}">
        <p14:creationId xmlns:p14="http://schemas.microsoft.com/office/powerpoint/2010/main" val="1229055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141664-9E0A-0C54-B96F-BED84C5451E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468A3DE-696B-7FC9-013F-76B2E3B5B3B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657B4478-479B-A962-4153-A5D9BEBE8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Google Shape;398;p16">
            <a:extLst>
              <a:ext uri="{FF2B5EF4-FFF2-40B4-BE49-F238E27FC236}">
                <a16:creationId xmlns:a16="http://schemas.microsoft.com/office/drawing/2014/main" id="{5CF26446-8E74-2ED0-D707-24246C6EC751}"/>
              </a:ext>
            </a:extLst>
          </p:cNvPr>
          <p:cNvSpPr txBox="1">
            <a:spLocks/>
          </p:cNvSpPr>
          <p:nvPr/>
        </p:nvSpPr>
        <p:spPr>
          <a:xfrm>
            <a:off x="876443" y="39376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7123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1432125" y="1709456"/>
            <a:ext cx="6000750" cy="2186100"/>
          </a:xfrm>
          <a:prstGeom prst="rect">
            <a:avLst/>
          </a:prstGeom>
          <a:noFill/>
          <a:ln>
            <a:noFill/>
          </a:ln>
        </p:spPr>
        <p:txBody>
          <a:bodyPr spcFirstLastPara="1" wrap="square" lIns="68569" tIns="34275" rIns="68569" bIns="34275" anchor="t" anchorCtr="0">
            <a:normAutofit/>
          </a:bodyPr>
          <a:lstStyle/>
          <a:p>
            <a:pPr marL="257175" indent="-257175"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257175" indent="-257175"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768202" y="1902290"/>
            <a:ext cx="7328595"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45989" y="3980946"/>
            <a:ext cx="4403925"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richa.e11307@cumail.in</a:t>
            </a:r>
          </a:p>
        </p:txBody>
      </p:sp>
      <p:sp>
        <p:nvSpPr>
          <p:cNvPr id="5" name="TextBox 4"/>
          <p:cNvSpPr txBox="1"/>
          <p:nvPr/>
        </p:nvSpPr>
        <p:spPr>
          <a:xfrm>
            <a:off x="8279765" y="361439"/>
            <a:ext cx="482098" cy="276999"/>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200" dirty="0"/>
              <a:t>15</a:t>
            </a:r>
          </a:p>
        </p:txBody>
      </p:sp>
    </p:spTree>
    <p:extLst>
      <p:ext uri="{BB962C8B-B14F-4D97-AF65-F5344CB8AC3E}">
        <p14:creationId xmlns:p14="http://schemas.microsoft.com/office/powerpoint/2010/main" val="2407500439"/>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815</TotalTime>
  <Words>772</Words>
  <Application>Microsoft Office PowerPoint</Application>
  <PresentationFormat>On-screen Show (16:9)</PresentationFormat>
  <Paragraphs>116</Paragraphs>
  <Slides>16</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Arial Black</vt:lpstr>
      <vt:lpstr>Times New Roman</vt:lpstr>
      <vt:lpstr>Roboto</vt:lpstr>
      <vt:lpstr>Calibri</vt:lpstr>
      <vt:lpstr>Consolas</vt:lpstr>
      <vt:lpstr>Cambria</vt:lpstr>
      <vt:lpstr>Lato</vt:lpstr>
      <vt:lpstr>Vladimir Script</vt:lpstr>
      <vt:lpstr>Wingdings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Richa Dhiman</cp:lastModifiedBy>
  <cp:revision>121</cp:revision>
  <dcterms:modified xsi:type="dcterms:W3CDTF">2025-05-28T04:52:11Z</dcterms:modified>
</cp:coreProperties>
</file>