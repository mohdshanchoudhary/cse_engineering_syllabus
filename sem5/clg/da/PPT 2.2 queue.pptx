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312" r:id="rId3"/>
    <p:sldId id="284" r:id="rId4"/>
    <p:sldId id="314" r:id="rId5"/>
    <p:sldId id="315" r:id="rId6"/>
    <p:sldId id="317" r:id="rId7"/>
    <p:sldId id="318" r:id="rId8"/>
    <p:sldId id="319" r:id="rId9"/>
    <p:sldId id="320" r:id="rId10"/>
    <p:sldId id="321" r:id="rId11"/>
    <p:sldId id="322" r:id="rId12"/>
    <p:sldId id="332" r:id="rId13"/>
    <p:sldId id="330" r:id="rId14"/>
    <p:sldId id="331" r:id="rId15"/>
    <p:sldId id="333" r:id="rId16"/>
    <p:sldId id="334" r:id="rId17"/>
    <p:sldId id="336" r:id="rId18"/>
    <p:sldId id="311" r:id="rId19"/>
  </p:sldIdLst>
  <p:sldSz cx="9144000" cy="5143500" type="screen16x9"/>
  <p:notesSz cx="6858000" cy="9144000"/>
  <p:embeddedFontLst>
    <p:embeddedFont>
      <p:font typeface="Arial Black" panose="020B0A04020102020204" pitchFamily="34" charset="0"/>
      <p:bold r:id="rId21"/>
    </p:embeddedFont>
    <p:embeddedFont>
      <p:font typeface="Cambria" panose="02040503050406030204" pitchFamily="18" charset="0"/>
      <p:regular r:id="rId22"/>
      <p:bold r:id="rId23"/>
      <p:italic r:id="rId24"/>
      <p:boldItalic r:id="rId25"/>
    </p:embeddedFont>
    <p:embeddedFont>
      <p:font typeface="Lato" panose="020F0502020204030203" pitchFamily="34" charset="0"/>
      <p:regular r:id="rId26"/>
      <p:bold r:id="rId27"/>
      <p:italic r:id="rId28"/>
      <p:boldItalic r:id="rId29"/>
    </p:embeddedFont>
    <p:embeddedFont>
      <p:font typeface="Vladimir Script" panose="03050402040407070305" pitchFamily="66"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6C3BF0-F04D-CC55-01DE-5846136227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C26BBB-3EE0-C367-EB17-2F01B7585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ED12312-F8C0-DB82-75C0-FC2758C0D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2370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1E0EE1-A63F-12F4-10BB-2B0C5E51B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949B4A-8DCA-5D8A-F91E-E3E3181692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D7E994A-6713-82F4-3A2F-AD2DA1A7B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1222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D04F549-C923-1FA6-0572-8E4FDBDC54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D34990-FEC3-FB89-4B02-268714D73F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7BCAEBB-22C0-CF35-0C48-E613A3B45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3046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media.geeksforgeeks.org/wp-content/cdn-uploads/gq/2014/02/Queue.pn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www.geeksforgeeks.org/queue-data-structure/" TargetMode="External"/><Relationship Id="rId4" Type="http://schemas.openxmlformats.org/officeDocument/2006/relationships/hyperlink" Target="https://www.studytonight.com/data-structures/queue-data-structur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71896" y="951584"/>
            <a:ext cx="8213400" cy="41313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2                 Lecture No.7</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altLang="en-US" sz="1800" b="1" dirty="0">
                <a:latin typeface="Times New Roman" panose="02020603050405020304" pitchFamily="18" charset="0"/>
                <a:cs typeface="Times New Roman" panose="02020603050405020304" pitchFamily="18" charset="0"/>
              </a:rPr>
              <a:t>Queue</a:t>
            </a:r>
            <a:endParaRPr lang="en-US" sz="1800" b="1" i="0" u="none" dirty="0">
              <a:solidFill>
                <a:schemeClr val="bg2"/>
              </a:solidFill>
              <a:latin typeface="Times New Roman"/>
              <a:ea typeface="Times New Roman"/>
              <a:cs typeface="Times New Roman"/>
              <a:sym typeface="Times New Roman"/>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Learning Objectives &amp; Outcomes</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4" name="Content Placeholder 2">
            <a:extLst>
              <a:ext uri="{FF2B5EF4-FFF2-40B4-BE49-F238E27FC236}">
                <a16:creationId xmlns:a16="http://schemas.microsoft.com/office/drawing/2014/main" id="{A5C8CD32-A94B-2C2F-1A2C-9A789BF8E08C}"/>
              </a:ext>
            </a:extLst>
          </p:cNvPr>
          <p:cNvSpPr txBox="1">
            <a:spLocks/>
          </p:cNvSpPr>
          <p:nvPr/>
        </p:nvSpPr>
        <p:spPr bwMode="auto">
          <a:xfrm>
            <a:off x="724394" y="941389"/>
            <a:ext cx="8001000" cy="4116124"/>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ts val="0"/>
              </a:spcBef>
              <a:spcAft>
                <a:spcPts val="0"/>
              </a:spcAft>
              <a:buClr>
                <a:sysClr val="windowText" lastClr="000000"/>
              </a:buClr>
              <a:buSzPts val="2000"/>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a:ea typeface="Cambria"/>
                <a:cs typeface="Cambria"/>
                <a:sym typeface="Cambria"/>
              </a:rPr>
              <a:t>Objective:</a:t>
            </a:r>
            <a:endPar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To use FIFO technique.</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To perform all manipulation operations on data structures.</a:t>
            </a:r>
          </a:p>
          <a:p>
            <a:pPr marL="285750" marR="0" lvl="0"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To perform traversal of Queue.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Outcome: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Student will understand</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stacks and its operations.</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Application of Stack</a:t>
            </a: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1007951" y="218172"/>
            <a:ext cx="7501049" cy="525560"/>
            <a:chOff x="0" y="6299"/>
            <a:chExt cx="5580934" cy="52556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0" y="130667"/>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Queue</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Google Shape;320;p3">
            <a:extLst>
              <a:ext uri="{FF2B5EF4-FFF2-40B4-BE49-F238E27FC236}">
                <a16:creationId xmlns:a16="http://schemas.microsoft.com/office/drawing/2014/main" id="{133C68D9-7745-AC59-DBE3-313E09A73756}"/>
              </a:ext>
            </a:extLst>
          </p:cNvPr>
          <p:cNvSpPr txBox="1">
            <a:spLocks/>
          </p:cNvSpPr>
          <p:nvPr/>
        </p:nvSpPr>
        <p:spPr>
          <a:xfrm>
            <a:off x="608524" y="1225885"/>
            <a:ext cx="8001000" cy="33070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342900" indent="-196850" algn="just">
              <a:lnSpc>
                <a:spcPct val="100000"/>
              </a:lnSpc>
              <a:spcBef>
                <a:spcPts val="0"/>
              </a:spcBef>
              <a:buSzPts val="2300"/>
              <a:buFont typeface="Arial"/>
              <a:buNone/>
            </a:pPr>
            <a:endParaRPr lang="en-US" sz="2300" dirty="0"/>
          </a:p>
          <a:p>
            <a:pPr marL="342900" indent="-342900" algn="just">
              <a:lnSpc>
                <a:spcPct val="100000"/>
              </a:lnSpc>
              <a:spcBef>
                <a:spcPts val="460"/>
              </a:spcBef>
              <a:buSzPts val="2300"/>
            </a:pPr>
            <a:r>
              <a:rPr lang="en-US" sz="2300" dirty="0">
                <a:solidFill>
                  <a:schemeClr val="bg2"/>
                </a:solidFill>
              </a:rPr>
              <a:t>Design and Analysis of Algorithm is </a:t>
            </a:r>
            <a:r>
              <a:rPr lang="en-US" sz="2300" b="1" dirty="0">
                <a:solidFill>
                  <a:schemeClr val="bg2"/>
                </a:solidFill>
              </a:rPr>
              <a:t>very important for designing algorithm to solve different types of problems</a:t>
            </a:r>
            <a:r>
              <a:rPr lang="en-US" sz="2300" dirty="0">
                <a:solidFill>
                  <a:schemeClr val="bg2"/>
                </a:solidFill>
              </a:rPr>
              <a:t> in the branch of computer science and information technology.</a:t>
            </a:r>
            <a:endParaRPr lang="en-US" dirty="0">
              <a:solidFill>
                <a:schemeClr val="bg2"/>
              </a:solidFill>
            </a:endParaRP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7259D0E-39AA-3258-E915-0F5AE1AE1FE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2" name="Rectangle 2">
            <a:extLst>
              <a:ext uri="{FF2B5EF4-FFF2-40B4-BE49-F238E27FC236}">
                <a16:creationId xmlns:a16="http://schemas.microsoft.com/office/drawing/2014/main" id="{B7817D05-E4DD-B233-C277-D2ED82D50351}"/>
              </a:ext>
            </a:extLst>
          </p:cNvPr>
          <p:cNvSpPr txBox="1">
            <a:spLocks noChangeArrowheads="1"/>
          </p:cNvSpPr>
          <p:nvPr/>
        </p:nvSpPr>
        <p:spPr>
          <a:xfrm>
            <a:off x="757500" y="197075"/>
            <a:ext cx="76290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Queues</a:t>
            </a:r>
          </a:p>
        </p:txBody>
      </p:sp>
      <p:sp>
        <p:nvSpPr>
          <p:cNvPr id="5" name="Rectangle 3">
            <a:extLst>
              <a:ext uri="{FF2B5EF4-FFF2-40B4-BE49-F238E27FC236}">
                <a16:creationId xmlns:a16="http://schemas.microsoft.com/office/drawing/2014/main" id="{D927CDDD-62F0-547E-8679-D36157792EFC}"/>
              </a:ext>
            </a:extLst>
          </p:cNvPr>
          <p:cNvSpPr txBox="1">
            <a:spLocks noChangeArrowheads="1"/>
          </p:cNvSpPr>
          <p:nvPr/>
        </p:nvSpPr>
        <p:spPr bwMode="auto">
          <a:xfrm>
            <a:off x="681300" y="914399"/>
            <a:ext cx="7702356" cy="3422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Stores a set of elements in a particular order</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Queue principle: </a:t>
            </a:r>
            <a:r>
              <a:rPr kumimoji="0" lang="en-US" altLang="en-US" sz="2400" b="0" i="0" u="none" strike="noStrike" kern="1200" cap="none" spc="0" normalizeH="0" baseline="0" noProof="0" dirty="0">
                <a:ln>
                  <a:noFill/>
                </a:ln>
                <a:solidFill>
                  <a:srgbClr val="FF3300"/>
                </a:solidFill>
                <a:effectLst/>
                <a:uLnTx/>
                <a:uFillTx/>
                <a:latin typeface="Cambria" pitchFamily="18" charset="0"/>
                <a:ea typeface="+mn-ea"/>
                <a:cs typeface="+mn-cs"/>
              </a:rPr>
              <a:t>FIRST  IN  FIRST  OUT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t>
            </a:r>
            <a:r>
              <a:rPr kumimoji="0" lang="en-US" altLang="en-US" sz="2400" b="0" i="0" u="none" strike="noStrike" kern="1200" cap="none" spc="0" normalizeH="0" baseline="0" noProof="0" dirty="0">
                <a:ln>
                  <a:noFill/>
                </a:ln>
                <a:solidFill>
                  <a:srgbClr val="006600"/>
                </a:solidFill>
                <a:effectLst/>
                <a:uLnTx/>
                <a:uFillTx/>
                <a:latin typeface="Cambria" pitchFamily="18" charset="0"/>
                <a:ea typeface="+mn-ea"/>
                <a:cs typeface="+mn-cs"/>
              </a:rPr>
              <a:t>FIFO</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It means: the first element inserted is the first one to be removed</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Example</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7D1F1F6-CAAE-FC79-FD0B-3C78DFCE252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3" name="Rectangle 2">
            <a:extLst>
              <a:ext uri="{FF2B5EF4-FFF2-40B4-BE49-F238E27FC236}">
                <a16:creationId xmlns:a16="http://schemas.microsoft.com/office/drawing/2014/main" id="{4B3E58B9-06BE-5163-577B-E26F20EEDAE5}"/>
              </a:ext>
            </a:extLst>
          </p:cNvPr>
          <p:cNvSpPr txBox="1">
            <a:spLocks noChangeArrowheads="1"/>
          </p:cNvSpPr>
          <p:nvPr/>
        </p:nvSpPr>
        <p:spPr>
          <a:xfrm>
            <a:off x="968776" y="298675"/>
            <a:ext cx="764074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t> Queue Applications </a:t>
            </a:r>
            <a:br>
              <a:rPr kumimoji="0" lang="en-US"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br>
            <a:endParaRPr kumimoji="0" lang="en-US"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5C038BE0-036A-630A-8841-41B82DDB7AE1}"/>
              </a:ext>
            </a:extLst>
          </p:cNvPr>
          <p:cNvSpPr txBox="1">
            <a:spLocks noChangeArrowheads="1"/>
          </p:cNvSpPr>
          <p:nvPr/>
        </p:nvSpPr>
        <p:spPr bwMode="auto">
          <a:xfrm>
            <a:off x="1044283" y="908275"/>
            <a:ext cx="7714217" cy="31176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Real life examples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sysClr val="windowText" lastClr="000000"/>
                </a:solidFill>
                <a:effectLst/>
                <a:uLnTx/>
                <a:uFillTx/>
                <a:latin typeface="Calibri"/>
                <a:ea typeface="+mn-ea"/>
                <a:cs typeface="+mn-cs"/>
              </a:rPr>
              <a:t>Waiting in line</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sysClr val="windowText" lastClr="000000"/>
                </a:solidFill>
                <a:effectLst/>
                <a:uLnTx/>
                <a:uFillTx/>
                <a:latin typeface="Calibri"/>
                <a:ea typeface="+mn-ea"/>
                <a:cs typeface="+mn-cs"/>
              </a:rPr>
              <a:t>Waiting on hold for tech support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Applications related to Computer Science</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sysClr val="windowText" lastClr="000000"/>
                </a:solidFill>
                <a:effectLst/>
                <a:uLnTx/>
                <a:uFillTx/>
                <a:latin typeface="Calibri"/>
                <a:ea typeface="+mn-ea"/>
                <a:cs typeface="+mn-cs"/>
              </a:rPr>
              <a:t>Threads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sysClr val="windowText" lastClr="000000"/>
                </a:solidFill>
                <a:effectLst/>
                <a:uLnTx/>
                <a:uFillTx/>
                <a:latin typeface="Calibri"/>
                <a:ea typeface="+mn-ea"/>
                <a:cs typeface="+mn-cs"/>
              </a:rPr>
              <a:t>Job scheduling (e.g. Round-Robin algorithm for CPU allocation)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Title 1">
            <a:extLst>
              <a:ext uri="{FF2B5EF4-FFF2-40B4-BE49-F238E27FC236}">
                <a16:creationId xmlns:a16="http://schemas.microsoft.com/office/drawing/2014/main" id="{206D4987-5930-4464-EBCA-52CFAE25C4C3}"/>
              </a:ext>
            </a:extLst>
          </p:cNvPr>
          <p:cNvSpPr txBox="1">
            <a:spLocks/>
          </p:cNvSpPr>
          <p:nvPr/>
        </p:nvSpPr>
        <p:spPr>
          <a:xfrm>
            <a:off x="968776" y="197075"/>
            <a:ext cx="74177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FIRST IN FIRST OUT </a:t>
            </a:r>
          </a:p>
        </p:txBody>
      </p:sp>
      <p:pic>
        <p:nvPicPr>
          <p:cNvPr id="5" name="Picture 2">
            <a:extLst>
              <a:ext uri="{FF2B5EF4-FFF2-40B4-BE49-F238E27FC236}">
                <a16:creationId xmlns:a16="http://schemas.microsoft.com/office/drawing/2014/main" id="{B5C7B189-B589-44D9-E8F6-2F1FED26A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914" y="1316262"/>
            <a:ext cx="6723062" cy="32557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4" name="Title 1">
            <a:extLst>
              <a:ext uri="{FF2B5EF4-FFF2-40B4-BE49-F238E27FC236}">
                <a16:creationId xmlns:a16="http://schemas.microsoft.com/office/drawing/2014/main" id="{BB7F464C-3EEA-2B7E-C536-16BA106951C3}"/>
              </a:ext>
            </a:extLst>
          </p:cNvPr>
          <p:cNvSpPr txBox="1">
            <a:spLocks/>
          </p:cNvSpPr>
          <p:nvPr/>
        </p:nvSpPr>
        <p:spPr>
          <a:xfrm>
            <a:off x="1110802" y="285653"/>
            <a:ext cx="764074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Operations on Queue</a:t>
            </a:r>
          </a:p>
        </p:txBody>
      </p:sp>
      <p:sp>
        <p:nvSpPr>
          <p:cNvPr id="5" name="Content Placeholder 2">
            <a:extLst>
              <a:ext uri="{FF2B5EF4-FFF2-40B4-BE49-F238E27FC236}">
                <a16:creationId xmlns:a16="http://schemas.microsoft.com/office/drawing/2014/main" id="{47300DB4-FA2C-AD22-B9CB-A2B5691CAB77}"/>
              </a:ext>
            </a:extLst>
          </p:cNvPr>
          <p:cNvSpPr txBox="1">
            <a:spLocks/>
          </p:cNvSpPr>
          <p:nvPr/>
        </p:nvSpPr>
        <p:spPr>
          <a:xfrm>
            <a:off x="930676" y="1003364"/>
            <a:ext cx="8001000" cy="3441572"/>
          </a:xfrm>
          <a:prstGeom prst="rect">
            <a:avLst/>
          </a:prstGeom>
          <a:noFill/>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t>Mainly the following four basic operations are performed on queue: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b="1" i="0" u="none" strike="noStrike" kern="1200" cap="none" spc="0" normalizeH="0" baseline="0" noProof="0" dirty="0">
                <a:ln>
                  <a:noFill/>
                </a:ln>
                <a:solidFill>
                  <a:sysClr val="windowText" lastClr="000000"/>
                </a:solidFill>
                <a:effectLst/>
                <a:uLnTx/>
                <a:uFillTx/>
                <a:latin typeface="Cambria" pitchFamily="18" charset="0"/>
                <a:ea typeface="+mn-ea"/>
                <a:cs typeface="+mn-cs"/>
              </a:rPr>
              <a:t>Enqueue: </a:t>
            </a:r>
            <a: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t>Adds an item to the queue. If the queue is full, then it is said to be an Overflow condition.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b="1" i="0" u="none" strike="noStrike" kern="1200" cap="none" spc="0" normalizeH="0" baseline="0" noProof="0" dirty="0">
                <a:ln>
                  <a:noFill/>
                </a:ln>
                <a:solidFill>
                  <a:sysClr val="windowText" lastClr="000000"/>
                </a:solidFill>
                <a:effectLst/>
                <a:uLnTx/>
                <a:uFillTx/>
                <a:latin typeface="Cambria" pitchFamily="18" charset="0"/>
                <a:ea typeface="+mn-ea"/>
                <a:cs typeface="+mn-cs"/>
              </a:rPr>
              <a:t>Dequeue:</a:t>
            </a:r>
            <a: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t> Removes an item from the queue. The items are popped in the same order in which they are pushed. If the queue is empty, then it is said to be an Underflow condition.</a:t>
            </a:r>
            <a:b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br>
            <a:r>
              <a:rPr kumimoji="0" lang="en-US" b="1" i="0" u="none" strike="noStrike" kern="1200" cap="none" spc="0" normalizeH="0" baseline="0" noProof="0" dirty="0">
                <a:ln>
                  <a:noFill/>
                </a:ln>
                <a:solidFill>
                  <a:sysClr val="windowText" lastClr="000000"/>
                </a:solidFill>
                <a:effectLst/>
                <a:uLnTx/>
                <a:uFillTx/>
                <a:latin typeface="Cambria" pitchFamily="18" charset="0"/>
                <a:ea typeface="+mn-ea"/>
                <a:cs typeface="+mn-cs"/>
              </a:rPr>
              <a:t>Front: </a:t>
            </a:r>
            <a: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t>Get the front item from queue.</a:t>
            </a:r>
            <a:b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br>
            <a:r>
              <a:rPr kumimoji="0" lang="en-US" b="1" i="0" u="none" strike="noStrike" kern="1200" cap="none" spc="0" normalizeH="0" baseline="0" noProof="0" dirty="0">
                <a:ln>
                  <a:noFill/>
                </a:ln>
                <a:solidFill>
                  <a:sysClr val="windowText" lastClr="000000"/>
                </a:solidFill>
                <a:effectLst/>
                <a:uLnTx/>
                <a:uFillTx/>
                <a:latin typeface="Cambria" pitchFamily="18" charset="0"/>
                <a:ea typeface="+mn-ea"/>
                <a:cs typeface="+mn-cs"/>
              </a:rPr>
              <a:t>Rear:</a:t>
            </a:r>
            <a:r>
              <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rPr>
              <a:t> Get the last item from queue.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br>
              <a:rPr kumimoji="0" lang="en-US" b="0" i="0" u="sng" strike="noStrike" kern="1200" cap="none" spc="0" normalizeH="0" baseline="0" noProof="0" dirty="0">
                <a:ln>
                  <a:noFill/>
                </a:ln>
                <a:solidFill>
                  <a:sysClr val="windowText" lastClr="000000"/>
                </a:solidFill>
                <a:effectLst/>
                <a:uLnTx/>
                <a:uFillTx/>
                <a:latin typeface="Cambria" pitchFamily="18" charset="0"/>
                <a:ea typeface="+mn-ea"/>
                <a:cs typeface="+mn-cs"/>
                <a:hlinkClick r:id="rId3"/>
              </a:rPr>
            </a:br>
            <a:endParaRPr kumimoji="0" lang="en-US"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Title 1">
            <a:extLst>
              <a:ext uri="{FF2B5EF4-FFF2-40B4-BE49-F238E27FC236}">
                <a16:creationId xmlns:a16="http://schemas.microsoft.com/office/drawing/2014/main" id="{9120D6B5-1A0A-0B13-F4E1-7A28F2163231}"/>
              </a:ext>
            </a:extLst>
          </p:cNvPr>
          <p:cNvSpPr txBox="1">
            <a:spLocks/>
          </p:cNvSpPr>
          <p:nvPr/>
        </p:nvSpPr>
        <p:spPr>
          <a:xfrm>
            <a:off x="833700" y="95774"/>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t>Types of Queues</a:t>
            </a:r>
          </a:p>
        </p:txBody>
      </p:sp>
      <p:sp>
        <p:nvSpPr>
          <p:cNvPr id="5" name="Content Placeholder 2">
            <a:extLst>
              <a:ext uri="{FF2B5EF4-FFF2-40B4-BE49-F238E27FC236}">
                <a16:creationId xmlns:a16="http://schemas.microsoft.com/office/drawing/2014/main" id="{633F0CC4-61B7-CA09-E950-56CCBD564ADD}"/>
              </a:ext>
            </a:extLst>
          </p:cNvPr>
          <p:cNvSpPr txBox="1">
            <a:spLocks/>
          </p:cNvSpPr>
          <p:nvPr/>
        </p:nvSpPr>
        <p:spPr bwMode="auto">
          <a:xfrm>
            <a:off x="721112" y="1079189"/>
            <a:ext cx="8001000" cy="29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Circular Queue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Priority Queue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De-queue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D565F7-7B58-5C3B-FCDC-E6C0CFEF1F9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F31FAFF-7FEE-BA83-A704-9D5C6DCDD8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2FAA1B1-2426-1794-67B3-848ED1C7161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4" name="Title 1">
            <a:extLst>
              <a:ext uri="{FF2B5EF4-FFF2-40B4-BE49-F238E27FC236}">
                <a16:creationId xmlns:a16="http://schemas.microsoft.com/office/drawing/2014/main" id="{9B1F15C1-4113-474C-336E-3189E1A25D1A}"/>
              </a:ext>
            </a:extLst>
          </p:cNvPr>
          <p:cNvSpPr txBox="1">
            <a:spLocks/>
          </p:cNvSpPr>
          <p:nvPr/>
        </p:nvSpPr>
        <p:spPr>
          <a:xfrm>
            <a:off x="833700" y="197075"/>
            <a:ext cx="75528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Circular Queue</a:t>
            </a:r>
          </a:p>
        </p:txBody>
      </p:sp>
      <p:sp>
        <p:nvSpPr>
          <p:cNvPr id="5" name="Content Placeholder 2">
            <a:extLst>
              <a:ext uri="{FF2B5EF4-FFF2-40B4-BE49-F238E27FC236}">
                <a16:creationId xmlns:a16="http://schemas.microsoft.com/office/drawing/2014/main" id="{E72BE19D-6E7F-7D01-4BF3-B8FC0457736E}"/>
              </a:ext>
            </a:extLst>
          </p:cNvPr>
          <p:cNvSpPr txBox="1">
            <a:spLocks/>
          </p:cNvSpPr>
          <p:nvPr/>
        </p:nvSpPr>
        <p:spPr bwMode="auto">
          <a:xfrm>
            <a:off x="757500" y="1035275"/>
            <a:ext cx="8136076" cy="3911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In a normal Queue, we can insert elements until queue becomes full. But once queue becomes full, we cannot insert the next element even if there is a space in front of queue. Circular Queue is designed to overcome the limitation of Simple Queue.</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Circular Queue is a linear data structure in which the operations are performed based on FIFO (First In First Out) principle and the last position is connected back to the first position to make a circle. It is also called ‘Ring Buffer’</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5371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EC0536-BF5D-71F0-87EA-F1E1B410598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FCDD88A-2ADF-8A48-80BA-D52FEC540C5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FA94115-363C-5364-F65C-CCEE1956B2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
        <p:nvSpPr>
          <p:cNvPr id="2" name="Title 1">
            <a:extLst>
              <a:ext uri="{FF2B5EF4-FFF2-40B4-BE49-F238E27FC236}">
                <a16:creationId xmlns:a16="http://schemas.microsoft.com/office/drawing/2014/main" id="{6763F3D1-0ADE-09CB-4CF0-AF57D4284254}"/>
              </a:ext>
            </a:extLst>
          </p:cNvPr>
          <p:cNvSpPr txBox="1">
            <a:spLocks/>
          </p:cNvSpPr>
          <p:nvPr/>
        </p:nvSpPr>
        <p:spPr>
          <a:xfrm>
            <a:off x="833700" y="197075"/>
            <a:ext cx="76753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err="1">
                <a:ln>
                  <a:noFill/>
                </a:ln>
                <a:solidFill>
                  <a:schemeClr val="bg2"/>
                </a:solidFill>
                <a:effectLst/>
                <a:uLnTx/>
                <a:uFillTx/>
                <a:latin typeface="Cambria" pitchFamily="18" charset="0"/>
                <a:ea typeface="+mj-ea"/>
                <a:cs typeface="+mj-cs"/>
              </a:rPr>
              <a:t>DeQueue</a:t>
            </a:r>
            <a:endPar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3" name="Content Placeholder 2">
            <a:extLst>
              <a:ext uri="{FF2B5EF4-FFF2-40B4-BE49-F238E27FC236}">
                <a16:creationId xmlns:a16="http://schemas.microsoft.com/office/drawing/2014/main" id="{152BFD38-7A20-5B09-4074-EB9F5AE1B9F7}"/>
              </a:ext>
            </a:extLst>
          </p:cNvPr>
          <p:cNvSpPr txBox="1">
            <a:spLocks/>
          </p:cNvSpPr>
          <p:nvPr/>
        </p:nvSpPr>
        <p:spPr bwMode="auto">
          <a:xfrm>
            <a:off x="757500" y="882875"/>
            <a:ext cx="8001000" cy="1676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Double ended queue allows insertion and deletion from both the ends i.e. elements can be added or removed from rear as well as front end.</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4" name="Picture 2" descr="enter image description here">
            <a:extLst>
              <a:ext uri="{FF2B5EF4-FFF2-40B4-BE49-F238E27FC236}">
                <a16:creationId xmlns:a16="http://schemas.microsoft.com/office/drawing/2014/main" id="{C4F1FB95-2EE1-6ED8-58F4-16A0AB9F9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500" y="2330675"/>
            <a:ext cx="831371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50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7FE174C-2C6C-BACB-E1EF-E7CF874937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39610BC-42CA-7267-440D-E771D9DD4C9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67F62AB-1496-B1F6-0FDD-173D6F0A2D2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3" name="Title 1">
            <a:extLst>
              <a:ext uri="{FF2B5EF4-FFF2-40B4-BE49-F238E27FC236}">
                <a16:creationId xmlns:a16="http://schemas.microsoft.com/office/drawing/2014/main" id="{253999F3-A70E-27C0-CEFB-380D05FF09A9}"/>
              </a:ext>
            </a:extLst>
          </p:cNvPr>
          <p:cNvSpPr txBox="1">
            <a:spLocks/>
          </p:cNvSpPr>
          <p:nvPr/>
        </p:nvSpPr>
        <p:spPr>
          <a:xfrm>
            <a:off x="871800" y="292100"/>
            <a:ext cx="77377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t>Priority Queue</a:t>
            </a:r>
          </a:p>
        </p:txBody>
      </p:sp>
      <p:sp>
        <p:nvSpPr>
          <p:cNvPr id="4" name="Content Placeholder 2">
            <a:extLst>
              <a:ext uri="{FF2B5EF4-FFF2-40B4-BE49-F238E27FC236}">
                <a16:creationId xmlns:a16="http://schemas.microsoft.com/office/drawing/2014/main" id="{A20FEB37-1C23-B126-ABB1-15946A33834B}"/>
              </a:ext>
            </a:extLst>
          </p:cNvPr>
          <p:cNvSpPr txBox="1">
            <a:spLocks/>
          </p:cNvSpPr>
          <p:nvPr/>
        </p:nvSpPr>
        <p:spPr bwMode="auto">
          <a:xfrm>
            <a:off x="795600" y="977900"/>
            <a:ext cx="7812125" cy="37465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Priority queue is a type of queue where each element has a priority value and the deletion of the elements is depended upon the priority value. In case of max-priority queue, the element will be deleted first which has the largest priority value and in case of min-priority queue the element will be deleted first which has the minimum priority value.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649321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Google Shape;398;p16">
            <a:extLst>
              <a:ext uri="{FF2B5EF4-FFF2-40B4-BE49-F238E27FC236}">
                <a16:creationId xmlns:a16="http://schemas.microsoft.com/office/drawing/2014/main" id="{C1F7B2A6-F326-C535-25E2-C1FF3909D4C8}"/>
              </a:ext>
            </a:extLst>
          </p:cNvPr>
          <p:cNvSpPr txBox="1">
            <a:spLocks/>
          </p:cNvSpPr>
          <p:nvPr/>
        </p:nvSpPr>
        <p:spPr>
          <a:xfrm>
            <a:off x="833700" y="88964"/>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3">
            <a:extLst>
              <a:ext uri="{FF2B5EF4-FFF2-40B4-BE49-F238E27FC236}">
                <a16:creationId xmlns:a16="http://schemas.microsoft.com/office/drawing/2014/main" id="{C43EB773-BBF3-93D8-508E-CE1B2F5CE075}"/>
              </a:ext>
            </a:extLst>
          </p:cNvPr>
          <p:cNvSpPr txBox="1">
            <a:spLocks noChangeArrowheads="1"/>
          </p:cNvSpPr>
          <p:nvPr/>
        </p:nvSpPr>
        <p:spPr bwMode="auto">
          <a:xfrm>
            <a:off x="991962" y="806675"/>
            <a:ext cx="8001000" cy="3244625"/>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1"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r>
              <a:rPr kumimoji="0" lang="en-US" altLang="en-US" sz="2400" b="0" i="0" u="none" strike="noStrike" kern="1200" cap="none" spc="0" normalizeH="0" baseline="0" noProof="0">
                <a:ln>
                  <a:noFill/>
                </a:ln>
                <a:solidFill>
                  <a:sysClr val="windowText" lastClr="000000"/>
                </a:solidFill>
                <a:effectLst/>
                <a:uLnTx/>
                <a:uFillTx/>
                <a:latin typeface="Calibri"/>
                <a:ea typeface="+mn-ea"/>
                <a:cs typeface="+mn-cs"/>
              </a:rPr>
              <a:t>Queues: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Types of queues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Operations on queues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701280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dirty="0">
                <a:solidFill>
                  <a:schemeClr val="bg2"/>
                </a:solidFill>
              </a:rPr>
              <a:t>- Pointers, Linked Lists (One –way, Two way and circular Two-way)</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37BF6050-4B71-52AA-64DB-492D3464A4B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1068162" y="171025"/>
            <a:ext cx="7318338"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3">
            <a:extLst>
              <a:ext uri="{FF2B5EF4-FFF2-40B4-BE49-F238E27FC236}">
                <a16:creationId xmlns:a16="http://schemas.microsoft.com/office/drawing/2014/main" id="{8986D25C-9501-62D2-AA84-FBFBD99305D9}"/>
              </a:ext>
            </a:extLst>
          </p:cNvPr>
          <p:cNvSpPr>
            <a:spLocks noChangeArrowheads="1"/>
          </p:cNvSpPr>
          <p:nvPr/>
        </p:nvSpPr>
        <p:spPr bwMode="auto">
          <a:xfrm>
            <a:off x="965200" y="637402"/>
            <a:ext cx="77933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1. Which of the following best describes a queue?</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A) Last In First Out (LIFO)</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B) First In First Out (FIFO)</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C) Random Order</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D) First In Last Out (FILO)</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2. What happens when a queue is full and you try to enqueue an element?</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A) The element is added at the front</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B) The queue size increases automatically</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C) Overflow condition occurs</a:t>
            </a:r>
            <a:b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D) It replaces the last element</a:t>
            </a:r>
          </a:p>
        </p:txBody>
      </p:sp>
    </p:spTree>
    <p:extLst>
      <p:ext uri="{BB962C8B-B14F-4D97-AF65-F5344CB8AC3E}">
        <p14:creationId xmlns:p14="http://schemas.microsoft.com/office/powerpoint/2010/main" val="4222976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4" name="Google Shape;157;p25">
            <a:extLst>
              <a:ext uri="{FF2B5EF4-FFF2-40B4-BE49-F238E27FC236}">
                <a16:creationId xmlns:a16="http://schemas.microsoft.com/office/drawing/2014/main" id="{2F50F3B5-E414-85F2-2B6C-47C4784C68FC}"/>
              </a:ext>
            </a:extLst>
          </p:cNvPr>
          <p:cNvSpPr txBox="1">
            <a:spLocks/>
          </p:cNvSpPr>
          <p:nvPr/>
        </p:nvSpPr>
        <p:spPr>
          <a:xfrm>
            <a:off x="836838" y="806675"/>
            <a:ext cx="8001000" cy="3765325"/>
          </a:xfrm>
          <a:prstGeom prst="rect">
            <a:avLst/>
          </a:prstGeom>
          <a:noFill/>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Text books:</a:t>
            </a: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Cormen, Leiserson, Rivest, Stein,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Introduction to 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Prentice Hall of India, 3</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rd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 2012. problem, Graph coloring.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Horowitz, Sahni and Rajasekaran,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Fundamentals of ComputerAlgorithms”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University Press (India), 2</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nd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Websites:</a:t>
            </a:r>
            <a:endParaRPr kumimoji="0" lang="en-US" sz="2400" b="1" i="0" u="sng" strike="noStrike" kern="1200" cap="none" spc="0" normalizeH="0" baseline="0" noProof="0">
              <a:ln>
                <a:noFill/>
              </a:ln>
              <a:solidFill>
                <a:sysClr val="windowText" lastClr="000000"/>
              </a:solidFill>
              <a:effectLst/>
              <a:uLnTx/>
              <a:uFillTx/>
              <a:latin typeface="Cambria" pitchFamily="18" charset="0"/>
              <a:ea typeface="+mn-ea"/>
              <a:cs typeface="+mn-cs"/>
              <a:hlinkClick r:id="rId3"/>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4"/>
              </a:rPr>
              <a:t>https://www.studytonight.com/data-structures/queue-data-structure</a:t>
            </a:r>
            <a:endPar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5"/>
              </a:rPr>
              <a:t>https://www.geeksforgeeks.org/queue-data-structure/</a:t>
            </a:r>
            <a:endParaRPr kumimoji="0" lang="en-US" sz="24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dirty="0">
              <a:ln>
                <a:noFill/>
              </a:ln>
              <a:solidFill>
                <a:sysClr val="windowText" lastClr="000000"/>
              </a:solidFill>
              <a:effectLst/>
              <a:uLnTx/>
              <a:uFillTx/>
              <a:latin typeface="Cambria"/>
              <a:ea typeface="Cambria"/>
              <a:cs typeface="Cambria"/>
              <a:sym typeface="Cambria"/>
            </a:endParaRPr>
          </a:p>
        </p:txBody>
      </p:sp>
    </p:spTree>
    <p:extLst>
      <p:ext uri="{BB962C8B-B14F-4D97-AF65-F5344CB8AC3E}">
        <p14:creationId xmlns:p14="http://schemas.microsoft.com/office/powerpoint/2010/main" val="3439820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48000" y="583857"/>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latin typeface="Calibri"/>
                <a:ea typeface="Calibri"/>
                <a:cs typeface="Calibri"/>
                <a:sym typeface="Calibri"/>
                <a:hlinkClick r:id="rId3"/>
              </a:rPr>
              <a:t>https://onlinecourses.nptel.ac.in/noc23_cs96/preview</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rPr>
              <a:t> </a:t>
            </a:r>
            <a:r>
              <a:rPr lang="en-IN" sz="2000" dirty="0">
                <a:latin typeface="Calibri"/>
                <a:ea typeface="Calibri"/>
                <a:cs typeface="Calibri"/>
                <a:sym typeface="Calibri"/>
                <a:hlinkClick r:id="rId4"/>
              </a:rPr>
              <a:t>https://nptel.ac.in/courses/106106131</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5"/>
              </a:rPr>
              <a:t>https://nptel.ac.in/courses/106106208</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6"/>
              </a:rPr>
              <a:t>https://www.linkedin.com/learning/learning-algorithms</a:t>
            </a: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457200" y="2270562"/>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40"/>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24</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819</TotalTime>
  <Words>820</Words>
  <Application>Microsoft Office PowerPoint</Application>
  <PresentationFormat>On-screen Show (16:9)</PresentationFormat>
  <Paragraphs>128</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Lato</vt:lpstr>
      <vt:lpstr>Arial Black</vt:lpstr>
      <vt:lpstr>Times New Roman</vt:lpstr>
      <vt:lpstr>Calibri</vt:lpstr>
      <vt:lpstr>Cambria</vt:lpstr>
      <vt:lpstr>Vladimir Script</vt:lpstr>
      <vt:lpstr>Wingdings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116</cp:revision>
  <dcterms:modified xsi:type="dcterms:W3CDTF">2025-05-28T04:53:56Z</dcterms:modified>
</cp:coreProperties>
</file>