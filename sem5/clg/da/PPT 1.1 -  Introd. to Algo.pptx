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12" r:id="rId3"/>
    <p:sldId id="284" r:id="rId4"/>
    <p:sldId id="314" r:id="rId5"/>
    <p:sldId id="315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8" r:id="rId17"/>
    <p:sldId id="329" r:id="rId18"/>
    <p:sldId id="332" r:id="rId19"/>
    <p:sldId id="330" r:id="rId20"/>
    <p:sldId id="331" r:id="rId21"/>
    <p:sldId id="333" r:id="rId22"/>
    <p:sldId id="334" r:id="rId23"/>
    <p:sldId id="336" r:id="rId24"/>
    <p:sldId id="311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Vladimir Script" panose="03050402040407070305" pitchFamily="66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" y="7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E1C681-A5F2-4CD9-9192-8CDED311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848B34-F6A5-DF19-4111-A06819494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CA6E172-D444-FC00-6B33-317641F0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55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2827B3C-4A96-D842-C587-3271EC4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2F06B59-0229-602E-B610-952522061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4AEA2AB-7645-5208-0E63-7560412E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25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8169236-1955-4128-44C5-58E9D95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8024DF0-1674-8F51-EEBC-683769584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D4BF737-175F-7667-E78E-646A8BB49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724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49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91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16C3BF0-F04D-CC55-01DE-58461362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1C26BBB-3EE0-C367-EB17-2F01B7585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ED12312-F8C0-DB82-75C0-FC2758C0D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2370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F1E0EE1-A63F-12F4-10BB-2B0C5E51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3949B4A-8DCA-5D8A-F91E-E3E318169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D7E994A-6713-82F4-3A2F-AD2DA1A7B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1222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D04F549-C923-1FA6-0572-8E4FDBD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0D34990-FEC3-FB89-4B02-268714D73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7BCAEBB-22C0-CF35-0C48-E613A3B45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3046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65DF209-F70B-D346-7CAD-F327973A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F278F86-62B3-04BA-72AF-285D9D5D6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A2B0163-0369-FCE8-AFFD-EDC379A61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9840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E3711B1-371D-2583-D61A-67C35F3E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C593DF-5E72-43B4-DFE4-C87365070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F3C8862-36D6-FFCC-8D89-0C289A5B8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8074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147491A-4919-2F1D-0F6F-8CDCA0D7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18FB7EC-7F87-3F2F-DBEA-6A6F91B76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E50D082-34EA-751E-4314-000B6F1EC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9775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E103896-EA66-2A63-0191-6F8310FB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8ED3CB1-23E7-AA3F-12AD-954EA5704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C9439C9-F903-88F3-01AD-62544D3B7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982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435E93B-760C-8ED5-670A-51004776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F55EDF5-3431-0161-D83B-C6A600AA9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94B9FFF-5686-5341-600F-0E6EFDFCB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297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6CBB9AA-334B-2D83-1877-63B23095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7313BD4-A33A-2B0B-1D75-4C54A0552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5B6475B-FFAE-0233-F072-686754F34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6565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A1CEF5-13BF-471C-50F9-DAD18A54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EDA82E9-4E8D-3B65-E4CF-424ECC6A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62D4F-5FDA-D649-09FF-AFAD4FCD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5965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22EF6A6-3B86-409E-00F7-E71B05DE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737BE0-1811-D403-FE9C-7D9F9254B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C259C-E2D3-C61B-0E90-DB7F2E206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6100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AA7785E-43D4-9EF1-1A87-45D7A314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9920DF-19AB-06E9-7D1B-B9B877EBE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2DAF3E8-4FE5-228D-D4E4-2C8EBAB1B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075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8BDF5E7-F95C-899B-EC14-E8E986C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75BA061-2CC0-FC5F-90C5-EB6DD8F8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8A0E1B-B8B2-DFD2-0A4F-7F72575E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29968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2136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35021AF-CA61-088F-7F01-7FAD5B65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0B85296-32E7-6F2C-C488-8EB7229AA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2BA18F8-0BB4-69BB-7AA0-AEDCAD359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4683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lgorithm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utorialspoint.com/design_and_analysis_of_algorithms/index.ht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</a:t>
            </a:r>
            <a:endParaRPr lang="en-US" sz="2000" dirty="0">
              <a:solidFill>
                <a:schemeClr val="bg2"/>
              </a:solidFill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Semester: 6th</a:t>
            </a: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i="0" u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Design and Analysis of Algorithms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(23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-301/IT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1                   Lecture No.1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sz="18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Algorithm 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 Dhiman E11307                                                    Assistant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mbria"/>
                  <a:ea typeface="Cambria"/>
                  <a:cs typeface="Cambria"/>
                  <a:sym typeface="Cambria"/>
                </a:rPr>
                <a:t>Learning Objectives &amp; Outcomes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Objective: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To understand meaning and characteristics of algorithms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/>
              <a:ea typeface="Cambria"/>
              <a:sym typeface="Cambria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Outcome: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/>
              <a:ea typeface="Cambria"/>
              <a:sym typeface="Cambria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Student will understand the meaning of algorithm and its characteristics.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/>
              <a:ea typeface="Cambria"/>
              <a:sym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0723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mbria"/>
                </a:rPr>
                <a:t>Design and Analysis of Algorithm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2" name="Google Shape;320;p3">
            <a:extLst>
              <a:ext uri="{FF2B5EF4-FFF2-40B4-BE49-F238E27FC236}">
                <a16:creationId xmlns:a16="http://schemas.microsoft.com/office/drawing/2014/main" id="{133C68D9-7745-AC59-DBE3-313E09A73756}"/>
              </a:ext>
            </a:extLst>
          </p:cNvPr>
          <p:cNvSpPr txBox="1">
            <a:spLocks/>
          </p:cNvSpPr>
          <p:nvPr/>
        </p:nvSpPr>
        <p:spPr>
          <a:xfrm>
            <a:off x="608524" y="1225885"/>
            <a:ext cx="8001000" cy="330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196850" algn="just">
              <a:lnSpc>
                <a:spcPct val="100000"/>
              </a:lnSpc>
              <a:spcBef>
                <a:spcPts val="0"/>
              </a:spcBef>
              <a:buSzPts val="2300"/>
              <a:buFont typeface="Arial"/>
              <a:buNone/>
            </a:pPr>
            <a:endParaRPr lang="en-US" sz="2300" dirty="0"/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Design and Analysis of Algorithm is </a:t>
            </a:r>
            <a:r>
              <a:rPr lang="en-US" sz="2300" b="1" dirty="0">
                <a:solidFill>
                  <a:schemeClr val="bg2"/>
                </a:solidFill>
              </a:rPr>
              <a:t>very important for designing algorithm to solve different types of problems</a:t>
            </a:r>
            <a:r>
              <a:rPr lang="en-US" sz="2300" dirty="0">
                <a:solidFill>
                  <a:schemeClr val="bg2"/>
                </a:solidFill>
              </a:rPr>
              <a:t> in the branch of computer science and information technology.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9C85D7-2162-3728-41C8-9CA50DA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7259D0E-39AA-3258-E915-0F5AE1AE1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2D24C-CFB6-10CB-9BE5-A8DE190188C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3" name="Google Shape;325;p4">
            <a:extLst>
              <a:ext uri="{FF2B5EF4-FFF2-40B4-BE49-F238E27FC236}">
                <a16:creationId xmlns:a16="http://schemas.microsoft.com/office/drawing/2014/main" id="{08115DC7-4D33-A739-85E6-6FC71569344F}"/>
              </a:ext>
            </a:extLst>
          </p:cNvPr>
          <p:cNvSpPr txBox="1">
            <a:spLocks/>
          </p:cNvSpPr>
          <p:nvPr/>
        </p:nvSpPr>
        <p:spPr>
          <a:xfrm>
            <a:off x="968776" y="23987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Basic Concept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pic>
        <p:nvPicPr>
          <p:cNvPr id="4" name="Google Shape;326;p4">
            <a:extLst>
              <a:ext uri="{FF2B5EF4-FFF2-40B4-BE49-F238E27FC236}">
                <a16:creationId xmlns:a16="http://schemas.microsoft.com/office/drawing/2014/main" id="{2B824534-4E5D-2E2A-AD92-D9862D8941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5990" y="1173480"/>
            <a:ext cx="5322887" cy="37301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64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FAE9B3A-F835-EA9F-375F-E5870957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7D1F1F6-CAAE-FC79-FD0B-3C78DFCE2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DAEDE-ABD1-E62B-C206-E4DF3D0D102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2" name="Google Shape;331;p5">
            <a:extLst>
              <a:ext uri="{FF2B5EF4-FFF2-40B4-BE49-F238E27FC236}">
                <a16:creationId xmlns:a16="http://schemas.microsoft.com/office/drawing/2014/main" id="{0C8F84D7-B077-317B-32BC-14278D71F809}"/>
              </a:ext>
            </a:extLst>
          </p:cNvPr>
          <p:cNvSpPr txBox="1">
            <a:spLocks/>
          </p:cNvSpPr>
          <p:nvPr/>
        </p:nvSpPr>
        <p:spPr>
          <a:xfrm>
            <a:off x="684724" y="50187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What is Algorithm?</a:t>
            </a:r>
            <a:b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</a:b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5" name="Google Shape;332;p5">
            <a:extLst>
              <a:ext uri="{FF2B5EF4-FFF2-40B4-BE49-F238E27FC236}">
                <a16:creationId xmlns:a16="http://schemas.microsoft.com/office/drawing/2014/main" id="{1B9229D4-B291-85B6-88EE-C18E70CF1A1E}"/>
              </a:ext>
            </a:extLst>
          </p:cNvPr>
          <p:cNvSpPr txBox="1">
            <a:spLocks/>
          </p:cNvSpPr>
          <p:nvPr/>
        </p:nvSpPr>
        <p:spPr>
          <a:xfrm>
            <a:off x="684724" y="946121"/>
            <a:ext cx="8001000" cy="382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A finite set of instruction that specifies a sequence of operation is to be carried out in order to solve a specific problem or class of problems is called an Algorithm.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  <a:buSzPts val="2000"/>
              <a:buFont typeface="Arial"/>
              <a:buNone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215900">
              <a:spcBef>
                <a:spcPts val="400"/>
              </a:spcBef>
              <a:buSzPts val="2000"/>
              <a:buFont typeface="Arial"/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00CE69-CC5A-7650-A260-112AD5E31872}"/>
              </a:ext>
            </a:extLst>
          </p:cNvPr>
          <p:cNvSpPr/>
          <p:nvPr/>
        </p:nvSpPr>
        <p:spPr>
          <a:xfrm>
            <a:off x="1427092" y="3501780"/>
            <a:ext cx="1391138" cy="484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Input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2660B-36DF-B69A-D4AF-D7657ADC624F}"/>
              </a:ext>
            </a:extLst>
          </p:cNvPr>
          <p:cNvSpPr/>
          <p:nvPr/>
        </p:nvSpPr>
        <p:spPr>
          <a:xfrm>
            <a:off x="6185876" y="3501780"/>
            <a:ext cx="1391138" cy="484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Output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F8D1F78B-C5BA-3C5E-247C-4D78952075E8}"/>
              </a:ext>
            </a:extLst>
          </p:cNvPr>
          <p:cNvSpPr/>
          <p:nvPr/>
        </p:nvSpPr>
        <p:spPr>
          <a:xfrm>
            <a:off x="3526308" y="2810119"/>
            <a:ext cx="1719384" cy="1867877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Set of rules to obtain the expected output from the given input</a:t>
            </a:r>
            <a:endParaRPr lang="en-IN" sz="1200" dirty="0">
              <a:solidFill>
                <a:schemeClr val="bg2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D6805C-12A7-D523-2C98-A109AC20718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818230" y="3744057"/>
            <a:ext cx="7080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601A02-42B8-7DE0-6653-81CA6D770608}"/>
              </a:ext>
            </a:extLst>
          </p:cNvPr>
          <p:cNvCxnSpPr>
            <a:stCxn id="11" idx="3"/>
          </p:cNvCxnSpPr>
          <p:nvPr/>
        </p:nvCxnSpPr>
        <p:spPr>
          <a:xfrm>
            <a:off x="5245692" y="3744058"/>
            <a:ext cx="940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4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66223F7-9809-BE29-714E-38632F45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59937E7-EC35-0CA6-69EF-64D573776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3D0D5-2563-3DDF-DDBE-37059391059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2" name="Google Shape;338;p6">
            <a:extLst>
              <a:ext uri="{FF2B5EF4-FFF2-40B4-BE49-F238E27FC236}">
                <a16:creationId xmlns:a16="http://schemas.microsoft.com/office/drawing/2014/main" id="{D1F9A300-9B9D-BBB7-D672-C4A723753B21}"/>
              </a:ext>
            </a:extLst>
          </p:cNvPr>
          <p:cNvSpPr txBox="1">
            <a:spLocks/>
          </p:cNvSpPr>
          <p:nvPr/>
        </p:nvSpPr>
        <p:spPr>
          <a:xfrm>
            <a:off x="952500" y="19707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Characteristics of an Algorithm</a:t>
            </a:r>
          </a:p>
        </p:txBody>
      </p:sp>
      <p:sp>
        <p:nvSpPr>
          <p:cNvPr id="3" name="Google Shape;339;p6">
            <a:extLst>
              <a:ext uri="{FF2B5EF4-FFF2-40B4-BE49-F238E27FC236}">
                <a16:creationId xmlns:a16="http://schemas.microsoft.com/office/drawing/2014/main" id="{4614B848-2F8A-EB77-8306-2B860127C1F3}"/>
              </a:ext>
            </a:extLst>
          </p:cNvPr>
          <p:cNvSpPr txBox="1">
            <a:spLocks/>
          </p:cNvSpPr>
          <p:nvPr/>
        </p:nvSpPr>
        <p:spPr>
          <a:xfrm>
            <a:off x="876300" y="917763"/>
            <a:ext cx="8001000" cy="40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ts val="0"/>
              </a:spcBef>
              <a:buSzPts val="2300"/>
            </a:pPr>
            <a:r>
              <a:rPr lang="en-US" sz="2000" b="1" dirty="0">
                <a:solidFill>
                  <a:schemeClr val="bg2"/>
                </a:solidFill>
              </a:rPr>
              <a:t>Input</a:t>
            </a:r>
            <a:r>
              <a:rPr lang="en-US" sz="2000" dirty="0">
                <a:solidFill>
                  <a:schemeClr val="bg2"/>
                </a:solidFill>
              </a:rPr>
              <a:t> − An algorithm should have 0 or more well-defined inputs.</a:t>
            </a: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000" b="1" dirty="0">
                <a:solidFill>
                  <a:schemeClr val="bg2"/>
                </a:solidFill>
              </a:rPr>
              <a:t>Output</a:t>
            </a:r>
            <a:r>
              <a:rPr lang="en-US" sz="2000" dirty="0">
                <a:solidFill>
                  <a:schemeClr val="bg2"/>
                </a:solidFill>
              </a:rPr>
              <a:t> − An algorithm should have 1 or more well-defined outputs, and should match the desired output.</a:t>
            </a: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000" b="1" dirty="0">
                <a:solidFill>
                  <a:schemeClr val="bg2"/>
                </a:solidFill>
              </a:rPr>
              <a:t>Unambiguous/ Definiteness</a:t>
            </a:r>
            <a:r>
              <a:rPr lang="en-US" sz="2000" dirty="0">
                <a:solidFill>
                  <a:schemeClr val="bg2"/>
                </a:solidFill>
              </a:rPr>
              <a:t> − Algorithm should be clear and unambiguous. </a:t>
            </a: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000" b="1" dirty="0">
                <a:solidFill>
                  <a:schemeClr val="bg2"/>
                </a:solidFill>
              </a:rPr>
              <a:t>Finiteness</a:t>
            </a:r>
            <a:r>
              <a:rPr lang="en-US" sz="2000" dirty="0">
                <a:solidFill>
                  <a:schemeClr val="bg2"/>
                </a:solidFill>
              </a:rPr>
              <a:t> − Algorithms must terminate after a finite number of steps.</a:t>
            </a: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000" b="1" dirty="0">
                <a:solidFill>
                  <a:schemeClr val="bg2"/>
                </a:solidFill>
              </a:rPr>
              <a:t>Feasibility</a:t>
            </a:r>
            <a:r>
              <a:rPr lang="en-US" sz="2000" dirty="0">
                <a:solidFill>
                  <a:schemeClr val="bg2"/>
                </a:solidFill>
              </a:rPr>
              <a:t> − Should be feasible with the available resources.</a:t>
            </a: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000" b="1" dirty="0">
                <a:solidFill>
                  <a:schemeClr val="bg2"/>
                </a:solidFill>
              </a:rPr>
              <a:t>Independent</a:t>
            </a:r>
            <a:r>
              <a:rPr lang="en-US" sz="2000" dirty="0">
                <a:solidFill>
                  <a:schemeClr val="bg2"/>
                </a:solidFill>
              </a:rPr>
              <a:t> − An algorithm should have step-by-step directions, which should be independent of any programming code.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2200"/>
              <a:buFont typeface="Arial"/>
              <a:buNone/>
            </a:pPr>
            <a:r>
              <a:rPr lang="en-US" sz="2000" dirty="0">
                <a:solidFill>
                  <a:schemeClr val="bg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514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9E69A-0B72-58B1-5875-98C4F59242D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2" name="Google Shape;350;p8">
            <a:extLst>
              <a:ext uri="{FF2B5EF4-FFF2-40B4-BE49-F238E27FC236}">
                <a16:creationId xmlns:a16="http://schemas.microsoft.com/office/drawing/2014/main" id="{E968C95A-E4DC-052B-1B7E-3FF2C6B0D803}"/>
              </a:ext>
            </a:extLst>
          </p:cNvPr>
          <p:cNvSpPr txBox="1">
            <a:spLocks/>
          </p:cNvSpPr>
          <p:nvPr/>
        </p:nvSpPr>
        <p:spPr>
          <a:xfrm>
            <a:off x="968776" y="141863"/>
            <a:ext cx="7924800" cy="394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Common terms used in Algorithm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51;p8">
            <a:extLst>
              <a:ext uri="{FF2B5EF4-FFF2-40B4-BE49-F238E27FC236}">
                <a16:creationId xmlns:a16="http://schemas.microsoft.com/office/drawing/2014/main" id="{15429A14-E9A0-9728-63C2-270308ABD24D}"/>
              </a:ext>
            </a:extLst>
          </p:cNvPr>
          <p:cNvSpPr txBox="1">
            <a:spLocks/>
          </p:cNvSpPr>
          <p:nvPr/>
        </p:nvSpPr>
        <p:spPr>
          <a:xfrm>
            <a:off x="743986" y="969074"/>
            <a:ext cx="8001000" cy="351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buSzPts val="2300"/>
            </a:pPr>
            <a:r>
              <a:rPr lang="en-US" sz="2300" b="1" dirty="0">
                <a:solidFill>
                  <a:schemeClr val="bg2"/>
                </a:solidFill>
              </a:rPr>
              <a:t>Variable: </a:t>
            </a:r>
            <a:r>
              <a:rPr lang="en-US" sz="2300" dirty="0">
                <a:solidFill>
                  <a:schemeClr val="bg2"/>
                </a:solidFill>
              </a:rPr>
              <a:t>specific location in computer memory used to store one and only one value.</a:t>
            </a: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300" b="1" dirty="0">
                <a:solidFill>
                  <a:schemeClr val="bg2"/>
                </a:solidFill>
              </a:rPr>
              <a:t>Datatypes: </a:t>
            </a:r>
            <a:r>
              <a:rPr lang="en-US" sz="2300" dirty="0">
                <a:solidFill>
                  <a:schemeClr val="bg2"/>
                </a:solidFill>
              </a:rPr>
              <a:t>the type of data a variable can hold</a:t>
            </a:r>
            <a:endParaRPr lang="en-US" dirty="0">
              <a:solidFill>
                <a:schemeClr val="bg2"/>
              </a:solidFill>
            </a:endParaRPr>
          </a:p>
          <a:p>
            <a:pPr marL="342900" indent="-19685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300" b="1" dirty="0">
                <a:solidFill>
                  <a:schemeClr val="bg2"/>
                </a:solidFill>
              </a:rPr>
              <a:t>Statement : </a:t>
            </a:r>
            <a:r>
              <a:rPr lang="en-US" sz="2300" dirty="0">
                <a:solidFill>
                  <a:schemeClr val="bg2"/>
                </a:solidFill>
              </a:rPr>
              <a:t>line of code</a:t>
            </a:r>
            <a:endParaRPr lang="en-US" dirty="0">
              <a:solidFill>
                <a:schemeClr val="bg2"/>
              </a:solidFill>
            </a:endParaRPr>
          </a:p>
          <a:p>
            <a:pPr marL="342900" indent="-196850"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71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650A-C296-32D4-88D6-EC65A0BB20C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Google Shape;350;p8">
            <a:extLst>
              <a:ext uri="{FF2B5EF4-FFF2-40B4-BE49-F238E27FC236}">
                <a16:creationId xmlns:a16="http://schemas.microsoft.com/office/drawing/2014/main" id="{B846DD7C-EFA9-1E0D-BE4D-AAC22C6A37AD}"/>
              </a:ext>
            </a:extLst>
          </p:cNvPr>
          <p:cNvSpPr txBox="1">
            <a:spLocks/>
          </p:cNvSpPr>
          <p:nvPr/>
        </p:nvSpPr>
        <p:spPr>
          <a:xfrm>
            <a:off x="968776" y="40555"/>
            <a:ext cx="741772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Applications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00AAE0C-7089-A78E-F09F-1E408C419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0" y="565560"/>
            <a:ext cx="813607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Engines:</a:t>
            </a:r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PageRank algorithm, crawling, indexing (e.g., Google Search)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Optimization:</a:t>
            </a:r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Dijkstra’s algorithm, A*, Bellman-Ford in Google Maps, logistics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Scheduling:</a:t>
            </a:r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Job-shop scheduling in manufacturing, CPU scheduling in OS.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 Algorithms:</a:t>
            </a:r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Quick Sort, Merge Sort, Heap Sort in database operations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 Matching:</a:t>
            </a:r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KMP, Rabin-Karp in plagiarism detection, bioinformatics (DNA sequence analysis)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 Recognition:</a:t>
            </a:r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in OCR (Optical Character Recognition), handwriting analysis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376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2D565F7-7B58-5C3B-FCDC-E6C0CFEF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F31FAFF-7FEE-BA83-A704-9D5C6DCDD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AA1B1-2426-1794-67B3-848ED1C7161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8</a:t>
            </a:r>
            <a:endParaRPr lang="en-IN" dirty="0"/>
          </a:p>
        </p:txBody>
      </p:sp>
      <p:sp>
        <p:nvSpPr>
          <p:cNvPr id="2" name="Google Shape;356;p9">
            <a:extLst>
              <a:ext uri="{FF2B5EF4-FFF2-40B4-BE49-F238E27FC236}">
                <a16:creationId xmlns:a16="http://schemas.microsoft.com/office/drawing/2014/main" id="{B77CF254-C1B9-8A09-6B66-4B5328FF756E}"/>
              </a:ext>
            </a:extLst>
          </p:cNvPr>
          <p:cNvSpPr txBox="1">
            <a:spLocks/>
          </p:cNvSpPr>
          <p:nvPr/>
        </p:nvSpPr>
        <p:spPr>
          <a:xfrm>
            <a:off x="833700" y="393764"/>
            <a:ext cx="7924800" cy="55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Algorithm Specification 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57;p9">
            <a:extLst>
              <a:ext uri="{FF2B5EF4-FFF2-40B4-BE49-F238E27FC236}">
                <a16:creationId xmlns:a16="http://schemas.microsoft.com/office/drawing/2014/main" id="{F797D9CB-5BCF-15BC-D78F-6DE2A5108C7D}"/>
              </a:ext>
            </a:extLst>
          </p:cNvPr>
          <p:cNvSpPr txBox="1">
            <a:spLocks/>
          </p:cNvSpPr>
          <p:nvPr/>
        </p:nvSpPr>
        <p:spPr>
          <a:xfrm>
            <a:off x="631770" y="1143295"/>
            <a:ext cx="8001000" cy="3811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Algorithm can be described in three ways:</a:t>
            </a:r>
            <a:endParaRPr lang="en-US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b="1" dirty="0">
                <a:solidFill>
                  <a:schemeClr val="bg2"/>
                </a:solidFill>
              </a:rPr>
              <a:t>1) Natural language like English</a:t>
            </a:r>
            <a:endParaRPr lang="en-US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b="1" dirty="0">
                <a:solidFill>
                  <a:schemeClr val="bg2"/>
                </a:solidFill>
              </a:rPr>
              <a:t>2) Graphic representation called flowchart</a:t>
            </a:r>
            <a:endParaRPr lang="en-US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b="1" dirty="0">
                <a:solidFill>
                  <a:schemeClr val="bg2"/>
                </a:solidFill>
              </a:rPr>
              <a:t>3) Pseudo-code Method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2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EEC0536-BF5D-71F0-87EA-F1E1B410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FCDD88A-2ADF-8A48-80BA-D52FEC540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94115-363C-5364-F65C-CCEE1956B27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9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816F74E-DFFD-4200-22C5-7BA80D68C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278" y="543388"/>
            <a:ext cx="8001000" cy="30187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Algorithm of linear search :</a:t>
            </a:r>
            <a:r>
              <a:rPr kumimoji="0" lang="en-US" altLang="en-US" sz="40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Start from the leftmost element of arr[] and one by one compare x with each element of arr[].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 If x matches with an element, return the index.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If x doesn’t match with any of elements, return -1. 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3450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7FE174C-2C6C-BACB-E1EF-E7CF8749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39610BC-42CA-7267-440D-E771D9DD4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F62AB-1496-B1F6-0FDD-173D6F0A2D2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81D800-DE1B-29A5-D1A1-77909ECF2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41" y="393764"/>
            <a:ext cx="7885355" cy="43729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Pseudocode for Linear Search :</a:t>
            </a:r>
            <a:r>
              <a:rPr lang="en-US" altLang="en-US" sz="280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br>
              <a:rPr lang="en-US" altLang="en-US" sz="2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en-US" sz="280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linearSearch(list, searchTerm):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FOR index FROM 0 -&gt; length(list):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IF list[index] == searchTerm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THEN RETURN index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ENDIF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ENDLOOP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RETURN -1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FUNCTION 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32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A18E393-2F51-EB19-24F3-365F9B67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7625D6E-BE07-D5DE-44E0-C5F84CC86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2C3F7-EF4B-C0D1-3F4C-BC5308BA675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89804-8057-B0D8-FFAD-218024F77BF8}"/>
              </a:ext>
            </a:extLst>
          </p:cNvPr>
          <p:cNvSpPr txBox="1">
            <a:spLocks/>
          </p:cNvSpPr>
          <p:nvPr/>
        </p:nvSpPr>
        <p:spPr>
          <a:xfrm>
            <a:off x="757500" y="893206"/>
            <a:ext cx="8001000" cy="383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int search(int </a:t>
            </a:r>
            <a:r>
              <a:rPr lang="en-US" dirty="0" err="1">
                <a:solidFill>
                  <a:schemeClr val="bg2"/>
                </a:solidFill>
              </a:rPr>
              <a:t>arr</a:t>
            </a:r>
            <a:r>
              <a:rPr lang="en-US" dirty="0">
                <a:solidFill>
                  <a:schemeClr val="bg2"/>
                </a:solidFill>
              </a:rPr>
              <a:t>[], int n, int x)</a:t>
            </a:r>
          </a:p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     {</a:t>
            </a:r>
          </a:p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	int </a:t>
            </a:r>
            <a:r>
              <a:rPr lang="en-US" dirty="0" err="1">
                <a:solidFill>
                  <a:schemeClr val="bg2"/>
                </a:solidFill>
              </a:rPr>
              <a:t>i</a:t>
            </a:r>
            <a:r>
              <a:rPr lang="en-US" dirty="0">
                <a:solidFill>
                  <a:schemeClr val="bg2"/>
                </a:solidFill>
              </a:rPr>
              <a:t>;</a:t>
            </a:r>
          </a:p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	for (</a:t>
            </a:r>
            <a:r>
              <a:rPr lang="en-US" dirty="0" err="1">
                <a:solidFill>
                  <a:schemeClr val="bg2"/>
                </a:solidFill>
              </a:rPr>
              <a:t>i</a:t>
            </a:r>
            <a:r>
              <a:rPr lang="en-US" dirty="0">
                <a:solidFill>
                  <a:schemeClr val="bg2"/>
                </a:solidFill>
              </a:rPr>
              <a:t> = 0; </a:t>
            </a:r>
            <a:r>
              <a:rPr lang="en-US" dirty="0" err="1">
                <a:solidFill>
                  <a:schemeClr val="bg2"/>
                </a:solidFill>
              </a:rPr>
              <a:t>i</a:t>
            </a:r>
            <a:r>
              <a:rPr lang="en-US" dirty="0">
                <a:solidFill>
                  <a:schemeClr val="bg2"/>
                </a:solidFill>
              </a:rPr>
              <a:t> &lt; n; </a:t>
            </a:r>
            <a:r>
              <a:rPr lang="en-US" dirty="0" err="1">
                <a:solidFill>
                  <a:schemeClr val="bg2"/>
                </a:solidFill>
              </a:rPr>
              <a:t>i</a:t>
            </a:r>
            <a:r>
              <a:rPr lang="en-US" dirty="0">
                <a:solidFill>
                  <a:schemeClr val="bg2"/>
                </a:solidFill>
              </a:rPr>
              <a:t>++)</a:t>
            </a:r>
          </a:p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		if (</a:t>
            </a:r>
            <a:r>
              <a:rPr lang="en-US" dirty="0" err="1">
                <a:solidFill>
                  <a:schemeClr val="bg2"/>
                </a:solidFill>
              </a:rPr>
              <a:t>arr</a:t>
            </a:r>
            <a:r>
              <a:rPr lang="en-US" dirty="0">
                <a:solidFill>
                  <a:schemeClr val="bg2"/>
                </a:solidFill>
              </a:rPr>
              <a:t>[</a:t>
            </a:r>
            <a:r>
              <a:rPr lang="en-US" dirty="0" err="1">
                <a:solidFill>
                  <a:schemeClr val="bg2"/>
                </a:solidFill>
              </a:rPr>
              <a:t>i</a:t>
            </a:r>
            <a:r>
              <a:rPr lang="en-US" dirty="0">
                <a:solidFill>
                  <a:schemeClr val="bg2"/>
                </a:solidFill>
              </a:rPr>
              <a:t>] == x)</a:t>
            </a:r>
          </a:p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		return </a:t>
            </a:r>
            <a:r>
              <a:rPr lang="en-US" dirty="0" err="1">
                <a:solidFill>
                  <a:schemeClr val="bg2"/>
                </a:solidFill>
              </a:rPr>
              <a:t>i</a:t>
            </a:r>
            <a:r>
              <a:rPr lang="en-US" dirty="0">
                <a:solidFill>
                  <a:schemeClr val="bg2"/>
                </a:solidFill>
              </a:rPr>
              <a:t>;</a:t>
            </a:r>
          </a:p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	return -1;</a:t>
            </a:r>
          </a:p>
          <a:p>
            <a:pPr marL="76200" indent="0"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    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BD3BFE-D5A0-4CEE-7735-2F0B89D495B8}"/>
              </a:ext>
            </a:extLst>
          </p:cNvPr>
          <p:cNvSpPr/>
          <p:nvPr/>
        </p:nvSpPr>
        <p:spPr>
          <a:xfrm>
            <a:off x="1165365" y="98789"/>
            <a:ext cx="75931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for Linear Search :</a:t>
            </a:r>
            <a:r>
              <a:rPr lang="en-IN" sz="4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29634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5EE71D1-7E4C-9A19-B1B0-FFE86311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973ED05-330D-6F74-8DBD-D04B781EE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55D24-D161-8DDC-2D87-3D43417FA29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sp>
        <p:nvSpPr>
          <p:cNvPr id="2" name="Google Shape;362;p10">
            <a:extLst>
              <a:ext uri="{FF2B5EF4-FFF2-40B4-BE49-F238E27FC236}">
                <a16:creationId xmlns:a16="http://schemas.microsoft.com/office/drawing/2014/main" id="{271AE18F-7923-44FB-4945-BEEC81B58A97}"/>
              </a:ext>
            </a:extLst>
          </p:cNvPr>
          <p:cNvSpPr txBox="1">
            <a:spLocks/>
          </p:cNvSpPr>
          <p:nvPr/>
        </p:nvSpPr>
        <p:spPr>
          <a:xfrm>
            <a:off x="973978" y="88964"/>
            <a:ext cx="741252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Need of Algorithm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63;p10">
            <a:extLst>
              <a:ext uri="{FF2B5EF4-FFF2-40B4-BE49-F238E27FC236}">
                <a16:creationId xmlns:a16="http://schemas.microsoft.com/office/drawing/2014/main" id="{0EEB37D8-E7BA-C583-9131-5E7F95E856A3}"/>
              </a:ext>
            </a:extLst>
          </p:cNvPr>
          <p:cNvSpPr txBox="1">
            <a:spLocks/>
          </p:cNvSpPr>
          <p:nvPr/>
        </p:nvSpPr>
        <p:spPr>
          <a:xfrm>
            <a:off x="757500" y="631525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1. To understand the basic idea of the problem.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2. To find an approach to solve the problem.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3. To improve the efficiency of existing techniques.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4. To understand the basic principles of designing the algorithms.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5. To compare the performance of the algorithm with respect to other techniques.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6</a:t>
            </a:r>
            <a:r>
              <a:rPr lang="en-US" sz="2300" b="1" dirty="0">
                <a:solidFill>
                  <a:schemeClr val="bg2"/>
                </a:solidFill>
              </a:rPr>
              <a:t>. </a:t>
            </a:r>
            <a:r>
              <a:rPr lang="en-US" sz="2300" dirty="0">
                <a:solidFill>
                  <a:schemeClr val="bg2"/>
                </a:solidFill>
              </a:rPr>
              <a:t>It is the best method of description without describing the implementation detail.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7. The Algorithm gives a clear description of requirements and goal of the problem to the designer.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67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EDD4AF3-DA94-D6A0-2AC4-E934CDB0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9BE66D1-0307-3CB4-53A4-1023590A6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4B0F7-3D51-3816-CBA0-71BA2C69356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sp>
        <p:nvSpPr>
          <p:cNvPr id="2" name="Google Shape;368;p11">
            <a:extLst>
              <a:ext uri="{FF2B5EF4-FFF2-40B4-BE49-F238E27FC236}">
                <a16:creationId xmlns:a16="http://schemas.microsoft.com/office/drawing/2014/main" id="{CBD0F50E-9393-90AA-D6AE-C107103784BC}"/>
              </a:ext>
            </a:extLst>
          </p:cNvPr>
          <p:cNvSpPr txBox="1">
            <a:spLocks/>
          </p:cNvSpPr>
          <p:nvPr/>
        </p:nvSpPr>
        <p:spPr>
          <a:xfrm>
            <a:off x="833700" y="88964"/>
            <a:ext cx="768010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Need of Algorithm (CONTD…)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69;p11">
            <a:extLst>
              <a:ext uri="{FF2B5EF4-FFF2-40B4-BE49-F238E27FC236}">
                <a16:creationId xmlns:a16="http://schemas.microsoft.com/office/drawing/2014/main" id="{49AAB285-451B-3326-A5AD-D6B995D6C352}"/>
              </a:ext>
            </a:extLst>
          </p:cNvPr>
          <p:cNvSpPr txBox="1">
            <a:spLocks/>
          </p:cNvSpPr>
          <p:nvPr/>
        </p:nvSpPr>
        <p:spPr>
          <a:xfrm>
            <a:off x="757500" y="605888"/>
            <a:ext cx="8001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8. A good design can produce a good solution.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9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9. To understand the flow of the problem.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9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10. To measure the behavior (or performance) of the methods in all cases (best cases, worst cases, average cases)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9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11. With the help of an algorithm, we can also identify the resources (memory, input-output) cycles required by the algorithm.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9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12. With the help of algorithm, we convert art into a science.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9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13. To understand the principle of designing.</a:t>
            </a:r>
            <a:endParaRPr lang="en-US" dirty="0">
              <a:solidFill>
                <a:schemeClr val="bg2"/>
              </a:solidFill>
            </a:endParaRPr>
          </a:p>
          <a:p>
            <a:pPr marL="0" indent="0" algn="just">
              <a:lnSpc>
                <a:spcPct val="90000"/>
              </a:lnSpc>
              <a:spcBef>
                <a:spcPts val="460"/>
              </a:spcBef>
              <a:buSzPts val="2300"/>
              <a:buFont typeface="Arial"/>
              <a:buNone/>
            </a:pPr>
            <a:r>
              <a:rPr lang="en-US" sz="2300" dirty="0">
                <a:solidFill>
                  <a:schemeClr val="bg2"/>
                </a:solidFill>
              </a:rPr>
              <a:t>14. </a:t>
            </a:r>
            <a:r>
              <a:rPr lang="en-US" sz="2300" b="1" dirty="0">
                <a:solidFill>
                  <a:schemeClr val="bg2"/>
                </a:solidFill>
              </a:rPr>
              <a:t>We can measure and analyze the complexity (time and space) of the problems concerning input size without implementing and running it; it will reduce the cost of design.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89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FD339BC-2988-866F-6816-068F5066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7540205-E2A2-B070-97D2-4A2AAA40F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1AE22-6971-5E87-F4A5-D658D237281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sp>
        <p:nvSpPr>
          <p:cNvPr id="2" name="Google Shape;374;p12">
            <a:extLst>
              <a:ext uri="{FF2B5EF4-FFF2-40B4-BE49-F238E27FC236}">
                <a16:creationId xmlns:a16="http://schemas.microsoft.com/office/drawing/2014/main" id="{11FE29D5-354A-04ED-CBD0-86F72700C4EB}"/>
              </a:ext>
            </a:extLst>
          </p:cNvPr>
          <p:cNvSpPr txBox="1">
            <a:spLocks/>
          </p:cNvSpPr>
          <p:nvPr/>
        </p:nvSpPr>
        <p:spPr>
          <a:xfrm>
            <a:off x="795600" y="88964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Algorithm vs Program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75;p12">
            <a:extLst>
              <a:ext uri="{FF2B5EF4-FFF2-40B4-BE49-F238E27FC236}">
                <a16:creationId xmlns:a16="http://schemas.microsoft.com/office/drawing/2014/main" id="{4D4E4D34-D6A0-B157-22DC-498627BE981B}"/>
              </a:ext>
            </a:extLst>
          </p:cNvPr>
          <p:cNvSpPr txBox="1">
            <a:spLocks/>
          </p:cNvSpPr>
          <p:nvPr/>
        </p:nvSpPr>
        <p:spPr>
          <a:xfrm>
            <a:off x="719400" y="698564"/>
            <a:ext cx="8001000" cy="4046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ts val="0"/>
              </a:spcBef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A finite set of instructions that specifies a sequence of operations to be carried out to solve a specific problem of a class of problem is called an algorithm.</a:t>
            </a:r>
            <a:endParaRPr lang="en-US"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Clr>
                <a:srgbClr val="C00000"/>
              </a:buClr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Program doesn't have to satisfy the finiteness condition. For example, we can think of an operating system that continues in a "wait" loop until more jobs are entered. Such a program doesn't terminate unless the system crashes.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05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733F852-A886-8227-6767-5F182C71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AB50379-C410-4336-E07F-3787939FE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90169-2A0D-E993-F871-5879DBD6C48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pic>
        <p:nvPicPr>
          <p:cNvPr id="4" name="Google Shape;381;p13" descr="DAA Need of Algorithm">
            <a:extLst>
              <a:ext uri="{FF2B5EF4-FFF2-40B4-BE49-F238E27FC236}">
                <a16:creationId xmlns:a16="http://schemas.microsoft.com/office/drawing/2014/main" id="{BB64AA76-A3B5-3AA6-E329-B2250FCB6B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500" y="605631"/>
            <a:ext cx="8043862" cy="3932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7422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86620C3-2F0C-7D5F-F007-46E5CC0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D73298B-3630-FF6C-CE52-520A613B4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E581D-F020-1394-D9A7-F1DB3F1AF7B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sp>
        <p:nvSpPr>
          <p:cNvPr id="2" name="Google Shape;386;p14">
            <a:extLst>
              <a:ext uri="{FF2B5EF4-FFF2-40B4-BE49-F238E27FC236}">
                <a16:creationId xmlns:a16="http://schemas.microsoft.com/office/drawing/2014/main" id="{517B8C6B-B81C-1E02-72BC-1E4476627A5D}"/>
              </a:ext>
            </a:extLst>
          </p:cNvPr>
          <p:cNvSpPr txBox="1">
            <a:spLocks/>
          </p:cNvSpPr>
          <p:nvPr/>
        </p:nvSpPr>
        <p:spPr>
          <a:xfrm>
            <a:off x="833700" y="88964"/>
            <a:ext cx="7775824" cy="521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Issues or study of Algorithm</a:t>
            </a:r>
          </a:p>
        </p:txBody>
      </p:sp>
      <p:sp>
        <p:nvSpPr>
          <p:cNvPr id="3" name="Google Shape;387;p14">
            <a:extLst>
              <a:ext uri="{FF2B5EF4-FFF2-40B4-BE49-F238E27FC236}">
                <a16:creationId xmlns:a16="http://schemas.microsoft.com/office/drawing/2014/main" id="{47674950-6C84-AD7D-F863-1668494EE685}"/>
              </a:ext>
            </a:extLst>
          </p:cNvPr>
          <p:cNvSpPr txBox="1">
            <a:spLocks/>
          </p:cNvSpPr>
          <p:nvPr/>
        </p:nvSpPr>
        <p:spPr>
          <a:xfrm>
            <a:off x="574620" y="946214"/>
            <a:ext cx="8001000" cy="384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ts val="0"/>
              </a:spcBef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How to device or design an algorithm --&gt; </a:t>
            </a:r>
            <a:r>
              <a:rPr lang="en-US" sz="2300" b="1" dirty="0">
                <a:solidFill>
                  <a:schemeClr val="bg2"/>
                </a:solidFill>
              </a:rPr>
              <a:t>creating and algorithm.</a:t>
            </a:r>
            <a:endParaRPr lang="en-US" sz="2300"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How to express an algorithm --&gt; </a:t>
            </a:r>
            <a:r>
              <a:rPr lang="en-US" sz="2300" b="1" dirty="0">
                <a:solidFill>
                  <a:schemeClr val="bg2"/>
                </a:solidFill>
              </a:rPr>
              <a:t>definiteness.</a:t>
            </a:r>
            <a:endParaRPr lang="en-US" sz="2300"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How to analysis an algorithm --&gt; </a:t>
            </a:r>
            <a:r>
              <a:rPr lang="en-US" sz="2300" b="1" dirty="0">
                <a:solidFill>
                  <a:schemeClr val="bg2"/>
                </a:solidFill>
              </a:rPr>
              <a:t>time and space complexity.</a:t>
            </a:r>
            <a:endParaRPr lang="en-US" sz="2300"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How to validate an algorithm --&gt; </a:t>
            </a:r>
            <a:r>
              <a:rPr lang="en-US" sz="2300" b="1" dirty="0">
                <a:solidFill>
                  <a:schemeClr val="bg2"/>
                </a:solidFill>
              </a:rPr>
              <a:t>fitness.</a:t>
            </a:r>
            <a:endParaRPr lang="en-US" sz="2300" dirty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00000"/>
              </a:lnSpc>
              <a:spcBef>
                <a:spcPts val="460"/>
              </a:spcBef>
              <a:buSzPts val="2300"/>
            </a:pPr>
            <a:r>
              <a:rPr lang="en-US" sz="2300" dirty="0">
                <a:solidFill>
                  <a:schemeClr val="bg2"/>
                </a:solidFill>
              </a:rPr>
              <a:t>Testing the algorithm --&gt; </a:t>
            </a:r>
            <a:r>
              <a:rPr lang="en-US" sz="2300" b="1" dirty="0">
                <a:solidFill>
                  <a:schemeClr val="bg2"/>
                </a:solidFill>
              </a:rPr>
              <a:t>checking for error.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896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341A732-D0F0-17B1-B627-DB7F5C98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F187A80-B81E-8273-161A-1C2F1A96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DC4BE-724D-BC03-5D67-42F1D9732F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C1F7B2A6-F326-C535-25E2-C1FF3909D4C8}"/>
              </a:ext>
            </a:extLst>
          </p:cNvPr>
          <p:cNvSpPr txBox="1">
            <a:spLocks/>
          </p:cNvSpPr>
          <p:nvPr/>
        </p:nvSpPr>
        <p:spPr>
          <a:xfrm>
            <a:off x="833700" y="88964"/>
            <a:ext cx="7552800" cy="47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Summary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399;p16">
            <a:extLst>
              <a:ext uri="{FF2B5EF4-FFF2-40B4-BE49-F238E27FC236}">
                <a16:creationId xmlns:a16="http://schemas.microsoft.com/office/drawing/2014/main" id="{7732D21E-1F3B-A981-34CB-57EAB40CC90A}"/>
              </a:ext>
            </a:extLst>
          </p:cNvPr>
          <p:cNvSpPr txBox="1">
            <a:spLocks/>
          </p:cNvSpPr>
          <p:nvPr/>
        </p:nvSpPr>
        <p:spPr>
          <a:xfrm>
            <a:off x="643200" y="866204"/>
            <a:ext cx="8001000" cy="3470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en-US" dirty="0">
                <a:solidFill>
                  <a:schemeClr val="bg2"/>
                </a:solidFill>
              </a:rPr>
              <a:t>Introduction to Algorithm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"/>
              <a:buFont typeface="Arial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Characteristic of algorithm</a:t>
            </a:r>
            <a:endParaRPr lang="en-US" dirty="0">
              <a:solidFill>
                <a:schemeClr val="bg2"/>
              </a:solidFill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"/>
              <a:buFont typeface="Arial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Needs and specification of algorithm</a:t>
            </a:r>
            <a:endParaRPr lang="en-US" dirty="0">
              <a:solidFill>
                <a:schemeClr val="bg2"/>
              </a:solidFill>
            </a:endParaRPr>
          </a:p>
          <a:p>
            <a:pPr marL="742950" lvl="1" indent="-2730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"/>
              <a:buFont typeface="Arial"/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342900" indent="-215900">
              <a:spcBef>
                <a:spcPts val="400"/>
              </a:spcBef>
              <a:buSzPts val="2000"/>
              <a:buFont typeface="Arial"/>
              <a:buNone/>
            </a:pPr>
            <a:endParaRPr lang="en-US" sz="20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1280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834F766-A176-EC7F-DA61-121F22B5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2884BC-C924-1064-8AE8-EA2EEEF31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7270C-BEA4-72D0-7C70-EF18C77EEAA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29C0C67A-C50A-18DC-412A-99E3C5164A3A}"/>
              </a:ext>
            </a:extLst>
          </p:cNvPr>
          <p:cNvSpPr txBox="1">
            <a:spLocks/>
          </p:cNvSpPr>
          <p:nvPr/>
        </p:nvSpPr>
        <p:spPr>
          <a:xfrm>
            <a:off x="845130" y="26473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Next Lecture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32E31-17F2-24E4-4864-9A36FB7A0BA0}"/>
              </a:ext>
            </a:extLst>
          </p:cNvPr>
          <p:cNvSpPr txBox="1"/>
          <p:nvPr/>
        </p:nvSpPr>
        <p:spPr>
          <a:xfrm>
            <a:off x="757500" y="1186755"/>
            <a:ext cx="78981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and Space complexity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and worst-case Analysis</a:t>
            </a:r>
            <a:endParaRPr lang="en-US" alt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Asymptotic notations 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214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57FC081-CD9A-5890-31B1-05B3C94B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BF6050-4B71-52AA-64DB-492D3464A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1A00A-7547-9CA1-AE7A-367A9D78131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A560F48-626F-3E22-D367-BDFCE56FCAB9}"/>
              </a:ext>
            </a:extLst>
          </p:cNvPr>
          <p:cNvSpPr txBox="1">
            <a:spLocks/>
          </p:cNvSpPr>
          <p:nvPr/>
        </p:nvSpPr>
        <p:spPr>
          <a:xfrm>
            <a:off x="1068162" y="30655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00721-D89A-1DA3-D466-EF926F80B30B}"/>
              </a:ext>
            </a:extLst>
          </p:cNvPr>
          <p:cNvSpPr txBox="1"/>
          <p:nvPr/>
        </p:nvSpPr>
        <p:spPr>
          <a:xfrm>
            <a:off x="614772" y="1083790"/>
            <a:ext cx="7924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Which of the following best defines an algorithm?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A. computer programming language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B. A step-by-step procedure to solve a problem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C. A type of computer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D. A software application</a:t>
            </a:r>
          </a:p>
          <a:p>
            <a:pPr marL="514350" indent="-514350">
              <a:buAutoNum type="alpha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Every algorithm must have a definite starting and ending point?</a:t>
            </a:r>
          </a:p>
        </p:txBody>
      </p:sp>
    </p:spTree>
    <p:extLst>
      <p:ext uri="{BB962C8B-B14F-4D97-AF65-F5344CB8AC3E}">
        <p14:creationId xmlns:p14="http://schemas.microsoft.com/office/powerpoint/2010/main" val="4222976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C16E0BE-5E4E-D8A1-5CB2-8142F97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227BF8B-63CF-08D9-3EFB-1157B57C1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C2C36-4064-467E-F174-5CD0AE20BD0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  <p:sp>
        <p:nvSpPr>
          <p:cNvPr id="2" name="Google Shape;392;p15">
            <a:extLst>
              <a:ext uri="{FF2B5EF4-FFF2-40B4-BE49-F238E27FC236}">
                <a16:creationId xmlns:a16="http://schemas.microsoft.com/office/drawing/2014/main" id="{4B714057-CA43-4B1E-290C-27F7B4BBA00C}"/>
              </a:ext>
            </a:extLst>
          </p:cNvPr>
          <p:cNvSpPr txBox="1">
            <a:spLocks/>
          </p:cNvSpPr>
          <p:nvPr/>
        </p:nvSpPr>
        <p:spPr>
          <a:xfrm>
            <a:off x="952500" y="342338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C00000"/>
              </a:buClr>
              <a:buSzPts val="24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References/ Articles/ Videos</a:t>
            </a:r>
            <a:b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93;p15">
            <a:extLst>
              <a:ext uri="{FF2B5EF4-FFF2-40B4-BE49-F238E27FC236}">
                <a16:creationId xmlns:a16="http://schemas.microsoft.com/office/drawing/2014/main" id="{608E7807-268F-6231-F0B6-EAFF3AD18E5B}"/>
              </a:ext>
            </a:extLst>
          </p:cNvPr>
          <p:cNvSpPr txBox="1">
            <a:spLocks/>
          </p:cNvSpPr>
          <p:nvPr/>
        </p:nvSpPr>
        <p:spPr>
          <a:xfrm>
            <a:off x="757500" y="806675"/>
            <a:ext cx="8001000" cy="383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r>
              <a:rPr lang="en-US" b="1" dirty="0">
                <a:solidFill>
                  <a:schemeClr val="bg2"/>
                </a:solidFill>
              </a:rPr>
              <a:t>Text books:</a:t>
            </a:r>
            <a:endParaRPr lang="en-US" dirty="0">
              <a:solidFill>
                <a:schemeClr val="bg2"/>
              </a:solidFill>
            </a:endParaRPr>
          </a:p>
          <a:p>
            <a:pPr marL="0" indent="-114300">
              <a:lnSpc>
                <a:spcPct val="100000"/>
              </a:lnSpc>
              <a:spcBef>
                <a:spcPts val="360"/>
              </a:spcBef>
              <a:buSzPts val="1800"/>
            </a:pPr>
            <a:r>
              <a:rPr lang="en-US" sz="1800" dirty="0" err="1">
                <a:solidFill>
                  <a:schemeClr val="bg2"/>
                </a:solidFill>
              </a:rPr>
              <a:t>Cormen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Leiserson</a:t>
            </a:r>
            <a:r>
              <a:rPr lang="en-US" sz="1800" dirty="0">
                <a:solidFill>
                  <a:schemeClr val="bg2"/>
                </a:solidFill>
              </a:rPr>
              <a:t>, Rivest, Stein, “</a:t>
            </a:r>
            <a:r>
              <a:rPr lang="en-US" sz="1800" i="1" dirty="0">
                <a:solidFill>
                  <a:schemeClr val="bg2"/>
                </a:solidFill>
              </a:rPr>
              <a:t>Introduction to Algorithms</a:t>
            </a:r>
            <a:r>
              <a:rPr lang="en-US" sz="1800" dirty="0">
                <a:solidFill>
                  <a:schemeClr val="bg2"/>
                </a:solidFill>
              </a:rPr>
              <a:t>”, Prentice Hall of India, 3</a:t>
            </a:r>
            <a:r>
              <a:rPr lang="en-US" sz="1800" baseline="30000" dirty="0">
                <a:solidFill>
                  <a:schemeClr val="bg2"/>
                </a:solidFill>
              </a:rPr>
              <a:t>rd</a:t>
            </a:r>
            <a:r>
              <a:rPr lang="en-US" sz="1800" dirty="0">
                <a:solidFill>
                  <a:schemeClr val="bg2"/>
                </a:solidFill>
              </a:rPr>
              <a:t> edition 2012. problem, Graph coloring.</a:t>
            </a:r>
            <a:endParaRPr lang="en-US" dirty="0">
              <a:solidFill>
                <a:schemeClr val="bg2"/>
              </a:solidFill>
            </a:endParaRPr>
          </a:p>
          <a:p>
            <a:pPr marL="0" indent="-114300">
              <a:lnSpc>
                <a:spcPct val="100000"/>
              </a:lnSpc>
              <a:spcBef>
                <a:spcPts val="360"/>
              </a:spcBef>
              <a:buSzPts val="1800"/>
            </a:pPr>
            <a:r>
              <a:rPr lang="en-US" sz="1800" dirty="0">
                <a:solidFill>
                  <a:schemeClr val="bg2"/>
                </a:solidFill>
              </a:rPr>
              <a:t>Horowitz, Sahni and Rajasekaran, “</a:t>
            </a:r>
            <a:r>
              <a:rPr lang="en-US" sz="1800" i="1" dirty="0">
                <a:solidFill>
                  <a:schemeClr val="bg2"/>
                </a:solidFill>
              </a:rPr>
              <a:t>Fundamentals of </a:t>
            </a:r>
            <a:r>
              <a:rPr lang="en-US" sz="1800" i="1" dirty="0" err="1">
                <a:solidFill>
                  <a:schemeClr val="bg2"/>
                </a:solidFill>
              </a:rPr>
              <a:t>ComputerAlgorithms</a:t>
            </a:r>
            <a:r>
              <a:rPr lang="en-US" sz="1800" i="1" dirty="0">
                <a:solidFill>
                  <a:schemeClr val="bg2"/>
                </a:solidFill>
              </a:rPr>
              <a:t>”</a:t>
            </a:r>
            <a:r>
              <a:rPr lang="en-US" sz="1800" dirty="0">
                <a:solidFill>
                  <a:schemeClr val="bg2"/>
                </a:solidFill>
              </a:rPr>
              <a:t>, University Press (India), 2</a:t>
            </a:r>
            <a:r>
              <a:rPr lang="en-US" sz="1800" baseline="30000" dirty="0">
                <a:solidFill>
                  <a:schemeClr val="bg2"/>
                </a:solidFill>
              </a:rPr>
              <a:t>nd</a:t>
            </a:r>
            <a:r>
              <a:rPr lang="en-US" sz="1800" dirty="0">
                <a:solidFill>
                  <a:schemeClr val="bg2"/>
                </a:solidFill>
              </a:rPr>
              <a:t> edition</a:t>
            </a:r>
            <a:endParaRPr lang="en-US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buFont typeface="Arial"/>
              <a:buNone/>
            </a:pPr>
            <a:endParaRPr lang="en-US" b="1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buFont typeface="Arial"/>
              <a:buNone/>
            </a:pPr>
            <a:r>
              <a:rPr lang="en-US" b="1" dirty="0">
                <a:solidFill>
                  <a:schemeClr val="bg2"/>
                </a:solidFill>
              </a:rPr>
              <a:t>Websites:</a:t>
            </a:r>
            <a:endParaRPr lang="en-US" b="1" u="sng" dirty="0">
              <a:solidFill>
                <a:schemeClr val="bg2"/>
              </a:solidFill>
            </a:endParaRPr>
          </a:p>
          <a:p>
            <a:pPr marL="0" indent="-190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Font typeface="Arial"/>
              <a:buAutoNum type="arabicPeriod"/>
            </a:pPr>
            <a:r>
              <a:rPr lang="en-US" sz="1800" u="sng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https://www.geeksforgeeks.org/introduction-to-algorithms/</a:t>
            </a:r>
            <a:endParaRPr lang="en-US" dirty="0">
              <a:solidFill>
                <a:schemeClr val="bg2"/>
              </a:solidFill>
            </a:endParaRPr>
          </a:p>
          <a:p>
            <a:pPr marL="0" indent="-190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Font typeface="Arial"/>
              <a:buAutoNum type="arabicPeriod"/>
            </a:pPr>
            <a:r>
              <a:rPr lang="en-US" sz="1800" u="sng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https://www.tutorialspoint.com/design_and_analysis_of_algorithms/index.htm</a:t>
            </a:r>
            <a:endParaRPr lang="en-US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Font typeface="Arial"/>
              <a:buNone/>
            </a:pPr>
            <a:endParaRPr lang="en-US" sz="18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/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342900" indent="-190500">
              <a:buFont typeface="Arial"/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820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F33F5-B0C9-AAA6-044A-76C3D9E8D88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21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948000" y="583857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1781227"/>
            <a:ext cx="8001000" cy="277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https://onlinecourses.nptel.ac.in/noc23_cs96/preview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055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3141664-9E0A-0C54-B96F-BED84C54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468A3DE-696B-7FC9-013F-76B2E3B5B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B4478-479B-A962-4153-A5D9BEBE8CD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23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5CF26446-8E74-2ED0-D707-24246C6EC751}"/>
              </a:ext>
            </a:extLst>
          </p:cNvPr>
          <p:cNvSpPr txBox="1">
            <a:spLocks/>
          </p:cNvSpPr>
          <p:nvPr/>
        </p:nvSpPr>
        <p:spPr>
          <a:xfrm>
            <a:off x="876443" y="393764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Class-Wise </a:t>
            </a:r>
            <a:r>
              <a:rPr lang="en-IN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3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457200" y="2270562"/>
            <a:ext cx="732859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45989" y="3980946"/>
            <a:ext cx="44039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richa.e11307@cumail.in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765" y="361440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0750043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1227</Words>
  <Application>Microsoft Office PowerPoint</Application>
  <PresentationFormat>On-screen Show (16:9)</PresentationFormat>
  <Paragraphs>205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Lato</vt:lpstr>
      <vt:lpstr>Arial Black</vt:lpstr>
      <vt:lpstr>Times New Roman</vt:lpstr>
      <vt:lpstr>Calibri</vt:lpstr>
      <vt:lpstr>Cambria</vt:lpstr>
      <vt:lpstr>Vladimir Script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Richa Dhiman</cp:lastModifiedBy>
  <cp:revision>107</cp:revision>
  <dcterms:modified xsi:type="dcterms:W3CDTF">2025-05-28T04:55:28Z</dcterms:modified>
</cp:coreProperties>
</file>