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9"/>
  </p:notesMasterIdLst>
  <p:sldIdLst>
    <p:sldId id="256" r:id="rId2"/>
    <p:sldId id="312" r:id="rId3"/>
    <p:sldId id="284" r:id="rId4"/>
    <p:sldId id="314" r:id="rId5"/>
    <p:sldId id="315" r:id="rId6"/>
    <p:sldId id="317" r:id="rId7"/>
    <p:sldId id="318" r:id="rId8"/>
    <p:sldId id="319" r:id="rId9"/>
    <p:sldId id="320" r:id="rId10"/>
    <p:sldId id="321" r:id="rId11"/>
    <p:sldId id="322" r:id="rId12"/>
    <p:sldId id="323" r:id="rId13"/>
    <p:sldId id="324" r:id="rId14"/>
    <p:sldId id="325" r:id="rId15"/>
    <p:sldId id="326" r:id="rId16"/>
    <p:sldId id="328" r:id="rId17"/>
    <p:sldId id="329" r:id="rId18"/>
    <p:sldId id="332" r:id="rId19"/>
    <p:sldId id="337" r:id="rId20"/>
    <p:sldId id="338" r:id="rId21"/>
    <p:sldId id="339" r:id="rId22"/>
    <p:sldId id="330" r:id="rId23"/>
    <p:sldId id="331" r:id="rId24"/>
    <p:sldId id="333" r:id="rId25"/>
    <p:sldId id="334" r:id="rId26"/>
    <p:sldId id="336" r:id="rId27"/>
    <p:sldId id="311" r:id="rId28"/>
  </p:sldIdLst>
  <p:sldSz cx="9144000" cy="5143500" type="screen16x9"/>
  <p:notesSz cx="6858000" cy="9144000"/>
  <p:embeddedFontLst>
    <p:embeddedFont>
      <p:font typeface="Arial Black" panose="020B0A04020102020204" pitchFamily="34" charset="0"/>
      <p:bold r:id="rId30"/>
    </p:embeddedFont>
    <p:embeddedFont>
      <p:font typeface="Cambria" panose="02040503050406030204" pitchFamily="18" charset="0"/>
      <p:regular r:id="rId31"/>
      <p:bold r:id="rId32"/>
      <p:italic r:id="rId33"/>
      <p:boldItalic r:id="rId34"/>
    </p:embeddedFont>
    <p:embeddedFont>
      <p:font typeface="Lato" panose="020F0502020204030203" pitchFamily="34" charset="0"/>
      <p:regular r:id="rId35"/>
      <p:bold r:id="rId36"/>
      <p:italic r:id="rId37"/>
      <p:boldItalic r:id="rId38"/>
    </p:embeddedFont>
    <p:embeddedFont>
      <p:font typeface="Vladimir Script" panose="03050402040407070305" pitchFamily="66" charset="0"/>
      <p:regular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gIfgr8mz0h5oJT84AK2itezMzV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7377635-EB9D-4884-B79A-0D259F93817B}">
  <a:tblStyle styleId="{97377635-EB9D-4884-B79A-0D259F93817B}"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9E9"/>
          </a:solidFill>
        </a:fill>
      </a:tcStyle>
    </a:wholeTbl>
    <a:band1H>
      <a:tcTxStyle/>
      <a:tcStyle>
        <a:tcBdr/>
        <a:fill>
          <a:solidFill>
            <a:srgbClr val="D0D0D0"/>
          </a:solidFill>
        </a:fill>
      </a:tcStyle>
    </a:band1H>
    <a:band2H>
      <a:tcTxStyle/>
      <a:tcStyle>
        <a:tcBdr/>
      </a:tcStyle>
    </a:band2H>
    <a:band1V>
      <a:tcTxStyle/>
      <a:tcStyle>
        <a:tcBdr/>
        <a:fill>
          <a:solidFill>
            <a:srgbClr val="D0D0D0"/>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264" autoAdjust="0"/>
    <p:restoredTop sz="94660"/>
  </p:normalViewPr>
  <p:slideViewPr>
    <p:cSldViewPr snapToGrid="0">
      <p:cViewPr varScale="1">
        <p:scale>
          <a:sx n="57" d="100"/>
          <a:sy n="57" d="100"/>
        </p:scale>
        <p:origin x="58" y="77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9308111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5215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00AA9E-45AA-4AC2-8AA2-7DA856E9A7A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86550A3-8119-6875-5A21-C5D3DA1F86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1F8D45D-F0E2-4C9E-7AD4-3CC086F6FF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51828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4BB2C93B-7FE2-A8D6-21D2-CB1FAAB4160A}"/>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B35863A3-7B58-0DD0-4438-352440F081B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C70A685-A7E2-6333-F188-6854C80611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11916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5E1C681-A5F2-4CD9-9192-8CDED311BA8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B848B34-F6A5-DF19-4111-A0681949447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ECA6E172-D444-FC00-6B33-317641F086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85530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2827B3C-4A96-D842-C587-3271EC42D30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2F06B59-0229-602E-B610-95252206150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4AEA2AB-7645-5208-0E63-7560412EF8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692578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8169236-1955-4128-44C5-58E9D95D498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8024DF0-1674-8F51-EEBC-683769584F9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7D4BF737-175F-7667-E78E-646A8BB495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872474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FE7DBFD-3CD4-72CB-B3B4-A8E2B4B1866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DC18742C-0AE0-A994-B2ED-A9BFF88C0F3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E89BB3F3-8FD5-23EA-C014-0FA6CAB913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394911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044B758-C87D-505D-C3C8-A549E1C79E3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60E0FE7-490F-D759-32A7-C75DA6EDA0E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DF9AA489-D2BD-8969-C629-E8BC8C6956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92918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216C3BF0-F04D-CC55-01DE-5846136227C2}"/>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1C26BBB-3EE0-C367-EB17-2F01B7585D9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ED12312-F8C0-DB82-75C0-FC2758C0DB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423701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F1E0EE1-A63F-12F4-10BB-2B0C5E51B30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3949B4A-8DCA-5D8A-F91E-E3E31816926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D7E994A-6713-82F4-3A2F-AD2DA1A7B7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012223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D04F549-C923-1FA6-0572-8E4FDBDC549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0D34990-FEC3-FB89-4B02-268714D73FC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7BCAEBB-22C0-CF35-0C48-E613A3B456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230461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D65DF209-F70B-D346-7CAD-F327973A4AA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AF278F86-62B3-04BA-72AF-285D9D5D6A3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2A2B0163-0369-FCE8-AFFD-EDC379A61A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698407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E3711B1-371D-2583-D61A-67C35F3E445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7C593DF-5E72-43B4-DFE4-C8736507055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F3C8862-36D6-FFCC-8D89-0C289A5B8B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180740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D147491A-4919-2F1D-0F6F-8CDCA0D76B5F}"/>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B18FB7EC-7F87-3F2F-DBEA-6A6F91B76A9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6E50D082-34EA-751E-4314-000B6F1ECF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997751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E103896-EA66-2A63-0191-6F8310FB1BEA}"/>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D8ED3CB1-23E7-AA3F-12AD-954EA5704CB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2C9439C9-F903-88F3-01AD-62544D3B7D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098230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5435E93B-760C-8ED5-670A-51004776522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DF55EDF5-3431-0161-D83B-C6A600AA95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94B9FFF-5686-5341-600F-0E6EFDFCB7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662979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56CBB9AA-334B-2D83-1877-63B230952E4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A7313BD4-A33A-2B0B-1D75-4C54A0552F6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25B6475B-FFAE-0233-F072-686754F344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065658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DA1CEF5-13BF-471C-50F9-DAD18A547A0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EDA82E9-4E8D-3B65-E4CF-424ECC6A783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B662D4F-5FDA-D649-09FF-AFAD4FCDD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659654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5DDE074-CFB8-7D2D-64C5-FCCDB15BAD1A}"/>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6BF8A82F-9B86-1244-1FB8-C9E3C64479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6EE01C0C-3C53-F1DF-1073-87C2DBF53B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970986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A8E8D6BB-999F-F73A-08F1-840C0AD4E3C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59BC769D-2805-A552-321A-D6E4587B18D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47D253D-314E-560C-3B46-8E32DC8A73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344952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D0E2430D-51FA-6C61-8551-7183AC8F54F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DFB50D1E-83AE-9511-A182-E41E5974F26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6937AB08-36C5-64D8-6EE1-ECFDEFD814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148731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22EF6A6-3B86-409E-00F7-E71B05DEC0B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BF737BE0-1811-D403-FE9C-7D9F9254BA6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B6C259C-E2D3-C61B-0E90-DB7F2E2067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861002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5AA7785E-43D4-9EF1-1A87-45D7A3143AF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C9920DF-19AB-06E9-7D1B-B9B877EBE6B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D2DAF3E8-4FE5-228D-D4E4-2C8EBAB1BF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50755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18BDF5E7-F95C-899B-EC14-E8E986C7DDD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B75BA061-2CC0-FC5F-90C5-EB6DD8F82DF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D8A0E1B-B8B2-DFD2-0A4F-7F72575EEC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329968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6B53972-8CFD-533B-1C4D-268D3A8B82F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86BAB7A-5EF3-5546-4BB0-C26EE502D36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24E556B0-B3F6-5788-1709-ADC00D5B86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521369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A35021AF-CA61-088F-7F01-7FAD5B65361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0B85296-32E7-6F2C-C488-8EB7229AAA9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2BA18F8-0BB4-69BB-7AA0-AEDCAD3591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346831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CC7291-0158-2CF9-E3E7-C104BA87632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B9D57E8-6C07-996D-1CC3-BF44C62ABF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91E2C0C-79EA-9DB7-B0A8-4CEF2F72D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56188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userDrawn="1">
  <p:cSld name="OBJECT">
    <p:spTree>
      <p:nvGrpSpPr>
        <p:cNvPr id="1" name="Shape 9"/>
        <p:cNvGrpSpPr/>
        <p:nvPr/>
      </p:nvGrpSpPr>
      <p:grpSpPr>
        <a:xfrm>
          <a:off x="0" y="0"/>
          <a:ext cx="0" cy="0"/>
          <a:chOff x="0" y="0"/>
          <a:chExt cx="0" cy="0"/>
        </a:xfrm>
      </p:grpSpPr>
      <p:sp>
        <p:nvSpPr>
          <p:cNvPr id="11" name="Google Shape;11;p29"/>
          <p:cNvSpPr txBox="1">
            <a:spLocks noGrp="1"/>
          </p:cNvSpPr>
          <p:nvPr>
            <p:ph type="body" idx="1"/>
          </p:nvPr>
        </p:nvSpPr>
        <p:spPr>
          <a:xfrm>
            <a:off x="914400" y="1314450"/>
            <a:ext cx="8001000" cy="3372000"/>
          </a:xfrm>
          <a:prstGeom prst="rect">
            <a:avLst/>
          </a:prstGeom>
          <a:noFill/>
          <a:ln>
            <a:noFill/>
          </a:ln>
        </p:spPr>
        <p:txBody>
          <a:bodyPr spcFirstLastPara="1" wrap="square" lIns="91425" tIns="45700" rIns="91425" bIns="45700" anchor="t" anchorCtr="0">
            <a:normAutofit/>
          </a:bodyPr>
          <a:lstStyle>
            <a:lvl1pPr marL="457200" marR="0" lvl="0" indent="-381000" algn="l">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30906" y="22034"/>
            <a:ext cx="652311" cy="104895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16"/>
        <p:cNvGrpSpPr/>
        <p:nvPr/>
      </p:nvGrpSpPr>
      <p:grpSpPr>
        <a:xfrm>
          <a:off x="0" y="0"/>
          <a:ext cx="0" cy="0"/>
          <a:chOff x="0" y="0"/>
          <a:chExt cx="0" cy="0"/>
        </a:xfrm>
      </p:grpSpPr>
      <p:sp>
        <p:nvSpPr>
          <p:cNvPr id="17" name="Google Shape;17;p31"/>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8" name="Google Shape;18;p31"/>
          <p:cNvGrpSpPr/>
          <p:nvPr/>
        </p:nvGrpSpPr>
        <p:grpSpPr>
          <a:xfrm>
            <a:off x="830392" y="1191256"/>
            <a:ext cx="745763" cy="45826"/>
            <a:chOff x="4580561" y="2589004"/>
            <a:chExt cx="1064464" cy="25200"/>
          </a:xfrm>
        </p:grpSpPr>
        <p:sp>
          <p:nvSpPr>
            <p:cNvPr id="19" name="Google Shape;19;p31"/>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 name="Google Shape;21;p31"/>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22" name="Google Shape;22;p31"/>
          <p:cNvSpPr txBox="1">
            <a:spLocks noGrp="1"/>
          </p:cNvSpPr>
          <p:nvPr>
            <p:ph type="subTitle" idx="1"/>
          </p:nvPr>
        </p:nvSpPr>
        <p:spPr>
          <a:xfrm>
            <a:off x="729627" y="3172900"/>
            <a:ext cx="7688100" cy="541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23" name="Google Shape;23;p3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F213-031A-95AD-897E-DD31668ADECA}"/>
              </a:ext>
            </a:extLst>
          </p:cNvPr>
          <p:cNvSpPr>
            <a:spLocks noGrp="1"/>
          </p:cNvSpPr>
          <p:nvPr>
            <p:ph type="title"/>
          </p:nvPr>
        </p:nvSpPr>
        <p:spPr>
          <a:xfrm>
            <a:off x="311700" y="445025"/>
            <a:ext cx="8520600" cy="572700"/>
          </a:xfrm>
          <a:prstGeom prst="rect">
            <a:avLst/>
          </a:prstGeom>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CEDF7FE-8238-E952-EC20-938FFD7042D7}"/>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51272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4"/>
        <p:cNvGrpSpPr/>
        <p:nvPr/>
      </p:nvGrpSpPr>
      <p:grpSpPr>
        <a:xfrm>
          <a:off x="0" y="0"/>
          <a:ext cx="0" cy="0"/>
          <a:chOff x="0" y="0"/>
          <a:chExt cx="0" cy="0"/>
        </a:xfrm>
      </p:grpSpPr>
      <p:grpSp>
        <p:nvGrpSpPr>
          <p:cNvPr id="25" name="Google Shape;25;p32"/>
          <p:cNvGrpSpPr/>
          <p:nvPr/>
        </p:nvGrpSpPr>
        <p:grpSpPr>
          <a:xfrm>
            <a:off x="830392" y="1191256"/>
            <a:ext cx="745763" cy="45826"/>
            <a:chOff x="4580561" y="2589004"/>
            <a:chExt cx="1064464" cy="25200"/>
          </a:xfrm>
        </p:grpSpPr>
        <p:sp>
          <p:nvSpPr>
            <p:cNvPr id="26" name="Google Shape;26;p32"/>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32"/>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 name="Google Shape;28;p32"/>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29" name="Google Shape;29;p3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33"/>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2" name="Google Shape;32;p33"/>
          <p:cNvGrpSpPr/>
          <p:nvPr/>
        </p:nvGrpSpPr>
        <p:grpSpPr>
          <a:xfrm>
            <a:off x="830392" y="1191256"/>
            <a:ext cx="745763" cy="45826"/>
            <a:chOff x="4580561" y="2589004"/>
            <a:chExt cx="1064464" cy="25200"/>
          </a:xfrm>
        </p:grpSpPr>
        <p:sp>
          <p:nvSpPr>
            <p:cNvPr id="33" name="Google Shape;33;p3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3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5" name="Google Shape;35;p33"/>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36" name="Google Shape;36;p33"/>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37" name="Google Shape;37;p3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3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0" name="Google Shape;40;p34"/>
          <p:cNvGrpSpPr/>
          <p:nvPr/>
        </p:nvGrpSpPr>
        <p:grpSpPr>
          <a:xfrm>
            <a:off x="830392" y="1191256"/>
            <a:ext cx="745763" cy="45826"/>
            <a:chOff x="4580561" y="2589004"/>
            <a:chExt cx="1064464" cy="25200"/>
          </a:xfrm>
        </p:grpSpPr>
        <p:sp>
          <p:nvSpPr>
            <p:cNvPr id="41" name="Google Shape;41;p3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3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3" name="Google Shape;43;p34"/>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44" name="Google Shape;44;p34"/>
          <p:cNvSpPr txBox="1">
            <a:spLocks noGrp="1"/>
          </p:cNvSpPr>
          <p:nvPr>
            <p:ph type="body" idx="1"/>
          </p:nvPr>
        </p:nvSpPr>
        <p:spPr>
          <a:xfrm>
            <a:off x="729325"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5" name="Google Shape;45;p34"/>
          <p:cNvSpPr txBox="1">
            <a:spLocks noGrp="1"/>
          </p:cNvSpPr>
          <p:nvPr>
            <p:ph type="body" idx="2"/>
          </p:nvPr>
        </p:nvSpPr>
        <p:spPr>
          <a:xfrm>
            <a:off x="4643604"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6" name="Google Shape;46;p3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3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 name="Google Shape;49;p35"/>
          <p:cNvGrpSpPr/>
          <p:nvPr/>
        </p:nvGrpSpPr>
        <p:grpSpPr>
          <a:xfrm>
            <a:off x="830392" y="1191256"/>
            <a:ext cx="745763" cy="45826"/>
            <a:chOff x="4580561" y="2589004"/>
            <a:chExt cx="1064464" cy="25200"/>
          </a:xfrm>
        </p:grpSpPr>
        <p:sp>
          <p:nvSpPr>
            <p:cNvPr id="50" name="Google Shape;50;p3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3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2" name="Google Shape;52;p35"/>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53" name="Google Shape;53;p35"/>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4"/>
        <p:cNvGrpSpPr/>
        <p:nvPr/>
      </p:nvGrpSpPr>
      <p:grpSpPr>
        <a:xfrm>
          <a:off x="0" y="0"/>
          <a:ext cx="0" cy="0"/>
          <a:chOff x="0" y="0"/>
          <a:chExt cx="0" cy="0"/>
        </a:xfrm>
      </p:grpSpPr>
      <p:sp>
        <p:nvSpPr>
          <p:cNvPr id="55" name="Google Shape;55;p3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6" name="Google Shape;56;p36"/>
          <p:cNvGrpSpPr/>
          <p:nvPr/>
        </p:nvGrpSpPr>
        <p:grpSpPr>
          <a:xfrm>
            <a:off x="830392" y="1191256"/>
            <a:ext cx="745763" cy="45826"/>
            <a:chOff x="4580561" y="2589004"/>
            <a:chExt cx="1064464" cy="25200"/>
          </a:xfrm>
        </p:grpSpPr>
        <p:sp>
          <p:nvSpPr>
            <p:cNvPr id="57" name="Google Shape;57;p3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3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36"/>
          <p:cNvSpPr txBox="1">
            <a:spLocks noGrp="1"/>
          </p:cNvSpPr>
          <p:nvPr>
            <p:ph type="title"/>
          </p:nvPr>
        </p:nvSpPr>
        <p:spPr>
          <a:xfrm>
            <a:off x="730000" y="1318650"/>
            <a:ext cx="3300900" cy="1381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60" name="Google Shape;60;p36"/>
          <p:cNvSpPr txBox="1">
            <a:spLocks noGrp="1"/>
          </p:cNvSpPr>
          <p:nvPr>
            <p:ph type="body" idx="1"/>
          </p:nvPr>
        </p:nvSpPr>
        <p:spPr>
          <a:xfrm>
            <a:off x="721225" y="2781725"/>
            <a:ext cx="3300900" cy="1597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1" name="Google Shape;61;p36"/>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62"/>
        <p:cNvGrpSpPr/>
        <p:nvPr/>
      </p:nvGrpSpPr>
      <p:grpSpPr>
        <a:xfrm>
          <a:off x="0" y="0"/>
          <a:ext cx="0" cy="0"/>
          <a:chOff x="0" y="0"/>
          <a:chExt cx="0" cy="0"/>
        </a:xfrm>
      </p:grpSpPr>
      <p:grpSp>
        <p:nvGrpSpPr>
          <p:cNvPr id="63" name="Google Shape;63;p37"/>
          <p:cNvGrpSpPr/>
          <p:nvPr/>
        </p:nvGrpSpPr>
        <p:grpSpPr>
          <a:xfrm>
            <a:off x="830392" y="4169130"/>
            <a:ext cx="745763" cy="45826"/>
            <a:chOff x="4580561" y="2589004"/>
            <a:chExt cx="1064464" cy="25200"/>
          </a:xfrm>
        </p:grpSpPr>
        <p:sp>
          <p:nvSpPr>
            <p:cNvPr id="64" name="Google Shape;64;p37"/>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37"/>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 name="Google Shape;66;p37"/>
          <p:cNvSpPr txBox="1">
            <a:spLocks noGrp="1"/>
          </p:cNvSpPr>
          <p:nvPr>
            <p:ph type="title"/>
          </p:nvPr>
        </p:nvSpPr>
        <p:spPr>
          <a:xfrm>
            <a:off x="729450" y="864300"/>
            <a:ext cx="7021200" cy="2985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67" name="Google Shape;67;p37"/>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38"/>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0" name="Google Shape;70;p38"/>
          <p:cNvGrpSpPr/>
          <p:nvPr/>
        </p:nvGrpSpPr>
        <p:grpSpPr>
          <a:xfrm>
            <a:off x="830392" y="1191256"/>
            <a:ext cx="745763" cy="45826"/>
            <a:chOff x="4580561" y="2589004"/>
            <a:chExt cx="1064464" cy="25200"/>
          </a:xfrm>
        </p:grpSpPr>
        <p:sp>
          <p:nvSpPr>
            <p:cNvPr id="71" name="Google Shape;71;p3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3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 name="Google Shape;73;p38"/>
          <p:cNvSpPr txBox="1">
            <a:spLocks noGrp="1"/>
          </p:cNvSpPr>
          <p:nvPr>
            <p:ph type="title"/>
          </p:nvPr>
        </p:nvSpPr>
        <p:spPr>
          <a:xfrm>
            <a:off x="730000" y="1318650"/>
            <a:ext cx="3300900" cy="1687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74" name="Google Shape;74;p38"/>
          <p:cNvSpPr txBox="1">
            <a:spLocks noGrp="1"/>
          </p:cNvSpPr>
          <p:nvPr>
            <p:ph type="subTitle" idx="1"/>
          </p:nvPr>
        </p:nvSpPr>
        <p:spPr>
          <a:xfrm>
            <a:off x="724950" y="3161525"/>
            <a:ext cx="3300900" cy="759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75" name="Google Shape;75;p38"/>
          <p:cNvSpPr txBox="1">
            <a:spLocks noGrp="1"/>
          </p:cNvSpPr>
          <p:nvPr>
            <p:ph type="body" idx="2"/>
          </p:nvPr>
        </p:nvSpPr>
        <p:spPr>
          <a:xfrm>
            <a:off x="5174225" y="1352625"/>
            <a:ext cx="3374400" cy="3025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76" name="Google Shape;76;p3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7"/>
        <p:cNvGrpSpPr/>
        <p:nvPr/>
      </p:nvGrpSpPr>
      <p:grpSpPr>
        <a:xfrm>
          <a:off x="0" y="0"/>
          <a:ext cx="0" cy="0"/>
          <a:chOff x="0" y="0"/>
          <a:chExt cx="0" cy="0"/>
        </a:xfrm>
      </p:grpSpPr>
      <p:sp>
        <p:nvSpPr>
          <p:cNvPr id="78" name="Google Shape;78;p39"/>
          <p:cNvSpPr txBox="1">
            <a:spLocks noGrp="1"/>
          </p:cNvSpPr>
          <p:nvPr>
            <p:ph type="body" idx="1"/>
          </p:nvPr>
        </p:nvSpPr>
        <p:spPr>
          <a:xfrm>
            <a:off x="724950" y="4372551"/>
            <a:ext cx="7697400" cy="4605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79" name="Google Shape;79;p3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80"/>
        <p:cNvGrpSpPr/>
        <p:nvPr/>
      </p:nvGrpSpPr>
      <p:grpSpPr>
        <a:xfrm>
          <a:off x="0" y="0"/>
          <a:ext cx="0" cy="0"/>
          <a:chOff x="0" y="0"/>
          <a:chExt cx="0" cy="0"/>
        </a:xfrm>
      </p:grpSpPr>
      <p:grpSp>
        <p:nvGrpSpPr>
          <p:cNvPr id="81" name="Google Shape;81;p40"/>
          <p:cNvGrpSpPr/>
          <p:nvPr/>
        </p:nvGrpSpPr>
        <p:grpSpPr>
          <a:xfrm>
            <a:off x="830392" y="4169130"/>
            <a:ext cx="745763" cy="45826"/>
            <a:chOff x="4580561" y="2589004"/>
            <a:chExt cx="1064464" cy="25200"/>
          </a:xfrm>
        </p:grpSpPr>
        <p:sp>
          <p:nvSpPr>
            <p:cNvPr id="82" name="Google Shape;82;p4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4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4" name="Google Shape;84;p40"/>
          <p:cNvSpPr txBox="1">
            <a:spLocks noGrp="1"/>
          </p:cNvSpPr>
          <p:nvPr>
            <p:ph type="title" hasCustomPrompt="1"/>
          </p:nvPr>
        </p:nvSpPr>
        <p:spPr>
          <a:xfrm>
            <a:off x="729450" y="733950"/>
            <a:ext cx="7688400" cy="124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5" name="Google Shape;85;p40"/>
          <p:cNvSpPr txBox="1">
            <a:spLocks noGrp="1"/>
          </p:cNvSpPr>
          <p:nvPr>
            <p:ph type="body" idx="1"/>
          </p:nvPr>
        </p:nvSpPr>
        <p:spPr>
          <a:xfrm>
            <a:off x="729450" y="2272888"/>
            <a:ext cx="7688400" cy="15804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86" name="Google Shape;86;p4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7"/>
        <p:cNvGrpSpPr/>
        <p:nvPr/>
      </p:nvGrpSpPr>
      <p:grpSpPr>
        <a:xfrm>
          <a:off x="0" y="0"/>
          <a:ext cx="0" cy="0"/>
          <a:chOff x="0" y="0"/>
          <a:chExt cx="0" cy="0"/>
        </a:xfrm>
      </p:grpSpPr>
      <p:sp>
        <p:nvSpPr>
          <p:cNvPr id="88" name="Google Shape;88;p4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0E067-05BA-3068-8F0D-B3C073B8031E}"/>
              </a:ext>
            </a:extLst>
          </p:cNvPr>
          <p:cNvSpPr>
            <a:spLocks noGrp="1"/>
          </p:cNvSpPr>
          <p:nvPr>
            <p:ph type="title"/>
          </p:nvPr>
        </p:nvSpPr>
        <p:spPr>
          <a:xfrm>
            <a:off x="311700" y="445025"/>
            <a:ext cx="8520600" cy="572700"/>
          </a:xfrm>
          <a:prstGeom prst="rect">
            <a:avLst/>
          </a:prstGeom>
        </p:spPr>
        <p:txBody>
          <a:bodyPr/>
          <a:lstStyle/>
          <a:p>
            <a:r>
              <a:rPr lang="en-US" dirty="0"/>
              <a:t>Click to edit Master title style</a:t>
            </a:r>
            <a:endParaRPr lang="en-IN" dirty="0"/>
          </a:p>
        </p:txBody>
      </p:sp>
      <p:sp>
        <p:nvSpPr>
          <p:cNvPr id="3" name="Slide Number Placeholder 2">
            <a:extLst>
              <a:ext uri="{FF2B5EF4-FFF2-40B4-BE49-F238E27FC236}">
                <a16:creationId xmlns:a16="http://schemas.microsoft.com/office/drawing/2014/main" id="{4399BB7D-4B8D-4670-0220-D1EB44F3B350}"/>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98750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7" name="Google Shape;7;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8" name="Google Shape;8;p2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62"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s://www.geeksforgeeks.org/introduction-to-algorithms/" TargetMode="External"/><Relationship Id="rId7" Type="http://schemas.openxmlformats.org/officeDocument/2006/relationships/hyperlink" Target="https://www.javatpoint.com/ds-linked-list-implementation-of-stack#:~:text=Linked%20list%20allocates%20the%20memory,successor%20node%20in%20the%20stack."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hyperlink" Target="https://www.geeksforgeeks.org/stack-data-structure/" TargetMode="External"/><Relationship Id="rId5" Type="http://schemas.openxmlformats.org/officeDocument/2006/relationships/hyperlink" Target="https://gradeup.co/stacks-i-12d755b7-c59a-11e5-9776-de767a2dfd2a" TargetMode="External"/><Relationship Id="rId4" Type="http://schemas.openxmlformats.org/officeDocument/2006/relationships/hyperlink" Target="https://www.tutorialspoint.com/data_structures_algorithms/array_data_structure.htm"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onlinecourses.nptel.ac.in/noc23_cs96/preview"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hyperlink" Target="https://www.linkedin.com/learning/learning-algorithms" TargetMode="External"/><Relationship Id="rId5" Type="http://schemas.openxmlformats.org/officeDocument/2006/relationships/hyperlink" Target="https://nptel.ac.in/courses/106106208" TargetMode="External"/><Relationship Id="rId4" Type="http://schemas.openxmlformats.org/officeDocument/2006/relationships/hyperlink" Target="https://nptel.ac.in/courses/106106131"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66537" y="1217517"/>
            <a:ext cx="2782983" cy="2782983"/>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6572250" y="4881563"/>
            <a:ext cx="20574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4" name="Google Shape;94;p1"/>
          <p:cNvSpPr/>
          <p:nvPr/>
        </p:nvSpPr>
        <p:spPr>
          <a:xfrm rot="10800000" flipH="1">
            <a:off x="7796638" y="4287563"/>
            <a:ext cx="968400" cy="867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6" name="Google Shape;96;p1"/>
          <p:cNvSpPr/>
          <p:nvPr/>
        </p:nvSpPr>
        <p:spPr>
          <a:xfrm flipH="1">
            <a:off x="5284799" y="-48815"/>
            <a:ext cx="3859200" cy="4389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7" name="Google Shape;97;p1"/>
          <p:cNvSpPr/>
          <p:nvPr/>
        </p:nvSpPr>
        <p:spPr>
          <a:xfrm>
            <a:off x="1593056" y="1519145"/>
            <a:ext cx="5122200" cy="11856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8" name="Google Shape;98;p1"/>
          <p:cNvSpPr/>
          <p:nvPr/>
        </p:nvSpPr>
        <p:spPr>
          <a:xfrm flipH="1">
            <a:off x="7360500" y="3929250"/>
            <a:ext cx="1774800" cy="12003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2" name="Google Shape;102;p1"/>
          <p:cNvSpPr txBox="1"/>
          <p:nvPr/>
        </p:nvSpPr>
        <p:spPr>
          <a:xfrm>
            <a:off x="771896" y="951584"/>
            <a:ext cx="8213400" cy="4131347"/>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chemeClr val="dk1"/>
              </a:buClr>
              <a:buSzPts val="3200"/>
              <a:buFont typeface="Arial Black"/>
              <a:buNone/>
            </a:pPr>
            <a:r>
              <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UNIVERSITY INSTITUTE OF </a:t>
            </a:r>
            <a:r>
              <a:rPr lang="en-US" sz="3200" b="1" i="0" u="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ENGINEERING</a:t>
            </a:r>
            <a:endParaRPr lang="en-US" sz="32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90000"/>
              </a:lnSpc>
              <a:spcBef>
                <a:spcPts val="1120"/>
              </a:spcBef>
              <a:spcAft>
                <a:spcPts val="0"/>
              </a:spcAft>
              <a:buClr>
                <a:schemeClr val="dk1"/>
              </a:buClr>
              <a:buSzPts val="3200"/>
              <a:buFont typeface="Arial Black"/>
              <a:buNone/>
            </a:pPr>
            <a:r>
              <a:rPr lang="en-US" sz="3200" b="1" i="0" u="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COMPUTER SCIENCE ENGINEERING</a:t>
            </a:r>
            <a:endParaRPr lang="en-US" sz="32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90000"/>
              </a:lnSpc>
              <a:spcBef>
                <a:spcPts val="1120"/>
              </a:spcBef>
              <a:spcAft>
                <a:spcPts val="0"/>
              </a:spcAft>
              <a:buClr>
                <a:schemeClr val="dk1"/>
              </a:buClr>
              <a:buSzPts val="2800"/>
              <a:buFont typeface="Times New Roman"/>
              <a:buNone/>
            </a:pPr>
            <a:r>
              <a:rPr lang="en-US" sz="2000" b="0" i="0" u="none" dirty="0">
                <a:solidFill>
                  <a:schemeClr val="bg2"/>
                </a:solidFill>
                <a:latin typeface="Times New Roman"/>
                <a:ea typeface="Times New Roman"/>
                <a:cs typeface="Times New Roman"/>
                <a:sym typeface="Times New Roman"/>
              </a:rPr>
              <a:t>Bachelor of Engineering</a:t>
            </a:r>
            <a:endParaRPr lang="en-US" sz="2000" dirty="0">
              <a:solidFill>
                <a:schemeClr val="bg2"/>
              </a:solidFill>
            </a:endParaRPr>
          </a:p>
          <a:p>
            <a:pPr algn="ctr">
              <a:lnSpc>
                <a:spcPct val="90000"/>
              </a:lnSpc>
              <a:spcBef>
                <a:spcPts val="1120"/>
              </a:spcBef>
              <a:buClr>
                <a:schemeClr val="dk1"/>
              </a:buClr>
              <a:buSzPts val="2800"/>
            </a:pPr>
            <a:r>
              <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Semester: 6th</a:t>
            </a:r>
            <a:endPar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lnSpc>
                <a:spcPct val="90000"/>
              </a:lnSpc>
              <a:spcBef>
                <a:spcPts val="980"/>
              </a:spcBef>
              <a:buClr>
                <a:schemeClr val="dk1"/>
              </a:buClr>
              <a:buSzPts val="2800"/>
            </a:pPr>
            <a:r>
              <a:rPr lang="en-US" sz="2400" b="1" i="0" u="none" dirty="0">
                <a:solidFill>
                  <a:schemeClr val="bg2"/>
                </a:solidFill>
                <a:latin typeface="Arial"/>
                <a:ea typeface="Arial"/>
                <a:cs typeface="Arial"/>
                <a:sym typeface="Arial"/>
              </a:rPr>
              <a:t>Design and Analysis of Algorithms</a:t>
            </a:r>
          </a:p>
          <a:p>
            <a:pPr algn="ctr">
              <a:lnSpc>
                <a:spcPct val="90000"/>
              </a:lnSpc>
              <a:spcBef>
                <a:spcPts val="980"/>
              </a:spcBef>
              <a:buClr>
                <a:schemeClr val="dk1"/>
              </a:buClr>
              <a:buSzPts val="2800"/>
            </a:pPr>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rPr>
              <a:t>(23</a:t>
            </a:r>
            <a:r>
              <a:rPr lang="en-US" sz="2400" b="0" i="0" u="none" dirty="0">
                <a:solidFill>
                  <a:schemeClr val="bg2"/>
                </a:solidFill>
                <a:latin typeface="Times New Roman"/>
                <a:ea typeface="Times New Roman"/>
                <a:cs typeface="Times New Roman"/>
                <a:sym typeface="Times New Roman"/>
              </a:rPr>
              <a:t>CS</a:t>
            </a:r>
            <a:r>
              <a:rPr lang="en-US" sz="2400" dirty="0">
                <a:solidFill>
                  <a:schemeClr val="bg2"/>
                </a:solidFill>
                <a:latin typeface="Times New Roman"/>
                <a:ea typeface="Times New Roman"/>
                <a:cs typeface="Times New Roman"/>
                <a:sym typeface="Times New Roman"/>
              </a:rPr>
              <a:t>H</a:t>
            </a:r>
            <a:r>
              <a:rPr lang="en-US" sz="2400" b="0" i="0" u="none" dirty="0">
                <a:solidFill>
                  <a:schemeClr val="bg2"/>
                </a:solidFill>
                <a:latin typeface="Times New Roman"/>
                <a:ea typeface="Times New Roman"/>
                <a:cs typeface="Times New Roman"/>
                <a:sym typeface="Times New Roman"/>
              </a:rPr>
              <a:t>-301/IT</a:t>
            </a:r>
            <a:r>
              <a:rPr lang="en-US" sz="2400" dirty="0">
                <a:solidFill>
                  <a:schemeClr val="bg2"/>
                </a:solidFill>
                <a:latin typeface="Times New Roman"/>
                <a:ea typeface="Times New Roman"/>
                <a:cs typeface="Times New Roman"/>
                <a:sym typeface="Times New Roman"/>
              </a:rPr>
              <a:t>H</a:t>
            </a:r>
            <a:r>
              <a:rPr lang="en-US" sz="2400" b="0" i="0" u="none" dirty="0">
                <a:solidFill>
                  <a:schemeClr val="bg2"/>
                </a:solidFill>
                <a:latin typeface="Times New Roman"/>
                <a:ea typeface="Times New Roman"/>
                <a:cs typeface="Times New Roman"/>
                <a:sym typeface="Times New Roman"/>
              </a:rPr>
              <a:t>-301</a:t>
            </a:r>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rPr>
              <a:t>)</a:t>
            </a:r>
            <a:endPar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Unit No.  1                    Chapter No.  2                  Lecture No.7</a:t>
            </a:r>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Topic : </a:t>
            </a:r>
            <a:r>
              <a:rPr lang="en-US" altLang="en-US" sz="1800" b="1" dirty="0">
                <a:solidFill>
                  <a:srgbClr val="000000"/>
                </a:solidFill>
                <a:latin typeface="Times New Roman" panose="02020603050405020304" pitchFamily="18" charset="0"/>
                <a:cs typeface="Calibri" panose="020F0502020204030204" pitchFamily="34" charset="0"/>
              </a:rPr>
              <a:t>Arrays, Stack</a:t>
            </a:r>
            <a:r>
              <a:rPr lang="en-US" altLang="en-US" sz="1800" b="1" dirty="0">
                <a:solidFill>
                  <a:srgbClr val="262626"/>
                </a:solidFill>
                <a:latin typeface="Times New Roman" panose="02020603050405020304" pitchFamily="18" charset="0"/>
                <a:cs typeface="Calibri" panose="020F0502020204030204" pitchFamily="34" charset="0"/>
              </a:rPr>
              <a:t> </a:t>
            </a:r>
            <a:endParaRPr lang="en-US" sz="1800" b="1" i="0" u="none" dirty="0">
              <a:solidFill>
                <a:schemeClr val="bg2"/>
              </a:solidFill>
              <a:latin typeface="Times New Roman"/>
              <a:ea typeface="Times New Roman"/>
              <a:cs typeface="Times New Roman"/>
              <a:sym typeface="Times New Roman"/>
            </a:endParaRPr>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Richa Dhiman E11307                                                    Assistant Professor</a:t>
            </a:r>
            <a:endParaRPr lang="en-US" sz="3200" b="1" i="0" u="none" strike="noStrike" cap="none" dirty="0">
              <a:solidFill>
                <a:schemeClr val="bg2"/>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685E2170-6E52-163D-4579-180ED8258362}"/>
              </a:ext>
            </a:extLst>
          </p:cNvPr>
          <p:cNvSpPr txBox="1"/>
          <p:nvPr/>
        </p:nvSpPr>
        <p:spPr>
          <a:xfrm>
            <a:off x="5284800" y="0"/>
            <a:ext cx="3859199" cy="615553"/>
          </a:xfrm>
          <a:prstGeom prst="rect">
            <a:avLst/>
          </a:prstGeom>
          <a:noFill/>
        </p:spPr>
        <p:txBody>
          <a:bodyPr wrap="square" rtlCol="0">
            <a:spAutoFit/>
          </a:bodyPr>
          <a:lstStyle/>
          <a:p>
            <a:pPr algn="r"/>
            <a:r>
              <a:rPr lang="en-IN" sz="1800" b="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Academic Session 2025-26 </a:t>
            </a:r>
          </a:p>
          <a:p>
            <a:pPr algn="r"/>
            <a:r>
              <a:rPr lang="en-IN" sz="1600" b="1" dirty="0">
                <a:latin typeface="Calibri" panose="020F0502020204030204" pitchFamily="34" charset="0"/>
                <a:ea typeface="Calibri" panose="020F0502020204030204" pitchFamily="34" charset="0"/>
                <a:cs typeface="Calibri" panose="020F0502020204030204" pitchFamily="34" charset="0"/>
              </a:rPr>
              <a:t>ODD Semester Jul-Dec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EF27945-C1E1-DDBF-6B5A-32A668D1B0E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B82306DF-DC71-A9BC-8B35-D6290EE31CD4}"/>
              </a:ext>
            </a:extLst>
          </p:cNvPr>
          <p:cNvGrpSpPr/>
          <p:nvPr/>
        </p:nvGrpSpPr>
        <p:grpSpPr>
          <a:xfrm>
            <a:off x="724394" y="218172"/>
            <a:ext cx="8300849" cy="444600"/>
            <a:chOff x="0" y="6299"/>
            <a:chExt cx="5580934" cy="444600"/>
          </a:xfrm>
          <a:noFill/>
        </p:grpSpPr>
        <p:sp>
          <p:nvSpPr>
            <p:cNvPr id="109" name="Google Shape;109;p2">
              <a:extLst>
                <a:ext uri="{FF2B5EF4-FFF2-40B4-BE49-F238E27FC236}">
                  <a16:creationId xmlns:a16="http://schemas.microsoft.com/office/drawing/2014/main" id="{CFDB14A8-16BA-BF7C-C8D7-1E6DAD65FFC9}"/>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B1FC2D67-AE60-4AB2-F4BD-027A2C4342A0}"/>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3200" b="1" i="0" u="none" strike="noStrike" cap="none" dirty="0">
                  <a:solidFill>
                    <a:schemeClr val="bg2"/>
                  </a:solidFill>
                  <a:latin typeface="Cambria"/>
                  <a:ea typeface="Cambria"/>
                  <a:cs typeface="Cambria"/>
                  <a:sym typeface="Cambria"/>
                </a:rPr>
                <a:t>Learning Objectives &amp; Outcomes</a:t>
              </a:r>
              <a:endParaRPr lang="en-US" sz="32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7" name="TextBox 6"/>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a:t>
            </a:r>
          </a:p>
        </p:txBody>
      </p:sp>
      <p:sp>
        <p:nvSpPr>
          <p:cNvPr id="4" name="Content Placeholder 2">
            <a:extLst>
              <a:ext uri="{FF2B5EF4-FFF2-40B4-BE49-F238E27FC236}">
                <a16:creationId xmlns:a16="http://schemas.microsoft.com/office/drawing/2014/main" id="{17A3F73A-B7D7-926E-CF41-FD8CA731EB51}"/>
              </a:ext>
            </a:extLst>
          </p:cNvPr>
          <p:cNvSpPr txBox="1">
            <a:spLocks/>
          </p:cNvSpPr>
          <p:nvPr/>
        </p:nvSpPr>
        <p:spPr bwMode="auto">
          <a:xfrm>
            <a:off x="874318" y="910389"/>
            <a:ext cx="8001000" cy="3993235"/>
          </a:xfrm>
          <a:prstGeom prst="rect">
            <a:avLst/>
          </a:prstGeom>
          <a:noFill/>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ts val="0"/>
              </a:spcBef>
              <a:spcAft>
                <a:spcPts val="0"/>
              </a:spcAft>
              <a:buClr>
                <a:sysClr val="windowText" lastClr="000000"/>
              </a:buClr>
              <a:buSzPts val="2000"/>
              <a:buFont typeface="Arial" panose="020B0604020202020204" pitchFamily="34" charset="0"/>
              <a:buNone/>
              <a:tabLst/>
              <a:defRPr/>
            </a:pPr>
            <a:r>
              <a:rPr kumimoji="0" lang="en-US" sz="2400" b="1" i="0" u="none" strike="noStrike" kern="1200" cap="none" spc="0" normalizeH="0" baseline="0" noProof="0">
                <a:ln>
                  <a:noFill/>
                </a:ln>
                <a:solidFill>
                  <a:sysClr val="windowText" lastClr="000000"/>
                </a:solidFill>
                <a:effectLst/>
                <a:uLnTx/>
                <a:uFillTx/>
                <a:latin typeface="Cambria"/>
                <a:ea typeface="Cambria"/>
                <a:cs typeface="Cambria"/>
                <a:sym typeface="Cambria"/>
              </a:rPr>
              <a:t>Objective:</a:t>
            </a:r>
            <a:endParaRPr kumimoji="0" lang="en-US" sz="2400" b="1" i="0" u="none" strike="noStrike" kern="1200" cap="none" spc="0" normalizeH="0" baseline="0" noProof="0">
              <a:ln>
                <a:noFill/>
              </a:ln>
              <a:solidFill>
                <a:sysClr val="windowText" lastClr="000000"/>
              </a:solidFill>
              <a:effectLst/>
              <a:uLnTx/>
              <a:uFillTx/>
              <a:latin typeface="Cambria" pitchFamily="18" charset="0"/>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400" b="0" i="0" u="none" strike="noStrike" kern="1200" cap="none" spc="0" normalizeH="0" baseline="0" noProof="0">
                <a:ln>
                  <a:noFill/>
                </a:ln>
                <a:solidFill>
                  <a:sysClr val="windowText" lastClr="000000"/>
                </a:solidFill>
                <a:effectLst/>
                <a:uLnTx/>
                <a:uFillTx/>
                <a:latin typeface="Cambria" pitchFamily="18" charset="0"/>
                <a:ea typeface="+mn-ea"/>
                <a:cs typeface="+mn-cs"/>
              </a:rPr>
              <a:t>To understand the Array , Stack and its operation performed on it.</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endParaRPr kumimoji="0" lang="en-US" sz="2400" b="0" i="0" u="none" strike="noStrike" kern="1200" cap="none" spc="0" normalizeH="0" baseline="0" noProof="0">
              <a:ln>
                <a:noFill/>
              </a:ln>
              <a:solidFill>
                <a:sysClr val="windowText" lastClr="000000"/>
              </a:solidFill>
              <a:effectLst/>
              <a:uLnTx/>
              <a:uFillTx/>
              <a:latin typeface="Cambria" pitchFamily="18" charset="0"/>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0" lang="en-US" sz="2400" b="1" i="0" u="none" strike="noStrike" kern="1200" cap="none" spc="0" normalizeH="0" baseline="0" noProof="0">
                <a:ln>
                  <a:noFill/>
                </a:ln>
                <a:solidFill>
                  <a:sysClr val="windowText" lastClr="000000"/>
                </a:solidFill>
                <a:effectLst/>
                <a:uLnTx/>
                <a:uFillTx/>
                <a:latin typeface="Cambria" pitchFamily="18" charset="0"/>
                <a:ea typeface="+mn-ea"/>
                <a:cs typeface="+mn-cs"/>
              </a:rPr>
              <a:t>Outcome:</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400" b="0" i="0" u="none" strike="noStrike" kern="1200" cap="none" spc="0" normalizeH="0" baseline="0" noProof="0">
                <a:ln>
                  <a:noFill/>
                </a:ln>
                <a:solidFill>
                  <a:sysClr val="windowText" lastClr="000000"/>
                </a:solidFill>
                <a:effectLst/>
                <a:uLnTx/>
                <a:uFillTx/>
                <a:latin typeface="Cambria" pitchFamily="18" charset="0"/>
                <a:ea typeface="+mn-ea"/>
                <a:cs typeface="+mn-cs"/>
              </a:rPr>
              <a:t>Student will understand</a:t>
            </a:r>
          </a:p>
          <a:p>
            <a:pPr marL="342900" marR="0" lvl="0" indent="-342900" algn="l" defTabSz="914400" rtl="0" eaLnBrk="0" fontAlgn="base" latinLnBrk="0" hangingPunct="0">
              <a:lnSpc>
                <a:spcPct val="100000"/>
              </a:lnSpc>
              <a:spcBef>
                <a:spcPct val="20000"/>
              </a:spcBef>
              <a:spcAft>
                <a:spcPct val="0"/>
              </a:spcAft>
              <a:buClrTx/>
              <a:buSzTx/>
              <a:buFont typeface="Wingdings" panose="05000000000000000000" pitchFamily="2" charset="2"/>
              <a:buChar char="ü"/>
              <a:tabLst/>
              <a:defRPr/>
            </a:pPr>
            <a:r>
              <a:rPr kumimoji="0" lang="en-US" sz="2400" b="0" i="0" u="none" strike="noStrike" kern="1200" cap="none" spc="0" normalizeH="0" baseline="0" noProof="0">
                <a:ln>
                  <a:noFill/>
                </a:ln>
                <a:solidFill>
                  <a:sysClr val="windowText" lastClr="000000"/>
                </a:solidFill>
                <a:effectLst/>
                <a:uLnTx/>
                <a:uFillTx/>
                <a:latin typeface="Cambria" pitchFamily="18" charset="0"/>
                <a:ea typeface="+mn-ea"/>
                <a:cs typeface="+mn-cs"/>
              </a:rPr>
              <a:t>    arrays and its types</a:t>
            </a:r>
          </a:p>
          <a:p>
            <a:pPr marL="342900" marR="0" lvl="0" indent="-342900" algn="l" defTabSz="914400" rtl="0" eaLnBrk="0" fontAlgn="base" latinLnBrk="0" hangingPunct="0">
              <a:lnSpc>
                <a:spcPct val="100000"/>
              </a:lnSpc>
              <a:spcBef>
                <a:spcPct val="20000"/>
              </a:spcBef>
              <a:spcAft>
                <a:spcPct val="0"/>
              </a:spcAft>
              <a:buClrTx/>
              <a:buSzTx/>
              <a:buFont typeface="Wingdings" panose="05000000000000000000" pitchFamily="2" charset="2"/>
              <a:buChar char="ü"/>
              <a:tabLst/>
              <a:defRPr/>
            </a:pPr>
            <a:r>
              <a:rPr kumimoji="0" lang="en-US" sz="2400" b="0" i="0" u="none" strike="noStrike" kern="1200" cap="none" spc="0" normalizeH="0" baseline="0" noProof="0">
                <a:ln>
                  <a:noFill/>
                </a:ln>
                <a:solidFill>
                  <a:sysClr val="windowText" lastClr="000000"/>
                </a:solidFill>
                <a:effectLst/>
                <a:uLnTx/>
                <a:uFillTx/>
                <a:latin typeface="Cambria" pitchFamily="18" charset="0"/>
                <a:ea typeface="+mn-ea"/>
                <a:cs typeface="+mn-cs"/>
              </a:rPr>
              <a:t>stacks and its operations.</a:t>
            </a:r>
          </a:p>
          <a:p>
            <a:pPr marL="342900" marR="0" lvl="0" indent="-342900" algn="l" defTabSz="914400" rtl="0" eaLnBrk="0" fontAlgn="base" latinLnBrk="0" hangingPunct="0">
              <a:lnSpc>
                <a:spcPct val="100000"/>
              </a:lnSpc>
              <a:spcBef>
                <a:spcPct val="20000"/>
              </a:spcBef>
              <a:spcAft>
                <a:spcPct val="0"/>
              </a:spcAft>
              <a:buClrTx/>
              <a:buSzTx/>
              <a:buFont typeface="Wingdings" panose="05000000000000000000" pitchFamily="2" charset="2"/>
              <a:buChar char="ü"/>
              <a:tabLst/>
              <a:defRPr/>
            </a:pPr>
            <a:r>
              <a:rPr kumimoji="0" lang="en-US" sz="2400" b="0" i="0" u="none" strike="noStrike" kern="1200" cap="none" spc="0" normalizeH="0" baseline="0" noProof="0">
                <a:ln>
                  <a:noFill/>
                </a:ln>
                <a:solidFill>
                  <a:sysClr val="windowText" lastClr="000000"/>
                </a:solidFill>
                <a:effectLst/>
                <a:uLnTx/>
                <a:uFillTx/>
                <a:latin typeface="Cambria" pitchFamily="18" charset="0"/>
                <a:ea typeface="+mn-ea"/>
                <a:cs typeface="+mn-cs"/>
              </a:rPr>
              <a:t>    Application of Stack</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spTree>
    <p:extLst>
      <p:ext uri="{BB962C8B-B14F-4D97-AF65-F5344CB8AC3E}">
        <p14:creationId xmlns:p14="http://schemas.microsoft.com/office/powerpoint/2010/main" val="2107231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F165C73-F363-A304-734E-7CBF8D3F9F65}"/>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8B576DE2-C283-2E3E-CC36-4B7ABE8B8741}"/>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a:t>
            </a:r>
          </a:p>
        </p:txBody>
      </p:sp>
      <p:sp>
        <p:nvSpPr>
          <p:cNvPr id="3" name="Google Shape;107;p17">
            <a:extLst>
              <a:ext uri="{FF2B5EF4-FFF2-40B4-BE49-F238E27FC236}">
                <a16:creationId xmlns:a16="http://schemas.microsoft.com/office/drawing/2014/main" id="{B358E63E-07C8-17EF-6D5A-1562CD73B343}"/>
              </a:ext>
            </a:extLst>
          </p:cNvPr>
          <p:cNvSpPr txBox="1">
            <a:spLocks/>
          </p:cNvSpPr>
          <p:nvPr/>
        </p:nvSpPr>
        <p:spPr>
          <a:xfrm>
            <a:off x="968776" y="197075"/>
            <a:ext cx="7549582" cy="609600"/>
          </a:xfrm>
          <a:prstGeom prst="rect">
            <a:avLst/>
          </a:prstGeom>
          <a:scene3d>
            <a:camera prst="orthographicFront"/>
            <a:lightRig rig="threePt" dir="t"/>
          </a:scene3d>
          <a:sp3d>
            <a:bevelT prst="relaxedInset"/>
          </a:sp3d>
        </p:spPr>
        <p:txBody>
          <a:bodyPr spcFirstLastPara="1" wrap="square" lIns="91425" tIns="45700" rIns="91425" bIns="45700" anchor="ctr" anchorCtr="0">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chemeClr val="bg2"/>
                </a:solidFill>
                <a:effectLst/>
                <a:uLnTx/>
                <a:uFillTx/>
                <a:latin typeface="Cambria" pitchFamily="18" charset="0"/>
                <a:ea typeface="+mj-ea"/>
                <a:cs typeface="+mj-cs"/>
              </a:rPr>
              <a:t>Arrays</a:t>
            </a:r>
            <a:endParaRPr kumimoji="0" lang="en-US" sz="2800" b="1" i="0" u="none" strike="noStrike" kern="1200" cap="none" spc="0" normalizeH="0" baseline="0" noProof="0" dirty="0">
              <a:ln>
                <a:noFill/>
              </a:ln>
              <a:solidFill>
                <a:schemeClr val="bg2"/>
              </a:solidFill>
              <a:effectLst/>
              <a:uLnTx/>
              <a:uFillTx/>
              <a:latin typeface="Cambria" pitchFamily="18" charset="0"/>
              <a:ea typeface="+mj-ea"/>
              <a:cs typeface="+mj-cs"/>
            </a:endParaRPr>
          </a:p>
        </p:txBody>
      </p:sp>
      <p:sp>
        <p:nvSpPr>
          <p:cNvPr id="4" name="Google Shape;108;p17">
            <a:extLst>
              <a:ext uri="{FF2B5EF4-FFF2-40B4-BE49-F238E27FC236}">
                <a16:creationId xmlns:a16="http://schemas.microsoft.com/office/drawing/2014/main" id="{CDDCAD9F-24A3-1F99-18D5-B14E94DCDDAD}"/>
              </a:ext>
            </a:extLst>
          </p:cNvPr>
          <p:cNvSpPr txBox="1">
            <a:spLocks/>
          </p:cNvSpPr>
          <p:nvPr/>
        </p:nvSpPr>
        <p:spPr bwMode="auto">
          <a:xfrm>
            <a:off x="757500" y="806675"/>
            <a:ext cx="8001000" cy="3909704"/>
          </a:xfrm>
          <a:prstGeom prst="rect">
            <a:avLst/>
          </a:prstGeom>
          <a:noFill/>
        </p:spPr>
        <p:txBody>
          <a:bodyPr vert="horz" wrap="square" lIns="91425" tIns="45700" rIns="91425" bIns="45700" numCol="1"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An array is a collection of items stored at contiguous memory locations. The idea is to store multiple items of the same type together.</a:t>
            </a: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Arrays are fixed size linear data structures in which the elements are accessed by indicating its index value.</a:t>
            </a:r>
          </a:p>
          <a:p>
            <a:pPr marL="0" marR="0" lvl="0" indent="0"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Syntax:</a:t>
            </a:r>
            <a:b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br>
            <a: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Let us now see the syntax for using an array:</a:t>
            </a:r>
            <a:b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br>
            <a: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Array Declaration: Datatype </a:t>
            </a:r>
            <a:r>
              <a:rPr kumimoji="0" lang="en-US" sz="2400" b="0" i="0" u="none" strike="noStrike" kern="1200" cap="none" spc="0" normalizeH="0" baseline="0" noProof="0" dirty="0" err="1">
                <a:ln>
                  <a:noFill/>
                </a:ln>
                <a:solidFill>
                  <a:sysClr val="windowText" lastClr="000000"/>
                </a:solidFill>
                <a:effectLst/>
                <a:uLnTx/>
                <a:uFillTx/>
                <a:latin typeface="Cambria" pitchFamily="18" charset="0"/>
                <a:ea typeface="+mn-ea"/>
                <a:cs typeface="+mn-cs"/>
              </a:rPr>
              <a:t>array_name</a:t>
            </a:r>
            <a: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[size]</a:t>
            </a:r>
            <a:b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br>
            <a:b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br>
            <a: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Array Initialization: Datatype </a:t>
            </a:r>
            <a:r>
              <a:rPr kumimoji="0" lang="en-US" sz="2400" b="0" i="0" u="none" strike="noStrike" kern="1200" cap="none" spc="0" normalizeH="0" baseline="0" noProof="0" dirty="0" err="1">
                <a:ln>
                  <a:noFill/>
                </a:ln>
                <a:solidFill>
                  <a:sysClr val="windowText" lastClr="000000"/>
                </a:solidFill>
                <a:effectLst/>
                <a:uLnTx/>
                <a:uFillTx/>
                <a:latin typeface="Cambria" pitchFamily="18" charset="0"/>
                <a:ea typeface="+mn-ea"/>
                <a:cs typeface="+mn-cs"/>
              </a:rPr>
              <a:t>array_name</a:t>
            </a:r>
            <a: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[size] = {value1, value2…</a:t>
            </a:r>
            <a:r>
              <a:rPr kumimoji="0" lang="en-US" sz="2400" b="0" i="0" u="none" strike="noStrike" kern="1200" cap="none" spc="0" normalizeH="0" baseline="0" noProof="0" dirty="0" err="1">
                <a:ln>
                  <a:noFill/>
                </a:ln>
                <a:solidFill>
                  <a:sysClr val="windowText" lastClr="000000"/>
                </a:solidFill>
                <a:effectLst/>
                <a:uLnTx/>
                <a:uFillTx/>
                <a:latin typeface="Cambria" pitchFamily="18" charset="0"/>
                <a:ea typeface="+mn-ea"/>
                <a:cs typeface="+mn-cs"/>
              </a:rPr>
              <a:t>Valuen</a:t>
            </a:r>
            <a: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a:t>
            </a:r>
            <a:b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br>
            <a:endPar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spTree>
    <p:extLst>
      <p:ext uri="{BB962C8B-B14F-4D97-AF65-F5344CB8AC3E}">
        <p14:creationId xmlns:p14="http://schemas.microsoft.com/office/powerpoint/2010/main" val="1337512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949C85D7-2162-3728-41C8-9CA50DA575A0}"/>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97259D0E-39AA-3258-E915-0F5AE1AE1FEF}"/>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9C82D24C-CFB6-10CB-9BE5-A8DE190188CE}"/>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3</a:t>
            </a:r>
            <a:endParaRPr lang="en-IN" dirty="0"/>
          </a:p>
        </p:txBody>
      </p:sp>
      <p:sp>
        <p:nvSpPr>
          <p:cNvPr id="2" name="Title 1">
            <a:extLst>
              <a:ext uri="{FF2B5EF4-FFF2-40B4-BE49-F238E27FC236}">
                <a16:creationId xmlns:a16="http://schemas.microsoft.com/office/drawing/2014/main" id="{404C3D0D-AF00-66EC-5534-51C4EF918CCB}"/>
              </a:ext>
            </a:extLst>
          </p:cNvPr>
          <p:cNvSpPr txBox="1">
            <a:spLocks/>
          </p:cNvSpPr>
          <p:nvPr/>
        </p:nvSpPr>
        <p:spPr>
          <a:xfrm>
            <a:off x="968776" y="197075"/>
            <a:ext cx="7537550" cy="609600"/>
          </a:xfrm>
          <a:prstGeom prst="rect">
            <a:avLst/>
          </a:prstGeom>
          <a:scene3d>
            <a:camera prst="orthographicFront"/>
            <a:lightRig rig="threePt" dir="t"/>
          </a:scene3d>
          <a:sp3d>
            <a:bevelT prst="relaxedInset"/>
          </a:sp3d>
        </p:spPr>
        <p:txBody>
          <a:bodyPr anchor="ctr">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chemeClr val="bg2"/>
                </a:solidFill>
                <a:effectLst/>
                <a:uLnTx/>
                <a:uFillTx/>
                <a:latin typeface="Cambria" pitchFamily="18" charset="0"/>
                <a:ea typeface="+mj-ea"/>
                <a:cs typeface="+mj-cs"/>
              </a:rPr>
              <a:t>Types of Array</a:t>
            </a:r>
          </a:p>
        </p:txBody>
      </p:sp>
      <p:sp>
        <p:nvSpPr>
          <p:cNvPr id="5" name="Content Placeholder 2">
            <a:extLst>
              <a:ext uri="{FF2B5EF4-FFF2-40B4-BE49-F238E27FC236}">
                <a16:creationId xmlns:a16="http://schemas.microsoft.com/office/drawing/2014/main" id="{D9F92FAA-9810-F709-5BBE-B7F4FA536E66}"/>
              </a:ext>
            </a:extLst>
          </p:cNvPr>
          <p:cNvSpPr txBox="1">
            <a:spLocks noChangeArrowheads="1"/>
          </p:cNvSpPr>
          <p:nvPr/>
        </p:nvSpPr>
        <p:spPr bwMode="auto">
          <a:xfrm>
            <a:off x="921167" y="935012"/>
            <a:ext cx="7972409" cy="374527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ClrTx/>
              <a:buFont typeface="Arial" panose="020B0604020202020204" pitchFamily="34" charset="0"/>
              <a:buNone/>
            </a:pPr>
            <a:r>
              <a:rPr lang="en-US" altLang="en-US" b="1" dirty="0">
                <a:solidFill>
                  <a:schemeClr val="bg2"/>
                </a:solidFill>
                <a:latin typeface="Times New Roman" panose="02020603050405020304" pitchFamily="18" charset="0"/>
                <a:cs typeface="Times New Roman" panose="02020603050405020304" pitchFamily="18" charset="0"/>
              </a:rPr>
              <a:t>One-dimensional array:</a:t>
            </a:r>
          </a:p>
          <a:p>
            <a:pPr marL="0" indent="0" algn="just">
              <a:buClrTx/>
              <a:buFont typeface="Arial" panose="020B0604020202020204" pitchFamily="34" charset="0"/>
              <a:buNone/>
            </a:pPr>
            <a:br>
              <a:rPr lang="en-US" altLang="en-US" dirty="0">
                <a:solidFill>
                  <a:schemeClr val="bg2"/>
                </a:solidFill>
                <a:latin typeface="Times New Roman" panose="02020603050405020304" pitchFamily="18" charset="0"/>
                <a:cs typeface="Times New Roman" panose="02020603050405020304" pitchFamily="18" charset="0"/>
              </a:rPr>
            </a:br>
            <a:r>
              <a:rPr lang="en-US" altLang="en-US" dirty="0">
                <a:solidFill>
                  <a:schemeClr val="bg2"/>
                </a:solidFill>
                <a:latin typeface="Times New Roman" panose="02020603050405020304" pitchFamily="18" charset="0"/>
                <a:cs typeface="Times New Roman" panose="02020603050405020304" pitchFamily="18" charset="0"/>
              </a:rPr>
              <a:t>One-dimensional array is also called as single dimension array and it will be of a linear type (Elements will be accessed in sequential order). This type of array will be accessed by the subscript of either a column or row index.</a:t>
            </a:r>
          </a:p>
          <a:p>
            <a:pPr marL="0" indent="0" algn="just">
              <a:buClrTx/>
              <a:buFont typeface="Arial" panose="020B0604020202020204" pitchFamily="34" charset="0"/>
              <a:buNone/>
            </a:pPr>
            <a:br>
              <a:rPr lang="en-US" altLang="en-US" dirty="0">
                <a:solidFill>
                  <a:schemeClr val="bg2"/>
                </a:solidFill>
                <a:latin typeface="Times New Roman" panose="02020603050405020304" pitchFamily="18" charset="0"/>
                <a:cs typeface="Times New Roman" panose="02020603050405020304" pitchFamily="18" charset="0"/>
              </a:rPr>
            </a:br>
            <a:endParaRPr lang="en-US" altLang="en-US" dirty="0">
              <a:solidFill>
                <a:schemeClr val="bg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64608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FFAE9B3A-F835-EA9F-375F-E58709572D72}"/>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F7D1F1F6-CAAE-FC79-FD0B-3C78DFCE2524}"/>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ACCDAEDE-ABD1-E62B-C206-E4DF3D0D1024}"/>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4</a:t>
            </a:r>
            <a:endParaRPr lang="en-IN" dirty="0"/>
          </a:p>
        </p:txBody>
      </p:sp>
      <p:sp>
        <p:nvSpPr>
          <p:cNvPr id="3" name="Title 1">
            <a:extLst>
              <a:ext uri="{FF2B5EF4-FFF2-40B4-BE49-F238E27FC236}">
                <a16:creationId xmlns:a16="http://schemas.microsoft.com/office/drawing/2014/main" id="{A9AA1B43-B736-35FF-B262-867FE480D693}"/>
              </a:ext>
            </a:extLst>
          </p:cNvPr>
          <p:cNvSpPr txBox="1">
            <a:spLocks/>
          </p:cNvSpPr>
          <p:nvPr/>
        </p:nvSpPr>
        <p:spPr>
          <a:xfrm>
            <a:off x="968776" y="197075"/>
            <a:ext cx="7640748" cy="609600"/>
          </a:xfrm>
          <a:prstGeom prst="rect">
            <a:avLst/>
          </a:prstGeom>
          <a:scene3d>
            <a:camera prst="orthographicFront"/>
            <a:lightRig rig="threePt" dir="t"/>
          </a:scene3d>
          <a:sp3d>
            <a:bevelT prst="relaxedInset"/>
          </a:sp3d>
        </p:spPr>
        <p:txBody>
          <a:bodyPr anchor="ctr">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chemeClr val="bg2"/>
                </a:solidFill>
                <a:effectLst/>
                <a:uLnTx/>
                <a:uFillTx/>
                <a:latin typeface="Cambria" pitchFamily="18" charset="0"/>
                <a:ea typeface="+mj-ea"/>
                <a:cs typeface="+mj-cs"/>
              </a:rPr>
              <a:t>Types of Array (</a:t>
            </a:r>
            <a:r>
              <a:rPr kumimoji="0" lang="en-US" sz="3200" b="1" i="0" u="none" strike="noStrike" kern="1200" cap="none" spc="0" normalizeH="0" baseline="0" noProof="0" dirty="0" err="1">
                <a:ln>
                  <a:noFill/>
                </a:ln>
                <a:solidFill>
                  <a:schemeClr val="bg2"/>
                </a:solidFill>
                <a:effectLst/>
                <a:uLnTx/>
                <a:uFillTx/>
                <a:latin typeface="Cambria" pitchFamily="18" charset="0"/>
                <a:ea typeface="+mj-ea"/>
                <a:cs typeface="+mj-cs"/>
              </a:rPr>
              <a:t>Contd</a:t>
            </a:r>
            <a:r>
              <a:rPr kumimoji="0" lang="en-US" sz="3200" b="1" i="0" u="none" strike="noStrike" kern="1200" cap="none" spc="0" normalizeH="0" baseline="0" noProof="0" dirty="0">
                <a:ln>
                  <a:noFill/>
                </a:ln>
                <a:solidFill>
                  <a:schemeClr val="bg2"/>
                </a:solidFill>
                <a:effectLst/>
                <a:uLnTx/>
                <a:uFillTx/>
                <a:latin typeface="Cambria" pitchFamily="18" charset="0"/>
                <a:ea typeface="+mj-ea"/>
                <a:cs typeface="+mj-cs"/>
              </a:rPr>
              <a:t>…)</a:t>
            </a:r>
          </a:p>
        </p:txBody>
      </p:sp>
      <p:sp>
        <p:nvSpPr>
          <p:cNvPr id="4" name="Content Placeholder 2">
            <a:extLst>
              <a:ext uri="{FF2B5EF4-FFF2-40B4-BE49-F238E27FC236}">
                <a16:creationId xmlns:a16="http://schemas.microsoft.com/office/drawing/2014/main" id="{414FC4D6-CBE1-BF94-B920-8D152BC6C506}"/>
              </a:ext>
            </a:extLst>
          </p:cNvPr>
          <p:cNvSpPr txBox="1">
            <a:spLocks noChangeArrowheads="1"/>
          </p:cNvSpPr>
          <p:nvPr/>
        </p:nvSpPr>
        <p:spPr bwMode="auto">
          <a:xfrm>
            <a:off x="812016" y="917763"/>
            <a:ext cx="8081560" cy="40286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2500" lnSpcReduction="10000"/>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ClrTx/>
              <a:buFont typeface="Arial" panose="020B0604020202020204" pitchFamily="34" charset="0"/>
              <a:buNone/>
            </a:pPr>
            <a:r>
              <a:rPr lang="en-US" altLang="en-US" b="1" dirty="0">
                <a:solidFill>
                  <a:schemeClr val="bg2"/>
                </a:solidFill>
                <a:latin typeface="Times New Roman" panose="02020603050405020304" pitchFamily="18" charset="0"/>
                <a:cs typeface="Times New Roman" panose="02020603050405020304" pitchFamily="18" charset="0"/>
              </a:rPr>
              <a:t>Two-dimensional array:</a:t>
            </a:r>
            <a:br>
              <a:rPr lang="en-US" altLang="en-US" dirty="0">
                <a:solidFill>
                  <a:schemeClr val="bg2"/>
                </a:solidFill>
                <a:latin typeface="Times New Roman" panose="02020603050405020304" pitchFamily="18" charset="0"/>
                <a:cs typeface="Times New Roman" panose="02020603050405020304" pitchFamily="18" charset="0"/>
              </a:rPr>
            </a:br>
            <a:r>
              <a:rPr lang="en-US" altLang="en-US" dirty="0">
                <a:solidFill>
                  <a:schemeClr val="bg2"/>
                </a:solidFill>
                <a:latin typeface="Times New Roman" panose="02020603050405020304" pitchFamily="18" charset="0"/>
                <a:cs typeface="Times New Roman" panose="02020603050405020304" pitchFamily="18" charset="0"/>
              </a:rPr>
              <a:t>Two-dimensional array will be accessed by using the subscript of row and column index. For traversing the two-dimensional array the value of the rows and columns will be considered. The following example represents the two-dimensional array.</a:t>
            </a:r>
            <a:br>
              <a:rPr lang="en-US" altLang="en-US" dirty="0">
                <a:solidFill>
                  <a:schemeClr val="bg2"/>
                </a:solidFill>
                <a:latin typeface="Times New Roman" panose="02020603050405020304" pitchFamily="18" charset="0"/>
                <a:cs typeface="Times New Roman" panose="02020603050405020304" pitchFamily="18" charset="0"/>
              </a:rPr>
            </a:br>
            <a:br>
              <a:rPr lang="en-US" altLang="en-US" dirty="0">
                <a:solidFill>
                  <a:schemeClr val="bg2"/>
                </a:solidFill>
                <a:latin typeface="Times New Roman" panose="02020603050405020304" pitchFamily="18" charset="0"/>
                <a:cs typeface="Times New Roman" panose="02020603050405020304" pitchFamily="18" charset="0"/>
              </a:rPr>
            </a:br>
            <a:r>
              <a:rPr lang="en-US" altLang="en-US" dirty="0">
                <a:solidFill>
                  <a:schemeClr val="bg2"/>
                </a:solidFill>
                <a:latin typeface="Times New Roman" panose="02020603050405020304" pitchFamily="18" charset="0"/>
                <a:cs typeface="Times New Roman" panose="02020603050405020304" pitchFamily="18" charset="0"/>
              </a:rPr>
              <a:t>int table = A [10] [20]</a:t>
            </a:r>
            <a:br>
              <a:rPr lang="en-US" altLang="en-US" dirty="0">
                <a:solidFill>
                  <a:schemeClr val="bg2"/>
                </a:solidFill>
                <a:latin typeface="Times New Roman" panose="02020603050405020304" pitchFamily="18" charset="0"/>
                <a:cs typeface="Times New Roman" panose="02020603050405020304" pitchFamily="18" charset="0"/>
              </a:rPr>
            </a:br>
            <a:br>
              <a:rPr lang="en-US" altLang="en-US" dirty="0">
                <a:solidFill>
                  <a:schemeClr val="bg2"/>
                </a:solidFill>
                <a:latin typeface="Times New Roman" panose="02020603050405020304" pitchFamily="18" charset="0"/>
                <a:cs typeface="Times New Roman" panose="02020603050405020304" pitchFamily="18" charset="0"/>
              </a:rPr>
            </a:br>
            <a:r>
              <a:rPr lang="en-US" altLang="en-US" dirty="0">
                <a:solidFill>
                  <a:schemeClr val="bg2"/>
                </a:solidFill>
                <a:latin typeface="Times New Roman" panose="02020603050405020304" pitchFamily="18" charset="0"/>
                <a:cs typeface="Times New Roman" panose="02020603050405020304" pitchFamily="18" charset="0"/>
              </a:rPr>
              <a:t>The above access the two-dimensional array of row value 10 and the column value 20. So the table will be accessible with 10 rows and 20 columns.</a:t>
            </a:r>
            <a:br>
              <a:rPr lang="en-US" altLang="en-US" dirty="0">
                <a:solidFill>
                  <a:schemeClr val="bg2"/>
                </a:solidFill>
                <a:latin typeface="Times New Roman" panose="02020603050405020304" pitchFamily="18" charset="0"/>
                <a:cs typeface="Times New Roman" panose="02020603050405020304" pitchFamily="18" charset="0"/>
              </a:rPr>
            </a:br>
            <a:endParaRPr lang="en-US" altLang="en-US" dirty="0">
              <a:solidFill>
                <a:schemeClr val="bg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2404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66223F7-9809-BE29-714E-38632F4599BC}"/>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059937E7-EC35-0CA6-69EF-64D57377620A}"/>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D423D0D5-2563-3DDF-DDBE-37059391059E}"/>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5</a:t>
            </a:r>
            <a:endParaRPr lang="en-IN" dirty="0"/>
          </a:p>
        </p:txBody>
      </p:sp>
      <p:sp>
        <p:nvSpPr>
          <p:cNvPr id="6" name="Title 1">
            <a:extLst>
              <a:ext uri="{FF2B5EF4-FFF2-40B4-BE49-F238E27FC236}">
                <a16:creationId xmlns:a16="http://schemas.microsoft.com/office/drawing/2014/main" id="{8FC154B6-2A5C-865B-367C-3940146E68FD}"/>
              </a:ext>
            </a:extLst>
          </p:cNvPr>
          <p:cNvSpPr txBox="1">
            <a:spLocks/>
          </p:cNvSpPr>
          <p:nvPr/>
        </p:nvSpPr>
        <p:spPr>
          <a:xfrm>
            <a:off x="968776" y="197075"/>
            <a:ext cx="7640748" cy="609600"/>
          </a:xfrm>
          <a:prstGeom prst="rect">
            <a:avLst/>
          </a:prstGeom>
          <a:scene3d>
            <a:camera prst="orthographicFront"/>
            <a:lightRig rig="threePt" dir="t"/>
          </a:scene3d>
          <a:sp3d>
            <a:bevelT prst="relaxedInset"/>
          </a:sp3d>
        </p:spPr>
        <p:txBody>
          <a:bodyPr anchor="ctr">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chemeClr val="bg2"/>
                </a:solidFill>
                <a:effectLst/>
                <a:uLnTx/>
                <a:uFillTx/>
                <a:latin typeface="Cambria" pitchFamily="18" charset="0"/>
                <a:ea typeface="+mj-ea"/>
                <a:cs typeface="+mj-cs"/>
              </a:rPr>
              <a:t>Basic Operations</a:t>
            </a:r>
            <a:endParaRPr kumimoji="0" lang="en-IN" sz="3200" b="1" i="0" u="none" strike="noStrike" kern="1200" cap="none" spc="0" normalizeH="0" baseline="0" noProof="0" dirty="0">
              <a:ln>
                <a:noFill/>
              </a:ln>
              <a:solidFill>
                <a:schemeClr val="bg2"/>
              </a:solidFill>
              <a:effectLst/>
              <a:uLnTx/>
              <a:uFillTx/>
              <a:latin typeface="Cambria" pitchFamily="18" charset="0"/>
              <a:ea typeface="+mj-ea"/>
              <a:cs typeface="+mj-cs"/>
            </a:endParaRPr>
          </a:p>
        </p:txBody>
      </p:sp>
      <p:sp>
        <p:nvSpPr>
          <p:cNvPr id="8" name="Content Placeholder 2">
            <a:extLst>
              <a:ext uri="{FF2B5EF4-FFF2-40B4-BE49-F238E27FC236}">
                <a16:creationId xmlns:a16="http://schemas.microsoft.com/office/drawing/2014/main" id="{91AEE6DA-A5CE-B80A-69B0-1DF048A8944D}"/>
              </a:ext>
            </a:extLst>
          </p:cNvPr>
          <p:cNvSpPr txBox="1">
            <a:spLocks/>
          </p:cNvSpPr>
          <p:nvPr/>
        </p:nvSpPr>
        <p:spPr>
          <a:xfrm>
            <a:off x="892576" y="882875"/>
            <a:ext cx="7714217" cy="3773346"/>
          </a:xfrm>
          <a:prstGeom prst="rect">
            <a:avLst/>
          </a:prstGeom>
          <a:noFill/>
        </p:spPr>
        <p:txBody>
          <a:bodyPr>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Following are the basic operations supported by an array.</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Traverse</a:t>
            </a:r>
            <a: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 print all the array elements one by one.</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Insertion</a:t>
            </a:r>
            <a: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 Adds an element at the given index.</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Deletion</a:t>
            </a:r>
            <a: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 Deletes an element at the given index.</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Search</a:t>
            </a:r>
            <a: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 Searches an element using the given index or by the value.</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Update</a:t>
            </a:r>
            <a: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 Updates an element at the given index.</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spTree>
    <p:extLst>
      <p:ext uri="{BB962C8B-B14F-4D97-AF65-F5344CB8AC3E}">
        <p14:creationId xmlns:p14="http://schemas.microsoft.com/office/powerpoint/2010/main" val="1755142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D698E66-F84E-170D-A0A4-F7906E6DCB0B}"/>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98F4F0A3-AC9F-881C-38CF-FCABC87F7D4C}"/>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4FE9E69A-0B72-58B1-5875-98C4F59242D5}"/>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6</a:t>
            </a:r>
            <a:endParaRPr lang="en-IN" dirty="0"/>
          </a:p>
        </p:txBody>
      </p:sp>
      <p:sp>
        <p:nvSpPr>
          <p:cNvPr id="4" name="Title 1">
            <a:extLst>
              <a:ext uri="{FF2B5EF4-FFF2-40B4-BE49-F238E27FC236}">
                <a16:creationId xmlns:a16="http://schemas.microsoft.com/office/drawing/2014/main" id="{0D065BF3-E9F1-7E93-596D-1375FD306AE9}"/>
              </a:ext>
            </a:extLst>
          </p:cNvPr>
          <p:cNvSpPr txBox="1">
            <a:spLocks/>
          </p:cNvSpPr>
          <p:nvPr/>
        </p:nvSpPr>
        <p:spPr>
          <a:xfrm>
            <a:off x="833700" y="197075"/>
            <a:ext cx="7775824" cy="609600"/>
          </a:xfrm>
          <a:prstGeom prst="rect">
            <a:avLst/>
          </a:prstGeom>
          <a:scene3d>
            <a:camera prst="orthographicFront"/>
            <a:lightRig rig="threePt" dir="t"/>
          </a:scene3d>
          <a:sp3d>
            <a:bevelT prst="relaxedInset"/>
          </a:sp3d>
        </p:spPr>
        <p:txBody>
          <a:bodyPr anchor="ctr">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chemeClr val="bg2"/>
                </a:solidFill>
                <a:effectLst/>
                <a:uLnTx/>
                <a:uFillTx/>
                <a:latin typeface="Cambria" pitchFamily="18" charset="0"/>
                <a:ea typeface="+mj-ea"/>
                <a:cs typeface="+mj-cs"/>
              </a:rPr>
              <a:t>Points to Remember</a:t>
            </a:r>
          </a:p>
        </p:txBody>
      </p:sp>
      <p:sp>
        <p:nvSpPr>
          <p:cNvPr id="5" name="Content Placeholder 2">
            <a:extLst>
              <a:ext uri="{FF2B5EF4-FFF2-40B4-BE49-F238E27FC236}">
                <a16:creationId xmlns:a16="http://schemas.microsoft.com/office/drawing/2014/main" id="{DE9F8830-140E-083E-E1AF-57B4AFCC441F}"/>
              </a:ext>
            </a:extLst>
          </p:cNvPr>
          <p:cNvSpPr txBox="1">
            <a:spLocks/>
          </p:cNvSpPr>
          <p:nvPr/>
        </p:nvSpPr>
        <p:spPr>
          <a:xfrm>
            <a:off x="907908" y="771139"/>
            <a:ext cx="7850592" cy="4053524"/>
          </a:xfrm>
          <a:prstGeom prst="rect">
            <a:avLst/>
          </a:prstGeom>
          <a:noFill/>
        </p:spPr>
        <p:txBody>
          <a:bodyPr>
            <a:normAutofit fontScale="85000" lnSpcReduction="10000"/>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sysClr val="windowText" lastClr="000000"/>
                </a:solidFill>
                <a:effectLst/>
                <a:uLnTx/>
                <a:uFillTx/>
                <a:latin typeface="Cambria" pitchFamily="18" charset="0"/>
                <a:ea typeface="+mn-ea"/>
                <a:cs typeface="+mn-cs"/>
              </a:rPr>
              <a:t>Array always fixed size of data elements (Declaration)</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sysClr val="windowText" lastClr="000000"/>
                </a:solidFill>
                <a:effectLst/>
                <a:uLnTx/>
                <a:uFillTx/>
                <a:latin typeface="Cambria" pitchFamily="18" charset="0"/>
                <a:ea typeface="+mn-ea"/>
                <a:cs typeface="+mn-cs"/>
              </a:rPr>
              <a:t>Array can be considered as a static data</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sysClr val="windowText" lastClr="000000"/>
                </a:solidFill>
                <a:effectLst/>
                <a:uLnTx/>
                <a:uFillTx/>
                <a:latin typeface="Cambria" pitchFamily="18" charset="0"/>
                <a:ea typeface="+mn-ea"/>
                <a:cs typeface="+mn-cs"/>
              </a:rPr>
              <a:t>Array elements are placed in sequential order thus eliminating the gap in the memory allocation</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sysClr val="windowText" lastClr="000000"/>
                </a:solidFill>
                <a:effectLst/>
                <a:uLnTx/>
                <a:uFillTx/>
                <a:latin typeface="Cambria" pitchFamily="18" charset="0"/>
                <a:ea typeface="+mn-ea"/>
                <a:cs typeface="+mn-cs"/>
              </a:rPr>
              <a:t>The index value starts with 0</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sysClr val="windowText" lastClr="000000"/>
                </a:solidFill>
                <a:effectLst/>
                <a:uLnTx/>
                <a:uFillTx/>
                <a:latin typeface="Cambria" pitchFamily="18" charset="0"/>
                <a:ea typeface="+mn-ea"/>
                <a:cs typeface="+mn-cs"/>
              </a:rPr>
              <a:t>The data elements should be of same data type</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sysClr val="windowText" lastClr="000000"/>
                </a:solidFill>
                <a:effectLst/>
                <a:uLnTx/>
                <a:uFillTx/>
                <a:latin typeface="Cambria" pitchFamily="18" charset="0"/>
                <a:ea typeface="+mn-ea"/>
                <a:cs typeface="+mn-cs"/>
              </a:rPr>
              <a:t>Array can be used in search algorithms (Binary search)</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sysClr val="windowText" lastClr="000000"/>
                </a:solidFill>
                <a:effectLst/>
                <a:uLnTx/>
                <a:uFillTx/>
                <a:latin typeface="Cambria" pitchFamily="18" charset="0"/>
                <a:ea typeface="+mn-ea"/>
                <a:cs typeface="+mn-cs"/>
              </a:rPr>
              <a:t>Array can be used in sorting algorithms (Bubble sort)</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sysClr val="windowText" lastClr="000000"/>
                </a:solidFill>
                <a:effectLst/>
                <a:uLnTx/>
                <a:uFillTx/>
                <a:latin typeface="Cambria" pitchFamily="18" charset="0"/>
                <a:ea typeface="+mn-ea"/>
                <a:cs typeface="+mn-cs"/>
              </a:rPr>
              <a:t>An array can be declared, initialized and referred by value.</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b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br>
            <a:endPar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spTree>
    <p:extLst>
      <p:ext uri="{BB962C8B-B14F-4D97-AF65-F5344CB8AC3E}">
        <p14:creationId xmlns:p14="http://schemas.microsoft.com/office/powerpoint/2010/main" val="3465719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B30559D-113C-CA36-943F-FB81436000C0}"/>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9DE20160-C47E-3755-260A-77F95E876245}"/>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CBAD650A-C296-32D4-88D6-EC65A0BB20C1}"/>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7</a:t>
            </a:r>
          </a:p>
        </p:txBody>
      </p:sp>
      <p:sp>
        <p:nvSpPr>
          <p:cNvPr id="4" name="Title 1">
            <a:extLst>
              <a:ext uri="{FF2B5EF4-FFF2-40B4-BE49-F238E27FC236}">
                <a16:creationId xmlns:a16="http://schemas.microsoft.com/office/drawing/2014/main" id="{1B1DF1A4-150E-5A0F-B03D-A7874EC15179}"/>
              </a:ext>
            </a:extLst>
          </p:cNvPr>
          <p:cNvSpPr txBox="1">
            <a:spLocks/>
          </p:cNvSpPr>
          <p:nvPr/>
        </p:nvSpPr>
        <p:spPr>
          <a:xfrm>
            <a:off x="833700" y="197075"/>
            <a:ext cx="7775824" cy="609600"/>
          </a:xfrm>
          <a:prstGeom prst="rect">
            <a:avLst/>
          </a:prstGeom>
          <a:scene3d>
            <a:camera prst="orthographicFront"/>
            <a:lightRig rig="threePt" dir="t"/>
          </a:scene3d>
          <a:sp3d>
            <a:bevelT prst="relaxedInset"/>
          </a:sp3d>
        </p:spPr>
        <p:txBody>
          <a:bodyPr anchor="ctr">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chemeClr val="bg2"/>
                </a:solidFill>
                <a:effectLst/>
                <a:uLnTx/>
                <a:uFillTx/>
                <a:latin typeface="Cambria" pitchFamily="18" charset="0"/>
                <a:ea typeface="+mj-ea"/>
                <a:cs typeface="+mj-cs"/>
              </a:rPr>
              <a:t>Stack</a:t>
            </a:r>
            <a:endParaRPr kumimoji="0" lang="en-US" sz="2400" b="1" i="0" u="none" strike="noStrike" kern="1200" cap="none" spc="0" normalizeH="0" baseline="0" noProof="0" dirty="0">
              <a:ln>
                <a:noFill/>
              </a:ln>
              <a:solidFill>
                <a:schemeClr val="bg2"/>
              </a:solidFill>
              <a:effectLst/>
              <a:uLnTx/>
              <a:uFillTx/>
              <a:latin typeface="Cambria" pitchFamily="18" charset="0"/>
              <a:ea typeface="+mj-ea"/>
              <a:cs typeface="+mj-cs"/>
            </a:endParaRPr>
          </a:p>
        </p:txBody>
      </p:sp>
      <p:sp>
        <p:nvSpPr>
          <p:cNvPr id="5" name="Content Placeholder 2">
            <a:extLst>
              <a:ext uri="{FF2B5EF4-FFF2-40B4-BE49-F238E27FC236}">
                <a16:creationId xmlns:a16="http://schemas.microsoft.com/office/drawing/2014/main" id="{4061C1BA-9467-5289-5073-2F73E1795500}"/>
              </a:ext>
            </a:extLst>
          </p:cNvPr>
          <p:cNvSpPr txBox="1">
            <a:spLocks/>
          </p:cNvSpPr>
          <p:nvPr/>
        </p:nvSpPr>
        <p:spPr bwMode="auto">
          <a:xfrm>
            <a:off x="900958" y="806675"/>
            <a:ext cx="7850592" cy="35301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Stack is a linear data structure which follows a particular order in which the operations are performed. The order may be LIFO(Last In First Out) or FILO(First In Last Out).</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endPar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pic>
        <p:nvPicPr>
          <p:cNvPr id="9" name="Picture 8">
            <a:extLst>
              <a:ext uri="{FF2B5EF4-FFF2-40B4-BE49-F238E27FC236}">
                <a16:creationId xmlns:a16="http://schemas.microsoft.com/office/drawing/2014/main" id="{F6A3604E-FF8E-70F4-58F4-314B125151D3}"/>
              </a:ext>
            </a:extLst>
          </p:cNvPr>
          <p:cNvPicPr>
            <a:picLocks noChangeAspect="1"/>
          </p:cNvPicPr>
          <p:nvPr/>
        </p:nvPicPr>
        <p:blipFill>
          <a:blip r:embed="rId3"/>
          <a:stretch>
            <a:fillRect/>
          </a:stretch>
        </p:blipFill>
        <p:spPr>
          <a:xfrm>
            <a:off x="4174958" y="1978373"/>
            <a:ext cx="3364241" cy="2237705"/>
          </a:xfrm>
          <a:prstGeom prst="rect">
            <a:avLst/>
          </a:prstGeom>
        </p:spPr>
      </p:pic>
      <p:sp>
        <p:nvSpPr>
          <p:cNvPr id="11" name="TextBox 10">
            <a:extLst>
              <a:ext uri="{FF2B5EF4-FFF2-40B4-BE49-F238E27FC236}">
                <a16:creationId xmlns:a16="http://schemas.microsoft.com/office/drawing/2014/main" id="{3B67CD35-1665-449A-559B-ABD6D161E83A}"/>
              </a:ext>
            </a:extLst>
          </p:cNvPr>
          <p:cNvSpPr txBox="1"/>
          <p:nvPr/>
        </p:nvSpPr>
        <p:spPr>
          <a:xfrm>
            <a:off x="0" y="4216078"/>
            <a:ext cx="9144000" cy="738664"/>
          </a:xfrm>
          <a:prstGeom prst="rect">
            <a:avLst/>
          </a:prstGeom>
          <a:noFill/>
        </p:spPr>
        <p:txBody>
          <a:bodyPr wrap="square">
            <a:spAutoFit/>
          </a:bodyPr>
          <a:lstStyle/>
          <a:p>
            <a:r>
              <a:rPr lang="en-IN" dirty="0"/>
              <a:t>Source: https://res.cloudinary.com/practicaldev/image/fetch/s--s1Qbl8Gf--/c_limit%2Cf_auto%2Cfl_progressive%2Cq_auto%2Cw_880/https://thepracticaldev.s3.amazonaws.com/i/mwcwre09s12vqa3gvl7a.png</a:t>
            </a:r>
          </a:p>
        </p:txBody>
      </p:sp>
    </p:spTree>
    <p:extLst>
      <p:ext uri="{BB962C8B-B14F-4D97-AF65-F5344CB8AC3E}">
        <p14:creationId xmlns:p14="http://schemas.microsoft.com/office/powerpoint/2010/main" val="14993762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2D565F7-7B58-5C3B-FCDC-E6C0CFEF1F92}"/>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5F31FAFF-7FEE-BA83-A704-9D5C6DCDD8D4}"/>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B2FAA1B1-2426-1794-67B3-848ED1C71615}"/>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8</a:t>
            </a:r>
            <a:endParaRPr lang="en-IN" dirty="0"/>
          </a:p>
        </p:txBody>
      </p:sp>
      <p:sp>
        <p:nvSpPr>
          <p:cNvPr id="4" name="Title 1">
            <a:extLst>
              <a:ext uri="{FF2B5EF4-FFF2-40B4-BE49-F238E27FC236}">
                <a16:creationId xmlns:a16="http://schemas.microsoft.com/office/drawing/2014/main" id="{D145422E-20A6-0EB9-4B6C-6BBE26053572}"/>
              </a:ext>
            </a:extLst>
          </p:cNvPr>
          <p:cNvSpPr txBox="1">
            <a:spLocks/>
          </p:cNvSpPr>
          <p:nvPr/>
        </p:nvSpPr>
        <p:spPr>
          <a:xfrm>
            <a:off x="757500" y="197075"/>
            <a:ext cx="7629000" cy="609600"/>
          </a:xfrm>
          <a:prstGeom prst="rect">
            <a:avLst/>
          </a:prstGeom>
          <a:scene3d>
            <a:camera prst="orthographicFront"/>
            <a:lightRig rig="threePt" dir="t"/>
          </a:scene3d>
          <a:sp3d>
            <a:bevelT prst="relaxedInset"/>
          </a:sp3d>
        </p:spPr>
        <p:txBody>
          <a:bodyPr anchor="ctr">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chemeClr val="bg2"/>
                </a:solidFill>
                <a:effectLst/>
                <a:uLnTx/>
                <a:uFillTx/>
                <a:latin typeface="Cambria" pitchFamily="18" charset="0"/>
                <a:ea typeface="+mj-ea"/>
                <a:cs typeface="+mj-cs"/>
              </a:rPr>
              <a:t>Stack operations</a:t>
            </a:r>
            <a:endParaRPr kumimoji="0" lang="en-IN" sz="3200" b="1" i="0" u="none" strike="noStrike" kern="1200" cap="none" spc="0" normalizeH="0" baseline="0" noProof="0" dirty="0">
              <a:ln>
                <a:noFill/>
              </a:ln>
              <a:solidFill>
                <a:schemeClr val="bg2"/>
              </a:solidFill>
              <a:effectLst/>
              <a:uLnTx/>
              <a:uFillTx/>
              <a:latin typeface="Cambria" pitchFamily="18" charset="0"/>
              <a:ea typeface="+mj-ea"/>
              <a:cs typeface="+mj-cs"/>
            </a:endParaRPr>
          </a:p>
        </p:txBody>
      </p:sp>
      <p:sp>
        <p:nvSpPr>
          <p:cNvPr id="5" name="Content Placeholder 2">
            <a:extLst>
              <a:ext uri="{FF2B5EF4-FFF2-40B4-BE49-F238E27FC236}">
                <a16:creationId xmlns:a16="http://schemas.microsoft.com/office/drawing/2014/main" id="{6B253632-4FA4-A9AF-A8DE-0C0D5684C8AA}"/>
              </a:ext>
            </a:extLst>
          </p:cNvPr>
          <p:cNvSpPr txBox="1">
            <a:spLocks/>
          </p:cNvSpPr>
          <p:nvPr/>
        </p:nvSpPr>
        <p:spPr>
          <a:xfrm>
            <a:off x="1049194" y="914400"/>
            <a:ext cx="7702356" cy="4032025"/>
          </a:xfrm>
          <a:prstGeom prst="rect">
            <a:avLst/>
          </a:prstGeom>
          <a:noFill/>
        </p:spPr>
        <p:txBody>
          <a:bodyPr>
            <a:normAutofit fontScale="92500" lnSpcReduction="10000"/>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Two Basic operations are performed in the stack:</a:t>
            </a:r>
          </a:p>
          <a:p>
            <a:pPr marL="457200" marR="0" lvl="0" indent="-457200" algn="just" defTabSz="914400" rtl="0" eaLnBrk="0" fontAlgn="base" latinLnBrk="0" hangingPunct="0">
              <a:lnSpc>
                <a:spcPct val="100000"/>
              </a:lnSpc>
              <a:spcBef>
                <a:spcPct val="20000"/>
              </a:spcBef>
              <a:spcAft>
                <a:spcPct val="0"/>
              </a:spcAft>
              <a:buClrTx/>
              <a:buSzTx/>
              <a:buFont typeface="Arial" panose="020B0604020202020204" pitchFamily="34" charset="0"/>
              <a:buAutoNum type="arabicParenR"/>
              <a:tabLst/>
              <a:defRPr/>
            </a:pPr>
            <a: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PUSH: Inserting an element into the stack</a:t>
            </a:r>
          </a:p>
          <a:p>
            <a:pPr marL="457200" marR="0" lvl="0" indent="-457200" algn="just" defTabSz="914400" rtl="0" eaLnBrk="0" fontAlgn="base" latinLnBrk="0" hangingPunct="0">
              <a:lnSpc>
                <a:spcPct val="100000"/>
              </a:lnSpc>
              <a:spcBef>
                <a:spcPct val="20000"/>
              </a:spcBef>
              <a:spcAft>
                <a:spcPct val="0"/>
              </a:spcAft>
              <a:buClrTx/>
              <a:buSzTx/>
              <a:buFont typeface="Arial" panose="020B0604020202020204" pitchFamily="34" charset="0"/>
              <a:buAutoNum type="arabicParenR"/>
              <a:tabLst/>
              <a:defRPr/>
            </a:pPr>
            <a: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POP: Deleting an element from the stack</a:t>
            </a:r>
          </a:p>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endPar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When data is </a:t>
            </a:r>
            <a:r>
              <a:rPr kumimoji="0" lang="en-IN" sz="2400" b="1" i="0" u="none" strike="noStrike" kern="1200" cap="none" spc="0" normalizeH="0" baseline="0" noProof="0" dirty="0" err="1">
                <a:ln>
                  <a:noFill/>
                </a:ln>
                <a:solidFill>
                  <a:sysClr val="windowText" lastClr="000000"/>
                </a:solidFill>
                <a:effectLst/>
                <a:uLnTx/>
                <a:uFillTx/>
                <a:latin typeface="Cambria" pitchFamily="18" charset="0"/>
                <a:ea typeface="+mn-ea"/>
                <a:cs typeface="+mn-cs"/>
              </a:rPr>
              <a:t>PUSHed</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 onto stack</a:t>
            </a:r>
            <a:endPar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Check the status of stack by  following functionality is added to stacks −</a:t>
            </a: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peek() </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G</a:t>
            </a:r>
            <a:r>
              <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et the topmost item of </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the stack, without removing it.</a:t>
            </a: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IN" sz="2400" b="1" i="0" u="none" strike="noStrike" kern="1200" cap="none" spc="0" normalizeH="0" baseline="0" noProof="0" dirty="0" err="1">
                <a:ln>
                  <a:noFill/>
                </a:ln>
                <a:solidFill>
                  <a:sysClr val="windowText" lastClr="000000"/>
                </a:solidFill>
                <a:effectLst/>
                <a:uLnTx/>
                <a:uFillTx/>
                <a:latin typeface="Cambria" pitchFamily="18" charset="0"/>
                <a:ea typeface="+mn-ea"/>
                <a:cs typeface="+mn-cs"/>
              </a:rPr>
              <a:t>isFull</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 check if stack is full.</a:t>
            </a: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IN" sz="2400" b="1" i="0" u="none" strike="noStrike" kern="1200" cap="none" spc="0" normalizeH="0" baseline="0" noProof="0" dirty="0" err="1">
                <a:ln>
                  <a:noFill/>
                </a:ln>
                <a:solidFill>
                  <a:sysClr val="windowText" lastClr="000000"/>
                </a:solidFill>
                <a:effectLst/>
                <a:uLnTx/>
                <a:uFillTx/>
                <a:latin typeface="Cambria" pitchFamily="18" charset="0"/>
                <a:ea typeface="+mn-ea"/>
                <a:cs typeface="+mn-cs"/>
              </a:rPr>
              <a:t>isEmpty</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 check if stack is empty.</a:t>
            </a:r>
          </a:p>
        </p:txBody>
      </p:sp>
    </p:spTree>
    <p:extLst>
      <p:ext uri="{BB962C8B-B14F-4D97-AF65-F5344CB8AC3E}">
        <p14:creationId xmlns:p14="http://schemas.microsoft.com/office/powerpoint/2010/main" val="253712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EEC0536-BF5D-71F0-87EA-F1E1B410598B}"/>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DFCDD88A-2ADF-8A48-80BA-D52FEC540C58}"/>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DFA94115-363C-5364-F65C-CCEE1956B272}"/>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9</a:t>
            </a:r>
            <a:endParaRPr lang="en-IN" dirty="0"/>
          </a:p>
        </p:txBody>
      </p:sp>
      <p:sp>
        <p:nvSpPr>
          <p:cNvPr id="2" name="Title 1">
            <a:extLst>
              <a:ext uri="{FF2B5EF4-FFF2-40B4-BE49-F238E27FC236}">
                <a16:creationId xmlns:a16="http://schemas.microsoft.com/office/drawing/2014/main" id="{2989BB2B-DB74-8CFA-AE1B-D5FBF01718CF}"/>
              </a:ext>
            </a:extLst>
          </p:cNvPr>
          <p:cNvSpPr txBox="1">
            <a:spLocks/>
          </p:cNvSpPr>
          <p:nvPr/>
        </p:nvSpPr>
        <p:spPr>
          <a:xfrm>
            <a:off x="1062790" y="197075"/>
            <a:ext cx="7546734" cy="497501"/>
          </a:xfrm>
          <a:prstGeom prst="rect">
            <a:avLst/>
          </a:prstGeom>
          <a:scene3d>
            <a:camera prst="orthographicFront"/>
            <a:lightRig rig="threePt" dir="t"/>
          </a:scene3d>
          <a:sp3d>
            <a:bevelT prst="relaxedInset"/>
          </a:sp3d>
        </p:spPr>
        <p:txBody>
          <a:bodyPr anchor="ctr">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chemeClr val="bg2"/>
                </a:solidFill>
                <a:effectLst/>
                <a:uLnTx/>
                <a:uFillTx/>
                <a:latin typeface="Cambria" pitchFamily="18" charset="0"/>
                <a:ea typeface="+mj-ea"/>
                <a:cs typeface="+mj-cs"/>
              </a:rPr>
              <a:t>How to understand stack practically?</a:t>
            </a:r>
          </a:p>
        </p:txBody>
      </p:sp>
      <p:sp>
        <p:nvSpPr>
          <p:cNvPr id="3" name="Content Placeholder 2">
            <a:extLst>
              <a:ext uri="{FF2B5EF4-FFF2-40B4-BE49-F238E27FC236}">
                <a16:creationId xmlns:a16="http://schemas.microsoft.com/office/drawing/2014/main" id="{3DF0FE86-CC9B-5736-2A33-401C1042A3B9}"/>
              </a:ext>
            </a:extLst>
          </p:cNvPr>
          <p:cNvSpPr txBox="1">
            <a:spLocks/>
          </p:cNvSpPr>
          <p:nvPr/>
        </p:nvSpPr>
        <p:spPr bwMode="auto">
          <a:xfrm>
            <a:off x="605590" y="1035275"/>
            <a:ext cx="4063626" cy="3669072"/>
          </a:xfrm>
          <a:prstGeom prst="rect">
            <a:avLst/>
          </a:prstGeom>
          <a:noFill/>
        </p:spPr>
        <p:txBody>
          <a:bodyPr vert="horz" wrap="square" lIns="91440" tIns="45720" rIns="91440" bIns="45720" numCol="1" anchor="t" anchorCtr="0" compatLnSpc="1">
            <a:prstTxWarp prst="textNoShape">
              <a:avLst/>
            </a:prstTxWarp>
            <a:normAutofit fontScale="85000" lnSpcReduction="10000"/>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a:ln>
                  <a:noFill/>
                </a:ln>
                <a:solidFill>
                  <a:sysClr val="windowText" lastClr="000000"/>
                </a:solidFill>
                <a:effectLst/>
                <a:uLnTx/>
                <a:uFillTx/>
                <a:latin typeface="Cambria" pitchFamily="18" charset="0"/>
                <a:ea typeface="+mn-ea"/>
                <a:cs typeface="+mn-cs"/>
              </a:rPr>
              <a:t>There are many real life example of stack . Considered the sample example of plates stacked over one another in canteen.</a:t>
            </a: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a:ln>
                  <a:noFill/>
                </a:ln>
                <a:solidFill>
                  <a:sysClr val="windowText" lastClr="000000"/>
                </a:solidFill>
                <a:effectLst/>
                <a:uLnTx/>
                <a:uFillTx/>
                <a:latin typeface="Cambria" pitchFamily="18" charset="0"/>
                <a:ea typeface="+mn-ea"/>
                <a:cs typeface="+mn-cs"/>
              </a:rPr>
              <a:t>The plate which is at the top is the first one to remove i.e. the plate which has been placed at the bottom position in the stack for the longest period of time.</a:t>
            </a: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a:ln>
                  <a:noFill/>
                </a:ln>
                <a:solidFill>
                  <a:sysClr val="windowText" lastClr="000000"/>
                </a:solidFill>
                <a:effectLst/>
                <a:uLnTx/>
                <a:uFillTx/>
                <a:latin typeface="Cambria" pitchFamily="18" charset="0"/>
                <a:ea typeface="+mn-ea"/>
                <a:cs typeface="+mn-cs"/>
              </a:rPr>
              <a:t>So, it can be simply seen to follow LIFO/FILO order.</a:t>
            </a:r>
            <a:endPar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pic>
        <p:nvPicPr>
          <p:cNvPr id="4" name="Picture 4">
            <a:extLst>
              <a:ext uri="{FF2B5EF4-FFF2-40B4-BE49-F238E27FC236}">
                <a16:creationId xmlns:a16="http://schemas.microsoft.com/office/drawing/2014/main" id="{9A6A6B14-3EE4-3C27-652D-13598E8E16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9654" y="1763938"/>
            <a:ext cx="3635796" cy="220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345041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7FE174C-2C6C-BACB-E1EF-E7CF87493734}"/>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039610BC-42CA-7267-440D-E771D9DD4C92}"/>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067F62AB-1496-B1F6-0FDD-173D6F0A2D26}"/>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10</a:t>
            </a:r>
          </a:p>
        </p:txBody>
      </p:sp>
      <p:sp>
        <p:nvSpPr>
          <p:cNvPr id="3" name="Title 1">
            <a:extLst>
              <a:ext uri="{FF2B5EF4-FFF2-40B4-BE49-F238E27FC236}">
                <a16:creationId xmlns:a16="http://schemas.microsoft.com/office/drawing/2014/main" id="{F0CCFCFE-0127-46BA-EE35-9E39F913964A}"/>
              </a:ext>
            </a:extLst>
          </p:cNvPr>
          <p:cNvSpPr txBox="1">
            <a:spLocks/>
          </p:cNvSpPr>
          <p:nvPr/>
        </p:nvSpPr>
        <p:spPr>
          <a:xfrm>
            <a:off x="833700" y="197075"/>
            <a:ext cx="7684658" cy="609600"/>
          </a:xfrm>
          <a:prstGeom prst="rect">
            <a:avLst/>
          </a:prstGeom>
          <a:scene3d>
            <a:camera prst="orthographicFront"/>
            <a:lightRig rig="threePt" dir="t"/>
          </a:scene3d>
          <a:sp3d>
            <a:bevelT prst="relaxedInset"/>
          </a:sp3d>
        </p:spPr>
        <p:txBody>
          <a:bodyPr anchor="ctr">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chemeClr val="bg2"/>
                </a:solidFill>
                <a:effectLst/>
                <a:uLnTx/>
                <a:uFillTx/>
                <a:latin typeface="Cambria" pitchFamily="18" charset="0"/>
                <a:ea typeface="+mj-ea"/>
                <a:cs typeface="+mj-cs"/>
              </a:rPr>
              <a:t>Implementation</a:t>
            </a:r>
            <a:endParaRPr kumimoji="0" lang="en-IN" sz="3200" b="1" i="0" u="none" strike="noStrike" kern="1200" cap="none" spc="0" normalizeH="0" baseline="0" noProof="0" dirty="0">
              <a:ln>
                <a:noFill/>
              </a:ln>
              <a:solidFill>
                <a:schemeClr val="bg2"/>
              </a:solidFill>
              <a:effectLst/>
              <a:uLnTx/>
              <a:uFillTx/>
              <a:latin typeface="Cambria" pitchFamily="18" charset="0"/>
              <a:ea typeface="+mj-ea"/>
              <a:cs typeface="+mj-cs"/>
            </a:endParaRPr>
          </a:p>
        </p:txBody>
      </p:sp>
      <p:sp>
        <p:nvSpPr>
          <p:cNvPr id="4" name="Content Placeholder 2">
            <a:extLst>
              <a:ext uri="{FF2B5EF4-FFF2-40B4-BE49-F238E27FC236}">
                <a16:creationId xmlns:a16="http://schemas.microsoft.com/office/drawing/2014/main" id="{5A00E8E7-2FC8-7E28-F4F4-2029BBAD21DC}"/>
              </a:ext>
            </a:extLst>
          </p:cNvPr>
          <p:cNvSpPr txBox="1">
            <a:spLocks noChangeArrowheads="1"/>
          </p:cNvSpPr>
          <p:nvPr/>
        </p:nvSpPr>
        <p:spPr bwMode="auto">
          <a:xfrm>
            <a:off x="757500" y="882875"/>
            <a:ext cx="7758549" cy="383350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endPar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There are two ways to implement a stack :</a:t>
            </a:r>
          </a:p>
          <a:p>
            <a:pPr marL="342900" marR="0" lvl="0" indent="-342900" algn="l" defTabSz="914400" rtl="0" eaLnBrk="0" fontAlgn="base" latinLnBrk="0" hangingPunct="0">
              <a:lnSpc>
                <a:spcPct val="100000"/>
              </a:lnSpc>
              <a:spcBef>
                <a:spcPct val="20000"/>
              </a:spcBef>
              <a:spcAft>
                <a:spcPct val="0"/>
              </a:spcAft>
              <a:buClrTx/>
              <a:buSzTx/>
              <a:buFont typeface="Wingdings" panose="05000000000000000000" pitchFamily="2" charset="2"/>
              <a:buChar char="Ø"/>
              <a:tabLst/>
              <a:defRPr/>
            </a:pPr>
            <a:r>
              <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Using Array</a:t>
            </a:r>
          </a:p>
          <a:p>
            <a:pPr marL="342900" marR="0" lvl="0" indent="-342900" algn="l" defTabSz="914400" rtl="0" eaLnBrk="0" fontAlgn="base" latinLnBrk="0" hangingPunct="0">
              <a:lnSpc>
                <a:spcPct val="100000"/>
              </a:lnSpc>
              <a:spcBef>
                <a:spcPct val="20000"/>
              </a:spcBef>
              <a:spcAft>
                <a:spcPct val="0"/>
              </a:spcAft>
              <a:buClrTx/>
              <a:buSzTx/>
              <a:buFont typeface="Wingdings" panose="05000000000000000000" pitchFamily="2" charset="2"/>
              <a:buChar char="Ø"/>
              <a:tabLst/>
              <a:defRPr/>
            </a:pPr>
            <a:r>
              <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Using Linked List</a:t>
            </a:r>
            <a:endParaRPr kumimoji="0" lang="en-IN"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spTree>
    <p:extLst>
      <p:ext uri="{BB962C8B-B14F-4D97-AF65-F5344CB8AC3E}">
        <p14:creationId xmlns:p14="http://schemas.microsoft.com/office/powerpoint/2010/main" val="6493213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2A18E393-2F51-EB19-24F3-365F9B677C62}"/>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B7625D6E-BE07-D5DE-44E0-C5F84CC863C0}"/>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4802C3F7-EF4B-C0D1-3F4C-BC5308BA6757}"/>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11</a:t>
            </a:r>
          </a:p>
        </p:txBody>
      </p:sp>
      <p:sp>
        <p:nvSpPr>
          <p:cNvPr id="4" name="Title 1">
            <a:extLst>
              <a:ext uri="{FF2B5EF4-FFF2-40B4-BE49-F238E27FC236}">
                <a16:creationId xmlns:a16="http://schemas.microsoft.com/office/drawing/2014/main" id="{36E78EBA-27E6-CA87-3411-7EF8149E1078}"/>
              </a:ext>
            </a:extLst>
          </p:cNvPr>
          <p:cNvSpPr txBox="1">
            <a:spLocks/>
          </p:cNvSpPr>
          <p:nvPr/>
        </p:nvSpPr>
        <p:spPr>
          <a:xfrm>
            <a:off x="833700" y="197075"/>
            <a:ext cx="7775824" cy="609600"/>
          </a:xfrm>
          <a:prstGeom prst="rect">
            <a:avLst/>
          </a:prstGeom>
          <a:scene3d>
            <a:camera prst="orthographicFront"/>
            <a:lightRig rig="threePt" dir="t"/>
          </a:scene3d>
          <a:sp3d>
            <a:bevelT prst="relaxedInset"/>
          </a:sp3d>
        </p:spPr>
        <p:txBody>
          <a:bodyPr anchor="ctr">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IN" sz="3200" b="1" i="0" u="none" strike="noStrike" kern="1200" cap="none" spc="0" normalizeH="0" baseline="0" noProof="0" dirty="0">
                <a:ln>
                  <a:noFill/>
                </a:ln>
                <a:solidFill>
                  <a:schemeClr val="bg2"/>
                </a:solidFill>
                <a:effectLst/>
                <a:uLnTx/>
                <a:uFillTx/>
                <a:latin typeface="Cambria" pitchFamily="18" charset="0"/>
                <a:ea typeface="+mj-ea"/>
                <a:cs typeface="+mj-cs"/>
              </a:rPr>
              <a:t>Push Operation</a:t>
            </a:r>
          </a:p>
        </p:txBody>
      </p:sp>
      <p:sp>
        <p:nvSpPr>
          <p:cNvPr id="5" name="Content Placeholder 2">
            <a:extLst>
              <a:ext uri="{FF2B5EF4-FFF2-40B4-BE49-F238E27FC236}">
                <a16:creationId xmlns:a16="http://schemas.microsoft.com/office/drawing/2014/main" id="{CA7860FA-F7E7-C52B-0401-54C0E3C92E5F}"/>
              </a:ext>
            </a:extLst>
          </p:cNvPr>
          <p:cNvSpPr txBox="1">
            <a:spLocks/>
          </p:cNvSpPr>
          <p:nvPr/>
        </p:nvSpPr>
        <p:spPr>
          <a:xfrm>
            <a:off x="757500" y="882875"/>
            <a:ext cx="7850592" cy="3087546"/>
          </a:xfrm>
          <a:prstGeom prst="rect">
            <a:avLst/>
          </a:prstGeom>
          <a:noFill/>
        </p:spPr>
        <p:txBody>
          <a:bodyPr>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Step 1 − Checks if the stack is full.</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Step 2 − If the stack is full, produces an error and exit.</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Step 3 − If the stack is not full, increments top to point next empty space.</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Step 4 − Adds data element to the stack location, where top is pointing.</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Step 5 − Returns success.</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endPar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pic>
        <p:nvPicPr>
          <p:cNvPr id="6" name="Picture 3">
            <a:extLst>
              <a:ext uri="{FF2B5EF4-FFF2-40B4-BE49-F238E27FC236}">
                <a16:creationId xmlns:a16="http://schemas.microsoft.com/office/drawing/2014/main" id="{E77946F0-D03F-DF89-E43A-866AE3E6DB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2746" y="3308433"/>
            <a:ext cx="3384550" cy="1476375"/>
          </a:xfrm>
          <a:prstGeom prst="rect">
            <a:avLst/>
          </a:prstGeom>
          <a:noFill/>
          <a:ln w="57150">
            <a:solidFill>
              <a:srgbClr val="0070C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96340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5EE71D1-7E4C-9A19-B1B0-FFE863110934}"/>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D973ED05-330D-6F74-8DBD-D04B781EEA6F}"/>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14B55D24-D161-8DDC-2D87-3D43417FA29F}"/>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12</a:t>
            </a:r>
          </a:p>
        </p:txBody>
      </p:sp>
      <p:sp>
        <p:nvSpPr>
          <p:cNvPr id="4" name="Title 1">
            <a:extLst>
              <a:ext uri="{FF2B5EF4-FFF2-40B4-BE49-F238E27FC236}">
                <a16:creationId xmlns:a16="http://schemas.microsoft.com/office/drawing/2014/main" id="{56DF0371-22B5-E850-53BF-A006B209CB2E}"/>
              </a:ext>
            </a:extLst>
          </p:cNvPr>
          <p:cNvSpPr txBox="1">
            <a:spLocks/>
          </p:cNvSpPr>
          <p:nvPr/>
        </p:nvSpPr>
        <p:spPr>
          <a:xfrm>
            <a:off x="942474" y="197075"/>
            <a:ext cx="7667050" cy="609600"/>
          </a:xfrm>
          <a:prstGeom prst="rect">
            <a:avLst/>
          </a:prstGeom>
          <a:scene3d>
            <a:camera prst="orthographicFront"/>
            <a:lightRig rig="threePt" dir="t"/>
          </a:scene3d>
          <a:sp3d>
            <a:bevelT prst="relaxedInset"/>
          </a:sp3d>
        </p:spPr>
        <p:txBody>
          <a:bodyPr anchor="ctr">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ysClr val="windowText" lastClr="000000"/>
                </a:solidFill>
                <a:effectLst/>
                <a:uLnTx/>
                <a:uFillTx/>
                <a:latin typeface="Cambria" pitchFamily="18" charset="0"/>
                <a:ea typeface="+mj-ea"/>
                <a:cs typeface="+mj-cs"/>
              </a:rPr>
              <a:t>Pop Operation</a:t>
            </a:r>
            <a:endParaRPr kumimoji="0" lang="en-IN" sz="3200" b="1" i="0" u="none" strike="noStrike" kern="1200" cap="none" spc="0" normalizeH="0" baseline="0" noProof="0" dirty="0">
              <a:ln>
                <a:noFill/>
              </a:ln>
              <a:solidFill>
                <a:sysClr val="windowText" lastClr="000000"/>
              </a:solidFill>
              <a:effectLst/>
              <a:uLnTx/>
              <a:uFillTx/>
              <a:latin typeface="Cambria" pitchFamily="18" charset="0"/>
              <a:ea typeface="+mj-ea"/>
              <a:cs typeface="+mj-cs"/>
            </a:endParaRPr>
          </a:p>
        </p:txBody>
      </p:sp>
      <p:sp>
        <p:nvSpPr>
          <p:cNvPr id="5" name="Content Placeholder 2">
            <a:extLst>
              <a:ext uri="{FF2B5EF4-FFF2-40B4-BE49-F238E27FC236}">
                <a16:creationId xmlns:a16="http://schemas.microsoft.com/office/drawing/2014/main" id="{542D8229-E389-FFD1-0BDD-506C8ED22E63}"/>
              </a:ext>
            </a:extLst>
          </p:cNvPr>
          <p:cNvSpPr txBox="1">
            <a:spLocks/>
          </p:cNvSpPr>
          <p:nvPr/>
        </p:nvSpPr>
        <p:spPr>
          <a:xfrm>
            <a:off x="866274" y="882876"/>
            <a:ext cx="7740772" cy="2642377"/>
          </a:xfrm>
          <a:prstGeom prst="rect">
            <a:avLst/>
          </a:prstGeom>
          <a:noFill/>
        </p:spPr>
        <p:txBody>
          <a:bodyPr>
            <a:normAutofit fontScale="92500"/>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Step 1 − Checks if the stack is empty.</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Step 2 − If the stack is empty, produces an error and exit.</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Step 3 − If the stack is not empty, accesses the data element at which top is pointing.</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Step 4 − Decreases the value of top by 1.</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Step 5 − Returns success.</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endPar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pic>
        <p:nvPicPr>
          <p:cNvPr id="6" name="Picture 3">
            <a:extLst>
              <a:ext uri="{FF2B5EF4-FFF2-40B4-BE49-F238E27FC236}">
                <a16:creationId xmlns:a16="http://schemas.microsoft.com/office/drawing/2014/main" id="{9C09CC6A-382B-5B19-1DC2-858E6A6DD6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474" y="3522436"/>
            <a:ext cx="2916238" cy="1476375"/>
          </a:xfrm>
          <a:prstGeom prst="rect">
            <a:avLst/>
          </a:prstGeom>
          <a:noFill/>
          <a:ln w="38100">
            <a:solidFill>
              <a:srgbClr val="0070C0"/>
            </a:solidFill>
            <a:miter lim="800000"/>
            <a:headEnd/>
            <a:tailEnd/>
          </a:ln>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FD49DC7D-2733-22B6-6A02-72EF614FEB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0512" y="3198586"/>
            <a:ext cx="3455988" cy="1800225"/>
          </a:xfrm>
          <a:prstGeom prst="rect">
            <a:avLst/>
          </a:prstGeom>
          <a:noFill/>
          <a:ln w="38100">
            <a:solidFill>
              <a:srgbClr val="0070C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06782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EDD4AF3-DA94-D6A0-2AC4-E934CDB00253}"/>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19BE66D1-0307-3CB4-53A4-1023590A63FC}"/>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1364B0F7-3D51-3816-CBA0-71BA2C69356C}"/>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13</a:t>
            </a:r>
          </a:p>
        </p:txBody>
      </p:sp>
      <p:sp>
        <p:nvSpPr>
          <p:cNvPr id="4" name="Title 1">
            <a:extLst>
              <a:ext uri="{FF2B5EF4-FFF2-40B4-BE49-F238E27FC236}">
                <a16:creationId xmlns:a16="http://schemas.microsoft.com/office/drawing/2014/main" id="{28A2CE83-4EFC-AA46-4906-C0B58CBC6443}"/>
              </a:ext>
            </a:extLst>
          </p:cNvPr>
          <p:cNvSpPr txBox="1">
            <a:spLocks/>
          </p:cNvSpPr>
          <p:nvPr/>
        </p:nvSpPr>
        <p:spPr>
          <a:xfrm>
            <a:off x="833700" y="88964"/>
            <a:ext cx="7775824" cy="609600"/>
          </a:xfrm>
          <a:prstGeom prst="rect">
            <a:avLst/>
          </a:prstGeom>
          <a:scene3d>
            <a:camera prst="orthographicFront"/>
            <a:lightRig rig="threePt" dir="t"/>
          </a:scene3d>
          <a:sp3d>
            <a:bevelT prst="relaxedInset"/>
          </a:sp3d>
        </p:spPr>
        <p:txBody>
          <a:bodyPr anchor="ctr">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chemeClr val="bg2"/>
                </a:solidFill>
                <a:effectLst/>
                <a:uLnTx/>
                <a:uFillTx/>
                <a:latin typeface="Cambria" pitchFamily="18" charset="0"/>
                <a:ea typeface="+mj-ea"/>
                <a:cs typeface="+mj-cs"/>
              </a:rPr>
              <a:t>Linked list implementation of stack</a:t>
            </a:r>
            <a:endParaRPr kumimoji="0" lang="en-IN" sz="3200" b="1" i="0" u="none" strike="noStrike" kern="1200" cap="none" spc="0" normalizeH="0" baseline="0" noProof="0" dirty="0">
              <a:ln>
                <a:noFill/>
              </a:ln>
              <a:solidFill>
                <a:schemeClr val="bg2"/>
              </a:solidFill>
              <a:effectLst/>
              <a:uLnTx/>
              <a:uFillTx/>
              <a:latin typeface="Cambria" pitchFamily="18" charset="0"/>
              <a:ea typeface="+mj-ea"/>
              <a:cs typeface="+mj-cs"/>
            </a:endParaRPr>
          </a:p>
        </p:txBody>
      </p:sp>
      <p:sp>
        <p:nvSpPr>
          <p:cNvPr id="5" name="Content Placeholder 2">
            <a:extLst>
              <a:ext uri="{FF2B5EF4-FFF2-40B4-BE49-F238E27FC236}">
                <a16:creationId xmlns:a16="http://schemas.microsoft.com/office/drawing/2014/main" id="{D3AF670D-52AC-B093-C6B2-4DAD2689E6B7}"/>
              </a:ext>
            </a:extLst>
          </p:cNvPr>
          <p:cNvSpPr txBox="1">
            <a:spLocks noChangeArrowheads="1"/>
          </p:cNvSpPr>
          <p:nvPr/>
        </p:nvSpPr>
        <p:spPr bwMode="auto">
          <a:xfrm>
            <a:off x="757500" y="850964"/>
            <a:ext cx="3588842" cy="396166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lnSpcReduction="10000"/>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Linked list allocates the memory dynamically.</a:t>
            </a: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The top most node in the stack always contains null in its address field. Lets discuss the way in which, each operation is performed in linked list implementation of stack.</a:t>
            </a:r>
            <a:endParaRPr kumimoji="0" lang="en-IN"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spTree>
    <p:extLst>
      <p:ext uri="{BB962C8B-B14F-4D97-AF65-F5344CB8AC3E}">
        <p14:creationId xmlns:p14="http://schemas.microsoft.com/office/powerpoint/2010/main" val="9428901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AFD339BC-2988-866F-6816-068F506676B9}"/>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57540205-E2A2-B070-97D2-4A2AAA40F28A}"/>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C6A1AE22-6971-5E87-F4A5-D658D2372817}"/>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14</a:t>
            </a:r>
          </a:p>
        </p:txBody>
      </p:sp>
      <p:sp>
        <p:nvSpPr>
          <p:cNvPr id="4" name="Title 1">
            <a:extLst>
              <a:ext uri="{FF2B5EF4-FFF2-40B4-BE49-F238E27FC236}">
                <a16:creationId xmlns:a16="http://schemas.microsoft.com/office/drawing/2014/main" id="{85FDC5D2-3C71-4677-12B2-5ED466E004B6}"/>
              </a:ext>
            </a:extLst>
          </p:cNvPr>
          <p:cNvSpPr txBox="1">
            <a:spLocks/>
          </p:cNvSpPr>
          <p:nvPr/>
        </p:nvSpPr>
        <p:spPr>
          <a:xfrm>
            <a:off x="683293" y="160449"/>
            <a:ext cx="8000999" cy="626201"/>
          </a:xfrm>
          <a:prstGeom prst="rect">
            <a:avLst/>
          </a:prstGeom>
          <a:scene3d>
            <a:camera prst="orthographicFront"/>
            <a:lightRig rig="threePt" dir="t"/>
          </a:scene3d>
          <a:sp3d>
            <a:bevelT prst="relaxedInset"/>
          </a:sp3d>
        </p:spPr>
        <p:txBody>
          <a:bodyPr anchor="ctr">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IN" sz="3200" b="1" i="0" u="none" strike="noStrike" kern="1200" cap="none" spc="0" normalizeH="0" baseline="0" noProof="0" dirty="0">
                <a:ln>
                  <a:noFill/>
                </a:ln>
                <a:solidFill>
                  <a:schemeClr val="bg2"/>
                </a:solidFill>
                <a:effectLst/>
                <a:uLnTx/>
                <a:uFillTx/>
                <a:latin typeface="Cambria" pitchFamily="18" charset="0"/>
                <a:ea typeface="+mj-ea"/>
                <a:cs typeface="+mj-cs"/>
              </a:rPr>
              <a:t>push - Inserting an element into the Stack</a:t>
            </a:r>
          </a:p>
        </p:txBody>
      </p:sp>
      <p:sp>
        <p:nvSpPr>
          <p:cNvPr id="5" name="Content Placeholder 2">
            <a:extLst>
              <a:ext uri="{FF2B5EF4-FFF2-40B4-BE49-F238E27FC236}">
                <a16:creationId xmlns:a16="http://schemas.microsoft.com/office/drawing/2014/main" id="{1478895B-A6E1-81A9-2CE1-061AF1E3CDBF}"/>
              </a:ext>
            </a:extLst>
          </p:cNvPr>
          <p:cNvSpPr txBox="1">
            <a:spLocks/>
          </p:cNvSpPr>
          <p:nvPr/>
        </p:nvSpPr>
        <p:spPr>
          <a:xfrm>
            <a:off x="833700" y="870196"/>
            <a:ext cx="7850592" cy="3906341"/>
          </a:xfrm>
          <a:prstGeom prst="rect">
            <a:avLst/>
          </a:prstGeom>
          <a:noFill/>
        </p:spPr>
        <p:txBody>
          <a:bodyPr>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We can use the following steps to insert a new node into the stack...</a:t>
            </a: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Step 1 - </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Create a </a:t>
            </a:r>
            <a:r>
              <a:rPr kumimoji="0" lang="en-IN" sz="2400" b="1" i="0" u="none" strike="noStrike" kern="1200" cap="none" spc="0" normalizeH="0" baseline="0" noProof="0" dirty="0" err="1">
                <a:ln>
                  <a:noFill/>
                </a:ln>
                <a:solidFill>
                  <a:sysClr val="windowText" lastClr="000000"/>
                </a:solidFill>
                <a:effectLst/>
                <a:uLnTx/>
                <a:uFillTx/>
                <a:latin typeface="Cambria" pitchFamily="18" charset="0"/>
                <a:ea typeface="+mn-ea"/>
                <a:cs typeface="+mn-cs"/>
              </a:rPr>
              <a:t>newNode</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with given value.</a:t>
            </a: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Step 2 - </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Check whether stack is </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Empty</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top</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 </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NULL</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a:t>
            </a: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Step 3 - </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If it is </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Empty</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then set </a:t>
            </a:r>
            <a:r>
              <a:rPr kumimoji="0" lang="en-IN" sz="2400" b="1" i="0" u="none" strike="noStrike" kern="1200" cap="none" spc="0" normalizeH="0" baseline="0" noProof="0" dirty="0" err="1">
                <a:ln>
                  <a:noFill/>
                </a:ln>
                <a:solidFill>
                  <a:sysClr val="windowText" lastClr="000000"/>
                </a:solidFill>
                <a:effectLst/>
                <a:uLnTx/>
                <a:uFillTx/>
                <a:latin typeface="Cambria" pitchFamily="18" charset="0"/>
                <a:ea typeface="+mn-ea"/>
                <a:cs typeface="+mn-cs"/>
              </a:rPr>
              <a:t>newNode</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 → next</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 </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NULL</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a:t>
            </a: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Step 4 - </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If it is </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Not Empty</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then set </a:t>
            </a:r>
            <a:r>
              <a:rPr kumimoji="0" lang="en-IN" sz="2400" b="1" i="0" u="none" strike="noStrike" kern="1200" cap="none" spc="0" normalizeH="0" baseline="0" noProof="0" dirty="0" err="1">
                <a:ln>
                  <a:noFill/>
                </a:ln>
                <a:solidFill>
                  <a:sysClr val="windowText" lastClr="000000"/>
                </a:solidFill>
                <a:effectLst/>
                <a:uLnTx/>
                <a:uFillTx/>
                <a:latin typeface="Cambria" pitchFamily="18" charset="0"/>
                <a:ea typeface="+mn-ea"/>
                <a:cs typeface="+mn-cs"/>
              </a:rPr>
              <a:t>newNode</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 → next</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 </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top</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a:t>
            </a: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Step 5 - </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Finally, set </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top</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 </a:t>
            </a:r>
            <a:r>
              <a:rPr kumimoji="0" lang="en-IN" sz="2400" b="1" i="0" u="none" strike="noStrike" kern="1200" cap="none" spc="0" normalizeH="0" baseline="0" noProof="0" dirty="0" err="1">
                <a:ln>
                  <a:noFill/>
                </a:ln>
                <a:solidFill>
                  <a:sysClr val="windowText" lastClr="000000"/>
                </a:solidFill>
                <a:effectLst/>
                <a:uLnTx/>
                <a:uFillTx/>
                <a:latin typeface="Cambria" pitchFamily="18" charset="0"/>
                <a:ea typeface="+mn-ea"/>
                <a:cs typeface="+mn-cs"/>
              </a:rPr>
              <a:t>newNode</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a:t>
            </a: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spTree>
    <p:extLst>
      <p:ext uri="{BB962C8B-B14F-4D97-AF65-F5344CB8AC3E}">
        <p14:creationId xmlns:p14="http://schemas.microsoft.com/office/powerpoint/2010/main" val="7004058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733F852-A886-8227-6767-5F182C71B9D3}"/>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8AB50379-C410-4336-E07F-3787939FE095}"/>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F4290169-2A0D-E993-F871-5879DBD6C48C}"/>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15</a:t>
            </a:r>
          </a:p>
        </p:txBody>
      </p:sp>
      <p:pic>
        <p:nvPicPr>
          <p:cNvPr id="2" name="Picture 2">
            <a:extLst>
              <a:ext uri="{FF2B5EF4-FFF2-40B4-BE49-F238E27FC236}">
                <a16:creationId xmlns:a16="http://schemas.microsoft.com/office/drawing/2014/main" id="{55A7251D-4159-CF08-DEC2-75DB1749327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10915" y="276726"/>
            <a:ext cx="7190873" cy="4271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874228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86620C3-2F0C-7D5F-F007-46E5CC0EDC09}"/>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7D73298B-3630-FF6C-CE52-520A613B4771}"/>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AC2E581D-F020-1394-D9A7-F1DB3F1AF7BF}"/>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16</a:t>
            </a:r>
          </a:p>
        </p:txBody>
      </p:sp>
      <p:sp>
        <p:nvSpPr>
          <p:cNvPr id="4" name="Title 1">
            <a:extLst>
              <a:ext uri="{FF2B5EF4-FFF2-40B4-BE49-F238E27FC236}">
                <a16:creationId xmlns:a16="http://schemas.microsoft.com/office/drawing/2014/main" id="{F464671D-CFC2-DD80-4B63-5C415347F957}"/>
              </a:ext>
            </a:extLst>
          </p:cNvPr>
          <p:cNvSpPr txBox="1">
            <a:spLocks/>
          </p:cNvSpPr>
          <p:nvPr/>
        </p:nvSpPr>
        <p:spPr>
          <a:xfrm>
            <a:off x="871084" y="295420"/>
            <a:ext cx="7775824" cy="609600"/>
          </a:xfrm>
          <a:prstGeom prst="rect">
            <a:avLst/>
          </a:prstGeom>
          <a:scene3d>
            <a:camera prst="orthographicFront"/>
            <a:lightRig rig="threePt" dir="t"/>
          </a:scene3d>
          <a:sp3d>
            <a:bevelT prst="relaxedInset"/>
          </a:sp3d>
        </p:spPr>
        <p:txBody>
          <a:bodyPr anchor="ctr">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IN" sz="3200" b="1" i="0" u="none" strike="noStrike" kern="1200" cap="none" spc="0" normalizeH="0" baseline="0" noProof="0" dirty="0">
                <a:ln>
                  <a:noFill/>
                </a:ln>
                <a:solidFill>
                  <a:schemeClr val="bg2"/>
                </a:solidFill>
                <a:effectLst/>
                <a:uLnTx/>
                <a:uFillTx/>
                <a:latin typeface="Cambria" pitchFamily="18" charset="0"/>
                <a:ea typeface="+mj-ea"/>
                <a:cs typeface="+mj-cs"/>
              </a:rPr>
              <a:t>pop() - Deleting an Element from a Stack</a:t>
            </a:r>
            <a:br>
              <a:rPr kumimoji="0" lang="en-IN" sz="3200" b="1" i="0" u="none" strike="noStrike" kern="1200" cap="none" spc="0" normalizeH="0" baseline="0" noProof="0" dirty="0">
                <a:ln>
                  <a:noFill/>
                </a:ln>
                <a:solidFill>
                  <a:schemeClr val="bg2"/>
                </a:solidFill>
                <a:effectLst/>
                <a:uLnTx/>
                <a:uFillTx/>
                <a:latin typeface="Cambria" pitchFamily="18" charset="0"/>
                <a:ea typeface="+mj-ea"/>
                <a:cs typeface="+mj-cs"/>
              </a:rPr>
            </a:br>
            <a:endParaRPr kumimoji="0" lang="en-IN" sz="3200" b="1" i="0" u="none" strike="noStrike" kern="1200" cap="none" spc="0" normalizeH="0" baseline="0" noProof="0" dirty="0">
              <a:ln>
                <a:noFill/>
              </a:ln>
              <a:solidFill>
                <a:schemeClr val="bg2"/>
              </a:solidFill>
              <a:effectLst/>
              <a:uLnTx/>
              <a:uFillTx/>
              <a:latin typeface="Cambria" pitchFamily="18" charset="0"/>
              <a:ea typeface="+mj-ea"/>
              <a:cs typeface="+mj-cs"/>
            </a:endParaRPr>
          </a:p>
        </p:txBody>
      </p:sp>
      <p:sp>
        <p:nvSpPr>
          <p:cNvPr id="5" name="Content Placeholder 2">
            <a:extLst>
              <a:ext uri="{FF2B5EF4-FFF2-40B4-BE49-F238E27FC236}">
                <a16:creationId xmlns:a16="http://schemas.microsoft.com/office/drawing/2014/main" id="{3F196E5B-315F-F365-9DE0-634D7FF0BB5D}"/>
              </a:ext>
            </a:extLst>
          </p:cNvPr>
          <p:cNvSpPr txBox="1">
            <a:spLocks/>
          </p:cNvSpPr>
          <p:nvPr/>
        </p:nvSpPr>
        <p:spPr>
          <a:xfrm>
            <a:off x="833700" y="806675"/>
            <a:ext cx="7850592" cy="3981893"/>
          </a:xfrm>
          <a:prstGeom prst="rect">
            <a:avLst/>
          </a:prstGeom>
          <a:noFill/>
        </p:spPr>
        <p:txBody>
          <a:bodyPr>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We can use the following steps to delete a node from the stack...</a:t>
            </a: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Step 1 - </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Check whether </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stack</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is </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Empty</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top == NULL</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a:t>
            </a: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Step 2 - </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If it is </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Empty</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then display </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"Stack is Empty!!! Deletion is not possible!!!"</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and terminate the function</a:t>
            </a: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Step 3 - </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If it is </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Not Empty</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then define a </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Node</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pointer '</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temp</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and set it to '</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top</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a:t>
            </a: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Step 4 - </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Then set '</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top</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 </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top → next</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a:t>
            </a: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Step 5 - </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Finally, delete '</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temp</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free(temp)</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a:t>
            </a: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spTree>
    <p:extLst>
      <p:ext uri="{BB962C8B-B14F-4D97-AF65-F5344CB8AC3E}">
        <p14:creationId xmlns:p14="http://schemas.microsoft.com/office/powerpoint/2010/main" val="35878968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A341A732-D0F0-17B1-B627-DB7F5C983C3C}"/>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8F187A80-B81E-8273-161A-1C2F1A9691F8}"/>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A3ADC4BE-724D-BC03-5D67-42F1D9732F86}"/>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17</a:t>
            </a:r>
          </a:p>
        </p:txBody>
      </p:sp>
      <p:sp>
        <p:nvSpPr>
          <p:cNvPr id="4" name="Title 1">
            <a:extLst>
              <a:ext uri="{FF2B5EF4-FFF2-40B4-BE49-F238E27FC236}">
                <a16:creationId xmlns:a16="http://schemas.microsoft.com/office/drawing/2014/main" id="{C5DEF1F3-F498-5F9A-00BC-4298F2171D62}"/>
              </a:ext>
            </a:extLst>
          </p:cNvPr>
          <p:cNvSpPr txBox="1">
            <a:spLocks/>
          </p:cNvSpPr>
          <p:nvPr/>
        </p:nvSpPr>
        <p:spPr>
          <a:xfrm>
            <a:off x="954506" y="369142"/>
            <a:ext cx="7500938" cy="609600"/>
          </a:xfrm>
          <a:prstGeom prst="rect">
            <a:avLst/>
          </a:prstGeom>
          <a:scene3d>
            <a:camera prst="orthographicFront"/>
            <a:lightRig rig="threePt" dir="t"/>
          </a:scene3d>
          <a:sp3d>
            <a:bevelT prst="relaxedInset"/>
          </a:sp3d>
        </p:spPr>
        <p:txBody>
          <a:bodyPr anchor="ctr">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a:ln>
                  <a:noFill/>
                </a:ln>
                <a:solidFill>
                  <a:sysClr val="windowText" lastClr="000000"/>
                </a:solidFill>
                <a:effectLst/>
                <a:uLnTx/>
                <a:uFillTx/>
                <a:latin typeface="Cambria" pitchFamily="18" charset="0"/>
                <a:ea typeface="+mj-ea"/>
                <a:cs typeface="+mj-cs"/>
              </a:rPr>
              <a:t>Pop Operation</a:t>
            </a:r>
            <a:endParaRPr kumimoji="0" lang="en-IN" sz="2400" b="1" i="0" u="none" strike="noStrike" kern="1200" cap="none" spc="0" normalizeH="0" baseline="0" noProof="0" dirty="0">
              <a:ln>
                <a:noFill/>
              </a:ln>
              <a:solidFill>
                <a:sysClr val="windowText" lastClr="000000"/>
              </a:solidFill>
              <a:effectLst/>
              <a:uLnTx/>
              <a:uFillTx/>
              <a:latin typeface="Cambria" pitchFamily="18" charset="0"/>
              <a:ea typeface="+mj-ea"/>
              <a:cs typeface="+mj-cs"/>
            </a:endParaRPr>
          </a:p>
        </p:txBody>
      </p:sp>
      <p:pic>
        <p:nvPicPr>
          <p:cNvPr id="5" name="Picture 3">
            <a:extLst>
              <a:ext uri="{FF2B5EF4-FFF2-40B4-BE49-F238E27FC236}">
                <a16:creationId xmlns:a16="http://schemas.microsoft.com/office/drawing/2014/main" id="{39BE9DC0-A906-9D98-8808-556F9C2F75C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16369" y="1093042"/>
            <a:ext cx="7839075"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12802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5F4876E-EAC9-B53E-BF31-F072D354D052}"/>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9021B85D-6509-214C-963F-97F4279C9F28}"/>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8518F492-B4DA-5C40-73D5-6CE086D6E51A}"/>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17</a:t>
            </a:r>
          </a:p>
        </p:txBody>
      </p:sp>
      <p:sp>
        <p:nvSpPr>
          <p:cNvPr id="4" name="Title 1">
            <a:extLst>
              <a:ext uri="{FF2B5EF4-FFF2-40B4-BE49-F238E27FC236}">
                <a16:creationId xmlns:a16="http://schemas.microsoft.com/office/drawing/2014/main" id="{E2A12F4B-854F-7482-918C-ABA8461F5046}"/>
              </a:ext>
            </a:extLst>
          </p:cNvPr>
          <p:cNvSpPr txBox="1">
            <a:spLocks/>
          </p:cNvSpPr>
          <p:nvPr/>
        </p:nvSpPr>
        <p:spPr>
          <a:xfrm>
            <a:off x="833700" y="88964"/>
            <a:ext cx="7775824" cy="609600"/>
          </a:xfrm>
          <a:prstGeom prst="rect">
            <a:avLst/>
          </a:prstGeom>
          <a:scene3d>
            <a:camera prst="orthographicFront"/>
            <a:lightRig rig="threePt" dir="t"/>
          </a:scene3d>
          <a:sp3d>
            <a:bevelT prst="relaxedInset"/>
          </a:sp3d>
        </p:spPr>
        <p:txBody>
          <a:bodyPr anchor="ctr">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IN" sz="3200" b="1" i="0" u="none" strike="noStrike" kern="1200" cap="none" spc="0" normalizeH="0" baseline="0" noProof="0" dirty="0">
                <a:ln>
                  <a:noFill/>
                </a:ln>
                <a:solidFill>
                  <a:schemeClr val="bg2"/>
                </a:solidFill>
                <a:effectLst/>
                <a:uLnTx/>
                <a:uFillTx/>
                <a:latin typeface="Cambria" pitchFamily="18" charset="0"/>
                <a:ea typeface="+mj-ea"/>
                <a:cs typeface="+mj-cs"/>
              </a:rPr>
              <a:t>display() - Displaying stack of elements</a:t>
            </a:r>
          </a:p>
        </p:txBody>
      </p:sp>
      <p:sp>
        <p:nvSpPr>
          <p:cNvPr id="5" name="Content Placeholder 2">
            <a:extLst>
              <a:ext uri="{FF2B5EF4-FFF2-40B4-BE49-F238E27FC236}">
                <a16:creationId xmlns:a16="http://schemas.microsoft.com/office/drawing/2014/main" id="{8FEAEF19-1FAA-DE00-08A6-98204EF83958}"/>
              </a:ext>
            </a:extLst>
          </p:cNvPr>
          <p:cNvSpPr txBox="1">
            <a:spLocks/>
          </p:cNvSpPr>
          <p:nvPr/>
        </p:nvSpPr>
        <p:spPr>
          <a:xfrm>
            <a:off x="832268" y="774764"/>
            <a:ext cx="7775824" cy="4279772"/>
          </a:xfrm>
          <a:prstGeom prst="rect">
            <a:avLst/>
          </a:prstGeom>
          <a:noFill/>
        </p:spPr>
        <p:txBody>
          <a:bodyPr>
            <a:normAutofit lnSpcReduction="10000"/>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We can use the following steps to display the elements (nodes) of a stack...</a:t>
            </a: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Step 1 - </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Check whether stack is </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Empty</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top</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 </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NULL</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a:t>
            </a: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Step 2 - </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If it is </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Empty</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then display </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'Stack is Empty!!!'</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and terminate the function.</a:t>
            </a: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Step 3 - </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If it is </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Not Empty</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then define a Node pointer </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'temp'</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and initialize with </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top</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a:t>
            </a: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Step 4 - </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Display '</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temp → data</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---&gt;' and move it to the next node. Repeat the same until </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temp</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reaches to the first node in the stack. (</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temp → next</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 </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NULL</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a:t>
            </a: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Step 5 - </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Finally! Display '</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temp → data</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---&gt; </a:t>
            </a: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NULL</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a:t>
            </a: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spTree>
    <p:extLst>
      <p:ext uri="{BB962C8B-B14F-4D97-AF65-F5344CB8AC3E}">
        <p14:creationId xmlns:p14="http://schemas.microsoft.com/office/powerpoint/2010/main" val="32974346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763BF2B-F4CE-CBC8-3F75-C44EA994A0D6}"/>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C90BEB2A-A8F9-122A-A279-13E011FFFC27}"/>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E8D33A29-FE00-B680-0BEA-7D87D18DB8F2}"/>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17</a:t>
            </a:r>
          </a:p>
        </p:txBody>
      </p:sp>
      <p:sp>
        <p:nvSpPr>
          <p:cNvPr id="4" name="Title 1">
            <a:extLst>
              <a:ext uri="{FF2B5EF4-FFF2-40B4-BE49-F238E27FC236}">
                <a16:creationId xmlns:a16="http://schemas.microsoft.com/office/drawing/2014/main" id="{7CDE1923-330A-E358-F1E6-F0167D368BB5}"/>
              </a:ext>
            </a:extLst>
          </p:cNvPr>
          <p:cNvSpPr txBox="1">
            <a:spLocks/>
          </p:cNvSpPr>
          <p:nvPr/>
        </p:nvSpPr>
        <p:spPr>
          <a:xfrm>
            <a:off x="832268" y="333520"/>
            <a:ext cx="7775824" cy="609600"/>
          </a:xfrm>
          <a:prstGeom prst="rect">
            <a:avLst/>
          </a:prstGeom>
          <a:scene3d>
            <a:camera prst="orthographicFront"/>
            <a:lightRig rig="threePt" dir="t"/>
          </a:scene3d>
          <a:sp3d>
            <a:bevelT prst="relaxedInset"/>
          </a:sp3d>
        </p:spPr>
        <p:txBody>
          <a:bodyPr anchor="ctr">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chemeClr val="bg2"/>
                </a:solidFill>
                <a:effectLst/>
                <a:uLnTx/>
                <a:uFillTx/>
                <a:latin typeface="Cambria" pitchFamily="18" charset="0"/>
                <a:ea typeface="+mj-ea"/>
                <a:cs typeface="+mj-cs"/>
              </a:rPr>
              <a:t>Applications of Stack</a:t>
            </a:r>
            <a:br>
              <a:rPr kumimoji="0" lang="en-US" sz="3200" b="1" i="0" u="none" strike="noStrike" kern="1200" cap="none" spc="0" normalizeH="0" baseline="0" noProof="0" dirty="0">
                <a:ln>
                  <a:noFill/>
                </a:ln>
                <a:solidFill>
                  <a:schemeClr val="bg2"/>
                </a:solidFill>
                <a:effectLst/>
                <a:uLnTx/>
                <a:uFillTx/>
                <a:latin typeface="Cambria" pitchFamily="18" charset="0"/>
                <a:ea typeface="+mj-ea"/>
                <a:cs typeface="+mj-cs"/>
              </a:rPr>
            </a:br>
            <a:endParaRPr kumimoji="0" lang="en-US" sz="3200" b="1" i="0" u="none" strike="noStrike" kern="1200" cap="none" spc="0" normalizeH="0" baseline="0" noProof="0" dirty="0">
              <a:ln>
                <a:noFill/>
              </a:ln>
              <a:solidFill>
                <a:schemeClr val="bg2"/>
              </a:solidFill>
              <a:effectLst/>
              <a:uLnTx/>
              <a:uFillTx/>
              <a:latin typeface="Cambria" pitchFamily="18" charset="0"/>
              <a:ea typeface="+mj-ea"/>
              <a:cs typeface="+mj-cs"/>
            </a:endParaRPr>
          </a:p>
        </p:txBody>
      </p:sp>
      <p:sp>
        <p:nvSpPr>
          <p:cNvPr id="5" name="Content Placeholder 2">
            <a:extLst>
              <a:ext uri="{FF2B5EF4-FFF2-40B4-BE49-F238E27FC236}">
                <a16:creationId xmlns:a16="http://schemas.microsoft.com/office/drawing/2014/main" id="{71C0DB30-BED0-9C25-35DD-69E4AAAD35A0}"/>
              </a:ext>
            </a:extLst>
          </p:cNvPr>
          <p:cNvSpPr txBox="1">
            <a:spLocks/>
          </p:cNvSpPr>
          <p:nvPr/>
        </p:nvSpPr>
        <p:spPr bwMode="auto">
          <a:xfrm>
            <a:off x="757500" y="882875"/>
            <a:ext cx="7850592" cy="364099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The simplest application of a stack is to reverse a word. You push a given word to stack - letter by letter - and then pop letters from the stack.</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There are other uses also like:</a:t>
            </a:r>
          </a:p>
          <a:p>
            <a:pPr marL="742950" marR="0" lvl="1" indent="-285750" algn="l" defTabSz="914400" rtl="0" eaLnBrk="0" fontAlgn="base" latinLnBrk="0" hangingPunct="0">
              <a:lnSpc>
                <a:spcPct val="100000"/>
              </a:lnSpc>
              <a:spcBef>
                <a:spcPct val="20000"/>
              </a:spcBef>
              <a:spcAft>
                <a:spcPct val="0"/>
              </a:spcAft>
              <a:buClrTx/>
              <a:buSzTx/>
              <a:buFont typeface="Wingdings" panose="05000000000000000000" pitchFamily="2" charset="2"/>
              <a:buChar char="q"/>
              <a:tabLst/>
              <a:defRPr/>
            </a:pPr>
            <a:r>
              <a:rPr kumimoji="0" lang="en-US" altLang="en-US" sz="2400" b="0" i="0" u="none" strike="noStrike" kern="1200" cap="none" spc="0" normalizeH="0" baseline="0" noProof="0" dirty="0">
                <a:ln>
                  <a:noFill/>
                </a:ln>
                <a:solidFill>
                  <a:sysClr val="windowText" lastClr="000000"/>
                </a:solidFill>
                <a:effectLst/>
                <a:uLnTx/>
                <a:uFillTx/>
                <a:latin typeface="Calibri"/>
                <a:ea typeface="+mn-ea"/>
                <a:cs typeface="+mn-cs"/>
              </a:rPr>
              <a:t>Parsing</a:t>
            </a:r>
          </a:p>
          <a:p>
            <a:pPr marL="742950" marR="0" lvl="1" indent="-285750" algn="l" defTabSz="914400" rtl="0" eaLnBrk="0" fontAlgn="base" latinLnBrk="0" hangingPunct="0">
              <a:lnSpc>
                <a:spcPct val="100000"/>
              </a:lnSpc>
              <a:spcBef>
                <a:spcPct val="20000"/>
              </a:spcBef>
              <a:spcAft>
                <a:spcPct val="0"/>
              </a:spcAft>
              <a:buClrTx/>
              <a:buSzTx/>
              <a:buFont typeface="Wingdings" panose="05000000000000000000" pitchFamily="2" charset="2"/>
              <a:buChar char="q"/>
              <a:tabLst/>
              <a:defRPr/>
            </a:pPr>
            <a:r>
              <a:rPr kumimoji="0" lang="en-US" altLang="en-US" sz="2400" b="0" i="0" u="none" strike="noStrike" kern="1200" cap="none" spc="0" normalizeH="0" baseline="0" noProof="0" dirty="0">
                <a:ln>
                  <a:noFill/>
                </a:ln>
                <a:solidFill>
                  <a:sysClr val="windowText" lastClr="000000"/>
                </a:solidFill>
                <a:effectLst/>
                <a:uLnTx/>
                <a:uFillTx/>
                <a:latin typeface="Calibri"/>
                <a:ea typeface="+mn-ea"/>
                <a:cs typeface="+mn-cs"/>
              </a:rPr>
              <a:t>Expression Conversion(Infix to Postfix, Postfix to Prefix </a:t>
            </a:r>
            <a:r>
              <a:rPr kumimoji="0" lang="en-US" altLang="en-US" sz="2400" b="0" i="0" u="none" strike="noStrike" kern="1200" cap="none" spc="0" normalizeH="0" baseline="0" noProof="0" dirty="0" err="1">
                <a:ln>
                  <a:noFill/>
                </a:ln>
                <a:solidFill>
                  <a:sysClr val="windowText" lastClr="000000"/>
                </a:solidFill>
                <a:effectLst/>
                <a:uLnTx/>
                <a:uFillTx/>
                <a:latin typeface="Calibri"/>
                <a:ea typeface="+mn-ea"/>
                <a:cs typeface="+mn-cs"/>
              </a:rPr>
              <a:t>etc</a:t>
            </a:r>
            <a:r>
              <a:rPr kumimoji="0" lang="en-US" altLang="en-US" sz="2400" b="0" i="0" u="none" strike="noStrike" kern="1200" cap="none" spc="0" normalizeH="0" baseline="0" noProof="0" dirty="0">
                <a:ln>
                  <a:noFill/>
                </a:ln>
                <a:solidFill>
                  <a:sysClr val="windowText" lastClr="000000"/>
                </a:solidFill>
                <a:effectLst/>
                <a:uLnTx/>
                <a:uFillTx/>
                <a:latin typeface="Calibri"/>
                <a:ea typeface="+mn-ea"/>
                <a:cs typeface="+mn-cs"/>
              </a:rPr>
              <a:t>)</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endPar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spTree>
    <p:extLst>
      <p:ext uri="{BB962C8B-B14F-4D97-AF65-F5344CB8AC3E}">
        <p14:creationId xmlns:p14="http://schemas.microsoft.com/office/powerpoint/2010/main" val="4751272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FEF4D4F-045F-71BD-3030-987C409D3BB4}"/>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D58376F6-DE61-5A19-60EB-14B2819A8EE4}"/>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08178602-DAB4-CD7C-0380-EFFCAAB12565}"/>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17</a:t>
            </a:r>
          </a:p>
        </p:txBody>
      </p:sp>
      <p:sp>
        <p:nvSpPr>
          <p:cNvPr id="2" name="Google Shape;398;p16">
            <a:extLst>
              <a:ext uri="{FF2B5EF4-FFF2-40B4-BE49-F238E27FC236}">
                <a16:creationId xmlns:a16="http://schemas.microsoft.com/office/drawing/2014/main" id="{EEF1B08C-A728-DB4D-EEAA-9514B8F52350}"/>
              </a:ext>
            </a:extLst>
          </p:cNvPr>
          <p:cNvSpPr txBox="1">
            <a:spLocks/>
          </p:cNvSpPr>
          <p:nvPr/>
        </p:nvSpPr>
        <p:spPr>
          <a:xfrm>
            <a:off x="833700" y="224108"/>
            <a:ext cx="7552800" cy="47059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C00000"/>
              </a:buClr>
              <a:buSzPts val="2800"/>
              <a:buFont typeface="Cambria"/>
              <a:buNone/>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sym typeface="Cambria"/>
              </a:rPr>
              <a:t>Summary</a:t>
            </a:r>
            <a:endParaRPr lang="en-US" sz="4000"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768B979C-4109-62AD-339E-2AC6761A7650}"/>
              </a:ext>
            </a:extLst>
          </p:cNvPr>
          <p:cNvSpPr txBox="1">
            <a:spLocks noChangeArrowheads="1"/>
          </p:cNvSpPr>
          <p:nvPr/>
        </p:nvSpPr>
        <p:spPr bwMode="auto">
          <a:xfrm>
            <a:off x="833700" y="806675"/>
            <a:ext cx="8001000" cy="3404378"/>
          </a:xfrm>
          <a:prstGeom prst="rect">
            <a:avLst/>
          </a:prstGeom>
          <a:noFill/>
        </p:spPr>
        <p:txBody>
          <a:bodyPr vert="horz" wrap="square" lIns="91440" tIns="45720" rIns="91440" bIns="45720" numCol="1" anchor="t" anchorCtr="0" compatLnSpc="1">
            <a:prstTxWarp prst="textNoShape">
              <a:avLst/>
            </a:prstTxWarp>
            <a:normAutofit lnSpcReduction="10000"/>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marR="0" lvl="1" indent="0" algn="l" defTabSz="914400" rtl="0" eaLnBrk="0" fontAlgn="base" latinLnBrk="0" hangingPunct="0">
              <a:lnSpc>
                <a:spcPct val="100000"/>
              </a:lnSpc>
              <a:spcBef>
                <a:spcPct val="0"/>
              </a:spcBef>
              <a:spcAft>
                <a:spcPct val="0"/>
              </a:spcAft>
              <a:buClr>
                <a:srgbClr val="000000"/>
              </a:buClr>
              <a:buSzPts val="2000"/>
              <a:buFont typeface="Arial" panose="020B0604020202020204" pitchFamily="34" charset="0"/>
              <a:buNone/>
              <a:tabLst/>
              <a:defRPr/>
            </a:pPr>
            <a:endParaRPr kumimoji="0" lang="en-US" altLang="en-US" sz="2400" b="0" i="0" u="none" strike="noStrike" kern="1200" cap="none" spc="0" normalizeH="0" baseline="0" noProof="0">
              <a:ln>
                <a:noFill/>
              </a:ln>
              <a:solidFill>
                <a:sysClr val="windowText" lastClr="000000"/>
              </a:solidFill>
              <a:effectLst/>
              <a:uLnTx/>
              <a:uFillTx/>
              <a:latin typeface="Calibri"/>
              <a:ea typeface="+mn-ea"/>
              <a:cs typeface="+mn-cs"/>
            </a:endParaRPr>
          </a:p>
          <a:p>
            <a:pPr marL="457200" marR="0" lvl="1" indent="0" algn="l" defTabSz="914400" rtl="0" eaLnBrk="0" fontAlgn="base" latinLnBrk="0" hangingPunct="0">
              <a:lnSpc>
                <a:spcPct val="100000"/>
              </a:lnSpc>
              <a:spcBef>
                <a:spcPct val="0"/>
              </a:spcBef>
              <a:spcAft>
                <a:spcPct val="0"/>
              </a:spcAft>
              <a:buClr>
                <a:srgbClr val="000000"/>
              </a:buClr>
              <a:buSzPts val="2000"/>
              <a:buFont typeface="Arial" panose="020B0604020202020204" pitchFamily="34" charset="0"/>
              <a:buNone/>
              <a:tabLst/>
              <a:defRPr/>
            </a:pPr>
            <a:r>
              <a:rPr kumimoji="0" lang="en-US" altLang="en-US" sz="2400" b="0" i="0" u="none" strike="noStrike" kern="1200" cap="none" spc="0" normalizeH="0" baseline="0" noProof="0">
                <a:ln>
                  <a:noFill/>
                </a:ln>
                <a:solidFill>
                  <a:sysClr val="windowText" lastClr="000000"/>
                </a:solidFill>
                <a:effectLst/>
                <a:uLnTx/>
                <a:uFillTx/>
                <a:latin typeface="Calibri"/>
                <a:ea typeface="+mn-ea"/>
                <a:cs typeface="+mn-cs"/>
              </a:rPr>
              <a:t>Arrays:</a:t>
            </a:r>
          </a:p>
          <a:p>
            <a:pPr marL="742950" marR="0" lvl="1" indent="-285750" algn="l" defTabSz="914400" rtl="0" eaLnBrk="0" fontAlgn="base" latinLnBrk="0" hangingPunct="0">
              <a:lnSpc>
                <a:spcPct val="100000"/>
              </a:lnSpc>
              <a:spcBef>
                <a:spcPct val="0"/>
              </a:spcBef>
              <a:spcAft>
                <a:spcPct val="0"/>
              </a:spcAft>
              <a:buClr>
                <a:srgbClr val="000000"/>
              </a:buClr>
              <a:buSzPts val="2000"/>
              <a:buFont typeface="Arial" panose="020B0604020202020204" pitchFamily="34" charset="0"/>
              <a:buChar char="•"/>
              <a:tabLst/>
              <a:defRPr/>
            </a:pPr>
            <a:r>
              <a:rPr kumimoji="0" lang="en-US" altLang="en-US" sz="2300" b="0" i="0" u="none" strike="noStrike" kern="1200" cap="none" spc="0" normalizeH="0" baseline="0" noProof="0">
                <a:ln>
                  <a:noFill/>
                </a:ln>
                <a:solidFill>
                  <a:sysClr val="windowText" lastClr="000000"/>
                </a:solidFill>
                <a:effectLst/>
                <a:uLnTx/>
                <a:uFillTx/>
                <a:latin typeface="Calibri"/>
                <a:ea typeface="+mn-ea"/>
                <a:cs typeface="+mn-cs"/>
              </a:rPr>
              <a:t>Operations on arrays.</a:t>
            </a:r>
          </a:p>
          <a:p>
            <a:pPr marL="742950" marR="0" lvl="1" indent="-285750" algn="l" defTabSz="914400" rtl="0" eaLnBrk="0" fontAlgn="base" latinLnBrk="0" hangingPunct="0">
              <a:lnSpc>
                <a:spcPct val="100000"/>
              </a:lnSpc>
              <a:spcBef>
                <a:spcPct val="0"/>
              </a:spcBef>
              <a:spcAft>
                <a:spcPct val="0"/>
              </a:spcAft>
              <a:buClr>
                <a:srgbClr val="000000"/>
              </a:buClr>
              <a:buSzPts val="2000"/>
              <a:buFont typeface="Arial" panose="020B0604020202020204" pitchFamily="34" charset="0"/>
              <a:buChar char="•"/>
              <a:tabLst/>
              <a:defRPr/>
            </a:pPr>
            <a:r>
              <a:rPr kumimoji="0" lang="en-US" altLang="en-US" sz="2300" b="0" i="0" u="none" strike="noStrike" kern="1200" cap="none" spc="0" normalizeH="0" baseline="0" noProof="0">
                <a:ln>
                  <a:noFill/>
                </a:ln>
                <a:solidFill>
                  <a:sysClr val="windowText" lastClr="000000"/>
                </a:solidFill>
                <a:effectLst/>
                <a:uLnTx/>
                <a:uFillTx/>
                <a:latin typeface="Calibri"/>
                <a:ea typeface="+mn-ea"/>
                <a:cs typeface="+mn-cs"/>
              </a:rPr>
              <a:t>Types of an array</a:t>
            </a:r>
          </a:p>
          <a:p>
            <a:pPr marL="0" marR="0" lvl="0" indent="0" algn="l" defTabSz="914400" rtl="0" eaLnBrk="0" fontAlgn="base" latinLnBrk="0" hangingPunct="0">
              <a:lnSpc>
                <a:spcPct val="150000"/>
              </a:lnSpc>
              <a:spcBef>
                <a:spcPct val="0"/>
              </a:spcBef>
              <a:spcAft>
                <a:spcPct val="0"/>
              </a:spcAft>
              <a:buClr>
                <a:srgbClr val="000000"/>
              </a:buClr>
              <a:buSzPts val="2000"/>
              <a:buFont typeface="Arial" panose="020B0604020202020204" pitchFamily="34" charset="0"/>
              <a:buNone/>
              <a:tabLst/>
              <a:defRPr/>
            </a:pPr>
            <a:r>
              <a:rPr kumimoji="0" lang="en-US" altLang="en-US" sz="2300" b="0" i="0" u="none" strike="noStrike" kern="1200" cap="none" spc="0" normalizeH="0" baseline="0" noProof="0">
                <a:ln>
                  <a:noFill/>
                </a:ln>
                <a:solidFill>
                  <a:sysClr val="windowText" lastClr="000000"/>
                </a:solidFill>
                <a:effectLst/>
                <a:uLnTx/>
                <a:uFillTx/>
                <a:latin typeface="Cambria" pitchFamily="18" charset="0"/>
                <a:ea typeface="+mn-ea"/>
                <a:cs typeface="+mn-cs"/>
              </a:rPr>
              <a:t>      </a:t>
            </a:r>
            <a:r>
              <a:rPr kumimoji="0" lang="en-US" altLang="en-US" sz="2400" b="0" i="0" u="none" strike="noStrike" kern="1200" cap="none" spc="0" normalizeH="0" baseline="0" noProof="0">
                <a:ln>
                  <a:noFill/>
                </a:ln>
                <a:solidFill>
                  <a:sysClr val="windowText" lastClr="000000"/>
                </a:solidFill>
                <a:effectLst/>
                <a:uLnTx/>
                <a:uFillTx/>
                <a:latin typeface="Cambria" pitchFamily="18" charset="0"/>
                <a:ea typeface="+mn-ea"/>
                <a:cs typeface="+mn-cs"/>
              </a:rPr>
              <a:t>Stacks:</a:t>
            </a:r>
          </a:p>
          <a:p>
            <a:pPr marL="742950" marR="0" lvl="1" indent="-285750" algn="l" defTabSz="914400" rtl="0" eaLnBrk="0" fontAlgn="base" latinLnBrk="0" hangingPunct="0">
              <a:lnSpc>
                <a:spcPct val="150000"/>
              </a:lnSpc>
              <a:spcBef>
                <a:spcPct val="0"/>
              </a:spcBef>
              <a:spcAft>
                <a:spcPct val="0"/>
              </a:spcAft>
              <a:buClr>
                <a:srgbClr val="000000"/>
              </a:buClr>
              <a:buSzPts val="2000"/>
              <a:buFont typeface="Arial" panose="020B0604020202020204" pitchFamily="34" charset="0"/>
              <a:buChar char="•"/>
              <a:tabLst/>
              <a:defRPr/>
            </a:pPr>
            <a:r>
              <a:rPr kumimoji="0" lang="en-US" altLang="en-US" sz="2300" b="0" i="0" u="none" strike="noStrike" kern="1200" cap="none" spc="0" normalizeH="0" baseline="0" noProof="0">
                <a:ln>
                  <a:noFill/>
                </a:ln>
                <a:solidFill>
                  <a:sysClr val="windowText" lastClr="000000"/>
                </a:solidFill>
                <a:effectLst/>
                <a:uLnTx/>
                <a:uFillTx/>
                <a:latin typeface="Calibri"/>
                <a:ea typeface="+mn-ea"/>
                <a:cs typeface="+mn-cs"/>
              </a:rPr>
              <a:t>Operations and basic features of stack</a:t>
            </a:r>
          </a:p>
          <a:p>
            <a:pPr marL="742950" marR="0" lvl="1" indent="-285750" algn="l" defTabSz="914400" rtl="0" eaLnBrk="0" fontAlgn="base" latinLnBrk="0" hangingPunct="0">
              <a:lnSpc>
                <a:spcPct val="150000"/>
              </a:lnSpc>
              <a:spcBef>
                <a:spcPct val="0"/>
              </a:spcBef>
              <a:spcAft>
                <a:spcPct val="0"/>
              </a:spcAft>
              <a:buClr>
                <a:srgbClr val="000000"/>
              </a:buClr>
              <a:buSzPts val="2000"/>
              <a:buFont typeface="Arial" panose="020B0604020202020204" pitchFamily="34" charset="0"/>
              <a:buChar char="•"/>
              <a:tabLst/>
              <a:defRPr/>
            </a:pPr>
            <a:r>
              <a:rPr kumimoji="0" lang="en-US" altLang="en-US" sz="2300" b="0" i="0" u="none" strike="noStrike" kern="1200" cap="none" spc="0" normalizeH="0" baseline="0" noProof="0">
                <a:ln>
                  <a:noFill/>
                </a:ln>
                <a:solidFill>
                  <a:sysClr val="windowText" lastClr="000000"/>
                </a:solidFill>
                <a:effectLst/>
                <a:uLnTx/>
                <a:uFillTx/>
                <a:latin typeface="Calibri"/>
                <a:ea typeface="+mn-ea"/>
                <a:cs typeface="+mn-cs"/>
              </a:rPr>
              <a:t>Implementation of stack</a:t>
            </a:r>
          </a:p>
          <a:p>
            <a:pPr marL="742950" marR="0" lvl="1" indent="-285750" algn="l" defTabSz="914400" rtl="0" eaLnBrk="0" fontAlgn="base" latinLnBrk="0" hangingPunct="0">
              <a:lnSpc>
                <a:spcPct val="150000"/>
              </a:lnSpc>
              <a:spcBef>
                <a:spcPct val="0"/>
              </a:spcBef>
              <a:spcAft>
                <a:spcPct val="0"/>
              </a:spcAft>
              <a:buClr>
                <a:srgbClr val="000000"/>
              </a:buClr>
              <a:buSzPts val="2000"/>
              <a:buFont typeface="Arial" panose="020B0604020202020204" pitchFamily="34" charset="0"/>
              <a:buChar char="•"/>
              <a:tabLst/>
              <a:defRPr/>
            </a:pPr>
            <a:r>
              <a:rPr kumimoji="0" lang="en-US" altLang="en-US" sz="2300" b="0" i="0" u="none" strike="noStrike" kern="1200" cap="none" spc="0" normalizeH="0" baseline="0" noProof="0">
                <a:ln>
                  <a:noFill/>
                </a:ln>
                <a:solidFill>
                  <a:sysClr val="windowText" lastClr="000000"/>
                </a:solidFill>
                <a:effectLst/>
                <a:uLnTx/>
                <a:uFillTx/>
                <a:latin typeface="Calibri"/>
                <a:ea typeface="+mn-ea"/>
                <a:cs typeface="+mn-cs"/>
              </a:rPr>
              <a:t>Application of stack</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endParaRPr kumimoji="0" lang="en-US" altLang="en-US" sz="23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spTree>
    <p:extLst>
      <p:ext uri="{BB962C8B-B14F-4D97-AF65-F5344CB8AC3E}">
        <p14:creationId xmlns:p14="http://schemas.microsoft.com/office/powerpoint/2010/main" val="38689592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834F766-A176-EC7F-DA61-121F22B5631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C22884BC-C924-1064-8AE8-EA2EEEF3175A}"/>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2EF7270C-BEA4-72D0-7C70-EF18C77EEAA8}"/>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18</a:t>
            </a:r>
          </a:p>
        </p:txBody>
      </p:sp>
      <p:sp>
        <p:nvSpPr>
          <p:cNvPr id="2" name="Google Shape;398;p16">
            <a:extLst>
              <a:ext uri="{FF2B5EF4-FFF2-40B4-BE49-F238E27FC236}">
                <a16:creationId xmlns:a16="http://schemas.microsoft.com/office/drawing/2014/main" id="{29C0C67A-C50A-18DC-412A-99E3C5164A3A}"/>
              </a:ext>
            </a:extLst>
          </p:cNvPr>
          <p:cNvSpPr txBox="1">
            <a:spLocks/>
          </p:cNvSpPr>
          <p:nvPr/>
        </p:nvSpPr>
        <p:spPr>
          <a:xfrm>
            <a:off x="845130" y="264735"/>
            <a:ext cx="7924800" cy="609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C00000"/>
              </a:buClr>
              <a:buSzPts val="2800"/>
              <a:buFont typeface="Cambria"/>
              <a:buNone/>
            </a:pPr>
            <a:r>
              <a:rPr lang="en-US" sz="4000" b="1">
                <a:solidFill>
                  <a:schemeClr val="bg2"/>
                </a:solidFill>
                <a:latin typeface="Calibri" panose="020F0502020204030204" pitchFamily="34" charset="0"/>
                <a:ea typeface="Calibri" panose="020F0502020204030204" pitchFamily="34" charset="0"/>
                <a:cs typeface="Calibri" panose="020F0502020204030204" pitchFamily="34" charset="0"/>
                <a:sym typeface="Cambria"/>
              </a:rPr>
              <a:t>Next Lecture</a:t>
            </a:r>
            <a:endParaRPr lang="en-US" sz="4000"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10249610-B66A-BF4C-F57E-A5F30B9DF15E}"/>
              </a:ext>
            </a:extLst>
          </p:cNvPr>
          <p:cNvSpPr txBox="1"/>
          <p:nvPr/>
        </p:nvSpPr>
        <p:spPr>
          <a:xfrm>
            <a:off x="1094873" y="1268136"/>
            <a:ext cx="4572000" cy="523220"/>
          </a:xfrm>
          <a:prstGeom prst="rect">
            <a:avLst/>
          </a:prstGeom>
          <a:noFill/>
        </p:spPr>
        <p:txBody>
          <a:bodyPr wrap="square">
            <a:spAutoFit/>
          </a:bodyPr>
          <a:lstStyle/>
          <a:p>
            <a:r>
              <a:rPr lang="en-US" altLang="en-US" sz="2800" b="1" dirty="0">
                <a:latin typeface="Calibri" panose="020F0502020204030204" pitchFamily="34" charset="0"/>
                <a:ea typeface="Calibri" panose="020F0502020204030204" pitchFamily="34" charset="0"/>
                <a:cs typeface="Calibri" panose="020F0502020204030204" pitchFamily="34" charset="0"/>
              </a:rPr>
              <a:t>- Queue</a:t>
            </a:r>
            <a:endParaRPr lang="en-IN" sz="2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302148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357FC081-CD9A-5890-31B1-05B3C94BF6C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F91A00A-7547-9CA1-AE7A-367A9D781316}"/>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19</a:t>
            </a:r>
          </a:p>
        </p:txBody>
      </p:sp>
      <p:sp>
        <p:nvSpPr>
          <p:cNvPr id="2" name="Google Shape;398;p16">
            <a:extLst>
              <a:ext uri="{FF2B5EF4-FFF2-40B4-BE49-F238E27FC236}">
                <a16:creationId xmlns:a16="http://schemas.microsoft.com/office/drawing/2014/main" id="{6A560F48-626F-3E22-D367-BDFCE56FCAB9}"/>
              </a:ext>
            </a:extLst>
          </p:cNvPr>
          <p:cNvSpPr txBox="1">
            <a:spLocks/>
          </p:cNvSpPr>
          <p:nvPr/>
        </p:nvSpPr>
        <p:spPr>
          <a:xfrm>
            <a:off x="912831" y="197075"/>
            <a:ext cx="7292706" cy="609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C00000"/>
              </a:buClr>
              <a:buSzPts val="2800"/>
              <a:buFont typeface="Cambria"/>
              <a:buNone/>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sym typeface="Cambria"/>
              </a:rPr>
              <a:t>Quiz</a:t>
            </a:r>
            <a:endParaRPr lang="en-US" sz="4000"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FD7F5E6F-26F3-1986-4293-E17BDDD6DA82}"/>
              </a:ext>
            </a:extLst>
          </p:cNvPr>
          <p:cNvSpPr txBox="1"/>
          <p:nvPr/>
        </p:nvSpPr>
        <p:spPr>
          <a:xfrm>
            <a:off x="757500" y="806675"/>
            <a:ext cx="8235462" cy="4001095"/>
          </a:xfrm>
          <a:prstGeom prst="rect">
            <a:avLst/>
          </a:prstGeom>
          <a:noFill/>
        </p:spPr>
        <p:txBody>
          <a:bodyPr wrap="square">
            <a:spAutoFit/>
          </a:bodyPr>
          <a:lstStyle/>
          <a:p>
            <a:pPr marL="342900" indent="-342900">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Which of these is NOT a valid stack operation?</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A) Push</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B) Pop</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C) Peek/Top</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D) Insert at index</a:t>
            </a:r>
          </a:p>
          <a:p>
            <a:pPr marL="342900" indent="-342900">
              <a:buAutoNum type="arabicPeriod"/>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342900" indent="-342900">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Which condition indicates a stack overflow in a static array implementation?</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A) top &lt; 0</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B) top == size - 1</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C) top == 0</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D) top == NULL</a:t>
            </a:r>
          </a:p>
          <a:p>
            <a:pPr marL="342900" indent="-342900">
              <a:buAutoNum type="arabicPeriod"/>
            </a:pPr>
            <a:endParaRPr lang="en-IN" dirty="0"/>
          </a:p>
        </p:txBody>
      </p:sp>
    </p:spTree>
    <p:extLst>
      <p:ext uri="{BB962C8B-B14F-4D97-AF65-F5344CB8AC3E}">
        <p14:creationId xmlns:p14="http://schemas.microsoft.com/office/powerpoint/2010/main" val="42229768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C16E0BE-5E4E-D8A1-5CB2-8142F9754DB8}"/>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B227BF8B-63CF-08D9-3EFB-1157B57C1393}"/>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0C7C2C36-4064-467E-F174-5CD0AE20BD03}"/>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20</a:t>
            </a:r>
          </a:p>
        </p:txBody>
      </p:sp>
      <p:sp>
        <p:nvSpPr>
          <p:cNvPr id="2" name="Google Shape;392;p15">
            <a:extLst>
              <a:ext uri="{FF2B5EF4-FFF2-40B4-BE49-F238E27FC236}">
                <a16:creationId xmlns:a16="http://schemas.microsoft.com/office/drawing/2014/main" id="{4B714057-CA43-4B1E-290C-27F7B4BBA00C}"/>
              </a:ext>
            </a:extLst>
          </p:cNvPr>
          <p:cNvSpPr txBox="1">
            <a:spLocks/>
          </p:cNvSpPr>
          <p:nvPr/>
        </p:nvSpPr>
        <p:spPr>
          <a:xfrm>
            <a:off x="952500" y="342338"/>
            <a:ext cx="7924800" cy="609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C00000"/>
              </a:buClr>
              <a:buSzPts val="2400"/>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References/ Articles/ Videos</a:t>
            </a:r>
            <a:b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br>
            <a:endParaRPr lang="en-US" sz="4000" b="1" dirty="0">
              <a:solidFill>
                <a:srgbClr val="C00000"/>
              </a:solidFill>
              <a:latin typeface="Calibri" panose="020F0502020204030204" pitchFamily="34" charset="0"/>
              <a:ea typeface="Calibri" panose="020F0502020204030204" pitchFamily="34" charset="0"/>
              <a:cs typeface="Calibri" panose="020F0502020204030204" pitchFamily="34" charset="0"/>
              <a:sym typeface="Cambria"/>
            </a:endParaRPr>
          </a:p>
        </p:txBody>
      </p:sp>
      <p:sp>
        <p:nvSpPr>
          <p:cNvPr id="5" name="Google Shape;157;p25">
            <a:extLst>
              <a:ext uri="{FF2B5EF4-FFF2-40B4-BE49-F238E27FC236}">
                <a16:creationId xmlns:a16="http://schemas.microsoft.com/office/drawing/2014/main" id="{1396B7E8-E770-8114-F43F-6E2955820DC0}"/>
              </a:ext>
            </a:extLst>
          </p:cNvPr>
          <p:cNvSpPr txBox="1">
            <a:spLocks/>
          </p:cNvSpPr>
          <p:nvPr/>
        </p:nvSpPr>
        <p:spPr>
          <a:xfrm>
            <a:off x="876300" y="529949"/>
            <a:ext cx="8001000" cy="3530150"/>
          </a:xfrm>
          <a:prstGeom prst="rect">
            <a:avLst/>
          </a:prstGeom>
          <a:noFill/>
        </p:spPr>
        <p:txBody>
          <a:bodyPr spcFirstLastPara="1" wrap="square" lIns="91425" tIns="45700" rIns="91425" bIns="45700" anchor="t" anchorCtr="0">
            <a:no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ts val="480"/>
              </a:spcBef>
              <a:spcAft>
                <a:spcPts val="0"/>
              </a:spcAft>
              <a:buClr>
                <a:sysClr val="windowText" lastClr="000000"/>
              </a:buClr>
              <a:buSzPts val="2400"/>
              <a:buFont typeface="Arial" panose="020B0604020202020204" pitchFamily="34" charset="0"/>
              <a:buNone/>
              <a:tabLst/>
              <a:defRPr/>
            </a:pPr>
            <a:r>
              <a:rPr kumimoji="0" lang="en-US" sz="2400" b="1" i="0" u="none" strike="noStrike" kern="1200" cap="none" spc="0" normalizeH="0" baseline="0" noProof="0">
                <a:ln>
                  <a:noFill/>
                </a:ln>
                <a:solidFill>
                  <a:sysClr val="windowText" lastClr="000000"/>
                </a:solidFill>
                <a:effectLst/>
                <a:uLnTx/>
                <a:uFillTx/>
                <a:latin typeface="Cambria" pitchFamily="18" charset="0"/>
                <a:ea typeface="+mn-ea"/>
                <a:cs typeface="+mn-cs"/>
              </a:rPr>
              <a:t>Text books:</a:t>
            </a:r>
            <a:endParaRPr kumimoji="0" lang="en-US" sz="2400" b="0" i="0" u="none" strike="noStrike" kern="1200" cap="none" spc="0" normalizeH="0" baseline="0" noProof="0">
              <a:ln>
                <a:noFill/>
              </a:ln>
              <a:solidFill>
                <a:sysClr val="windowText" lastClr="000000"/>
              </a:solidFill>
              <a:effectLst/>
              <a:uLnTx/>
              <a:uFillTx/>
              <a:latin typeface="Cambria" pitchFamily="18" charset="0"/>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ysClr val="windowText" lastClr="000000"/>
                </a:solidFill>
                <a:effectLst/>
                <a:uLnTx/>
                <a:uFillTx/>
                <a:latin typeface="Cambria" pitchFamily="18" charset="0"/>
                <a:ea typeface="+mn-ea"/>
                <a:cs typeface="+mn-cs"/>
              </a:rPr>
              <a:t>Cormen, Leiserson, Rivest, Stein, “</a:t>
            </a:r>
            <a:r>
              <a:rPr kumimoji="0" lang="en-US" sz="1800" b="0" i="1" u="none" strike="noStrike" kern="1200" cap="none" spc="0" normalizeH="0" baseline="0" noProof="0">
                <a:ln>
                  <a:noFill/>
                </a:ln>
                <a:solidFill>
                  <a:sysClr val="windowText" lastClr="000000"/>
                </a:solidFill>
                <a:effectLst/>
                <a:uLnTx/>
                <a:uFillTx/>
                <a:latin typeface="Cambria" pitchFamily="18" charset="0"/>
                <a:ea typeface="+mn-ea"/>
                <a:cs typeface="+mn-cs"/>
              </a:rPr>
              <a:t>Introduction to Algorithms</a:t>
            </a:r>
            <a:r>
              <a:rPr kumimoji="0" lang="en-US" sz="1800" b="0" i="0" u="none" strike="noStrike" kern="1200" cap="none" spc="0" normalizeH="0" baseline="0" noProof="0">
                <a:ln>
                  <a:noFill/>
                </a:ln>
                <a:solidFill>
                  <a:sysClr val="windowText" lastClr="000000"/>
                </a:solidFill>
                <a:effectLst/>
                <a:uLnTx/>
                <a:uFillTx/>
                <a:latin typeface="Cambria" pitchFamily="18" charset="0"/>
                <a:ea typeface="+mn-ea"/>
                <a:cs typeface="+mn-cs"/>
              </a:rPr>
              <a:t>”, Prentice Hall of India, 3</a:t>
            </a:r>
            <a:r>
              <a:rPr kumimoji="0" lang="en-US" sz="1800" b="0" i="0" u="none" strike="noStrike" kern="1200" cap="none" spc="0" normalizeH="0" baseline="30000" noProof="0">
                <a:ln>
                  <a:noFill/>
                </a:ln>
                <a:solidFill>
                  <a:sysClr val="windowText" lastClr="000000"/>
                </a:solidFill>
                <a:effectLst/>
                <a:uLnTx/>
                <a:uFillTx/>
                <a:latin typeface="Cambria" pitchFamily="18" charset="0"/>
                <a:ea typeface="+mn-ea"/>
                <a:cs typeface="+mn-cs"/>
              </a:rPr>
              <a:t>rd</a:t>
            </a:r>
            <a:r>
              <a:rPr kumimoji="0" lang="en-US" sz="1800" b="0" i="0" u="none" strike="noStrike" kern="1200" cap="none" spc="0" normalizeH="0" baseline="0" noProof="0">
                <a:ln>
                  <a:noFill/>
                </a:ln>
                <a:solidFill>
                  <a:sysClr val="windowText" lastClr="000000"/>
                </a:solidFill>
                <a:effectLst/>
                <a:uLnTx/>
                <a:uFillTx/>
                <a:latin typeface="Cambria" pitchFamily="18" charset="0"/>
                <a:ea typeface="+mn-ea"/>
                <a:cs typeface="+mn-cs"/>
              </a:rPr>
              <a:t> edition 2012. problem, Graph coloring.</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ysClr val="windowText" lastClr="000000"/>
                </a:solidFill>
                <a:effectLst/>
                <a:uLnTx/>
                <a:uFillTx/>
                <a:latin typeface="Cambria" pitchFamily="18" charset="0"/>
                <a:ea typeface="+mn-ea"/>
                <a:cs typeface="+mn-cs"/>
              </a:rPr>
              <a:t>Horowitz, Sahni and Rajasekaran, “</a:t>
            </a:r>
            <a:r>
              <a:rPr kumimoji="0" lang="en-US" sz="1800" b="0" i="1" u="none" strike="noStrike" kern="1200" cap="none" spc="0" normalizeH="0" baseline="0" noProof="0">
                <a:ln>
                  <a:noFill/>
                </a:ln>
                <a:solidFill>
                  <a:sysClr val="windowText" lastClr="000000"/>
                </a:solidFill>
                <a:effectLst/>
                <a:uLnTx/>
                <a:uFillTx/>
                <a:latin typeface="Cambria" pitchFamily="18" charset="0"/>
                <a:ea typeface="+mn-ea"/>
                <a:cs typeface="+mn-cs"/>
              </a:rPr>
              <a:t>Fundamentals of ComputerAlgorithms”</a:t>
            </a:r>
            <a:r>
              <a:rPr kumimoji="0" lang="en-US" sz="1800" b="0" i="0" u="none" strike="noStrike" kern="1200" cap="none" spc="0" normalizeH="0" baseline="0" noProof="0">
                <a:ln>
                  <a:noFill/>
                </a:ln>
                <a:solidFill>
                  <a:sysClr val="windowText" lastClr="000000"/>
                </a:solidFill>
                <a:effectLst/>
                <a:uLnTx/>
                <a:uFillTx/>
                <a:latin typeface="Cambria" pitchFamily="18" charset="0"/>
                <a:ea typeface="+mn-ea"/>
                <a:cs typeface="+mn-cs"/>
              </a:rPr>
              <a:t>, University Press (India), 2</a:t>
            </a:r>
            <a:r>
              <a:rPr kumimoji="0" lang="en-US" sz="1800" b="0" i="0" u="none" strike="noStrike" kern="1200" cap="none" spc="0" normalizeH="0" baseline="30000" noProof="0">
                <a:ln>
                  <a:noFill/>
                </a:ln>
                <a:solidFill>
                  <a:sysClr val="windowText" lastClr="000000"/>
                </a:solidFill>
                <a:effectLst/>
                <a:uLnTx/>
                <a:uFillTx/>
                <a:latin typeface="Cambria" pitchFamily="18" charset="0"/>
                <a:ea typeface="+mn-ea"/>
                <a:cs typeface="+mn-cs"/>
              </a:rPr>
              <a:t>nd</a:t>
            </a:r>
            <a:r>
              <a:rPr kumimoji="0" lang="en-US" sz="1800" b="0" i="0" u="none" strike="noStrike" kern="1200" cap="none" spc="0" normalizeH="0" baseline="0" noProof="0">
                <a:ln>
                  <a:noFill/>
                </a:ln>
                <a:solidFill>
                  <a:sysClr val="windowText" lastClr="000000"/>
                </a:solidFill>
                <a:effectLst/>
                <a:uLnTx/>
                <a:uFillTx/>
                <a:latin typeface="Cambria" pitchFamily="18" charset="0"/>
                <a:ea typeface="+mn-ea"/>
                <a:cs typeface="+mn-cs"/>
              </a:rPr>
              <a:t> edition</a:t>
            </a:r>
            <a:endParaRPr kumimoji="0" lang="en-US" sz="2400" b="1" i="0" u="none" strike="noStrike" kern="1200" cap="none" spc="0" normalizeH="0" baseline="0" noProof="0">
              <a:ln>
                <a:noFill/>
              </a:ln>
              <a:solidFill>
                <a:sysClr val="windowText" lastClr="000000"/>
              </a:solidFill>
              <a:effectLst/>
              <a:uLnTx/>
              <a:uFillTx/>
              <a:latin typeface="Cambria" pitchFamily="18" charset="0"/>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0" lang="en-US" sz="2400" b="1" i="0" u="none" strike="noStrike" kern="1200" cap="none" spc="0" normalizeH="0" baseline="0" noProof="0">
                <a:ln>
                  <a:noFill/>
                </a:ln>
                <a:solidFill>
                  <a:sysClr val="windowText" lastClr="000000"/>
                </a:solidFill>
                <a:effectLst/>
                <a:uLnTx/>
                <a:uFillTx/>
                <a:latin typeface="Cambria" pitchFamily="18" charset="0"/>
                <a:ea typeface="+mn-ea"/>
                <a:cs typeface="+mn-cs"/>
              </a:rPr>
              <a:t>Websites:</a:t>
            </a:r>
            <a:endParaRPr kumimoji="0" lang="en-US" sz="2400" b="1" i="0" u="sng" strike="noStrike" kern="1200" cap="none" spc="0" normalizeH="0" baseline="0" noProof="0">
              <a:ln>
                <a:noFill/>
              </a:ln>
              <a:solidFill>
                <a:sysClr val="windowText" lastClr="000000"/>
              </a:solidFill>
              <a:effectLst/>
              <a:uLnTx/>
              <a:uFillTx/>
              <a:latin typeface="Cambria" pitchFamily="18" charset="0"/>
              <a:ea typeface="+mn-ea"/>
              <a:cs typeface="+mn-cs"/>
              <a:hlinkClick r:id="rId3"/>
            </a:endParaRPr>
          </a:p>
          <a:p>
            <a:pPr marL="457200" marR="0" lvl="0" indent="-457200" algn="l" defTabSz="914400" rtl="0" eaLnBrk="0" fontAlgn="base" latinLnBrk="0" hangingPunct="0">
              <a:lnSpc>
                <a:spcPct val="100000"/>
              </a:lnSpc>
              <a:spcBef>
                <a:spcPts val="480"/>
              </a:spcBef>
              <a:spcAft>
                <a:spcPts val="0"/>
              </a:spcAft>
              <a:buClr>
                <a:sysClr val="windowText" lastClr="000000"/>
              </a:buClr>
              <a:buSzPts val="2400"/>
              <a:buFont typeface="Arial"/>
              <a:buAutoNum type="arabicPeriod"/>
              <a:tabLst/>
              <a:defRPr/>
            </a:pPr>
            <a:r>
              <a:rPr kumimoji="0" lang="en-US" sz="2400" b="0" i="0" u="none" strike="noStrike" kern="1200" cap="none" spc="0" normalizeH="0" baseline="0" noProof="0">
                <a:ln>
                  <a:noFill/>
                </a:ln>
                <a:solidFill>
                  <a:sysClr val="windowText" lastClr="000000"/>
                </a:solidFill>
                <a:effectLst/>
                <a:uLnTx/>
                <a:uFillTx/>
                <a:latin typeface="Cambria" pitchFamily="18" charset="0"/>
                <a:ea typeface="+mn-ea"/>
                <a:cs typeface="+mn-cs"/>
                <a:hlinkClick r:id="rId4"/>
              </a:rPr>
              <a:t>https://www.tutorialspoint.com/data_structures_algorithms/array_data_structure.htm</a:t>
            </a:r>
            <a:endParaRPr kumimoji="0" lang="en-US" sz="2400" b="0" i="0" u="none" strike="noStrike" kern="1200" cap="none" spc="0" normalizeH="0" baseline="0" noProof="0">
              <a:ln>
                <a:noFill/>
              </a:ln>
              <a:solidFill>
                <a:sysClr val="windowText" lastClr="000000"/>
              </a:solidFill>
              <a:effectLst/>
              <a:uLnTx/>
              <a:uFillTx/>
              <a:latin typeface="Cambria"/>
              <a:ea typeface="Cambria"/>
              <a:cs typeface="Cambria"/>
              <a:sym typeface="Cambria"/>
            </a:endParaRPr>
          </a:p>
          <a:p>
            <a:pPr marL="457200" marR="0" lvl="0" indent="-457200" algn="l" defTabSz="914400" rtl="0" eaLnBrk="0" fontAlgn="base" latinLnBrk="0" hangingPunct="0">
              <a:lnSpc>
                <a:spcPct val="100000"/>
              </a:lnSpc>
              <a:spcBef>
                <a:spcPts val="480"/>
              </a:spcBef>
              <a:spcAft>
                <a:spcPts val="0"/>
              </a:spcAft>
              <a:buClr>
                <a:sysClr val="windowText" lastClr="000000"/>
              </a:buClr>
              <a:buSzPts val="2400"/>
              <a:buFont typeface="Arial"/>
              <a:buAutoNum type="arabicPeriod"/>
              <a:tabLst/>
              <a:defRPr/>
            </a:pPr>
            <a:r>
              <a:rPr kumimoji="0" lang="en-US" sz="1800" b="0" i="0" u="none" strike="noStrike" kern="1200" cap="none" spc="0" normalizeH="0" baseline="0" noProof="0">
                <a:ln>
                  <a:noFill/>
                </a:ln>
                <a:solidFill>
                  <a:sysClr val="windowText" lastClr="000000"/>
                </a:solidFill>
                <a:effectLst/>
                <a:uLnTx/>
                <a:uFillTx/>
                <a:latin typeface="Cambria" pitchFamily="18" charset="0"/>
                <a:ea typeface="+mn-ea"/>
                <a:cs typeface="+mn-cs"/>
                <a:hlinkClick r:id="rId5"/>
              </a:rPr>
              <a:t>https://gradeup.co/stacks-i-12d755b7-c59a-11e5-9776-de767a2dfd2a</a:t>
            </a:r>
            <a:endParaRPr kumimoji="0" lang="en-US" sz="1800" b="0" i="0" u="none" strike="noStrike" kern="1200" cap="none" spc="0" normalizeH="0" baseline="0" noProof="0">
              <a:ln>
                <a:noFill/>
              </a:ln>
              <a:solidFill>
                <a:sysClr val="windowText" lastClr="000000"/>
              </a:solidFill>
              <a:effectLst/>
              <a:uLnTx/>
              <a:uFillTx/>
              <a:latin typeface="Cambria" pitchFamily="18" charset="0"/>
              <a:ea typeface="+mn-ea"/>
              <a:cs typeface="+mn-cs"/>
            </a:endParaRPr>
          </a:p>
          <a:p>
            <a:pPr marL="457200" marR="0" lvl="0" indent="-457200" algn="l" defTabSz="914400" rtl="0" eaLnBrk="0" fontAlgn="base" latinLnBrk="0" hangingPunct="0">
              <a:lnSpc>
                <a:spcPct val="100000"/>
              </a:lnSpc>
              <a:spcBef>
                <a:spcPts val="480"/>
              </a:spcBef>
              <a:spcAft>
                <a:spcPts val="0"/>
              </a:spcAft>
              <a:buClr>
                <a:sysClr val="windowText" lastClr="000000"/>
              </a:buClr>
              <a:buSzPts val="2400"/>
              <a:buFont typeface="Arial"/>
              <a:buAutoNum type="arabicPeriod"/>
              <a:tabLst/>
              <a:defRPr/>
            </a:pPr>
            <a:r>
              <a:rPr kumimoji="0" lang="en-US" sz="1800" b="0" i="0" u="none" strike="noStrike" kern="1200" cap="none" spc="0" normalizeH="0" baseline="0" noProof="0">
                <a:ln>
                  <a:noFill/>
                </a:ln>
                <a:solidFill>
                  <a:sysClr val="windowText" lastClr="000000"/>
                </a:solidFill>
                <a:effectLst/>
                <a:uLnTx/>
                <a:uFillTx/>
                <a:latin typeface="Cambria" pitchFamily="18" charset="0"/>
                <a:ea typeface="+mn-ea"/>
                <a:cs typeface="+mn-cs"/>
                <a:hlinkClick r:id="rId6"/>
              </a:rPr>
              <a:t>https://www.geeksforgeeks.org/stack-data-structure/</a:t>
            </a:r>
            <a:endParaRPr kumimoji="0" lang="en-US" sz="1800" b="0" i="0" u="none" strike="noStrike" kern="1200" cap="none" spc="0" normalizeH="0" baseline="0" noProof="0">
              <a:ln>
                <a:noFill/>
              </a:ln>
              <a:solidFill>
                <a:sysClr val="windowText" lastClr="000000"/>
              </a:solidFill>
              <a:effectLst/>
              <a:uLnTx/>
              <a:uFillTx/>
              <a:latin typeface="Cambria" pitchFamily="18" charset="0"/>
              <a:ea typeface="+mn-ea"/>
              <a:cs typeface="+mn-cs"/>
            </a:endParaRPr>
          </a:p>
          <a:p>
            <a:pPr marL="457200" marR="0" lvl="0" indent="-457200" algn="l" defTabSz="914400" rtl="0" eaLnBrk="0" fontAlgn="base" latinLnBrk="0" hangingPunct="0">
              <a:lnSpc>
                <a:spcPct val="100000"/>
              </a:lnSpc>
              <a:spcBef>
                <a:spcPts val="480"/>
              </a:spcBef>
              <a:spcAft>
                <a:spcPts val="0"/>
              </a:spcAft>
              <a:buClr>
                <a:sysClr val="windowText" lastClr="000000"/>
              </a:buClr>
              <a:buSzPts val="2400"/>
              <a:buFont typeface="Arial"/>
              <a:buAutoNum type="arabicPeriod"/>
              <a:tabLst/>
              <a:defRPr/>
            </a:pPr>
            <a:r>
              <a:rPr kumimoji="0" lang="en-US" sz="1800" b="0" i="0" u="none" strike="noStrike" kern="1200" cap="none" spc="0" normalizeH="0" baseline="0" noProof="0">
                <a:ln>
                  <a:noFill/>
                </a:ln>
                <a:solidFill>
                  <a:sysClr val="windowText" lastClr="000000"/>
                </a:solidFill>
                <a:effectLst/>
                <a:uLnTx/>
                <a:uFillTx/>
                <a:latin typeface="Cambria" pitchFamily="18" charset="0"/>
                <a:ea typeface="+mn-ea"/>
                <a:cs typeface="+mn-cs"/>
                <a:hlinkClick r:id="rId7"/>
              </a:rPr>
              <a:t>https://www.javatpoint.com/ds-linked-list-implementation-of-stack#:~:text=Linked%20list%20allocates%20the%20memory,successor%20node%20in%20the%20stack.</a:t>
            </a:r>
            <a:endParaRPr kumimoji="0" lang="en-US" sz="1800" b="0" i="0" u="none" strike="noStrike" kern="1200" cap="none" spc="0" normalizeH="0" baseline="0" noProof="0">
              <a:ln>
                <a:noFill/>
              </a:ln>
              <a:solidFill>
                <a:sysClr val="windowText" lastClr="000000"/>
              </a:solidFill>
              <a:effectLst/>
              <a:uLnTx/>
              <a:uFillTx/>
              <a:latin typeface="Cambria"/>
              <a:ea typeface="Cambria"/>
              <a:cs typeface="Cambria"/>
              <a:sym typeface="Cambria"/>
            </a:endParaRPr>
          </a:p>
          <a:p>
            <a:pPr marL="457200" marR="0" lvl="0" indent="-304800" algn="l" defTabSz="914400" rtl="0" eaLnBrk="0" fontAlgn="base" latinLnBrk="0" hangingPunct="0">
              <a:lnSpc>
                <a:spcPct val="100000"/>
              </a:lnSpc>
              <a:spcBef>
                <a:spcPts val="480"/>
              </a:spcBef>
              <a:spcAft>
                <a:spcPts val="0"/>
              </a:spcAft>
              <a:buClr>
                <a:sysClr val="windowText" lastClr="000000"/>
              </a:buClr>
              <a:buSzPts val="2400"/>
              <a:buFont typeface="Arial"/>
              <a:buNone/>
              <a:tabLst/>
              <a:defRPr/>
            </a:pPr>
            <a:endParaRPr kumimoji="0" lang="en-US" sz="2400" b="0" i="0" u="none" strike="noStrike" kern="1200" cap="none" spc="0" normalizeH="0" baseline="0" noProof="0">
              <a:ln>
                <a:noFill/>
              </a:ln>
              <a:solidFill>
                <a:sysClr val="windowText" lastClr="000000"/>
              </a:solidFill>
              <a:effectLst/>
              <a:uLnTx/>
              <a:uFillTx/>
              <a:latin typeface="Cambria"/>
              <a:ea typeface="Cambria"/>
              <a:cs typeface="Cambria"/>
              <a:sym typeface="Cambria"/>
            </a:endParaRPr>
          </a:p>
          <a:p>
            <a:pPr marL="457200" marR="0" lvl="0" indent="-304800" algn="l" defTabSz="914400" rtl="0" eaLnBrk="0" fontAlgn="base" latinLnBrk="0" hangingPunct="0">
              <a:lnSpc>
                <a:spcPct val="100000"/>
              </a:lnSpc>
              <a:spcBef>
                <a:spcPts val="480"/>
              </a:spcBef>
              <a:spcAft>
                <a:spcPts val="0"/>
              </a:spcAft>
              <a:buClr>
                <a:sysClr val="windowText" lastClr="000000"/>
              </a:buClr>
              <a:buSzPts val="2400"/>
              <a:buFont typeface="Arial"/>
              <a:buNone/>
              <a:tabLst/>
              <a:defRPr/>
            </a:pPr>
            <a:endParaRPr kumimoji="0" lang="en-US" sz="2400" b="0" i="0" u="none" strike="noStrike" kern="1200" cap="none" spc="0" normalizeH="0" baseline="0" noProof="0" dirty="0">
              <a:ln>
                <a:noFill/>
              </a:ln>
              <a:solidFill>
                <a:sysClr val="windowText" lastClr="000000"/>
              </a:solidFill>
              <a:effectLst/>
              <a:uLnTx/>
              <a:uFillTx/>
              <a:latin typeface="Cambria"/>
              <a:ea typeface="Cambria"/>
              <a:cs typeface="Cambria"/>
              <a:sym typeface="Cambria"/>
            </a:endParaRPr>
          </a:p>
        </p:txBody>
      </p:sp>
    </p:spTree>
    <p:extLst>
      <p:ext uri="{BB962C8B-B14F-4D97-AF65-F5344CB8AC3E}">
        <p14:creationId xmlns:p14="http://schemas.microsoft.com/office/powerpoint/2010/main" val="34398201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C23ABF-C8EE-EA05-F7EE-2B8C43F1E874}"/>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593698A8-3266-35AD-BB7C-2D517F1F531B}"/>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88BF33F5-B0C9-AAA6-044A-76C3D9E8D88A}"/>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21</a:t>
            </a:r>
          </a:p>
        </p:txBody>
      </p:sp>
      <p:sp>
        <p:nvSpPr>
          <p:cNvPr id="2" name="Google Shape;398;p16">
            <a:extLst>
              <a:ext uri="{FF2B5EF4-FFF2-40B4-BE49-F238E27FC236}">
                <a16:creationId xmlns:a16="http://schemas.microsoft.com/office/drawing/2014/main" id="{6F49410F-EBB5-30E5-9EAD-BE507179EEE1}"/>
              </a:ext>
            </a:extLst>
          </p:cNvPr>
          <p:cNvSpPr txBox="1">
            <a:spLocks/>
          </p:cNvSpPr>
          <p:nvPr/>
        </p:nvSpPr>
        <p:spPr>
          <a:xfrm>
            <a:off x="948000" y="583857"/>
            <a:ext cx="7924800" cy="659666"/>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SzPts val="1900"/>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Faculty-curated videos, NPTEL, Coursera, LinkedIn, or other relevant learning resources</a:t>
            </a:r>
          </a:p>
        </p:txBody>
      </p:sp>
      <p:sp>
        <p:nvSpPr>
          <p:cNvPr id="3" name="Google Shape;399;p16">
            <a:extLst>
              <a:ext uri="{FF2B5EF4-FFF2-40B4-BE49-F238E27FC236}">
                <a16:creationId xmlns:a16="http://schemas.microsoft.com/office/drawing/2014/main" id="{FD57801D-30BB-E7C7-3950-4312264ED9AE}"/>
              </a:ext>
            </a:extLst>
          </p:cNvPr>
          <p:cNvSpPr txBox="1">
            <a:spLocks/>
          </p:cNvSpPr>
          <p:nvPr/>
        </p:nvSpPr>
        <p:spPr>
          <a:xfrm>
            <a:off x="757500" y="1781227"/>
            <a:ext cx="8001000" cy="277841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927100" lvl="1" indent="-457200">
              <a:spcBef>
                <a:spcPts val="0"/>
              </a:spcBef>
              <a:buClr>
                <a:srgbClr val="000000"/>
              </a:buClr>
              <a:buSzPts val="200"/>
              <a:buFont typeface="+mj-lt"/>
              <a:buAutoNum type="arabicPeriod"/>
            </a:pPr>
            <a:endParaRPr lang="en-IN" dirty="0"/>
          </a:p>
          <a:p>
            <a:pPr marL="584200" indent="-457200">
              <a:spcBef>
                <a:spcPts val="400"/>
              </a:spcBef>
              <a:buSzPts val="2000"/>
              <a:buFont typeface="+mj-lt"/>
              <a:buAutoNum type="arabicPeriod"/>
            </a:pPr>
            <a:r>
              <a:rPr lang="en-IN" sz="2000" dirty="0">
                <a:solidFill>
                  <a:schemeClr val="bg2"/>
                </a:solidFill>
                <a:latin typeface="Calibri"/>
                <a:ea typeface="Calibri"/>
                <a:cs typeface="Calibri"/>
                <a:sym typeface="Calibri"/>
                <a:hlinkClick r:id="rId3"/>
              </a:rPr>
              <a:t>https://onlinecourses.nptel.ac.in/noc23_cs96/preview</a:t>
            </a:r>
            <a:r>
              <a:rPr lang="en-IN" sz="2000" dirty="0">
                <a:solidFill>
                  <a:schemeClr val="bg2"/>
                </a:solidFill>
                <a:latin typeface="Calibri"/>
                <a:ea typeface="Calibri"/>
                <a:cs typeface="Calibri"/>
                <a:sym typeface="Calibri"/>
              </a:rPr>
              <a:t> </a:t>
            </a:r>
          </a:p>
          <a:p>
            <a:pPr marL="584200" indent="-457200">
              <a:spcBef>
                <a:spcPts val="400"/>
              </a:spcBef>
              <a:buSzPts val="2000"/>
              <a:buFont typeface="+mj-lt"/>
              <a:buAutoNum type="arabicPeriod"/>
            </a:pPr>
            <a:r>
              <a:rPr lang="en-IN" sz="2000" dirty="0">
                <a:solidFill>
                  <a:schemeClr val="bg2"/>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https://nptel.ac.in/courses/106106131</a:t>
            </a:r>
            <a:endParaRPr lang="en-IN" sz="2000" dirty="0">
              <a:solidFill>
                <a:schemeClr val="bg2"/>
              </a:solidFill>
              <a:latin typeface="Calibri"/>
              <a:ea typeface="Calibri"/>
              <a:cs typeface="Calibri"/>
              <a:sym typeface="Calibri"/>
            </a:endParaRPr>
          </a:p>
          <a:p>
            <a:pPr marL="584200" indent="-457200">
              <a:spcBef>
                <a:spcPts val="400"/>
              </a:spcBef>
              <a:buSzPts val="2000"/>
              <a:buFont typeface="+mj-lt"/>
              <a:buAutoNum type="arabicPeriod"/>
            </a:pPr>
            <a:r>
              <a:rPr lang="en-IN" sz="2000" dirty="0">
                <a:solidFill>
                  <a:schemeClr val="bg2"/>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https://nptel.ac.in/courses/106106208</a:t>
            </a:r>
            <a:endParaRPr lang="en-IN" sz="2000" dirty="0">
              <a:solidFill>
                <a:schemeClr val="bg2"/>
              </a:solidFill>
              <a:latin typeface="Calibri"/>
              <a:ea typeface="Calibri"/>
              <a:cs typeface="Calibri"/>
              <a:sym typeface="Calibri"/>
            </a:endParaRPr>
          </a:p>
          <a:p>
            <a:pPr marL="584200" indent="-457200">
              <a:spcBef>
                <a:spcPts val="400"/>
              </a:spcBef>
              <a:buSzPts val="2000"/>
              <a:buFont typeface="+mj-lt"/>
              <a:buAutoNum type="arabicPeriod"/>
            </a:pPr>
            <a:r>
              <a:rPr lang="en-IN" sz="2000" dirty="0">
                <a:solidFill>
                  <a:srgbClr val="1C3678"/>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https://www.linkedin.com/learning/</a:t>
            </a:r>
            <a:r>
              <a:rPr lang="en-IN" sz="2000" dirty="0">
                <a:solidFill>
                  <a:schemeClr val="bg2"/>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learning-algorithms</a:t>
            </a:r>
            <a:endParaRPr lang="en-IN" sz="2000" dirty="0">
              <a:solidFill>
                <a:schemeClr val="bg2"/>
              </a:solidFill>
              <a:latin typeface="Calibri"/>
              <a:ea typeface="Calibri"/>
              <a:cs typeface="Calibri"/>
              <a:sym typeface="Calibri"/>
            </a:endParaRPr>
          </a:p>
          <a:p>
            <a:pPr marL="584200" indent="-457200">
              <a:spcBef>
                <a:spcPts val="400"/>
              </a:spcBef>
              <a:buSzPts val="2000"/>
              <a:buFont typeface="+mj-lt"/>
              <a:buAutoNum type="arabicPeriod"/>
            </a:pPr>
            <a:r>
              <a:rPr lang="en-IN" sz="2000" dirty="0">
                <a:solidFill>
                  <a:schemeClr val="bg2"/>
                </a:solidFill>
                <a:latin typeface="Calibri"/>
                <a:ea typeface="Calibri"/>
                <a:cs typeface="Calibri"/>
                <a:sym typeface="Calibri"/>
              </a:rPr>
              <a:t>https://archive.nptel.ac.in/courses/106/102/106102064/</a:t>
            </a:r>
          </a:p>
          <a:p>
            <a:pPr marL="127000" indent="0">
              <a:spcBef>
                <a:spcPts val="400"/>
              </a:spcBef>
              <a:buSzPts val="2000"/>
              <a:buFont typeface="Arial"/>
              <a:buNone/>
            </a:pPr>
            <a:endParaRPr lang="en-IN" sz="2000" dirty="0">
              <a:latin typeface="Calibri"/>
              <a:ea typeface="Calibri"/>
              <a:cs typeface="Calibri"/>
              <a:sym typeface="Calibri"/>
            </a:endParaRPr>
          </a:p>
          <a:p>
            <a:pPr marL="127000" indent="0">
              <a:spcBef>
                <a:spcPts val="400"/>
              </a:spcBef>
              <a:buSzPts val="2000"/>
              <a:buFont typeface="Arial"/>
              <a:buNone/>
            </a:pPr>
            <a:endParaRPr lang="en-IN" sz="2000" dirty="0">
              <a:latin typeface="Calibri"/>
              <a:ea typeface="Calibri"/>
              <a:cs typeface="Calibri"/>
              <a:sym typeface="Calibri"/>
            </a:endParaRPr>
          </a:p>
        </p:txBody>
      </p:sp>
    </p:spTree>
    <p:extLst>
      <p:ext uri="{BB962C8B-B14F-4D97-AF65-F5344CB8AC3E}">
        <p14:creationId xmlns:p14="http://schemas.microsoft.com/office/powerpoint/2010/main" val="12290558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3141664-9E0A-0C54-B96F-BED84C5451EF}"/>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C468A3DE-696B-7FC9-013F-76B2E3B5B3BB}"/>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657B4478-479B-A962-4153-A5D9BEBE8CD1}"/>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23</a:t>
            </a:r>
          </a:p>
        </p:txBody>
      </p:sp>
      <p:sp>
        <p:nvSpPr>
          <p:cNvPr id="2" name="Google Shape;398;p16">
            <a:extLst>
              <a:ext uri="{FF2B5EF4-FFF2-40B4-BE49-F238E27FC236}">
                <a16:creationId xmlns:a16="http://schemas.microsoft.com/office/drawing/2014/main" id="{5CF26446-8E74-2ED0-D707-24246C6EC751}"/>
              </a:ext>
            </a:extLst>
          </p:cNvPr>
          <p:cNvSpPr txBox="1">
            <a:spLocks/>
          </p:cNvSpPr>
          <p:nvPr/>
        </p:nvSpPr>
        <p:spPr>
          <a:xfrm>
            <a:off x="876443" y="393764"/>
            <a:ext cx="7924800" cy="659666"/>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SzPts val="1900"/>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Class-Wise </a:t>
            </a:r>
            <a:r>
              <a:rPr lang="en-IN" sz="4000" b="1" dirty="0">
                <a:solidFill>
                  <a:schemeClr val="bg2"/>
                </a:solidFill>
                <a:latin typeface="Calibri" panose="020F0502020204030204" pitchFamily="34" charset="0"/>
                <a:ea typeface="Calibri" panose="020F0502020204030204" pitchFamily="34" charset="0"/>
                <a:cs typeface="Calibri" panose="020F0502020204030204" pitchFamily="34" charset="0"/>
              </a:rPr>
              <a:t>Feedback</a:t>
            </a:r>
            <a:endPar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71230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A55AB18-D4CA-00FD-9048-6518AF6BFBD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F1900A86-A15B-28B5-54CA-49F17AC3B9FE}"/>
              </a:ext>
            </a:extLst>
          </p:cNvPr>
          <p:cNvSpPr txBox="1">
            <a:spLocks noGrp="1"/>
          </p:cNvSpPr>
          <p:nvPr>
            <p:ph type="body" idx="1"/>
          </p:nvPr>
        </p:nvSpPr>
        <p:spPr>
          <a:xfrm>
            <a:off x="1432125" y="1709456"/>
            <a:ext cx="6000750" cy="2186100"/>
          </a:xfrm>
          <a:prstGeom prst="rect">
            <a:avLst/>
          </a:prstGeom>
          <a:noFill/>
          <a:ln>
            <a:noFill/>
          </a:ln>
        </p:spPr>
        <p:txBody>
          <a:bodyPr spcFirstLastPara="1" wrap="square" lIns="68569" tIns="34275" rIns="68569" bIns="34275" anchor="t" anchorCtr="0">
            <a:normAutofit/>
          </a:bodyPr>
          <a:lstStyle/>
          <a:p>
            <a:pPr marL="257175" indent="-257175" algn="just">
              <a:lnSpc>
                <a:spcPct val="100000"/>
              </a:lnSpc>
              <a:spcBef>
                <a:spcPts val="0"/>
              </a:spcBef>
              <a:buNone/>
            </a:pPr>
            <a:r>
              <a:rPr lang="en-US" dirty="0">
                <a:solidFill>
                  <a:schemeClr val="bg2"/>
                </a:solidFill>
                <a:latin typeface="Times New Roman"/>
                <a:ea typeface="Times New Roman"/>
                <a:cs typeface="Times New Roman"/>
                <a:sym typeface="Times New Roman"/>
              </a:rPr>
              <a:t> </a:t>
            </a:r>
            <a:endParaRPr b="1" dirty="0">
              <a:solidFill>
                <a:schemeClr val="bg2"/>
              </a:solidFill>
              <a:latin typeface="Times New Roman"/>
              <a:ea typeface="Times New Roman"/>
              <a:cs typeface="Times New Roman"/>
              <a:sym typeface="Times New Roman"/>
            </a:endParaRPr>
          </a:p>
          <a:p>
            <a:pPr marL="257175" indent="-257175" algn="just">
              <a:lnSpc>
                <a:spcPct val="100000"/>
              </a:lnSpc>
              <a:buNone/>
            </a:pPr>
            <a:r>
              <a:rPr lang="en-US" dirty="0">
                <a:solidFill>
                  <a:schemeClr val="bg2"/>
                </a:solidFill>
                <a:latin typeface="Times New Roman"/>
                <a:ea typeface="Times New Roman"/>
                <a:cs typeface="Times New Roman"/>
                <a:sym typeface="Times New Roman"/>
              </a:rPr>
              <a:t> </a:t>
            </a:r>
            <a:endParaRPr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11F095B4-BE95-F6C7-73C0-ED3F8AB0372C}"/>
              </a:ext>
            </a:extLst>
          </p:cNvPr>
          <p:cNvSpPr txBox="1"/>
          <p:nvPr/>
        </p:nvSpPr>
        <p:spPr>
          <a:xfrm>
            <a:off x="457200" y="2270562"/>
            <a:ext cx="7328595" cy="900216"/>
          </a:xfrm>
          <a:prstGeom prst="rect">
            <a:avLst/>
          </a:prstGeom>
          <a:noFill/>
          <a:ln>
            <a:noFill/>
          </a:ln>
        </p:spPr>
        <p:txBody>
          <a:bodyPr spcFirstLastPara="1" wrap="square" lIns="68569" tIns="34275" rIns="68569" bIns="34275" anchor="t" anchorCtr="0">
            <a:spAutoFit/>
          </a:bodyPr>
          <a:lstStyle/>
          <a:p>
            <a:pPr algn="ctr">
              <a:lnSpc>
                <a:spcPct val="90000"/>
              </a:lnSpc>
            </a:pPr>
            <a:r>
              <a:rPr lang="en-US" sz="6000" b="1" dirty="0">
                <a:solidFill>
                  <a:srgbClr val="FF0000"/>
                </a:solidFill>
                <a:latin typeface="Vladimir Script" panose="03050402040407070305" pitchFamily="66" charset="0"/>
                <a:ea typeface="Calibri" panose="020F0502020204030204" pitchFamily="34" charset="0"/>
                <a:cs typeface="Calibri" panose="020F0502020204030204" pitchFamily="34" charset="0"/>
              </a:rPr>
              <a:t>Thank You</a:t>
            </a:r>
          </a:p>
        </p:txBody>
      </p:sp>
      <p:sp>
        <p:nvSpPr>
          <p:cNvPr id="3" name="TextBox 2">
            <a:extLst>
              <a:ext uri="{FF2B5EF4-FFF2-40B4-BE49-F238E27FC236}">
                <a16:creationId xmlns:a16="http://schemas.microsoft.com/office/drawing/2014/main" id="{B12A2976-DC1D-EB73-7C31-7FA517DF4948}"/>
              </a:ext>
            </a:extLst>
          </p:cNvPr>
          <p:cNvSpPr txBox="1"/>
          <p:nvPr/>
        </p:nvSpPr>
        <p:spPr>
          <a:xfrm>
            <a:off x="345989" y="3980946"/>
            <a:ext cx="4403925" cy="553998"/>
          </a:xfrm>
          <a:prstGeom prst="rect">
            <a:avLst/>
          </a:prstGeom>
          <a:noFill/>
        </p:spPr>
        <p:txBody>
          <a:bodyPr wrap="square">
            <a:spAutoFit/>
          </a:bodyPr>
          <a:lstStyle/>
          <a:p>
            <a:r>
              <a:rPr lang="en-US" sz="1500" dirty="0">
                <a:latin typeface="Calibri" panose="020F0502020204030204" pitchFamily="34" charset="0"/>
                <a:ea typeface="Calibri" panose="020F0502020204030204" pitchFamily="34" charset="0"/>
                <a:cs typeface="Calibri" panose="020F0502020204030204" pitchFamily="34" charset="0"/>
              </a:rPr>
              <a:t>For queries</a:t>
            </a:r>
          </a:p>
          <a:p>
            <a:r>
              <a:rPr lang="en-US" sz="1500" dirty="0">
                <a:latin typeface="Calibri" panose="020F0502020204030204" pitchFamily="34" charset="0"/>
                <a:ea typeface="Calibri" panose="020F0502020204030204" pitchFamily="34" charset="0"/>
                <a:cs typeface="Calibri" panose="020F0502020204030204" pitchFamily="34" charset="0"/>
              </a:rPr>
              <a:t>Email: richa.e11307@cumail.in</a:t>
            </a:r>
          </a:p>
        </p:txBody>
      </p:sp>
      <p:sp>
        <p:nvSpPr>
          <p:cNvPr id="5" name="TextBox 4"/>
          <p:cNvSpPr txBox="1"/>
          <p:nvPr/>
        </p:nvSpPr>
        <p:spPr>
          <a:xfrm>
            <a:off x="8279765" y="361440"/>
            <a:ext cx="335348" cy="253916"/>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050" dirty="0"/>
              <a:t>24</a:t>
            </a:r>
          </a:p>
        </p:txBody>
      </p:sp>
    </p:spTree>
    <p:extLst>
      <p:ext uri="{BB962C8B-B14F-4D97-AF65-F5344CB8AC3E}">
        <p14:creationId xmlns:p14="http://schemas.microsoft.com/office/powerpoint/2010/main" val="2407500439"/>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868</TotalTime>
  <Words>1694</Words>
  <Application>Microsoft Office PowerPoint</Application>
  <PresentationFormat>On-screen Show (16:9)</PresentationFormat>
  <Paragraphs>220</Paragraphs>
  <Slides>27</Slides>
  <Notes>27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Arial</vt:lpstr>
      <vt:lpstr>Arial Black</vt:lpstr>
      <vt:lpstr>Times New Roman</vt:lpstr>
      <vt:lpstr>Calibri</vt:lpstr>
      <vt:lpstr>Lato</vt:lpstr>
      <vt:lpstr>Cambria</vt:lpstr>
      <vt:lpstr>Vladimir Script</vt:lpstr>
      <vt:lpstr>Wingdings</vt:lpstr>
      <vt:lpstr>Streamline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sony</dc:creator>
  <cp:lastModifiedBy>Richa Dhiman</cp:lastModifiedBy>
  <cp:revision>133</cp:revision>
  <dcterms:modified xsi:type="dcterms:W3CDTF">2025-05-28T04:54:17Z</dcterms:modified>
</cp:coreProperties>
</file>