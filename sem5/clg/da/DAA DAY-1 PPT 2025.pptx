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1.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4.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7.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8.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9.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0.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31.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35.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36.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37.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8.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39.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40.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41.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42.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43.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44.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45.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46.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47.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48.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49.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50.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51.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52.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53.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54.xml" ContentType="application/vnd.openxmlformats-officedocument.presentationml.notesSlide+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55.xml" ContentType="application/vnd.openxmlformats-officedocument.presentationml.notesSlide+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notesSlides/notesSlide56.xml" ContentType="application/vnd.openxmlformats-officedocument.presentationml.notesSlide+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notesSlides/notesSlide57.xml" ContentType="application/vnd.openxmlformats-officedocument.presentationml.notesSlide+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notesSlides/notesSlide58.xml" ContentType="application/vnd.openxmlformats-officedocument.presentationml.notesSlide+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notesSlides/notesSlide59.xml" ContentType="application/vnd.openxmlformats-officedocument.presentationml.notesSlide+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60.xml" ContentType="application/vnd.openxmlformats-officedocument.presentationml.notesSlide+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notesSlides/notesSlide61.xml" ContentType="application/vnd.openxmlformats-officedocument.presentationml.notesSlide+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62.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notesSlides/notesSlide63.xml" ContentType="application/vnd.openxmlformats-officedocument.presentationml.notesSlide+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64.xml" ContentType="application/vnd.openxmlformats-officedocument.presentationml.notesSlide+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notesSlides/notesSlide65.xml" ContentType="application/vnd.openxmlformats-officedocument.presentationml.notesSlide+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notesSlides/notesSlide66.xml" ContentType="application/vnd.openxmlformats-officedocument.presentationml.notesSlide+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notesSlides/notesSlide67.xml" ContentType="application/vnd.openxmlformats-officedocument.presentationml.notesSlide+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notesSlides/notesSlide68.xml" ContentType="application/vnd.openxmlformats-officedocument.presentationml.notesSlide+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notesSlides/notesSlide69.xml" ContentType="application/vnd.openxmlformats-officedocument.presentationml.notesSlide+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notesSlides/notesSlide70.xml" ContentType="application/vnd.openxmlformats-officedocument.presentationml.notesSlide+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notesSlides/notesSlide71.xml" ContentType="application/vnd.openxmlformats-officedocument.presentationml.notesSlide+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notesSlides/notesSlide72.xml" ContentType="application/vnd.openxmlformats-officedocument.presentationml.notesSlide+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notesSlides/notesSlide73.xml" ContentType="application/vnd.openxmlformats-officedocument.presentationml.notesSlide+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notesSlides/notesSlide74.xml" ContentType="application/vnd.openxmlformats-officedocument.presentationml.notesSlide+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notesSlides/notesSlide75.xml" ContentType="application/vnd.openxmlformats-officedocument.presentationml.notesSlide+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81"/>
  </p:notesMasterIdLst>
  <p:sldIdLst>
    <p:sldId id="354" r:id="rId2"/>
    <p:sldId id="286" r:id="rId3"/>
    <p:sldId id="297" r:id="rId4"/>
    <p:sldId id="298" r:id="rId5"/>
    <p:sldId id="258" r:id="rId6"/>
    <p:sldId id="287" r:id="rId7"/>
    <p:sldId id="288" r:id="rId8"/>
    <p:sldId id="289" r:id="rId9"/>
    <p:sldId id="299" r:id="rId10"/>
    <p:sldId id="301" r:id="rId11"/>
    <p:sldId id="361" r:id="rId12"/>
    <p:sldId id="290" r:id="rId13"/>
    <p:sldId id="355" r:id="rId14"/>
    <p:sldId id="356" r:id="rId15"/>
    <p:sldId id="295" r:id="rId16"/>
    <p:sldId id="357" r:id="rId17"/>
    <p:sldId id="263" r:id="rId18"/>
    <p:sldId id="264" r:id="rId19"/>
    <p:sldId id="265" r:id="rId20"/>
    <p:sldId id="266" r:id="rId21"/>
    <p:sldId id="306" r:id="rId22"/>
    <p:sldId id="307" r:id="rId23"/>
    <p:sldId id="308" r:id="rId24"/>
    <p:sldId id="309" r:id="rId25"/>
    <p:sldId id="311" r:id="rId26"/>
    <p:sldId id="267" r:id="rId27"/>
    <p:sldId id="310" r:id="rId28"/>
    <p:sldId id="291" r:id="rId29"/>
    <p:sldId id="304" r:id="rId30"/>
    <p:sldId id="305" r:id="rId31"/>
    <p:sldId id="358" r:id="rId32"/>
    <p:sldId id="359" r:id="rId33"/>
    <p:sldId id="360" r:id="rId34"/>
    <p:sldId id="271" r:id="rId35"/>
    <p:sldId id="272" r:id="rId36"/>
    <p:sldId id="340" r:id="rId37"/>
    <p:sldId id="342" r:id="rId38"/>
    <p:sldId id="302" r:id="rId39"/>
    <p:sldId id="292" r:id="rId40"/>
    <p:sldId id="303" r:id="rId41"/>
    <p:sldId id="273" r:id="rId42"/>
    <p:sldId id="338" r:id="rId43"/>
    <p:sldId id="339" r:id="rId44"/>
    <p:sldId id="296" r:id="rId45"/>
    <p:sldId id="325" r:id="rId46"/>
    <p:sldId id="326" r:id="rId47"/>
    <p:sldId id="327" r:id="rId48"/>
    <p:sldId id="328" r:id="rId49"/>
    <p:sldId id="329" r:id="rId50"/>
    <p:sldId id="330" r:id="rId51"/>
    <p:sldId id="331" r:id="rId52"/>
    <p:sldId id="336" r:id="rId53"/>
    <p:sldId id="332" r:id="rId54"/>
    <p:sldId id="276" r:id="rId55"/>
    <p:sldId id="277" r:id="rId56"/>
    <p:sldId id="353" r:id="rId57"/>
    <p:sldId id="351" r:id="rId58"/>
    <p:sldId id="352" r:id="rId59"/>
    <p:sldId id="294" r:id="rId60"/>
    <p:sldId id="321" r:id="rId61"/>
    <p:sldId id="322" r:id="rId62"/>
    <p:sldId id="323" r:id="rId63"/>
    <p:sldId id="324" r:id="rId64"/>
    <p:sldId id="313" r:id="rId65"/>
    <p:sldId id="343" r:id="rId66"/>
    <p:sldId id="344" r:id="rId67"/>
    <p:sldId id="345" r:id="rId68"/>
    <p:sldId id="282" r:id="rId69"/>
    <p:sldId id="314" r:id="rId70"/>
    <p:sldId id="284" r:id="rId71"/>
    <p:sldId id="315" r:id="rId72"/>
    <p:sldId id="316" r:id="rId73"/>
    <p:sldId id="317" r:id="rId74"/>
    <p:sldId id="346" r:id="rId75"/>
    <p:sldId id="347" r:id="rId76"/>
    <p:sldId id="348" r:id="rId77"/>
    <p:sldId id="349" r:id="rId78"/>
    <p:sldId id="350" r:id="rId79"/>
    <p:sldId id="283" r:id="rId80"/>
  </p:sldIdLst>
  <p:sldSz cx="9144000" cy="5143500" type="screen16x9"/>
  <p:notesSz cx="6858000" cy="9144000"/>
  <p:embeddedFontLst>
    <p:embeddedFont>
      <p:font typeface="Arial Black" panose="020B0A04020102020204" pitchFamily="34" charset="0"/>
      <p:regular r:id="rId82"/>
      <p:bold r:id="rId83"/>
    </p:embeddedFont>
    <p:embeddedFont>
      <p:font typeface="Cambria" panose="02040503050406030204" pitchFamily="18" charset="0"/>
      <p:regular r:id="rId84"/>
      <p:bold r:id="rId85"/>
      <p:italic r:id="rId86"/>
      <p:boldItalic r:id="rId87"/>
    </p:embeddedFont>
    <p:embeddedFont>
      <p:font typeface="Lato" panose="020F0502020204030203" pitchFamily="34" charset="0"/>
      <p:regular r:id="rId88"/>
      <p:bold r:id="rId89"/>
      <p:italic r:id="rId90"/>
      <p:boldItalic r:id="rId91"/>
    </p:embeddedFont>
    <p:embeddedFont>
      <p:font typeface="Raleway" pitchFamily="2" charset="0"/>
      <p:regular r:id="rId92"/>
      <p:bold r:id="rId93"/>
      <p:italic r:id="rId94"/>
      <p:boldItalic r:id="rId95"/>
    </p:embeddedFont>
    <p:embeddedFont>
      <p:font typeface="Segoe UI" panose="020B0502040204020203" pitchFamily="34" charset="0"/>
      <p:regular r:id="rId96"/>
      <p:bold r:id="rId97"/>
      <p:italic r:id="rId98"/>
      <p:boldItalic r:id="rId99"/>
    </p:embeddedFont>
    <p:embeddedFont>
      <p:font typeface="Vladimir Script" panose="03050402040407070305" pitchFamily="66" charset="0"/>
      <p:regular r:id="rId10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93464" autoAdjust="0"/>
  </p:normalViewPr>
  <p:slideViewPr>
    <p:cSldViewPr snapToGrid="0">
      <p:cViewPr varScale="1">
        <p:scale>
          <a:sx n="102" d="100"/>
          <a:sy n="102" d="100"/>
        </p:scale>
        <p:origin x="1037"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font" Target="fonts/font9.fntdata"/><Relationship Id="rId95" Type="http://schemas.openxmlformats.org/officeDocument/2006/relationships/font" Target="fonts/font1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4.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font" Target="fonts/font13.fntdata"/><Relationship Id="rId99" Type="http://schemas.openxmlformats.org/officeDocument/2006/relationships/font" Target="fonts/font18.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6.fntdata"/><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2.fntdata"/><Relationship Id="rId98" Type="http://schemas.openxmlformats.org/officeDocument/2006/relationships/font" Target="fonts/font17.fntdata"/><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IN" b="1" i="0" dirty="0"/>
            <a:t>Vision of University </a:t>
          </a:r>
          <a:endParaRPr lang="en-IN" dirty="0"/>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dgm:spPr/>
      <dgm:t>
        <a:bodyPr/>
        <a:lstStyle/>
        <a:p>
          <a:endParaRPr lang="en-IN"/>
        </a:p>
      </dgm:t>
    </dgm:pt>
    <dgm:pt modelId="{5039CC99-7E0B-4F29-B0FE-FCBD55FD8606}">
      <dgm:prSet/>
      <dgm:spPr/>
      <dgm:t>
        <a:bodyPr/>
        <a:lstStyle/>
        <a:p>
          <a:pPr algn="ctr"/>
          <a:r>
            <a:rPr lang="en-US" b="1" i="0"/>
            <a:t>Mission of University</a:t>
          </a:r>
          <a:endParaRPr lang="en-IN"/>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US" b="1" i="0" dirty="0"/>
            <a:t>Continued…</a:t>
          </a:r>
          <a:endParaRPr lang="en-IN" dirty="0"/>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US" b="1" i="0" dirty="0"/>
            <a:t>Vision of Department</a:t>
          </a:r>
          <a:endParaRPr lang="en-IN" dirty="0"/>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US" b="1" i="0" dirty="0"/>
            <a:t>Mission of Department</a:t>
          </a:r>
          <a:endParaRPr lang="en-IN" dirty="0"/>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IN" b="1" dirty="0"/>
            <a:t>Program Educational Objectives (PEOs)</a:t>
          </a: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IN" b="1" dirty="0"/>
            <a:t>Program Outcome (POs)</a:t>
          </a: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US" b="1" dirty="0"/>
            <a:t>Continued…</a:t>
          </a:r>
          <a:endParaRPr lang="en-IN" b="1" dirty="0"/>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US" b="1" dirty="0"/>
            <a:t>Continued…</a:t>
          </a:r>
          <a:endParaRPr lang="en-IN" b="1" dirty="0"/>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US" b="1" dirty="0"/>
            <a:t>Continued…</a:t>
          </a:r>
          <a:endParaRPr lang="en-IN" b="1" dirty="0"/>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CD4A20A-8343-4CD9-B04E-9CF5971CB046}"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5039CC99-7E0B-4F29-B0FE-FCBD55FD8606}">
      <dgm:prSet/>
      <dgm:spPr/>
      <dgm:t>
        <a:bodyPr/>
        <a:lstStyle/>
        <a:p>
          <a:pPr algn="ctr"/>
          <a:r>
            <a:rPr lang="en-IN" b="1" dirty="0"/>
            <a:t>Program Specific Outcome (PSOs)</a:t>
          </a:r>
        </a:p>
      </dgm:t>
    </dgm:pt>
    <dgm:pt modelId="{6100B92C-1550-444D-8D71-341A5524A89A}" type="parTrans" cxnId="{003B53CA-66A1-4CB4-906C-50884F57CD71}">
      <dgm:prSet/>
      <dgm:spPr/>
      <dgm:t>
        <a:bodyPr/>
        <a:lstStyle/>
        <a:p>
          <a:endParaRPr lang="en-IN"/>
        </a:p>
      </dgm:t>
    </dgm:pt>
    <dgm:pt modelId="{F6ADACB5-6FCB-4FB6-91C4-3EB15C1435F4}" type="sibTrans" cxnId="{003B53CA-66A1-4CB4-906C-50884F57CD71}">
      <dgm:prSet/>
      <dgm:spPr/>
      <dgm:t>
        <a:bodyPr/>
        <a:lstStyle/>
        <a:p>
          <a:endParaRPr lang="en-IN"/>
        </a:p>
      </dgm:t>
    </dgm:pt>
    <dgm:pt modelId="{ED33CC2B-B7B6-401E-BC28-373DD5EC2774}" type="pres">
      <dgm:prSet presAssocID="{5CD4A20A-8343-4CD9-B04E-9CF5971CB046}" presName="linear" presStyleCnt="0">
        <dgm:presLayoutVars>
          <dgm:animLvl val="lvl"/>
          <dgm:resizeHandles val="exact"/>
        </dgm:presLayoutVars>
      </dgm:prSet>
      <dgm:spPr/>
    </dgm:pt>
    <dgm:pt modelId="{F353319A-9095-4AB9-9E1A-D9435D25A7C5}" type="pres">
      <dgm:prSet presAssocID="{5039CC99-7E0B-4F29-B0FE-FCBD55FD8606}" presName="parentText" presStyleLbl="node1" presStyleIdx="0" presStyleCnt="1">
        <dgm:presLayoutVars>
          <dgm:chMax val="0"/>
          <dgm:bulletEnabled val="1"/>
        </dgm:presLayoutVars>
      </dgm:prSet>
      <dgm:spPr/>
    </dgm:pt>
  </dgm:ptLst>
  <dgm:cxnLst>
    <dgm:cxn modelId="{846E73BB-AA00-47D6-BEFD-7B53C0C67272}" type="presOf" srcId="{5CD4A20A-8343-4CD9-B04E-9CF5971CB046}" destId="{ED33CC2B-B7B6-401E-BC28-373DD5EC2774}" srcOrd="0" destOrd="0" presId="urn:microsoft.com/office/officeart/2005/8/layout/vList2"/>
    <dgm:cxn modelId="{003B53CA-66A1-4CB4-906C-50884F57CD71}" srcId="{5CD4A20A-8343-4CD9-B04E-9CF5971CB046}" destId="{5039CC99-7E0B-4F29-B0FE-FCBD55FD8606}" srcOrd="0" destOrd="0" parTransId="{6100B92C-1550-444D-8D71-341A5524A89A}" sibTransId="{F6ADACB5-6FCB-4FB6-91C4-3EB15C1435F4}"/>
    <dgm:cxn modelId="{6DF28FCC-A7CE-4927-B7C9-3585939F70C3}" type="presOf" srcId="{5039CC99-7E0B-4F29-B0FE-FCBD55FD8606}" destId="{F353319A-9095-4AB9-9E1A-D9435D25A7C5}" srcOrd="0" destOrd="0" presId="urn:microsoft.com/office/officeart/2005/8/layout/vList2"/>
    <dgm:cxn modelId="{1AE44F60-EA95-4EF8-9F38-1EC76B5E882B}" type="presParOf" srcId="{ED33CC2B-B7B6-401E-BC28-373DD5EC2774}" destId="{F353319A-9095-4AB9-9E1A-D9435D25A7C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E9BCA16-9A7B-4B18-9049-807339050E41}"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5D2B4842-AA51-4785-9C54-569081EA250F}">
      <dgm:prSet/>
      <dgm:spPr/>
      <dgm:t>
        <a:bodyPr/>
        <a:lstStyle/>
        <a:p>
          <a:pPr algn="ctr"/>
          <a:r>
            <a:rPr lang="en-US" b="1" i="0" dirty="0"/>
            <a:t>Course Information</a:t>
          </a:r>
          <a:endParaRPr lang="en-IN" dirty="0"/>
        </a:p>
      </dgm:t>
    </dgm:pt>
    <dgm:pt modelId="{E720FDD2-F829-4324-AC9C-640F3DE3F4B5}" type="parTrans" cxnId="{D7D4CFB8-687D-4F43-A98F-DDA8EBBF3A8D}">
      <dgm:prSet/>
      <dgm:spPr/>
      <dgm:t>
        <a:bodyPr/>
        <a:lstStyle/>
        <a:p>
          <a:endParaRPr lang="en-IN"/>
        </a:p>
      </dgm:t>
    </dgm:pt>
    <dgm:pt modelId="{8E8502D9-5EF5-4A03-B2F1-7ACBDD756CC3}" type="sibTrans" cxnId="{D7D4CFB8-687D-4F43-A98F-DDA8EBBF3A8D}">
      <dgm:prSet/>
      <dgm:spPr/>
      <dgm:t>
        <a:bodyPr/>
        <a:lstStyle/>
        <a:p>
          <a:endParaRPr lang="en-IN"/>
        </a:p>
      </dgm:t>
    </dgm:pt>
    <dgm:pt modelId="{97390F2C-3ED0-4AED-87C9-424395FF42F6}" type="pres">
      <dgm:prSet presAssocID="{3E9BCA16-9A7B-4B18-9049-807339050E41}" presName="linear" presStyleCnt="0">
        <dgm:presLayoutVars>
          <dgm:animLvl val="lvl"/>
          <dgm:resizeHandles val="exact"/>
        </dgm:presLayoutVars>
      </dgm:prSet>
      <dgm:spPr/>
    </dgm:pt>
    <dgm:pt modelId="{D93C5CE5-7D65-410F-9ACC-C25B57E0461D}" type="pres">
      <dgm:prSet presAssocID="{5D2B4842-AA51-4785-9C54-569081EA250F}" presName="parentText" presStyleLbl="node1" presStyleIdx="0" presStyleCnt="1" custScaleX="92653">
        <dgm:presLayoutVars>
          <dgm:chMax val="0"/>
          <dgm:bulletEnabled val="1"/>
        </dgm:presLayoutVars>
      </dgm:prSet>
      <dgm:spPr/>
    </dgm:pt>
  </dgm:ptLst>
  <dgm:cxnLst>
    <dgm:cxn modelId="{D7D4CFB8-687D-4F43-A98F-DDA8EBBF3A8D}" srcId="{3E9BCA16-9A7B-4B18-9049-807339050E41}" destId="{5D2B4842-AA51-4785-9C54-569081EA250F}" srcOrd="0" destOrd="0" parTransId="{E720FDD2-F829-4324-AC9C-640F3DE3F4B5}" sibTransId="{8E8502D9-5EF5-4A03-B2F1-7ACBDD756CC3}"/>
    <dgm:cxn modelId="{A56F3AE9-F1ED-4A77-AC35-90916DA1F95E}" type="presOf" srcId="{3E9BCA16-9A7B-4B18-9049-807339050E41}" destId="{97390F2C-3ED0-4AED-87C9-424395FF42F6}" srcOrd="0" destOrd="0" presId="urn:microsoft.com/office/officeart/2005/8/layout/vList2"/>
    <dgm:cxn modelId="{B51F14F2-D7A9-42D7-8B92-7828A49750FD}" type="presOf" srcId="{5D2B4842-AA51-4785-9C54-569081EA250F}" destId="{D93C5CE5-7D65-410F-9ACC-C25B57E0461D}" srcOrd="0" destOrd="0" presId="urn:microsoft.com/office/officeart/2005/8/layout/vList2"/>
    <dgm:cxn modelId="{ED1465CB-A5B5-4711-831C-333B9CE6770B}" type="presParOf" srcId="{97390F2C-3ED0-4AED-87C9-424395FF42F6}" destId="{D93C5CE5-7D65-410F-9ACC-C25B57E0461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FCCB965-3A58-4DD8-A76E-F2535711E17F}"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7D09F2D5-E3D4-44EB-834B-FFED747E33CA}">
      <dgm:prSet custT="1"/>
      <dgm:spPr/>
      <dgm:t>
        <a:bodyPr/>
        <a:lstStyle/>
        <a:p>
          <a:pPr algn="ctr"/>
          <a:endParaRPr lang="en-US" sz="2000" b="1" i="0" dirty="0">
            <a:latin typeface="Calibri" panose="020F0502020204030204" pitchFamily="34" charset="0"/>
            <a:ea typeface="Calibri" panose="020F0502020204030204" pitchFamily="34" charset="0"/>
            <a:cs typeface="Calibri" panose="020F0502020204030204" pitchFamily="34" charset="0"/>
          </a:endParaRPr>
        </a:p>
        <a:p>
          <a:pPr algn="ctr"/>
          <a:r>
            <a:rPr lang="en-US" sz="2000" b="1" i="0" dirty="0">
              <a:latin typeface="Calibri" panose="020F0502020204030204" pitchFamily="34" charset="0"/>
              <a:ea typeface="Calibri" panose="020F0502020204030204" pitchFamily="34" charset="0"/>
              <a:cs typeface="Calibri" panose="020F0502020204030204" pitchFamily="34" charset="0"/>
            </a:rPr>
            <a:t>Course Outcomes</a:t>
          </a:r>
          <a:br>
            <a:rPr lang="en-US" sz="2000" b="1" i="0" dirty="0">
              <a:latin typeface="Calibri" panose="020F0502020204030204" pitchFamily="34" charset="0"/>
              <a:ea typeface="Calibri" panose="020F0502020204030204" pitchFamily="34" charset="0"/>
              <a:cs typeface="Calibri" panose="020F0502020204030204" pitchFamily="34" charset="0"/>
            </a:rPr>
          </a:br>
          <a:endParaRPr lang="en-IN" sz="2000" dirty="0">
            <a:latin typeface="Calibri" panose="020F0502020204030204" pitchFamily="34" charset="0"/>
            <a:ea typeface="Calibri" panose="020F0502020204030204" pitchFamily="34" charset="0"/>
            <a:cs typeface="Calibri" panose="020F0502020204030204" pitchFamily="34" charset="0"/>
          </a:endParaRPr>
        </a:p>
      </dgm:t>
    </dgm:pt>
    <dgm:pt modelId="{92CA32F2-F8B2-4960-AA29-C9C27DC4DA9A}" type="parTrans" cxnId="{61528ADA-B16D-45A3-A943-8E0DA81DEFB3}">
      <dgm:prSet/>
      <dgm:spPr/>
      <dgm:t>
        <a:bodyPr/>
        <a:lstStyle/>
        <a:p>
          <a:endParaRPr lang="en-IN"/>
        </a:p>
      </dgm:t>
    </dgm:pt>
    <dgm:pt modelId="{2502CB18-3B55-4E57-A01F-DB4CFDFA2021}" type="sibTrans" cxnId="{61528ADA-B16D-45A3-A943-8E0DA81DEFB3}">
      <dgm:prSet/>
      <dgm:spPr/>
      <dgm:t>
        <a:bodyPr/>
        <a:lstStyle/>
        <a:p>
          <a:endParaRPr lang="en-IN"/>
        </a:p>
      </dgm:t>
    </dgm:pt>
    <dgm:pt modelId="{35CA59BF-F8CB-4730-A3BE-13869F41DE77}" type="pres">
      <dgm:prSet presAssocID="{0FCCB965-3A58-4DD8-A76E-F2535711E17F}" presName="linear" presStyleCnt="0">
        <dgm:presLayoutVars>
          <dgm:animLvl val="lvl"/>
          <dgm:resizeHandles val="exact"/>
        </dgm:presLayoutVars>
      </dgm:prSet>
      <dgm:spPr/>
    </dgm:pt>
    <dgm:pt modelId="{574B7034-BCDF-4201-BFE3-516E41C25222}" type="pres">
      <dgm:prSet presAssocID="{7D09F2D5-E3D4-44EB-834B-FFED747E33CA}" presName="parentText" presStyleLbl="node1" presStyleIdx="0" presStyleCnt="1">
        <dgm:presLayoutVars>
          <dgm:chMax val="0"/>
          <dgm:bulletEnabled val="1"/>
        </dgm:presLayoutVars>
      </dgm:prSet>
      <dgm:spPr/>
    </dgm:pt>
  </dgm:ptLst>
  <dgm:cxnLst>
    <dgm:cxn modelId="{2887874A-32FE-44A8-8606-E15F31B4F96A}" type="presOf" srcId="{0FCCB965-3A58-4DD8-A76E-F2535711E17F}" destId="{35CA59BF-F8CB-4730-A3BE-13869F41DE77}" srcOrd="0" destOrd="0" presId="urn:microsoft.com/office/officeart/2005/8/layout/vList2"/>
    <dgm:cxn modelId="{F785896D-5A60-441A-B409-B0511D107804}" type="presOf" srcId="{7D09F2D5-E3D4-44EB-834B-FFED747E33CA}" destId="{574B7034-BCDF-4201-BFE3-516E41C25222}" srcOrd="0" destOrd="0" presId="urn:microsoft.com/office/officeart/2005/8/layout/vList2"/>
    <dgm:cxn modelId="{61528ADA-B16D-45A3-A943-8E0DA81DEFB3}" srcId="{0FCCB965-3A58-4DD8-A76E-F2535711E17F}" destId="{7D09F2D5-E3D4-44EB-834B-FFED747E33CA}" srcOrd="0" destOrd="0" parTransId="{92CA32F2-F8B2-4960-AA29-C9C27DC4DA9A}" sibTransId="{2502CB18-3B55-4E57-A01F-DB4CFDFA2021}"/>
    <dgm:cxn modelId="{38009F4F-D476-4526-B818-4E91973D9D83}" type="presParOf" srcId="{35CA59BF-F8CB-4730-A3BE-13869F41DE77}" destId="{574B7034-BCDF-4201-BFE3-516E41C2522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EAE953D-7005-4465-BA00-0AD7B434625A}"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76BEB45A-F8F4-4976-858F-E8B4B41CE5A4}">
      <dgm:prSet/>
      <dgm:spPr/>
      <dgm:t>
        <a:bodyPr/>
        <a:lstStyle/>
        <a:p>
          <a:pPr algn="ctr"/>
          <a:r>
            <a:rPr lang="en-US" b="1" i="0"/>
            <a:t>Method of Teaching</a:t>
          </a:r>
          <a:endParaRPr lang="en-IN"/>
        </a:p>
      </dgm:t>
    </dgm:pt>
    <dgm:pt modelId="{8838AE45-F0A8-4916-A350-B093505BAD23}" type="parTrans" cxnId="{5A7B7AB6-8F6A-429A-AB6E-430746A31FB7}">
      <dgm:prSet/>
      <dgm:spPr/>
      <dgm:t>
        <a:bodyPr/>
        <a:lstStyle/>
        <a:p>
          <a:endParaRPr lang="en-IN"/>
        </a:p>
      </dgm:t>
    </dgm:pt>
    <dgm:pt modelId="{C1C6A046-0859-40CA-A7C1-DF26BA8CA2F8}" type="sibTrans" cxnId="{5A7B7AB6-8F6A-429A-AB6E-430746A31FB7}">
      <dgm:prSet/>
      <dgm:spPr/>
      <dgm:t>
        <a:bodyPr/>
        <a:lstStyle/>
        <a:p>
          <a:endParaRPr lang="en-IN"/>
        </a:p>
      </dgm:t>
    </dgm:pt>
    <dgm:pt modelId="{3C3DA2E6-9207-4F70-A4FE-B82FC53102EB}" type="pres">
      <dgm:prSet presAssocID="{EEAE953D-7005-4465-BA00-0AD7B434625A}" presName="linear" presStyleCnt="0">
        <dgm:presLayoutVars>
          <dgm:animLvl val="lvl"/>
          <dgm:resizeHandles val="exact"/>
        </dgm:presLayoutVars>
      </dgm:prSet>
      <dgm:spPr/>
    </dgm:pt>
    <dgm:pt modelId="{E74824B1-0967-4692-86C7-B0D25866E423}" type="pres">
      <dgm:prSet presAssocID="{76BEB45A-F8F4-4976-858F-E8B4B41CE5A4}" presName="parentText" presStyleLbl="node1" presStyleIdx="0" presStyleCnt="1" custLinFactNeighborY="-29252">
        <dgm:presLayoutVars>
          <dgm:chMax val="0"/>
          <dgm:bulletEnabled val="1"/>
        </dgm:presLayoutVars>
      </dgm:prSet>
      <dgm:spPr/>
    </dgm:pt>
  </dgm:ptLst>
  <dgm:cxnLst>
    <dgm:cxn modelId="{D8A65C4D-25FF-40B9-BFDF-47876DE9A780}" type="presOf" srcId="{76BEB45A-F8F4-4976-858F-E8B4B41CE5A4}" destId="{E74824B1-0967-4692-86C7-B0D25866E423}" srcOrd="0" destOrd="0" presId="urn:microsoft.com/office/officeart/2005/8/layout/vList2"/>
    <dgm:cxn modelId="{97E5AAB3-9E60-4856-A533-F5D7D9719911}" type="presOf" srcId="{EEAE953D-7005-4465-BA00-0AD7B434625A}" destId="{3C3DA2E6-9207-4F70-A4FE-B82FC53102EB}" srcOrd="0" destOrd="0" presId="urn:microsoft.com/office/officeart/2005/8/layout/vList2"/>
    <dgm:cxn modelId="{5A7B7AB6-8F6A-429A-AB6E-430746A31FB7}" srcId="{EEAE953D-7005-4465-BA00-0AD7B434625A}" destId="{76BEB45A-F8F4-4976-858F-E8B4B41CE5A4}" srcOrd="0" destOrd="0" parTransId="{8838AE45-F0A8-4916-A350-B093505BAD23}" sibTransId="{C1C6A046-0859-40CA-A7C1-DF26BA8CA2F8}"/>
    <dgm:cxn modelId="{B4350846-07B3-4EFB-ABC6-6FB145E7C99D}" type="presParOf" srcId="{3C3DA2E6-9207-4F70-A4FE-B82FC53102EB}" destId="{E74824B1-0967-4692-86C7-B0D25866E42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US" b="1" i="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b="1" dirty="0">
            <a:latin typeface="Calibri" panose="020F0502020204030204" pitchFamily="34" charset="0"/>
            <a:ea typeface="Calibri" panose="020F0502020204030204" pitchFamily="34" charset="0"/>
            <a:cs typeface="Calibri" panose="020F0502020204030204" pitchFamily="34" charset="0"/>
          </a:endParaRP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custLinFactNeighborX="-796">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US" b="1" i="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b="1" dirty="0">
            <a:latin typeface="Calibri" panose="020F0502020204030204" pitchFamily="34" charset="0"/>
            <a:ea typeface="Calibri" panose="020F0502020204030204" pitchFamily="34" charset="0"/>
            <a:cs typeface="Calibri" panose="020F0502020204030204" pitchFamily="34" charset="0"/>
          </a:endParaRP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US" b="1" i="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b="1" dirty="0">
            <a:latin typeface="Calibri" panose="020F0502020204030204" pitchFamily="34" charset="0"/>
            <a:ea typeface="Calibri" panose="020F0502020204030204" pitchFamily="34" charset="0"/>
            <a:cs typeface="Calibri" panose="020F0502020204030204" pitchFamily="34" charset="0"/>
          </a:endParaRP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US" b="1" i="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b="1" dirty="0">
            <a:latin typeface="Calibri" panose="020F0502020204030204" pitchFamily="34" charset="0"/>
            <a:ea typeface="Calibri" panose="020F0502020204030204" pitchFamily="34" charset="0"/>
            <a:cs typeface="Calibri" panose="020F0502020204030204" pitchFamily="34" charset="0"/>
          </a:endParaRP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custLinFactNeighborX="3086" custLinFactNeighborY="-87309">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US" b="1" i="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b="1" dirty="0">
            <a:latin typeface="Calibri" panose="020F0502020204030204" pitchFamily="34" charset="0"/>
            <a:ea typeface="Calibri" panose="020F0502020204030204" pitchFamily="34" charset="0"/>
            <a:cs typeface="Calibri" panose="020F0502020204030204" pitchFamily="34" charset="0"/>
          </a:endParaRP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4CF5BD9-95B2-45FF-AD10-63D1D13C08A5}"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D4130192-A79C-4BA9-B34E-FF0B87DD1E6E}">
      <dgm:prSet custT="1"/>
      <dgm:spPr/>
      <dgm:t>
        <a:bodyPr/>
        <a:lstStyle/>
        <a:p>
          <a:r>
            <a:rPr lang="en-US" sz="2000" b="1" i="0" dirty="0"/>
            <a:t>Importance of Subject (Placement Point of View)</a:t>
          </a:r>
          <a:endParaRPr lang="en-IN" sz="2000" dirty="0"/>
        </a:p>
      </dgm:t>
    </dgm:pt>
    <dgm:pt modelId="{2A4A34E6-0EBE-4638-A126-92F2D10A6284}" type="parTrans" cxnId="{E2FD2B04-6FF5-4968-80F3-46E8DA5C0521}">
      <dgm:prSet/>
      <dgm:spPr/>
      <dgm:t>
        <a:bodyPr/>
        <a:lstStyle/>
        <a:p>
          <a:endParaRPr lang="en-IN"/>
        </a:p>
      </dgm:t>
    </dgm:pt>
    <dgm:pt modelId="{E30EE87C-9175-4933-80A6-3CFCF9BD9358}" type="sibTrans" cxnId="{E2FD2B04-6FF5-4968-80F3-46E8DA5C0521}">
      <dgm:prSet/>
      <dgm:spPr/>
      <dgm:t>
        <a:bodyPr/>
        <a:lstStyle/>
        <a:p>
          <a:endParaRPr lang="en-IN"/>
        </a:p>
      </dgm:t>
    </dgm:pt>
    <dgm:pt modelId="{5B2CC5F0-B316-4D78-8FEF-4D51A845ED67}" type="pres">
      <dgm:prSet presAssocID="{74CF5BD9-95B2-45FF-AD10-63D1D13C08A5}" presName="linear" presStyleCnt="0">
        <dgm:presLayoutVars>
          <dgm:animLvl val="lvl"/>
          <dgm:resizeHandles val="exact"/>
        </dgm:presLayoutVars>
      </dgm:prSet>
      <dgm:spPr/>
    </dgm:pt>
    <dgm:pt modelId="{A9FDAC76-19B3-4C27-81E8-5499A23203DD}" type="pres">
      <dgm:prSet presAssocID="{D4130192-A79C-4BA9-B34E-FF0B87DD1E6E}" presName="parentText" presStyleLbl="node1" presStyleIdx="0" presStyleCnt="1" custLinFactNeighborX="-4732" custLinFactNeighborY="50632">
        <dgm:presLayoutVars>
          <dgm:chMax val="0"/>
          <dgm:bulletEnabled val="1"/>
        </dgm:presLayoutVars>
      </dgm:prSet>
      <dgm:spPr/>
    </dgm:pt>
  </dgm:ptLst>
  <dgm:cxnLst>
    <dgm:cxn modelId="{E2FD2B04-6FF5-4968-80F3-46E8DA5C0521}" srcId="{74CF5BD9-95B2-45FF-AD10-63D1D13C08A5}" destId="{D4130192-A79C-4BA9-B34E-FF0B87DD1E6E}" srcOrd="0" destOrd="0" parTransId="{2A4A34E6-0EBE-4638-A126-92F2D10A6284}" sibTransId="{E30EE87C-9175-4933-80A6-3CFCF9BD9358}"/>
    <dgm:cxn modelId="{D73E039E-B9C8-4CD0-8AA3-5233E2D68446}" type="presOf" srcId="{D4130192-A79C-4BA9-B34E-FF0B87DD1E6E}" destId="{A9FDAC76-19B3-4C27-81E8-5499A23203DD}" srcOrd="0" destOrd="0" presId="urn:microsoft.com/office/officeart/2005/8/layout/vList2"/>
    <dgm:cxn modelId="{1BC42FF7-F380-4019-88CB-D30B6D777B7D}" type="presOf" srcId="{74CF5BD9-95B2-45FF-AD10-63D1D13C08A5}" destId="{5B2CC5F0-B316-4D78-8FEF-4D51A845ED67}" srcOrd="0" destOrd="0" presId="urn:microsoft.com/office/officeart/2005/8/layout/vList2"/>
    <dgm:cxn modelId="{DE007396-68E0-4DCA-A69E-62F1534EDBA8}" type="presParOf" srcId="{5B2CC5F0-B316-4D78-8FEF-4D51A845ED67}" destId="{A9FDAC76-19B3-4C27-81E8-5499A23203D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74CF5BD9-95B2-45FF-AD10-63D1D13C08A5}"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D4130192-A79C-4BA9-B34E-FF0B87DD1E6E}">
      <dgm:prSet custT="1"/>
      <dgm:spPr/>
      <dgm:t>
        <a:bodyPr/>
        <a:lstStyle/>
        <a:p>
          <a:r>
            <a:rPr lang="en-US" sz="2000" b="1" i="0" dirty="0"/>
            <a:t>Importance of Subject (Placement Point of View)</a:t>
          </a:r>
          <a:endParaRPr lang="en-IN" sz="2000" dirty="0"/>
        </a:p>
      </dgm:t>
    </dgm:pt>
    <dgm:pt modelId="{2A4A34E6-0EBE-4638-A126-92F2D10A6284}" type="parTrans" cxnId="{E2FD2B04-6FF5-4968-80F3-46E8DA5C0521}">
      <dgm:prSet/>
      <dgm:spPr/>
      <dgm:t>
        <a:bodyPr/>
        <a:lstStyle/>
        <a:p>
          <a:endParaRPr lang="en-IN"/>
        </a:p>
      </dgm:t>
    </dgm:pt>
    <dgm:pt modelId="{E30EE87C-9175-4933-80A6-3CFCF9BD9358}" type="sibTrans" cxnId="{E2FD2B04-6FF5-4968-80F3-46E8DA5C0521}">
      <dgm:prSet/>
      <dgm:spPr/>
      <dgm:t>
        <a:bodyPr/>
        <a:lstStyle/>
        <a:p>
          <a:endParaRPr lang="en-IN"/>
        </a:p>
      </dgm:t>
    </dgm:pt>
    <dgm:pt modelId="{5B2CC5F0-B316-4D78-8FEF-4D51A845ED67}" type="pres">
      <dgm:prSet presAssocID="{74CF5BD9-95B2-45FF-AD10-63D1D13C08A5}" presName="linear" presStyleCnt="0">
        <dgm:presLayoutVars>
          <dgm:animLvl val="lvl"/>
          <dgm:resizeHandles val="exact"/>
        </dgm:presLayoutVars>
      </dgm:prSet>
      <dgm:spPr/>
    </dgm:pt>
    <dgm:pt modelId="{A9FDAC76-19B3-4C27-81E8-5499A23203DD}" type="pres">
      <dgm:prSet presAssocID="{D4130192-A79C-4BA9-B34E-FF0B87DD1E6E}" presName="parentText" presStyleLbl="node1" presStyleIdx="0" presStyleCnt="1" custLinFactNeighborX="-4732" custLinFactNeighborY="50632">
        <dgm:presLayoutVars>
          <dgm:chMax val="0"/>
          <dgm:bulletEnabled val="1"/>
        </dgm:presLayoutVars>
      </dgm:prSet>
      <dgm:spPr/>
    </dgm:pt>
  </dgm:ptLst>
  <dgm:cxnLst>
    <dgm:cxn modelId="{E2FD2B04-6FF5-4968-80F3-46E8DA5C0521}" srcId="{74CF5BD9-95B2-45FF-AD10-63D1D13C08A5}" destId="{D4130192-A79C-4BA9-B34E-FF0B87DD1E6E}" srcOrd="0" destOrd="0" parTransId="{2A4A34E6-0EBE-4638-A126-92F2D10A6284}" sibTransId="{E30EE87C-9175-4933-80A6-3CFCF9BD9358}"/>
    <dgm:cxn modelId="{D73E039E-B9C8-4CD0-8AA3-5233E2D68446}" type="presOf" srcId="{D4130192-A79C-4BA9-B34E-FF0B87DD1E6E}" destId="{A9FDAC76-19B3-4C27-81E8-5499A23203DD}" srcOrd="0" destOrd="0" presId="urn:microsoft.com/office/officeart/2005/8/layout/vList2"/>
    <dgm:cxn modelId="{1BC42FF7-F380-4019-88CB-D30B6D777B7D}" type="presOf" srcId="{74CF5BD9-95B2-45FF-AD10-63D1D13C08A5}" destId="{5B2CC5F0-B316-4D78-8FEF-4D51A845ED67}" srcOrd="0" destOrd="0" presId="urn:microsoft.com/office/officeart/2005/8/layout/vList2"/>
    <dgm:cxn modelId="{DE007396-68E0-4DCA-A69E-62F1534EDBA8}" type="presParOf" srcId="{5B2CC5F0-B316-4D78-8FEF-4D51A845ED67}" destId="{A9FDAC76-19B3-4C27-81E8-5499A23203D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74CF5BD9-95B2-45FF-AD10-63D1D13C08A5}"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D4130192-A79C-4BA9-B34E-FF0B87DD1E6E}">
      <dgm:prSet custT="1"/>
      <dgm:spPr/>
      <dgm:t>
        <a:bodyPr/>
        <a:lstStyle/>
        <a:p>
          <a:r>
            <a:rPr lang="en-US" sz="2000" b="1" i="0" dirty="0"/>
            <a:t>Importance of Subject (Placement Point of View)</a:t>
          </a:r>
          <a:endParaRPr lang="en-IN" sz="2000" dirty="0"/>
        </a:p>
      </dgm:t>
    </dgm:pt>
    <dgm:pt modelId="{2A4A34E6-0EBE-4638-A126-92F2D10A6284}" type="parTrans" cxnId="{E2FD2B04-6FF5-4968-80F3-46E8DA5C0521}">
      <dgm:prSet/>
      <dgm:spPr/>
      <dgm:t>
        <a:bodyPr/>
        <a:lstStyle/>
        <a:p>
          <a:endParaRPr lang="en-IN"/>
        </a:p>
      </dgm:t>
    </dgm:pt>
    <dgm:pt modelId="{E30EE87C-9175-4933-80A6-3CFCF9BD9358}" type="sibTrans" cxnId="{E2FD2B04-6FF5-4968-80F3-46E8DA5C0521}">
      <dgm:prSet/>
      <dgm:spPr/>
      <dgm:t>
        <a:bodyPr/>
        <a:lstStyle/>
        <a:p>
          <a:endParaRPr lang="en-IN"/>
        </a:p>
      </dgm:t>
    </dgm:pt>
    <dgm:pt modelId="{5B2CC5F0-B316-4D78-8FEF-4D51A845ED67}" type="pres">
      <dgm:prSet presAssocID="{74CF5BD9-95B2-45FF-AD10-63D1D13C08A5}" presName="linear" presStyleCnt="0">
        <dgm:presLayoutVars>
          <dgm:animLvl val="lvl"/>
          <dgm:resizeHandles val="exact"/>
        </dgm:presLayoutVars>
      </dgm:prSet>
      <dgm:spPr/>
    </dgm:pt>
    <dgm:pt modelId="{A9FDAC76-19B3-4C27-81E8-5499A23203DD}" type="pres">
      <dgm:prSet presAssocID="{D4130192-A79C-4BA9-B34E-FF0B87DD1E6E}" presName="parentText" presStyleLbl="node1" presStyleIdx="0" presStyleCnt="1" custLinFactNeighborX="-4732" custLinFactNeighborY="50632">
        <dgm:presLayoutVars>
          <dgm:chMax val="0"/>
          <dgm:bulletEnabled val="1"/>
        </dgm:presLayoutVars>
      </dgm:prSet>
      <dgm:spPr/>
    </dgm:pt>
  </dgm:ptLst>
  <dgm:cxnLst>
    <dgm:cxn modelId="{E2FD2B04-6FF5-4968-80F3-46E8DA5C0521}" srcId="{74CF5BD9-95B2-45FF-AD10-63D1D13C08A5}" destId="{D4130192-A79C-4BA9-B34E-FF0B87DD1E6E}" srcOrd="0" destOrd="0" parTransId="{2A4A34E6-0EBE-4638-A126-92F2D10A6284}" sibTransId="{E30EE87C-9175-4933-80A6-3CFCF9BD9358}"/>
    <dgm:cxn modelId="{D73E039E-B9C8-4CD0-8AA3-5233E2D68446}" type="presOf" srcId="{D4130192-A79C-4BA9-B34E-FF0B87DD1E6E}" destId="{A9FDAC76-19B3-4C27-81E8-5499A23203DD}" srcOrd="0" destOrd="0" presId="urn:microsoft.com/office/officeart/2005/8/layout/vList2"/>
    <dgm:cxn modelId="{1BC42FF7-F380-4019-88CB-D30B6D777B7D}" type="presOf" srcId="{74CF5BD9-95B2-45FF-AD10-63D1D13C08A5}" destId="{5B2CC5F0-B316-4D78-8FEF-4D51A845ED67}" srcOrd="0" destOrd="0" presId="urn:microsoft.com/office/officeart/2005/8/layout/vList2"/>
    <dgm:cxn modelId="{DE007396-68E0-4DCA-A69E-62F1534EDBA8}" type="presParOf" srcId="{5B2CC5F0-B316-4D78-8FEF-4D51A845ED67}" destId="{A9FDAC76-19B3-4C27-81E8-5499A23203D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IN" b="1" dirty="0"/>
            <a:t>Syllabus (Theory)</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IN" b="1" dirty="0"/>
            <a:t>Syllabus (Theory)</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IN" b="1" dirty="0">
              <a:solidFill>
                <a:schemeClr val="tx1"/>
              </a:solidFill>
            </a:rPr>
            <a:t>Syllabus (Theory)</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custT="1"/>
      <dgm:spPr/>
      <dgm:t>
        <a:bodyPr/>
        <a:lstStyle/>
        <a:p>
          <a:pPr algn="ctr"/>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MST Model QP</a:t>
          </a:r>
          <a:endParaRPr lang="en-IN" sz="3200" b="1" dirty="0">
            <a:solidFill>
              <a:schemeClr val="tx1"/>
            </a:solidFill>
          </a:endParaRP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DAF1539A-4E61-4DD0-8D23-D8F906DCF1B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3460453-0E3A-449E-9C9D-CFD5517BF78C}">
      <dgm:prSet/>
      <dgm:spPr/>
      <dgm:t>
        <a:bodyPr/>
        <a:lstStyle/>
        <a:p>
          <a:pPr algn="ctr"/>
          <a:r>
            <a:rPr lang="en-US" b="1" i="0"/>
            <a:t>References and Books</a:t>
          </a:r>
          <a:endParaRPr lang="en-IN"/>
        </a:p>
      </dgm:t>
    </dgm:pt>
    <dgm:pt modelId="{627E1473-4A8A-4C3C-ADCD-4B337AA798F3}" type="parTrans" cxnId="{6AAC4476-2CC9-41C6-9B70-7E1DD9136FF0}">
      <dgm:prSet/>
      <dgm:spPr/>
      <dgm:t>
        <a:bodyPr/>
        <a:lstStyle/>
        <a:p>
          <a:endParaRPr lang="en-IN"/>
        </a:p>
      </dgm:t>
    </dgm:pt>
    <dgm:pt modelId="{202C43FB-15FB-4763-B2C5-42D86BBE0DDF}" type="sibTrans" cxnId="{6AAC4476-2CC9-41C6-9B70-7E1DD9136FF0}">
      <dgm:prSet/>
      <dgm:spPr/>
      <dgm:t>
        <a:bodyPr/>
        <a:lstStyle/>
        <a:p>
          <a:endParaRPr lang="en-IN"/>
        </a:p>
      </dgm:t>
    </dgm:pt>
    <dgm:pt modelId="{FC2A65D5-AC4F-412C-9304-DA5122F8D518}" type="pres">
      <dgm:prSet presAssocID="{DAF1539A-4E61-4DD0-8D23-D8F906DCF1B9}" presName="linear" presStyleCnt="0">
        <dgm:presLayoutVars>
          <dgm:animLvl val="lvl"/>
          <dgm:resizeHandles val="exact"/>
        </dgm:presLayoutVars>
      </dgm:prSet>
      <dgm:spPr/>
    </dgm:pt>
    <dgm:pt modelId="{FF792827-AFE6-4B6D-A196-3501CFBAFEB7}" type="pres">
      <dgm:prSet presAssocID="{F3460453-0E3A-449E-9C9D-CFD5517BF78C}" presName="parentText" presStyleLbl="node1" presStyleIdx="0" presStyleCnt="1" custScaleX="84507" custLinFactNeighborY="13610">
        <dgm:presLayoutVars>
          <dgm:chMax val="0"/>
          <dgm:bulletEnabled val="1"/>
        </dgm:presLayoutVars>
      </dgm:prSet>
      <dgm:spPr/>
    </dgm:pt>
  </dgm:ptLst>
  <dgm:cxnLst>
    <dgm:cxn modelId="{8E11F42D-A5AA-4127-8414-65AD2AEB252F}" type="presOf" srcId="{F3460453-0E3A-449E-9C9D-CFD5517BF78C}" destId="{FF792827-AFE6-4B6D-A196-3501CFBAFEB7}" srcOrd="0" destOrd="0" presId="urn:microsoft.com/office/officeart/2005/8/layout/vList2"/>
    <dgm:cxn modelId="{6AAC4476-2CC9-41C6-9B70-7E1DD9136FF0}" srcId="{DAF1539A-4E61-4DD0-8D23-D8F906DCF1B9}" destId="{F3460453-0E3A-449E-9C9D-CFD5517BF78C}" srcOrd="0" destOrd="0" parTransId="{627E1473-4A8A-4C3C-ADCD-4B337AA798F3}" sibTransId="{202C43FB-15FB-4763-B2C5-42D86BBE0DDF}"/>
    <dgm:cxn modelId="{770F46B6-0112-4594-A1AB-33DB5D5D050D}" type="presOf" srcId="{DAF1539A-4E61-4DD0-8D23-D8F906DCF1B9}" destId="{FC2A65D5-AC4F-412C-9304-DA5122F8D518}" srcOrd="0" destOrd="0" presId="urn:microsoft.com/office/officeart/2005/8/layout/vList2"/>
    <dgm:cxn modelId="{A6D3A2C8-BC8E-4B7B-B13F-0ECD34025BF3}" type="presParOf" srcId="{FC2A65D5-AC4F-412C-9304-DA5122F8D518}" destId="{FF792827-AFE6-4B6D-A196-3501CFBAFEB7}"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018A472-14C5-45EE-8879-B3639976F567}"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12AC3D64-BC0D-4F37-ABF6-EAAF51BCDB3A}">
      <dgm:prSet/>
      <dgm:spPr/>
      <dgm:t>
        <a:bodyPr/>
        <a:lstStyle/>
        <a:p>
          <a:pPr algn="ctr"/>
          <a:r>
            <a:rPr lang="en-US" b="1" i="0"/>
            <a:t>E- Learnings links</a:t>
          </a:r>
          <a:endParaRPr lang="en-IN"/>
        </a:p>
      </dgm:t>
    </dgm:pt>
    <dgm:pt modelId="{81712460-5DD2-4F55-A74C-F472D6EAEC9B}" type="parTrans" cxnId="{2753511F-3046-41AC-9B04-EF3DCD29FD98}">
      <dgm:prSet/>
      <dgm:spPr/>
      <dgm:t>
        <a:bodyPr/>
        <a:lstStyle/>
        <a:p>
          <a:endParaRPr lang="en-IN"/>
        </a:p>
      </dgm:t>
    </dgm:pt>
    <dgm:pt modelId="{FF11CED2-09EA-40B8-BC93-3D82A0B468E6}" type="sibTrans" cxnId="{2753511F-3046-41AC-9B04-EF3DCD29FD98}">
      <dgm:prSet/>
      <dgm:spPr/>
      <dgm:t>
        <a:bodyPr/>
        <a:lstStyle/>
        <a:p>
          <a:endParaRPr lang="en-IN"/>
        </a:p>
      </dgm:t>
    </dgm:pt>
    <dgm:pt modelId="{65357431-3D95-4B9A-9D6B-038727D5E392}" type="pres">
      <dgm:prSet presAssocID="{A018A472-14C5-45EE-8879-B3639976F567}" presName="linear" presStyleCnt="0">
        <dgm:presLayoutVars>
          <dgm:animLvl val="lvl"/>
          <dgm:resizeHandles val="exact"/>
        </dgm:presLayoutVars>
      </dgm:prSet>
      <dgm:spPr/>
    </dgm:pt>
    <dgm:pt modelId="{A46FC532-80FE-4CC7-802A-111F7576586C}" type="pres">
      <dgm:prSet presAssocID="{12AC3D64-BC0D-4F37-ABF6-EAAF51BCDB3A}" presName="parentText" presStyleLbl="node1" presStyleIdx="0" presStyleCnt="1">
        <dgm:presLayoutVars>
          <dgm:chMax val="0"/>
          <dgm:bulletEnabled val="1"/>
        </dgm:presLayoutVars>
      </dgm:prSet>
      <dgm:spPr/>
    </dgm:pt>
  </dgm:ptLst>
  <dgm:cxnLst>
    <dgm:cxn modelId="{2753511F-3046-41AC-9B04-EF3DCD29FD98}" srcId="{A018A472-14C5-45EE-8879-B3639976F567}" destId="{12AC3D64-BC0D-4F37-ABF6-EAAF51BCDB3A}" srcOrd="0" destOrd="0" parTransId="{81712460-5DD2-4F55-A74C-F472D6EAEC9B}" sibTransId="{FF11CED2-09EA-40B8-BC93-3D82A0B468E6}"/>
    <dgm:cxn modelId="{5DDF1D78-4EF9-4F7F-8122-8E57B5C5AA22}" type="presOf" srcId="{12AC3D64-BC0D-4F37-ABF6-EAAF51BCDB3A}" destId="{A46FC532-80FE-4CC7-802A-111F7576586C}" srcOrd="0" destOrd="0" presId="urn:microsoft.com/office/officeart/2005/8/layout/vList2"/>
    <dgm:cxn modelId="{83F864B0-D244-4484-BBCF-15C496DE68E3}" type="presOf" srcId="{A018A472-14C5-45EE-8879-B3639976F567}" destId="{65357431-3D95-4B9A-9D6B-038727D5E392}" srcOrd="0" destOrd="0" presId="urn:microsoft.com/office/officeart/2005/8/layout/vList2"/>
    <dgm:cxn modelId="{E52C4B7C-1237-4B2B-AA9A-6BB8367BA506}" type="presParOf" srcId="{65357431-3D95-4B9A-9D6B-038727D5E392}" destId="{A46FC532-80FE-4CC7-802A-111F7576586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018A472-14C5-45EE-8879-B3639976F567}"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12AC3D64-BC0D-4F37-ABF6-EAAF51BCDB3A}">
      <dgm:prSet/>
      <dgm:spPr/>
      <dgm:t>
        <a:bodyPr/>
        <a:lstStyle/>
        <a:p>
          <a:pPr algn="ctr"/>
          <a:r>
            <a:rPr lang="en-US" b="1" i="0"/>
            <a:t>E- Learnings links</a:t>
          </a:r>
          <a:endParaRPr lang="en-IN"/>
        </a:p>
      </dgm:t>
    </dgm:pt>
    <dgm:pt modelId="{81712460-5DD2-4F55-A74C-F472D6EAEC9B}" type="parTrans" cxnId="{2753511F-3046-41AC-9B04-EF3DCD29FD98}">
      <dgm:prSet/>
      <dgm:spPr/>
      <dgm:t>
        <a:bodyPr/>
        <a:lstStyle/>
        <a:p>
          <a:endParaRPr lang="en-IN"/>
        </a:p>
      </dgm:t>
    </dgm:pt>
    <dgm:pt modelId="{FF11CED2-09EA-40B8-BC93-3D82A0B468E6}" type="sibTrans" cxnId="{2753511F-3046-41AC-9B04-EF3DCD29FD98}">
      <dgm:prSet/>
      <dgm:spPr/>
      <dgm:t>
        <a:bodyPr/>
        <a:lstStyle/>
        <a:p>
          <a:endParaRPr lang="en-IN"/>
        </a:p>
      </dgm:t>
    </dgm:pt>
    <dgm:pt modelId="{65357431-3D95-4B9A-9D6B-038727D5E392}" type="pres">
      <dgm:prSet presAssocID="{A018A472-14C5-45EE-8879-B3639976F567}" presName="linear" presStyleCnt="0">
        <dgm:presLayoutVars>
          <dgm:animLvl val="lvl"/>
          <dgm:resizeHandles val="exact"/>
        </dgm:presLayoutVars>
      </dgm:prSet>
      <dgm:spPr/>
    </dgm:pt>
    <dgm:pt modelId="{A46FC532-80FE-4CC7-802A-111F7576586C}" type="pres">
      <dgm:prSet presAssocID="{12AC3D64-BC0D-4F37-ABF6-EAAF51BCDB3A}" presName="parentText" presStyleLbl="node1" presStyleIdx="0" presStyleCnt="1">
        <dgm:presLayoutVars>
          <dgm:chMax val="0"/>
          <dgm:bulletEnabled val="1"/>
        </dgm:presLayoutVars>
      </dgm:prSet>
      <dgm:spPr/>
    </dgm:pt>
  </dgm:ptLst>
  <dgm:cxnLst>
    <dgm:cxn modelId="{2753511F-3046-41AC-9B04-EF3DCD29FD98}" srcId="{A018A472-14C5-45EE-8879-B3639976F567}" destId="{12AC3D64-BC0D-4F37-ABF6-EAAF51BCDB3A}" srcOrd="0" destOrd="0" parTransId="{81712460-5DD2-4F55-A74C-F472D6EAEC9B}" sibTransId="{FF11CED2-09EA-40B8-BC93-3D82A0B468E6}"/>
    <dgm:cxn modelId="{5DDF1D78-4EF9-4F7F-8122-8E57B5C5AA22}" type="presOf" srcId="{12AC3D64-BC0D-4F37-ABF6-EAAF51BCDB3A}" destId="{A46FC532-80FE-4CC7-802A-111F7576586C}" srcOrd="0" destOrd="0" presId="urn:microsoft.com/office/officeart/2005/8/layout/vList2"/>
    <dgm:cxn modelId="{83F864B0-D244-4484-BBCF-15C496DE68E3}" type="presOf" srcId="{A018A472-14C5-45EE-8879-B3639976F567}" destId="{65357431-3D95-4B9A-9D6B-038727D5E392}" srcOrd="0" destOrd="0" presId="urn:microsoft.com/office/officeart/2005/8/layout/vList2"/>
    <dgm:cxn modelId="{E52C4B7C-1237-4B2B-AA9A-6BB8367BA506}" type="presParOf" srcId="{65357431-3D95-4B9A-9D6B-038727D5E392}" destId="{A46FC532-80FE-4CC7-802A-111F7576586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A018A472-14C5-45EE-8879-B3639976F567}"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12AC3D64-BC0D-4F37-ABF6-EAAF51BCDB3A}">
      <dgm:prSet/>
      <dgm:spPr/>
      <dgm:t>
        <a:bodyPr/>
        <a:lstStyle/>
        <a:p>
          <a:pPr algn="ctr"/>
          <a:r>
            <a:rPr lang="en-US" b="1" i="0"/>
            <a:t>E- Learnings links</a:t>
          </a:r>
          <a:endParaRPr lang="en-IN"/>
        </a:p>
      </dgm:t>
    </dgm:pt>
    <dgm:pt modelId="{81712460-5DD2-4F55-A74C-F472D6EAEC9B}" type="parTrans" cxnId="{2753511F-3046-41AC-9B04-EF3DCD29FD98}">
      <dgm:prSet/>
      <dgm:spPr/>
      <dgm:t>
        <a:bodyPr/>
        <a:lstStyle/>
        <a:p>
          <a:endParaRPr lang="en-IN"/>
        </a:p>
      </dgm:t>
    </dgm:pt>
    <dgm:pt modelId="{FF11CED2-09EA-40B8-BC93-3D82A0B468E6}" type="sibTrans" cxnId="{2753511F-3046-41AC-9B04-EF3DCD29FD98}">
      <dgm:prSet/>
      <dgm:spPr/>
      <dgm:t>
        <a:bodyPr/>
        <a:lstStyle/>
        <a:p>
          <a:endParaRPr lang="en-IN"/>
        </a:p>
      </dgm:t>
    </dgm:pt>
    <dgm:pt modelId="{65357431-3D95-4B9A-9D6B-038727D5E392}" type="pres">
      <dgm:prSet presAssocID="{A018A472-14C5-45EE-8879-B3639976F567}" presName="linear" presStyleCnt="0">
        <dgm:presLayoutVars>
          <dgm:animLvl val="lvl"/>
          <dgm:resizeHandles val="exact"/>
        </dgm:presLayoutVars>
      </dgm:prSet>
      <dgm:spPr/>
    </dgm:pt>
    <dgm:pt modelId="{A46FC532-80FE-4CC7-802A-111F7576586C}" type="pres">
      <dgm:prSet presAssocID="{12AC3D64-BC0D-4F37-ABF6-EAAF51BCDB3A}" presName="parentText" presStyleLbl="node1" presStyleIdx="0" presStyleCnt="1">
        <dgm:presLayoutVars>
          <dgm:chMax val="0"/>
          <dgm:bulletEnabled val="1"/>
        </dgm:presLayoutVars>
      </dgm:prSet>
      <dgm:spPr/>
    </dgm:pt>
  </dgm:ptLst>
  <dgm:cxnLst>
    <dgm:cxn modelId="{2753511F-3046-41AC-9B04-EF3DCD29FD98}" srcId="{A018A472-14C5-45EE-8879-B3639976F567}" destId="{12AC3D64-BC0D-4F37-ABF6-EAAF51BCDB3A}" srcOrd="0" destOrd="0" parTransId="{81712460-5DD2-4F55-A74C-F472D6EAEC9B}" sibTransId="{FF11CED2-09EA-40B8-BC93-3D82A0B468E6}"/>
    <dgm:cxn modelId="{5DDF1D78-4EF9-4F7F-8122-8E57B5C5AA22}" type="presOf" srcId="{12AC3D64-BC0D-4F37-ABF6-EAAF51BCDB3A}" destId="{A46FC532-80FE-4CC7-802A-111F7576586C}" srcOrd="0" destOrd="0" presId="urn:microsoft.com/office/officeart/2005/8/layout/vList2"/>
    <dgm:cxn modelId="{83F864B0-D244-4484-BBCF-15C496DE68E3}" type="presOf" srcId="{A018A472-14C5-45EE-8879-B3639976F567}" destId="{65357431-3D95-4B9A-9D6B-038727D5E392}" srcOrd="0" destOrd="0" presId="urn:microsoft.com/office/officeart/2005/8/layout/vList2"/>
    <dgm:cxn modelId="{E52C4B7C-1237-4B2B-AA9A-6BB8367BA506}" type="presParOf" srcId="{65357431-3D95-4B9A-9D6B-038727D5E392}" destId="{A46FC532-80FE-4CC7-802A-111F7576586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IN" b="1" dirty="0"/>
            <a:t>Syllabus (LAB)</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IN" b="1" dirty="0"/>
            <a:t>Syllabus (LAB)</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5B4D23C0-5CC2-47E3-961C-A8DA78268509}"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0D2D597-5E19-4387-A54B-6231C20E4D7B}">
      <dgm:prSet/>
      <dgm:spPr/>
      <dgm:t>
        <a:bodyPr/>
        <a:lstStyle/>
        <a:p>
          <a:pPr algn="ctr"/>
          <a:r>
            <a:rPr lang="en-IN" b="1" dirty="0"/>
            <a:t>Syllabus (LAB)</a:t>
          </a:r>
        </a:p>
      </dgm:t>
    </dgm:pt>
    <dgm:pt modelId="{EB2DC207-44D4-4350-9040-08B00FC681C7}" type="parTrans" cxnId="{E3BC69DA-1A25-4BDD-9F88-67EDF11B1130}">
      <dgm:prSet/>
      <dgm:spPr/>
      <dgm:t>
        <a:bodyPr/>
        <a:lstStyle/>
        <a:p>
          <a:endParaRPr lang="en-IN"/>
        </a:p>
      </dgm:t>
    </dgm:pt>
    <dgm:pt modelId="{AEAF3DE6-2805-41C7-B057-74D2019CA29E}" type="sibTrans" cxnId="{E3BC69DA-1A25-4BDD-9F88-67EDF11B1130}">
      <dgm:prSet/>
      <dgm:spPr/>
      <dgm:t>
        <a:bodyPr/>
        <a:lstStyle/>
        <a:p>
          <a:endParaRPr lang="en-IN"/>
        </a:p>
      </dgm:t>
    </dgm:pt>
    <dgm:pt modelId="{02336716-9C0E-43AB-A241-060EA8CA170C}" type="pres">
      <dgm:prSet presAssocID="{5B4D23C0-5CC2-47E3-961C-A8DA78268509}" presName="linear" presStyleCnt="0">
        <dgm:presLayoutVars>
          <dgm:animLvl val="lvl"/>
          <dgm:resizeHandles val="exact"/>
        </dgm:presLayoutVars>
      </dgm:prSet>
      <dgm:spPr/>
    </dgm:pt>
    <dgm:pt modelId="{2C5BDB84-DB5A-4089-85B1-5AB824150C4B}" type="pres">
      <dgm:prSet presAssocID="{D0D2D597-5E19-4387-A54B-6231C20E4D7B}" presName="parentText" presStyleLbl="node1" presStyleIdx="0" presStyleCnt="1">
        <dgm:presLayoutVars>
          <dgm:chMax val="0"/>
          <dgm:bulletEnabled val="1"/>
        </dgm:presLayoutVars>
      </dgm:prSet>
      <dgm:spPr/>
    </dgm:pt>
  </dgm:ptLst>
  <dgm:cxnLst>
    <dgm:cxn modelId="{692A778F-CD6F-4F44-B98E-B4CF82C4AF84}" type="presOf" srcId="{5B4D23C0-5CC2-47E3-961C-A8DA78268509}" destId="{02336716-9C0E-43AB-A241-060EA8CA170C}" srcOrd="0" destOrd="0" presId="urn:microsoft.com/office/officeart/2005/8/layout/vList2"/>
    <dgm:cxn modelId="{6C538ABC-5387-4631-85AB-E3F97132F0D5}" type="presOf" srcId="{D0D2D597-5E19-4387-A54B-6231C20E4D7B}" destId="{2C5BDB84-DB5A-4089-85B1-5AB824150C4B}" srcOrd="0" destOrd="0" presId="urn:microsoft.com/office/officeart/2005/8/layout/vList2"/>
    <dgm:cxn modelId="{E3BC69DA-1A25-4BDD-9F88-67EDF11B1130}" srcId="{5B4D23C0-5CC2-47E3-961C-A8DA78268509}" destId="{D0D2D597-5E19-4387-A54B-6231C20E4D7B}" srcOrd="0" destOrd="0" parTransId="{EB2DC207-44D4-4350-9040-08B00FC681C7}" sibTransId="{AEAF3DE6-2805-41C7-B057-74D2019CA29E}"/>
    <dgm:cxn modelId="{FA3F76B9-7053-4FBE-8093-F91F8C5F7948}" type="presParOf" srcId="{02336716-9C0E-43AB-A241-060EA8CA170C}" destId="{2C5BDB84-DB5A-4089-85B1-5AB824150C4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FD059180-7380-4B64-A0F4-A2CB2E3C85B8}">
      <dgm:prSet/>
      <dgm:spPr/>
      <dgm:t>
        <a:bodyPr/>
        <a:lstStyle/>
        <a:p>
          <a:pPr algn="ctr"/>
          <a:r>
            <a:rPr lang="en-US" b="1" i="0" dirty="0"/>
            <a:t>Content Beyond Syllabus (Theory)</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FD059180-7380-4B64-A0F4-A2CB2E3C85B8}">
      <dgm:prSet/>
      <dgm:spPr/>
      <dgm:t>
        <a:bodyPr/>
        <a:lstStyle/>
        <a:p>
          <a:pPr algn="ctr"/>
          <a:r>
            <a:rPr lang="en-US" b="1" i="0" dirty="0"/>
            <a:t>Content Beyond Syllabus (Theory)</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Content Beyond Syllabus (Lab)</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Complex Problems (LAB) (MIN- 10)</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2E6FA25D-A1CF-42FA-A551-9136E814AA14}"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en-IN"/>
        </a:p>
      </dgm:t>
    </dgm:pt>
    <dgm:pt modelId="{7BAB3C3E-940D-4762-AEFF-84F387D24185}">
      <dgm:prSet/>
      <dgm:spPr/>
      <dgm:t>
        <a:bodyPr/>
        <a:lstStyle/>
        <a:p>
          <a:pPr algn="ctr"/>
          <a:r>
            <a:rPr lang="en-US" b="1" i="0"/>
            <a:t>Assessment Model (Theory)</a:t>
          </a:r>
          <a:endParaRPr lang="en-IN"/>
        </a:p>
      </dgm:t>
    </dgm:pt>
    <dgm:pt modelId="{2F39AAA7-DC91-4481-A293-5AA58716850B}" type="parTrans" cxnId="{9F5741E9-54E5-44EF-81B6-3DCC3488C404}">
      <dgm:prSet/>
      <dgm:spPr/>
      <dgm:t>
        <a:bodyPr/>
        <a:lstStyle/>
        <a:p>
          <a:pPr algn="ctr"/>
          <a:endParaRPr lang="en-IN"/>
        </a:p>
      </dgm:t>
    </dgm:pt>
    <dgm:pt modelId="{0112A4AA-5DAB-4146-AB22-9D0FAD0F3C20}" type="sibTrans" cxnId="{9F5741E9-54E5-44EF-81B6-3DCC3488C404}">
      <dgm:prSet/>
      <dgm:spPr/>
      <dgm:t>
        <a:bodyPr/>
        <a:lstStyle/>
        <a:p>
          <a:pPr algn="ctr"/>
          <a:endParaRPr lang="en-IN"/>
        </a:p>
      </dgm:t>
    </dgm:pt>
    <dgm:pt modelId="{FC616D52-2DEF-4B0D-86F9-394F608DCC0C}" type="pres">
      <dgm:prSet presAssocID="{2E6FA25D-A1CF-42FA-A551-9136E814AA14}" presName="linear" presStyleCnt="0">
        <dgm:presLayoutVars>
          <dgm:animLvl val="lvl"/>
          <dgm:resizeHandles val="exact"/>
        </dgm:presLayoutVars>
      </dgm:prSet>
      <dgm:spPr/>
    </dgm:pt>
    <dgm:pt modelId="{31F83C75-3C94-43D6-9C2C-9245C4C4EDC0}" type="pres">
      <dgm:prSet presAssocID="{7BAB3C3E-940D-4762-AEFF-84F387D24185}" presName="parentText" presStyleLbl="node1" presStyleIdx="0" presStyleCnt="1">
        <dgm:presLayoutVars>
          <dgm:chMax val="0"/>
          <dgm:bulletEnabled val="1"/>
        </dgm:presLayoutVars>
      </dgm:prSet>
      <dgm:spPr/>
    </dgm:pt>
  </dgm:ptLst>
  <dgm:cxnLst>
    <dgm:cxn modelId="{925EE874-F249-4D86-9541-B5730E04FBFA}" type="presOf" srcId="{2E6FA25D-A1CF-42FA-A551-9136E814AA14}" destId="{FC616D52-2DEF-4B0D-86F9-394F608DCC0C}" srcOrd="0" destOrd="0" presId="urn:microsoft.com/office/officeart/2005/8/layout/vList2"/>
    <dgm:cxn modelId="{9F5741E9-54E5-44EF-81B6-3DCC3488C404}" srcId="{2E6FA25D-A1CF-42FA-A551-9136E814AA14}" destId="{7BAB3C3E-940D-4762-AEFF-84F387D24185}" srcOrd="0" destOrd="0" parTransId="{2F39AAA7-DC91-4481-A293-5AA58716850B}" sibTransId="{0112A4AA-5DAB-4146-AB22-9D0FAD0F3C20}"/>
    <dgm:cxn modelId="{1E9C3EF7-83EB-4C1C-ACA1-129D92F420D7}" type="presOf" srcId="{7BAB3C3E-940D-4762-AEFF-84F387D24185}" destId="{31F83C75-3C94-43D6-9C2C-9245C4C4EDC0}" srcOrd="0" destOrd="0" presId="urn:microsoft.com/office/officeart/2005/8/layout/vList2"/>
    <dgm:cxn modelId="{B74AA8A2-FDD6-4AC0-BDF9-FBD7014E8161}" type="presParOf" srcId="{FC616D52-2DEF-4B0D-86F9-394F608DCC0C}" destId="{31F83C75-3C94-43D6-9C2C-9245C4C4EDC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438184C0-1E29-404D-B0B4-66648754A5F6}"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82FB206A-F5A2-4524-8F39-76E3AC516D88}">
      <dgm:prSet/>
      <dgm:spPr/>
      <dgm:t>
        <a:bodyPr/>
        <a:lstStyle/>
        <a:p>
          <a:pPr algn="ctr"/>
          <a:r>
            <a:rPr lang="en-US" b="1" i="0"/>
            <a:t>Assessment Model (Practical)</a:t>
          </a:r>
          <a:endParaRPr lang="en-IN"/>
        </a:p>
      </dgm:t>
    </dgm:pt>
    <dgm:pt modelId="{AB9F15E2-BD20-45E8-9FC1-D5DB88F97EE2}" type="parTrans" cxnId="{548EB612-551F-4A2C-9479-1C2C225628EB}">
      <dgm:prSet/>
      <dgm:spPr/>
      <dgm:t>
        <a:bodyPr/>
        <a:lstStyle/>
        <a:p>
          <a:endParaRPr lang="en-IN"/>
        </a:p>
      </dgm:t>
    </dgm:pt>
    <dgm:pt modelId="{57782770-EA33-4694-AEA5-5A946CD49720}" type="sibTrans" cxnId="{548EB612-551F-4A2C-9479-1C2C225628EB}">
      <dgm:prSet/>
      <dgm:spPr/>
      <dgm:t>
        <a:bodyPr/>
        <a:lstStyle/>
        <a:p>
          <a:endParaRPr lang="en-IN"/>
        </a:p>
      </dgm:t>
    </dgm:pt>
    <dgm:pt modelId="{061C7E9F-8C4E-44E0-B6CA-49A1BC4D3478}" type="pres">
      <dgm:prSet presAssocID="{438184C0-1E29-404D-B0B4-66648754A5F6}" presName="linear" presStyleCnt="0">
        <dgm:presLayoutVars>
          <dgm:animLvl val="lvl"/>
          <dgm:resizeHandles val="exact"/>
        </dgm:presLayoutVars>
      </dgm:prSet>
      <dgm:spPr/>
    </dgm:pt>
    <dgm:pt modelId="{3E7D3FBC-7653-494F-A2F6-D6E125A90C6B}" type="pres">
      <dgm:prSet presAssocID="{82FB206A-F5A2-4524-8F39-76E3AC516D88}" presName="parentText" presStyleLbl="node1" presStyleIdx="0" presStyleCnt="1" custScaleX="81618">
        <dgm:presLayoutVars>
          <dgm:chMax val="0"/>
          <dgm:bulletEnabled val="1"/>
        </dgm:presLayoutVars>
      </dgm:prSet>
      <dgm:spPr/>
    </dgm:pt>
  </dgm:ptLst>
  <dgm:cxnLst>
    <dgm:cxn modelId="{548EB612-551F-4A2C-9479-1C2C225628EB}" srcId="{438184C0-1E29-404D-B0B4-66648754A5F6}" destId="{82FB206A-F5A2-4524-8F39-76E3AC516D88}" srcOrd="0" destOrd="0" parTransId="{AB9F15E2-BD20-45E8-9FC1-D5DB88F97EE2}" sibTransId="{57782770-EA33-4694-AEA5-5A946CD49720}"/>
    <dgm:cxn modelId="{0F61C536-257E-4D22-B261-5E1D6BEBF8CC}" type="presOf" srcId="{82FB206A-F5A2-4524-8F39-76E3AC516D88}" destId="{3E7D3FBC-7653-494F-A2F6-D6E125A90C6B}" srcOrd="0" destOrd="0" presId="urn:microsoft.com/office/officeart/2005/8/layout/vList2"/>
    <dgm:cxn modelId="{67D4133E-CF89-414F-8F48-9F8514EAC72A}" type="presOf" srcId="{438184C0-1E29-404D-B0B4-66648754A5F6}" destId="{061C7E9F-8C4E-44E0-B6CA-49A1BC4D3478}" srcOrd="0" destOrd="0" presId="urn:microsoft.com/office/officeart/2005/8/layout/vList2"/>
    <dgm:cxn modelId="{FA4EC024-714D-47E6-BFA2-D1DFECE0B1EC}" type="presParOf" srcId="{061C7E9F-8C4E-44E0-B6CA-49A1BC4D3478}" destId="{3E7D3FBC-7653-494F-A2F6-D6E125A90C6B}"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0D2B67EB-C57A-4CD6-B4EF-82FF2061669D}"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FD059180-7380-4B64-A0F4-A2CB2E3C85B8}">
      <dgm:prSet/>
      <dgm:spPr/>
      <dgm:t>
        <a:bodyPr/>
        <a:lstStyle/>
        <a:p>
          <a:pPr algn="ctr"/>
          <a:r>
            <a:rPr lang="en-US" b="1" i="0" dirty="0"/>
            <a:t>CO-PO MAPPING</a:t>
          </a:r>
          <a:endParaRPr lang="en-IN" dirty="0"/>
        </a:p>
      </dgm:t>
    </dgm:pt>
    <dgm:pt modelId="{A9E911A6-97D0-4807-93E6-2532A7AC311B}" type="parTrans" cxnId="{182989EA-AA2B-45E2-8127-F7D956E659F6}">
      <dgm:prSet/>
      <dgm:spPr/>
      <dgm:t>
        <a:bodyPr/>
        <a:lstStyle/>
        <a:p>
          <a:endParaRPr lang="en-IN"/>
        </a:p>
      </dgm:t>
    </dgm:pt>
    <dgm:pt modelId="{A148996B-F252-4ABC-A190-4F70D846B964}" type="sibTrans" cxnId="{182989EA-AA2B-45E2-8127-F7D956E659F6}">
      <dgm:prSet/>
      <dgm:spPr/>
      <dgm:t>
        <a:bodyPr/>
        <a:lstStyle/>
        <a:p>
          <a:endParaRPr lang="en-IN"/>
        </a:p>
      </dgm:t>
    </dgm:pt>
    <dgm:pt modelId="{F6693852-ACCE-4DDA-B70E-7494AE1C36EB}" type="pres">
      <dgm:prSet presAssocID="{0D2B67EB-C57A-4CD6-B4EF-82FF2061669D}" presName="linear" presStyleCnt="0">
        <dgm:presLayoutVars>
          <dgm:animLvl val="lvl"/>
          <dgm:resizeHandles val="exact"/>
        </dgm:presLayoutVars>
      </dgm:prSet>
      <dgm:spPr/>
    </dgm:pt>
    <dgm:pt modelId="{F5AEDF89-EA5F-4378-A2ED-9456E3C59985}" type="pres">
      <dgm:prSet presAssocID="{FD059180-7380-4B64-A0F4-A2CB2E3C85B8}" presName="parentText" presStyleLbl="node1" presStyleIdx="0" presStyleCnt="1">
        <dgm:presLayoutVars>
          <dgm:chMax val="0"/>
          <dgm:bulletEnabled val="1"/>
        </dgm:presLayoutVars>
      </dgm:prSet>
      <dgm:spPr/>
    </dgm:pt>
  </dgm:ptLst>
  <dgm:cxnLst>
    <dgm:cxn modelId="{031C6313-7846-49BD-9462-57F13F0AB32C}" type="presOf" srcId="{FD059180-7380-4B64-A0F4-A2CB2E3C85B8}" destId="{F5AEDF89-EA5F-4378-A2ED-9456E3C59985}" srcOrd="0" destOrd="0" presId="urn:microsoft.com/office/officeart/2005/8/layout/vList2"/>
    <dgm:cxn modelId="{39F59B63-88B5-482D-9FA7-F0AB02E84AFA}" type="presOf" srcId="{0D2B67EB-C57A-4CD6-B4EF-82FF2061669D}" destId="{F6693852-ACCE-4DDA-B70E-7494AE1C36EB}" srcOrd="0" destOrd="0" presId="urn:microsoft.com/office/officeart/2005/8/layout/vList2"/>
    <dgm:cxn modelId="{182989EA-AA2B-45E2-8127-F7D956E659F6}" srcId="{0D2B67EB-C57A-4CD6-B4EF-82FF2061669D}" destId="{FD059180-7380-4B64-A0F4-A2CB2E3C85B8}" srcOrd="0" destOrd="0" parTransId="{A9E911A6-97D0-4807-93E6-2532A7AC311B}" sibTransId="{A148996B-F252-4ABC-A190-4F70D846B964}"/>
    <dgm:cxn modelId="{A08F1798-F486-4ADE-B4BE-5233CAF5E3D2}" type="presParOf" srcId="{F6693852-ACCE-4DDA-B70E-7494AE1C36EB}" destId="{F5AEDF89-EA5F-4378-A2ED-9456E3C5998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7F81A94E-D69A-44E7-89CD-469AD229CA71}"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D5B5C07-B53B-43AD-8D6C-AB4CF7F9D79D}">
      <dgm:prSet/>
      <dgm:spPr/>
      <dgm:t>
        <a:bodyPr/>
        <a:lstStyle/>
        <a:p>
          <a:pPr algn="ctr"/>
          <a:r>
            <a:rPr lang="en-US" b="1" i="0" dirty="0"/>
            <a:t>Mini Projects (MIN 36)</a:t>
          </a:r>
          <a:endParaRPr lang="en-IN" dirty="0"/>
        </a:p>
      </dgm:t>
    </dgm:pt>
    <dgm:pt modelId="{CC981751-AB75-498C-88A6-3511E18D63C0}" type="parTrans" cxnId="{909B6866-0262-4AE3-AC81-169606ED7937}">
      <dgm:prSet/>
      <dgm:spPr/>
      <dgm:t>
        <a:bodyPr/>
        <a:lstStyle/>
        <a:p>
          <a:endParaRPr lang="en-IN"/>
        </a:p>
      </dgm:t>
    </dgm:pt>
    <dgm:pt modelId="{3E84D984-BC8E-44A1-9F3A-329F85A1AA8E}" type="sibTrans" cxnId="{909B6866-0262-4AE3-AC81-169606ED7937}">
      <dgm:prSet/>
      <dgm:spPr/>
      <dgm:t>
        <a:bodyPr/>
        <a:lstStyle/>
        <a:p>
          <a:endParaRPr lang="en-IN"/>
        </a:p>
      </dgm:t>
    </dgm:pt>
    <dgm:pt modelId="{497AA1A7-8994-4700-BE10-C406324E0E8F}" type="pres">
      <dgm:prSet presAssocID="{7F81A94E-D69A-44E7-89CD-469AD229CA71}" presName="linear" presStyleCnt="0">
        <dgm:presLayoutVars>
          <dgm:animLvl val="lvl"/>
          <dgm:resizeHandles val="exact"/>
        </dgm:presLayoutVars>
      </dgm:prSet>
      <dgm:spPr/>
    </dgm:pt>
    <dgm:pt modelId="{066867CD-1D97-4544-A1D5-42A117E2422F}" type="pres">
      <dgm:prSet presAssocID="{DD5B5C07-B53B-43AD-8D6C-AB4CF7F9D79D}" presName="parentText" presStyleLbl="node1" presStyleIdx="0" presStyleCnt="1" custScaleX="100000" custLinFactNeighborX="1463" custLinFactNeighborY="-51417">
        <dgm:presLayoutVars>
          <dgm:chMax val="0"/>
          <dgm:bulletEnabled val="1"/>
        </dgm:presLayoutVars>
      </dgm:prSet>
      <dgm:spPr/>
    </dgm:pt>
  </dgm:ptLst>
  <dgm:cxnLst>
    <dgm:cxn modelId="{909B6866-0262-4AE3-AC81-169606ED7937}" srcId="{7F81A94E-D69A-44E7-89CD-469AD229CA71}" destId="{DD5B5C07-B53B-43AD-8D6C-AB4CF7F9D79D}" srcOrd="0" destOrd="0" parTransId="{CC981751-AB75-498C-88A6-3511E18D63C0}" sibTransId="{3E84D984-BC8E-44A1-9F3A-329F85A1AA8E}"/>
    <dgm:cxn modelId="{820DE69E-C07E-4870-AC1D-B6627F568637}" type="presOf" srcId="{7F81A94E-D69A-44E7-89CD-469AD229CA71}" destId="{497AA1A7-8994-4700-BE10-C406324E0E8F}" srcOrd="0" destOrd="0" presId="urn:microsoft.com/office/officeart/2005/8/layout/vList2"/>
    <dgm:cxn modelId="{37FD9BBA-6989-47BA-BFDA-005FAD72A5CD}" type="presOf" srcId="{DD5B5C07-B53B-43AD-8D6C-AB4CF7F9D79D}" destId="{066867CD-1D97-4544-A1D5-42A117E2422F}" srcOrd="0" destOrd="0" presId="urn:microsoft.com/office/officeart/2005/8/layout/vList2"/>
    <dgm:cxn modelId="{EF0B5E3F-FE22-40F0-9837-495C6831BCCB}" type="presParOf" srcId="{497AA1A7-8994-4700-BE10-C406324E0E8F}" destId="{066867CD-1D97-4544-A1D5-42A117E2422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7F81A94E-D69A-44E7-89CD-469AD229CA71}"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D5B5C07-B53B-43AD-8D6C-AB4CF7F9D79D}">
      <dgm:prSet/>
      <dgm:spPr/>
      <dgm:t>
        <a:bodyPr/>
        <a:lstStyle/>
        <a:p>
          <a:pPr algn="ctr"/>
          <a:r>
            <a:rPr lang="en-US" b="1" i="0" dirty="0"/>
            <a:t>Mini Projects (MIN 36)</a:t>
          </a:r>
          <a:endParaRPr lang="en-IN" dirty="0"/>
        </a:p>
      </dgm:t>
    </dgm:pt>
    <dgm:pt modelId="{CC981751-AB75-498C-88A6-3511E18D63C0}" type="parTrans" cxnId="{909B6866-0262-4AE3-AC81-169606ED7937}">
      <dgm:prSet/>
      <dgm:spPr/>
      <dgm:t>
        <a:bodyPr/>
        <a:lstStyle/>
        <a:p>
          <a:endParaRPr lang="en-IN"/>
        </a:p>
      </dgm:t>
    </dgm:pt>
    <dgm:pt modelId="{3E84D984-BC8E-44A1-9F3A-329F85A1AA8E}" type="sibTrans" cxnId="{909B6866-0262-4AE3-AC81-169606ED7937}">
      <dgm:prSet/>
      <dgm:spPr/>
      <dgm:t>
        <a:bodyPr/>
        <a:lstStyle/>
        <a:p>
          <a:endParaRPr lang="en-IN"/>
        </a:p>
      </dgm:t>
    </dgm:pt>
    <dgm:pt modelId="{497AA1A7-8994-4700-BE10-C406324E0E8F}" type="pres">
      <dgm:prSet presAssocID="{7F81A94E-D69A-44E7-89CD-469AD229CA71}" presName="linear" presStyleCnt="0">
        <dgm:presLayoutVars>
          <dgm:animLvl val="lvl"/>
          <dgm:resizeHandles val="exact"/>
        </dgm:presLayoutVars>
      </dgm:prSet>
      <dgm:spPr/>
    </dgm:pt>
    <dgm:pt modelId="{066867CD-1D97-4544-A1D5-42A117E2422F}" type="pres">
      <dgm:prSet presAssocID="{DD5B5C07-B53B-43AD-8D6C-AB4CF7F9D79D}" presName="parentText" presStyleLbl="node1" presStyleIdx="0" presStyleCnt="1" custScaleX="100000" custLinFactNeighborX="1463" custLinFactNeighborY="-51417">
        <dgm:presLayoutVars>
          <dgm:chMax val="0"/>
          <dgm:bulletEnabled val="1"/>
        </dgm:presLayoutVars>
      </dgm:prSet>
      <dgm:spPr/>
    </dgm:pt>
  </dgm:ptLst>
  <dgm:cxnLst>
    <dgm:cxn modelId="{909B6866-0262-4AE3-AC81-169606ED7937}" srcId="{7F81A94E-D69A-44E7-89CD-469AD229CA71}" destId="{DD5B5C07-B53B-43AD-8D6C-AB4CF7F9D79D}" srcOrd="0" destOrd="0" parTransId="{CC981751-AB75-498C-88A6-3511E18D63C0}" sibTransId="{3E84D984-BC8E-44A1-9F3A-329F85A1AA8E}"/>
    <dgm:cxn modelId="{820DE69E-C07E-4870-AC1D-B6627F568637}" type="presOf" srcId="{7F81A94E-D69A-44E7-89CD-469AD229CA71}" destId="{497AA1A7-8994-4700-BE10-C406324E0E8F}" srcOrd="0" destOrd="0" presId="urn:microsoft.com/office/officeart/2005/8/layout/vList2"/>
    <dgm:cxn modelId="{37FD9BBA-6989-47BA-BFDA-005FAD72A5CD}" type="presOf" srcId="{DD5B5C07-B53B-43AD-8D6C-AB4CF7F9D79D}" destId="{066867CD-1D97-4544-A1D5-42A117E2422F}" srcOrd="0" destOrd="0" presId="urn:microsoft.com/office/officeart/2005/8/layout/vList2"/>
    <dgm:cxn modelId="{EF0B5E3F-FE22-40F0-9837-495C6831BCCB}" type="presParOf" srcId="{497AA1A7-8994-4700-BE10-C406324E0E8F}" destId="{066867CD-1D97-4544-A1D5-42A117E2422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7F81A94E-D69A-44E7-89CD-469AD229CA71}"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D5B5C07-B53B-43AD-8D6C-AB4CF7F9D79D}">
      <dgm:prSet/>
      <dgm:spPr/>
      <dgm:t>
        <a:bodyPr/>
        <a:lstStyle/>
        <a:p>
          <a:pPr algn="ctr"/>
          <a:r>
            <a:rPr lang="en-US" b="1" i="0" dirty="0"/>
            <a:t>Mini Projects (MIN 36)</a:t>
          </a:r>
          <a:endParaRPr lang="en-IN" dirty="0"/>
        </a:p>
      </dgm:t>
    </dgm:pt>
    <dgm:pt modelId="{CC981751-AB75-498C-88A6-3511E18D63C0}" type="parTrans" cxnId="{909B6866-0262-4AE3-AC81-169606ED7937}">
      <dgm:prSet/>
      <dgm:spPr/>
      <dgm:t>
        <a:bodyPr/>
        <a:lstStyle/>
        <a:p>
          <a:endParaRPr lang="en-IN"/>
        </a:p>
      </dgm:t>
    </dgm:pt>
    <dgm:pt modelId="{3E84D984-BC8E-44A1-9F3A-329F85A1AA8E}" type="sibTrans" cxnId="{909B6866-0262-4AE3-AC81-169606ED7937}">
      <dgm:prSet/>
      <dgm:spPr/>
      <dgm:t>
        <a:bodyPr/>
        <a:lstStyle/>
        <a:p>
          <a:endParaRPr lang="en-IN"/>
        </a:p>
      </dgm:t>
    </dgm:pt>
    <dgm:pt modelId="{497AA1A7-8994-4700-BE10-C406324E0E8F}" type="pres">
      <dgm:prSet presAssocID="{7F81A94E-D69A-44E7-89CD-469AD229CA71}" presName="linear" presStyleCnt="0">
        <dgm:presLayoutVars>
          <dgm:animLvl val="lvl"/>
          <dgm:resizeHandles val="exact"/>
        </dgm:presLayoutVars>
      </dgm:prSet>
      <dgm:spPr/>
    </dgm:pt>
    <dgm:pt modelId="{066867CD-1D97-4544-A1D5-42A117E2422F}" type="pres">
      <dgm:prSet presAssocID="{DD5B5C07-B53B-43AD-8D6C-AB4CF7F9D79D}" presName="parentText" presStyleLbl="node1" presStyleIdx="0" presStyleCnt="1" custScaleX="100000" custLinFactNeighborX="1463" custLinFactNeighborY="-51417">
        <dgm:presLayoutVars>
          <dgm:chMax val="0"/>
          <dgm:bulletEnabled val="1"/>
        </dgm:presLayoutVars>
      </dgm:prSet>
      <dgm:spPr/>
    </dgm:pt>
  </dgm:ptLst>
  <dgm:cxnLst>
    <dgm:cxn modelId="{909B6866-0262-4AE3-AC81-169606ED7937}" srcId="{7F81A94E-D69A-44E7-89CD-469AD229CA71}" destId="{DD5B5C07-B53B-43AD-8D6C-AB4CF7F9D79D}" srcOrd="0" destOrd="0" parTransId="{CC981751-AB75-498C-88A6-3511E18D63C0}" sibTransId="{3E84D984-BC8E-44A1-9F3A-329F85A1AA8E}"/>
    <dgm:cxn modelId="{820DE69E-C07E-4870-AC1D-B6627F568637}" type="presOf" srcId="{7F81A94E-D69A-44E7-89CD-469AD229CA71}" destId="{497AA1A7-8994-4700-BE10-C406324E0E8F}" srcOrd="0" destOrd="0" presId="urn:microsoft.com/office/officeart/2005/8/layout/vList2"/>
    <dgm:cxn modelId="{37FD9BBA-6989-47BA-BFDA-005FAD72A5CD}" type="presOf" srcId="{DD5B5C07-B53B-43AD-8D6C-AB4CF7F9D79D}" destId="{066867CD-1D97-4544-A1D5-42A117E2422F}" srcOrd="0" destOrd="0" presId="urn:microsoft.com/office/officeart/2005/8/layout/vList2"/>
    <dgm:cxn modelId="{EF0B5E3F-FE22-40F0-9837-495C6831BCCB}" type="presParOf" srcId="{497AA1A7-8994-4700-BE10-C406324E0E8F}" destId="{066867CD-1D97-4544-A1D5-42A117E2422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7F81A94E-D69A-44E7-89CD-469AD229CA71}"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DD5B5C07-B53B-43AD-8D6C-AB4CF7F9D79D}">
      <dgm:prSet/>
      <dgm:spPr/>
      <dgm:t>
        <a:bodyPr/>
        <a:lstStyle/>
        <a:p>
          <a:pPr algn="ctr"/>
          <a:r>
            <a:rPr lang="en-US" b="1" i="0" dirty="0"/>
            <a:t>Mini Projects (MIN 36)</a:t>
          </a:r>
          <a:endParaRPr lang="en-IN" dirty="0"/>
        </a:p>
      </dgm:t>
    </dgm:pt>
    <dgm:pt modelId="{CC981751-AB75-498C-88A6-3511E18D63C0}" type="parTrans" cxnId="{909B6866-0262-4AE3-AC81-169606ED7937}">
      <dgm:prSet/>
      <dgm:spPr/>
      <dgm:t>
        <a:bodyPr/>
        <a:lstStyle/>
        <a:p>
          <a:endParaRPr lang="en-IN"/>
        </a:p>
      </dgm:t>
    </dgm:pt>
    <dgm:pt modelId="{3E84D984-BC8E-44A1-9F3A-329F85A1AA8E}" type="sibTrans" cxnId="{909B6866-0262-4AE3-AC81-169606ED7937}">
      <dgm:prSet/>
      <dgm:spPr/>
      <dgm:t>
        <a:bodyPr/>
        <a:lstStyle/>
        <a:p>
          <a:endParaRPr lang="en-IN"/>
        </a:p>
      </dgm:t>
    </dgm:pt>
    <dgm:pt modelId="{497AA1A7-8994-4700-BE10-C406324E0E8F}" type="pres">
      <dgm:prSet presAssocID="{7F81A94E-D69A-44E7-89CD-469AD229CA71}" presName="linear" presStyleCnt="0">
        <dgm:presLayoutVars>
          <dgm:animLvl val="lvl"/>
          <dgm:resizeHandles val="exact"/>
        </dgm:presLayoutVars>
      </dgm:prSet>
      <dgm:spPr/>
    </dgm:pt>
    <dgm:pt modelId="{066867CD-1D97-4544-A1D5-42A117E2422F}" type="pres">
      <dgm:prSet presAssocID="{DD5B5C07-B53B-43AD-8D6C-AB4CF7F9D79D}" presName="parentText" presStyleLbl="node1" presStyleIdx="0" presStyleCnt="1" custScaleX="100000" custLinFactNeighborX="1463" custLinFactNeighborY="-51417">
        <dgm:presLayoutVars>
          <dgm:chMax val="0"/>
          <dgm:bulletEnabled val="1"/>
        </dgm:presLayoutVars>
      </dgm:prSet>
      <dgm:spPr/>
    </dgm:pt>
  </dgm:ptLst>
  <dgm:cxnLst>
    <dgm:cxn modelId="{909B6866-0262-4AE3-AC81-169606ED7937}" srcId="{7F81A94E-D69A-44E7-89CD-469AD229CA71}" destId="{DD5B5C07-B53B-43AD-8D6C-AB4CF7F9D79D}" srcOrd="0" destOrd="0" parTransId="{CC981751-AB75-498C-88A6-3511E18D63C0}" sibTransId="{3E84D984-BC8E-44A1-9F3A-329F85A1AA8E}"/>
    <dgm:cxn modelId="{820DE69E-C07E-4870-AC1D-B6627F568637}" type="presOf" srcId="{7F81A94E-D69A-44E7-89CD-469AD229CA71}" destId="{497AA1A7-8994-4700-BE10-C406324E0E8F}" srcOrd="0" destOrd="0" presId="urn:microsoft.com/office/officeart/2005/8/layout/vList2"/>
    <dgm:cxn modelId="{37FD9BBA-6989-47BA-BFDA-005FAD72A5CD}" type="presOf" srcId="{DD5B5C07-B53B-43AD-8D6C-AB4CF7F9D79D}" destId="{066867CD-1D97-4544-A1D5-42A117E2422F}" srcOrd="0" destOrd="0" presId="urn:microsoft.com/office/officeart/2005/8/layout/vList2"/>
    <dgm:cxn modelId="{EF0B5E3F-FE22-40F0-9837-495C6831BCCB}" type="presParOf" srcId="{497AA1A7-8994-4700-BE10-C406324E0E8F}" destId="{066867CD-1D97-4544-A1D5-42A117E2422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B04F5B8D-A063-4074-9F7F-AD408EF1DB4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75CBA1DA-88F5-4E4C-9A72-C3552ACC429B}">
      <dgm:prSet/>
      <dgm:spPr/>
      <dgm:t>
        <a:bodyPr/>
        <a:lstStyle/>
        <a:p>
          <a:pPr algn="ctr"/>
          <a:r>
            <a:rPr lang="en-US" b="1" i="0" dirty="0"/>
            <a:t>Future Scope</a:t>
          </a:r>
          <a:endParaRPr lang="en-IN" dirty="0"/>
        </a:p>
      </dgm:t>
    </dgm:pt>
    <dgm:pt modelId="{8304D278-B97B-41FD-B5DB-CF5DEEEC7477}" type="parTrans" cxnId="{5072CF87-1483-4602-A1FF-90D732CFEA76}">
      <dgm:prSet/>
      <dgm:spPr/>
      <dgm:t>
        <a:bodyPr/>
        <a:lstStyle/>
        <a:p>
          <a:endParaRPr lang="en-IN"/>
        </a:p>
      </dgm:t>
    </dgm:pt>
    <dgm:pt modelId="{125AD38D-4890-498D-9372-4E01C9EA2144}" type="sibTrans" cxnId="{5072CF87-1483-4602-A1FF-90D732CFEA76}">
      <dgm:prSet/>
      <dgm:spPr/>
      <dgm:t>
        <a:bodyPr/>
        <a:lstStyle/>
        <a:p>
          <a:endParaRPr lang="en-IN"/>
        </a:p>
      </dgm:t>
    </dgm:pt>
    <dgm:pt modelId="{5FF4FBE4-E17F-4AED-9327-D62C12F66E64}" type="pres">
      <dgm:prSet presAssocID="{B04F5B8D-A063-4074-9F7F-AD408EF1DB43}" presName="linear" presStyleCnt="0">
        <dgm:presLayoutVars>
          <dgm:animLvl val="lvl"/>
          <dgm:resizeHandles val="exact"/>
        </dgm:presLayoutVars>
      </dgm:prSet>
      <dgm:spPr/>
    </dgm:pt>
    <dgm:pt modelId="{5851A00E-6811-4815-98AC-CA5AD3C63411}" type="pres">
      <dgm:prSet presAssocID="{75CBA1DA-88F5-4E4C-9A72-C3552ACC429B}" presName="parentText" presStyleLbl="node1" presStyleIdx="0" presStyleCnt="1" custScaleX="100000" custLinFactNeighborX="4339" custLinFactNeighborY="-23819">
        <dgm:presLayoutVars>
          <dgm:chMax val="0"/>
          <dgm:bulletEnabled val="1"/>
        </dgm:presLayoutVars>
      </dgm:prSet>
      <dgm:spPr/>
    </dgm:pt>
  </dgm:ptLst>
  <dgm:cxnLst>
    <dgm:cxn modelId="{5072CF87-1483-4602-A1FF-90D732CFEA76}" srcId="{B04F5B8D-A063-4074-9F7F-AD408EF1DB43}" destId="{75CBA1DA-88F5-4E4C-9A72-C3552ACC429B}" srcOrd="0" destOrd="0" parTransId="{8304D278-B97B-41FD-B5DB-CF5DEEEC7477}" sibTransId="{125AD38D-4890-498D-9372-4E01C9EA2144}"/>
    <dgm:cxn modelId="{45460ACF-6084-4159-8AE9-1AC76816C05A}" type="presOf" srcId="{75CBA1DA-88F5-4E4C-9A72-C3552ACC429B}" destId="{5851A00E-6811-4815-98AC-CA5AD3C63411}" srcOrd="0" destOrd="0" presId="urn:microsoft.com/office/officeart/2005/8/layout/vList2"/>
    <dgm:cxn modelId="{890B51D9-890C-401F-976D-5B90306B71EA}" type="presOf" srcId="{B04F5B8D-A063-4074-9F7F-AD408EF1DB43}" destId="{5FF4FBE4-E17F-4AED-9327-D62C12F66E64}" srcOrd="0" destOrd="0" presId="urn:microsoft.com/office/officeart/2005/8/layout/vList2"/>
    <dgm:cxn modelId="{3825FAC3-BA1D-4E54-892D-9EA7D8358A1E}" type="presParOf" srcId="{5FF4FBE4-E17F-4AED-9327-D62C12F66E64}" destId="{5851A00E-6811-4815-98AC-CA5AD3C6341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B04F5B8D-A063-4074-9F7F-AD408EF1DB4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75CBA1DA-88F5-4E4C-9A72-C3552ACC429B}">
      <dgm:prSet/>
      <dgm:spPr/>
      <dgm:t>
        <a:bodyPr/>
        <a:lstStyle/>
        <a:p>
          <a:pPr algn="ctr"/>
          <a:r>
            <a:rPr lang="en-US" b="1" i="0" dirty="0"/>
            <a:t>Future Scope</a:t>
          </a:r>
          <a:endParaRPr lang="en-IN" dirty="0"/>
        </a:p>
      </dgm:t>
    </dgm:pt>
    <dgm:pt modelId="{8304D278-B97B-41FD-B5DB-CF5DEEEC7477}" type="parTrans" cxnId="{5072CF87-1483-4602-A1FF-90D732CFEA76}">
      <dgm:prSet/>
      <dgm:spPr/>
      <dgm:t>
        <a:bodyPr/>
        <a:lstStyle/>
        <a:p>
          <a:endParaRPr lang="en-IN"/>
        </a:p>
      </dgm:t>
    </dgm:pt>
    <dgm:pt modelId="{125AD38D-4890-498D-9372-4E01C9EA2144}" type="sibTrans" cxnId="{5072CF87-1483-4602-A1FF-90D732CFEA76}">
      <dgm:prSet/>
      <dgm:spPr/>
      <dgm:t>
        <a:bodyPr/>
        <a:lstStyle/>
        <a:p>
          <a:endParaRPr lang="en-IN"/>
        </a:p>
      </dgm:t>
    </dgm:pt>
    <dgm:pt modelId="{5FF4FBE4-E17F-4AED-9327-D62C12F66E64}" type="pres">
      <dgm:prSet presAssocID="{B04F5B8D-A063-4074-9F7F-AD408EF1DB43}" presName="linear" presStyleCnt="0">
        <dgm:presLayoutVars>
          <dgm:animLvl val="lvl"/>
          <dgm:resizeHandles val="exact"/>
        </dgm:presLayoutVars>
      </dgm:prSet>
      <dgm:spPr/>
    </dgm:pt>
    <dgm:pt modelId="{5851A00E-6811-4815-98AC-CA5AD3C63411}" type="pres">
      <dgm:prSet presAssocID="{75CBA1DA-88F5-4E4C-9A72-C3552ACC429B}" presName="parentText" presStyleLbl="node1" presStyleIdx="0" presStyleCnt="1" custScaleX="100000" custLinFactNeighborX="4339" custLinFactNeighborY="-23819">
        <dgm:presLayoutVars>
          <dgm:chMax val="0"/>
          <dgm:bulletEnabled val="1"/>
        </dgm:presLayoutVars>
      </dgm:prSet>
      <dgm:spPr/>
    </dgm:pt>
  </dgm:ptLst>
  <dgm:cxnLst>
    <dgm:cxn modelId="{5072CF87-1483-4602-A1FF-90D732CFEA76}" srcId="{B04F5B8D-A063-4074-9F7F-AD408EF1DB43}" destId="{75CBA1DA-88F5-4E4C-9A72-C3552ACC429B}" srcOrd="0" destOrd="0" parTransId="{8304D278-B97B-41FD-B5DB-CF5DEEEC7477}" sibTransId="{125AD38D-4890-498D-9372-4E01C9EA2144}"/>
    <dgm:cxn modelId="{45460ACF-6084-4159-8AE9-1AC76816C05A}" type="presOf" srcId="{75CBA1DA-88F5-4E4C-9A72-C3552ACC429B}" destId="{5851A00E-6811-4815-98AC-CA5AD3C63411}" srcOrd="0" destOrd="0" presId="urn:microsoft.com/office/officeart/2005/8/layout/vList2"/>
    <dgm:cxn modelId="{890B51D9-890C-401F-976D-5B90306B71EA}" type="presOf" srcId="{B04F5B8D-A063-4074-9F7F-AD408EF1DB43}" destId="{5FF4FBE4-E17F-4AED-9327-D62C12F66E64}" srcOrd="0" destOrd="0" presId="urn:microsoft.com/office/officeart/2005/8/layout/vList2"/>
    <dgm:cxn modelId="{3825FAC3-BA1D-4E54-892D-9EA7D8358A1E}" type="presParOf" srcId="{5FF4FBE4-E17F-4AED-9327-D62C12F66E64}" destId="{5851A00E-6811-4815-98AC-CA5AD3C6341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B04F5B8D-A063-4074-9F7F-AD408EF1DB4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75CBA1DA-88F5-4E4C-9A72-C3552ACC429B}">
      <dgm:prSet/>
      <dgm:spPr/>
      <dgm:t>
        <a:bodyPr/>
        <a:lstStyle/>
        <a:p>
          <a:pPr algn="ctr"/>
          <a:r>
            <a:rPr lang="en-US" b="1" i="0" dirty="0"/>
            <a:t>Future Scope</a:t>
          </a:r>
          <a:endParaRPr lang="en-IN" dirty="0"/>
        </a:p>
      </dgm:t>
    </dgm:pt>
    <dgm:pt modelId="{8304D278-B97B-41FD-B5DB-CF5DEEEC7477}" type="parTrans" cxnId="{5072CF87-1483-4602-A1FF-90D732CFEA76}">
      <dgm:prSet/>
      <dgm:spPr/>
      <dgm:t>
        <a:bodyPr/>
        <a:lstStyle/>
        <a:p>
          <a:endParaRPr lang="en-IN"/>
        </a:p>
      </dgm:t>
    </dgm:pt>
    <dgm:pt modelId="{125AD38D-4890-498D-9372-4E01C9EA2144}" type="sibTrans" cxnId="{5072CF87-1483-4602-A1FF-90D732CFEA76}">
      <dgm:prSet/>
      <dgm:spPr/>
      <dgm:t>
        <a:bodyPr/>
        <a:lstStyle/>
        <a:p>
          <a:endParaRPr lang="en-IN"/>
        </a:p>
      </dgm:t>
    </dgm:pt>
    <dgm:pt modelId="{5FF4FBE4-E17F-4AED-9327-D62C12F66E64}" type="pres">
      <dgm:prSet presAssocID="{B04F5B8D-A063-4074-9F7F-AD408EF1DB43}" presName="linear" presStyleCnt="0">
        <dgm:presLayoutVars>
          <dgm:animLvl val="lvl"/>
          <dgm:resizeHandles val="exact"/>
        </dgm:presLayoutVars>
      </dgm:prSet>
      <dgm:spPr/>
    </dgm:pt>
    <dgm:pt modelId="{5851A00E-6811-4815-98AC-CA5AD3C63411}" type="pres">
      <dgm:prSet presAssocID="{75CBA1DA-88F5-4E4C-9A72-C3552ACC429B}" presName="parentText" presStyleLbl="node1" presStyleIdx="0" presStyleCnt="1" custScaleX="100000" custLinFactNeighborX="4339" custLinFactNeighborY="-23819">
        <dgm:presLayoutVars>
          <dgm:chMax val="0"/>
          <dgm:bulletEnabled val="1"/>
        </dgm:presLayoutVars>
      </dgm:prSet>
      <dgm:spPr/>
    </dgm:pt>
  </dgm:ptLst>
  <dgm:cxnLst>
    <dgm:cxn modelId="{5072CF87-1483-4602-A1FF-90D732CFEA76}" srcId="{B04F5B8D-A063-4074-9F7F-AD408EF1DB43}" destId="{75CBA1DA-88F5-4E4C-9A72-C3552ACC429B}" srcOrd="0" destOrd="0" parTransId="{8304D278-B97B-41FD-B5DB-CF5DEEEC7477}" sibTransId="{125AD38D-4890-498D-9372-4E01C9EA2144}"/>
    <dgm:cxn modelId="{45460ACF-6084-4159-8AE9-1AC76816C05A}" type="presOf" srcId="{75CBA1DA-88F5-4E4C-9A72-C3552ACC429B}" destId="{5851A00E-6811-4815-98AC-CA5AD3C63411}" srcOrd="0" destOrd="0" presId="urn:microsoft.com/office/officeart/2005/8/layout/vList2"/>
    <dgm:cxn modelId="{890B51D9-890C-401F-976D-5B90306B71EA}" type="presOf" srcId="{B04F5B8D-A063-4074-9F7F-AD408EF1DB43}" destId="{5FF4FBE4-E17F-4AED-9327-D62C12F66E64}" srcOrd="0" destOrd="0" presId="urn:microsoft.com/office/officeart/2005/8/layout/vList2"/>
    <dgm:cxn modelId="{3825FAC3-BA1D-4E54-892D-9EA7D8358A1E}" type="presParOf" srcId="{5FF4FBE4-E17F-4AED-9327-D62C12F66E64}" destId="{5851A00E-6811-4815-98AC-CA5AD3C6341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B04F5B8D-A063-4074-9F7F-AD408EF1DB4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75CBA1DA-88F5-4E4C-9A72-C3552ACC429B}">
      <dgm:prSet/>
      <dgm:spPr/>
      <dgm:t>
        <a:bodyPr/>
        <a:lstStyle/>
        <a:p>
          <a:pPr algn="ctr"/>
          <a:r>
            <a:rPr lang="en-US" b="1" i="0" dirty="0"/>
            <a:t>Future Scope</a:t>
          </a:r>
          <a:endParaRPr lang="en-IN" dirty="0"/>
        </a:p>
      </dgm:t>
    </dgm:pt>
    <dgm:pt modelId="{8304D278-B97B-41FD-B5DB-CF5DEEEC7477}" type="parTrans" cxnId="{5072CF87-1483-4602-A1FF-90D732CFEA76}">
      <dgm:prSet/>
      <dgm:spPr/>
      <dgm:t>
        <a:bodyPr/>
        <a:lstStyle/>
        <a:p>
          <a:endParaRPr lang="en-IN"/>
        </a:p>
      </dgm:t>
    </dgm:pt>
    <dgm:pt modelId="{125AD38D-4890-498D-9372-4E01C9EA2144}" type="sibTrans" cxnId="{5072CF87-1483-4602-A1FF-90D732CFEA76}">
      <dgm:prSet/>
      <dgm:spPr/>
      <dgm:t>
        <a:bodyPr/>
        <a:lstStyle/>
        <a:p>
          <a:endParaRPr lang="en-IN"/>
        </a:p>
      </dgm:t>
    </dgm:pt>
    <dgm:pt modelId="{5FF4FBE4-E17F-4AED-9327-D62C12F66E64}" type="pres">
      <dgm:prSet presAssocID="{B04F5B8D-A063-4074-9F7F-AD408EF1DB43}" presName="linear" presStyleCnt="0">
        <dgm:presLayoutVars>
          <dgm:animLvl val="lvl"/>
          <dgm:resizeHandles val="exact"/>
        </dgm:presLayoutVars>
      </dgm:prSet>
      <dgm:spPr/>
    </dgm:pt>
    <dgm:pt modelId="{5851A00E-6811-4815-98AC-CA5AD3C63411}" type="pres">
      <dgm:prSet presAssocID="{75CBA1DA-88F5-4E4C-9A72-C3552ACC429B}" presName="parentText" presStyleLbl="node1" presStyleIdx="0" presStyleCnt="1" custScaleX="100000" custLinFactNeighborX="4339" custLinFactNeighborY="-23819">
        <dgm:presLayoutVars>
          <dgm:chMax val="0"/>
          <dgm:bulletEnabled val="1"/>
        </dgm:presLayoutVars>
      </dgm:prSet>
      <dgm:spPr/>
    </dgm:pt>
  </dgm:ptLst>
  <dgm:cxnLst>
    <dgm:cxn modelId="{5072CF87-1483-4602-A1FF-90D732CFEA76}" srcId="{B04F5B8D-A063-4074-9F7F-AD408EF1DB43}" destId="{75CBA1DA-88F5-4E4C-9A72-C3552ACC429B}" srcOrd="0" destOrd="0" parTransId="{8304D278-B97B-41FD-B5DB-CF5DEEEC7477}" sibTransId="{125AD38D-4890-498D-9372-4E01C9EA2144}"/>
    <dgm:cxn modelId="{45460ACF-6084-4159-8AE9-1AC76816C05A}" type="presOf" srcId="{75CBA1DA-88F5-4E4C-9A72-C3552ACC429B}" destId="{5851A00E-6811-4815-98AC-CA5AD3C63411}" srcOrd="0" destOrd="0" presId="urn:microsoft.com/office/officeart/2005/8/layout/vList2"/>
    <dgm:cxn modelId="{890B51D9-890C-401F-976D-5B90306B71EA}" type="presOf" srcId="{B04F5B8D-A063-4074-9F7F-AD408EF1DB43}" destId="{5FF4FBE4-E17F-4AED-9327-D62C12F66E64}" srcOrd="0" destOrd="0" presId="urn:microsoft.com/office/officeart/2005/8/layout/vList2"/>
    <dgm:cxn modelId="{3825FAC3-BA1D-4E54-892D-9EA7D8358A1E}" type="presParOf" srcId="{5FF4FBE4-E17F-4AED-9327-D62C12F66E64}" destId="{5851A00E-6811-4815-98AC-CA5AD3C63411}"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75126D46-7A3B-4364-8EB2-35B2E1BB5542}"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22CD8349-60D8-447B-9D61-35F89F15323B}">
      <dgm:prSet/>
      <dgm:spPr/>
      <dgm:t>
        <a:bodyPr/>
        <a:lstStyle/>
        <a:p>
          <a:pPr algn="ctr"/>
          <a:r>
            <a:rPr lang="en-US" b="1" i="0" dirty="0"/>
            <a:t>Target Placement Companies</a:t>
          </a:r>
          <a:endParaRPr lang="en-IN" dirty="0"/>
        </a:p>
      </dgm:t>
    </dgm:pt>
    <dgm:pt modelId="{17C49369-FEC1-451D-BFEF-6F0B11DF3A40}" type="parTrans" cxnId="{8277812E-5141-4848-BA0E-18FA748096BD}">
      <dgm:prSet/>
      <dgm:spPr/>
      <dgm:t>
        <a:bodyPr/>
        <a:lstStyle/>
        <a:p>
          <a:endParaRPr lang="en-IN"/>
        </a:p>
      </dgm:t>
    </dgm:pt>
    <dgm:pt modelId="{646CC876-0DB0-480F-BFF8-CA2829829CC0}" type="sibTrans" cxnId="{8277812E-5141-4848-BA0E-18FA748096BD}">
      <dgm:prSet/>
      <dgm:spPr/>
      <dgm:t>
        <a:bodyPr/>
        <a:lstStyle/>
        <a:p>
          <a:endParaRPr lang="en-IN"/>
        </a:p>
      </dgm:t>
    </dgm:pt>
    <dgm:pt modelId="{94017E9C-BAC8-4162-8C6D-09CEEE9B0DA2}" type="pres">
      <dgm:prSet presAssocID="{75126D46-7A3B-4364-8EB2-35B2E1BB5542}" presName="linear" presStyleCnt="0">
        <dgm:presLayoutVars>
          <dgm:animLvl val="lvl"/>
          <dgm:resizeHandles val="exact"/>
        </dgm:presLayoutVars>
      </dgm:prSet>
      <dgm:spPr/>
    </dgm:pt>
    <dgm:pt modelId="{E5F2743A-8880-4A72-9763-9D0F24DC834D}" type="pres">
      <dgm:prSet presAssocID="{22CD8349-60D8-447B-9D61-35F89F15323B}" presName="parentText" presStyleLbl="node1" presStyleIdx="0" presStyleCnt="1">
        <dgm:presLayoutVars>
          <dgm:chMax val="0"/>
          <dgm:bulletEnabled val="1"/>
        </dgm:presLayoutVars>
      </dgm:prSet>
      <dgm:spPr/>
    </dgm:pt>
  </dgm:ptLst>
  <dgm:cxnLst>
    <dgm:cxn modelId="{E2D6AE13-1DB6-4E9D-B944-C6E85A07EDA9}" type="presOf" srcId="{75126D46-7A3B-4364-8EB2-35B2E1BB5542}" destId="{94017E9C-BAC8-4162-8C6D-09CEEE9B0DA2}" srcOrd="0" destOrd="0" presId="urn:microsoft.com/office/officeart/2005/8/layout/vList2"/>
    <dgm:cxn modelId="{8277812E-5141-4848-BA0E-18FA748096BD}" srcId="{75126D46-7A3B-4364-8EB2-35B2E1BB5542}" destId="{22CD8349-60D8-447B-9D61-35F89F15323B}" srcOrd="0" destOrd="0" parTransId="{17C49369-FEC1-451D-BFEF-6F0B11DF3A40}" sibTransId="{646CC876-0DB0-480F-BFF8-CA2829829CC0}"/>
    <dgm:cxn modelId="{AF539FE2-820E-4BBD-BE59-38635FB4EA7A}" type="presOf" srcId="{22CD8349-60D8-447B-9D61-35F89F15323B}" destId="{E5F2743A-8880-4A72-9763-9D0F24DC834D}" srcOrd="0" destOrd="0" presId="urn:microsoft.com/office/officeart/2005/8/layout/vList2"/>
    <dgm:cxn modelId="{C5F4459F-B5E6-48E8-ABC7-161A57E1A8A4}" type="presParOf" srcId="{94017E9C-BAC8-4162-8C6D-09CEEE9B0DA2}" destId="{E5F2743A-8880-4A72-9763-9D0F24DC834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75126D46-7A3B-4364-8EB2-35B2E1BB5542}"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22CD8349-60D8-447B-9D61-35F89F15323B}">
      <dgm:prSet/>
      <dgm:spPr/>
      <dgm:t>
        <a:bodyPr/>
        <a:lstStyle/>
        <a:p>
          <a:pPr algn="ctr"/>
          <a:r>
            <a:rPr lang="en-US" b="1" i="0" dirty="0"/>
            <a:t>Target Placement Companies</a:t>
          </a:r>
          <a:endParaRPr lang="en-IN" dirty="0"/>
        </a:p>
      </dgm:t>
    </dgm:pt>
    <dgm:pt modelId="{17C49369-FEC1-451D-BFEF-6F0B11DF3A40}" type="parTrans" cxnId="{8277812E-5141-4848-BA0E-18FA748096BD}">
      <dgm:prSet/>
      <dgm:spPr/>
      <dgm:t>
        <a:bodyPr/>
        <a:lstStyle/>
        <a:p>
          <a:endParaRPr lang="en-IN"/>
        </a:p>
      </dgm:t>
    </dgm:pt>
    <dgm:pt modelId="{646CC876-0DB0-480F-BFF8-CA2829829CC0}" type="sibTrans" cxnId="{8277812E-5141-4848-BA0E-18FA748096BD}">
      <dgm:prSet/>
      <dgm:spPr/>
      <dgm:t>
        <a:bodyPr/>
        <a:lstStyle/>
        <a:p>
          <a:endParaRPr lang="en-IN"/>
        </a:p>
      </dgm:t>
    </dgm:pt>
    <dgm:pt modelId="{94017E9C-BAC8-4162-8C6D-09CEEE9B0DA2}" type="pres">
      <dgm:prSet presAssocID="{75126D46-7A3B-4364-8EB2-35B2E1BB5542}" presName="linear" presStyleCnt="0">
        <dgm:presLayoutVars>
          <dgm:animLvl val="lvl"/>
          <dgm:resizeHandles val="exact"/>
        </dgm:presLayoutVars>
      </dgm:prSet>
      <dgm:spPr/>
    </dgm:pt>
    <dgm:pt modelId="{E5F2743A-8880-4A72-9763-9D0F24DC834D}" type="pres">
      <dgm:prSet presAssocID="{22CD8349-60D8-447B-9D61-35F89F15323B}" presName="parentText" presStyleLbl="node1" presStyleIdx="0" presStyleCnt="1">
        <dgm:presLayoutVars>
          <dgm:chMax val="0"/>
          <dgm:bulletEnabled val="1"/>
        </dgm:presLayoutVars>
      </dgm:prSet>
      <dgm:spPr/>
    </dgm:pt>
  </dgm:ptLst>
  <dgm:cxnLst>
    <dgm:cxn modelId="{E2D6AE13-1DB6-4E9D-B944-C6E85A07EDA9}" type="presOf" srcId="{75126D46-7A3B-4364-8EB2-35B2E1BB5542}" destId="{94017E9C-BAC8-4162-8C6D-09CEEE9B0DA2}" srcOrd="0" destOrd="0" presId="urn:microsoft.com/office/officeart/2005/8/layout/vList2"/>
    <dgm:cxn modelId="{8277812E-5141-4848-BA0E-18FA748096BD}" srcId="{75126D46-7A3B-4364-8EB2-35B2E1BB5542}" destId="{22CD8349-60D8-447B-9D61-35F89F15323B}" srcOrd="0" destOrd="0" parTransId="{17C49369-FEC1-451D-BFEF-6F0B11DF3A40}" sibTransId="{646CC876-0DB0-480F-BFF8-CA2829829CC0}"/>
    <dgm:cxn modelId="{AF539FE2-820E-4BBD-BE59-38635FB4EA7A}" type="presOf" srcId="{22CD8349-60D8-447B-9D61-35F89F15323B}" destId="{E5F2743A-8880-4A72-9763-9D0F24DC834D}" srcOrd="0" destOrd="0" presId="urn:microsoft.com/office/officeart/2005/8/layout/vList2"/>
    <dgm:cxn modelId="{C5F4459F-B5E6-48E8-ABC7-161A57E1A8A4}" type="presParOf" srcId="{94017E9C-BAC8-4162-8C6D-09CEEE9B0DA2}" destId="{E5F2743A-8880-4A72-9763-9D0F24DC834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custLinFactNeighborX="-1482" custLinFactNeighborY="-6163">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BA572973-E02B-467D-A5B8-6A62B245FEB3}"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13713E44-122C-4702-9974-D667CB0C861A}">
      <dgm:prSet/>
      <dgm:spPr/>
      <dgm:t>
        <a:bodyPr/>
        <a:lstStyle/>
        <a:p>
          <a:pPr algn="ctr"/>
          <a:r>
            <a:rPr lang="en-US" b="1" i="0" dirty="0"/>
            <a:t>Placement Related Questions </a:t>
          </a:r>
          <a:endParaRPr lang="en-IN" dirty="0"/>
        </a:p>
      </dgm:t>
    </dgm:pt>
    <dgm:pt modelId="{2CC8597E-B320-4A93-B78D-217E8851EA8A}" type="parTrans" cxnId="{0D0CA49E-03AA-4AF8-BD10-21321EF3E5B6}">
      <dgm:prSet/>
      <dgm:spPr/>
      <dgm:t>
        <a:bodyPr/>
        <a:lstStyle/>
        <a:p>
          <a:endParaRPr lang="en-IN"/>
        </a:p>
      </dgm:t>
    </dgm:pt>
    <dgm:pt modelId="{B8635943-ED35-4EE9-B13A-FA32C1D5F999}" type="sibTrans" cxnId="{0D0CA49E-03AA-4AF8-BD10-21321EF3E5B6}">
      <dgm:prSet/>
      <dgm:spPr/>
      <dgm:t>
        <a:bodyPr/>
        <a:lstStyle/>
        <a:p>
          <a:endParaRPr lang="en-IN"/>
        </a:p>
      </dgm:t>
    </dgm:pt>
    <dgm:pt modelId="{904173D6-6055-4956-A4B1-5D0FAB188A3A}" type="pres">
      <dgm:prSet presAssocID="{BA572973-E02B-467D-A5B8-6A62B245FEB3}" presName="linear" presStyleCnt="0">
        <dgm:presLayoutVars>
          <dgm:animLvl val="lvl"/>
          <dgm:resizeHandles val="exact"/>
        </dgm:presLayoutVars>
      </dgm:prSet>
      <dgm:spPr/>
    </dgm:pt>
    <dgm:pt modelId="{F1D4C354-B745-4F8A-A567-A28862ED838F}" type="pres">
      <dgm:prSet presAssocID="{13713E44-122C-4702-9974-D667CB0C861A}" presName="parentText" presStyleLbl="node1" presStyleIdx="0" presStyleCnt="1">
        <dgm:presLayoutVars>
          <dgm:chMax val="0"/>
          <dgm:bulletEnabled val="1"/>
        </dgm:presLayoutVars>
      </dgm:prSet>
      <dgm:spPr/>
    </dgm:pt>
  </dgm:ptLst>
  <dgm:cxnLst>
    <dgm:cxn modelId="{C5AC906C-2287-49CE-9001-06AAC6E2825F}" type="presOf" srcId="{BA572973-E02B-467D-A5B8-6A62B245FEB3}" destId="{904173D6-6055-4956-A4B1-5D0FAB188A3A}" srcOrd="0" destOrd="0" presId="urn:microsoft.com/office/officeart/2005/8/layout/vList2"/>
    <dgm:cxn modelId="{0D0CA49E-03AA-4AF8-BD10-21321EF3E5B6}" srcId="{BA572973-E02B-467D-A5B8-6A62B245FEB3}" destId="{13713E44-122C-4702-9974-D667CB0C861A}" srcOrd="0" destOrd="0" parTransId="{2CC8597E-B320-4A93-B78D-217E8851EA8A}" sibTransId="{B8635943-ED35-4EE9-B13A-FA32C1D5F999}"/>
    <dgm:cxn modelId="{AEEB15B0-2672-4950-8538-DA46A72D72B1}" type="presOf" srcId="{13713E44-122C-4702-9974-D667CB0C861A}" destId="{F1D4C354-B745-4F8A-A567-A28862ED838F}" srcOrd="0" destOrd="0" presId="urn:microsoft.com/office/officeart/2005/8/layout/vList2"/>
    <dgm:cxn modelId="{E0012CA5-0453-486B-B175-479105E89EAC}" type="presParOf" srcId="{904173D6-6055-4956-A4B1-5D0FAB188A3A}" destId="{F1D4C354-B745-4F8A-A567-A28862ED838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i="0" kern="1200" dirty="0"/>
            <a:t>Vision of University </a:t>
          </a:r>
          <a:endParaRPr lang="en-IN" sz="1900" kern="1200" dirty="0"/>
        </a:p>
      </dsp:txBody>
      <dsp:txXfrm>
        <a:off x="21704" y="28003"/>
        <a:ext cx="5449867" cy="401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Mission of University</a:t>
          </a:r>
          <a:endParaRPr lang="en-IN" sz="1900" kern="1200"/>
        </a:p>
      </dsp:txBody>
      <dsp:txXfrm>
        <a:off x="21704" y="28003"/>
        <a:ext cx="5449867" cy="4011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Continued…</a:t>
          </a:r>
          <a:endParaRPr lang="en-IN" sz="1900" kern="1200" dirty="0"/>
        </a:p>
      </dsp:txBody>
      <dsp:txXfrm>
        <a:off x="21704" y="28003"/>
        <a:ext cx="5449867" cy="4011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Vision of Department</a:t>
          </a:r>
          <a:endParaRPr lang="en-IN" sz="1900" kern="1200" dirty="0"/>
        </a:p>
      </dsp:txBody>
      <dsp:txXfrm>
        <a:off x="21704" y="28003"/>
        <a:ext cx="5449867" cy="4011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Mission of Department</a:t>
          </a:r>
          <a:endParaRPr lang="en-IN" sz="1900" kern="1200" dirty="0"/>
        </a:p>
      </dsp:txBody>
      <dsp:txXfrm>
        <a:off x="21704" y="28003"/>
        <a:ext cx="5449867" cy="4011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Program Educational Objectives (PEOs)</a:t>
          </a:r>
        </a:p>
      </dsp:txBody>
      <dsp:txXfrm>
        <a:off x="21704" y="28003"/>
        <a:ext cx="5449867" cy="4011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Program Outcome (POs)</a:t>
          </a:r>
        </a:p>
      </dsp:txBody>
      <dsp:txXfrm>
        <a:off x="21704" y="28003"/>
        <a:ext cx="5449867" cy="40119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Continued…</a:t>
          </a:r>
          <a:endParaRPr lang="en-IN" sz="1900" b="1" kern="1200" dirty="0"/>
        </a:p>
      </dsp:txBody>
      <dsp:txXfrm>
        <a:off x="21704" y="28003"/>
        <a:ext cx="5449867" cy="40119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Continued…</a:t>
          </a:r>
          <a:endParaRPr lang="en-IN" sz="1900" b="1" kern="1200" dirty="0"/>
        </a:p>
      </dsp:txBody>
      <dsp:txXfrm>
        <a:off x="21704" y="28003"/>
        <a:ext cx="5449867" cy="40119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Continued…</a:t>
          </a:r>
          <a:endParaRPr lang="en-IN" sz="1900" b="1" kern="1200" dirty="0"/>
        </a:p>
      </dsp:txBody>
      <dsp:txXfrm>
        <a:off x="21704" y="28003"/>
        <a:ext cx="5449867" cy="4011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3319A-9095-4AB9-9E1A-D9435D25A7C5}">
      <dsp:nvSpPr>
        <dsp:cNvPr id="0" name=""/>
        <dsp:cNvSpPr/>
      </dsp:nvSpPr>
      <dsp:spPr>
        <a:xfrm>
          <a:off x="0" y="6299"/>
          <a:ext cx="549327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Program Specific Outcome (PSOs)</a:t>
          </a:r>
        </a:p>
      </dsp:txBody>
      <dsp:txXfrm>
        <a:off x="21704" y="28003"/>
        <a:ext cx="5449867" cy="40119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3C5CE5-7D65-410F-9ACC-C25B57E0461D}">
      <dsp:nvSpPr>
        <dsp:cNvPr id="0" name=""/>
        <dsp:cNvSpPr/>
      </dsp:nvSpPr>
      <dsp:spPr>
        <a:xfrm>
          <a:off x="232039" y="6299"/>
          <a:ext cx="5852499"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Course Information</a:t>
          </a:r>
          <a:endParaRPr lang="en-IN" sz="1900" kern="1200" dirty="0"/>
        </a:p>
      </dsp:txBody>
      <dsp:txXfrm>
        <a:off x="253743" y="28003"/>
        <a:ext cx="5809091" cy="40119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B7034-BCDF-4201-BFE3-516E41C25222}">
      <dsp:nvSpPr>
        <dsp:cNvPr id="0" name=""/>
        <dsp:cNvSpPr/>
      </dsp:nvSpPr>
      <dsp:spPr>
        <a:xfrm>
          <a:off x="0" y="293"/>
          <a:ext cx="5815490" cy="446302"/>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endParaRPr lang="en-US" sz="2000" b="1" i="0" kern="1200" dirty="0">
            <a:latin typeface="Calibri" panose="020F0502020204030204" pitchFamily="34" charset="0"/>
            <a:ea typeface="Calibri" panose="020F0502020204030204" pitchFamily="34" charset="0"/>
            <a:cs typeface="Calibri" panose="020F0502020204030204" pitchFamily="34" charset="0"/>
          </a:endParaRPr>
        </a:p>
        <a:p>
          <a:pPr marL="0" lvl="0" indent="0" algn="ctr" defTabSz="889000">
            <a:lnSpc>
              <a:spcPct val="90000"/>
            </a:lnSpc>
            <a:spcBef>
              <a:spcPct val="0"/>
            </a:spcBef>
            <a:spcAft>
              <a:spcPct val="35000"/>
            </a:spcAft>
            <a:buNone/>
          </a:pPr>
          <a:r>
            <a:rPr lang="en-US" sz="2000" b="1" i="0" kern="1200" dirty="0">
              <a:latin typeface="Calibri" panose="020F0502020204030204" pitchFamily="34" charset="0"/>
              <a:ea typeface="Calibri" panose="020F0502020204030204" pitchFamily="34" charset="0"/>
              <a:cs typeface="Calibri" panose="020F0502020204030204" pitchFamily="34" charset="0"/>
            </a:rPr>
            <a:t>Course Outcomes</a:t>
          </a:r>
          <a:br>
            <a:rPr lang="en-US" sz="2000" b="1" i="0" kern="1200" dirty="0">
              <a:latin typeface="Calibri" panose="020F0502020204030204" pitchFamily="34" charset="0"/>
              <a:ea typeface="Calibri" panose="020F0502020204030204" pitchFamily="34" charset="0"/>
              <a:cs typeface="Calibri" panose="020F0502020204030204" pitchFamily="34" charset="0"/>
            </a:rPr>
          </a:br>
          <a:endParaRPr lang="en-IN" sz="2000" kern="1200" dirty="0">
            <a:latin typeface="Calibri" panose="020F0502020204030204" pitchFamily="34" charset="0"/>
            <a:ea typeface="Calibri" panose="020F0502020204030204" pitchFamily="34" charset="0"/>
            <a:cs typeface="Calibri" panose="020F0502020204030204" pitchFamily="34" charset="0"/>
          </a:endParaRPr>
        </a:p>
      </dsp:txBody>
      <dsp:txXfrm>
        <a:off x="21787" y="22080"/>
        <a:ext cx="5771916" cy="40272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824B1-0967-4692-86C7-B0D25866E423}">
      <dsp:nvSpPr>
        <dsp:cNvPr id="0" name=""/>
        <dsp:cNvSpPr/>
      </dsp:nvSpPr>
      <dsp:spPr>
        <a:xfrm>
          <a:off x="0" y="0"/>
          <a:ext cx="5994017"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Method of Teaching</a:t>
          </a:r>
          <a:endParaRPr lang="en-IN" sz="1900" kern="1200"/>
        </a:p>
      </dsp:txBody>
      <dsp:txXfrm>
        <a:off x="21704" y="21704"/>
        <a:ext cx="5950609" cy="40119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11700"/>
          <a:ext cx="7528331" cy="45571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sz="1900" b="1" kern="1200" dirty="0">
            <a:latin typeface="Calibri" panose="020F0502020204030204" pitchFamily="34" charset="0"/>
            <a:ea typeface="Calibri" panose="020F0502020204030204" pitchFamily="34" charset="0"/>
            <a:cs typeface="Calibri" panose="020F0502020204030204" pitchFamily="34" charset="0"/>
          </a:endParaRPr>
        </a:p>
      </dsp:txBody>
      <dsp:txXfrm>
        <a:off x="22246" y="33946"/>
        <a:ext cx="7483839" cy="41122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11700"/>
          <a:ext cx="7528331" cy="45571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sz="1900" b="1" kern="1200" dirty="0">
            <a:latin typeface="Calibri" panose="020F0502020204030204" pitchFamily="34" charset="0"/>
            <a:ea typeface="Calibri" panose="020F0502020204030204" pitchFamily="34" charset="0"/>
            <a:cs typeface="Calibri" panose="020F0502020204030204" pitchFamily="34" charset="0"/>
          </a:endParaRPr>
        </a:p>
      </dsp:txBody>
      <dsp:txXfrm>
        <a:off x="22246" y="33946"/>
        <a:ext cx="7483839" cy="41122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11700"/>
          <a:ext cx="7528331" cy="45571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sz="1900" b="1" kern="1200" dirty="0">
            <a:latin typeface="Calibri" panose="020F0502020204030204" pitchFamily="34" charset="0"/>
            <a:ea typeface="Calibri" panose="020F0502020204030204" pitchFamily="34" charset="0"/>
            <a:cs typeface="Calibri" panose="020F0502020204030204" pitchFamily="34" charset="0"/>
          </a:endParaRPr>
        </a:p>
      </dsp:txBody>
      <dsp:txXfrm>
        <a:off x="22246" y="33946"/>
        <a:ext cx="7483839" cy="41122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0"/>
          <a:ext cx="6313409" cy="45571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sz="1900" b="1" kern="1200" dirty="0">
            <a:latin typeface="Calibri" panose="020F0502020204030204" pitchFamily="34" charset="0"/>
            <a:ea typeface="Calibri" panose="020F0502020204030204" pitchFamily="34" charset="0"/>
            <a:cs typeface="Calibri" panose="020F0502020204030204" pitchFamily="34" charset="0"/>
          </a:endParaRPr>
        </a:p>
      </dsp:txBody>
      <dsp:txXfrm>
        <a:off x="22246" y="22246"/>
        <a:ext cx="6268917" cy="41122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11700"/>
          <a:ext cx="7528331" cy="45571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latin typeface="Calibri" panose="020F0502020204030204" pitchFamily="34" charset="0"/>
              <a:ea typeface="Calibri" panose="020F0502020204030204" pitchFamily="34" charset="0"/>
              <a:cs typeface="Calibri" panose="020F0502020204030204" pitchFamily="34" charset="0"/>
            </a:rPr>
            <a:t>Evolution/History/Future Trends of Subject</a:t>
          </a:r>
          <a:endParaRPr lang="en-IN" sz="1900" b="1" kern="1200" dirty="0">
            <a:latin typeface="Calibri" panose="020F0502020204030204" pitchFamily="34" charset="0"/>
            <a:ea typeface="Calibri" panose="020F0502020204030204" pitchFamily="34" charset="0"/>
            <a:cs typeface="Calibri" panose="020F0502020204030204" pitchFamily="34" charset="0"/>
          </a:endParaRPr>
        </a:p>
      </dsp:txBody>
      <dsp:txXfrm>
        <a:off x="22246" y="33946"/>
        <a:ext cx="7483839" cy="41122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FDAC76-19B3-4C27-81E8-5499A23203DD}">
      <dsp:nvSpPr>
        <dsp:cNvPr id="0" name=""/>
        <dsp:cNvSpPr/>
      </dsp:nvSpPr>
      <dsp:spPr>
        <a:xfrm>
          <a:off x="0" y="6145"/>
          <a:ext cx="6126652" cy="48672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i="0" kern="1200" dirty="0"/>
            <a:t>Importance of Subject (Placement Point of View)</a:t>
          </a:r>
          <a:endParaRPr lang="en-IN" sz="2000" kern="1200" dirty="0"/>
        </a:p>
      </dsp:txBody>
      <dsp:txXfrm>
        <a:off x="23760" y="29905"/>
        <a:ext cx="6079132" cy="43920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FDAC76-19B3-4C27-81E8-5499A23203DD}">
      <dsp:nvSpPr>
        <dsp:cNvPr id="0" name=""/>
        <dsp:cNvSpPr/>
      </dsp:nvSpPr>
      <dsp:spPr>
        <a:xfrm>
          <a:off x="0" y="6145"/>
          <a:ext cx="6126652" cy="48672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i="0" kern="1200" dirty="0"/>
            <a:t>Importance of Subject (Placement Point of View)</a:t>
          </a:r>
          <a:endParaRPr lang="en-IN" sz="2000" kern="1200" dirty="0"/>
        </a:p>
      </dsp:txBody>
      <dsp:txXfrm>
        <a:off x="23760" y="29905"/>
        <a:ext cx="6079132" cy="4392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FDAC76-19B3-4C27-81E8-5499A23203DD}">
      <dsp:nvSpPr>
        <dsp:cNvPr id="0" name=""/>
        <dsp:cNvSpPr/>
      </dsp:nvSpPr>
      <dsp:spPr>
        <a:xfrm>
          <a:off x="0" y="6145"/>
          <a:ext cx="6126652" cy="48672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i="0" kern="1200" dirty="0"/>
            <a:t>Importance of Subject (Placement Point of View)</a:t>
          </a:r>
          <a:endParaRPr lang="en-IN" sz="2000" kern="1200" dirty="0"/>
        </a:p>
      </dsp:txBody>
      <dsp:txXfrm>
        <a:off x="23760" y="29905"/>
        <a:ext cx="6079132" cy="43920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Syllabus (Theory)</a:t>
          </a:r>
        </a:p>
      </dsp:txBody>
      <dsp:txXfrm>
        <a:off x="22846" y="28403"/>
        <a:ext cx="6114477" cy="42230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Syllabus (Theory)</a:t>
          </a:r>
        </a:p>
      </dsp:txBody>
      <dsp:txXfrm>
        <a:off x="22846" y="28403"/>
        <a:ext cx="6114477" cy="42230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solidFill>
                <a:schemeClr val="tx1"/>
              </a:solidFill>
            </a:rPr>
            <a:t>Syllabus (Theory)</a:t>
          </a:r>
        </a:p>
      </dsp:txBody>
      <dsp:txXfrm>
        <a:off x="22846" y="28403"/>
        <a:ext cx="6114477" cy="42230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130"/>
          <a:ext cx="6160169" cy="478854"/>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MST Model QP</a:t>
          </a:r>
          <a:endParaRPr lang="en-IN" sz="3200" b="1" kern="1200" dirty="0">
            <a:solidFill>
              <a:schemeClr val="tx1"/>
            </a:solidFill>
          </a:endParaRPr>
        </a:p>
      </dsp:txBody>
      <dsp:txXfrm>
        <a:off x="23376" y="23506"/>
        <a:ext cx="6113417" cy="43210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792827-AFE6-4B6D-A196-3501CFBAFEB7}">
      <dsp:nvSpPr>
        <dsp:cNvPr id="0" name=""/>
        <dsp:cNvSpPr/>
      </dsp:nvSpPr>
      <dsp:spPr>
        <a:xfrm>
          <a:off x="543149" y="12600"/>
          <a:ext cx="5925247"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References and Books</a:t>
          </a:r>
          <a:endParaRPr lang="en-IN" sz="1900" kern="1200"/>
        </a:p>
      </dsp:txBody>
      <dsp:txXfrm>
        <a:off x="564853" y="34304"/>
        <a:ext cx="5881839" cy="40119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FC532-80FE-4CC7-802A-111F7576586C}">
      <dsp:nvSpPr>
        <dsp:cNvPr id="0" name=""/>
        <dsp:cNvSpPr/>
      </dsp:nvSpPr>
      <dsp:spPr>
        <a:xfrm>
          <a:off x="0" y="6299"/>
          <a:ext cx="6186523"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E- Learnings links</a:t>
          </a:r>
          <a:endParaRPr lang="en-IN" sz="1900" kern="1200"/>
        </a:p>
      </dsp:txBody>
      <dsp:txXfrm>
        <a:off x="21704" y="28003"/>
        <a:ext cx="6143115" cy="401192"/>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FC532-80FE-4CC7-802A-111F7576586C}">
      <dsp:nvSpPr>
        <dsp:cNvPr id="0" name=""/>
        <dsp:cNvSpPr/>
      </dsp:nvSpPr>
      <dsp:spPr>
        <a:xfrm>
          <a:off x="0" y="6299"/>
          <a:ext cx="6186523"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E- Learnings links</a:t>
          </a:r>
          <a:endParaRPr lang="en-IN" sz="1900" kern="1200"/>
        </a:p>
      </dsp:txBody>
      <dsp:txXfrm>
        <a:off x="21704" y="28003"/>
        <a:ext cx="6143115" cy="40119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FC532-80FE-4CC7-802A-111F7576586C}">
      <dsp:nvSpPr>
        <dsp:cNvPr id="0" name=""/>
        <dsp:cNvSpPr/>
      </dsp:nvSpPr>
      <dsp:spPr>
        <a:xfrm>
          <a:off x="0" y="6299"/>
          <a:ext cx="6186523"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E- Learnings links</a:t>
          </a:r>
          <a:endParaRPr lang="en-IN" sz="1900" kern="1200"/>
        </a:p>
      </dsp:txBody>
      <dsp:txXfrm>
        <a:off x="21704" y="28003"/>
        <a:ext cx="6143115" cy="401192"/>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Syllabus (LAB)</a:t>
          </a:r>
        </a:p>
      </dsp:txBody>
      <dsp:txXfrm>
        <a:off x="22846" y="28403"/>
        <a:ext cx="6114477" cy="422308"/>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Syllabus (LAB)</a:t>
          </a:r>
        </a:p>
      </dsp:txBody>
      <dsp:txXfrm>
        <a:off x="22846" y="28403"/>
        <a:ext cx="6114477" cy="422308"/>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BDB84-DB5A-4089-85B1-5AB824150C4B}">
      <dsp:nvSpPr>
        <dsp:cNvPr id="0" name=""/>
        <dsp:cNvSpPr/>
      </dsp:nvSpPr>
      <dsp:spPr>
        <a:xfrm>
          <a:off x="0" y="5557"/>
          <a:ext cx="6160169"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t>Syllabus (LAB)</a:t>
          </a:r>
        </a:p>
      </dsp:txBody>
      <dsp:txXfrm>
        <a:off x="22846" y="28403"/>
        <a:ext cx="6114477" cy="422308"/>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Content Beyond Syllabus (Theory)</a:t>
          </a:r>
          <a:endParaRPr lang="en-IN" sz="2000" kern="1200" dirty="0"/>
        </a:p>
      </dsp:txBody>
      <dsp:txXfrm>
        <a:off x="22846" y="31245"/>
        <a:ext cx="5604565" cy="422308"/>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Content Beyond Syllabus (Theory)</a:t>
          </a:r>
          <a:endParaRPr lang="en-IN" sz="2000" kern="1200" dirty="0"/>
        </a:p>
      </dsp:txBody>
      <dsp:txXfrm>
        <a:off x="22846" y="31245"/>
        <a:ext cx="5604565" cy="422308"/>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Content Beyond Syllabus (Lab)</a:t>
          </a:r>
          <a:endParaRPr lang="en-IN" sz="2000" kern="1200" dirty="0"/>
        </a:p>
      </dsp:txBody>
      <dsp:txXfrm>
        <a:off x="22846" y="31245"/>
        <a:ext cx="5604565" cy="422308"/>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Complex Problems (LAB) (MIN- 10)</a:t>
          </a:r>
          <a:endParaRPr lang="en-IN" sz="2000" kern="1200" dirty="0"/>
        </a:p>
      </dsp:txBody>
      <dsp:txXfrm>
        <a:off x="22846" y="31245"/>
        <a:ext cx="5604565" cy="422308"/>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83C75-3C94-43D6-9C2C-9245C4C4EDC0}">
      <dsp:nvSpPr>
        <dsp:cNvPr id="0" name=""/>
        <dsp:cNvSpPr/>
      </dsp:nvSpPr>
      <dsp:spPr>
        <a:xfrm>
          <a:off x="0" y="6299"/>
          <a:ext cx="4220792"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Assessment Model (Theory)</a:t>
          </a:r>
          <a:endParaRPr lang="en-IN" sz="1900" kern="1200"/>
        </a:p>
      </dsp:txBody>
      <dsp:txXfrm>
        <a:off x="21704" y="28003"/>
        <a:ext cx="4177384" cy="401192"/>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D3FBC-7653-494F-A2F6-D6E125A90C6B}">
      <dsp:nvSpPr>
        <dsp:cNvPr id="0" name=""/>
        <dsp:cNvSpPr/>
      </dsp:nvSpPr>
      <dsp:spPr>
        <a:xfrm>
          <a:off x="515629" y="6299"/>
          <a:ext cx="457889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Assessment Model (Practical)</a:t>
          </a:r>
          <a:endParaRPr lang="en-IN" sz="1900" kern="1200"/>
        </a:p>
      </dsp:txBody>
      <dsp:txXfrm>
        <a:off x="537333" y="28003"/>
        <a:ext cx="4535487" cy="401192"/>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EDF89-EA5F-4378-A2ED-9456E3C59985}">
      <dsp:nvSpPr>
        <dsp:cNvPr id="0" name=""/>
        <dsp:cNvSpPr/>
      </dsp:nvSpPr>
      <dsp:spPr>
        <a:xfrm>
          <a:off x="0" y="8399"/>
          <a:ext cx="5650257" cy="4680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dirty="0"/>
            <a:t>CO-PO MAPPING</a:t>
          </a:r>
          <a:endParaRPr lang="en-IN" sz="2000" kern="1200" dirty="0"/>
        </a:p>
      </dsp:txBody>
      <dsp:txXfrm>
        <a:off x="22846" y="31245"/>
        <a:ext cx="5604565" cy="422308"/>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867CD-1D97-4544-A1D5-42A117E2422F}">
      <dsp:nvSpPr>
        <dsp:cNvPr id="0" name=""/>
        <dsp:cNvSpPr/>
      </dsp:nvSpPr>
      <dsp:spPr>
        <a:xfrm>
          <a:off x="0" y="0"/>
          <a:ext cx="4572001"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Mini Projects (MIN 36)</a:t>
          </a:r>
          <a:endParaRPr lang="en-IN" sz="1900" kern="1200" dirty="0"/>
        </a:p>
      </dsp:txBody>
      <dsp:txXfrm>
        <a:off x="21704" y="21704"/>
        <a:ext cx="4528593" cy="401192"/>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867CD-1D97-4544-A1D5-42A117E2422F}">
      <dsp:nvSpPr>
        <dsp:cNvPr id="0" name=""/>
        <dsp:cNvSpPr/>
      </dsp:nvSpPr>
      <dsp:spPr>
        <a:xfrm>
          <a:off x="0" y="0"/>
          <a:ext cx="4572001"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Mini Projects (MIN 36)</a:t>
          </a:r>
          <a:endParaRPr lang="en-IN" sz="1900" kern="1200" dirty="0"/>
        </a:p>
      </dsp:txBody>
      <dsp:txXfrm>
        <a:off x="21704" y="21704"/>
        <a:ext cx="4528593" cy="401192"/>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867CD-1D97-4544-A1D5-42A117E2422F}">
      <dsp:nvSpPr>
        <dsp:cNvPr id="0" name=""/>
        <dsp:cNvSpPr/>
      </dsp:nvSpPr>
      <dsp:spPr>
        <a:xfrm>
          <a:off x="0" y="0"/>
          <a:ext cx="4572001"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Mini Projects (MIN 36)</a:t>
          </a:r>
          <a:endParaRPr lang="en-IN" sz="1900" kern="1200" dirty="0"/>
        </a:p>
      </dsp:txBody>
      <dsp:txXfrm>
        <a:off x="21704" y="21704"/>
        <a:ext cx="4528593" cy="401192"/>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867CD-1D97-4544-A1D5-42A117E2422F}">
      <dsp:nvSpPr>
        <dsp:cNvPr id="0" name=""/>
        <dsp:cNvSpPr/>
      </dsp:nvSpPr>
      <dsp:spPr>
        <a:xfrm>
          <a:off x="0" y="0"/>
          <a:ext cx="4572001"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Mini Projects (MIN 36)</a:t>
          </a:r>
          <a:endParaRPr lang="en-IN" sz="1900" kern="1200" dirty="0"/>
        </a:p>
      </dsp:txBody>
      <dsp:txXfrm>
        <a:off x="21704" y="21704"/>
        <a:ext cx="4528593" cy="401192"/>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1A00E-6811-4815-98AC-CA5AD3C63411}">
      <dsp:nvSpPr>
        <dsp:cNvPr id="0" name=""/>
        <dsp:cNvSpPr/>
      </dsp:nvSpPr>
      <dsp:spPr>
        <a:xfrm>
          <a:off x="0" y="0"/>
          <a:ext cx="4625856"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Future Scope</a:t>
          </a:r>
          <a:endParaRPr lang="en-IN" sz="1900" kern="1200" dirty="0"/>
        </a:p>
      </dsp:txBody>
      <dsp:txXfrm>
        <a:off x="21704" y="21704"/>
        <a:ext cx="4582448" cy="401192"/>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1A00E-6811-4815-98AC-CA5AD3C63411}">
      <dsp:nvSpPr>
        <dsp:cNvPr id="0" name=""/>
        <dsp:cNvSpPr/>
      </dsp:nvSpPr>
      <dsp:spPr>
        <a:xfrm>
          <a:off x="0" y="0"/>
          <a:ext cx="4625856"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Future Scope</a:t>
          </a:r>
          <a:endParaRPr lang="en-IN" sz="1900" kern="1200" dirty="0"/>
        </a:p>
      </dsp:txBody>
      <dsp:txXfrm>
        <a:off x="21704" y="21704"/>
        <a:ext cx="4582448" cy="401192"/>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1A00E-6811-4815-98AC-CA5AD3C63411}">
      <dsp:nvSpPr>
        <dsp:cNvPr id="0" name=""/>
        <dsp:cNvSpPr/>
      </dsp:nvSpPr>
      <dsp:spPr>
        <a:xfrm>
          <a:off x="0" y="0"/>
          <a:ext cx="4625856"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Future Scope</a:t>
          </a:r>
          <a:endParaRPr lang="en-IN" sz="1900" kern="1200" dirty="0"/>
        </a:p>
      </dsp:txBody>
      <dsp:txXfrm>
        <a:off x="21704" y="21704"/>
        <a:ext cx="4582448" cy="401192"/>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1A00E-6811-4815-98AC-CA5AD3C63411}">
      <dsp:nvSpPr>
        <dsp:cNvPr id="0" name=""/>
        <dsp:cNvSpPr/>
      </dsp:nvSpPr>
      <dsp:spPr>
        <a:xfrm>
          <a:off x="0" y="0"/>
          <a:ext cx="4625856"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Future Scope</a:t>
          </a:r>
          <a:endParaRPr lang="en-IN" sz="1900" kern="1200" dirty="0"/>
        </a:p>
      </dsp:txBody>
      <dsp:txXfrm>
        <a:off x="21704" y="21704"/>
        <a:ext cx="4582448" cy="401192"/>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2743A-8880-4A72-9763-9D0F24DC834D}">
      <dsp:nvSpPr>
        <dsp:cNvPr id="0" name=""/>
        <dsp:cNvSpPr/>
      </dsp:nvSpPr>
      <dsp:spPr>
        <a:xfrm>
          <a:off x="0" y="6299"/>
          <a:ext cx="55783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Target Placement Companies</a:t>
          </a:r>
          <a:endParaRPr lang="en-IN" sz="1900" kern="1200" dirty="0"/>
        </a:p>
      </dsp:txBody>
      <dsp:txXfrm>
        <a:off x="21704" y="28003"/>
        <a:ext cx="5534966" cy="401192"/>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2743A-8880-4A72-9763-9D0F24DC834D}">
      <dsp:nvSpPr>
        <dsp:cNvPr id="0" name=""/>
        <dsp:cNvSpPr/>
      </dsp:nvSpPr>
      <dsp:spPr>
        <a:xfrm>
          <a:off x="0" y="6299"/>
          <a:ext cx="5653325"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Target Placement Companies</a:t>
          </a:r>
          <a:endParaRPr lang="en-IN" sz="1900" kern="1200" dirty="0"/>
        </a:p>
      </dsp:txBody>
      <dsp:txXfrm>
        <a:off x="21704" y="28003"/>
        <a:ext cx="5609917" cy="401192"/>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0"/>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1704"/>
        <a:ext cx="5013466" cy="401192"/>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D4C354-B745-4F8A-A567-A28862ED838F}">
      <dsp:nvSpPr>
        <dsp:cNvPr id="0" name=""/>
        <dsp:cNvSpPr/>
      </dsp:nvSpPr>
      <dsp:spPr>
        <a:xfrm>
          <a:off x="0" y="6299"/>
          <a:ext cx="5056874" cy="4446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dirty="0"/>
            <a:t>Placement Related Questions </a:t>
          </a:r>
          <a:endParaRPr lang="en-IN" sz="1900" kern="1200" dirty="0"/>
        </a:p>
      </dsp:txBody>
      <dsp:txXfrm>
        <a:off x="21704" y="28003"/>
        <a:ext cx="5013466" cy="4011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8424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7063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170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611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2914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284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395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531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22A04087-598C-A485-FB2A-3B0F17FA8019}"/>
            </a:ext>
          </a:extLst>
        </p:cNvPr>
        <p:cNvGrpSpPr/>
        <p:nvPr/>
      </p:nvGrpSpPr>
      <p:grpSpPr>
        <a:xfrm>
          <a:off x="0" y="0"/>
          <a:ext cx="0" cy="0"/>
          <a:chOff x="0" y="0"/>
          <a:chExt cx="0" cy="0"/>
        </a:xfrm>
      </p:grpSpPr>
      <p:sp>
        <p:nvSpPr>
          <p:cNvPr id="113" name="Google Shape;113;g2aa722b35e2_0_31:notes">
            <a:extLst>
              <a:ext uri="{FF2B5EF4-FFF2-40B4-BE49-F238E27FC236}">
                <a16:creationId xmlns:a16="http://schemas.microsoft.com/office/drawing/2014/main" id="{927E364F-F97D-12D6-9516-A0E426398A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a:extLst>
              <a:ext uri="{FF2B5EF4-FFF2-40B4-BE49-F238E27FC236}">
                <a16:creationId xmlns:a16="http://schemas.microsoft.com/office/drawing/2014/main" id="{F54558B5-F6EB-7320-ED14-C8C64479E4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4369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a722b35e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aa722b35e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922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DC8C265-20D1-F755-3766-F66BAF71ABF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99EFDDE-502F-DBD6-B1C4-5CBA4BC50D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BDE32E-C219-E742-E9D8-87F250F514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1823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7128D516-3999-ADC7-CEE6-08CE63C97050}"/>
            </a:ext>
          </a:extLst>
        </p:cNvPr>
        <p:cNvGrpSpPr/>
        <p:nvPr/>
      </p:nvGrpSpPr>
      <p:grpSpPr>
        <a:xfrm>
          <a:off x="0" y="0"/>
          <a:ext cx="0" cy="0"/>
          <a:chOff x="0" y="0"/>
          <a:chExt cx="0" cy="0"/>
        </a:xfrm>
      </p:grpSpPr>
      <p:sp>
        <p:nvSpPr>
          <p:cNvPr id="215" name="Google Shape;215;p14:notes">
            <a:extLst>
              <a:ext uri="{FF2B5EF4-FFF2-40B4-BE49-F238E27FC236}">
                <a16:creationId xmlns:a16="http://schemas.microsoft.com/office/drawing/2014/main" id="{7827AE30-530B-CCA3-14AC-7C3BE20CA9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4:notes">
            <a:extLst>
              <a:ext uri="{FF2B5EF4-FFF2-40B4-BE49-F238E27FC236}">
                <a16:creationId xmlns:a16="http://schemas.microsoft.com/office/drawing/2014/main" id="{E29E5795-AE9C-2840-23F8-895A62AFD3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2249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8AEC8806-C926-5279-B211-181B895A3035}"/>
            </a:ext>
          </a:extLst>
        </p:cNvPr>
        <p:cNvGrpSpPr/>
        <p:nvPr/>
      </p:nvGrpSpPr>
      <p:grpSpPr>
        <a:xfrm>
          <a:off x="0" y="0"/>
          <a:ext cx="0" cy="0"/>
          <a:chOff x="0" y="0"/>
          <a:chExt cx="0" cy="0"/>
        </a:xfrm>
      </p:grpSpPr>
      <p:sp>
        <p:nvSpPr>
          <p:cNvPr id="215" name="Google Shape;215;p14:notes">
            <a:extLst>
              <a:ext uri="{FF2B5EF4-FFF2-40B4-BE49-F238E27FC236}">
                <a16:creationId xmlns:a16="http://schemas.microsoft.com/office/drawing/2014/main" id="{75111144-D390-7EB6-5CB6-45BCB078AEB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4:notes">
            <a:extLst>
              <a:ext uri="{FF2B5EF4-FFF2-40B4-BE49-F238E27FC236}">
                <a16:creationId xmlns:a16="http://schemas.microsoft.com/office/drawing/2014/main" id="{0C9782F8-4193-8B7D-BE59-F1A38E0D1B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8301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6303DC52-B548-F5A5-D190-49FB0BD528D9}"/>
            </a:ext>
          </a:extLst>
        </p:cNvPr>
        <p:cNvGrpSpPr/>
        <p:nvPr/>
      </p:nvGrpSpPr>
      <p:grpSpPr>
        <a:xfrm>
          <a:off x="0" y="0"/>
          <a:ext cx="0" cy="0"/>
          <a:chOff x="0" y="0"/>
          <a:chExt cx="0" cy="0"/>
        </a:xfrm>
      </p:grpSpPr>
      <p:sp>
        <p:nvSpPr>
          <p:cNvPr id="215" name="Google Shape;215;p14:notes">
            <a:extLst>
              <a:ext uri="{FF2B5EF4-FFF2-40B4-BE49-F238E27FC236}">
                <a16:creationId xmlns:a16="http://schemas.microsoft.com/office/drawing/2014/main" id="{52319B27-11A4-DCAA-402A-029AD5DE52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14:notes">
            <a:extLst>
              <a:ext uri="{FF2B5EF4-FFF2-40B4-BE49-F238E27FC236}">
                <a16:creationId xmlns:a16="http://schemas.microsoft.com/office/drawing/2014/main" id="{C0481096-28A0-B627-846F-6A5B3F03D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4713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aa722b35e2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g2aa722b35e2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aa722b35e2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6" name="Google Shape;156;g2aa722b35e2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aa722b35e2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aa722b35e2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4949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25892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19501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0156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aa722b35e2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2aa722b35e2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75513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aa722b35e2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2aa722b35e2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aa722b35e2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2aa722b35e2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0571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6121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6358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2793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050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15422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3697AF-AAC0-C1F4-1708-4A02004DCAD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1E85DA-2001-AFB5-AA9E-F48BCDE03B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6623ACF-C48D-C922-B6B0-20EBC2E477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39495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aa722b35e2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2aa722b35e2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aa722b35e2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2aa722b35e2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aa722b35e2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2aa722b35e2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88796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aa722b35e2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2aa722b35e2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390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08743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90815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a722b35e2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aa722b35e2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7007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81646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62799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56946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9255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2567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84173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4671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0914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81678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62301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808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00609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aa722b35e2_0_1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2aa722b35e2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aa722b35e2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g2aa722b35e2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a722b35e2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aa722b35e2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85163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aa722b35e2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2aa722b35e2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46055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aa722b35e2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2aa722b35e2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165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aa722b35e2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2aa722b35e2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82583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aa722b35e2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2aa722b35e2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2324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aa722b35e2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4" name="Google Shape;274;g2aa722b35e2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41270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aa722b35e2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4" name="Google Shape;274;g2aa722b35e2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2283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aa722b35e2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4" name="Google Shape;274;g2aa722b35e2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53359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aa722b35e2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4" name="Google Shape;274;g2aa722b35e2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173104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7492468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11852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421388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2065947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05233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87145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928830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866875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39467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a722b35e2_0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2aa722b35e2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673471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aa722b35e2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g2aa722b35e2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a:off x="990600" y="800100"/>
            <a:ext cx="7924800" cy="457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28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2800"/>
              <a:buNone/>
              <a:defRPr sz="4400" b="1" i="0" u="none" strike="noStrike" cap="none">
                <a:solidFill>
                  <a:schemeClr val="dk1"/>
                </a:solidFill>
                <a:latin typeface="Cambria"/>
                <a:ea typeface="Cambria"/>
                <a:cs typeface="Cambria"/>
                <a:sym typeface="Cambria"/>
              </a:defRPr>
            </a:lvl9pPr>
          </a:lstStyle>
          <a:p>
            <a:endParaRPr/>
          </a:p>
        </p:txBody>
      </p:sp>
      <p:sp>
        <p:nvSpPr>
          <p:cNvPr id="84" name="Google Shape;84;p13"/>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85"/>
        <p:cNvGrpSpPr/>
        <p:nvPr/>
      </p:nvGrpSpPr>
      <p:grpSpPr>
        <a:xfrm>
          <a:off x="0" y="0"/>
          <a:ext cx="0" cy="0"/>
          <a:chOff x="0" y="0"/>
          <a:chExt cx="0" cy="0"/>
        </a:xfrm>
      </p:grpSpPr>
      <p:sp>
        <p:nvSpPr>
          <p:cNvPr id="86" name="Google Shape;86;p14"/>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7" name="Google Shape;87;p1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t"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r>
              <a:rPr lang="en-IN"/>
              <a:t>CSE/IT-3rd Year</a:t>
            </a:r>
            <a:endParaRPr/>
          </a:p>
        </p:txBody>
      </p:sp>
      <p:sp>
        <p:nvSpPr>
          <p:cNvPr id="88" name="Google Shape;88;p14"/>
          <p:cNvSpPr txBox="1">
            <a:spLocks noGrp="1"/>
          </p:cNvSpPr>
          <p:nvPr>
            <p:ph type="sldNum" idx="12"/>
          </p:nvPr>
        </p:nvSpPr>
        <p:spPr>
          <a:xfrm>
            <a:off x="7010400" y="4869656"/>
            <a:ext cx="21336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sz="1000">
              <a:solidFill>
                <a:schemeClr val="accent1"/>
              </a:solidFill>
              <a:latin typeface="Lato"/>
              <a:ea typeface="Lato"/>
              <a:cs typeface="Lato"/>
              <a:sym typeface="La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extLst>
      <p:ext uri="{BB962C8B-B14F-4D97-AF65-F5344CB8AC3E}">
        <p14:creationId xmlns:p14="http://schemas.microsoft.com/office/powerpoint/2010/main" val="4080004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2" r:id="rId14"/>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3.xml"/><Relationship Id="rId1" Type="http://schemas.openxmlformats.org/officeDocument/2006/relationships/slideLayout" Target="../slideLayouts/slideLayout14.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28.xml"/><Relationship Id="rId1" Type="http://schemas.openxmlformats.org/officeDocument/2006/relationships/slideLayout" Target="../slideLayouts/slideLayout14.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9.xml"/><Relationship Id="rId1" Type="http://schemas.openxmlformats.org/officeDocument/2006/relationships/slideLayout" Target="../slideLayouts/slideLayout14.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30.xml"/><Relationship Id="rId1" Type="http://schemas.openxmlformats.org/officeDocument/2006/relationships/slideLayout" Target="../slideLayouts/slideLayout14.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1.xml.rels><?xml version="1.0" encoding="UTF-8" standalone="yes"?>
<Relationships xmlns="http://schemas.openxmlformats.org/package/2006/relationships"><Relationship Id="rId8" Type="http://schemas.microsoft.com/office/2007/relationships/diagramDrawing" Target="../diagrams/drawing26.xml"/><Relationship Id="rId3" Type="http://schemas.openxmlformats.org/officeDocument/2006/relationships/image" Target="../media/image4.png"/><Relationship Id="rId7" Type="http://schemas.openxmlformats.org/officeDocument/2006/relationships/diagramColors" Target="../diagrams/colors26.xml"/><Relationship Id="rId2" Type="http://schemas.openxmlformats.org/officeDocument/2006/relationships/notesSlide" Target="../notesSlides/notesSlide31.xml"/><Relationship Id="rId1" Type="http://schemas.openxmlformats.org/officeDocument/2006/relationships/slideLayout" Target="../slideLayouts/slideLayout14.xml"/><Relationship Id="rId6" Type="http://schemas.openxmlformats.org/officeDocument/2006/relationships/diagramQuickStyle" Target="../diagrams/quickStyle26.xml"/><Relationship Id="rId5" Type="http://schemas.openxmlformats.org/officeDocument/2006/relationships/diagramLayout" Target="../diagrams/layout26.xml"/><Relationship Id="rId4" Type="http://schemas.openxmlformats.org/officeDocument/2006/relationships/diagramData" Target="../diagrams/data26.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34.xml"/><Relationship Id="rId1" Type="http://schemas.openxmlformats.org/officeDocument/2006/relationships/slideLayout" Target="../slideLayouts/slideLayout14.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35.xml.rels><?xml version="1.0" encoding="UTF-8" standalone="yes"?>
<Relationships xmlns="http://schemas.openxmlformats.org/package/2006/relationships"><Relationship Id="rId8" Type="http://schemas.openxmlformats.org/officeDocument/2006/relationships/hyperlink" Target="https://www.youtube.com/watch?v=7dz8Iaf_weM&amp;t=360s" TargetMode="External"/><Relationship Id="rId13" Type="http://schemas.openxmlformats.org/officeDocument/2006/relationships/hyperlink" Target="https://www.youtube.com/watch?v=YWqla0UX-38" TargetMode="External"/><Relationship Id="rId18" Type="http://schemas.openxmlformats.org/officeDocument/2006/relationships/hyperlink" Target="https://www.youtube.com/watch?v=q8gdBn9RPeI&amp;list=PLDzeHZWIZsTr54_TH_NK4ibFojS4mmQA6" TargetMode="External"/><Relationship Id="rId3" Type="http://schemas.openxmlformats.org/officeDocument/2006/relationships/diagramData" Target="../diagrams/data28.xml"/><Relationship Id="rId7" Type="http://schemas.microsoft.com/office/2007/relationships/diagramDrawing" Target="../diagrams/drawing28.xml"/><Relationship Id="rId12" Type="http://schemas.openxmlformats.org/officeDocument/2006/relationships/hyperlink" Target="https://www.youtube.com/watch?v=cySVml6e_Fc" TargetMode="External"/><Relationship Id="rId17" Type="http://schemas.openxmlformats.org/officeDocument/2006/relationships/hyperlink" Target="https://www.youtube.com/watch?v=7m1DMYAbdiY&amp;t=16s" TargetMode="External"/><Relationship Id="rId2" Type="http://schemas.openxmlformats.org/officeDocument/2006/relationships/notesSlide" Target="../notesSlides/notesSlide35.xml"/><Relationship Id="rId16" Type="http://schemas.openxmlformats.org/officeDocument/2006/relationships/hyperlink" Target="https://www.youtube.com/watch?v=6du1LrLbDpA" TargetMode="External"/><Relationship Id="rId1" Type="http://schemas.openxmlformats.org/officeDocument/2006/relationships/slideLayout" Target="../slideLayouts/slideLayout14.xml"/><Relationship Id="rId6" Type="http://schemas.openxmlformats.org/officeDocument/2006/relationships/diagramColors" Target="../diagrams/colors28.xml"/><Relationship Id="rId11" Type="http://schemas.openxmlformats.org/officeDocument/2006/relationships/hyperlink" Target="https://www.youtube.com/watch?v=bJg_sv7PV-g&amp;t=15s" TargetMode="External"/><Relationship Id="rId5" Type="http://schemas.openxmlformats.org/officeDocument/2006/relationships/diagramQuickStyle" Target="../diagrams/quickStyle28.xml"/><Relationship Id="rId15" Type="http://schemas.openxmlformats.org/officeDocument/2006/relationships/hyperlink" Target="https://www.youtube.com/watch?v=7aVvaUK3-2s" TargetMode="External"/><Relationship Id="rId10" Type="http://schemas.openxmlformats.org/officeDocument/2006/relationships/hyperlink" Target="https://www.youtube.com/watch?v=OynWkEj0S-s&amp;t=885s" TargetMode="External"/><Relationship Id="rId19" Type="http://schemas.openxmlformats.org/officeDocument/2006/relationships/hyperlink" Target="https://www.youtube.com/watch?v=6pV2IF0fgKY" TargetMode="External"/><Relationship Id="rId4" Type="http://schemas.openxmlformats.org/officeDocument/2006/relationships/diagramLayout" Target="../diagrams/layout28.xml"/><Relationship Id="rId9" Type="http://schemas.openxmlformats.org/officeDocument/2006/relationships/hyperlink" Target="https://www.youtube.com/watch?v=VHGisohk3Ck" TargetMode="External"/><Relationship Id="rId14" Type="http://schemas.openxmlformats.org/officeDocument/2006/relationships/hyperlink" Target="https://www.youtube.com/watch?v=pEJiGC-ObQE" TargetMode="External"/></Relationships>
</file>

<file path=ppt/slides/_rels/slide36.xml.rels><?xml version="1.0" encoding="UTF-8" standalone="yes"?>
<Relationships xmlns="http://schemas.openxmlformats.org/package/2006/relationships"><Relationship Id="rId8" Type="http://schemas.openxmlformats.org/officeDocument/2006/relationships/hyperlink" Target="https://www.youtube.com/watch?v=V_T5NuccwRA" TargetMode="External"/><Relationship Id="rId13" Type="http://schemas.openxmlformats.org/officeDocument/2006/relationships/hyperlink" Target="https://www.youtube.com/watch?v=PfkBS9qIMRE" TargetMode="External"/><Relationship Id="rId3" Type="http://schemas.openxmlformats.org/officeDocument/2006/relationships/diagramData" Target="../diagrams/data29.xml"/><Relationship Id="rId7" Type="http://schemas.microsoft.com/office/2007/relationships/diagramDrawing" Target="../diagrams/drawing29.xml"/><Relationship Id="rId12" Type="http://schemas.openxmlformats.org/officeDocument/2006/relationships/hyperlink" Target="https://www.youtube.com/watch?v=saofdNsZiYY&amp;t=103s" TargetMode="External"/><Relationship Id="rId2" Type="http://schemas.openxmlformats.org/officeDocument/2006/relationships/notesSlide" Target="../notesSlides/notesSlide36.xml"/><Relationship Id="rId16" Type="http://schemas.openxmlformats.org/officeDocument/2006/relationships/hyperlink" Target="https://www.youtube.com/watch?v=jHGgXV27qtk" TargetMode="External"/><Relationship Id="rId1" Type="http://schemas.openxmlformats.org/officeDocument/2006/relationships/slideLayout" Target="../slideLayouts/slideLayout14.xml"/><Relationship Id="rId6" Type="http://schemas.openxmlformats.org/officeDocument/2006/relationships/diagramColors" Target="../diagrams/colors29.xml"/><Relationship Id="rId11" Type="http://schemas.openxmlformats.org/officeDocument/2006/relationships/hyperlink" Target="https://www.youtube.com/watch?v=xZfmHVi7FMg&amp;t=2s" TargetMode="External"/><Relationship Id="rId5" Type="http://schemas.openxmlformats.org/officeDocument/2006/relationships/diagramQuickStyle" Target="../diagrams/quickStyle29.xml"/><Relationship Id="rId15" Type="http://schemas.openxmlformats.org/officeDocument/2006/relationships/hyperlink" Target="https://www.youtube.com/watch?v=prx1psByp7U" TargetMode="External"/><Relationship Id="rId10" Type="http://schemas.openxmlformats.org/officeDocument/2006/relationships/hyperlink" Target="https://www.youtube.com/results?search_query=Strassen%E2%80%99s+matrix+multiplication" TargetMode="External"/><Relationship Id="rId4" Type="http://schemas.openxmlformats.org/officeDocument/2006/relationships/diagramLayout" Target="../diagrams/layout29.xml"/><Relationship Id="rId9" Type="http://schemas.openxmlformats.org/officeDocument/2006/relationships/hyperlink" Target="https://www.youtube.com/watch?v=GVFXYrMRqFw" TargetMode="External"/><Relationship Id="rId14" Type="http://schemas.openxmlformats.org/officeDocument/2006/relationships/hyperlink" Target="https://www.youtube.com/watch?v=dJmyfFC3-3A"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www.youtube.com/watch?v=hh-uFQ-MGfw" TargetMode="External"/><Relationship Id="rId3" Type="http://schemas.openxmlformats.org/officeDocument/2006/relationships/diagramData" Target="../diagrams/data30.xml"/><Relationship Id="rId7" Type="http://schemas.microsoft.com/office/2007/relationships/diagramDrawing" Target="../diagrams/drawing30.xml"/><Relationship Id="rId12" Type="http://schemas.openxmlformats.org/officeDocument/2006/relationships/hyperlink" Target="https://www.youtube.com/watch?v=1FEP_sNb62k" TargetMode="External"/><Relationship Id="rId2" Type="http://schemas.openxmlformats.org/officeDocument/2006/relationships/notesSlide" Target="../notesSlides/notesSlide37.xml"/><Relationship Id="rId1" Type="http://schemas.openxmlformats.org/officeDocument/2006/relationships/slideLayout" Target="../slideLayouts/slideLayout14.xml"/><Relationship Id="rId6" Type="http://schemas.openxmlformats.org/officeDocument/2006/relationships/diagramColors" Target="../diagrams/colors30.xml"/><Relationship Id="rId11" Type="http://schemas.openxmlformats.org/officeDocument/2006/relationships/hyperlink" Target="https://www.youtube.com/watch?v=yV1d-b_NeK8" TargetMode="External"/><Relationship Id="rId5" Type="http://schemas.openxmlformats.org/officeDocument/2006/relationships/diagramQuickStyle" Target="../diagrams/quickStyle30.xml"/><Relationship Id="rId10" Type="http://schemas.openxmlformats.org/officeDocument/2006/relationships/hyperlink" Target="https://www.youtube.com/watch?v=dQr4wZCiJJ4" TargetMode="External"/><Relationship Id="rId4" Type="http://schemas.openxmlformats.org/officeDocument/2006/relationships/diagramLayout" Target="../diagrams/layout30.xml"/><Relationship Id="rId9" Type="http://schemas.openxmlformats.org/officeDocument/2006/relationships/hyperlink" Target="https://www.youtube.com/watch?v=xFv_Hl4B83A" TargetMode="Externa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38.xml"/><Relationship Id="rId1" Type="http://schemas.openxmlformats.org/officeDocument/2006/relationships/slideLayout" Target="../slideLayouts/slideLayout14.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40.xml"/><Relationship Id="rId1" Type="http://schemas.openxmlformats.org/officeDocument/2006/relationships/slideLayout" Target="../slideLayouts/slideLayout14.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43.xml"/><Relationship Id="rId1" Type="http://schemas.openxmlformats.org/officeDocument/2006/relationships/slideLayout" Target="../slideLayouts/slideLayout14.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4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44.xml"/><Relationship Id="rId1" Type="http://schemas.openxmlformats.org/officeDocument/2006/relationships/slideLayout" Target="../slideLayouts/slideLayout14.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45.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45.xml"/><Relationship Id="rId1" Type="http://schemas.openxmlformats.org/officeDocument/2006/relationships/slideLayout" Target="../slideLayouts/slideLayout14.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46.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46.xml"/><Relationship Id="rId1" Type="http://schemas.openxmlformats.org/officeDocument/2006/relationships/slideLayout" Target="../slideLayouts/slideLayout14.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4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47.xml"/><Relationship Id="rId1" Type="http://schemas.openxmlformats.org/officeDocument/2006/relationships/slideLayout" Target="../slideLayouts/slideLayout14.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s>
</file>

<file path=ppt/slides/_rels/slide48.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48.xml"/><Relationship Id="rId1" Type="http://schemas.openxmlformats.org/officeDocument/2006/relationships/slideLayout" Target="../slideLayouts/slideLayout14.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49.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diagramData" Target="../diagrams/data42.xml"/><Relationship Id="rId7" Type="http://schemas.microsoft.com/office/2007/relationships/diagramDrawing" Target="../diagrams/drawing42.xml"/><Relationship Id="rId2" Type="http://schemas.openxmlformats.org/officeDocument/2006/relationships/notesSlide" Target="../notesSlides/notesSlide49.xml"/><Relationship Id="rId1" Type="http://schemas.openxmlformats.org/officeDocument/2006/relationships/slideLayout" Target="../slideLayouts/slideLayout14.xml"/><Relationship Id="rId6" Type="http://schemas.openxmlformats.org/officeDocument/2006/relationships/diagramColors" Target="../diagrams/colors42.xml"/><Relationship Id="rId5" Type="http://schemas.openxmlformats.org/officeDocument/2006/relationships/diagramQuickStyle" Target="../diagrams/quickStyle42.xml"/><Relationship Id="rId4" Type="http://schemas.openxmlformats.org/officeDocument/2006/relationships/diagramLayout" Target="../diagrams/layout42.xml"/></Relationships>
</file>

<file path=ppt/slides/_rels/slide50.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notesSlide" Target="../notesSlides/notesSlide50.xml"/><Relationship Id="rId1" Type="http://schemas.openxmlformats.org/officeDocument/2006/relationships/slideLayout" Target="../slideLayouts/slideLayout14.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51.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51.xml"/><Relationship Id="rId1" Type="http://schemas.openxmlformats.org/officeDocument/2006/relationships/slideLayout" Target="../slideLayouts/slideLayout14.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52.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diagramData" Target="../diagrams/data45.xml"/><Relationship Id="rId7" Type="http://schemas.microsoft.com/office/2007/relationships/diagramDrawing" Target="../diagrams/drawing45.xml"/><Relationship Id="rId2" Type="http://schemas.openxmlformats.org/officeDocument/2006/relationships/notesSlide" Target="../notesSlides/notesSlide52.xml"/><Relationship Id="rId1" Type="http://schemas.openxmlformats.org/officeDocument/2006/relationships/slideLayout" Target="../slideLayouts/slideLayout14.xml"/><Relationship Id="rId6" Type="http://schemas.openxmlformats.org/officeDocument/2006/relationships/diagramColors" Target="../diagrams/colors45.xml"/><Relationship Id="rId5" Type="http://schemas.openxmlformats.org/officeDocument/2006/relationships/diagramQuickStyle" Target="../diagrams/quickStyle45.xml"/><Relationship Id="rId4" Type="http://schemas.openxmlformats.org/officeDocument/2006/relationships/diagramLayout" Target="../diagrams/layout45.xml"/></Relationships>
</file>

<file path=ppt/slides/_rels/slide53.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53.xml"/><Relationship Id="rId1" Type="http://schemas.openxmlformats.org/officeDocument/2006/relationships/slideLayout" Target="../slideLayouts/slideLayout14.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5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47.xml"/><Relationship Id="rId7" Type="http://schemas.microsoft.com/office/2007/relationships/diagramDrawing" Target="../diagrams/drawing47.xml"/><Relationship Id="rId2" Type="http://schemas.openxmlformats.org/officeDocument/2006/relationships/notesSlide" Target="../notesSlides/notesSlide54.xml"/><Relationship Id="rId1" Type="http://schemas.openxmlformats.org/officeDocument/2006/relationships/slideLayout" Target="../slideLayouts/slideLayout14.xml"/><Relationship Id="rId6" Type="http://schemas.openxmlformats.org/officeDocument/2006/relationships/diagramColors" Target="../diagrams/colors47.xml"/><Relationship Id="rId5" Type="http://schemas.openxmlformats.org/officeDocument/2006/relationships/diagramQuickStyle" Target="../diagrams/quickStyle47.xml"/><Relationship Id="rId4" Type="http://schemas.openxmlformats.org/officeDocument/2006/relationships/diagramLayout" Target="../diagrams/layout47.xml"/></Relationships>
</file>

<file path=ppt/slides/_rels/slide5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48.xml"/><Relationship Id="rId7" Type="http://schemas.microsoft.com/office/2007/relationships/diagramDrawing" Target="../diagrams/drawing48.xml"/><Relationship Id="rId2" Type="http://schemas.openxmlformats.org/officeDocument/2006/relationships/notesSlide" Target="../notesSlides/notesSlide55.xml"/><Relationship Id="rId1" Type="http://schemas.openxmlformats.org/officeDocument/2006/relationships/slideLayout" Target="../slideLayouts/slideLayout14.xml"/><Relationship Id="rId6" Type="http://schemas.openxmlformats.org/officeDocument/2006/relationships/diagramColors" Target="../diagrams/colors48.xml"/><Relationship Id="rId5" Type="http://schemas.openxmlformats.org/officeDocument/2006/relationships/diagramQuickStyle" Target="../diagrams/quickStyle48.xml"/><Relationship Id="rId4" Type="http://schemas.openxmlformats.org/officeDocument/2006/relationships/diagramLayout" Target="../diagrams/layout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49.xml"/><Relationship Id="rId7" Type="http://schemas.microsoft.com/office/2007/relationships/diagramDrawing" Target="../diagrams/drawing49.xml"/><Relationship Id="rId2" Type="http://schemas.openxmlformats.org/officeDocument/2006/relationships/notesSlide" Target="../notesSlides/notesSlide56.xml"/><Relationship Id="rId1" Type="http://schemas.openxmlformats.org/officeDocument/2006/relationships/slideLayout" Target="../slideLayouts/slideLayout14.xml"/><Relationship Id="rId6" Type="http://schemas.openxmlformats.org/officeDocument/2006/relationships/diagramColors" Target="../diagrams/colors49.xml"/><Relationship Id="rId5" Type="http://schemas.openxmlformats.org/officeDocument/2006/relationships/diagramQuickStyle" Target="../diagrams/quickStyle49.xml"/><Relationship Id="rId4" Type="http://schemas.openxmlformats.org/officeDocument/2006/relationships/diagramLayout" Target="../diagrams/layout49.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50.xml"/><Relationship Id="rId7" Type="http://schemas.microsoft.com/office/2007/relationships/diagramDrawing" Target="../diagrams/drawing50.xml"/><Relationship Id="rId2" Type="http://schemas.openxmlformats.org/officeDocument/2006/relationships/notesSlide" Target="../notesSlides/notesSlide57.xml"/><Relationship Id="rId1" Type="http://schemas.openxmlformats.org/officeDocument/2006/relationships/slideLayout" Target="../slideLayouts/slideLayout14.xml"/><Relationship Id="rId6" Type="http://schemas.openxmlformats.org/officeDocument/2006/relationships/diagramColors" Target="../diagrams/colors50.xml"/><Relationship Id="rId5" Type="http://schemas.openxmlformats.org/officeDocument/2006/relationships/diagramQuickStyle" Target="../diagrams/quickStyle50.xml"/><Relationship Id="rId4" Type="http://schemas.openxmlformats.org/officeDocument/2006/relationships/diagramLayout" Target="../diagrams/layout50.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51.xml"/><Relationship Id="rId7" Type="http://schemas.microsoft.com/office/2007/relationships/diagramDrawing" Target="../diagrams/drawing51.xml"/><Relationship Id="rId2" Type="http://schemas.openxmlformats.org/officeDocument/2006/relationships/notesSlide" Target="../notesSlides/notesSlide58.xml"/><Relationship Id="rId1" Type="http://schemas.openxmlformats.org/officeDocument/2006/relationships/slideLayout" Target="../slideLayouts/slideLayout14.xml"/><Relationship Id="rId6" Type="http://schemas.openxmlformats.org/officeDocument/2006/relationships/diagramColors" Target="../diagrams/colors51.xml"/><Relationship Id="rId5" Type="http://schemas.openxmlformats.org/officeDocument/2006/relationships/diagramQuickStyle" Target="../diagrams/quickStyle51.xml"/><Relationship Id="rId4" Type="http://schemas.openxmlformats.org/officeDocument/2006/relationships/diagramLayout" Target="../diagrams/layout51.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52.xml"/><Relationship Id="rId7" Type="http://schemas.microsoft.com/office/2007/relationships/diagramDrawing" Target="../diagrams/drawing52.xml"/><Relationship Id="rId2" Type="http://schemas.openxmlformats.org/officeDocument/2006/relationships/notesSlide" Target="../notesSlides/notesSlide59.xml"/><Relationship Id="rId1" Type="http://schemas.openxmlformats.org/officeDocument/2006/relationships/slideLayout" Target="../slideLayouts/slideLayout14.xml"/><Relationship Id="rId6" Type="http://schemas.openxmlformats.org/officeDocument/2006/relationships/diagramColors" Target="../diagrams/colors52.xml"/><Relationship Id="rId5" Type="http://schemas.openxmlformats.org/officeDocument/2006/relationships/diagramQuickStyle" Target="../diagrams/quickStyle52.xml"/><Relationship Id="rId4" Type="http://schemas.openxmlformats.org/officeDocument/2006/relationships/diagramLayout" Target="../diagrams/layout52.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53.xml"/><Relationship Id="rId7" Type="http://schemas.microsoft.com/office/2007/relationships/diagramDrawing" Target="../diagrams/drawing53.xml"/><Relationship Id="rId2" Type="http://schemas.openxmlformats.org/officeDocument/2006/relationships/notesSlide" Target="../notesSlides/notesSlide60.xml"/><Relationship Id="rId1" Type="http://schemas.openxmlformats.org/officeDocument/2006/relationships/slideLayout" Target="../slideLayouts/slideLayout14.xml"/><Relationship Id="rId6" Type="http://schemas.openxmlformats.org/officeDocument/2006/relationships/diagramColors" Target="../diagrams/colors53.xml"/><Relationship Id="rId5" Type="http://schemas.openxmlformats.org/officeDocument/2006/relationships/diagramQuickStyle" Target="../diagrams/quickStyle53.xml"/><Relationship Id="rId4" Type="http://schemas.openxmlformats.org/officeDocument/2006/relationships/diagramLayout" Target="../diagrams/layout53.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54.xml"/><Relationship Id="rId7" Type="http://schemas.microsoft.com/office/2007/relationships/diagramDrawing" Target="../diagrams/drawing54.xml"/><Relationship Id="rId2" Type="http://schemas.openxmlformats.org/officeDocument/2006/relationships/notesSlide" Target="../notesSlides/notesSlide61.xml"/><Relationship Id="rId1" Type="http://schemas.openxmlformats.org/officeDocument/2006/relationships/slideLayout" Target="../slideLayouts/slideLayout14.xml"/><Relationship Id="rId6" Type="http://schemas.openxmlformats.org/officeDocument/2006/relationships/diagramColors" Target="../diagrams/colors54.xml"/><Relationship Id="rId5" Type="http://schemas.openxmlformats.org/officeDocument/2006/relationships/diagramQuickStyle" Target="../diagrams/quickStyle54.xml"/><Relationship Id="rId4" Type="http://schemas.openxmlformats.org/officeDocument/2006/relationships/diagramLayout" Target="../diagrams/layout54.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55.xml"/><Relationship Id="rId7" Type="http://schemas.microsoft.com/office/2007/relationships/diagramDrawing" Target="../diagrams/drawing55.xml"/><Relationship Id="rId2" Type="http://schemas.openxmlformats.org/officeDocument/2006/relationships/notesSlide" Target="../notesSlides/notesSlide62.xml"/><Relationship Id="rId1" Type="http://schemas.openxmlformats.org/officeDocument/2006/relationships/slideLayout" Target="../slideLayouts/slideLayout14.xml"/><Relationship Id="rId6" Type="http://schemas.openxmlformats.org/officeDocument/2006/relationships/diagramColors" Target="../diagrams/colors55.xml"/><Relationship Id="rId5" Type="http://schemas.openxmlformats.org/officeDocument/2006/relationships/diagramQuickStyle" Target="../diagrams/quickStyle55.xml"/><Relationship Id="rId4" Type="http://schemas.openxmlformats.org/officeDocument/2006/relationships/diagramLayout" Target="../diagrams/layout55.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56.xml"/><Relationship Id="rId7" Type="http://schemas.microsoft.com/office/2007/relationships/diagramDrawing" Target="../diagrams/drawing56.xml"/><Relationship Id="rId2" Type="http://schemas.openxmlformats.org/officeDocument/2006/relationships/notesSlide" Target="../notesSlides/notesSlide63.xml"/><Relationship Id="rId1" Type="http://schemas.openxmlformats.org/officeDocument/2006/relationships/slideLayout" Target="../slideLayouts/slideLayout14.xml"/><Relationship Id="rId6" Type="http://schemas.openxmlformats.org/officeDocument/2006/relationships/diagramColors" Target="../diagrams/colors56.xml"/><Relationship Id="rId5" Type="http://schemas.openxmlformats.org/officeDocument/2006/relationships/diagramQuickStyle" Target="../diagrams/quickStyle56.xml"/><Relationship Id="rId4" Type="http://schemas.openxmlformats.org/officeDocument/2006/relationships/diagramLayout" Target="../diagrams/layout56.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57.xml"/><Relationship Id="rId7" Type="http://schemas.microsoft.com/office/2007/relationships/diagramDrawing" Target="../diagrams/drawing57.xml"/><Relationship Id="rId2" Type="http://schemas.openxmlformats.org/officeDocument/2006/relationships/notesSlide" Target="../notesSlides/notesSlide64.xml"/><Relationship Id="rId1" Type="http://schemas.openxmlformats.org/officeDocument/2006/relationships/slideLayout" Target="../slideLayouts/slideLayout14.xml"/><Relationship Id="rId6" Type="http://schemas.openxmlformats.org/officeDocument/2006/relationships/diagramColors" Target="../diagrams/colors57.xml"/><Relationship Id="rId5" Type="http://schemas.openxmlformats.org/officeDocument/2006/relationships/diagramQuickStyle" Target="../diagrams/quickStyle57.xml"/><Relationship Id="rId4" Type="http://schemas.openxmlformats.org/officeDocument/2006/relationships/diagramLayout" Target="../diagrams/layout57.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58.xml"/><Relationship Id="rId7" Type="http://schemas.microsoft.com/office/2007/relationships/diagramDrawing" Target="../diagrams/drawing58.xml"/><Relationship Id="rId2" Type="http://schemas.openxmlformats.org/officeDocument/2006/relationships/notesSlide" Target="../notesSlides/notesSlide65.xml"/><Relationship Id="rId1" Type="http://schemas.openxmlformats.org/officeDocument/2006/relationships/slideLayout" Target="../slideLayouts/slideLayout14.xml"/><Relationship Id="rId6" Type="http://schemas.openxmlformats.org/officeDocument/2006/relationships/diagramColors" Target="../diagrams/colors58.xml"/><Relationship Id="rId5" Type="http://schemas.openxmlformats.org/officeDocument/2006/relationships/diagramQuickStyle" Target="../diagrams/quickStyle58.xml"/><Relationship Id="rId4" Type="http://schemas.openxmlformats.org/officeDocument/2006/relationships/diagramLayout" Target="../diagrams/layout58.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59.xml"/><Relationship Id="rId7" Type="http://schemas.microsoft.com/office/2007/relationships/diagramDrawing" Target="../diagrams/drawing59.xml"/><Relationship Id="rId2" Type="http://schemas.openxmlformats.org/officeDocument/2006/relationships/notesSlide" Target="../notesSlides/notesSlide66.xml"/><Relationship Id="rId1" Type="http://schemas.openxmlformats.org/officeDocument/2006/relationships/slideLayout" Target="../slideLayouts/slideLayout14.xml"/><Relationship Id="rId6" Type="http://schemas.openxmlformats.org/officeDocument/2006/relationships/diagramColors" Target="../diagrams/colors59.xml"/><Relationship Id="rId5" Type="http://schemas.openxmlformats.org/officeDocument/2006/relationships/diagramQuickStyle" Target="../diagrams/quickStyle59.xml"/><Relationship Id="rId4" Type="http://schemas.openxmlformats.org/officeDocument/2006/relationships/diagramLayout" Target="../diagrams/layout59.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60.xml"/><Relationship Id="rId7" Type="http://schemas.microsoft.com/office/2007/relationships/diagramDrawing" Target="../diagrams/drawing60.xml"/><Relationship Id="rId2" Type="http://schemas.openxmlformats.org/officeDocument/2006/relationships/notesSlide" Target="../notesSlides/notesSlide67.xml"/><Relationship Id="rId1" Type="http://schemas.openxmlformats.org/officeDocument/2006/relationships/slideLayout" Target="../slideLayouts/slideLayout14.xml"/><Relationship Id="rId6" Type="http://schemas.openxmlformats.org/officeDocument/2006/relationships/diagramColors" Target="../diagrams/colors60.xml"/><Relationship Id="rId5" Type="http://schemas.openxmlformats.org/officeDocument/2006/relationships/diagramQuickStyle" Target="../diagrams/quickStyle60.xml"/><Relationship Id="rId4" Type="http://schemas.openxmlformats.org/officeDocument/2006/relationships/diagramLayout" Target="../diagrams/layout60.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61.xml"/><Relationship Id="rId7" Type="http://schemas.microsoft.com/office/2007/relationships/diagramDrawing" Target="../diagrams/drawing61.xml"/><Relationship Id="rId2" Type="http://schemas.openxmlformats.org/officeDocument/2006/relationships/notesSlide" Target="../notesSlides/notesSlide68.xml"/><Relationship Id="rId1" Type="http://schemas.openxmlformats.org/officeDocument/2006/relationships/slideLayout" Target="../slideLayouts/slideLayout14.xml"/><Relationship Id="rId6" Type="http://schemas.openxmlformats.org/officeDocument/2006/relationships/diagramColors" Target="../diagrams/colors61.xml"/><Relationship Id="rId5" Type="http://schemas.openxmlformats.org/officeDocument/2006/relationships/diagramQuickStyle" Target="../diagrams/quickStyle61.xml"/><Relationship Id="rId4" Type="http://schemas.openxmlformats.org/officeDocument/2006/relationships/diagramLayout" Target="../diagrams/layout61.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62.xml"/><Relationship Id="rId7" Type="http://schemas.microsoft.com/office/2007/relationships/diagramDrawing" Target="../diagrams/drawing62.xml"/><Relationship Id="rId2" Type="http://schemas.openxmlformats.org/officeDocument/2006/relationships/notesSlide" Target="../notesSlides/notesSlide69.xml"/><Relationship Id="rId1" Type="http://schemas.openxmlformats.org/officeDocument/2006/relationships/slideLayout" Target="../slideLayouts/slideLayout14.xml"/><Relationship Id="rId6" Type="http://schemas.openxmlformats.org/officeDocument/2006/relationships/diagramColors" Target="../diagrams/colors62.xml"/><Relationship Id="rId5" Type="http://schemas.openxmlformats.org/officeDocument/2006/relationships/diagramQuickStyle" Target="../diagrams/quickStyle62.xml"/><Relationship Id="rId4" Type="http://schemas.openxmlformats.org/officeDocument/2006/relationships/diagramLayout" Target="../diagrams/layout62.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63.xml"/><Relationship Id="rId7" Type="http://schemas.microsoft.com/office/2007/relationships/diagramDrawing" Target="../diagrams/drawing63.xml"/><Relationship Id="rId2" Type="http://schemas.openxmlformats.org/officeDocument/2006/relationships/notesSlide" Target="../notesSlides/notesSlide70.xml"/><Relationship Id="rId1" Type="http://schemas.openxmlformats.org/officeDocument/2006/relationships/slideLayout" Target="../slideLayouts/slideLayout14.xml"/><Relationship Id="rId6" Type="http://schemas.openxmlformats.org/officeDocument/2006/relationships/diagramColors" Target="../diagrams/colors63.xml"/><Relationship Id="rId5" Type="http://schemas.openxmlformats.org/officeDocument/2006/relationships/diagramQuickStyle" Target="../diagrams/quickStyle63.xml"/><Relationship Id="rId4" Type="http://schemas.openxmlformats.org/officeDocument/2006/relationships/diagramLayout" Target="../diagrams/layout63.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64.xml"/><Relationship Id="rId7" Type="http://schemas.microsoft.com/office/2007/relationships/diagramDrawing" Target="../diagrams/drawing64.xml"/><Relationship Id="rId2" Type="http://schemas.openxmlformats.org/officeDocument/2006/relationships/notesSlide" Target="../notesSlides/notesSlide71.xml"/><Relationship Id="rId1" Type="http://schemas.openxmlformats.org/officeDocument/2006/relationships/slideLayout" Target="../slideLayouts/slideLayout14.xml"/><Relationship Id="rId6" Type="http://schemas.openxmlformats.org/officeDocument/2006/relationships/diagramColors" Target="../diagrams/colors64.xml"/><Relationship Id="rId5" Type="http://schemas.openxmlformats.org/officeDocument/2006/relationships/diagramQuickStyle" Target="../diagrams/quickStyle64.xml"/><Relationship Id="rId4" Type="http://schemas.openxmlformats.org/officeDocument/2006/relationships/diagramLayout" Target="../diagrams/layout64.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65.xml"/><Relationship Id="rId7" Type="http://schemas.microsoft.com/office/2007/relationships/diagramDrawing" Target="../diagrams/drawing65.xml"/><Relationship Id="rId2" Type="http://schemas.openxmlformats.org/officeDocument/2006/relationships/notesSlide" Target="../notesSlides/notesSlide72.xml"/><Relationship Id="rId1" Type="http://schemas.openxmlformats.org/officeDocument/2006/relationships/slideLayout" Target="../slideLayouts/slideLayout14.xml"/><Relationship Id="rId6" Type="http://schemas.openxmlformats.org/officeDocument/2006/relationships/diagramColors" Target="../diagrams/colors65.xml"/><Relationship Id="rId5" Type="http://schemas.openxmlformats.org/officeDocument/2006/relationships/diagramQuickStyle" Target="../diagrams/quickStyle65.xml"/><Relationship Id="rId4" Type="http://schemas.openxmlformats.org/officeDocument/2006/relationships/diagramLayout" Target="../diagrams/layout65.xml"/></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66.xml"/><Relationship Id="rId7" Type="http://schemas.microsoft.com/office/2007/relationships/diagramDrawing" Target="../diagrams/drawing66.xml"/><Relationship Id="rId2" Type="http://schemas.openxmlformats.org/officeDocument/2006/relationships/notesSlide" Target="../notesSlides/notesSlide73.xml"/><Relationship Id="rId1" Type="http://schemas.openxmlformats.org/officeDocument/2006/relationships/slideLayout" Target="../slideLayouts/slideLayout14.xml"/><Relationship Id="rId6" Type="http://schemas.openxmlformats.org/officeDocument/2006/relationships/diagramColors" Target="../diagrams/colors66.xml"/><Relationship Id="rId5" Type="http://schemas.openxmlformats.org/officeDocument/2006/relationships/diagramQuickStyle" Target="../diagrams/quickStyle66.xml"/><Relationship Id="rId4" Type="http://schemas.openxmlformats.org/officeDocument/2006/relationships/diagramLayout" Target="../diagrams/layout66.xml"/></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67.xml"/><Relationship Id="rId7" Type="http://schemas.microsoft.com/office/2007/relationships/diagramDrawing" Target="../diagrams/drawing67.xml"/><Relationship Id="rId2" Type="http://schemas.openxmlformats.org/officeDocument/2006/relationships/notesSlide" Target="../notesSlides/notesSlide74.xml"/><Relationship Id="rId1" Type="http://schemas.openxmlformats.org/officeDocument/2006/relationships/slideLayout" Target="../slideLayouts/slideLayout14.xml"/><Relationship Id="rId6" Type="http://schemas.openxmlformats.org/officeDocument/2006/relationships/diagramColors" Target="../diagrams/colors67.xml"/><Relationship Id="rId5" Type="http://schemas.openxmlformats.org/officeDocument/2006/relationships/diagramQuickStyle" Target="../diagrams/quickStyle67.xml"/><Relationship Id="rId4" Type="http://schemas.openxmlformats.org/officeDocument/2006/relationships/diagramLayout" Target="../diagrams/layout67.xml"/></Relationships>
</file>

<file path=ppt/slides/_rels/slide78.xml.rels><?xml version="1.0" encoding="UTF-8" standalone="yes"?>
<Relationships xmlns="http://schemas.openxmlformats.org/package/2006/relationships"><Relationship Id="rId3" Type="http://schemas.openxmlformats.org/officeDocument/2006/relationships/diagramData" Target="../diagrams/data68.xml"/><Relationship Id="rId7" Type="http://schemas.microsoft.com/office/2007/relationships/diagramDrawing" Target="../diagrams/drawing68.xml"/><Relationship Id="rId2" Type="http://schemas.openxmlformats.org/officeDocument/2006/relationships/notesSlide" Target="../notesSlides/notesSlide75.xml"/><Relationship Id="rId1" Type="http://schemas.openxmlformats.org/officeDocument/2006/relationships/slideLayout" Target="../slideLayouts/slideLayout14.xml"/><Relationship Id="rId6" Type="http://schemas.openxmlformats.org/officeDocument/2006/relationships/diagramColors" Target="../diagrams/colors68.xml"/><Relationship Id="rId5" Type="http://schemas.openxmlformats.org/officeDocument/2006/relationships/diagramQuickStyle" Target="../diagrams/quickStyle68.xml"/><Relationship Id="rId4" Type="http://schemas.openxmlformats.org/officeDocument/2006/relationships/diagramLayout" Target="../diagrams/layout6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
        <p:nvSpPr>
          <p:cNvPr id="3" name="Google Shape;103;p15">
            <a:extLst>
              <a:ext uri="{FF2B5EF4-FFF2-40B4-BE49-F238E27FC236}">
                <a16:creationId xmlns:a16="http://schemas.microsoft.com/office/drawing/2014/main" id="{8859A1E0-4422-C94F-E5CE-90957179AE2B}"/>
              </a:ext>
            </a:extLst>
          </p:cNvPr>
          <p:cNvSpPr txBox="1"/>
          <p:nvPr/>
        </p:nvSpPr>
        <p:spPr>
          <a:xfrm>
            <a:off x="533250" y="797688"/>
            <a:ext cx="8096400" cy="316800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 sz="2700" b="1" i="0" u="none" dirty="0">
                <a:solidFill>
                  <a:schemeClr val="bg2"/>
                </a:solidFill>
                <a:latin typeface="Arial Black"/>
                <a:ea typeface="Arial Black"/>
                <a:cs typeface="Arial Black"/>
                <a:sym typeface="Arial Black"/>
              </a:rPr>
              <a:t>UNIVERSITY INSTITUTE OF ENGINEERING</a:t>
            </a:r>
            <a:endParaRPr sz="900" dirty="0">
              <a:solidFill>
                <a:schemeClr val="bg2"/>
              </a:solidFill>
            </a:endParaRPr>
          </a:p>
          <a:p>
            <a:pPr marL="0" marR="0" lvl="0" indent="0" algn="ctr" rtl="0">
              <a:lnSpc>
                <a:spcPct val="90000"/>
              </a:lnSpc>
              <a:spcBef>
                <a:spcPts val="1120"/>
              </a:spcBef>
              <a:spcAft>
                <a:spcPts val="0"/>
              </a:spcAft>
              <a:buClr>
                <a:schemeClr val="dk1"/>
              </a:buClr>
              <a:buSzPts val="3200"/>
              <a:buFont typeface="Arial Black"/>
              <a:buNone/>
            </a:pPr>
            <a:r>
              <a:rPr lang="en" sz="2700" b="1" i="0" u="none" dirty="0">
                <a:solidFill>
                  <a:schemeClr val="bg2"/>
                </a:solidFill>
                <a:latin typeface="Arial Black"/>
                <a:ea typeface="Arial Black"/>
                <a:cs typeface="Arial Black"/>
                <a:sym typeface="Arial Black"/>
              </a:rPr>
              <a:t>COMPUTER SCIENCE ENGINEERING</a:t>
            </a:r>
            <a:endParaRPr sz="900" dirty="0">
              <a:solidFill>
                <a:schemeClr val="bg2"/>
              </a:solidFill>
            </a:endParaRPr>
          </a:p>
          <a:p>
            <a:pPr marL="0" marR="0" lvl="0" indent="0" algn="ctr" rtl="0">
              <a:lnSpc>
                <a:spcPct val="90000"/>
              </a:lnSpc>
              <a:spcBef>
                <a:spcPts val="1120"/>
              </a:spcBef>
              <a:spcAft>
                <a:spcPts val="0"/>
              </a:spcAft>
              <a:buClr>
                <a:schemeClr val="dk1"/>
              </a:buClr>
              <a:buSzPts val="2800"/>
              <a:buFont typeface="Times New Roman"/>
              <a:buNone/>
            </a:pPr>
            <a:r>
              <a:rPr lang="en" sz="2300" b="0" i="0" u="none" dirty="0">
                <a:solidFill>
                  <a:schemeClr val="bg2"/>
                </a:solidFill>
                <a:latin typeface="Times New Roman"/>
                <a:ea typeface="Times New Roman"/>
                <a:cs typeface="Times New Roman"/>
                <a:sym typeface="Times New Roman"/>
              </a:rPr>
              <a:t>Bachelor of Engineering</a:t>
            </a:r>
          </a:p>
          <a:p>
            <a:pPr marL="0" marR="0" lvl="0" indent="0" algn="ctr" rtl="0">
              <a:lnSpc>
                <a:spcPct val="90000"/>
              </a:lnSpc>
              <a:spcBef>
                <a:spcPts val="1120"/>
              </a:spcBef>
              <a:spcAft>
                <a:spcPts val="0"/>
              </a:spcAft>
              <a:buClr>
                <a:schemeClr val="dk1"/>
              </a:buClr>
              <a:buSzPts val="2800"/>
              <a:buFont typeface="Times New Roman"/>
              <a:buNone/>
            </a:pPr>
            <a:r>
              <a:rPr lang="en" sz="2300" dirty="0">
                <a:solidFill>
                  <a:schemeClr val="bg2"/>
                </a:solidFill>
                <a:latin typeface="Times New Roman"/>
                <a:cs typeface="Times New Roman"/>
                <a:sym typeface="Times New Roman"/>
              </a:rPr>
              <a:t>BE-CSE/IT (5</a:t>
            </a:r>
            <a:r>
              <a:rPr lang="en" sz="2300" baseline="30000" dirty="0">
                <a:solidFill>
                  <a:schemeClr val="bg2"/>
                </a:solidFill>
                <a:latin typeface="Times New Roman"/>
                <a:cs typeface="Times New Roman"/>
                <a:sym typeface="Times New Roman"/>
              </a:rPr>
              <a:t>th</a:t>
            </a:r>
            <a:r>
              <a:rPr lang="en" sz="2300" dirty="0">
                <a:solidFill>
                  <a:schemeClr val="bg2"/>
                </a:solidFill>
                <a:latin typeface="Times New Roman"/>
                <a:cs typeface="Times New Roman"/>
                <a:sym typeface="Times New Roman"/>
              </a:rPr>
              <a:t> Sem)</a:t>
            </a:r>
          </a:p>
          <a:p>
            <a:pPr marL="0" marR="0" lvl="0" indent="0" algn="ctr" rtl="0">
              <a:lnSpc>
                <a:spcPct val="90000"/>
              </a:lnSpc>
              <a:spcBef>
                <a:spcPts val="980"/>
              </a:spcBef>
              <a:spcAft>
                <a:spcPts val="0"/>
              </a:spcAft>
              <a:buClr>
                <a:schemeClr val="dk1"/>
              </a:buClr>
              <a:buSzPts val="2800"/>
              <a:buFont typeface="Arial"/>
              <a:buNone/>
            </a:pPr>
            <a:r>
              <a:rPr lang="en" sz="2300" b="1" dirty="0">
                <a:solidFill>
                  <a:schemeClr val="bg2"/>
                </a:solidFill>
              </a:rPr>
              <a:t>Design and Analysis of Algorithms </a:t>
            </a:r>
          </a:p>
          <a:p>
            <a:pPr marL="0" marR="0" lvl="0" indent="0" algn="ctr" rtl="0">
              <a:lnSpc>
                <a:spcPct val="90000"/>
              </a:lnSpc>
              <a:spcBef>
                <a:spcPts val="980"/>
              </a:spcBef>
              <a:spcAft>
                <a:spcPts val="0"/>
              </a:spcAft>
              <a:buClr>
                <a:schemeClr val="dk1"/>
              </a:buClr>
              <a:buSzPts val="2800"/>
              <a:buFont typeface="Arial"/>
              <a:buNone/>
            </a:pPr>
            <a:r>
              <a:rPr lang="en" sz="2300" b="1" dirty="0">
                <a:solidFill>
                  <a:schemeClr val="bg2"/>
                </a:solidFill>
                <a:latin typeface="Times New Roman"/>
                <a:ea typeface="Times New Roman"/>
                <a:cs typeface="Times New Roman"/>
                <a:sym typeface="Times New Roman"/>
              </a:rPr>
              <a:t>(23CSH-301/ITH-301)</a:t>
            </a:r>
            <a:endParaRPr sz="3200" b="1" i="0" u="none" dirty="0">
              <a:solidFill>
                <a:schemeClr val="bg2"/>
              </a:solidFill>
              <a:latin typeface="Times New Roman"/>
              <a:ea typeface="Times New Roman"/>
              <a:cs typeface="Times New Roman"/>
              <a:sym typeface="Times New Roman"/>
            </a:endParaRPr>
          </a:p>
        </p:txBody>
      </p:sp>
      <p:sp>
        <p:nvSpPr>
          <p:cNvPr id="4" name="Google Shape;99;p1">
            <a:extLst>
              <a:ext uri="{FF2B5EF4-FFF2-40B4-BE49-F238E27FC236}">
                <a16:creationId xmlns:a16="http://schemas.microsoft.com/office/drawing/2014/main" id="{F94E8BEC-F82C-FFDF-64A5-A23A14634787}"/>
              </a:ext>
            </a:extLst>
          </p:cNvPr>
          <p:cNvSpPr txBox="1"/>
          <p:nvPr/>
        </p:nvSpPr>
        <p:spPr>
          <a:xfrm>
            <a:off x="301268" y="4341085"/>
            <a:ext cx="876508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bg2"/>
                </a:solidFill>
                <a:latin typeface="Times New Roman"/>
                <a:ea typeface="Times New Roman"/>
                <a:cs typeface="Times New Roman"/>
                <a:sym typeface="Times New Roman"/>
              </a:rPr>
              <a:t>Er. Richa Dhiman (E11307)                                          richa.e11307@cumail.in</a:t>
            </a:r>
            <a:endParaRPr sz="1800" b="1" dirty="0">
              <a:solidFill>
                <a:schemeClr val="bg2"/>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dirty="0">
                <a:solidFill>
                  <a:schemeClr val="bg2"/>
                </a:solidFill>
                <a:latin typeface="Times New Roman"/>
                <a:ea typeface="Times New Roman"/>
                <a:cs typeface="Times New Roman"/>
                <a:sym typeface="Times New Roman"/>
              </a:rPr>
              <a:t>Master Subject Coordinator</a:t>
            </a:r>
            <a:endParaRPr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699486250"/>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indent="-190500">
              <a:buNone/>
            </a:pPr>
            <a:r>
              <a:rPr lang="en-US" sz="1400" dirty="0">
                <a:solidFill>
                  <a:srgbClr val="000000"/>
                </a:solidFill>
                <a:latin typeface="Times New Roman"/>
                <a:ea typeface="Times New Roman"/>
                <a:cs typeface="Times New Roman"/>
                <a:sym typeface="Times New Roman"/>
              </a:rPr>
              <a:t>    </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“To be </a:t>
            </a: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globally recognized as a Centre of Excellence for Research, Innovation, Entrepreneurship and disseminating knowledge by providing inspirational learning </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to produce professional leaders for serving the society.”</a:t>
            </a:r>
            <a:endParaRPr lang="en-US" sz="1400" dirty="0">
              <a:latin typeface="Times New Roman" panose="02020603050405020304" pitchFamily="18" charset="0"/>
              <a:ea typeface="Calibri"/>
              <a:cs typeface="Times New Roman" panose="02020603050405020304" pitchFamily="18" charset="0"/>
              <a:sym typeface="Calibri"/>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9943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ts val="1800"/>
              <a:buChar char="•"/>
            </a:pPr>
            <a:r>
              <a:rPr lang="en-US" sz="1400" b="1" dirty="0">
                <a:solidFill>
                  <a:srgbClr val="000000"/>
                </a:solidFill>
                <a:latin typeface="Times New Roman"/>
                <a:ea typeface="Times New Roman"/>
                <a:cs typeface="Times New Roman"/>
                <a:sym typeface="Times New Roman"/>
              </a:rPr>
              <a:t>M1:</a:t>
            </a:r>
            <a:r>
              <a:rPr lang="en-US" sz="1400" dirty="0">
                <a:solidFill>
                  <a:srgbClr val="000000"/>
                </a:solidFill>
                <a:latin typeface="Times New Roman"/>
                <a:ea typeface="Times New Roman"/>
                <a:cs typeface="Times New Roman"/>
                <a:sym typeface="Times New Roman"/>
              </a:rPr>
              <a:t>	</a:t>
            </a:r>
            <a:r>
              <a:rPr lang="en-US" sz="1400" b="1" dirty="0">
                <a:solidFill>
                  <a:srgbClr val="000000"/>
                </a:solidFill>
                <a:latin typeface="Times New Roman"/>
                <a:ea typeface="Times New Roman"/>
                <a:cs typeface="Times New Roman"/>
                <a:sym typeface="Times New Roman"/>
              </a:rPr>
              <a:t>Providing world class infrastructure</a:t>
            </a:r>
            <a:r>
              <a:rPr lang="en-US" sz="1400" dirty="0">
                <a:solidFill>
                  <a:srgbClr val="000000"/>
                </a:solidFill>
                <a:latin typeface="Times New Roman"/>
                <a:ea typeface="Times New Roman"/>
                <a:cs typeface="Times New Roman"/>
                <a:sym typeface="Times New Roman"/>
              </a:rPr>
              <a:t>, renowned academicians and ideal environment for Research, Innovation, Consultancy and Entrepreneurship relevant to the society.</a:t>
            </a:r>
            <a:endParaRPr lang="en-US" sz="1400" dirty="0">
              <a:latin typeface="Times New Roman"/>
              <a:ea typeface="Times New Roman"/>
              <a:cs typeface="Times New Roman"/>
              <a:sym typeface="Times New Roman"/>
            </a:endParaRPr>
          </a:p>
          <a:p>
            <a:pPr marL="342900" lvl="0" indent="-342900" algn="just" rtl="0">
              <a:lnSpc>
                <a:spcPct val="150000"/>
              </a:lnSpc>
              <a:spcBef>
                <a:spcPts val="1160"/>
              </a:spcBef>
              <a:spcAft>
                <a:spcPts val="0"/>
              </a:spcAft>
              <a:buClr>
                <a:srgbClr val="000000"/>
              </a:buClr>
              <a:buSzPts val="1800"/>
              <a:buChar char="•"/>
            </a:pPr>
            <a:r>
              <a:rPr lang="en-US" sz="1400" b="1" dirty="0">
                <a:solidFill>
                  <a:srgbClr val="000000"/>
                </a:solidFill>
                <a:latin typeface="Times New Roman"/>
                <a:ea typeface="Times New Roman"/>
                <a:cs typeface="Times New Roman"/>
                <a:sym typeface="Times New Roman"/>
              </a:rPr>
              <a:t>M2:</a:t>
            </a:r>
            <a:r>
              <a:rPr lang="en-US" sz="1400" dirty="0">
                <a:solidFill>
                  <a:srgbClr val="000000"/>
                </a:solidFill>
                <a:latin typeface="Times New Roman"/>
                <a:ea typeface="Times New Roman"/>
                <a:cs typeface="Times New Roman"/>
                <a:sym typeface="Times New Roman"/>
              </a:rPr>
              <a:t>	</a:t>
            </a:r>
            <a:r>
              <a:rPr lang="en-US" sz="1400" b="1" dirty="0">
                <a:solidFill>
                  <a:srgbClr val="000000"/>
                </a:solidFill>
                <a:latin typeface="Times New Roman"/>
                <a:ea typeface="Times New Roman"/>
                <a:cs typeface="Times New Roman"/>
                <a:sym typeface="Times New Roman"/>
              </a:rPr>
              <a:t>Offering programs &amp; courses </a:t>
            </a:r>
            <a:r>
              <a:rPr lang="en-US" sz="1400" dirty="0">
                <a:solidFill>
                  <a:srgbClr val="000000"/>
                </a:solidFill>
                <a:latin typeface="Times New Roman"/>
                <a:ea typeface="Times New Roman"/>
                <a:cs typeface="Times New Roman"/>
                <a:sym typeface="Times New Roman"/>
              </a:rPr>
              <a:t>in consonance with National policies for nation building and </a:t>
            </a:r>
            <a:r>
              <a:rPr lang="en-US" sz="1400" b="1" dirty="0">
                <a:solidFill>
                  <a:srgbClr val="000000"/>
                </a:solidFill>
                <a:latin typeface="Times New Roman"/>
                <a:ea typeface="Times New Roman"/>
                <a:cs typeface="Times New Roman"/>
                <a:sym typeface="Times New Roman"/>
              </a:rPr>
              <a:t>meeting global challenges.</a:t>
            </a:r>
            <a:endParaRPr lang="en-US" sz="1400" b="1" dirty="0">
              <a:latin typeface="Times New Roman"/>
              <a:ea typeface="Times New Roman"/>
              <a:cs typeface="Times New Roman"/>
              <a:sym typeface="Times New Roman"/>
            </a:endParaRPr>
          </a:p>
          <a:p>
            <a:pPr marL="342900" lvl="0" indent="-342900" algn="just" rtl="0">
              <a:lnSpc>
                <a:spcPct val="150000"/>
              </a:lnSpc>
              <a:spcBef>
                <a:spcPts val="1160"/>
              </a:spcBef>
              <a:spcAft>
                <a:spcPts val="0"/>
              </a:spcAft>
              <a:buClr>
                <a:srgbClr val="000000"/>
              </a:buClr>
              <a:buSzPts val="1800"/>
              <a:buChar char="•"/>
            </a:pPr>
            <a:r>
              <a:rPr lang="en-US" sz="1400" b="1" dirty="0">
                <a:solidFill>
                  <a:srgbClr val="000000"/>
                </a:solidFill>
                <a:latin typeface="Times New Roman"/>
                <a:ea typeface="Times New Roman"/>
                <a:cs typeface="Times New Roman"/>
                <a:sym typeface="Times New Roman"/>
              </a:rPr>
              <a:t>M3:</a:t>
            </a:r>
            <a:r>
              <a:rPr lang="en-US" sz="1400" dirty="0">
                <a:solidFill>
                  <a:srgbClr val="000000"/>
                </a:solidFill>
                <a:latin typeface="Times New Roman"/>
                <a:ea typeface="Times New Roman"/>
                <a:cs typeface="Times New Roman"/>
                <a:sym typeface="Times New Roman"/>
              </a:rPr>
              <a:t>	</a:t>
            </a:r>
            <a:r>
              <a:rPr lang="en-US" sz="1400" b="1" dirty="0">
                <a:solidFill>
                  <a:srgbClr val="000000"/>
                </a:solidFill>
                <a:latin typeface="Times New Roman"/>
                <a:ea typeface="Times New Roman"/>
                <a:cs typeface="Times New Roman"/>
                <a:sym typeface="Times New Roman"/>
              </a:rPr>
              <a:t>Designing Curriculum to match International standards</a:t>
            </a:r>
            <a:r>
              <a:rPr lang="en-US" sz="1400" dirty="0">
                <a:solidFill>
                  <a:srgbClr val="000000"/>
                </a:solidFill>
                <a:latin typeface="Times New Roman"/>
                <a:ea typeface="Times New Roman"/>
                <a:cs typeface="Times New Roman"/>
                <a:sym typeface="Times New Roman"/>
              </a:rPr>
              <a:t>, needs of Industry, civil 	society and for inculcation of traits of Creative Thinking and Critical Analysis as well as Human and Ethical values.</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67339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514038689"/>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ct val="100000"/>
              <a:buChar char="•"/>
            </a:pP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M4:</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Ensuring students delight by meeting their aspirations through blended learning, corporate mentoring, </a:t>
            </a: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professional grooming</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flexible curriculum and healthy atmosphere based on co-curricular and extra-curricular activities.</a:t>
            </a:r>
            <a:endParaRPr lang="en-US" sz="1400" dirty="0">
              <a:latin typeface="Times New Roman" panose="02020603050405020304" pitchFamily="18" charset="0"/>
              <a:ea typeface="Calibri"/>
              <a:cs typeface="Times New Roman" panose="02020603050405020304" pitchFamily="18" charset="0"/>
              <a:sym typeface="Calibri"/>
            </a:endParaRPr>
          </a:p>
          <a:p>
            <a:pPr marL="342900" lvl="0" indent="-342900" algn="just" rtl="0">
              <a:lnSpc>
                <a:spcPct val="150000"/>
              </a:lnSpc>
              <a:spcBef>
                <a:spcPts val="1123"/>
              </a:spcBef>
              <a:spcAft>
                <a:spcPts val="0"/>
              </a:spcAft>
              <a:buClr>
                <a:srgbClr val="000000"/>
              </a:buClr>
              <a:buSzPct val="100000"/>
              <a:buChar char="•"/>
            </a:pP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M5:</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Creating a scientific, </a:t>
            </a: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transparent and objective examination/evaluation </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system to ensure an ideal certification.</a:t>
            </a:r>
            <a:endParaRPr lang="en-US" sz="1400" dirty="0">
              <a:latin typeface="Times New Roman" panose="02020603050405020304" pitchFamily="18" charset="0"/>
              <a:ea typeface="Times New Roman"/>
              <a:cs typeface="Times New Roman" panose="02020603050405020304" pitchFamily="18" charset="0"/>
              <a:sym typeface="Times New Roman"/>
            </a:endParaRPr>
          </a:p>
          <a:p>
            <a:pPr marL="342900" lvl="0" indent="-342900" algn="just" rtl="0">
              <a:lnSpc>
                <a:spcPct val="150000"/>
              </a:lnSpc>
              <a:spcBef>
                <a:spcPts val="1123"/>
              </a:spcBef>
              <a:spcAft>
                <a:spcPts val="0"/>
              </a:spcAft>
              <a:buClr>
                <a:srgbClr val="000000"/>
              </a:buClr>
              <a:buSzPct val="100000"/>
              <a:buChar char="•"/>
            </a:pP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M6:</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Establishing strategic relationships with leading National and International corporates </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and universities for academic as well as research collaborations.</a:t>
            </a:r>
            <a:endParaRPr lang="en-US" sz="1400" dirty="0">
              <a:latin typeface="Times New Roman" panose="02020603050405020304" pitchFamily="18" charset="0"/>
              <a:cs typeface="Times New Roman" panose="02020603050405020304" pitchFamily="18" charset="0"/>
            </a:endParaRPr>
          </a:p>
          <a:p>
            <a:pPr marL="342900" lvl="0" indent="-342900" algn="just" rtl="0">
              <a:lnSpc>
                <a:spcPct val="150000"/>
              </a:lnSpc>
              <a:spcBef>
                <a:spcPts val="1123"/>
              </a:spcBef>
              <a:spcAft>
                <a:spcPts val="0"/>
              </a:spcAft>
              <a:buClr>
                <a:srgbClr val="000000"/>
              </a:buClr>
              <a:buSzPct val="100000"/>
              <a:buChar char="•"/>
            </a:pP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M7:</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Contributing for creation of healthy, vibrant and sustainable society </a:t>
            </a:r>
            <a:r>
              <a:rPr lang="en-US" sz="1400" dirty="0">
                <a:solidFill>
                  <a:srgbClr val="000000"/>
                </a:solidFill>
                <a:latin typeface="Times New Roman" panose="02020603050405020304" pitchFamily="18" charset="0"/>
                <a:ea typeface="Times New Roman"/>
                <a:cs typeface="Times New Roman" panose="02020603050405020304" pitchFamily="18" charset="0"/>
                <a:sym typeface="Times New Roman"/>
              </a:rPr>
              <a:t>by involving in Institutional Social Responsibility (ISR) activities like rural development, welfare of senior citizens, women empowerment, community service, health and hygiene awareness and environmental protection.</a:t>
            </a:r>
            <a:endParaRPr lang="en-US" sz="1400" dirty="0">
              <a:latin typeface="Times New Roman" panose="02020603050405020304" pitchFamily="18" charset="0"/>
              <a:ea typeface="Times New Roman"/>
              <a:cs typeface="Times New Roman" panose="02020603050405020304" pitchFamily="18" charset="0"/>
              <a:sym typeface="Times New Roman"/>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9311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3787768588"/>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indent="-190500">
              <a:buNone/>
            </a:pP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“To be </a:t>
            </a: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recognized as a leading Computer Science and Engineering department through effective teaching practices and excellence in research and innovation </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for creating competent professionals with ethics, values and entrepreneurial attitude to deliver service to society and to meet the current industry standards at the global level.”</a:t>
            </a:r>
            <a:endParaRPr lang="en-US" sz="1400" dirty="0">
              <a:solidFill>
                <a:schemeClr val="bg2"/>
              </a:solidFill>
              <a:latin typeface="Times New Roman" panose="02020603050405020304" pitchFamily="18" charset="0"/>
              <a:ea typeface="Calibri"/>
              <a:cs typeface="Times New Roman" panose="02020603050405020304" pitchFamily="18" charset="0"/>
              <a:sym typeface="Calibri"/>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441300968"/>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450215" lvl="0" indent="-450215" algn="just" rtl="0">
              <a:lnSpc>
                <a:spcPct val="150000"/>
              </a:lnSpc>
              <a:spcBef>
                <a:spcPts val="0"/>
              </a:spcBef>
              <a:spcAft>
                <a:spcPts val="0"/>
              </a:spcAft>
              <a:buClr>
                <a:srgbClr val="000000"/>
              </a:buClr>
              <a:buSzPts val="1700"/>
              <a:buChar char="•"/>
            </a:pP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M1:</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To </a:t>
            </a: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provide practical knowledge</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using state-of-the-art technological support for the experiential learning of our students.</a:t>
            </a:r>
          </a:p>
          <a:p>
            <a:pPr marL="450215" lvl="0" indent="-450215" algn="just" rtl="0">
              <a:lnSpc>
                <a:spcPct val="150000"/>
              </a:lnSpc>
              <a:spcBef>
                <a:spcPts val="1340"/>
              </a:spcBef>
              <a:spcAft>
                <a:spcPts val="0"/>
              </a:spcAft>
              <a:buClr>
                <a:srgbClr val="000000"/>
              </a:buClr>
              <a:buSzPts val="1700"/>
              <a:buChar char="•"/>
            </a:pP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M2:</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To </a:t>
            </a: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provide industry recommended curriculum </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and </a:t>
            </a: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transparent assessment </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for quality learning experiences.</a:t>
            </a:r>
          </a:p>
          <a:p>
            <a:pPr marL="450215" lvl="0" indent="-450215" algn="just" rtl="0">
              <a:lnSpc>
                <a:spcPct val="150000"/>
              </a:lnSpc>
              <a:spcBef>
                <a:spcPts val="1340"/>
              </a:spcBef>
              <a:spcAft>
                <a:spcPts val="0"/>
              </a:spcAft>
              <a:buClr>
                <a:srgbClr val="000000"/>
              </a:buClr>
              <a:buSzPts val="1700"/>
              <a:buChar char="•"/>
            </a:pP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M3:</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To </a:t>
            </a: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create global linkages </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for interdisciplinary collaborative learning and research.</a:t>
            </a:r>
            <a:endParaRPr lang="en-US" sz="1400" dirty="0">
              <a:solidFill>
                <a:schemeClr val="bg2"/>
              </a:solidFill>
              <a:latin typeface="Times New Roman" panose="02020603050405020304" pitchFamily="18" charset="0"/>
              <a:cs typeface="Times New Roman" panose="02020603050405020304" pitchFamily="18" charset="0"/>
            </a:endParaRPr>
          </a:p>
          <a:p>
            <a:pPr marL="457200" lvl="0" indent="-457200" algn="just" rtl="0">
              <a:lnSpc>
                <a:spcPct val="150000"/>
              </a:lnSpc>
              <a:spcBef>
                <a:spcPts val="1140"/>
              </a:spcBef>
              <a:spcAft>
                <a:spcPts val="0"/>
              </a:spcAft>
              <a:buClr>
                <a:srgbClr val="000000"/>
              </a:buClr>
              <a:buSzPts val="1700"/>
              <a:buChar char="•"/>
            </a:pP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M4:</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To </a:t>
            </a: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nurture advanced learning platform for research and innovation</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for students’ profound future growth.</a:t>
            </a:r>
            <a:endParaRPr lang="en-US" sz="1400" dirty="0">
              <a:solidFill>
                <a:schemeClr val="bg2"/>
              </a:solidFill>
              <a:latin typeface="Times New Roman" panose="02020603050405020304" pitchFamily="18" charset="0"/>
              <a:cs typeface="Times New Roman" panose="02020603050405020304" pitchFamily="18" charset="0"/>
            </a:endParaRPr>
          </a:p>
          <a:p>
            <a:pPr marL="457200" lvl="0" indent="-457200" algn="just" rtl="0">
              <a:lnSpc>
                <a:spcPct val="150000"/>
              </a:lnSpc>
              <a:spcBef>
                <a:spcPts val="1140"/>
              </a:spcBef>
              <a:spcAft>
                <a:spcPts val="0"/>
              </a:spcAft>
              <a:buClr>
                <a:srgbClr val="000000"/>
              </a:buClr>
              <a:buSzPts val="1700"/>
              <a:buChar char="•"/>
            </a:pP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M5:</a:t>
            </a:r>
            <a:r>
              <a:rPr lang="en-US" sz="1400" dirty="0">
                <a:solidFill>
                  <a:schemeClr val="bg2"/>
                </a:solidFill>
                <a:latin typeface="Times New Roman" panose="02020603050405020304" pitchFamily="18" charset="0"/>
                <a:ea typeface="Times New Roman"/>
                <a:cs typeface="Times New Roman" panose="02020603050405020304" pitchFamily="18" charset="0"/>
                <a:sym typeface="Times New Roman"/>
              </a:rPr>
              <a:t>	To </a:t>
            </a: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inculcate </a:t>
            </a:r>
            <a:r>
              <a:rPr lang="en-US" sz="1400" b="1" dirty="0">
                <a:solidFill>
                  <a:schemeClr val="bg2"/>
                </a:solidFill>
                <a:latin typeface="Times New Roman"/>
                <a:ea typeface="Times New Roman"/>
                <a:cs typeface="Times New Roman"/>
                <a:sym typeface="Times New Roman"/>
              </a:rPr>
              <a:t>leadership qualities and strong ethical values</a:t>
            </a:r>
            <a:r>
              <a:rPr lang="en-US" sz="1400" dirty="0">
                <a:solidFill>
                  <a:schemeClr val="bg2"/>
                </a:solidFill>
                <a:latin typeface="Times New Roman"/>
                <a:ea typeface="Times New Roman"/>
                <a:cs typeface="Times New Roman"/>
                <a:sym typeface="Times New Roman"/>
              </a:rPr>
              <a:t> through value based education.</a:t>
            </a: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31028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82344035"/>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438150" indent="-285750"/>
            <a:r>
              <a:rPr lang="en-US" sz="1400" b="1" dirty="0">
                <a:solidFill>
                  <a:schemeClr val="bg2"/>
                </a:solidFill>
              </a:rPr>
              <a:t>PEO1:  </a:t>
            </a:r>
            <a:r>
              <a:rPr lang="en-US" sz="1400" dirty="0">
                <a:solidFill>
                  <a:schemeClr val="bg2"/>
                </a:solidFill>
              </a:rPr>
              <a:t>Engage in successful careers in industry, academia, and public service, by applying the acquired knowledge of Science, Mathematics and Engineering, providing technical leadership for their business, profession and community. </a:t>
            </a:r>
          </a:p>
          <a:p>
            <a:pPr marL="438150" indent="-285750"/>
            <a:r>
              <a:rPr lang="en-US" sz="1400" b="1" dirty="0">
                <a:solidFill>
                  <a:schemeClr val="bg2"/>
                </a:solidFill>
              </a:rPr>
              <a:t>PEO2:  </a:t>
            </a:r>
            <a:r>
              <a:rPr lang="en-US" sz="1400" dirty="0">
                <a:solidFill>
                  <a:schemeClr val="bg2"/>
                </a:solidFill>
              </a:rPr>
              <a:t>Establish themselves as entrepreneur, work in research and development organization and pursue higher education.</a:t>
            </a:r>
          </a:p>
          <a:p>
            <a:pPr marL="438150" indent="-285750"/>
            <a:r>
              <a:rPr lang="en-US" sz="1400" b="1" dirty="0">
                <a:solidFill>
                  <a:schemeClr val="bg2"/>
                </a:solidFill>
              </a:rPr>
              <a:t>PEO3:  </a:t>
            </a:r>
            <a:r>
              <a:rPr lang="en-US" sz="1400" dirty="0">
                <a:solidFill>
                  <a:schemeClr val="bg2"/>
                </a:solidFill>
              </a:rPr>
              <a:t>Exhibit commitment and engage in lifelong learning for enhancing their professional and personal capabilities.</a:t>
            </a:r>
          </a:p>
          <a:p>
            <a:pPr marL="152400" indent="0">
              <a:buNone/>
            </a:pPr>
            <a:r>
              <a:rPr lang="en-US" sz="1400" dirty="0">
                <a:solidFill>
                  <a:schemeClr val="bg2"/>
                </a:solidFill>
              </a:rPr>
              <a:t>.</a:t>
            </a:r>
            <a:endParaRPr sz="1400" i="0" u="none"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8866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769959402"/>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PO1: Engineering knowledge: </a:t>
            </a:r>
            <a:r>
              <a:rPr lang="en-US" sz="1400" dirty="0">
                <a:solidFill>
                  <a:srgbClr val="262626"/>
                </a:solidFill>
                <a:latin typeface="Times New Roman"/>
                <a:ea typeface="Times New Roman"/>
                <a:cs typeface="Times New Roman"/>
                <a:sym typeface="Times New Roman"/>
              </a:rPr>
              <a:t>Apply the knowledge of Mathematics, Science, Engineering fundamentals and computer science fundamental and strategies which have the solution of complex computer science engineering problems.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PO2: Problem analysis: </a:t>
            </a:r>
            <a:r>
              <a:rPr lang="en-US" sz="1400" dirty="0">
                <a:solidFill>
                  <a:srgbClr val="262626"/>
                </a:solidFill>
                <a:latin typeface="Times New Roman"/>
                <a:ea typeface="Times New Roman"/>
                <a:cs typeface="Times New Roman"/>
                <a:sym typeface="Times New Roman"/>
              </a:rPr>
              <a:t>Identify, formulate, research literature, and analyze complex computer science engineering problems reaching substantiated conclusions using first principles of mathematics, natural sciences, and engineering sciences.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PO3: Design/development of solutions</a:t>
            </a:r>
            <a:r>
              <a:rPr lang="en-US" sz="1400" dirty="0">
                <a:solidFill>
                  <a:srgbClr val="262626"/>
                </a:solidFill>
                <a:latin typeface="Times New Roman"/>
                <a:ea typeface="Times New Roman"/>
                <a:cs typeface="Times New Roman"/>
                <a:sym typeface="Times New Roman"/>
              </a:rPr>
              <a:t>: Design solutions for complex database and software engineering problems and design system components or processes that meet the specified needs with appropriate considerations for the public health and safety, and the cultural, societal, and environmental considerations.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PO4: Conduct investigations of complex problems</a:t>
            </a:r>
            <a:r>
              <a:rPr lang="en-US" sz="1400" dirty="0">
                <a:solidFill>
                  <a:srgbClr val="262626"/>
                </a:solidFill>
                <a:latin typeface="Times New Roman"/>
                <a:ea typeface="Times New Roman"/>
                <a:cs typeface="Times New Roman"/>
                <a:sym typeface="Times New Roman"/>
              </a:rPr>
              <a:t>: Use research-based knowledge and research methods including design of software engineering &amp; networking based experiments, analysis and Interpretation of data, and synthesis of the information to provide valid conclusions.</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35422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1274692482"/>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PO5: Modern tool usage</a:t>
            </a:r>
            <a:r>
              <a:rPr lang="en-US" sz="1400" dirty="0">
                <a:solidFill>
                  <a:srgbClr val="262626"/>
                </a:solidFill>
                <a:latin typeface="Times New Roman"/>
                <a:ea typeface="Times New Roman"/>
                <a:cs typeface="Times New Roman"/>
                <a:sym typeface="Times New Roman"/>
              </a:rPr>
              <a:t>: Create, select, and apply appropriate techniques, resources, and modern Computer science engineering and IT tools including prediction and modeling to complex database or software engineering activities with an understanding of the limitations.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PO6: The engineer and society</a:t>
            </a:r>
            <a:r>
              <a:rPr lang="en-US" sz="1400" dirty="0">
                <a:solidFill>
                  <a:srgbClr val="262626"/>
                </a:solidFill>
                <a:latin typeface="Times New Roman"/>
                <a:ea typeface="Times New Roman"/>
                <a:cs typeface="Times New Roman"/>
                <a:sym typeface="Times New Roman"/>
              </a:rPr>
              <a:t>: Apply reasoning informed by the contextual knowledge to assess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dirty="0">
                <a:solidFill>
                  <a:srgbClr val="262626"/>
                </a:solidFill>
                <a:latin typeface="Times New Roman"/>
                <a:ea typeface="Times New Roman"/>
                <a:cs typeface="Times New Roman"/>
                <a:sym typeface="Times New Roman"/>
              </a:rPr>
              <a:t>Social, health, safety, legal and cultural issues and the consequent responsibilities relevant to the Professional Computer Science &amp; Engineering practice.</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PO7: Environment and sustainability</a:t>
            </a:r>
            <a:r>
              <a:rPr lang="en-US" sz="1400" dirty="0">
                <a:solidFill>
                  <a:srgbClr val="262626"/>
                </a:solidFill>
                <a:latin typeface="Times New Roman"/>
                <a:ea typeface="Times New Roman"/>
                <a:cs typeface="Times New Roman"/>
                <a:sym typeface="Times New Roman"/>
              </a:rPr>
              <a:t>: Understand the impact of the professional computer science and engineering solutions in social and environmental contexts, and demonstrate the knowledge of, and need for sustainable development goals.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PO8: Ethics</a:t>
            </a:r>
            <a:r>
              <a:rPr lang="en-US" sz="1400" dirty="0">
                <a:solidFill>
                  <a:srgbClr val="262626"/>
                </a:solidFill>
                <a:latin typeface="Times New Roman"/>
                <a:ea typeface="Times New Roman"/>
                <a:cs typeface="Times New Roman"/>
                <a:sym typeface="Times New Roman"/>
              </a:rPr>
              <a:t>: Apply ethical principles and commit to professional ethics and responsibilities and norms of computer science engineering practice</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19080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PO9: Individual and team work</a:t>
            </a:r>
            <a:r>
              <a:rPr lang="en-US" sz="1400" dirty="0">
                <a:solidFill>
                  <a:srgbClr val="262626"/>
                </a:solidFill>
                <a:latin typeface="Times New Roman"/>
                <a:ea typeface="Times New Roman"/>
                <a:cs typeface="Times New Roman"/>
                <a:sym typeface="Times New Roman"/>
              </a:rPr>
              <a:t>: Function effectively as an individual, and as a member or leader in diverse teams, and in multidisciplinary settings.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PO10: Communication</a:t>
            </a:r>
            <a:r>
              <a:rPr lang="en-US" sz="1400" dirty="0">
                <a:solidFill>
                  <a:srgbClr val="262626"/>
                </a:solidFill>
                <a:latin typeface="Times New Roman"/>
                <a:ea typeface="Times New Roman"/>
                <a:cs typeface="Times New Roman"/>
                <a:sym typeface="Times New Roman"/>
              </a:rPr>
              <a:t>: Communicate effectively on complex computer science engineering activities with the engineering community like CSI society at large, such as, being able to comprehend and write effective reports and design documentation, make effective presentations, and give and receive clear instructions.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PO11: Project management and finance</a:t>
            </a:r>
            <a:r>
              <a:rPr lang="en-US" sz="1400" dirty="0">
                <a:solidFill>
                  <a:srgbClr val="262626"/>
                </a:solidFill>
                <a:latin typeface="Times New Roman"/>
                <a:ea typeface="Times New Roman"/>
                <a:cs typeface="Times New Roman"/>
                <a:sym typeface="Times New Roman"/>
              </a:rPr>
              <a:t>: Demonstrate knowledge and understanding of the computer science engineering and management principles and apply these to one’s own work, as a member and leader in a team, to manage projects and in multidisciplinary environments.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Char char="•"/>
            </a:pPr>
            <a:r>
              <a:rPr lang="en-US" sz="1400" b="1" dirty="0">
                <a:solidFill>
                  <a:srgbClr val="262626"/>
                </a:solidFill>
                <a:latin typeface="Times New Roman"/>
                <a:ea typeface="Times New Roman"/>
                <a:cs typeface="Times New Roman"/>
                <a:sym typeface="Times New Roman"/>
              </a:rPr>
              <a:t>PO12: Life-long learning</a:t>
            </a:r>
            <a:r>
              <a:rPr lang="en-US" sz="1400" dirty="0">
                <a:solidFill>
                  <a:srgbClr val="262626"/>
                </a:solidFill>
                <a:latin typeface="Times New Roman"/>
                <a:ea typeface="Times New Roman"/>
                <a:cs typeface="Times New Roman"/>
                <a:sym typeface="Times New Roman"/>
              </a:rPr>
              <a:t>: Recognize the need for, and have the preparation and ability to engage in independent and life- long learning in the broadest context of computer science engineering changes.</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13134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A824B0DE-F99E-CC09-B428-97E71234C353}"/>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80EC082-1698-B2CF-92BE-16F21C10B305}"/>
              </a:ext>
            </a:extLst>
          </p:cNvPr>
          <p:cNvGraphicFramePr/>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a:extLst>
              <a:ext uri="{FF2B5EF4-FFF2-40B4-BE49-F238E27FC236}">
                <a16:creationId xmlns:a16="http://schemas.microsoft.com/office/drawing/2014/main" id="{70F0746B-008D-9E92-EDCC-DF22DD76AA66}"/>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r>
              <a:rPr lang="en-IN" sz="1400" b="1" dirty="0">
                <a:solidFill>
                  <a:schemeClr val="bg2"/>
                </a:solidFill>
                <a:latin typeface="Times New Roman" panose="02020603050405020304" pitchFamily="18" charset="0"/>
                <a:cs typeface="Times New Roman" panose="02020603050405020304" pitchFamily="18" charset="0"/>
              </a:rPr>
              <a:t>PO 13: Value inculcation:</a:t>
            </a:r>
            <a:r>
              <a:rPr lang="en-IN" sz="1400" dirty="0">
                <a:solidFill>
                  <a:schemeClr val="bg2"/>
                </a:solidFill>
                <a:latin typeface="Times New Roman" panose="02020603050405020304" pitchFamily="18" charset="0"/>
                <a:cs typeface="Times New Roman" panose="02020603050405020304" pitchFamily="18" charset="0"/>
              </a:rPr>
              <a:t> Apply ethical principles and commit to professional ethics and  responsibilities and norms of the engineering practice. </a:t>
            </a:r>
          </a:p>
          <a:p>
            <a:r>
              <a:rPr lang="en-IN" sz="1400" b="1" dirty="0">
                <a:solidFill>
                  <a:schemeClr val="bg2"/>
                </a:solidFill>
                <a:latin typeface="Times New Roman" panose="02020603050405020304" pitchFamily="18" charset="0"/>
                <a:cs typeface="Times New Roman" panose="02020603050405020304" pitchFamily="18" charset="0"/>
              </a:rPr>
              <a:t>PO 14: Autonomy, responsibility and accountability:</a:t>
            </a:r>
            <a:r>
              <a:rPr lang="en-IN" sz="1400" dirty="0">
                <a:solidFill>
                  <a:schemeClr val="bg2"/>
                </a:solidFill>
                <a:latin typeface="Times New Roman" panose="02020603050405020304" pitchFamily="18" charset="0"/>
                <a:cs typeface="Times New Roman" panose="02020603050405020304" pitchFamily="18" charset="0"/>
              </a:rPr>
              <a:t> Demonstrate knowledge and understanding of  the engineering and management principles and apply these to one’s work, as a member and leader  in a team, to manage projects and in multidisciplinary environments. </a:t>
            </a:r>
          </a:p>
          <a:p>
            <a:r>
              <a:rPr lang="en-IN" sz="1400" b="1" dirty="0">
                <a:solidFill>
                  <a:schemeClr val="bg2"/>
                </a:solidFill>
                <a:latin typeface="Times New Roman" panose="02020603050405020304" pitchFamily="18" charset="0"/>
                <a:cs typeface="Times New Roman" panose="02020603050405020304" pitchFamily="18" charset="0"/>
              </a:rPr>
              <a:t>PO 15: Environmental awareness and action:</a:t>
            </a:r>
            <a:r>
              <a:rPr lang="en-IN" sz="1400" dirty="0">
                <a:solidFill>
                  <a:schemeClr val="bg2"/>
                </a:solidFill>
                <a:latin typeface="Times New Roman" panose="02020603050405020304" pitchFamily="18" charset="0"/>
                <a:cs typeface="Times New Roman" panose="02020603050405020304" pitchFamily="18" charset="0"/>
              </a:rPr>
              <a:t> Understand the impact of the professional engineering  solutions in societal and environmental contexts, and demonstrate the knowledge of, and the need  for sustainable development. </a:t>
            </a:r>
          </a:p>
          <a:p>
            <a:r>
              <a:rPr lang="en-IN" sz="1400" b="1" dirty="0">
                <a:solidFill>
                  <a:schemeClr val="bg2"/>
                </a:solidFill>
                <a:latin typeface="Times New Roman" panose="02020603050405020304" pitchFamily="18" charset="0"/>
                <a:cs typeface="Times New Roman" panose="02020603050405020304" pitchFamily="18" charset="0"/>
              </a:rPr>
              <a:t>PO 16: Community Engagement &amp; Services. </a:t>
            </a:r>
            <a:endParaRPr lang="en-IN" sz="1400" dirty="0">
              <a:solidFill>
                <a:schemeClr val="bg2"/>
              </a:solidFill>
              <a:latin typeface="Times New Roman" panose="02020603050405020304" pitchFamily="18" charset="0"/>
              <a:cs typeface="Times New Roman" panose="02020603050405020304" pitchFamily="18" charset="0"/>
            </a:endParaRPr>
          </a:p>
          <a:p>
            <a:r>
              <a:rPr lang="en-IN" sz="1400" b="1" dirty="0">
                <a:solidFill>
                  <a:schemeClr val="bg2"/>
                </a:solidFill>
                <a:latin typeface="Times New Roman" panose="02020603050405020304" pitchFamily="18" charset="0"/>
                <a:cs typeface="Times New Roman" panose="02020603050405020304" pitchFamily="18" charset="0"/>
              </a:rPr>
              <a:t>PO 17: Empathy 17.1</a:t>
            </a:r>
            <a:r>
              <a:rPr lang="en-IN" sz="1400" dirty="0">
                <a:solidFill>
                  <a:schemeClr val="bg2"/>
                </a:solidFill>
                <a:latin typeface="Times New Roman" panose="02020603050405020304" pitchFamily="18" charset="0"/>
                <a:cs typeface="Times New Roman" panose="02020603050405020304" pitchFamily="18" charset="0"/>
              </a:rPr>
              <a:t> Identify with or understand the perspective, experiences, or points of view of  another individual or group, and to identify and understand other people’s emotions. </a:t>
            </a:r>
          </a:p>
          <a:p>
            <a:pPr marL="342900" marR="0" lvl="0" indent="-190500" algn="l" rtl="0">
              <a:spcBef>
                <a:spcPts val="480"/>
              </a:spcBef>
              <a:spcAft>
                <a:spcPts val="0"/>
              </a:spcAft>
              <a:buClr>
                <a:schemeClr val="dk1"/>
              </a:buClr>
              <a:buSzPts val="2400"/>
              <a:buFont typeface="Arial"/>
              <a:buNone/>
            </a:pPr>
            <a:endParaRPr sz="1400" b="0" i="0" u="none"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815764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1299412038"/>
              </p:ext>
            </p:extLst>
          </p:nvPr>
        </p:nvGraphicFramePr>
        <p:xfrm>
          <a:off x="2241312" y="631702"/>
          <a:ext cx="549327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7" name="Google Shape;117;p17"/>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438150" indent="-285750"/>
            <a:r>
              <a:rPr lang="en-US" sz="1400" b="1" dirty="0">
                <a:solidFill>
                  <a:schemeClr val="bg2"/>
                </a:solidFill>
                <a:latin typeface="Times New Roman" panose="02020603050405020304" pitchFamily="18" charset="0"/>
                <a:cs typeface="Times New Roman" panose="02020603050405020304" pitchFamily="18" charset="0"/>
              </a:rPr>
              <a:t>PSO1:  </a:t>
            </a:r>
            <a:r>
              <a:rPr lang="en-US" sz="1400" dirty="0">
                <a:solidFill>
                  <a:schemeClr val="bg2"/>
                </a:solidFill>
                <a:latin typeface="Times New Roman" panose="02020603050405020304" pitchFamily="18" charset="0"/>
                <a:cs typeface="Times New Roman" panose="02020603050405020304" pitchFamily="18" charset="0"/>
              </a:rPr>
              <a:t>Exhibit attitude for continuous learning and deliver efficient solutions for emerging challenges in the computation domain.</a:t>
            </a:r>
          </a:p>
          <a:p>
            <a:pPr marL="438150" indent="-285750"/>
            <a:r>
              <a:rPr lang="en-US" sz="1400" b="1" dirty="0">
                <a:solidFill>
                  <a:schemeClr val="bg2"/>
                </a:solidFill>
                <a:latin typeface="Times New Roman" panose="02020603050405020304" pitchFamily="18" charset="0"/>
                <a:cs typeface="Times New Roman" panose="02020603050405020304" pitchFamily="18" charset="0"/>
              </a:rPr>
              <a:t>PSO2:  </a:t>
            </a:r>
            <a:r>
              <a:rPr lang="en-US" sz="1400" dirty="0">
                <a:solidFill>
                  <a:schemeClr val="bg2"/>
                </a:solidFill>
                <a:latin typeface="Times New Roman" panose="02020603050405020304" pitchFamily="18" charset="0"/>
                <a:cs typeface="Times New Roman" panose="02020603050405020304" pitchFamily="18" charset="0"/>
              </a:rPr>
              <a:t>Apply standard software engineering principles to develop viable solutions for Information Technology Enabled Services (ITES).</a:t>
            </a:r>
            <a:endParaRPr lang="en-US" sz="1400" b="0" i="0" u="none" dirty="0">
              <a:solidFill>
                <a:schemeClr val="bg2"/>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885986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5379942-D42B-ADBD-9A8E-31EF24CC28E3}"/>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ACC4C74B-FA37-D3D4-992E-5D82C0A6AEFE}"/>
              </a:ext>
            </a:extLst>
          </p:cNvPr>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859A3422-BB99-8F80-F3A1-E5299C4B75E5}"/>
              </a:ext>
            </a:extLst>
          </p:cNvPr>
          <p:cNvGraphicFramePr>
            <a:graphicFrameLocks noGrp="1"/>
          </p:cNvGraphicFramePr>
          <p:nvPr/>
        </p:nvGraphicFramePr>
        <p:xfrm>
          <a:off x="676893" y="55744"/>
          <a:ext cx="8490857" cy="5015022"/>
        </p:xfrm>
        <a:graphic>
          <a:graphicData uri="http://schemas.openxmlformats.org/drawingml/2006/table">
            <a:tbl>
              <a:tblPr firstRow="1" firstCol="1" bandRow="1"/>
              <a:tblGrid>
                <a:gridCol w="1194828">
                  <a:extLst>
                    <a:ext uri="{9D8B030D-6E8A-4147-A177-3AD203B41FA5}">
                      <a16:colId xmlns:a16="http://schemas.microsoft.com/office/drawing/2014/main" val="1199928603"/>
                    </a:ext>
                  </a:extLst>
                </a:gridCol>
                <a:gridCol w="570203">
                  <a:extLst>
                    <a:ext uri="{9D8B030D-6E8A-4147-A177-3AD203B41FA5}">
                      <a16:colId xmlns:a16="http://schemas.microsoft.com/office/drawing/2014/main" val="3855413883"/>
                    </a:ext>
                  </a:extLst>
                </a:gridCol>
                <a:gridCol w="5699620">
                  <a:extLst>
                    <a:ext uri="{9D8B030D-6E8A-4147-A177-3AD203B41FA5}">
                      <a16:colId xmlns:a16="http://schemas.microsoft.com/office/drawing/2014/main" val="2658957227"/>
                    </a:ext>
                  </a:extLst>
                </a:gridCol>
                <a:gridCol w="1026206">
                  <a:extLst>
                    <a:ext uri="{9D8B030D-6E8A-4147-A177-3AD203B41FA5}">
                      <a16:colId xmlns:a16="http://schemas.microsoft.com/office/drawing/2014/main" val="4236942419"/>
                    </a:ext>
                  </a:extLst>
                </a:gridCol>
              </a:tblGrid>
              <a:tr h="318328">
                <a:tc gridSpan="4">
                  <a:txBody>
                    <a:bodyPr/>
                    <a:lstStyle/>
                    <a:p>
                      <a:pPr algn="ctr">
                        <a:lnSpc>
                          <a:spcPct val="107000"/>
                        </a:lnSpc>
                        <a:spcAft>
                          <a:spcPts val="800"/>
                        </a:spcAft>
                        <a:buNone/>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CHANDIGARH UNIVERSITY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38425962"/>
                  </a:ext>
                </a:extLst>
              </a:tr>
              <a:tr h="318328">
                <a:tc gridSpan="4">
                  <a:txBody>
                    <a:bodyPr/>
                    <a:lstStyle/>
                    <a:p>
                      <a:pPr algn="ctr">
                        <a:lnSpc>
                          <a:spcPct val="107000"/>
                        </a:lnSpc>
                        <a:spcAft>
                          <a:spcPts val="800"/>
                        </a:spcAft>
                        <a:buNone/>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Academic Calendar for the Session 2025-26</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518427962"/>
                  </a:ext>
                </a:extLst>
              </a:tr>
              <a:tr h="318328">
                <a:tc gridSpan="4">
                  <a:txBody>
                    <a:bodyPr/>
                    <a:lstStyle/>
                    <a:p>
                      <a:pPr algn="ctr">
                        <a:lnSpc>
                          <a:spcPct val="107000"/>
                        </a:lnSpc>
                        <a:spcAft>
                          <a:spcPts val="800"/>
                        </a:spcAft>
                        <a:buNone/>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ODD SEMESTER: JUL-DEC 2025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04688443"/>
                  </a:ext>
                </a:extLst>
              </a:tr>
              <a:tr h="257170">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Category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7377621"/>
                  </a:ext>
                </a:extLst>
              </a:tr>
              <a:tr h="526291">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01.07.2025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Tue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Registration 2nd Year onwards Students [All Programs] for ODD Semester [Session: 2025-26] [01.07.2025 to 14.07.2025]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University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2385331"/>
                  </a:ext>
                </a:extLst>
              </a:tr>
              <a:tr h="521143">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15.07.2025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Tue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Odd Semester For 2nd Year and 4th Year [All Programs] Except MBA 2nd Year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8825684"/>
                  </a:ext>
                </a:extLst>
              </a:tr>
              <a:tr h="513442">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16.07.2025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Odd Semester For 3rd Year and 5th Year [All Programs]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8314346"/>
                  </a:ext>
                </a:extLst>
              </a:tr>
              <a:tr h="693965">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23.07.2025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Orientation &amp; Induction 1st Year [All Programs] Batch I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[23.07.2025 to 29.07.2025]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90987301"/>
                  </a:ext>
                </a:extLst>
              </a:tr>
              <a:tr h="513442">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24.07.2025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Thu</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Odd Semester-1st Year [All Programs] Batch I</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52552784"/>
                  </a:ext>
                </a:extLst>
              </a:tr>
              <a:tr h="513442">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24.07.2025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Thu</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Odd Semester MBA 2nd Year [USB &amp; MBA APEX]</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00822275"/>
                  </a:ext>
                </a:extLst>
              </a:tr>
              <a:tr h="521143">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26.07.2025</a:t>
                      </a:r>
                      <a:r>
                        <a:rPr lang="en-IN" sz="1600" b="1" baseline="30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Sat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 Day -  1st Year [All Programs] Batch I &amp; MBA 2nd Year [USB &amp; MBA APEX]</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45118858"/>
                  </a:ext>
                </a:extLst>
              </a:tr>
            </a:tbl>
          </a:graphicData>
        </a:graphic>
      </p:graphicFrame>
      <p:sp>
        <p:nvSpPr>
          <p:cNvPr id="4" name="TextBox 3"/>
          <p:cNvSpPr txBox="1"/>
          <p:nvPr/>
        </p:nvSpPr>
        <p:spPr>
          <a:xfrm>
            <a:off x="8709003" y="85987"/>
            <a:ext cx="383438" cy="307777"/>
          </a:xfrm>
          <a:prstGeom prst="rect">
            <a:avLst/>
          </a:prstGeom>
          <a:noFill/>
        </p:spPr>
        <p:txBody>
          <a:bodyPr wrap="none" rtlCol="0">
            <a:spAutoFit/>
          </a:bodyPr>
          <a:lstStyle/>
          <a:p>
            <a:r>
              <a:rPr lang="en-IN" dirty="0"/>
              <a:t>11</a:t>
            </a:r>
          </a:p>
        </p:txBody>
      </p:sp>
    </p:spTree>
    <p:extLst>
      <p:ext uri="{BB962C8B-B14F-4D97-AF65-F5344CB8AC3E}">
        <p14:creationId xmlns:p14="http://schemas.microsoft.com/office/powerpoint/2010/main" val="3852726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D1DDEEE0-910E-3E0E-B437-81BB88E42DA7}"/>
            </a:ext>
          </a:extLst>
        </p:cNvPr>
        <p:cNvGrpSpPr/>
        <p:nvPr/>
      </p:nvGrpSpPr>
      <p:grpSpPr>
        <a:xfrm>
          <a:off x="0" y="0"/>
          <a:ext cx="0" cy="0"/>
          <a:chOff x="0" y="0"/>
          <a:chExt cx="0" cy="0"/>
        </a:xfrm>
      </p:grpSpPr>
      <p:grpSp>
        <p:nvGrpSpPr>
          <p:cNvPr id="218" name="Google Shape;218;p14">
            <a:extLst>
              <a:ext uri="{FF2B5EF4-FFF2-40B4-BE49-F238E27FC236}">
                <a16:creationId xmlns:a16="http://schemas.microsoft.com/office/drawing/2014/main" id="{3226736F-6A8D-12B0-851E-A288154D86FD}"/>
              </a:ext>
            </a:extLst>
          </p:cNvPr>
          <p:cNvGrpSpPr/>
          <p:nvPr/>
        </p:nvGrpSpPr>
        <p:grpSpPr>
          <a:xfrm>
            <a:off x="1657493" y="110025"/>
            <a:ext cx="5994017" cy="961077"/>
            <a:chOff x="0" y="-516477"/>
            <a:chExt cx="5994017" cy="961077"/>
          </a:xfrm>
          <a:noFill/>
        </p:grpSpPr>
        <p:sp>
          <p:nvSpPr>
            <p:cNvPr id="219" name="Google Shape;219;p14">
              <a:extLst>
                <a:ext uri="{FF2B5EF4-FFF2-40B4-BE49-F238E27FC236}">
                  <a16:creationId xmlns:a16="http://schemas.microsoft.com/office/drawing/2014/main" id="{01993774-A149-E62C-1420-B77540FA5F6E}"/>
                </a:ext>
              </a:extLst>
            </p:cNvPr>
            <p:cNvSpPr/>
            <p:nvPr/>
          </p:nvSpPr>
          <p:spPr>
            <a:xfrm>
              <a:off x="0" y="0"/>
              <a:ext cx="5994017"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a:extLst>
                <a:ext uri="{FF2B5EF4-FFF2-40B4-BE49-F238E27FC236}">
                  <a16:creationId xmlns:a16="http://schemas.microsoft.com/office/drawing/2014/main" id="{45CCCCAA-8C35-5EF2-1C31-A1C229A44549}"/>
                </a:ext>
              </a:extLst>
            </p:cNvPr>
            <p:cNvSpPr txBox="1"/>
            <p:nvPr/>
          </p:nvSpPr>
          <p:spPr>
            <a:xfrm>
              <a:off x="0" y="-516477"/>
              <a:ext cx="5950609"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sz="1900" b="0" i="0" u="none" strike="noStrike" cap="none" dirty="0">
                <a:solidFill>
                  <a:schemeClr val="dk1"/>
                </a:solidFill>
                <a:latin typeface="Arial"/>
                <a:ea typeface="Arial"/>
                <a:cs typeface="Arial"/>
                <a:sym typeface="Arial"/>
              </a:endParaRPr>
            </a:p>
          </p:txBody>
        </p:sp>
      </p:grpSp>
      <p:graphicFrame>
        <p:nvGraphicFramePr>
          <p:cNvPr id="3" name="Table 2">
            <a:extLst>
              <a:ext uri="{FF2B5EF4-FFF2-40B4-BE49-F238E27FC236}">
                <a16:creationId xmlns:a16="http://schemas.microsoft.com/office/drawing/2014/main" id="{0E094231-7155-CA40-C131-271E092AE71F}"/>
              </a:ext>
            </a:extLst>
          </p:cNvPr>
          <p:cNvGraphicFramePr>
            <a:graphicFrameLocks noGrp="1"/>
          </p:cNvGraphicFramePr>
          <p:nvPr/>
        </p:nvGraphicFramePr>
        <p:xfrm>
          <a:off x="693419" y="26587"/>
          <a:ext cx="8377101" cy="5127562"/>
        </p:xfrm>
        <a:graphic>
          <a:graphicData uri="http://schemas.openxmlformats.org/drawingml/2006/table">
            <a:tbl>
              <a:tblPr firstRow="1" firstCol="1" bandRow="1"/>
              <a:tblGrid>
                <a:gridCol w="1065038">
                  <a:extLst>
                    <a:ext uri="{9D8B030D-6E8A-4147-A177-3AD203B41FA5}">
                      <a16:colId xmlns:a16="http://schemas.microsoft.com/office/drawing/2014/main" val="2717252150"/>
                    </a:ext>
                  </a:extLst>
                </a:gridCol>
                <a:gridCol w="571456">
                  <a:extLst>
                    <a:ext uri="{9D8B030D-6E8A-4147-A177-3AD203B41FA5}">
                      <a16:colId xmlns:a16="http://schemas.microsoft.com/office/drawing/2014/main" val="1256234615"/>
                    </a:ext>
                  </a:extLst>
                </a:gridCol>
                <a:gridCol w="5712147">
                  <a:extLst>
                    <a:ext uri="{9D8B030D-6E8A-4147-A177-3AD203B41FA5}">
                      <a16:colId xmlns:a16="http://schemas.microsoft.com/office/drawing/2014/main" val="1668934223"/>
                    </a:ext>
                  </a:extLst>
                </a:gridCol>
                <a:gridCol w="1028460">
                  <a:extLst>
                    <a:ext uri="{9D8B030D-6E8A-4147-A177-3AD203B41FA5}">
                      <a16:colId xmlns:a16="http://schemas.microsoft.com/office/drawing/2014/main" val="2612768570"/>
                    </a:ext>
                  </a:extLst>
                </a:gridCol>
              </a:tblGrid>
              <a:tr h="199144">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CHANDIGARH UNIVERSITY</a:t>
                      </a:r>
                      <a:endParaRPr lang="en-IN" sz="12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73331865"/>
                  </a:ext>
                </a:extLst>
              </a:tr>
              <a:tr h="192120">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Academic Calendar for the Session 2025-26 </a:t>
                      </a:r>
                      <a:endParaRPr lang="en-IN" sz="12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6268241"/>
                  </a:ext>
                </a:extLst>
              </a:tr>
              <a:tr h="192120">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ODD SEMESTER: JUL-DEC 2025 </a:t>
                      </a:r>
                      <a:endParaRPr lang="en-IN" sz="12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19120922"/>
                  </a:ext>
                </a:extLst>
              </a:tr>
              <a:tr h="357178">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Date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Day</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Activity</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Calibri" panose="020F0502020204030204" pitchFamily="34" charset="0"/>
                          <a:cs typeface="Calibri" panose="020F0502020204030204" pitchFamily="34" charset="0"/>
                        </a:rPr>
                        <a:t>Category</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52588"/>
                  </a:ext>
                </a:extLst>
              </a:tr>
              <a:tr h="608065">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25.08.2025</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Orientation &amp; Induction 1st Year [All Programs] Batch II </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[25.08.2025 to 27.08.2025]</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798488"/>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26.08.2025</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Tue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Odd Semester 1st Year [All Programs] Batch II</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9965062"/>
                  </a:ext>
                </a:extLst>
              </a:tr>
              <a:tr h="667241">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29.08.2025</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MST 01 [1st Hourly Test] 2nd Year Onwards [All Programs]  </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[29.08.2025 to 02.09.2025]</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0745475"/>
                  </a:ext>
                </a:extLst>
              </a:tr>
              <a:tr h="608065">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29.08.2025</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MST 01 [1st Hourly Test] 1st Year [All Programs] Batch I </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[29.08.2025 to 02.09.2025]</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192660"/>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20.09.2025</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Sat</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Fresher’s Party-2025 Intake [All Programs] </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1996612"/>
                  </a:ext>
                </a:extLst>
              </a:tr>
              <a:tr h="507089">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25.09.2025</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Thu</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Orientation &amp; Induction [International Students] 1st Year [All Programs]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2709618"/>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26.09.2025</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Tech Fest [</a:t>
                      </a:r>
                      <a:r>
                        <a:rPr lang="en-I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TechInvent</a:t>
                      </a: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2025 [26.09.2025 to 27.09.2025]</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Co-Curr.</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23051000"/>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29.09.2025</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Practical MST All Years [All Programs] [29.09.2025 to 03.10.2025]</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73112547"/>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29.09.2025</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Global Education Submit 2025 [29.09.2025 to 01.10.2025] </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OIA, Univ.</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91569229"/>
                  </a:ext>
                </a:extLst>
              </a:tr>
            </a:tbl>
          </a:graphicData>
        </a:graphic>
      </p:graphicFrame>
      <p:sp>
        <p:nvSpPr>
          <p:cNvPr id="6" name="TextBox 5"/>
          <p:cNvSpPr txBox="1"/>
          <p:nvPr/>
        </p:nvSpPr>
        <p:spPr>
          <a:xfrm>
            <a:off x="8709003" y="85987"/>
            <a:ext cx="383438" cy="307777"/>
          </a:xfrm>
          <a:prstGeom prst="rect">
            <a:avLst/>
          </a:prstGeom>
          <a:solidFill>
            <a:schemeClr val="bg1"/>
          </a:solidFill>
        </p:spPr>
        <p:txBody>
          <a:bodyPr wrap="none" rtlCol="0">
            <a:spAutoFit/>
          </a:bodyPr>
          <a:lstStyle/>
          <a:p>
            <a:r>
              <a:rPr lang="en-IN" dirty="0"/>
              <a:t>12</a:t>
            </a:r>
          </a:p>
        </p:txBody>
      </p:sp>
    </p:spTree>
    <p:extLst>
      <p:ext uri="{BB962C8B-B14F-4D97-AF65-F5344CB8AC3E}">
        <p14:creationId xmlns:p14="http://schemas.microsoft.com/office/powerpoint/2010/main" val="4083977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60E3EA08-2591-DCF5-81F9-31A3887DF987}"/>
            </a:ext>
          </a:extLst>
        </p:cNvPr>
        <p:cNvGrpSpPr/>
        <p:nvPr/>
      </p:nvGrpSpPr>
      <p:grpSpPr>
        <a:xfrm>
          <a:off x="0" y="0"/>
          <a:ext cx="0" cy="0"/>
          <a:chOff x="0" y="0"/>
          <a:chExt cx="0" cy="0"/>
        </a:xfrm>
      </p:grpSpPr>
      <p:grpSp>
        <p:nvGrpSpPr>
          <p:cNvPr id="218" name="Google Shape;218;p14">
            <a:extLst>
              <a:ext uri="{FF2B5EF4-FFF2-40B4-BE49-F238E27FC236}">
                <a16:creationId xmlns:a16="http://schemas.microsoft.com/office/drawing/2014/main" id="{02E522B1-28FC-4FC4-88F4-A711FD95ECAE}"/>
              </a:ext>
            </a:extLst>
          </p:cNvPr>
          <p:cNvGrpSpPr/>
          <p:nvPr/>
        </p:nvGrpSpPr>
        <p:grpSpPr>
          <a:xfrm>
            <a:off x="1657493" y="110025"/>
            <a:ext cx="5994017" cy="961077"/>
            <a:chOff x="0" y="-516477"/>
            <a:chExt cx="5994017" cy="961077"/>
          </a:xfrm>
          <a:noFill/>
        </p:grpSpPr>
        <p:sp>
          <p:nvSpPr>
            <p:cNvPr id="219" name="Google Shape;219;p14">
              <a:extLst>
                <a:ext uri="{FF2B5EF4-FFF2-40B4-BE49-F238E27FC236}">
                  <a16:creationId xmlns:a16="http://schemas.microsoft.com/office/drawing/2014/main" id="{CA9E1061-ABA7-EF04-F150-F32ADA9D964F}"/>
                </a:ext>
              </a:extLst>
            </p:cNvPr>
            <p:cNvSpPr/>
            <p:nvPr/>
          </p:nvSpPr>
          <p:spPr>
            <a:xfrm>
              <a:off x="0" y="0"/>
              <a:ext cx="5994017"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a:extLst>
                <a:ext uri="{FF2B5EF4-FFF2-40B4-BE49-F238E27FC236}">
                  <a16:creationId xmlns:a16="http://schemas.microsoft.com/office/drawing/2014/main" id="{4299C8F9-66FD-B000-CA76-C67F417C690E}"/>
                </a:ext>
              </a:extLst>
            </p:cNvPr>
            <p:cNvSpPr txBox="1"/>
            <p:nvPr/>
          </p:nvSpPr>
          <p:spPr>
            <a:xfrm>
              <a:off x="0" y="-516477"/>
              <a:ext cx="5950609"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sz="1900" b="0" i="0" u="none" strike="noStrike" cap="none" dirty="0">
                <a:solidFill>
                  <a:schemeClr val="dk1"/>
                </a:solidFill>
                <a:latin typeface="Arial"/>
                <a:ea typeface="Arial"/>
                <a:cs typeface="Arial"/>
                <a:sym typeface="Arial"/>
              </a:endParaRPr>
            </a:p>
          </p:txBody>
        </p:sp>
      </p:grpSp>
      <p:graphicFrame>
        <p:nvGraphicFramePr>
          <p:cNvPr id="3" name="Table 2">
            <a:extLst>
              <a:ext uri="{FF2B5EF4-FFF2-40B4-BE49-F238E27FC236}">
                <a16:creationId xmlns:a16="http://schemas.microsoft.com/office/drawing/2014/main" id="{112AB60A-0C24-1E5A-C9B6-38F06F570747}"/>
              </a:ext>
            </a:extLst>
          </p:cNvPr>
          <p:cNvGraphicFramePr>
            <a:graphicFrameLocks noGrp="1"/>
          </p:cNvGraphicFramePr>
          <p:nvPr/>
        </p:nvGraphicFramePr>
        <p:xfrm>
          <a:off x="688769" y="26587"/>
          <a:ext cx="8455231" cy="5065824"/>
        </p:xfrm>
        <a:graphic>
          <a:graphicData uri="http://schemas.openxmlformats.org/drawingml/2006/table">
            <a:tbl>
              <a:tblPr firstRow="1" firstCol="1" bandRow="1"/>
              <a:tblGrid>
                <a:gridCol w="1074972">
                  <a:extLst>
                    <a:ext uri="{9D8B030D-6E8A-4147-A177-3AD203B41FA5}">
                      <a16:colId xmlns:a16="http://schemas.microsoft.com/office/drawing/2014/main" val="2717252150"/>
                    </a:ext>
                  </a:extLst>
                </a:gridCol>
                <a:gridCol w="576785">
                  <a:extLst>
                    <a:ext uri="{9D8B030D-6E8A-4147-A177-3AD203B41FA5}">
                      <a16:colId xmlns:a16="http://schemas.microsoft.com/office/drawing/2014/main" val="1256234615"/>
                    </a:ext>
                  </a:extLst>
                </a:gridCol>
                <a:gridCol w="5765421">
                  <a:extLst>
                    <a:ext uri="{9D8B030D-6E8A-4147-A177-3AD203B41FA5}">
                      <a16:colId xmlns:a16="http://schemas.microsoft.com/office/drawing/2014/main" val="1668934223"/>
                    </a:ext>
                  </a:extLst>
                </a:gridCol>
                <a:gridCol w="1038053">
                  <a:extLst>
                    <a:ext uri="{9D8B030D-6E8A-4147-A177-3AD203B41FA5}">
                      <a16:colId xmlns:a16="http://schemas.microsoft.com/office/drawing/2014/main" val="2612768570"/>
                    </a:ext>
                  </a:extLst>
                </a:gridCol>
              </a:tblGrid>
              <a:tr h="199144">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CHANDIGARH UNIVERSITY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73331865"/>
                  </a:ext>
                </a:extLst>
              </a:tr>
              <a:tr h="192120">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Academic Calendar for the Session 2025-26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6268241"/>
                  </a:ext>
                </a:extLst>
              </a:tr>
              <a:tr h="192120">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ODD SEMESTER: JUL-DEC 2025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19120922"/>
                  </a:ext>
                </a:extLst>
              </a:tr>
              <a:tr h="357178">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Category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52588"/>
                  </a:ext>
                </a:extLst>
              </a:tr>
              <a:tr h="608065">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06.10.2025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MST 02 [2nd Hourly Test] All Years [All Programs] [06.10.2025 to 10.10.2025]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798488"/>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11.10.2025</a:t>
                      </a:r>
                      <a:r>
                        <a:rPr lang="en-IN" sz="1600" b="1" baseline="300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Sat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 Day - All Years [All Programs]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9965062"/>
                  </a:ext>
                </a:extLst>
              </a:tr>
              <a:tr h="667241">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17.10.2025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Diwali Extravaganza 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Co-Curr.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0745475"/>
                  </a:ext>
                </a:extLst>
              </a:tr>
              <a:tr h="608065">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20.10.2025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Diwali Break for Students [20.10.2025 to 22.10.2025]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University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192660"/>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23.10.2025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Thu</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IN" sz="16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Shabad</a:t>
                      </a: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Sangram National Literary Fest 2025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1996612"/>
                  </a:ext>
                </a:extLst>
              </a:tr>
              <a:tr h="507089">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27.10.2025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Mon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Law Conference/Conclave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UILS, Univ.</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2709618"/>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07.11.2025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CU International Folklore Festival 2025 [07.11.2025 to 08.11.2025] </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Extra-Curr.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23051000"/>
                  </a:ext>
                </a:extLst>
              </a:tr>
              <a:tr h="357178">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    12.11.2025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Last Teaching Day - All Years [All Programs]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73112547"/>
                  </a:ext>
                </a:extLst>
              </a:tr>
            </a:tbl>
          </a:graphicData>
        </a:graphic>
      </p:graphicFrame>
      <p:sp>
        <p:nvSpPr>
          <p:cNvPr id="6" name="TextBox 5"/>
          <p:cNvSpPr txBox="1"/>
          <p:nvPr/>
        </p:nvSpPr>
        <p:spPr>
          <a:xfrm>
            <a:off x="8709003" y="85987"/>
            <a:ext cx="383438" cy="307777"/>
          </a:xfrm>
          <a:prstGeom prst="rect">
            <a:avLst/>
          </a:prstGeom>
          <a:solidFill>
            <a:schemeClr val="bg1"/>
          </a:solidFill>
        </p:spPr>
        <p:txBody>
          <a:bodyPr wrap="none" rtlCol="0">
            <a:spAutoFit/>
          </a:bodyPr>
          <a:lstStyle/>
          <a:p>
            <a:r>
              <a:rPr lang="en-IN" dirty="0"/>
              <a:t>13</a:t>
            </a:r>
          </a:p>
        </p:txBody>
      </p:sp>
    </p:spTree>
    <p:extLst>
      <p:ext uri="{BB962C8B-B14F-4D97-AF65-F5344CB8AC3E}">
        <p14:creationId xmlns:p14="http://schemas.microsoft.com/office/powerpoint/2010/main" val="3393633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a:extLst>
            <a:ext uri="{FF2B5EF4-FFF2-40B4-BE49-F238E27FC236}">
              <a16:creationId xmlns:a16="http://schemas.microsoft.com/office/drawing/2014/main" id="{5AA5D7C3-6BC9-C4AD-30CA-20B6E6237C5E}"/>
            </a:ext>
          </a:extLst>
        </p:cNvPr>
        <p:cNvGrpSpPr/>
        <p:nvPr/>
      </p:nvGrpSpPr>
      <p:grpSpPr>
        <a:xfrm>
          <a:off x="0" y="0"/>
          <a:ext cx="0" cy="0"/>
          <a:chOff x="0" y="0"/>
          <a:chExt cx="0" cy="0"/>
        </a:xfrm>
      </p:grpSpPr>
      <p:grpSp>
        <p:nvGrpSpPr>
          <p:cNvPr id="218" name="Google Shape;218;p14">
            <a:extLst>
              <a:ext uri="{FF2B5EF4-FFF2-40B4-BE49-F238E27FC236}">
                <a16:creationId xmlns:a16="http://schemas.microsoft.com/office/drawing/2014/main" id="{2AB8A1B5-E6C8-AF1B-9E3B-FC6E103DBDB0}"/>
              </a:ext>
            </a:extLst>
          </p:cNvPr>
          <p:cNvGrpSpPr/>
          <p:nvPr/>
        </p:nvGrpSpPr>
        <p:grpSpPr>
          <a:xfrm>
            <a:off x="1657493" y="110025"/>
            <a:ext cx="5994017" cy="961077"/>
            <a:chOff x="0" y="-516477"/>
            <a:chExt cx="5994017" cy="961077"/>
          </a:xfrm>
          <a:noFill/>
        </p:grpSpPr>
        <p:sp>
          <p:nvSpPr>
            <p:cNvPr id="219" name="Google Shape;219;p14">
              <a:extLst>
                <a:ext uri="{FF2B5EF4-FFF2-40B4-BE49-F238E27FC236}">
                  <a16:creationId xmlns:a16="http://schemas.microsoft.com/office/drawing/2014/main" id="{B1094AA9-8556-8895-48B2-3BBCA1AD21F5}"/>
                </a:ext>
              </a:extLst>
            </p:cNvPr>
            <p:cNvSpPr/>
            <p:nvPr/>
          </p:nvSpPr>
          <p:spPr>
            <a:xfrm>
              <a:off x="0" y="0"/>
              <a:ext cx="5994017"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a:extLst>
                <a:ext uri="{FF2B5EF4-FFF2-40B4-BE49-F238E27FC236}">
                  <a16:creationId xmlns:a16="http://schemas.microsoft.com/office/drawing/2014/main" id="{A60C716B-2E0C-FD7B-2B23-2CAA5B9CB86B}"/>
                </a:ext>
              </a:extLst>
            </p:cNvPr>
            <p:cNvSpPr txBox="1"/>
            <p:nvPr/>
          </p:nvSpPr>
          <p:spPr>
            <a:xfrm>
              <a:off x="0" y="-516477"/>
              <a:ext cx="5950609"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endParaRPr sz="1900" b="0" i="0" u="none" strike="noStrike" cap="none" dirty="0">
                <a:solidFill>
                  <a:schemeClr val="dk1"/>
                </a:solidFill>
                <a:latin typeface="Arial"/>
                <a:ea typeface="Arial"/>
                <a:cs typeface="Arial"/>
                <a:sym typeface="Arial"/>
              </a:endParaRPr>
            </a:p>
          </p:txBody>
        </p:sp>
      </p:grpSp>
      <p:graphicFrame>
        <p:nvGraphicFramePr>
          <p:cNvPr id="3" name="Table 2">
            <a:extLst>
              <a:ext uri="{FF2B5EF4-FFF2-40B4-BE49-F238E27FC236}">
                <a16:creationId xmlns:a16="http://schemas.microsoft.com/office/drawing/2014/main" id="{295FCD33-A599-D019-DDC7-F89B2A67DCF7}"/>
              </a:ext>
            </a:extLst>
          </p:cNvPr>
          <p:cNvGraphicFramePr>
            <a:graphicFrameLocks noGrp="1"/>
          </p:cNvGraphicFramePr>
          <p:nvPr/>
        </p:nvGraphicFramePr>
        <p:xfrm>
          <a:off x="724395" y="26587"/>
          <a:ext cx="8346126" cy="5020059"/>
        </p:xfrm>
        <a:graphic>
          <a:graphicData uri="http://schemas.openxmlformats.org/drawingml/2006/table">
            <a:tbl>
              <a:tblPr firstRow="1" firstCol="1" bandRow="1"/>
              <a:tblGrid>
                <a:gridCol w="1061100">
                  <a:extLst>
                    <a:ext uri="{9D8B030D-6E8A-4147-A177-3AD203B41FA5}">
                      <a16:colId xmlns:a16="http://schemas.microsoft.com/office/drawing/2014/main" val="2717252150"/>
                    </a:ext>
                  </a:extLst>
                </a:gridCol>
                <a:gridCol w="569343">
                  <a:extLst>
                    <a:ext uri="{9D8B030D-6E8A-4147-A177-3AD203B41FA5}">
                      <a16:colId xmlns:a16="http://schemas.microsoft.com/office/drawing/2014/main" val="1256234615"/>
                    </a:ext>
                  </a:extLst>
                </a:gridCol>
                <a:gridCol w="5691026">
                  <a:extLst>
                    <a:ext uri="{9D8B030D-6E8A-4147-A177-3AD203B41FA5}">
                      <a16:colId xmlns:a16="http://schemas.microsoft.com/office/drawing/2014/main" val="1668934223"/>
                    </a:ext>
                  </a:extLst>
                </a:gridCol>
                <a:gridCol w="1024657">
                  <a:extLst>
                    <a:ext uri="{9D8B030D-6E8A-4147-A177-3AD203B41FA5}">
                      <a16:colId xmlns:a16="http://schemas.microsoft.com/office/drawing/2014/main" val="2612768570"/>
                    </a:ext>
                  </a:extLst>
                </a:gridCol>
              </a:tblGrid>
              <a:tr h="199144">
                <a:tc gridSpan="4">
                  <a:txBody>
                    <a:bodyPr/>
                    <a:lstStyle/>
                    <a:p>
                      <a:pPr algn="ctr">
                        <a:lnSpc>
                          <a:spcPct val="107000"/>
                        </a:lnSpc>
                        <a:spcAft>
                          <a:spcPts val="800"/>
                        </a:spcAft>
                        <a:buNone/>
                      </a:pPr>
                      <a:r>
                        <a:rPr lang="en-IN" sz="12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CHANDIGARH UNIVERSITY</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73331865"/>
                  </a:ext>
                </a:extLst>
              </a:tr>
              <a:tr h="192120">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Academic Calendar for the Session 2025-26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6268241"/>
                  </a:ext>
                </a:extLst>
              </a:tr>
              <a:tr h="192120">
                <a:tc gridSpan="4">
                  <a:txBody>
                    <a:bodyPr/>
                    <a:lstStyle/>
                    <a:p>
                      <a:pPr algn="ctr">
                        <a:lnSpc>
                          <a:spcPct val="107000"/>
                        </a:lnSpc>
                        <a:spcAft>
                          <a:spcPts val="800"/>
                        </a:spcAft>
                        <a:buNone/>
                      </a:pPr>
                      <a:r>
                        <a:rPr lang="en-IN" sz="12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ODD SEMESTER: JUL-DEC 2025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19120922"/>
                  </a:ext>
                </a:extLst>
              </a:tr>
              <a:tr h="357178">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Activity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IN" sz="16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Category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56083" marR="5608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4152588"/>
                  </a:ext>
                </a:extLst>
              </a:tr>
              <a:tr h="608065">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13.11.2025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Thu</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 Sem. Practical Exam-Reg. &amp; Reappear-All Years [All Programs]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End-Term Evaluation for Projects [Evaluation Panel]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[13.11.2025 to 18.11.2025]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1798488"/>
                  </a:ext>
                </a:extLst>
              </a:tr>
              <a:tr h="357178">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19.11.2025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 Sem. Theory Exams-Regular &amp; Reappear-All Years [All Programs] [19.11.2025 to 11.12.2025]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19965062"/>
                  </a:ext>
                </a:extLst>
              </a:tr>
              <a:tr h="462934">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11.12.2025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Thu</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End of Odd Semester - All Years [All Programs]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Academics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0745475"/>
                  </a:ext>
                </a:extLst>
              </a:tr>
              <a:tr h="375557">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17.12.2025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Convocation Week [17.12.2025 to 20.12.2025]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DSW, Univ.</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192660"/>
                  </a:ext>
                </a:extLst>
              </a:tr>
              <a:tr h="345475">
                <a:tc>
                  <a:txBody>
                    <a:bodyPr/>
                    <a:lstStyle/>
                    <a:p>
                      <a:pPr algn="ct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24.12.2025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Wed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Start of Registration for Even Semester-All Years [All Programs]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[24.12.2025 to 03.01.2026]</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University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11996612"/>
                  </a:ext>
                </a:extLst>
              </a:tr>
              <a:tr h="306704">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02.01.2026</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07000"/>
                        </a:lnSpc>
                        <a:spcAft>
                          <a:spcPts val="800"/>
                        </a:spcAft>
                        <a:buNone/>
                      </a:pPr>
                      <a:r>
                        <a:rPr lang="en-IN" sz="1600">
                          <a:solidFill>
                            <a:srgbClr val="000000"/>
                          </a:solidFill>
                          <a:effectLst/>
                          <a:latin typeface="Calibri" panose="020F0502020204030204" pitchFamily="34" charset="0"/>
                          <a:ea typeface="Calibri" panose="020F0502020204030204" pitchFamily="34" charset="0"/>
                          <a:cs typeface="Calibri" panose="020F0502020204030204" pitchFamily="34" charset="0"/>
                        </a:rPr>
                        <a:t>Fri</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Announcement of Results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62709618"/>
                  </a:ext>
                </a:extLst>
              </a:tr>
              <a:tr h="51929">
                <a:tc gridSpan="4">
                  <a:txBody>
                    <a:bodyPr/>
                    <a:lstStyle/>
                    <a:p>
                      <a:pPr marL="287020" algn="l">
                        <a:lnSpc>
                          <a:spcPct val="107000"/>
                        </a:lnSpc>
                        <a:spcAft>
                          <a:spcPts val="800"/>
                        </a:spcAft>
                        <a:buNone/>
                      </a:pPr>
                      <a:r>
                        <a:rPr lang="en-IN" sz="11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Note: </a:t>
                      </a:r>
                      <a:r>
                        <a:rPr lang="en-IN" sz="1100" b="1" baseline="30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r>
                        <a:rPr lang="en-IN" sz="11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26.07.2025 [Sat] will be an Academic Day for students of</a:t>
                      </a:r>
                      <a:r>
                        <a:rPr lang="en-IN" sz="11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1st Year [All Programs] Batch I</a:t>
                      </a:r>
                      <a:r>
                        <a:rPr lang="en-IN" sz="1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IN" sz="11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&amp; MBA 2nd Year [USB &amp; MBA APEX]</a:t>
                      </a:r>
                      <a:r>
                        <a:rPr lang="en-IN" sz="1100" b="1" baseline="30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indent="-66040" algn="l">
                        <a:lnSpc>
                          <a:spcPct val="107000"/>
                        </a:lnSpc>
                        <a:spcAft>
                          <a:spcPts val="800"/>
                        </a:spcAft>
                        <a:buNone/>
                      </a:pPr>
                      <a:r>
                        <a:rPr lang="en-IN" sz="1100" b="1" baseline="30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*2</a:t>
                      </a:r>
                      <a:r>
                        <a:rPr lang="en-IN" sz="11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11.10.2025 [Sat] will be an Academic Day for students of</a:t>
                      </a:r>
                      <a:r>
                        <a:rPr lang="en-IN" sz="11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All Years [All Programs]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I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23051000"/>
                  </a:ext>
                </a:extLst>
              </a:tr>
            </a:tbl>
          </a:graphicData>
        </a:graphic>
      </p:graphicFrame>
      <p:sp>
        <p:nvSpPr>
          <p:cNvPr id="6" name="TextBox 5"/>
          <p:cNvSpPr txBox="1"/>
          <p:nvPr/>
        </p:nvSpPr>
        <p:spPr>
          <a:xfrm>
            <a:off x="8709003" y="85987"/>
            <a:ext cx="383438" cy="307777"/>
          </a:xfrm>
          <a:prstGeom prst="rect">
            <a:avLst/>
          </a:prstGeom>
          <a:solidFill>
            <a:schemeClr val="bg1"/>
          </a:solidFill>
        </p:spPr>
        <p:txBody>
          <a:bodyPr wrap="none" rtlCol="0">
            <a:spAutoFit/>
          </a:bodyPr>
          <a:lstStyle/>
          <a:p>
            <a:r>
              <a:rPr lang="en-IN" dirty="0"/>
              <a:t>14</a:t>
            </a:r>
          </a:p>
        </p:txBody>
      </p:sp>
    </p:spTree>
    <p:extLst>
      <p:ext uri="{BB962C8B-B14F-4D97-AF65-F5344CB8AC3E}">
        <p14:creationId xmlns:p14="http://schemas.microsoft.com/office/powerpoint/2010/main" val="4216384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684A6317-5EA2-BCE7-C1DA-63C5E135A711}"/>
              </a:ext>
            </a:extLst>
          </p:cNvPr>
          <p:cNvGraphicFramePr/>
          <p:nvPr>
            <p:extLst>
              <p:ext uri="{D42A27DB-BD31-4B8C-83A1-F6EECF244321}">
                <p14:modId xmlns:p14="http://schemas.microsoft.com/office/powerpoint/2010/main" val="3867111836"/>
              </p:ext>
            </p:extLst>
          </p:nvPr>
        </p:nvGraphicFramePr>
        <p:xfrm>
          <a:off x="1801299" y="794692"/>
          <a:ext cx="6316579"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2" name="Google Shape;152;p22"/>
          <p:cNvSpPr txBox="1">
            <a:spLocks noGrp="1"/>
          </p:cNvSpPr>
          <p:nvPr>
            <p:ph type="body" idx="1"/>
          </p:nvPr>
        </p:nvSpPr>
        <p:spPr>
          <a:prstGeom prst="rect">
            <a:avLst/>
          </a:prstGeom>
          <a:noFill/>
          <a:ln>
            <a:noFill/>
          </a:ln>
        </p:spPr>
        <p:txBody>
          <a:bodyPr spcFirstLastPara="1" wrap="square" lIns="91425" tIns="45700" rIns="91425" bIns="45700" anchor="t" anchorCtr="0">
            <a:normAutofit fontScale="77500" lnSpcReduction="20000"/>
          </a:bodyPr>
          <a:lstStyle/>
          <a:p>
            <a:pPr marL="0" marR="0" lvl="0" indent="0" algn="just" rtl="0">
              <a:lnSpc>
                <a:spcPct val="90000"/>
              </a:lnSpc>
              <a:spcBef>
                <a:spcPts val="0"/>
              </a:spcBef>
              <a:spcAft>
                <a:spcPts val="0"/>
              </a:spcAft>
              <a:buClr>
                <a:schemeClr val="dk1"/>
              </a:buClr>
              <a:buSzPts val="2400"/>
              <a:buFont typeface="Arial"/>
              <a:buNone/>
            </a:pPr>
            <a:endParaRPr lang="en" sz="1800" b="1"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0"/>
              </a:spcBef>
              <a:spcAft>
                <a:spcPts val="0"/>
              </a:spcAft>
              <a:buClr>
                <a:schemeClr val="dk1"/>
              </a:buClr>
              <a:buSzPts val="2400"/>
              <a:buFont typeface="Arial"/>
              <a:buNone/>
            </a:pPr>
            <a:r>
              <a:rPr lang="en" sz="2200" b="1" i="0" u="none" dirty="0">
                <a:solidFill>
                  <a:schemeClr val="bg2"/>
                </a:solidFill>
                <a:latin typeface="Times New Roman" panose="02020603050405020304" pitchFamily="18" charset="0"/>
                <a:ea typeface="Times New Roman"/>
                <a:cs typeface="Times New Roman" panose="02020603050405020304" pitchFamily="18" charset="0"/>
                <a:sym typeface="Times New Roman"/>
              </a:rPr>
              <a:t>Prerequisite: </a:t>
            </a:r>
            <a:r>
              <a:rPr lang="en-US" sz="2200" kern="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Basics of Computers and C/C++, Data Structures.</a:t>
            </a:r>
          </a:p>
          <a:p>
            <a:pPr marL="0" marR="0" lvl="0" indent="0" algn="just" rtl="0">
              <a:lnSpc>
                <a:spcPct val="90000"/>
              </a:lnSpc>
              <a:spcBef>
                <a:spcPts val="0"/>
              </a:spcBef>
              <a:spcAft>
                <a:spcPts val="0"/>
              </a:spcAft>
              <a:buClr>
                <a:schemeClr val="dk1"/>
              </a:buClr>
              <a:buSzPts val="2400"/>
              <a:buFont typeface="Arial"/>
              <a:buNone/>
            </a:pPr>
            <a:endParaRPr lang="en-US" sz="2200" b="1" i="0" u="none" dirty="0">
              <a:solidFill>
                <a:schemeClr val="bg2"/>
              </a:solidFill>
              <a:latin typeface="Times New Roman" panose="02020603050405020304" pitchFamily="18" charset="0"/>
              <a:cs typeface="Times New Roman" panose="02020603050405020304" pitchFamily="18" charset="0"/>
              <a:sym typeface="Cambria"/>
            </a:endParaRPr>
          </a:p>
          <a:p>
            <a:pPr marL="0" marR="0" lvl="0" indent="0" algn="just" rtl="0">
              <a:lnSpc>
                <a:spcPct val="90000"/>
              </a:lnSpc>
              <a:spcBef>
                <a:spcPts val="0"/>
              </a:spcBef>
              <a:spcAft>
                <a:spcPts val="0"/>
              </a:spcAft>
              <a:buClr>
                <a:schemeClr val="dk1"/>
              </a:buClr>
              <a:buSzPts val="2400"/>
              <a:buFont typeface="Arial"/>
              <a:buNone/>
            </a:pPr>
            <a:endParaRPr sz="2200" b="1" i="0" u="none" dirty="0">
              <a:solidFill>
                <a:schemeClr val="bg2"/>
              </a:solidFill>
              <a:latin typeface="Times New Roman" panose="02020603050405020304" pitchFamily="18" charset="0"/>
              <a:cs typeface="Times New Roman" panose="02020603050405020304" pitchFamily="18" charset="0"/>
              <a:sym typeface="Cambria"/>
            </a:endParaRPr>
          </a:p>
          <a:p>
            <a:pPr marL="0" marR="0" lvl="0" indent="0" algn="l" rtl="0">
              <a:lnSpc>
                <a:spcPct val="90000"/>
              </a:lnSpc>
              <a:spcBef>
                <a:spcPts val="480"/>
              </a:spcBef>
              <a:spcAft>
                <a:spcPts val="0"/>
              </a:spcAft>
              <a:buClr>
                <a:schemeClr val="dk1"/>
              </a:buClr>
              <a:buSzPts val="2400"/>
              <a:buFont typeface="Arial"/>
              <a:buNone/>
            </a:pPr>
            <a:r>
              <a:rPr lang="en" sz="2200" b="1" i="0" u="none" dirty="0">
                <a:solidFill>
                  <a:schemeClr val="bg2"/>
                </a:solidFill>
                <a:latin typeface="Times New Roman" panose="02020603050405020304" pitchFamily="18" charset="0"/>
                <a:cs typeface="Times New Roman" panose="02020603050405020304" pitchFamily="18" charset="0"/>
                <a:sym typeface="Cambria"/>
              </a:rPr>
              <a:t>Objectives:</a:t>
            </a:r>
          </a:p>
          <a:p>
            <a:pPr marL="342900" indent="-342900">
              <a:lnSpc>
                <a:spcPct val="90000"/>
              </a:lnSpc>
            </a:pPr>
            <a:r>
              <a:rPr lang="en-US" sz="2200" b="0" i="0" u="none" dirty="0">
                <a:solidFill>
                  <a:schemeClr val="bg2"/>
                </a:solidFill>
                <a:latin typeface="Times New Roman" panose="02020603050405020304" pitchFamily="18" charset="0"/>
                <a:cs typeface="Times New Roman" panose="02020603050405020304" pitchFamily="18" charset="0"/>
                <a:sym typeface="Cambria"/>
              </a:rPr>
              <a:t>To understand the meaning and characteristics of algorithms.</a:t>
            </a:r>
          </a:p>
          <a:p>
            <a:pPr marL="342900" indent="-342900">
              <a:lnSpc>
                <a:spcPct val="90000"/>
              </a:lnSpc>
            </a:pPr>
            <a:r>
              <a:rPr lang="en-US" sz="2200" b="0" i="0" u="none" dirty="0">
                <a:solidFill>
                  <a:schemeClr val="bg2"/>
                </a:solidFill>
                <a:latin typeface="Times New Roman" panose="02020603050405020304" pitchFamily="18" charset="0"/>
                <a:cs typeface="Times New Roman" panose="02020603050405020304" pitchFamily="18" charset="0"/>
                <a:sym typeface="Cambria"/>
              </a:rPr>
              <a:t>To study different algorithm design techniques and data Structures.</a:t>
            </a:r>
          </a:p>
          <a:p>
            <a:pPr marL="342900" indent="-342900">
              <a:lnSpc>
                <a:spcPct val="90000"/>
              </a:lnSpc>
            </a:pPr>
            <a:r>
              <a:rPr lang="en-US" sz="2200" b="0" i="0" u="none" dirty="0">
                <a:solidFill>
                  <a:schemeClr val="bg2"/>
                </a:solidFill>
                <a:latin typeface="Times New Roman" panose="02020603050405020304" pitchFamily="18" charset="0"/>
                <a:cs typeface="Times New Roman" panose="02020603050405020304" pitchFamily="18" charset="0"/>
                <a:sym typeface="Cambria"/>
              </a:rPr>
              <a:t>To implement different algorithm design techniques for solving engineering and related problems.</a:t>
            </a:r>
          </a:p>
          <a:p>
            <a:pPr marL="342900" indent="-342900">
              <a:lnSpc>
                <a:spcPct val="90000"/>
              </a:lnSpc>
            </a:pPr>
            <a:r>
              <a:rPr lang="en-US" sz="2200" b="0" i="0" u="none" dirty="0">
                <a:solidFill>
                  <a:schemeClr val="bg2"/>
                </a:solidFill>
                <a:latin typeface="Times New Roman" panose="02020603050405020304" pitchFamily="18" charset="0"/>
                <a:cs typeface="Times New Roman" panose="02020603050405020304" pitchFamily="18" charset="0"/>
                <a:sym typeface="Cambria"/>
              </a:rPr>
              <a:t>To introduce P and NP classes.</a:t>
            </a:r>
          </a:p>
          <a:p>
            <a:pPr marL="0" marR="0" lvl="0" indent="0" algn="l" rtl="0">
              <a:lnSpc>
                <a:spcPct val="90000"/>
              </a:lnSpc>
              <a:spcBef>
                <a:spcPts val="480"/>
              </a:spcBef>
              <a:spcAft>
                <a:spcPts val="0"/>
              </a:spcAft>
              <a:buClr>
                <a:schemeClr val="dk1"/>
              </a:buClr>
              <a:buSzPts val="2400"/>
              <a:buFont typeface="Arial"/>
              <a:buNone/>
            </a:pPr>
            <a:endParaRPr lang="en-IN" sz="2200" b="0" i="0" u="none" dirty="0">
              <a:solidFill>
                <a:schemeClr val="bg2"/>
              </a:solidFill>
              <a:latin typeface="Times New Roman" panose="02020603050405020304" pitchFamily="18" charset="0"/>
              <a:cs typeface="Times New Roman" panose="02020603050405020304" pitchFamily="18" charset="0"/>
              <a:sym typeface="Cambria"/>
            </a:endParaRPr>
          </a:p>
          <a:p>
            <a:pPr marL="342900" marR="0" lvl="0" indent="0" algn="l" rtl="0">
              <a:lnSpc>
                <a:spcPct val="90000"/>
              </a:lnSpc>
              <a:spcBef>
                <a:spcPts val="480"/>
              </a:spcBef>
              <a:spcAft>
                <a:spcPts val="0"/>
              </a:spcAft>
              <a:buNone/>
            </a:pPr>
            <a:endParaRPr dirty="0">
              <a:solidFill>
                <a:schemeClr val="bg2"/>
              </a:solidFill>
            </a:endParaRPr>
          </a:p>
          <a:p>
            <a:pPr marL="0" marR="0" lvl="0" indent="0" algn="l" rtl="0">
              <a:lnSpc>
                <a:spcPct val="90000"/>
              </a:lnSpc>
              <a:spcBef>
                <a:spcPts val="480"/>
              </a:spcBef>
              <a:spcAft>
                <a:spcPts val="0"/>
              </a:spcAft>
              <a:buClr>
                <a:schemeClr val="dk1"/>
              </a:buClr>
              <a:buSzPts val="2400"/>
              <a:buFont typeface="Arial"/>
              <a:buNone/>
            </a:pPr>
            <a:r>
              <a:rPr lang="en" sz="2400" b="0" i="0" u="none" dirty="0">
                <a:solidFill>
                  <a:schemeClr val="bg2"/>
                </a:solidFill>
                <a:latin typeface="Cambria"/>
                <a:ea typeface="Cambria"/>
                <a:cs typeface="Cambria"/>
                <a:sym typeface="Cambria"/>
              </a:rPr>
              <a:t> </a:t>
            </a:r>
            <a:endParaRPr dirty="0">
              <a:solidFill>
                <a:schemeClr val="bg2"/>
              </a:solidFill>
            </a:endParaRPr>
          </a:p>
          <a:p>
            <a:pPr marL="0" marR="0" lvl="0" indent="0" algn="l" rtl="0">
              <a:lnSpc>
                <a:spcPct val="90000"/>
              </a:lnSpc>
              <a:spcBef>
                <a:spcPts val="480"/>
              </a:spcBef>
              <a:spcAft>
                <a:spcPts val="0"/>
              </a:spcAft>
              <a:buClr>
                <a:schemeClr val="dk1"/>
              </a:buClr>
              <a:buSzPts val="2400"/>
              <a:buFont typeface="Arial"/>
              <a:buNone/>
            </a:pPr>
            <a:r>
              <a:rPr lang="en" sz="2400" b="0" i="0" u="none" dirty="0">
                <a:solidFill>
                  <a:schemeClr val="bg2"/>
                </a:solidFill>
                <a:latin typeface="Cambria"/>
                <a:ea typeface="Cambria"/>
                <a:cs typeface="Cambria"/>
                <a:sym typeface="Cambria"/>
              </a:rPr>
              <a:t> </a:t>
            </a:r>
            <a:endParaRPr dirty="0">
              <a:solidFill>
                <a:schemeClr val="bg2"/>
              </a:solidFill>
            </a:endParaRPr>
          </a:p>
        </p:txBody>
      </p:sp>
      <p:graphicFrame>
        <p:nvGraphicFramePr>
          <p:cNvPr id="3" name="Table 2">
            <a:extLst>
              <a:ext uri="{FF2B5EF4-FFF2-40B4-BE49-F238E27FC236}">
                <a16:creationId xmlns:a16="http://schemas.microsoft.com/office/drawing/2014/main" id="{5172031D-DC80-25D6-3C41-C412BFB57588}"/>
              </a:ext>
            </a:extLst>
          </p:cNvPr>
          <p:cNvGraphicFramePr>
            <a:graphicFrameLocks noGrp="1"/>
          </p:cNvGraphicFramePr>
          <p:nvPr>
            <p:extLst>
              <p:ext uri="{D42A27DB-BD31-4B8C-83A1-F6EECF244321}">
                <p14:modId xmlns:p14="http://schemas.microsoft.com/office/powerpoint/2010/main" val="1444814336"/>
              </p:ext>
            </p:extLst>
          </p:nvPr>
        </p:nvGraphicFramePr>
        <p:xfrm>
          <a:off x="6767365" y="1667058"/>
          <a:ext cx="1775385" cy="916694"/>
        </p:xfrm>
        <a:graphic>
          <a:graphicData uri="http://schemas.openxmlformats.org/drawingml/2006/table">
            <a:tbl>
              <a:tblPr>
                <a:tableStyleId>{5C22544A-7EE6-4342-B048-85BDC9FD1C3A}</a:tableStyleId>
              </a:tblPr>
              <a:tblGrid>
                <a:gridCol w="332139">
                  <a:extLst>
                    <a:ext uri="{9D8B030D-6E8A-4147-A177-3AD203B41FA5}">
                      <a16:colId xmlns:a16="http://schemas.microsoft.com/office/drawing/2014/main" val="718746450"/>
                    </a:ext>
                  </a:extLst>
                </a:gridCol>
                <a:gridCol w="348037">
                  <a:extLst>
                    <a:ext uri="{9D8B030D-6E8A-4147-A177-3AD203B41FA5}">
                      <a16:colId xmlns:a16="http://schemas.microsoft.com/office/drawing/2014/main" val="1728774876"/>
                    </a:ext>
                  </a:extLst>
                </a:gridCol>
                <a:gridCol w="374722">
                  <a:extLst>
                    <a:ext uri="{9D8B030D-6E8A-4147-A177-3AD203B41FA5}">
                      <a16:colId xmlns:a16="http://schemas.microsoft.com/office/drawing/2014/main" val="1873973670"/>
                    </a:ext>
                  </a:extLst>
                </a:gridCol>
                <a:gridCol w="319655">
                  <a:extLst>
                    <a:ext uri="{9D8B030D-6E8A-4147-A177-3AD203B41FA5}">
                      <a16:colId xmlns:a16="http://schemas.microsoft.com/office/drawing/2014/main" val="3216948099"/>
                    </a:ext>
                  </a:extLst>
                </a:gridCol>
                <a:gridCol w="400832">
                  <a:extLst>
                    <a:ext uri="{9D8B030D-6E8A-4147-A177-3AD203B41FA5}">
                      <a16:colId xmlns:a16="http://schemas.microsoft.com/office/drawing/2014/main" val="482117928"/>
                    </a:ext>
                  </a:extLst>
                </a:gridCol>
              </a:tblGrid>
              <a:tr h="313380">
                <a:tc>
                  <a:txBody>
                    <a:bodyPr/>
                    <a:lstStyle/>
                    <a:p>
                      <a:pPr marL="15240" algn="ctr">
                        <a:lnSpc>
                          <a:spcPct val="115000"/>
                        </a:lnSpc>
                        <a:spcAft>
                          <a:spcPts val="1000"/>
                        </a:spcAft>
                        <a:buNone/>
                      </a:pPr>
                      <a:r>
                        <a:rPr lang="en-US" sz="1400" b="1">
                          <a:effectLst/>
                          <a:latin typeface="Calibri" panose="020F0502020204030204" pitchFamily="34" charset="0"/>
                          <a:ea typeface="Calibri" panose="020F0502020204030204" pitchFamily="34" charset="0"/>
                          <a:cs typeface="Calibri" panose="020F0502020204030204" pitchFamily="34" charset="0"/>
                        </a:rPr>
                        <a:t>L</a:t>
                      </a:r>
                      <a:endParaRPr lang="en-IN" sz="14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15875" algn="ctr">
                        <a:lnSpc>
                          <a:spcPct val="115000"/>
                        </a:lnSpc>
                        <a:spcAft>
                          <a:spcPts val="1000"/>
                        </a:spcAft>
                        <a:buNone/>
                      </a:pPr>
                      <a:r>
                        <a:rPr lang="en-US" sz="1400" b="1" dirty="0">
                          <a:effectLst/>
                          <a:latin typeface="Calibri" panose="020F0502020204030204" pitchFamily="34" charset="0"/>
                          <a:ea typeface="Calibri" panose="020F0502020204030204" pitchFamily="34" charset="0"/>
                          <a:cs typeface="Calibri" panose="020F0502020204030204" pitchFamily="34" charset="0"/>
                        </a:rPr>
                        <a:t>T</a:t>
                      </a:r>
                      <a:endParaRPr lang="en-IN" sz="1400" b="1"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15240" algn="ctr">
                        <a:lnSpc>
                          <a:spcPct val="115000"/>
                        </a:lnSpc>
                        <a:spcAft>
                          <a:spcPts val="1000"/>
                        </a:spcAft>
                        <a:buNone/>
                      </a:pPr>
                      <a:r>
                        <a:rPr lang="en-US" sz="1400" b="1">
                          <a:effectLst/>
                          <a:latin typeface="Calibri" panose="020F0502020204030204" pitchFamily="34" charset="0"/>
                          <a:ea typeface="Calibri" panose="020F0502020204030204" pitchFamily="34" charset="0"/>
                          <a:cs typeface="Calibri" panose="020F0502020204030204" pitchFamily="34" charset="0"/>
                        </a:rPr>
                        <a:t>P</a:t>
                      </a:r>
                      <a:endParaRPr lang="en-IN" sz="14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13970" algn="ctr">
                        <a:lnSpc>
                          <a:spcPct val="115000"/>
                        </a:lnSpc>
                        <a:spcAft>
                          <a:spcPts val="1000"/>
                        </a:spcAft>
                        <a:buNone/>
                      </a:pPr>
                      <a:r>
                        <a:rPr lang="en-US" sz="1400" b="1">
                          <a:effectLst/>
                          <a:latin typeface="Calibri" panose="020F0502020204030204" pitchFamily="34" charset="0"/>
                          <a:ea typeface="Calibri" panose="020F0502020204030204" pitchFamily="34" charset="0"/>
                          <a:cs typeface="Calibri" panose="020F0502020204030204" pitchFamily="34" charset="0"/>
                        </a:rPr>
                        <a:t>C</a:t>
                      </a:r>
                      <a:endParaRPr lang="en-IN" sz="14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13335" algn="ctr">
                        <a:lnSpc>
                          <a:spcPct val="115000"/>
                        </a:lnSpc>
                        <a:spcAft>
                          <a:spcPts val="1000"/>
                        </a:spcAft>
                        <a:buNone/>
                      </a:pPr>
                      <a:r>
                        <a:rPr lang="en-US" sz="1400" b="1">
                          <a:effectLst/>
                          <a:latin typeface="Calibri" panose="020F0502020204030204" pitchFamily="34" charset="0"/>
                          <a:ea typeface="Calibri" panose="020F0502020204030204" pitchFamily="34" charset="0"/>
                          <a:cs typeface="Calibri" panose="020F0502020204030204" pitchFamily="34" charset="0"/>
                        </a:rPr>
                        <a:t>CH</a:t>
                      </a:r>
                      <a:endParaRPr lang="en-IN" sz="1400" b="1">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826162165"/>
                  </a:ext>
                </a:extLst>
              </a:tr>
              <a:tr h="393978">
                <a:tc>
                  <a:txBody>
                    <a:bodyPr/>
                    <a:lstStyle/>
                    <a:p>
                      <a:pPr algn="ctr">
                        <a:lnSpc>
                          <a:spcPct val="115000"/>
                        </a:lnSpc>
                        <a:spcBef>
                          <a:spcPts val="25"/>
                        </a:spcBef>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3</a:t>
                      </a:r>
                      <a:endParaRPr lang="en-IN" sz="1400" b="0">
                        <a:effectLst/>
                        <a:latin typeface="Calibri" panose="020F0502020204030204" pitchFamily="34" charset="0"/>
                        <a:ea typeface="Calibri" panose="020F0502020204030204" pitchFamily="34" charset="0"/>
                        <a:cs typeface="Calibri" panose="020F0502020204030204" pitchFamily="34" charset="0"/>
                      </a:endParaRPr>
                    </a:p>
                    <a:p>
                      <a:pPr marL="15240" algn="ctr">
                        <a:lnSpc>
                          <a:spcPct val="115000"/>
                        </a:lnSpc>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 </a:t>
                      </a:r>
                      <a:endParaRPr lang="en-IN" sz="1400" b="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ctr">
                        <a:lnSpc>
                          <a:spcPct val="115000"/>
                        </a:lnSpc>
                        <a:spcBef>
                          <a:spcPts val="25"/>
                        </a:spcBef>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0</a:t>
                      </a:r>
                      <a:endParaRPr lang="en-IN" sz="1400" b="0">
                        <a:effectLst/>
                        <a:latin typeface="Calibri" panose="020F0502020204030204" pitchFamily="34" charset="0"/>
                        <a:ea typeface="Calibri" panose="020F0502020204030204" pitchFamily="34" charset="0"/>
                        <a:cs typeface="Calibri" panose="020F0502020204030204" pitchFamily="34" charset="0"/>
                      </a:endParaRPr>
                    </a:p>
                    <a:p>
                      <a:pPr algn="ctr">
                        <a:lnSpc>
                          <a:spcPct val="115000"/>
                        </a:lnSpc>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 </a:t>
                      </a:r>
                      <a:endParaRPr lang="en-IN" sz="1400" b="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ctr">
                        <a:lnSpc>
                          <a:spcPct val="115000"/>
                        </a:lnSpc>
                        <a:spcBef>
                          <a:spcPts val="25"/>
                        </a:spcBef>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2</a:t>
                      </a:r>
                      <a:endParaRPr lang="en-IN" sz="1400" b="0">
                        <a:effectLst/>
                        <a:latin typeface="Calibri" panose="020F0502020204030204" pitchFamily="34" charset="0"/>
                        <a:ea typeface="Calibri" panose="020F0502020204030204" pitchFamily="34" charset="0"/>
                        <a:cs typeface="Calibri" panose="020F0502020204030204" pitchFamily="34" charset="0"/>
                      </a:endParaRPr>
                    </a:p>
                    <a:p>
                      <a:pPr marL="15240" algn="ctr">
                        <a:lnSpc>
                          <a:spcPct val="115000"/>
                        </a:lnSpc>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 </a:t>
                      </a:r>
                      <a:endParaRPr lang="en-IN" sz="1400" b="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ctr">
                        <a:lnSpc>
                          <a:spcPct val="115000"/>
                        </a:lnSpc>
                        <a:spcBef>
                          <a:spcPts val="25"/>
                        </a:spcBef>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4</a:t>
                      </a:r>
                      <a:endParaRPr lang="en-IN" sz="1400" b="0">
                        <a:effectLst/>
                        <a:latin typeface="Calibri" panose="020F0502020204030204" pitchFamily="34" charset="0"/>
                        <a:ea typeface="Calibri" panose="020F0502020204030204" pitchFamily="34" charset="0"/>
                        <a:cs typeface="Calibri" panose="020F0502020204030204" pitchFamily="34" charset="0"/>
                      </a:endParaRPr>
                    </a:p>
                    <a:p>
                      <a:pPr marL="13970" algn="ctr">
                        <a:lnSpc>
                          <a:spcPct val="115000"/>
                        </a:lnSpc>
                        <a:spcAft>
                          <a:spcPts val="1000"/>
                        </a:spcAft>
                        <a:buNone/>
                      </a:pPr>
                      <a:r>
                        <a:rPr lang="en-US" sz="1400" b="0">
                          <a:effectLst/>
                          <a:latin typeface="Calibri" panose="020F0502020204030204" pitchFamily="34" charset="0"/>
                          <a:ea typeface="Calibri" panose="020F0502020204030204" pitchFamily="34" charset="0"/>
                          <a:cs typeface="Calibri" panose="020F0502020204030204" pitchFamily="34" charset="0"/>
                        </a:rPr>
                        <a:t> </a:t>
                      </a:r>
                      <a:endParaRPr lang="en-IN" sz="1400" b="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ctr">
                        <a:lnSpc>
                          <a:spcPct val="115000"/>
                        </a:lnSpc>
                        <a:spcBef>
                          <a:spcPts val="25"/>
                        </a:spcBef>
                        <a:spcAft>
                          <a:spcPts val="1000"/>
                        </a:spcAft>
                        <a:buNone/>
                      </a:pPr>
                      <a:r>
                        <a:rPr lang="en-US" sz="1400" b="0" dirty="0">
                          <a:effectLst/>
                          <a:latin typeface="Calibri" panose="020F0502020204030204" pitchFamily="34" charset="0"/>
                          <a:ea typeface="Calibri" panose="020F0502020204030204" pitchFamily="34" charset="0"/>
                          <a:cs typeface="Calibri" panose="020F0502020204030204" pitchFamily="34" charset="0"/>
                        </a:rPr>
                        <a:t>5</a:t>
                      </a:r>
                      <a:endParaRPr lang="en-IN" sz="1400" b="0" dirty="0">
                        <a:effectLst/>
                        <a:latin typeface="Calibri" panose="020F0502020204030204" pitchFamily="34" charset="0"/>
                        <a:ea typeface="Calibri" panose="020F0502020204030204" pitchFamily="34" charset="0"/>
                        <a:cs typeface="Calibri" panose="020F0502020204030204" pitchFamily="34" charset="0"/>
                      </a:endParaRPr>
                    </a:p>
                    <a:p>
                      <a:pPr marL="13335" algn="ctr">
                        <a:lnSpc>
                          <a:spcPct val="115000"/>
                        </a:lnSpc>
                        <a:spcAft>
                          <a:spcPts val="1000"/>
                        </a:spcAft>
                        <a:buNone/>
                      </a:pPr>
                      <a:r>
                        <a:rPr lang="en-US" sz="1400" b="0" dirty="0">
                          <a:effectLst/>
                          <a:latin typeface="Calibri" panose="020F0502020204030204" pitchFamily="34" charset="0"/>
                          <a:ea typeface="Calibri" panose="020F0502020204030204" pitchFamily="34" charset="0"/>
                          <a:cs typeface="Calibri" panose="020F0502020204030204" pitchFamily="34" charset="0"/>
                        </a:rPr>
                        <a:t> </a:t>
                      </a:r>
                      <a:endParaRPr lang="en-IN" sz="1400" b="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249267535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E9A8FFDE-7144-423E-DC70-33CBB3DE72C9}"/>
              </a:ext>
            </a:extLst>
          </p:cNvPr>
          <p:cNvGraphicFramePr/>
          <p:nvPr>
            <p:extLst>
              <p:ext uri="{D42A27DB-BD31-4B8C-83A1-F6EECF244321}">
                <p14:modId xmlns:p14="http://schemas.microsoft.com/office/powerpoint/2010/main" val="4175940894"/>
              </p:ext>
            </p:extLst>
          </p:nvPr>
        </p:nvGraphicFramePr>
        <p:xfrm>
          <a:off x="2035976" y="783770"/>
          <a:ext cx="5815490" cy="4468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9" name="Google Shape;159;p23"/>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2400"/>
              <a:buNone/>
            </a:pPr>
            <a:endParaRPr lang="en" sz="1400" b="1" i="0" u="none"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2400"/>
              <a:buNone/>
            </a:pPr>
            <a:r>
              <a:rPr lang="en" sz="1400" b="1" i="0" u="none" dirty="0">
                <a:solidFill>
                  <a:schemeClr val="bg2"/>
                </a:solidFill>
                <a:latin typeface="Times New Roman"/>
                <a:ea typeface="Times New Roman"/>
                <a:cs typeface="Times New Roman"/>
                <a:sym typeface="Times New Roman"/>
              </a:rPr>
              <a:t>Outcomes:</a:t>
            </a:r>
            <a:endParaRPr sz="1400" b="0" i="0" u="none" dirty="0">
              <a:solidFill>
                <a:schemeClr val="bg2"/>
              </a:solidFill>
              <a:latin typeface="Times New Roman"/>
              <a:ea typeface="Times New Roman"/>
              <a:cs typeface="Times New Roman"/>
              <a:sym typeface="Times New Roman"/>
            </a:endParaRPr>
          </a:p>
          <a:p>
            <a:pPr marL="342900" lvl="0" indent="0" algn="just" rtl="0">
              <a:lnSpc>
                <a:spcPct val="100000"/>
              </a:lnSpc>
              <a:spcBef>
                <a:spcPts val="480"/>
              </a:spcBef>
              <a:spcAft>
                <a:spcPts val="0"/>
              </a:spcAft>
              <a:buNone/>
            </a:pPr>
            <a:endParaRPr sz="2400" b="0" i="0" u="none" dirty="0">
              <a:solidFill>
                <a:schemeClr val="dk1"/>
              </a:solidFill>
              <a:latin typeface="Cambria"/>
              <a:ea typeface="Cambria"/>
              <a:cs typeface="Cambria"/>
              <a:sym typeface="Cambria"/>
            </a:endParaRPr>
          </a:p>
          <a:p>
            <a:pPr marL="0" lvl="0" indent="0" algn="just" rtl="0">
              <a:lnSpc>
                <a:spcPct val="100000"/>
              </a:lnSpc>
              <a:spcBef>
                <a:spcPts val="480"/>
              </a:spcBef>
              <a:spcAft>
                <a:spcPts val="0"/>
              </a:spcAft>
              <a:buClr>
                <a:schemeClr val="dk1"/>
              </a:buClr>
              <a:buSzPts val="2400"/>
              <a:buNone/>
            </a:pPr>
            <a:r>
              <a:rPr lang="en" sz="2400" b="0" i="0" u="none" dirty="0">
                <a:solidFill>
                  <a:schemeClr val="dk1"/>
                </a:solidFill>
                <a:latin typeface="Cambria"/>
                <a:ea typeface="Cambria"/>
                <a:cs typeface="Cambria"/>
                <a:sym typeface="Cambria"/>
              </a:rPr>
              <a:t> </a:t>
            </a:r>
            <a:endParaRPr dirty="0"/>
          </a:p>
          <a:p>
            <a:pPr marL="0" lvl="0" indent="0" algn="just" rtl="0">
              <a:lnSpc>
                <a:spcPct val="100000"/>
              </a:lnSpc>
              <a:spcBef>
                <a:spcPts val="480"/>
              </a:spcBef>
              <a:spcAft>
                <a:spcPts val="0"/>
              </a:spcAft>
              <a:buClr>
                <a:schemeClr val="dk1"/>
              </a:buClr>
              <a:buSzPts val="2400"/>
              <a:buNone/>
            </a:pPr>
            <a:r>
              <a:rPr lang="en" sz="2400" b="0" i="0" u="none" dirty="0">
                <a:solidFill>
                  <a:schemeClr val="dk1"/>
                </a:solidFill>
                <a:latin typeface="Times New Roman"/>
                <a:ea typeface="Times New Roman"/>
                <a:cs typeface="Times New Roman"/>
                <a:sym typeface="Times New Roman"/>
              </a:rPr>
              <a:t> </a:t>
            </a:r>
            <a:endParaRPr dirty="0"/>
          </a:p>
          <a:p>
            <a:pPr marL="0" lvl="0" indent="0" algn="just" rtl="0">
              <a:lnSpc>
                <a:spcPct val="100000"/>
              </a:lnSpc>
              <a:spcBef>
                <a:spcPts val="480"/>
              </a:spcBef>
              <a:spcAft>
                <a:spcPts val="0"/>
              </a:spcAft>
              <a:buClr>
                <a:schemeClr val="dk1"/>
              </a:buClr>
              <a:buSzPts val="2400"/>
              <a:buNone/>
            </a:pPr>
            <a:endParaRPr sz="2400" b="0" i="0" u="none" dirty="0">
              <a:solidFill>
                <a:schemeClr val="dk1"/>
              </a:solidFill>
              <a:latin typeface="Times New Roman"/>
              <a:ea typeface="Times New Roman"/>
              <a:cs typeface="Times New Roman"/>
              <a:sym typeface="Times New Roman"/>
            </a:endParaRPr>
          </a:p>
          <a:p>
            <a:pPr marL="342900" lvl="0" indent="-190500" algn="l" rtl="0">
              <a:spcBef>
                <a:spcPts val="480"/>
              </a:spcBef>
              <a:spcAft>
                <a:spcPts val="0"/>
              </a:spcAft>
              <a:buClr>
                <a:schemeClr val="dk1"/>
              </a:buClr>
              <a:buSzPts val="2400"/>
              <a:buNone/>
            </a:pPr>
            <a:endParaRPr sz="2400" b="0" i="0" u="none" dirty="0">
              <a:solidFill>
                <a:schemeClr val="dk1"/>
              </a:solidFill>
              <a:latin typeface="Times New Roman"/>
              <a:ea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52AFF9C7-4A76-E6F7-C097-420B8B6F6046}"/>
              </a:ext>
            </a:extLst>
          </p:cNvPr>
          <p:cNvGraphicFramePr>
            <a:graphicFrameLocks noGrp="1"/>
          </p:cNvGraphicFramePr>
          <p:nvPr>
            <p:extLst>
              <p:ext uri="{D42A27DB-BD31-4B8C-83A1-F6EECF244321}">
                <p14:modId xmlns:p14="http://schemas.microsoft.com/office/powerpoint/2010/main" val="586639336"/>
              </p:ext>
            </p:extLst>
          </p:nvPr>
        </p:nvGraphicFramePr>
        <p:xfrm>
          <a:off x="928952" y="1968545"/>
          <a:ext cx="7063451" cy="2487171"/>
        </p:xfrm>
        <a:graphic>
          <a:graphicData uri="http://schemas.openxmlformats.org/drawingml/2006/table">
            <a:tbl>
              <a:tblPr/>
              <a:tblGrid>
                <a:gridCol w="589598">
                  <a:extLst>
                    <a:ext uri="{9D8B030D-6E8A-4147-A177-3AD203B41FA5}">
                      <a16:colId xmlns:a16="http://schemas.microsoft.com/office/drawing/2014/main" val="45405321"/>
                    </a:ext>
                  </a:extLst>
                </a:gridCol>
                <a:gridCol w="6473853">
                  <a:extLst>
                    <a:ext uri="{9D8B030D-6E8A-4147-A177-3AD203B41FA5}">
                      <a16:colId xmlns:a16="http://schemas.microsoft.com/office/drawing/2014/main" val="2282857763"/>
                    </a:ext>
                  </a:extLst>
                </a:gridCol>
              </a:tblGrid>
              <a:tr h="602743">
                <a:tc>
                  <a:txBody>
                    <a:bodyPr/>
                    <a:lstStyle/>
                    <a:p>
                      <a:pPr indent="57150" algn="l">
                        <a:lnSpc>
                          <a:spcPct val="115000"/>
                        </a:lnSpc>
                        <a:spcBef>
                          <a:spcPts val="4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CO1</a:t>
                      </a: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45"/>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Understanding the key metrics that determine the algorithmic efficiency and identify various data structures applicable to a range of problems.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8701178"/>
                  </a:ext>
                </a:extLst>
              </a:tr>
              <a:tr h="454053">
                <a:tc>
                  <a:txBody>
                    <a:bodyPr/>
                    <a:lstStyle/>
                    <a:p>
                      <a:pPr indent="57150" algn="l">
                        <a:lnSpc>
                          <a:spcPct val="115000"/>
                        </a:lnSpc>
                        <a:spcBef>
                          <a:spcPts val="40"/>
                        </a:spcBef>
                        <a:spcAft>
                          <a:spcPts val="1000"/>
                        </a:spcAft>
                      </a:pPr>
                      <a:r>
                        <a:rPr lang="en-US" sz="1400" b="1"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CO2</a:t>
                      </a:r>
                      <a:endParaRPr lang="en-IN" sz="1400"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40"/>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Apply various data structures, sorting algorithms, String matching algorithms, graph algorithms and algorithmic techniques to solve computational problems effectively.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0018206"/>
                  </a:ext>
                </a:extLst>
              </a:tr>
              <a:tr h="426576">
                <a:tc>
                  <a:txBody>
                    <a:bodyPr/>
                    <a:lstStyle/>
                    <a:p>
                      <a:pPr indent="57150" algn="l">
                        <a:lnSpc>
                          <a:spcPct val="115000"/>
                        </a:lnSpc>
                        <a:spcBef>
                          <a:spcPts val="40"/>
                        </a:spcBef>
                        <a:spcAft>
                          <a:spcPts val="1000"/>
                        </a:spcAft>
                      </a:pPr>
                      <a:r>
                        <a:rPr lang="en-US" sz="1400" b="1"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CO3</a:t>
                      </a:r>
                      <a:endParaRPr lang="en-IN" sz="1400"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40"/>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Analyze the performance and efficiency of different algorithms in various scenarios, various classes for complex problems like P, NP and NP Complete, NP Hard. </a:t>
                      </a: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9346192"/>
                  </a:ext>
                </a:extLst>
              </a:tr>
              <a:tr h="423143">
                <a:tc>
                  <a:txBody>
                    <a:bodyPr/>
                    <a:lstStyle/>
                    <a:p>
                      <a:pPr indent="57150" algn="l">
                        <a:lnSpc>
                          <a:spcPct val="115000"/>
                        </a:lnSpc>
                        <a:spcBef>
                          <a:spcPts val="40"/>
                        </a:spcBef>
                        <a:spcAft>
                          <a:spcPts val="1000"/>
                        </a:spcAft>
                      </a:pPr>
                      <a:r>
                        <a:rPr lang="en-US" sz="1400" b="1"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CO4</a:t>
                      </a:r>
                      <a:endParaRPr lang="en-IN" sz="1400"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40"/>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Evaluate and compare algorithmic strategies including dynamic programming, divide-and-conquer, greedy methods and Branch &amp; Bound.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0251288"/>
                  </a:ext>
                </a:extLst>
              </a:tr>
              <a:tr h="429325">
                <a:tc>
                  <a:txBody>
                    <a:bodyPr/>
                    <a:lstStyle/>
                    <a:p>
                      <a:pPr indent="57150" algn="l">
                        <a:lnSpc>
                          <a:spcPct val="115000"/>
                        </a:lnSpc>
                        <a:spcBef>
                          <a:spcPts val="40"/>
                        </a:spcBef>
                        <a:spcAft>
                          <a:spcPts val="1000"/>
                        </a:spcAft>
                      </a:pPr>
                      <a:r>
                        <a:rPr lang="en-US" sz="1400" b="1"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CO5</a:t>
                      </a:r>
                      <a:endParaRPr lang="en-IN" sz="1400"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Bef>
                          <a:spcPts val="40"/>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Design and implement optimized solutions for complex problems using advanced algorithmic techniques.</a:t>
                      </a: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693906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EF5F21C-161A-5518-3BF8-5C6759C2BD18}"/>
              </a:ext>
            </a:extLst>
          </p:cNvPr>
          <p:cNvGraphicFramePr/>
          <p:nvPr>
            <p:extLst>
              <p:ext uri="{D42A27DB-BD31-4B8C-83A1-F6EECF244321}">
                <p14:modId xmlns:p14="http://schemas.microsoft.com/office/powerpoint/2010/main" val="2209027883"/>
              </p:ext>
            </p:extLst>
          </p:nvPr>
        </p:nvGraphicFramePr>
        <p:xfrm>
          <a:off x="1657493" y="626502"/>
          <a:ext cx="5994017"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65" name="Google Shape;165;p24"/>
          <p:cNvPicPr preferRelativeResize="0">
            <a:picLocks noGrp="1"/>
          </p:cNvPicPr>
          <p:nvPr>
            <p:ph type="body" idx="1"/>
          </p:nvPr>
        </p:nvPicPr>
        <p:blipFill rotWithShape="1">
          <a:blip r:embed="rId8">
            <a:alphaModFix/>
          </a:blip>
          <a:srcRect l="40531" t="20201" r="20655" b="17504"/>
          <a:stretch/>
        </p:blipFill>
        <p:spPr>
          <a:xfrm>
            <a:off x="1173939" y="1195854"/>
            <a:ext cx="6358618" cy="3657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712637689"/>
              </p:ext>
            </p:extLst>
          </p:nvPr>
        </p:nvGraphicFramePr>
        <p:xfrm>
          <a:off x="696972" y="886899"/>
          <a:ext cx="7528331"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200" b="1" i="0" dirty="0">
                <a:effectLst/>
                <a:latin typeface="Times New Roman" panose="02020603050405020304" pitchFamily="18" charset="0"/>
                <a:cs typeface="Times New Roman" panose="02020603050405020304" pitchFamily="18" charset="0"/>
              </a:rPr>
              <a:t>Evolution/History:</a:t>
            </a:r>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Early Foundations (1950s-1970s)</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1950s</a:t>
            </a:r>
            <a:r>
              <a:rPr lang="en-US" sz="1200" dirty="0">
                <a:latin typeface="Times New Roman" panose="02020603050405020304" pitchFamily="18" charset="0"/>
                <a:cs typeface="Times New Roman" panose="02020603050405020304" pitchFamily="18" charset="0"/>
              </a:rPr>
              <a:t>: The birth of computer science as a discipline. Early pioneers like Alan Turing and John von Neumann laid the groundwork for algorithmic thinking.</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1960s</a:t>
            </a:r>
            <a:r>
              <a:rPr lang="en-US" sz="1200" dirty="0">
                <a:latin typeface="Times New Roman" panose="02020603050405020304" pitchFamily="18" charset="0"/>
                <a:cs typeface="Times New Roman" panose="02020603050405020304" pitchFamily="18" charset="0"/>
              </a:rPr>
              <a:t>: Development of fundamental algorithms and data structures. Key works include:</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Donald Knuth's "The Art of Computer Programming," which provided a comprehensive treatment of algorithms and their analysis.</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Introduction of sorting algorithms like </a:t>
            </a:r>
            <a:r>
              <a:rPr lang="en-US" sz="1200" dirty="0" err="1">
                <a:latin typeface="Times New Roman" panose="02020603050405020304" pitchFamily="18" charset="0"/>
                <a:cs typeface="Times New Roman" panose="02020603050405020304" pitchFamily="18" charset="0"/>
              </a:rPr>
              <a:t>QuickSort</a:t>
            </a:r>
            <a:r>
              <a:rPr lang="en-US" sz="1200" dirty="0">
                <a:latin typeface="Times New Roman" panose="02020603050405020304" pitchFamily="18" charset="0"/>
                <a:cs typeface="Times New Roman" panose="02020603050405020304" pitchFamily="18" charset="0"/>
              </a:rPr>
              <a:t> by Tony Hoare.</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Development of the Fast Fourier Transform (FFT) by Cooley and Tukey.</a:t>
            </a:r>
          </a:p>
          <a:p>
            <a:pPr>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1970s</a:t>
            </a:r>
            <a:r>
              <a:rPr lang="en-US" sz="1200" dirty="0">
                <a:latin typeface="Times New Roman" panose="02020603050405020304" pitchFamily="18" charset="0"/>
                <a:cs typeface="Times New Roman" panose="02020603050405020304" pitchFamily="18" charset="0"/>
              </a:rPr>
              <a:t>: Focus on algorithmic efficiency and complexity:</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Introduction of the concept of NP-completeness by Stephen Cook and Richard Karp.</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Development of dynamic programming and greedy algorithms.</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Emergence of key graph algorithms (Dijkstra’s shortest path, Prim’s and Kruskal’s minimum spanning tree algorithms).</a:t>
            </a:r>
          </a:p>
          <a:p>
            <a:pPr marL="342900" marR="0" lvl="0" indent="-190500" algn="l" rtl="0">
              <a:spcBef>
                <a:spcPts val="480"/>
              </a:spcBef>
              <a:spcAft>
                <a:spcPts val="0"/>
              </a:spcAft>
              <a:buClr>
                <a:schemeClr val="dk1"/>
              </a:buClr>
              <a:buSzPts val="2400"/>
              <a:buFont typeface="Arial"/>
              <a:buNone/>
            </a:pPr>
            <a:endParaRPr sz="1200" b="1"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nvGraphicFramePr>
        <p:xfrm>
          <a:off x="696972" y="886899"/>
          <a:ext cx="7528331"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rmAutofit fontScale="77500" lnSpcReduction="20000"/>
          </a:bodyPr>
          <a:lstStyle/>
          <a:p>
            <a:pPr marL="76200" indent="0" algn="l">
              <a:buNone/>
            </a:pPr>
            <a:r>
              <a:rPr lang="en-US" sz="2000" b="1" i="0" dirty="0">
                <a:effectLst/>
                <a:latin typeface="Times New Roman" panose="02020603050405020304" pitchFamily="18" charset="0"/>
                <a:cs typeface="Times New Roman" panose="02020603050405020304" pitchFamily="18" charset="0"/>
              </a:rPr>
              <a:t>Evolution/History:</a:t>
            </a:r>
          </a:p>
          <a:p>
            <a:r>
              <a:rPr lang="en-US" sz="2000" b="1" dirty="0"/>
              <a:t>Growth and Expansion (1980s-1990s)</a:t>
            </a:r>
          </a:p>
          <a:p>
            <a:pPr>
              <a:buFont typeface="Arial" panose="020B0604020202020204" pitchFamily="34" charset="0"/>
              <a:buChar char="•"/>
            </a:pPr>
            <a:r>
              <a:rPr lang="en-US" sz="2000" b="1" dirty="0"/>
              <a:t>1980s</a:t>
            </a:r>
            <a:r>
              <a:rPr lang="en-US" sz="2000" dirty="0"/>
              <a:t>: </a:t>
            </a:r>
            <a:r>
              <a:rPr lang="en-US" dirty="0"/>
              <a:t>Formalization and classification of algorithms:</a:t>
            </a:r>
          </a:p>
          <a:p>
            <a:pPr marL="742950" lvl="1" indent="-285750">
              <a:buFont typeface="Arial" panose="020B0604020202020204" pitchFamily="34" charset="0"/>
              <a:buChar char="•"/>
            </a:pPr>
            <a:r>
              <a:rPr lang="en-US" dirty="0"/>
              <a:t>Introduction of approximation algorithms for NP-hard problems.</a:t>
            </a:r>
          </a:p>
          <a:p>
            <a:pPr marL="742950" lvl="1" indent="-285750">
              <a:buFont typeface="Arial" panose="020B0604020202020204" pitchFamily="34" charset="0"/>
              <a:buChar char="•"/>
            </a:pPr>
            <a:r>
              <a:rPr lang="en-US" dirty="0"/>
              <a:t>Increased emphasis on parallel algorithms and distributed computing.</a:t>
            </a:r>
          </a:p>
          <a:p>
            <a:pPr>
              <a:buFont typeface="Arial" panose="020B0604020202020204" pitchFamily="34" charset="0"/>
              <a:buChar char="•"/>
            </a:pPr>
            <a:r>
              <a:rPr lang="en-US" sz="2000" b="1" dirty="0"/>
              <a:t>1990s</a:t>
            </a:r>
            <a:r>
              <a:rPr lang="en-US" sz="2000" dirty="0"/>
              <a:t>:</a:t>
            </a:r>
            <a:r>
              <a:rPr lang="en-US" dirty="0"/>
              <a:t> Advances in theoretical computer science and practical implementations:</a:t>
            </a:r>
          </a:p>
          <a:p>
            <a:pPr marL="742950" lvl="1" indent="-285750">
              <a:buFont typeface="Arial" panose="020B0604020202020204" pitchFamily="34" charset="0"/>
              <a:buChar char="•"/>
            </a:pPr>
            <a:r>
              <a:rPr lang="en-US" dirty="0"/>
              <a:t>Development of randomized algorithms.</a:t>
            </a:r>
          </a:p>
          <a:p>
            <a:pPr marL="742950" lvl="1" indent="-285750">
              <a:buFont typeface="Arial" panose="020B0604020202020204" pitchFamily="34" charset="0"/>
              <a:buChar char="•"/>
            </a:pPr>
            <a:r>
              <a:rPr lang="en-US" dirty="0"/>
              <a:t>Introduction of new data structures like Fibonacci heaps.</a:t>
            </a:r>
          </a:p>
          <a:p>
            <a:pPr marL="742950" lvl="1" indent="-285750">
              <a:buFont typeface="Arial" panose="020B0604020202020204" pitchFamily="34" charset="0"/>
              <a:buChar char="•"/>
            </a:pPr>
            <a:r>
              <a:rPr lang="en-US" dirty="0"/>
              <a:t>Growth of Internet and web algorithms (search algorithms, PageRank by Larry Page and Sergey Brin).</a:t>
            </a:r>
          </a:p>
          <a:p>
            <a:pPr marL="342900" marR="0" lvl="0" indent="-190500" algn="l" rtl="0">
              <a:spcBef>
                <a:spcPts val="480"/>
              </a:spcBef>
              <a:spcAft>
                <a:spcPts val="0"/>
              </a:spcAft>
              <a:buClr>
                <a:schemeClr val="dk1"/>
              </a:buClr>
              <a:buSzPts val="2400"/>
              <a:buFont typeface="Arial"/>
              <a:buNone/>
            </a:pPr>
            <a:endParaRPr sz="1400" b="1"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639617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2283270082"/>
              </p:ext>
            </p:extLst>
          </p:nvPr>
        </p:nvGraphicFramePr>
        <p:xfrm>
          <a:off x="1056087" y="760518"/>
          <a:ext cx="7528331"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400" b="1" dirty="0"/>
              <a:t>Modern Developments (2000s-Present)</a:t>
            </a:r>
          </a:p>
          <a:p>
            <a:pPr>
              <a:buFont typeface="Arial" panose="020B0604020202020204" pitchFamily="34" charset="0"/>
              <a:buChar char="•"/>
            </a:pPr>
            <a:r>
              <a:rPr lang="en-US" sz="1400" b="1" dirty="0"/>
              <a:t>2000s</a:t>
            </a:r>
            <a:r>
              <a:rPr lang="en-US" sz="1400" dirty="0"/>
              <a:t>: Focus on real-world applications and new paradigms:</a:t>
            </a:r>
          </a:p>
          <a:p>
            <a:pPr marL="742950" lvl="1" indent="-285750">
              <a:buFont typeface="Arial" panose="020B0604020202020204" pitchFamily="34" charset="0"/>
              <a:buChar char="•"/>
            </a:pPr>
            <a:r>
              <a:rPr lang="en-US" sz="1400" dirty="0"/>
              <a:t>Emergence of algorithms for big data and machine learning.</a:t>
            </a:r>
          </a:p>
          <a:p>
            <a:pPr marL="742950" lvl="1" indent="-285750">
              <a:buFont typeface="Arial" panose="020B0604020202020204" pitchFamily="34" charset="0"/>
              <a:buChar char="•"/>
            </a:pPr>
            <a:r>
              <a:rPr lang="en-US" sz="1400" dirty="0"/>
              <a:t>Development of bioinformatics algorithms.</a:t>
            </a:r>
          </a:p>
          <a:p>
            <a:pPr marL="742950" lvl="1" indent="-285750">
              <a:buFont typeface="Arial" panose="020B0604020202020204" pitchFamily="34" charset="0"/>
              <a:buChar char="•"/>
            </a:pPr>
            <a:r>
              <a:rPr lang="en-US" sz="1400" dirty="0"/>
              <a:t>Advances in cryptographic algorithms and security protocols.</a:t>
            </a:r>
          </a:p>
          <a:p>
            <a:pPr>
              <a:buFont typeface="Arial" panose="020B0604020202020204" pitchFamily="34" charset="0"/>
              <a:buChar char="•"/>
            </a:pPr>
            <a:r>
              <a:rPr lang="en-US" sz="1400" b="1" dirty="0"/>
              <a:t>2010s-Present</a:t>
            </a:r>
            <a:r>
              <a:rPr lang="en-US" sz="1400" dirty="0"/>
              <a:t>: Emphasis on optimization and scalability:</a:t>
            </a:r>
          </a:p>
          <a:p>
            <a:pPr marL="742950" lvl="1" indent="-285750">
              <a:buFont typeface="Arial" panose="020B0604020202020204" pitchFamily="34" charset="0"/>
              <a:buChar char="•"/>
            </a:pPr>
            <a:r>
              <a:rPr lang="en-US" sz="1400" dirty="0"/>
              <a:t>Algorithms for deep learning and neural networks.</a:t>
            </a:r>
          </a:p>
          <a:p>
            <a:pPr marL="742950" lvl="1" indent="-285750">
              <a:buFont typeface="Arial" panose="020B0604020202020204" pitchFamily="34" charset="0"/>
              <a:buChar char="•"/>
            </a:pPr>
            <a:r>
              <a:rPr lang="en-US" sz="1400" dirty="0"/>
              <a:t>Distributed algorithms for cloud computing and blockchain technology.</a:t>
            </a:r>
          </a:p>
          <a:p>
            <a:pPr marL="742950" lvl="1" indent="-285750">
              <a:buFont typeface="Arial" panose="020B0604020202020204" pitchFamily="34" charset="0"/>
              <a:buChar char="•"/>
            </a:pPr>
            <a:r>
              <a:rPr lang="en-US" sz="1400" dirty="0"/>
              <a:t>Quantum algorithms and the potential of quantum computing.</a:t>
            </a:r>
          </a:p>
          <a:p>
            <a:pPr marL="342900" marR="0" lvl="0" indent="-190500" algn="l" rtl="0">
              <a:spcBef>
                <a:spcPts val="480"/>
              </a:spcBef>
              <a:spcAft>
                <a:spcPts val="0"/>
              </a:spcAft>
              <a:buClr>
                <a:schemeClr val="dk1"/>
              </a:buClr>
              <a:buSzPts val="2400"/>
              <a:buFont typeface="Arial"/>
              <a:buNone/>
            </a:pPr>
            <a:endParaRPr sz="1400" b="1"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002751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762477186"/>
              </p:ext>
            </p:extLst>
          </p:nvPr>
        </p:nvGraphicFramePr>
        <p:xfrm>
          <a:off x="2271010" y="263425"/>
          <a:ext cx="631340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lgn="l">
              <a:buNone/>
            </a:pPr>
            <a:r>
              <a:rPr lang="en-US" sz="1800" b="1" i="0" dirty="0">
                <a:effectLst/>
                <a:latin typeface="Times New Roman" panose="02020603050405020304" pitchFamily="18" charset="0"/>
                <a:cs typeface="Times New Roman" panose="02020603050405020304" pitchFamily="18" charset="0"/>
              </a:rPr>
              <a:t>Future Trends:</a:t>
            </a:r>
          </a:p>
          <a:p>
            <a:pPr marL="76200" indent="0">
              <a:buNone/>
            </a:pPr>
            <a:r>
              <a:rPr lang="en-IN" sz="1400" b="1" dirty="0"/>
              <a:t>Quantum Computing</a:t>
            </a:r>
          </a:p>
          <a:p>
            <a:pPr>
              <a:buFont typeface="Arial" panose="020B0604020202020204" pitchFamily="34" charset="0"/>
              <a:buChar char="•"/>
            </a:pPr>
            <a:r>
              <a:rPr lang="en-IN" sz="1400" dirty="0"/>
              <a:t>Development of quantum algorithms that leverage quantum mechanics to solve problems more efficiently than classical algorithms (e.g., Shor's algorithm for factoring, Grover's search algorithm).</a:t>
            </a:r>
          </a:p>
          <a:p>
            <a:pPr marL="76200" indent="0">
              <a:buNone/>
            </a:pPr>
            <a:r>
              <a:rPr lang="en-IN" sz="1400" b="1" dirty="0"/>
              <a:t>AI and Machine Learning</a:t>
            </a:r>
          </a:p>
          <a:p>
            <a:pPr>
              <a:buFont typeface="Arial" panose="020B0604020202020204" pitchFamily="34" charset="0"/>
              <a:buChar char="•"/>
            </a:pPr>
            <a:r>
              <a:rPr lang="en-IN" sz="1400" dirty="0"/>
              <a:t>Integration of AI in algorithm design for adaptive and intelligent systems.</a:t>
            </a:r>
          </a:p>
          <a:p>
            <a:pPr>
              <a:buFont typeface="Arial" panose="020B0604020202020204" pitchFamily="34" charset="0"/>
              <a:buChar char="•"/>
            </a:pPr>
            <a:r>
              <a:rPr lang="en-IN" sz="1400" dirty="0"/>
              <a:t>Development of algorithms that can learn and optimize themselves over time.</a:t>
            </a:r>
          </a:p>
          <a:p>
            <a:pPr marL="76200" indent="0">
              <a:buNone/>
            </a:pPr>
            <a:r>
              <a:rPr lang="en-IN" sz="1400" b="1" dirty="0"/>
              <a:t>Big Data and Data Science</a:t>
            </a:r>
          </a:p>
          <a:p>
            <a:pPr>
              <a:buFont typeface="Arial" panose="020B0604020202020204" pitchFamily="34" charset="0"/>
              <a:buChar char="•"/>
            </a:pPr>
            <a:r>
              <a:rPr lang="en-IN" sz="1400" dirty="0"/>
              <a:t>Creation of scalable algorithms for processing massive datasets.</a:t>
            </a:r>
          </a:p>
          <a:p>
            <a:pPr>
              <a:buFont typeface="Arial" panose="020B0604020202020204" pitchFamily="34" charset="0"/>
              <a:buChar char="•"/>
            </a:pPr>
            <a:r>
              <a:rPr lang="en-IN" sz="1400" dirty="0"/>
              <a:t>Focus on real-time data processing and analysis.</a:t>
            </a:r>
          </a:p>
          <a:p>
            <a:pPr marL="76200" indent="0" algn="l">
              <a:buNone/>
            </a:pPr>
            <a:endParaRPr lang="en-US" sz="1800" b="1"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8066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nvGraphicFramePr>
        <p:xfrm>
          <a:off x="1056087" y="760518"/>
          <a:ext cx="7528331"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lgn="l">
              <a:buNone/>
            </a:pPr>
            <a:r>
              <a:rPr lang="en-US" sz="1400" b="1" i="0" dirty="0">
                <a:effectLst/>
                <a:latin typeface="Times New Roman" panose="02020603050405020304" pitchFamily="18" charset="0"/>
                <a:cs typeface="Times New Roman" panose="02020603050405020304" pitchFamily="18" charset="0"/>
              </a:rPr>
              <a:t>Future Trends:</a:t>
            </a:r>
          </a:p>
          <a:p>
            <a:pPr marL="76200" indent="0">
              <a:buNone/>
            </a:pPr>
            <a:r>
              <a:rPr lang="en-IN" sz="1400" b="1" dirty="0"/>
              <a:t>Security and Cryptography</a:t>
            </a:r>
          </a:p>
          <a:p>
            <a:pPr>
              <a:buFont typeface="Arial" panose="020B0604020202020204" pitchFamily="34" charset="0"/>
              <a:buChar char="•"/>
            </a:pPr>
            <a:r>
              <a:rPr lang="en-IN" sz="1400" dirty="0"/>
              <a:t>Evolution of cryptographic algorithms to counteract emerging threats.</a:t>
            </a:r>
          </a:p>
          <a:p>
            <a:pPr>
              <a:buFont typeface="Arial" panose="020B0604020202020204" pitchFamily="34" charset="0"/>
              <a:buChar char="•"/>
            </a:pPr>
            <a:r>
              <a:rPr lang="en-IN" sz="1400" dirty="0"/>
              <a:t>Development of post-quantum cryptographic algorithms.</a:t>
            </a:r>
          </a:p>
          <a:p>
            <a:pPr marL="76200" indent="0">
              <a:buNone/>
            </a:pPr>
            <a:r>
              <a:rPr lang="en-IN" sz="1400" b="1" dirty="0"/>
              <a:t>Interdisciplinary Applications</a:t>
            </a:r>
          </a:p>
          <a:p>
            <a:pPr>
              <a:buFont typeface="Arial" panose="020B0604020202020204" pitchFamily="34" charset="0"/>
              <a:buChar char="•"/>
            </a:pPr>
            <a:r>
              <a:rPr lang="en-IN" sz="1400" dirty="0"/>
              <a:t>Algorithms tailored for specific fields like genomics, environmental </a:t>
            </a:r>
            <a:r>
              <a:rPr lang="en-IN" sz="1400" dirty="0" err="1"/>
              <a:t>modeling</a:t>
            </a:r>
            <a:r>
              <a:rPr lang="en-IN" sz="1400" dirty="0"/>
              <a:t>, and social network analysis.</a:t>
            </a:r>
          </a:p>
          <a:p>
            <a:pPr>
              <a:buFont typeface="Arial" panose="020B0604020202020204" pitchFamily="34" charset="0"/>
              <a:buChar char="•"/>
            </a:pPr>
            <a:r>
              <a:rPr lang="en-IN" sz="1400" dirty="0"/>
              <a:t>Collaborative research across disciplines to develop more robust and versatile algorithms.</a:t>
            </a:r>
          </a:p>
          <a:p>
            <a:pPr marL="76200" indent="0" algn="l">
              <a:buNone/>
            </a:pPr>
            <a:endParaRPr lang="en-US" sz="1400" b="1" i="0" dirty="0">
              <a:effectLst/>
              <a:latin typeface="Times New Roman" panose="02020603050405020304" pitchFamily="18" charset="0"/>
              <a:cs typeface="Times New Roman" panose="02020603050405020304" pitchFamily="18" charset="0"/>
            </a:endParaRPr>
          </a:p>
          <a:p>
            <a:pPr marL="342900" marR="0" lvl="0" indent="-190500" algn="l" rtl="0">
              <a:spcBef>
                <a:spcPts val="480"/>
              </a:spcBef>
              <a:spcAft>
                <a:spcPts val="0"/>
              </a:spcAft>
              <a:buClr>
                <a:schemeClr val="dk1"/>
              </a:buClr>
              <a:buSzPts val="2400"/>
              <a:buFont typeface="Arial"/>
              <a:buNone/>
            </a:pPr>
            <a:endParaRPr sz="1400" b="1"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3259887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2761340-9C25-A0FE-253E-D513F5C55DDE}"/>
              </a:ext>
            </a:extLst>
          </p:cNvPr>
          <p:cNvGraphicFramePr/>
          <p:nvPr/>
        </p:nvGraphicFramePr>
        <p:xfrm>
          <a:off x="2223281" y="566436"/>
          <a:ext cx="6126652" cy="4928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9" name="Google Shape;179;p2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600" b="1" dirty="0"/>
              <a:t>Core Competency for Technical Roles</a:t>
            </a:r>
          </a:p>
          <a:p>
            <a:r>
              <a:rPr lang="en-US" sz="1200" b="1" dirty="0"/>
              <a:t>Problem-Solving Skills</a:t>
            </a:r>
            <a:r>
              <a:rPr lang="en-US" sz="1200" dirty="0"/>
              <a:t>: Mastery of DAA demonstrates strong problem-solving abilities, which are essential for most technical roles in software development, data science, AI, and more.</a:t>
            </a:r>
          </a:p>
          <a:p>
            <a:r>
              <a:rPr lang="en-US" sz="1200" b="1" dirty="0"/>
              <a:t>Technical Interviews</a:t>
            </a:r>
            <a:r>
              <a:rPr lang="en-US" sz="1200" dirty="0"/>
              <a:t>: Most technical interviews, especially for roles at top tech companies (e.g., Google, Amazon, Facebook), heavily focus on algorithmic problems and data structures. Proficiency in DAA is crucial to performing well in coding interviews.</a:t>
            </a:r>
          </a:p>
          <a:p>
            <a:r>
              <a:rPr lang="en-US" sz="1200" b="1" dirty="0"/>
              <a:t>Competitive Programming</a:t>
            </a:r>
            <a:r>
              <a:rPr lang="en-US" sz="1200" dirty="0"/>
              <a:t>: Participation in competitive programming platforms (e.g., </a:t>
            </a:r>
            <a:r>
              <a:rPr lang="en-US" sz="1200" dirty="0" err="1"/>
              <a:t>Codeforces</a:t>
            </a:r>
            <a:r>
              <a:rPr lang="en-US" sz="1200" dirty="0"/>
              <a:t>, </a:t>
            </a:r>
            <a:r>
              <a:rPr lang="en-US" sz="1200" dirty="0" err="1"/>
              <a:t>LeetCode</a:t>
            </a:r>
            <a:r>
              <a:rPr lang="en-US" sz="1200" dirty="0"/>
              <a:t>, </a:t>
            </a:r>
            <a:r>
              <a:rPr lang="en-US" sz="1200" dirty="0" err="1"/>
              <a:t>HackerRank</a:t>
            </a:r>
            <a:r>
              <a:rPr lang="en-US" sz="1200" dirty="0"/>
              <a:t>) often requires a deep understanding of DAA. Success in these platforms can significantly boost a candidate’s profile.</a:t>
            </a:r>
          </a:p>
          <a:p>
            <a:pPr marL="76200" indent="0">
              <a:buNone/>
            </a:pPr>
            <a:r>
              <a:rPr lang="en-US" sz="1600" b="1" dirty="0"/>
              <a:t>Foundation for Advanced Topics</a:t>
            </a:r>
          </a:p>
          <a:p>
            <a:r>
              <a:rPr lang="en-US" sz="1200" b="1" dirty="0"/>
              <a:t>Understanding Complex Systems</a:t>
            </a:r>
            <a:r>
              <a:rPr lang="en-US" sz="1200" dirty="0"/>
              <a:t>: A solid grasp of DAA is fundamental for understanding and designing complex systems, including distributed systems, databases, and real-time processing systems.</a:t>
            </a:r>
          </a:p>
          <a:p>
            <a:r>
              <a:rPr lang="en-US" sz="1200" b="1" dirty="0"/>
              <a:t>Efficient Coding Practices</a:t>
            </a:r>
            <a:r>
              <a:rPr lang="en-US" sz="1200" dirty="0"/>
              <a:t>: Knowledge of efficient algorithms and data structures leads to writing optimized and high-performance code, which is valued in any software development role.</a:t>
            </a:r>
          </a:p>
          <a:p>
            <a:pPr marL="457200" lvl="1" indent="0">
              <a:buNone/>
            </a:pPr>
            <a:endParaRPr lang="en-US" sz="1400" b="0" i="0" dirty="0">
              <a:solidFill>
                <a:srgbClr val="37415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935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2761340-9C25-A0FE-253E-D513F5C55DDE}"/>
              </a:ext>
            </a:extLst>
          </p:cNvPr>
          <p:cNvGraphicFramePr/>
          <p:nvPr>
            <p:extLst>
              <p:ext uri="{D42A27DB-BD31-4B8C-83A1-F6EECF244321}">
                <p14:modId xmlns:p14="http://schemas.microsoft.com/office/powerpoint/2010/main" val="895354871"/>
              </p:ext>
            </p:extLst>
          </p:nvPr>
        </p:nvGraphicFramePr>
        <p:xfrm>
          <a:off x="2223281" y="566436"/>
          <a:ext cx="6126652" cy="4928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9" name="Google Shape;179;p2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400" b="1" dirty="0"/>
              <a:t>Applicability Across Domains</a:t>
            </a:r>
          </a:p>
          <a:p>
            <a:r>
              <a:rPr lang="en-US" sz="1400" b="1" dirty="0"/>
              <a:t>Data Science and Machine Learning</a:t>
            </a:r>
            <a:r>
              <a:rPr lang="en-US" sz="1400" dirty="0"/>
              <a:t>: DAA principles are essential in developing efficient machine learning models, processing large datasets, and optimizing performance.</a:t>
            </a:r>
          </a:p>
          <a:p>
            <a:r>
              <a:rPr lang="en-US" sz="1400" b="1" dirty="0"/>
              <a:t>Cybersecurity</a:t>
            </a:r>
            <a:r>
              <a:rPr lang="en-US" sz="1400" dirty="0"/>
              <a:t>: Cryptographic algorithms and security protocols rely heavily on principles from DAA.</a:t>
            </a:r>
          </a:p>
          <a:p>
            <a:r>
              <a:rPr lang="en-US" sz="1400" b="1" dirty="0"/>
              <a:t>Web Development</a:t>
            </a:r>
            <a:r>
              <a:rPr lang="en-US" sz="1400" dirty="0"/>
              <a:t>: Efficient algorithms are crucial for backend services, optimizing search engines, and ensuring scalable web applications.</a:t>
            </a:r>
          </a:p>
          <a:p>
            <a:pPr marL="76200" indent="0">
              <a:buNone/>
            </a:pPr>
            <a:r>
              <a:rPr lang="en-US" sz="1400" b="1" dirty="0"/>
              <a:t>Enhancing Problem-Solving Mindset</a:t>
            </a:r>
          </a:p>
          <a:p>
            <a:r>
              <a:rPr lang="en-US" sz="1400" b="1" dirty="0"/>
              <a:t>Analytical Thinking</a:t>
            </a:r>
            <a:r>
              <a:rPr lang="en-US" sz="1400" dirty="0"/>
              <a:t>: Learning DAA fosters an analytical mindset, encouraging candidates to think critically about how to approach and solve complex problems.</a:t>
            </a:r>
          </a:p>
          <a:p>
            <a:r>
              <a:rPr lang="en-US" sz="1400" b="1" dirty="0"/>
              <a:t>Innovative Solutions</a:t>
            </a:r>
            <a:r>
              <a:rPr lang="en-US" sz="1400" dirty="0"/>
              <a:t>: Exposure to various algorithmic techniques (e.g., dynamic programming, greedy algorithms) enables candidates to devise innovative solutions to new and existing problems.</a:t>
            </a:r>
          </a:p>
          <a:p>
            <a:endParaRPr lang="en-US" sz="1400" b="0" i="0" dirty="0">
              <a:solidFill>
                <a:srgbClr val="37415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2761340-9C25-A0FE-253E-D513F5C55DDE}"/>
              </a:ext>
            </a:extLst>
          </p:cNvPr>
          <p:cNvGraphicFramePr/>
          <p:nvPr>
            <p:extLst>
              <p:ext uri="{D42A27DB-BD31-4B8C-83A1-F6EECF244321}">
                <p14:modId xmlns:p14="http://schemas.microsoft.com/office/powerpoint/2010/main" val="746121327"/>
              </p:ext>
            </p:extLst>
          </p:nvPr>
        </p:nvGraphicFramePr>
        <p:xfrm>
          <a:off x="2358193" y="138917"/>
          <a:ext cx="6126652" cy="4928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9" name="Google Shape;179;p26"/>
          <p:cNvSpPr txBox="1">
            <a:spLocks noGrp="1"/>
          </p:cNvSpPr>
          <p:nvPr>
            <p:ph type="body" idx="1"/>
          </p:nvPr>
        </p:nvSpPr>
        <p:spPr>
          <a:xfrm>
            <a:off x="839449" y="885750"/>
            <a:ext cx="8001000" cy="3372000"/>
          </a:xfrm>
          <a:prstGeom prst="rect">
            <a:avLst/>
          </a:prstGeom>
          <a:noFill/>
          <a:ln>
            <a:noFill/>
          </a:ln>
        </p:spPr>
        <p:txBody>
          <a:bodyPr spcFirstLastPara="1" wrap="square" lIns="91425" tIns="45700" rIns="91425" bIns="45700" anchor="t" anchorCtr="0">
            <a:noAutofit/>
          </a:bodyPr>
          <a:lstStyle/>
          <a:p>
            <a:pPr marL="76200" indent="0">
              <a:buNone/>
            </a:pPr>
            <a:r>
              <a:rPr lang="en-US" sz="1200" b="1" dirty="0"/>
              <a:t>Career Growth and Opportunities</a:t>
            </a:r>
          </a:p>
          <a:p>
            <a:r>
              <a:rPr lang="en-US" sz="1200" b="1" dirty="0"/>
              <a:t>Higher Salaries</a:t>
            </a:r>
            <a:r>
              <a:rPr lang="en-US" sz="1200" dirty="0"/>
              <a:t>: Roles that require strong algorithmic skills often come with higher salaries and better job security.</a:t>
            </a:r>
          </a:p>
          <a:p>
            <a:r>
              <a:rPr lang="en-US" sz="1200" b="1" dirty="0"/>
              <a:t>Versatile Career Path</a:t>
            </a:r>
            <a:r>
              <a:rPr lang="en-US" sz="1200" dirty="0"/>
              <a:t>: Proficiency in DAA opens doors to various career paths, including software engineering, data analysis, AI research, and more.</a:t>
            </a:r>
          </a:p>
          <a:p>
            <a:r>
              <a:rPr lang="en-US" sz="1200" b="1" dirty="0"/>
              <a:t>Leadership and Mentorship</a:t>
            </a:r>
            <a:r>
              <a:rPr lang="en-US" sz="1200" dirty="0"/>
              <a:t>: Experienced professionals with a strong foundation in DAA are well-positioned to take on leadership roles and mentor junior developers.</a:t>
            </a:r>
          </a:p>
          <a:p>
            <a:pPr marL="76200" indent="0">
              <a:buNone/>
            </a:pPr>
            <a:endParaRPr lang="en-US" sz="1200" b="1" dirty="0"/>
          </a:p>
          <a:p>
            <a:pPr marL="76200" indent="0">
              <a:buNone/>
            </a:pPr>
            <a:r>
              <a:rPr lang="en-US" sz="1200" b="1" dirty="0"/>
              <a:t>Preparation Strategies</a:t>
            </a:r>
          </a:p>
          <a:p>
            <a:r>
              <a:rPr lang="en-US" sz="1200" b="1" dirty="0"/>
              <a:t>Study Standard Texts</a:t>
            </a:r>
            <a:r>
              <a:rPr lang="en-US" sz="1200" dirty="0"/>
              <a:t>: Books like "Introduction to Algorithms" by </a:t>
            </a:r>
            <a:r>
              <a:rPr lang="en-US" sz="1200" dirty="0" err="1"/>
              <a:t>Cormen</a:t>
            </a:r>
            <a:r>
              <a:rPr lang="en-US" sz="1200" dirty="0"/>
              <a:t>, </a:t>
            </a:r>
            <a:r>
              <a:rPr lang="en-US" sz="1200" dirty="0" err="1"/>
              <a:t>Leiserson</a:t>
            </a:r>
            <a:r>
              <a:rPr lang="en-US" sz="1200" dirty="0"/>
              <a:t>, Rivest, and Stein (CLRS) are highly recommended.</a:t>
            </a:r>
          </a:p>
          <a:p>
            <a:r>
              <a:rPr lang="en-US" sz="1200" b="1" dirty="0"/>
              <a:t>Practice Regularly</a:t>
            </a:r>
            <a:r>
              <a:rPr lang="en-US" sz="1200" dirty="0"/>
              <a:t>: Regular practice on coding platforms and participating in algorithmic contests.</a:t>
            </a:r>
          </a:p>
          <a:p>
            <a:r>
              <a:rPr lang="en-US" sz="1200" b="1" dirty="0"/>
              <a:t>Understand Theoretical Foundations</a:t>
            </a:r>
            <a:r>
              <a:rPr lang="en-US" sz="1200" dirty="0"/>
              <a:t>: Deepen your understanding of the theoretical underpinnings of algorithms to better apply them in practical scenarios.</a:t>
            </a:r>
          </a:p>
          <a:p>
            <a:r>
              <a:rPr lang="en-US" sz="1200" b="1" dirty="0"/>
              <a:t>Work on Projects</a:t>
            </a:r>
            <a:r>
              <a:rPr lang="en-US" sz="1200" dirty="0"/>
              <a:t>: Apply algorithmic knowledge to real-world projects, showcasing your ability to implement efficient solutions.</a:t>
            </a:r>
          </a:p>
          <a:p>
            <a:pPr marL="742950" lvl="1" indent="-285750"/>
            <a:endParaRPr lang="en-US" sz="1400" b="0" i="0" dirty="0">
              <a:solidFill>
                <a:srgbClr val="37415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3885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819641849"/>
              </p:ext>
            </p:extLst>
          </p:nvPr>
        </p:nvGraphicFramePr>
        <p:xfrm>
          <a:off x="1690234" y="767952"/>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75632EE7-1F92-165E-AB0C-83AC0FDDDE5C}"/>
              </a:ext>
            </a:extLst>
          </p:cNvPr>
          <p:cNvGraphicFramePr>
            <a:graphicFrameLocks noGrp="1"/>
          </p:cNvGraphicFramePr>
          <p:nvPr>
            <p:extLst>
              <p:ext uri="{D42A27DB-BD31-4B8C-83A1-F6EECF244321}">
                <p14:modId xmlns:p14="http://schemas.microsoft.com/office/powerpoint/2010/main" val="1626637362"/>
              </p:ext>
            </p:extLst>
          </p:nvPr>
        </p:nvGraphicFramePr>
        <p:xfrm>
          <a:off x="572149" y="1425108"/>
          <a:ext cx="8185275" cy="3563203"/>
        </p:xfrm>
        <a:graphic>
          <a:graphicData uri="http://schemas.openxmlformats.org/drawingml/2006/table">
            <a:tbl>
              <a:tblPr/>
              <a:tblGrid>
                <a:gridCol w="8185275">
                  <a:extLst>
                    <a:ext uri="{9D8B030D-6E8A-4147-A177-3AD203B41FA5}">
                      <a16:colId xmlns:a16="http://schemas.microsoft.com/office/drawing/2014/main" val="2585717238"/>
                    </a:ext>
                  </a:extLst>
                </a:gridCol>
              </a:tblGrid>
              <a:tr h="530647">
                <a:tc>
                  <a:txBody>
                    <a:bodyPr/>
                    <a:lstStyle/>
                    <a:p>
                      <a:pPr marR="1557020" indent="57150" algn="ctr">
                        <a:lnSpc>
                          <a:spcPct val="115000"/>
                        </a:lnSpc>
                        <a:spcBef>
                          <a:spcPts val="40"/>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UNIT- 1</a:t>
                      </a: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27" marR="4792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5450332"/>
                  </a:ext>
                </a:extLst>
              </a:tr>
              <a:tr h="3032556">
                <a:tc>
                  <a:txBody>
                    <a:bodyPr/>
                    <a:lstStyle/>
                    <a:p>
                      <a:pPr indent="57150">
                        <a:lnSpc>
                          <a:spcPct val="115000"/>
                        </a:lnSpc>
                        <a:spcBef>
                          <a:spcPts val="60"/>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Chapter-1 (Algorithm and Program Performance)</a:t>
                      </a:r>
                    </a:p>
                    <a:p>
                      <a:pPr indent="57150">
                        <a:lnSpc>
                          <a:spcPct val="115000"/>
                        </a:lnSpc>
                        <a:spcBef>
                          <a:spcPts val="60"/>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Designing and analyzing algorithms, Time and Space complexity, Average and worst-case Analysis, Asymptotic notations, recurrence equations and their solution: substitution method, recursion-tree method, master method.</a:t>
                      </a:r>
                    </a:p>
                    <a:p>
                      <a:pPr indent="57150">
                        <a:lnSpc>
                          <a:spcPct val="115000"/>
                        </a:lnSpc>
                        <a:spcBef>
                          <a:spcPts val="60"/>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Chapter-2 (Review of Data Structures)</a:t>
                      </a:r>
                    </a:p>
                    <a:p>
                      <a:pPr indent="57150">
                        <a:lnSpc>
                          <a:spcPct val="115000"/>
                        </a:lnSpc>
                        <a:spcBef>
                          <a:spcPts val="60"/>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Arrays, Stacks, Queues, Pointers, Linked Lists (One –way, Two-way and circular Two-way), Hashing, Trees (BST, B Tree, balanced trees (AVL, Red black trees)), Heaps, Graphs.</a:t>
                      </a:r>
                    </a:p>
                    <a:p>
                      <a:pPr indent="57150">
                        <a:lnSpc>
                          <a:spcPct val="115000"/>
                        </a:lnSpc>
                        <a:spcBef>
                          <a:spcPts val="60"/>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Chapter-3 (Sorting Algorithm)</a:t>
                      </a:r>
                    </a:p>
                    <a:p>
                      <a:pPr indent="57150">
                        <a:lnSpc>
                          <a:spcPct val="115000"/>
                        </a:lnSpc>
                        <a:spcBef>
                          <a:spcPts val="60"/>
                        </a:spcBef>
                        <a:spcAft>
                          <a:spcPts val="1000"/>
                        </a:spcAft>
                      </a:pPr>
                      <a:r>
                        <a:rPr lang="en-US"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Sorting in linear time: counting sort, radix sort, bucket sort.</a:t>
                      </a:r>
                    </a:p>
                    <a:p>
                      <a:pPr indent="57150">
                        <a:lnSpc>
                          <a:spcPct val="115000"/>
                        </a:lnSpc>
                        <a:spcBef>
                          <a:spcPts val="60"/>
                        </a:spcBef>
                        <a:spcAft>
                          <a:spcPts val="1000"/>
                        </a:spcAft>
                      </a:pP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27" marR="47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1437775"/>
                  </a:ext>
                </a:extLst>
              </a:tr>
            </a:tbl>
          </a:graphicData>
        </a:graphic>
      </p:graphicFrame>
      <p:sp>
        <p:nvSpPr>
          <p:cNvPr id="3" name="Text Placeholder 2">
            <a:extLst>
              <a:ext uri="{FF2B5EF4-FFF2-40B4-BE49-F238E27FC236}">
                <a16:creationId xmlns:a16="http://schemas.microsoft.com/office/drawing/2014/main" id="{5BF3CABC-55CE-811F-BECF-4986427F31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03088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514081767"/>
              </p:ext>
            </p:extLst>
          </p:nvPr>
        </p:nvGraphicFramePr>
        <p:xfrm>
          <a:off x="2035975" y="634137"/>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able 4">
            <a:extLst>
              <a:ext uri="{FF2B5EF4-FFF2-40B4-BE49-F238E27FC236}">
                <a16:creationId xmlns:a16="http://schemas.microsoft.com/office/drawing/2014/main" id="{F844D3A3-E144-CCCD-D55A-B0CDF4BA8021}"/>
              </a:ext>
            </a:extLst>
          </p:cNvPr>
          <p:cNvGraphicFramePr>
            <a:graphicFrameLocks noGrp="1"/>
          </p:cNvGraphicFramePr>
          <p:nvPr>
            <p:extLst>
              <p:ext uri="{D42A27DB-BD31-4B8C-83A1-F6EECF244321}">
                <p14:modId xmlns:p14="http://schemas.microsoft.com/office/powerpoint/2010/main" val="2847229708"/>
              </p:ext>
            </p:extLst>
          </p:nvPr>
        </p:nvGraphicFramePr>
        <p:xfrm>
          <a:off x="158858" y="1228095"/>
          <a:ext cx="8826283" cy="3746861"/>
        </p:xfrm>
        <a:graphic>
          <a:graphicData uri="http://schemas.openxmlformats.org/drawingml/2006/table">
            <a:tbl>
              <a:tblPr/>
              <a:tblGrid>
                <a:gridCol w="8826283">
                  <a:extLst>
                    <a:ext uri="{9D8B030D-6E8A-4147-A177-3AD203B41FA5}">
                      <a16:colId xmlns:a16="http://schemas.microsoft.com/office/drawing/2014/main" val="1316885351"/>
                    </a:ext>
                  </a:extLst>
                </a:gridCol>
              </a:tblGrid>
              <a:tr h="195028">
                <a:tc>
                  <a:txBody>
                    <a:bodyPr/>
                    <a:lstStyle/>
                    <a:p>
                      <a:pPr indent="57150" algn="ctr">
                        <a:lnSpc>
                          <a:spcPct val="115000"/>
                        </a:lnSpc>
                        <a:spcBef>
                          <a:spcPts val="55"/>
                        </a:spcBef>
                        <a:spcAft>
                          <a:spcPts val="1000"/>
                        </a:spcAft>
                      </a:pPr>
                      <a:r>
                        <a:rPr lang="en-US"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UNIT- 2</a:t>
                      </a:r>
                      <a:endPar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8586" marR="5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526228"/>
                  </a:ext>
                </a:extLst>
              </a:tr>
              <a:tr h="3551833">
                <a:tc>
                  <a:txBody>
                    <a:bodyPr/>
                    <a:lstStyle/>
                    <a:p>
                      <a:pPr indent="57150">
                        <a:lnSpc>
                          <a:spcPct val="115000"/>
                        </a:lnSpc>
                        <a:spcBef>
                          <a:spcPts val="55"/>
                        </a:spcBef>
                        <a:spcAft>
                          <a:spcPts val="1000"/>
                        </a:spcAft>
                      </a:pPr>
                      <a:r>
                        <a:rPr lang="en-IN"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Chapter-4 (Divide and Conquer &amp; Greedy Algorithms)</a:t>
                      </a:r>
                    </a:p>
                    <a:p>
                      <a:pPr indent="57150">
                        <a:lnSpc>
                          <a:spcPct val="115000"/>
                        </a:lnSpc>
                        <a:spcBef>
                          <a:spcPts val="55"/>
                        </a:spcBef>
                        <a:spcAft>
                          <a:spcPts val="1000"/>
                        </a:spcAft>
                      </a:pPr>
                      <a:r>
                        <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Divide and conquer: The General method, Binary search, Finding maximum and minimum of a sequence of numbers, 2-way Merge sort, Quick sort, Selection sort, Strassen’s matrix multiplication.</a:t>
                      </a:r>
                    </a:p>
                    <a:p>
                      <a:pPr indent="57150">
                        <a:lnSpc>
                          <a:spcPct val="115000"/>
                        </a:lnSpc>
                        <a:spcBef>
                          <a:spcPts val="55"/>
                        </a:spcBef>
                        <a:spcAft>
                          <a:spcPts val="1000"/>
                        </a:spcAft>
                      </a:pPr>
                      <a:r>
                        <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Greedy algorithms: The general method, Fractional Knapsack problem, Minimum cost spanning tree: Prim’s Algorithm, Kruskal Algorithm; Huffman coding, Optimal merge patterns</a:t>
                      </a:r>
                    </a:p>
                    <a:p>
                      <a:pPr indent="57150">
                        <a:lnSpc>
                          <a:spcPct val="115000"/>
                        </a:lnSpc>
                        <a:spcBef>
                          <a:spcPts val="55"/>
                        </a:spcBef>
                        <a:spcAft>
                          <a:spcPts val="1000"/>
                        </a:spcAft>
                      </a:pPr>
                      <a:r>
                        <a:rPr lang="en-IN"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Chapter-5 (Dynamic Programming)</a:t>
                      </a:r>
                    </a:p>
                    <a:p>
                      <a:pPr indent="57150">
                        <a:lnSpc>
                          <a:spcPct val="115000"/>
                        </a:lnSpc>
                        <a:spcBef>
                          <a:spcPts val="55"/>
                        </a:spcBef>
                        <a:spcAft>
                          <a:spcPts val="1000"/>
                        </a:spcAft>
                      </a:pPr>
                      <a:r>
                        <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The general method, 0/1 knapsack, Subset Sum problem, Change making problem, optimal binary search tree, Matrix-chain Multiplication, longest common Subsequence Problem, Travelling salesman problem. Comparison of Divide &amp; Conquer and Dynamic Programming techniques.</a:t>
                      </a:r>
                    </a:p>
                    <a:p>
                      <a:pPr indent="57150">
                        <a:lnSpc>
                          <a:spcPct val="115000"/>
                        </a:lnSpc>
                        <a:spcBef>
                          <a:spcPts val="55"/>
                        </a:spcBef>
                        <a:spcAft>
                          <a:spcPts val="1000"/>
                        </a:spcAft>
                      </a:pPr>
                      <a:r>
                        <a:rPr lang="en-IN"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Chapter-6 (Backtracking &amp; Branch and Bound)</a:t>
                      </a:r>
                    </a:p>
                    <a:p>
                      <a:pPr indent="57150">
                        <a:lnSpc>
                          <a:spcPct val="115000"/>
                        </a:lnSpc>
                        <a:spcBef>
                          <a:spcPts val="55"/>
                        </a:spcBef>
                        <a:spcAft>
                          <a:spcPts val="1000"/>
                        </a:spcAft>
                      </a:pPr>
                      <a:r>
                        <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Backtracking: The general method, N-queen’s problem, sum-of-subsets, Hamiltonian cycles.</a:t>
                      </a:r>
                    </a:p>
                    <a:p>
                      <a:pPr indent="57150">
                        <a:lnSpc>
                          <a:spcPct val="115000"/>
                        </a:lnSpc>
                        <a:spcBef>
                          <a:spcPts val="55"/>
                        </a:spcBef>
                        <a:spcAft>
                          <a:spcPts val="1000"/>
                        </a:spcAft>
                      </a:pPr>
                      <a:r>
                        <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Branch and Bound: Branch and Bound method, 0/1 Knapsack problem, Travelling salesperson problem.</a:t>
                      </a:r>
                    </a:p>
                  </a:txBody>
                  <a:tcPr marL="58586" marR="5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6440648"/>
                  </a:ext>
                </a:extLst>
              </a:tr>
            </a:tbl>
          </a:graphicData>
        </a:graphic>
      </p:graphicFrame>
    </p:spTree>
    <p:extLst>
      <p:ext uri="{BB962C8B-B14F-4D97-AF65-F5344CB8AC3E}">
        <p14:creationId xmlns:p14="http://schemas.microsoft.com/office/powerpoint/2010/main" val="67673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228923038"/>
              </p:ext>
            </p:extLst>
          </p:nvPr>
        </p:nvGraphicFramePr>
        <p:xfrm>
          <a:off x="1690234" y="767952"/>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able 4">
            <a:extLst>
              <a:ext uri="{FF2B5EF4-FFF2-40B4-BE49-F238E27FC236}">
                <a16:creationId xmlns:a16="http://schemas.microsoft.com/office/drawing/2014/main" id="{AD17BA92-F374-22FF-F273-F18784D42EC9}"/>
              </a:ext>
            </a:extLst>
          </p:cNvPr>
          <p:cNvGraphicFramePr>
            <a:graphicFrameLocks noGrp="1"/>
          </p:cNvGraphicFramePr>
          <p:nvPr>
            <p:extLst>
              <p:ext uri="{D42A27DB-BD31-4B8C-83A1-F6EECF244321}">
                <p14:modId xmlns:p14="http://schemas.microsoft.com/office/powerpoint/2010/main" val="4029161176"/>
              </p:ext>
            </p:extLst>
          </p:nvPr>
        </p:nvGraphicFramePr>
        <p:xfrm>
          <a:off x="431179" y="1405054"/>
          <a:ext cx="8259337" cy="3531156"/>
        </p:xfrm>
        <a:graphic>
          <a:graphicData uri="http://schemas.openxmlformats.org/drawingml/2006/table">
            <a:tbl>
              <a:tblPr/>
              <a:tblGrid>
                <a:gridCol w="8259337">
                  <a:extLst>
                    <a:ext uri="{9D8B030D-6E8A-4147-A177-3AD203B41FA5}">
                      <a16:colId xmlns:a16="http://schemas.microsoft.com/office/drawing/2014/main" val="4215732116"/>
                    </a:ext>
                  </a:extLst>
                </a:gridCol>
              </a:tblGrid>
              <a:tr h="304795">
                <a:tc>
                  <a:txBody>
                    <a:bodyPr/>
                    <a:lstStyle/>
                    <a:p>
                      <a:pPr marL="90170" indent="57150" algn="ctr">
                        <a:lnSpc>
                          <a:spcPct val="115000"/>
                        </a:lnSpc>
                        <a:spcBef>
                          <a:spcPts val="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UNIT- 3</a:t>
                      </a: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5393172"/>
                  </a:ext>
                </a:extLst>
              </a:tr>
              <a:tr h="3226361">
                <a:tc>
                  <a:txBody>
                    <a:bodyPr/>
                    <a:lstStyle/>
                    <a:p>
                      <a:pPr algn="just">
                        <a:lnSpc>
                          <a:spcPct val="115000"/>
                        </a:lnSpc>
                        <a:spcBef>
                          <a:spcPts val="15"/>
                        </a:spcBef>
                        <a:spcAft>
                          <a:spcPts val="1000"/>
                        </a:spcAft>
                      </a:pPr>
                      <a:r>
                        <a:rPr lang="en-IN"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Chapter-7 (Graph Algorithms)</a:t>
                      </a:r>
                    </a:p>
                    <a:p>
                      <a:pPr algn="just">
                        <a:lnSpc>
                          <a:spcPct val="115000"/>
                        </a:lnSpc>
                        <a:spcBef>
                          <a:spcPts val="15"/>
                        </a:spcBef>
                        <a:spcAft>
                          <a:spcPts val="1000"/>
                        </a:spcAft>
                      </a:pPr>
                      <a:r>
                        <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Representation of Graphs, Depth First Search, Breadth First search, Topological sort, Single source shortest path: Dijkstra Algorithm&amp; Bellman Ford Algorithm. All-pair shortest paths: Floyd </a:t>
                      </a:r>
                      <a:r>
                        <a:rPr lang="en-IN" sz="1400" kern="100" dirty="0" err="1">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Warshall</a:t>
                      </a:r>
                      <a:r>
                        <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 Algorithm, Minimum Spanning Tree: </a:t>
                      </a:r>
                      <a:r>
                        <a:rPr lang="en-IN" sz="1400" kern="100" dirty="0" err="1">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Sollin’s</a:t>
                      </a:r>
                      <a:r>
                        <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 algorithm.</a:t>
                      </a:r>
                    </a:p>
                    <a:p>
                      <a:pPr algn="just">
                        <a:lnSpc>
                          <a:spcPct val="115000"/>
                        </a:lnSpc>
                        <a:spcBef>
                          <a:spcPts val="15"/>
                        </a:spcBef>
                        <a:spcAft>
                          <a:spcPts val="1000"/>
                        </a:spcAft>
                      </a:pPr>
                      <a:r>
                        <a:rPr lang="en-IN"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Chapter-8 (Computational Complexity)</a:t>
                      </a:r>
                    </a:p>
                    <a:p>
                      <a:pPr algn="just">
                        <a:lnSpc>
                          <a:spcPct val="115000"/>
                        </a:lnSpc>
                        <a:spcBef>
                          <a:spcPts val="15"/>
                        </a:spcBef>
                        <a:spcAft>
                          <a:spcPts val="1000"/>
                        </a:spcAft>
                      </a:pPr>
                      <a:r>
                        <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Basic concepts, P and NP-classes, proof of NP-hard and NP-completeness.</a:t>
                      </a:r>
                    </a:p>
                    <a:p>
                      <a:pPr algn="just">
                        <a:lnSpc>
                          <a:spcPct val="115000"/>
                        </a:lnSpc>
                        <a:spcBef>
                          <a:spcPts val="15"/>
                        </a:spcBef>
                        <a:spcAft>
                          <a:spcPts val="1000"/>
                        </a:spcAft>
                      </a:pPr>
                      <a:r>
                        <a:rPr lang="en-IN"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Chapter-9 (Miscellaneous Topics)</a:t>
                      </a:r>
                    </a:p>
                    <a:p>
                      <a:pPr algn="just">
                        <a:lnSpc>
                          <a:spcPct val="115000"/>
                        </a:lnSpc>
                        <a:spcBef>
                          <a:spcPts val="15"/>
                        </a:spcBef>
                        <a:spcAft>
                          <a:spcPts val="1000"/>
                        </a:spcAft>
                      </a:pPr>
                      <a:r>
                        <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Euclid Algorithm for GCD of 2 numbers, modulo arithmetic, Chinese remainder theorem, string manipulation/matching algorithms: Rabin Karp algorithm, KMP (Knuth-Morris-Pratt) algorithm, Boyer-Moore algorithm; Convex Hull.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6246491"/>
                  </a:ext>
                </a:extLst>
              </a:tr>
            </a:tbl>
          </a:graphicData>
        </a:graphic>
      </p:graphicFrame>
      <p:sp>
        <p:nvSpPr>
          <p:cNvPr id="3" name="Text Placeholder 2">
            <a:extLst>
              <a:ext uri="{FF2B5EF4-FFF2-40B4-BE49-F238E27FC236}">
                <a16:creationId xmlns:a16="http://schemas.microsoft.com/office/drawing/2014/main" id="{97484F83-988F-3034-64A0-0B814C8DAD4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588631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A26C1E-6888-977C-A53E-33B45E032EF7}"/>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20</a:t>
            </a:r>
          </a:p>
        </p:txBody>
      </p:sp>
      <p:pic>
        <p:nvPicPr>
          <p:cNvPr id="8" name="Picture 7">
            <a:extLst>
              <a:ext uri="{FF2B5EF4-FFF2-40B4-BE49-F238E27FC236}">
                <a16:creationId xmlns:a16="http://schemas.microsoft.com/office/drawing/2014/main" id="{9FE220E8-FDFB-1EBE-C244-E5C160A4E4CA}"/>
              </a:ext>
            </a:extLst>
          </p:cNvPr>
          <p:cNvPicPr>
            <a:picLocks noChangeAspect="1"/>
          </p:cNvPicPr>
          <p:nvPr/>
        </p:nvPicPr>
        <p:blipFill>
          <a:blip r:embed="rId3"/>
          <a:stretch>
            <a:fillRect/>
          </a:stretch>
        </p:blipFill>
        <p:spPr>
          <a:xfrm>
            <a:off x="2079505" y="641067"/>
            <a:ext cx="5270509" cy="4502433"/>
          </a:xfrm>
          <a:prstGeom prst="rect">
            <a:avLst/>
          </a:prstGeom>
        </p:spPr>
      </p:pic>
      <p:graphicFrame>
        <p:nvGraphicFramePr>
          <p:cNvPr id="2" name="Diagram 1">
            <a:extLst>
              <a:ext uri="{FF2B5EF4-FFF2-40B4-BE49-F238E27FC236}">
                <a16:creationId xmlns:a16="http://schemas.microsoft.com/office/drawing/2014/main" id="{7F956FE3-CB00-2252-BB38-0ED00EFB00FD}"/>
              </a:ext>
            </a:extLst>
          </p:cNvPr>
          <p:cNvGraphicFramePr/>
          <p:nvPr>
            <p:extLst>
              <p:ext uri="{D42A27DB-BD31-4B8C-83A1-F6EECF244321}">
                <p14:modId xmlns:p14="http://schemas.microsoft.com/office/powerpoint/2010/main" val="3920708412"/>
              </p:ext>
            </p:extLst>
          </p:nvPr>
        </p:nvGraphicFramePr>
        <p:xfrm>
          <a:off x="1793986" y="136235"/>
          <a:ext cx="6160169" cy="4791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00228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A26C1E-6888-977C-A53E-33B45E032EF7}"/>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21</a:t>
            </a:r>
          </a:p>
        </p:txBody>
      </p:sp>
      <p:pic>
        <p:nvPicPr>
          <p:cNvPr id="9" name="Picture 8">
            <a:extLst>
              <a:ext uri="{FF2B5EF4-FFF2-40B4-BE49-F238E27FC236}">
                <a16:creationId xmlns:a16="http://schemas.microsoft.com/office/drawing/2014/main" id="{0F6374BC-2E51-2F12-22DF-FD621117CA1C}"/>
              </a:ext>
            </a:extLst>
          </p:cNvPr>
          <p:cNvPicPr>
            <a:picLocks noChangeAspect="1"/>
          </p:cNvPicPr>
          <p:nvPr/>
        </p:nvPicPr>
        <p:blipFill>
          <a:blip r:embed="rId3"/>
          <a:stretch>
            <a:fillRect/>
          </a:stretch>
        </p:blipFill>
        <p:spPr>
          <a:xfrm>
            <a:off x="2196568" y="662026"/>
            <a:ext cx="4972050" cy="4403960"/>
          </a:xfrm>
          <a:prstGeom prst="rect">
            <a:avLst/>
          </a:prstGeom>
        </p:spPr>
      </p:pic>
      <p:grpSp>
        <p:nvGrpSpPr>
          <p:cNvPr id="2" name="Group 1">
            <a:extLst>
              <a:ext uri="{FF2B5EF4-FFF2-40B4-BE49-F238E27FC236}">
                <a16:creationId xmlns:a16="http://schemas.microsoft.com/office/drawing/2014/main" id="{9807CA28-C49F-4824-41D3-BF482C773F0F}"/>
              </a:ext>
            </a:extLst>
          </p:cNvPr>
          <p:cNvGrpSpPr/>
          <p:nvPr/>
        </p:nvGrpSpPr>
        <p:grpSpPr>
          <a:xfrm>
            <a:off x="1754961" y="154337"/>
            <a:ext cx="6160169" cy="478854"/>
            <a:chOff x="0" y="130"/>
            <a:chExt cx="6160169" cy="478854"/>
          </a:xfrm>
          <a:scene3d>
            <a:camera prst="orthographicFront"/>
            <a:lightRig rig="flat" dir="t"/>
          </a:scene3d>
        </p:grpSpPr>
        <p:sp>
          <p:nvSpPr>
            <p:cNvPr id="3" name="Rectangle: Rounded Corners 2">
              <a:extLst>
                <a:ext uri="{FF2B5EF4-FFF2-40B4-BE49-F238E27FC236}">
                  <a16:creationId xmlns:a16="http://schemas.microsoft.com/office/drawing/2014/main" id="{25A2CF8D-BE25-7D8B-56D0-E72A8B6A8C1D}"/>
                </a:ext>
              </a:extLst>
            </p:cNvPr>
            <p:cNvSpPr/>
            <p:nvPr/>
          </p:nvSpPr>
          <p:spPr>
            <a:xfrm>
              <a:off x="0" y="130"/>
              <a:ext cx="6160169" cy="478854"/>
            </a:xfrm>
            <a:prstGeom prst="roundRect">
              <a:avLst/>
            </a:prstGeom>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en-IN"/>
            </a:p>
          </p:txBody>
        </p:sp>
        <p:sp>
          <p:nvSpPr>
            <p:cNvPr id="4" name="Rectangle: Rounded Corners 4">
              <a:extLst>
                <a:ext uri="{FF2B5EF4-FFF2-40B4-BE49-F238E27FC236}">
                  <a16:creationId xmlns:a16="http://schemas.microsoft.com/office/drawing/2014/main" id="{44D524C2-CB8F-BAF5-8F1C-76EAFAE162F7}"/>
                </a:ext>
              </a:extLst>
            </p:cNvPr>
            <p:cNvSpPr txBox="1"/>
            <p:nvPr/>
          </p:nvSpPr>
          <p:spPr>
            <a:xfrm>
              <a:off x="23376" y="23506"/>
              <a:ext cx="6113417" cy="432102"/>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ctr">
                <a:lnSpc>
                  <a:spcPct val="90000"/>
                </a:lnSpc>
                <a:buSzPts val="1900"/>
              </a:pPr>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EST Model QP</a:t>
              </a:r>
            </a:p>
          </p:txBody>
        </p:sp>
      </p:grpSp>
    </p:spTree>
    <p:extLst>
      <p:ext uri="{BB962C8B-B14F-4D97-AF65-F5344CB8AC3E}">
        <p14:creationId xmlns:p14="http://schemas.microsoft.com/office/powerpoint/2010/main" val="794988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A26C1E-6888-977C-A53E-33B45E032EF7}"/>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16C89A12-D32D-01FD-D1BD-BD7FBD68E39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22</a:t>
            </a:r>
          </a:p>
        </p:txBody>
      </p:sp>
      <p:pic>
        <p:nvPicPr>
          <p:cNvPr id="8" name="Picture 7">
            <a:extLst>
              <a:ext uri="{FF2B5EF4-FFF2-40B4-BE49-F238E27FC236}">
                <a16:creationId xmlns:a16="http://schemas.microsoft.com/office/drawing/2014/main" id="{29FC180A-7C60-E3C6-7CA5-EBB925E3F64A}"/>
              </a:ext>
            </a:extLst>
          </p:cNvPr>
          <p:cNvPicPr>
            <a:picLocks noChangeAspect="1"/>
          </p:cNvPicPr>
          <p:nvPr/>
        </p:nvPicPr>
        <p:blipFill>
          <a:blip r:embed="rId3"/>
          <a:stretch>
            <a:fillRect/>
          </a:stretch>
        </p:blipFill>
        <p:spPr>
          <a:xfrm>
            <a:off x="2890346" y="794958"/>
            <a:ext cx="4183116" cy="3541868"/>
          </a:xfrm>
          <a:prstGeom prst="rect">
            <a:avLst/>
          </a:prstGeom>
        </p:spPr>
      </p:pic>
      <p:grpSp>
        <p:nvGrpSpPr>
          <p:cNvPr id="6" name="Group 5">
            <a:extLst>
              <a:ext uri="{FF2B5EF4-FFF2-40B4-BE49-F238E27FC236}">
                <a16:creationId xmlns:a16="http://schemas.microsoft.com/office/drawing/2014/main" id="{AA8EBE4C-78DF-B730-8688-D30C9BAA96BB}"/>
              </a:ext>
            </a:extLst>
          </p:cNvPr>
          <p:cNvGrpSpPr/>
          <p:nvPr/>
        </p:nvGrpSpPr>
        <p:grpSpPr>
          <a:xfrm>
            <a:off x="1901819" y="154337"/>
            <a:ext cx="6160169" cy="478854"/>
            <a:chOff x="0" y="130"/>
            <a:chExt cx="6160169" cy="478854"/>
          </a:xfrm>
          <a:scene3d>
            <a:camera prst="orthographicFront"/>
            <a:lightRig rig="flat" dir="t"/>
          </a:scene3d>
        </p:grpSpPr>
        <p:sp>
          <p:nvSpPr>
            <p:cNvPr id="9" name="Rectangle: Rounded Corners 8">
              <a:extLst>
                <a:ext uri="{FF2B5EF4-FFF2-40B4-BE49-F238E27FC236}">
                  <a16:creationId xmlns:a16="http://schemas.microsoft.com/office/drawing/2014/main" id="{E87189C1-1B21-805B-882F-77A99CDC775C}"/>
                </a:ext>
              </a:extLst>
            </p:cNvPr>
            <p:cNvSpPr/>
            <p:nvPr/>
          </p:nvSpPr>
          <p:spPr>
            <a:xfrm>
              <a:off x="0" y="130"/>
              <a:ext cx="6160169" cy="478854"/>
            </a:xfrm>
            <a:prstGeom prst="roundRect">
              <a:avLst/>
            </a:prstGeom>
            <a:sp3d prstMaterial="dkEdge">
              <a:bevelT w="8200" h="38100"/>
            </a:sp3d>
          </p:spPr>
          <p:style>
            <a:lnRef idx="0">
              <a:schemeClr val="lt1">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endParaRPr lang="en-IN"/>
            </a:p>
          </p:txBody>
        </p:sp>
        <p:sp>
          <p:nvSpPr>
            <p:cNvPr id="10" name="Rectangle: Rounded Corners 4">
              <a:extLst>
                <a:ext uri="{FF2B5EF4-FFF2-40B4-BE49-F238E27FC236}">
                  <a16:creationId xmlns:a16="http://schemas.microsoft.com/office/drawing/2014/main" id="{38E616DA-4F06-EEE0-4C8E-657BAD40EF37}"/>
                </a:ext>
              </a:extLst>
            </p:cNvPr>
            <p:cNvSpPr txBox="1"/>
            <p:nvPr/>
          </p:nvSpPr>
          <p:spPr>
            <a:xfrm>
              <a:off x="23376" y="23506"/>
              <a:ext cx="6113417" cy="432102"/>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121920" tIns="121920" rIns="121920" bIns="121920" numCol="1" spcCol="1270" anchor="ctr" anchorCtr="0">
              <a:noAutofit/>
            </a:bodyPr>
            <a:lstStyle/>
            <a:p>
              <a:pPr lvl="0" algn="ctr">
                <a:lnSpc>
                  <a:spcPct val="90000"/>
                </a:lnSpc>
                <a:buSzPts val="1900"/>
              </a:pPr>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EST Model QP</a:t>
              </a:r>
            </a:p>
          </p:txBody>
        </p:sp>
      </p:grpSp>
    </p:spTree>
    <p:extLst>
      <p:ext uri="{BB962C8B-B14F-4D97-AF65-F5344CB8AC3E}">
        <p14:creationId xmlns:p14="http://schemas.microsoft.com/office/powerpoint/2010/main" val="2083638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3551C2D-02E7-4E0F-77B2-69761EF010D3}"/>
              </a:ext>
            </a:extLst>
          </p:cNvPr>
          <p:cNvGraphicFramePr/>
          <p:nvPr>
            <p:extLst>
              <p:ext uri="{D42A27DB-BD31-4B8C-83A1-F6EECF244321}">
                <p14:modId xmlns:p14="http://schemas.microsoft.com/office/powerpoint/2010/main" val="421292251"/>
              </p:ext>
            </p:extLst>
          </p:nvPr>
        </p:nvGraphicFramePr>
        <p:xfrm>
          <a:off x="1534418" y="713550"/>
          <a:ext cx="7011546"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7" name="Google Shape;20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nSpc>
                <a:spcPct val="115000"/>
              </a:lnSpc>
              <a:spcBef>
                <a:spcPts val="440"/>
              </a:spcBef>
              <a:spcAft>
                <a:spcPts val="0"/>
              </a:spcAft>
              <a:buNone/>
              <a:tabLst>
                <a:tab pos="334010" algn="l"/>
              </a:tabLst>
            </a:pPr>
            <a:r>
              <a:rPr lang="en-US" sz="12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200" b="1" kern="0" dirty="0">
              <a:solidFill>
                <a:srgbClr val="365F9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171450" indent="-171450"/>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Cormen</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 H.,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Leiserson</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 E., Rivest, R. L., &amp; Stein, C. (2022). Introduction to Algorithms (4th ed.). The MIT Press.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Horowitz, E., Sahni, S., &amp;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Rajasekaran</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 (2008). Fundamentals of Computer Algorithms (2nd ed.). Universities Press (India).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indent="-171450">
              <a:spcAft>
                <a:spcPts val="100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Sedgewick, R., &amp; Wayne, K. (2011). </a:t>
            </a:r>
            <a:r>
              <a:rPr lang="en-US" sz="12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Algorithms</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(4th ed.). Addison-Wesley.</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marL="0" indent="0">
              <a:spcAft>
                <a:spcPts val="1000"/>
              </a:spcAft>
              <a:buNone/>
            </a:pPr>
            <a:r>
              <a:rPr lang="en-US" sz="1200" b="1" kern="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200" b="1" kern="0" dirty="0">
              <a:solidFill>
                <a:srgbClr val="365F9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171450" marR="76200" indent="-171450">
              <a:tabLst>
                <a:tab pos="304800" algn="l"/>
              </a:tabLs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Tenenbaum, A. M.,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Augenstein</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 J., &amp;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Langsam</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Y. (2009). Data Structures using C and C++ (2nd ed.). Prentice Hall of India.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76200" indent="-171450">
              <a:tabLst>
                <a:tab pos="304800" algn="l"/>
              </a:tabLs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Brassard, G., &amp; Bratley, P. (1996). Fundamentals of Algorithmics. Prentice Hall of India.</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76200" indent="-171450">
              <a:tabLst>
                <a:tab pos="304800" algn="l"/>
              </a:tabLs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Knuth, D. E. (2011). The Art of Computer Programming, Volume 1: Fundamental Algorithms (3rd ed.). Addison-Wesley.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76200" indent="-171450">
              <a:tabLst>
                <a:tab pos="304800" algn="l"/>
              </a:tabLst>
            </a:pP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Lipschutz</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 (2014). Data Structures, </a:t>
            </a: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Schaum's</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Outline Series (2nd ed.). Tata McGraw-Hill.</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76200" indent="-171450">
              <a:tabLst>
                <a:tab pos="304800" algn="l"/>
              </a:tabLs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Kruse, R. L., Tondo, C. L., &amp; Leung, B. (1997). Data Structures and Program Design in C (2nd ed.). Prentice Hall.</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171450" marR="76200" indent="-171450">
              <a:spcAft>
                <a:spcPts val="1000"/>
              </a:spcAft>
              <a:tabLst>
                <a:tab pos="304800" algn="l"/>
              </a:tabLst>
            </a:pPr>
            <a:r>
              <a:rPr lang="en-US" sz="12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Aho</a:t>
            </a: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 V., Hopcroft, J. E., &amp; Ullman, J. D. (1974). The Design and Analysis of Computer Algorithms. Pearson.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190500" algn="l" rtl="0">
              <a:spcBef>
                <a:spcPts val="480"/>
              </a:spcBef>
              <a:spcAft>
                <a:spcPts val="0"/>
              </a:spcAft>
              <a:buClr>
                <a:schemeClr val="dk1"/>
              </a:buClr>
              <a:buSzPts val="2400"/>
              <a:buFont typeface="Arial"/>
              <a:buNone/>
            </a:pPr>
            <a:endParaRPr sz="1200" b="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6A4B0096-148B-D332-539F-BF26E56A7223}"/>
              </a:ext>
            </a:extLst>
          </p:cNvPr>
          <p:cNvGraphicFramePr/>
          <p:nvPr>
            <p:extLst>
              <p:ext uri="{D42A27DB-BD31-4B8C-83A1-F6EECF244321}">
                <p14:modId xmlns:p14="http://schemas.microsoft.com/office/powerpoint/2010/main" val="3598368108"/>
              </p:ext>
            </p:extLst>
          </p:nvPr>
        </p:nvGraphicFramePr>
        <p:xfrm>
          <a:off x="2220751" y="256350"/>
          <a:ext cx="6186523"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able 4">
            <a:extLst>
              <a:ext uri="{FF2B5EF4-FFF2-40B4-BE49-F238E27FC236}">
                <a16:creationId xmlns:a16="http://schemas.microsoft.com/office/drawing/2014/main" id="{011E0AFD-E9FB-99FF-C3C7-550742B9CFD2}"/>
              </a:ext>
            </a:extLst>
          </p:cNvPr>
          <p:cNvGraphicFramePr>
            <a:graphicFrameLocks noGrp="1"/>
          </p:cNvGraphicFramePr>
          <p:nvPr>
            <p:extLst>
              <p:ext uri="{D42A27DB-BD31-4B8C-83A1-F6EECF244321}">
                <p14:modId xmlns:p14="http://schemas.microsoft.com/office/powerpoint/2010/main" val="4027350862"/>
              </p:ext>
            </p:extLst>
          </p:nvPr>
        </p:nvGraphicFramePr>
        <p:xfrm>
          <a:off x="1056087" y="1031972"/>
          <a:ext cx="6640643" cy="3855178"/>
        </p:xfrm>
        <a:graphic>
          <a:graphicData uri="http://schemas.openxmlformats.org/drawingml/2006/table">
            <a:tbl>
              <a:tblPr bandRow="1">
                <a:tableStyleId>{5C22544A-7EE6-4342-B048-85BDC9FD1C3A}</a:tableStyleId>
              </a:tblPr>
              <a:tblGrid>
                <a:gridCol w="1482344">
                  <a:extLst>
                    <a:ext uri="{9D8B030D-6E8A-4147-A177-3AD203B41FA5}">
                      <a16:colId xmlns:a16="http://schemas.microsoft.com/office/drawing/2014/main" val="479905550"/>
                    </a:ext>
                  </a:extLst>
                </a:gridCol>
                <a:gridCol w="5158299">
                  <a:extLst>
                    <a:ext uri="{9D8B030D-6E8A-4147-A177-3AD203B41FA5}">
                      <a16:colId xmlns:a16="http://schemas.microsoft.com/office/drawing/2014/main" val="1764393421"/>
                    </a:ext>
                  </a:extLst>
                </a:gridCol>
              </a:tblGrid>
              <a:tr h="220333">
                <a:tc>
                  <a:txBody>
                    <a:bodyPr/>
                    <a:lstStyle/>
                    <a:p>
                      <a:r>
                        <a:rPr lang="en-US" sz="800">
                          <a:effectLst/>
                        </a:rPr>
                        <a:t>Topic Name</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a:effectLst/>
                        </a:rPr>
                        <a:t>Video link</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90131825"/>
                  </a:ext>
                </a:extLst>
              </a:tr>
              <a:tr h="264070">
                <a:tc>
                  <a:txBody>
                    <a:bodyPr/>
                    <a:lstStyle/>
                    <a:p>
                      <a:r>
                        <a:rPr lang="en-US" sz="800" dirty="0">
                          <a:effectLst/>
                        </a:rPr>
                        <a:t>Asymptotic Notations    </a:t>
                      </a:r>
                      <a:endParaRPr lang="en-IN"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8"/>
                        </a:rPr>
                        <a:t>https://www.youtube.com/watch?v=7dz8Iaf_weM&amp;t=360s</a:t>
                      </a:r>
                      <a:endParaRPr lang="en-IN" sz="900">
                        <a:effectLst/>
                      </a:endParaRPr>
                    </a:p>
                    <a:p>
                      <a:r>
                        <a:rPr lang="en-US" sz="900">
                          <a:effectLst/>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4119452797"/>
                  </a:ext>
                </a:extLst>
              </a:tr>
              <a:tr h="497073">
                <a:tc>
                  <a:txBody>
                    <a:bodyPr/>
                    <a:lstStyle/>
                    <a:p>
                      <a:r>
                        <a:rPr lang="en-US" sz="800">
                          <a:effectLst/>
                        </a:rPr>
                        <a:t>Solve recurrence relation using Substitution method</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9"/>
                        </a:rPr>
                        <a:t>https://www.youtube.com/watch?v=VHGisohk3Ck</a:t>
                      </a:r>
                      <a:endParaRPr lang="en-IN" sz="900">
                        <a:effectLst/>
                      </a:endParaRPr>
                    </a:p>
                    <a:p>
                      <a:r>
                        <a:rPr lang="en-US" sz="900">
                          <a:effectLst/>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87245792"/>
                  </a:ext>
                </a:extLst>
              </a:tr>
              <a:tr h="372805">
                <a:tc>
                  <a:txBody>
                    <a:bodyPr/>
                    <a:lstStyle/>
                    <a:p>
                      <a:r>
                        <a:rPr lang="en-US" sz="800">
                          <a:effectLst/>
                        </a:rPr>
                        <a:t>Solve recurrence relation using Master Theorem</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0"/>
                        </a:rPr>
                        <a:t>https://www.youtube.com/watch?v=OynWkEj0S-s&amp;t=885s</a:t>
                      </a:r>
                      <a:endParaRPr lang="en-IN" sz="900">
                        <a:effectLst/>
                      </a:endParaRPr>
                    </a:p>
                    <a:p>
                      <a:r>
                        <a:rPr lang="en-US" sz="900">
                          <a:effectLst/>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1014433567"/>
                  </a:ext>
                </a:extLst>
              </a:tr>
              <a:tr h="372805">
                <a:tc>
                  <a:txBody>
                    <a:bodyPr/>
                    <a:lstStyle/>
                    <a:p>
                      <a:r>
                        <a:rPr lang="en-US" sz="800">
                          <a:effectLst/>
                        </a:rPr>
                        <a:t>Solve recurrence relation using Recursive tree</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1"/>
                        </a:rPr>
                        <a:t>https://www.youtube.com/watch?v=bJg_sv7PV-g&amp;t=15s</a:t>
                      </a:r>
                      <a:endParaRPr lang="en-IN" sz="900">
                        <a:effectLst/>
                      </a:endParaRPr>
                    </a:p>
                    <a:p>
                      <a:r>
                        <a:rPr lang="en-US" sz="900">
                          <a:effectLst/>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3238209764"/>
                  </a:ext>
                </a:extLst>
              </a:tr>
              <a:tr h="372805">
                <a:tc>
                  <a:txBody>
                    <a:bodyPr/>
                    <a:lstStyle/>
                    <a:p>
                      <a:r>
                        <a:rPr lang="en-US" sz="800">
                          <a:effectLst/>
                        </a:rPr>
                        <a:t>Creation, Insertion in BST tree</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2"/>
                        </a:rPr>
                        <a:t>https://www.youtube.com/watch?v=cySVml6e_Fc</a:t>
                      </a:r>
                      <a:endParaRPr lang="en-IN" sz="900">
                        <a:effectLst/>
                      </a:endParaRPr>
                    </a:p>
                    <a:p>
                      <a:r>
                        <a:rPr lang="en-US" sz="900">
                          <a:effectLst/>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1158583479"/>
                  </a:ext>
                </a:extLst>
              </a:tr>
              <a:tr h="372805">
                <a:tc>
                  <a:txBody>
                    <a:bodyPr/>
                    <a:lstStyle/>
                    <a:p>
                      <a:r>
                        <a:rPr lang="en-US" sz="800">
                          <a:effectLst/>
                        </a:rPr>
                        <a:t>Creation, Insertion in AVL tree</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3"/>
                        </a:rPr>
                        <a:t>https://www.youtube.com/watch?v=YWqla0UX-38</a:t>
                      </a:r>
                      <a:endParaRPr lang="en-IN" sz="900">
                        <a:effectLst/>
                      </a:endParaRPr>
                    </a:p>
                    <a:p>
                      <a:r>
                        <a:rPr lang="en-US" sz="900">
                          <a:effectLst/>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3302976362"/>
                  </a:ext>
                </a:extLst>
              </a:tr>
              <a:tr h="248536">
                <a:tc>
                  <a:txBody>
                    <a:bodyPr/>
                    <a:lstStyle/>
                    <a:p>
                      <a:r>
                        <a:rPr lang="en-US" sz="800">
                          <a:effectLst/>
                        </a:rPr>
                        <a:t>Counting Sort algorithm</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4"/>
                        </a:rPr>
                        <a:t>https://www.youtube.com/watch?v=pEJiGC-ObQE</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3104184597"/>
                  </a:ext>
                </a:extLst>
              </a:tr>
              <a:tr h="248536">
                <a:tc>
                  <a:txBody>
                    <a:bodyPr/>
                    <a:lstStyle/>
                    <a:p>
                      <a:r>
                        <a:rPr lang="en-US" sz="800">
                          <a:effectLst/>
                        </a:rPr>
                        <a:t>Bubble Sort algorithm</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5"/>
                        </a:rPr>
                        <a:t>https://www.youtube.com/watch?v=7aVvaUK3-2s</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1872815568"/>
                  </a:ext>
                </a:extLst>
              </a:tr>
              <a:tr h="264070">
                <a:tc>
                  <a:txBody>
                    <a:bodyPr/>
                    <a:lstStyle/>
                    <a:p>
                      <a:r>
                        <a:rPr lang="en-US" sz="800">
                          <a:effectLst/>
                        </a:rPr>
                        <a:t>Radix Sort algorithm</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6"/>
                        </a:rPr>
                        <a:t>https://www.youtube.com/watch?v=6du1LrLbDpA</a:t>
                      </a:r>
                      <a:endParaRPr lang="en-IN" sz="900">
                        <a:effectLst/>
                      </a:endParaRPr>
                    </a:p>
                    <a:p>
                      <a:r>
                        <a:rPr lang="en-US" sz="900">
                          <a:effectLst/>
                        </a:rPr>
                        <a:t> </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3729134839"/>
                  </a:ext>
                </a:extLst>
              </a:tr>
              <a:tr h="124268">
                <a:tc>
                  <a:txBody>
                    <a:bodyPr/>
                    <a:lstStyle/>
                    <a:p>
                      <a:r>
                        <a:rPr lang="en-US" sz="800">
                          <a:effectLst/>
                        </a:rPr>
                        <a:t>Stack</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7"/>
                        </a:rPr>
                        <a:t>https://www.youtube.com/watch?v=7m1DMYAbdiY&amp;t=16s</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1672300017"/>
                  </a:ext>
                </a:extLst>
              </a:tr>
              <a:tr h="248536">
                <a:tc>
                  <a:txBody>
                    <a:bodyPr/>
                    <a:lstStyle/>
                    <a:p>
                      <a:r>
                        <a:rPr lang="en-US" sz="800">
                          <a:effectLst/>
                        </a:rPr>
                        <a:t>Linked Lists</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a:effectLst/>
                          <a:hlinkClick r:id="rId18"/>
                        </a:rPr>
                        <a:t>https://www.youtube.com/watch?v=q8gdBn9RPeI&amp;list=PLDzeHZWIZsTr54_TH_NK4ibFojS4mmQA6</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1705010692"/>
                  </a:ext>
                </a:extLst>
              </a:tr>
              <a:tr h="248536">
                <a:tc>
                  <a:txBody>
                    <a:bodyPr/>
                    <a:lstStyle/>
                    <a:p>
                      <a:r>
                        <a:rPr lang="en-US" sz="800">
                          <a:effectLst/>
                        </a:rPr>
                        <a:t> 2 way Merge sort</a:t>
                      </a:r>
                      <a:endParaRPr lang="en-IN"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tc>
                  <a:txBody>
                    <a:bodyPr/>
                    <a:lstStyle/>
                    <a:p>
                      <a:r>
                        <a:rPr lang="en-US" sz="800" u="sng" dirty="0">
                          <a:effectLst/>
                          <a:hlinkClick r:id="rId19"/>
                        </a:rPr>
                        <a:t>https://www.youtube.com/watch?v=6pV2IF0fgKY</a:t>
                      </a:r>
                      <a:endParaRPr lang="en-IN"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4548" marR="54548" marT="0" marB="0"/>
                </a:tc>
                <a:extLst>
                  <a:ext uri="{0D108BD9-81ED-4DB2-BD59-A6C34878D82A}">
                    <a16:rowId xmlns:a16="http://schemas.microsoft.com/office/drawing/2014/main" val="2166045141"/>
                  </a:ext>
                </a:extLst>
              </a:tr>
            </a:tbl>
          </a:graphicData>
        </a:graphic>
      </p:graphicFrame>
      <p:sp>
        <p:nvSpPr>
          <p:cNvPr id="3" name="Text Placeholder 2">
            <a:extLst>
              <a:ext uri="{FF2B5EF4-FFF2-40B4-BE49-F238E27FC236}">
                <a16:creationId xmlns:a16="http://schemas.microsoft.com/office/drawing/2014/main" id="{C2DD2F72-59AB-62A2-1FB4-BE04C4196AA6}"/>
              </a:ext>
            </a:extLst>
          </p:cNvPr>
          <p:cNvSpPr>
            <a:spLocks noGrp="1"/>
          </p:cNvSpPr>
          <p:nvPr>
            <p:ph type="body" idx="1"/>
          </p:nvPr>
        </p:nvSpPr>
        <p:spPr/>
        <p:txBody>
          <a:bodyPr/>
          <a:lstStyle/>
          <a:p>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6A4B0096-148B-D332-539F-BF26E56A7223}"/>
              </a:ext>
            </a:extLst>
          </p:cNvPr>
          <p:cNvGraphicFramePr/>
          <p:nvPr/>
        </p:nvGraphicFramePr>
        <p:xfrm>
          <a:off x="2220751" y="256350"/>
          <a:ext cx="6186523"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Table 2">
            <a:extLst>
              <a:ext uri="{FF2B5EF4-FFF2-40B4-BE49-F238E27FC236}">
                <a16:creationId xmlns:a16="http://schemas.microsoft.com/office/drawing/2014/main" id="{80F26062-8FE5-DB43-1C7D-69C64D68DF6C}"/>
              </a:ext>
            </a:extLst>
          </p:cNvPr>
          <p:cNvGraphicFramePr>
            <a:graphicFrameLocks noGrp="1"/>
          </p:cNvGraphicFramePr>
          <p:nvPr>
            <p:extLst>
              <p:ext uri="{D42A27DB-BD31-4B8C-83A1-F6EECF244321}">
                <p14:modId xmlns:p14="http://schemas.microsoft.com/office/powerpoint/2010/main" val="692928405"/>
              </p:ext>
            </p:extLst>
          </p:nvPr>
        </p:nvGraphicFramePr>
        <p:xfrm>
          <a:off x="816964" y="1206707"/>
          <a:ext cx="6985416" cy="3207896"/>
        </p:xfrm>
        <a:graphic>
          <a:graphicData uri="http://schemas.openxmlformats.org/drawingml/2006/table">
            <a:tbl>
              <a:tblPr bandRow="1">
                <a:tableStyleId>{5C22544A-7EE6-4342-B048-85BDC9FD1C3A}</a:tableStyleId>
              </a:tblPr>
              <a:tblGrid>
                <a:gridCol w="2473377">
                  <a:extLst>
                    <a:ext uri="{9D8B030D-6E8A-4147-A177-3AD203B41FA5}">
                      <a16:colId xmlns:a16="http://schemas.microsoft.com/office/drawing/2014/main" val="233532832"/>
                    </a:ext>
                  </a:extLst>
                </a:gridCol>
                <a:gridCol w="4512039">
                  <a:extLst>
                    <a:ext uri="{9D8B030D-6E8A-4147-A177-3AD203B41FA5}">
                      <a16:colId xmlns:a16="http://schemas.microsoft.com/office/drawing/2014/main" val="1725375129"/>
                    </a:ext>
                  </a:extLst>
                </a:gridCol>
              </a:tblGrid>
              <a:tr h="174373">
                <a:tc>
                  <a:txBody>
                    <a:bodyPr/>
                    <a:lstStyle/>
                    <a:p>
                      <a:pPr algn="just"/>
                      <a:r>
                        <a:rPr lang="en-US" sz="900">
                          <a:effectLst/>
                        </a:rPr>
                        <a:t>Topic Name</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a:effectLst/>
                        </a:rPr>
                        <a:t>Video link</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3544766487"/>
                  </a:ext>
                </a:extLst>
              </a:tr>
              <a:tr h="190211">
                <a:tc>
                  <a:txBody>
                    <a:bodyPr/>
                    <a:lstStyle/>
                    <a:p>
                      <a:pPr algn="just"/>
                      <a:r>
                        <a:rPr lang="en-US" sz="900">
                          <a:effectLst/>
                        </a:rPr>
                        <a:t>Binary Search    </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a:effectLst/>
                          <a:hlinkClick r:id="rId8"/>
                        </a:rPr>
                        <a:t>https://www.youtube.com/watch?v=V_T5NuccwRA</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1833669150"/>
                  </a:ext>
                </a:extLst>
              </a:tr>
              <a:tr h="388172">
                <a:tc>
                  <a:txBody>
                    <a:bodyPr/>
                    <a:lstStyle/>
                    <a:p>
                      <a:pPr algn="just"/>
                      <a:r>
                        <a:rPr lang="en-US" sz="900" dirty="0">
                          <a:effectLst/>
                        </a:rPr>
                        <a:t>Finding maximum and minimum of a sequence of numbers</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hlinkClick r:id="rId9"/>
                        </a:rPr>
                        <a:t>https://www.youtube.com/watch?v=GVFXYrMRqFw</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2248947390"/>
                  </a:ext>
                </a:extLst>
              </a:tr>
              <a:tr h="348745">
                <a:tc>
                  <a:txBody>
                    <a:bodyPr/>
                    <a:lstStyle/>
                    <a:p>
                      <a:pPr algn="just"/>
                      <a:r>
                        <a:rPr lang="en-US" sz="900">
                          <a:effectLst/>
                        </a:rPr>
                        <a:t>Strassen’s matrix multiplication</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a:effectLst/>
                          <a:hlinkClick r:id="rId10"/>
                        </a:rPr>
                        <a:t>https://www.youtube.com/results?search_query=Strassen%E2%80%99s+matrix+multiplication</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3217049700"/>
                  </a:ext>
                </a:extLst>
              </a:tr>
              <a:tr h="348198">
                <a:tc>
                  <a:txBody>
                    <a:bodyPr/>
                    <a:lstStyle/>
                    <a:p>
                      <a:pPr algn="just"/>
                      <a:r>
                        <a:rPr lang="en-US" sz="900" dirty="0">
                          <a:effectLst/>
                        </a:rPr>
                        <a:t>Fractional Knapsack problem</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a:effectLst/>
                          <a:hlinkClick r:id="rId11"/>
                        </a:rPr>
                        <a:t>https://www.youtube.com/watch?v=xZfmHVi7FMg&amp;t=2s</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728959756"/>
                  </a:ext>
                </a:extLst>
              </a:tr>
              <a:tr h="190211">
                <a:tc>
                  <a:txBody>
                    <a:bodyPr/>
                    <a:lstStyle/>
                    <a:p>
                      <a:pPr algn="just"/>
                      <a:r>
                        <a:rPr lang="en-US" sz="900">
                          <a:effectLst/>
                        </a:rPr>
                        <a:t>Huffman coding</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a:effectLst/>
                          <a:hlinkClick r:id="rId12"/>
                        </a:rPr>
                        <a:t>https://www.youtube.com/watch?v=saofdNsZiYY&amp;t=103s</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1959710849"/>
                  </a:ext>
                </a:extLst>
              </a:tr>
              <a:tr h="348198">
                <a:tc>
                  <a:txBody>
                    <a:bodyPr/>
                    <a:lstStyle/>
                    <a:p>
                      <a:pPr algn="just"/>
                      <a:r>
                        <a:rPr lang="en-US" sz="900">
                          <a:effectLst/>
                        </a:rPr>
                        <a:t>0/1 knapsack problem</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hlinkClick r:id="rId13"/>
                        </a:rPr>
                        <a:t>https://www.youtube.com/watch?v=PfkBS9qIMRE</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3052071461"/>
                  </a:ext>
                </a:extLst>
              </a:tr>
              <a:tr h="348745">
                <a:tc>
                  <a:txBody>
                    <a:bodyPr/>
                    <a:lstStyle/>
                    <a:p>
                      <a:pPr algn="just"/>
                      <a:r>
                        <a:rPr lang="en-US" sz="900">
                          <a:effectLst/>
                        </a:rPr>
                        <a:t>Subset Sum problem</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a:effectLst/>
                          <a:hlinkClick r:id="rId14"/>
                        </a:rPr>
                        <a:t>https://www.youtube.com/watch?v=dJmyfFC3-3A</a:t>
                      </a:r>
                      <a:endParaRPr lang="en-IN" sz="800">
                        <a:effectLst/>
                      </a:endParaRPr>
                    </a:p>
                    <a:p>
                      <a:pPr algn="just"/>
                      <a:r>
                        <a:rPr lang="en-US" sz="900">
                          <a:effectLst/>
                        </a:rPr>
                        <a:t> </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1954120907"/>
                  </a:ext>
                </a:extLst>
              </a:tr>
              <a:tr h="348745">
                <a:tc>
                  <a:txBody>
                    <a:bodyPr/>
                    <a:lstStyle/>
                    <a:p>
                      <a:pPr algn="just"/>
                      <a:r>
                        <a:rPr lang="en-US" sz="900">
                          <a:effectLst/>
                        </a:rPr>
                        <a:t>Matrix-chain Multiplication</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a:effectLst/>
                          <a:hlinkClick r:id="rId15"/>
                        </a:rPr>
                        <a:t>https://www.youtube.com/watch?v=prx1psByp7U</a:t>
                      </a:r>
                      <a:endParaRPr lang="en-IN" sz="800">
                        <a:effectLst/>
                      </a:endParaRPr>
                    </a:p>
                    <a:p>
                      <a:pPr algn="just"/>
                      <a:r>
                        <a:rPr lang="en-US" sz="900">
                          <a:effectLst/>
                        </a:rPr>
                        <a:t> </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3445772952"/>
                  </a:ext>
                </a:extLst>
              </a:tr>
              <a:tr h="522298">
                <a:tc>
                  <a:txBody>
                    <a:bodyPr/>
                    <a:lstStyle/>
                    <a:p>
                      <a:pPr algn="just"/>
                      <a:r>
                        <a:rPr lang="en-US" sz="900">
                          <a:effectLst/>
                        </a:rPr>
                        <a:t>Longest common Subsequence Problem</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hlinkClick r:id="rId16"/>
                        </a:rPr>
                        <a:t>https://www.youtube.com/watch?v=jHGgXV27qtk</a:t>
                      </a:r>
                      <a:endParaRPr lang="en-IN" sz="800" dirty="0">
                        <a:effectLst/>
                      </a:endParaRPr>
                    </a:p>
                    <a:p>
                      <a:pPr algn="just"/>
                      <a:r>
                        <a:rPr lang="en-US" sz="900" dirty="0">
                          <a:effectLst/>
                        </a:rPr>
                        <a:t> </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4021070749"/>
                  </a:ext>
                </a:extLst>
              </a:tr>
            </a:tbl>
          </a:graphicData>
        </a:graphic>
      </p:graphicFrame>
      <p:sp>
        <p:nvSpPr>
          <p:cNvPr id="4" name="Text Placeholder 3">
            <a:extLst>
              <a:ext uri="{FF2B5EF4-FFF2-40B4-BE49-F238E27FC236}">
                <a16:creationId xmlns:a16="http://schemas.microsoft.com/office/drawing/2014/main" id="{DCF2D989-575D-4E28-EE4C-894A2D9A9C26}"/>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7734553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6A4B0096-148B-D332-539F-BF26E56A7223}"/>
              </a:ext>
            </a:extLst>
          </p:cNvPr>
          <p:cNvGraphicFramePr/>
          <p:nvPr/>
        </p:nvGraphicFramePr>
        <p:xfrm>
          <a:off x="2220751" y="256350"/>
          <a:ext cx="6186523"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9F799EA2-DF5A-AA6B-A767-51478E8CDD87}"/>
              </a:ext>
            </a:extLst>
          </p:cNvPr>
          <p:cNvGraphicFramePr>
            <a:graphicFrameLocks noGrp="1"/>
          </p:cNvGraphicFramePr>
          <p:nvPr>
            <p:extLst>
              <p:ext uri="{D42A27DB-BD31-4B8C-83A1-F6EECF244321}">
                <p14:modId xmlns:p14="http://schemas.microsoft.com/office/powerpoint/2010/main" val="4253758710"/>
              </p:ext>
            </p:extLst>
          </p:nvPr>
        </p:nvGraphicFramePr>
        <p:xfrm>
          <a:off x="959370" y="1191716"/>
          <a:ext cx="6337196" cy="3087975"/>
        </p:xfrm>
        <a:graphic>
          <a:graphicData uri="http://schemas.openxmlformats.org/drawingml/2006/table">
            <a:tbl>
              <a:tblPr bandRow="1">
                <a:tableStyleId>{5C22544A-7EE6-4342-B048-85BDC9FD1C3A}</a:tableStyleId>
              </a:tblPr>
              <a:tblGrid>
                <a:gridCol w="2243857">
                  <a:extLst>
                    <a:ext uri="{9D8B030D-6E8A-4147-A177-3AD203B41FA5}">
                      <a16:colId xmlns:a16="http://schemas.microsoft.com/office/drawing/2014/main" val="4189148956"/>
                    </a:ext>
                  </a:extLst>
                </a:gridCol>
                <a:gridCol w="4093339">
                  <a:extLst>
                    <a:ext uri="{9D8B030D-6E8A-4147-A177-3AD203B41FA5}">
                      <a16:colId xmlns:a16="http://schemas.microsoft.com/office/drawing/2014/main" val="839435802"/>
                    </a:ext>
                  </a:extLst>
                </a:gridCol>
              </a:tblGrid>
              <a:tr h="380080">
                <a:tc>
                  <a:txBody>
                    <a:bodyPr/>
                    <a:lstStyle/>
                    <a:p>
                      <a:pPr algn="just"/>
                      <a:r>
                        <a:rPr lang="en-US" sz="900" dirty="0">
                          <a:effectLst/>
                        </a:rPr>
                        <a:t>Travelling salesman problem</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a:effectLst/>
                          <a:hlinkClick r:id="rId8"/>
                        </a:rPr>
                        <a:t>https://www.youtube.com/watch?v=hh-uFQ-MGfw</a:t>
                      </a:r>
                      <a:endParaRPr lang="en-IN" sz="800">
                        <a:effectLst/>
                      </a:endParaRPr>
                    </a:p>
                    <a:p>
                      <a:pPr algn="just"/>
                      <a:r>
                        <a:rPr lang="en-US" sz="900">
                          <a:effectLst/>
                        </a:rPr>
                        <a:t> </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629268427"/>
                  </a:ext>
                </a:extLst>
              </a:tr>
              <a:tr h="380080">
                <a:tc>
                  <a:txBody>
                    <a:bodyPr/>
                    <a:lstStyle/>
                    <a:p>
                      <a:pPr algn="just"/>
                      <a:r>
                        <a:rPr lang="en-US" sz="900" dirty="0">
                          <a:effectLst/>
                        </a:rPr>
                        <a:t>N-queen’s problem</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hlinkClick r:id="rId9"/>
                        </a:rPr>
                        <a:t>https://www.youtube.com/watch?v=xFv_Hl4B83A</a:t>
                      </a:r>
                      <a:endParaRPr lang="en-IN" sz="800" dirty="0">
                        <a:effectLst/>
                      </a:endParaRPr>
                    </a:p>
                    <a:p>
                      <a:pPr algn="just"/>
                      <a:r>
                        <a:rPr lang="en-US" sz="900" dirty="0">
                          <a:effectLst/>
                        </a:rPr>
                        <a:t> </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1573203517"/>
                  </a:ext>
                </a:extLst>
              </a:tr>
              <a:tr h="380080">
                <a:tc>
                  <a:txBody>
                    <a:bodyPr/>
                    <a:lstStyle/>
                    <a:p>
                      <a:pPr algn="just"/>
                      <a:r>
                        <a:rPr lang="en-US" sz="900">
                          <a:effectLst/>
                        </a:rPr>
                        <a:t> Hamiltonian cycles</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dirty="0">
                          <a:effectLst/>
                        </a:rPr>
                        <a:t> </a:t>
                      </a:r>
                      <a:endParaRPr lang="en-IN" sz="800" dirty="0">
                        <a:effectLst/>
                      </a:endParaRPr>
                    </a:p>
                    <a:p>
                      <a:pPr algn="just"/>
                      <a:r>
                        <a:rPr lang="en-US" sz="900" u="sng" dirty="0">
                          <a:effectLst/>
                          <a:hlinkClick r:id="rId10"/>
                        </a:rPr>
                        <a:t>https://www.youtube.com/watch?v=dQr4wZCiJJ4</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2161503898"/>
                  </a:ext>
                </a:extLst>
              </a:tr>
              <a:tr h="380080">
                <a:tc>
                  <a:txBody>
                    <a:bodyPr/>
                    <a:lstStyle/>
                    <a:p>
                      <a:pPr algn="just"/>
                      <a:r>
                        <a:rPr lang="en-US" sz="900">
                          <a:effectLst/>
                        </a:rPr>
                        <a:t>0/1 Knapsack problem</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hlinkClick r:id="rId11"/>
                        </a:rPr>
                        <a:t>https://www.youtube.com/watch?v=yV1d-b_NeK8</a:t>
                      </a:r>
                      <a:endParaRPr lang="en-IN" sz="800" dirty="0">
                        <a:effectLst/>
                      </a:endParaRPr>
                    </a:p>
                    <a:p>
                      <a:pPr algn="just"/>
                      <a:r>
                        <a:rPr lang="en-US" sz="900" dirty="0">
                          <a:effectLst/>
                        </a:rPr>
                        <a:t> </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371692197"/>
                  </a:ext>
                </a:extLst>
              </a:tr>
              <a:tr h="380080">
                <a:tc>
                  <a:txBody>
                    <a:bodyPr/>
                    <a:lstStyle/>
                    <a:p>
                      <a:pPr algn="just"/>
                      <a:r>
                        <a:rPr lang="en-US" sz="900" dirty="0">
                          <a:effectLst/>
                        </a:rPr>
                        <a:t>Travelling salesperson problem</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hlinkClick r:id="rId12"/>
                        </a:rPr>
                        <a:t>https://www.youtube.com/watch?v=1FEP_sNb62k</a:t>
                      </a:r>
                      <a:endParaRPr lang="en-IN" sz="800" dirty="0">
                        <a:effectLst/>
                      </a:endParaRPr>
                    </a:p>
                    <a:p>
                      <a:pPr algn="just"/>
                      <a:r>
                        <a:rPr lang="en-US" sz="900" dirty="0">
                          <a:effectLst/>
                        </a:rPr>
                        <a:t> </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2965934678"/>
                  </a:ext>
                </a:extLst>
              </a:tr>
              <a:tr h="203680">
                <a:tc>
                  <a:txBody>
                    <a:bodyPr/>
                    <a:lstStyle/>
                    <a:p>
                      <a:pPr algn="just"/>
                      <a:r>
                        <a:rPr lang="en-US" sz="900">
                          <a:effectLst/>
                        </a:rPr>
                        <a:t>P,NP classes</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rPr>
                        <a:t>https://www.youtube.com/watch?v=e2cF8a5aAhE&amp;t=333s</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941786937"/>
                  </a:ext>
                </a:extLst>
              </a:tr>
              <a:tr h="203680">
                <a:tc>
                  <a:txBody>
                    <a:bodyPr/>
                    <a:lstStyle/>
                    <a:p>
                      <a:pPr algn="just"/>
                      <a:r>
                        <a:rPr lang="en-US" sz="900" dirty="0">
                          <a:effectLst/>
                        </a:rPr>
                        <a:t>Rabin Karp Algo</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rPr>
                        <a:t>https://www.youtube.com/watch?v=qQ8vS2btsxI</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3732016742"/>
                  </a:ext>
                </a:extLst>
              </a:tr>
              <a:tr h="203680">
                <a:tc>
                  <a:txBody>
                    <a:bodyPr/>
                    <a:lstStyle/>
                    <a:p>
                      <a:pPr algn="just"/>
                      <a:r>
                        <a:rPr lang="en-US" sz="900">
                          <a:effectLst/>
                        </a:rPr>
                        <a:t>Dijkstra’s algo</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rPr>
                        <a:t>https://www.youtube.com/watch?v=smHnz2RHJBY</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79147120"/>
                  </a:ext>
                </a:extLst>
              </a:tr>
              <a:tr h="203680">
                <a:tc>
                  <a:txBody>
                    <a:bodyPr/>
                    <a:lstStyle/>
                    <a:p>
                      <a:pPr algn="just"/>
                      <a:r>
                        <a:rPr lang="en-US" sz="900">
                          <a:effectLst/>
                        </a:rPr>
                        <a:t>Floyd Warshall</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rPr>
                        <a:t>https://www.youtube.com/watch?v=Gc4mWrmJBsw&amp;t=555s</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2481603634"/>
                  </a:ext>
                </a:extLst>
              </a:tr>
              <a:tr h="372855">
                <a:tc>
                  <a:txBody>
                    <a:bodyPr/>
                    <a:lstStyle/>
                    <a:p>
                      <a:pPr algn="just"/>
                      <a:r>
                        <a:rPr lang="en-US" sz="900">
                          <a:effectLst/>
                        </a:rPr>
                        <a:t>Knuth Morris Pratt (KMP) also</a:t>
                      </a:r>
                      <a:endParaRPr lang="en-IN" sz="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tc>
                  <a:txBody>
                    <a:bodyPr/>
                    <a:lstStyle/>
                    <a:p>
                      <a:pPr algn="just"/>
                      <a:r>
                        <a:rPr lang="en-US" sz="900" u="sng" dirty="0">
                          <a:effectLst/>
                        </a:rPr>
                        <a:t>https://www.youtube.com/watch?v=V5-7GzOfADQ</a:t>
                      </a:r>
                      <a:endParaRPr lang="en-IN" sz="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6663" marR="26663" marT="0" marB="0"/>
                </a:tc>
                <a:extLst>
                  <a:ext uri="{0D108BD9-81ED-4DB2-BD59-A6C34878D82A}">
                    <a16:rowId xmlns:a16="http://schemas.microsoft.com/office/drawing/2014/main" val="4268818860"/>
                  </a:ext>
                </a:extLst>
              </a:tr>
            </a:tbl>
          </a:graphicData>
        </a:graphic>
      </p:graphicFrame>
      <p:sp>
        <p:nvSpPr>
          <p:cNvPr id="3" name="Text Placeholder 2">
            <a:extLst>
              <a:ext uri="{FF2B5EF4-FFF2-40B4-BE49-F238E27FC236}">
                <a16:creationId xmlns:a16="http://schemas.microsoft.com/office/drawing/2014/main" id="{17D1D3FF-4E4E-804C-CC91-F1CAFF58F69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685200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3893867023"/>
              </p:ext>
            </p:extLst>
          </p:nvPr>
        </p:nvGraphicFramePr>
        <p:xfrm>
          <a:off x="2121415" y="585302"/>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R="36576" indent="0" algn="ctr" rtl="0" fontAlgn="t">
              <a:lnSpc>
                <a:spcPct val="115000"/>
              </a:lnSpc>
              <a:spcBef>
                <a:spcPts val="55"/>
              </a:spcBef>
              <a:spcAft>
                <a:spcPts val="1000"/>
              </a:spcAft>
              <a:buNone/>
            </a:pPr>
            <a:r>
              <a:rPr lang="en-US" sz="1400" b="1" kern="100"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UNIT- 1</a:t>
            </a:r>
            <a:endParaRPr lang="en-US" sz="1400" b="1" i="0" u="none" strike="noStrike"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903A6B9D-A0D4-0217-6798-2B845F8A40F7}"/>
              </a:ext>
            </a:extLst>
          </p:cNvPr>
          <p:cNvGraphicFramePr>
            <a:graphicFrameLocks noGrp="1"/>
          </p:cNvGraphicFramePr>
          <p:nvPr>
            <p:extLst>
              <p:ext uri="{D42A27DB-BD31-4B8C-83A1-F6EECF244321}">
                <p14:modId xmlns:p14="http://schemas.microsoft.com/office/powerpoint/2010/main" val="1902425652"/>
              </p:ext>
            </p:extLst>
          </p:nvPr>
        </p:nvGraphicFramePr>
        <p:xfrm>
          <a:off x="1115838" y="1427913"/>
          <a:ext cx="7515484" cy="3008850"/>
        </p:xfrm>
        <a:graphic>
          <a:graphicData uri="http://schemas.openxmlformats.org/drawingml/2006/table">
            <a:tbl>
              <a:tblPr/>
              <a:tblGrid>
                <a:gridCol w="1215952">
                  <a:extLst>
                    <a:ext uri="{9D8B030D-6E8A-4147-A177-3AD203B41FA5}">
                      <a16:colId xmlns:a16="http://schemas.microsoft.com/office/drawing/2014/main" val="747231447"/>
                    </a:ext>
                  </a:extLst>
                </a:gridCol>
                <a:gridCol w="6299532">
                  <a:extLst>
                    <a:ext uri="{9D8B030D-6E8A-4147-A177-3AD203B41FA5}">
                      <a16:colId xmlns:a16="http://schemas.microsoft.com/office/drawing/2014/main" val="1726127713"/>
                    </a:ext>
                  </a:extLst>
                </a:gridCol>
              </a:tblGrid>
              <a:tr h="650561">
                <a:tc>
                  <a:txBody>
                    <a:bodyPr/>
                    <a:lstStyle/>
                    <a:p>
                      <a:pPr marR="32385" indent="57150" algn="ctr">
                        <a:lnSpc>
                          <a:spcPct val="115000"/>
                        </a:lnSpc>
                        <a:spcBef>
                          <a:spcPts val="5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1.1</a:t>
                      </a:r>
                      <a:endParaRPr lang="en-IN"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IN"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Analyze if the stack is empty or full, and if elements are present, return the top element in the stack using templates. Also, perform push and pop operations on the stack.</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1885190"/>
                  </a:ext>
                </a:extLst>
              </a:tr>
              <a:tr h="344112">
                <a:tc>
                  <a:txBody>
                    <a:bodyPr/>
                    <a:lstStyle/>
                    <a:p>
                      <a:pPr marR="32385" indent="57150" algn="ctr">
                        <a:lnSpc>
                          <a:spcPct val="115000"/>
                        </a:lnSpc>
                        <a:spcBef>
                          <a:spcPts val="5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1.2</a:t>
                      </a:r>
                      <a:endParaRPr lang="en-IN"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Bef>
                          <a:spcPts val="30"/>
                        </a:spcBef>
                        <a:spcAft>
                          <a:spcPts val="100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Develop a program for implementation of power function and determine that complexity should be O(log n)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1285080"/>
                  </a:ext>
                </a:extLst>
              </a:tr>
              <a:tr h="828250">
                <a:tc>
                  <a:txBody>
                    <a:bodyPr/>
                    <a:lstStyle/>
                    <a:p>
                      <a:pPr marR="32385" indent="57150" algn="ctr">
                        <a:lnSpc>
                          <a:spcPct val="115000"/>
                        </a:lnSpc>
                        <a:spcBef>
                          <a:spcPts val="5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1.3</a:t>
                      </a:r>
                      <a:endParaRPr lang="en-IN"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57150">
                        <a:lnSpc>
                          <a:spcPct val="115000"/>
                        </a:lnSpc>
                        <a:spcBef>
                          <a:spcPts val="30"/>
                        </a:spcBef>
                        <a:spcAft>
                          <a:spcPts val="1000"/>
                        </a:spcAft>
                      </a:pPr>
                      <a:r>
                        <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Evaluate the complexity of the developed program to find frequency of elements in a given array.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3673654"/>
                  </a:ext>
                </a:extLst>
              </a:tr>
              <a:tr h="1054868">
                <a:tc>
                  <a:txBody>
                    <a:bodyPr/>
                    <a:lstStyle/>
                    <a:p>
                      <a:pPr marR="32385" indent="57150" algn="ctr">
                        <a:lnSpc>
                          <a:spcPct val="115000"/>
                        </a:lnSpc>
                        <a:spcBef>
                          <a:spcPts val="5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1.4</a:t>
                      </a:r>
                      <a:endParaRPr lang="en-IN" sz="14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9370" lvl="0" indent="-342900">
                        <a:lnSpc>
                          <a:spcPct val="115000"/>
                        </a:lnSpc>
                        <a:spcBef>
                          <a:spcPts val="30"/>
                        </a:spcBef>
                        <a:spcAft>
                          <a:spcPts val="1000"/>
                        </a:spcAft>
                        <a:buFont typeface="+mj-lt"/>
                        <a:buAutoNum type="romanLcParenBoth"/>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Apply the concept of Linked list and write code to Insert and Delete an element at the beginning and end of Singly Linked List.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39370" lvl="0" indent="-342900">
                        <a:lnSpc>
                          <a:spcPct val="115000"/>
                        </a:lnSpc>
                        <a:spcBef>
                          <a:spcPts val="30"/>
                        </a:spcBef>
                        <a:spcAft>
                          <a:spcPts val="1000"/>
                        </a:spcAft>
                        <a:buFont typeface="+mj-lt"/>
                        <a:buAutoNum type="romanLcParenBoth"/>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Apply the concept of Linked list and write code to Insert and Delete an element at the beginning and at end in Doubly and Circular Linked List.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7419477"/>
                  </a:ext>
                </a:extLst>
              </a:tr>
            </a:tbl>
          </a:graphicData>
        </a:graphic>
      </p:graphicFrame>
    </p:spTree>
    <p:extLst>
      <p:ext uri="{BB962C8B-B14F-4D97-AF65-F5344CB8AC3E}">
        <p14:creationId xmlns:p14="http://schemas.microsoft.com/office/powerpoint/2010/main" val="2204928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525737845"/>
              </p:ext>
            </p:extLst>
          </p:nvPr>
        </p:nvGraphicFramePr>
        <p:xfrm>
          <a:off x="1430039" y="886899"/>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R="36576" indent="0" algn="ctr" rtl="0" fontAlgn="t">
              <a:lnSpc>
                <a:spcPct val="115000"/>
              </a:lnSpc>
              <a:spcBef>
                <a:spcPts val="55"/>
              </a:spcBef>
              <a:spcAft>
                <a:spcPts val="1000"/>
              </a:spcAft>
              <a:buNone/>
            </a:pPr>
            <a:r>
              <a:rPr lang="en-US" sz="1400" b="1" i="0" u="none" strike="noStrike"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UNIT- 2</a:t>
            </a: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F63BF537-8906-4D00-7A63-5FBF850082A1}"/>
              </a:ext>
            </a:extLst>
          </p:cNvPr>
          <p:cNvGraphicFramePr>
            <a:graphicFrameLocks noGrp="1"/>
          </p:cNvGraphicFramePr>
          <p:nvPr>
            <p:extLst>
              <p:ext uri="{D42A27DB-BD31-4B8C-83A1-F6EECF244321}">
                <p14:modId xmlns:p14="http://schemas.microsoft.com/office/powerpoint/2010/main" val="3055034634"/>
              </p:ext>
            </p:extLst>
          </p:nvPr>
        </p:nvGraphicFramePr>
        <p:xfrm>
          <a:off x="988741" y="1888273"/>
          <a:ext cx="7620000" cy="2304585"/>
        </p:xfrm>
        <a:graphic>
          <a:graphicData uri="http://schemas.openxmlformats.org/drawingml/2006/table">
            <a:tbl>
              <a:tblPr/>
              <a:tblGrid>
                <a:gridCol w="1232863">
                  <a:extLst>
                    <a:ext uri="{9D8B030D-6E8A-4147-A177-3AD203B41FA5}">
                      <a16:colId xmlns:a16="http://schemas.microsoft.com/office/drawing/2014/main" val="768462097"/>
                    </a:ext>
                  </a:extLst>
                </a:gridCol>
                <a:gridCol w="6387137">
                  <a:extLst>
                    <a:ext uri="{9D8B030D-6E8A-4147-A177-3AD203B41FA5}">
                      <a16:colId xmlns:a16="http://schemas.microsoft.com/office/drawing/2014/main" val="386843164"/>
                    </a:ext>
                  </a:extLst>
                </a:gridCol>
              </a:tblGrid>
              <a:tr h="768195">
                <a:tc>
                  <a:txBody>
                    <a:bodyPr/>
                    <a:lstStyle/>
                    <a:p>
                      <a:pPr marR="32385" indent="57150" algn="ctr">
                        <a:lnSpc>
                          <a:spcPct val="115000"/>
                        </a:lnSpc>
                        <a:spcBef>
                          <a:spcPts val="55"/>
                        </a:spcBef>
                        <a:spcAft>
                          <a:spcPts val="1000"/>
                        </a:spcAft>
                      </a:pPr>
                      <a:r>
                        <a:rPr lang="en-US"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2.1</a:t>
                      </a:r>
                      <a:endParaRPr lang="en-IN" sz="12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Bef>
                          <a:spcPts val="30"/>
                        </a:spcBef>
                        <a:spcAft>
                          <a:spcPts val="1000"/>
                        </a:spcAft>
                      </a:pPr>
                      <a:r>
                        <a:rPr lang="en-US" sz="120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Sort a given set of elements using the Quick sort method and determine the    time required to sort the elements. Repeat the experiment for different values of n, the number of elements in the list to be sorted. The elements can be read from a file or can be generated using the random number generator.</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9828213"/>
                  </a:ext>
                </a:extLst>
              </a:tr>
              <a:tr h="768195">
                <a:tc>
                  <a:txBody>
                    <a:bodyPr/>
                    <a:lstStyle/>
                    <a:p>
                      <a:pPr marR="32385" indent="57150" algn="ctr">
                        <a:lnSpc>
                          <a:spcPct val="115000"/>
                        </a:lnSpc>
                        <a:spcBef>
                          <a:spcPts val="55"/>
                        </a:spcBef>
                        <a:spcAft>
                          <a:spcPts val="1000"/>
                        </a:spcAft>
                      </a:pPr>
                      <a:r>
                        <a:rPr lang="en-US"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2.2</a:t>
                      </a:r>
                      <a:endParaRPr lang="en-IN" sz="12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57150">
                        <a:lnSpc>
                          <a:spcPct val="115000"/>
                        </a:lnSpc>
                        <a:spcBef>
                          <a:spcPts val="30"/>
                        </a:spcBef>
                        <a:spcAft>
                          <a:spcPts val="100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Develop a program and analyze complexity to implement subset-sum problem using Dynamic Programming.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0672281"/>
                  </a:ext>
                </a:extLst>
              </a:tr>
              <a:tr h="768195">
                <a:tc>
                  <a:txBody>
                    <a:bodyPr/>
                    <a:lstStyle/>
                    <a:p>
                      <a:pPr marR="32385" indent="57150" algn="ctr">
                        <a:lnSpc>
                          <a:spcPct val="115000"/>
                        </a:lnSpc>
                        <a:spcBef>
                          <a:spcPts val="55"/>
                        </a:spcBef>
                        <a:spcAft>
                          <a:spcPts val="1000"/>
                        </a:spcAft>
                      </a:pPr>
                      <a:r>
                        <a:rPr lang="en-US"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2.3</a:t>
                      </a:r>
                      <a:endParaRPr lang="en-IN" sz="1200" kern="1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57150">
                        <a:lnSpc>
                          <a:spcPct val="115000"/>
                        </a:lnSpc>
                        <a:spcBef>
                          <a:spcPts val="30"/>
                        </a:spcBef>
                        <a:spcAft>
                          <a:spcPts val="100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Develop a program and analyze complexity to implement 0-1 Knapsack using Dynamic Programming.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3393909"/>
                  </a:ext>
                </a:extLst>
              </a:tr>
            </a:tbl>
          </a:graphicData>
        </a:graphic>
      </p:graphicFrame>
    </p:spTree>
    <p:extLst>
      <p:ext uri="{BB962C8B-B14F-4D97-AF65-F5344CB8AC3E}">
        <p14:creationId xmlns:p14="http://schemas.microsoft.com/office/powerpoint/2010/main" val="2332988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294A4C7-A034-2A95-579C-EBDE929699A3}"/>
              </a:ext>
            </a:extLst>
          </p:cNvPr>
          <p:cNvGraphicFramePr/>
          <p:nvPr/>
        </p:nvGraphicFramePr>
        <p:xfrm>
          <a:off x="1430039" y="886899"/>
          <a:ext cx="6160169" cy="4791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2" name="Google Shape;172;p25"/>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R="36576" indent="0" algn="ctr" rtl="0" fontAlgn="t">
              <a:lnSpc>
                <a:spcPct val="115000"/>
              </a:lnSpc>
              <a:spcBef>
                <a:spcPts val="55"/>
              </a:spcBef>
              <a:spcAft>
                <a:spcPts val="1000"/>
              </a:spcAft>
              <a:buNone/>
            </a:pPr>
            <a:r>
              <a:rPr lang="en-US" sz="1400" b="1" kern="100"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UNIT- 3</a:t>
            </a:r>
            <a:endParaRPr lang="en-US" sz="1400" b="1" i="0" u="none" strike="noStrike"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id="{A3F45EA6-577F-52F8-CE15-FEC5D136ECDB}"/>
              </a:ext>
            </a:extLst>
          </p:cNvPr>
          <p:cNvGraphicFramePr>
            <a:graphicFrameLocks noGrp="1"/>
          </p:cNvGraphicFramePr>
          <p:nvPr>
            <p:extLst>
              <p:ext uri="{D42A27DB-BD31-4B8C-83A1-F6EECF244321}">
                <p14:modId xmlns:p14="http://schemas.microsoft.com/office/powerpoint/2010/main" val="3073298119"/>
              </p:ext>
            </p:extLst>
          </p:nvPr>
        </p:nvGraphicFramePr>
        <p:xfrm>
          <a:off x="981307" y="1888272"/>
          <a:ext cx="7480331" cy="2601951"/>
        </p:xfrm>
        <a:graphic>
          <a:graphicData uri="http://schemas.openxmlformats.org/drawingml/2006/table">
            <a:tbl>
              <a:tblPr/>
              <a:tblGrid>
                <a:gridCol w="1210264">
                  <a:extLst>
                    <a:ext uri="{9D8B030D-6E8A-4147-A177-3AD203B41FA5}">
                      <a16:colId xmlns:a16="http://schemas.microsoft.com/office/drawing/2014/main" val="52895578"/>
                    </a:ext>
                  </a:extLst>
                </a:gridCol>
                <a:gridCol w="6270067">
                  <a:extLst>
                    <a:ext uri="{9D8B030D-6E8A-4147-A177-3AD203B41FA5}">
                      <a16:colId xmlns:a16="http://schemas.microsoft.com/office/drawing/2014/main" val="4173178279"/>
                    </a:ext>
                  </a:extLst>
                </a:gridCol>
              </a:tblGrid>
              <a:tr h="1074877">
                <a:tc>
                  <a:txBody>
                    <a:bodyPr/>
                    <a:lstStyle/>
                    <a:p>
                      <a:pPr marL="90170" algn="ctr">
                        <a:lnSpc>
                          <a:spcPct val="115000"/>
                        </a:lnSpc>
                        <a:spcBef>
                          <a:spcPts val="15"/>
                        </a:spcBef>
                        <a:spcAft>
                          <a:spcPts val="1000"/>
                        </a:spcAft>
                      </a:pPr>
                      <a:r>
                        <a:rPr lang="en-US"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3.1</a:t>
                      </a:r>
                      <a:endPar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Develop a program and analyze complexity to find shortest paths in a graph with positive edge weights using Dijkstra’s algorithm.</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4155761"/>
                  </a:ext>
                </a:extLst>
              </a:tr>
              <a:tr h="763537">
                <a:tc>
                  <a:txBody>
                    <a:bodyPr/>
                    <a:lstStyle/>
                    <a:p>
                      <a:pPr marL="90170" indent="57150" algn="ctr">
                        <a:lnSpc>
                          <a:spcPct val="115000"/>
                        </a:lnSpc>
                        <a:spcBef>
                          <a:spcPts val="15"/>
                        </a:spcBef>
                        <a:spcAft>
                          <a:spcPts val="1000"/>
                        </a:spcAft>
                      </a:pPr>
                      <a:r>
                        <a:rPr lang="en-US" sz="1200" b="1"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3.2</a:t>
                      </a:r>
                      <a:endParaRPr lang="en-IN" sz="1200" kern="10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Develop a program and analyze complexity to find all occurrences of a pattern P in a given string 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855164"/>
                  </a:ext>
                </a:extLst>
              </a:tr>
              <a:tr h="763537">
                <a:tc>
                  <a:txBody>
                    <a:bodyPr/>
                    <a:lstStyle/>
                    <a:p>
                      <a:pPr marL="90170" indent="57150" algn="ctr">
                        <a:lnSpc>
                          <a:spcPct val="115000"/>
                        </a:lnSpc>
                        <a:spcBef>
                          <a:spcPts val="15"/>
                        </a:spcBef>
                        <a:spcAft>
                          <a:spcPts val="1000"/>
                        </a:spcAft>
                      </a:pPr>
                      <a:r>
                        <a:rPr lang="en-US"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Experiment 3.3</a:t>
                      </a:r>
                      <a:endParaRPr lang="en-IN" sz="12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Lab Based Mini Project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930950"/>
                  </a:ext>
                </a:extLst>
              </a:tr>
            </a:tbl>
          </a:graphicData>
        </a:graphic>
      </p:graphicFrame>
    </p:spTree>
    <p:extLst>
      <p:ext uri="{BB962C8B-B14F-4D97-AF65-F5344CB8AC3E}">
        <p14:creationId xmlns:p14="http://schemas.microsoft.com/office/powerpoint/2010/main" val="15362334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extLst>
              <p:ext uri="{D42A27DB-BD31-4B8C-83A1-F6EECF244321}">
                <p14:modId xmlns:p14="http://schemas.microsoft.com/office/powerpoint/2010/main" val="4170599029"/>
              </p:ext>
            </p:extLst>
          </p:nvPr>
        </p:nvGraphicFramePr>
        <p:xfrm>
          <a:off x="2498539" y="561645"/>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1" name="Google Shape;221;p3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nSpc>
                <a:spcPct val="115000"/>
              </a:lnSpc>
              <a:spcAft>
                <a:spcPts val="1000"/>
              </a:spcAft>
              <a:buNone/>
              <a:tabLst>
                <a:tab pos="457200" algn="l"/>
              </a:tabLst>
            </a:pPr>
            <a:r>
              <a:rPr lang="en-IN" sz="1100" b="1" dirty="0">
                <a:effectLst/>
                <a:latin typeface="Times New Roman" panose="02020603050405020304" pitchFamily="18" charset="0"/>
                <a:ea typeface="Calibri" panose="020F0502020204030204" pitchFamily="34" charset="0"/>
                <a:cs typeface="Times New Roman" panose="02020603050405020304" pitchFamily="18" charset="0"/>
              </a:rPr>
              <a:t>Advanced Data Structures:</a:t>
            </a:r>
          </a:p>
          <a:p>
            <a:pPr marL="742950" lvl="1" indent="-285750">
              <a:spcAft>
                <a:spcPts val="1000"/>
              </a:spcAft>
              <a:buSzPts val="1000"/>
              <a:buFont typeface="Symbol" panose="05050102010706020507" pitchFamily="18" charset="2"/>
              <a:buChar char=""/>
              <a:tabLst>
                <a:tab pos="914400" algn="l"/>
              </a:tabLst>
            </a:pP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Suffix Trees and Suffix Arrays: Useful for string processing and pattern matching.</a:t>
            </a:r>
          </a:p>
          <a:p>
            <a:pPr marL="742950" lvl="1" indent="-285750">
              <a:spcAft>
                <a:spcPts val="1000"/>
              </a:spcAft>
              <a:buSzPts val="1000"/>
              <a:buFont typeface="Symbol" panose="05050102010706020507" pitchFamily="18" charset="2"/>
              <a:buChar char=""/>
              <a:tabLst>
                <a:tab pos="914400" algn="l"/>
              </a:tabLst>
            </a:pP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Fibonacci Heaps: Used in improved implementations of Dijkstra's and Prim's algorithms.</a:t>
            </a:r>
          </a:p>
          <a:p>
            <a:pPr marL="0" lvl="0" indent="0">
              <a:lnSpc>
                <a:spcPct val="115000"/>
              </a:lnSpc>
              <a:spcAft>
                <a:spcPts val="1000"/>
              </a:spcAft>
              <a:buNone/>
              <a:tabLst>
                <a:tab pos="457200" algn="l"/>
              </a:tabLst>
            </a:pPr>
            <a:r>
              <a:rPr lang="en-IN" sz="1100" b="1" dirty="0">
                <a:effectLst/>
                <a:latin typeface="Times New Roman" panose="02020603050405020304" pitchFamily="18" charset="0"/>
                <a:ea typeface="Calibri" panose="020F0502020204030204" pitchFamily="34" charset="0"/>
                <a:cs typeface="Times New Roman" panose="02020603050405020304" pitchFamily="18" charset="0"/>
              </a:rPr>
              <a:t>Specialized Algorithms:</a:t>
            </a:r>
          </a:p>
          <a:p>
            <a:pPr marL="742950" lvl="1" indent="-285750">
              <a:lnSpc>
                <a:spcPct val="115000"/>
              </a:lnSpc>
              <a:spcAft>
                <a:spcPts val="1000"/>
              </a:spcAft>
              <a:buSzPts val="1000"/>
              <a:buFont typeface="Symbol" panose="05050102010706020507" pitchFamily="18" charset="2"/>
              <a:buChar char=""/>
              <a:tabLst>
                <a:tab pos="914400" algn="l"/>
              </a:tabLst>
            </a:pP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String Matching and Processing: Advanced algorithms like </a:t>
            </a:r>
            <a:r>
              <a:rPr lang="en-IN" sz="1100" dirty="0" err="1">
                <a:effectLst/>
                <a:latin typeface="Times New Roman" panose="02020603050405020304" pitchFamily="18" charset="0"/>
                <a:ea typeface="Calibri" panose="020F0502020204030204" pitchFamily="34" charset="0"/>
                <a:cs typeface="Times New Roman" panose="02020603050405020304" pitchFamily="18" charset="0"/>
              </a:rPr>
              <a:t>Aho-Corasick</a:t>
            </a: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100" dirty="0" err="1">
                <a:effectLst/>
                <a:latin typeface="Times New Roman" panose="02020603050405020304" pitchFamily="18" charset="0"/>
                <a:ea typeface="Calibri" panose="020F0502020204030204" pitchFamily="34" charset="0"/>
                <a:cs typeface="Times New Roman" panose="02020603050405020304" pitchFamily="18" charset="0"/>
              </a:rPr>
              <a:t>Ukkonen's</a:t>
            </a: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 algorithm, and suffix automata.</a:t>
            </a:r>
          </a:p>
          <a:p>
            <a:pPr marL="742950" lvl="1" indent="-285750">
              <a:lnSpc>
                <a:spcPct val="115000"/>
              </a:lnSpc>
              <a:spcAft>
                <a:spcPts val="1000"/>
              </a:spcAft>
              <a:buSzPts val="1000"/>
              <a:buFont typeface="Symbol" panose="05050102010706020507" pitchFamily="18" charset="2"/>
              <a:buChar char=""/>
              <a:tabLst>
                <a:tab pos="914400" algn="l"/>
              </a:tabLst>
            </a:pP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Computational Geometry: Algorithms for geometric problems like Voronoi diagrams, Delaunay triangulation, and line segment intersection.</a:t>
            </a:r>
          </a:p>
          <a:p>
            <a:pPr marL="0" lvl="0" indent="0">
              <a:lnSpc>
                <a:spcPct val="115000"/>
              </a:lnSpc>
              <a:spcAft>
                <a:spcPts val="1000"/>
              </a:spcAft>
              <a:buNone/>
              <a:tabLst>
                <a:tab pos="457200" algn="l"/>
              </a:tabLst>
            </a:pPr>
            <a:r>
              <a:rPr lang="en-IN" sz="1100" b="1" dirty="0">
                <a:effectLst/>
                <a:latin typeface="Times New Roman" panose="02020603050405020304" pitchFamily="18" charset="0"/>
                <a:ea typeface="Calibri" panose="020F0502020204030204" pitchFamily="34" charset="0"/>
                <a:cs typeface="Times New Roman" panose="02020603050405020304" pitchFamily="18" charset="0"/>
              </a:rPr>
              <a:t>Quantum Algorithms:</a:t>
            </a:r>
          </a:p>
          <a:p>
            <a:pPr marL="742950" lvl="1" indent="-285750">
              <a:lnSpc>
                <a:spcPct val="115000"/>
              </a:lnSpc>
              <a:spcAft>
                <a:spcPts val="1000"/>
              </a:spcAft>
              <a:buSzPts val="1000"/>
              <a:buFont typeface="Symbol" panose="05050102010706020507" pitchFamily="18" charset="2"/>
              <a:buChar char=""/>
              <a:tabLst>
                <a:tab pos="914400" algn="l"/>
              </a:tabLst>
            </a:pP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Shor’s Algorithm: For integer factorization.</a:t>
            </a:r>
          </a:p>
          <a:p>
            <a:pPr marL="742950" lvl="1" indent="-285750">
              <a:lnSpc>
                <a:spcPct val="115000"/>
              </a:lnSpc>
              <a:spcAft>
                <a:spcPts val="1000"/>
              </a:spcAft>
              <a:buSzPts val="1000"/>
              <a:buFont typeface="Symbol" panose="05050102010706020507" pitchFamily="18" charset="2"/>
              <a:buChar char=""/>
              <a:tabLst>
                <a:tab pos="914400" algn="l"/>
              </a:tabLst>
            </a:pP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Grover’s Algorithm: For database search.</a:t>
            </a:r>
          </a:p>
          <a:p>
            <a:pPr marL="742950" lvl="1" indent="-285750">
              <a:lnSpc>
                <a:spcPct val="115000"/>
              </a:lnSpc>
              <a:spcAft>
                <a:spcPts val="1000"/>
              </a:spcAft>
              <a:buSzPts val="1000"/>
              <a:buFont typeface="Symbol" panose="05050102010706020507" pitchFamily="18" charset="2"/>
              <a:buChar char=""/>
              <a:tabLst>
                <a:tab pos="914400" algn="l"/>
              </a:tabLst>
            </a:pP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Quantum Walks: Quantum </a:t>
            </a:r>
            <a:r>
              <a:rPr lang="en-IN" sz="1100" dirty="0" err="1">
                <a:effectLst/>
                <a:latin typeface="Times New Roman" panose="02020603050405020304" pitchFamily="18" charset="0"/>
                <a:ea typeface="Calibri" panose="020F0502020204030204" pitchFamily="34" charset="0"/>
                <a:cs typeface="Times New Roman" panose="02020603050405020304" pitchFamily="18" charset="0"/>
              </a:rPr>
              <a:t>analog</a:t>
            </a:r>
            <a:r>
              <a:rPr lang="en-IN" sz="1100" dirty="0">
                <a:effectLst/>
                <a:latin typeface="Times New Roman" panose="02020603050405020304" pitchFamily="18" charset="0"/>
                <a:ea typeface="Calibri" panose="020F0502020204030204" pitchFamily="34" charset="0"/>
                <a:cs typeface="Times New Roman" panose="02020603050405020304" pitchFamily="18" charset="0"/>
              </a:rPr>
              <a:t> of classical random walks, used in various algorithmic contexts.</a:t>
            </a:r>
          </a:p>
          <a:p>
            <a:pPr marL="342900" marR="0" lvl="0" indent="0" algn="l" rtl="0">
              <a:lnSpc>
                <a:spcPct val="80000"/>
              </a:lnSpc>
              <a:spcBef>
                <a:spcPts val="440"/>
              </a:spcBef>
              <a:spcAft>
                <a:spcPts val="0"/>
              </a:spcAft>
              <a:buNone/>
            </a:pP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1746871" y="773459"/>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1" name="Google Shape;221;p3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nSpc>
                <a:spcPct val="115000"/>
              </a:lnSpc>
              <a:spcAft>
                <a:spcPts val="1000"/>
              </a:spcAft>
              <a:buNone/>
              <a:tabLst>
                <a:tab pos="457200" algn="l"/>
              </a:tabLst>
            </a:pPr>
            <a:r>
              <a:rPr lang="en-IN" sz="1200" b="1" dirty="0">
                <a:effectLst/>
                <a:latin typeface="Times New Roman" panose="02020603050405020304" pitchFamily="18" charset="0"/>
                <a:ea typeface="Calibri" panose="020F0502020204030204" pitchFamily="34" charset="0"/>
                <a:cs typeface="Times New Roman" panose="02020603050405020304" pitchFamily="18" charset="0"/>
              </a:rPr>
              <a:t>Machine Learning Algorithms:</a:t>
            </a:r>
          </a:p>
          <a:p>
            <a:pPr marL="742950" lvl="1" indent="-285750">
              <a:lnSpc>
                <a:spcPct val="115000"/>
              </a:lnSpc>
              <a:spcAft>
                <a:spcPts val="1000"/>
              </a:spcAf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Boosting and Bagging: Techniques to improve the performance of machine learning models.</a:t>
            </a:r>
          </a:p>
          <a:p>
            <a:pPr marL="742950" lvl="1" indent="-285750">
              <a:lnSpc>
                <a:spcPct val="115000"/>
              </a:lnSpc>
              <a:spcAft>
                <a:spcPts val="1000"/>
              </a:spcAf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Support Vector Machines (SVM): For classification problems.</a:t>
            </a:r>
          </a:p>
          <a:p>
            <a:pPr marL="742950" lvl="1" indent="-285750">
              <a:lnSpc>
                <a:spcPct val="115000"/>
              </a:lnSpc>
              <a:spcAft>
                <a:spcPts val="1000"/>
              </a:spcAf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Deep Learning Architectures: Algorithms for training deep neural networks.</a:t>
            </a:r>
          </a:p>
          <a:p>
            <a:pPr marL="0" lvl="0" indent="0">
              <a:lnSpc>
                <a:spcPct val="115000"/>
              </a:lnSpc>
              <a:spcAft>
                <a:spcPts val="1000"/>
              </a:spcAft>
              <a:buNone/>
              <a:tabLst>
                <a:tab pos="457200" algn="l"/>
              </a:tabLst>
            </a:pPr>
            <a:r>
              <a:rPr lang="en-IN" sz="1200" b="1" dirty="0">
                <a:effectLst/>
                <a:latin typeface="Times New Roman" panose="02020603050405020304" pitchFamily="18" charset="0"/>
                <a:ea typeface="Calibri" panose="020F0502020204030204" pitchFamily="34" charset="0"/>
                <a:cs typeface="Times New Roman" panose="02020603050405020304" pitchFamily="18" charset="0"/>
              </a:rPr>
              <a:t>Cryptographic Algorithms:</a:t>
            </a:r>
          </a:p>
          <a:p>
            <a:pPr marL="742950" lvl="1" indent="-285750">
              <a:lnSpc>
                <a:spcPct val="115000"/>
              </a:lnSpc>
              <a:spcAft>
                <a:spcPts val="1000"/>
              </a:spcAf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Public Key Cryptography: RSA, ECC (Elliptic Curve Cryptography).</a:t>
            </a:r>
          </a:p>
          <a:p>
            <a:pPr marL="742950" lvl="1" indent="-285750">
              <a:lnSpc>
                <a:spcPct val="115000"/>
              </a:lnSpc>
              <a:spcAft>
                <a:spcPts val="1000"/>
              </a:spcAf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Symmetric Key Algorithms: AES, DES.</a:t>
            </a:r>
          </a:p>
          <a:p>
            <a:pPr marL="742950" lvl="1" indent="-285750">
              <a:lnSpc>
                <a:spcPct val="115000"/>
              </a:lnSpc>
              <a:spcAft>
                <a:spcPts val="1000"/>
              </a:spcAf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Hash Functions: SHA-256, MD</a:t>
            </a:r>
          </a:p>
          <a:p>
            <a:pPr marL="76200" indent="0">
              <a:lnSpc>
                <a:spcPct val="115000"/>
              </a:lnSpc>
              <a:spcAft>
                <a:spcPts val="1000"/>
              </a:spcAft>
              <a:buNone/>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0" algn="l" rtl="0">
              <a:lnSpc>
                <a:spcPct val="80000"/>
              </a:lnSpc>
              <a:spcBef>
                <a:spcPts val="440"/>
              </a:spcBef>
              <a:spcAft>
                <a:spcPts val="0"/>
              </a:spcAft>
              <a:buNone/>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02064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extLst>
              <p:ext uri="{D42A27DB-BD31-4B8C-83A1-F6EECF244321}">
                <p14:modId xmlns:p14="http://schemas.microsoft.com/office/powerpoint/2010/main" val="2026842533"/>
              </p:ext>
            </p:extLst>
          </p:nvPr>
        </p:nvGraphicFramePr>
        <p:xfrm>
          <a:off x="2343555" y="2287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1" name="Google Shape;221;p3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Code for enqueue, dequeue, </a:t>
            </a:r>
            <a:r>
              <a:rPr lang="en-US" sz="1200" dirty="0" err="1">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Isfull</a:t>
            </a: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 and </a:t>
            </a:r>
            <a:r>
              <a:rPr lang="en-US" sz="1200" dirty="0" err="1">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Isempty</a:t>
            </a: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 operation in queues using templates.</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Code and analyze to sort an array of integers using Merge sort</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Code to find the height of a Binary tree with Analysis</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Code to find the ignored successor in an Binary Search Trees with complexity Analysis.</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To implement maximum and minimum problem using divide and conquer strategy.</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To implement binary search using divide and conquer strategy.</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To implement LCS Problem using Dynamic Programming.</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marR="335280" lvl="1" indent="-171450">
              <a:lnSpc>
                <a:spcPct val="100000"/>
              </a:lnSpc>
              <a:spcBef>
                <a:spcPts val="780"/>
              </a:spcBef>
              <a:spcAft>
                <a:spcPts val="1000"/>
              </a:spcAft>
              <a:buFont typeface="Arial" panose="020B0604020202020204" pitchFamily="34" charset="0"/>
              <a:buChar char="•"/>
              <a:tabLst>
                <a:tab pos="749300" algn="l"/>
              </a:tabLst>
            </a:pPr>
            <a:r>
              <a:rPr lang="en-US" sz="12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Code and analyze to find an optimal solution to matrix chain multiplication using dynamic programming.</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Code and analyze to find shortest paths in a graph with arbitrary edge weights using Bellman-Ford algorithm.</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To implement KMP (Knuth-Morris-Pratt) algorithm.</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To implement Prim’s algorithm for minimum spanning tree.</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marL="628650" lvl="1" indent="-171450">
              <a:lnSpc>
                <a:spcPct val="100000"/>
              </a:lnSpc>
              <a:spcAft>
                <a:spcPts val="1000"/>
              </a:spcAft>
              <a:buFont typeface="Arial" panose="020B0604020202020204" pitchFamily="34" charset="0"/>
              <a:buChar char="•"/>
            </a:pPr>
            <a:r>
              <a:rPr lang="en-US" sz="12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To implement Kruskal’s algorithm for minimum spanning tree.</a:t>
            </a:r>
            <a:endParaRPr lang="en-IN" sz="1200" dirty="0">
              <a:solidFill>
                <a:schemeClr val="bg2"/>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Aft>
                <a:spcPts val="1000"/>
              </a:spcAft>
              <a:buFont typeface="Arial" panose="020B0604020202020204" pitchFamily="34" charset="0"/>
              <a:buChar char="•"/>
            </a:pPr>
            <a:endParaRPr lang="en-IN"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514350" indent="-171450">
              <a:lnSpc>
                <a:spcPct val="100000"/>
              </a:lnSpc>
              <a:spcBef>
                <a:spcPts val="440"/>
              </a:spcBef>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21217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extLst>
              <p:ext uri="{D42A27DB-BD31-4B8C-83A1-F6EECF244321}">
                <p14:modId xmlns:p14="http://schemas.microsoft.com/office/powerpoint/2010/main" val="1069694178"/>
              </p:ext>
            </p:extLst>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0B712293-94A5-BE17-ABF1-6276C46A20CC}"/>
              </a:ext>
            </a:extLst>
          </p:cNvPr>
          <p:cNvPicPr>
            <a:picLocks noChangeAspect="1"/>
          </p:cNvPicPr>
          <p:nvPr/>
        </p:nvPicPr>
        <p:blipFill>
          <a:blip r:embed="rId8"/>
          <a:stretch>
            <a:fillRect/>
          </a:stretch>
        </p:blipFill>
        <p:spPr>
          <a:xfrm>
            <a:off x="577121" y="1011836"/>
            <a:ext cx="8034728" cy="4016601"/>
          </a:xfrm>
          <a:prstGeom prst="rect">
            <a:avLst/>
          </a:prstGeom>
        </p:spPr>
      </p:pic>
      <p:sp>
        <p:nvSpPr>
          <p:cNvPr id="3" name="Text Placeholder 2">
            <a:extLst>
              <a:ext uri="{FF2B5EF4-FFF2-40B4-BE49-F238E27FC236}">
                <a16:creationId xmlns:a16="http://schemas.microsoft.com/office/drawing/2014/main" id="{BE748ACC-D4DE-4188-093C-3E0D4E9A8AF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7643754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336C3D13-C67C-FE5D-CC45-C16F476B8DC1}"/>
              </a:ext>
            </a:extLst>
          </p:cNvPr>
          <p:cNvPicPr>
            <a:picLocks noChangeAspect="1"/>
          </p:cNvPicPr>
          <p:nvPr/>
        </p:nvPicPr>
        <p:blipFill>
          <a:blip r:embed="rId8"/>
          <a:stretch>
            <a:fillRect/>
          </a:stretch>
        </p:blipFill>
        <p:spPr>
          <a:xfrm>
            <a:off x="0" y="1389263"/>
            <a:ext cx="7452360" cy="1525524"/>
          </a:xfrm>
          <a:prstGeom prst="rect">
            <a:avLst/>
          </a:prstGeom>
        </p:spPr>
      </p:pic>
      <p:sp>
        <p:nvSpPr>
          <p:cNvPr id="3" name="Text Placeholder 2">
            <a:extLst>
              <a:ext uri="{FF2B5EF4-FFF2-40B4-BE49-F238E27FC236}">
                <a16:creationId xmlns:a16="http://schemas.microsoft.com/office/drawing/2014/main" id="{69CF1E29-40D0-DBE4-5A7F-2C5F5ABF872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592257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8A316E11-70DB-ABFD-BFB5-296A2C9C2939}"/>
              </a:ext>
            </a:extLst>
          </p:cNvPr>
          <p:cNvPicPr>
            <a:picLocks noChangeAspect="1"/>
          </p:cNvPicPr>
          <p:nvPr/>
        </p:nvPicPr>
        <p:blipFill>
          <a:blip r:embed="rId8"/>
          <a:stretch>
            <a:fillRect/>
          </a:stretch>
        </p:blipFill>
        <p:spPr>
          <a:xfrm>
            <a:off x="261204" y="1245970"/>
            <a:ext cx="7452360" cy="2456688"/>
          </a:xfrm>
          <a:prstGeom prst="rect">
            <a:avLst/>
          </a:prstGeom>
        </p:spPr>
      </p:pic>
      <p:sp>
        <p:nvSpPr>
          <p:cNvPr id="3" name="Text Placeholder 2">
            <a:extLst>
              <a:ext uri="{FF2B5EF4-FFF2-40B4-BE49-F238E27FC236}">
                <a16:creationId xmlns:a16="http://schemas.microsoft.com/office/drawing/2014/main" id="{8E492EFF-68C5-0040-78AB-2524569B0B0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916755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extLst>
              <p:ext uri="{D42A27DB-BD31-4B8C-83A1-F6EECF244321}">
                <p14:modId xmlns:p14="http://schemas.microsoft.com/office/powerpoint/2010/main" val="2276862901"/>
              </p:ext>
            </p:extLst>
          </p:nvPr>
        </p:nvGraphicFramePr>
        <p:xfrm>
          <a:off x="2378225" y="165182"/>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4029BAAC-79ED-9CA0-36F9-635D6C237CB1}"/>
              </a:ext>
            </a:extLst>
          </p:cNvPr>
          <p:cNvPicPr>
            <a:picLocks noChangeAspect="1"/>
          </p:cNvPicPr>
          <p:nvPr/>
        </p:nvPicPr>
        <p:blipFill>
          <a:blip r:embed="rId8"/>
          <a:stretch>
            <a:fillRect/>
          </a:stretch>
        </p:blipFill>
        <p:spPr>
          <a:xfrm>
            <a:off x="434715" y="839449"/>
            <a:ext cx="7247744" cy="4194435"/>
          </a:xfrm>
          <a:prstGeom prst="rect">
            <a:avLst/>
          </a:prstGeom>
        </p:spPr>
      </p:pic>
      <p:sp>
        <p:nvSpPr>
          <p:cNvPr id="4" name="Text Placeholder 3">
            <a:extLst>
              <a:ext uri="{FF2B5EF4-FFF2-40B4-BE49-F238E27FC236}">
                <a16:creationId xmlns:a16="http://schemas.microsoft.com/office/drawing/2014/main" id="{054A2272-C3EA-D44B-043C-9E6F442FAC8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473722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E01B8F7A-84D9-1107-C264-0012E7B9AD88}"/>
              </a:ext>
            </a:extLst>
          </p:cNvPr>
          <p:cNvPicPr>
            <a:picLocks noChangeAspect="1"/>
          </p:cNvPicPr>
          <p:nvPr/>
        </p:nvPicPr>
        <p:blipFill>
          <a:blip r:embed="rId8"/>
          <a:stretch>
            <a:fillRect/>
          </a:stretch>
        </p:blipFill>
        <p:spPr>
          <a:xfrm>
            <a:off x="229526" y="1064301"/>
            <a:ext cx="7006049" cy="3809375"/>
          </a:xfrm>
          <a:prstGeom prst="rect">
            <a:avLst/>
          </a:prstGeom>
        </p:spPr>
      </p:pic>
      <p:sp>
        <p:nvSpPr>
          <p:cNvPr id="4" name="Text Placeholder 3">
            <a:extLst>
              <a:ext uri="{FF2B5EF4-FFF2-40B4-BE49-F238E27FC236}">
                <a16:creationId xmlns:a16="http://schemas.microsoft.com/office/drawing/2014/main" id="{F3D997A9-F939-F3DF-FFA3-C1EEFFC53CF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09330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5E10CB41-99E4-B5C7-04FE-625A408FA0A4}"/>
              </a:ext>
            </a:extLst>
          </p:cNvPr>
          <p:cNvPicPr>
            <a:picLocks noChangeAspect="1"/>
          </p:cNvPicPr>
          <p:nvPr/>
        </p:nvPicPr>
        <p:blipFill>
          <a:blip r:embed="rId8"/>
          <a:stretch>
            <a:fillRect/>
          </a:stretch>
        </p:blipFill>
        <p:spPr>
          <a:xfrm>
            <a:off x="419725" y="1079292"/>
            <a:ext cx="7629993" cy="3678858"/>
          </a:xfrm>
          <a:prstGeom prst="rect">
            <a:avLst/>
          </a:prstGeom>
        </p:spPr>
      </p:pic>
      <p:sp>
        <p:nvSpPr>
          <p:cNvPr id="3" name="Text Placeholder 2">
            <a:extLst>
              <a:ext uri="{FF2B5EF4-FFF2-40B4-BE49-F238E27FC236}">
                <a16:creationId xmlns:a16="http://schemas.microsoft.com/office/drawing/2014/main" id="{3162E7D0-AE1F-F0FF-37FE-564CAC10CD6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496073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2BF06BF5-A5DA-8BDF-5422-E9BEBCA15EE4}"/>
              </a:ext>
            </a:extLst>
          </p:cNvPr>
          <p:cNvPicPr>
            <a:picLocks noChangeAspect="1"/>
          </p:cNvPicPr>
          <p:nvPr/>
        </p:nvPicPr>
        <p:blipFill>
          <a:blip r:embed="rId8"/>
          <a:stretch>
            <a:fillRect/>
          </a:stretch>
        </p:blipFill>
        <p:spPr>
          <a:xfrm>
            <a:off x="238718" y="1085850"/>
            <a:ext cx="7452360" cy="4000500"/>
          </a:xfrm>
          <a:prstGeom prst="rect">
            <a:avLst/>
          </a:prstGeom>
        </p:spPr>
      </p:pic>
      <p:sp>
        <p:nvSpPr>
          <p:cNvPr id="4" name="Text Placeholder 3">
            <a:extLst>
              <a:ext uri="{FF2B5EF4-FFF2-40B4-BE49-F238E27FC236}">
                <a16:creationId xmlns:a16="http://schemas.microsoft.com/office/drawing/2014/main" id="{2DCDDDDF-2E5C-EDB8-BD7B-B83DCB36CAB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5190722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0903E0E1-B8B7-51FE-F84E-EBBDC81BF8C1}"/>
              </a:ext>
            </a:extLst>
          </p:cNvPr>
          <p:cNvPicPr>
            <a:picLocks noChangeAspect="1"/>
          </p:cNvPicPr>
          <p:nvPr/>
        </p:nvPicPr>
        <p:blipFill>
          <a:blip r:embed="rId8"/>
          <a:stretch>
            <a:fillRect/>
          </a:stretch>
        </p:blipFill>
        <p:spPr>
          <a:xfrm>
            <a:off x="156272" y="1115368"/>
            <a:ext cx="7452360" cy="4028132"/>
          </a:xfrm>
          <a:prstGeom prst="rect">
            <a:avLst/>
          </a:prstGeom>
        </p:spPr>
      </p:pic>
      <p:sp>
        <p:nvSpPr>
          <p:cNvPr id="4" name="Text Placeholder 3">
            <a:extLst>
              <a:ext uri="{FF2B5EF4-FFF2-40B4-BE49-F238E27FC236}">
                <a16:creationId xmlns:a16="http://schemas.microsoft.com/office/drawing/2014/main" id="{804917E3-F531-F762-1A2A-2488A3C2BF2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6693631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68B62D3E-A25A-E850-5103-09F1446A2277}"/>
              </a:ext>
            </a:extLst>
          </p:cNvPr>
          <p:cNvPicPr>
            <a:picLocks noChangeAspect="1"/>
          </p:cNvPicPr>
          <p:nvPr/>
        </p:nvPicPr>
        <p:blipFill>
          <a:blip r:embed="rId8"/>
          <a:stretch>
            <a:fillRect/>
          </a:stretch>
        </p:blipFill>
        <p:spPr>
          <a:xfrm>
            <a:off x="78359" y="1094007"/>
            <a:ext cx="7578652" cy="3992343"/>
          </a:xfrm>
          <a:prstGeom prst="rect">
            <a:avLst/>
          </a:prstGeom>
        </p:spPr>
      </p:pic>
      <p:sp>
        <p:nvSpPr>
          <p:cNvPr id="7" name="Rectangle 5">
            <a:extLst>
              <a:ext uri="{FF2B5EF4-FFF2-40B4-BE49-F238E27FC236}">
                <a16:creationId xmlns:a16="http://schemas.microsoft.com/office/drawing/2014/main" id="{F7F54B13-114B-97B0-D711-ED03BB1C79DD}"/>
              </a:ext>
            </a:extLst>
          </p:cNvPr>
          <p:cNvSpPr>
            <a:spLocks noChangeArrowheads="1"/>
          </p:cNvSpPr>
          <p:nvPr/>
        </p:nvSpPr>
        <p:spPr bwMode="auto">
          <a:xfrm>
            <a:off x="0" y="136267"/>
            <a:ext cx="65" cy="1846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FD426B9D-F5B0-5105-147D-58F4FBB92CC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3756595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nvGraphicFramePr>
        <p:xfrm>
          <a:off x="2155750" y="385350"/>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AAF69844-626B-4CDA-10A6-AAE5D4B80A2B}"/>
              </a:ext>
            </a:extLst>
          </p:cNvPr>
          <p:cNvPicPr>
            <a:picLocks noChangeAspect="1"/>
          </p:cNvPicPr>
          <p:nvPr/>
        </p:nvPicPr>
        <p:blipFill>
          <a:blip r:embed="rId8"/>
          <a:stretch>
            <a:fillRect/>
          </a:stretch>
        </p:blipFill>
        <p:spPr>
          <a:xfrm>
            <a:off x="76200" y="1064300"/>
            <a:ext cx="7195763" cy="4206615"/>
          </a:xfrm>
          <a:prstGeom prst="rect">
            <a:avLst/>
          </a:prstGeom>
        </p:spPr>
      </p:pic>
      <p:sp>
        <p:nvSpPr>
          <p:cNvPr id="3" name="Text Placeholder 2">
            <a:extLst>
              <a:ext uri="{FF2B5EF4-FFF2-40B4-BE49-F238E27FC236}">
                <a16:creationId xmlns:a16="http://schemas.microsoft.com/office/drawing/2014/main" id="{D40A096B-D12B-2C79-BF18-5B8462C3950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1038105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AC97CA8-DE90-6534-C0DF-5B09214015D1}"/>
              </a:ext>
            </a:extLst>
          </p:cNvPr>
          <p:cNvGraphicFramePr/>
          <p:nvPr>
            <p:extLst>
              <p:ext uri="{D42A27DB-BD31-4B8C-83A1-F6EECF244321}">
                <p14:modId xmlns:p14="http://schemas.microsoft.com/office/powerpoint/2010/main" val="3429137374"/>
              </p:ext>
            </p:extLst>
          </p:nvPr>
        </p:nvGraphicFramePr>
        <p:xfrm>
          <a:off x="2461604" y="635525"/>
          <a:ext cx="4220792"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42" name="Google Shape;242;p35" descr="C:\Users\Abhey Sharma\Downloads\Screenshot (411).png"/>
          <p:cNvPicPr preferRelativeResize="0"/>
          <p:nvPr/>
        </p:nvPicPr>
        <p:blipFill rotWithShape="1">
          <a:blip r:embed="rId8">
            <a:alphaModFix/>
          </a:blip>
          <a:srcRect/>
          <a:stretch/>
        </p:blipFill>
        <p:spPr>
          <a:xfrm>
            <a:off x="457200" y="1143000"/>
            <a:ext cx="8305801" cy="3200400"/>
          </a:xfrm>
          <a:prstGeom prst="rect">
            <a:avLst/>
          </a:prstGeom>
          <a:noFill/>
          <a:ln>
            <a:noFill/>
          </a:ln>
        </p:spPr>
      </p:pic>
      <p:sp>
        <p:nvSpPr>
          <p:cNvPr id="3" name="Text Placeholder 2">
            <a:extLst>
              <a:ext uri="{FF2B5EF4-FFF2-40B4-BE49-F238E27FC236}">
                <a16:creationId xmlns:a16="http://schemas.microsoft.com/office/drawing/2014/main" id="{CC58BB9D-6172-7108-D5FF-4C7C70A2C649}"/>
              </a:ext>
            </a:extLst>
          </p:cNvPr>
          <p:cNvSpPr>
            <a:spLocks noGrp="1"/>
          </p:cNvSpPr>
          <p:nvPr>
            <p:ph type="body" idx="1"/>
          </p:nvPr>
        </p:nvSpPr>
        <p:spPr/>
        <p:txBody>
          <a:bodyPr/>
          <a:lstStyle/>
          <a:p>
            <a:endParaRPr lang="en-I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8C8CA4BE-630B-D844-EEB4-9F5C65E303C2}"/>
              </a:ext>
            </a:extLst>
          </p:cNvPr>
          <p:cNvGraphicFramePr/>
          <p:nvPr>
            <p:extLst>
              <p:ext uri="{D42A27DB-BD31-4B8C-83A1-F6EECF244321}">
                <p14:modId xmlns:p14="http://schemas.microsoft.com/office/powerpoint/2010/main" val="709807506"/>
              </p:ext>
            </p:extLst>
          </p:nvPr>
        </p:nvGraphicFramePr>
        <p:xfrm>
          <a:off x="2172559" y="484950"/>
          <a:ext cx="561015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50" name="Google Shape;250;p36"/>
          <p:cNvPicPr preferRelativeResize="0"/>
          <p:nvPr/>
        </p:nvPicPr>
        <p:blipFill rotWithShape="1">
          <a:blip r:embed="rId8">
            <a:alphaModFix/>
          </a:blip>
          <a:srcRect l="39587" t="24369" r="18763" b="14137"/>
          <a:stretch/>
        </p:blipFill>
        <p:spPr>
          <a:xfrm>
            <a:off x="1801298" y="1085850"/>
            <a:ext cx="5720157" cy="3657600"/>
          </a:xfrm>
          <a:prstGeom prst="rect">
            <a:avLst/>
          </a:prstGeom>
          <a:noFill/>
          <a:ln>
            <a:noFill/>
          </a:ln>
        </p:spPr>
      </p:pic>
      <p:sp>
        <p:nvSpPr>
          <p:cNvPr id="3" name="Text Placeholder 2">
            <a:extLst>
              <a:ext uri="{FF2B5EF4-FFF2-40B4-BE49-F238E27FC236}">
                <a16:creationId xmlns:a16="http://schemas.microsoft.com/office/drawing/2014/main" id="{0FF7ADD2-AC00-F268-6CEB-D8387FDB4E2C}"/>
              </a:ext>
            </a:extLst>
          </p:cNvPr>
          <p:cNvSpPr>
            <a:spLocks noGrp="1"/>
          </p:cNvSpPr>
          <p:nvPr>
            <p:ph type="body" idx="1"/>
          </p:nvPr>
        </p:nvSpPr>
        <p:spPr/>
        <p:txBody>
          <a:bodyPr/>
          <a:lstStyle/>
          <a:p>
            <a:endParaRPr lang="en-I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D08184-8870-949E-F7B1-1FCEEDD2DE38}"/>
              </a:ext>
            </a:extLst>
          </p:cNvPr>
          <p:cNvSpPr>
            <a:spLocks noGrp="1"/>
          </p:cNvSpPr>
          <p:nvPr>
            <p:ph type="body" idx="1"/>
          </p:nvPr>
        </p:nvSpPr>
        <p:spPr/>
        <p:txBody>
          <a:bodyPr/>
          <a:lstStyle/>
          <a:p>
            <a:pPr marL="76200" indent="0">
              <a:buNone/>
            </a:pPr>
            <a:r>
              <a:rPr lang="en-US" dirty="0"/>
              <a:t>15 marks for experiment  + 15 marks for Complex/Average/Slow Learner’s Problem</a:t>
            </a:r>
            <a:endParaRPr lang="en-IN" dirty="0"/>
          </a:p>
        </p:txBody>
      </p:sp>
      <p:sp>
        <p:nvSpPr>
          <p:cNvPr id="2" name="Title 1">
            <a:extLst>
              <a:ext uri="{FF2B5EF4-FFF2-40B4-BE49-F238E27FC236}">
                <a16:creationId xmlns:a16="http://schemas.microsoft.com/office/drawing/2014/main" id="{7D2D3004-3BA1-E9AA-22F4-C16755A4AFCD}"/>
              </a:ext>
            </a:extLst>
          </p:cNvPr>
          <p:cNvSpPr>
            <a:spLocks noGrp="1"/>
          </p:cNvSpPr>
          <p:nvPr>
            <p:ph type="title" idx="4294967295"/>
          </p:nvPr>
        </p:nvSpPr>
        <p:spPr>
          <a:xfrm>
            <a:off x="1219200" y="800100"/>
            <a:ext cx="7924800" cy="457200"/>
          </a:xfrm>
        </p:spPr>
        <p:txBody>
          <a:bodyPr>
            <a:normAutofit fontScale="90000"/>
          </a:bodyPr>
          <a:lstStyle/>
          <a:p>
            <a:r>
              <a:rPr lang="en-US" dirty="0"/>
              <a:t>For 9</a:t>
            </a:r>
            <a:r>
              <a:rPr lang="en-US" baseline="30000" dirty="0"/>
              <a:t>th</a:t>
            </a:r>
            <a:r>
              <a:rPr lang="en-US" dirty="0"/>
              <a:t> Experiment</a:t>
            </a:r>
            <a:endParaRPr lang="en-IN" dirty="0"/>
          </a:p>
        </p:txBody>
      </p:sp>
    </p:spTree>
    <p:extLst>
      <p:ext uri="{BB962C8B-B14F-4D97-AF65-F5344CB8AC3E}">
        <p14:creationId xmlns:p14="http://schemas.microsoft.com/office/powerpoint/2010/main" val="302813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67CDC77F-7449-8079-DFC9-719E05104D6E}"/>
              </a:ext>
            </a:extLst>
          </p:cNvPr>
          <p:cNvGraphicFramePr>
            <a:graphicFrameLocks noGrp="1"/>
          </p:cNvGraphicFramePr>
          <p:nvPr/>
        </p:nvGraphicFramePr>
        <p:xfrm>
          <a:off x="1109793" y="123304"/>
          <a:ext cx="5575300" cy="1150620"/>
        </p:xfrm>
        <a:graphic>
          <a:graphicData uri="http://schemas.openxmlformats.org/drawingml/2006/table">
            <a:tbl>
              <a:tblPr>
                <a:tableStyleId>{7DF18680-E054-41AD-8BC1-D1AEF772440D}</a:tableStyleId>
              </a:tblPr>
              <a:tblGrid>
                <a:gridCol w="609600">
                  <a:extLst>
                    <a:ext uri="{9D8B030D-6E8A-4147-A177-3AD203B41FA5}">
                      <a16:colId xmlns:a16="http://schemas.microsoft.com/office/drawing/2014/main" val="1945536126"/>
                    </a:ext>
                  </a:extLst>
                </a:gridCol>
                <a:gridCol w="609600">
                  <a:extLst>
                    <a:ext uri="{9D8B030D-6E8A-4147-A177-3AD203B41FA5}">
                      <a16:colId xmlns:a16="http://schemas.microsoft.com/office/drawing/2014/main" val="3191106841"/>
                    </a:ext>
                  </a:extLst>
                </a:gridCol>
                <a:gridCol w="520700">
                  <a:extLst>
                    <a:ext uri="{9D8B030D-6E8A-4147-A177-3AD203B41FA5}">
                      <a16:colId xmlns:a16="http://schemas.microsoft.com/office/drawing/2014/main" val="964571721"/>
                    </a:ext>
                  </a:extLst>
                </a:gridCol>
                <a:gridCol w="609600">
                  <a:extLst>
                    <a:ext uri="{9D8B030D-6E8A-4147-A177-3AD203B41FA5}">
                      <a16:colId xmlns:a16="http://schemas.microsoft.com/office/drawing/2014/main" val="3346273463"/>
                    </a:ext>
                  </a:extLst>
                </a:gridCol>
                <a:gridCol w="609600">
                  <a:extLst>
                    <a:ext uri="{9D8B030D-6E8A-4147-A177-3AD203B41FA5}">
                      <a16:colId xmlns:a16="http://schemas.microsoft.com/office/drawing/2014/main" val="2791762358"/>
                    </a:ext>
                  </a:extLst>
                </a:gridCol>
                <a:gridCol w="723900">
                  <a:extLst>
                    <a:ext uri="{9D8B030D-6E8A-4147-A177-3AD203B41FA5}">
                      <a16:colId xmlns:a16="http://schemas.microsoft.com/office/drawing/2014/main" val="4113356071"/>
                    </a:ext>
                  </a:extLst>
                </a:gridCol>
                <a:gridCol w="609600">
                  <a:extLst>
                    <a:ext uri="{9D8B030D-6E8A-4147-A177-3AD203B41FA5}">
                      <a16:colId xmlns:a16="http://schemas.microsoft.com/office/drawing/2014/main" val="1839226074"/>
                    </a:ext>
                  </a:extLst>
                </a:gridCol>
                <a:gridCol w="673100">
                  <a:extLst>
                    <a:ext uri="{9D8B030D-6E8A-4147-A177-3AD203B41FA5}">
                      <a16:colId xmlns:a16="http://schemas.microsoft.com/office/drawing/2014/main" val="373236089"/>
                    </a:ext>
                  </a:extLst>
                </a:gridCol>
                <a:gridCol w="609600">
                  <a:extLst>
                    <a:ext uri="{9D8B030D-6E8A-4147-A177-3AD203B41FA5}">
                      <a16:colId xmlns:a16="http://schemas.microsoft.com/office/drawing/2014/main" val="3867965824"/>
                    </a:ext>
                  </a:extLst>
                </a:gridCol>
              </a:tblGrid>
              <a:tr h="259080">
                <a:tc gridSpan="9">
                  <a:txBody>
                    <a:bodyPr/>
                    <a:lstStyle/>
                    <a:p>
                      <a:pPr algn="ctr" fontAlgn="b"/>
                      <a:r>
                        <a:rPr lang="en-IN" sz="1100" b="1" u="none" strike="noStrike" dirty="0">
                          <a:solidFill>
                            <a:schemeClr val="bg2"/>
                          </a:solidFill>
                          <a:effectLst/>
                        </a:rPr>
                        <a:t>Continuous Assessment Sheet Format</a:t>
                      </a:r>
                      <a:endParaRPr lang="en-IN" sz="1100" b="1" i="0" u="none" strike="noStrike" dirty="0">
                        <a:solidFill>
                          <a:schemeClr val="bg2"/>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04601145"/>
                  </a:ext>
                </a:extLst>
              </a:tr>
              <a:tr h="327660">
                <a:tc>
                  <a:txBody>
                    <a:bodyPr/>
                    <a:lstStyle/>
                    <a:p>
                      <a:pPr algn="l" fontAlgn="b"/>
                      <a:r>
                        <a:rPr lang="en-US" sz="1100" u="none" strike="noStrike" spc="-25">
                          <a:effectLst/>
                        </a:rPr>
                        <a:t>S.no</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UID</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StudentName</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Section</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Course Code</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Experiment No 1 to 10</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5963181"/>
                  </a:ext>
                </a:extLst>
              </a:tr>
              <a:tr h="182880">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 </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5672241"/>
                  </a:ext>
                </a:extLst>
              </a:tr>
              <a:tr h="365760">
                <a:tc>
                  <a:txBody>
                    <a:bodyPr/>
                    <a:lstStyle/>
                    <a:p>
                      <a:pPr algn="l" fontAlgn="b"/>
                      <a:r>
                        <a:rPr lang="en-US" sz="1100" u="none" strike="noStrike" spc="-25">
                          <a:effectLst/>
                        </a:rPr>
                        <a:t> </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 </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 </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dirty="0">
                          <a:effectLst/>
                        </a:rPr>
                        <a:t> </a:t>
                      </a:r>
                      <a:endParaRPr lang="en-US" sz="11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a:effectLst/>
                        </a:rPr>
                        <a:t> </a:t>
                      </a:r>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dirty="0">
                          <a:effectLst/>
                        </a:rPr>
                        <a:t>Conduct 12</a:t>
                      </a:r>
                      <a:endParaRPr lang="en-US" sz="11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dirty="0">
                          <a:effectLst/>
                        </a:rPr>
                        <a:t>Viva 10</a:t>
                      </a:r>
                      <a:endParaRPr lang="en-US" sz="11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dirty="0">
                          <a:effectLst/>
                        </a:rPr>
                        <a:t>Worksheet 8</a:t>
                      </a:r>
                      <a:endParaRPr lang="en-US" sz="11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spc="-25" dirty="0">
                          <a:effectLst/>
                        </a:rPr>
                        <a:t>Total</a:t>
                      </a:r>
                      <a:endParaRPr lang="en-US" sz="1100" b="0" i="0" u="none" strike="noStrike" dirty="0">
                        <a:solidFill>
                          <a:srgbClr val="000000"/>
                        </a:solidFill>
                        <a:effectLst/>
                        <a:latin typeface="Calibri" panose="020F0502020204030204" pitchFamily="34" charset="0"/>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5397549"/>
                  </a:ext>
                </a:extLst>
              </a:tr>
            </a:tbl>
          </a:graphicData>
        </a:graphic>
      </p:graphicFrame>
      <p:sp>
        <p:nvSpPr>
          <p:cNvPr id="14" name="TextBox 13">
            <a:extLst>
              <a:ext uri="{FF2B5EF4-FFF2-40B4-BE49-F238E27FC236}">
                <a16:creationId xmlns:a16="http://schemas.microsoft.com/office/drawing/2014/main" id="{8A98BB53-7BB3-E6B2-67B6-67164C29B769}"/>
              </a:ext>
            </a:extLst>
          </p:cNvPr>
          <p:cNvSpPr txBox="1"/>
          <p:nvPr/>
        </p:nvSpPr>
        <p:spPr>
          <a:xfrm>
            <a:off x="547141" y="1356370"/>
            <a:ext cx="4572000" cy="1672253"/>
          </a:xfrm>
          <a:prstGeom prst="rect">
            <a:avLst/>
          </a:prstGeom>
          <a:noFill/>
        </p:spPr>
        <p:txBody>
          <a:bodyPr wrap="square">
            <a:spAutoFit/>
          </a:bodyPr>
          <a:lstStyle/>
          <a:p>
            <a:pPr marL="317500">
              <a:spcBef>
                <a:spcPts val="380"/>
              </a:spcBef>
              <a:spcAft>
                <a:spcPts val="0"/>
              </a:spcAft>
            </a:pPr>
            <a:r>
              <a:rPr lang="en-US" sz="1600" b="1" kern="0" spc="-25" dirty="0">
                <a:effectLst/>
                <a:latin typeface="Times New Roman" panose="02020603050405020304" pitchFamily="18" charset="0"/>
                <a:ea typeface="Times New Roman" panose="02020603050405020304" pitchFamily="18" charset="0"/>
              </a:rPr>
              <a:t>Bifurcation of the 30 marks is as follows:</a:t>
            </a:r>
            <a:endParaRPr lang="en-IN" sz="1400" b="1" kern="0" dirty="0">
              <a:effectLst/>
              <a:latin typeface="Times New Roman" panose="02020603050405020304" pitchFamily="18" charset="0"/>
              <a:ea typeface="Times New Roman" panose="02020603050405020304" pitchFamily="18" charset="0"/>
            </a:endParaRPr>
          </a:p>
          <a:p>
            <a:pPr marL="317500">
              <a:spcBef>
                <a:spcPts val="380"/>
              </a:spcBef>
            </a:pPr>
            <a:r>
              <a:rPr lang="en-US" sz="1400" b="1" kern="0" spc="-25" dirty="0">
                <a:effectLst/>
                <a:latin typeface="Times New Roman" panose="02020603050405020304" pitchFamily="18" charset="0"/>
                <a:ea typeface="Times New Roman" panose="02020603050405020304" pitchFamily="18" charset="0"/>
              </a:rPr>
              <a:t>Conduct:  12 Marks</a:t>
            </a:r>
            <a:endParaRPr lang="en-IN" sz="1400" b="1" kern="0" dirty="0">
              <a:effectLst/>
              <a:latin typeface="Times New Roman" panose="02020603050405020304" pitchFamily="18" charset="0"/>
              <a:ea typeface="Times New Roman" panose="02020603050405020304" pitchFamily="18" charset="0"/>
            </a:endParaRPr>
          </a:p>
          <a:p>
            <a:pPr marL="317500">
              <a:spcBef>
                <a:spcPts val="380"/>
              </a:spcBef>
            </a:pPr>
            <a:r>
              <a:rPr lang="en-US" sz="1400" b="1" kern="0" spc="-25" dirty="0">
                <a:effectLst/>
                <a:latin typeface="Times New Roman" panose="02020603050405020304" pitchFamily="18" charset="0"/>
                <a:ea typeface="Times New Roman" panose="02020603050405020304" pitchFamily="18" charset="0"/>
              </a:rPr>
              <a:t>Viva Voce:  10 Marks</a:t>
            </a:r>
            <a:endParaRPr lang="en-IN" sz="1400" b="1" kern="0" dirty="0">
              <a:effectLst/>
              <a:latin typeface="Times New Roman" panose="02020603050405020304" pitchFamily="18" charset="0"/>
              <a:ea typeface="Times New Roman" panose="02020603050405020304" pitchFamily="18" charset="0"/>
            </a:endParaRPr>
          </a:p>
          <a:p>
            <a:pPr marL="317500">
              <a:spcBef>
                <a:spcPts val="380"/>
              </a:spcBef>
            </a:pPr>
            <a:r>
              <a:rPr lang="en-US" sz="1400" b="1" kern="0" spc="-25" dirty="0">
                <a:effectLst/>
                <a:latin typeface="Times New Roman" panose="02020603050405020304" pitchFamily="18" charset="0"/>
                <a:ea typeface="Times New Roman" panose="02020603050405020304" pitchFamily="18" charset="0"/>
              </a:rPr>
              <a:t>Worksheet: 8 Marks</a:t>
            </a:r>
            <a:endParaRPr lang="en-IN" sz="1400" b="1" kern="0" dirty="0">
              <a:effectLst/>
              <a:latin typeface="Times New Roman" panose="02020603050405020304" pitchFamily="18" charset="0"/>
              <a:ea typeface="Times New Roman" panose="02020603050405020304" pitchFamily="18" charset="0"/>
            </a:endParaRPr>
          </a:p>
          <a:p>
            <a:pPr marL="317500">
              <a:spcBef>
                <a:spcPts val="380"/>
              </a:spcBef>
            </a:pPr>
            <a:r>
              <a:rPr lang="en-US" sz="1400" b="1" kern="0" spc="-25" dirty="0">
                <a:effectLst/>
                <a:latin typeface="Times New Roman" panose="02020603050405020304" pitchFamily="18" charset="0"/>
                <a:ea typeface="Times New Roman" panose="02020603050405020304" pitchFamily="18" charset="0"/>
              </a:rPr>
              <a:t> </a:t>
            </a:r>
            <a:endParaRPr lang="en-IN" sz="1400" b="1" kern="0" dirty="0">
              <a:effectLst/>
              <a:latin typeface="Times New Roman" panose="02020603050405020304" pitchFamily="18" charset="0"/>
              <a:ea typeface="Times New Roman" panose="02020603050405020304" pitchFamily="18" charset="0"/>
            </a:endParaRPr>
          </a:p>
          <a:p>
            <a:pPr marL="317500">
              <a:spcBef>
                <a:spcPts val="380"/>
              </a:spcBef>
            </a:pPr>
            <a:r>
              <a:rPr lang="en-US" sz="1400" b="1" kern="0" spc="-25" dirty="0">
                <a:effectLst/>
                <a:latin typeface="Times New Roman" panose="02020603050405020304" pitchFamily="18" charset="0"/>
                <a:ea typeface="Times New Roman" panose="02020603050405020304" pitchFamily="18" charset="0"/>
              </a:rPr>
              <a:t>Bifurcation for Practical’s July-Dec,2024.</a:t>
            </a:r>
            <a:endParaRPr lang="en-IN" sz="1400" b="1" kern="0" dirty="0">
              <a:effectLst/>
              <a:latin typeface="Times New Roman" panose="02020603050405020304" pitchFamily="18" charset="0"/>
              <a:ea typeface="Times New Roman" panose="02020603050405020304" pitchFamily="18" charset="0"/>
            </a:endParaRPr>
          </a:p>
        </p:txBody>
      </p:sp>
      <p:graphicFrame>
        <p:nvGraphicFramePr>
          <p:cNvPr id="15" name="Table 14">
            <a:extLst>
              <a:ext uri="{FF2B5EF4-FFF2-40B4-BE49-F238E27FC236}">
                <a16:creationId xmlns:a16="http://schemas.microsoft.com/office/drawing/2014/main" id="{4B71B64D-3ECF-12F1-502F-0A1D829C2AB6}"/>
              </a:ext>
            </a:extLst>
          </p:cNvPr>
          <p:cNvGraphicFramePr>
            <a:graphicFrameLocks noGrp="1"/>
          </p:cNvGraphicFramePr>
          <p:nvPr/>
        </p:nvGraphicFramePr>
        <p:xfrm>
          <a:off x="857063" y="3028623"/>
          <a:ext cx="6080760" cy="2032000"/>
        </p:xfrm>
        <a:graphic>
          <a:graphicData uri="http://schemas.openxmlformats.org/drawingml/2006/table">
            <a:tbl>
              <a:tblPr firstRow="1" firstCol="1" bandRow="1">
                <a:tableStyleId>{5C22544A-7EE6-4342-B048-85BDC9FD1C3A}</a:tableStyleId>
              </a:tblPr>
              <a:tblGrid>
                <a:gridCol w="2026920">
                  <a:extLst>
                    <a:ext uri="{9D8B030D-6E8A-4147-A177-3AD203B41FA5}">
                      <a16:colId xmlns:a16="http://schemas.microsoft.com/office/drawing/2014/main" val="2612112540"/>
                    </a:ext>
                  </a:extLst>
                </a:gridCol>
                <a:gridCol w="2026920">
                  <a:extLst>
                    <a:ext uri="{9D8B030D-6E8A-4147-A177-3AD203B41FA5}">
                      <a16:colId xmlns:a16="http://schemas.microsoft.com/office/drawing/2014/main" val="3841461164"/>
                    </a:ext>
                  </a:extLst>
                </a:gridCol>
                <a:gridCol w="2026920">
                  <a:extLst>
                    <a:ext uri="{9D8B030D-6E8A-4147-A177-3AD203B41FA5}">
                      <a16:colId xmlns:a16="http://schemas.microsoft.com/office/drawing/2014/main" val="1575130446"/>
                    </a:ext>
                  </a:extLst>
                </a:gridCol>
              </a:tblGrid>
              <a:tr h="0">
                <a:tc>
                  <a:txBody>
                    <a:bodyPr/>
                    <a:lstStyle/>
                    <a:p>
                      <a:pPr marL="317500" algn="l">
                        <a:spcBef>
                          <a:spcPts val="380"/>
                        </a:spcBef>
                      </a:pPr>
                      <a:r>
                        <a:rPr lang="en-US" sz="1100" kern="0" spc="-25">
                          <a:effectLst/>
                        </a:rPr>
                        <a:t>Conduct:  12 Marks</a:t>
                      </a:r>
                      <a:endParaRPr lang="en-IN" sz="1100" kern="0">
                        <a:effectLst/>
                      </a:endParaRPr>
                    </a:p>
                    <a:p>
                      <a:pPr marL="317500" algn="l">
                        <a:spcBef>
                          <a:spcPts val="380"/>
                        </a:spcBef>
                      </a:pPr>
                      <a:r>
                        <a:rPr lang="en-US" sz="1100" kern="0" spc="-25">
                          <a:effectLst/>
                        </a:rPr>
                        <a:t>Rubrics</a:t>
                      </a:r>
                      <a:endParaRPr lang="en-IN" sz="1100" kern="0">
                        <a:effectLst/>
                      </a:endParaRPr>
                    </a:p>
                    <a:p>
                      <a:pPr marL="317500" algn="l">
                        <a:spcBef>
                          <a:spcPts val="380"/>
                        </a:spcBef>
                      </a:pPr>
                      <a:r>
                        <a:rPr lang="en-US" sz="1100" kern="0" spc="-25">
                          <a:effectLst/>
                        </a:rPr>
                        <a:t> </a:t>
                      </a:r>
                      <a:endParaRPr lang="en-IN" sz="1100" b="1" kern="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17500" algn="l">
                        <a:spcBef>
                          <a:spcPts val="380"/>
                        </a:spcBef>
                      </a:pPr>
                      <a:r>
                        <a:rPr lang="en-US" sz="1100" kern="0" spc="-25">
                          <a:effectLst/>
                        </a:rPr>
                        <a:t>Viva Voce:  10 Marks</a:t>
                      </a:r>
                      <a:endParaRPr lang="en-IN" sz="1100" kern="0">
                        <a:effectLst/>
                      </a:endParaRPr>
                    </a:p>
                    <a:p>
                      <a:pPr marL="317500" algn="l">
                        <a:spcBef>
                          <a:spcPts val="380"/>
                        </a:spcBef>
                      </a:pPr>
                      <a:r>
                        <a:rPr lang="en-US" sz="1100" kern="0" spc="-25">
                          <a:effectLst/>
                        </a:rPr>
                        <a:t>Rubrics</a:t>
                      </a:r>
                      <a:endParaRPr lang="en-IN" sz="1100" kern="0">
                        <a:effectLst/>
                      </a:endParaRPr>
                    </a:p>
                    <a:p>
                      <a:pPr marL="317500" algn="l">
                        <a:spcBef>
                          <a:spcPts val="380"/>
                        </a:spcBef>
                      </a:pPr>
                      <a:r>
                        <a:rPr lang="en-US" sz="1100" kern="0" spc="-25">
                          <a:effectLst/>
                        </a:rPr>
                        <a:t> </a:t>
                      </a:r>
                      <a:endParaRPr lang="en-IN" sz="1100" b="1" kern="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17500" algn="l">
                        <a:spcBef>
                          <a:spcPts val="380"/>
                        </a:spcBef>
                      </a:pPr>
                      <a:r>
                        <a:rPr lang="en-US" sz="1100" kern="0" spc="-25">
                          <a:effectLst/>
                        </a:rPr>
                        <a:t>Worksheet: 8 Marks</a:t>
                      </a:r>
                      <a:endParaRPr lang="en-IN" sz="1100" kern="0">
                        <a:effectLst/>
                      </a:endParaRPr>
                    </a:p>
                    <a:p>
                      <a:pPr marL="317500" algn="l">
                        <a:spcBef>
                          <a:spcPts val="380"/>
                        </a:spcBef>
                      </a:pPr>
                      <a:r>
                        <a:rPr lang="en-US" sz="1100" kern="0" spc="-25">
                          <a:effectLst/>
                        </a:rPr>
                        <a:t>Rubrics</a:t>
                      </a:r>
                      <a:endParaRPr lang="en-IN" sz="1100" kern="0">
                        <a:effectLst/>
                      </a:endParaRPr>
                    </a:p>
                    <a:p>
                      <a:pPr marL="317500" algn="l">
                        <a:spcBef>
                          <a:spcPts val="380"/>
                        </a:spcBef>
                      </a:pPr>
                      <a:r>
                        <a:rPr lang="en-US" sz="1100" kern="0" spc="-25">
                          <a:effectLst/>
                        </a:rPr>
                        <a:t> </a:t>
                      </a:r>
                      <a:endParaRPr lang="en-IN" sz="1100" b="1" kern="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00543260"/>
                  </a:ext>
                </a:extLst>
              </a:tr>
              <a:tr h="0">
                <a:tc>
                  <a:txBody>
                    <a:bodyPr/>
                    <a:lstStyle/>
                    <a:p>
                      <a:pPr marL="342900" lvl="0" indent="-342900" algn="l">
                        <a:spcBef>
                          <a:spcPts val="380"/>
                        </a:spcBef>
                        <a:spcAft>
                          <a:spcPts val="0"/>
                        </a:spcAft>
                        <a:buFont typeface="+mj-lt"/>
                        <a:buAutoNum type="arabicPeriod"/>
                      </a:pPr>
                      <a:r>
                        <a:rPr lang="en-US" sz="1100" kern="0" spc="-25">
                          <a:effectLst/>
                        </a:rPr>
                        <a:t>8 marks for logic followed according to the problem statement.</a:t>
                      </a:r>
                      <a:endParaRPr lang="en-IN" sz="1100" kern="0">
                        <a:effectLst/>
                      </a:endParaRPr>
                    </a:p>
                    <a:p>
                      <a:pPr marL="342900" lvl="0" indent="-342900" algn="l">
                        <a:spcBef>
                          <a:spcPts val="380"/>
                        </a:spcBef>
                        <a:spcAft>
                          <a:spcPts val="0"/>
                        </a:spcAft>
                        <a:buFont typeface="+mj-lt"/>
                        <a:buAutoNum type="arabicPeriod"/>
                      </a:pPr>
                      <a:r>
                        <a:rPr lang="en-US" sz="1100" kern="0" spc="-25">
                          <a:effectLst/>
                        </a:rPr>
                        <a:t>4 marks for code writing skills.</a:t>
                      </a:r>
                      <a:endParaRPr lang="en-IN" sz="1100" b="1" kern="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l">
                        <a:spcBef>
                          <a:spcPts val="380"/>
                        </a:spcBef>
                        <a:spcAft>
                          <a:spcPts val="0"/>
                        </a:spcAft>
                        <a:buFont typeface="+mj-lt"/>
                        <a:buAutoNum type="arabicPeriod"/>
                      </a:pPr>
                      <a:r>
                        <a:rPr lang="en-US" sz="1100" kern="0" spc="-25">
                          <a:effectLst/>
                        </a:rPr>
                        <a:t>5 viva Question 2 marks each</a:t>
                      </a:r>
                      <a:endParaRPr lang="en-IN" sz="1100" b="1" kern="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lvl="0" indent="-342900" algn="l">
                        <a:spcBef>
                          <a:spcPts val="380"/>
                        </a:spcBef>
                        <a:spcAft>
                          <a:spcPts val="0"/>
                        </a:spcAft>
                        <a:buFont typeface="+mj-lt"/>
                        <a:buAutoNum type="arabicPeriod"/>
                      </a:pPr>
                      <a:r>
                        <a:rPr lang="en-US" sz="1100" kern="0" spc="-25" dirty="0">
                          <a:effectLst/>
                        </a:rPr>
                        <a:t>Aim- 1 Mark</a:t>
                      </a:r>
                      <a:endParaRPr lang="en-IN" sz="1100" kern="0" dirty="0">
                        <a:effectLst/>
                      </a:endParaRPr>
                    </a:p>
                    <a:p>
                      <a:pPr marL="342900" lvl="0" indent="-342900" algn="l">
                        <a:spcBef>
                          <a:spcPts val="380"/>
                        </a:spcBef>
                        <a:spcAft>
                          <a:spcPts val="0"/>
                        </a:spcAft>
                        <a:buFont typeface="+mj-lt"/>
                        <a:buAutoNum type="arabicPeriod"/>
                      </a:pPr>
                      <a:r>
                        <a:rPr lang="en-US" sz="1100" kern="0" spc="-25" dirty="0">
                          <a:effectLst/>
                        </a:rPr>
                        <a:t>Objective- 1 Mark</a:t>
                      </a:r>
                      <a:endParaRPr lang="en-IN" sz="1100" kern="0" dirty="0">
                        <a:effectLst/>
                      </a:endParaRPr>
                    </a:p>
                    <a:p>
                      <a:pPr marL="342900" lvl="0" indent="-342900" algn="l">
                        <a:spcBef>
                          <a:spcPts val="380"/>
                        </a:spcBef>
                        <a:spcAft>
                          <a:spcPts val="0"/>
                        </a:spcAft>
                        <a:buFont typeface="+mj-lt"/>
                        <a:buAutoNum type="arabicPeriod"/>
                      </a:pPr>
                      <a:r>
                        <a:rPr lang="en-US" sz="1100" kern="0" spc="-25" dirty="0">
                          <a:effectLst/>
                        </a:rPr>
                        <a:t>Input/Apparatus Used- 1 Mark</a:t>
                      </a:r>
                      <a:endParaRPr lang="en-IN" sz="1100" kern="0" dirty="0">
                        <a:effectLst/>
                      </a:endParaRPr>
                    </a:p>
                    <a:p>
                      <a:pPr marL="342900" lvl="0" indent="-342900" algn="l">
                        <a:spcBef>
                          <a:spcPts val="380"/>
                        </a:spcBef>
                        <a:spcAft>
                          <a:spcPts val="0"/>
                        </a:spcAft>
                        <a:buFont typeface="+mj-lt"/>
                        <a:buAutoNum type="arabicPeriod"/>
                      </a:pPr>
                      <a:r>
                        <a:rPr lang="en-US" sz="1100" kern="0" spc="-25" dirty="0">
                          <a:effectLst/>
                        </a:rPr>
                        <a:t>Procedure- 1 Mark</a:t>
                      </a:r>
                      <a:endParaRPr lang="en-IN" sz="1100" kern="0" dirty="0">
                        <a:effectLst/>
                      </a:endParaRPr>
                    </a:p>
                    <a:p>
                      <a:pPr marL="342900" lvl="0" indent="-342900" algn="l">
                        <a:spcBef>
                          <a:spcPts val="380"/>
                        </a:spcBef>
                        <a:spcAft>
                          <a:spcPts val="0"/>
                        </a:spcAft>
                        <a:buFont typeface="+mj-lt"/>
                        <a:buAutoNum type="arabicPeriod"/>
                      </a:pPr>
                      <a:r>
                        <a:rPr lang="en-US" sz="1100" kern="0" spc="-25" dirty="0">
                          <a:effectLst/>
                        </a:rPr>
                        <a:t>Code- 2 Mark</a:t>
                      </a:r>
                      <a:endParaRPr lang="en-IN" sz="1100" kern="0" dirty="0">
                        <a:effectLst/>
                      </a:endParaRPr>
                    </a:p>
                    <a:p>
                      <a:pPr marL="342900" lvl="0" indent="-342900" algn="l">
                        <a:spcBef>
                          <a:spcPts val="380"/>
                        </a:spcBef>
                        <a:spcAft>
                          <a:spcPts val="0"/>
                        </a:spcAft>
                        <a:buFont typeface="+mj-lt"/>
                        <a:buAutoNum type="arabicPeriod"/>
                      </a:pPr>
                      <a:r>
                        <a:rPr lang="en-US" sz="1100" kern="0" spc="-25" dirty="0">
                          <a:effectLst/>
                        </a:rPr>
                        <a:t>Output- 2 Mark</a:t>
                      </a:r>
                      <a:endParaRPr lang="en-IN" sz="1100" b="1" kern="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03508240"/>
                  </a:ext>
                </a:extLst>
              </a:tr>
            </a:tbl>
          </a:graphicData>
        </a:graphic>
      </p:graphicFrame>
      <p:sp>
        <p:nvSpPr>
          <p:cNvPr id="2" name="Text Placeholder 1">
            <a:extLst>
              <a:ext uri="{FF2B5EF4-FFF2-40B4-BE49-F238E27FC236}">
                <a16:creationId xmlns:a16="http://schemas.microsoft.com/office/drawing/2014/main" id="{16B34C03-FAD2-C268-F893-A0F6D0227BD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296961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39503E-BD47-496E-893E-55AA00909115}"/>
              </a:ext>
            </a:extLst>
          </p:cNvPr>
          <p:cNvSpPr>
            <a:spLocks noGrp="1"/>
          </p:cNvSpPr>
          <p:nvPr>
            <p:ph type="body" idx="1"/>
          </p:nvPr>
        </p:nvSpPr>
        <p:spPr/>
        <p:txBody>
          <a:bodyPr/>
          <a:lstStyle/>
          <a:p>
            <a:pPr marL="76200" indent="0">
              <a:buNone/>
            </a:pPr>
            <a:r>
              <a:rPr lang="en-US" sz="1800" b="1" kern="0" spc="-25" dirty="0">
                <a:effectLst/>
                <a:latin typeface="Times New Roman" panose="02020603050405020304" pitchFamily="18" charset="0"/>
                <a:ea typeface="Times New Roman" panose="02020603050405020304" pitchFamily="18" charset="0"/>
              </a:rPr>
              <a:t>Bifurcation of the 40 marks for External Practical is as follows:</a:t>
            </a:r>
            <a:endParaRPr lang="en-IN" sz="1800" b="1" kern="0" dirty="0">
              <a:effectLst/>
              <a:latin typeface="Times New Roman" panose="02020603050405020304" pitchFamily="18" charset="0"/>
              <a:ea typeface="Times New Roman" panose="02020603050405020304" pitchFamily="18" charset="0"/>
            </a:endParaRPr>
          </a:p>
          <a:p>
            <a:pPr marL="76200" indent="0">
              <a:buNone/>
            </a:pPr>
            <a:endParaRPr lang="en-IN" sz="1800" b="1" kern="0" dirty="0">
              <a:effectLst/>
              <a:latin typeface="Times New Roman" panose="02020603050405020304" pitchFamily="18" charset="0"/>
              <a:ea typeface="Times New Roman" panose="02020603050405020304" pitchFamily="18" charset="0"/>
            </a:endParaRPr>
          </a:p>
        </p:txBody>
      </p:sp>
      <p:graphicFrame>
        <p:nvGraphicFramePr>
          <p:cNvPr id="6" name="Table 5">
            <a:extLst>
              <a:ext uri="{FF2B5EF4-FFF2-40B4-BE49-F238E27FC236}">
                <a16:creationId xmlns:a16="http://schemas.microsoft.com/office/drawing/2014/main" id="{E0CBEE20-B756-BBEC-54DD-F67CE52AAEFE}"/>
              </a:ext>
            </a:extLst>
          </p:cNvPr>
          <p:cNvGraphicFramePr>
            <a:graphicFrameLocks noGrp="1"/>
          </p:cNvGraphicFramePr>
          <p:nvPr/>
        </p:nvGraphicFramePr>
        <p:xfrm>
          <a:off x="914400" y="999396"/>
          <a:ext cx="6240780" cy="2346960"/>
        </p:xfrm>
        <a:graphic>
          <a:graphicData uri="http://schemas.openxmlformats.org/drawingml/2006/table">
            <a:tbl>
              <a:tblPr firstRow="1" firstCol="1" bandRow="1">
                <a:tableStyleId>{5C22544A-7EE6-4342-B048-85BDC9FD1C3A}</a:tableStyleId>
              </a:tblPr>
              <a:tblGrid>
                <a:gridCol w="2026920">
                  <a:extLst>
                    <a:ext uri="{9D8B030D-6E8A-4147-A177-3AD203B41FA5}">
                      <a16:colId xmlns:a16="http://schemas.microsoft.com/office/drawing/2014/main" val="669584318"/>
                    </a:ext>
                  </a:extLst>
                </a:gridCol>
                <a:gridCol w="2026920">
                  <a:extLst>
                    <a:ext uri="{9D8B030D-6E8A-4147-A177-3AD203B41FA5}">
                      <a16:colId xmlns:a16="http://schemas.microsoft.com/office/drawing/2014/main" val="1162810059"/>
                    </a:ext>
                  </a:extLst>
                </a:gridCol>
                <a:gridCol w="2186940">
                  <a:extLst>
                    <a:ext uri="{9D8B030D-6E8A-4147-A177-3AD203B41FA5}">
                      <a16:colId xmlns:a16="http://schemas.microsoft.com/office/drawing/2014/main" val="1186700116"/>
                    </a:ext>
                  </a:extLst>
                </a:gridCol>
              </a:tblGrid>
              <a:tr h="0">
                <a:tc gridSpan="3">
                  <a:txBody>
                    <a:bodyPr/>
                    <a:lstStyle/>
                    <a:p>
                      <a:pPr algn="ctr"/>
                      <a:r>
                        <a:rPr lang="en-US" sz="1400">
                          <a:effectLst/>
                        </a:rPr>
                        <a:t>External Practical Evaluation Rubrics     Assessment Criteria</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145168911"/>
                  </a:ext>
                </a:extLst>
              </a:tr>
              <a:tr h="0">
                <a:tc>
                  <a:txBody>
                    <a:bodyPr/>
                    <a:lstStyle/>
                    <a:p>
                      <a:pPr algn="ctr"/>
                      <a:r>
                        <a:rPr lang="en-US" sz="1400">
                          <a:effectLst/>
                        </a:rPr>
                        <a:t>Performance/Conduct : 10 Marks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r>
                        <a:rPr lang="en-US" sz="1400">
                          <a:effectLst/>
                        </a:rPr>
                        <a:t>Viva Voce: 15 Marks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r>
                        <a:rPr lang="en-US" sz="1400">
                          <a:effectLst/>
                        </a:rPr>
                        <a:t>Written Worksheet : 15 Marks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069345161"/>
                  </a:ext>
                </a:extLst>
              </a:tr>
              <a:tr h="0">
                <a:tc>
                  <a:txBody>
                    <a:bodyPr/>
                    <a:lstStyle/>
                    <a:p>
                      <a:pPr algn="ctr"/>
                      <a:r>
                        <a:rPr lang="en-US" sz="1400">
                          <a:effectLst/>
                        </a:rPr>
                        <a:t>6 marks for logic followed according to the problem statement.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rowSpan="3">
                  <a:txBody>
                    <a:bodyPr/>
                    <a:lstStyle/>
                    <a:p>
                      <a:pPr algn="ctr"/>
                      <a:r>
                        <a:rPr lang="en-US" sz="1400">
                          <a:effectLst/>
                        </a:rPr>
                        <a:t>Minimum 5 viva  Question 3 marks each.</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a:effectLst/>
                        </a:rPr>
                        <a:t> 8 marks for proper all parameters included (Aim, Objective, Input/Apparatus Used, Procedure, Code).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10561389"/>
                  </a:ext>
                </a:extLst>
              </a:tr>
              <a:tr h="0">
                <a:tc>
                  <a:txBody>
                    <a:bodyPr/>
                    <a:lstStyle/>
                    <a:p>
                      <a:pPr algn="ctr"/>
                      <a:r>
                        <a:rPr lang="en-US" sz="1400">
                          <a:effectLst/>
                        </a:rPr>
                        <a:t>4 marks for code writing skills.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vMerge="1">
                  <a:txBody>
                    <a:bodyPr/>
                    <a:lstStyle/>
                    <a:p>
                      <a:endParaRPr lang="en-IN"/>
                    </a:p>
                  </a:txBody>
                  <a:tcPr/>
                </a:tc>
                <a:tc>
                  <a:txBody>
                    <a:bodyPr/>
                    <a:lstStyle/>
                    <a:p>
                      <a:pPr algn="ctr"/>
                      <a:r>
                        <a:rPr lang="en-US" sz="1400">
                          <a:effectLst/>
                        </a:rPr>
                        <a:t>5 marks for Logic</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56040309"/>
                  </a:ext>
                </a:extLst>
              </a:tr>
              <a:tr h="0">
                <a:tc>
                  <a:txBody>
                    <a:bodyPr/>
                    <a:lstStyle/>
                    <a:p>
                      <a:pPr algn="l"/>
                      <a:r>
                        <a:rPr lang="en-US" sz="1400">
                          <a:effectLst/>
                        </a:rPr>
                        <a:t> </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vMerge="1">
                  <a:txBody>
                    <a:bodyPr/>
                    <a:lstStyle/>
                    <a:p>
                      <a:endParaRPr lang="en-IN"/>
                    </a:p>
                  </a:txBody>
                  <a:tcPr/>
                </a:tc>
                <a:tc>
                  <a:txBody>
                    <a:bodyPr/>
                    <a:lstStyle/>
                    <a:p>
                      <a:pPr algn="ctr"/>
                      <a:r>
                        <a:rPr lang="en-US" sz="1400" dirty="0">
                          <a:effectLst/>
                        </a:rPr>
                        <a:t>2 marks for Output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30743438"/>
                  </a:ext>
                </a:extLst>
              </a:tr>
            </a:tbl>
          </a:graphicData>
        </a:graphic>
      </p:graphicFrame>
    </p:spTree>
    <p:extLst>
      <p:ext uri="{BB962C8B-B14F-4D97-AF65-F5344CB8AC3E}">
        <p14:creationId xmlns:p14="http://schemas.microsoft.com/office/powerpoint/2010/main" val="1009626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F9E167-2B75-171E-3F49-CEEEA8FD0AB5}"/>
              </a:ext>
            </a:extLst>
          </p:cNvPr>
          <p:cNvGraphicFramePr/>
          <p:nvPr>
            <p:extLst>
              <p:ext uri="{D42A27DB-BD31-4B8C-83A1-F6EECF244321}">
                <p14:modId xmlns:p14="http://schemas.microsoft.com/office/powerpoint/2010/main" val="2431907980"/>
              </p:ext>
            </p:extLst>
          </p:nvPr>
        </p:nvGraphicFramePr>
        <p:xfrm>
          <a:off x="1746871" y="773459"/>
          <a:ext cx="5650257" cy="48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1" name="Google Shape;221;p3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342900" marR="0" lvl="0" indent="0" algn="l" rtl="0">
              <a:lnSpc>
                <a:spcPct val="80000"/>
              </a:lnSpc>
              <a:spcBef>
                <a:spcPts val="440"/>
              </a:spcBef>
              <a:spcAft>
                <a:spcPts val="0"/>
              </a:spcAft>
              <a:buNone/>
            </a:pPr>
            <a:r>
              <a:rPr lang="en-US" sz="2200" b="0" i="0" u="none" dirty="0">
                <a:solidFill>
                  <a:schemeClr val="dk1"/>
                </a:solidFill>
                <a:latin typeface="Cambria"/>
                <a:ea typeface="Cambria"/>
                <a:cs typeface="Cambria"/>
                <a:sym typeface="Cambria"/>
              </a:rPr>
              <a:t>  </a:t>
            </a:r>
            <a:endParaRPr sz="2200" b="0" i="0" u="none" dirty="0">
              <a:solidFill>
                <a:schemeClr val="dk1"/>
              </a:solidFill>
              <a:latin typeface="Cambria"/>
              <a:ea typeface="Cambria"/>
              <a:cs typeface="Cambria"/>
              <a:sym typeface="Cambria"/>
            </a:endParaRPr>
          </a:p>
        </p:txBody>
      </p:sp>
      <p:graphicFrame>
        <p:nvGraphicFramePr>
          <p:cNvPr id="3" name="Table 2">
            <a:extLst>
              <a:ext uri="{FF2B5EF4-FFF2-40B4-BE49-F238E27FC236}">
                <a16:creationId xmlns:a16="http://schemas.microsoft.com/office/drawing/2014/main" id="{647A54DE-0285-76FF-A305-2B40195919CB}"/>
              </a:ext>
            </a:extLst>
          </p:cNvPr>
          <p:cNvGraphicFramePr>
            <a:graphicFrameLocks noGrp="1"/>
          </p:cNvGraphicFramePr>
          <p:nvPr>
            <p:extLst>
              <p:ext uri="{D42A27DB-BD31-4B8C-83A1-F6EECF244321}">
                <p14:modId xmlns:p14="http://schemas.microsoft.com/office/powerpoint/2010/main" val="651381808"/>
              </p:ext>
            </p:extLst>
          </p:nvPr>
        </p:nvGraphicFramePr>
        <p:xfrm>
          <a:off x="551145" y="1515650"/>
          <a:ext cx="8131644" cy="3321013"/>
        </p:xfrm>
        <a:graphic>
          <a:graphicData uri="http://schemas.openxmlformats.org/drawingml/2006/table">
            <a:tbl>
              <a:tblPr>
                <a:tableStyleId>{5C22544A-7EE6-4342-B048-85BDC9FD1C3A}</a:tableStyleId>
              </a:tblPr>
              <a:tblGrid>
                <a:gridCol w="805657">
                  <a:extLst>
                    <a:ext uri="{9D8B030D-6E8A-4147-A177-3AD203B41FA5}">
                      <a16:colId xmlns:a16="http://schemas.microsoft.com/office/drawing/2014/main" val="2851862270"/>
                    </a:ext>
                  </a:extLst>
                </a:gridCol>
                <a:gridCol w="444234">
                  <a:extLst>
                    <a:ext uri="{9D8B030D-6E8A-4147-A177-3AD203B41FA5}">
                      <a16:colId xmlns:a16="http://schemas.microsoft.com/office/drawing/2014/main" val="293315358"/>
                    </a:ext>
                  </a:extLst>
                </a:gridCol>
                <a:gridCol w="372259">
                  <a:extLst>
                    <a:ext uri="{9D8B030D-6E8A-4147-A177-3AD203B41FA5}">
                      <a16:colId xmlns:a16="http://schemas.microsoft.com/office/drawing/2014/main" val="958570749"/>
                    </a:ext>
                  </a:extLst>
                </a:gridCol>
                <a:gridCol w="375354">
                  <a:extLst>
                    <a:ext uri="{9D8B030D-6E8A-4147-A177-3AD203B41FA5}">
                      <a16:colId xmlns:a16="http://schemas.microsoft.com/office/drawing/2014/main" val="2474115047"/>
                    </a:ext>
                  </a:extLst>
                </a:gridCol>
                <a:gridCol w="376129">
                  <a:extLst>
                    <a:ext uri="{9D8B030D-6E8A-4147-A177-3AD203B41FA5}">
                      <a16:colId xmlns:a16="http://schemas.microsoft.com/office/drawing/2014/main" val="1676520481"/>
                    </a:ext>
                  </a:extLst>
                </a:gridCol>
                <a:gridCol w="375354">
                  <a:extLst>
                    <a:ext uri="{9D8B030D-6E8A-4147-A177-3AD203B41FA5}">
                      <a16:colId xmlns:a16="http://schemas.microsoft.com/office/drawing/2014/main" val="452597538"/>
                    </a:ext>
                  </a:extLst>
                </a:gridCol>
                <a:gridCol w="375354">
                  <a:extLst>
                    <a:ext uri="{9D8B030D-6E8A-4147-A177-3AD203B41FA5}">
                      <a16:colId xmlns:a16="http://schemas.microsoft.com/office/drawing/2014/main" val="136672104"/>
                    </a:ext>
                  </a:extLst>
                </a:gridCol>
                <a:gridCol w="375354">
                  <a:extLst>
                    <a:ext uri="{9D8B030D-6E8A-4147-A177-3AD203B41FA5}">
                      <a16:colId xmlns:a16="http://schemas.microsoft.com/office/drawing/2014/main" val="3472094316"/>
                    </a:ext>
                  </a:extLst>
                </a:gridCol>
                <a:gridCol w="376129">
                  <a:extLst>
                    <a:ext uri="{9D8B030D-6E8A-4147-A177-3AD203B41FA5}">
                      <a16:colId xmlns:a16="http://schemas.microsoft.com/office/drawing/2014/main" val="952981928"/>
                    </a:ext>
                  </a:extLst>
                </a:gridCol>
                <a:gridCol w="375354">
                  <a:extLst>
                    <a:ext uri="{9D8B030D-6E8A-4147-A177-3AD203B41FA5}">
                      <a16:colId xmlns:a16="http://schemas.microsoft.com/office/drawing/2014/main" val="962770328"/>
                    </a:ext>
                  </a:extLst>
                </a:gridCol>
                <a:gridCol w="500730">
                  <a:extLst>
                    <a:ext uri="{9D8B030D-6E8A-4147-A177-3AD203B41FA5}">
                      <a16:colId xmlns:a16="http://schemas.microsoft.com/office/drawing/2014/main" val="3164869338"/>
                    </a:ext>
                  </a:extLst>
                </a:gridCol>
                <a:gridCol w="375354">
                  <a:extLst>
                    <a:ext uri="{9D8B030D-6E8A-4147-A177-3AD203B41FA5}">
                      <a16:colId xmlns:a16="http://schemas.microsoft.com/office/drawing/2014/main" val="3953641056"/>
                    </a:ext>
                  </a:extLst>
                </a:gridCol>
                <a:gridCol w="375354">
                  <a:extLst>
                    <a:ext uri="{9D8B030D-6E8A-4147-A177-3AD203B41FA5}">
                      <a16:colId xmlns:a16="http://schemas.microsoft.com/office/drawing/2014/main" val="456639914"/>
                    </a:ext>
                  </a:extLst>
                </a:gridCol>
                <a:gridCol w="376129">
                  <a:extLst>
                    <a:ext uri="{9D8B030D-6E8A-4147-A177-3AD203B41FA5}">
                      <a16:colId xmlns:a16="http://schemas.microsoft.com/office/drawing/2014/main" val="2368297630"/>
                    </a:ext>
                  </a:extLst>
                </a:gridCol>
                <a:gridCol w="375354">
                  <a:extLst>
                    <a:ext uri="{9D8B030D-6E8A-4147-A177-3AD203B41FA5}">
                      <a16:colId xmlns:a16="http://schemas.microsoft.com/office/drawing/2014/main" val="2126168036"/>
                    </a:ext>
                  </a:extLst>
                </a:gridCol>
                <a:gridCol w="375354">
                  <a:extLst>
                    <a:ext uri="{9D8B030D-6E8A-4147-A177-3AD203B41FA5}">
                      <a16:colId xmlns:a16="http://schemas.microsoft.com/office/drawing/2014/main" val="3859360217"/>
                    </a:ext>
                  </a:extLst>
                </a:gridCol>
                <a:gridCol w="375354">
                  <a:extLst>
                    <a:ext uri="{9D8B030D-6E8A-4147-A177-3AD203B41FA5}">
                      <a16:colId xmlns:a16="http://schemas.microsoft.com/office/drawing/2014/main" val="2030500541"/>
                    </a:ext>
                  </a:extLst>
                </a:gridCol>
                <a:gridCol w="376129">
                  <a:extLst>
                    <a:ext uri="{9D8B030D-6E8A-4147-A177-3AD203B41FA5}">
                      <a16:colId xmlns:a16="http://schemas.microsoft.com/office/drawing/2014/main" val="2441285386"/>
                    </a:ext>
                  </a:extLst>
                </a:gridCol>
                <a:gridCol w="375354">
                  <a:extLst>
                    <a:ext uri="{9D8B030D-6E8A-4147-A177-3AD203B41FA5}">
                      <a16:colId xmlns:a16="http://schemas.microsoft.com/office/drawing/2014/main" val="1471170474"/>
                    </a:ext>
                  </a:extLst>
                </a:gridCol>
                <a:gridCol w="375354">
                  <a:extLst>
                    <a:ext uri="{9D8B030D-6E8A-4147-A177-3AD203B41FA5}">
                      <a16:colId xmlns:a16="http://schemas.microsoft.com/office/drawing/2014/main" val="82888630"/>
                    </a:ext>
                  </a:extLst>
                </a:gridCol>
              </a:tblGrid>
              <a:tr h="1010518">
                <a:tc>
                  <a:txBody>
                    <a:bodyPr/>
                    <a:lstStyle/>
                    <a:p>
                      <a:pPr algn="just">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Course Outcome</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080"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PO1</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PO2</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PO3</a:t>
                      </a:r>
                      <a:endParaRPr lang="en-IN"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PO4</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PO5</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PO6</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PO7</a:t>
                      </a:r>
                      <a:endParaRPr lang="en-IN"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PO8</a:t>
                      </a:r>
                      <a:endParaRPr lang="en-IN"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PO9</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7620" algn="ctr">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PO1</a:t>
                      </a:r>
                      <a:endParaRPr lang="en-IN" sz="1400" b="1">
                        <a:effectLst/>
                        <a:latin typeface="Times New Roman" panose="02020603050405020304" pitchFamily="18" charset="0"/>
                        <a:cs typeface="Times New Roman" panose="02020603050405020304" pitchFamily="18" charset="0"/>
                      </a:endParaRPr>
                    </a:p>
                    <a:p>
                      <a:pPr marL="7620" algn="ctr">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0</a:t>
                      </a:r>
                      <a:endParaRPr lang="en-IN"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8255"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PO1</a:t>
                      </a:r>
                      <a:endParaRPr lang="en-IN" sz="1400" b="1" dirty="0">
                        <a:effectLst/>
                        <a:latin typeface="Times New Roman" panose="02020603050405020304" pitchFamily="18" charset="0"/>
                        <a:cs typeface="Times New Roman" panose="02020603050405020304" pitchFamily="18" charset="0"/>
                      </a:endParaRPr>
                    </a:p>
                    <a:p>
                      <a:pPr marL="8255" algn="ctr">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1</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PO12</a:t>
                      </a:r>
                      <a:endParaRPr lang="en-IN"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9055">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PO13</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9055">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PO14</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9055">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PO15</a:t>
                      </a:r>
                      <a:endParaRPr lang="en-IN"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9055">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PO16</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9055">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PO17</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9055">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PSO1</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9055">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PSO2</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8189940"/>
                  </a:ext>
                </a:extLst>
              </a:tr>
              <a:tr h="278911">
                <a:tc>
                  <a:txBody>
                    <a:bodyPr/>
                    <a:lstStyle/>
                    <a:p>
                      <a:pPr algn="just">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CO1</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08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3</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762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825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3505526"/>
                  </a:ext>
                </a:extLst>
              </a:tr>
              <a:tr h="278911">
                <a:tc>
                  <a:txBody>
                    <a:bodyPr/>
                    <a:lstStyle/>
                    <a:p>
                      <a:pPr algn="just">
                        <a:lnSpc>
                          <a:spcPct val="115000"/>
                        </a:lnSpc>
                        <a:spcAft>
                          <a:spcPts val="1000"/>
                        </a:spcAft>
                        <a:buNone/>
                      </a:pPr>
                      <a:r>
                        <a:rPr lang="en-US" sz="1400" b="1">
                          <a:effectLst/>
                          <a:latin typeface="Times New Roman" panose="02020603050405020304" pitchFamily="18" charset="0"/>
                          <a:cs typeface="Times New Roman" panose="02020603050405020304" pitchFamily="18" charset="0"/>
                        </a:rPr>
                        <a:t>CO2</a:t>
                      </a:r>
                      <a:endParaRPr lang="en-IN" sz="1400" b="1">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08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762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825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1188833"/>
                  </a:ext>
                </a:extLst>
              </a:tr>
              <a:tr h="278911">
                <a:tc>
                  <a:txBody>
                    <a:bodyPr/>
                    <a:lstStyle/>
                    <a:p>
                      <a:pPr algn="just">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CO3</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08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762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825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nSpc>
                          <a:spcPct val="115000"/>
                        </a:lnSpc>
                        <a:spcAft>
                          <a:spcPts val="1000"/>
                        </a:spcAft>
                        <a:buNone/>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7576832"/>
                  </a:ext>
                </a:extLst>
              </a:tr>
              <a:tr h="278911">
                <a:tc>
                  <a:txBody>
                    <a:bodyPr/>
                    <a:lstStyle/>
                    <a:p>
                      <a:pPr algn="just">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CO4</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08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762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825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5575167"/>
                  </a:ext>
                </a:extLst>
              </a:tr>
              <a:tr h="341465">
                <a:tc>
                  <a:txBody>
                    <a:bodyPr/>
                    <a:lstStyle/>
                    <a:p>
                      <a:pPr algn="just">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CO5</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08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762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825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3024953"/>
                  </a:ext>
                </a:extLst>
              </a:tr>
              <a:tr h="853386">
                <a:tc>
                  <a:txBody>
                    <a:bodyPr/>
                    <a:lstStyle/>
                    <a:p>
                      <a:pPr algn="just">
                        <a:lnSpc>
                          <a:spcPct val="115000"/>
                        </a:lnSpc>
                        <a:spcAft>
                          <a:spcPts val="1000"/>
                        </a:spcAft>
                        <a:buNone/>
                      </a:pPr>
                      <a:r>
                        <a:rPr lang="en-US" sz="1400" b="1" dirty="0">
                          <a:effectLst/>
                          <a:latin typeface="Times New Roman" panose="02020603050405020304" pitchFamily="18" charset="0"/>
                          <a:cs typeface="Times New Roman" panose="02020603050405020304" pitchFamily="18" charset="0"/>
                        </a:rPr>
                        <a:t>AVG</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08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2.8</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571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2.8</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2.4</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1.25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98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762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8255"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2.6</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1.2</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a:effectLst/>
                          <a:latin typeface="Times New Roman" panose="02020603050405020304" pitchFamily="18" charset="0"/>
                          <a:cs typeface="Times New Roman" panose="02020603050405020304" pitchFamily="18" charset="0"/>
                        </a:rPr>
                        <a:t>1.25</a:t>
                      </a:r>
                      <a:endParaRPr lang="en-IN"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1</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2.5</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63500" algn="ctr">
                        <a:lnSpc>
                          <a:spcPct val="115000"/>
                        </a:lnSpc>
                        <a:spcAft>
                          <a:spcPts val="1000"/>
                        </a:spcAft>
                        <a:buNone/>
                      </a:pPr>
                      <a:r>
                        <a:rPr lang="en-US" sz="1400" dirty="0">
                          <a:effectLst/>
                          <a:latin typeface="Times New Roman" panose="02020603050405020304" pitchFamily="18" charset="0"/>
                          <a:cs typeface="Times New Roman" panose="02020603050405020304" pitchFamily="18" charset="0"/>
                        </a:rPr>
                        <a:t>2</a:t>
                      </a:r>
                      <a:endParaRPr lang="en-IN"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2580483"/>
                  </a:ext>
                </a:extLst>
              </a:tr>
            </a:tbl>
          </a:graphicData>
        </a:graphic>
      </p:graphicFrame>
    </p:spTree>
    <p:extLst>
      <p:ext uri="{BB962C8B-B14F-4D97-AF65-F5344CB8AC3E}">
        <p14:creationId xmlns:p14="http://schemas.microsoft.com/office/powerpoint/2010/main" val="4898420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846B0B6-702C-B2E7-272D-ACE95ED6E02F}"/>
              </a:ext>
            </a:extLst>
          </p:cNvPr>
          <p:cNvGraphicFramePr/>
          <p:nvPr>
            <p:extLst>
              <p:ext uri="{D42A27DB-BD31-4B8C-83A1-F6EECF244321}">
                <p14:modId xmlns:p14="http://schemas.microsoft.com/office/powerpoint/2010/main" val="1055848059"/>
              </p:ext>
            </p:extLst>
          </p:nvPr>
        </p:nvGraphicFramePr>
        <p:xfrm>
          <a:off x="2752948" y="156750"/>
          <a:ext cx="4572001"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D3BB1B7D-D0CD-4976-3337-C1F642E951F3}"/>
              </a:ext>
            </a:extLst>
          </p:cNvPr>
          <p:cNvGraphicFramePr>
            <a:graphicFrameLocks noGrp="1"/>
          </p:cNvGraphicFramePr>
          <p:nvPr>
            <p:extLst>
              <p:ext uri="{D42A27DB-BD31-4B8C-83A1-F6EECF244321}">
                <p14:modId xmlns:p14="http://schemas.microsoft.com/office/powerpoint/2010/main" val="3887665335"/>
              </p:ext>
            </p:extLst>
          </p:nvPr>
        </p:nvGraphicFramePr>
        <p:xfrm>
          <a:off x="389746" y="713550"/>
          <a:ext cx="8566879" cy="4376902"/>
        </p:xfrm>
        <a:graphic>
          <a:graphicData uri="http://schemas.openxmlformats.org/drawingml/2006/table">
            <a:tbl>
              <a:tblPr/>
              <a:tblGrid>
                <a:gridCol w="358281">
                  <a:extLst>
                    <a:ext uri="{9D8B030D-6E8A-4147-A177-3AD203B41FA5}">
                      <a16:colId xmlns:a16="http://schemas.microsoft.com/office/drawing/2014/main" val="319281804"/>
                    </a:ext>
                  </a:extLst>
                </a:gridCol>
                <a:gridCol w="1264216">
                  <a:extLst>
                    <a:ext uri="{9D8B030D-6E8A-4147-A177-3AD203B41FA5}">
                      <a16:colId xmlns:a16="http://schemas.microsoft.com/office/drawing/2014/main" val="3158179519"/>
                    </a:ext>
                  </a:extLst>
                </a:gridCol>
                <a:gridCol w="1077244">
                  <a:extLst>
                    <a:ext uri="{9D8B030D-6E8A-4147-A177-3AD203B41FA5}">
                      <a16:colId xmlns:a16="http://schemas.microsoft.com/office/drawing/2014/main" val="3227503433"/>
                    </a:ext>
                  </a:extLst>
                </a:gridCol>
                <a:gridCol w="1512493">
                  <a:extLst>
                    <a:ext uri="{9D8B030D-6E8A-4147-A177-3AD203B41FA5}">
                      <a16:colId xmlns:a16="http://schemas.microsoft.com/office/drawing/2014/main" val="2293986826"/>
                    </a:ext>
                  </a:extLst>
                </a:gridCol>
                <a:gridCol w="1007493">
                  <a:extLst>
                    <a:ext uri="{9D8B030D-6E8A-4147-A177-3AD203B41FA5}">
                      <a16:colId xmlns:a16="http://schemas.microsoft.com/office/drawing/2014/main" val="3218504363"/>
                    </a:ext>
                  </a:extLst>
                </a:gridCol>
                <a:gridCol w="1192664">
                  <a:extLst>
                    <a:ext uri="{9D8B030D-6E8A-4147-A177-3AD203B41FA5}">
                      <a16:colId xmlns:a16="http://schemas.microsoft.com/office/drawing/2014/main" val="1552468759"/>
                    </a:ext>
                  </a:extLst>
                </a:gridCol>
                <a:gridCol w="1077244">
                  <a:extLst>
                    <a:ext uri="{9D8B030D-6E8A-4147-A177-3AD203B41FA5}">
                      <a16:colId xmlns:a16="http://schemas.microsoft.com/office/drawing/2014/main" val="22768660"/>
                    </a:ext>
                  </a:extLst>
                </a:gridCol>
                <a:gridCol w="1077244">
                  <a:extLst>
                    <a:ext uri="{9D8B030D-6E8A-4147-A177-3AD203B41FA5}">
                      <a16:colId xmlns:a16="http://schemas.microsoft.com/office/drawing/2014/main" val="1856908379"/>
                    </a:ext>
                  </a:extLst>
                </a:gridCol>
              </a:tblGrid>
              <a:tr h="374882">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Sr. No</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Title of Project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DOMAIN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Description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Hardware/Soft Requirement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Technology</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Objective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Targeted Outcome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372523678"/>
                  </a:ext>
                </a:extLst>
              </a:tr>
              <a:tr h="1038137">
                <a:tc>
                  <a:txBody>
                    <a:bodyPr/>
                    <a:lstStyle/>
                    <a:p>
                      <a:pPr algn="l" fontAlgn="ctr"/>
                      <a:r>
                        <a:rPr lang="en-US" sz="1000" b="0" i="0" u="none" strike="noStrike" dirty="0">
                          <a:solidFill>
                            <a:srgbClr val="374151"/>
                          </a:solidFill>
                          <a:effectLst/>
                          <a:latin typeface="Segoe UI" panose="020B0502040204020203" pitchFamily="34" charset="0"/>
                        </a:rPr>
                        <a:t>21.</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Times New Roman" panose="02020603050405020304" pitchFamily="18" charset="0"/>
                        </a:rPr>
                        <a:t>Strategic Game Mastery: Algorithmic Approaches to Play Classic Games with Minimax, Alpha-Beta Pruning, and Beyond</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Game Development, AI</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Create algorithms to play classic games like Tic-Tac-Toe, Connect Four, or Chess. You can implement minimax, alpha-beta pruning, and other game-playing techniques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Java)</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AI techniques (e.g., Minimax, Alpha-Beta Pruning), game dev frameworks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Create intelligent agents capable of making strategic decisions in games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AI opponents with varying levels of difficulty in games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2226516067"/>
                  </a:ext>
                </a:extLst>
              </a:tr>
              <a:tr h="890884">
                <a:tc>
                  <a:txBody>
                    <a:bodyPr/>
                    <a:lstStyle/>
                    <a:p>
                      <a:pPr algn="l" fontAlgn="ctr"/>
                      <a:r>
                        <a:rPr lang="en-US" sz="1000" b="0" i="0" u="none" strike="noStrike" dirty="0">
                          <a:solidFill>
                            <a:srgbClr val="374151"/>
                          </a:solidFill>
                          <a:effectLst/>
                          <a:latin typeface="Segoe UI" panose="020B0502040204020203" pitchFamily="34" charset="0"/>
                        </a:rPr>
                        <a:t>22.</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Graph Harmony Assessment: Algorithmic Isomorphism Analysis for Structural Equivalence</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Graph Theory, Network Analysis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Develop an algorithm that determines whether two given graphs are isomorphic by analyzing their structures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C++)</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Graph isomorphism algorithms, graph analysis libraries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Provide a solution for graph comparison and similarity analysis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Determining whether two graphs have the same underlying structure</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1527011374"/>
                  </a:ext>
                </a:extLst>
              </a:tr>
              <a:tr h="931160">
                <a:tc>
                  <a:txBody>
                    <a:bodyPr/>
                    <a:lstStyle/>
                    <a:p>
                      <a:pPr algn="l" fontAlgn="ctr"/>
                      <a:r>
                        <a:rPr lang="en-US" sz="1000" b="0" i="0" u="none" strike="noStrike" dirty="0">
                          <a:solidFill>
                            <a:srgbClr val="374151"/>
                          </a:solidFill>
                          <a:effectLst/>
                          <a:latin typeface="Segoe UI" panose="020B0502040204020203" pitchFamily="34" charset="0"/>
                        </a:rPr>
                        <a:t>23.</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Bin Packing Brilliance: Online Algorithms for Efficiently Packing Items into Fixed Capacity Bins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Algorithms, Resource Allocation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Implement online algorithms for the bin packing problem, where items need to be packed into bins of fixed capacity</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Java)</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Bin packing algorithms, resource allocation libraries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Optimize the allocation of items into containers while handling new arrivals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Efficient packing of items in real-time scenarios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60841062"/>
                  </a:ext>
                </a:extLst>
              </a:tr>
              <a:tr h="1038137">
                <a:tc>
                  <a:txBody>
                    <a:bodyPr/>
                    <a:lstStyle/>
                    <a:p>
                      <a:pPr algn="l" fontAlgn="ctr"/>
                      <a:r>
                        <a:rPr lang="en-US" sz="1000" b="0" i="0" u="none" strike="noStrike" dirty="0">
                          <a:solidFill>
                            <a:srgbClr val="374151"/>
                          </a:solidFill>
                          <a:effectLst/>
                          <a:latin typeface="Segoe UI" panose="020B0502040204020203" pitchFamily="34" charset="0"/>
                        </a:rPr>
                        <a:t>24.</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0" i="0" u="none" strike="noStrike">
                          <a:solidFill>
                            <a:srgbClr val="000000"/>
                          </a:solidFill>
                          <a:effectLst/>
                          <a:latin typeface="Times New Roman" panose="02020603050405020304" pitchFamily="18" charset="0"/>
                        </a:rPr>
                        <a:t>Data Elegance in Bits: Exploring and Implementing Huffman Coding and Lempel-Ziv-Welch (LZW) Compression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Data Compression, Information Theory</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dirty="0">
                          <a:solidFill>
                            <a:srgbClr val="000000"/>
                          </a:solidFill>
                          <a:effectLst/>
                          <a:latin typeface="Times New Roman" panose="02020603050405020304" pitchFamily="18" charset="0"/>
                        </a:rPr>
                        <a:t>Explore and implement data compression algorithms like Huffman coding or Lempel-Ziv-Welch (LZW) compression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C++)</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it-IT" sz="1000" b="0" i="0" u="none" strike="noStrike">
                          <a:solidFill>
                            <a:srgbClr val="000000"/>
                          </a:solidFill>
                          <a:effectLst/>
                          <a:latin typeface="Times New Roman" panose="02020603050405020304" pitchFamily="18" charset="0"/>
                        </a:rPr>
                        <a:t>Data compression algorithms, compression libraries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Develop methods to save storage space and transmit data more efficiently</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dirty="0">
                          <a:solidFill>
                            <a:srgbClr val="000000"/>
                          </a:solidFill>
                          <a:effectLst/>
                          <a:latin typeface="Times New Roman" panose="02020603050405020304" pitchFamily="18" charset="0"/>
                        </a:rPr>
                        <a:t>Smaller file sizes for storage and faster data transmission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606924428"/>
                  </a:ext>
                </a:extLst>
              </a:tr>
            </a:tbl>
          </a:graphicData>
        </a:graphic>
      </p:graphicFrame>
    </p:spTree>
    <p:extLst>
      <p:ext uri="{BB962C8B-B14F-4D97-AF65-F5344CB8AC3E}">
        <p14:creationId xmlns:p14="http://schemas.microsoft.com/office/powerpoint/2010/main" val="28979636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846B0B6-702C-B2E7-272D-ACE95ED6E02F}"/>
              </a:ext>
            </a:extLst>
          </p:cNvPr>
          <p:cNvGraphicFramePr/>
          <p:nvPr>
            <p:extLst>
              <p:ext uri="{D42A27DB-BD31-4B8C-83A1-F6EECF244321}">
                <p14:modId xmlns:p14="http://schemas.microsoft.com/office/powerpoint/2010/main" val="3666836564"/>
              </p:ext>
            </p:extLst>
          </p:nvPr>
        </p:nvGraphicFramePr>
        <p:xfrm>
          <a:off x="2700482" y="156750"/>
          <a:ext cx="4572001"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D3BB1B7D-D0CD-4976-3337-C1F642E951F3}"/>
              </a:ext>
            </a:extLst>
          </p:cNvPr>
          <p:cNvGraphicFramePr>
            <a:graphicFrameLocks noGrp="1"/>
          </p:cNvGraphicFramePr>
          <p:nvPr>
            <p:extLst>
              <p:ext uri="{D42A27DB-BD31-4B8C-83A1-F6EECF244321}">
                <p14:modId xmlns:p14="http://schemas.microsoft.com/office/powerpoint/2010/main" val="1475291924"/>
              </p:ext>
            </p:extLst>
          </p:nvPr>
        </p:nvGraphicFramePr>
        <p:xfrm>
          <a:off x="153650" y="795997"/>
          <a:ext cx="8836700" cy="4295187"/>
        </p:xfrm>
        <a:graphic>
          <a:graphicData uri="http://schemas.openxmlformats.org/drawingml/2006/table">
            <a:tbl>
              <a:tblPr/>
              <a:tblGrid>
                <a:gridCol w="382882">
                  <a:extLst>
                    <a:ext uri="{9D8B030D-6E8A-4147-A177-3AD203B41FA5}">
                      <a16:colId xmlns:a16="http://schemas.microsoft.com/office/drawing/2014/main" val="319281804"/>
                    </a:ext>
                  </a:extLst>
                </a:gridCol>
                <a:gridCol w="1479645">
                  <a:extLst>
                    <a:ext uri="{9D8B030D-6E8A-4147-A177-3AD203B41FA5}">
                      <a16:colId xmlns:a16="http://schemas.microsoft.com/office/drawing/2014/main" val="3158179519"/>
                    </a:ext>
                  </a:extLst>
                </a:gridCol>
                <a:gridCol w="727023">
                  <a:extLst>
                    <a:ext uri="{9D8B030D-6E8A-4147-A177-3AD203B41FA5}">
                      <a16:colId xmlns:a16="http://schemas.microsoft.com/office/drawing/2014/main" val="3227503433"/>
                    </a:ext>
                  </a:extLst>
                </a:gridCol>
                <a:gridCol w="1783830">
                  <a:extLst>
                    <a:ext uri="{9D8B030D-6E8A-4147-A177-3AD203B41FA5}">
                      <a16:colId xmlns:a16="http://schemas.microsoft.com/office/drawing/2014/main" val="2293986826"/>
                    </a:ext>
                  </a:extLst>
                </a:gridCol>
                <a:gridCol w="1016176">
                  <a:extLst>
                    <a:ext uri="{9D8B030D-6E8A-4147-A177-3AD203B41FA5}">
                      <a16:colId xmlns:a16="http://schemas.microsoft.com/office/drawing/2014/main" val="3218504363"/>
                    </a:ext>
                  </a:extLst>
                </a:gridCol>
                <a:gridCol w="1228294">
                  <a:extLst>
                    <a:ext uri="{9D8B030D-6E8A-4147-A177-3AD203B41FA5}">
                      <a16:colId xmlns:a16="http://schemas.microsoft.com/office/drawing/2014/main" val="1552468759"/>
                    </a:ext>
                  </a:extLst>
                </a:gridCol>
                <a:gridCol w="1109425">
                  <a:extLst>
                    <a:ext uri="{9D8B030D-6E8A-4147-A177-3AD203B41FA5}">
                      <a16:colId xmlns:a16="http://schemas.microsoft.com/office/drawing/2014/main" val="22768660"/>
                    </a:ext>
                  </a:extLst>
                </a:gridCol>
                <a:gridCol w="1109425">
                  <a:extLst>
                    <a:ext uri="{9D8B030D-6E8A-4147-A177-3AD203B41FA5}">
                      <a16:colId xmlns:a16="http://schemas.microsoft.com/office/drawing/2014/main" val="1856908379"/>
                    </a:ext>
                  </a:extLst>
                </a:gridCol>
              </a:tblGrid>
              <a:tr h="375207">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Sr. No</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Title of Project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DOMAIN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Description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Hardware/Soft Requirement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Technology</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Objective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Targeted Outcome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372523678"/>
                  </a:ext>
                </a:extLst>
              </a:tr>
              <a:tr h="877211">
                <a:tc>
                  <a:txBody>
                    <a:bodyPr/>
                    <a:lstStyle/>
                    <a:p>
                      <a:pPr algn="l" fontAlgn="ctr"/>
                      <a:r>
                        <a:rPr lang="en-US" sz="1000" b="0" i="0" u="none" strike="noStrike" dirty="0">
                          <a:solidFill>
                            <a:srgbClr val="374151"/>
                          </a:solidFill>
                          <a:effectLst/>
                          <a:latin typeface="Segoe UI" panose="020B0502040204020203" pitchFamily="34" charset="0"/>
                        </a:rPr>
                        <a:t>25.</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Unpredictable Efficiency: Exploring and Implementing Randomized Algorithms for Computational Problem Solving</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Algorithms, Probabilistic Methods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Study and implement randomized algorithms like random selection, random quicksort, or the Monte Carlo method for solving computational problems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Java)</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Randomized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Provide solutions that are fast on average and probabilistic in nature</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Efficient solutions for certain problems where randomness can help</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2226516067"/>
                  </a:ext>
                </a:extLst>
              </a:tr>
              <a:tr h="839173">
                <a:tc>
                  <a:txBody>
                    <a:bodyPr/>
                    <a:lstStyle/>
                    <a:p>
                      <a:pPr algn="l" fontAlgn="ctr"/>
                      <a:r>
                        <a:rPr lang="en-US" sz="1000" b="0" i="0" u="none" strike="noStrike" dirty="0">
                          <a:solidFill>
                            <a:srgbClr val="374151"/>
                          </a:solidFill>
                          <a:effectLst/>
                          <a:latin typeface="Segoe UI" panose="020B0502040204020203" pitchFamily="34" charset="0"/>
                        </a:rPr>
                        <a:t>26.</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Optimal Time Management: Algorithmic Solutions for Interval Scheduling to Maximize Task Efficiency</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Algorithms, Scheduling</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Design an algorithm that solves interval scheduling problems to maximize the number of tasks scheduled without overlapping</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Java)</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Interval scheduling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Optimize the allocation of resources subject to interval constraints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Effective scheduling of time-bound tasks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1527011374"/>
                  </a:ext>
                </a:extLst>
              </a:tr>
              <a:tr h="931967">
                <a:tc>
                  <a:txBody>
                    <a:bodyPr/>
                    <a:lstStyle/>
                    <a:p>
                      <a:pPr algn="l" fontAlgn="ctr"/>
                      <a:r>
                        <a:rPr lang="en-US" sz="1000" b="0" i="0" u="none" strike="noStrike" dirty="0">
                          <a:solidFill>
                            <a:srgbClr val="374151"/>
                          </a:solidFill>
                          <a:effectLst/>
                          <a:latin typeface="Segoe UI" panose="020B0502040204020203" pitchFamily="34" charset="0"/>
                        </a:rPr>
                        <a:t>27.</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Hashing Horizons: Exploring Open Addressing and Chaining Techniques with Performance Analysis for Collision Handling</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Data Storage, Data Retrieval</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Create a program that demonstrates various hashing techniques like open addressing and chaining, and compare their performance in terms of collisions and load factor.</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Java)</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Hashing algorithms, data retrieval methods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Efficiently map data to fixed-size hash values for quick access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Fast data retrieval and storage using hash functions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60841062"/>
                  </a:ext>
                </a:extLst>
              </a:tr>
              <a:tr h="1167198">
                <a:tc>
                  <a:txBody>
                    <a:bodyPr/>
                    <a:lstStyle/>
                    <a:p>
                      <a:pPr algn="l" fontAlgn="ctr"/>
                      <a:r>
                        <a:rPr lang="en-US" sz="1000" b="0" i="0" u="none" strike="noStrike" dirty="0">
                          <a:solidFill>
                            <a:srgbClr val="374151"/>
                          </a:solidFill>
                          <a:effectLst/>
                          <a:latin typeface="Segoe UI" panose="020B0502040204020203" pitchFamily="34" charset="0"/>
                        </a:rPr>
                        <a:t>28.</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Graph Partition Prowess: Algorithmic Design for Optimized Disjoint Subgraph Division with Cut Size Minimization and Balance Maximization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Algorithms, Graph Theory</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Design an algorithm that partitions a graph into two or more disjoint subgraphs while optimizing certain criteria, such as minimizing the cut size or maximizing the balance.</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a:solidFill>
                            <a:srgbClr val="000000"/>
                          </a:solidFill>
                          <a:effectLst/>
                          <a:latin typeface="Times New Roman" panose="02020603050405020304" pitchFamily="18" charset="0"/>
                        </a:rPr>
                        <a:t>Programming environment (e.g., Python, Java)</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Graph partitioning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Create a solution to efficiently partition graphs into subsets that adhere to specific criteria, such as minimizing edge cuts or balancing node weights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Improved organization and analysis of graph data, enhanced network performance, and more efficient data distribution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606924428"/>
                  </a:ext>
                </a:extLst>
              </a:tr>
            </a:tbl>
          </a:graphicData>
        </a:graphic>
      </p:graphicFrame>
      <p:sp>
        <p:nvSpPr>
          <p:cNvPr id="2" name="Text Placeholder 1">
            <a:extLst>
              <a:ext uri="{FF2B5EF4-FFF2-40B4-BE49-F238E27FC236}">
                <a16:creationId xmlns:a16="http://schemas.microsoft.com/office/drawing/2014/main" id="{141A6C83-8703-819B-CD60-844A50BCF3B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2610389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846B0B6-702C-B2E7-272D-ACE95ED6E02F}"/>
              </a:ext>
            </a:extLst>
          </p:cNvPr>
          <p:cNvGraphicFramePr/>
          <p:nvPr>
            <p:extLst>
              <p:ext uri="{D42A27DB-BD31-4B8C-83A1-F6EECF244321}">
                <p14:modId xmlns:p14="http://schemas.microsoft.com/office/powerpoint/2010/main" val="1433482006"/>
              </p:ext>
            </p:extLst>
          </p:nvPr>
        </p:nvGraphicFramePr>
        <p:xfrm>
          <a:off x="2445650" y="256350"/>
          <a:ext cx="4572001"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D3BB1B7D-D0CD-4976-3337-C1F642E951F3}"/>
              </a:ext>
            </a:extLst>
          </p:cNvPr>
          <p:cNvGraphicFramePr>
            <a:graphicFrameLocks noGrp="1"/>
          </p:cNvGraphicFramePr>
          <p:nvPr>
            <p:extLst>
              <p:ext uri="{D42A27DB-BD31-4B8C-83A1-F6EECF244321}">
                <p14:modId xmlns:p14="http://schemas.microsoft.com/office/powerpoint/2010/main" val="3361747555"/>
              </p:ext>
            </p:extLst>
          </p:nvPr>
        </p:nvGraphicFramePr>
        <p:xfrm>
          <a:off x="146154" y="884583"/>
          <a:ext cx="8851692" cy="4201767"/>
        </p:xfrm>
        <a:graphic>
          <a:graphicData uri="http://schemas.openxmlformats.org/drawingml/2006/table">
            <a:tbl>
              <a:tblPr/>
              <a:tblGrid>
                <a:gridCol w="288561">
                  <a:extLst>
                    <a:ext uri="{9D8B030D-6E8A-4147-A177-3AD203B41FA5}">
                      <a16:colId xmlns:a16="http://schemas.microsoft.com/office/drawing/2014/main" val="319281804"/>
                    </a:ext>
                  </a:extLst>
                </a:gridCol>
                <a:gridCol w="1184223">
                  <a:extLst>
                    <a:ext uri="{9D8B030D-6E8A-4147-A177-3AD203B41FA5}">
                      <a16:colId xmlns:a16="http://schemas.microsoft.com/office/drawing/2014/main" val="3158179519"/>
                    </a:ext>
                  </a:extLst>
                </a:gridCol>
                <a:gridCol w="854439">
                  <a:extLst>
                    <a:ext uri="{9D8B030D-6E8A-4147-A177-3AD203B41FA5}">
                      <a16:colId xmlns:a16="http://schemas.microsoft.com/office/drawing/2014/main" val="3227503433"/>
                    </a:ext>
                  </a:extLst>
                </a:gridCol>
                <a:gridCol w="1866275">
                  <a:extLst>
                    <a:ext uri="{9D8B030D-6E8A-4147-A177-3AD203B41FA5}">
                      <a16:colId xmlns:a16="http://schemas.microsoft.com/office/drawing/2014/main" val="2293986826"/>
                    </a:ext>
                  </a:extLst>
                </a:gridCol>
                <a:gridCol w="1334125">
                  <a:extLst>
                    <a:ext uri="{9D8B030D-6E8A-4147-A177-3AD203B41FA5}">
                      <a16:colId xmlns:a16="http://schemas.microsoft.com/office/drawing/2014/main" val="3218504363"/>
                    </a:ext>
                  </a:extLst>
                </a:gridCol>
                <a:gridCol w="831954">
                  <a:extLst>
                    <a:ext uri="{9D8B030D-6E8A-4147-A177-3AD203B41FA5}">
                      <a16:colId xmlns:a16="http://schemas.microsoft.com/office/drawing/2014/main" val="1552468759"/>
                    </a:ext>
                  </a:extLst>
                </a:gridCol>
                <a:gridCol w="989351">
                  <a:extLst>
                    <a:ext uri="{9D8B030D-6E8A-4147-A177-3AD203B41FA5}">
                      <a16:colId xmlns:a16="http://schemas.microsoft.com/office/drawing/2014/main" val="22768660"/>
                    </a:ext>
                  </a:extLst>
                </a:gridCol>
                <a:gridCol w="1502764">
                  <a:extLst>
                    <a:ext uri="{9D8B030D-6E8A-4147-A177-3AD203B41FA5}">
                      <a16:colId xmlns:a16="http://schemas.microsoft.com/office/drawing/2014/main" val="1856908379"/>
                    </a:ext>
                  </a:extLst>
                </a:gridCol>
              </a:tblGrid>
              <a:tr h="358876">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Sr. No</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Title of Project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DOMAIN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Description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Hardware/Soft Requirement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Technology</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Objective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Targeted Outcome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372523678"/>
                  </a:ext>
                </a:extLst>
              </a:tr>
              <a:tr h="977713">
                <a:tc>
                  <a:txBody>
                    <a:bodyPr/>
                    <a:lstStyle/>
                    <a:p>
                      <a:pPr algn="l" fontAlgn="ctr"/>
                      <a:r>
                        <a:rPr lang="en-US" sz="1000" b="0" i="0" u="none" strike="noStrike" dirty="0">
                          <a:solidFill>
                            <a:srgbClr val="374151"/>
                          </a:solidFill>
                          <a:effectLst/>
                          <a:latin typeface="Segoe UI" panose="020B0502040204020203" pitchFamily="34" charset="0"/>
                        </a:rPr>
                        <a:t>29.</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Times New Roman" panose="02020603050405020304" pitchFamily="18" charset="0"/>
                        </a:rPr>
                        <a:t>Subarray Summit: Algorithmic Solutions for Maximum Subarray Problem to Find the Optimal Contiguous Sum</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dirty="0">
                          <a:solidFill>
                            <a:srgbClr val="000000"/>
                          </a:solidFill>
                          <a:effectLst/>
                          <a:latin typeface="Times New Roman" panose="02020603050405020304" pitchFamily="18" charset="0"/>
                        </a:rPr>
                        <a:t>Algorithms, Optimization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Create algorithms to solve the maximum subarray problem, finding the contiguous subarray with the largest sum within a given array.</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ctr" fontAlgn="ctr"/>
                      <a:r>
                        <a:rPr lang="en-IN" sz="1000" b="0" i="0" u="none" strike="noStrike" dirty="0">
                          <a:solidFill>
                            <a:srgbClr val="000000"/>
                          </a:solidFill>
                          <a:effectLst/>
                          <a:latin typeface="Times New Roman" panose="02020603050405020304" pitchFamily="18" charset="0"/>
                        </a:rPr>
                        <a:t>Programming environment (e.g., Python, Java)</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Subarray problem-solving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Develop efficient algorithms to identify the subarray that provides the largest sum of its elements.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Effective solutions for identifying the most profitable or significant contiguous segments within datasets, leading to better decision-making in various domains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2226516067"/>
                  </a:ext>
                </a:extLst>
              </a:tr>
              <a:tr h="977713">
                <a:tc>
                  <a:txBody>
                    <a:bodyPr/>
                    <a:lstStyle/>
                    <a:p>
                      <a:pPr algn="l" fontAlgn="ctr"/>
                      <a:r>
                        <a:rPr lang="en-US" sz="1000" b="0" i="0" u="none" strike="noStrike" dirty="0">
                          <a:solidFill>
                            <a:srgbClr val="374151"/>
                          </a:solidFill>
                          <a:effectLst/>
                          <a:latin typeface="Segoe UI" panose="020B0502040204020203" pitchFamily="34" charset="0"/>
                        </a:rPr>
                        <a:t>30.</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Vertex Vistas: Exploring Algorithms for Maximal Independent Sets in Graphs through Brute Force and Approximation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a:solidFill>
                            <a:srgbClr val="000000"/>
                          </a:solidFill>
                          <a:effectLst/>
                          <a:latin typeface="Times New Roman" panose="02020603050405020304" pitchFamily="18" charset="0"/>
                        </a:rPr>
                        <a:t>Graph Theory, Optimization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Implement algorithms to find the maximal independent set of vertices in a graph, exploring both brute force and approximation methods.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dirty="0">
                          <a:solidFill>
                            <a:srgbClr val="000000"/>
                          </a:solidFill>
                          <a:effectLst/>
                          <a:latin typeface="Times New Roman" panose="02020603050405020304" pitchFamily="18" charset="0"/>
                        </a:rPr>
                        <a:t>Computer, programming environment</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IN" sz="1000" b="0" i="0" u="none" strike="noStrike" dirty="0">
                          <a:solidFill>
                            <a:srgbClr val="000000"/>
                          </a:solidFill>
                          <a:effectLst/>
                          <a:latin typeface="Times New Roman" panose="02020603050405020304" pitchFamily="18" charset="0"/>
                        </a:rPr>
                        <a:t>Maximal independent set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Design solutions to identify subsets of nodes that are mutually disconnected, forming a larger independent set.</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Discovery of groups of nodes that can be treated as separate entities, aiding in tasks like social community detection or optimizing resource allocation in networks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1527011374"/>
                  </a:ext>
                </a:extLst>
              </a:tr>
              <a:tr h="891403">
                <a:tc>
                  <a:txBody>
                    <a:bodyPr/>
                    <a:lstStyle/>
                    <a:p>
                      <a:pPr algn="l" fontAlgn="ctr"/>
                      <a:r>
                        <a:rPr lang="en-US" sz="1000" b="0" i="0" u="none" strike="noStrike" dirty="0">
                          <a:solidFill>
                            <a:srgbClr val="374151"/>
                          </a:solidFill>
                          <a:effectLst/>
                          <a:latin typeface="Segoe UI" panose="020B0502040204020203" pitchFamily="34" charset="0"/>
                        </a:rPr>
                        <a:t>31.</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Network Resilience Enhancer</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Network Management, Optimization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D0D0D"/>
                          </a:solidFill>
                          <a:effectLst/>
                          <a:latin typeface="Times New Roman" panose="02020603050405020304" pitchFamily="18" charset="0"/>
                        </a:rPr>
                        <a:t>Develop algorithms to enhance network resilience by strategically placing nodes and allocating redundancy, ensuring minimal disruption in case of failures.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D0D0D"/>
                          </a:solidFill>
                          <a:effectLst/>
                          <a:latin typeface="Times New Roman" panose="02020603050405020304" pitchFamily="18" charset="0"/>
                        </a:rPr>
                        <a:t>Programming environment (e.g., Python, Java), network simulation libraries, optimization frameworks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Times New Roman" panose="02020603050405020304" pitchFamily="18" charset="0"/>
                        </a:rPr>
                        <a:t>Network simulation tools, optimization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Times New Roman" panose="02020603050405020304" pitchFamily="18" charset="0"/>
                        </a:rPr>
                        <a:t>Improve network reliability and robustness, reduce downtime during failures.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Times New Roman" panose="02020603050405020304" pitchFamily="18" charset="0"/>
                        </a:rPr>
                        <a:t>Enhanced network resilience, minimized disruptions during failures.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60841062"/>
                  </a:ext>
                </a:extLst>
              </a:tr>
              <a:tr h="802648">
                <a:tc>
                  <a:txBody>
                    <a:bodyPr/>
                    <a:lstStyle/>
                    <a:p>
                      <a:pPr algn="l" fontAlgn="ctr"/>
                      <a:r>
                        <a:rPr lang="en-US" sz="1000" b="0" i="0" u="none" strike="noStrike" dirty="0">
                          <a:solidFill>
                            <a:srgbClr val="374151"/>
                          </a:solidFill>
                          <a:effectLst/>
                          <a:latin typeface="Segoe UI" panose="020B0502040204020203" pitchFamily="34" charset="0"/>
                        </a:rPr>
                        <a:t>32.</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Dynamic Pricing Dynamo</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E-commerce, Pricing Strategies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Design algorithms for dynamic pricing, considering factors like demand, competition, and inventory levels, to optimize revenue and profit in online retail environments.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Programming environment (e.g., Python, Java), pricing optimization libraries, data analysis tools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Dynamic pricing algorithms, data analytics platforms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Increase revenue, improve competitiveness in online markets.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Times New Roman" panose="02020603050405020304" pitchFamily="18" charset="0"/>
                        </a:rPr>
                        <a:t>Improved revenue generation, enhanced market competitiveness.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606924428"/>
                  </a:ext>
                </a:extLst>
              </a:tr>
            </a:tbl>
          </a:graphicData>
        </a:graphic>
      </p:graphicFrame>
      <p:sp>
        <p:nvSpPr>
          <p:cNvPr id="6" name="Text Placeholder 5">
            <a:extLst>
              <a:ext uri="{FF2B5EF4-FFF2-40B4-BE49-F238E27FC236}">
                <a16:creationId xmlns:a16="http://schemas.microsoft.com/office/drawing/2014/main" id="{20A69765-48A7-D941-BA23-69EA881D975C}"/>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81523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846B0B6-702C-B2E7-272D-ACE95ED6E02F}"/>
              </a:ext>
            </a:extLst>
          </p:cNvPr>
          <p:cNvGraphicFramePr/>
          <p:nvPr>
            <p:extLst>
              <p:ext uri="{D42A27DB-BD31-4B8C-83A1-F6EECF244321}">
                <p14:modId xmlns:p14="http://schemas.microsoft.com/office/powerpoint/2010/main" val="1264608230"/>
              </p:ext>
            </p:extLst>
          </p:nvPr>
        </p:nvGraphicFramePr>
        <p:xfrm>
          <a:off x="2715473" y="156750"/>
          <a:ext cx="4572001"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a:extLst>
              <a:ext uri="{FF2B5EF4-FFF2-40B4-BE49-F238E27FC236}">
                <a16:creationId xmlns:a16="http://schemas.microsoft.com/office/drawing/2014/main" id="{DEF9D24A-70AB-9D03-F4D9-3549289B2D47}"/>
              </a:ext>
            </a:extLst>
          </p:cNvPr>
          <p:cNvGraphicFramePr>
            <a:graphicFrameLocks noGrp="1"/>
          </p:cNvGraphicFramePr>
          <p:nvPr>
            <p:extLst>
              <p:ext uri="{D42A27DB-BD31-4B8C-83A1-F6EECF244321}">
                <p14:modId xmlns:p14="http://schemas.microsoft.com/office/powerpoint/2010/main" val="2779305772"/>
              </p:ext>
            </p:extLst>
          </p:nvPr>
        </p:nvGraphicFramePr>
        <p:xfrm>
          <a:off x="76200" y="833471"/>
          <a:ext cx="8932889" cy="4140006"/>
        </p:xfrm>
        <a:graphic>
          <a:graphicData uri="http://schemas.openxmlformats.org/drawingml/2006/table">
            <a:tbl>
              <a:tblPr/>
              <a:tblGrid>
                <a:gridCol w="405288">
                  <a:extLst>
                    <a:ext uri="{9D8B030D-6E8A-4147-A177-3AD203B41FA5}">
                      <a16:colId xmlns:a16="http://schemas.microsoft.com/office/drawing/2014/main" val="319281804"/>
                    </a:ext>
                  </a:extLst>
                </a:gridCol>
                <a:gridCol w="1017528">
                  <a:extLst>
                    <a:ext uri="{9D8B030D-6E8A-4147-A177-3AD203B41FA5}">
                      <a16:colId xmlns:a16="http://schemas.microsoft.com/office/drawing/2014/main" val="3158179519"/>
                    </a:ext>
                  </a:extLst>
                </a:gridCol>
                <a:gridCol w="1124263">
                  <a:extLst>
                    <a:ext uri="{9D8B030D-6E8A-4147-A177-3AD203B41FA5}">
                      <a16:colId xmlns:a16="http://schemas.microsoft.com/office/drawing/2014/main" val="3227503433"/>
                    </a:ext>
                  </a:extLst>
                </a:gridCol>
                <a:gridCol w="1783829">
                  <a:extLst>
                    <a:ext uri="{9D8B030D-6E8A-4147-A177-3AD203B41FA5}">
                      <a16:colId xmlns:a16="http://schemas.microsoft.com/office/drawing/2014/main" val="2293986826"/>
                    </a:ext>
                  </a:extLst>
                </a:gridCol>
                <a:gridCol w="1266669">
                  <a:extLst>
                    <a:ext uri="{9D8B030D-6E8A-4147-A177-3AD203B41FA5}">
                      <a16:colId xmlns:a16="http://schemas.microsoft.com/office/drawing/2014/main" val="3218504363"/>
                    </a:ext>
                  </a:extLst>
                </a:gridCol>
                <a:gridCol w="1097096">
                  <a:extLst>
                    <a:ext uri="{9D8B030D-6E8A-4147-A177-3AD203B41FA5}">
                      <a16:colId xmlns:a16="http://schemas.microsoft.com/office/drawing/2014/main" val="1552468759"/>
                    </a:ext>
                  </a:extLst>
                </a:gridCol>
                <a:gridCol w="1119108">
                  <a:extLst>
                    <a:ext uri="{9D8B030D-6E8A-4147-A177-3AD203B41FA5}">
                      <a16:colId xmlns:a16="http://schemas.microsoft.com/office/drawing/2014/main" val="22768660"/>
                    </a:ext>
                  </a:extLst>
                </a:gridCol>
                <a:gridCol w="1119108">
                  <a:extLst>
                    <a:ext uri="{9D8B030D-6E8A-4147-A177-3AD203B41FA5}">
                      <a16:colId xmlns:a16="http://schemas.microsoft.com/office/drawing/2014/main" val="1856908379"/>
                    </a:ext>
                  </a:extLst>
                </a:gridCol>
              </a:tblGrid>
              <a:tr h="394373">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Sr. No</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Title of Project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DOMAIN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Description</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dirty="0">
                          <a:solidFill>
                            <a:srgbClr val="374151"/>
                          </a:solidFill>
                          <a:effectLst/>
                          <a:latin typeface="Times New Roman" panose="02020603050405020304" pitchFamily="18" charset="0"/>
                          <a:cs typeface="Times New Roman" panose="02020603050405020304" pitchFamily="18" charset="0"/>
                        </a:rPr>
                        <a:t>Hardware/Soft Requirement</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Technology</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Objective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b"/>
                      <a:r>
                        <a:rPr lang="en-IN" sz="1000" b="1" i="0" u="none" strike="noStrike">
                          <a:solidFill>
                            <a:srgbClr val="374151"/>
                          </a:solidFill>
                          <a:effectLst/>
                          <a:latin typeface="Times New Roman" panose="02020603050405020304" pitchFamily="18" charset="0"/>
                          <a:cs typeface="Times New Roman" panose="02020603050405020304" pitchFamily="18" charset="0"/>
                        </a:rPr>
                        <a:t>Targeted Outcome</a:t>
                      </a:r>
                    </a:p>
                  </a:txBody>
                  <a:tcPr marL="3787" marR="3787" marT="3787" marB="0" anchor="b">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372523678"/>
                  </a:ext>
                </a:extLst>
              </a:tr>
              <a:tr h="686973">
                <a:tc>
                  <a:txBody>
                    <a:bodyPr/>
                    <a:lstStyle/>
                    <a:p>
                      <a:pPr algn="l" fontAlgn="ctr"/>
                      <a:r>
                        <a:rPr lang="en-US" sz="1000" b="0" i="0" u="none" strike="noStrike" dirty="0">
                          <a:solidFill>
                            <a:srgbClr val="374151"/>
                          </a:solidFill>
                          <a:effectLst/>
                          <a:latin typeface="Segoe UI" panose="020B0502040204020203" pitchFamily="34" charset="0"/>
                        </a:rPr>
                        <a:t>33.</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dirty="0">
                          <a:solidFill>
                            <a:srgbClr val="000000"/>
                          </a:solidFill>
                          <a:effectLst/>
                          <a:latin typeface="Times New Roman" panose="02020603050405020304" pitchFamily="18" charset="0"/>
                        </a:rPr>
                        <a:t>Circuit Optimization Maestro</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Electronics, Power Management</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Times New Roman" panose="02020603050405020304" pitchFamily="18" charset="0"/>
                        </a:rPr>
                        <a:t>Develop algorithms to optimize electronic circuit design for minimal power consumption, considering factors like component selection, layout, and signal routing.</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Circuit simulation software, programming environment (e.g., Python, C++), optimization libraries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Circuit design tools, optimization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Reduce energy consumption, extend battery life in electronic devices.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Reduced power consumption, prolonged battery life in electronic devices.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2226516067"/>
                  </a:ext>
                </a:extLst>
              </a:tr>
              <a:tr h="882039">
                <a:tc>
                  <a:txBody>
                    <a:bodyPr/>
                    <a:lstStyle/>
                    <a:p>
                      <a:pPr algn="l" fontAlgn="ctr"/>
                      <a:r>
                        <a:rPr lang="en-US" sz="1000" b="0" i="0" u="none" strike="noStrike" dirty="0">
                          <a:solidFill>
                            <a:srgbClr val="374151"/>
                          </a:solidFill>
                          <a:effectLst/>
                          <a:latin typeface="Segoe UI" panose="020B0502040204020203" pitchFamily="34" charset="0"/>
                        </a:rPr>
                        <a:t>34.</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Anomaly Detection Ace</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Data Analytics, Anomaly Detection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Implement algorithms for detecting anomalies in time-series data, enabling early identification of unusual patterns or events in various domains like finance, IoT, or cybersecurity.</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Programming environment (e.g., Python, R), machine learning libraries, time-series analysis tools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Machine learning algorithms, time-series analysis techniques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Improve security, minimize risks and losses through early anomaly detection.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Enhanced security posture, reduced impact of anomalous events.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1527011374"/>
                  </a:ext>
                </a:extLst>
              </a:tr>
              <a:tr h="979573">
                <a:tc>
                  <a:txBody>
                    <a:bodyPr/>
                    <a:lstStyle/>
                    <a:p>
                      <a:pPr algn="l" fontAlgn="ctr"/>
                      <a:r>
                        <a:rPr lang="en-US" sz="1000" b="0" i="0" u="none" strike="noStrike" dirty="0">
                          <a:solidFill>
                            <a:srgbClr val="374151"/>
                          </a:solidFill>
                          <a:effectLst/>
                          <a:latin typeface="Segoe UI" panose="020B0502040204020203" pitchFamily="34" charset="0"/>
                        </a:rPr>
                        <a:t>35.</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Smart Inventory Manager</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Supply Chain Management, Inventory Control</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Design algorithms for inventory management, incorporating demand forecasting, lead time optimization, and inventory replenishment strategies to minimize costs and stockouts.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Programming environment (e.g., Python, Java), supply chain management software, optimization frameworks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D0D0D"/>
                          </a:solidFill>
                          <a:effectLst/>
                          <a:latin typeface="Times New Roman" panose="02020603050405020304" pitchFamily="18" charset="0"/>
                        </a:rPr>
                        <a:t>Inventory management systems, optimization algorithms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Reduce holding costs, improve customer satisfaction, and optimize inventory levels.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Reduced inventory costs, enhanced customer service levels.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360841062"/>
                  </a:ext>
                </a:extLst>
              </a:tr>
              <a:tr h="882039">
                <a:tc>
                  <a:txBody>
                    <a:bodyPr/>
                    <a:lstStyle/>
                    <a:p>
                      <a:pPr algn="l" fontAlgn="ctr"/>
                      <a:r>
                        <a:rPr lang="en-US" sz="1000" b="0" i="0" u="none" strike="noStrike" dirty="0">
                          <a:solidFill>
                            <a:srgbClr val="374151"/>
                          </a:solidFill>
                          <a:effectLst/>
                          <a:latin typeface="Segoe UI" panose="020B0502040204020203" pitchFamily="34" charset="0"/>
                        </a:rPr>
                        <a:t>36.</a:t>
                      </a:r>
                      <a:endParaRPr lang="en-IN" sz="1000" b="0" i="0" u="none" strike="noStrike" dirty="0">
                        <a:solidFill>
                          <a:srgbClr val="374151"/>
                        </a:solidFill>
                        <a:effectLst/>
                        <a:latin typeface="Segoe UI" panose="020B0502040204020203" pitchFamily="34" charset="0"/>
                      </a:endParaRPr>
                    </a:p>
                  </a:txBody>
                  <a:tcPr marL="7620" marR="7620" marT="7620" marB="0" anchor="ctr">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Sentiment Analysis Sentinel</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Natural Language Processing, Sentiment Analysis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Develop algorithms for sentiment analysis to automatically classify the sentiment expressed in textual data, enabling insights into public opinion, customer feedback, and social media trends.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Programming environment (e.g., Python, Java), natural language processing libraries, sentiment analysis frameworks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IN" sz="1000" b="0" i="0" u="none" strike="noStrike">
                          <a:solidFill>
                            <a:srgbClr val="000000"/>
                          </a:solidFill>
                          <a:effectLst/>
                          <a:latin typeface="Times New Roman" panose="02020603050405020304" pitchFamily="18" charset="0"/>
                        </a:rPr>
                        <a:t>Text processing tools, sentiment analysis techniques</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imes New Roman" panose="02020603050405020304" pitchFamily="18" charset="0"/>
                        </a:rPr>
                        <a:t>Enhance decision-making based on customer sentiment, improve brand reputation management.</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l" fontAlgn="t"/>
                      <a:r>
                        <a:rPr lang="en-US" sz="1000" b="0" i="0" u="none" strike="noStrike" dirty="0">
                          <a:solidFill>
                            <a:srgbClr val="000000"/>
                          </a:solidFill>
                          <a:effectLst/>
                          <a:latin typeface="Times New Roman" panose="02020603050405020304" pitchFamily="18" charset="0"/>
                        </a:rPr>
                        <a:t>Informed decision-making, improved brand perception.</a:t>
                      </a:r>
                    </a:p>
                  </a:txBody>
                  <a:tcPr marL="7620" marR="7620" marT="7620" marB="0">
                    <a:lnL w="12700" cap="flat" cmpd="sng" algn="ctr">
                      <a:solidFill>
                        <a:srgbClr val="D9D9E3"/>
                      </a:solidFill>
                      <a:prstDash val="solid"/>
                      <a:round/>
                      <a:headEnd type="none" w="med" len="med"/>
                      <a:tailEnd type="none" w="med" len="med"/>
                    </a:lnL>
                    <a:lnR w="1270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extLst>
                  <a:ext uri="{0D108BD9-81ED-4DB2-BD59-A6C34878D82A}">
                    <a16:rowId xmlns:a16="http://schemas.microsoft.com/office/drawing/2014/main" val="606924428"/>
                  </a:ext>
                </a:extLst>
              </a:tr>
            </a:tbl>
          </a:graphicData>
        </a:graphic>
      </p:graphicFrame>
      <p:sp>
        <p:nvSpPr>
          <p:cNvPr id="4" name="Text Placeholder 3">
            <a:extLst>
              <a:ext uri="{FF2B5EF4-FFF2-40B4-BE49-F238E27FC236}">
                <a16:creationId xmlns:a16="http://schemas.microsoft.com/office/drawing/2014/main" id="{AB1C4533-ECCB-8B3F-34AF-2CCDE0F840F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8420266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604A24-1C43-EF98-001D-3F5EDC937F75}"/>
              </a:ext>
            </a:extLst>
          </p:cNvPr>
          <p:cNvGraphicFramePr/>
          <p:nvPr>
            <p:extLst>
              <p:ext uri="{D42A27DB-BD31-4B8C-83A1-F6EECF244321}">
                <p14:modId xmlns:p14="http://schemas.microsoft.com/office/powerpoint/2010/main" val="2892614361"/>
              </p:ext>
            </p:extLst>
          </p:nvPr>
        </p:nvGraphicFramePr>
        <p:xfrm>
          <a:off x="2436053" y="484950"/>
          <a:ext cx="4625856"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7" name="Google Shape;277;p40"/>
          <p:cNvSpPr txBox="1">
            <a:spLocks noGrp="1"/>
          </p:cNvSpPr>
          <p:nvPr>
            <p:ph type="body" idx="1"/>
          </p:nvPr>
        </p:nvSpPr>
        <p:spPr>
          <a:prstGeom prst="rect">
            <a:avLst/>
          </a:prstGeom>
          <a:noFill/>
          <a:ln>
            <a:noFill/>
          </a:ln>
        </p:spPr>
        <p:txBody>
          <a:bodyPr spcFirstLastPara="1" wrap="square" lIns="91425" tIns="45700" rIns="91425" bIns="45700" anchor="t" anchorCtr="0">
            <a:normAutofit fontScale="77500" lnSpcReduction="20000"/>
          </a:bodyPr>
          <a:lstStyle/>
          <a:p>
            <a:pPr marL="76200" indent="0">
              <a:buNone/>
            </a:pPr>
            <a:r>
              <a:rPr lang="en-US" sz="1600" b="1" dirty="0"/>
              <a:t>1. Quantum Computing</a:t>
            </a:r>
          </a:p>
          <a:p>
            <a:pPr>
              <a:buFont typeface="Arial" panose="020B0604020202020204" pitchFamily="34" charset="0"/>
              <a:buChar char="•"/>
            </a:pPr>
            <a:r>
              <a:rPr lang="en-US" sz="1600" b="1" dirty="0"/>
              <a:t>Quantum Algorithms</a:t>
            </a:r>
            <a:r>
              <a:rPr lang="en-US" sz="1600" dirty="0"/>
              <a:t>: Development of new quantum algorithms that can solve problems more efficiently than classical algorithms. For example, Shor's algorithm for factoring and Grover's search algorithm.</a:t>
            </a:r>
          </a:p>
          <a:p>
            <a:pPr>
              <a:buFont typeface="Arial" panose="020B0604020202020204" pitchFamily="34" charset="0"/>
              <a:buChar char="•"/>
            </a:pPr>
            <a:r>
              <a:rPr lang="en-US" sz="1600" b="1" dirty="0"/>
              <a:t>Optimization</a:t>
            </a:r>
            <a:r>
              <a:rPr lang="en-US" sz="1600" dirty="0"/>
              <a:t>: Quantum algorithms for optimization problems could revolutionize fields like cryptography, logistics, and machine learning.</a:t>
            </a:r>
          </a:p>
          <a:p>
            <a:pPr marL="76200" indent="0">
              <a:buNone/>
            </a:pPr>
            <a:r>
              <a:rPr lang="en-US" sz="1600" b="1" dirty="0"/>
              <a:t>2. Artificial Intelligence and Machine Learning</a:t>
            </a:r>
          </a:p>
          <a:p>
            <a:pPr>
              <a:buFont typeface="Arial" panose="020B0604020202020204" pitchFamily="34" charset="0"/>
              <a:buChar char="•"/>
            </a:pPr>
            <a:r>
              <a:rPr lang="en-US" sz="1600" b="1" dirty="0"/>
              <a:t>Algorithm Efficiency</a:t>
            </a:r>
            <a:r>
              <a:rPr lang="en-US" sz="1600" dirty="0"/>
              <a:t>: Improving the efficiency of algorithms used in training and deploying AI models.</a:t>
            </a:r>
          </a:p>
          <a:p>
            <a:pPr>
              <a:buFont typeface="Arial" panose="020B0604020202020204" pitchFamily="34" charset="0"/>
              <a:buChar char="•"/>
            </a:pPr>
            <a:r>
              <a:rPr lang="en-US" sz="1600" b="1" dirty="0"/>
              <a:t>Automated Algorithm Design</a:t>
            </a:r>
            <a:r>
              <a:rPr lang="en-US" sz="1600" dirty="0"/>
              <a:t>: AI systems that can automatically design and optimize algorithms for specific tasks.</a:t>
            </a:r>
          </a:p>
          <a:p>
            <a:pPr marL="76200" indent="0">
              <a:buNone/>
            </a:pPr>
            <a:r>
              <a:rPr lang="en-US" sz="1600" b="1" dirty="0"/>
              <a:t>3. Big Data and Data Science</a:t>
            </a:r>
          </a:p>
          <a:p>
            <a:pPr>
              <a:buFont typeface="Arial" panose="020B0604020202020204" pitchFamily="34" charset="0"/>
              <a:buChar char="•"/>
            </a:pPr>
            <a:r>
              <a:rPr lang="en-US" sz="1600" b="1" dirty="0"/>
              <a:t>Scalability</a:t>
            </a:r>
            <a:r>
              <a:rPr lang="en-US" sz="1600" dirty="0"/>
              <a:t>: Algorithms that can handle and process massive datasets efficiently.</a:t>
            </a:r>
          </a:p>
          <a:p>
            <a:pPr>
              <a:buFont typeface="Arial" panose="020B0604020202020204" pitchFamily="34" charset="0"/>
              <a:buChar char="•"/>
            </a:pPr>
            <a:r>
              <a:rPr lang="en-US" sz="1600" b="1" dirty="0"/>
              <a:t>Real-Time Processing</a:t>
            </a:r>
            <a:r>
              <a:rPr lang="en-US" sz="1600" dirty="0"/>
              <a:t>: Development of algorithms for real-time data analytics and decision-making.</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2705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604A24-1C43-EF98-001D-3F5EDC937F75}"/>
              </a:ext>
            </a:extLst>
          </p:cNvPr>
          <p:cNvGraphicFramePr/>
          <p:nvPr/>
        </p:nvGraphicFramePr>
        <p:xfrm>
          <a:off x="2436053" y="484950"/>
          <a:ext cx="4625856"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7" name="Google Shape;277;p40"/>
          <p:cNvSpPr txBox="1">
            <a:spLocks noGrp="1"/>
          </p:cNvSpPr>
          <p:nvPr>
            <p:ph type="body" idx="1"/>
          </p:nvPr>
        </p:nvSpPr>
        <p:spPr>
          <a:prstGeom prst="rect">
            <a:avLst/>
          </a:prstGeom>
          <a:noFill/>
          <a:ln>
            <a:noFill/>
          </a:ln>
        </p:spPr>
        <p:txBody>
          <a:bodyPr spcFirstLastPara="1" wrap="square" lIns="91425" tIns="45700" rIns="91425" bIns="45700" anchor="t" anchorCtr="0">
            <a:normAutofit fontScale="85000" lnSpcReduction="20000"/>
          </a:bodyPr>
          <a:lstStyle/>
          <a:p>
            <a:pPr marL="76200" indent="0">
              <a:buNone/>
            </a:pPr>
            <a:r>
              <a:rPr lang="en-IN" sz="1600" b="1" dirty="0"/>
              <a:t>4. Cybersecurity</a:t>
            </a:r>
          </a:p>
          <a:p>
            <a:pPr>
              <a:buFont typeface="Arial" panose="020B0604020202020204" pitchFamily="34" charset="0"/>
              <a:buChar char="•"/>
            </a:pPr>
            <a:r>
              <a:rPr lang="en-IN" sz="1600" b="1" dirty="0"/>
              <a:t>Post-Quantum Cryptography</a:t>
            </a:r>
            <a:r>
              <a:rPr lang="en-IN" sz="1600" dirty="0"/>
              <a:t>: Designing cryptographic algorithms that are secure against quantum attacks.</a:t>
            </a:r>
          </a:p>
          <a:p>
            <a:pPr>
              <a:buFont typeface="Arial" panose="020B0604020202020204" pitchFamily="34" charset="0"/>
              <a:buChar char="•"/>
            </a:pPr>
            <a:r>
              <a:rPr lang="en-IN" sz="1600" b="1" dirty="0"/>
              <a:t>Intrusion Detection</a:t>
            </a:r>
            <a:r>
              <a:rPr lang="en-IN" sz="1600" dirty="0"/>
              <a:t>: Algorithms for detecting and responding to security threats in real-time.</a:t>
            </a:r>
          </a:p>
          <a:p>
            <a:pPr marL="76200" indent="0">
              <a:buNone/>
            </a:pPr>
            <a:r>
              <a:rPr lang="en-IN" sz="1600" b="1" dirty="0"/>
              <a:t>5. Internet of Things (IoT)</a:t>
            </a:r>
          </a:p>
          <a:p>
            <a:pPr>
              <a:buFont typeface="Arial" panose="020B0604020202020204" pitchFamily="34" charset="0"/>
              <a:buChar char="•"/>
            </a:pPr>
            <a:r>
              <a:rPr lang="en-IN" sz="1600" b="1" dirty="0"/>
              <a:t>Resource Optimization</a:t>
            </a:r>
            <a:r>
              <a:rPr lang="en-IN" sz="1600" dirty="0"/>
              <a:t>: Algorithms for optimizing the use of limited resources (e.g., power, bandwidth) in IoT networks.</a:t>
            </a:r>
          </a:p>
          <a:p>
            <a:pPr>
              <a:buFont typeface="Arial" panose="020B0604020202020204" pitchFamily="34" charset="0"/>
              <a:buChar char="•"/>
            </a:pPr>
            <a:r>
              <a:rPr lang="en-IN" sz="1600" b="1" dirty="0"/>
              <a:t>Data Aggregation</a:t>
            </a:r>
            <a:r>
              <a:rPr lang="en-IN" sz="1600" dirty="0"/>
              <a:t>: Efficient algorithms for collecting and processing data from numerous IoT devices.</a:t>
            </a:r>
          </a:p>
          <a:p>
            <a:pPr marL="76200" indent="0">
              <a:buNone/>
            </a:pPr>
            <a:r>
              <a:rPr lang="en-IN" sz="1600" b="1" dirty="0"/>
              <a:t>6. Bioinformatics and Computational Biology</a:t>
            </a:r>
          </a:p>
          <a:p>
            <a:pPr>
              <a:buFont typeface="Arial" panose="020B0604020202020204" pitchFamily="34" charset="0"/>
              <a:buChar char="•"/>
            </a:pPr>
            <a:r>
              <a:rPr lang="en-IN" sz="1600" b="1" dirty="0"/>
              <a:t>Genomic Analysis</a:t>
            </a:r>
            <a:r>
              <a:rPr lang="en-IN" sz="1600" dirty="0"/>
              <a:t>: Algorithms for </a:t>
            </a:r>
            <a:r>
              <a:rPr lang="en-IN" sz="1600" dirty="0" err="1"/>
              <a:t>analyzing</a:t>
            </a:r>
            <a:r>
              <a:rPr lang="en-IN" sz="1600" dirty="0"/>
              <a:t> and interpreting genomic data.</a:t>
            </a:r>
          </a:p>
          <a:p>
            <a:pPr>
              <a:buFont typeface="Arial" panose="020B0604020202020204" pitchFamily="34" charset="0"/>
              <a:buChar char="•"/>
            </a:pPr>
            <a:r>
              <a:rPr lang="en-IN" sz="1600" b="1" dirty="0"/>
              <a:t>Protein Folding</a:t>
            </a:r>
            <a:r>
              <a:rPr lang="en-IN" sz="1600" dirty="0"/>
              <a:t>: Efficient algorithms for predicting the 3D structure of proteins from their amino acid sequences.</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199287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604A24-1C43-EF98-001D-3F5EDC937F75}"/>
              </a:ext>
            </a:extLst>
          </p:cNvPr>
          <p:cNvGraphicFramePr/>
          <p:nvPr/>
        </p:nvGraphicFramePr>
        <p:xfrm>
          <a:off x="2436053" y="484950"/>
          <a:ext cx="4625856"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7" name="Google Shape;277;p40"/>
          <p:cNvSpPr txBox="1">
            <a:spLocks noGrp="1"/>
          </p:cNvSpPr>
          <p:nvPr>
            <p:ph type="body" idx="1"/>
          </p:nvPr>
        </p:nvSpPr>
        <p:spPr>
          <a:prstGeom prst="rect">
            <a:avLst/>
          </a:prstGeom>
          <a:noFill/>
          <a:ln>
            <a:noFill/>
          </a:ln>
        </p:spPr>
        <p:txBody>
          <a:bodyPr spcFirstLastPara="1" wrap="square" lIns="91425" tIns="45700" rIns="91425" bIns="45700" anchor="t" anchorCtr="0">
            <a:normAutofit fontScale="77500" lnSpcReduction="20000"/>
          </a:bodyPr>
          <a:lstStyle/>
          <a:p>
            <a:pPr marL="76200" indent="0">
              <a:buNone/>
            </a:pPr>
            <a:r>
              <a:rPr lang="en-IN" sz="1600" b="1" dirty="0"/>
              <a:t>7. Blockchain and Cryptocurrencies</a:t>
            </a:r>
          </a:p>
          <a:p>
            <a:pPr>
              <a:buFont typeface="Arial" panose="020B0604020202020204" pitchFamily="34" charset="0"/>
              <a:buChar char="•"/>
            </a:pPr>
            <a:r>
              <a:rPr lang="en-IN" sz="1600" b="1" dirty="0"/>
              <a:t>Consensus Algorithms</a:t>
            </a:r>
            <a:r>
              <a:rPr lang="en-IN" sz="1600" dirty="0"/>
              <a:t>: Development of more efficient and secure consensus algorithms for blockchain networks.</a:t>
            </a:r>
          </a:p>
          <a:p>
            <a:pPr>
              <a:buFont typeface="Arial" panose="020B0604020202020204" pitchFamily="34" charset="0"/>
              <a:buChar char="•"/>
            </a:pPr>
            <a:r>
              <a:rPr lang="en-IN" sz="1600" b="1" dirty="0"/>
              <a:t>Cryptographic Primitives</a:t>
            </a:r>
            <a:r>
              <a:rPr lang="en-IN" sz="1600" dirty="0"/>
              <a:t>: Advanced cryptographic algorithms for secure and private transactions.</a:t>
            </a:r>
          </a:p>
          <a:p>
            <a:pPr marL="76200" indent="0">
              <a:buNone/>
            </a:pPr>
            <a:r>
              <a:rPr lang="en-IN" sz="1600" b="1" dirty="0"/>
              <a:t>8. Autonomous Systems</a:t>
            </a:r>
          </a:p>
          <a:p>
            <a:pPr>
              <a:buFont typeface="Arial" panose="020B0604020202020204" pitchFamily="34" charset="0"/>
              <a:buChar char="•"/>
            </a:pPr>
            <a:r>
              <a:rPr lang="en-IN" sz="1600" b="1" dirty="0"/>
              <a:t>Path Planning</a:t>
            </a:r>
            <a:r>
              <a:rPr lang="en-IN" sz="1600" dirty="0"/>
              <a:t>: Algorithms for efficient path planning and navigation in autonomous vehicles and robots.</a:t>
            </a:r>
          </a:p>
          <a:p>
            <a:pPr>
              <a:buFont typeface="Arial" panose="020B0604020202020204" pitchFamily="34" charset="0"/>
              <a:buChar char="•"/>
            </a:pPr>
            <a:r>
              <a:rPr lang="en-IN" sz="1600" b="1" dirty="0"/>
              <a:t>Decision Making</a:t>
            </a:r>
            <a:r>
              <a:rPr lang="en-IN" sz="1600" dirty="0"/>
              <a:t>: Real-time decision-making algorithms for autonomous systems.</a:t>
            </a:r>
          </a:p>
          <a:p>
            <a:pPr marL="76200" indent="0">
              <a:buNone/>
            </a:pPr>
            <a:r>
              <a:rPr lang="en-IN" sz="1600" b="1" dirty="0"/>
              <a:t>9. Human-Computer Interaction</a:t>
            </a:r>
          </a:p>
          <a:p>
            <a:pPr>
              <a:buFont typeface="Arial" panose="020B0604020202020204" pitchFamily="34" charset="0"/>
              <a:buChar char="•"/>
            </a:pPr>
            <a:r>
              <a:rPr lang="en-IN" sz="1600" b="1" dirty="0"/>
              <a:t>Adaptive Algorithms</a:t>
            </a:r>
            <a:r>
              <a:rPr lang="en-IN" sz="1600" dirty="0"/>
              <a:t>: Algorithms that adapt to user </a:t>
            </a:r>
            <a:r>
              <a:rPr lang="en-IN" sz="1600" dirty="0" err="1"/>
              <a:t>behavior</a:t>
            </a:r>
            <a:r>
              <a:rPr lang="en-IN" sz="1600" dirty="0"/>
              <a:t> and preferences to provide a more personalized experience.</a:t>
            </a:r>
          </a:p>
          <a:p>
            <a:pPr>
              <a:buFont typeface="Arial" panose="020B0604020202020204" pitchFamily="34" charset="0"/>
              <a:buChar char="•"/>
            </a:pPr>
            <a:r>
              <a:rPr lang="en-IN" sz="1600" b="1" dirty="0"/>
              <a:t>Natural Language Processing</a:t>
            </a:r>
            <a:r>
              <a:rPr lang="en-IN" sz="1600" dirty="0"/>
              <a:t>: Continued improvement of algorithms for understanding and generating human language.</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868662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B604A24-1C43-EF98-001D-3F5EDC937F75}"/>
              </a:ext>
            </a:extLst>
          </p:cNvPr>
          <p:cNvGraphicFramePr/>
          <p:nvPr/>
        </p:nvGraphicFramePr>
        <p:xfrm>
          <a:off x="2436053" y="484950"/>
          <a:ext cx="4625856"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7" name="Google Shape;277;p40"/>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76200" indent="0">
              <a:buNone/>
            </a:pPr>
            <a:r>
              <a:rPr lang="en-US" sz="1600" b="1" dirty="0"/>
              <a:t>10. Environmental and Social Impact</a:t>
            </a:r>
          </a:p>
          <a:p>
            <a:pPr>
              <a:buFont typeface="Arial" panose="020B0604020202020204" pitchFamily="34" charset="0"/>
              <a:buChar char="•"/>
            </a:pPr>
            <a:r>
              <a:rPr lang="en-US" sz="1600" b="1" dirty="0"/>
              <a:t>Sustainable Computing</a:t>
            </a:r>
            <a:r>
              <a:rPr lang="en-US" sz="1600" dirty="0"/>
              <a:t>: Algorithms that minimize energy consumption and maximize the use of renewable resources.</a:t>
            </a:r>
          </a:p>
          <a:p>
            <a:pPr>
              <a:buFont typeface="Arial" panose="020B0604020202020204" pitchFamily="34" charset="0"/>
              <a:buChar char="•"/>
            </a:pPr>
            <a:r>
              <a:rPr lang="en-US" sz="1600" b="1" dirty="0"/>
              <a:t>Social Good</a:t>
            </a:r>
            <a:r>
              <a:rPr lang="en-US" sz="1600" dirty="0"/>
              <a:t>: Algorithms designed to address social issues such as healthcare, education, and disaster response.</a:t>
            </a:r>
          </a:p>
          <a:p>
            <a:pPr marL="76200" indent="0">
              <a:buNone/>
            </a:pPr>
            <a:r>
              <a:rPr lang="en-US" sz="1600" b="1" dirty="0"/>
              <a:t>11. Advanced Theoretical Research</a:t>
            </a:r>
          </a:p>
          <a:p>
            <a:pPr>
              <a:buFont typeface="Arial" panose="020B0604020202020204" pitchFamily="34" charset="0"/>
              <a:buChar char="•"/>
            </a:pPr>
            <a:r>
              <a:rPr lang="en-US" sz="1600" b="1" dirty="0"/>
              <a:t>Complexity Theory</a:t>
            </a:r>
            <a:r>
              <a:rPr lang="en-US" sz="1600" dirty="0"/>
              <a:t>: Further exploration of the boundaries of computational complexity.</a:t>
            </a:r>
          </a:p>
          <a:p>
            <a:pPr>
              <a:buFont typeface="Arial" panose="020B0604020202020204" pitchFamily="34" charset="0"/>
              <a:buChar char="•"/>
            </a:pPr>
            <a:r>
              <a:rPr lang="en-US" sz="1600" b="1" dirty="0"/>
              <a:t>New Paradigms</a:t>
            </a:r>
            <a:r>
              <a:rPr lang="en-US" sz="1600" dirty="0"/>
              <a:t>: Development of new algorithmic paradigms and frameworks for emerging types of computation.</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191224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4BA1D525-40A9-303C-88BA-593A8F98CD4F}"/>
              </a:ext>
            </a:extLst>
          </p:cNvPr>
          <p:cNvGraphicFramePr/>
          <p:nvPr>
            <p:extLst>
              <p:ext uri="{D42A27DB-BD31-4B8C-83A1-F6EECF244321}">
                <p14:modId xmlns:p14="http://schemas.microsoft.com/office/powerpoint/2010/main" val="619532216"/>
              </p:ext>
            </p:extLst>
          </p:nvPr>
        </p:nvGraphicFramePr>
        <p:xfrm>
          <a:off x="2173574" y="565391"/>
          <a:ext cx="55783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Table 10">
            <a:extLst>
              <a:ext uri="{FF2B5EF4-FFF2-40B4-BE49-F238E27FC236}">
                <a16:creationId xmlns:a16="http://schemas.microsoft.com/office/drawing/2014/main" id="{F0B37957-A432-8804-D42E-8A43C235AFE1}"/>
              </a:ext>
            </a:extLst>
          </p:cNvPr>
          <p:cNvGraphicFramePr>
            <a:graphicFrameLocks noGrp="1"/>
          </p:cNvGraphicFramePr>
          <p:nvPr>
            <p:extLst>
              <p:ext uri="{D42A27DB-BD31-4B8C-83A1-F6EECF244321}">
                <p14:modId xmlns:p14="http://schemas.microsoft.com/office/powerpoint/2010/main" val="2111744405"/>
              </p:ext>
            </p:extLst>
          </p:nvPr>
        </p:nvGraphicFramePr>
        <p:xfrm>
          <a:off x="1633928" y="1221791"/>
          <a:ext cx="6118020" cy="3445884"/>
        </p:xfrm>
        <a:graphic>
          <a:graphicData uri="http://schemas.openxmlformats.org/drawingml/2006/table">
            <a:tbl>
              <a:tblPr>
                <a:tableStyleId>{3C2FFA5D-87B4-456A-9821-1D502468CF0F}</a:tableStyleId>
              </a:tblPr>
              <a:tblGrid>
                <a:gridCol w="2036222">
                  <a:extLst>
                    <a:ext uri="{9D8B030D-6E8A-4147-A177-3AD203B41FA5}">
                      <a16:colId xmlns:a16="http://schemas.microsoft.com/office/drawing/2014/main" val="3864125023"/>
                    </a:ext>
                  </a:extLst>
                </a:gridCol>
                <a:gridCol w="2040899">
                  <a:extLst>
                    <a:ext uri="{9D8B030D-6E8A-4147-A177-3AD203B41FA5}">
                      <a16:colId xmlns:a16="http://schemas.microsoft.com/office/drawing/2014/main" val="2129523360"/>
                    </a:ext>
                  </a:extLst>
                </a:gridCol>
                <a:gridCol w="2040899">
                  <a:extLst>
                    <a:ext uri="{9D8B030D-6E8A-4147-A177-3AD203B41FA5}">
                      <a16:colId xmlns:a16="http://schemas.microsoft.com/office/drawing/2014/main" val="3209786341"/>
                    </a:ext>
                  </a:extLst>
                </a:gridCol>
              </a:tblGrid>
              <a:tr h="218994">
                <a:tc>
                  <a:txBody>
                    <a:bodyPr/>
                    <a:lstStyle/>
                    <a:p>
                      <a:r>
                        <a:rPr lang="en-IN" sz="1200" b="1" dirty="0"/>
                        <a:t>Industry</a:t>
                      </a:r>
                    </a:p>
                  </a:txBody>
                  <a:tcPr marL="65698" marR="65698" marT="32849" marB="32849" anchor="ctr"/>
                </a:tc>
                <a:tc>
                  <a:txBody>
                    <a:bodyPr/>
                    <a:lstStyle/>
                    <a:p>
                      <a:r>
                        <a:rPr lang="en-IN" sz="1200" b="1" dirty="0"/>
                        <a:t>Company</a:t>
                      </a:r>
                    </a:p>
                  </a:txBody>
                  <a:tcPr marL="65698" marR="65698" marT="32849" marB="32849" anchor="ctr"/>
                </a:tc>
                <a:tc>
                  <a:txBody>
                    <a:bodyPr/>
                    <a:lstStyle/>
                    <a:p>
                      <a:r>
                        <a:rPr lang="en-IN" sz="1200" b="1" dirty="0"/>
                        <a:t>Focus Areas</a:t>
                      </a:r>
                    </a:p>
                  </a:txBody>
                  <a:tcPr marL="65698" marR="65698" marT="32849" marB="32849" anchor="ctr"/>
                </a:tc>
                <a:extLst>
                  <a:ext uri="{0D108BD9-81ED-4DB2-BD59-A6C34878D82A}">
                    <a16:rowId xmlns:a16="http://schemas.microsoft.com/office/drawing/2014/main" val="3535593962"/>
                  </a:ext>
                </a:extLst>
              </a:tr>
              <a:tr h="372289">
                <a:tc>
                  <a:txBody>
                    <a:bodyPr/>
                    <a:lstStyle/>
                    <a:p>
                      <a:r>
                        <a:rPr lang="en-IN" sz="1000" b="1" dirty="0"/>
                        <a:t>Technology Giants</a:t>
                      </a:r>
                      <a:endParaRPr lang="en-IN" sz="1000" dirty="0"/>
                    </a:p>
                  </a:txBody>
                  <a:tcPr marL="65698" marR="65698" marT="32849" marB="32849" anchor="ctr"/>
                </a:tc>
                <a:tc>
                  <a:txBody>
                    <a:bodyPr/>
                    <a:lstStyle/>
                    <a:p>
                      <a:r>
                        <a:rPr lang="en-IN" sz="1000"/>
                        <a:t>Google</a:t>
                      </a:r>
                    </a:p>
                  </a:txBody>
                  <a:tcPr marL="65698" marR="65698" marT="32849" marB="32849" anchor="ctr"/>
                </a:tc>
                <a:tc>
                  <a:txBody>
                    <a:bodyPr/>
                    <a:lstStyle/>
                    <a:p>
                      <a:r>
                        <a:rPr lang="en-US" sz="1000" dirty="0"/>
                        <a:t>Search algorithms, machine learning, data mining</a:t>
                      </a:r>
                    </a:p>
                  </a:txBody>
                  <a:tcPr marL="65698" marR="65698" marT="32849" marB="32849" anchor="ctr"/>
                </a:tc>
                <a:extLst>
                  <a:ext uri="{0D108BD9-81ED-4DB2-BD59-A6C34878D82A}">
                    <a16:rowId xmlns:a16="http://schemas.microsoft.com/office/drawing/2014/main" val="1637877048"/>
                  </a:ext>
                </a:extLst>
              </a:tr>
              <a:tr h="372289">
                <a:tc>
                  <a:txBody>
                    <a:bodyPr/>
                    <a:lstStyle/>
                    <a:p>
                      <a:endParaRPr lang="en-IN" sz="1000" dirty="0"/>
                    </a:p>
                  </a:txBody>
                  <a:tcPr marL="65698" marR="65698" marT="32849" marB="32849" anchor="ctr"/>
                </a:tc>
                <a:tc>
                  <a:txBody>
                    <a:bodyPr/>
                    <a:lstStyle/>
                    <a:p>
                      <a:r>
                        <a:rPr lang="en-IN" sz="1000"/>
                        <a:t>Facebook (Meta)</a:t>
                      </a:r>
                    </a:p>
                  </a:txBody>
                  <a:tcPr marL="65698" marR="65698" marT="32849" marB="32849" anchor="ctr"/>
                </a:tc>
                <a:tc>
                  <a:txBody>
                    <a:bodyPr/>
                    <a:lstStyle/>
                    <a:p>
                      <a:r>
                        <a:rPr lang="en-IN" sz="1000"/>
                        <a:t>Social network algorithms, AI, data analytics</a:t>
                      </a:r>
                    </a:p>
                  </a:txBody>
                  <a:tcPr marL="65698" marR="65698" marT="32849" marB="32849" anchor="ctr"/>
                </a:tc>
                <a:extLst>
                  <a:ext uri="{0D108BD9-81ED-4DB2-BD59-A6C34878D82A}">
                    <a16:rowId xmlns:a16="http://schemas.microsoft.com/office/drawing/2014/main" val="865614684"/>
                  </a:ext>
                </a:extLst>
              </a:tr>
              <a:tr h="372289">
                <a:tc>
                  <a:txBody>
                    <a:bodyPr/>
                    <a:lstStyle/>
                    <a:p>
                      <a:endParaRPr lang="en-IN" sz="1000" dirty="0"/>
                    </a:p>
                  </a:txBody>
                  <a:tcPr marL="65698" marR="65698" marT="32849" marB="32849" anchor="ctr"/>
                </a:tc>
                <a:tc>
                  <a:txBody>
                    <a:bodyPr/>
                    <a:lstStyle/>
                    <a:p>
                      <a:r>
                        <a:rPr lang="en-IN" sz="1000"/>
                        <a:t>Microsoft</a:t>
                      </a:r>
                    </a:p>
                  </a:txBody>
                  <a:tcPr marL="65698" marR="65698" marT="32849" marB="32849" anchor="ctr"/>
                </a:tc>
                <a:tc>
                  <a:txBody>
                    <a:bodyPr/>
                    <a:lstStyle/>
                    <a:p>
                      <a:r>
                        <a:rPr lang="en-US" sz="1000"/>
                        <a:t>Software development, AI, cloud computing</a:t>
                      </a:r>
                    </a:p>
                  </a:txBody>
                  <a:tcPr marL="65698" marR="65698" marT="32849" marB="32849" anchor="ctr"/>
                </a:tc>
                <a:extLst>
                  <a:ext uri="{0D108BD9-81ED-4DB2-BD59-A6C34878D82A}">
                    <a16:rowId xmlns:a16="http://schemas.microsoft.com/office/drawing/2014/main" val="7545214"/>
                  </a:ext>
                </a:extLst>
              </a:tr>
              <a:tr h="372289">
                <a:tc>
                  <a:txBody>
                    <a:bodyPr/>
                    <a:lstStyle/>
                    <a:p>
                      <a:endParaRPr lang="en-IN" sz="1000" dirty="0"/>
                    </a:p>
                  </a:txBody>
                  <a:tcPr marL="65698" marR="65698" marT="32849" marB="32849" anchor="ctr"/>
                </a:tc>
                <a:tc>
                  <a:txBody>
                    <a:bodyPr/>
                    <a:lstStyle/>
                    <a:p>
                      <a:r>
                        <a:rPr lang="en-IN" sz="1000"/>
                        <a:t>Amazon</a:t>
                      </a:r>
                    </a:p>
                  </a:txBody>
                  <a:tcPr marL="65698" marR="65698" marT="32849" marB="32849" anchor="ctr"/>
                </a:tc>
                <a:tc>
                  <a:txBody>
                    <a:bodyPr/>
                    <a:lstStyle/>
                    <a:p>
                      <a:r>
                        <a:rPr lang="it-IT" sz="1000"/>
                        <a:t>Cloud computing, logistics, AI, e-commerce</a:t>
                      </a:r>
                    </a:p>
                  </a:txBody>
                  <a:tcPr marL="65698" marR="65698" marT="32849" marB="32849" anchor="ctr"/>
                </a:tc>
                <a:extLst>
                  <a:ext uri="{0D108BD9-81ED-4DB2-BD59-A6C34878D82A}">
                    <a16:rowId xmlns:a16="http://schemas.microsoft.com/office/drawing/2014/main" val="2144389258"/>
                  </a:ext>
                </a:extLst>
              </a:tr>
              <a:tr h="372289">
                <a:tc>
                  <a:txBody>
                    <a:bodyPr/>
                    <a:lstStyle/>
                    <a:p>
                      <a:endParaRPr lang="en-IN" sz="1000" dirty="0"/>
                    </a:p>
                  </a:txBody>
                  <a:tcPr marL="65698" marR="65698" marT="32849" marB="32849" anchor="ctr"/>
                </a:tc>
                <a:tc>
                  <a:txBody>
                    <a:bodyPr/>
                    <a:lstStyle/>
                    <a:p>
                      <a:r>
                        <a:rPr lang="en-IN" sz="1000"/>
                        <a:t>Apple</a:t>
                      </a:r>
                    </a:p>
                  </a:txBody>
                  <a:tcPr marL="65698" marR="65698" marT="32849" marB="32849" anchor="ctr"/>
                </a:tc>
                <a:tc>
                  <a:txBody>
                    <a:bodyPr/>
                    <a:lstStyle/>
                    <a:p>
                      <a:r>
                        <a:rPr lang="en-IN" sz="1000"/>
                        <a:t>Hardware-software integration, machine learning</a:t>
                      </a:r>
                    </a:p>
                  </a:txBody>
                  <a:tcPr marL="65698" marR="65698" marT="32849" marB="32849" anchor="ctr"/>
                </a:tc>
                <a:extLst>
                  <a:ext uri="{0D108BD9-81ED-4DB2-BD59-A6C34878D82A}">
                    <a16:rowId xmlns:a16="http://schemas.microsoft.com/office/drawing/2014/main" val="3350977549"/>
                  </a:ext>
                </a:extLst>
              </a:tr>
              <a:tr h="372289">
                <a:tc>
                  <a:txBody>
                    <a:bodyPr/>
                    <a:lstStyle/>
                    <a:p>
                      <a:r>
                        <a:rPr lang="en-IN" sz="1000" b="1"/>
                        <a:t>Financial Services and FinTech</a:t>
                      </a:r>
                      <a:endParaRPr lang="en-IN" sz="1000"/>
                    </a:p>
                  </a:txBody>
                  <a:tcPr marL="65698" marR="65698" marT="32849" marB="32849" anchor="ctr"/>
                </a:tc>
                <a:tc>
                  <a:txBody>
                    <a:bodyPr/>
                    <a:lstStyle/>
                    <a:p>
                      <a:r>
                        <a:rPr lang="en-IN" sz="1000"/>
                        <a:t>Goldman Sachs</a:t>
                      </a:r>
                    </a:p>
                  </a:txBody>
                  <a:tcPr marL="65698" marR="65698" marT="32849" marB="32849" anchor="ctr"/>
                </a:tc>
                <a:tc>
                  <a:txBody>
                    <a:bodyPr/>
                    <a:lstStyle/>
                    <a:p>
                      <a:r>
                        <a:rPr lang="en-IN" sz="1000"/>
                        <a:t>Financial modeling, algorithmic trading, risk management</a:t>
                      </a:r>
                    </a:p>
                  </a:txBody>
                  <a:tcPr marL="65698" marR="65698" marT="32849" marB="32849" anchor="ctr"/>
                </a:tc>
                <a:extLst>
                  <a:ext uri="{0D108BD9-81ED-4DB2-BD59-A6C34878D82A}">
                    <a16:rowId xmlns:a16="http://schemas.microsoft.com/office/drawing/2014/main" val="1337676696"/>
                  </a:ext>
                </a:extLst>
              </a:tr>
              <a:tr h="372289">
                <a:tc>
                  <a:txBody>
                    <a:bodyPr/>
                    <a:lstStyle/>
                    <a:p>
                      <a:endParaRPr lang="en-IN" sz="1000"/>
                    </a:p>
                  </a:txBody>
                  <a:tcPr marL="65698" marR="65698" marT="32849" marB="32849" anchor="ctr"/>
                </a:tc>
                <a:tc>
                  <a:txBody>
                    <a:bodyPr/>
                    <a:lstStyle/>
                    <a:p>
                      <a:r>
                        <a:rPr lang="en-IN" sz="1000"/>
                        <a:t>Morgan Stanley</a:t>
                      </a:r>
                    </a:p>
                  </a:txBody>
                  <a:tcPr marL="65698" marR="65698" marT="32849" marB="32849" anchor="ctr"/>
                </a:tc>
                <a:tc>
                  <a:txBody>
                    <a:bodyPr/>
                    <a:lstStyle/>
                    <a:p>
                      <a:r>
                        <a:rPr lang="en-IN" sz="1000"/>
                        <a:t>Quantitative analysis, financial engineering</a:t>
                      </a:r>
                    </a:p>
                  </a:txBody>
                  <a:tcPr marL="65698" marR="65698" marT="32849" marB="32849" anchor="ctr"/>
                </a:tc>
                <a:extLst>
                  <a:ext uri="{0D108BD9-81ED-4DB2-BD59-A6C34878D82A}">
                    <a16:rowId xmlns:a16="http://schemas.microsoft.com/office/drawing/2014/main" val="2406427283"/>
                  </a:ext>
                </a:extLst>
              </a:tr>
              <a:tr h="218994">
                <a:tc>
                  <a:txBody>
                    <a:bodyPr/>
                    <a:lstStyle/>
                    <a:p>
                      <a:endParaRPr lang="en-IN" sz="1000"/>
                    </a:p>
                  </a:txBody>
                  <a:tcPr marL="65698" marR="65698" marT="32849" marB="32849" anchor="ctr"/>
                </a:tc>
                <a:tc>
                  <a:txBody>
                    <a:bodyPr/>
                    <a:lstStyle/>
                    <a:p>
                      <a:r>
                        <a:rPr lang="en-IN" sz="1000"/>
                        <a:t>JPMorgan Chase</a:t>
                      </a:r>
                    </a:p>
                  </a:txBody>
                  <a:tcPr marL="65698" marR="65698" marT="32849" marB="32849" anchor="ctr"/>
                </a:tc>
                <a:tc>
                  <a:txBody>
                    <a:bodyPr/>
                    <a:lstStyle/>
                    <a:p>
                      <a:r>
                        <a:rPr lang="en-IN" sz="1000"/>
                        <a:t>Data science, financial algorithms</a:t>
                      </a:r>
                    </a:p>
                  </a:txBody>
                  <a:tcPr marL="65698" marR="65698" marT="32849" marB="32849" anchor="ctr"/>
                </a:tc>
                <a:extLst>
                  <a:ext uri="{0D108BD9-81ED-4DB2-BD59-A6C34878D82A}">
                    <a16:rowId xmlns:a16="http://schemas.microsoft.com/office/drawing/2014/main" val="496956191"/>
                  </a:ext>
                </a:extLst>
              </a:tr>
              <a:tr h="372289">
                <a:tc>
                  <a:txBody>
                    <a:bodyPr/>
                    <a:lstStyle/>
                    <a:p>
                      <a:endParaRPr lang="en-IN" sz="1000" dirty="0"/>
                    </a:p>
                  </a:txBody>
                  <a:tcPr marL="65698" marR="65698" marT="32849" marB="32849" anchor="ctr"/>
                </a:tc>
                <a:tc>
                  <a:txBody>
                    <a:bodyPr/>
                    <a:lstStyle/>
                    <a:p>
                      <a:r>
                        <a:rPr lang="en-IN" sz="1000"/>
                        <a:t>Bloomberg</a:t>
                      </a:r>
                    </a:p>
                  </a:txBody>
                  <a:tcPr marL="65698" marR="65698" marT="32849" marB="32849" anchor="ctr"/>
                </a:tc>
                <a:tc>
                  <a:txBody>
                    <a:bodyPr/>
                    <a:lstStyle/>
                    <a:p>
                      <a:r>
                        <a:rPr lang="en-US" sz="1000" dirty="0"/>
                        <a:t>Financial data analytics, trading systems</a:t>
                      </a:r>
                    </a:p>
                  </a:txBody>
                  <a:tcPr marL="65698" marR="65698" marT="32849" marB="32849" anchor="ctr"/>
                </a:tc>
                <a:extLst>
                  <a:ext uri="{0D108BD9-81ED-4DB2-BD59-A6C34878D82A}">
                    <a16:rowId xmlns:a16="http://schemas.microsoft.com/office/drawing/2014/main" val="1363871844"/>
                  </a:ext>
                </a:extLst>
              </a:tr>
            </a:tbl>
          </a:graphicData>
        </a:graphic>
      </p:graphicFrame>
      <p:sp>
        <p:nvSpPr>
          <p:cNvPr id="2" name="Text Placeholder 1">
            <a:extLst>
              <a:ext uri="{FF2B5EF4-FFF2-40B4-BE49-F238E27FC236}">
                <a16:creationId xmlns:a16="http://schemas.microsoft.com/office/drawing/2014/main" id="{8E41A4F6-4528-92B6-8977-0D15EC02979F}"/>
              </a:ext>
            </a:extLst>
          </p:cNvPr>
          <p:cNvSpPr>
            <a:spLocks noGrp="1"/>
          </p:cNvSpPr>
          <p:nvPr>
            <p:ph type="body" idx="1"/>
          </p:nvPr>
        </p:nvSpPr>
        <p:spPr/>
        <p:txBody>
          <a:bodyPr/>
          <a:lstStyle/>
          <a:p>
            <a:endParaRPr lang="en-I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4BA1D525-40A9-303C-88BA-593A8F98CD4F}"/>
              </a:ext>
            </a:extLst>
          </p:cNvPr>
          <p:cNvGraphicFramePr/>
          <p:nvPr>
            <p:extLst>
              <p:ext uri="{D42A27DB-BD31-4B8C-83A1-F6EECF244321}">
                <p14:modId xmlns:p14="http://schemas.microsoft.com/office/powerpoint/2010/main" val="3195908897"/>
              </p:ext>
            </p:extLst>
          </p:nvPr>
        </p:nvGraphicFramePr>
        <p:xfrm>
          <a:off x="2098623" y="565391"/>
          <a:ext cx="5653325"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7" name="Table 36">
            <a:extLst>
              <a:ext uri="{FF2B5EF4-FFF2-40B4-BE49-F238E27FC236}">
                <a16:creationId xmlns:a16="http://schemas.microsoft.com/office/drawing/2014/main" id="{10DCED48-2FF7-6676-132B-2D1F3A668E64}"/>
              </a:ext>
            </a:extLst>
          </p:cNvPr>
          <p:cNvGraphicFramePr>
            <a:graphicFrameLocks noGrp="1"/>
          </p:cNvGraphicFramePr>
          <p:nvPr>
            <p:extLst>
              <p:ext uri="{D42A27DB-BD31-4B8C-83A1-F6EECF244321}">
                <p14:modId xmlns:p14="http://schemas.microsoft.com/office/powerpoint/2010/main" val="2895061220"/>
              </p:ext>
            </p:extLst>
          </p:nvPr>
        </p:nvGraphicFramePr>
        <p:xfrm>
          <a:off x="1566472" y="1401673"/>
          <a:ext cx="6133010" cy="3073595"/>
        </p:xfrm>
        <a:graphic>
          <a:graphicData uri="http://schemas.openxmlformats.org/drawingml/2006/table">
            <a:tbl>
              <a:tblPr>
                <a:tableStyleId>{3C2FFA5D-87B4-456A-9821-1D502468CF0F}</a:tableStyleId>
              </a:tblPr>
              <a:tblGrid>
                <a:gridCol w="2051212">
                  <a:extLst>
                    <a:ext uri="{9D8B030D-6E8A-4147-A177-3AD203B41FA5}">
                      <a16:colId xmlns:a16="http://schemas.microsoft.com/office/drawing/2014/main" val="3864125023"/>
                    </a:ext>
                  </a:extLst>
                </a:gridCol>
                <a:gridCol w="2040899">
                  <a:extLst>
                    <a:ext uri="{9D8B030D-6E8A-4147-A177-3AD203B41FA5}">
                      <a16:colId xmlns:a16="http://schemas.microsoft.com/office/drawing/2014/main" val="2129523360"/>
                    </a:ext>
                  </a:extLst>
                </a:gridCol>
                <a:gridCol w="2040899">
                  <a:extLst>
                    <a:ext uri="{9D8B030D-6E8A-4147-A177-3AD203B41FA5}">
                      <a16:colId xmlns:a16="http://schemas.microsoft.com/office/drawing/2014/main" val="3209786341"/>
                    </a:ext>
                  </a:extLst>
                </a:gridCol>
              </a:tblGrid>
              <a:tr h="218994">
                <a:tc>
                  <a:txBody>
                    <a:bodyPr/>
                    <a:lstStyle/>
                    <a:p>
                      <a:r>
                        <a:rPr lang="en-IN" sz="1200" b="1" dirty="0"/>
                        <a:t>Industry</a:t>
                      </a:r>
                    </a:p>
                  </a:txBody>
                  <a:tcPr marL="65698" marR="65698" marT="32849" marB="32849" anchor="ctr"/>
                </a:tc>
                <a:tc>
                  <a:txBody>
                    <a:bodyPr/>
                    <a:lstStyle/>
                    <a:p>
                      <a:r>
                        <a:rPr lang="en-IN" sz="1200" b="1" dirty="0"/>
                        <a:t>Company</a:t>
                      </a:r>
                    </a:p>
                  </a:txBody>
                  <a:tcPr marL="65698" marR="65698" marT="32849" marB="32849" anchor="ctr"/>
                </a:tc>
                <a:tc>
                  <a:txBody>
                    <a:bodyPr/>
                    <a:lstStyle/>
                    <a:p>
                      <a:r>
                        <a:rPr lang="en-IN" sz="1200" b="1" dirty="0"/>
                        <a:t>Focus Areas</a:t>
                      </a:r>
                    </a:p>
                  </a:txBody>
                  <a:tcPr marL="65698" marR="65698" marT="32849" marB="32849" anchor="ctr"/>
                </a:tc>
                <a:extLst>
                  <a:ext uri="{0D108BD9-81ED-4DB2-BD59-A6C34878D82A}">
                    <a16:rowId xmlns:a16="http://schemas.microsoft.com/office/drawing/2014/main" val="3535593962"/>
                  </a:ext>
                </a:extLst>
              </a:tr>
              <a:tr h="372289">
                <a:tc>
                  <a:txBody>
                    <a:bodyPr/>
                    <a:lstStyle/>
                    <a:p>
                      <a:r>
                        <a:rPr lang="en-IN" sz="1000" b="1" dirty="0"/>
                        <a:t>Consulting Firms</a:t>
                      </a:r>
                    </a:p>
                  </a:txBody>
                  <a:tcPr marL="65698" marR="65698" marT="32849" marB="32849" anchor="ctr"/>
                </a:tc>
                <a:tc>
                  <a:txBody>
                    <a:bodyPr/>
                    <a:lstStyle/>
                    <a:p>
                      <a:r>
                        <a:rPr lang="en-IN" sz="1000" dirty="0"/>
                        <a:t>McKinsey &amp; Company</a:t>
                      </a:r>
                    </a:p>
                  </a:txBody>
                  <a:tcPr anchor="ctr"/>
                </a:tc>
                <a:tc>
                  <a:txBody>
                    <a:bodyPr/>
                    <a:lstStyle/>
                    <a:p>
                      <a:r>
                        <a:rPr lang="en-IN" sz="1000" dirty="0"/>
                        <a:t>Data analysis, problem-solving for consulting</a:t>
                      </a:r>
                      <a:endParaRPr lang="en-US" sz="1000" dirty="0"/>
                    </a:p>
                  </a:txBody>
                  <a:tcPr marL="65698" marR="65698" marT="32849" marB="32849" anchor="ctr"/>
                </a:tc>
                <a:extLst>
                  <a:ext uri="{0D108BD9-81ED-4DB2-BD59-A6C34878D82A}">
                    <a16:rowId xmlns:a16="http://schemas.microsoft.com/office/drawing/2014/main" val="1637877048"/>
                  </a:ext>
                </a:extLst>
              </a:tr>
              <a:tr h="372289">
                <a:tc>
                  <a:txBody>
                    <a:bodyPr/>
                    <a:lstStyle/>
                    <a:p>
                      <a:endParaRPr lang="en-IN" sz="1000" b="1" dirty="0"/>
                    </a:p>
                  </a:txBody>
                  <a:tcPr marL="65698" marR="65698" marT="32849" marB="32849" anchor="ctr"/>
                </a:tc>
                <a:tc>
                  <a:txBody>
                    <a:bodyPr/>
                    <a:lstStyle/>
                    <a:p>
                      <a:r>
                        <a:rPr lang="en-IN" sz="1000" dirty="0"/>
                        <a:t>Boston Consulting Group (BCG)</a:t>
                      </a:r>
                    </a:p>
                  </a:txBody>
                  <a:tcPr marL="65698" marR="65698" marT="32849" marB="32849" anchor="ctr"/>
                </a:tc>
                <a:tc>
                  <a:txBody>
                    <a:bodyPr/>
                    <a:lstStyle/>
                    <a:p>
                      <a:r>
                        <a:rPr lang="en-IN" sz="1000" dirty="0"/>
                        <a:t>Data-driven decision-making, strategic planning</a:t>
                      </a:r>
                    </a:p>
                  </a:txBody>
                  <a:tcPr marL="65698" marR="65698" marT="32849" marB="32849" anchor="ctr"/>
                </a:tc>
                <a:extLst>
                  <a:ext uri="{0D108BD9-81ED-4DB2-BD59-A6C34878D82A}">
                    <a16:rowId xmlns:a16="http://schemas.microsoft.com/office/drawing/2014/main" val="865614684"/>
                  </a:ext>
                </a:extLst>
              </a:tr>
              <a:tr h="372289">
                <a:tc>
                  <a:txBody>
                    <a:bodyPr/>
                    <a:lstStyle/>
                    <a:p>
                      <a:endParaRPr lang="en-IN" sz="1000" b="1"/>
                    </a:p>
                  </a:txBody>
                  <a:tcPr marL="65698" marR="65698" marT="32849" marB="32849" anchor="ctr"/>
                </a:tc>
                <a:tc>
                  <a:txBody>
                    <a:bodyPr/>
                    <a:lstStyle/>
                    <a:p>
                      <a:r>
                        <a:rPr lang="en-IN" sz="1000" dirty="0"/>
                        <a:t>Bain &amp; Company</a:t>
                      </a:r>
                    </a:p>
                  </a:txBody>
                  <a:tcPr marL="65698" marR="65698" marT="32849" marB="32849" anchor="ctr"/>
                </a:tc>
                <a:tc>
                  <a:txBody>
                    <a:bodyPr/>
                    <a:lstStyle/>
                    <a:p>
                      <a:r>
                        <a:rPr lang="en-IN" sz="1000" dirty="0"/>
                        <a:t>Data science, analytics in consulting</a:t>
                      </a:r>
                      <a:endParaRPr lang="en-US" sz="1000" dirty="0"/>
                    </a:p>
                  </a:txBody>
                  <a:tcPr marL="65698" marR="65698" marT="32849" marB="32849" anchor="ctr"/>
                </a:tc>
                <a:extLst>
                  <a:ext uri="{0D108BD9-81ED-4DB2-BD59-A6C34878D82A}">
                    <a16:rowId xmlns:a16="http://schemas.microsoft.com/office/drawing/2014/main" val="7545214"/>
                  </a:ext>
                </a:extLst>
              </a:tr>
              <a:tr h="372289">
                <a:tc>
                  <a:txBody>
                    <a:bodyPr/>
                    <a:lstStyle/>
                    <a:p>
                      <a:r>
                        <a:rPr lang="en-IN" sz="1000" b="1" dirty="0"/>
                        <a:t>Research and Development</a:t>
                      </a:r>
                    </a:p>
                  </a:txBody>
                  <a:tcPr marL="65698" marR="65698" marT="32849" marB="32849" anchor="ctr"/>
                </a:tc>
                <a:tc>
                  <a:txBody>
                    <a:bodyPr/>
                    <a:lstStyle/>
                    <a:p>
                      <a:r>
                        <a:rPr lang="en-IN" sz="1000" dirty="0"/>
                        <a:t>IBM Research</a:t>
                      </a:r>
                    </a:p>
                  </a:txBody>
                  <a:tcPr marL="65698" marR="65698" marT="32849" marB="32849" anchor="ctr"/>
                </a:tc>
                <a:tc>
                  <a:txBody>
                    <a:bodyPr/>
                    <a:lstStyle/>
                    <a:p>
                      <a:r>
                        <a:rPr lang="it-IT" sz="1000" dirty="0"/>
                        <a:t>AI, quantum computing, data science</a:t>
                      </a:r>
                    </a:p>
                  </a:txBody>
                  <a:tcPr marL="65698" marR="65698" marT="32849" marB="32849" anchor="ctr"/>
                </a:tc>
                <a:extLst>
                  <a:ext uri="{0D108BD9-81ED-4DB2-BD59-A6C34878D82A}">
                    <a16:rowId xmlns:a16="http://schemas.microsoft.com/office/drawing/2014/main" val="2144389258"/>
                  </a:ext>
                </a:extLst>
              </a:tr>
              <a:tr h="372289">
                <a:tc>
                  <a:txBody>
                    <a:bodyPr/>
                    <a:lstStyle/>
                    <a:p>
                      <a:endParaRPr lang="en-IN" sz="1000" b="1" dirty="0"/>
                    </a:p>
                  </a:txBody>
                  <a:tcPr marL="65698" marR="65698" marT="32849" marB="32849" anchor="ctr"/>
                </a:tc>
                <a:tc>
                  <a:txBody>
                    <a:bodyPr/>
                    <a:lstStyle/>
                    <a:p>
                      <a:r>
                        <a:rPr lang="en-IN" sz="1000" dirty="0"/>
                        <a:t>Bell Labs (Nokia)</a:t>
                      </a:r>
                    </a:p>
                  </a:txBody>
                  <a:tcPr marL="65698" marR="65698" marT="32849" marB="32849" anchor="ctr"/>
                </a:tc>
                <a:tc>
                  <a:txBody>
                    <a:bodyPr/>
                    <a:lstStyle/>
                    <a:p>
                      <a:r>
                        <a:rPr lang="en-IN" sz="1000" dirty="0"/>
                        <a:t>Telecommunications, networks, advanced algorithms</a:t>
                      </a:r>
                    </a:p>
                  </a:txBody>
                  <a:tcPr marL="65698" marR="65698" marT="32849" marB="32849" anchor="ctr"/>
                </a:tc>
                <a:extLst>
                  <a:ext uri="{0D108BD9-81ED-4DB2-BD59-A6C34878D82A}">
                    <a16:rowId xmlns:a16="http://schemas.microsoft.com/office/drawing/2014/main" val="3350977549"/>
                  </a:ext>
                </a:extLst>
              </a:tr>
              <a:tr h="372289">
                <a:tc>
                  <a:txBody>
                    <a:bodyPr/>
                    <a:lstStyle/>
                    <a:p>
                      <a:r>
                        <a:rPr lang="en-US" sz="1000" b="1" dirty="0"/>
                        <a:t>I</a:t>
                      </a:r>
                      <a:r>
                        <a:rPr lang="en-IN" sz="1000" b="1" dirty="0" err="1"/>
                        <a:t>nternet</a:t>
                      </a:r>
                      <a:r>
                        <a:rPr lang="en-IN" sz="1000" b="1" dirty="0"/>
                        <a:t> and E-Commerce</a:t>
                      </a:r>
                    </a:p>
                  </a:txBody>
                  <a:tcPr marL="65698" marR="65698" marT="32849" marB="32849" anchor="ctr"/>
                </a:tc>
                <a:tc>
                  <a:txBody>
                    <a:bodyPr/>
                    <a:lstStyle/>
                    <a:p>
                      <a:r>
                        <a:rPr lang="en-IN" sz="1000" dirty="0"/>
                        <a:t>Netflix</a:t>
                      </a:r>
                    </a:p>
                  </a:txBody>
                  <a:tcPr marL="65698" marR="65698" marT="32849" marB="32849" anchor="ctr"/>
                </a:tc>
                <a:tc>
                  <a:txBody>
                    <a:bodyPr/>
                    <a:lstStyle/>
                    <a:p>
                      <a:r>
                        <a:rPr lang="en-IN" sz="1000" dirty="0"/>
                        <a:t>Recommendation systems, content delivery</a:t>
                      </a:r>
                    </a:p>
                  </a:txBody>
                  <a:tcPr marL="65698" marR="65698" marT="32849" marB="32849" anchor="ctr"/>
                </a:tc>
                <a:extLst>
                  <a:ext uri="{0D108BD9-81ED-4DB2-BD59-A6C34878D82A}">
                    <a16:rowId xmlns:a16="http://schemas.microsoft.com/office/drawing/2014/main" val="1337676696"/>
                  </a:ext>
                </a:extLst>
              </a:tr>
              <a:tr h="372289">
                <a:tc>
                  <a:txBody>
                    <a:bodyPr/>
                    <a:lstStyle/>
                    <a:p>
                      <a:endParaRPr lang="en-IN" sz="1000"/>
                    </a:p>
                  </a:txBody>
                  <a:tcPr marL="65698" marR="65698" marT="32849" marB="32849" anchor="ctr"/>
                </a:tc>
                <a:tc>
                  <a:txBody>
                    <a:bodyPr/>
                    <a:lstStyle/>
                    <a:p>
                      <a:r>
                        <a:rPr lang="en-IN" sz="1000" dirty="0"/>
                        <a:t>Airbnb</a:t>
                      </a:r>
                    </a:p>
                  </a:txBody>
                  <a:tcPr marL="65698" marR="65698" marT="32849" marB="32849" anchor="ctr"/>
                </a:tc>
                <a:tc>
                  <a:txBody>
                    <a:bodyPr/>
                    <a:lstStyle/>
                    <a:p>
                      <a:r>
                        <a:rPr lang="en-US" sz="1000" dirty="0"/>
                        <a:t>Search algorithms, matching, data-driven decisions</a:t>
                      </a:r>
                      <a:endParaRPr lang="en-IN" sz="1000" dirty="0"/>
                    </a:p>
                  </a:txBody>
                  <a:tcPr marL="65698" marR="65698" marT="32849" marB="32849" anchor="ctr"/>
                </a:tc>
                <a:extLst>
                  <a:ext uri="{0D108BD9-81ED-4DB2-BD59-A6C34878D82A}">
                    <a16:rowId xmlns:a16="http://schemas.microsoft.com/office/drawing/2014/main" val="2406427283"/>
                  </a:ext>
                </a:extLst>
              </a:tr>
              <a:tr h="218994">
                <a:tc>
                  <a:txBody>
                    <a:bodyPr/>
                    <a:lstStyle/>
                    <a:p>
                      <a:endParaRPr lang="en-IN" sz="1000" dirty="0"/>
                    </a:p>
                  </a:txBody>
                  <a:tcPr marL="65698" marR="65698" marT="32849" marB="32849" anchor="ctr"/>
                </a:tc>
                <a:tc>
                  <a:txBody>
                    <a:bodyPr/>
                    <a:lstStyle/>
                    <a:p>
                      <a:r>
                        <a:rPr lang="en-IN" sz="1000" dirty="0"/>
                        <a:t>Uber</a:t>
                      </a:r>
                    </a:p>
                  </a:txBody>
                  <a:tcPr marL="65698" marR="65698" marT="32849" marB="32849" anchor="ctr"/>
                </a:tc>
                <a:tc>
                  <a:txBody>
                    <a:bodyPr/>
                    <a:lstStyle/>
                    <a:p>
                      <a:r>
                        <a:rPr lang="en-IN" sz="1000" dirty="0"/>
                        <a:t>Dynamic pricing, routing, logistics</a:t>
                      </a:r>
                    </a:p>
                  </a:txBody>
                  <a:tcPr marL="65698" marR="65698" marT="32849" marB="32849" anchor="ctr"/>
                </a:tc>
                <a:extLst>
                  <a:ext uri="{0D108BD9-81ED-4DB2-BD59-A6C34878D82A}">
                    <a16:rowId xmlns:a16="http://schemas.microsoft.com/office/drawing/2014/main" val="496956191"/>
                  </a:ext>
                </a:extLst>
              </a:tr>
            </a:tbl>
          </a:graphicData>
        </a:graphic>
      </p:graphicFrame>
      <p:sp>
        <p:nvSpPr>
          <p:cNvPr id="2" name="Text Placeholder 1">
            <a:extLst>
              <a:ext uri="{FF2B5EF4-FFF2-40B4-BE49-F238E27FC236}">
                <a16:creationId xmlns:a16="http://schemas.microsoft.com/office/drawing/2014/main" id="{1B31E1D7-7810-26C2-A37B-C627C6859A29}"/>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1234866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extLst>
              <p:ext uri="{D42A27DB-BD31-4B8C-83A1-F6EECF244321}">
                <p14:modId xmlns:p14="http://schemas.microsoft.com/office/powerpoint/2010/main" val="2922384832"/>
              </p:ext>
            </p:extLst>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Table 5">
            <a:extLst>
              <a:ext uri="{FF2B5EF4-FFF2-40B4-BE49-F238E27FC236}">
                <a16:creationId xmlns:a16="http://schemas.microsoft.com/office/drawing/2014/main" id="{BD522AC0-112C-3A2D-B538-7F5B3619EED3}"/>
              </a:ext>
            </a:extLst>
          </p:cNvPr>
          <p:cNvGraphicFramePr>
            <a:graphicFrameLocks noGrp="1"/>
          </p:cNvGraphicFramePr>
          <p:nvPr>
            <p:extLst>
              <p:ext uri="{D42A27DB-BD31-4B8C-83A1-F6EECF244321}">
                <p14:modId xmlns:p14="http://schemas.microsoft.com/office/powerpoint/2010/main" val="771059875"/>
              </p:ext>
            </p:extLst>
          </p:nvPr>
        </p:nvGraphicFramePr>
        <p:xfrm>
          <a:off x="1566472" y="1401673"/>
          <a:ext cx="6133010" cy="3225099"/>
        </p:xfrm>
        <a:graphic>
          <a:graphicData uri="http://schemas.openxmlformats.org/drawingml/2006/table">
            <a:tbl>
              <a:tblPr>
                <a:tableStyleId>{3C2FFA5D-87B4-456A-9821-1D502468CF0F}</a:tableStyleId>
              </a:tblPr>
              <a:tblGrid>
                <a:gridCol w="2051212">
                  <a:extLst>
                    <a:ext uri="{9D8B030D-6E8A-4147-A177-3AD203B41FA5}">
                      <a16:colId xmlns:a16="http://schemas.microsoft.com/office/drawing/2014/main" val="3864125023"/>
                    </a:ext>
                  </a:extLst>
                </a:gridCol>
                <a:gridCol w="2040899">
                  <a:extLst>
                    <a:ext uri="{9D8B030D-6E8A-4147-A177-3AD203B41FA5}">
                      <a16:colId xmlns:a16="http://schemas.microsoft.com/office/drawing/2014/main" val="2129523360"/>
                    </a:ext>
                  </a:extLst>
                </a:gridCol>
                <a:gridCol w="2040899">
                  <a:extLst>
                    <a:ext uri="{9D8B030D-6E8A-4147-A177-3AD203B41FA5}">
                      <a16:colId xmlns:a16="http://schemas.microsoft.com/office/drawing/2014/main" val="3209786341"/>
                    </a:ext>
                  </a:extLst>
                </a:gridCol>
              </a:tblGrid>
              <a:tr h="218994">
                <a:tc>
                  <a:txBody>
                    <a:bodyPr/>
                    <a:lstStyle/>
                    <a:p>
                      <a:r>
                        <a:rPr lang="en-IN" sz="1200" b="1" dirty="0"/>
                        <a:t>Industry</a:t>
                      </a:r>
                    </a:p>
                  </a:txBody>
                  <a:tcPr marL="65698" marR="65698" marT="32849" marB="32849" anchor="ctr"/>
                </a:tc>
                <a:tc>
                  <a:txBody>
                    <a:bodyPr/>
                    <a:lstStyle/>
                    <a:p>
                      <a:r>
                        <a:rPr lang="en-IN" sz="1200" b="1" dirty="0"/>
                        <a:t>Company</a:t>
                      </a:r>
                    </a:p>
                  </a:txBody>
                  <a:tcPr marL="65698" marR="65698" marT="32849" marB="32849" anchor="ctr"/>
                </a:tc>
                <a:tc>
                  <a:txBody>
                    <a:bodyPr/>
                    <a:lstStyle/>
                    <a:p>
                      <a:r>
                        <a:rPr lang="en-IN" sz="1200" b="1" dirty="0"/>
                        <a:t>Focus Areas</a:t>
                      </a:r>
                    </a:p>
                  </a:txBody>
                  <a:tcPr marL="65698" marR="65698" marT="32849" marB="32849" anchor="ctr"/>
                </a:tc>
                <a:extLst>
                  <a:ext uri="{0D108BD9-81ED-4DB2-BD59-A6C34878D82A}">
                    <a16:rowId xmlns:a16="http://schemas.microsoft.com/office/drawing/2014/main" val="3535593962"/>
                  </a:ext>
                </a:extLst>
              </a:tr>
              <a:tr h="372289">
                <a:tc>
                  <a:txBody>
                    <a:bodyPr/>
                    <a:lstStyle/>
                    <a:p>
                      <a:r>
                        <a:rPr lang="en-US" sz="1000" b="1" dirty="0"/>
                        <a:t>Artificial Intelligence and Machine Learning</a:t>
                      </a:r>
                      <a:endParaRPr lang="en-IN" sz="1000" b="1" dirty="0"/>
                    </a:p>
                  </a:txBody>
                  <a:tcPr marL="65698" marR="65698" marT="32849" marB="32849" anchor="ctr"/>
                </a:tc>
                <a:tc>
                  <a:txBody>
                    <a:bodyPr/>
                    <a:lstStyle/>
                    <a:p>
                      <a:r>
                        <a:rPr lang="en-US" sz="1000" dirty="0"/>
                        <a:t>OpenAI	</a:t>
                      </a:r>
                      <a:endParaRPr lang="en-IN" sz="1000" dirty="0"/>
                    </a:p>
                  </a:txBody>
                  <a:tcPr anchor="ctr"/>
                </a:tc>
                <a:tc>
                  <a:txBody>
                    <a:bodyPr/>
                    <a:lstStyle/>
                    <a:p>
                      <a:r>
                        <a:rPr lang="en-US" sz="1000" dirty="0"/>
                        <a:t>Advanced AI, machine learning algorithms</a:t>
                      </a:r>
                    </a:p>
                  </a:txBody>
                  <a:tcPr marL="65698" marR="65698" marT="32849" marB="32849" anchor="ctr"/>
                </a:tc>
                <a:extLst>
                  <a:ext uri="{0D108BD9-81ED-4DB2-BD59-A6C34878D82A}">
                    <a16:rowId xmlns:a16="http://schemas.microsoft.com/office/drawing/2014/main" val="1637877048"/>
                  </a:ext>
                </a:extLst>
              </a:tr>
              <a:tr h="372289">
                <a:tc>
                  <a:txBody>
                    <a:bodyPr/>
                    <a:lstStyle/>
                    <a:p>
                      <a:endParaRPr lang="en-IN" sz="1000" b="1" dirty="0"/>
                    </a:p>
                  </a:txBody>
                  <a:tcPr marL="65698" marR="65698" marT="32849" marB="32849" anchor="ctr"/>
                </a:tc>
                <a:tc>
                  <a:txBody>
                    <a:bodyPr/>
                    <a:lstStyle/>
                    <a:p>
                      <a:r>
                        <a:rPr lang="en-IN" sz="1000" dirty="0"/>
                        <a:t>DeepMind (Google)</a:t>
                      </a:r>
                    </a:p>
                  </a:txBody>
                  <a:tcPr marL="65698" marR="65698" marT="32849" marB="32849" anchor="ctr"/>
                </a:tc>
                <a:tc>
                  <a:txBody>
                    <a:bodyPr/>
                    <a:lstStyle/>
                    <a:p>
                      <a:r>
                        <a:rPr lang="en-US" sz="1000" dirty="0"/>
                        <a:t>AI research, machine learning, neural networks</a:t>
                      </a:r>
                      <a:endParaRPr lang="en-IN" sz="1000" dirty="0"/>
                    </a:p>
                  </a:txBody>
                  <a:tcPr marL="65698" marR="65698" marT="32849" marB="32849" anchor="ctr"/>
                </a:tc>
                <a:extLst>
                  <a:ext uri="{0D108BD9-81ED-4DB2-BD59-A6C34878D82A}">
                    <a16:rowId xmlns:a16="http://schemas.microsoft.com/office/drawing/2014/main" val="865614684"/>
                  </a:ext>
                </a:extLst>
              </a:tr>
              <a:tr h="372289">
                <a:tc>
                  <a:txBody>
                    <a:bodyPr/>
                    <a:lstStyle/>
                    <a:p>
                      <a:endParaRPr lang="en-IN" sz="1000" b="1"/>
                    </a:p>
                  </a:txBody>
                  <a:tcPr marL="65698" marR="65698" marT="32849" marB="32849" anchor="ctr"/>
                </a:tc>
                <a:tc>
                  <a:txBody>
                    <a:bodyPr/>
                    <a:lstStyle/>
                    <a:p>
                      <a:r>
                        <a:rPr lang="en-IN" sz="1000" dirty="0"/>
                        <a:t>NVIDIA</a:t>
                      </a:r>
                    </a:p>
                  </a:txBody>
                  <a:tcPr marL="65698" marR="65698" marT="32849" marB="32849" anchor="ctr"/>
                </a:tc>
                <a:tc>
                  <a:txBody>
                    <a:bodyPr/>
                    <a:lstStyle/>
                    <a:p>
                      <a:r>
                        <a:rPr lang="en-US" sz="1000" dirty="0"/>
                        <a:t>AI algorithms, machine learning, graphics processing</a:t>
                      </a:r>
                    </a:p>
                  </a:txBody>
                  <a:tcPr marL="65698" marR="65698" marT="32849" marB="32849" anchor="ctr"/>
                </a:tc>
                <a:extLst>
                  <a:ext uri="{0D108BD9-81ED-4DB2-BD59-A6C34878D82A}">
                    <a16:rowId xmlns:a16="http://schemas.microsoft.com/office/drawing/2014/main" val="7545214"/>
                  </a:ext>
                </a:extLst>
              </a:tr>
              <a:tr h="372289">
                <a:tc>
                  <a:txBody>
                    <a:bodyPr/>
                    <a:lstStyle/>
                    <a:p>
                      <a:r>
                        <a:rPr lang="en-IN" sz="1000" b="1" dirty="0"/>
                        <a:t>Startups and Innovative Companies</a:t>
                      </a:r>
                    </a:p>
                  </a:txBody>
                  <a:tcPr marL="65698" marR="65698" marT="32849" marB="32849" anchor="ctr"/>
                </a:tc>
                <a:tc>
                  <a:txBody>
                    <a:bodyPr/>
                    <a:lstStyle/>
                    <a:p>
                      <a:r>
                        <a:rPr lang="en-IN" sz="1000" dirty="0"/>
                        <a:t>Palantir</a:t>
                      </a:r>
                    </a:p>
                  </a:txBody>
                  <a:tcPr marL="65698" marR="65698" marT="32849" marB="32849" anchor="ctr"/>
                </a:tc>
                <a:tc>
                  <a:txBody>
                    <a:bodyPr/>
                    <a:lstStyle/>
                    <a:p>
                      <a:r>
                        <a:rPr lang="en-IN" sz="1000" dirty="0"/>
                        <a:t>Data integration, analytics</a:t>
                      </a:r>
                      <a:endParaRPr lang="it-IT" sz="1000" dirty="0"/>
                    </a:p>
                  </a:txBody>
                  <a:tcPr marL="65698" marR="65698" marT="32849" marB="32849" anchor="ctr"/>
                </a:tc>
                <a:extLst>
                  <a:ext uri="{0D108BD9-81ED-4DB2-BD59-A6C34878D82A}">
                    <a16:rowId xmlns:a16="http://schemas.microsoft.com/office/drawing/2014/main" val="2144389258"/>
                  </a:ext>
                </a:extLst>
              </a:tr>
              <a:tr h="372289">
                <a:tc>
                  <a:txBody>
                    <a:bodyPr/>
                    <a:lstStyle/>
                    <a:p>
                      <a:endParaRPr lang="en-IN" sz="1000" b="1" dirty="0"/>
                    </a:p>
                  </a:txBody>
                  <a:tcPr marL="65698" marR="65698" marT="32849" marB="32849" anchor="ctr"/>
                </a:tc>
                <a:tc>
                  <a:txBody>
                    <a:bodyPr/>
                    <a:lstStyle/>
                    <a:p>
                      <a:r>
                        <a:rPr lang="en-IN" sz="1000" dirty="0"/>
                        <a:t>Stripe</a:t>
                      </a:r>
                    </a:p>
                  </a:txBody>
                  <a:tcPr marL="65698" marR="65698" marT="32849" marB="32849" anchor="ctr"/>
                </a:tc>
                <a:tc>
                  <a:txBody>
                    <a:bodyPr/>
                    <a:lstStyle/>
                    <a:p>
                      <a:r>
                        <a:rPr lang="en-IN" sz="1000" dirty="0"/>
                        <a:t>Financial transactions, fraud detection</a:t>
                      </a:r>
                    </a:p>
                  </a:txBody>
                  <a:tcPr marL="65698" marR="65698" marT="32849" marB="32849" anchor="ctr"/>
                </a:tc>
                <a:extLst>
                  <a:ext uri="{0D108BD9-81ED-4DB2-BD59-A6C34878D82A}">
                    <a16:rowId xmlns:a16="http://schemas.microsoft.com/office/drawing/2014/main" val="3350977549"/>
                  </a:ext>
                </a:extLst>
              </a:tr>
              <a:tr h="372289">
                <a:tc>
                  <a:txBody>
                    <a:bodyPr/>
                    <a:lstStyle/>
                    <a:p>
                      <a:endParaRPr lang="en-IN" sz="1000" b="1" dirty="0"/>
                    </a:p>
                  </a:txBody>
                  <a:tcPr marL="65698" marR="65698" marT="32849" marB="32849" anchor="ctr"/>
                </a:tc>
                <a:tc>
                  <a:txBody>
                    <a:bodyPr/>
                    <a:lstStyle/>
                    <a:p>
                      <a:r>
                        <a:rPr lang="en-IN" sz="1000" dirty="0"/>
                        <a:t>Snowflake</a:t>
                      </a:r>
                    </a:p>
                  </a:txBody>
                  <a:tcPr marL="65698" marR="65698" marT="32849" marB="32849" anchor="ctr"/>
                </a:tc>
                <a:tc>
                  <a:txBody>
                    <a:bodyPr/>
                    <a:lstStyle/>
                    <a:p>
                      <a:r>
                        <a:rPr lang="en-IN" sz="1000" dirty="0"/>
                        <a:t>Data warehousing, cloud computing</a:t>
                      </a:r>
                    </a:p>
                  </a:txBody>
                  <a:tcPr marL="65698" marR="65698" marT="32849" marB="32849" anchor="ctr"/>
                </a:tc>
                <a:extLst>
                  <a:ext uri="{0D108BD9-81ED-4DB2-BD59-A6C34878D82A}">
                    <a16:rowId xmlns:a16="http://schemas.microsoft.com/office/drawing/2014/main" val="1337676696"/>
                  </a:ext>
                </a:extLst>
              </a:tr>
              <a:tr h="372289">
                <a:tc>
                  <a:txBody>
                    <a:bodyPr/>
                    <a:lstStyle/>
                    <a:p>
                      <a:r>
                        <a:rPr lang="en-IN" sz="1000" b="1" dirty="0"/>
                        <a:t>Telecommunications</a:t>
                      </a:r>
                    </a:p>
                  </a:txBody>
                  <a:tcPr marL="65698" marR="65698" marT="32849" marB="32849" anchor="ctr"/>
                </a:tc>
                <a:tc>
                  <a:txBody>
                    <a:bodyPr/>
                    <a:lstStyle/>
                    <a:p>
                      <a:r>
                        <a:rPr lang="en-IN" sz="1000" dirty="0"/>
                        <a:t>Qualcomm</a:t>
                      </a:r>
                    </a:p>
                  </a:txBody>
                  <a:tcPr marL="65698" marR="65698" marT="32849" marB="32849" anchor="ctr"/>
                </a:tc>
                <a:tc>
                  <a:txBody>
                    <a:bodyPr/>
                    <a:lstStyle/>
                    <a:p>
                      <a:r>
                        <a:rPr lang="en-IN" sz="1000" dirty="0"/>
                        <a:t>Communication systems, signal processing</a:t>
                      </a:r>
                    </a:p>
                  </a:txBody>
                  <a:tcPr marL="65698" marR="65698" marT="32849" marB="32849" anchor="ctr"/>
                </a:tc>
                <a:extLst>
                  <a:ext uri="{0D108BD9-81ED-4DB2-BD59-A6C34878D82A}">
                    <a16:rowId xmlns:a16="http://schemas.microsoft.com/office/drawing/2014/main" val="2406427283"/>
                  </a:ext>
                </a:extLst>
              </a:tr>
              <a:tr h="218994">
                <a:tc>
                  <a:txBody>
                    <a:bodyPr/>
                    <a:lstStyle/>
                    <a:p>
                      <a:endParaRPr lang="en-IN" sz="1000" dirty="0"/>
                    </a:p>
                  </a:txBody>
                  <a:tcPr marL="65698" marR="65698" marT="32849" marB="32849" anchor="ctr"/>
                </a:tc>
                <a:tc>
                  <a:txBody>
                    <a:bodyPr/>
                    <a:lstStyle/>
                    <a:p>
                      <a:r>
                        <a:rPr lang="en-IN" sz="1000" dirty="0"/>
                        <a:t>Ericsson</a:t>
                      </a:r>
                    </a:p>
                  </a:txBody>
                  <a:tcPr marL="65698" marR="65698" marT="32849" marB="32849" anchor="ctr"/>
                </a:tc>
                <a:tc>
                  <a:txBody>
                    <a:bodyPr/>
                    <a:lstStyle/>
                    <a:p>
                      <a:r>
                        <a:rPr lang="en-US" sz="1000" dirty="0"/>
                        <a:t>Network optimization, 5G technology, IoT</a:t>
                      </a:r>
                      <a:endParaRPr lang="en-IN" sz="1000" dirty="0"/>
                    </a:p>
                  </a:txBody>
                  <a:tcPr marL="65698" marR="65698" marT="32849" marB="32849" anchor="ctr"/>
                </a:tc>
                <a:extLst>
                  <a:ext uri="{0D108BD9-81ED-4DB2-BD59-A6C34878D82A}">
                    <a16:rowId xmlns:a16="http://schemas.microsoft.com/office/drawing/2014/main" val="496956191"/>
                  </a:ext>
                </a:extLst>
              </a:tr>
            </a:tbl>
          </a:graphicData>
        </a:graphic>
      </p:graphicFrame>
      <p:sp>
        <p:nvSpPr>
          <p:cNvPr id="2" name="Text Placeholder 1">
            <a:extLst>
              <a:ext uri="{FF2B5EF4-FFF2-40B4-BE49-F238E27FC236}">
                <a16:creationId xmlns:a16="http://schemas.microsoft.com/office/drawing/2014/main" id="{EDBBBB0D-6BA4-A8FE-FDF7-C2DC8AEB8C3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488397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a:extLst>
              <a:ext uri="{FF2B5EF4-FFF2-40B4-BE49-F238E27FC236}">
                <a16:creationId xmlns:a16="http://schemas.microsoft.com/office/drawing/2014/main" id="{D841C5DA-4325-437D-8BD7-2CE7190C513E}"/>
              </a:ext>
            </a:extLst>
          </p:cNvPr>
          <p:cNvGraphicFramePr>
            <a:graphicFrameLocks noGrp="1"/>
          </p:cNvGraphicFramePr>
          <p:nvPr>
            <p:extLst>
              <p:ext uri="{D42A27DB-BD31-4B8C-83A1-F6EECF244321}">
                <p14:modId xmlns:p14="http://schemas.microsoft.com/office/powerpoint/2010/main" val="3034649183"/>
              </p:ext>
            </p:extLst>
          </p:nvPr>
        </p:nvGraphicFramePr>
        <p:xfrm>
          <a:off x="1566472" y="1401673"/>
          <a:ext cx="6133010" cy="2132183"/>
        </p:xfrm>
        <a:graphic>
          <a:graphicData uri="http://schemas.openxmlformats.org/drawingml/2006/table">
            <a:tbl>
              <a:tblPr>
                <a:tableStyleId>{3C2FFA5D-87B4-456A-9821-1D502468CF0F}</a:tableStyleId>
              </a:tblPr>
              <a:tblGrid>
                <a:gridCol w="2051212">
                  <a:extLst>
                    <a:ext uri="{9D8B030D-6E8A-4147-A177-3AD203B41FA5}">
                      <a16:colId xmlns:a16="http://schemas.microsoft.com/office/drawing/2014/main" val="3864125023"/>
                    </a:ext>
                  </a:extLst>
                </a:gridCol>
                <a:gridCol w="2040899">
                  <a:extLst>
                    <a:ext uri="{9D8B030D-6E8A-4147-A177-3AD203B41FA5}">
                      <a16:colId xmlns:a16="http://schemas.microsoft.com/office/drawing/2014/main" val="2129523360"/>
                    </a:ext>
                  </a:extLst>
                </a:gridCol>
                <a:gridCol w="2040899">
                  <a:extLst>
                    <a:ext uri="{9D8B030D-6E8A-4147-A177-3AD203B41FA5}">
                      <a16:colId xmlns:a16="http://schemas.microsoft.com/office/drawing/2014/main" val="3209786341"/>
                    </a:ext>
                  </a:extLst>
                </a:gridCol>
              </a:tblGrid>
              <a:tr h="218994">
                <a:tc>
                  <a:txBody>
                    <a:bodyPr/>
                    <a:lstStyle/>
                    <a:p>
                      <a:r>
                        <a:rPr lang="en-IN" sz="1200" b="1" dirty="0"/>
                        <a:t>Industry</a:t>
                      </a:r>
                    </a:p>
                  </a:txBody>
                  <a:tcPr marL="65698" marR="65698" marT="32849" marB="32849" anchor="ctr"/>
                </a:tc>
                <a:tc>
                  <a:txBody>
                    <a:bodyPr/>
                    <a:lstStyle/>
                    <a:p>
                      <a:r>
                        <a:rPr lang="en-IN" sz="1200" b="1" dirty="0"/>
                        <a:t>Company</a:t>
                      </a:r>
                    </a:p>
                  </a:txBody>
                  <a:tcPr marL="65698" marR="65698" marT="32849" marB="32849" anchor="ctr"/>
                </a:tc>
                <a:tc>
                  <a:txBody>
                    <a:bodyPr/>
                    <a:lstStyle/>
                    <a:p>
                      <a:r>
                        <a:rPr lang="en-IN" sz="1200" b="1" dirty="0"/>
                        <a:t>Focus Areas</a:t>
                      </a:r>
                    </a:p>
                  </a:txBody>
                  <a:tcPr marL="65698" marR="65698" marT="32849" marB="32849" anchor="ctr"/>
                </a:tc>
                <a:extLst>
                  <a:ext uri="{0D108BD9-81ED-4DB2-BD59-A6C34878D82A}">
                    <a16:rowId xmlns:a16="http://schemas.microsoft.com/office/drawing/2014/main" val="3535593962"/>
                  </a:ext>
                </a:extLst>
              </a:tr>
              <a:tr h="372289">
                <a:tc>
                  <a:txBody>
                    <a:bodyPr/>
                    <a:lstStyle/>
                    <a:p>
                      <a:r>
                        <a:rPr lang="en-IN" sz="1000" b="1" dirty="0"/>
                        <a:t>Government and </a:t>
                      </a:r>
                      <a:r>
                        <a:rPr lang="en-IN" sz="1000" b="1" dirty="0" err="1"/>
                        <a:t>Defense</a:t>
                      </a:r>
                      <a:endParaRPr lang="en-IN" sz="1000" b="1" dirty="0"/>
                    </a:p>
                  </a:txBody>
                  <a:tcPr marL="65698" marR="65698" marT="32849" marB="32849" anchor="ctr"/>
                </a:tc>
                <a:tc>
                  <a:txBody>
                    <a:bodyPr/>
                    <a:lstStyle/>
                    <a:p>
                      <a:r>
                        <a:rPr lang="en-US" sz="1000" dirty="0"/>
                        <a:t>DARPA (Defense Advanced Research Projects Agency)</a:t>
                      </a:r>
                      <a:endParaRPr lang="en-IN" sz="1000" dirty="0"/>
                    </a:p>
                  </a:txBody>
                  <a:tcPr anchor="ctr"/>
                </a:tc>
                <a:tc>
                  <a:txBody>
                    <a:bodyPr/>
                    <a:lstStyle/>
                    <a:p>
                      <a:r>
                        <a:rPr lang="en-US" sz="1000" dirty="0"/>
                        <a:t>Advanced algorithms for defense and technology</a:t>
                      </a:r>
                    </a:p>
                  </a:txBody>
                  <a:tcPr marL="65698" marR="65698" marT="32849" marB="32849" anchor="ctr"/>
                </a:tc>
                <a:extLst>
                  <a:ext uri="{0D108BD9-81ED-4DB2-BD59-A6C34878D82A}">
                    <a16:rowId xmlns:a16="http://schemas.microsoft.com/office/drawing/2014/main" val="1637877048"/>
                  </a:ext>
                </a:extLst>
              </a:tr>
              <a:tr h="372289">
                <a:tc>
                  <a:txBody>
                    <a:bodyPr/>
                    <a:lstStyle/>
                    <a:p>
                      <a:endParaRPr lang="en-IN" sz="1000" b="1" dirty="0"/>
                    </a:p>
                  </a:txBody>
                  <a:tcPr marL="65698" marR="65698" marT="32849" marB="32849" anchor="ctr"/>
                </a:tc>
                <a:tc>
                  <a:txBody>
                    <a:bodyPr/>
                    <a:lstStyle/>
                    <a:p>
                      <a:r>
                        <a:rPr lang="en-IN" sz="1000" dirty="0"/>
                        <a:t>NASA</a:t>
                      </a:r>
                    </a:p>
                  </a:txBody>
                  <a:tcPr marL="65698" marR="65698" marT="32849" marB="32849" anchor="ctr"/>
                </a:tc>
                <a:tc>
                  <a:txBody>
                    <a:bodyPr/>
                    <a:lstStyle/>
                    <a:p>
                      <a:r>
                        <a:rPr lang="en-IN" sz="1000" dirty="0"/>
                        <a:t>Space exploration algorithms, data analysis</a:t>
                      </a:r>
                    </a:p>
                  </a:txBody>
                  <a:tcPr marL="65698" marR="65698" marT="32849" marB="32849" anchor="ctr"/>
                </a:tc>
                <a:extLst>
                  <a:ext uri="{0D108BD9-81ED-4DB2-BD59-A6C34878D82A}">
                    <a16:rowId xmlns:a16="http://schemas.microsoft.com/office/drawing/2014/main" val="865614684"/>
                  </a:ext>
                </a:extLst>
              </a:tr>
              <a:tr h="0">
                <a:tc>
                  <a:txBody>
                    <a:bodyPr/>
                    <a:lstStyle/>
                    <a:p>
                      <a:r>
                        <a:rPr lang="en-IN" sz="1000" b="1" dirty="0"/>
                        <a:t>Academia and Research Institutions</a:t>
                      </a:r>
                    </a:p>
                  </a:txBody>
                  <a:tcPr marL="65698" marR="65698" marT="32849" marB="32849" anchor="ctr"/>
                </a:tc>
                <a:tc>
                  <a:txBody>
                    <a:bodyPr/>
                    <a:lstStyle/>
                    <a:p>
                      <a:r>
                        <a:rPr lang="en-US" sz="1000" dirty="0"/>
                        <a:t>MIT (Massachusetts Institute of Technology)</a:t>
                      </a:r>
                      <a:endParaRPr lang="en-IN" sz="1000" dirty="0"/>
                    </a:p>
                  </a:txBody>
                  <a:tcPr marL="65698" marR="65698" marT="32849" marB="32849" anchor="ctr"/>
                </a:tc>
                <a:tc>
                  <a:txBody>
                    <a:bodyPr/>
                    <a:lstStyle/>
                    <a:p>
                      <a:r>
                        <a:rPr lang="en-US" sz="1000" dirty="0"/>
                        <a:t>Research in computer science and algorithms</a:t>
                      </a:r>
                    </a:p>
                  </a:txBody>
                  <a:tcPr marL="65698" marR="65698" marT="32849" marB="32849" anchor="ctr"/>
                </a:tc>
                <a:extLst>
                  <a:ext uri="{0D108BD9-81ED-4DB2-BD59-A6C34878D82A}">
                    <a16:rowId xmlns:a16="http://schemas.microsoft.com/office/drawing/2014/main" val="7545214"/>
                  </a:ext>
                </a:extLst>
              </a:tr>
              <a:tr h="372289">
                <a:tc>
                  <a:txBody>
                    <a:bodyPr/>
                    <a:lstStyle/>
                    <a:p>
                      <a:endParaRPr lang="en-IN" sz="1000" b="1" dirty="0"/>
                    </a:p>
                  </a:txBody>
                  <a:tcPr marL="65698" marR="65698" marT="32849" marB="32849" anchor="ctr"/>
                </a:tc>
                <a:tc>
                  <a:txBody>
                    <a:bodyPr/>
                    <a:lstStyle/>
                    <a:p>
                      <a:r>
                        <a:rPr lang="en-IN" sz="1000" dirty="0"/>
                        <a:t>Stanford University</a:t>
                      </a:r>
                    </a:p>
                  </a:txBody>
                  <a:tcPr marL="65698" marR="65698" marT="32849" marB="32849" anchor="ctr"/>
                </a:tc>
                <a:tc>
                  <a:txBody>
                    <a:bodyPr/>
                    <a:lstStyle/>
                    <a:p>
                      <a:r>
                        <a:rPr lang="en-US" sz="1000" dirty="0"/>
                        <a:t>Advanced algorithms, theoretical computer science</a:t>
                      </a:r>
                      <a:endParaRPr lang="it-IT" sz="1000" dirty="0"/>
                    </a:p>
                  </a:txBody>
                  <a:tcPr marL="65698" marR="65698" marT="32849" marB="32849" anchor="ctr"/>
                </a:tc>
                <a:extLst>
                  <a:ext uri="{0D108BD9-81ED-4DB2-BD59-A6C34878D82A}">
                    <a16:rowId xmlns:a16="http://schemas.microsoft.com/office/drawing/2014/main" val="2144389258"/>
                  </a:ext>
                </a:extLst>
              </a:tr>
              <a:tr h="372289">
                <a:tc>
                  <a:txBody>
                    <a:bodyPr/>
                    <a:lstStyle/>
                    <a:p>
                      <a:endParaRPr lang="en-IN" sz="1000" b="1" dirty="0"/>
                    </a:p>
                  </a:txBody>
                  <a:tcPr marL="65698" marR="65698" marT="32849" marB="32849" anchor="ctr"/>
                </a:tc>
                <a:tc>
                  <a:txBody>
                    <a:bodyPr/>
                    <a:lstStyle/>
                    <a:p>
                      <a:r>
                        <a:rPr lang="en-IN" sz="1000" dirty="0"/>
                        <a:t>Carnegie Mellon University</a:t>
                      </a:r>
                    </a:p>
                  </a:txBody>
                  <a:tcPr marL="65698" marR="65698" marT="32849" marB="32849" anchor="ctr"/>
                </a:tc>
                <a:tc>
                  <a:txBody>
                    <a:bodyPr/>
                    <a:lstStyle/>
                    <a:p>
                      <a:r>
                        <a:rPr lang="en-IN" sz="1000" dirty="0"/>
                        <a:t>Algorithms research, AI development</a:t>
                      </a:r>
                    </a:p>
                  </a:txBody>
                  <a:tcPr marL="65698" marR="65698" marT="32849" marB="32849" anchor="ctr"/>
                </a:tc>
                <a:extLst>
                  <a:ext uri="{0D108BD9-81ED-4DB2-BD59-A6C34878D82A}">
                    <a16:rowId xmlns:a16="http://schemas.microsoft.com/office/drawing/2014/main" val="3350977549"/>
                  </a:ext>
                </a:extLst>
              </a:tr>
            </a:tbl>
          </a:graphicData>
        </a:graphic>
      </p:graphicFrame>
      <p:sp>
        <p:nvSpPr>
          <p:cNvPr id="4" name="Text Placeholder 3">
            <a:extLst>
              <a:ext uri="{FF2B5EF4-FFF2-40B4-BE49-F238E27FC236}">
                <a16:creationId xmlns:a16="http://schemas.microsoft.com/office/drawing/2014/main" id="{040BB599-A6E7-9347-31FD-34FB0985237D}"/>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3108756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extLst>
              <p:ext uri="{D42A27DB-BD31-4B8C-83A1-F6EECF244321}">
                <p14:modId xmlns:p14="http://schemas.microsoft.com/office/powerpoint/2010/main" val="450480928"/>
              </p:ext>
            </p:extLst>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4" name="Google Shape;284;p4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200" b="1" dirty="0"/>
              <a:t>Algorithm Design and Problem Solving</a:t>
            </a:r>
            <a:endParaRPr lang="en-US" sz="1200" dirty="0"/>
          </a:p>
          <a:p>
            <a:pPr>
              <a:buFont typeface="Arial" panose="020B0604020202020204" pitchFamily="34" charset="0"/>
              <a:buChar char="•"/>
            </a:pPr>
            <a:r>
              <a:rPr lang="en-US" sz="1200" dirty="0"/>
              <a:t>Design an algorithm to find the longest palindromic substring in a given string.</a:t>
            </a:r>
          </a:p>
          <a:p>
            <a:pPr>
              <a:buFont typeface="Arial" panose="020B0604020202020204" pitchFamily="34" charset="0"/>
              <a:buChar char="•"/>
            </a:pPr>
            <a:r>
              <a:rPr lang="en-US" sz="1200" dirty="0"/>
              <a:t>How would you implement a function to merge two sorted linked lists?</a:t>
            </a:r>
          </a:p>
          <a:p>
            <a:pPr>
              <a:buFont typeface="Arial" panose="020B0604020202020204" pitchFamily="34" charset="0"/>
              <a:buChar char="•"/>
            </a:pPr>
            <a:r>
              <a:rPr lang="en-US" sz="1200" dirty="0"/>
              <a:t>Describe an algorithm to solve the "Traveling Salesman Problem" using dynamic programming.</a:t>
            </a:r>
          </a:p>
          <a:p>
            <a:pPr>
              <a:buFont typeface="Arial" panose="020B0604020202020204" pitchFamily="34" charset="0"/>
              <a:buChar char="•"/>
            </a:pPr>
            <a:r>
              <a:rPr lang="en-US" sz="1200" dirty="0"/>
              <a:t>Design an algorithm to find the kth largest element in an unsorted array.</a:t>
            </a:r>
          </a:p>
          <a:p>
            <a:pPr>
              <a:buFont typeface="Arial" panose="020B0604020202020204" pitchFamily="34" charset="0"/>
              <a:buChar char="•"/>
            </a:pPr>
            <a:r>
              <a:rPr lang="en-US" sz="1200" dirty="0"/>
              <a:t>How would you detect a cycle in a directed graph?</a:t>
            </a:r>
          </a:p>
          <a:p>
            <a:pPr marL="76200" indent="0">
              <a:buNone/>
            </a:pPr>
            <a:r>
              <a:rPr lang="en-US" sz="1200" b="1" dirty="0"/>
              <a:t>Data Structures</a:t>
            </a:r>
            <a:endParaRPr lang="en-US" sz="1200" dirty="0"/>
          </a:p>
          <a:p>
            <a:pPr>
              <a:buFont typeface="Arial" panose="020B0604020202020204" pitchFamily="34" charset="0"/>
              <a:buChar char="•"/>
            </a:pPr>
            <a:r>
              <a:rPr lang="en-US" sz="1200" dirty="0"/>
              <a:t>Explain how a hash table works and how you would handle collisions.</a:t>
            </a:r>
          </a:p>
          <a:p>
            <a:pPr>
              <a:buFont typeface="Arial" panose="020B0604020202020204" pitchFamily="34" charset="0"/>
              <a:buChar char="•"/>
            </a:pPr>
            <a:r>
              <a:rPr lang="en-US" sz="1200" dirty="0"/>
              <a:t>Implement a binary search tree and write a function to find its height.</a:t>
            </a:r>
          </a:p>
          <a:p>
            <a:pPr>
              <a:buFont typeface="Arial" panose="020B0604020202020204" pitchFamily="34" charset="0"/>
              <a:buChar char="•"/>
            </a:pPr>
            <a:r>
              <a:rPr lang="en-US" sz="1200" dirty="0"/>
              <a:t>Describe the differences between a stack and a queue. Provide examples of when to use each.</a:t>
            </a:r>
          </a:p>
          <a:p>
            <a:pPr>
              <a:buFont typeface="Arial" panose="020B0604020202020204" pitchFamily="34" charset="0"/>
              <a:buChar char="•"/>
            </a:pPr>
            <a:r>
              <a:rPr lang="en-US" sz="1200" dirty="0"/>
              <a:t>Implement a priority queue using a heap.</a:t>
            </a:r>
          </a:p>
          <a:p>
            <a:pPr>
              <a:buFont typeface="Arial" panose="020B0604020202020204" pitchFamily="34" charset="0"/>
              <a:buChar char="•"/>
            </a:pPr>
            <a:r>
              <a:rPr lang="en-US" sz="1200" dirty="0"/>
              <a:t>What is a </a:t>
            </a:r>
            <a:r>
              <a:rPr lang="en-US" sz="1200" dirty="0" err="1"/>
              <a:t>trie</a:t>
            </a:r>
            <a:r>
              <a:rPr lang="en-US" sz="1200" dirty="0"/>
              <a:t> and how would you use it to implement an autocomplete feature?</a:t>
            </a:r>
          </a:p>
          <a:p>
            <a:pPr marL="342900" marR="0" lvl="0" indent="-203200" algn="l" rtl="0">
              <a:spcBef>
                <a:spcPts val="440"/>
              </a:spcBef>
              <a:spcAft>
                <a:spcPts val="0"/>
              </a:spcAft>
              <a:buClr>
                <a:schemeClr val="dk1"/>
              </a:buClr>
              <a:buSzPts val="2200"/>
              <a:buFont typeface="Arial"/>
              <a:buNone/>
            </a:pPr>
            <a:endParaRPr sz="16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5051697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4" name="Google Shape;284;p4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200" b="1" dirty="0"/>
              <a:t>Complexity Analysis</a:t>
            </a:r>
            <a:endParaRPr lang="en-US" sz="1200" dirty="0"/>
          </a:p>
          <a:p>
            <a:pPr>
              <a:buFont typeface="Arial" panose="020B0604020202020204" pitchFamily="34" charset="0"/>
              <a:buChar char="•"/>
            </a:pPr>
            <a:r>
              <a:rPr lang="en-US" sz="1200" dirty="0"/>
              <a:t>Explain the time complexity of binary search.</a:t>
            </a:r>
          </a:p>
          <a:p>
            <a:pPr>
              <a:buFont typeface="Arial" panose="020B0604020202020204" pitchFamily="34" charset="0"/>
              <a:buChar char="•"/>
            </a:pPr>
            <a:r>
              <a:rPr lang="en-US" sz="1200" dirty="0"/>
              <a:t>Compare and contrast the time complexities of </a:t>
            </a:r>
            <a:r>
              <a:rPr lang="en-US" sz="1200" dirty="0" err="1"/>
              <a:t>QuickSort</a:t>
            </a:r>
            <a:r>
              <a:rPr lang="en-US" sz="1200" dirty="0"/>
              <a:t> and </a:t>
            </a:r>
            <a:r>
              <a:rPr lang="en-US" sz="1200" dirty="0" err="1"/>
              <a:t>MergeSort</a:t>
            </a:r>
            <a:r>
              <a:rPr lang="en-US" sz="1200" dirty="0"/>
              <a:t>.</a:t>
            </a:r>
          </a:p>
          <a:p>
            <a:pPr>
              <a:buFont typeface="Arial" panose="020B0604020202020204" pitchFamily="34" charset="0"/>
              <a:buChar char="•"/>
            </a:pPr>
            <a:r>
              <a:rPr lang="en-US" sz="1200" dirty="0"/>
              <a:t>What is the space complexity of an in-place sorting algorithm?</a:t>
            </a:r>
          </a:p>
          <a:p>
            <a:pPr>
              <a:buFont typeface="Arial" panose="020B0604020202020204" pitchFamily="34" charset="0"/>
              <a:buChar char="•"/>
            </a:pPr>
            <a:r>
              <a:rPr lang="en-US" sz="1200" dirty="0"/>
              <a:t>How would you optimize an algorithm with exponential time complexity?</a:t>
            </a:r>
          </a:p>
          <a:p>
            <a:pPr>
              <a:buFont typeface="Arial" panose="020B0604020202020204" pitchFamily="34" charset="0"/>
              <a:buChar char="•"/>
            </a:pPr>
            <a:r>
              <a:rPr lang="en-US" sz="1200" dirty="0"/>
              <a:t>Analyze the time complexity of Dijkstra’s algorithm.</a:t>
            </a:r>
          </a:p>
          <a:p>
            <a:pPr marL="342900" marR="0" lvl="0" indent="-203200" algn="l" rtl="0">
              <a:spcBef>
                <a:spcPts val="440"/>
              </a:spcBef>
              <a:spcAft>
                <a:spcPts val="0"/>
              </a:spcAft>
              <a:buClr>
                <a:schemeClr val="dk1"/>
              </a:buClr>
              <a:buSzPts val="2200"/>
              <a:buFont typeface="Arial"/>
              <a:buNone/>
            </a:pPr>
            <a:endParaRPr sz="16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705738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4" name="Google Shape;284;p4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200" b="1" dirty="0"/>
              <a:t>Conceptual Questions</a:t>
            </a:r>
          </a:p>
          <a:p>
            <a:pPr marL="76200" indent="0">
              <a:buNone/>
            </a:pPr>
            <a:r>
              <a:rPr lang="en-US" sz="1200" b="1" dirty="0"/>
              <a:t>Algorithm Paradigms</a:t>
            </a:r>
            <a:endParaRPr lang="en-US" sz="1200" dirty="0"/>
          </a:p>
          <a:p>
            <a:pPr marL="171450" indent="-171450"/>
            <a:r>
              <a:rPr lang="en-US" sz="1200" dirty="0"/>
              <a:t>Describe the difference between dynamic programming and greedy algorithms. Provide an example where each is appropriate.</a:t>
            </a:r>
          </a:p>
          <a:p>
            <a:pPr marL="171450" indent="-171450"/>
            <a:r>
              <a:rPr lang="en-US" sz="1200" dirty="0"/>
              <a:t>Explain the concept of divide and conquer. How is it used in the </a:t>
            </a:r>
            <a:r>
              <a:rPr lang="en-US" sz="1200" dirty="0" err="1"/>
              <a:t>MergeSort</a:t>
            </a:r>
            <a:r>
              <a:rPr lang="en-US" sz="1200" dirty="0"/>
              <a:t> algorithm?</a:t>
            </a:r>
          </a:p>
          <a:p>
            <a:pPr marL="171450" indent="-171450"/>
            <a:r>
              <a:rPr lang="en-US" sz="1200" dirty="0"/>
              <a:t>What is backtracking and in which scenarios is it useful?</a:t>
            </a:r>
          </a:p>
          <a:p>
            <a:pPr marL="171450" indent="-171450"/>
            <a:r>
              <a:rPr lang="en-US" sz="1200" dirty="0"/>
              <a:t>Discuss the use of </a:t>
            </a:r>
            <a:r>
              <a:rPr lang="en-US" sz="1200" dirty="0" err="1"/>
              <a:t>memoization</a:t>
            </a:r>
            <a:r>
              <a:rPr lang="en-US" sz="1200" dirty="0"/>
              <a:t> in dynamic programming.</a:t>
            </a:r>
          </a:p>
          <a:p>
            <a:pPr marL="171450" indent="-171450"/>
            <a:r>
              <a:rPr lang="en-US" sz="1200" dirty="0"/>
              <a:t>What are NP-complete problems and why are they important?</a:t>
            </a:r>
          </a:p>
          <a:p>
            <a:pPr marL="139700" indent="0">
              <a:spcBef>
                <a:spcPts val="440"/>
              </a:spcBef>
              <a:buSzPts val="2200"/>
              <a:buNone/>
            </a:pPr>
            <a:endParaRPr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6317237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4" name="Google Shape;284;p4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200" b="1" dirty="0"/>
              <a:t>Graph Algorithms</a:t>
            </a:r>
            <a:endParaRPr lang="en-US" sz="1200" dirty="0"/>
          </a:p>
          <a:p>
            <a:pPr>
              <a:buFont typeface="Arial" panose="020B0604020202020204" pitchFamily="34" charset="0"/>
              <a:buChar char="•"/>
            </a:pPr>
            <a:r>
              <a:rPr lang="en-US" sz="1200" dirty="0"/>
              <a:t>How does Breadth-First Search (BFS) differ from Depth-First Search (DFS)?</a:t>
            </a:r>
          </a:p>
          <a:p>
            <a:pPr>
              <a:buFont typeface="Arial" panose="020B0604020202020204" pitchFamily="34" charset="0"/>
              <a:buChar char="•"/>
            </a:pPr>
            <a:r>
              <a:rPr lang="en-US" sz="1200" dirty="0"/>
              <a:t>Describe how to find the shortest path in a weighted graph.</a:t>
            </a:r>
          </a:p>
          <a:p>
            <a:pPr>
              <a:buFont typeface="Arial" panose="020B0604020202020204" pitchFamily="34" charset="0"/>
              <a:buChar char="•"/>
            </a:pPr>
            <a:r>
              <a:rPr lang="en-US" sz="1200" dirty="0"/>
              <a:t>Explain the concept of a minimum spanning tree and how you would find it.</a:t>
            </a:r>
          </a:p>
          <a:p>
            <a:pPr>
              <a:buFont typeface="Arial" panose="020B0604020202020204" pitchFamily="34" charset="0"/>
              <a:buChar char="•"/>
            </a:pPr>
            <a:r>
              <a:rPr lang="en-US" sz="1200" dirty="0"/>
              <a:t>What is topological sorting and in what kind of problems is it useful?</a:t>
            </a:r>
          </a:p>
          <a:p>
            <a:pPr>
              <a:buFont typeface="Arial" panose="020B0604020202020204" pitchFamily="34" charset="0"/>
              <a:buChar char="•"/>
            </a:pPr>
            <a:r>
              <a:rPr lang="en-US" sz="1200" dirty="0"/>
              <a:t>How would you detect and handle negative cycles in a graph?</a:t>
            </a:r>
          </a:p>
          <a:p>
            <a:pPr>
              <a:buFont typeface="Arial" panose="020B0604020202020204" pitchFamily="34" charset="0"/>
              <a:buChar char="•"/>
            </a:pPr>
            <a:endParaRPr lang="en-US" sz="1200" dirty="0"/>
          </a:p>
          <a:p>
            <a:pPr marL="76200" indent="0">
              <a:buNone/>
            </a:pPr>
            <a:r>
              <a:rPr lang="en-US" sz="1200" b="1" dirty="0"/>
              <a:t>Sorting and Searching</a:t>
            </a:r>
            <a:endParaRPr lang="en-US" sz="1200" dirty="0"/>
          </a:p>
          <a:p>
            <a:pPr>
              <a:buFont typeface="Arial" panose="020B0604020202020204" pitchFamily="34" charset="0"/>
              <a:buChar char="•"/>
            </a:pPr>
            <a:r>
              <a:rPr lang="en-US" sz="1200" dirty="0"/>
              <a:t>What are the advantages and disadvantages of </a:t>
            </a:r>
            <a:r>
              <a:rPr lang="en-US" sz="1200" dirty="0" err="1"/>
              <a:t>QuickSort</a:t>
            </a:r>
            <a:r>
              <a:rPr lang="en-US" sz="1200" dirty="0"/>
              <a:t>?</a:t>
            </a:r>
          </a:p>
          <a:p>
            <a:pPr>
              <a:buFont typeface="Arial" panose="020B0604020202020204" pitchFamily="34" charset="0"/>
              <a:buChar char="•"/>
            </a:pPr>
            <a:r>
              <a:rPr lang="en-US" sz="1200" dirty="0"/>
              <a:t>How does binary search work and what are its limitations?</a:t>
            </a:r>
          </a:p>
          <a:p>
            <a:pPr>
              <a:buFont typeface="Arial" panose="020B0604020202020204" pitchFamily="34" charset="0"/>
              <a:buChar char="•"/>
            </a:pPr>
            <a:r>
              <a:rPr lang="en-US" sz="1200" dirty="0"/>
              <a:t>Explain how you would implement a search algorithm for a rotated sorted array.</a:t>
            </a:r>
          </a:p>
          <a:p>
            <a:pPr>
              <a:buFont typeface="Arial" panose="020B0604020202020204" pitchFamily="34" charset="0"/>
              <a:buChar char="•"/>
            </a:pPr>
            <a:r>
              <a:rPr lang="en-US" sz="1200" dirty="0"/>
              <a:t>Describe how radix sort works and in which scenarios it is useful.</a:t>
            </a:r>
          </a:p>
          <a:p>
            <a:pPr>
              <a:buFont typeface="Arial" panose="020B0604020202020204" pitchFamily="34" charset="0"/>
              <a:buChar char="•"/>
            </a:pPr>
            <a:r>
              <a:rPr lang="en-US" sz="1200" dirty="0"/>
              <a:t>How do you find the median of two sorted arrays?</a:t>
            </a:r>
          </a:p>
          <a:p>
            <a:pPr>
              <a:buFont typeface="Arial" panose="020B0604020202020204" pitchFamily="34" charset="0"/>
              <a:buChar char="•"/>
            </a:pPr>
            <a:endParaRPr lang="en-US" sz="1200" dirty="0"/>
          </a:p>
          <a:p>
            <a:pPr marL="342900" marR="0" lvl="0" indent="-203200" algn="l" rtl="0">
              <a:spcBef>
                <a:spcPts val="440"/>
              </a:spcBef>
              <a:spcAft>
                <a:spcPts val="0"/>
              </a:spcAft>
              <a:buClr>
                <a:schemeClr val="dk1"/>
              </a:buClr>
              <a:buSzPts val="2200"/>
              <a:buFont typeface="Arial"/>
              <a:buNone/>
            </a:pPr>
            <a:endParaRPr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5713469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4" name="Google Shape;284;p4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200" b="1" dirty="0"/>
              <a:t>Practical Coding Questions</a:t>
            </a:r>
          </a:p>
          <a:p>
            <a:pPr marL="76200" indent="0">
              <a:buNone/>
            </a:pPr>
            <a:r>
              <a:rPr lang="en-US" sz="1200" b="1" dirty="0"/>
              <a:t>Implementation and Optimization</a:t>
            </a:r>
            <a:endParaRPr lang="en-US" sz="1200" dirty="0"/>
          </a:p>
          <a:p>
            <a:pPr marL="171450" indent="-171450"/>
            <a:r>
              <a:rPr lang="en-US" sz="1200" dirty="0"/>
              <a:t>Write a function to reverse a linked list.</a:t>
            </a:r>
          </a:p>
          <a:p>
            <a:pPr marL="171450" indent="-171450"/>
            <a:r>
              <a:rPr lang="en-US" sz="1200" dirty="0"/>
              <a:t>Implement the Fibonacci sequence using dynamic programming.</a:t>
            </a:r>
          </a:p>
          <a:p>
            <a:pPr marL="171450" indent="-171450"/>
            <a:r>
              <a:rPr lang="en-US" sz="1200" dirty="0"/>
              <a:t>Write a program to find the longest common subsequence of two strings.</a:t>
            </a:r>
          </a:p>
          <a:p>
            <a:pPr marL="171450" indent="-171450"/>
            <a:r>
              <a:rPr lang="en-US" sz="1200" dirty="0"/>
              <a:t>Implement an algorithm to check if a string contains all unique characters.</a:t>
            </a:r>
          </a:p>
          <a:p>
            <a:pPr marL="171450" indent="-171450"/>
            <a:r>
              <a:rPr lang="en-US" sz="1200" dirty="0"/>
              <a:t>Write a function to perform matrix multiplication.</a:t>
            </a:r>
          </a:p>
          <a:p>
            <a:pPr marL="0" indent="0">
              <a:buNone/>
            </a:pPr>
            <a:endParaRPr lang="en-US" sz="1200" dirty="0"/>
          </a:p>
          <a:p>
            <a:pPr marL="76200" indent="0">
              <a:buNone/>
            </a:pPr>
            <a:r>
              <a:rPr lang="en-US" sz="1200" b="1" dirty="0"/>
              <a:t>Real-World Scenarios</a:t>
            </a:r>
            <a:endParaRPr lang="en-US" sz="1200" dirty="0"/>
          </a:p>
          <a:p>
            <a:pPr marL="171450" indent="-171450"/>
            <a:r>
              <a:rPr lang="en-US" sz="1200" dirty="0"/>
              <a:t>Design a recommendation system algorithm.</a:t>
            </a:r>
          </a:p>
          <a:p>
            <a:pPr marL="171450" indent="-171450"/>
            <a:r>
              <a:rPr lang="en-US" sz="1200" dirty="0"/>
              <a:t>Implement a cache system using LRU (Least Recently Used) policy.</a:t>
            </a:r>
          </a:p>
          <a:p>
            <a:pPr marL="171450" indent="-171450"/>
            <a:r>
              <a:rPr lang="en-US" sz="1200" dirty="0"/>
              <a:t>Write an algorithm to balance a binary search tree.</a:t>
            </a:r>
          </a:p>
          <a:p>
            <a:pPr marL="171450" indent="-171450"/>
            <a:r>
              <a:rPr lang="en-US" sz="1200" dirty="0"/>
              <a:t>Design an algorithm to solve the knapsack problem.</a:t>
            </a:r>
          </a:p>
          <a:p>
            <a:pPr marL="171450" indent="-171450"/>
            <a:r>
              <a:rPr lang="en-US" sz="1200" dirty="0"/>
              <a:t>How would you design a URL shortening service like bit.ly?</a:t>
            </a:r>
          </a:p>
          <a:p>
            <a:pPr marL="311150" indent="-171450">
              <a:spcBef>
                <a:spcPts val="440"/>
              </a:spcBef>
              <a:buSzPts val="2200"/>
            </a:pPr>
            <a:endParaRPr sz="12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81360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4" name="Google Shape;284;p4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400" b="1" dirty="0"/>
              <a:t>Behavioral Questions</a:t>
            </a:r>
          </a:p>
          <a:p>
            <a:pPr marL="76200" indent="0">
              <a:buNone/>
            </a:pPr>
            <a:r>
              <a:rPr lang="en-US" sz="1400" b="1" dirty="0"/>
              <a:t>Teamwork and Collaboration</a:t>
            </a:r>
            <a:endParaRPr lang="en-US" sz="1400" dirty="0"/>
          </a:p>
          <a:p>
            <a:pPr marL="171450" indent="-171450"/>
            <a:r>
              <a:rPr lang="en-US" sz="1400" dirty="0"/>
              <a:t>Describe a time when you worked on a team project. How did you ensure that the algorithmic solutions were effective?</a:t>
            </a:r>
          </a:p>
          <a:p>
            <a:pPr marL="171450" indent="-171450"/>
            <a:r>
              <a:rPr lang="en-US" sz="1400" dirty="0"/>
              <a:t>How do you handle disagreements when collaborating on algorithm design?</a:t>
            </a:r>
          </a:p>
          <a:p>
            <a:pPr marL="171450" indent="-171450"/>
            <a:r>
              <a:rPr lang="en-US" sz="1400" dirty="0"/>
              <a:t>Explain a situation where you had to optimize an existing algorithm. What approach did you take?</a:t>
            </a:r>
          </a:p>
          <a:p>
            <a:pPr marL="0" indent="0">
              <a:buNone/>
            </a:pPr>
            <a:endParaRPr lang="en-US" sz="1400" dirty="0"/>
          </a:p>
          <a:p>
            <a:pPr marL="0" indent="0">
              <a:buNone/>
            </a:pPr>
            <a:r>
              <a:rPr lang="en-US" sz="1400" b="1" dirty="0"/>
              <a:t>Problem-Solving Approach</a:t>
            </a:r>
            <a:endParaRPr lang="en-US" sz="1400" dirty="0"/>
          </a:p>
          <a:p>
            <a:pPr marL="171450" indent="-171450"/>
            <a:r>
              <a:rPr lang="en-US" sz="1400" dirty="0"/>
              <a:t>Describe your approach to solving a complex algorithmic problem.</a:t>
            </a:r>
          </a:p>
          <a:p>
            <a:pPr marL="171450" indent="-171450"/>
            <a:r>
              <a:rPr lang="en-US" sz="1400" dirty="0"/>
              <a:t>How do you stay current with the latest developments in algorithms and data structures?</a:t>
            </a:r>
          </a:p>
          <a:p>
            <a:pPr marL="171450" indent="-171450"/>
            <a:r>
              <a:rPr lang="en-US" sz="1400" dirty="0"/>
              <a:t>Can you give an example of a particularly challenging algorithmic problem you’ve solved? How did you approach it?</a:t>
            </a:r>
          </a:p>
          <a:p>
            <a:pPr marL="139700" indent="0">
              <a:spcBef>
                <a:spcPts val="440"/>
              </a:spcBef>
              <a:buSzPts val="2200"/>
              <a:buNone/>
            </a:pPr>
            <a:endParaRPr sz="14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40922460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63EEBB6-2195-2F48-4941-903FAF4D5BEE}"/>
              </a:ext>
            </a:extLst>
          </p:cNvPr>
          <p:cNvGraphicFramePr/>
          <p:nvPr/>
        </p:nvGraphicFramePr>
        <p:xfrm>
          <a:off x="2481943" y="512351"/>
          <a:ext cx="5056874" cy="45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4" name="Google Shape;284;p4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76200" indent="0">
              <a:buNone/>
            </a:pPr>
            <a:r>
              <a:rPr lang="en-US" sz="1400" b="1" dirty="0"/>
              <a:t>Project Experience</a:t>
            </a:r>
            <a:endParaRPr lang="en-US" sz="1400" dirty="0"/>
          </a:p>
          <a:p>
            <a:pPr marL="171450" indent="-171450"/>
            <a:r>
              <a:rPr lang="en-US" sz="1400" dirty="0"/>
              <a:t>Discuss a project where you applied your knowledge of algorithms and data structures.</a:t>
            </a:r>
          </a:p>
          <a:p>
            <a:pPr marL="171450" indent="-171450"/>
            <a:r>
              <a:rPr lang="en-US" sz="1400" dirty="0"/>
              <a:t>What is the most complex algorithm you’ve implemented in a project, and what was its purpose?</a:t>
            </a:r>
          </a:p>
          <a:p>
            <a:pPr marL="171450" indent="-171450"/>
            <a:r>
              <a:rPr lang="en-US" sz="1400" dirty="0"/>
              <a:t>Describe a scenario where you had to choose between multiple algorithmic solutions. How did you make your decision?</a:t>
            </a:r>
          </a:p>
          <a:p>
            <a:pPr marL="342900" marR="0" lvl="0" indent="-203200" algn="l" rtl="0">
              <a:spcBef>
                <a:spcPts val="440"/>
              </a:spcBef>
              <a:spcAft>
                <a:spcPts val="0"/>
              </a:spcAft>
              <a:buClr>
                <a:schemeClr val="dk1"/>
              </a:buClr>
              <a:buSzPts val="2200"/>
              <a:buFont typeface="Arial"/>
              <a:buNone/>
            </a:pPr>
            <a:endParaRPr sz="1400" b="0" i="0" u="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20890468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6" name="Google Shape;296;p42"/>
          <p:cNvSpPr/>
          <p:nvPr/>
        </p:nvSpPr>
        <p:spPr>
          <a:xfrm>
            <a:off x="384708" y="2143556"/>
            <a:ext cx="1822847" cy="241935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sp>
        <p:nvSpPr>
          <p:cNvPr id="297" name="Google Shape;297;p42"/>
          <p:cNvSpPr/>
          <p:nvPr/>
        </p:nvSpPr>
        <p:spPr>
          <a:xfrm>
            <a:off x="813889" y="2165381"/>
            <a:ext cx="1822847" cy="241935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sp>
        <p:nvSpPr>
          <p:cNvPr id="3" name="Google Shape;113;p2">
            <a:extLst>
              <a:ext uri="{FF2B5EF4-FFF2-40B4-BE49-F238E27FC236}">
                <a16:creationId xmlns:a16="http://schemas.microsoft.com/office/drawing/2014/main" id="{16C59C2F-D0C7-1EC1-99A1-21CA1C321544}"/>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4" name="Text Placeholder 3">
            <a:extLst>
              <a:ext uri="{FF2B5EF4-FFF2-40B4-BE49-F238E27FC236}">
                <a16:creationId xmlns:a16="http://schemas.microsoft.com/office/drawing/2014/main" id="{55455076-C9B6-5A2C-9FB6-ACF698924285}"/>
              </a:ext>
            </a:extLst>
          </p:cNvPr>
          <p:cNvSpPr>
            <a:spLocks noGrp="1"/>
          </p:cNvSpPr>
          <p:nvPr>
            <p:ph type="body" idx="1"/>
          </p:nvPr>
        </p:nvSpPr>
        <p:spPr/>
        <p:txBody>
          <a:bodyPr/>
          <a:lstStyle/>
          <a:p>
            <a:endParaRPr lang="en-IN"/>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1096</TotalTime>
  <Words>8149</Words>
  <Application>Microsoft Office PowerPoint</Application>
  <PresentationFormat>On-screen Show (16:9)</PresentationFormat>
  <Paragraphs>1123</Paragraphs>
  <Slides>79</Slides>
  <Notes>76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79</vt:i4>
      </vt:variant>
    </vt:vector>
  </HeadingPairs>
  <TitlesOfParts>
    <vt:vector size="90" baseType="lpstr">
      <vt:lpstr>Arial</vt:lpstr>
      <vt:lpstr>Calibri</vt:lpstr>
      <vt:lpstr>Raleway</vt:lpstr>
      <vt:lpstr>Segoe UI</vt:lpstr>
      <vt:lpstr>Cambria</vt:lpstr>
      <vt:lpstr>Lato</vt:lpstr>
      <vt:lpstr>Vladimir Script</vt:lpstr>
      <vt:lpstr>Arial Black</vt:lpstr>
      <vt:lpstr>Times New Roman</vt:lpstr>
      <vt:lpstr>Symbol</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9th Experiment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Richa Dhiman</cp:lastModifiedBy>
  <cp:revision>238</cp:revision>
  <dcterms:modified xsi:type="dcterms:W3CDTF">2025-07-15T09:24:38Z</dcterms:modified>
</cp:coreProperties>
</file>