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1"/>
  </p:notesMasterIdLst>
  <p:sldIdLst>
    <p:sldId id="256" r:id="rId2"/>
    <p:sldId id="312" r:id="rId3"/>
    <p:sldId id="284" r:id="rId4"/>
    <p:sldId id="314" r:id="rId5"/>
    <p:sldId id="315" r:id="rId6"/>
    <p:sldId id="317" r:id="rId7"/>
    <p:sldId id="318" r:id="rId8"/>
    <p:sldId id="319" r:id="rId9"/>
    <p:sldId id="337" r:id="rId10"/>
    <p:sldId id="320" r:id="rId11"/>
    <p:sldId id="321" r:id="rId12"/>
    <p:sldId id="338" r:id="rId13"/>
    <p:sldId id="332" r:id="rId14"/>
    <p:sldId id="330" r:id="rId15"/>
    <p:sldId id="331" r:id="rId16"/>
    <p:sldId id="333" r:id="rId17"/>
    <p:sldId id="334" r:id="rId18"/>
    <p:sldId id="336" r:id="rId19"/>
    <p:sldId id="311" r:id="rId20"/>
  </p:sldIdLst>
  <p:sldSz cx="9144000" cy="5143500" type="screen16x9"/>
  <p:notesSz cx="6858000" cy="9144000"/>
  <p:embeddedFontLst>
    <p:embeddedFont>
      <p:font typeface="Arial Black" panose="020B0A04020102020204" pitchFamily="34" charset="0"/>
      <p:bold r:id="rId22"/>
    </p:embeddedFont>
    <p:embeddedFont>
      <p:font typeface="Cambria" panose="02040503050406030204" pitchFamily="18" charset="0"/>
      <p:regular r:id="rId23"/>
      <p:bold r:id="rId24"/>
      <p:italic r:id="rId25"/>
      <p:boldItalic r:id="rId26"/>
    </p:embeddedFont>
    <p:embeddedFont>
      <p:font typeface="Lato" panose="020F0502020204030203" pitchFamily="34" charset="0"/>
      <p:regular r:id="rId27"/>
      <p:bold r:id="rId28"/>
      <p:italic r:id="rId29"/>
      <p:boldItalic r:id="rId30"/>
    </p:embeddedFont>
    <p:embeddedFont>
      <p:font typeface="Vladimir Script" panose="03050402040407070305" pitchFamily="66"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94660"/>
  </p:normalViewPr>
  <p:slideViewPr>
    <p:cSldViewPr snapToGrid="0">
      <p:cViewPr varScale="1">
        <p:scale>
          <a:sx n="57" d="100"/>
          <a:sy n="57" d="100"/>
        </p:scale>
        <p:origin x="58" y="7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5E1C681-A5F2-4CD9-9192-8CDED311BA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B848B34-F6A5-DF19-4111-A0681949447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ECA6E172-D444-FC00-6B33-317641F086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5530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2827B3C-4A96-D842-C587-3271EC42D30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2F06B59-0229-602E-B610-9525220615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4AEA2AB-7645-5208-0E63-7560412EF8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69257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8169236-1955-4128-44C5-58E9D95D498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8024DF0-1674-8F51-EEBC-683769584F9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D4BF737-175F-7667-E78E-646A8BB495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7247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FE7DBFD-3CD4-72CB-B3B4-A8E2B4B1866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C18742C-0AE0-A994-B2ED-A9BFF88C0F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89BB3F3-8FD5-23EA-C014-0FA6CAB9136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491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044B758-C87D-505D-C3C8-A549E1C79E3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60E0FE7-490F-D759-32A7-C75DA6EDA0E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F9AA489-D2BD-8969-C629-E8BC8C6956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2918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0155A9D-AAA5-DBF3-3057-121F57FF30B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C7128F7-3741-01C2-1D18-6C51FBFDD7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BE051D6-4A40-1430-64AF-26B37D2847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80664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16C3BF0-F04D-CC55-01DE-5846136227C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1C26BBB-3EE0-C367-EB17-2F01B7585D9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ED12312-F8C0-DB82-75C0-FC2758C0D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2370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F1E0EE1-A63F-12F4-10BB-2B0C5E51B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3949B4A-8DCA-5D8A-F91E-E3E31816926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D7E994A-6713-82F4-3A2F-AD2DA1A7B7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1222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97A7E9F-F7F7-E47A-A943-06C0938AEC1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72C6686-784A-7B89-4969-307722F65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9CD0302-CFE1-29D0-0A61-7EBB8F2868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8924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DA1CEF5-13BF-471C-50F9-DAD18A547A0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EDA82E9-4E8D-3B65-E4CF-424ECC6A78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62D4F-5FDA-D649-09FF-AFAD4FCD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5965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22EF6A6-3B86-409E-00F7-E71B05DEC0B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F737BE0-1811-D403-FE9C-7D9F9254BA6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B6C259C-E2D3-C61B-0E90-DB7F2E206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6100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AA7785E-43D4-9EF1-1A87-45D7A3143AF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C9920DF-19AB-06E9-7D1B-B9B877EBE6B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2DAF3E8-4FE5-228D-D4E4-2C8EBAB1BF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50755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8BDF5E7-F95C-899B-EC14-E8E986C7DDD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5BA061-2CC0-FC5F-90C5-EB6DD8F82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8A0E1B-B8B2-DFD2-0A4F-7F72575EECB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2996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6B53972-8CFD-533B-1C4D-268D3A8B82F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BAB7A-5EF3-5546-4BB0-C26EE502D36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4E556B0-B3F6-5788-1709-ADC00D5B8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2136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35021AF-CA61-088F-7F01-7FAD5B65361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0B85296-32E7-6F2C-C488-8EB7229AAA9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2BA18F8-0BB4-69BB-7AA0-AEDCAD3591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46831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geeksforgeeks.org/introduction-to-algorithms/"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www.programiz.com/dsa/radix-sort" TargetMode="External"/><Relationship Id="rId4" Type="http://schemas.openxmlformats.org/officeDocument/2006/relationships/hyperlink" Target="https://www.geeksforgeeks.org/counting-sort/"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onlinecourses.nptel.ac.in/noc23_cs96/preview"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linkedin.com/learning/learning-algorithms" TargetMode="External"/><Relationship Id="rId5" Type="http://schemas.openxmlformats.org/officeDocument/2006/relationships/hyperlink" Target="https://nptel.ac.in/courses/106106208" TargetMode="External"/><Relationship Id="rId4" Type="http://schemas.openxmlformats.org/officeDocument/2006/relationships/hyperlink" Target="https://nptel.ac.in/courses/106106131"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771896" y="951584"/>
            <a:ext cx="8213400" cy="4131347"/>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COMPUTER SCIENCE ENGINEERING</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1120"/>
              </a:spcBef>
              <a:spcAft>
                <a:spcPts val="0"/>
              </a:spcAft>
              <a:buClr>
                <a:schemeClr val="dk1"/>
              </a:buClr>
              <a:buSzPts val="2800"/>
              <a:buFont typeface="Times New Roman"/>
              <a:buNone/>
            </a:pPr>
            <a:r>
              <a:rPr lang="en-US" sz="2000" b="0" i="0" u="none" dirty="0">
                <a:solidFill>
                  <a:schemeClr val="bg2"/>
                </a:solidFill>
                <a:latin typeface="Times New Roman"/>
                <a:ea typeface="Times New Roman"/>
                <a:cs typeface="Times New Roman"/>
                <a:sym typeface="Times New Roman"/>
              </a:rPr>
              <a:t>Bachelor of Engineering</a:t>
            </a:r>
            <a:endParaRPr lang="en-US" sz="2000" dirty="0">
              <a:solidFill>
                <a:schemeClr val="bg2"/>
              </a:solidFill>
            </a:endParaRPr>
          </a:p>
          <a:p>
            <a:pPr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980"/>
              </a:spcBef>
              <a:buClr>
                <a:schemeClr val="dk1"/>
              </a:buClr>
              <a:buSzPts val="2800"/>
            </a:pPr>
            <a:r>
              <a:rPr lang="en-US" sz="2400" b="1" i="0" u="none" dirty="0">
                <a:solidFill>
                  <a:schemeClr val="bg2"/>
                </a:solidFill>
                <a:latin typeface="Arial"/>
                <a:ea typeface="Arial"/>
                <a:cs typeface="Arial"/>
                <a:sym typeface="Arial"/>
              </a:rPr>
              <a:t>Design and Analysis of Algorithms</a:t>
            </a:r>
          </a:p>
          <a:p>
            <a:pPr algn="ctr">
              <a:lnSpc>
                <a:spcPct val="90000"/>
              </a:lnSpc>
              <a:spcBef>
                <a:spcPts val="980"/>
              </a:spcBef>
              <a:buClr>
                <a:schemeClr val="dk1"/>
              </a:buClr>
              <a:buSzPts val="2800"/>
            </a:pP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(23</a:t>
            </a:r>
            <a:r>
              <a:rPr lang="en-US" sz="2400" b="0" i="0" u="none" dirty="0">
                <a:solidFill>
                  <a:schemeClr val="bg2"/>
                </a:solidFill>
                <a:latin typeface="Times New Roman"/>
                <a:ea typeface="Times New Roman"/>
                <a:cs typeface="Times New Roman"/>
                <a:sym typeface="Times New Roman"/>
              </a:rPr>
              <a:t>CS</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-301/IT</a:t>
            </a:r>
            <a:r>
              <a:rPr lang="en-US" sz="2400" dirty="0">
                <a:solidFill>
                  <a:schemeClr val="bg2"/>
                </a:solidFill>
                <a:latin typeface="Times New Roman"/>
                <a:ea typeface="Times New Roman"/>
                <a:cs typeface="Times New Roman"/>
                <a:sym typeface="Times New Roman"/>
              </a:rPr>
              <a:t>H</a:t>
            </a:r>
            <a:r>
              <a:rPr lang="en-US" sz="2400" b="0" i="0" u="none" dirty="0">
                <a:solidFill>
                  <a:schemeClr val="bg2"/>
                </a:solidFill>
                <a:latin typeface="Times New Roman"/>
                <a:ea typeface="Times New Roman"/>
                <a:cs typeface="Times New Roman"/>
                <a:sym typeface="Times New Roman"/>
              </a:rPr>
              <a:t>-301</a:t>
            </a:r>
            <a:r>
              <a:rPr lang="en-US" sz="2400" dirty="0">
                <a:solidFill>
                  <a:schemeClr val="bg2"/>
                </a:solidFill>
                <a:latin typeface="Calibri" panose="020F0502020204030204" pitchFamily="34" charset="0"/>
                <a:ea typeface="Calibri" panose="020F0502020204030204" pitchFamily="34" charset="0"/>
                <a:cs typeface="Calibri" panose="020F0502020204030204" pitchFamily="34" charset="0"/>
              </a:rPr>
              <a:t>)</a:t>
            </a:r>
            <a:endPar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3                  Lecture No. 12, 13</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 </a:t>
            </a:r>
            <a:r>
              <a:rPr lang="en-US" altLang="en-US" sz="1800" b="1" dirty="0">
                <a:solidFill>
                  <a:srgbClr val="000000"/>
                </a:solidFill>
                <a:latin typeface="Times New Roman" panose="02020603050405020304" pitchFamily="18" charset="0"/>
                <a:cs typeface="Calibri" panose="020F0502020204030204" pitchFamily="34" charset="0"/>
              </a:rPr>
              <a:t>Counting sort, radix sort  </a:t>
            </a:r>
            <a:endParaRPr lang="en-US" sz="1800" b="1" i="0" u="none" dirty="0">
              <a:solidFill>
                <a:schemeClr val="bg2"/>
              </a:solidFill>
              <a:latin typeface="Times New Roman"/>
              <a:ea typeface="Times New Roman"/>
              <a:cs typeface="Times New Roman"/>
              <a:sym typeface="Times New Roman"/>
            </a:endParaRP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Richa Dhiman E11307                                                    Assistant Professor</a:t>
            </a:r>
            <a:endParaRPr lang="en-US" sz="3200" b="1" i="0" u="none" strike="noStrike" cap="none"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724394" y="218172"/>
            <a:ext cx="8300849" cy="44460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3200" b="1" i="0" u="none" strike="noStrike" cap="none" dirty="0">
                  <a:solidFill>
                    <a:schemeClr val="bg2"/>
                  </a:solidFill>
                  <a:latin typeface="Cambria"/>
                  <a:ea typeface="Cambria"/>
                  <a:cs typeface="Cambria"/>
                  <a:sym typeface="Cambria"/>
                </a:rPr>
                <a:t>Learning Objectives &amp; Outcomes</a:t>
              </a:r>
              <a:endPar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9" name="Content Placeholder 2">
            <a:extLst>
              <a:ext uri="{FF2B5EF4-FFF2-40B4-BE49-F238E27FC236}">
                <a16:creationId xmlns:a16="http://schemas.microsoft.com/office/drawing/2014/main" id="{087DD697-67BF-1324-4CE3-29D349B00628}"/>
              </a:ext>
            </a:extLst>
          </p:cNvPr>
          <p:cNvSpPr txBox="1">
            <a:spLocks/>
          </p:cNvSpPr>
          <p:nvPr/>
        </p:nvSpPr>
        <p:spPr bwMode="auto">
          <a:xfrm>
            <a:off x="1024243" y="935181"/>
            <a:ext cx="8001000" cy="3789219"/>
          </a:xfrm>
          <a:prstGeom prst="rect">
            <a:avLst/>
          </a:prstGeom>
          <a:noFill/>
          <a:ln>
            <a:noFill/>
          </a:ln>
        </p:spPr>
        <p:txBody>
          <a:bodyPr spcFirstLastPara="1" vert="horz" wrap="square" lIns="91440" tIns="45720" rIns="91440" bIns="45720" numCol="1" anchor="t" anchorCtr="0" compatLnSpc="1">
            <a:prstTxWarp prst="textNoShape">
              <a:avLst/>
            </a:prstTxWarp>
            <a:norm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a:spcBef>
                <a:spcPts val="0"/>
              </a:spcBef>
              <a:buSzPts val="2000"/>
              <a:buFont typeface="Arial" panose="020B0604020202020204" pitchFamily="34" charset="0"/>
              <a:buNone/>
              <a:defRPr/>
            </a:pPr>
            <a:r>
              <a:rPr lang="en-US" b="1" dirty="0">
                <a:solidFill>
                  <a:schemeClr val="bg2"/>
                </a:solidFill>
              </a:rPr>
              <a:t>Objective:</a:t>
            </a:r>
          </a:p>
          <a:p>
            <a:pPr>
              <a:defRPr/>
            </a:pPr>
            <a:r>
              <a:rPr lang="en-US" dirty="0">
                <a:solidFill>
                  <a:schemeClr val="bg2"/>
                </a:solidFill>
              </a:rPr>
              <a:t>To understand </a:t>
            </a:r>
            <a:r>
              <a:rPr lang="en-IN" dirty="0">
                <a:solidFill>
                  <a:schemeClr val="bg2"/>
                </a:solidFill>
              </a:rPr>
              <a:t>Sorting algorithm In Linear Time</a:t>
            </a:r>
            <a:endParaRPr lang="en-US" dirty="0">
              <a:solidFill>
                <a:schemeClr val="bg2"/>
              </a:solidFill>
            </a:endParaRPr>
          </a:p>
          <a:p>
            <a:pPr marL="0" indent="0">
              <a:buFont typeface="Arial" panose="020B0604020202020204" pitchFamily="34" charset="0"/>
              <a:buNone/>
              <a:defRPr/>
            </a:pPr>
            <a:endParaRPr lang="en-US" dirty="0">
              <a:solidFill>
                <a:schemeClr val="bg2"/>
              </a:solidFill>
            </a:endParaRPr>
          </a:p>
          <a:p>
            <a:pPr marL="0" indent="0">
              <a:buFont typeface="Arial" panose="020B0604020202020204" pitchFamily="34" charset="0"/>
              <a:buNone/>
              <a:defRPr/>
            </a:pPr>
            <a:r>
              <a:rPr lang="en-US" b="1" dirty="0">
                <a:solidFill>
                  <a:schemeClr val="bg2"/>
                </a:solidFill>
              </a:rPr>
              <a:t>Outcome:</a:t>
            </a:r>
          </a:p>
          <a:p>
            <a:pPr>
              <a:defRPr/>
            </a:pPr>
            <a:r>
              <a:rPr lang="en-US" dirty="0">
                <a:solidFill>
                  <a:schemeClr val="bg2"/>
                </a:solidFill>
              </a:rPr>
              <a:t>Student will understand </a:t>
            </a:r>
            <a:r>
              <a:rPr lang="en-IN" dirty="0">
                <a:solidFill>
                  <a:schemeClr val="bg2"/>
                </a:solidFill>
              </a:rPr>
              <a:t>Sorting algorithm In Linear Time.</a:t>
            </a:r>
            <a:endParaRPr lang="en-US" dirty="0">
              <a:solidFill>
                <a:schemeClr val="bg2"/>
              </a:solidFill>
            </a:endParaRPr>
          </a:p>
        </p:txBody>
      </p:sp>
    </p:spTree>
    <p:extLst>
      <p:ext uri="{BB962C8B-B14F-4D97-AF65-F5344CB8AC3E}">
        <p14:creationId xmlns:p14="http://schemas.microsoft.com/office/powerpoint/2010/main" val="2107231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10" name="Google Shape;107;p17">
            <a:extLst>
              <a:ext uri="{FF2B5EF4-FFF2-40B4-BE49-F238E27FC236}">
                <a16:creationId xmlns:a16="http://schemas.microsoft.com/office/drawing/2014/main" id="{8F90F10B-00FB-36BD-0301-AF808DA4807C}"/>
              </a:ext>
            </a:extLst>
          </p:cNvPr>
          <p:cNvSpPr txBox="1">
            <a:spLocks/>
          </p:cNvSpPr>
          <p:nvPr/>
        </p:nvSpPr>
        <p:spPr>
          <a:xfrm>
            <a:off x="833700" y="197075"/>
            <a:ext cx="7552800" cy="525581"/>
          </a:xfrm>
          <a:prstGeom prst="rect">
            <a:avLst/>
          </a:prstGeom>
          <a:scene3d>
            <a:camera prst="orthographicFront"/>
            <a:lightRig rig="threePt" dir="t"/>
          </a:scene3d>
          <a:sp3d>
            <a:bevelT prst="relaxedInset"/>
          </a:sp3d>
        </p:spPr>
        <p:txBody>
          <a:bodyPr spcFirstLastPara="1" wrap="square" lIns="91425" tIns="45700" rIns="91425" bIns="45700" anchor="ctr" anchorCtr="0">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ts val="0"/>
              </a:spcBef>
              <a:spcAft>
                <a:spcPts val="0"/>
              </a:spcAft>
              <a:buClrTx/>
              <a:buSzTx/>
              <a:buFontTx/>
              <a:buNone/>
              <a:tabLst/>
              <a:defRPr/>
            </a:pPr>
            <a:r>
              <a:rPr kumimoji="0" lang="en-IN" sz="3200" b="1" i="0"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rPr>
              <a:t>Counting Sort</a:t>
            </a:r>
          </a:p>
        </p:txBody>
      </p:sp>
      <p:sp>
        <p:nvSpPr>
          <p:cNvPr id="11" name="Google Shape;108;p17">
            <a:extLst>
              <a:ext uri="{FF2B5EF4-FFF2-40B4-BE49-F238E27FC236}">
                <a16:creationId xmlns:a16="http://schemas.microsoft.com/office/drawing/2014/main" id="{4990A300-7F4D-3680-0AA0-7CAA21BF1FE8}"/>
              </a:ext>
            </a:extLst>
          </p:cNvPr>
          <p:cNvSpPr txBox="1">
            <a:spLocks/>
          </p:cNvSpPr>
          <p:nvPr/>
        </p:nvSpPr>
        <p:spPr bwMode="auto">
          <a:xfrm>
            <a:off x="757500" y="969818"/>
            <a:ext cx="7852024" cy="37130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just"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IN"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Counting sort is a stable sorting technique, which is used to sort objects according to the keys that are small numbers. It counts the </a:t>
            </a:r>
            <a:r>
              <a:rPr kumimoji="0" lang="en-IN" alt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number of keys whose key values are same</a:t>
            </a:r>
            <a:r>
              <a:rPr kumimoji="0" lang="en-IN"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This sorting technique is effective when the </a:t>
            </a:r>
            <a:r>
              <a:rPr kumimoji="0" lang="en-IN" alt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difference between different keys are not so big</a:t>
            </a:r>
            <a:r>
              <a:rPr kumimoji="0" lang="en-IN"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 </a:t>
            </a:r>
            <a:r>
              <a:rPr kumimoji="0" lang="en-IN" alt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otherwise, it can increase the space complexity</a:t>
            </a:r>
            <a:r>
              <a:rPr kumimoji="0" lang="en-IN" altLang="en-US" sz="2400" b="0" i="0" u="none" strike="noStrike" kern="1200" cap="none" spc="0" normalizeH="0" baseline="0" noProof="0">
                <a:ln>
                  <a:noFill/>
                </a:ln>
                <a:solidFill>
                  <a:sysClr val="windowText" lastClr="000000"/>
                </a:solidFill>
                <a:effectLst/>
                <a:uLnTx/>
                <a:uFillTx/>
                <a:latin typeface="Cambria" pitchFamily="18" charset="0"/>
                <a:ea typeface="+mn-ea"/>
                <a:cs typeface="+mn-cs"/>
              </a:rPr>
              <a:t>.</a:t>
            </a:r>
          </a:p>
        </p:txBody>
      </p:sp>
    </p:spTree>
    <p:extLst>
      <p:ext uri="{BB962C8B-B14F-4D97-AF65-F5344CB8AC3E}">
        <p14:creationId xmlns:p14="http://schemas.microsoft.com/office/powerpoint/2010/main" val="1337512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49C85D7-2162-3728-41C8-9CA50DA575A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7259D0E-39AA-3258-E915-0F5AE1AE1FEF}"/>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9C82D24C-CFB6-10CB-9BE5-A8DE190188C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3</a:t>
            </a:r>
            <a:endParaRPr lang="en-IN" dirty="0"/>
          </a:p>
        </p:txBody>
      </p:sp>
      <p:sp>
        <p:nvSpPr>
          <p:cNvPr id="3" name="Google Shape;325;p4">
            <a:extLst>
              <a:ext uri="{FF2B5EF4-FFF2-40B4-BE49-F238E27FC236}">
                <a16:creationId xmlns:a16="http://schemas.microsoft.com/office/drawing/2014/main" id="{08115DC7-4D33-A739-85E6-6FC71569344F}"/>
              </a:ext>
            </a:extLst>
          </p:cNvPr>
          <p:cNvSpPr txBox="1">
            <a:spLocks/>
          </p:cNvSpPr>
          <p:nvPr/>
        </p:nvSpPr>
        <p:spPr>
          <a:xfrm>
            <a:off x="968776" y="23987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rPr>
              <a:t>Counting</a:t>
            </a:r>
            <a:r>
              <a:rPr lang="en-US" sz="3200" b="1" dirty="0">
                <a:solidFill>
                  <a:schemeClr val="bg2"/>
                </a:solidFill>
              </a:rPr>
              <a:t> Sort: Algorithm</a:t>
            </a:r>
            <a:endPar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pic>
        <p:nvPicPr>
          <p:cNvPr id="2" name="Picture 3">
            <a:extLst>
              <a:ext uri="{FF2B5EF4-FFF2-40B4-BE49-F238E27FC236}">
                <a16:creationId xmlns:a16="http://schemas.microsoft.com/office/drawing/2014/main" id="{1336926B-4A5E-1A1F-61FE-677E068042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46" y="1043481"/>
            <a:ext cx="6983413" cy="3860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6460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FAE9B3A-F835-EA9F-375F-E58709572D7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7D1F1F6-CAAE-FC79-FD0B-3C78DFCE252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CCDAEDE-ABD1-E62B-C206-E4DF3D0D1024}"/>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4</a:t>
            </a:r>
            <a:endParaRPr lang="en-IN" dirty="0"/>
          </a:p>
        </p:txBody>
      </p:sp>
      <p:pic>
        <p:nvPicPr>
          <p:cNvPr id="3" name="Picture 3" descr="C:\Users\juneg\Desktop\Untitled.png">
            <a:extLst>
              <a:ext uri="{FF2B5EF4-FFF2-40B4-BE49-F238E27FC236}">
                <a16:creationId xmlns:a16="http://schemas.microsoft.com/office/drawing/2014/main" id="{55DBFA00-B0DC-D052-21E2-3F4456A042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55" y="393764"/>
            <a:ext cx="8001000" cy="4663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2404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66223F7-9809-BE29-714E-38632F4599B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059937E7-EC35-0CA6-69EF-64D57377620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423D0D5-2563-3DDF-DDBE-37059391059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5</a:t>
            </a:r>
            <a:endParaRPr lang="en-IN" dirty="0"/>
          </a:p>
        </p:txBody>
      </p:sp>
      <p:pic>
        <p:nvPicPr>
          <p:cNvPr id="4" name="Picture 2" descr="C:\Users\juneg\Desktop\2b.png">
            <a:extLst>
              <a:ext uri="{FF2B5EF4-FFF2-40B4-BE49-F238E27FC236}">
                <a16:creationId xmlns:a16="http://schemas.microsoft.com/office/drawing/2014/main" id="{B34FD114-789E-0356-925E-184F6B23EB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1474" y="393764"/>
            <a:ext cx="7578050" cy="448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514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D698E66-F84E-170D-A0A4-F7906E6DCB0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F4F0A3-AC9F-881C-38CF-FCABC87F7D4C}"/>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4FE9E69A-0B72-58B1-5875-98C4F59242D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6</a:t>
            </a:r>
            <a:endParaRPr lang="en-IN" dirty="0"/>
          </a:p>
        </p:txBody>
      </p:sp>
      <p:pic>
        <p:nvPicPr>
          <p:cNvPr id="4" name="Picture 2" descr="C:\Users\juneg\Desktop\2c.png">
            <a:extLst>
              <a:ext uri="{FF2B5EF4-FFF2-40B4-BE49-F238E27FC236}">
                <a16:creationId xmlns:a16="http://schemas.microsoft.com/office/drawing/2014/main" id="{D79B122A-F594-026D-2FCE-776A61EDBC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787" y="290946"/>
            <a:ext cx="7250426" cy="4752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65719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B30559D-113C-CA36-943F-FB81436000C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DE20160-C47E-3755-260A-77F95E876245}"/>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CBAD650A-C296-32D4-88D6-EC65A0BB20C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Google Shape;350;p8">
            <a:extLst>
              <a:ext uri="{FF2B5EF4-FFF2-40B4-BE49-F238E27FC236}">
                <a16:creationId xmlns:a16="http://schemas.microsoft.com/office/drawing/2014/main" id="{B846DD7C-EFA9-1E0D-BE4D-AAC22C6A37AD}"/>
              </a:ext>
            </a:extLst>
          </p:cNvPr>
          <p:cNvSpPr txBox="1">
            <a:spLocks/>
          </p:cNvSpPr>
          <p:nvPr/>
        </p:nvSpPr>
        <p:spPr>
          <a:xfrm>
            <a:off x="968776" y="40555"/>
            <a:ext cx="7417724"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r>
              <a:rPr lang="en-US" sz="3200" b="1" dirty="0">
                <a:latin typeface="Calibri" panose="020F0502020204030204" pitchFamily="34" charset="0"/>
                <a:ea typeface="Calibri" panose="020F0502020204030204" pitchFamily="34" charset="0"/>
                <a:cs typeface="Calibri" panose="020F0502020204030204" pitchFamily="34" charset="0"/>
              </a:rPr>
              <a:t>Example</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pic>
        <p:nvPicPr>
          <p:cNvPr id="4" name="Content Placeholder 3">
            <a:extLst>
              <a:ext uri="{FF2B5EF4-FFF2-40B4-BE49-F238E27FC236}">
                <a16:creationId xmlns:a16="http://schemas.microsoft.com/office/drawing/2014/main" id="{99E06FEC-6543-D0FC-D6D5-66C136970797}"/>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816376" y="936325"/>
            <a:ext cx="80772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9376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C3CA2D2-3F15-B757-14F1-D07A7244DB5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448F31B-3BBF-D8FE-DA3D-5C9D1FBBC49D}"/>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Google Shape;350;p8">
            <a:extLst>
              <a:ext uri="{FF2B5EF4-FFF2-40B4-BE49-F238E27FC236}">
                <a16:creationId xmlns:a16="http://schemas.microsoft.com/office/drawing/2014/main" id="{6429A8AB-4092-8FE7-6FD2-F0511371663F}"/>
              </a:ext>
            </a:extLst>
          </p:cNvPr>
          <p:cNvSpPr txBox="1">
            <a:spLocks/>
          </p:cNvSpPr>
          <p:nvPr/>
        </p:nvSpPr>
        <p:spPr>
          <a:xfrm>
            <a:off x="968776" y="40555"/>
            <a:ext cx="7417724"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r>
              <a:rPr lang="en-IN" sz="3200" b="1" dirty="0">
                <a:solidFill>
                  <a:schemeClr val="bg2"/>
                </a:solidFill>
                <a:latin typeface="Calibri" panose="020F0502020204030204" pitchFamily="34" charset="0"/>
                <a:ea typeface="Calibri" panose="020F0502020204030204" pitchFamily="34" charset="0"/>
                <a:cs typeface="Calibri" panose="020F0502020204030204" pitchFamily="34" charset="0"/>
              </a:rPr>
              <a:t>Radix Sort</a:t>
            </a:r>
            <a:endParaRPr lang="en-US" sz="18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5" name="Google Shape;120;p19">
            <a:extLst>
              <a:ext uri="{FF2B5EF4-FFF2-40B4-BE49-F238E27FC236}">
                <a16:creationId xmlns:a16="http://schemas.microsoft.com/office/drawing/2014/main" id="{5D059548-40C2-AE5F-B145-C995CC0396CC}"/>
              </a:ext>
            </a:extLst>
          </p:cNvPr>
          <p:cNvSpPr txBox="1">
            <a:spLocks noGrp="1"/>
          </p:cNvSpPr>
          <p:nvPr>
            <p:ph type="body" idx="1"/>
          </p:nvPr>
        </p:nvSpPr>
        <p:spPr bwMode="auto">
          <a:xfrm>
            <a:off x="968776" y="650155"/>
            <a:ext cx="8001000" cy="4157372"/>
          </a:xfrm>
        </p:spPr>
        <p:txBody>
          <a:bodyPr vert="horz" wrap="square" lIns="91425" tIns="45700" rIns="91425" bIns="45700" numCol="1" anchor="t" anchorCtr="0" compatLnSpc="1">
            <a:prstTxWarp prst="textNoShape">
              <a:avLst/>
            </a:prstTxWarp>
          </a:bodyPr>
          <a:lstStyle/>
          <a:p>
            <a:pPr algn="just">
              <a:defRPr/>
            </a:pPr>
            <a:r>
              <a:rPr lang="en-IN" dirty="0">
                <a:solidFill>
                  <a:schemeClr val="bg2"/>
                </a:solidFill>
              </a:rPr>
              <a:t>Radix sort is a sorting technique that sorts the elements by first grouping the individual digits of the same </a:t>
            </a:r>
            <a:r>
              <a:rPr lang="en-IN" b="1" dirty="0">
                <a:solidFill>
                  <a:schemeClr val="bg2"/>
                </a:solidFill>
              </a:rPr>
              <a:t>place value</a:t>
            </a:r>
            <a:r>
              <a:rPr lang="en-IN" dirty="0">
                <a:solidFill>
                  <a:schemeClr val="bg2"/>
                </a:solidFill>
              </a:rPr>
              <a:t>. Then, sort the elements according to their increasing/decreasing order.</a:t>
            </a:r>
          </a:p>
          <a:p>
            <a:pPr algn="just">
              <a:defRPr/>
            </a:pPr>
            <a:r>
              <a:rPr lang="en-IN" dirty="0">
                <a:solidFill>
                  <a:schemeClr val="bg2"/>
                </a:solidFill>
              </a:rPr>
              <a:t>Suppose, we have an array of 8 elements. First, we will sort elements based on the value of the unit place. Then, we will sort elements based on the value of the tenth place. This process goes on until the last significant place.</a:t>
            </a:r>
          </a:p>
          <a:p>
            <a:pPr marL="0" indent="0" algn="just">
              <a:buFont typeface="Arial" panose="020B0604020202020204" pitchFamily="34" charset="0"/>
              <a:buNone/>
              <a:defRPr/>
            </a:pPr>
            <a:endParaRPr lang="en-US" altLang="en-US" sz="2000" dirty="0">
              <a:solidFill>
                <a:schemeClr val="bg2"/>
              </a:solidFill>
            </a:endParaRPr>
          </a:p>
          <a:p>
            <a:pPr marL="0" indent="0" algn="just">
              <a:buFont typeface="Arial" panose="020B0604020202020204" pitchFamily="34" charset="0"/>
              <a:buNone/>
              <a:defRPr/>
            </a:pPr>
            <a:endParaRPr lang="en-US" altLang="en-US" sz="2000" dirty="0">
              <a:solidFill>
                <a:schemeClr val="bg2"/>
              </a:solidFill>
            </a:endParaRPr>
          </a:p>
        </p:txBody>
      </p:sp>
    </p:spTree>
    <p:extLst>
      <p:ext uri="{BB962C8B-B14F-4D97-AF65-F5344CB8AC3E}">
        <p14:creationId xmlns:p14="http://schemas.microsoft.com/office/powerpoint/2010/main" val="90758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2D565F7-7B58-5C3B-FCDC-E6C0CFEF1F9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F31FAFF-7FEE-BA83-A704-9D5C6DCDD8D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B2FAA1B1-2426-1794-67B3-848ED1C7161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8</a:t>
            </a:r>
            <a:endParaRPr lang="en-IN" dirty="0"/>
          </a:p>
        </p:txBody>
      </p:sp>
      <p:sp>
        <p:nvSpPr>
          <p:cNvPr id="6" name="Title 1">
            <a:extLst>
              <a:ext uri="{FF2B5EF4-FFF2-40B4-BE49-F238E27FC236}">
                <a16:creationId xmlns:a16="http://schemas.microsoft.com/office/drawing/2014/main" id="{87E003B1-D7D1-1E50-CDDC-6D00C831CDBC}"/>
              </a:ext>
            </a:extLst>
          </p:cNvPr>
          <p:cNvSpPr txBox="1">
            <a:spLocks/>
          </p:cNvSpPr>
          <p:nvPr/>
        </p:nvSpPr>
        <p:spPr>
          <a:xfrm>
            <a:off x="833700" y="197075"/>
            <a:ext cx="7775824"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IN" sz="3200" b="1" i="0" u="none" strike="noStrike" kern="1200" cap="none" spc="0" normalizeH="0" baseline="0" noProof="0" dirty="0">
                <a:ln>
                  <a:noFill/>
                </a:ln>
                <a:solidFill>
                  <a:srgbClr val="C00000"/>
                </a:solidFill>
                <a:effectLst/>
                <a:uLnTx/>
                <a:uFillTx/>
                <a:latin typeface="Calibri" panose="020F0502020204030204" pitchFamily="34" charset="0"/>
                <a:ea typeface="Calibri" panose="020F0502020204030204" pitchFamily="34" charset="0"/>
                <a:cs typeface="Calibri" panose="020F0502020204030204" pitchFamily="34" charset="0"/>
              </a:rPr>
              <a:t>Radix Sort (</a:t>
            </a:r>
            <a:r>
              <a:rPr kumimoji="0" lang="en-IN" sz="3200" b="1" i="0" u="none" strike="noStrike" kern="1200" cap="none" spc="0" normalizeH="0" baseline="0" noProof="0" dirty="0" err="1">
                <a:ln>
                  <a:noFill/>
                </a:ln>
                <a:solidFill>
                  <a:srgbClr val="C00000"/>
                </a:solidFill>
                <a:effectLst/>
                <a:uLnTx/>
                <a:uFillTx/>
                <a:latin typeface="Calibri" panose="020F0502020204030204" pitchFamily="34" charset="0"/>
                <a:ea typeface="Calibri" panose="020F0502020204030204" pitchFamily="34" charset="0"/>
                <a:cs typeface="Calibri" panose="020F0502020204030204" pitchFamily="34" charset="0"/>
              </a:rPr>
              <a:t>Contd</a:t>
            </a:r>
            <a:r>
              <a:rPr kumimoji="0" lang="en-IN" sz="3200" b="1" i="0" u="none" strike="noStrike" kern="1200" cap="none" spc="0" normalizeH="0" baseline="0" noProof="0" dirty="0">
                <a:ln>
                  <a:noFill/>
                </a:ln>
                <a:solidFill>
                  <a:srgbClr val="C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n-US" sz="3200" b="1" i="0" u="none" strike="noStrike" kern="120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2">
            <a:extLst>
              <a:ext uri="{FF2B5EF4-FFF2-40B4-BE49-F238E27FC236}">
                <a16:creationId xmlns:a16="http://schemas.microsoft.com/office/drawing/2014/main" id="{2C7F11FF-55B4-400C-3909-28E676E96292}"/>
              </a:ext>
            </a:extLst>
          </p:cNvPr>
          <p:cNvSpPr txBox="1">
            <a:spLocks/>
          </p:cNvSpPr>
          <p:nvPr/>
        </p:nvSpPr>
        <p:spPr>
          <a:xfrm>
            <a:off x="757500" y="882875"/>
            <a:ext cx="8136076" cy="3827670"/>
          </a:xfrm>
          <a:prstGeom prst="rect">
            <a:avLst/>
          </a:prstGeom>
          <a:noFill/>
        </p:spPr>
        <p:txBody>
          <a:bodyPr>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1" i="1" u="none" strike="noStrike" kern="1200" cap="none" spc="0" normalizeH="0" baseline="0" noProof="0" dirty="0">
                <a:ln>
                  <a:noFill/>
                </a:ln>
                <a:solidFill>
                  <a:sysClr val="windowText" lastClr="000000"/>
                </a:solidFill>
                <a:effectLst/>
                <a:uLnTx/>
                <a:uFillTx/>
                <a:latin typeface="Cambria" pitchFamily="18" charset="0"/>
                <a:ea typeface="+mn-ea"/>
                <a:cs typeface="+mn-cs"/>
              </a:rPr>
              <a:t>The Radix Sort Algorithm</a:t>
            </a:r>
            <a:endPar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	1)</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Do following for each digit </a:t>
            </a:r>
            <a:r>
              <a:rPr kumimoji="0" lang="en-IN"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i</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where </a:t>
            </a:r>
            <a:r>
              <a:rPr kumimoji="0" lang="en-IN"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i</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varies from least significant digit to the most significant digit.</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IN"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		a)</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Sort input array using counting sort (or any stable sort) according to the </a:t>
            </a:r>
            <a:r>
              <a:rPr kumimoji="0" lang="en-IN"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i’th</a:t>
            </a:r>
            <a:r>
              <a:rPr kumimoji="0" lang="en-IN"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digit.</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253712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EC0536-BF5D-71F0-87EA-F1E1B410598B}"/>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DFCDD88A-2ADF-8A48-80BA-D52FEC540C5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DFA94115-363C-5364-F65C-CCEE1956B27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dirty="0"/>
              <a:t>9</a:t>
            </a:r>
            <a:endParaRPr lang="en-IN" dirty="0"/>
          </a:p>
        </p:txBody>
      </p:sp>
      <p:sp>
        <p:nvSpPr>
          <p:cNvPr id="4" name="Title 1">
            <a:extLst>
              <a:ext uri="{FF2B5EF4-FFF2-40B4-BE49-F238E27FC236}">
                <a16:creationId xmlns:a16="http://schemas.microsoft.com/office/drawing/2014/main" id="{364E803E-A60A-B3A8-DD42-FA87962FDFB3}"/>
              </a:ext>
            </a:extLst>
          </p:cNvPr>
          <p:cNvSpPr txBox="1">
            <a:spLocks/>
          </p:cNvSpPr>
          <p:nvPr/>
        </p:nvSpPr>
        <p:spPr>
          <a:xfrm>
            <a:off x="968776" y="393764"/>
            <a:ext cx="7640748" cy="609600"/>
          </a:xfrm>
          <a:prstGeom prst="rect">
            <a:avLst/>
          </a:prstGeom>
          <a:scene3d>
            <a:camera prst="orthographicFront"/>
            <a:lightRig rig="threePt" dir="t"/>
          </a:scene3d>
          <a:sp3d>
            <a:bevelT prst="relaxedInset"/>
          </a:sp3d>
        </p:spPr>
        <p:txBody>
          <a:bodyPr anchor="ctr">
            <a:noAutofit/>
          </a:bodyPr>
          <a:lstStyle>
            <a:lvl1pPr algn="ctr" rtl="0" eaLnBrk="0" fontAlgn="base" hangingPunct="0">
              <a:spcBef>
                <a:spcPct val="0"/>
              </a:spcBef>
              <a:spcAft>
                <a:spcPct val="0"/>
              </a:spcAft>
              <a:defRPr sz="2400" b="1" kern="1200">
                <a:solidFill>
                  <a:schemeClr val="tx1"/>
                </a:solidFill>
                <a:latin typeface="Cambria" pitchFamily="18" charset="0"/>
                <a:ea typeface="+mj-ea"/>
                <a:cs typeface="+mj-cs"/>
              </a:defRPr>
            </a:lvl1pPr>
            <a:lvl2pPr algn="ctr" rtl="0" eaLnBrk="0" fontAlgn="base" hangingPunct="0">
              <a:spcBef>
                <a:spcPct val="0"/>
              </a:spcBef>
              <a:spcAft>
                <a:spcPct val="0"/>
              </a:spcAft>
              <a:defRPr sz="4400" b="1">
                <a:solidFill>
                  <a:schemeClr val="tx1"/>
                </a:solidFill>
                <a:latin typeface="Cambria" pitchFamily="18" charset="0"/>
              </a:defRPr>
            </a:lvl2pPr>
            <a:lvl3pPr algn="ctr" rtl="0" eaLnBrk="0" fontAlgn="base" hangingPunct="0">
              <a:spcBef>
                <a:spcPct val="0"/>
              </a:spcBef>
              <a:spcAft>
                <a:spcPct val="0"/>
              </a:spcAft>
              <a:defRPr sz="4400" b="1">
                <a:solidFill>
                  <a:schemeClr val="tx1"/>
                </a:solidFill>
                <a:latin typeface="Cambria" pitchFamily="18" charset="0"/>
              </a:defRPr>
            </a:lvl3pPr>
            <a:lvl4pPr algn="ctr" rtl="0" eaLnBrk="0" fontAlgn="base" hangingPunct="0">
              <a:spcBef>
                <a:spcPct val="0"/>
              </a:spcBef>
              <a:spcAft>
                <a:spcPct val="0"/>
              </a:spcAft>
              <a:defRPr sz="4400" b="1">
                <a:solidFill>
                  <a:schemeClr val="tx1"/>
                </a:solidFill>
                <a:latin typeface="Cambria" pitchFamily="18" charset="0"/>
              </a:defRPr>
            </a:lvl4pPr>
            <a:lvl5pPr algn="ctr" rtl="0" eaLnBrk="0" fontAlgn="base" hangingPunct="0">
              <a:spcBef>
                <a:spcPct val="0"/>
              </a:spcBef>
              <a:spcAft>
                <a:spcPct val="0"/>
              </a:spcAft>
              <a:defRPr sz="4400" b="1">
                <a:solidFill>
                  <a:schemeClr val="tx1"/>
                </a:solidFill>
                <a:latin typeface="Cambria" pitchFamily="18" charset="0"/>
              </a:defRPr>
            </a:lvl5pPr>
            <a:lvl6pPr marL="457200" algn="ctr" rtl="0" fontAlgn="base">
              <a:spcBef>
                <a:spcPct val="0"/>
              </a:spcBef>
              <a:spcAft>
                <a:spcPct val="0"/>
              </a:spcAft>
              <a:defRPr sz="4400" b="1">
                <a:solidFill>
                  <a:schemeClr val="tx1"/>
                </a:solidFill>
                <a:latin typeface="Cambria" pitchFamily="18" charset="0"/>
              </a:defRPr>
            </a:lvl6pPr>
            <a:lvl7pPr marL="914400" algn="ctr" rtl="0" fontAlgn="base">
              <a:spcBef>
                <a:spcPct val="0"/>
              </a:spcBef>
              <a:spcAft>
                <a:spcPct val="0"/>
              </a:spcAft>
              <a:defRPr sz="4400" b="1">
                <a:solidFill>
                  <a:schemeClr val="tx1"/>
                </a:solidFill>
                <a:latin typeface="Cambria" pitchFamily="18" charset="0"/>
              </a:defRPr>
            </a:lvl7pPr>
            <a:lvl8pPr marL="1371600" algn="ctr" rtl="0" fontAlgn="base">
              <a:spcBef>
                <a:spcPct val="0"/>
              </a:spcBef>
              <a:spcAft>
                <a:spcPct val="0"/>
              </a:spcAft>
              <a:defRPr sz="4400" b="1">
                <a:solidFill>
                  <a:schemeClr val="tx1"/>
                </a:solidFill>
                <a:latin typeface="Cambria" pitchFamily="18" charset="0"/>
              </a:defRPr>
            </a:lvl8pPr>
            <a:lvl9pPr marL="1828800" algn="ctr" rtl="0" fontAlgn="base">
              <a:spcBef>
                <a:spcPct val="0"/>
              </a:spcBef>
              <a:spcAft>
                <a:spcPct val="0"/>
              </a:spcAft>
              <a:defRPr sz="4400" b="1">
                <a:solidFill>
                  <a:schemeClr val="tx1"/>
                </a:solidFill>
                <a:latin typeface="Cambria" pitchFamily="18"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3200" b="1"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rPr>
              <a:t>What is the running time of Radix Sort?</a:t>
            </a:r>
            <a:endParaRPr kumimoji="0" lang="en-IN" sz="3200" b="1" u="none" strike="noStrike" kern="1200" cap="none" spc="0" normalizeH="0" baseline="0" noProof="0" dirty="0">
              <a:ln>
                <a:noFill/>
              </a:ln>
              <a:solidFill>
                <a:schemeClr val="bg2"/>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 name="Content Placeholder 2">
            <a:extLst>
              <a:ext uri="{FF2B5EF4-FFF2-40B4-BE49-F238E27FC236}">
                <a16:creationId xmlns:a16="http://schemas.microsoft.com/office/drawing/2014/main" id="{2BC0FD97-AE24-0A02-B98B-698EC52A702A}"/>
              </a:ext>
            </a:extLst>
          </p:cNvPr>
          <p:cNvSpPr txBox="1">
            <a:spLocks/>
          </p:cNvSpPr>
          <p:nvPr/>
        </p:nvSpPr>
        <p:spPr bwMode="auto">
          <a:xfrm>
            <a:off x="892576" y="1079564"/>
            <a:ext cx="8001000" cy="367017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Let there be d digits in input integers. Radix Sort takes O(d*(</a:t>
            </a:r>
            <a:r>
              <a:rPr kumimoji="0" lang="en-US" alt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n+b</a:t>
            </a: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 time where b is the base for representing numbers, for example, for decimal system, b is 10. What is the value of d? </a:t>
            </a:r>
          </a:p>
          <a:p>
            <a:pPr marL="0" marR="0" lvl="0" indent="0" algn="just"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If k is the maximum possible value, then d would be O(</a:t>
            </a:r>
            <a:r>
              <a:rPr kumimoji="0" lang="en-US" altLang="en-US" sz="2400" b="0" i="0" u="none" strike="noStrike" kern="1200" cap="none" spc="0" normalizeH="0" baseline="0" noProof="0" dirty="0" err="1">
                <a:ln>
                  <a:noFill/>
                </a:ln>
                <a:solidFill>
                  <a:sysClr val="windowText" lastClr="000000"/>
                </a:solidFill>
                <a:effectLst/>
                <a:uLnTx/>
                <a:uFillTx/>
                <a:latin typeface="Cambria" pitchFamily="18" charset="0"/>
                <a:ea typeface="+mn-ea"/>
                <a:cs typeface="+mn-cs"/>
              </a:rPr>
              <a:t>log</a:t>
            </a:r>
            <a:r>
              <a:rPr kumimoji="0" lang="en-US" altLang="en-US" sz="2400" b="0" i="0" u="none" strike="noStrike" kern="1200" cap="none" spc="0" normalizeH="0" baseline="-25000" noProof="0" dirty="0" err="1">
                <a:ln>
                  <a:noFill/>
                </a:ln>
                <a:solidFill>
                  <a:sysClr val="windowText" lastClr="000000"/>
                </a:solidFill>
                <a:effectLst/>
                <a:uLnTx/>
                <a:uFillTx/>
                <a:latin typeface="Cambria" pitchFamily="18" charset="0"/>
                <a:ea typeface="+mn-ea"/>
                <a:cs typeface="+mn-cs"/>
              </a:rPr>
              <a:t>b</a:t>
            </a:r>
            <a:r>
              <a:rPr kumimoji="0" lang="en-US" altLang="en-US" sz="2400" b="0" i="0" u="none" strike="noStrike" kern="1200" cap="none" spc="0" normalizeH="0" baseline="0" noProof="0" dirty="0">
                <a:ln>
                  <a:noFill/>
                </a:ln>
                <a:solidFill>
                  <a:sysClr val="windowText" lastClr="000000"/>
                </a:solidFill>
                <a:effectLst/>
                <a:uLnTx/>
                <a:uFillTx/>
                <a:latin typeface="Cambria" pitchFamily="18" charset="0"/>
                <a:ea typeface="+mn-ea"/>
                <a:cs typeface="+mn-cs"/>
              </a:rPr>
              <a:t>(k)). So overall time complexity </a:t>
            </a:r>
            <a:r>
              <a:rPr kumimoji="0" lang="en-US" alt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is O((</a:t>
            </a:r>
            <a:r>
              <a:rPr kumimoji="0" lang="en-US" altLang="en-US"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n+b</a:t>
            </a:r>
            <a:r>
              <a:rPr kumimoji="0" lang="en-US" alt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 * </a:t>
            </a:r>
            <a:r>
              <a:rPr kumimoji="0" lang="en-US" altLang="en-US" sz="2400" b="1" i="0" u="none" strike="noStrike" kern="1200" cap="none" spc="0" normalizeH="0" baseline="0" noProof="0" dirty="0" err="1">
                <a:ln>
                  <a:noFill/>
                </a:ln>
                <a:solidFill>
                  <a:sysClr val="windowText" lastClr="000000"/>
                </a:solidFill>
                <a:effectLst/>
                <a:uLnTx/>
                <a:uFillTx/>
                <a:latin typeface="Cambria" pitchFamily="18" charset="0"/>
                <a:ea typeface="+mn-ea"/>
                <a:cs typeface="+mn-cs"/>
              </a:rPr>
              <a:t>log</a:t>
            </a:r>
            <a:r>
              <a:rPr kumimoji="0" lang="en-US" altLang="en-US" sz="2400" b="1" i="0" u="none" strike="noStrike" kern="1200" cap="none" spc="0" normalizeH="0" baseline="-25000" noProof="0" dirty="0" err="1">
                <a:ln>
                  <a:noFill/>
                </a:ln>
                <a:solidFill>
                  <a:sysClr val="windowText" lastClr="000000"/>
                </a:solidFill>
                <a:effectLst/>
                <a:uLnTx/>
                <a:uFillTx/>
                <a:latin typeface="Cambria" pitchFamily="18" charset="0"/>
                <a:ea typeface="+mn-ea"/>
                <a:cs typeface="+mn-cs"/>
              </a:rPr>
              <a:t>b</a:t>
            </a:r>
            <a:r>
              <a:rPr kumimoji="0" lang="en-US" alt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rPr>
              <a:t>(k)).</a:t>
            </a:r>
            <a:endParaRPr kumimoji="0" lang="en-IN" altLang="en-US" sz="2400" b="1" i="0" u="none" strike="noStrike" kern="1200" cap="none" spc="0" normalizeH="0" baseline="0" noProof="0" dirty="0">
              <a:ln>
                <a:noFill/>
              </a:ln>
              <a:solidFill>
                <a:sysClr val="windowText" lastClr="000000"/>
              </a:solidFill>
              <a:effectLst/>
              <a:uLnTx/>
              <a:uFillTx/>
              <a:latin typeface="Cambria" pitchFamily="18" charset="0"/>
              <a:ea typeface="+mn-ea"/>
              <a:cs typeface="+mn-cs"/>
            </a:endParaRPr>
          </a:p>
        </p:txBody>
      </p:sp>
    </p:spTree>
    <p:extLst>
      <p:ext uri="{BB962C8B-B14F-4D97-AF65-F5344CB8AC3E}">
        <p14:creationId xmlns:p14="http://schemas.microsoft.com/office/powerpoint/2010/main" val="3134504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0792EA0-0E27-7753-EAE4-7FDD03333C15}"/>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FD0F23D-0B7D-CA57-DC06-2CDE3E14C2AD}"/>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1460D49-046F-7A63-DB4E-A65254943E4E}"/>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Google Shape;350;p8">
            <a:extLst>
              <a:ext uri="{FF2B5EF4-FFF2-40B4-BE49-F238E27FC236}">
                <a16:creationId xmlns:a16="http://schemas.microsoft.com/office/drawing/2014/main" id="{AD92ED75-9670-014D-01C6-514AA8B736BA}"/>
              </a:ext>
            </a:extLst>
          </p:cNvPr>
          <p:cNvSpPr txBox="1">
            <a:spLocks/>
          </p:cNvSpPr>
          <p:nvPr/>
        </p:nvSpPr>
        <p:spPr>
          <a:xfrm>
            <a:off x="1079613" y="191467"/>
            <a:ext cx="7417724"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400"/>
              <a:buFont typeface="Cambria"/>
              <a:buNone/>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Applications</a:t>
            </a:r>
          </a:p>
        </p:txBody>
      </p:sp>
      <p:sp>
        <p:nvSpPr>
          <p:cNvPr id="4" name="Rectangle 2">
            <a:extLst>
              <a:ext uri="{FF2B5EF4-FFF2-40B4-BE49-F238E27FC236}">
                <a16:creationId xmlns:a16="http://schemas.microsoft.com/office/drawing/2014/main" id="{92AA68FF-E50A-32E9-0373-AF92204390E5}"/>
              </a:ext>
            </a:extLst>
          </p:cNvPr>
          <p:cNvSpPr>
            <a:spLocks noChangeArrowheads="1"/>
          </p:cNvSpPr>
          <p:nvPr/>
        </p:nvSpPr>
        <p:spPr bwMode="auto">
          <a:xfrm>
            <a:off x="886691" y="858605"/>
            <a:ext cx="772283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Sorting integers within a small known range (e.g., exam scores, 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Sorting data with many duplicate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Used as a subroutine in Radix Sort.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Efficient sorting of fixed-range data in computer graphics (e.g., color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Histogram-based operations in image processing (e.g., grayscale histogram equalization).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Suffix array construction in string processing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Sorting categorical or class label data in machine learning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Educational demonstrations of non-comparison-based sorting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2"/>
                </a:solidFill>
                <a:effectLst/>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3810909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41A732-D0F0-17B1-B627-DB7F5C983C3C}"/>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8F187A80-B81E-8273-161A-1C2F1A9691F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A3ADC4BE-724D-BC03-5D67-42F1D9732F8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Google Shape;398;p16">
            <a:extLst>
              <a:ext uri="{FF2B5EF4-FFF2-40B4-BE49-F238E27FC236}">
                <a16:creationId xmlns:a16="http://schemas.microsoft.com/office/drawing/2014/main" id="{C1F7B2A6-F326-C535-25E2-C1FF3909D4C8}"/>
              </a:ext>
            </a:extLst>
          </p:cNvPr>
          <p:cNvSpPr txBox="1">
            <a:spLocks/>
          </p:cNvSpPr>
          <p:nvPr/>
        </p:nvSpPr>
        <p:spPr>
          <a:xfrm>
            <a:off x="833700" y="88964"/>
            <a:ext cx="7552800" cy="47059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Summary</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
        <p:nvSpPr>
          <p:cNvPr id="5" name="Rectangle 3">
            <a:extLst>
              <a:ext uri="{FF2B5EF4-FFF2-40B4-BE49-F238E27FC236}">
                <a16:creationId xmlns:a16="http://schemas.microsoft.com/office/drawing/2014/main" id="{56BAEEDC-41A5-4BB3-6AA1-6114CE947B78}"/>
              </a:ext>
            </a:extLst>
          </p:cNvPr>
          <p:cNvSpPr txBox="1">
            <a:spLocks noChangeArrowheads="1"/>
          </p:cNvSpPr>
          <p:nvPr/>
        </p:nvSpPr>
        <p:spPr bwMode="auto">
          <a:xfrm>
            <a:off x="1143000" y="647700"/>
            <a:ext cx="6892636" cy="38273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None/>
              <a:tabLst/>
              <a:defRPr/>
            </a:pPr>
            <a:endParaRPr kumimoji="0" lang="en-US" altLang="en-US" sz="2400" b="0" i="0" u="none" strike="noStrike" kern="1200" cap="none" spc="0" normalizeH="0" baseline="0" noProof="0">
              <a:ln>
                <a:noFill/>
              </a:ln>
              <a:solidFill>
                <a:srgbClr val="000000"/>
              </a:solidFill>
              <a:effectLst/>
              <a:uLnTx/>
              <a:uFillTx/>
              <a:latin typeface="Cambria" pitchFamily="18" charset="0"/>
              <a:ea typeface="Cambria" panose="02040503050406030204" pitchFamily="18" charset="0"/>
              <a:cs typeface="Cambria" panose="02040503050406030204" pitchFamily="18" charset="0"/>
              <a:sym typeface="Cambria" panose="02040503050406030204" pitchFamily="18" charset="0"/>
            </a:endParaRPr>
          </a:p>
          <a:p>
            <a:pPr marL="0" marR="0" lvl="0" indent="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None/>
              <a:tabLst/>
              <a:defRPr/>
            </a:pPr>
            <a:r>
              <a:rPr kumimoji="0" lang="en-US" altLang="en-US" sz="2400" b="0" i="0" u="none" strike="noStrike" kern="1200" cap="none" spc="0" normalizeH="0" baseline="0" noProof="0">
                <a:ln>
                  <a:noFill/>
                </a:ln>
                <a:solidFill>
                  <a:srgbClr val="000000"/>
                </a:solidFill>
                <a:effectLst/>
                <a:uLnTx/>
                <a:uFillTx/>
                <a:latin typeface="Cambria" pitchFamily="18" charset="0"/>
                <a:ea typeface="Cambria" panose="02040503050406030204" pitchFamily="18" charset="0"/>
                <a:cs typeface="Cambria" panose="02040503050406030204" pitchFamily="18" charset="0"/>
                <a:sym typeface="Cambria" panose="02040503050406030204" pitchFamily="18" charset="0"/>
              </a:rPr>
              <a:t>Sorting Algorithm in Linear Time</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Radix Sort</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Counting Sort</a:t>
            </a:r>
          </a:p>
          <a:p>
            <a:pPr marL="742950" marR="0" lvl="1" indent="-285750" algn="l" defTabSz="914400" rtl="0" eaLnBrk="0" fontAlgn="base" latinLnBrk="0" hangingPunct="0">
              <a:lnSpc>
                <a:spcPct val="100000"/>
              </a:lnSpc>
              <a:spcBef>
                <a:spcPct val="0"/>
              </a:spcBef>
              <a:spcAft>
                <a:spcPct val="0"/>
              </a:spcAft>
              <a:buClr>
                <a:srgbClr val="000000"/>
              </a:buClr>
              <a:buSzPts val="2000"/>
              <a:buFont typeface="Arial" panose="020B0604020202020204" pitchFamily="34" charset="0"/>
              <a:buChar char="•"/>
              <a:tabLst/>
              <a:defRPr/>
            </a:pPr>
            <a:r>
              <a:rPr kumimoji="0" lang="en-US" altLang="en-US" sz="2300" b="0" i="0" u="none" strike="noStrike" kern="1200" cap="none" spc="0" normalizeH="0" baseline="0" noProof="0">
                <a:ln>
                  <a:noFill/>
                </a:ln>
                <a:solidFill>
                  <a:sysClr val="windowText" lastClr="000000"/>
                </a:solidFill>
                <a:effectLst/>
                <a:uLnTx/>
                <a:uFillTx/>
                <a:latin typeface="Calibri"/>
                <a:ea typeface="+mn-ea"/>
                <a:cs typeface="+mn-cs"/>
              </a:rPr>
              <a:t>Bucket sort</a:t>
            </a:r>
            <a:endParaRPr kumimoji="0" lang="en-US" altLang="en-US" sz="2300" b="0" i="0" u="none" strike="noStrike" kern="1200" cap="none" spc="0" normalizeH="0" baseline="0" noProof="0" dirty="0">
              <a:ln>
                <a:noFill/>
              </a:ln>
              <a:solidFill>
                <a:sysClr val="windowText" lastClr="000000"/>
              </a:solidFill>
              <a:effectLst/>
              <a:uLnTx/>
              <a:uFillTx/>
              <a:latin typeface="Calibri"/>
              <a:ea typeface="+mn-ea"/>
              <a:cs typeface="+mn-cs"/>
            </a:endParaRPr>
          </a:p>
        </p:txBody>
      </p:sp>
    </p:spTree>
    <p:extLst>
      <p:ext uri="{BB962C8B-B14F-4D97-AF65-F5344CB8AC3E}">
        <p14:creationId xmlns:p14="http://schemas.microsoft.com/office/powerpoint/2010/main" val="2701280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834F766-A176-EC7F-DA61-121F22B5631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2884BC-C924-1064-8AE8-EA2EEEF3175A}"/>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eaLnBrk="1" hangingPunct="1"/>
            <a:r>
              <a:rPr lang="en-US" sz="2400" b="0" i="0" u="none" strike="noStrike" cap="none" dirty="0">
                <a:solidFill>
                  <a:schemeClr val="bg2"/>
                </a:solidFill>
                <a:latin typeface="Times New Roman"/>
                <a:ea typeface="Times New Roman"/>
                <a:cs typeface="Times New Roman"/>
                <a:sym typeface="Times New Roman"/>
              </a:rPr>
              <a:t> </a:t>
            </a:r>
            <a:r>
              <a:rPr lang="en-IN" altLang="en-US" sz="2400" b="1" dirty="0">
                <a:solidFill>
                  <a:schemeClr val="bg2"/>
                </a:solidFill>
              </a:rPr>
              <a:t>Sorting algorithm In Linear Time</a:t>
            </a:r>
          </a:p>
          <a:p>
            <a:pPr marL="76200" indent="0" eaLnBrk="1" hangingPunct="1">
              <a:buNone/>
            </a:pPr>
            <a:r>
              <a:rPr lang="en-IN" altLang="en-US" sz="2400" b="1" dirty="0">
                <a:solidFill>
                  <a:schemeClr val="bg2"/>
                </a:solidFill>
                <a:latin typeface="Times New Roman" panose="02020603050405020304" pitchFamily="18" charset="0"/>
                <a:cs typeface="Times New Roman" panose="02020603050405020304" pitchFamily="18" charset="0"/>
              </a:rPr>
              <a:t>          (Bucket Sort)</a:t>
            </a:r>
            <a:endParaRPr lang="en-US" altLang="en-US" sz="3600" b="1" dirty="0">
              <a:solidFill>
                <a:schemeClr val="bg2"/>
              </a:solidFill>
              <a:latin typeface="Times New Roman" panose="02020603050405020304" pitchFamily="18" charset="0"/>
              <a:cs typeface="Times New Roman" panose="02020603050405020304" pitchFamily="18" charset="0"/>
            </a:endParaRPr>
          </a:p>
          <a:p>
            <a:pPr marL="342900" marR="0" lvl="0" indent="-342900" algn="just" rtl="0">
              <a:lnSpc>
                <a:spcPct val="100000"/>
              </a:lnSpc>
              <a:spcBef>
                <a:spcPts val="0"/>
              </a:spcBef>
              <a:spcAft>
                <a:spcPts val="0"/>
              </a:spcAft>
              <a:buClr>
                <a:schemeClr val="dk1"/>
              </a:buClr>
              <a:buSzPts val="2400"/>
              <a:buFont typeface="Arial"/>
              <a:buNone/>
            </a:pP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2EF7270C-BEA4-72D0-7C70-EF18C77EEAA8}"/>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Google Shape;398;p16">
            <a:extLst>
              <a:ext uri="{FF2B5EF4-FFF2-40B4-BE49-F238E27FC236}">
                <a16:creationId xmlns:a16="http://schemas.microsoft.com/office/drawing/2014/main" id="{29C0C67A-C50A-18DC-412A-99E3C5164A3A}"/>
              </a:ext>
            </a:extLst>
          </p:cNvPr>
          <p:cNvSpPr txBox="1">
            <a:spLocks/>
          </p:cNvSpPr>
          <p:nvPr/>
        </p:nvSpPr>
        <p:spPr>
          <a:xfrm>
            <a:off x="845130" y="264735"/>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Next Lecture</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0214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57FC081-CD9A-5890-31B1-05B3C94BF6C2}"/>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37BF6050-4B71-52AA-64DB-492D3464A4B8}"/>
              </a:ext>
            </a:extLst>
          </p:cNvPr>
          <p:cNvSpPr txBox="1">
            <a:spLocks noGrp="1"/>
          </p:cNvSpPr>
          <p:nvPr>
            <p:ph type="body" idx="1"/>
          </p:nvPr>
        </p:nvSpPr>
        <p:spPr>
          <a:xfrm>
            <a:off x="461700" y="1255769"/>
            <a:ext cx="8001000" cy="3414925"/>
          </a:xfrm>
          <a:prstGeom prst="rect">
            <a:avLst/>
          </a:prstGeom>
          <a:noFill/>
          <a:ln>
            <a:noFill/>
          </a:ln>
        </p:spPr>
        <p:txBody>
          <a:bodyPr spcFirstLastPara="1" wrap="square" lIns="91425" tIns="45700" rIns="91425" bIns="45700" anchor="t" anchorCtr="0">
            <a:normAutofit fontScale="92500" lnSpcReduction="10000"/>
          </a:bodyPr>
          <a:lstStyle/>
          <a:p>
            <a:pPr marR="0" lvl="0" indent="-457200" rtl="0">
              <a:lnSpc>
                <a:spcPct val="100000"/>
              </a:lnSpc>
              <a:spcBef>
                <a:spcPts val="0"/>
              </a:spcBef>
              <a:spcAft>
                <a:spcPts val="0"/>
              </a:spcAft>
              <a:buClr>
                <a:schemeClr val="dk1"/>
              </a:buClr>
              <a:buSzPts val="2400"/>
              <a:buFont typeface="Arial"/>
              <a:buAutoNum type="arabicPeriod"/>
            </a:pP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Counting Sort is best suited for:</a:t>
            </a:r>
            <a:b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A) Large data with floating-point numbers</a:t>
            </a:r>
            <a:b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B) Data with large ranges</a:t>
            </a:r>
            <a:b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C) Data with a small range of integers</a:t>
            </a:r>
            <a:b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br>
            <a:r>
              <a:rPr lang="en-US" dirty="0">
                <a:solidFill>
                  <a:schemeClr val="bg2"/>
                </a:solidFill>
                <a:latin typeface="Calibri" panose="020F0502020204030204" pitchFamily="34" charset="0"/>
                <a:ea typeface="Calibri" panose="020F0502020204030204" pitchFamily="34" charset="0"/>
                <a:cs typeface="Calibri" panose="020F0502020204030204" pitchFamily="34" charset="0"/>
              </a:rPr>
              <a:t>D) Sorting linked lists</a:t>
            </a:r>
          </a:p>
          <a:p>
            <a:pPr marL="0" marR="0" lvl="0" indent="0" rtl="0">
              <a:lnSpc>
                <a:spcPct val="100000"/>
              </a:lnSpc>
              <a:spcBef>
                <a:spcPts val="0"/>
              </a:spcBef>
              <a:spcAft>
                <a:spcPts val="0"/>
              </a:spcAft>
              <a:buClr>
                <a:schemeClr val="dk1"/>
              </a:buClr>
              <a:buSzPts val="2400"/>
              <a:buNone/>
            </a:pPr>
            <a:r>
              <a:rPr lang="en-US" sz="2400" b="0"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2.    </a:t>
            </a:r>
            <a:r>
              <a:rPr lang="en-US" b="1" dirty="0">
                <a:solidFill>
                  <a:schemeClr val="bg2"/>
                </a:solidFill>
              </a:rPr>
              <a:t>In Radix Sort, which sorting algorithm is typically used as a subroutine?</a:t>
            </a:r>
            <a:br>
              <a:rPr lang="en-US" dirty="0">
                <a:solidFill>
                  <a:schemeClr val="bg2"/>
                </a:solidFill>
              </a:rPr>
            </a:br>
            <a:r>
              <a:rPr lang="en-US" dirty="0">
                <a:solidFill>
                  <a:schemeClr val="bg2"/>
                </a:solidFill>
              </a:rPr>
              <a:t>        A) Bubble Sort</a:t>
            </a:r>
            <a:br>
              <a:rPr lang="en-US" dirty="0">
                <a:solidFill>
                  <a:schemeClr val="bg2"/>
                </a:solidFill>
              </a:rPr>
            </a:br>
            <a:r>
              <a:rPr lang="en-US" dirty="0">
                <a:solidFill>
                  <a:schemeClr val="bg2"/>
                </a:solidFill>
              </a:rPr>
              <a:t>        B) Insertion Sort</a:t>
            </a:r>
            <a:br>
              <a:rPr lang="en-US" dirty="0">
                <a:solidFill>
                  <a:schemeClr val="bg2"/>
                </a:solidFill>
              </a:rPr>
            </a:br>
            <a:r>
              <a:rPr lang="en-US" dirty="0">
                <a:solidFill>
                  <a:schemeClr val="bg2"/>
                </a:solidFill>
              </a:rPr>
              <a:t>        C) Counting Sort</a:t>
            </a:r>
            <a:br>
              <a:rPr lang="en-US" dirty="0">
                <a:solidFill>
                  <a:schemeClr val="bg2"/>
                </a:solidFill>
              </a:rPr>
            </a:br>
            <a:r>
              <a:rPr lang="en-US" dirty="0">
                <a:solidFill>
                  <a:schemeClr val="bg2"/>
                </a:solidFill>
              </a:rPr>
              <a:t>        D) Selection Sort</a:t>
            </a:r>
            <a:endParaRPr sz="2400" b="0" i="0" u="none"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p:txBody>
      </p:sp>
      <p:sp>
        <p:nvSpPr>
          <p:cNvPr id="7" name="TextBox 6">
            <a:extLst>
              <a:ext uri="{FF2B5EF4-FFF2-40B4-BE49-F238E27FC236}">
                <a16:creationId xmlns:a16="http://schemas.microsoft.com/office/drawing/2014/main" id="{7F91A00A-7547-9CA1-AE7A-367A9D781316}"/>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Google Shape;398;p16">
            <a:extLst>
              <a:ext uri="{FF2B5EF4-FFF2-40B4-BE49-F238E27FC236}">
                <a16:creationId xmlns:a16="http://schemas.microsoft.com/office/drawing/2014/main" id="{6A560F48-626F-3E22-D367-BDFCE56FCAB9}"/>
              </a:ext>
            </a:extLst>
          </p:cNvPr>
          <p:cNvSpPr txBox="1">
            <a:spLocks/>
          </p:cNvSpPr>
          <p:nvPr/>
        </p:nvSpPr>
        <p:spPr>
          <a:xfrm>
            <a:off x="1068162" y="306550"/>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rgbClr val="C00000"/>
              </a:buClr>
              <a:buSzPts val="2800"/>
              <a:buFont typeface="Cambria"/>
              <a:buNone/>
            </a:pPr>
            <a:r>
              <a:rPr lang="en-US" sz="4000" b="1">
                <a:solidFill>
                  <a:schemeClr val="bg2"/>
                </a:solidFill>
                <a:latin typeface="Calibri" panose="020F0502020204030204" pitchFamily="34" charset="0"/>
                <a:ea typeface="Calibri" panose="020F0502020204030204" pitchFamily="34" charset="0"/>
                <a:cs typeface="Calibri" panose="020F0502020204030204" pitchFamily="34" charset="0"/>
                <a:sym typeface="Cambria"/>
              </a:rPr>
              <a:t>Quiz</a:t>
            </a:r>
            <a:endParaRPr lang="en-US" sz="4000"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22976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C16E0BE-5E4E-D8A1-5CB2-8142F9754DB8}"/>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B227BF8B-63CF-08D9-3EFB-1157B57C1393}"/>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0C7C2C36-4064-467E-F174-5CD0AE20BD0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Google Shape;392;p15">
            <a:extLst>
              <a:ext uri="{FF2B5EF4-FFF2-40B4-BE49-F238E27FC236}">
                <a16:creationId xmlns:a16="http://schemas.microsoft.com/office/drawing/2014/main" id="{4B714057-CA43-4B1E-290C-27F7B4BBA00C}"/>
              </a:ext>
            </a:extLst>
          </p:cNvPr>
          <p:cNvSpPr txBox="1">
            <a:spLocks/>
          </p:cNvSpPr>
          <p:nvPr/>
        </p:nvSpPr>
        <p:spPr>
          <a:xfrm>
            <a:off x="952500" y="342338"/>
            <a:ext cx="7924800" cy="6096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C00000"/>
              </a:buClr>
              <a:buSzPts val="24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References/ Articles/ Videos</a:t>
            </a:r>
            <a:b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br>
            <a:endParaRPr lang="en-US" sz="4000" b="1" dirty="0">
              <a:solidFill>
                <a:srgbClr val="C00000"/>
              </a:solidFill>
              <a:latin typeface="Calibri" panose="020F0502020204030204" pitchFamily="34" charset="0"/>
              <a:ea typeface="Calibri" panose="020F0502020204030204" pitchFamily="34" charset="0"/>
              <a:cs typeface="Calibri" panose="020F0502020204030204" pitchFamily="34" charset="0"/>
              <a:sym typeface="Cambria"/>
            </a:endParaRPr>
          </a:p>
        </p:txBody>
      </p:sp>
      <p:sp>
        <p:nvSpPr>
          <p:cNvPr id="5" name="Google Shape;157;p25">
            <a:extLst>
              <a:ext uri="{FF2B5EF4-FFF2-40B4-BE49-F238E27FC236}">
                <a16:creationId xmlns:a16="http://schemas.microsoft.com/office/drawing/2014/main" id="{320E26A3-203F-E8CD-40BD-D82238451793}"/>
              </a:ext>
            </a:extLst>
          </p:cNvPr>
          <p:cNvSpPr txBox="1">
            <a:spLocks/>
          </p:cNvSpPr>
          <p:nvPr/>
        </p:nvSpPr>
        <p:spPr>
          <a:xfrm>
            <a:off x="991962" y="951938"/>
            <a:ext cx="8001000" cy="3849224"/>
          </a:xfrm>
          <a:prstGeom prst="rect">
            <a:avLst/>
          </a:prstGeom>
          <a:noFill/>
        </p:spPr>
        <p:txBody>
          <a:bodyPr spcFirstLastPara="1" wrap="square" lIns="91425" tIns="45700" rIns="91425" bIns="45700" anchor="t" anchorCtr="0">
            <a:noAutofit/>
          </a:bodyPr>
          <a:lstStyle>
            <a:lvl1pPr marL="342900" indent="-342900" algn="l" rtl="0" eaLnBrk="0" fontAlgn="base" hangingPunct="0">
              <a:spcBef>
                <a:spcPct val="20000"/>
              </a:spcBef>
              <a:spcAft>
                <a:spcPct val="0"/>
              </a:spcAft>
              <a:buFont typeface="Arial" panose="020B0604020202020204" pitchFamily="34" charset="0"/>
              <a:buChar char="•"/>
              <a:defRPr sz="2400" kern="1200">
                <a:solidFill>
                  <a:schemeClr val="tx1"/>
                </a:solidFill>
                <a:latin typeface="Cambria"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Text books:</a:t>
            </a:r>
            <a:endParaRPr kumimoji="0" lang="en-US" sz="24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Cormen, Leiserson, Rivest, Stein, “</a:t>
            </a:r>
            <a:r>
              <a:rPr kumimoji="0" lang="en-US" sz="1800" b="0" i="1" u="none" strike="noStrike" kern="1200" cap="none" spc="0" normalizeH="0" baseline="0" noProof="0">
                <a:ln>
                  <a:noFill/>
                </a:ln>
                <a:solidFill>
                  <a:sysClr val="windowText" lastClr="000000"/>
                </a:solidFill>
                <a:effectLst/>
                <a:uLnTx/>
                <a:uFillTx/>
                <a:latin typeface="Cambria" pitchFamily="18" charset="0"/>
                <a:ea typeface="+mn-ea"/>
                <a:cs typeface="+mn-cs"/>
              </a:rPr>
              <a:t>Introduction to Algorithms</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Prentice Hall of India, 3</a:t>
            </a:r>
            <a:r>
              <a:rPr kumimoji="0" lang="en-US" sz="1800" b="0" i="0" u="none" strike="noStrike" kern="1200" cap="none" spc="0" normalizeH="0" baseline="30000" noProof="0">
                <a:ln>
                  <a:noFill/>
                </a:ln>
                <a:solidFill>
                  <a:sysClr val="windowText" lastClr="000000"/>
                </a:solidFill>
                <a:effectLst/>
                <a:uLnTx/>
                <a:uFillTx/>
                <a:latin typeface="Cambria" pitchFamily="18" charset="0"/>
                <a:ea typeface="+mn-ea"/>
                <a:cs typeface="+mn-cs"/>
              </a:rPr>
              <a:t>rd</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edition 2012. problem, Graph coloring.</a:t>
            </a:r>
          </a:p>
          <a:p>
            <a:pPr marL="342900" marR="0" lvl="0" indent="-34290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Horowitz, Sahni and Rajasekaran, “</a:t>
            </a:r>
            <a:r>
              <a:rPr kumimoji="0" lang="en-US" sz="1800" b="0" i="1" u="none" strike="noStrike" kern="1200" cap="none" spc="0" normalizeH="0" baseline="0" noProof="0">
                <a:ln>
                  <a:noFill/>
                </a:ln>
                <a:solidFill>
                  <a:sysClr val="windowText" lastClr="000000"/>
                </a:solidFill>
                <a:effectLst/>
                <a:uLnTx/>
                <a:uFillTx/>
                <a:latin typeface="Cambria" pitchFamily="18" charset="0"/>
                <a:ea typeface="+mn-ea"/>
                <a:cs typeface="+mn-cs"/>
              </a:rPr>
              <a:t>Fundamentals of ComputerAlgorithms”</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University Press (India), 2</a:t>
            </a:r>
            <a:r>
              <a:rPr kumimoji="0" lang="en-US" sz="1800" b="0" i="0" u="none" strike="noStrike" kern="1200" cap="none" spc="0" normalizeH="0" baseline="30000" noProof="0">
                <a:ln>
                  <a:noFill/>
                </a:ln>
                <a:solidFill>
                  <a:sysClr val="windowText" lastClr="000000"/>
                </a:solidFill>
                <a:effectLst/>
                <a:uLnTx/>
                <a:uFillTx/>
                <a:latin typeface="Cambria" pitchFamily="18" charset="0"/>
                <a:ea typeface="+mn-ea"/>
                <a:cs typeface="+mn-cs"/>
              </a:rPr>
              <a:t>nd</a:t>
            </a: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rPr>
              <a:t> edition</a:t>
            </a: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endPar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tabLst/>
              <a:defRPr/>
            </a:pPr>
            <a:r>
              <a:rPr kumimoji="0" lang="en-US" sz="2400" b="1" i="0" u="none" strike="noStrike" kern="1200" cap="none" spc="0" normalizeH="0" baseline="0" noProof="0">
                <a:ln>
                  <a:noFill/>
                </a:ln>
                <a:solidFill>
                  <a:sysClr val="windowText" lastClr="000000"/>
                </a:solidFill>
                <a:effectLst/>
                <a:uLnTx/>
                <a:uFillTx/>
                <a:latin typeface="Cambria" pitchFamily="18" charset="0"/>
                <a:ea typeface="+mn-ea"/>
                <a:cs typeface="+mn-cs"/>
              </a:rPr>
              <a:t>Websites:</a:t>
            </a:r>
            <a:endParaRPr kumimoji="0" lang="en-US" sz="2400" b="1" i="0" u="sng" strike="noStrike" kern="1200" cap="none" spc="0" normalizeH="0" baseline="0" noProof="0">
              <a:ln>
                <a:noFill/>
              </a:ln>
              <a:solidFill>
                <a:sysClr val="windowText" lastClr="000000"/>
              </a:solidFill>
              <a:effectLst/>
              <a:uLnTx/>
              <a:uFillTx/>
              <a:latin typeface="Cambria" pitchFamily="18" charset="0"/>
              <a:ea typeface="+mn-ea"/>
              <a:cs typeface="+mn-cs"/>
              <a:hlinkClick r:id="rId3"/>
            </a:endParaRPr>
          </a:p>
          <a:p>
            <a:pPr marL="342900" marR="0" lvl="0" indent="-34290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Char char="•"/>
              <a:tabLst/>
              <a:defRPr/>
            </a:pPr>
            <a:r>
              <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hlinkClick r:id="rId4"/>
              </a:rPr>
              <a:t>https://www.geeksforgeeks.org/counting-sort/</a:t>
            </a:r>
            <a:endParaRPr kumimoji="0" lang="en-US" sz="1800" b="0" i="0" u="none" strike="noStrike" kern="1200" cap="none" spc="0" normalizeH="0" baseline="0" noProof="0">
              <a:ln>
                <a:noFill/>
              </a:ln>
              <a:solidFill>
                <a:sysClr val="windowText" lastClr="000000"/>
              </a:solidFill>
              <a:effectLst/>
              <a:uLnTx/>
              <a:uFillTx/>
              <a:latin typeface="Cambria" pitchFamily="18" charset="0"/>
              <a:ea typeface="+mn-ea"/>
              <a:cs typeface="+mn-cs"/>
            </a:endParaRPr>
          </a:p>
          <a:p>
            <a:pPr marL="342900" marR="0" lvl="0" indent="-34290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Char char="•"/>
              <a:tabLst/>
              <a:defRPr/>
            </a:pPr>
            <a:r>
              <a:rPr kumimoji="0" lang="en-US" sz="1800" b="0" i="0" u="none" strike="noStrike" kern="1200" cap="none" spc="0" normalizeH="0" baseline="0" noProof="0">
                <a:ln>
                  <a:noFill/>
                </a:ln>
                <a:solidFill>
                  <a:srgbClr val="0033CC"/>
                </a:solidFill>
                <a:effectLst/>
                <a:uLnTx/>
                <a:uFillTx/>
                <a:latin typeface="Cambria" pitchFamily="18" charset="0"/>
                <a:ea typeface="+mn-ea"/>
                <a:cs typeface="+mn-cs"/>
                <a:hlinkClick r:id="rId5"/>
              </a:rPr>
              <a:t>https://www.programiz.com/dsa/radix-sort</a:t>
            </a:r>
            <a:endParaRPr kumimoji="0" lang="en-US" sz="1800" b="0" i="0" u="none" strike="noStrike" kern="1200" cap="none" spc="0" normalizeH="0" baseline="0" noProof="0">
              <a:ln>
                <a:noFill/>
              </a:ln>
              <a:solidFill>
                <a:srgbClr val="0033CC"/>
              </a:solidFill>
              <a:effectLst/>
              <a:uLnTx/>
              <a:uFillTx/>
              <a:latin typeface="Cambria" pitchFamily="18" charset="0"/>
              <a:ea typeface="+mn-ea"/>
              <a:cs typeface="+mn-cs"/>
            </a:endParaRPr>
          </a:p>
          <a:p>
            <a:pPr marL="0" marR="0" lvl="0" indent="0" algn="l" defTabSz="914400" rtl="0" eaLnBrk="0" fontAlgn="base" latinLnBrk="0" hangingPunct="0">
              <a:lnSpc>
                <a:spcPct val="100000"/>
              </a:lnSpc>
              <a:spcBef>
                <a:spcPts val="480"/>
              </a:spcBef>
              <a:spcAft>
                <a:spcPts val="0"/>
              </a:spcAft>
              <a:buClr>
                <a:sysClr val="windowText" lastClr="000000"/>
              </a:buClr>
              <a:buSzPts val="2400"/>
              <a:buFont typeface="Arial" panose="020B0604020202020204" pitchFamily="34" charset="0"/>
              <a:buNone/>
              <a:tabLst/>
              <a:defRPr/>
            </a:pPr>
            <a:endParaRPr kumimoji="0" lang="en-US" sz="1800" b="0" i="0" u="none" strike="noStrike" kern="1200" cap="none" spc="0" normalizeH="0" baseline="0" noProof="0">
              <a:ln>
                <a:noFill/>
              </a:ln>
              <a:solidFill>
                <a:sysClr val="windowText" lastClr="000000"/>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a:ln>
                <a:noFill/>
              </a:ln>
              <a:solidFill>
                <a:sysClr val="windowText" lastClr="000000"/>
              </a:solidFill>
              <a:effectLst/>
              <a:uLnTx/>
              <a:uFillTx/>
              <a:latin typeface="Cambria"/>
              <a:ea typeface="Cambria"/>
              <a:cs typeface="Cambria"/>
              <a:sym typeface="Cambria"/>
            </a:endParaRPr>
          </a:p>
          <a:p>
            <a:pPr marL="457200" marR="0" lvl="0" indent="-304800" algn="l" defTabSz="914400" rtl="0" eaLnBrk="0" fontAlgn="base" latinLnBrk="0" hangingPunct="0">
              <a:lnSpc>
                <a:spcPct val="100000"/>
              </a:lnSpc>
              <a:spcBef>
                <a:spcPts val="480"/>
              </a:spcBef>
              <a:spcAft>
                <a:spcPts val="0"/>
              </a:spcAft>
              <a:buClr>
                <a:sysClr val="windowText" lastClr="000000"/>
              </a:buClr>
              <a:buSzPts val="2400"/>
              <a:buFont typeface="Arial"/>
              <a:buNone/>
              <a:tabLst/>
              <a:defRPr/>
            </a:pPr>
            <a:endParaRPr kumimoji="0" lang="en-US" sz="2400" b="0" i="0" u="none" strike="noStrike" kern="1200" cap="none" spc="0" normalizeH="0" baseline="0" noProof="0" dirty="0">
              <a:ln>
                <a:noFill/>
              </a:ln>
              <a:solidFill>
                <a:sysClr val="windowText" lastClr="000000"/>
              </a:solidFill>
              <a:effectLst/>
              <a:uLnTx/>
              <a:uFillTx/>
              <a:latin typeface="Cambria"/>
              <a:ea typeface="Cambria"/>
              <a:cs typeface="Cambria"/>
              <a:sym typeface="Cambria"/>
            </a:endParaRPr>
          </a:p>
        </p:txBody>
      </p:sp>
    </p:spTree>
    <p:extLst>
      <p:ext uri="{BB962C8B-B14F-4D97-AF65-F5344CB8AC3E}">
        <p14:creationId xmlns:p14="http://schemas.microsoft.com/office/powerpoint/2010/main" val="3439820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C23ABF-C8EE-EA05-F7EE-2B8C43F1E874}"/>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593698A8-3266-35AD-BB7C-2D517F1F531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88BF33F5-B0C9-AAA6-044A-76C3D9E8D88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Google Shape;398;p16">
            <a:extLst>
              <a:ext uri="{FF2B5EF4-FFF2-40B4-BE49-F238E27FC236}">
                <a16:creationId xmlns:a16="http://schemas.microsoft.com/office/drawing/2014/main" id="{6F49410F-EBB5-30E5-9EAD-BE507179EEE1}"/>
              </a:ext>
            </a:extLst>
          </p:cNvPr>
          <p:cNvSpPr txBox="1">
            <a:spLocks/>
          </p:cNvSpPr>
          <p:nvPr/>
        </p:nvSpPr>
        <p:spPr>
          <a:xfrm>
            <a:off x="948000" y="583857"/>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Google Shape;399;p16">
            <a:extLst>
              <a:ext uri="{FF2B5EF4-FFF2-40B4-BE49-F238E27FC236}">
                <a16:creationId xmlns:a16="http://schemas.microsoft.com/office/drawing/2014/main" id="{FD57801D-30BB-E7C7-3950-4312264ED9AE}"/>
              </a:ext>
            </a:extLst>
          </p:cNvPr>
          <p:cNvSpPr txBox="1">
            <a:spLocks/>
          </p:cNvSpPr>
          <p:nvPr/>
        </p:nvSpPr>
        <p:spPr>
          <a:xfrm>
            <a:off x="757500" y="1781227"/>
            <a:ext cx="8001000" cy="27784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rtl="0">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927100" lvl="1" indent="-457200">
              <a:spcBef>
                <a:spcPts val="0"/>
              </a:spcBef>
              <a:buClr>
                <a:srgbClr val="000000"/>
              </a:buClr>
              <a:buSzPts val="200"/>
              <a:buFont typeface="+mj-lt"/>
              <a:buAutoNum type="arabicPeriod"/>
            </a:pPr>
            <a:endParaRPr lang="en-IN" dirty="0"/>
          </a:p>
          <a:p>
            <a:pPr marL="584200" indent="-457200">
              <a:spcBef>
                <a:spcPts val="400"/>
              </a:spcBef>
              <a:buSzPts val="2000"/>
              <a:buFont typeface="+mj-lt"/>
              <a:buAutoNum type="arabicPeriod"/>
            </a:pPr>
            <a:r>
              <a:rPr lang="en-IN" sz="2000" dirty="0">
                <a:latin typeface="Calibri"/>
                <a:ea typeface="Calibri"/>
                <a:cs typeface="Calibri"/>
                <a:sym typeface="Calibri"/>
                <a:hlinkClick r:id="rId3"/>
              </a:rPr>
              <a:t>https://onlinecourses.nptel.ac.in/noc23_cs96/preview</a:t>
            </a:r>
            <a:r>
              <a:rPr lang="en-IN" sz="2000" dirty="0">
                <a:latin typeface="Calibri"/>
                <a:ea typeface="Calibri"/>
                <a:cs typeface="Calibri"/>
                <a:sym typeface="Calibri"/>
              </a:rPr>
              <a:t> </a:t>
            </a:r>
          </a:p>
          <a:p>
            <a:pPr marL="584200" indent="-457200">
              <a:spcBef>
                <a:spcPts val="400"/>
              </a:spcBef>
              <a:buSzPts val="2000"/>
              <a:buFont typeface="+mj-lt"/>
              <a:buAutoNum type="arabicPeriod"/>
            </a:pPr>
            <a:r>
              <a:rPr lang="en-IN" sz="2000" dirty="0">
                <a:latin typeface="Calibri"/>
                <a:ea typeface="Calibri"/>
                <a:cs typeface="Calibri"/>
                <a:sym typeface="Calibri"/>
                <a:hlinkClick r:id="rId4"/>
              </a:rPr>
              <a:t>https://nptel.ac.in/courses/106106131</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5"/>
              </a:rPr>
              <a:t>https://nptel.ac.in/courses/106106208</a:t>
            </a:r>
            <a:endParaRPr lang="en-IN" sz="2000" dirty="0">
              <a:latin typeface="Calibri"/>
              <a:ea typeface="Calibri"/>
              <a:cs typeface="Calibri"/>
              <a:sym typeface="Calibri"/>
            </a:endParaRPr>
          </a:p>
          <a:p>
            <a:pPr marL="584200" indent="-457200">
              <a:spcBef>
                <a:spcPts val="400"/>
              </a:spcBef>
              <a:buSzPts val="2000"/>
              <a:buFont typeface="+mj-lt"/>
              <a:buAutoNum type="arabicPeriod"/>
            </a:pPr>
            <a:r>
              <a:rPr lang="en-IN" sz="2000" dirty="0">
                <a:latin typeface="Calibri"/>
                <a:ea typeface="Calibri"/>
                <a:cs typeface="Calibri"/>
                <a:sym typeface="Calibri"/>
                <a:hlinkClick r:id="rId6"/>
              </a:rPr>
              <a:t>https://www.linkedin.com/learning/learning-algorithms</a:t>
            </a: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a:p>
            <a:pPr marL="127000" indent="0">
              <a:spcBef>
                <a:spcPts val="400"/>
              </a:spcBef>
              <a:buSzPts val="2000"/>
              <a:buFont typeface="Arial"/>
              <a:buNone/>
            </a:pPr>
            <a:endParaRPr lang="en-IN" sz="2000" dirty="0">
              <a:latin typeface="Calibri"/>
              <a:ea typeface="Calibri"/>
              <a:cs typeface="Calibri"/>
              <a:sym typeface="Calibri"/>
            </a:endParaRPr>
          </a:p>
        </p:txBody>
      </p:sp>
    </p:spTree>
    <p:extLst>
      <p:ext uri="{BB962C8B-B14F-4D97-AF65-F5344CB8AC3E}">
        <p14:creationId xmlns:p14="http://schemas.microsoft.com/office/powerpoint/2010/main" val="1229055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141664-9E0A-0C54-B96F-BED84C5451EF}"/>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468A3DE-696B-7FC9-013F-76B2E3B5B3BB}"/>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a:extLst>
              <a:ext uri="{FF2B5EF4-FFF2-40B4-BE49-F238E27FC236}">
                <a16:creationId xmlns:a16="http://schemas.microsoft.com/office/drawing/2014/main" id="{657B4478-479B-A962-4153-A5D9BEBE8CD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Google Shape;398;p16">
            <a:extLst>
              <a:ext uri="{FF2B5EF4-FFF2-40B4-BE49-F238E27FC236}">
                <a16:creationId xmlns:a16="http://schemas.microsoft.com/office/drawing/2014/main" id="{5CF26446-8E74-2ED0-D707-24246C6EC751}"/>
              </a:ext>
            </a:extLst>
          </p:cNvPr>
          <p:cNvSpPr txBox="1">
            <a:spLocks/>
          </p:cNvSpPr>
          <p:nvPr/>
        </p:nvSpPr>
        <p:spPr>
          <a:xfrm>
            <a:off x="876443" y="393764"/>
            <a:ext cx="7924800" cy="65966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7123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1432125" y="1709456"/>
            <a:ext cx="6000750" cy="2186100"/>
          </a:xfrm>
          <a:prstGeom prst="rect">
            <a:avLst/>
          </a:prstGeom>
          <a:noFill/>
          <a:ln>
            <a:noFill/>
          </a:ln>
        </p:spPr>
        <p:txBody>
          <a:bodyPr spcFirstLastPara="1" wrap="square" lIns="68569" tIns="34275" rIns="68569" bIns="34275" anchor="t" anchorCtr="0">
            <a:normAutofit/>
          </a:bodyPr>
          <a:lstStyle/>
          <a:p>
            <a:pPr marL="257175" indent="-257175" algn="just">
              <a:lnSpc>
                <a:spcPct val="100000"/>
              </a:lnSpc>
              <a:spcBef>
                <a:spcPts val="0"/>
              </a:spcBef>
              <a:buNone/>
            </a:pPr>
            <a:r>
              <a:rPr lang="en-US" dirty="0">
                <a:solidFill>
                  <a:schemeClr val="bg2"/>
                </a:solidFill>
                <a:latin typeface="Times New Roman"/>
                <a:ea typeface="Times New Roman"/>
                <a:cs typeface="Times New Roman"/>
                <a:sym typeface="Times New Roman"/>
              </a:rPr>
              <a:t> </a:t>
            </a:r>
            <a:endParaRPr b="1" dirty="0">
              <a:solidFill>
                <a:schemeClr val="bg2"/>
              </a:solidFill>
              <a:latin typeface="Times New Roman"/>
              <a:ea typeface="Times New Roman"/>
              <a:cs typeface="Times New Roman"/>
              <a:sym typeface="Times New Roman"/>
            </a:endParaRPr>
          </a:p>
          <a:p>
            <a:pPr marL="257175" indent="-257175" algn="just">
              <a:lnSpc>
                <a:spcPct val="100000"/>
              </a:lnSpc>
              <a:buNone/>
            </a:pPr>
            <a:r>
              <a:rPr lang="en-US" dirty="0">
                <a:solidFill>
                  <a:schemeClr val="bg2"/>
                </a:solidFill>
                <a:latin typeface="Times New Roman"/>
                <a:ea typeface="Times New Roman"/>
                <a:cs typeface="Times New Roman"/>
                <a:sym typeface="Times New Roman"/>
              </a:rPr>
              <a:t> </a:t>
            </a:r>
            <a:endParaRPr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457200" y="2270562"/>
            <a:ext cx="7328595"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45989" y="3980946"/>
            <a:ext cx="4403925"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richa.e11307@cumail.in</a:t>
            </a:r>
          </a:p>
        </p:txBody>
      </p:sp>
      <p:sp>
        <p:nvSpPr>
          <p:cNvPr id="5" name="TextBox 4"/>
          <p:cNvSpPr txBox="1"/>
          <p:nvPr/>
        </p:nvSpPr>
        <p:spPr>
          <a:xfrm>
            <a:off x="8279765" y="361440"/>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24</a:t>
            </a:r>
          </a:p>
        </p:txBody>
      </p:sp>
    </p:spTree>
    <p:extLst>
      <p:ext uri="{BB962C8B-B14F-4D97-AF65-F5344CB8AC3E}">
        <p14:creationId xmlns:p14="http://schemas.microsoft.com/office/powerpoint/2010/main" val="2407500439"/>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822</TotalTime>
  <Words>773</Words>
  <Application>Microsoft Office PowerPoint</Application>
  <PresentationFormat>On-screen Show (16:9)</PresentationFormat>
  <Paragraphs>120</Paragraphs>
  <Slides>19</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Black</vt:lpstr>
      <vt:lpstr>Times New Roman</vt:lpstr>
      <vt:lpstr>Calibri</vt:lpstr>
      <vt:lpstr>Cambria</vt:lpstr>
      <vt:lpstr>Vladimir Script</vt:lpstr>
      <vt:lpstr>Lato</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Richa Dhiman</cp:lastModifiedBy>
  <cp:revision>122</cp:revision>
  <dcterms:modified xsi:type="dcterms:W3CDTF">2025-05-28T04:54:36Z</dcterms:modified>
</cp:coreProperties>
</file>