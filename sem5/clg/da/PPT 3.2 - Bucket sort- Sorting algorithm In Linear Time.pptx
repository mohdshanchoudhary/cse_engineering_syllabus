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8" r:id="rId17"/>
    <p:sldId id="329" r:id="rId18"/>
    <p:sldId id="337" r:id="rId19"/>
    <p:sldId id="338" r:id="rId20"/>
    <p:sldId id="339" r:id="rId21"/>
    <p:sldId id="340" r:id="rId22"/>
    <p:sldId id="341" r:id="rId23"/>
    <p:sldId id="332" r:id="rId24"/>
    <p:sldId id="331" r:id="rId25"/>
    <p:sldId id="333" r:id="rId26"/>
    <p:sldId id="334" r:id="rId27"/>
    <p:sldId id="336" r:id="rId28"/>
    <p:sldId id="311" r:id="rId2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Vladimir Script" panose="03050402040407070305" pitchFamily="66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7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16C3BF0-F04D-CC55-01DE-58461362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1C26BBB-3EE0-C367-EB17-2F01B758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ED12312-F8C0-DB82-75C0-FC2758C0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370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1E0EE1-A63F-12F4-10BB-2B0C5E51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3949B4A-8DCA-5D8A-F91E-E3E318169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D7E994A-6713-82F4-3A2F-AD2DA1A7B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1222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D04F549-C923-1FA6-0572-8E4FDBD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0D34990-FEC3-FB89-4B02-268714D7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7BCAEBB-22C0-CF35-0C48-E613A3B45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3046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65DF209-F70B-D346-7CAD-F327973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F278F86-62B3-04BA-72AF-285D9D5D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A2B0163-0369-FCE8-AFFD-EDC379A6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9840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E3711B1-371D-2583-D61A-67C35F3E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C593DF-5E72-43B4-DFE4-C87365070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F3C8862-36D6-FFCC-8D89-0C289A5B8B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8074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147491A-4919-2F1D-0F6F-8CDCA0D7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18FB7EC-7F87-3F2F-DBEA-6A6F91B76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E50D082-34EA-751E-4314-000B6F1EC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9775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E103896-EA66-2A63-0191-6F8310FB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8ED3CB1-23E7-AA3F-12AD-954EA5704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C9439C9-F903-88F3-01AD-62544D3B7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982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35E93B-760C-8ED5-670A-51004776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F55EDF5-3431-0161-D83B-C6A600AA9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94B9FFF-5686-5341-600F-0E6EFDFCB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297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6CBB9AA-334B-2D83-1877-63B23095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7313BD4-A33A-2B0B-1D75-4C54A0552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5B6475B-FFAE-0233-F072-686754F34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6565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768BFAC-B80D-4CE7-0EB8-3E7FC37B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AB34072-51D2-F671-8742-84328CE92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1170CB6-491F-BFEB-2F3B-664BBD53F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0598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AA929B9-5E24-E4DA-BA03-B87CC168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EFAC44-3E6C-5040-D1E0-48E6C1091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22545D3-C3F0-26B3-66FF-ABC2207F4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7431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43FA12D-E0A4-3780-F76F-B578B661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69082CA-62D0-F3FF-39F3-1863A548B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F753BF9-EBE2-2C72-99F7-A7D5FA5D3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733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405B87D-E8F5-FC73-6299-DE29EAC3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345117E-03B1-3488-A231-F8053283C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71978D2-718F-96B7-EA33-17582DA8A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4075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59EE02-05F5-BD06-9043-65EB1578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3A8098E-0B20-C5B4-CA12-AA55AAC63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A03FFD3-64D0-3BDA-3BB1-42B70A68C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82053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2aqwpvls1cndj.cloudfront.net/ultra/uiv3800.11.0-rel.10_e9cd3c0" TargetMode="External"/><Relationship Id="rId4" Type="http://schemas.openxmlformats.org/officeDocument/2006/relationships/hyperlink" Target="https://www.slideshare.net/shimulsakhawat/bucket-sort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399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3                  Lecture No.14</a:t>
            </a:r>
          </a:p>
          <a:p>
            <a:pPr eaLnBrk="1" hangingPunct="1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sz="1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altLang="en-US" sz="1800" b="1" dirty="0"/>
              <a:t>Sorting algorithm In Linear Time  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(Bucket Sort)</a:t>
            </a:r>
            <a:endParaRPr lang="en-US" sz="1800" b="1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23BFC3-88B9-3663-4BA7-28437757717C}"/>
              </a:ext>
            </a:extLst>
          </p:cNvPr>
          <p:cNvSpPr txBox="1">
            <a:spLocks/>
          </p:cNvSpPr>
          <p:nvPr/>
        </p:nvSpPr>
        <p:spPr bwMode="auto">
          <a:xfrm>
            <a:off x="991962" y="955963"/>
            <a:ext cx="7777965" cy="360218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Sorting algorithm In Linear 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Outcome: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Student will understand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Sorting algorithm In Linear Time.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3" name="Google Shape;138;p22">
            <a:extLst>
              <a:ext uri="{FF2B5EF4-FFF2-40B4-BE49-F238E27FC236}">
                <a16:creationId xmlns:a16="http://schemas.microsoft.com/office/drawing/2014/main" id="{3981701E-ACD3-7FD3-9623-864F8B289728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Bucket Sort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4" name="Google Shape;139;p22">
            <a:extLst>
              <a:ext uri="{FF2B5EF4-FFF2-40B4-BE49-F238E27FC236}">
                <a16:creationId xmlns:a16="http://schemas.microsoft.com/office/drawing/2014/main" id="{BE9FF1F1-22FE-AD0F-15DF-D91B3009D9F4}"/>
              </a:ext>
            </a:extLst>
          </p:cNvPr>
          <p:cNvSpPr txBox="1">
            <a:spLocks/>
          </p:cNvSpPr>
          <p:nvPr/>
        </p:nvSpPr>
        <p:spPr>
          <a:xfrm>
            <a:off x="757500" y="917763"/>
            <a:ext cx="8001000" cy="3668092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Bucket sort assumes that the input is generated by a random process and drawn from a uniform distribution. In other words the elements are distributed uniformly and independently over the interval [0,1].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Bucket sort divides the interval [0,1] into n equal sized subintervals or buckets. Then distributes the n inputs into these buckets.</a:t>
            </a:r>
          </a:p>
          <a:p>
            <a:pPr marL="342900" marR="0" lvl="0" indent="-236220" algn="l" defTabSz="914400" rtl="0" eaLnBrk="0" fontAlgn="base" latinLnBrk="0" hangingPunct="0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ysClr val="windowText" lastClr="000000"/>
              </a:buClr>
              <a:buSzPts val="1680"/>
              <a:buFont typeface="Arial"/>
              <a:buNone/>
              <a:tabLst/>
              <a:defRPr/>
            </a:pPr>
            <a:endParaRPr kumimoji="0" lang="en-US" sz="1679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" name="Google Shape;144;p23">
            <a:extLst>
              <a:ext uri="{FF2B5EF4-FFF2-40B4-BE49-F238E27FC236}">
                <a16:creationId xmlns:a16="http://schemas.microsoft.com/office/drawing/2014/main" id="{F1EB5DD8-ECC4-D2D0-398C-E0C4AB9F14EF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Bucket Sort Algorithm 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id="{5ED707F7-3701-D322-221C-A65E91BA8139}"/>
              </a:ext>
            </a:extLst>
          </p:cNvPr>
          <p:cNvSpPr txBox="1">
            <a:spLocks/>
          </p:cNvSpPr>
          <p:nvPr/>
        </p:nvSpPr>
        <p:spPr bwMode="auto">
          <a:xfrm>
            <a:off x="757500" y="882875"/>
            <a:ext cx="8001000" cy="4174638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Bucket-Sort(A)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1.Let B[0….n-1] be a new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2.n = length[A]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3.for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= 0 to n-1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4.     make B[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] an empty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5.for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= 1 to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6.    do insert A[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] into list B[└ n A[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] ┘]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7.for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= 0 to n-1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8.   do sort list B[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] with Insertion-Sort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9.Concatenate lists B[0], B[1],…,B[n-1] together in order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C6F129-824A-D879-C81D-FF5001ECB9A7}"/>
              </a:ext>
            </a:extLst>
          </p:cNvPr>
          <p:cNvSpPr txBox="1">
            <a:spLocks/>
          </p:cNvSpPr>
          <p:nvPr/>
        </p:nvSpPr>
        <p:spPr>
          <a:xfrm>
            <a:off x="1465786" y="197075"/>
            <a:ext cx="7445113" cy="51992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9C7F18-5CB2-1EF8-2363-61ADCBF6F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33055" y="806675"/>
            <a:ext cx="7380983" cy="3776203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AC61E40-C94D-0317-E943-FA2445675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4125" y="234950"/>
            <a:ext cx="6635750" cy="47249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57FC14-5D7B-A0E2-5825-D938E8B9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1107" y="239875"/>
            <a:ext cx="6635750" cy="47200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E5D61-3DFC-2B1B-A91D-A016267C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9525" y="273050"/>
            <a:ext cx="6922366" cy="46453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2D565F7-7B58-5C3B-FCDC-E6C0CFEF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F31FAFF-7FEE-BA83-A704-9D5C6DCD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AA1B1-2426-1794-67B3-848ED1C7161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8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908C4F-B9D9-20C9-5E35-EFC6696D6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6825" y="239875"/>
            <a:ext cx="6380884" cy="47871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53712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EEC0536-BF5D-71F0-87EA-F1E1B41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FCDD88A-2ADF-8A48-80BA-D52FEC540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94115-363C-5364-F65C-CCEE1956B27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9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A3087-83D4-3DBC-AF17-5882130CE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7270" y="393764"/>
            <a:ext cx="6686550" cy="43999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13450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FE174C-2C6C-BACB-E1EF-E7CF8749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39610BC-42CA-7267-440D-E771D9DD4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F62AB-1496-B1F6-0FDD-173D6F0A2D2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2461E-E9A9-B066-68A4-AE18AF833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3175" y="239875"/>
            <a:ext cx="6597650" cy="46784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64932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A18E393-2F51-EB19-24F3-365F9B67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7625D6E-BE07-D5DE-44E0-C5F84CC86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2C3F7-EF4B-C0D1-3F4C-BC5308BA675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016D2B-E81C-DDBC-857C-E5AF5FF81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8311" y="180975"/>
            <a:ext cx="6673850" cy="478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22963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5EE71D1-7E4C-9A19-B1B0-FFE86311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973ED05-330D-6F74-8DBD-D04B781EE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55D24-D161-8DDC-2D87-3D43417FA29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133E46-73F8-E765-5DFD-2982AE426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3080" y="177773"/>
            <a:ext cx="6610350" cy="4819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04067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EDD4AF3-DA94-D6A0-2AC4-E934CDB0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9BE66D1-0307-3CB4-53A4-1023590A6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4B0F7-3D51-3816-CBA0-71BA2C69356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05D81C2-E1E9-7CE5-6467-CC591E9C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9525" y="180975"/>
            <a:ext cx="6584950" cy="478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94289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FD339BC-2988-866F-6816-068F5066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7540205-E2A2-B070-97D2-4A2AAA40F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1AE22-6971-5E87-F4A5-D658D237281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00886AE-4904-68F8-6674-9199BB91B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311" y="239875"/>
            <a:ext cx="6719743" cy="45122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700405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733F852-A886-8227-6767-5F182C71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AB50379-C410-4336-E07F-3787939FE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90169-2A0D-E993-F871-5879DBD6C48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D69C085-A334-C6FB-3E84-12EB19C7B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0175" y="239875"/>
            <a:ext cx="6343650" cy="46230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68742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86620C3-2F0C-7D5F-F007-46E5CC0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D73298B-3630-FF6C-CE52-520A613B4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E581D-F020-1394-D9A7-F1DB3F1AF7B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4CD90C-CB75-96BF-99FB-8C83A14D8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6525" y="179464"/>
            <a:ext cx="6330950" cy="476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3587896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A5090E7-6DD4-FAAD-1D4B-1CEB37AF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6B81934-7078-9E7D-F762-82AF715EA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19FF1-3FA0-F57A-C241-C3C52E9DC8F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</a:t>
            </a:r>
            <a:r>
              <a:rPr lang="en-IN" dirty="0"/>
              <a:t>7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FF9290D-C05B-58BA-7CC6-8EECA4172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4925" y="168275"/>
            <a:ext cx="6534150" cy="480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4253320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002288D-4A50-7A3F-C52C-238133F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7149A40-D683-0046-DAEA-23647144D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99302-4E5C-D8FE-BC3A-146CA3FFA0D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1FE08D-48C5-BD2D-B235-16CBEF21C176}"/>
              </a:ext>
            </a:extLst>
          </p:cNvPr>
          <p:cNvSpPr txBox="1">
            <a:spLocks/>
          </p:cNvSpPr>
          <p:nvPr/>
        </p:nvSpPr>
        <p:spPr>
          <a:xfrm>
            <a:off x="757500" y="197075"/>
            <a:ext cx="78520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idea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7BEE2D-50E8-D644-D6F3-3808B519F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76" y="806675"/>
            <a:ext cx="7927524" cy="390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Partition the range into a fixed number of buckets.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Toss each element into its appropriate bucket.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Sort each bucket.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304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38F249A-26F4-2F86-23B1-AB7E280E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878F53-A233-B0AF-480E-6E753F0BF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2AB35-AA3B-79F6-4FBC-D303AD12F13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8F4E973-9584-E5DC-5DCE-ED653EB42CF3}"/>
              </a:ext>
            </a:extLst>
          </p:cNvPr>
          <p:cNvSpPr txBox="1">
            <a:spLocks/>
          </p:cNvSpPr>
          <p:nvPr/>
        </p:nvSpPr>
        <p:spPr>
          <a:xfrm>
            <a:off x="757500" y="197075"/>
            <a:ext cx="78520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0E637C-ADE6-EEAC-8280-AB98EFDD9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76" y="806675"/>
            <a:ext cx="7927524" cy="390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9A528-82FE-5B70-5067-193A84F3FED0}"/>
              </a:ext>
            </a:extLst>
          </p:cNvPr>
          <p:cNvSpPr txBox="1">
            <a:spLocks/>
          </p:cNvSpPr>
          <p:nvPr/>
        </p:nvSpPr>
        <p:spPr>
          <a:xfrm>
            <a:off x="838343" y="200052"/>
            <a:ext cx="7771181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Pro’s of Bucket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8DAA-2FEF-B814-9BF1-3E35AE213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43" y="885852"/>
            <a:ext cx="7845904" cy="367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Fast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Asymptotically fast (i.e., O(</a:t>
            </a:r>
            <a:r>
              <a:rPr kumimoji="0" lang="en-IN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) when distribution is uniform)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Simple to code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Good for a rough sort.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247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46638B6-C37F-7757-61CA-A152198F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81316B0-E51F-43C2-F730-3B20E0D50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5F2CF-8516-DA2A-8FC8-15157A7840CB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38A2F8-ABD8-BAAA-E2FF-B912656E2034}"/>
              </a:ext>
            </a:extLst>
          </p:cNvPr>
          <p:cNvSpPr txBox="1">
            <a:spLocks/>
          </p:cNvSpPr>
          <p:nvPr/>
        </p:nvSpPr>
        <p:spPr>
          <a:xfrm>
            <a:off x="757500" y="197075"/>
            <a:ext cx="78520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176863-785E-165A-1C16-9B5F5AF1E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76" y="806675"/>
            <a:ext cx="7927524" cy="390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E97B1-F46F-2BCF-142C-64A6941D83F8}"/>
              </a:ext>
            </a:extLst>
          </p:cNvPr>
          <p:cNvSpPr txBox="1">
            <a:spLocks/>
          </p:cNvSpPr>
          <p:nvPr/>
        </p:nvSpPr>
        <p:spPr>
          <a:xfrm>
            <a:off x="610676" y="200052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Con’s of Bucket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D7A9-7C75-319F-6BF1-AB9373406848}"/>
              </a:ext>
            </a:extLst>
          </p:cNvPr>
          <p:cNvSpPr txBox="1">
            <a:spLocks/>
          </p:cNvSpPr>
          <p:nvPr/>
        </p:nvSpPr>
        <p:spPr>
          <a:xfrm>
            <a:off x="534476" y="885852"/>
            <a:ext cx="8001000" cy="365843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Doesn’t sort in place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52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2DE45F-B9FA-8519-B86B-8D4C314F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0478808-F9B8-C2E7-12F3-E189291F4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FD1E2-D2D8-2976-D47D-67901D64979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>
                <a:solidFill>
                  <a:schemeClr val="bg2"/>
                </a:solidFill>
              </a:rPr>
              <a:t>21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C5440B-4E21-6413-5F23-86CD8C592FB8}"/>
              </a:ext>
            </a:extLst>
          </p:cNvPr>
          <p:cNvSpPr txBox="1">
            <a:spLocks/>
          </p:cNvSpPr>
          <p:nvPr/>
        </p:nvSpPr>
        <p:spPr>
          <a:xfrm>
            <a:off x="757500" y="197075"/>
            <a:ext cx="78520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03D7F6-199C-7E36-1B92-3CDF0748E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76" y="806675"/>
            <a:ext cx="7927524" cy="390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77D13-8C76-32BB-3E72-5A78EA3F82C3}"/>
              </a:ext>
            </a:extLst>
          </p:cNvPr>
          <p:cNvSpPr txBox="1">
            <a:spLocks/>
          </p:cNvSpPr>
          <p:nvPr/>
        </p:nvSpPr>
        <p:spPr>
          <a:xfrm>
            <a:off x="610676" y="200052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bg2"/>
                </a:solidFill>
              </a:rPr>
              <a:t>A</a:t>
            </a:r>
            <a:r>
              <a:rPr lang="en-IN" sz="3200" dirty="0" err="1">
                <a:solidFill>
                  <a:schemeClr val="bg2"/>
                </a:solidFill>
              </a:rPr>
              <a:t>pplications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59FCEA4-76BA-F06A-E12C-A9C43AC78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52" y="894266"/>
            <a:ext cx="77023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Sorting uniformly distributed real numbers (e.g., between 0 and 1)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External sorting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when data is too large to fit in memory and needs to be processed in chunks.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Floating-point number sorting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with values in a known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Sorting grades or scores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that are real numbers (e.g., GPA, percentage).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Sorting large datasets with a uniform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like sensor readings.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Used in histogram-based image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such as equalization or segmentation.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Preprocessing step in radix-like hybrid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especially when dealing with decimals.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Parallel and distributed sorting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, where buckets can be processed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3128791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22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9AD17E-1B51-38E5-6819-7815CA24C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8443" y="742777"/>
            <a:ext cx="7552800" cy="387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itchFamily="18" charset="0"/>
              <a:ea typeface="Cambria" panose="02040503050406030204" pitchFamily="18" charset="0"/>
              <a:cs typeface="Cambria" panose="02040503050406030204" pitchFamily="18" charset="0"/>
              <a:sym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anose="02040503050406030204" pitchFamily="18" charset="0"/>
                <a:cs typeface="Cambria" panose="02040503050406030204" pitchFamily="18" charset="0"/>
                <a:sym typeface="Cambria" panose="02040503050406030204" pitchFamily="18" charset="0"/>
              </a:rPr>
              <a:t>Sorting Algorithm in Linear Time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Radix Sort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Counting Sort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Bucket Sort</a:t>
            </a:r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BF6050-4B71-52AA-64DB-492D3464A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136712"/>
            <a:ext cx="8001000" cy="3574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Bucket Sort works best when the input data is: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A) Sorted in descending order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B) Uniformly distributed over a range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C) Large integers with a huge range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D) Random characters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  <a:latin typeface="Times New Roman"/>
                <a:cs typeface="Times New Roman"/>
                <a:sym typeface="Times New Roman"/>
              </a:rPr>
              <a:t>I</a:t>
            </a:r>
            <a:r>
              <a:rPr lang="en-US" b="1" dirty="0">
                <a:solidFill>
                  <a:schemeClr val="bg2"/>
                </a:solidFill>
              </a:rPr>
              <a:t>n Bucket Sort, after distributing elements into buckets, each bucket is usually sorted using: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A) Counting Sort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B) Quick Sort or Insertion Sort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C) Merge Sort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D) Heap Sort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30655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24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1068162" y="5018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38BE8A79-6DEF-EB9E-F5DC-C06E5C058B69}"/>
              </a:ext>
            </a:extLst>
          </p:cNvPr>
          <p:cNvSpPr txBox="1">
            <a:spLocks/>
          </p:cNvSpPr>
          <p:nvPr/>
        </p:nvSpPr>
        <p:spPr>
          <a:xfrm>
            <a:off x="914400" y="806675"/>
            <a:ext cx="8001000" cy="3994487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Text books: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Cormen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Leiserson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Rivest, Stein, “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Introduction to Algorithms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”, Prentice Hall of India, 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 2012. problem, Graph coloring.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Horowitz, Sahni and Rajasekaran, “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Fundamentals of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ComputerAlgorithms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University Press (India),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Websites: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  <a:hlinkClick r:id="rId3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4"/>
              </a:rPr>
              <a:t>https://www.slideshare.net/shimulsakhawat/bucket-sort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5"/>
              </a:rPr>
              <a:t>https://www.geeksforgeeks.org › bucket-sort-2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25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</a:t>
            </a:r>
            <a:r>
              <a:rPr lang="en-IN" sz="2000">
                <a:latin typeface="Calibri"/>
                <a:ea typeface="Calibri"/>
                <a:cs typeface="Calibri"/>
                <a:sym typeface="Calibri"/>
                <a:hlinkClick r:id="rId3"/>
              </a:rPr>
              <a:t>/preview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26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32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768202" y="1902290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755</Words>
  <Application>Microsoft Office PowerPoint</Application>
  <PresentationFormat>On-screen Show (16:9)</PresentationFormat>
  <Paragraphs>159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Black</vt:lpstr>
      <vt:lpstr>Times New Roman</vt:lpstr>
      <vt:lpstr>Calibri</vt:lpstr>
      <vt:lpstr>Cambria</vt:lpstr>
      <vt:lpstr>Vladimir Script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135</cp:revision>
  <dcterms:modified xsi:type="dcterms:W3CDTF">2025-05-28T04:54:58Z</dcterms:modified>
</cp:coreProperties>
</file>