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4"/>
  </p:notesMasterIdLst>
  <p:handoutMasterIdLst>
    <p:handoutMasterId r:id="rId35"/>
  </p:handoutMasterIdLst>
  <p:sldIdLst>
    <p:sldId id="423" r:id="rId3"/>
    <p:sldId id="285" r:id="rId4"/>
    <p:sldId id="422" r:id="rId5"/>
    <p:sldId id="403" r:id="rId6"/>
    <p:sldId id="342" r:id="rId7"/>
    <p:sldId id="344" r:id="rId8"/>
    <p:sldId id="287" r:id="rId9"/>
    <p:sldId id="288" r:id="rId10"/>
    <p:sldId id="346" r:id="rId11"/>
    <p:sldId id="411" r:id="rId12"/>
    <p:sldId id="366" r:id="rId13"/>
    <p:sldId id="296" r:id="rId14"/>
    <p:sldId id="355" r:id="rId15"/>
    <p:sldId id="297" r:id="rId16"/>
    <p:sldId id="357" r:id="rId17"/>
    <p:sldId id="298" r:id="rId18"/>
    <p:sldId id="361" r:id="rId19"/>
    <p:sldId id="412" r:id="rId20"/>
    <p:sldId id="304" r:id="rId21"/>
    <p:sldId id="390" r:id="rId22"/>
    <p:sldId id="305" r:id="rId23"/>
    <p:sldId id="363" r:id="rId24"/>
    <p:sldId id="338" r:id="rId25"/>
    <p:sldId id="397" r:id="rId26"/>
    <p:sldId id="401" r:id="rId27"/>
    <p:sldId id="307" r:id="rId28"/>
    <p:sldId id="308" r:id="rId29"/>
    <p:sldId id="353" r:id="rId30"/>
    <p:sldId id="410" r:id="rId31"/>
    <p:sldId id="351" r:id="rId32"/>
    <p:sldId id="32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8F00"/>
    <a:srgbClr val="ED8137"/>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9821" autoAdjust="0"/>
  </p:normalViewPr>
  <p:slideViewPr>
    <p:cSldViewPr snapToGrid="0">
      <p:cViewPr varScale="1">
        <p:scale>
          <a:sx n="71" d="100"/>
          <a:sy n="71" d="100"/>
        </p:scale>
        <p:origin x="67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2"/>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97897" y="5949548"/>
            <a:ext cx="4304284"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IN" sz="2400" b="1" dirty="0">
                <a:solidFill>
                  <a:schemeClr val="bg2">
                    <a:lumMod val="25000"/>
                  </a:schemeClr>
                </a:solidFill>
                <a:latin typeface="Times New Roman" panose="02020603050405020304" pitchFamily="18" charset="0"/>
                <a:cs typeface="Times New Roman" panose="02020603050405020304" pitchFamily="18" charset="0"/>
              </a:rPr>
              <a:t>Listening and speaking skills</a:t>
            </a:r>
            <a:endParaRPr lang="en-US" sz="2400" b="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6" name="TextBox 25"/>
          <p:cNvSpPr txBox="1">
            <a:spLocks noChangeArrowheads="1"/>
          </p:cNvSpPr>
          <p:nvPr/>
        </p:nvSpPr>
        <p:spPr bwMode="auto">
          <a:xfrm>
            <a:off x="1472514" y="1603907"/>
            <a:ext cx="946404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4000" b="1" dirty="0">
                <a:latin typeface="Arial Black" panose="020B0A04020102020204" pitchFamily="34" charset="0"/>
                <a:ea typeface="Karla" pitchFamily="2" charset="0"/>
                <a:cs typeface="Karla" pitchFamily="2" charset="0"/>
              </a:rPr>
              <a:t>University Institute of Liberal Arts and Humanities</a:t>
            </a:r>
          </a:p>
          <a:p>
            <a:pPr algn="ctr" defTabSz="622300">
              <a:lnSpc>
                <a:spcPct val="90000"/>
              </a:lnSpc>
              <a:spcBef>
                <a:spcPct val="0"/>
              </a:spcBef>
              <a:spcAft>
                <a:spcPct val="35000"/>
              </a:spcAft>
            </a:pPr>
            <a:r>
              <a:rPr lang="en-US" sz="3200" dirty="0">
                <a:latin typeface="Arial" pitchFamily="34" charset="0"/>
                <a:ea typeface="Calibri" panose="020F0502020204030204" pitchFamily="34" charset="0"/>
                <a:cs typeface="Arial" pitchFamily="34" charset="0"/>
              </a:rPr>
              <a:t>Course Name: Communication Skills</a:t>
            </a:r>
          </a:p>
          <a:p>
            <a:pPr algn="ctr" defTabSz="622300">
              <a:lnSpc>
                <a:spcPct val="90000"/>
              </a:lnSpc>
              <a:spcBef>
                <a:spcPct val="0"/>
              </a:spcBef>
              <a:spcAft>
                <a:spcPct val="35000"/>
              </a:spcAft>
            </a:pPr>
            <a:r>
              <a:rPr lang="en-US" sz="3200" dirty="0">
                <a:latin typeface="Arial" pitchFamily="34" charset="0"/>
                <a:ea typeface="Calibri" panose="020F0502020204030204" pitchFamily="34" charset="0"/>
                <a:cs typeface="Arial" pitchFamily="34" charset="0"/>
              </a:rPr>
              <a:t>Course Code: 23PCH-105</a:t>
            </a: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40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20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56142" y="629692"/>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Arial Black" pitchFamily="34" charset="0"/>
                <a:ea typeface="Karla" pitchFamily="2" charset="0"/>
                <a:cs typeface="Karla" pitchFamily="2" charset="0"/>
              </a:rPr>
              <a:t>COURSE OBJECTIVES</a:t>
            </a:r>
            <a:br>
              <a:rPr lang="en-US" sz="2000"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770907"/>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186795">
                <a:tc>
                  <a:txBody>
                    <a:bodyPr/>
                    <a:lstStyle/>
                    <a:p>
                      <a:pPr marL="0" marR="0" algn="ctr">
                        <a:lnSpc>
                          <a:spcPct val="100000"/>
                        </a:lnSpc>
                        <a:spcBef>
                          <a:spcPts val="0"/>
                        </a:spcBef>
                        <a:spcAft>
                          <a:spcPts val="0"/>
                        </a:spcAft>
                      </a:pPr>
                      <a:r>
                        <a:rPr lang="en-US" sz="2400" b="1" dirty="0">
                          <a:solidFill>
                            <a:schemeClr val="tx1"/>
                          </a:solidFill>
                          <a:effectLst/>
                        </a:rPr>
                        <a:t>1</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743416">
                <a:tc>
                  <a:txBody>
                    <a:bodyPr/>
                    <a:lstStyle/>
                    <a:p>
                      <a:pPr marL="0" marR="0" algn="ctr">
                        <a:lnSpc>
                          <a:spcPct val="100000"/>
                        </a:lnSpc>
                        <a:spcBef>
                          <a:spcPts val="0"/>
                        </a:spcBef>
                        <a:spcAft>
                          <a:spcPts val="0"/>
                        </a:spcAft>
                      </a:pPr>
                      <a:r>
                        <a:rPr lang="en-US" sz="2400" b="1" dirty="0">
                          <a:solidFill>
                            <a:schemeClr val="tx1"/>
                          </a:solidFill>
                          <a:effectLst/>
                        </a:rPr>
                        <a:t>2</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743416">
                <a:tc>
                  <a:txBody>
                    <a:bodyPr/>
                    <a:lstStyle/>
                    <a:p>
                      <a:pPr marL="0" marR="0" algn="ctr">
                        <a:lnSpc>
                          <a:spcPct val="100000"/>
                        </a:lnSpc>
                        <a:spcBef>
                          <a:spcPts val="0"/>
                        </a:spcBef>
                        <a:spcAft>
                          <a:spcPts val="0"/>
                        </a:spcAft>
                      </a:pPr>
                      <a:r>
                        <a:rPr lang="en-US" sz="2400" b="1" dirty="0">
                          <a:solidFill>
                            <a:schemeClr val="tx1"/>
                          </a:solidFill>
                          <a:effectLst/>
                        </a:rPr>
                        <a:t>3</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speaking,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r h="743416">
                <a:tc>
                  <a:txBody>
                    <a:bodyPr/>
                    <a:lstStyle/>
                    <a:p>
                      <a:pPr marL="0" marR="0" algn="ctr">
                        <a:lnSpc>
                          <a:spcPct val="100000"/>
                        </a:lnSpc>
                        <a:spcBef>
                          <a:spcPts val="0"/>
                        </a:spcBef>
                        <a:spcAft>
                          <a:spcPts val="0"/>
                        </a:spcAft>
                      </a:pPr>
                      <a:r>
                        <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p>
                  </a:txBody>
                  <a:tcPr marL="68580" marR="68580" marT="0" marB="0" anchor="ctr"/>
                </a:tc>
                <a:tc>
                  <a:txBody>
                    <a:bodyPr/>
                    <a:lstStyle/>
                    <a:p>
                      <a:pPr marL="0" marR="0">
                        <a:lnSpc>
                          <a:spcPct val="100000"/>
                        </a:lnSpc>
                        <a:spcBef>
                          <a:spcPts val="0"/>
                        </a:spcBef>
                        <a:spcAft>
                          <a:spcPts val="0"/>
                        </a:spcAft>
                      </a:pPr>
                      <a:r>
                        <a:rPr lang="en-US" sz="2400" b="0" dirty="0">
                          <a:solidFill>
                            <a:schemeClr val="tx1"/>
                          </a:solidFill>
                          <a:effectLst/>
                          <a:latin typeface="Arial" pitchFamily="34" charset="0"/>
                          <a:ea typeface="Times New Roman" panose="02020603050405020304" pitchFamily="18" charset="0"/>
                          <a:cs typeface="Arial" pitchFamily="34" charset="0"/>
                        </a:rPr>
                        <a:t>Enhances soft skills by fostering self awareness, confidence and a positive attitude in students’ ability to communicate effectively in English.</a:t>
                      </a:r>
                    </a:p>
                  </a:txBody>
                  <a:tcPr marL="68580" marR="68580" marT="0" marB="0"/>
                </a:tc>
                <a:extLst>
                  <a:ext uri="{0D108BD9-81ED-4DB2-BD59-A6C34878D82A}">
                    <a16:rowId xmlns:a16="http://schemas.microsoft.com/office/drawing/2014/main" val="2339887652"/>
                  </a:ext>
                </a:extLst>
              </a:tr>
            </a:tbl>
          </a:graphicData>
        </a:graphic>
      </p:graphicFrame>
      <p:sp>
        <p:nvSpPr>
          <p:cNvPr id="11" name="Rectangle 10"/>
          <p:cNvSpPr/>
          <p:nvPr/>
        </p:nvSpPr>
        <p:spPr>
          <a:xfrm>
            <a:off x="492162" y="1616818"/>
            <a:ext cx="2956259" cy="461665"/>
          </a:xfrm>
          <a:prstGeom prst="rect">
            <a:avLst/>
          </a:prstGeom>
        </p:spPr>
        <p:txBody>
          <a:bodyPr wrap="none">
            <a:spAutoFit/>
          </a:bodyPr>
          <a:lstStyle/>
          <a:p>
            <a:r>
              <a:rPr lang="en-US" sz="2400" dirty="0">
                <a:latin typeface="Arial" pitchFamily="34" charset="0"/>
                <a:cs typeface="Arial" pitchFamily="34" charset="0"/>
              </a:rPr>
              <a:t>The Course aims to:</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240346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06018" y="1781555"/>
            <a:ext cx="5806440" cy="400110"/>
          </a:xfrm>
          <a:prstGeom prst="rect">
            <a:avLst/>
          </a:prstGeom>
        </p:spPr>
        <p:txBody>
          <a:bodyPr wrap="square">
            <a:spAutoFit/>
          </a:bodyPr>
          <a:lstStyle/>
          <a:p>
            <a:r>
              <a:rPr lang="en-US" sz="2000" dirty="0">
                <a:latin typeface="Arial" pitchFamily="34" charset="0"/>
                <a:cs typeface="Arial" pitchFamily="34" charset="0"/>
              </a:rPr>
              <a:t>On completion, the students are expected to:</a:t>
            </a:r>
            <a:endParaRPr lang="en-US" sz="2000" b="1" dirty="0">
              <a:latin typeface="Arial" pitchFamily="34" charset="0"/>
              <a:cs typeface="Arial" pitchFamily="34" charset="0"/>
            </a:endParaRPr>
          </a:p>
        </p:txBody>
      </p:sp>
      <p:sp>
        <p:nvSpPr>
          <p:cNvPr id="12" name="Title 11"/>
          <p:cNvSpPr>
            <a:spLocks noGrp="1"/>
          </p:cNvSpPr>
          <p:nvPr>
            <p:ph type="title"/>
          </p:nvPr>
        </p:nvSpPr>
        <p:spPr>
          <a:xfrm>
            <a:off x="915988" y="624840"/>
            <a:ext cx="5149532" cy="1082040"/>
          </a:xfrm>
        </p:spPr>
        <p:txBody>
          <a:bodyPr>
            <a:noAutofit/>
          </a:bodyPr>
          <a:lstStyle/>
          <a:p>
            <a:pPr algn="ctr"/>
            <a:r>
              <a:rPr lang="en-US" sz="4400" b="1" dirty="0">
                <a:latin typeface="Arial Black" pitchFamily="34" charset="0"/>
              </a:rPr>
              <a:t>Course Outcomes </a:t>
            </a:r>
            <a:endParaRPr lang="en-IN" sz="3600" dirty="0"/>
          </a:p>
        </p:txBody>
      </p:sp>
      <p:pic>
        <p:nvPicPr>
          <p:cNvPr id="1026" name="Picture 2" descr="The 4 Language Skills | Learn English | EnglishClub">
            <a:extLst>
              <a:ext uri="{FF2B5EF4-FFF2-40B4-BE49-F238E27FC236}">
                <a16:creationId xmlns:a16="http://schemas.microsoft.com/office/drawing/2014/main" id="{99762A86-A64B-9037-3CEA-37D459D80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1703" y="1206201"/>
            <a:ext cx="4762500" cy="48853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D966186C-1AF1-ED92-A8B4-CE19B9DE2ECC}"/>
              </a:ext>
            </a:extLst>
          </p:cNvPr>
          <p:cNvGraphicFramePr>
            <a:graphicFrameLocks noGrp="1"/>
          </p:cNvGraphicFramePr>
          <p:nvPr>
            <p:extLst>
              <p:ext uri="{D42A27DB-BD31-4B8C-83A1-F6EECF244321}">
                <p14:modId xmlns:p14="http://schemas.microsoft.com/office/powerpoint/2010/main" val="2532840418"/>
              </p:ext>
            </p:extLst>
          </p:nvPr>
        </p:nvGraphicFramePr>
        <p:xfrm>
          <a:off x="106018" y="2256340"/>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2296355238"/>
                    </a:ext>
                  </a:extLst>
                </a:gridCol>
                <a:gridCol w="4854552">
                  <a:extLst>
                    <a:ext uri="{9D8B030D-6E8A-4147-A177-3AD203B41FA5}">
                      <a16:colId xmlns:a16="http://schemas.microsoft.com/office/drawing/2014/main" val="636530275"/>
                    </a:ext>
                  </a:extLst>
                </a:gridCol>
                <a:gridCol w="1272461">
                  <a:extLst>
                    <a:ext uri="{9D8B030D-6E8A-4147-A177-3AD203B41FA5}">
                      <a16:colId xmlns:a16="http://schemas.microsoft.com/office/drawing/2014/main" val="2635522502"/>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129203561"/>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511939352"/>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1566616838"/>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817774112"/>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31760516"/>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506219392"/>
                  </a:ext>
                </a:extLst>
              </a:tr>
            </a:tbl>
          </a:graphicData>
        </a:graphic>
      </p:graphicFrame>
    </p:spTree>
    <p:extLst>
      <p:ext uri="{BB962C8B-B14F-4D97-AF65-F5344CB8AC3E}">
        <p14:creationId xmlns:p14="http://schemas.microsoft.com/office/powerpoint/2010/main" val="1176288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2"/>
            <a:ext cx="10515600" cy="1080512"/>
          </a:xfrm>
        </p:spPr>
        <p:txBody>
          <a:bodyPr>
            <a:normAutofit/>
          </a:bodyPr>
          <a:lstStyle/>
          <a:p>
            <a:pPr lvl="0" algn="ctr"/>
            <a:r>
              <a:rPr lang="en-IN" b="1" dirty="0">
                <a:latin typeface="Arial Black" pitchFamily="34" charset="0"/>
              </a:rPr>
              <a:t>Techniques for building LS Skills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6"/>
          <p:cNvSpPr txBox="1">
            <a:spLocks/>
          </p:cNvSpPr>
          <p:nvPr/>
        </p:nvSpPr>
        <p:spPr>
          <a:xfrm>
            <a:off x="838201" y="1712634"/>
            <a:ext cx="10530384" cy="4469802"/>
          </a:xfrm>
          <a:prstGeom prst="rect">
            <a:avLst/>
          </a:prstGeom>
          <a:ln>
            <a:solidFill>
              <a:schemeClr val="tx1"/>
            </a:solidFill>
          </a:ln>
        </p:spPr>
        <p:txBody>
          <a:bodyPr vert="horz" lIns="91440" tIns="45720" rIns="91440" bIns="45720" rtlCol="0">
            <a:noAutofit/>
          </a:bodyPr>
          <a:lstStyle/>
          <a:p>
            <a:pPr marL="228600" marR="0" lvl="0" indent="-228600" algn="l" defTabSz="914400" rtl="0" eaLnBrk="1" fontAlgn="auto" latinLnBrk="0" hangingPunct="1">
              <a:lnSpc>
                <a:spcPct val="150000"/>
              </a:lnSpc>
              <a:spcBef>
                <a:spcPts val="1000"/>
              </a:spcBef>
              <a:spcAft>
                <a:spcPts val="0"/>
              </a:spcAft>
              <a:buClrTx/>
              <a:buSzTx/>
              <a:tabLst/>
              <a:defRPr/>
            </a:pPr>
            <a:endParaRPr kumimoji="0" lang="en-IN" sz="22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
        <p:nvSpPr>
          <p:cNvPr id="10" name="Rectangle 9"/>
          <p:cNvSpPr/>
          <p:nvPr/>
        </p:nvSpPr>
        <p:spPr>
          <a:xfrm>
            <a:off x="8584441" y="6406049"/>
            <a:ext cx="2593075" cy="261610"/>
          </a:xfrm>
          <a:prstGeom prst="rect">
            <a:avLst/>
          </a:prstGeom>
        </p:spPr>
        <p:txBody>
          <a:bodyPr wrap="square">
            <a:spAutoFit/>
          </a:bodyPr>
          <a:lstStyle/>
          <a:p>
            <a:r>
              <a:rPr lang="en-US" sz="1100" dirty="0">
                <a:latin typeface="Arial" pitchFamily="34" charset="0"/>
                <a:cs typeface="Arial" pitchFamily="34" charset="0"/>
              </a:rPr>
              <a:t>www. blog.thewellnessuniverse.com</a:t>
            </a:r>
          </a:p>
        </p:txBody>
      </p:sp>
      <p:sp>
        <p:nvSpPr>
          <p:cNvPr id="12" name="Content Placeholder 11"/>
          <p:cNvSpPr>
            <a:spLocks noGrp="1"/>
          </p:cNvSpPr>
          <p:nvPr>
            <p:ph idx="1"/>
          </p:nvPr>
        </p:nvSpPr>
        <p:spPr>
          <a:xfrm>
            <a:off x="879231" y="1899138"/>
            <a:ext cx="5122983" cy="4114800"/>
          </a:xfrm>
        </p:spPr>
        <p:txBody>
          <a:bodyPr>
            <a:noAutofit/>
          </a:bodyPr>
          <a:lstStyle/>
          <a:p>
            <a:pPr>
              <a:buNone/>
            </a:pPr>
            <a:r>
              <a:rPr lang="en-US" dirty="0">
                <a:latin typeface="Arial" pitchFamily="34" charset="0"/>
                <a:cs typeface="Arial" pitchFamily="34" charset="0"/>
              </a:rPr>
              <a:t>  The most important thing in communication is hearing what isn't being said. The art of reading between the lines is a lifelong quest of the wise.     </a:t>
            </a:r>
          </a:p>
          <a:p>
            <a:pPr>
              <a:buNone/>
            </a:pPr>
            <a:r>
              <a:rPr lang="en-US" i="1" dirty="0">
                <a:latin typeface="Arial" pitchFamily="34" charset="0"/>
                <a:cs typeface="Arial" pitchFamily="34" charset="0"/>
              </a:rPr>
              <a:t>             -Shannon L. Alder</a:t>
            </a:r>
            <a:r>
              <a:rPr lang="en-US" dirty="0">
                <a:latin typeface="Arial" pitchFamily="34" charset="0"/>
                <a:cs typeface="Arial" pitchFamily="34" charset="0"/>
              </a:rPr>
              <a:t> </a:t>
            </a:r>
          </a:p>
        </p:txBody>
      </p:sp>
      <p:pic>
        <p:nvPicPr>
          <p:cNvPr id="152578" name="Picture 2" descr="C:\Users\ABC\AppData\Local\Microsoft\Windows\INetCache\IE\2E3IFNXT\ecouter-casque[1].jpg"/>
          <p:cNvPicPr>
            <a:picLocks noChangeAspect="1" noChangeArrowheads="1"/>
          </p:cNvPicPr>
          <p:nvPr/>
        </p:nvPicPr>
        <p:blipFill>
          <a:blip r:embed="rId2"/>
          <a:srcRect/>
          <a:stretch>
            <a:fillRect/>
          </a:stretch>
        </p:blipFill>
        <p:spPr bwMode="auto">
          <a:xfrm>
            <a:off x="5955323" y="1969477"/>
            <a:ext cx="2508738" cy="2543907"/>
          </a:xfrm>
          <a:prstGeom prst="rect">
            <a:avLst/>
          </a:prstGeom>
          <a:noFill/>
        </p:spPr>
      </p:pic>
      <p:pic>
        <p:nvPicPr>
          <p:cNvPr id="152579" name="Picture 3" descr="C:\Users\ABC\AppData\Local\Microsoft\Windows\INetCache\IE\PNZTXGCG\istock-scared-turtle[1].jpg"/>
          <p:cNvPicPr>
            <a:picLocks noChangeAspect="1" noChangeArrowheads="1"/>
          </p:cNvPicPr>
          <p:nvPr/>
        </p:nvPicPr>
        <p:blipFill>
          <a:blip r:embed="rId3" cstate="print"/>
          <a:srcRect/>
          <a:stretch>
            <a:fillRect/>
          </a:stretch>
        </p:blipFill>
        <p:spPr bwMode="auto">
          <a:xfrm>
            <a:off x="8522677" y="2379785"/>
            <a:ext cx="2403230" cy="3470030"/>
          </a:xfrm>
          <a:prstGeom prst="rect">
            <a:avLst/>
          </a:prstGeom>
          <a:ln>
            <a:noFill/>
          </a:ln>
          <a:effectLst>
            <a:softEdge rad="112500"/>
          </a:effectLst>
        </p:spPr>
      </p:pic>
    </p:spTree>
    <p:extLst>
      <p:ext uri="{BB962C8B-B14F-4D97-AF65-F5344CB8AC3E}">
        <p14:creationId xmlns:p14="http://schemas.microsoft.com/office/powerpoint/2010/main" val="82370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2"/>
            <a:ext cx="10515600" cy="1080512"/>
          </a:xfrm>
        </p:spPr>
        <p:txBody>
          <a:bodyPr>
            <a:normAutofit/>
          </a:bodyPr>
          <a:lstStyle/>
          <a:p>
            <a:pPr lvl="0" algn="ctr"/>
            <a:r>
              <a:rPr lang="en-US" b="1" dirty="0">
                <a:latin typeface="Arial Black" pitchFamily="34" charset="0"/>
              </a:rPr>
              <a:t>Listening Skills</a:t>
            </a:r>
            <a:r>
              <a:rPr lang="en-IN" b="1" dirty="0">
                <a:latin typeface="Arial Black" pitchFamily="34" charset="0"/>
              </a:rPr>
              <a:t>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838200" y="1759526"/>
            <a:ext cx="10509737" cy="4504796"/>
          </a:xfrm>
          <a:ln>
            <a:solidFill>
              <a:schemeClr val="tx1"/>
            </a:solidFill>
          </a:ln>
        </p:spPr>
        <p:txBody>
          <a:bodyPr>
            <a:noAutofit/>
          </a:bodyPr>
          <a:lstStyle/>
          <a:p>
            <a:pPr>
              <a:lnSpc>
                <a:spcPct val="100000"/>
              </a:lnSpc>
            </a:pPr>
            <a:r>
              <a:rPr lang="en-US" dirty="0">
                <a:effectLst/>
                <a:latin typeface="Arial" panose="020B0604020202020204" pitchFamily="34" charset="0"/>
              </a:rPr>
              <a:t>Listening is not just about being </a:t>
            </a:r>
            <a:r>
              <a:rPr lang="en-US" dirty="0">
                <a:latin typeface="Arial" panose="020B0604020202020204" pitchFamily="34" charset="0"/>
              </a:rPr>
              <a:t>q</a:t>
            </a:r>
            <a:r>
              <a:rPr lang="en-US" dirty="0">
                <a:effectLst/>
                <a:latin typeface="Arial" panose="020B0604020202020204" pitchFamily="34" charset="0"/>
              </a:rPr>
              <a:t>uiet while someone else is speaking.</a:t>
            </a:r>
            <a:br>
              <a:rPr lang="en-US" dirty="0"/>
            </a:br>
            <a:r>
              <a:rPr lang="en-US" dirty="0">
                <a:effectLst/>
                <a:latin typeface="Arial" panose="020B0604020202020204" pitchFamily="34" charset="0"/>
              </a:rPr>
              <a:t>• Listening is with the Mind.</a:t>
            </a:r>
            <a:br>
              <a:rPr lang="en-US" dirty="0"/>
            </a:br>
            <a:r>
              <a:rPr lang="en-US" dirty="0">
                <a:effectLst/>
                <a:latin typeface="Arial" panose="020B0604020202020204" pitchFamily="34" charset="0"/>
              </a:rPr>
              <a:t>• Hearing with the senses.</a:t>
            </a:r>
            <a:br>
              <a:rPr lang="en-US" dirty="0"/>
            </a:br>
            <a:r>
              <a:rPr lang="en-US" dirty="0">
                <a:effectLst/>
                <a:latin typeface="Arial" panose="020B0604020202020204" pitchFamily="34" charset="0"/>
              </a:rPr>
              <a:t>• Listening is conscious.</a:t>
            </a:r>
            <a:br>
              <a:rPr lang="en-US" dirty="0"/>
            </a:br>
            <a:r>
              <a:rPr lang="en-US" dirty="0">
                <a:effectLst/>
                <a:latin typeface="Arial" panose="020B0604020202020204" pitchFamily="34" charset="0"/>
              </a:rPr>
              <a:t>• To improve our interpersonal &amp; oral exchange.</a:t>
            </a:r>
          </a:p>
          <a:p>
            <a:pPr marL="0" indent="0" algn="ctr">
              <a:lnSpc>
                <a:spcPct val="100000"/>
              </a:lnSpc>
              <a:buNone/>
            </a:pPr>
            <a:br>
              <a:rPr lang="en-US" dirty="0"/>
            </a:br>
            <a:r>
              <a:rPr lang="en-US" dirty="0"/>
              <a:t> </a:t>
            </a:r>
            <a:r>
              <a:rPr lang="en-IN" dirty="0">
                <a:solidFill>
                  <a:srgbClr val="FF0000"/>
                </a:solidFill>
                <a:latin typeface="Arial" panose="020B0604020202020204" pitchFamily="34" charset="0"/>
              </a:rPr>
              <a:t>      </a:t>
            </a:r>
            <a:r>
              <a:rPr lang="en-US" dirty="0">
                <a:solidFill>
                  <a:srgbClr val="FF0000"/>
                </a:solidFill>
                <a:effectLst/>
                <a:latin typeface="Arial" panose="020B0604020202020204" pitchFamily="34" charset="0"/>
              </a:rPr>
              <a:t>Just Listening to words is not enough; a good Listener</a:t>
            </a:r>
            <a:br>
              <a:rPr lang="en-US" dirty="0">
                <a:solidFill>
                  <a:srgbClr val="FF0000"/>
                </a:solidFill>
              </a:rPr>
            </a:br>
            <a:r>
              <a:rPr lang="en-US" dirty="0">
                <a:solidFill>
                  <a:srgbClr val="FF0000"/>
                </a:solidFill>
              </a:rPr>
              <a:t>         </a:t>
            </a:r>
            <a:r>
              <a:rPr lang="en-US" dirty="0">
                <a:solidFill>
                  <a:srgbClr val="FF0000"/>
                </a:solidFill>
                <a:effectLst/>
                <a:latin typeface="Arial" panose="020B0604020202020204" pitchFamily="34" charset="0"/>
              </a:rPr>
              <a:t>has to pay attention to the non-verbal communication</a:t>
            </a:r>
            <a:br>
              <a:rPr lang="en-US" dirty="0">
                <a:solidFill>
                  <a:srgbClr val="FF0000"/>
                </a:solidFill>
              </a:rPr>
            </a:br>
            <a:r>
              <a:rPr lang="en-US" dirty="0">
                <a:solidFill>
                  <a:srgbClr val="FF0000"/>
                </a:solidFill>
              </a:rPr>
              <a:t>         </a:t>
            </a:r>
            <a:r>
              <a:rPr lang="en-US" dirty="0">
                <a:solidFill>
                  <a:srgbClr val="FF0000"/>
                </a:solidFill>
                <a:effectLst/>
                <a:latin typeface="Arial" panose="020B0604020202020204" pitchFamily="34" charset="0"/>
              </a:rPr>
              <a:t>of the speaker.</a:t>
            </a:r>
            <a:endParaRPr lang="en-IN" dirty="0">
              <a:solidFill>
                <a:srgbClr val="FF0000"/>
              </a:solidFill>
              <a:latin typeface="Arial" pitchFamily="34" charset="0"/>
              <a:cs typeface="Arial" pitchFamily="34" charset="0"/>
            </a:endParaRPr>
          </a:p>
        </p:txBody>
      </p:sp>
      <p:sp>
        <p:nvSpPr>
          <p:cNvPr id="5" name="Arrow: Right 4">
            <a:extLst>
              <a:ext uri="{FF2B5EF4-FFF2-40B4-BE49-F238E27FC236}">
                <a16:creationId xmlns:a16="http://schemas.microsoft.com/office/drawing/2014/main" id="{795F2FEB-CBEB-FED2-7001-3322DF3EA55D}"/>
              </a:ext>
            </a:extLst>
          </p:cNvPr>
          <p:cNvSpPr/>
          <p:nvPr/>
        </p:nvSpPr>
        <p:spPr>
          <a:xfrm>
            <a:off x="1149485" y="5048656"/>
            <a:ext cx="961417" cy="58278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23702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IN" b="1" dirty="0">
                <a:latin typeface="Arial Black" pitchFamily="34" charset="0"/>
              </a:rPr>
              <a:t>Effective  Listening</a:t>
            </a:r>
            <a:endParaRPr lang="en-US" b="1" dirty="0">
              <a:latin typeface="Arial Black" pitchFamily="34" charset="0"/>
            </a:endParaRPr>
          </a:p>
        </p:txBody>
      </p:sp>
      <p:sp>
        <p:nvSpPr>
          <p:cNvPr id="3" name="Content Placeholder 2"/>
          <p:cNvSpPr>
            <a:spLocks noGrp="1"/>
          </p:cNvSpPr>
          <p:nvPr>
            <p:ph idx="1"/>
          </p:nvPr>
        </p:nvSpPr>
        <p:spPr>
          <a:xfrm>
            <a:off x="838200" y="1770185"/>
            <a:ext cx="5275217" cy="4572000"/>
          </a:xfrm>
        </p:spPr>
        <p:txBody>
          <a:bodyPr>
            <a:noAutofit/>
          </a:bodyPr>
          <a:lstStyle/>
          <a:p>
            <a:pPr>
              <a:lnSpc>
                <a:spcPct val="100000"/>
              </a:lnSpc>
              <a:buNone/>
            </a:pPr>
            <a:r>
              <a:rPr lang="en-IN" dirty="0">
                <a:latin typeface="Arial" pitchFamily="34" charset="0"/>
                <a:cs typeface="Arial" pitchFamily="34" charset="0"/>
              </a:rPr>
              <a:t>  Effective Listening is the process of analyzing sounds, organizing them into recognizable patterns, interpreting the patterns and understanding the message by inferring the meaning.</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537938" y="5978769"/>
            <a:ext cx="3130062" cy="338554"/>
          </a:xfrm>
          <a:prstGeom prst="rect">
            <a:avLst/>
          </a:prstGeom>
        </p:spPr>
        <p:txBody>
          <a:bodyPr wrap="square">
            <a:spAutoFit/>
          </a:bodyPr>
          <a:lstStyle/>
          <a:p>
            <a:pPr algn="ctr"/>
            <a:r>
              <a:rPr lang="en-US" sz="1600" dirty="0">
                <a:latin typeface="Casper"/>
              </a:rPr>
              <a:t>www.wordpress.com</a:t>
            </a:r>
          </a:p>
        </p:txBody>
      </p:sp>
      <p:pic>
        <p:nvPicPr>
          <p:cNvPr id="8" name="Picture 2" descr="Image result for effective listening"/>
          <p:cNvPicPr>
            <a:picLocks noChangeAspect="1" noChangeArrowheads="1"/>
          </p:cNvPicPr>
          <p:nvPr/>
        </p:nvPicPr>
        <p:blipFill>
          <a:blip r:embed="rId2" cstate="print"/>
          <a:srcRect/>
          <a:stretch>
            <a:fillRect/>
          </a:stretch>
        </p:blipFill>
        <p:spPr bwMode="auto">
          <a:xfrm>
            <a:off x="6631914" y="2043834"/>
            <a:ext cx="4572000" cy="3740331"/>
          </a:xfrm>
          <a:prstGeom prst="rect">
            <a:avLst/>
          </a:prstGeom>
          <a:ln>
            <a:noFill/>
          </a:ln>
          <a:effectLst>
            <a:softEdge rad="112500"/>
          </a:effectLst>
        </p:spPr>
      </p:pic>
      <p:sp>
        <p:nvSpPr>
          <p:cNvPr id="10" name="Content Placeholder 2"/>
          <p:cNvSpPr txBox="1">
            <a:spLocks/>
          </p:cNvSpPr>
          <p:nvPr/>
        </p:nvSpPr>
        <p:spPr>
          <a:xfrm>
            <a:off x="838200" y="1763809"/>
            <a:ext cx="10515600" cy="4459570"/>
          </a:xfrm>
          <a:prstGeom prst="rect">
            <a:avLst/>
          </a:prstGeom>
          <a:ln>
            <a:solidFill>
              <a:schemeClr val="tx1"/>
            </a:solidFill>
          </a:ln>
        </p:spPr>
        <p:txBody>
          <a:bodyPr vert="horz" lIns="91440" tIns="45720" rIns="91440" bIns="45720" rtlCol="0">
            <a:normAutofit/>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823702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Arial Black" pitchFamily="34" charset="0"/>
              </a:rPr>
              <a:t>  Listening  V/S  Hearing </a:t>
            </a:r>
          </a:p>
        </p:txBody>
      </p:sp>
      <p:sp>
        <p:nvSpPr>
          <p:cNvPr id="3" name="Content Placeholder 2"/>
          <p:cNvSpPr>
            <a:spLocks noGrp="1"/>
          </p:cNvSpPr>
          <p:nvPr>
            <p:ph idx="1"/>
          </p:nvPr>
        </p:nvSpPr>
        <p:spPr>
          <a:xfrm>
            <a:off x="815191" y="1765809"/>
            <a:ext cx="6822832" cy="4665785"/>
          </a:xfrm>
        </p:spPr>
        <p:txBody>
          <a:bodyPr numCol="1">
            <a:noAutofit/>
          </a:bodyPr>
          <a:lstStyle/>
          <a:p>
            <a:pPr>
              <a:lnSpc>
                <a:spcPct val="100000"/>
              </a:lnSpc>
            </a:pPr>
            <a:r>
              <a:rPr lang="en-IN" sz="2400" dirty="0">
                <a:latin typeface="Arial" pitchFamily="34" charset="0"/>
                <a:cs typeface="Arial" pitchFamily="34" charset="0"/>
              </a:rPr>
              <a:t>Hearing - physical process; natural; passive</a:t>
            </a:r>
          </a:p>
          <a:p>
            <a:pPr>
              <a:lnSpc>
                <a:spcPct val="100000"/>
              </a:lnSpc>
            </a:pPr>
            <a:r>
              <a:rPr lang="en-IN" sz="2400" dirty="0">
                <a:latin typeface="Arial" pitchFamily="34" charset="0"/>
                <a:cs typeface="Arial" pitchFamily="34" charset="0"/>
              </a:rPr>
              <a:t> Listening - physical &amp; mental process; active; learning process; a skill to develop.</a:t>
            </a:r>
          </a:p>
          <a:p>
            <a:pPr>
              <a:lnSpc>
                <a:spcPct val="100000"/>
              </a:lnSpc>
              <a:buFont typeface="Wingdings" panose="05000000000000000000" pitchFamily="2" charset="2"/>
              <a:buChar char="Ø"/>
            </a:pPr>
            <a:r>
              <a:rPr lang="en-IN" sz="2400" u="sng" dirty="0">
                <a:latin typeface="Arial" pitchFamily="34" charset="0"/>
                <a:cs typeface="Arial" pitchFamily="34" charset="0"/>
              </a:rPr>
              <a:t>Becoming an Active Listener:</a:t>
            </a:r>
          </a:p>
          <a:p>
            <a:pPr>
              <a:lnSpc>
                <a:spcPct val="100000"/>
              </a:lnSpc>
            </a:pPr>
            <a:r>
              <a:rPr lang="en-IN" sz="2400" dirty="0">
                <a:latin typeface="Arial" pitchFamily="34" charset="0"/>
                <a:cs typeface="Arial" pitchFamily="34" charset="0"/>
              </a:rPr>
              <a:t>Pay Attention</a:t>
            </a:r>
          </a:p>
          <a:p>
            <a:pPr>
              <a:lnSpc>
                <a:spcPct val="100000"/>
              </a:lnSpc>
            </a:pPr>
            <a:r>
              <a:rPr lang="en-IN" sz="2400" dirty="0">
                <a:latin typeface="Arial" pitchFamily="34" charset="0"/>
                <a:cs typeface="Arial" pitchFamily="34" charset="0"/>
              </a:rPr>
              <a:t>Show That You're Listening</a:t>
            </a:r>
          </a:p>
          <a:p>
            <a:pPr>
              <a:lnSpc>
                <a:spcPct val="100000"/>
              </a:lnSpc>
            </a:pPr>
            <a:r>
              <a:rPr lang="en-IN" sz="2400" dirty="0">
                <a:latin typeface="Arial" pitchFamily="34" charset="0"/>
                <a:cs typeface="Arial" pitchFamily="34" charset="0"/>
              </a:rPr>
              <a:t>Provide Feedback</a:t>
            </a:r>
          </a:p>
          <a:p>
            <a:pPr>
              <a:lnSpc>
                <a:spcPct val="100000"/>
              </a:lnSpc>
            </a:pPr>
            <a:r>
              <a:rPr lang="en-IN" sz="2400" dirty="0">
                <a:latin typeface="Arial" pitchFamily="34" charset="0"/>
                <a:cs typeface="Arial" pitchFamily="34" charset="0"/>
              </a:rPr>
              <a:t>Defer Judgment</a:t>
            </a:r>
          </a:p>
          <a:p>
            <a:pPr>
              <a:lnSpc>
                <a:spcPct val="100000"/>
              </a:lnSpc>
            </a:pPr>
            <a:r>
              <a:rPr lang="en-IN" sz="2400" dirty="0">
                <a:latin typeface="Arial" pitchFamily="34" charset="0"/>
                <a:cs typeface="Arial" pitchFamily="34" charset="0"/>
              </a:rPr>
              <a:t>Respond Appropriately</a:t>
            </a:r>
          </a:p>
          <a:p>
            <a:pPr>
              <a:lnSpc>
                <a:spcPct val="100000"/>
              </a:lnSpc>
            </a:pPr>
            <a:endParaRPr lang="en-IN" sz="2400" b="1" dirty="0">
              <a:latin typeface="Arial" pitchFamily="34" charset="0"/>
              <a:cs typeface="Arial" pitchFamily="34" charset="0"/>
            </a:endParaRPr>
          </a:p>
          <a:p>
            <a:pPr>
              <a:lnSpc>
                <a:spcPct val="100000"/>
              </a:lnSpc>
            </a:pPr>
            <a:endParaRPr lang="en-IN" sz="2400" dirty="0">
              <a:latin typeface="Arial" pitchFamily="34" charset="0"/>
              <a:cs typeface="Arial" pitchFamily="34" charset="0"/>
            </a:endParaRPr>
          </a:p>
          <a:p>
            <a:pPr>
              <a:lnSpc>
                <a:spcPct val="100000"/>
              </a:lnSpc>
            </a:pPr>
            <a:endParaRPr lang="en-IN"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dirty="0"/>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8458987" y="6375442"/>
            <a:ext cx="3071446" cy="261610"/>
          </a:xfrm>
          <a:prstGeom prst="rect">
            <a:avLst/>
          </a:prstGeom>
          <a:noFill/>
        </p:spPr>
        <p:txBody>
          <a:bodyPr wrap="square" rtlCol="0">
            <a:spAutoFit/>
          </a:bodyPr>
          <a:lstStyle/>
          <a:p>
            <a:r>
              <a:rPr lang="en-US" sz="1100" dirty="0">
                <a:latin typeface="Casper"/>
              </a:rPr>
              <a:t>www. Gettingsmart.com</a:t>
            </a:r>
          </a:p>
        </p:txBody>
      </p:sp>
      <p:pic>
        <p:nvPicPr>
          <p:cNvPr id="9" name="Picture 8" descr="Image result for listening"/>
          <p:cNvPicPr>
            <a:picLocks noChangeAspect="1" noChangeArrowheads="1"/>
          </p:cNvPicPr>
          <p:nvPr/>
        </p:nvPicPr>
        <p:blipFill>
          <a:blip r:embed="rId2" cstate="print"/>
          <a:srcRect/>
          <a:stretch>
            <a:fillRect/>
          </a:stretch>
        </p:blipFill>
        <p:spPr bwMode="auto">
          <a:xfrm>
            <a:off x="7772400" y="1910863"/>
            <a:ext cx="3489366" cy="3763106"/>
          </a:xfrm>
          <a:prstGeom prst="rect">
            <a:avLst/>
          </a:prstGeom>
          <a:ln>
            <a:noFill/>
          </a:ln>
          <a:effectLst>
            <a:softEdge rad="112500"/>
          </a:effectLst>
        </p:spPr>
      </p:pic>
      <p:sp>
        <p:nvSpPr>
          <p:cNvPr id="8" name="Content Placeholder 2"/>
          <p:cNvSpPr txBox="1">
            <a:spLocks/>
          </p:cNvSpPr>
          <p:nvPr/>
        </p:nvSpPr>
        <p:spPr>
          <a:xfrm>
            <a:off x="838199" y="1763809"/>
            <a:ext cx="10538609" cy="4665785"/>
          </a:xfrm>
          <a:prstGeom prst="rect">
            <a:avLst/>
          </a:prstGeom>
          <a:ln>
            <a:solidFill>
              <a:schemeClr val="tx1"/>
            </a:solidFill>
          </a:ln>
        </p:spPr>
        <p:txBody>
          <a:bodyPr vert="horz" lIns="91440" tIns="45720" rIns="91440" bIns="45720" rtlCol="0">
            <a:normAutofit/>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82370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733489" y="6356350"/>
            <a:ext cx="3620311" cy="365125"/>
          </a:xfrm>
        </p:spPr>
        <p:txBody>
          <a:bodyPr/>
          <a:lstStyle/>
          <a:p>
            <a:r>
              <a:rPr lang="en-US" dirty="0"/>
              <a:t>https://www.uj.edu.sa/Files/1001210/Subjects/Chapter%205%20Listening%20Skills%20%20.pdf</a:t>
            </a:r>
            <a:fld id="{BDCDBBEF-AA6C-4BA6-85B2-A17D7F280E38}" type="slidenum">
              <a:rPr lang="en-US" smtClean="0"/>
              <a:pPr/>
              <a:t>8</a:t>
            </a:fld>
            <a:endParaRPr lang="en-US" dirty="0"/>
          </a:p>
        </p:txBody>
      </p:sp>
      <p:sp>
        <p:nvSpPr>
          <p:cNvPr id="5" name="Title 1"/>
          <p:cNvSpPr>
            <a:spLocks noGrp="1"/>
          </p:cNvSpPr>
          <p:nvPr>
            <p:ph type="title"/>
          </p:nvPr>
        </p:nvSpPr>
        <p:spPr>
          <a:xfrm>
            <a:off x="797169" y="360361"/>
            <a:ext cx="10556631" cy="1269147"/>
          </a:xfrm>
        </p:spPr>
        <p:txBody>
          <a:bodyPr>
            <a:noAutofit/>
          </a:bodyPr>
          <a:lstStyle/>
          <a:p>
            <a:pPr algn="ctr"/>
            <a:r>
              <a:rPr lang="en-IN" b="1" dirty="0">
                <a:latin typeface="Arial Black" pitchFamily="34" charset="0"/>
              </a:rPr>
              <a:t>The Process of Listening:</a:t>
            </a:r>
            <a:endParaRPr lang="en-US" b="1" dirty="0">
              <a:latin typeface="Arial Black" pitchFamily="34" charset="0"/>
            </a:endParaRPr>
          </a:p>
        </p:txBody>
      </p:sp>
      <p:pic>
        <p:nvPicPr>
          <p:cNvPr id="3" name="Content Placeholder 2">
            <a:extLst>
              <a:ext uri="{FF2B5EF4-FFF2-40B4-BE49-F238E27FC236}">
                <a16:creationId xmlns:a16="http://schemas.microsoft.com/office/drawing/2014/main" id="{DDFDD467-67E0-D42E-7C6D-7F89DAD0C0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1706" y="2394201"/>
            <a:ext cx="8828588" cy="3140837"/>
          </a:xfrm>
        </p:spPr>
      </p:pic>
      <p:sp>
        <p:nvSpPr>
          <p:cNvPr id="18" name="Content Placeholder 2"/>
          <p:cNvSpPr txBox="1">
            <a:spLocks/>
          </p:cNvSpPr>
          <p:nvPr/>
        </p:nvSpPr>
        <p:spPr>
          <a:xfrm>
            <a:off x="797170" y="1770184"/>
            <a:ext cx="10667999" cy="4606013"/>
          </a:xfrm>
          <a:prstGeom prst="rect">
            <a:avLst/>
          </a:prstGeom>
          <a:ln>
            <a:solidFill>
              <a:schemeClr val="tx1"/>
            </a:solidFill>
          </a:ln>
        </p:spPr>
        <p:txBody>
          <a:bodyPr vert="horz" lIns="91440" tIns="45720" rIns="91440" bIns="45720" rtlCol="0">
            <a:normAutofit/>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
        <p:nvSpPr>
          <p:cNvPr id="19" name="Rectangle 18"/>
          <p:cNvSpPr/>
          <p:nvPr/>
        </p:nvSpPr>
        <p:spPr>
          <a:xfrm>
            <a:off x="785447" y="336915"/>
            <a:ext cx="10662138"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IN" b="1" dirty="0">
                <a:latin typeface="Arial Black" pitchFamily="34" charset="0"/>
              </a:rPr>
              <a:t>Types of listening</a:t>
            </a:r>
            <a:endParaRPr lang="en-US" b="1" dirty="0">
              <a:latin typeface="Arial Black" pitchFamily="34" charset="0"/>
            </a:endParaRPr>
          </a:p>
        </p:txBody>
      </p:sp>
      <p:sp>
        <p:nvSpPr>
          <p:cNvPr id="3" name="Content Placeholder 2"/>
          <p:cNvSpPr>
            <a:spLocks noGrp="1"/>
          </p:cNvSpPr>
          <p:nvPr>
            <p:ph idx="1"/>
          </p:nvPr>
        </p:nvSpPr>
        <p:spPr>
          <a:xfrm>
            <a:off x="838200" y="1763809"/>
            <a:ext cx="10515600" cy="4624112"/>
          </a:xfrm>
          <a:ln>
            <a:solidFill>
              <a:schemeClr val="tx1"/>
            </a:solidFill>
          </a:ln>
        </p:spPr>
        <p:txBody>
          <a:bodyPr>
            <a:normAutofit/>
          </a:bodyPr>
          <a:lstStyle/>
          <a:p>
            <a:pPr>
              <a:lnSpc>
                <a:spcPct val="110000"/>
              </a:lnSpc>
              <a:buNone/>
            </a:pPr>
            <a:r>
              <a:rPr lang="en-IN" b="1" dirty="0">
                <a:latin typeface="Arial" pitchFamily="34" charset="0"/>
                <a:cs typeface="Arial" pitchFamily="34" charset="0"/>
              </a:rPr>
              <a:t>DISCRIMINATIVE LISTENING </a:t>
            </a:r>
            <a:r>
              <a:rPr lang="en-IN" dirty="0">
                <a:latin typeface="Arial" pitchFamily="34" charset="0"/>
                <a:cs typeface="Arial" pitchFamily="34" charset="0"/>
              </a:rPr>
              <a:t>– It involves identifying the difference between various sounds. </a:t>
            </a:r>
          </a:p>
          <a:p>
            <a:pPr>
              <a:lnSpc>
                <a:spcPct val="110000"/>
              </a:lnSpc>
              <a:buNone/>
            </a:pPr>
            <a:r>
              <a:rPr lang="en-IN" b="1" dirty="0">
                <a:latin typeface="Arial" pitchFamily="34" charset="0"/>
                <a:cs typeface="Arial" pitchFamily="34" charset="0"/>
              </a:rPr>
              <a:t>COMPREHENSION LISTENING </a:t>
            </a:r>
            <a:r>
              <a:rPr lang="en-IN" dirty="0">
                <a:latin typeface="Arial" pitchFamily="34" charset="0"/>
                <a:cs typeface="Arial" pitchFamily="34" charset="0"/>
              </a:rPr>
              <a:t>– It involves attaching meaning to what is being listened to. </a:t>
            </a:r>
          </a:p>
          <a:p>
            <a:pPr>
              <a:lnSpc>
                <a:spcPct val="110000"/>
              </a:lnSpc>
              <a:buNone/>
            </a:pPr>
            <a:r>
              <a:rPr lang="en-IN" b="1" dirty="0">
                <a:latin typeface="Arial" pitchFamily="34" charset="0"/>
                <a:cs typeface="Arial" pitchFamily="34" charset="0"/>
              </a:rPr>
              <a:t>EVALUATIVE LISTENING </a:t>
            </a:r>
            <a:r>
              <a:rPr lang="en-IN" dirty="0">
                <a:latin typeface="Arial" pitchFamily="34" charset="0"/>
                <a:cs typeface="Arial" pitchFamily="34" charset="0"/>
              </a:rPr>
              <a:t>– It involves evaluating and analyzing the message being received. </a:t>
            </a:r>
          </a:p>
          <a:p>
            <a:pPr>
              <a:lnSpc>
                <a:spcPct val="110000"/>
              </a:lnSpc>
              <a:buNone/>
            </a:pPr>
            <a:r>
              <a:rPr lang="en-IN" b="1" dirty="0">
                <a:latin typeface="Arial" pitchFamily="34" charset="0"/>
                <a:cs typeface="Arial" pitchFamily="34" charset="0"/>
              </a:rPr>
              <a:t>SELECTIVE LISTENING </a:t>
            </a:r>
            <a:r>
              <a:rPr lang="en-IN" dirty="0">
                <a:latin typeface="Arial" pitchFamily="34" charset="0"/>
                <a:cs typeface="Arial" pitchFamily="34" charset="0"/>
              </a:rPr>
              <a:t>– It involves selecting the desired part of the message and ignoring the undesired part of the message.</a:t>
            </a:r>
          </a:p>
          <a:p>
            <a:pPr>
              <a:lnSpc>
                <a:spcPct val="110000"/>
              </a:lnSpc>
              <a:buNone/>
            </a:pP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IN" b="1" dirty="0">
                <a:latin typeface="Arial Black" pitchFamily="34" charset="0"/>
              </a:rPr>
              <a:t>Barriers to Effective Listening</a:t>
            </a:r>
            <a:endParaRPr lang="en-US" b="1" dirty="0">
              <a:latin typeface="Arial Black"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42" name="Picture 2"/>
          <p:cNvPicPr>
            <a:picLocks noChangeAspect="1" noChangeArrowheads="1"/>
          </p:cNvPicPr>
          <p:nvPr/>
        </p:nvPicPr>
        <p:blipFill>
          <a:blip r:embed="rId2"/>
          <a:srcRect l="28950" t="39925" r="14093" b="16623"/>
          <a:stretch>
            <a:fillRect/>
          </a:stretch>
        </p:blipFill>
        <p:spPr bwMode="auto">
          <a:xfrm>
            <a:off x="791569" y="1801504"/>
            <a:ext cx="10577015" cy="4367284"/>
          </a:xfrm>
          <a:prstGeom prst="rect">
            <a:avLst/>
          </a:prstGeom>
          <a:noFill/>
          <a:ln w="9525">
            <a:noFill/>
            <a:miter lim="800000"/>
            <a:headEnd/>
            <a:tailEnd/>
          </a:ln>
          <a:effectLst/>
        </p:spPr>
      </p:pic>
    </p:spTree>
    <p:extLst>
      <p:ext uri="{BB962C8B-B14F-4D97-AF65-F5344CB8AC3E}">
        <p14:creationId xmlns:p14="http://schemas.microsoft.com/office/powerpoint/2010/main" val="823702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IN" b="1" dirty="0">
                <a:latin typeface="Arial Black" pitchFamily="34" charset="0"/>
              </a:rPr>
              <a:t>References</a:t>
            </a:r>
            <a:endParaRPr lang="en-US" b="1" dirty="0">
              <a:latin typeface="Arial Black" pitchFamily="34" charset="0"/>
            </a:endParaRPr>
          </a:p>
        </p:txBody>
      </p:sp>
      <p:sp>
        <p:nvSpPr>
          <p:cNvPr id="3" name="Content Placeholder 2"/>
          <p:cNvSpPr>
            <a:spLocks noGrp="1"/>
          </p:cNvSpPr>
          <p:nvPr>
            <p:ph idx="1"/>
          </p:nvPr>
        </p:nvSpPr>
        <p:spPr>
          <a:xfrm>
            <a:off x="838200" y="1763809"/>
            <a:ext cx="10515600" cy="4624112"/>
          </a:xfrm>
          <a:ln>
            <a:solidFill>
              <a:schemeClr val="tx1"/>
            </a:solidFill>
          </a:ln>
        </p:spPr>
        <p:txBody>
          <a:bodyPr>
            <a:normAutofit fontScale="92500"/>
          </a:bodyPr>
          <a:lstStyle/>
          <a:p>
            <a:pPr>
              <a:lnSpc>
                <a:spcPct val="150000"/>
              </a:lnSpc>
            </a:pPr>
            <a:r>
              <a:rPr lang="en-IN" dirty="0">
                <a:latin typeface="Arial" pitchFamily="34" charset="0"/>
                <a:cs typeface="Arial" pitchFamily="34" charset="0"/>
              </a:rPr>
              <a:t>https://www.fastcompany.com/3036026/5-ways-to-improve-your-listening-skills</a:t>
            </a:r>
          </a:p>
          <a:p>
            <a:pPr>
              <a:lnSpc>
                <a:spcPct val="150000"/>
              </a:lnSpc>
            </a:pPr>
            <a:r>
              <a:rPr lang="en-IN" dirty="0">
                <a:latin typeface="Arial" pitchFamily="34" charset="0"/>
                <a:cs typeface="Arial" pitchFamily="34" charset="0"/>
              </a:rPr>
              <a:t>https://www.stevenaitchison.co.uk/5-ways-improve-listening-skills/</a:t>
            </a:r>
          </a:p>
          <a:p>
            <a:pPr>
              <a:lnSpc>
                <a:spcPct val="150000"/>
              </a:lnSpc>
            </a:pPr>
            <a:r>
              <a:rPr lang="en-IN" dirty="0">
                <a:latin typeface="Arial" pitchFamily="34" charset="0"/>
                <a:cs typeface="Arial" pitchFamily="34" charset="0"/>
              </a:rPr>
              <a:t>https://www.mindtools.com › Communication Skills › Communicating in Person</a:t>
            </a:r>
          </a:p>
          <a:p>
            <a:pPr>
              <a:lnSpc>
                <a:spcPct val="150000"/>
              </a:lnSpc>
            </a:pPr>
            <a:r>
              <a:rPr lang="en-IN" dirty="0">
                <a:latin typeface="Arial" pitchFamily="34" charset="0"/>
                <a:cs typeface="Arial" pitchFamily="34" charset="0"/>
              </a:rPr>
              <a:t>https://www.mindtools.com/CommSkll/ActiveListening.htm</a:t>
            </a:r>
          </a:p>
          <a:p>
            <a:pPr>
              <a:lnSpc>
                <a:spcPct val="150000"/>
              </a:lnSpc>
            </a:pPr>
            <a:endParaRPr lang="en-IN"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2"/>
          <p:cNvSpPr>
            <a:spLocks noGrp="1"/>
          </p:cNvSpPr>
          <p:nvPr>
            <p:ph idx="1"/>
          </p:nvPr>
        </p:nvSpPr>
        <p:spPr>
          <a:xfrm>
            <a:off x="838200" y="1763809"/>
            <a:ext cx="5370095" cy="4624112"/>
          </a:xfrm>
          <a:ln>
            <a:solidFill>
              <a:schemeClr val="tx1"/>
            </a:solidFill>
          </a:ln>
        </p:spPr>
        <p:txBody>
          <a:bodyPr>
            <a:normAutofit/>
          </a:bodyPr>
          <a:lstStyle/>
          <a:p>
            <a:pPr marL="166688" indent="-166688"/>
            <a:r>
              <a:rPr lang="en-IN" sz="2800" dirty="0">
                <a:latin typeface="Arial" pitchFamily="34" charset="0"/>
                <a:cs typeface="Arial" pitchFamily="34" charset="0"/>
              </a:rPr>
              <a:t>Speaking skills are the skills that give us the ability to communicate effectively.</a:t>
            </a:r>
          </a:p>
          <a:p>
            <a:pPr marL="166688" indent="-166688"/>
            <a:r>
              <a:rPr lang="en-IN" sz="2800" dirty="0">
                <a:latin typeface="Arial" pitchFamily="34" charset="0"/>
                <a:cs typeface="Arial" pitchFamily="34" charset="0"/>
              </a:rPr>
              <a:t>These skills allow the speaker, to convey his message in a passionate, thoughtful, and convincing manner.</a:t>
            </a:r>
          </a:p>
          <a:p>
            <a:pPr marL="166688" indent="-166688"/>
            <a:r>
              <a:rPr lang="en-IN" sz="2800" dirty="0">
                <a:latin typeface="Arial" pitchFamily="34" charset="0"/>
                <a:cs typeface="Arial" pitchFamily="34" charset="0"/>
              </a:rPr>
              <a:t>Speaking skills also help to assure that one won’t be misunderstood by those who are listening. </a:t>
            </a:r>
          </a:p>
          <a:p>
            <a:pPr>
              <a:lnSpc>
                <a:spcPct val="150000"/>
              </a:lnSpc>
            </a:pPr>
            <a:endParaRPr lang="en-IN" sz="2800" dirty="0">
              <a:latin typeface="Arial" pitchFamily="34" charset="0"/>
              <a:cs typeface="Arial"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r>
              <a:rPr lang="en-US" dirty="0"/>
              <a:t>12</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p:cNvSpPr txBox="1"/>
          <p:nvPr/>
        </p:nvSpPr>
        <p:spPr>
          <a:xfrm>
            <a:off x="832513" y="618878"/>
            <a:ext cx="10522424" cy="769441"/>
          </a:xfrm>
          <a:prstGeom prst="rect">
            <a:avLst/>
          </a:prstGeom>
          <a:noFill/>
        </p:spPr>
        <p:txBody>
          <a:bodyPr wrap="square" rtlCol="0">
            <a:spAutoFit/>
          </a:bodyPr>
          <a:lstStyle/>
          <a:p>
            <a:pPr algn="ctr"/>
            <a:r>
              <a:rPr lang="en-US" sz="4400" dirty="0">
                <a:latin typeface="Arial Black" pitchFamily="34" charset="0"/>
              </a:rPr>
              <a:t>Speaking Skills</a:t>
            </a:r>
          </a:p>
        </p:txBody>
      </p:sp>
      <p:sp>
        <p:nvSpPr>
          <p:cNvPr id="23" name="Rectangle 22"/>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D06495B-E6A0-64C2-C361-E24F25DB91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2895" y="1723231"/>
            <a:ext cx="4762500" cy="2266950"/>
          </a:xfrm>
          <a:prstGeom prst="rect">
            <a:avLst/>
          </a:prstGeom>
        </p:spPr>
      </p:pic>
      <p:sp>
        <p:nvSpPr>
          <p:cNvPr id="7" name="TextBox 6">
            <a:extLst>
              <a:ext uri="{FF2B5EF4-FFF2-40B4-BE49-F238E27FC236}">
                <a16:creationId xmlns:a16="http://schemas.microsoft.com/office/drawing/2014/main" id="{C3E8044E-2E51-6324-6B89-B2AA27FDDBBB}"/>
              </a:ext>
            </a:extLst>
          </p:cNvPr>
          <p:cNvSpPr txBox="1"/>
          <p:nvPr/>
        </p:nvSpPr>
        <p:spPr>
          <a:xfrm>
            <a:off x="6591300" y="4435813"/>
            <a:ext cx="4762500" cy="1938992"/>
          </a:xfrm>
          <a:prstGeom prst="rect">
            <a:avLst/>
          </a:prstGeom>
          <a:noFill/>
        </p:spPr>
        <p:txBody>
          <a:bodyPr wrap="square" rtlCol="0">
            <a:spAutoFit/>
          </a:bodyPr>
          <a:lstStyle/>
          <a:p>
            <a:r>
              <a:rPr lang="en-IN" sz="2400" dirty="0">
                <a:solidFill>
                  <a:schemeClr val="accent2">
                    <a:lumMod val="75000"/>
                  </a:schemeClr>
                </a:solidFill>
              </a:rPr>
              <a:t>7% VERBAL-</a:t>
            </a:r>
            <a:r>
              <a:rPr lang="en-IN" sz="2400" dirty="0"/>
              <a:t> words spoken</a:t>
            </a:r>
          </a:p>
          <a:p>
            <a:r>
              <a:rPr lang="en-IN" sz="2400" dirty="0">
                <a:solidFill>
                  <a:schemeClr val="accent2">
                    <a:lumMod val="75000"/>
                  </a:schemeClr>
                </a:solidFill>
              </a:rPr>
              <a:t>38% VOCAL-</a:t>
            </a:r>
            <a:r>
              <a:rPr lang="en-IN" sz="2400" dirty="0"/>
              <a:t> tone, range, appeal, credibility of voice</a:t>
            </a:r>
          </a:p>
          <a:p>
            <a:r>
              <a:rPr lang="en-IN" sz="2400" dirty="0">
                <a:solidFill>
                  <a:schemeClr val="accent2">
                    <a:lumMod val="75000"/>
                  </a:schemeClr>
                </a:solidFill>
              </a:rPr>
              <a:t>55% VISUAL- </a:t>
            </a:r>
            <a:r>
              <a:rPr lang="en-IN" sz="2400" dirty="0"/>
              <a:t>physical appearance, gestures, eye contact  </a:t>
            </a:r>
          </a:p>
        </p:txBody>
      </p:sp>
    </p:spTree>
    <p:extLst>
      <p:ext uri="{BB962C8B-B14F-4D97-AF65-F5344CB8AC3E}">
        <p14:creationId xmlns:p14="http://schemas.microsoft.com/office/powerpoint/2010/main" val="693801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IN" b="1" dirty="0">
                <a:latin typeface="Arial Black" pitchFamily="34" charset="0"/>
              </a:rPr>
              <a:t>Articulation</a:t>
            </a:r>
            <a:endParaRPr lang="en-US" b="1" dirty="0">
              <a:latin typeface="Arial Black" pitchFamily="34" charset="0"/>
            </a:endParaRPr>
          </a:p>
        </p:txBody>
      </p:sp>
      <p:sp>
        <p:nvSpPr>
          <p:cNvPr id="3" name="Content Placeholder 2"/>
          <p:cNvSpPr>
            <a:spLocks noGrp="1"/>
          </p:cNvSpPr>
          <p:nvPr>
            <p:ph idx="1"/>
          </p:nvPr>
        </p:nvSpPr>
        <p:spPr>
          <a:xfrm>
            <a:off x="838200" y="1763809"/>
            <a:ext cx="7109012" cy="4624112"/>
          </a:xfrm>
          <a:ln>
            <a:solidFill>
              <a:schemeClr val="tx1"/>
            </a:solidFill>
          </a:ln>
        </p:spPr>
        <p:txBody>
          <a:bodyPr>
            <a:normAutofit/>
          </a:bodyPr>
          <a:lstStyle/>
          <a:p>
            <a:pPr>
              <a:lnSpc>
                <a:spcPct val="110000"/>
              </a:lnSpc>
            </a:pPr>
            <a:r>
              <a:rPr lang="en-IN" dirty="0">
                <a:latin typeface="Arial" pitchFamily="34" charset="0"/>
                <a:cs typeface="Arial" pitchFamily="34" charset="0"/>
              </a:rPr>
              <a:t>It involves the use of the organs of speech to produce sounds.</a:t>
            </a:r>
          </a:p>
          <a:p>
            <a:pPr>
              <a:lnSpc>
                <a:spcPct val="110000"/>
              </a:lnSpc>
            </a:pPr>
            <a:r>
              <a:rPr lang="en-IN" dirty="0">
                <a:latin typeface="Arial" pitchFamily="34" charset="0"/>
                <a:cs typeface="Arial" pitchFamily="34" charset="0"/>
              </a:rPr>
              <a:t>Sounds are produced in a continuous stream, some sounds merge with others. E.g.. Handbag, baked beans</a:t>
            </a:r>
          </a:p>
          <a:p>
            <a:pPr>
              <a:lnSpc>
                <a:spcPct val="110000"/>
              </a:lnSpc>
            </a:pPr>
            <a:r>
              <a:rPr lang="en-IN" dirty="0">
                <a:latin typeface="Arial" pitchFamily="34" charset="0"/>
                <a:cs typeface="Arial" pitchFamily="34" charset="0"/>
              </a:rPr>
              <a:t>Continual changes in loudness, pitch direction and pausing serve to organize the sounds into meaningful words and sentences.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1462EED-07CB-F7BE-0F24-37BD336F5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4789" y="1765094"/>
            <a:ext cx="3299012" cy="4591256"/>
          </a:xfrm>
          <a:prstGeom prst="rect">
            <a:avLst/>
          </a:prstGeom>
        </p:spPr>
      </p:pic>
    </p:spTree>
    <p:extLst>
      <p:ext uri="{BB962C8B-B14F-4D97-AF65-F5344CB8AC3E}">
        <p14:creationId xmlns:p14="http://schemas.microsoft.com/office/powerpoint/2010/main" val="823702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3424"/>
            <a:ext cx="10515600" cy="1279527"/>
          </a:xfrm>
        </p:spPr>
        <p:txBody>
          <a:bodyPr>
            <a:normAutofit/>
          </a:bodyPr>
          <a:lstStyle/>
          <a:p>
            <a:pPr algn="ctr"/>
            <a:r>
              <a:rPr lang="en-IN" b="1" dirty="0">
                <a:latin typeface="Arial Black" pitchFamily="34" charset="0"/>
              </a:rPr>
              <a:t>Kinds of Speaking Situations </a:t>
            </a:r>
            <a:endParaRPr lang="en-US" b="1" dirty="0">
              <a:latin typeface="Arial Black" pitchFamily="34" charset="0"/>
            </a:endParaRPr>
          </a:p>
        </p:txBody>
      </p:sp>
      <p:sp>
        <p:nvSpPr>
          <p:cNvPr id="4" name="Slide Number Placeholder 3"/>
          <p:cNvSpPr>
            <a:spLocks noGrp="1"/>
          </p:cNvSpPr>
          <p:nvPr>
            <p:ph type="sldNum" sz="quarter" idx="12"/>
          </p:nvPr>
        </p:nvSpPr>
        <p:spPr>
          <a:xfrm>
            <a:off x="8023659" y="6353908"/>
            <a:ext cx="3774831" cy="504092"/>
          </a:xfrm>
        </p:spPr>
        <p:txBody>
          <a:bodyPr/>
          <a:lstStyle/>
          <a:p>
            <a:pPr algn="ctr"/>
            <a:r>
              <a:rPr lang="en-US" dirty="0">
                <a:solidFill>
                  <a:schemeClr val="tx1"/>
                </a:solidFill>
                <a:latin typeface="Casper"/>
              </a:rPr>
              <a:t>Personalitytutor.com</a:t>
            </a:r>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840213" y="1771759"/>
            <a:ext cx="6365805" cy="4783016"/>
          </a:xfrm>
        </p:spPr>
        <p:txBody>
          <a:bodyPr>
            <a:noAutofit/>
          </a:bodyPr>
          <a:lstStyle/>
          <a:p>
            <a:pPr>
              <a:lnSpc>
                <a:spcPct val="100000"/>
              </a:lnSpc>
            </a:pPr>
            <a:r>
              <a:rPr lang="en-IN" b="1" dirty="0">
                <a:latin typeface="Arial" pitchFamily="34" charset="0"/>
                <a:cs typeface="Arial" pitchFamily="34" charset="0"/>
              </a:rPr>
              <a:t>Interactive speaking situations </a:t>
            </a:r>
            <a:r>
              <a:rPr lang="en-IN" dirty="0">
                <a:latin typeface="Arial" pitchFamily="34" charset="0"/>
                <a:cs typeface="Arial" pitchFamily="34" charset="0"/>
              </a:rPr>
              <a:t>include face-to-face conversations or telephone calls, in which we are alternately listening and speaking, and in which we have a chance to ask for clarification, repetition, or slower speech from our conversation partner.	</a:t>
            </a:r>
          </a:p>
        </p:txBody>
      </p:sp>
      <p:pic>
        <p:nvPicPr>
          <p:cNvPr id="8" name="Picture 2" descr="C:\Users\Divina Providencia\Pictures\1.jpg"/>
          <p:cNvPicPr>
            <a:picLocks noChangeAspect="1" noChangeArrowheads="1"/>
          </p:cNvPicPr>
          <p:nvPr/>
        </p:nvPicPr>
        <p:blipFill>
          <a:blip r:embed="rId2" cstate="print"/>
          <a:srcRect/>
          <a:stretch>
            <a:fillRect/>
          </a:stretch>
        </p:blipFill>
        <p:spPr bwMode="auto">
          <a:xfrm>
            <a:off x="7127631" y="2068285"/>
            <a:ext cx="4031966" cy="4110446"/>
          </a:xfrm>
          <a:prstGeom prst="rect">
            <a:avLst/>
          </a:prstGeom>
          <a:ln>
            <a:noFill/>
          </a:ln>
          <a:effectLst>
            <a:softEdge rad="112500"/>
          </a:effectLst>
        </p:spPr>
      </p:pic>
      <p:sp>
        <p:nvSpPr>
          <p:cNvPr id="9" name="Content Placeholder 2"/>
          <p:cNvSpPr txBox="1">
            <a:spLocks/>
          </p:cNvSpPr>
          <p:nvPr/>
        </p:nvSpPr>
        <p:spPr>
          <a:xfrm>
            <a:off x="838200" y="1763809"/>
            <a:ext cx="10544908" cy="4486866"/>
          </a:xfrm>
          <a:prstGeom prst="rect">
            <a:avLst/>
          </a:prstGeom>
          <a:ln>
            <a:solidFill>
              <a:schemeClr val="tx1"/>
            </a:solidFill>
          </a:ln>
        </p:spPr>
        <p:txBody>
          <a:bodyPr vert="horz" lIns="91440" tIns="45720" rIns="91440" bIns="45720" rtlCol="0">
            <a:normAutofit/>
          </a:bodyPr>
          <a:lstStyle/>
          <a:p>
            <a:pPr marL="228600" marR="0" lvl="0" indent="-228600" algn="l" defTabSz="914400" rtl="0" eaLnBrk="1" fontAlgn="auto" latinLnBrk="0" hangingPunct="1">
              <a:lnSpc>
                <a:spcPct val="150000"/>
              </a:lnSpc>
              <a:spcBef>
                <a:spcPts val="1000"/>
              </a:spcBef>
              <a:spcAft>
                <a:spcPts val="0"/>
              </a:spcAft>
              <a:buClrTx/>
              <a:buSzTx/>
              <a:tabLst/>
              <a:defRPr/>
            </a:pPr>
            <a:endParaRPr kumimoji="0" lang="en-IN"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823702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IN" b="1" dirty="0">
                <a:latin typeface="Arial Black" pitchFamily="34" charset="0"/>
              </a:rPr>
              <a:t>Kinds of Speaking Situations </a:t>
            </a:r>
            <a:endParaRPr lang="en-US" b="1" dirty="0">
              <a:latin typeface="Arial Black" pitchFamily="34" charset="0"/>
            </a:endParaRPr>
          </a:p>
        </p:txBody>
      </p:sp>
      <p:sp>
        <p:nvSpPr>
          <p:cNvPr id="3" name="Content Placeholder 2"/>
          <p:cNvSpPr>
            <a:spLocks noGrp="1"/>
          </p:cNvSpPr>
          <p:nvPr>
            <p:ph idx="1"/>
          </p:nvPr>
        </p:nvSpPr>
        <p:spPr>
          <a:xfrm>
            <a:off x="838200" y="1763809"/>
            <a:ext cx="10515600" cy="4568752"/>
          </a:xfrm>
          <a:ln>
            <a:solidFill>
              <a:schemeClr val="tx1"/>
            </a:solidFill>
          </a:ln>
        </p:spPr>
        <p:txBody>
          <a:bodyPr>
            <a:normAutofit/>
          </a:bodyPr>
          <a:lstStyle/>
          <a:p>
            <a:pPr>
              <a:lnSpc>
                <a:spcPct val="110000"/>
              </a:lnSpc>
            </a:pPr>
            <a:r>
              <a:rPr lang="en-IN" b="1" dirty="0">
                <a:latin typeface="Arial" pitchFamily="34" charset="0"/>
                <a:cs typeface="Arial" pitchFamily="34" charset="0"/>
              </a:rPr>
              <a:t>Partially interactive </a:t>
            </a:r>
            <a:r>
              <a:rPr lang="en-IN" dirty="0">
                <a:latin typeface="Arial" pitchFamily="34" charset="0"/>
                <a:cs typeface="Arial" pitchFamily="34" charset="0"/>
              </a:rPr>
              <a:t>as when giving a speech to a live audience, where the audience does not interrupt the speech. The speaker nevertheless can see the audience and judge from the expressions on their faces and body language whether or not he or she is being understood.</a:t>
            </a:r>
          </a:p>
          <a:p>
            <a:pPr>
              <a:lnSpc>
                <a:spcPct val="110000"/>
              </a:lnSpc>
            </a:pPr>
            <a:r>
              <a:rPr lang="en-IN" b="1" dirty="0">
                <a:latin typeface="Arial" pitchFamily="34" charset="0"/>
                <a:cs typeface="Arial" pitchFamily="34" charset="0"/>
              </a:rPr>
              <a:t>Totally non-interactive </a:t>
            </a:r>
            <a:r>
              <a:rPr lang="en-IN" dirty="0">
                <a:latin typeface="Arial" pitchFamily="34" charset="0"/>
                <a:cs typeface="Arial" pitchFamily="34" charset="0"/>
              </a:rPr>
              <a:t>as when recording a speech for a radio broadcast. </a:t>
            </a:r>
          </a:p>
          <a:p>
            <a:pPr>
              <a:lnSpc>
                <a:spcPct val="110000"/>
              </a:lnSpc>
            </a:pPr>
            <a:endParaRPr lang="en-IN" sz="2400"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IN" b="1" dirty="0">
                <a:latin typeface="Arial Black" pitchFamily="34" charset="0"/>
              </a:rPr>
              <a:t>Tone</a:t>
            </a:r>
            <a:endParaRPr lang="en-US" b="1" dirty="0">
              <a:latin typeface="Arial Black"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838199" y="1711569"/>
            <a:ext cx="6113585" cy="4765843"/>
          </a:xfrm>
        </p:spPr>
        <p:txBody>
          <a:bodyPr>
            <a:noAutofit/>
          </a:bodyPr>
          <a:lstStyle/>
          <a:p>
            <a:pPr>
              <a:lnSpc>
                <a:spcPct val="100000"/>
              </a:lnSpc>
            </a:pPr>
            <a:r>
              <a:rPr lang="en-IN" dirty="0">
                <a:latin typeface="Arial" pitchFamily="34" charset="0"/>
                <a:cs typeface="Arial" pitchFamily="34" charset="0"/>
              </a:rPr>
              <a:t>The tone is responsible for about 35-40 percent of the message we are sending. Tone involves the volume you use, the level and type of emotion that you communicate and the emphasis that you place on the words that you choose.</a:t>
            </a:r>
          </a:p>
        </p:txBody>
      </p:sp>
      <p:pic>
        <p:nvPicPr>
          <p:cNvPr id="8" name="Picture 2" descr="http://3.imimg.com/data3/LB/YA/MY-9276287/speaking-skills-250x250.jpg"/>
          <p:cNvPicPr>
            <a:picLocks noChangeAspect="1" noChangeArrowheads="1"/>
          </p:cNvPicPr>
          <p:nvPr/>
        </p:nvPicPr>
        <p:blipFill>
          <a:blip r:embed="rId2" cstate="print"/>
          <a:srcRect/>
          <a:stretch>
            <a:fillRect/>
          </a:stretch>
        </p:blipFill>
        <p:spPr bwMode="auto">
          <a:xfrm>
            <a:off x="7045569" y="2002970"/>
            <a:ext cx="4083984" cy="4188823"/>
          </a:xfrm>
          <a:prstGeom prst="rect">
            <a:avLst/>
          </a:prstGeom>
          <a:ln>
            <a:noFill/>
          </a:ln>
          <a:effectLst>
            <a:softEdge rad="112500"/>
          </a:effectLst>
        </p:spPr>
      </p:pic>
      <p:sp>
        <p:nvSpPr>
          <p:cNvPr id="9" name="Rectangle 8"/>
          <p:cNvSpPr/>
          <p:nvPr/>
        </p:nvSpPr>
        <p:spPr>
          <a:xfrm>
            <a:off x="8728166" y="6172200"/>
            <a:ext cx="2514600" cy="685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Casper"/>
              </a:rPr>
              <a:t>Personalitytutor.com</a:t>
            </a:r>
          </a:p>
        </p:txBody>
      </p:sp>
      <p:sp>
        <p:nvSpPr>
          <p:cNvPr id="10" name="Content Placeholder 2"/>
          <p:cNvSpPr txBox="1">
            <a:spLocks/>
          </p:cNvSpPr>
          <p:nvPr/>
        </p:nvSpPr>
        <p:spPr>
          <a:xfrm>
            <a:off x="838200" y="1763809"/>
            <a:ext cx="10515600" cy="4514161"/>
          </a:xfrm>
          <a:prstGeom prst="rect">
            <a:avLst/>
          </a:prstGeom>
          <a:ln>
            <a:solidFill>
              <a:schemeClr val="tx1"/>
            </a:solidFill>
          </a:ln>
        </p:spPr>
        <p:txBody>
          <a:bodyPr vert="horz" lIns="91440" tIns="45720" rIns="91440" bIns="45720" rtlCol="0">
            <a:normAutofit/>
          </a:bodyPr>
          <a:lstStyle/>
          <a:p>
            <a:pPr marL="228600" marR="0" lvl="0" indent="-228600" algn="l" defTabSz="914400" rtl="0" eaLnBrk="1" fontAlgn="auto" latinLnBrk="0" hangingPunct="1">
              <a:lnSpc>
                <a:spcPct val="150000"/>
              </a:lnSpc>
              <a:spcBef>
                <a:spcPts val="1000"/>
              </a:spcBef>
              <a:spcAft>
                <a:spcPts val="0"/>
              </a:spcAft>
              <a:buClrTx/>
              <a:buSzTx/>
              <a:tabLst/>
              <a:defRPr/>
            </a:pPr>
            <a:endParaRPr kumimoji="0" lang="en-IN"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823702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IN" b="1" dirty="0">
                <a:latin typeface="Arial Black" pitchFamily="34" charset="0"/>
              </a:rPr>
              <a:t>Rhythm</a:t>
            </a:r>
            <a:endParaRPr lang="en-US" b="1" dirty="0">
              <a:latin typeface="Arial Black" pitchFamily="34" charset="0"/>
            </a:endParaRPr>
          </a:p>
        </p:txBody>
      </p:sp>
      <p:sp>
        <p:nvSpPr>
          <p:cNvPr id="3" name="Content Placeholder 2"/>
          <p:cNvSpPr>
            <a:spLocks noGrp="1"/>
          </p:cNvSpPr>
          <p:nvPr>
            <p:ph idx="1"/>
          </p:nvPr>
        </p:nvSpPr>
        <p:spPr>
          <a:xfrm>
            <a:off x="838200" y="1787858"/>
            <a:ext cx="10515600" cy="4600064"/>
          </a:xfrm>
          <a:ln>
            <a:solidFill>
              <a:schemeClr val="tx1"/>
            </a:solidFill>
          </a:ln>
        </p:spPr>
        <p:txBody>
          <a:bodyPr>
            <a:normAutofit/>
          </a:bodyPr>
          <a:lstStyle/>
          <a:p>
            <a:pPr>
              <a:lnSpc>
                <a:spcPct val="150000"/>
              </a:lnSpc>
            </a:pPr>
            <a:r>
              <a:rPr lang="en-IN" dirty="0">
                <a:latin typeface="Arial" pitchFamily="34" charset="0"/>
                <a:cs typeface="Arial" pitchFamily="34" charset="0"/>
              </a:rPr>
              <a:t>Rhythm is the pattern of the sounds you produce. </a:t>
            </a:r>
          </a:p>
          <a:p>
            <a:pPr>
              <a:lnSpc>
                <a:spcPct val="150000"/>
              </a:lnSpc>
            </a:pPr>
            <a:r>
              <a:rPr lang="en-IN" dirty="0">
                <a:latin typeface="Arial" pitchFamily="34" charset="0"/>
                <a:cs typeface="Arial" pitchFamily="34" charset="0"/>
              </a:rPr>
              <a:t>Stressing and de-stressing syllables and words gives us rhythm in English.</a:t>
            </a:r>
          </a:p>
          <a:p>
            <a:pPr>
              <a:lnSpc>
                <a:spcPct val="150000"/>
              </a:lnSpc>
            </a:pPr>
            <a:r>
              <a:rPr lang="en-IN" dirty="0">
                <a:latin typeface="Arial" pitchFamily="34" charset="0"/>
                <a:cs typeface="Arial" pitchFamily="34" charset="0"/>
              </a:rPr>
              <a:t>Rhythm is the music of English Language – the ups and downs and the linking of words, which together, change how we say sentences.</a:t>
            </a:r>
          </a:p>
          <a:p>
            <a:pPr>
              <a:lnSpc>
                <a:spcPct val="150000"/>
              </a:lnSpc>
            </a:pP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Arial Black" pitchFamily="34" charset="0"/>
              </a:rPr>
              <a:t>Pitch</a:t>
            </a:r>
            <a:endParaRPr lang="en-US" dirty="0"/>
          </a:p>
        </p:txBody>
      </p:sp>
      <p:sp>
        <p:nvSpPr>
          <p:cNvPr id="3" name="Content Placeholder 2"/>
          <p:cNvSpPr>
            <a:spLocks noGrp="1"/>
          </p:cNvSpPr>
          <p:nvPr>
            <p:ph idx="1"/>
          </p:nvPr>
        </p:nvSpPr>
        <p:spPr>
          <a:xfrm>
            <a:off x="838200" y="1775084"/>
            <a:ext cx="10515600" cy="4612068"/>
          </a:xfrm>
        </p:spPr>
        <p:txBody>
          <a:bodyPr>
            <a:noAutofit/>
          </a:bodyPr>
          <a:lstStyle/>
          <a:p>
            <a:pPr>
              <a:lnSpc>
                <a:spcPct val="100000"/>
              </a:lnSpc>
              <a:buNone/>
            </a:pPr>
            <a:r>
              <a:rPr lang="en-IN" dirty="0">
                <a:latin typeface="Arial" pitchFamily="34" charset="0"/>
                <a:cs typeface="Arial" pitchFamily="34" charset="0"/>
              </a:rPr>
              <a:t>Pitch is the highness or lowness of your voice, and it’s incredibly essential in language</a:t>
            </a:r>
          </a:p>
          <a:p>
            <a:pPr>
              <a:lnSpc>
                <a:spcPct val="100000"/>
              </a:lnSpc>
              <a:buNone/>
            </a:pPr>
            <a:endParaRPr lang="en-IN" b="1" dirty="0">
              <a:latin typeface="Arial" pitchFamily="34" charset="0"/>
              <a:cs typeface="Arial" pitchFamily="34" charset="0"/>
            </a:endParaRPr>
          </a:p>
          <a:p>
            <a:pPr>
              <a:lnSpc>
                <a:spcPct val="100000"/>
              </a:lnSpc>
              <a:buNone/>
            </a:pPr>
            <a:r>
              <a:rPr lang="en-IN" b="1" dirty="0">
                <a:latin typeface="Arial" pitchFamily="34" charset="0"/>
                <a:cs typeface="Arial" pitchFamily="34" charset="0"/>
              </a:rPr>
              <a:t>We use pitch in order </a:t>
            </a:r>
          </a:p>
          <a:p>
            <a:pPr>
              <a:lnSpc>
                <a:spcPct val="100000"/>
              </a:lnSpc>
            </a:pPr>
            <a:r>
              <a:rPr lang="en-IN" dirty="0">
                <a:latin typeface="Arial" pitchFamily="34" charset="0"/>
                <a:cs typeface="Arial" pitchFamily="34" charset="0"/>
              </a:rPr>
              <a:t>to express our emotions and attitude through a change in our intonation, or the tone of our voice. </a:t>
            </a:r>
          </a:p>
          <a:p>
            <a:pPr>
              <a:lnSpc>
                <a:spcPct val="100000"/>
              </a:lnSpc>
            </a:pPr>
            <a:r>
              <a:rPr lang="en-IN" dirty="0">
                <a:latin typeface="Arial" pitchFamily="34" charset="0"/>
                <a:cs typeface="Arial" pitchFamily="34" charset="0"/>
              </a:rPr>
              <a:t>to express stress, or when we make certain syllables longer, louder, and higher in pitch.</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Content Placeholder 2"/>
          <p:cNvSpPr txBox="1">
            <a:spLocks/>
          </p:cNvSpPr>
          <p:nvPr/>
        </p:nvSpPr>
        <p:spPr>
          <a:xfrm>
            <a:off x="838200" y="1763809"/>
            <a:ext cx="10515600" cy="4624112"/>
          </a:xfrm>
          <a:prstGeom prst="rect">
            <a:avLst/>
          </a:prstGeom>
          <a:ln>
            <a:solidFill>
              <a:schemeClr val="tx1"/>
            </a:solidFill>
          </a:ln>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U"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AU" sz="2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kumimoji="0" lang="en-IN" sz="22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5898"/>
            <a:ext cx="10515600" cy="1080512"/>
          </a:xfrm>
        </p:spPr>
        <p:txBody>
          <a:bodyPr>
            <a:normAutofit/>
          </a:bodyPr>
          <a:lstStyle/>
          <a:p>
            <a:pPr lvl="0" algn="ctr"/>
            <a:r>
              <a:rPr lang="en-IN" b="1" dirty="0">
                <a:latin typeface="Arial Black" pitchFamily="34" charset="0"/>
              </a:rPr>
              <a:t>Stress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838201" y="1759526"/>
            <a:ext cx="10494818" cy="4436558"/>
          </a:xfrm>
          <a:ln>
            <a:solidFill>
              <a:schemeClr val="tx1"/>
            </a:solidFill>
          </a:ln>
        </p:spPr>
        <p:txBody>
          <a:bodyPr>
            <a:noAutofit/>
          </a:bodyPr>
          <a:lstStyle/>
          <a:p>
            <a:pPr>
              <a:lnSpc>
                <a:spcPct val="130000"/>
              </a:lnSpc>
            </a:pPr>
            <a:r>
              <a:rPr lang="en-IN" dirty="0">
                <a:latin typeface="Arial" pitchFamily="34" charset="0"/>
                <a:cs typeface="Arial" pitchFamily="34" charset="0"/>
              </a:rPr>
              <a:t>Stressing means to </a:t>
            </a:r>
            <a:r>
              <a:rPr lang="en-IN" b="1" dirty="0">
                <a:latin typeface="Arial" pitchFamily="34" charset="0"/>
                <a:cs typeface="Arial" pitchFamily="34" charset="0"/>
              </a:rPr>
              <a:t>emphasize</a:t>
            </a:r>
            <a:r>
              <a:rPr lang="en-IN" dirty="0">
                <a:latin typeface="Arial" pitchFamily="34" charset="0"/>
                <a:cs typeface="Arial" pitchFamily="34" charset="0"/>
              </a:rPr>
              <a:t> a sound and make syllables and words: </a:t>
            </a:r>
            <a:r>
              <a:rPr lang="en-IN" b="1" dirty="0">
                <a:latin typeface="Arial" pitchFamily="34" charset="0"/>
                <a:cs typeface="Arial" pitchFamily="34" charset="0"/>
              </a:rPr>
              <a:t>louder ,longer and higher in pitch</a:t>
            </a:r>
          </a:p>
          <a:p>
            <a:r>
              <a:rPr lang="en-IN" dirty="0">
                <a:latin typeface="Arial" pitchFamily="34" charset="0"/>
                <a:cs typeface="Arial" pitchFamily="34" charset="0"/>
              </a:rPr>
              <a:t>Every word in English has just </a:t>
            </a:r>
            <a:r>
              <a:rPr lang="en-IN" b="1" dirty="0">
                <a:latin typeface="Arial" pitchFamily="34" charset="0"/>
                <a:cs typeface="Arial" pitchFamily="34" charset="0"/>
              </a:rPr>
              <a:t>one</a:t>
            </a:r>
            <a:r>
              <a:rPr lang="en-IN" dirty="0">
                <a:latin typeface="Arial" pitchFamily="34" charset="0"/>
                <a:cs typeface="Arial" pitchFamily="34" charset="0"/>
              </a:rPr>
              <a:t> syllable with a </a:t>
            </a:r>
            <a:r>
              <a:rPr lang="en-IN" b="1" dirty="0">
                <a:latin typeface="Arial" pitchFamily="34" charset="0"/>
                <a:cs typeface="Arial" pitchFamily="34" charset="0"/>
              </a:rPr>
              <a:t>primary stress</a:t>
            </a:r>
            <a:r>
              <a:rPr lang="en-IN" dirty="0">
                <a:latin typeface="Arial" pitchFamily="34" charset="0"/>
                <a:cs typeface="Arial" pitchFamily="34" charset="0"/>
              </a:rPr>
              <a:t> or </a:t>
            </a:r>
            <a:r>
              <a:rPr lang="en-IN" b="1" dirty="0">
                <a:latin typeface="Arial" pitchFamily="34" charset="0"/>
                <a:cs typeface="Arial" pitchFamily="34" charset="0"/>
              </a:rPr>
              <a:t>emphasis</a:t>
            </a:r>
            <a:r>
              <a:rPr lang="en-IN" dirty="0">
                <a:latin typeface="Arial" pitchFamily="34" charset="0"/>
                <a:cs typeface="Arial" pitchFamily="34" charset="0"/>
              </a:rPr>
              <a:t>. </a:t>
            </a:r>
          </a:p>
          <a:p>
            <a:r>
              <a:rPr lang="en-IN" dirty="0">
                <a:latin typeface="Arial" pitchFamily="34" charset="0"/>
                <a:cs typeface="Arial" pitchFamily="34" charset="0"/>
              </a:rPr>
              <a:t>It is not only essential to stress certain syllables and words, but we must also </a:t>
            </a:r>
            <a:r>
              <a:rPr lang="en-IN" b="1" dirty="0">
                <a:latin typeface="Arial" pitchFamily="34" charset="0"/>
                <a:cs typeface="Arial" pitchFamily="34" charset="0"/>
              </a:rPr>
              <a:t>de-stress</a:t>
            </a:r>
            <a:r>
              <a:rPr lang="en-IN" dirty="0">
                <a:latin typeface="Arial" pitchFamily="34" charset="0"/>
                <a:cs typeface="Arial" pitchFamily="34" charset="0"/>
              </a:rPr>
              <a:t> other syllables and words.</a:t>
            </a:r>
          </a:p>
          <a:p>
            <a:r>
              <a:rPr lang="en-IN" b="1" dirty="0">
                <a:latin typeface="Arial" pitchFamily="34" charset="0"/>
                <a:cs typeface="Arial" pitchFamily="34" charset="0"/>
              </a:rPr>
              <a:t>Example: </a:t>
            </a:r>
            <a:r>
              <a:rPr lang="en-IN" dirty="0">
                <a:latin typeface="Arial" pitchFamily="34" charset="0"/>
                <a:cs typeface="Arial" pitchFamily="34" charset="0"/>
              </a:rPr>
              <a:t>English –&gt; [</a:t>
            </a:r>
            <a:r>
              <a:rPr lang="en-IN" b="1" dirty="0">
                <a:latin typeface="Arial" pitchFamily="34" charset="0"/>
                <a:cs typeface="Arial" pitchFamily="34" charset="0"/>
              </a:rPr>
              <a:t>ING</a:t>
            </a:r>
            <a:r>
              <a:rPr lang="en-IN" dirty="0">
                <a:latin typeface="Arial" pitchFamily="34" charset="0"/>
                <a:cs typeface="Arial" pitchFamily="34" charset="0"/>
              </a:rPr>
              <a:t> </a:t>
            </a:r>
            <a:r>
              <a:rPr lang="en-IN" dirty="0" err="1">
                <a:latin typeface="Arial" pitchFamily="34" charset="0"/>
                <a:cs typeface="Arial" pitchFamily="34" charset="0"/>
              </a:rPr>
              <a:t>glish</a:t>
            </a:r>
            <a:r>
              <a:rPr lang="en-IN" dirty="0">
                <a:latin typeface="Arial" pitchFamily="34" charset="0"/>
                <a:cs typeface="Arial" pitchFamily="34" charset="0"/>
              </a:rPr>
              <a:t>] (1st syllable is stressed; 2nd syllable is slightly de-stressed)</a:t>
            </a:r>
          </a:p>
          <a:p>
            <a:endParaRPr lang="en-IN" dirty="0">
              <a:latin typeface="Arial" pitchFamily="34" charset="0"/>
              <a:cs typeface="Arial" pitchFamily="34" charset="0"/>
            </a:endParaRPr>
          </a:p>
        </p:txBody>
      </p:sp>
    </p:spTree>
    <p:extLst>
      <p:ext uri="{BB962C8B-B14F-4D97-AF65-F5344CB8AC3E}">
        <p14:creationId xmlns:p14="http://schemas.microsoft.com/office/powerpoint/2010/main" val="823702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2"/>
            <a:ext cx="10515600" cy="1080512"/>
          </a:xfrm>
        </p:spPr>
        <p:txBody>
          <a:bodyPr>
            <a:normAutofit/>
          </a:bodyPr>
          <a:lstStyle/>
          <a:p>
            <a:pPr lvl="0" algn="ctr"/>
            <a:r>
              <a:rPr lang="en-IN" b="1" dirty="0">
                <a:latin typeface="Arial Black" pitchFamily="34" charset="0"/>
              </a:rPr>
              <a:t>Stress in sentences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838201" y="1759526"/>
            <a:ext cx="10494818" cy="4436558"/>
          </a:xfrm>
          <a:ln>
            <a:solidFill>
              <a:schemeClr val="tx1"/>
            </a:solidFill>
          </a:ln>
        </p:spPr>
        <p:txBody>
          <a:bodyPr>
            <a:noAutofit/>
          </a:bodyPr>
          <a:lstStyle/>
          <a:p>
            <a:pPr>
              <a:buNone/>
            </a:pPr>
            <a:r>
              <a:rPr lang="en-IN" dirty="0">
                <a:latin typeface="Arial" pitchFamily="34" charset="0"/>
                <a:cs typeface="Arial" pitchFamily="34" charset="0"/>
              </a:rPr>
              <a:t>Think about stressed as well as unstressed Syllable while pronouncing a word/ sentence.</a:t>
            </a:r>
          </a:p>
          <a:p>
            <a:pPr>
              <a:buFont typeface="Wingdings" pitchFamily="2" charset="2"/>
              <a:buChar char="Ø"/>
            </a:pPr>
            <a:r>
              <a:rPr lang="en-IN" dirty="0">
                <a:latin typeface="Arial" pitchFamily="34" charset="0"/>
                <a:cs typeface="Arial" pitchFamily="34" charset="0"/>
              </a:rPr>
              <a:t>How about we </a:t>
            </a:r>
            <a:r>
              <a:rPr lang="en-IN" dirty="0">
                <a:solidFill>
                  <a:srgbClr val="FF0000"/>
                </a:solidFill>
                <a:latin typeface="Arial" pitchFamily="34" charset="0"/>
                <a:cs typeface="Arial" pitchFamily="34" charset="0"/>
              </a:rPr>
              <a:t>go</a:t>
            </a:r>
            <a:r>
              <a:rPr lang="en-IN" dirty="0">
                <a:latin typeface="Arial" pitchFamily="34" charset="0"/>
                <a:cs typeface="Arial" pitchFamily="34" charset="0"/>
              </a:rPr>
              <a:t> for a</a:t>
            </a:r>
            <a:r>
              <a:rPr lang="en-IN" dirty="0">
                <a:solidFill>
                  <a:srgbClr val="FF0000"/>
                </a:solidFill>
                <a:latin typeface="Arial" pitchFamily="34" charset="0"/>
                <a:cs typeface="Arial" pitchFamily="34" charset="0"/>
              </a:rPr>
              <a:t> Coffee this afternoon.</a:t>
            </a:r>
          </a:p>
          <a:p>
            <a:r>
              <a:rPr lang="en-IN" dirty="0">
                <a:solidFill>
                  <a:srgbClr val="FF0000"/>
                </a:solidFill>
                <a:latin typeface="Arial" pitchFamily="34" charset="0"/>
                <a:cs typeface="Arial" pitchFamily="34" charset="0"/>
              </a:rPr>
              <a:t>Content words</a:t>
            </a:r>
          </a:p>
          <a:p>
            <a:r>
              <a:rPr lang="en-IN" dirty="0">
                <a:latin typeface="Arial" pitchFamily="34" charset="0"/>
                <a:cs typeface="Arial" pitchFamily="34" charset="0"/>
              </a:rPr>
              <a:t>Grammar</a:t>
            </a:r>
          </a:p>
          <a:p>
            <a:pPr>
              <a:buFont typeface="Wingdings" pitchFamily="2" charset="2"/>
              <a:buChar char="Ø"/>
            </a:pPr>
            <a:r>
              <a:rPr lang="en-IN" dirty="0">
                <a:latin typeface="Arial" pitchFamily="34" charset="0"/>
                <a:cs typeface="Arial" pitchFamily="34" charset="0"/>
              </a:rPr>
              <a:t> My </a:t>
            </a:r>
            <a:r>
              <a:rPr lang="en-IN" dirty="0">
                <a:solidFill>
                  <a:srgbClr val="FF0000"/>
                </a:solidFill>
                <a:latin typeface="Arial" pitchFamily="34" charset="0"/>
                <a:cs typeface="Arial" pitchFamily="34" charset="0"/>
              </a:rPr>
              <a:t>Phone’s broken, </a:t>
            </a:r>
            <a:r>
              <a:rPr lang="en-IN" dirty="0">
                <a:latin typeface="Arial" pitchFamily="34" charset="0"/>
                <a:cs typeface="Arial" pitchFamily="34" charset="0"/>
              </a:rPr>
              <a:t>so I am </a:t>
            </a:r>
            <a:r>
              <a:rPr lang="en-IN" dirty="0">
                <a:solidFill>
                  <a:srgbClr val="FF0000"/>
                </a:solidFill>
                <a:latin typeface="Arial" pitchFamily="34" charset="0"/>
                <a:cs typeface="Arial" pitchFamily="34" charset="0"/>
              </a:rPr>
              <a:t>going</a:t>
            </a:r>
            <a:r>
              <a:rPr lang="en-IN" dirty="0">
                <a:latin typeface="Arial" pitchFamily="34" charset="0"/>
                <a:cs typeface="Arial" pitchFamily="34" charset="0"/>
              </a:rPr>
              <a:t> to </a:t>
            </a:r>
            <a:r>
              <a:rPr lang="en-IN" dirty="0">
                <a:solidFill>
                  <a:srgbClr val="FF0000"/>
                </a:solidFill>
                <a:latin typeface="Arial" pitchFamily="34" charset="0"/>
                <a:cs typeface="Arial" pitchFamily="34" charset="0"/>
              </a:rPr>
              <a:t>buy</a:t>
            </a:r>
            <a:r>
              <a:rPr lang="en-IN" dirty="0">
                <a:latin typeface="Arial" pitchFamily="34" charset="0"/>
                <a:cs typeface="Arial" pitchFamily="34" charset="0"/>
              </a:rPr>
              <a:t> a </a:t>
            </a:r>
            <a:r>
              <a:rPr lang="en-IN" dirty="0">
                <a:solidFill>
                  <a:srgbClr val="FF0000"/>
                </a:solidFill>
                <a:latin typeface="Arial" pitchFamily="34" charset="0"/>
                <a:cs typeface="Arial" pitchFamily="34" charset="0"/>
              </a:rPr>
              <a:t>new one</a:t>
            </a:r>
            <a:r>
              <a:rPr lang="en-IN" dirty="0">
                <a:latin typeface="Arial" pitchFamily="34" charset="0"/>
                <a:cs typeface="Arial" pitchFamily="34" charset="0"/>
              </a:rPr>
              <a:t>.</a:t>
            </a:r>
          </a:p>
          <a:p>
            <a:pPr>
              <a:buFont typeface="Wingdings" pitchFamily="2" charset="2"/>
              <a:buChar char="Ø"/>
            </a:pPr>
            <a:r>
              <a:rPr lang="en-IN" dirty="0">
                <a:latin typeface="Arial" pitchFamily="34" charset="0"/>
                <a:cs typeface="Arial" pitchFamily="34" charset="0"/>
              </a:rPr>
              <a:t> Zaffar and other speakers </a:t>
            </a:r>
            <a:r>
              <a:rPr lang="en-IN" dirty="0">
                <a:solidFill>
                  <a:srgbClr val="FF0000"/>
                </a:solidFill>
                <a:latin typeface="Arial" pitchFamily="34" charset="0"/>
                <a:cs typeface="Arial" pitchFamily="34" charset="0"/>
              </a:rPr>
              <a:t>addressed</a:t>
            </a:r>
            <a:r>
              <a:rPr lang="en-IN" dirty="0">
                <a:latin typeface="Arial" pitchFamily="34" charset="0"/>
                <a:cs typeface="Arial" pitchFamily="34" charset="0"/>
              </a:rPr>
              <a:t> the </a:t>
            </a:r>
            <a:r>
              <a:rPr lang="en-IN" dirty="0">
                <a:solidFill>
                  <a:srgbClr val="FF0000"/>
                </a:solidFill>
                <a:latin typeface="Arial" pitchFamily="34" charset="0"/>
                <a:cs typeface="Arial" pitchFamily="34" charset="0"/>
              </a:rPr>
              <a:t>August Gathering </a:t>
            </a:r>
            <a:r>
              <a:rPr lang="en-IN" dirty="0">
                <a:latin typeface="Arial" pitchFamily="34" charset="0"/>
                <a:cs typeface="Arial" pitchFamily="34" charset="0"/>
              </a:rPr>
              <a:t>of participants.</a:t>
            </a:r>
          </a:p>
        </p:txBody>
      </p:sp>
    </p:spTree>
    <p:extLst>
      <p:ext uri="{BB962C8B-B14F-4D97-AF65-F5344CB8AC3E}">
        <p14:creationId xmlns:p14="http://schemas.microsoft.com/office/powerpoint/2010/main" val="823702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IN" b="1" dirty="0">
                <a:latin typeface="Arial Black" pitchFamily="34" charset="0"/>
              </a:rPr>
              <a:t>Intonation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838199" y="1758463"/>
            <a:ext cx="10487297" cy="4533155"/>
          </a:xfrm>
          <a:ln>
            <a:solidFill>
              <a:schemeClr val="tx1"/>
            </a:solidFill>
          </a:ln>
        </p:spPr>
        <p:txBody>
          <a:bodyPr>
            <a:noAutofit/>
          </a:bodyPr>
          <a:lstStyle/>
          <a:p>
            <a:pPr>
              <a:lnSpc>
                <a:spcPct val="100000"/>
              </a:lnSpc>
            </a:pPr>
            <a:r>
              <a:rPr lang="en-IN" dirty="0">
                <a:latin typeface="Arial" pitchFamily="34" charset="0"/>
                <a:cs typeface="Arial" pitchFamily="34" charset="0"/>
              </a:rPr>
              <a:t>Intonation refers to the rise and fall in human voice. </a:t>
            </a:r>
          </a:p>
          <a:p>
            <a:pPr>
              <a:lnSpc>
                <a:spcPct val="100000"/>
              </a:lnSpc>
            </a:pPr>
            <a:r>
              <a:rPr lang="en-IN" dirty="0">
                <a:latin typeface="Arial" pitchFamily="34" charset="0"/>
                <a:cs typeface="Arial" pitchFamily="34" charset="0"/>
              </a:rPr>
              <a:t>Questions, for example, should end on a higher note. </a:t>
            </a:r>
          </a:p>
          <a:p>
            <a:pPr>
              <a:lnSpc>
                <a:spcPct val="100000"/>
              </a:lnSpc>
            </a:pPr>
            <a:r>
              <a:rPr lang="en-IN" dirty="0">
                <a:latin typeface="Arial" pitchFamily="34" charset="0"/>
                <a:cs typeface="Arial" pitchFamily="34" charset="0"/>
              </a:rPr>
              <a:t>Affirmative statements should end in a level or slightly lower pitch. The ending of statements on a high pitch can create doubt in your listeners. </a:t>
            </a:r>
          </a:p>
          <a:p>
            <a:pPr>
              <a:lnSpc>
                <a:spcPct val="100000"/>
              </a:lnSpc>
            </a:pPr>
            <a:r>
              <a:rPr lang="en-IN" dirty="0">
                <a:latin typeface="Arial" pitchFamily="34" charset="0"/>
                <a:cs typeface="Arial" pitchFamily="34" charset="0"/>
              </a:rPr>
              <a:t>The entire variation of pitch while speaking is called intonation.</a:t>
            </a:r>
          </a:p>
          <a:p>
            <a:pPr>
              <a:lnSpc>
                <a:spcPct val="100000"/>
              </a:lnSpc>
            </a:pPr>
            <a:r>
              <a:rPr lang="en-IN" dirty="0">
                <a:latin typeface="Arial" pitchFamily="34" charset="0"/>
                <a:cs typeface="Arial" pitchFamily="34" charset="0"/>
              </a:rPr>
              <a:t>Words that are stressed are key to understanding and using the correct intonation brings out the meaning. </a:t>
            </a:r>
          </a:p>
        </p:txBody>
      </p:sp>
    </p:spTree>
    <p:extLst>
      <p:ext uri="{BB962C8B-B14F-4D97-AF65-F5344CB8AC3E}">
        <p14:creationId xmlns:p14="http://schemas.microsoft.com/office/powerpoint/2010/main" val="823702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IN" b="1" dirty="0">
                <a:latin typeface="Arial Black" pitchFamily="34" charset="0"/>
              </a:rPr>
              <a:t>Practice Exercise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838200" y="1770186"/>
            <a:ext cx="10522527" cy="4507784"/>
          </a:xfrm>
          <a:ln>
            <a:solidFill>
              <a:schemeClr val="tx1"/>
            </a:solidFill>
          </a:ln>
        </p:spPr>
        <p:txBody>
          <a:bodyPr>
            <a:noAutofit/>
          </a:bodyPr>
          <a:lstStyle/>
          <a:p>
            <a:pPr marL="0">
              <a:lnSpc>
                <a:spcPct val="100000"/>
              </a:lnSpc>
              <a:spcBef>
                <a:spcPts val="0"/>
              </a:spcBef>
            </a:pPr>
            <a:r>
              <a:rPr lang="en-IN" dirty="0">
                <a:latin typeface="Arial" pitchFamily="34" charset="0"/>
                <a:cs typeface="Arial" pitchFamily="34" charset="0"/>
              </a:rPr>
              <a:t>A sentence can be spoken differently, depending on the speaker's intention.</a:t>
            </a:r>
          </a:p>
          <a:p>
            <a:pPr marL="0">
              <a:lnSpc>
                <a:spcPct val="100000"/>
              </a:lnSpc>
              <a:spcBef>
                <a:spcPts val="0"/>
              </a:spcBef>
            </a:pPr>
            <a:r>
              <a:rPr lang="en-IN" dirty="0">
                <a:latin typeface="Arial" pitchFamily="34" charset="0"/>
                <a:cs typeface="Arial" pitchFamily="34" charset="0"/>
              </a:rPr>
              <a:t>Look at the following sentences. Speak them out loud and especially stress the word that is in bold writing. </a:t>
            </a:r>
          </a:p>
          <a:p>
            <a:pPr marL="0">
              <a:lnSpc>
                <a:spcPct val="100000"/>
              </a:lnSpc>
              <a:spcBef>
                <a:spcPts val="0"/>
              </a:spcBef>
            </a:pPr>
            <a:r>
              <a:rPr lang="en-IN" dirty="0">
                <a:latin typeface="Arial" pitchFamily="34" charset="0"/>
                <a:cs typeface="Arial" pitchFamily="34" charset="0"/>
              </a:rPr>
              <a:t>I did not read anything about the disaster.</a:t>
            </a:r>
          </a:p>
          <a:p>
            <a:pPr marL="0">
              <a:lnSpc>
                <a:spcPct val="100000"/>
              </a:lnSpc>
              <a:spcBef>
                <a:spcPts val="0"/>
              </a:spcBef>
            </a:pPr>
            <a:r>
              <a:rPr lang="en-IN" b="1" dirty="0">
                <a:latin typeface="Arial" pitchFamily="34" charset="0"/>
                <a:cs typeface="Arial" pitchFamily="34" charset="0"/>
              </a:rPr>
              <a:t>I</a:t>
            </a:r>
            <a:r>
              <a:rPr lang="en-IN" dirty="0">
                <a:latin typeface="Arial" pitchFamily="34" charset="0"/>
                <a:cs typeface="Arial" pitchFamily="34" charset="0"/>
              </a:rPr>
              <a:t> did not read anything about the disaster.</a:t>
            </a:r>
          </a:p>
          <a:p>
            <a:pPr marL="0">
              <a:lnSpc>
                <a:spcPct val="100000"/>
              </a:lnSpc>
              <a:spcBef>
                <a:spcPts val="0"/>
              </a:spcBef>
            </a:pPr>
            <a:r>
              <a:rPr lang="en-IN" dirty="0">
                <a:latin typeface="Arial" pitchFamily="34" charset="0"/>
                <a:cs typeface="Arial" pitchFamily="34" charset="0"/>
              </a:rPr>
              <a:t>I did </a:t>
            </a:r>
            <a:r>
              <a:rPr lang="en-IN" b="1" dirty="0">
                <a:latin typeface="Arial" pitchFamily="34" charset="0"/>
                <a:cs typeface="Arial" pitchFamily="34" charset="0"/>
              </a:rPr>
              <a:t>not</a:t>
            </a:r>
            <a:r>
              <a:rPr lang="en-IN" dirty="0">
                <a:latin typeface="Arial" pitchFamily="34" charset="0"/>
                <a:cs typeface="Arial" pitchFamily="34" charset="0"/>
              </a:rPr>
              <a:t> read anything about the disaster.</a:t>
            </a:r>
          </a:p>
          <a:p>
            <a:pPr marL="0">
              <a:lnSpc>
                <a:spcPct val="100000"/>
              </a:lnSpc>
              <a:spcBef>
                <a:spcPts val="0"/>
              </a:spcBef>
            </a:pPr>
            <a:r>
              <a:rPr lang="en-IN" dirty="0">
                <a:latin typeface="Arial" pitchFamily="34" charset="0"/>
                <a:cs typeface="Arial" pitchFamily="34" charset="0"/>
              </a:rPr>
              <a:t>I did not </a:t>
            </a:r>
            <a:r>
              <a:rPr lang="en-IN" b="1" dirty="0">
                <a:latin typeface="Arial" pitchFamily="34" charset="0"/>
                <a:cs typeface="Arial" pitchFamily="34" charset="0"/>
              </a:rPr>
              <a:t>read</a:t>
            </a:r>
            <a:r>
              <a:rPr lang="en-IN" dirty="0">
                <a:latin typeface="Arial" pitchFamily="34" charset="0"/>
                <a:cs typeface="Arial" pitchFamily="34" charset="0"/>
              </a:rPr>
              <a:t> anything about the disaster.</a:t>
            </a:r>
          </a:p>
          <a:p>
            <a:pPr marL="0">
              <a:lnSpc>
                <a:spcPct val="100000"/>
              </a:lnSpc>
              <a:spcBef>
                <a:spcPts val="0"/>
              </a:spcBef>
            </a:pPr>
            <a:r>
              <a:rPr lang="en-IN" dirty="0">
                <a:latin typeface="Arial" pitchFamily="34" charset="0"/>
                <a:cs typeface="Arial" pitchFamily="34" charset="0"/>
              </a:rPr>
              <a:t>I did not read </a:t>
            </a:r>
            <a:r>
              <a:rPr lang="en-IN" b="1" dirty="0">
                <a:latin typeface="Arial" pitchFamily="34" charset="0"/>
                <a:cs typeface="Arial" pitchFamily="34" charset="0"/>
              </a:rPr>
              <a:t>anything</a:t>
            </a:r>
            <a:r>
              <a:rPr lang="en-IN" dirty="0">
                <a:latin typeface="Arial" pitchFamily="34" charset="0"/>
                <a:cs typeface="Arial" pitchFamily="34" charset="0"/>
              </a:rPr>
              <a:t> about the disaster.</a:t>
            </a:r>
          </a:p>
          <a:p>
            <a:pPr marL="0">
              <a:lnSpc>
                <a:spcPct val="100000"/>
              </a:lnSpc>
              <a:spcBef>
                <a:spcPts val="0"/>
              </a:spcBef>
            </a:pPr>
            <a:r>
              <a:rPr lang="en-IN" dirty="0">
                <a:latin typeface="Arial" pitchFamily="34" charset="0"/>
                <a:cs typeface="Arial" pitchFamily="34" charset="0"/>
              </a:rPr>
              <a:t>I did not read anything about the </a:t>
            </a:r>
            <a:r>
              <a:rPr lang="en-IN" b="1" dirty="0">
                <a:latin typeface="Arial" pitchFamily="34" charset="0"/>
                <a:cs typeface="Arial" pitchFamily="34" charset="0"/>
              </a:rPr>
              <a:t>disaste</a:t>
            </a:r>
            <a:r>
              <a:rPr lang="en-IN" sz="2400" b="1" dirty="0">
                <a:latin typeface="Arial" pitchFamily="34" charset="0"/>
                <a:cs typeface="Arial" pitchFamily="34" charset="0"/>
              </a:rPr>
              <a:t>r</a:t>
            </a:r>
            <a:r>
              <a:rPr lang="en-IN" sz="2400" dirty="0">
                <a:latin typeface="Arial" pitchFamily="34" charset="0"/>
                <a:cs typeface="Arial" pitchFamily="34" charset="0"/>
              </a:rPr>
              <a:t>.</a:t>
            </a:r>
          </a:p>
          <a:p>
            <a:pPr marL="0">
              <a:lnSpc>
                <a:spcPct val="100000"/>
              </a:lnSpc>
              <a:spcBef>
                <a:spcPts val="0"/>
              </a:spcBef>
            </a:pPr>
            <a:endParaRPr lang="en-IN" sz="2400" dirty="0">
              <a:latin typeface="Arial" pitchFamily="34" charset="0"/>
              <a:cs typeface="Arial" pitchFamily="34" charset="0"/>
            </a:endParaRPr>
          </a:p>
        </p:txBody>
      </p:sp>
    </p:spTree>
    <p:extLst>
      <p:ext uri="{BB962C8B-B14F-4D97-AF65-F5344CB8AC3E}">
        <p14:creationId xmlns:p14="http://schemas.microsoft.com/office/powerpoint/2010/main" val="823702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Arial Black" pitchFamily="34" charset="0"/>
                <a:cs typeface="Arial" pitchFamily="34" charset="0"/>
              </a:rPr>
              <a:t>Different types of speeches</a:t>
            </a:r>
            <a:r>
              <a:rPr lang="en-IN" b="1" dirty="0">
                <a:latin typeface="Arial Black" pitchFamily="34" charset="0"/>
              </a:rPr>
              <a:t>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dirty="0"/>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881" name="Picture 1"/>
          <p:cNvPicPr>
            <a:picLocks noChangeAspect="1" noChangeArrowheads="1"/>
          </p:cNvPicPr>
          <p:nvPr/>
        </p:nvPicPr>
        <p:blipFill>
          <a:blip r:embed="rId2"/>
          <a:srcRect l="36398" t="39739" r="21121" b="20709"/>
          <a:stretch>
            <a:fillRect/>
          </a:stretch>
        </p:blipFill>
        <p:spPr bwMode="auto">
          <a:xfrm>
            <a:off x="2374706" y="1828797"/>
            <a:ext cx="7792871" cy="4394579"/>
          </a:xfrm>
          <a:prstGeom prst="rect">
            <a:avLst/>
          </a:prstGeom>
          <a:noFill/>
          <a:ln w="9525">
            <a:noFill/>
            <a:miter lim="800000"/>
            <a:headEnd/>
            <a:tailEnd/>
          </a:ln>
          <a:effectLst/>
        </p:spPr>
      </p:pic>
    </p:spTree>
    <p:extLst>
      <p:ext uri="{BB962C8B-B14F-4D97-AF65-F5344CB8AC3E}">
        <p14:creationId xmlns:p14="http://schemas.microsoft.com/office/powerpoint/2010/main" val="823702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IN" b="1" dirty="0">
                <a:latin typeface="Arial Black" pitchFamily="34" charset="0"/>
              </a:rPr>
              <a:t>Different types of Speeches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0833" name="Picture 1"/>
          <p:cNvPicPr>
            <a:picLocks noChangeAspect="1" noChangeArrowheads="1"/>
          </p:cNvPicPr>
          <p:nvPr/>
        </p:nvPicPr>
        <p:blipFill>
          <a:blip r:embed="rId2"/>
          <a:srcRect l="35244" t="40299" r="20386" b="19216"/>
          <a:stretch>
            <a:fillRect/>
          </a:stretch>
        </p:blipFill>
        <p:spPr bwMode="auto">
          <a:xfrm>
            <a:off x="2920619" y="2156347"/>
            <a:ext cx="7042245" cy="3944204"/>
          </a:xfrm>
          <a:prstGeom prst="rect">
            <a:avLst/>
          </a:prstGeom>
          <a:noFill/>
          <a:ln w="9525">
            <a:noFill/>
            <a:miter lim="800000"/>
            <a:headEnd/>
            <a:tailEnd/>
          </a:ln>
          <a:effectLst/>
        </p:spPr>
      </p:pic>
    </p:spTree>
    <p:extLst>
      <p:ext uri="{BB962C8B-B14F-4D97-AF65-F5344CB8AC3E}">
        <p14:creationId xmlns:p14="http://schemas.microsoft.com/office/powerpoint/2010/main" val="823702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Arial Black" pitchFamily="34" charset="0"/>
                <a:cs typeface="Arial" pitchFamily="34" charset="0"/>
              </a:rPr>
              <a:t>Different types of speeches</a:t>
            </a:r>
            <a:endParaRPr lang="en-IN" b="1" dirty="0">
              <a:latin typeface="Arial Black"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9809" name="Picture 1"/>
          <p:cNvPicPr>
            <a:picLocks noChangeAspect="1" noChangeArrowheads="1"/>
          </p:cNvPicPr>
          <p:nvPr/>
        </p:nvPicPr>
        <p:blipFill>
          <a:blip r:embed="rId2"/>
          <a:srcRect l="41852" t="37873" r="28253" b="13806"/>
          <a:stretch>
            <a:fillRect/>
          </a:stretch>
        </p:blipFill>
        <p:spPr bwMode="auto">
          <a:xfrm>
            <a:off x="3480178" y="1842448"/>
            <a:ext cx="5295331" cy="4544704"/>
          </a:xfrm>
          <a:prstGeom prst="rect">
            <a:avLst/>
          </a:prstGeom>
          <a:noFill/>
          <a:ln w="9525">
            <a:noFill/>
            <a:miter lim="800000"/>
            <a:headEnd/>
            <a:tailEnd/>
          </a:ln>
          <a:effectLst/>
        </p:spPr>
      </p:pic>
    </p:spTree>
    <p:extLst>
      <p:ext uri="{BB962C8B-B14F-4D97-AF65-F5344CB8AC3E}">
        <p14:creationId xmlns:p14="http://schemas.microsoft.com/office/powerpoint/2010/main" val="823702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IN" b="1" dirty="0">
                <a:latin typeface="Arial Black" pitchFamily="34" charset="0"/>
              </a:rPr>
              <a:t>Enhancing Speaking Skills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838200" y="1723292"/>
            <a:ext cx="10533185" cy="4689231"/>
          </a:xfrm>
          <a:ln>
            <a:solidFill>
              <a:schemeClr val="tx1"/>
            </a:solidFill>
          </a:ln>
        </p:spPr>
        <p:txBody>
          <a:bodyPr>
            <a:noAutofit/>
          </a:bodyPr>
          <a:lstStyle/>
          <a:p>
            <a:pPr>
              <a:lnSpc>
                <a:spcPct val="150000"/>
              </a:lnSpc>
            </a:pPr>
            <a:r>
              <a:rPr lang="en-IN" dirty="0">
                <a:latin typeface="Arial" pitchFamily="34" charset="0"/>
                <a:cs typeface="Arial" pitchFamily="34" charset="0"/>
              </a:rPr>
              <a:t>Pronounce distinctive sounds clearly so that people can distinguish them. </a:t>
            </a:r>
          </a:p>
          <a:p>
            <a:pPr>
              <a:lnSpc>
                <a:spcPct val="150000"/>
              </a:lnSpc>
            </a:pPr>
            <a:r>
              <a:rPr lang="en-IN" dirty="0">
                <a:latin typeface="Arial" pitchFamily="34" charset="0"/>
                <a:cs typeface="Arial" pitchFamily="34" charset="0"/>
              </a:rPr>
              <a:t>Use syllable and word stress, rhythmic and intonation patterns clearly so that people can understand what is said.</a:t>
            </a:r>
          </a:p>
          <a:p>
            <a:pPr>
              <a:lnSpc>
                <a:spcPct val="150000"/>
              </a:lnSpc>
            </a:pPr>
            <a:r>
              <a:rPr lang="en-IN" dirty="0">
                <a:latin typeface="Arial" pitchFamily="34" charset="0"/>
                <a:cs typeface="Arial" pitchFamily="34" charset="0"/>
              </a:rPr>
              <a:t>Use the correct forms of words, for example, tense or gender. </a:t>
            </a:r>
          </a:p>
          <a:p>
            <a:pPr>
              <a:lnSpc>
                <a:spcPct val="150000"/>
              </a:lnSpc>
            </a:pPr>
            <a:r>
              <a:rPr lang="en-IN" dirty="0">
                <a:latin typeface="Arial" pitchFamily="34" charset="0"/>
                <a:cs typeface="Arial" pitchFamily="34" charset="0"/>
              </a:rPr>
              <a:t>Use vocabulary appropriately.</a:t>
            </a:r>
          </a:p>
        </p:txBody>
      </p:sp>
    </p:spTree>
    <p:extLst>
      <p:ext uri="{BB962C8B-B14F-4D97-AF65-F5344CB8AC3E}">
        <p14:creationId xmlns:p14="http://schemas.microsoft.com/office/powerpoint/2010/main" val="823702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IN" b="1" dirty="0">
                <a:latin typeface="Arial Black" pitchFamily="34" charset="0"/>
              </a:rPr>
              <a:t>Tips to improve Speaking skill</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838199" y="1805354"/>
            <a:ext cx="10556631" cy="4607169"/>
          </a:xfrm>
          <a:ln>
            <a:solidFill>
              <a:schemeClr val="tx1"/>
            </a:solidFill>
          </a:ln>
        </p:spPr>
        <p:txBody>
          <a:bodyPr>
            <a:noAutofit/>
          </a:bodyPr>
          <a:lstStyle/>
          <a:p>
            <a:pPr>
              <a:lnSpc>
                <a:spcPct val="100000"/>
              </a:lnSpc>
            </a:pPr>
            <a:r>
              <a:rPr lang="en-IN" b="1" dirty="0">
                <a:latin typeface="Arial" pitchFamily="34" charset="0"/>
                <a:cs typeface="Arial" pitchFamily="34" charset="0"/>
              </a:rPr>
              <a:t>Find a native English speakers</a:t>
            </a:r>
            <a:r>
              <a:rPr lang="en-IN" dirty="0">
                <a:latin typeface="Arial" pitchFamily="34" charset="0"/>
                <a:cs typeface="Arial" pitchFamily="34" charset="0"/>
              </a:rPr>
              <a:t>: Talking to actual native speakers is the most effective way to improve your English skills.</a:t>
            </a:r>
          </a:p>
          <a:p>
            <a:pPr>
              <a:lnSpc>
                <a:spcPct val="100000"/>
              </a:lnSpc>
            </a:pPr>
            <a:r>
              <a:rPr lang="en-IN" b="1" dirty="0">
                <a:latin typeface="Arial" pitchFamily="34" charset="0"/>
                <a:cs typeface="Arial" pitchFamily="34" charset="0"/>
              </a:rPr>
              <a:t>Listen to the music of English</a:t>
            </a:r>
            <a:r>
              <a:rPr lang="en-IN" dirty="0">
                <a:latin typeface="Arial" pitchFamily="34" charset="0"/>
                <a:cs typeface="Arial" pitchFamily="34" charset="0"/>
              </a:rPr>
              <a:t>: The intonation and rhythm is the music of English.</a:t>
            </a:r>
          </a:p>
          <a:p>
            <a:pPr>
              <a:lnSpc>
                <a:spcPct val="100000"/>
              </a:lnSpc>
            </a:pPr>
            <a:r>
              <a:rPr lang="en-IN" b="1" dirty="0">
                <a:latin typeface="Arial" pitchFamily="34" charset="0"/>
                <a:cs typeface="Arial" pitchFamily="34" charset="0"/>
              </a:rPr>
              <a:t>Slow down</a:t>
            </a:r>
            <a:r>
              <a:rPr lang="en-IN" dirty="0">
                <a:latin typeface="Arial" pitchFamily="34" charset="0"/>
                <a:cs typeface="Arial" pitchFamily="34" charset="0"/>
              </a:rPr>
              <a:t>: The more clearly you speak, the better chance your listener has of understanding you. </a:t>
            </a:r>
          </a:p>
          <a:p>
            <a:pPr>
              <a:lnSpc>
                <a:spcPct val="100000"/>
              </a:lnSpc>
            </a:pPr>
            <a:r>
              <a:rPr lang="en-IN" b="1" dirty="0">
                <a:latin typeface="Arial" pitchFamily="34" charset="0"/>
                <a:cs typeface="Arial" pitchFamily="34" charset="0"/>
              </a:rPr>
              <a:t>Speak English</a:t>
            </a:r>
            <a:r>
              <a:rPr lang="en-IN" dirty="0">
                <a:latin typeface="Arial" pitchFamily="34" charset="0"/>
                <a:cs typeface="Arial" pitchFamily="34" charset="0"/>
              </a:rPr>
              <a:t>: Speak in correct English. The more you speak the faster you learn.</a:t>
            </a:r>
          </a:p>
          <a:p>
            <a:pPr>
              <a:lnSpc>
                <a:spcPct val="100000"/>
              </a:lnSpc>
            </a:pPr>
            <a:endParaRPr lang="en-IN" sz="1600" dirty="0">
              <a:latin typeface="Arial" pitchFamily="34" charset="0"/>
              <a:cs typeface="Arial" pitchFamily="34" charset="0"/>
            </a:endParaRPr>
          </a:p>
        </p:txBody>
      </p:sp>
    </p:spTree>
    <p:extLst>
      <p:ext uri="{BB962C8B-B14F-4D97-AF65-F5344CB8AC3E}">
        <p14:creationId xmlns:p14="http://schemas.microsoft.com/office/powerpoint/2010/main" val="823702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b="1" dirty="0">
                <a:latin typeface="Arial Black" pitchFamily="34" charset="0"/>
              </a:rPr>
              <a:t>Applications </a:t>
            </a:r>
          </a:p>
        </p:txBody>
      </p:sp>
      <p:sp>
        <p:nvSpPr>
          <p:cNvPr id="3" name="Content Placeholder 2"/>
          <p:cNvSpPr>
            <a:spLocks noGrp="1"/>
          </p:cNvSpPr>
          <p:nvPr>
            <p:ph idx="1"/>
          </p:nvPr>
        </p:nvSpPr>
        <p:spPr>
          <a:xfrm>
            <a:off x="838200" y="1763809"/>
            <a:ext cx="10515600" cy="4624112"/>
          </a:xfrm>
          <a:ln>
            <a:solidFill>
              <a:schemeClr val="tx1"/>
            </a:solidFill>
          </a:ln>
        </p:spPr>
        <p:txBody>
          <a:bodyPr>
            <a:normAutofit/>
          </a:bodyPr>
          <a:lstStyle/>
          <a:p>
            <a:pPr>
              <a:lnSpc>
                <a:spcPct val="150000"/>
              </a:lnSpc>
            </a:pPr>
            <a:r>
              <a:rPr lang="en-IN" dirty="0">
                <a:latin typeface="Arial" pitchFamily="34" charset="0"/>
                <a:cs typeface="Arial" pitchFamily="34" charset="0"/>
              </a:rPr>
              <a:t>Enhances your personality.</a:t>
            </a:r>
          </a:p>
          <a:p>
            <a:pPr>
              <a:lnSpc>
                <a:spcPct val="150000"/>
              </a:lnSpc>
            </a:pPr>
            <a:r>
              <a:rPr lang="en-IN" dirty="0">
                <a:latin typeface="Arial" pitchFamily="34" charset="0"/>
                <a:cs typeface="Arial" pitchFamily="34" charset="0"/>
              </a:rPr>
              <a:t>Helps to crack Interviews and Group discussions.</a:t>
            </a:r>
          </a:p>
          <a:p>
            <a:pPr>
              <a:lnSpc>
                <a:spcPct val="150000"/>
              </a:lnSpc>
            </a:pPr>
            <a:r>
              <a:rPr lang="en-IN" dirty="0">
                <a:latin typeface="Arial" pitchFamily="34" charset="0"/>
                <a:cs typeface="Arial" pitchFamily="34" charset="0"/>
              </a:rPr>
              <a:t>Help to complete an assigned task effectively.</a:t>
            </a:r>
          </a:p>
          <a:p>
            <a:pPr>
              <a:lnSpc>
                <a:spcPct val="150000"/>
              </a:lnSpc>
            </a:pPr>
            <a:r>
              <a:rPr lang="en-IN" dirty="0">
                <a:latin typeface="Arial" pitchFamily="34" charset="0"/>
                <a:cs typeface="Arial" pitchFamily="34" charset="0"/>
              </a:rPr>
              <a:t>Develops a better understanding and  helps to respond effectively.</a:t>
            </a:r>
          </a:p>
          <a:p>
            <a:pPr>
              <a:lnSpc>
                <a:spcPct val="150000"/>
              </a:lnSpc>
            </a:pPr>
            <a:r>
              <a:rPr lang="en-US" dirty="0">
                <a:latin typeface="Arial" pitchFamily="34" charset="0"/>
                <a:cs typeface="Arial" pitchFamily="34" charset="0"/>
              </a:rPr>
              <a:t>Helps in giving explicit and inclusive positive feedback.</a:t>
            </a: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Arial Black" pitchFamily="34" charset="0"/>
                <a:cs typeface="Arial" panose="020B0604020202020204" pitchFamily="34" charset="0"/>
              </a:rPr>
              <a:t>Assessment Pattern</a:t>
            </a:r>
            <a:endParaRPr lang="en-US" dirty="0">
              <a:latin typeface="Arial Black" pitchFamily="34" charset="0"/>
            </a:endParaRPr>
          </a:p>
        </p:txBody>
      </p:sp>
      <p:sp>
        <p:nvSpPr>
          <p:cNvPr id="3" name="Content Placeholder 2"/>
          <p:cNvSpPr>
            <a:spLocks noGrp="1"/>
          </p:cNvSpPr>
          <p:nvPr>
            <p:ph idx="1"/>
          </p:nvPr>
        </p:nvSpPr>
        <p:spPr/>
        <p:txBody>
          <a:bodyPr>
            <a:normAutofit/>
          </a:bodyPr>
          <a:lstStyle/>
          <a:p>
            <a:pPr>
              <a:buNone/>
            </a:pPr>
            <a:r>
              <a:rPr lang="en-IN" b="1" dirty="0">
                <a:latin typeface="Arial" pitchFamily="34" charset="0"/>
                <a:cs typeface="Arial" pitchFamily="34" charset="0"/>
              </a:rPr>
              <a:t>Students are assessed on the basis of the following parameters:</a:t>
            </a:r>
          </a:p>
          <a:p>
            <a:r>
              <a:rPr lang="en-US" dirty="0">
                <a:latin typeface="Arial" pitchFamily="34" charset="0"/>
                <a:cs typeface="Arial" pitchFamily="34" charset="0"/>
              </a:rPr>
              <a:t>Hourly Tests - 2</a:t>
            </a:r>
          </a:p>
          <a:p>
            <a:r>
              <a:rPr lang="en-US" dirty="0">
                <a:latin typeface="Arial" pitchFamily="34" charset="0"/>
                <a:cs typeface="Arial" pitchFamily="34" charset="0"/>
              </a:rPr>
              <a:t>Assignments</a:t>
            </a:r>
          </a:p>
          <a:p>
            <a:r>
              <a:rPr lang="en-US" dirty="0">
                <a:latin typeface="Arial" pitchFamily="34" charset="0"/>
                <a:cs typeface="Arial" pitchFamily="34" charset="0"/>
              </a:rPr>
              <a:t>Surprise Test</a:t>
            </a:r>
          </a:p>
          <a:p>
            <a:r>
              <a:rPr lang="en-US" dirty="0">
                <a:latin typeface="Arial" pitchFamily="34" charset="0"/>
                <a:cs typeface="Arial" pitchFamily="34" charset="0"/>
              </a:rPr>
              <a:t>Quiz</a:t>
            </a:r>
          </a:p>
          <a:p>
            <a:r>
              <a:rPr lang="en-US" dirty="0">
                <a:latin typeface="Arial" pitchFamily="34" charset="0"/>
                <a:cs typeface="Arial" pitchFamily="34" charset="0"/>
              </a:rPr>
              <a:t>Student Engagement</a:t>
            </a:r>
          </a:p>
          <a:p>
            <a:r>
              <a:rPr lang="en-US" dirty="0">
                <a:latin typeface="Arial" pitchFamily="34" charset="0"/>
                <a:cs typeface="Arial" pitchFamily="34" charset="0"/>
              </a:rPr>
              <a:t>End Semester Exam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IN" b="1" dirty="0">
                <a:latin typeface="Arial Black" pitchFamily="34" charset="0"/>
              </a:rPr>
              <a:t>References</a:t>
            </a:r>
            <a:endParaRPr lang="en-US" b="1" dirty="0">
              <a:latin typeface="Arial Black" pitchFamily="34" charset="0"/>
            </a:endParaRPr>
          </a:p>
        </p:txBody>
      </p:sp>
      <p:sp>
        <p:nvSpPr>
          <p:cNvPr id="3" name="Content Placeholder 2"/>
          <p:cNvSpPr>
            <a:spLocks noGrp="1"/>
          </p:cNvSpPr>
          <p:nvPr>
            <p:ph idx="1"/>
          </p:nvPr>
        </p:nvSpPr>
        <p:spPr>
          <a:xfrm>
            <a:off x="838200" y="1763809"/>
            <a:ext cx="10515600" cy="4624112"/>
          </a:xfrm>
          <a:ln>
            <a:solidFill>
              <a:schemeClr val="tx1"/>
            </a:solidFill>
          </a:ln>
        </p:spPr>
        <p:txBody>
          <a:bodyPr>
            <a:normAutofit/>
          </a:bodyPr>
          <a:lstStyle/>
          <a:p>
            <a:pPr>
              <a:lnSpc>
                <a:spcPct val="150000"/>
              </a:lnSpc>
            </a:pPr>
            <a:r>
              <a:rPr lang="en-IN" dirty="0">
                <a:latin typeface="Arial" pitchFamily="34" charset="0"/>
                <a:cs typeface="Arial" pitchFamily="34" charset="0"/>
              </a:rPr>
              <a:t>https://www.fastcompany.com/3036026/5-ways-to-improve-your-listening-skills</a:t>
            </a:r>
          </a:p>
          <a:p>
            <a:pPr>
              <a:lnSpc>
                <a:spcPct val="150000"/>
              </a:lnSpc>
            </a:pPr>
            <a:r>
              <a:rPr lang="en-IN" dirty="0">
                <a:latin typeface="Arial" pitchFamily="34" charset="0"/>
                <a:cs typeface="Arial" pitchFamily="34" charset="0"/>
              </a:rPr>
              <a:t>https://www.stevenaitchison.co.uk/5-ways-improve-listening-skills/</a:t>
            </a:r>
          </a:p>
          <a:p>
            <a:pPr>
              <a:lnSpc>
                <a:spcPct val="150000"/>
              </a:lnSpc>
            </a:pPr>
            <a:r>
              <a:rPr lang="en-IN" dirty="0">
                <a:latin typeface="Arial" pitchFamily="34" charset="0"/>
                <a:cs typeface="Arial" pitchFamily="34" charset="0"/>
              </a:rPr>
              <a:t>https://www.mindtools.com › Communication Skills › Communicating in Person</a:t>
            </a:r>
          </a:p>
          <a:p>
            <a:pPr>
              <a:lnSpc>
                <a:spcPct val="150000"/>
              </a:lnSpc>
            </a:pPr>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169457"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communicationskills.uilah@gmail.com</a:t>
            </a:r>
            <a:endParaRPr lang="en-US" dirty="0"/>
          </a:p>
        </p:txBody>
      </p:sp>
    </p:spTree>
    <p:extLst>
      <p:ext uri="{BB962C8B-B14F-4D97-AF65-F5344CB8AC3E}">
        <p14:creationId xmlns:p14="http://schemas.microsoft.com/office/powerpoint/2010/main" val="251242675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3283</TotalTime>
  <Words>1621</Words>
  <Application>Microsoft Office PowerPoint</Application>
  <PresentationFormat>Widescreen</PresentationFormat>
  <Paragraphs>198</Paragraphs>
  <Slides>31</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43" baseType="lpstr">
      <vt:lpstr>Arial</vt:lpstr>
      <vt:lpstr>Arial Black</vt:lpstr>
      <vt:lpstr>Calibri</vt:lpstr>
      <vt:lpstr>Calibri Light</vt:lpstr>
      <vt:lpstr>Casper</vt:lpstr>
      <vt:lpstr>Karla</vt:lpstr>
      <vt:lpstr>Raleway ExtraBold</vt:lpstr>
      <vt:lpstr>Times New Roman</vt:lpstr>
      <vt:lpstr>Wingdings</vt:lpstr>
      <vt:lpstr>1_Office Theme</vt:lpstr>
      <vt:lpstr>Contents Slide Master</vt:lpstr>
      <vt:lpstr>CorelDRAW</vt:lpstr>
      <vt:lpstr>PowerPoint Presentation</vt:lpstr>
      <vt:lpstr>COURSE OBJECTIVES </vt:lpstr>
      <vt:lpstr>Course Outcomes </vt:lpstr>
      <vt:lpstr>Techniques for building LS Skills</vt:lpstr>
      <vt:lpstr>Listening Skills </vt:lpstr>
      <vt:lpstr>Effective  Listening</vt:lpstr>
      <vt:lpstr>  Listening  V/S  Hearing </vt:lpstr>
      <vt:lpstr>The Process of Listening:</vt:lpstr>
      <vt:lpstr>Types of listening</vt:lpstr>
      <vt:lpstr>Barriers to Effective Listening</vt:lpstr>
      <vt:lpstr>References</vt:lpstr>
      <vt:lpstr>PowerPoint Presentation</vt:lpstr>
      <vt:lpstr>Articulation</vt:lpstr>
      <vt:lpstr>Kinds of Speaking Situations </vt:lpstr>
      <vt:lpstr>Kinds of Speaking Situations </vt:lpstr>
      <vt:lpstr>Tone</vt:lpstr>
      <vt:lpstr>Rhythm</vt:lpstr>
      <vt:lpstr>Pitch</vt:lpstr>
      <vt:lpstr>Stress </vt:lpstr>
      <vt:lpstr>Stress in sentences </vt:lpstr>
      <vt:lpstr>Intonation </vt:lpstr>
      <vt:lpstr>Practice Exercise </vt:lpstr>
      <vt:lpstr>Different types of speeches </vt:lpstr>
      <vt:lpstr>Different types of Speeches </vt:lpstr>
      <vt:lpstr>Different types of speeches</vt:lpstr>
      <vt:lpstr>Enhancing Speaking Skills</vt:lpstr>
      <vt:lpstr>Tips to improve Speaking skill</vt:lpstr>
      <vt:lpstr>Applications </vt:lpstr>
      <vt:lpstr>Assessment Pattern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Vishal Monga</cp:lastModifiedBy>
  <cp:revision>444</cp:revision>
  <dcterms:created xsi:type="dcterms:W3CDTF">2019-01-09T10:33:58Z</dcterms:created>
  <dcterms:modified xsi:type="dcterms:W3CDTF">2023-07-05T08:30:56Z</dcterms:modified>
</cp:coreProperties>
</file>