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5"/>
  </p:notesMasterIdLst>
  <p:handoutMasterIdLst>
    <p:handoutMasterId r:id="rId26"/>
  </p:handoutMasterIdLst>
  <p:sldIdLst>
    <p:sldId id="422" r:id="rId3"/>
    <p:sldId id="285" r:id="rId4"/>
    <p:sldId id="429" r:id="rId5"/>
    <p:sldId id="424" r:id="rId6"/>
    <p:sldId id="426" r:id="rId7"/>
    <p:sldId id="427" r:id="rId8"/>
    <p:sldId id="281" r:id="rId9"/>
    <p:sldId id="377" r:id="rId10"/>
    <p:sldId id="383" r:id="rId11"/>
    <p:sldId id="380" r:id="rId12"/>
    <p:sldId id="369" r:id="rId13"/>
    <p:sldId id="374" r:id="rId14"/>
    <p:sldId id="370" r:id="rId15"/>
    <p:sldId id="376" r:id="rId16"/>
    <p:sldId id="287" r:id="rId17"/>
    <p:sldId id="290" r:id="rId18"/>
    <p:sldId id="419" r:id="rId19"/>
    <p:sldId id="420" r:id="rId20"/>
    <p:sldId id="355" r:id="rId21"/>
    <p:sldId id="372" r:id="rId22"/>
    <p:sldId id="356" r:id="rId23"/>
    <p:sldId id="32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96"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presProps" Target="presProps.xml"/><Relationship Id="rId30"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7/5/2023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7/5/2023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77FB3ACE-D620-4EC3-88A7-3E317E64F19F}" type="datetimeFigureOut">
              <a:rPr lang="en-US" smtClean="0">
                <a:solidFill>
                  <a:prstClr val="black">
                    <a:tint val="75000"/>
                  </a:prstClr>
                </a:solidFill>
              </a:rPr>
              <a:pPr/>
              <a:t>7/5/2023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C9A48AB-23F1-45F1-98E5-D2CDC7A5261D}"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554599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theme" Target="../theme/theme2.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5" cstate="print">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 id="214748370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1.bin"/><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hyperlink" Target="https://www.mindtools.com/pages/article/newCS_99.htm"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www.exec-comm.com/about-us/case-studies/"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www.notesdesk.com/.../business-communications/business-communication-"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oleObject" Target="../embeddings/oleObject2.bin"/><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427341"/>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76788" y="3121720"/>
          <a:ext cx="3303056" cy="3148059"/>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48" name="Object 47">
                        <a:extLst>
                          <a:ext uri="{FF2B5EF4-FFF2-40B4-BE49-F238E27FC236}">
                            <a16:creationId xmlns:a16="http://schemas.microsoft.com/office/drawing/2014/main" id="{CAD0D7B8-E462-453C-B296-CA0154FA54AE}"/>
                          </a:ext>
                        </a:extLst>
                      </p:cNvPr>
                      <p:cNvPicPr>
                        <a:picLocks noChangeAspect="1" noChangeArrowheads="1"/>
                      </p:cNvPicPr>
                      <p:nvPr/>
                    </p:nvPicPr>
                    <p:blipFill>
                      <a:blip r:embed="rId3">
                        <a:lum bright="76000"/>
                        <a:extLst>
                          <a:ext uri="{28A0092B-C50C-407E-A947-70E740481C1C}">
                            <a14:useLocalDpi xmlns:a14="http://schemas.microsoft.com/office/drawing/2010/main" val="0"/>
                          </a:ext>
                        </a:extLst>
                      </a:blip>
                      <a:srcRect/>
                      <a:stretch>
                        <a:fillRect/>
                      </a:stretch>
                    </p:blipFill>
                    <p:spPr bwMode="auto">
                      <a:xfrm>
                        <a:off x="76788" y="312172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p:cNvPicPr>
            <a:picLocks noChangeAspect="1"/>
          </p:cNvPicPr>
          <p:nvPr/>
        </p:nvPicPr>
        <p:blipFill>
          <a:blip r:embed="rId4" cstate="print">
            <a:extLst>
              <a:ext uri="{BEBA8EAE-BF5A-486C-A8C5-ECC9F3942E4B}">
                <a14:imgProps xmlns:a14="http://schemas.microsoft.com/office/drawing/2010/main">
                  <a14:imgLayer r:embed="rId5">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55050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p:cNvSpPr txBox="1">
            <a:spLocks noChangeArrowheads="1"/>
          </p:cNvSpPr>
          <p:nvPr/>
        </p:nvSpPr>
        <p:spPr bwMode="auto">
          <a:xfrm>
            <a:off x="327931" y="5844357"/>
            <a:ext cx="5959068" cy="86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defTabSz="622300">
              <a:lnSpc>
                <a:spcPct val="90000"/>
              </a:lnSpc>
              <a:spcBef>
                <a:spcPct val="0"/>
              </a:spcBef>
              <a:spcAft>
                <a:spcPct val="35000"/>
              </a:spcAft>
            </a:pPr>
            <a:r>
              <a:rPr lang="en-US" sz="2800" b="1" dirty="0">
                <a:solidFill>
                  <a:schemeClr val="bg2">
                    <a:lumMod val="25000"/>
                  </a:schemeClr>
                </a:solidFill>
                <a:latin typeface="Arial" pitchFamily="34" charset="0"/>
                <a:cs typeface="Arial" pitchFamily="34" charset="0"/>
              </a:rPr>
              <a:t>Communication Skills- meaning, importance, and process</a:t>
            </a:r>
          </a:p>
        </p:txBody>
      </p:sp>
      <p:sp>
        <p:nvSpPr>
          <p:cNvPr id="26" name="TextBox 25"/>
          <p:cNvSpPr txBox="1">
            <a:spLocks noChangeArrowheads="1"/>
          </p:cNvSpPr>
          <p:nvPr/>
        </p:nvSpPr>
        <p:spPr bwMode="auto">
          <a:xfrm>
            <a:off x="1447800" y="1554480"/>
            <a:ext cx="9464040" cy="5262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4000" b="1" dirty="0">
                <a:latin typeface="Arial Black" panose="020B0A04020102020204" pitchFamily="34" charset="0"/>
                <a:ea typeface="Karla" pitchFamily="2" charset="0"/>
                <a:cs typeface="Karla" pitchFamily="2" charset="0"/>
              </a:rPr>
              <a:t>University Institute of Liberal Arts and Humanities</a:t>
            </a:r>
          </a:p>
          <a:p>
            <a:pPr algn="ctr" defTabSz="622300">
              <a:lnSpc>
                <a:spcPct val="90000"/>
              </a:lnSpc>
              <a:spcBef>
                <a:spcPct val="0"/>
              </a:spcBef>
              <a:spcAft>
                <a:spcPct val="35000"/>
              </a:spcAft>
            </a:pPr>
            <a:r>
              <a:rPr lang="en-US" sz="3200" dirty="0">
                <a:latin typeface="Times New Roman" panose="02020603050405020304" pitchFamily="18" charset="0"/>
                <a:ea typeface="Calibri" panose="020F0502020204030204" pitchFamily="34" charset="0"/>
                <a:cs typeface="Times New Roman" panose="02020603050405020304" pitchFamily="18" charset="0"/>
              </a:rPr>
              <a:t>Course Name – Communication Skills</a:t>
            </a:r>
          </a:p>
          <a:p>
            <a:pPr algn="ctr" defTabSz="622300">
              <a:lnSpc>
                <a:spcPct val="90000"/>
              </a:lnSpc>
              <a:spcBef>
                <a:spcPct val="0"/>
              </a:spcBef>
              <a:spcAft>
                <a:spcPct val="35000"/>
              </a:spcAft>
            </a:pPr>
            <a:r>
              <a:rPr lang="en-US" sz="3200" dirty="0">
                <a:latin typeface="Times New Roman" panose="02020603050405020304" pitchFamily="18" charset="0"/>
                <a:ea typeface="Calibri" panose="020F0502020204030204" pitchFamily="34" charset="0"/>
                <a:cs typeface="Times New Roman" panose="02020603050405020304" pitchFamily="18" charset="0"/>
              </a:rPr>
              <a:t>Course Code – 23PCH-105</a:t>
            </a:r>
          </a:p>
          <a:p>
            <a:pPr lvl="0" algn="ctr" defTabSz="622300">
              <a:lnSpc>
                <a:spcPct val="90000"/>
              </a:lnSpc>
              <a:spcBef>
                <a:spcPct val="0"/>
              </a:spcBef>
              <a:spcAft>
                <a:spcPct val="35000"/>
              </a:spcAft>
            </a:pPr>
            <a:endParaRPr lang="en-US" sz="40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endParaRPr lang="en-US" sz="4000" b="1" dirty="0">
              <a:solidFill>
                <a:prstClr val="black">
                  <a:lumMod val="85000"/>
                  <a:lumOff val="15000"/>
                </a:prstClr>
              </a:solidFill>
              <a:latin typeface="Times New Roman" panose="02020603050405020304" pitchFamily="18" charset="0"/>
              <a:cs typeface="Times New Roman" panose="02020603050405020304" pitchFamily="18" charset="0"/>
            </a:endParaRPr>
          </a:p>
          <a:p>
            <a:pPr lvl="0" algn="ctr" defTabSz="622300">
              <a:lnSpc>
                <a:spcPct val="90000"/>
              </a:lnSpc>
              <a:spcBef>
                <a:spcPct val="0"/>
              </a:spcBef>
              <a:spcAft>
                <a:spcPct val="35000"/>
              </a:spcAft>
            </a:pPr>
            <a:r>
              <a:rPr lang="en-US" sz="4000" b="1" dirty="0">
                <a:solidFill>
                  <a:prstClr val="black">
                    <a:lumMod val="85000"/>
                    <a:lumOff val="15000"/>
                  </a:prstClr>
                </a:solidFill>
                <a:latin typeface="Times New Roman" panose="02020603050405020304" pitchFamily="18" charset="0"/>
                <a:cs typeface="Times New Roman" panose="02020603050405020304" pitchFamily="18" charset="0"/>
              </a:rPr>
              <a:t> </a:t>
            </a:r>
          </a:p>
          <a:p>
            <a:pPr eaLnBrk="1" hangingPunct="1"/>
            <a:r>
              <a:rPr lang="en-US" sz="2000" dirty="0">
                <a:latin typeface="Raleway ExtraBold" pitchFamily="34" charset="-52"/>
              </a:rPr>
              <a:t> </a:t>
            </a:r>
          </a:p>
        </p:txBody>
      </p:sp>
    </p:spTree>
    <p:extLst>
      <p:ext uri="{BB962C8B-B14F-4D97-AF65-F5344CB8AC3E}">
        <p14:creationId xmlns:p14="http://schemas.microsoft.com/office/powerpoint/2010/main" val="23389509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2</a:t>
            </a:fld>
            <a:endParaRPr lang="en-US" dirty="0"/>
          </a:p>
        </p:txBody>
      </p:sp>
      <p:sp>
        <p:nvSpPr>
          <p:cNvPr id="8" name="Title 7"/>
          <p:cNvSpPr txBox="1">
            <a:spLocks noGrp="1" noChangeArrowheads="1"/>
          </p:cNvSpPr>
          <p:nvPr>
            <p:ph type="title"/>
          </p:nvPr>
        </p:nvSpPr>
        <p:spPr bwMode="auto">
          <a:xfrm>
            <a:off x="2156142" y="629692"/>
            <a:ext cx="7810818"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r>
              <a:rPr lang="en-US" sz="4400" dirty="0">
                <a:latin typeface="Arial Black" pitchFamily="34" charset="0"/>
                <a:ea typeface="Karla" pitchFamily="2" charset="0"/>
                <a:cs typeface="Karla" pitchFamily="2" charset="0"/>
              </a:rPr>
              <a:t>COURSE OBJECTIVES</a:t>
            </a:r>
            <a:br>
              <a:rPr lang="en-US" sz="2000"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6" name="Table 5"/>
          <p:cNvGraphicFramePr>
            <a:graphicFrameLocks noGrp="1"/>
          </p:cNvGraphicFramePr>
          <p:nvPr/>
        </p:nvGraphicFramePr>
        <p:xfrm>
          <a:off x="660698" y="2285999"/>
          <a:ext cx="10708342" cy="3770907"/>
        </p:xfrm>
        <a:graphic>
          <a:graphicData uri="http://schemas.openxmlformats.org/drawingml/2006/table">
            <a:tbl>
              <a:tblPr firstRow="1" firstCol="1" bandRow="1">
                <a:tableStyleId>{5940675A-B579-460E-94D1-54222C63F5DA}</a:tableStyleId>
              </a:tblPr>
              <a:tblGrid>
                <a:gridCol w="1413086">
                  <a:extLst>
                    <a:ext uri="{9D8B030D-6E8A-4147-A177-3AD203B41FA5}">
                      <a16:colId xmlns:a16="http://schemas.microsoft.com/office/drawing/2014/main" val="20000"/>
                    </a:ext>
                  </a:extLst>
                </a:gridCol>
                <a:gridCol w="9295256">
                  <a:extLst>
                    <a:ext uri="{9D8B030D-6E8A-4147-A177-3AD203B41FA5}">
                      <a16:colId xmlns:a16="http://schemas.microsoft.com/office/drawing/2014/main" val="20001"/>
                    </a:ext>
                  </a:extLst>
                </a:gridCol>
              </a:tblGrid>
              <a:tr h="1186795">
                <a:tc>
                  <a:txBody>
                    <a:bodyPr/>
                    <a:lstStyle/>
                    <a:p>
                      <a:pPr marL="0" marR="0" algn="ctr">
                        <a:lnSpc>
                          <a:spcPct val="100000"/>
                        </a:lnSpc>
                        <a:spcBef>
                          <a:spcPts val="0"/>
                        </a:spcBef>
                        <a:spcAft>
                          <a:spcPts val="0"/>
                        </a:spcAft>
                      </a:pPr>
                      <a:r>
                        <a:rPr lang="en-US" sz="2400" b="1" dirty="0">
                          <a:solidFill>
                            <a:schemeClr val="tx1"/>
                          </a:solidFill>
                          <a:effectLst/>
                        </a:rPr>
                        <a:t>1</a:t>
                      </a:r>
                      <a:endPar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b="0" kern="1200" dirty="0">
                          <a:solidFill>
                            <a:schemeClr val="tx1"/>
                          </a:solidFill>
                          <a:latin typeface="Arial" pitchFamily="34" charset="0"/>
                          <a:ea typeface="+mn-ea"/>
                          <a:cs typeface="Arial" pitchFamily="34" charset="0"/>
                        </a:rPr>
                        <a:t>Augment students overall communication and interpersonal skills by making them realize the importance of good oral and written English Language in professional life.</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tc>
                <a:extLst>
                  <a:ext uri="{0D108BD9-81ED-4DB2-BD59-A6C34878D82A}">
                    <a16:rowId xmlns:a16="http://schemas.microsoft.com/office/drawing/2014/main" val="10000"/>
                  </a:ext>
                </a:extLst>
              </a:tr>
              <a:tr h="743416">
                <a:tc>
                  <a:txBody>
                    <a:bodyPr/>
                    <a:lstStyle/>
                    <a:p>
                      <a:pPr marL="0" marR="0" algn="ctr">
                        <a:lnSpc>
                          <a:spcPct val="100000"/>
                        </a:lnSpc>
                        <a:spcBef>
                          <a:spcPts val="0"/>
                        </a:spcBef>
                        <a:spcAft>
                          <a:spcPts val="0"/>
                        </a:spcAft>
                      </a:pPr>
                      <a:r>
                        <a:rPr lang="en-US" sz="2400" b="1" dirty="0">
                          <a:solidFill>
                            <a:schemeClr val="tx1"/>
                          </a:solidFill>
                          <a:effectLst/>
                        </a:rPr>
                        <a:t>2</a:t>
                      </a:r>
                      <a:endPar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b="0" kern="1200" dirty="0">
                          <a:solidFill>
                            <a:schemeClr val="tx1"/>
                          </a:solidFill>
                          <a:latin typeface="Arial" pitchFamily="34" charset="0"/>
                          <a:ea typeface="+mn-ea"/>
                          <a:cs typeface="Arial" pitchFamily="34" charset="0"/>
                        </a:rPr>
                        <a:t>Enrich their reading capability with special emphasis on expanding vocabulary and grammatical formations.</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tc>
                <a:extLst>
                  <a:ext uri="{0D108BD9-81ED-4DB2-BD59-A6C34878D82A}">
                    <a16:rowId xmlns:a16="http://schemas.microsoft.com/office/drawing/2014/main" val="10001"/>
                  </a:ext>
                </a:extLst>
              </a:tr>
              <a:tr h="743416">
                <a:tc>
                  <a:txBody>
                    <a:bodyPr/>
                    <a:lstStyle/>
                    <a:p>
                      <a:pPr marL="0" marR="0" algn="ctr">
                        <a:lnSpc>
                          <a:spcPct val="100000"/>
                        </a:lnSpc>
                        <a:spcBef>
                          <a:spcPts val="0"/>
                        </a:spcBef>
                        <a:spcAft>
                          <a:spcPts val="0"/>
                        </a:spcAft>
                      </a:pPr>
                      <a:r>
                        <a:rPr lang="en-US" sz="2400" b="1" dirty="0">
                          <a:solidFill>
                            <a:schemeClr val="tx1"/>
                          </a:solidFill>
                          <a:effectLst/>
                        </a:rPr>
                        <a:t>3</a:t>
                      </a:r>
                      <a:endPar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0000"/>
                        </a:lnSpc>
                        <a:spcBef>
                          <a:spcPts val="0"/>
                        </a:spcBef>
                        <a:spcAft>
                          <a:spcPts val="0"/>
                        </a:spcAft>
                      </a:pPr>
                      <a:r>
                        <a:rPr lang="en-US" sz="2400" b="0" kern="1200" dirty="0">
                          <a:solidFill>
                            <a:schemeClr val="tx1"/>
                          </a:solidFill>
                          <a:latin typeface="Arial" pitchFamily="34" charset="0"/>
                          <a:ea typeface="+mn-ea"/>
                          <a:cs typeface="Arial" pitchFamily="34" charset="0"/>
                        </a:rPr>
                        <a:t>Build exceptional speaking, reading and writing skills by correcting grammatical errors and pronunciation through practice.</a:t>
                      </a:r>
                      <a:endParaRPr lang="en-US" sz="2400" b="0" dirty="0">
                        <a:solidFill>
                          <a:schemeClr val="tx1"/>
                        </a:solidFill>
                        <a:effectLst/>
                        <a:latin typeface="Arial" pitchFamily="34" charset="0"/>
                        <a:ea typeface="Times New Roman" panose="02020603050405020304" pitchFamily="18" charset="0"/>
                        <a:cs typeface="Arial" pitchFamily="34" charset="0"/>
                      </a:endParaRPr>
                    </a:p>
                  </a:txBody>
                  <a:tcPr marL="68580" marR="68580" marT="0" marB="0"/>
                </a:tc>
                <a:extLst>
                  <a:ext uri="{0D108BD9-81ED-4DB2-BD59-A6C34878D82A}">
                    <a16:rowId xmlns:a16="http://schemas.microsoft.com/office/drawing/2014/main" val="10002"/>
                  </a:ext>
                </a:extLst>
              </a:tr>
              <a:tr h="743416">
                <a:tc>
                  <a:txBody>
                    <a:bodyPr/>
                    <a:lstStyle/>
                    <a:p>
                      <a:pPr marL="0" marR="0" algn="ctr">
                        <a:lnSpc>
                          <a:spcPct val="100000"/>
                        </a:lnSpc>
                        <a:spcBef>
                          <a:spcPts val="0"/>
                        </a:spcBef>
                        <a:spcAft>
                          <a:spcPts val="0"/>
                        </a:spcAft>
                      </a:pPr>
                      <a:r>
                        <a:rPr lang="en-US" sz="2400" b="1"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rPr>
                        <a:t>4</a:t>
                      </a:r>
                    </a:p>
                  </a:txBody>
                  <a:tcPr marL="68580" marR="68580" marT="0" marB="0" anchor="ctr"/>
                </a:tc>
                <a:tc>
                  <a:txBody>
                    <a:bodyPr/>
                    <a:lstStyle/>
                    <a:p>
                      <a:pPr marL="0" marR="0">
                        <a:lnSpc>
                          <a:spcPct val="100000"/>
                        </a:lnSpc>
                        <a:spcBef>
                          <a:spcPts val="0"/>
                        </a:spcBef>
                        <a:spcAft>
                          <a:spcPts val="0"/>
                        </a:spcAft>
                      </a:pPr>
                      <a:r>
                        <a:rPr lang="en-US" sz="2400" b="0" dirty="0">
                          <a:solidFill>
                            <a:schemeClr val="tx1"/>
                          </a:solidFill>
                          <a:effectLst/>
                          <a:latin typeface="Arial" pitchFamily="34" charset="0"/>
                          <a:ea typeface="Times New Roman" panose="02020603050405020304" pitchFamily="18" charset="0"/>
                          <a:cs typeface="Arial" pitchFamily="34" charset="0"/>
                        </a:rPr>
                        <a:t>Enhances soft skills by fostering self awareness, confidence and a positive attitude in students’ ability to communicate effectively in English.</a:t>
                      </a:r>
                    </a:p>
                  </a:txBody>
                  <a:tcPr marL="68580" marR="68580" marT="0" marB="0"/>
                </a:tc>
                <a:extLst>
                  <a:ext uri="{0D108BD9-81ED-4DB2-BD59-A6C34878D82A}">
                    <a16:rowId xmlns:a16="http://schemas.microsoft.com/office/drawing/2014/main" val="2339887652"/>
                  </a:ext>
                </a:extLst>
              </a:tr>
            </a:tbl>
          </a:graphicData>
        </a:graphic>
      </p:graphicFrame>
      <p:sp>
        <p:nvSpPr>
          <p:cNvPr id="11" name="Rectangle 10"/>
          <p:cNvSpPr/>
          <p:nvPr/>
        </p:nvSpPr>
        <p:spPr>
          <a:xfrm>
            <a:off x="492162" y="1616818"/>
            <a:ext cx="2956259" cy="461665"/>
          </a:xfrm>
          <a:prstGeom prst="rect">
            <a:avLst/>
          </a:prstGeom>
        </p:spPr>
        <p:txBody>
          <a:bodyPr wrap="none">
            <a:spAutoFit/>
          </a:bodyPr>
          <a:lstStyle/>
          <a:p>
            <a:r>
              <a:rPr lang="en-US" sz="2400" dirty="0">
                <a:latin typeface="Arial" pitchFamily="34" charset="0"/>
                <a:cs typeface="Arial" pitchFamily="34" charset="0"/>
              </a:rPr>
              <a:t>The Course aims to:</a:t>
            </a:r>
            <a:endParaRPr lang="en-US" sz="2400" b="1" dirty="0">
              <a:latin typeface="Arial" pitchFamily="34" charset="0"/>
              <a:cs typeface="Arial" pitchFamily="34" charset="0"/>
            </a:endParaRPr>
          </a:p>
        </p:txBody>
      </p:sp>
    </p:spTree>
    <p:extLst>
      <p:ext uri="{BB962C8B-B14F-4D97-AF65-F5344CB8AC3E}">
        <p14:creationId xmlns:p14="http://schemas.microsoft.com/office/powerpoint/2010/main" val="24034628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p:cNvSpPr/>
          <p:nvPr/>
        </p:nvSpPr>
        <p:spPr>
          <a:xfrm>
            <a:off x="0" y="1631926"/>
            <a:ext cx="5806440" cy="400110"/>
          </a:xfrm>
          <a:prstGeom prst="rect">
            <a:avLst/>
          </a:prstGeom>
        </p:spPr>
        <p:txBody>
          <a:bodyPr wrap="square">
            <a:spAutoFit/>
          </a:bodyPr>
          <a:lstStyle/>
          <a:p>
            <a:r>
              <a:rPr lang="en-US" sz="2000" dirty="0">
                <a:latin typeface="Arial" pitchFamily="34" charset="0"/>
                <a:cs typeface="Arial" pitchFamily="34" charset="0"/>
              </a:rPr>
              <a:t>On completion, the students are expected to:</a:t>
            </a:r>
            <a:endParaRPr lang="en-US" sz="2000" b="1" dirty="0">
              <a:latin typeface="Arial" pitchFamily="34" charset="0"/>
              <a:cs typeface="Arial" pitchFamily="34" charset="0"/>
            </a:endParaRPr>
          </a:p>
        </p:txBody>
      </p:sp>
      <p:sp>
        <p:nvSpPr>
          <p:cNvPr id="12" name="Title 11"/>
          <p:cNvSpPr>
            <a:spLocks noGrp="1"/>
          </p:cNvSpPr>
          <p:nvPr>
            <p:ph type="title"/>
          </p:nvPr>
        </p:nvSpPr>
        <p:spPr>
          <a:xfrm>
            <a:off x="915988" y="624840"/>
            <a:ext cx="5149532" cy="1082040"/>
          </a:xfrm>
        </p:spPr>
        <p:txBody>
          <a:bodyPr>
            <a:noAutofit/>
          </a:bodyPr>
          <a:lstStyle/>
          <a:p>
            <a:pPr algn="ctr"/>
            <a:r>
              <a:rPr lang="en-US" sz="4400" b="1" dirty="0">
                <a:latin typeface="Arial Black" pitchFamily="34" charset="0"/>
              </a:rPr>
              <a:t>Course Outcomes </a:t>
            </a:r>
            <a:endParaRPr lang="en-IN" sz="3600" dirty="0"/>
          </a:p>
        </p:txBody>
      </p:sp>
      <p:pic>
        <p:nvPicPr>
          <p:cNvPr id="8" name="Content Placeholder 5">
            <a:extLst>
              <a:ext uri="{FF2B5EF4-FFF2-40B4-BE49-F238E27FC236}">
                <a16:creationId xmlns:a16="http://schemas.microsoft.com/office/drawing/2014/main" id="{B0DD84C9-D378-035C-B3DB-BA112343A737}"/>
              </a:ext>
            </a:extLst>
          </p:cNvPr>
          <p:cNvPicPr>
            <a:picLocks noGrp="1" noChangeAspect="1"/>
          </p:cNvPicPr>
          <p:nvPr>
            <p:ph idx="1"/>
          </p:nvPr>
        </p:nvPicPr>
        <p:blipFill>
          <a:blip r:embed="rId2"/>
          <a:stretch>
            <a:fillRect/>
          </a:stretch>
        </p:blipFill>
        <p:spPr>
          <a:xfrm>
            <a:off x="7014775" y="1089803"/>
            <a:ext cx="4593730" cy="5109289"/>
          </a:xfrm>
          <a:prstGeom prst="rect">
            <a:avLst/>
          </a:prstGeom>
        </p:spPr>
      </p:pic>
      <p:graphicFrame>
        <p:nvGraphicFramePr>
          <p:cNvPr id="2" name="Table 1">
            <a:extLst>
              <a:ext uri="{FF2B5EF4-FFF2-40B4-BE49-F238E27FC236}">
                <a16:creationId xmlns:a16="http://schemas.microsoft.com/office/drawing/2014/main" id="{739FCC74-AD87-BAFB-E4D4-361A27ECEEF3}"/>
              </a:ext>
            </a:extLst>
          </p:cNvPr>
          <p:cNvGraphicFramePr>
            <a:graphicFrameLocks noGrp="1"/>
          </p:cNvGraphicFramePr>
          <p:nvPr>
            <p:extLst>
              <p:ext uri="{D42A27DB-BD31-4B8C-83A1-F6EECF244321}">
                <p14:modId xmlns:p14="http://schemas.microsoft.com/office/powerpoint/2010/main" val="3962706057"/>
              </p:ext>
            </p:extLst>
          </p:nvPr>
        </p:nvGraphicFramePr>
        <p:xfrm>
          <a:off x="206553" y="2133599"/>
          <a:ext cx="6670497" cy="4495802"/>
        </p:xfrm>
        <a:graphic>
          <a:graphicData uri="http://schemas.openxmlformats.org/drawingml/2006/table">
            <a:tbl>
              <a:tblPr firstRow="1" firstCol="1" bandRow="1">
                <a:tableStyleId>{5940675A-B579-460E-94D1-54222C63F5DA}</a:tableStyleId>
              </a:tblPr>
              <a:tblGrid>
                <a:gridCol w="543484">
                  <a:extLst>
                    <a:ext uri="{9D8B030D-6E8A-4147-A177-3AD203B41FA5}">
                      <a16:colId xmlns:a16="http://schemas.microsoft.com/office/drawing/2014/main" val="4168448416"/>
                    </a:ext>
                  </a:extLst>
                </a:gridCol>
                <a:gridCol w="4854552">
                  <a:extLst>
                    <a:ext uri="{9D8B030D-6E8A-4147-A177-3AD203B41FA5}">
                      <a16:colId xmlns:a16="http://schemas.microsoft.com/office/drawing/2014/main" val="2558219792"/>
                    </a:ext>
                  </a:extLst>
                </a:gridCol>
                <a:gridCol w="1272461">
                  <a:extLst>
                    <a:ext uri="{9D8B030D-6E8A-4147-A177-3AD203B41FA5}">
                      <a16:colId xmlns:a16="http://schemas.microsoft.com/office/drawing/2014/main" val="1836805902"/>
                    </a:ext>
                  </a:extLst>
                </a:gridCol>
              </a:tblGrid>
              <a:tr h="763998">
                <a:tc>
                  <a:txBody>
                    <a:bodyPr/>
                    <a:lstStyle/>
                    <a:p>
                      <a:pPr algn="ctr">
                        <a:lnSpc>
                          <a:spcPct val="115000"/>
                        </a:lnSpc>
                        <a:spcAft>
                          <a:spcPts val="1000"/>
                        </a:spcAft>
                      </a:pPr>
                      <a:r>
                        <a:rPr lang="en-US" sz="1200" b="1" dirty="0">
                          <a:effectLst/>
                          <a:latin typeface="+mn-lt"/>
                        </a:rPr>
                        <a:t>CO Number</a:t>
                      </a:r>
                      <a:endParaRPr lang="en-IN" sz="1200" b="1" dirty="0">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ctr">
                        <a:lnSpc>
                          <a:spcPct val="115000"/>
                        </a:lnSpc>
                        <a:spcAft>
                          <a:spcPts val="1000"/>
                        </a:spcAft>
                      </a:pPr>
                      <a:r>
                        <a:rPr lang="en-US" sz="1200" b="1" dirty="0">
                          <a:effectLst/>
                          <a:latin typeface="+mn-lt"/>
                        </a:rPr>
                        <a:t>Title</a:t>
                      </a:r>
                      <a:endParaRPr lang="en-IN" sz="1200" b="1" dirty="0">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ctr">
                        <a:lnSpc>
                          <a:spcPct val="115000"/>
                        </a:lnSpc>
                        <a:spcAft>
                          <a:spcPts val="1000"/>
                        </a:spcAft>
                      </a:pPr>
                      <a:r>
                        <a:rPr lang="en-US" sz="1200" b="1" dirty="0">
                          <a:effectLst/>
                          <a:latin typeface="+mn-lt"/>
                        </a:rPr>
                        <a:t> </a:t>
                      </a:r>
                      <a:endParaRPr lang="en-IN" sz="1200" b="1" dirty="0">
                        <a:effectLst/>
                        <a:latin typeface="+mn-lt"/>
                      </a:endParaRPr>
                    </a:p>
                    <a:p>
                      <a:pPr algn="ctr">
                        <a:lnSpc>
                          <a:spcPct val="115000"/>
                        </a:lnSpc>
                        <a:spcAft>
                          <a:spcPts val="1000"/>
                        </a:spcAft>
                      </a:pPr>
                      <a:r>
                        <a:rPr lang="en-US" sz="1200" b="1" dirty="0">
                          <a:effectLst/>
                          <a:latin typeface="+mn-lt"/>
                        </a:rPr>
                        <a:t>Level</a:t>
                      </a:r>
                      <a:endParaRPr lang="en-IN" sz="1200" b="1" dirty="0">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4127487202"/>
                  </a:ext>
                </a:extLst>
              </a:tr>
              <a:tr h="719905">
                <a:tc>
                  <a:txBody>
                    <a:bodyPr/>
                    <a:lstStyle/>
                    <a:p>
                      <a:pPr>
                        <a:lnSpc>
                          <a:spcPct val="115000"/>
                        </a:lnSpc>
                        <a:spcAft>
                          <a:spcPts val="1000"/>
                        </a:spcAft>
                      </a:pPr>
                      <a:r>
                        <a:rPr lang="en-US" sz="1200" dirty="0">
                          <a:solidFill>
                            <a:schemeClr val="tx1"/>
                          </a:solidFill>
                          <a:effectLst/>
                          <a:latin typeface="+mn-lt"/>
                        </a:rPr>
                        <a:t>CO1</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just">
                        <a:lnSpc>
                          <a:spcPct val="115000"/>
                        </a:lnSpc>
                        <a:spcAft>
                          <a:spcPts val="1000"/>
                        </a:spcAft>
                      </a:pPr>
                      <a:r>
                        <a:rPr lang="en-US" sz="1200" dirty="0">
                          <a:solidFill>
                            <a:schemeClr val="tx1"/>
                          </a:solidFill>
                          <a:effectLst/>
                          <a:latin typeface="+mn-lt"/>
                          <a:ea typeface="Times New Roman" panose="02020603050405020304" pitchFamily="18" charset="0"/>
                        </a:rPr>
                        <a:t>Apply appropriate Listening, Speaking, Reading and Writing Skills (LSRW Skills) with correct non-verbal cues to attain expertise in soft skills.</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Apply</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2301671737"/>
                  </a:ext>
                </a:extLst>
              </a:tr>
              <a:tr h="719905">
                <a:tc>
                  <a:txBody>
                    <a:bodyPr/>
                    <a:lstStyle/>
                    <a:p>
                      <a:pPr>
                        <a:lnSpc>
                          <a:spcPct val="115000"/>
                        </a:lnSpc>
                        <a:spcAft>
                          <a:spcPts val="1000"/>
                        </a:spcAft>
                      </a:pPr>
                      <a:r>
                        <a:rPr lang="en-US" sz="1200">
                          <a:solidFill>
                            <a:schemeClr val="tx1"/>
                          </a:solidFill>
                          <a:effectLst/>
                          <a:latin typeface="+mn-lt"/>
                        </a:rPr>
                        <a:t>CO2</a:t>
                      </a:r>
                      <a:endParaRPr lang="en-IN" sz="120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indent="-31115" algn="just">
                        <a:lnSpc>
                          <a:spcPct val="115000"/>
                        </a:lnSpc>
                        <a:spcAft>
                          <a:spcPts val="1000"/>
                        </a:spcAft>
                      </a:pPr>
                      <a:r>
                        <a:rPr lang="en-US" sz="1200" dirty="0">
                          <a:solidFill>
                            <a:schemeClr val="tx1"/>
                          </a:solidFill>
                          <a:effectLst/>
                          <a:latin typeface="+mn-lt"/>
                          <a:ea typeface="Times New Roman" panose="02020603050405020304" pitchFamily="18" charset="0"/>
                        </a:rPr>
                        <a:t>Apply correct contextual and comprehensible written text in the form of paragraph writing, short compositions business correspondence, using logical support and argument in a wide range of communication situations.</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Apply</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3872378065"/>
                  </a:ext>
                </a:extLst>
              </a:tr>
              <a:tr h="763998">
                <a:tc>
                  <a:txBody>
                    <a:bodyPr/>
                    <a:lstStyle/>
                    <a:p>
                      <a:pPr>
                        <a:lnSpc>
                          <a:spcPct val="115000"/>
                        </a:lnSpc>
                        <a:spcAft>
                          <a:spcPts val="1000"/>
                        </a:spcAft>
                      </a:pPr>
                      <a:r>
                        <a:rPr lang="en-US" sz="1200" dirty="0">
                          <a:solidFill>
                            <a:schemeClr val="tx1"/>
                          </a:solidFill>
                          <a:effectLst/>
                          <a:latin typeface="+mn-lt"/>
                        </a:rPr>
                        <a:t>CO3</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indent="31115" algn="just">
                        <a:lnSpc>
                          <a:spcPct val="115000"/>
                        </a:lnSpc>
                        <a:spcAft>
                          <a:spcPts val="1000"/>
                        </a:spcAft>
                      </a:pPr>
                      <a:r>
                        <a:rPr lang="en-US" sz="1200" dirty="0">
                          <a:solidFill>
                            <a:schemeClr val="tx1"/>
                          </a:solidFill>
                          <a:effectLst/>
                          <a:latin typeface="+mn-lt"/>
                          <a:ea typeface="Times New Roman" panose="02020603050405020304" pitchFamily="18" charset="0"/>
                        </a:rPr>
                        <a:t>Demonstrate linguistic competence while speaking and during presentations through accuracy in grammatical usage, vocabulary, pronunciation and intonation.</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Apply</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2555796211"/>
                  </a:ext>
                </a:extLst>
              </a:tr>
              <a:tr h="763998">
                <a:tc>
                  <a:txBody>
                    <a:bodyPr/>
                    <a:lstStyle/>
                    <a:p>
                      <a:pPr>
                        <a:lnSpc>
                          <a:spcPct val="115000"/>
                        </a:lnSpc>
                        <a:spcAft>
                          <a:spcPts val="1000"/>
                        </a:spcAft>
                      </a:pPr>
                      <a:r>
                        <a:rPr lang="en-US" sz="1200">
                          <a:solidFill>
                            <a:schemeClr val="tx1"/>
                          </a:solidFill>
                          <a:effectLst/>
                          <a:latin typeface="+mn-lt"/>
                        </a:rPr>
                        <a:t>CO4</a:t>
                      </a:r>
                      <a:endParaRPr lang="en-IN" sz="120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algn="just">
                        <a:lnSpc>
                          <a:spcPct val="115000"/>
                        </a:lnSpc>
                        <a:spcAft>
                          <a:spcPts val="1000"/>
                        </a:spcAft>
                      </a:pPr>
                      <a:r>
                        <a:rPr lang="en-US" sz="1200" dirty="0">
                          <a:solidFill>
                            <a:schemeClr val="tx1"/>
                          </a:solidFill>
                          <a:effectLst/>
                          <a:latin typeface="+mn-lt"/>
                          <a:ea typeface="Times New Roman" panose="02020603050405020304" pitchFamily="18" charset="0"/>
                        </a:rPr>
                        <a:t>Evaluate information as critical readers, speakers and writers applying ethics in communication and</a:t>
                      </a:r>
                      <a:endParaRPr lang="en-IN" sz="1200" dirty="0">
                        <a:solidFill>
                          <a:schemeClr val="tx1"/>
                        </a:solidFill>
                        <a:effectLst/>
                        <a:latin typeface="+mn-lt"/>
                        <a:ea typeface="Calibri" panose="020F0502020204030204" pitchFamily="34" charset="0"/>
                      </a:endParaRPr>
                    </a:p>
                    <a:p>
                      <a:pPr algn="just">
                        <a:lnSpc>
                          <a:spcPct val="115000"/>
                        </a:lnSpc>
                        <a:spcAft>
                          <a:spcPts val="1000"/>
                        </a:spcAft>
                      </a:pPr>
                      <a:r>
                        <a:rPr lang="en-US" sz="1200" dirty="0">
                          <a:solidFill>
                            <a:schemeClr val="tx1"/>
                          </a:solidFill>
                          <a:effectLst/>
                          <a:latin typeface="+mn-lt"/>
                          <a:ea typeface="Times New Roman" panose="02020603050405020304" pitchFamily="18" charset="0"/>
                        </a:rPr>
                        <a:t>being sensitive in cross cultural communication.</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Evaluate</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3201307360"/>
                  </a:ext>
                </a:extLst>
              </a:tr>
              <a:tr h="763998">
                <a:tc>
                  <a:txBody>
                    <a:bodyPr/>
                    <a:lstStyle/>
                    <a:p>
                      <a:pPr>
                        <a:lnSpc>
                          <a:spcPct val="115000"/>
                        </a:lnSpc>
                        <a:spcAft>
                          <a:spcPts val="1000"/>
                        </a:spcAft>
                      </a:pPr>
                      <a:r>
                        <a:rPr lang="en-US" sz="1200">
                          <a:solidFill>
                            <a:schemeClr val="tx1"/>
                          </a:solidFill>
                          <a:effectLst/>
                          <a:latin typeface="+mn-lt"/>
                        </a:rPr>
                        <a:t>CO5</a:t>
                      </a:r>
                      <a:endParaRPr lang="en-IN" sz="1200">
                        <a:solidFill>
                          <a:schemeClr val="tx1"/>
                        </a:solidFill>
                        <a:effectLst/>
                        <a:latin typeface="+mn-lt"/>
                        <a:ea typeface="Calibri" panose="020F0502020204030204" pitchFamily="34" charset="0"/>
                        <a:cs typeface="Arial" panose="020B0604020202020204" pitchFamily="34" charset="0"/>
                      </a:endParaRPr>
                    </a:p>
                  </a:txBody>
                  <a:tcPr marL="57591" marR="57591" marT="7999" marB="0" anchor="ctr"/>
                </a:tc>
                <a:tc>
                  <a:txBody>
                    <a:bodyPr/>
                    <a:lstStyle/>
                    <a:p>
                      <a:pPr indent="-31115" algn="just">
                        <a:lnSpc>
                          <a:spcPct val="115000"/>
                        </a:lnSpc>
                        <a:spcAft>
                          <a:spcPts val="1000"/>
                        </a:spcAft>
                      </a:pPr>
                      <a:r>
                        <a:rPr lang="en-US" sz="1200" dirty="0">
                          <a:solidFill>
                            <a:schemeClr val="tx1"/>
                          </a:solidFill>
                          <a:effectLst/>
                          <a:latin typeface="+mn-lt"/>
                          <a:ea typeface="Times New Roman" panose="02020603050405020304" pitchFamily="18" charset="0"/>
                        </a:rPr>
                        <a:t> Create original, digital content for websites, blogs, vlogs and personal social media profiles etc.</a:t>
                      </a:r>
                      <a:endParaRPr lang="en-IN" sz="1200" dirty="0">
                        <a:solidFill>
                          <a:schemeClr val="tx1"/>
                        </a:solidFill>
                        <a:effectLst/>
                        <a:latin typeface="+mn-lt"/>
                        <a:ea typeface="Calibri" panose="020F0502020204030204" pitchFamily="34" charset="0"/>
                      </a:endParaRPr>
                    </a:p>
                  </a:txBody>
                  <a:tcPr marL="68580" marR="68580" marT="0" marB="0"/>
                </a:tc>
                <a:tc>
                  <a:txBody>
                    <a:bodyPr/>
                    <a:lstStyle/>
                    <a:p>
                      <a:pPr algn="ctr">
                        <a:lnSpc>
                          <a:spcPct val="115000"/>
                        </a:lnSpc>
                        <a:spcAft>
                          <a:spcPts val="1000"/>
                        </a:spcAft>
                      </a:pPr>
                      <a:r>
                        <a:rPr lang="en-US" sz="1200" dirty="0">
                          <a:solidFill>
                            <a:schemeClr val="tx1"/>
                          </a:solidFill>
                          <a:effectLst/>
                          <a:latin typeface="+mn-lt"/>
                        </a:rPr>
                        <a:t> </a:t>
                      </a:r>
                      <a:endParaRPr lang="en-IN" sz="1200" dirty="0">
                        <a:solidFill>
                          <a:schemeClr val="tx1"/>
                        </a:solidFill>
                        <a:effectLst/>
                        <a:latin typeface="+mn-lt"/>
                      </a:endParaRPr>
                    </a:p>
                    <a:p>
                      <a:pPr algn="ctr">
                        <a:lnSpc>
                          <a:spcPct val="115000"/>
                        </a:lnSpc>
                        <a:spcAft>
                          <a:spcPts val="1000"/>
                        </a:spcAft>
                      </a:pPr>
                      <a:r>
                        <a:rPr lang="en-US" sz="1200" dirty="0">
                          <a:solidFill>
                            <a:schemeClr val="tx1"/>
                          </a:solidFill>
                          <a:effectLst/>
                          <a:latin typeface="+mn-lt"/>
                        </a:rPr>
                        <a:t>Create</a:t>
                      </a:r>
                      <a:endParaRPr lang="en-IN" sz="1200" dirty="0">
                        <a:solidFill>
                          <a:schemeClr val="tx1"/>
                        </a:solidFill>
                        <a:effectLst/>
                        <a:latin typeface="+mn-lt"/>
                        <a:ea typeface="Calibri" panose="020F0502020204030204" pitchFamily="34" charset="0"/>
                        <a:cs typeface="Arial" panose="020B0604020202020204" pitchFamily="34" charset="0"/>
                      </a:endParaRPr>
                    </a:p>
                  </a:txBody>
                  <a:tcPr marL="0" marR="0" marT="0" marB="0"/>
                </a:tc>
                <a:extLst>
                  <a:ext uri="{0D108BD9-81ED-4DB2-BD59-A6C34878D82A}">
                    <a16:rowId xmlns:a16="http://schemas.microsoft.com/office/drawing/2014/main" val="3552195131"/>
                  </a:ext>
                </a:extLst>
              </a:tr>
            </a:tbl>
          </a:graphicData>
        </a:graphic>
      </p:graphicFrame>
    </p:spTree>
    <p:extLst>
      <p:ext uri="{BB962C8B-B14F-4D97-AF65-F5344CB8AC3E}">
        <p14:creationId xmlns:p14="http://schemas.microsoft.com/office/powerpoint/2010/main" val="24947299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8832280" y="6356350"/>
            <a:ext cx="2743200" cy="365125"/>
          </a:xfrm>
        </p:spPr>
        <p:txBody>
          <a:bodyPr/>
          <a:lstStyle/>
          <a:p>
            <a:fld id="{BDCDBBEF-AA6C-4BA6-85B2-A17D7F280E38}" type="slidenum">
              <a:rPr lang="en-US" smtClean="0"/>
              <a:pPr/>
              <a:t>4</a:t>
            </a:fld>
            <a:endParaRPr lang="en-US"/>
          </a:p>
        </p:txBody>
      </p:sp>
      <p:sp>
        <p:nvSpPr>
          <p:cNvPr id="7" name="Rectangle 6"/>
          <p:cNvSpPr/>
          <p:nvPr/>
        </p:nvSpPr>
        <p:spPr>
          <a:xfrm>
            <a:off x="914401" y="2290494"/>
            <a:ext cx="10394576" cy="2400657"/>
          </a:xfrm>
          <a:prstGeom prst="rect">
            <a:avLst/>
          </a:prstGeom>
        </p:spPr>
        <p:txBody>
          <a:bodyPr wrap="square">
            <a:spAutoFit/>
          </a:bodyPr>
          <a:lstStyle/>
          <a:p>
            <a:pPr>
              <a:spcBef>
                <a:spcPts val="580"/>
              </a:spcBef>
              <a:buClr>
                <a:schemeClr val="tx1"/>
              </a:buClr>
              <a:buSzPct val="85000"/>
              <a:defRPr/>
            </a:pPr>
            <a:r>
              <a:rPr lang="en-US" sz="2800" b="1" dirty="0">
                <a:latin typeface="Arial" panose="020B0604020202020204" pitchFamily="34" charset="0"/>
                <a:cs typeface="Arial" panose="020B0604020202020204" pitchFamily="34" charset="0"/>
              </a:rPr>
              <a:t>“Half the world is filled with people who have something to say and cannot say it and the other half, of people who have nothing to say and keep on saying it”</a:t>
            </a:r>
          </a:p>
          <a:p>
            <a:pPr>
              <a:spcBef>
                <a:spcPts val="580"/>
              </a:spcBef>
              <a:buClr>
                <a:schemeClr val="tx1"/>
              </a:buClr>
              <a:buSzPct val="85000"/>
              <a:defRPr/>
            </a:pPr>
            <a:endParaRPr lang="en-US" sz="2800" b="1" dirty="0">
              <a:latin typeface="Arial" panose="020B0604020202020204" pitchFamily="34" charset="0"/>
              <a:cs typeface="Arial" panose="020B0604020202020204" pitchFamily="34" charset="0"/>
            </a:endParaRPr>
          </a:p>
          <a:p>
            <a:pPr>
              <a:spcBef>
                <a:spcPts val="580"/>
              </a:spcBef>
              <a:buClr>
                <a:schemeClr val="tx1"/>
              </a:buClr>
              <a:buSzPct val="85000"/>
              <a:defRPr/>
            </a:pPr>
            <a:r>
              <a:rPr lang="en-US" sz="2800" b="1" dirty="0">
                <a:latin typeface="Arial" panose="020B0604020202020204" pitchFamily="34" charset="0"/>
                <a:cs typeface="Arial" panose="020B0604020202020204" pitchFamily="34" charset="0"/>
              </a:rPr>
              <a:t>							-  Robert Frost</a:t>
            </a:r>
          </a:p>
        </p:txBody>
      </p:sp>
      <p:sp>
        <p:nvSpPr>
          <p:cNvPr id="9" name="Oval 8"/>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4"/>
          <p:cNvSpPr txBox="1">
            <a:spLocks/>
          </p:cNvSpPr>
          <p:nvPr/>
        </p:nvSpPr>
        <p:spPr>
          <a:xfrm>
            <a:off x="8277491" y="6421665"/>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Arial" pitchFamily="34" charset="0"/>
                <a:ea typeface="+mn-ea"/>
                <a:cs typeface="Arial" pitchFamily="34" charset="0"/>
              </a:rPr>
              <a:t>Thirstt.com</a:t>
            </a:r>
            <a:endParaRPr kumimoji="0" lang="en-US" sz="11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
        <p:nvSpPr>
          <p:cNvPr id="8" name="Rectangle 7">
            <a:extLst>
              <a:ext uri="{FF2B5EF4-FFF2-40B4-BE49-F238E27FC236}">
                <a16:creationId xmlns:a16="http://schemas.microsoft.com/office/drawing/2014/main" id="{1AB289A9-72F2-ED92-9398-ACF4D5A50BFE}"/>
              </a:ext>
            </a:extLst>
          </p:cNvPr>
          <p:cNvSpPr/>
          <p:nvPr/>
        </p:nvSpPr>
        <p:spPr>
          <a:xfrm>
            <a:off x="838200" y="1920213"/>
            <a:ext cx="10515600" cy="2884824"/>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485032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lstStyle/>
          <a:p>
            <a:pPr algn="ctr"/>
            <a:r>
              <a:rPr lang="en-US" sz="2800" dirty="0">
                <a:latin typeface="Casper Bold" panose="02000806040000020004" pitchFamily="2" charset="0"/>
                <a:cs typeface="Arial" panose="020B0604020202020204" pitchFamily="34" charset="0"/>
              </a:rPr>
              <a:t> </a:t>
            </a:r>
            <a:r>
              <a:rPr lang="en-US" sz="2800" dirty="0"/>
              <a:t>  </a:t>
            </a:r>
            <a:r>
              <a:rPr lang="en-US" b="1" dirty="0">
                <a:latin typeface="Arial Black" panose="020B0A04020102020204" pitchFamily="34" charset="0"/>
                <a:cs typeface="Arial" pitchFamily="34" charset="0"/>
              </a:rPr>
              <a:t>What is Communication?</a:t>
            </a:r>
            <a:endParaRPr lang="en-US" dirty="0">
              <a:latin typeface="Arial Black" panose="020B0A04020102020204" pitchFamily="34" charset="0"/>
            </a:endParaRPr>
          </a:p>
        </p:txBody>
      </p:sp>
      <p:sp>
        <p:nvSpPr>
          <p:cNvPr id="4" name="Slide Number Placeholder 3"/>
          <p:cNvSpPr>
            <a:spLocks noGrp="1"/>
          </p:cNvSpPr>
          <p:nvPr>
            <p:ph type="sldNum" sz="quarter" idx="12"/>
          </p:nvPr>
        </p:nvSpPr>
        <p:spPr>
          <a:xfrm>
            <a:off x="8832280" y="6356350"/>
            <a:ext cx="2743200" cy="365125"/>
          </a:xfrm>
        </p:spPr>
        <p:txBody>
          <a:bodyPr/>
          <a:lstStyle/>
          <a:p>
            <a:fld id="{BDCDBBEF-AA6C-4BA6-85B2-A17D7F280E38}" type="slidenum">
              <a:rPr lang="en-US" smtClean="0"/>
              <a:pPr/>
              <a:t>5</a:t>
            </a:fld>
            <a:endParaRPr lang="en-US"/>
          </a:p>
        </p:txBody>
      </p:sp>
      <p:sp>
        <p:nvSpPr>
          <p:cNvPr id="5" name="Rectangle 4"/>
          <p:cNvSpPr/>
          <p:nvPr/>
        </p:nvSpPr>
        <p:spPr>
          <a:xfrm>
            <a:off x="838200" y="1803400"/>
            <a:ext cx="10515600" cy="449072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20020"/>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838200" y="1819849"/>
            <a:ext cx="10515599" cy="4336765"/>
          </a:xfrm>
          <a:prstGeom prst="rect">
            <a:avLst/>
          </a:prstGeom>
        </p:spPr>
        <p:txBody>
          <a:bodyPr wrap="square">
            <a:spAutoFit/>
          </a:bodyPr>
          <a:lstStyle/>
          <a:p>
            <a:pPr algn="ctr">
              <a:spcBef>
                <a:spcPts val="580"/>
              </a:spcBef>
              <a:buClr>
                <a:schemeClr val="tx1"/>
              </a:buClr>
              <a:buSzPct val="85000"/>
              <a:defRPr/>
            </a:pPr>
            <a:r>
              <a:rPr lang="en-US" sz="2800" b="1" dirty="0" err="1">
                <a:latin typeface="Arial" pitchFamily="34" charset="0"/>
                <a:cs typeface="Arial" pitchFamily="34" charset="0"/>
              </a:rPr>
              <a:t>com·mu·ni·ca·tion</a:t>
            </a:r>
            <a:r>
              <a:rPr lang="en-US" sz="2800" b="1" dirty="0">
                <a:latin typeface="Arial" pitchFamily="34" charset="0"/>
                <a:cs typeface="Arial" pitchFamily="34" charset="0"/>
              </a:rPr>
              <a:t> </a:t>
            </a:r>
          </a:p>
          <a:p>
            <a:pPr algn="ctr">
              <a:spcBef>
                <a:spcPts val="580"/>
              </a:spcBef>
              <a:buClr>
                <a:schemeClr val="tx1"/>
              </a:buClr>
              <a:buSzPct val="85000"/>
              <a:defRPr/>
            </a:pPr>
            <a:r>
              <a:rPr lang="en-US" sz="2800" b="1" dirty="0">
                <a:latin typeface="Arial" pitchFamily="34" charset="0"/>
                <a:cs typeface="Arial" pitchFamily="34" charset="0"/>
              </a:rPr>
              <a:t>\</a:t>
            </a:r>
            <a:r>
              <a:rPr lang="en-US" sz="2800" b="1" dirty="0" err="1">
                <a:latin typeface="Arial" pitchFamily="34" charset="0"/>
                <a:cs typeface="Arial" pitchFamily="34" charset="0"/>
              </a:rPr>
              <a:t>kə</a:t>
            </a:r>
            <a:r>
              <a:rPr lang="en-US" sz="2800" b="1" dirty="0">
                <a:latin typeface="Arial" pitchFamily="34" charset="0"/>
                <a:cs typeface="Arial" pitchFamily="34" charset="0"/>
              </a:rPr>
              <a:t>-ˌ</a:t>
            </a:r>
            <a:r>
              <a:rPr lang="en-US" sz="2800" b="1" dirty="0" err="1">
                <a:latin typeface="Arial" pitchFamily="34" charset="0"/>
                <a:cs typeface="Arial" pitchFamily="34" charset="0"/>
              </a:rPr>
              <a:t>myü-nə</a:t>
            </a:r>
            <a:r>
              <a:rPr lang="en-US" sz="2800" b="1" dirty="0">
                <a:latin typeface="Arial" pitchFamily="34" charset="0"/>
                <a:cs typeface="Arial" pitchFamily="34" charset="0"/>
              </a:rPr>
              <a:t>-ˈ</a:t>
            </a:r>
            <a:r>
              <a:rPr lang="en-US" sz="2800" b="1" dirty="0" err="1">
                <a:latin typeface="Arial" pitchFamily="34" charset="0"/>
                <a:cs typeface="Arial" pitchFamily="34" charset="0"/>
              </a:rPr>
              <a:t>kā-shən</a:t>
            </a:r>
            <a:r>
              <a:rPr lang="en-US" sz="2800" b="1" dirty="0">
                <a:latin typeface="Arial" pitchFamily="34" charset="0"/>
                <a:cs typeface="Arial" pitchFamily="34" charset="0"/>
              </a:rPr>
              <a:t>\</a:t>
            </a:r>
          </a:p>
          <a:p>
            <a:pPr marL="457200" indent="-457200">
              <a:lnSpc>
                <a:spcPct val="150000"/>
              </a:lnSpc>
              <a:spcBef>
                <a:spcPts val="580"/>
              </a:spcBef>
              <a:buClr>
                <a:schemeClr val="tx1"/>
              </a:buClr>
              <a:buSzPct val="85000"/>
              <a:buFont typeface="Arial" panose="020B0604020202020204" pitchFamily="34" charset="0"/>
              <a:buChar char="•"/>
              <a:defRPr/>
            </a:pPr>
            <a:r>
              <a:rPr lang="en-IN" sz="2800" dirty="0">
                <a:latin typeface="Arial" pitchFamily="34" charset="0"/>
                <a:cs typeface="Arial" pitchFamily="34" charset="0"/>
              </a:rPr>
              <a:t>Derived from the Latin word </a:t>
            </a:r>
            <a:r>
              <a:rPr lang="en-IN" sz="2800" b="1" dirty="0">
                <a:latin typeface="Arial" pitchFamily="34" charset="0"/>
                <a:cs typeface="Arial" pitchFamily="34" charset="0"/>
              </a:rPr>
              <a:t>“</a:t>
            </a:r>
            <a:r>
              <a:rPr lang="en-IN" sz="2800" b="1" i="1" dirty="0" err="1">
                <a:latin typeface="Arial" pitchFamily="34" charset="0"/>
                <a:cs typeface="Arial" pitchFamily="34" charset="0"/>
              </a:rPr>
              <a:t>communicare</a:t>
            </a:r>
            <a:r>
              <a:rPr lang="en-IN" sz="2800" b="1" i="1" dirty="0">
                <a:latin typeface="Arial" pitchFamily="34" charset="0"/>
                <a:cs typeface="Arial" pitchFamily="34" charset="0"/>
              </a:rPr>
              <a:t>”</a:t>
            </a:r>
            <a:r>
              <a:rPr lang="en-IN" sz="2800" dirty="0">
                <a:latin typeface="Arial" pitchFamily="34" charset="0"/>
                <a:cs typeface="Arial" pitchFamily="34" charset="0"/>
              </a:rPr>
              <a:t>, meaning to </a:t>
            </a:r>
            <a:r>
              <a:rPr lang="en-IN" sz="2800" b="1" dirty="0">
                <a:latin typeface="Arial" pitchFamily="34" charset="0"/>
                <a:cs typeface="Arial" pitchFamily="34" charset="0"/>
              </a:rPr>
              <a:t>share</a:t>
            </a:r>
            <a:r>
              <a:rPr lang="en-IN" sz="2800" dirty="0">
                <a:latin typeface="Arial" pitchFamily="34" charset="0"/>
                <a:cs typeface="Arial" pitchFamily="34" charset="0"/>
              </a:rPr>
              <a:t>. </a:t>
            </a:r>
          </a:p>
          <a:p>
            <a:pPr marL="457200" indent="-457200">
              <a:lnSpc>
                <a:spcPct val="150000"/>
              </a:lnSpc>
              <a:spcBef>
                <a:spcPts val="580"/>
              </a:spcBef>
              <a:buClr>
                <a:schemeClr val="tx1"/>
              </a:buClr>
              <a:buSzPct val="85000"/>
              <a:buFont typeface="Arial" panose="020B0604020202020204" pitchFamily="34" charset="0"/>
              <a:buChar char="•"/>
              <a:defRPr/>
            </a:pPr>
            <a:r>
              <a:rPr lang="en-IN" sz="2800" dirty="0">
                <a:latin typeface="Arial" pitchFamily="34" charset="0"/>
                <a:cs typeface="Arial" pitchFamily="34" charset="0"/>
              </a:rPr>
              <a:t>Communication is an </a:t>
            </a:r>
            <a:r>
              <a:rPr lang="en-IN" sz="2800" b="1" dirty="0">
                <a:latin typeface="Arial" pitchFamily="34" charset="0"/>
                <a:cs typeface="Arial" pitchFamily="34" charset="0"/>
              </a:rPr>
              <a:t>exchange of thoughts, messages or information </a:t>
            </a:r>
            <a:r>
              <a:rPr lang="en-IN" sz="2800" dirty="0">
                <a:latin typeface="Arial" pitchFamily="34" charset="0"/>
                <a:cs typeface="Arial" pitchFamily="34" charset="0"/>
              </a:rPr>
              <a:t>by </a:t>
            </a:r>
            <a:r>
              <a:rPr lang="en-IN" sz="2800" b="1" dirty="0">
                <a:latin typeface="Arial" pitchFamily="34" charset="0"/>
                <a:cs typeface="Arial" pitchFamily="34" charset="0"/>
              </a:rPr>
              <a:t>speech, visuals, signals, writing, or behaviour.</a:t>
            </a:r>
            <a:r>
              <a:rPr lang="en-US" sz="2800" b="1" dirty="0">
                <a:latin typeface="Arial" pitchFamily="34" charset="0"/>
                <a:cs typeface="Arial" pitchFamily="34" charset="0"/>
              </a:rPr>
              <a:t> </a:t>
            </a:r>
          </a:p>
        </p:txBody>
      </p:sp>
      <p:sp>
        <p:nvSpPr>
          <p:cNvPr id="9" name="Oval 8"/>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Slide Number Placeholder 4"/>
          <p:cNvSpPr txBox="1">
            <a:spLocks/>
          </p:cNvSpPr>
          <p:nvPr/>
        </p:nvSpPr>
        <p:spPr>
          <a:xfrm>
            <a:off x="8277491" y="6421665"/>
            <a:ext cx="2743200" cy="365125"/>
          </a:xfrm>
          <a:prstGeom prst="rect">
            <a:avLst/>
          </a:prstGeom>
        </p:spPr>
        <p:txBody>
          <a:bodyPr vert="horz" lIns="91440" tIns="45720" rIns="91440" bIns="4572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chemeClr val="tx1"/>
                </a:solidFill>
                <a:effectLst/>
                <a:uLnTx/>
                <a:uFillTx/>
                <a:latin typeface="Arial" pitchFamily="34" charset="0"/>
                <a:ea typeface="+mn-ea"/>
                <a:cs typeface="Arial" pitchFamily="34" charset="0"/>
              </a:rPr>
              <a:t>Thirstt.com</a:t>
            </a:r>
            <a:endParaRPr kumimoji="0" lang="en-US" sz="1100" b="0" i="0" u="none" strike="noStrike" kern="1200" cap="none" spc="0" normalizeH="0" baseline="0" noProof="0" dirty="0">
              <a:ln>
                <a:noFill/>
              </a:ln>
              <a:solidFill>
                <a:schemeClr val="tx1"/>
              </a:solidFill>
              <a:effectLst/>
              <a:uLnTx/>
              <a:uFillTx/>
              <a:latin typeface="Arial" pitchFamily="34" charset="0"/>
              <a:ea typeface="+mn-ea"/>
              <a:cs typeface="Arial" pitchFamily="34" charset="0"/>
            </a:endParaRPr>
          </a:p>
        </p:txBody>
      </p:sp>
    </p:spTree>
    <p:extLst>
      <p:ext uri="{BB962C8B-B14F-4D97-AF65-F5344CB8AC3E}">
        <p14:creationId xmlns:p14="http://schemas.microsoft.com/office/powerpoint/2010/main" val="3817537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849085" y="1821089"/>
            <a:ext cx="6884510" cy="4344580"/>
          </a:xfrm>
        </p:spPr>
        <p:txBody>
          <a:bodyPr>
            <a:noAutofit/>
          </a:bodyPr>
          <a:lstStyle/>
          <a:p>
            <a:pPr>
              <a:lnSpc>
                <a:spcPct val="100000"/>
              </a:lnSpc>
            </a:pPr>
            <a:r>
              <a:rPr lang="en-IN" sz="2800" dirty="0">
                <a:latin typeface="Arial" pitchFamily="34" charset="0"/>
                <a:cs typeface="Arial" pitchFamily="34" charset="0"/>
              </a:rPr>
              <a:t>“Communication is a process involving the selection, production and transmission of signs in such a way as to help a receiver perceive a meaning similar to that in the mind of the communicator.” </a:t>
            </a:r>
          </a:p>
          <a:p>
            <a:pPr algn="r">
              <a:lnSpc>
                <a:spcPct val="100000"/>
              </a:lnSpc>
            </a:pPr>
            <a:r>
              <a:rPr lang="en-IN" sz="2800" dirty="0">
                <a:latin typeface="Arial" pitchFamily="34" charset="0"/>
                <a:cs typeface="Arial" pitchFamily="34" charset="0"/>
              </a:rPr>
              <a:t>-</a:t>
            </a:r>
            <a:r>
              <a:rPr lang="en-IN" sz="2800" dirty="0" err="1">
                <a:latin typeface="Arial" pitchFamily="34" charset="0"/>
                <a:cs typeface="Arial" pitchFamily="34" charset="0"/>
              </a:rPr>
              <a:t>Fotheringham</a:t>
            </a:r>
            <a:endParaRPr lang="en-IN" sz="2800" dirty="0">
              <a:latin typeface="Arial" pitchFamily="34" charset="0"/>
              <a:cs typeface="Arial" pitchFamily="34" charset="0"/>
            </a:endParaRPr>
          </a:p>
          <a:p>
            <a:pPr>
              <a:lnSpc>
                <a:spcPct val="100000"/>
              </a:lnSpc>
            </a:pPr>
            <a:endParaRPr lang="en-US" sz="2800" dirty="0">
              <a:solidFill>
                <a:schemeClr val="tx1">
                  <a:lumMod val="85000"/>
                  <a:lumOff val="15000"/>
                </a:schemeClr>
              </a:solidFill>
              <a:latin typeface="Arial" pitchFamily="34" charset="0"/>
              <a:cs typeface="Arial" pitchFamily="34" charset="0"/>
            </a:endParaRPr>
          </a:p>
          <a:p>
            <a:pPr>
              <a:lnSpc>
                <a:spcPct val="100000"/>
              </a:lnSpc>
            </a:pPr>
            <a:endParaRPr lang="en-US" sz="2800" dirty="0">
              <a:latin typeface="Arial" pitchFamily="34" charset="0"/>
              <a:cs typeface="Arial"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6</a:t>
            </a:fld>
            <a:endParaRPr lang="en-US" dirty="0"/>
          </a:p>
        </p:txBody>
      </p:sp>
      <p:sp>
        <p:nvSpPr>
          <p:cNvPr id="8" name="Title 7"/>
          <p:cNvSpPr txBox="1">
            <a:spLocks noGrp="1" noChangeArrowheads="1"/>
          </p:cNvSpPr>
          <p:nvPr>
            <p:ph type="title"/>
          </p:nvPr>
        </p:nvSpPr>
        <p:spPr bwMode="auto">
          <a:xfrm>
            <a:off x="3681491" y="445121"/>
            <a:ext cx="4456567"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br>
              <a:rPr lang="en-US" sz="2000" b="1" dirty="0">
                <a:latin typeface="Karla" pitchFamily="2" charset="0"/>
                <a:ea typeface="Karla" pitchFamily="2" charset="0"/>
                <a:cs typeface="Karla" pitchFamily="2" charset="0"/>
              </a:rPr>
            </a:br>
            <a:r>
              <a:rPr lang="en-US" sz="4400" dirty="0">
                <a:latin typeface="Arial Black" pitchFamily="34" charset="0"/>
              </a:rPr>
              <a:t> </a:t>
            </a:r>
            <a:r>
              <a:rPr lang="en-US" sz="4400" b="1" dirty="0">
                <a:latin typeface="Arial Black" pitchFamily="34" charset="0"/>
                <a:cs typeface="Arial" pitchFamily="34" charset="0"/>
              </a:rPr>
              <a:t>Definition</a:t>
            </a:r>
            <a:endParaRPr lang="en-US" sz="4400" dirty="0">
              <a:latin typeface="Arial Black" pitchFamily="34" charset="0"/>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descr="https://media.licdn.com/mpr/mpr/AAEAAQAAAAAAAAJIAAAAJDU2NGI2OWMwLWUwNmQtNDZjMC05YzkzLTMxNWE5OTU0NTIzYw.jpg"/>
          <p:cNvPicPr>
            <a:picLocks noChangeAspect="1" noChangeArrowheads="1"/>
          </p:cNvPicPr>
          <p:nvPr/>
        </p:nvPicPr>
        <p:blipFill>
          <a:blip r:embed="rId2" cstate="print"/>
          <a:srcRect/>
          <a:stretch>
            <a:fillRect/>
          </a:stretch>
        </p:blipFill>
        <p:spPr bwMode="auto">
          <a:xfrm>
            <a:off x="8286081" y="1960347"/>
            <a:ext cx="2752037" cy="4084035"/>
          </a:xfrm>
          <a:prstGeom prst="rect">
            <a:avLst/>
          </a:prstGeom>
          <a:noFill/>
          <a:ln>
            <a:solidFill>
              <a:schemeClr val="accent1"/>
            </a:solidFill>
          </a:ln>
        </p:spPr>
      </p:pic>
      <p:sp>
        <p:nvSpPr>
          <p:cNvPr id="11" name="Title 1"/>
          <p:cNvSpPr txBox="1">
            <a:spLocks/>
          </p:cNvSpPr>
          <p:nvPr/>
        </p:nvSpPr>
        <p:spPr>
          <a:xfrm>
            <a:off x="838200" y="360361"/>
            <a:ext cx="10515600" cy="127952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gn="ctr"/>
            <a:r>
              <a:rPr lang="en-US" sz="2800" dirty="0">
                <a:latin typeface="Casper Bold" panose="02000806040000020004" pitchFamily="2" charset="0"/>
                <a:cs typeface="Arial" panose="020B0604020202020204" pitchFamily="34" charset="0"/>
              </a:rPr>
              <a:t> </a:t>
            </a:r>
            <a:r>
              <a:rPr lang="en-US" sz="2800" dirty="0"/>
              <a:t>  </a:t>
            </a:r>
            <a:endParaRPr lang="en-US" dirty="0"/>
          </a:p>
        </p:txBody>
      </p:sp>
      <p:sp>
        <p:nvSpPr>
          <p:cNvPr id="13" name="Rectangle 12"/>
          <p:cNvSpPr/>
          <p:nvPr/>
        </p:nvSpPr>
        <p:spPr>
          <a:xfrm>
            <a:off x="8638918" y="6372834"/>
            <a:ext cx="3083859" cy="328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Arial" pitchFamily="34" charset="0"/>
                <a:cs typeface="Arial" pitchFamily="34" charset="0"/>
              </a:rPr>
              <a:t>DeskAlerts.com</a:t>
            </a:r>
          </a:p>
        </p:txBody>
      </p:sp>
      <p:sp>
        <p:nvSpPr>
          <p:cNvPr id="15" name="Rectangle 1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41260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849084" y="1821089"/>
            <a:ext cx="7990116" cy="4344580"/>
          </a:xfrm>
        </p:spPr>
        <p:txBody>
          <a:bodyPr>
            <a:noAutofit/>
          </a:bodyPr>
          <a:lstStyle/>
          <a:p>
            <a:pPr marL="457200" indent="-457200">
              <a:lnSpc>
                <a:spcPct val="100000"/>
              </a:lnSpc>
              <a:buFont typeface="Arial" panose="020B0604020202020204" pitchFamily="34" charset="0"/>
              <a:buChar char="•"/>
            </a:pPr>
            <a:r>
              <a:rPr lang="en-US" sz="2800" dirty="0">
                <a:latin typeface="Arial" pitchFamily="34" charset="0"/>
                <a:cs typeface="Arial" pitchFamily="34" charset="0"/>
              </a:rPr>
              <a:t>The ability to effectively communicate with others is one of the most important tools for professional and personal success.</a:t>
            </a:r>
          </a:p>
          <a:p>
            <a:pPr marL="457200" indent="-457200">
              <a:lnSpc>
                <a:spcPct val="100000"/>
              </a:lnSpc>
              <a:buFont typeface="Arial" panose="020B0604020202020204" pitchFamily="34" charset="0"/>
              <a:buChar char="•"/>
            </a:pPr>
            <a:r>
              <a:rPr lang="en-US" sz="2800" dirty="0">
                <a:latin typeface="Arial" pitchFamily="34" charset="0"/>
                <a:cs typeface="Arial" pitchFamily="34" charset="0"/>
              </a:rPr>
              <a:t>It helps us better understand a person or situation and enables us to resolve differences and build trust and respect.</a:t>
            </a:r>
          </a:p>
          <a:p>
            <a:pPr marL="457200" indent="-457200">
              <a:lnSpc>
                <a:spcPct val="100000"/>
              </a:lnSpc>
              <a:buFont typeface="Arial" panose="020B0604020202020204" pitchFamily="34" charset="0"/>
              <a:buChar char="•"/>
            </a:pPr>
            <a:r>
              <a:rPr lang="en-US" sz="2800" dirty="0">
                <a:latin typeface="Arial" pitchFamily="34" charset="0"/>
                <a:cs typeface="Arial" pitchFamily="34" charset="0"/>
              </a:rPr>
              <a:t>Your capacity to communicate is often seen as an indicator of your ability and intelligence.</a:t>
            </a:r>
          </a:p>
          <a:p>
            <a:pPr marL="457200" indent="-457200">
              <a:lnSpc>
                <a:spcPct val="100000"/>
              </a:lnSpc>
              <a:buFont typeface="Arial" panose="020B0604020202020204" pitchFamily="34" charset="0"/>
              <a:buChar char="•"/>
            </a:pPr>
            <a:endParaRPr lang="en-US" sz="2800" dirty="0">
              <a:latin typeface="Arial" pitchFamily="34" charset="0"/>
              <a:cs typeface="Arial"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7</a:t>
            </a:fld>
            <a:endParaRPr lang="en-US" dirty="0"/>
          </a:p>
        </p:txBody>
      </p:sp>
      <p:sp>
        <p:nvSpPr>
          <p:cNvPr id="8" name="Title 7"/>
          <p:cNvSpPr txBox="1">
            <a:spLocks noGrp="1" noChangeArrowheads="1"/>
          </p:cNvSpPr>
          <p:nvPr>
            <p:ph type="title"/>
          </p:nvPr>
        </p:nvSpPr>
        <p:spPr bwMode="auto">
          <a:xfrm>
            <a:off x="849085" y="525803"/>
            <a:ext cx="10504715" cy="9787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br>
              <a:rPr lang="en-US" sz="2000" b="1" dirty="0">
                <a:latin typeface="Karla" pitchFamily="2" charset="0"/>
                <a:ea typeface="Karla" pitchFamily="2" charset="0"/>
                <a:cs typeface="Karla" pitchFamily="2" charset="0"/>
              </a:rPr>
            </a:br>
            <a:r>
              <a:rPr lang="en-US" sz="4400" dirty="0">
                <a:latin typeface="Arial Black" pitchFamily="34" charset="0"/>
              </a:rPr>
              <a:t> </a:t>
            </a:r>
            <a:r>
              <a:rPr lang="en-US" sz="4400" b="1" dirty="0">
                <a:latin typeface="Arial Black" pitchFamily="34" charset="0"/>
                <a:cs typeface="Arial" pitchFamily="34" charset="0"/>
              </a:rPr>
              <a:t>Why Effective Communication?</a:t>
            </a:r>
            <a:endParaRPr lang="en-US" sz="4400" dirty="0">
              <a:latin typeface="Arial Black" pitchFamily="34" charset="0"/>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2" descr="https://media.licdn.com/mpr/mpr/AAEAAQAAAAAAAAJIAAAAJDU2NGI2OWMwLWUwNmQtNDZjMC05YzkzLTMxNWE5OTU0NTIzYw.jpg"/>
          <p:cNvPicPr>
            <a:picLocks noChangeAspect="1" noChangeArrowheads="1"/>
          </p:cNvPicPr>
          <p:nvPr/>
        </p:nvPicPr>
        <p:blipFill>
          <a:blip r:embed="rId2" cstate="print"/>
          <a:srcRect/>
          <a:stretch>
            <a:fillRect/>
          </a:stretch>
        </p:blipFill>
        <p:spPr bwMode="auto">
          <a:xfrm>
            <a:off x="8843333" y="2148605"/>
            <a:ext cx="2387389" cy="3781547"/>
          </a:xfrm>
          <a:prstGeom prst="rect">
            <a:avLst/>
          </a:prstGeom>
          <a:noFill/>
          <a:ln>
            <a:solidFill>
              <a:schemeClr val="accent1"/>
            </a:solidFill>
          </a:ln>
        </p:spPr>
      </p:pic>
      <p:sp>
        <p:nvSpPr>
          <p:cNvPr id="11" name="Title 1"/>
          <p:cNvSpPr txBox="1">
            <a:spLocks/>
          </p:cNvSpPr>
          <p:nvPr/>
        </p:nvSpPr>
        <p:spPr>
          <a:xfrm>
            <a:off x="838200" y="360361"/>
            <a:ext cx="10515600" cy="1279527"/>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3200" kern="1200">
                <a:solidFill>
                  <a:schemeClr val="tx1"/>
                </a:solidFill>
                <a:latin typeface="+mj-lt"/>
                <a:ea typeface="+mj-ea"/>
                <a:cs typeface="+mj-cs"/>
              </a:defRPr>
            </a:lvl1pPr>
          </a:lstStyle>
          <a:p>
            <a:pPr algn="ctr"/>
            <a:r>
              <a:rPr lang="en-US" sz="2800" dirty="0">
                <a:latin typeface="Casper Bold" panose="02000806040000020004" pitchFamily="2" charset="0"/>
                <a:cs typeface="Arial" panose="020B0604020202020204" pitchFamily="34" charset="0"/>
              </a:rPr>
              <a:t> </a:t>
            </a:r>
            <a:r>
              <a:rPr lang="en-US" sz="2800" dirty="0"/>
              <a:t>  </a:t>
            </a:r>
            <a:endParaRPr lang="en-US" dirty="0"/>
          </a:p>
        </p:txBody>
      </p:sp>
      <p:sp>
        <p:nvSpPr>
          <p:cNvPr id="13" name="Rectangle 12"/>
          <p:cNvSpPr/>
          <p:nvPr/>
        </p:nvSpPr>
        <p:spPr>
          <a:xfrm>
            <a:off x="8638918" y="6372834"/>
            <a:ext cx="3083859" cy="32840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Arial" pitchFamily="34" charset="0"/>
                <a:cs typeface="Arial" pitchFamily="34" charset="0"/>
              </a:rPr>
              <a:t>DeskAlerts.com</a:t>
            </a:r>
          </a:p>
        </p:txBody>
      </p:sp>
      <p:sp>
        <p:nvSpPr>
          <p:cNvPr id="15" name="Rectangle 1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38015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38200" y="274321"/>
            <a:ext cx="10515600" cy="1051560"/>
          </a:xfrm>
          <a:ln>
            <a:solidFill>
              <a:schemeClr val="tx1"/>
            </a:solidFill>
          </a:ln>
        </p:spPr>
        <p:txBody>
          <a:bodyPr>
            <a:normAutofit/>
          </a:bodyPr>
          <a:lstStyle/>
          <a:p>
            <a:pPr algn="ctr"/>
            <a:r>
              <a:rPr lang="en-US" b="1" dirty="0">
                <a:latin typeface="Arial Black" panose="020B0A04020102020204" pitchFamily="34" charset="0"/>
                <a:cs typeface="Arial" pitchFamily="34" charset="0"/>
              </a:rPr>
              <a:t>Language Skills</a:t>
            </a:r>
            <a:endParaRPr lang="en-IN" b="1" dirty="0">
              <a:latin typeface="Arial Black" panose="020B0A04020102020204" pitchFamily="34" charset="0"/>
              <a:cs typeface="Arial" pitchFamily="34" charset="0"/>
            </a:endParaRPr>
          </a:p>
        </p:txBody>
      </p:sp>
      <p:sp>
        <p:nvSpPr>
          <p:cNvPr id="7" name="Content Placeholder 6"/>
          <p:cNvSpPr>
            <a:spLocks noGrp="1"/>
          </p:cNvSpPr>
          <p:nvPr>
            <p:ph idx="1"/>
          </p:nvPr>
        </p:nvSpPr>
        <p:spPr>
          <a:xfrm>
            <a:off x="838200" y="1447800"/>
            <a:ext cx="5196840" cy="4831080"/>
          </a:xfrm>
          <a:ln>
            <a:solidFill>
              <a:schemeClr val="tx1"/>
            </a:solidFill>
          </a:ln>
        </p:spPr>
        <p:txBody>
          <a:bodyPr/>
          <a:lstStyle/>
          <a:p>
            <a:pPr>
              <a:lnSpc>
                <a:spcPct val="150000"/>
              </a:lnSpc>
              <a:buNone/>
            </a:pPr>
            <a:r>
              <a:rPr lang="en-US" dirty="0">
                <a:latin typeface="Arial" pitchFamily="34" charset="0"/>
                <a:cs typeface="Arial" pitchFamily="34" charset="0"/>
              </a:rPr>
              <a:t>Types of languages in relation to Business Communication</a:t>
            </a:r>
            <a:endParaRPr lang="en-IN" dirty="0">
              <a:latin typeface="Arial" pitchFamily="34" charset="0"/>
              <a:cs typeface="Arial" pitchFamily="34" charset="0"/>
            </a:endParaRPr>
          </a:p>
          <a:p>
            <a:pPr lvl="0">
              <a:lnSpc>
                <a:spcPct val="150000"/>
              </a:lnSpc>
            </a:pPr>
            <a:r>
              <a:rPr lang="en-US" dirty="0">
                <a:latin typeface="Arial" pitchFamily="34" charset="0"/>
                <a:cs typeface="Arial" pitchFamily="34" charset="0"/>
              </a:rPr>
              <a:t>Formal Language</a:t>
            </a:r>
            <a:endParaRPr lang="en-IN" dirty="0">
              <a:latin typeface="Arial" pitchFamily="34" charset="0"/>
              <a:cs typeface="Arial" pitchFamily="34" charset="0"/>
            </a:endParaRPr>
          </a:p>
          <a:p>
            <a:pPr lvl="0">
              <a:lnSpc>
                <a:spcPct val="150000"/>
              </a:lnSpc>
            </a:pPr>
            <a:r>
              <a:rPr lang="en-US" dirty="0">
                <a:latin typeface="Arial" pitchFamily="34" charset="0"/>
                <a:cs typeface="Arial" pitchFamily="34" charset="0"/>
              </a:rPr>
              <a:t>Informal Language</a:t>
            </a:r>
            <a:endParaRPr lang="en-IN" dirty="0">
              <a:latin typeface="Arial" pitchFamily="34" charset="0"/>
              <a:cs typeface="Arial" pitchFamily="34" charset="0"/>
            </a:endParaRPr>
          </a:p>
          <a:p>
            <a:endParaRPr lang="en-IN" dirty="0">
              <a:latin typeface="Arial" pitchFamily="34" charset="0"/>
              <a:cs typeface="Arial" pitchFamily="34" charset="0"/>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pPr/>
              <a:t>8</a:t>
            </a:fld>
            <a:endParaRPr lang="en-US"/>
          </a:p>
        </p:txBody>
      </p:sp>
      <p:pic>
        <p:nvPicPr>
          <p:cNvPr id="143362" name="Picture 2" descr="Language Skills – pdkcm (With images) | Language skills, Skills to ..."/>
          <p:cNvPicPr>
            <a:picLocks noChangeAspect="1" noChangeArrowheads="1"/>
          </p:cNvPicPr>
          <p:nvPr/>
        </p:nvPicPr>
        <p:blipFill>
          <a:blip r:embed="rId2" cstate="print"/>
          <a:srcRect/>
          <a:stretch>
            <a:fillRect/>
          </a:stretch>
        </p:blipFill>
        <p:spPr bwMode="auto">
          <a:xfrm>
            <a:off x="6690360" y="1458482"/>
            <a:ext cx="4511040" cy="4835638"/>
          </a:xfrm>
          <a:prstGeom prst="rect">
            <a:avLst/>
          </a:prstGeom>
          <a:noFill/>
          <a:ln>
            <a:solidFill>
              <a:schemeClr val="tx1"/>
            </a:solidFill>
          </a:ln>
        </p:spPr>
      </p:pic>
      <p:sp>
        <p:nvSpPr>
          <p:cNvPr id="9" name="TextBox 8"/>
          <p:cNvSpPr txBox="1"/>
          <p:nvPr/>
        </p:nvSpPr>
        <p:spPr>
          <a:xfrm>
            <a:off x="9662160" y="6400800"/>
            <a:ext cx="1196353" cy="307777"/>
          </a:xfrm>
          <a:prstGeom prst="rect">
            <a:avLst/>
          </a:prstGeom>
          <a:noFill/>
        </p:spPr>
        <p:txBody>
          <a:bodyPr wrap="none" rtlCol="0">
            <a:spAutoFit/>
          </a:bodyPr>
          <a:lstStyle/>
          <a:p>
            <a:r>
              <a:rPr lang="en-US" sz="1400" dirty="0"/>
              <a:t>Pinterest.com</a:t>
            </a:r>
            <a:endParaRPr lang="en-IN"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ln>
            <a:solidFill>
              <a:schemeClr val="tx1"/>
            </a:solidFill>
          </a:ln>
        </p:spPr>
        <p:txBody>
          <a:bodyPr>
            <a:normAutofit/>
          </a:bodyPr>
          <a:lstStyle/>
          <a:p>
            <a:pPr algn="ctr"/>
            <a:r>
              <a:rPr lang="en-US" b="1" dirty="0">
                <a:latin typeface="Arial Black" panose="020B0A04020102020204" pitchFamily="34" charset="0"/>
                <a:cs typeface="Arial" pitchFamily="34" charset="0"/>
              </a:rPr>
              <a:t>Poll Question 1</a:t>
            </a:r>
            <a:endParaRPr lang="en-IN" b="1" dirty="0">
              <a:latin typeface="Arial Black" panose="020B0A04020102020204" pitchFamily="34" charset="0"/>
              <a:cs typeface="Arial" pitchFamily="34" charset="0"/>
            </a:endParaRPr>
          </a:p>
        </p:txBody>
      </p:sp>
      <p:sp>
        <p:nvSpPr>
          <p:cNvPr id="3" name="Content Placeholder 2"/>
          <p:cNvSpPr>
            <a:spLocks noGrp="1"/>
          </p:cNvSpPr>
          <p:nvPr>
            <p:ph idx="1"/>
          </p:nvPr>
        </p:nvSpPr>
        <p:spPr>
          <a:ln>
            <a:solidFill>
              <a:schemeClr val="tx1"/>
            </a:solidFill>
          </a:ln>
        </p:spPr>
        <p:txBody>
          <a:bodyPr>
            <a:normAutofit/>
          </a:bodyPr>
          <a:lstStyle/>
          <a:p>
            <a:pPr>
              <a:buNone/>
            </a:pPr>
            <a:r>
              <a:rPr lang="en-US" dirty="0">
                <a:latin typeface="Arial" pitchFamily="34" charset="0"/>
                <a:cs typeface="Arial" pitchFamily="34" charset="0"/>
              </a:rPr>
              <a:t>What are the brain input Language Skills?</a:t>
            </a:r>
          </a:p>
          <a:p>
            <a:pPr>
              <a:buNone/>
            </a:pPr>
            <a:endParaRPr lang="en-US" dirty="0">
              <a:latin typeface="Arial" pitchFamily="34" charset="0"/>
              <a:cs typeface="Arial" pitchFamily="34" charset="0"/>
            </a:endParaRPr>
          </a:p>
          <a:p>
            <a:pPr marL="514350" indent="-514350">
              <a:buFont typeface="+mj-lt"/>
              <a:buAutoNum type="arabicPeriod"/>
            </a:pPr>
            <a:r>
              <a:rPr lang="en-US" b="1" dirty="0">
                <a:latin typeface="Arial" pitchFamily="34" charset="0"/>
                <a:cs typeface="Arial" pitchFamily="34" charset="0"/>
              </a:rPr>
              <a:t>Reading and Speaking</a:t>
            </a:r>
          </a:p>
          <a:p>
            <a:pPr marL="514350" indent="-514350">
              <a:buFont typeface="+mj-lt"/>
              <a:buAutoNum type="arabicPeriod"/>
            </a:pPr>
            <a:r>
              <a:rPr lang="en-US" b="1" dirty="0">
                <a:latin typeface="Arial" pitchFamily="34" charset="0"/>
                <a:cs typeface="Arial" pitchFamily="34" charset="0"/>
              </a:rPr>
              <a:t>Listening and Writing</a:t>
            </a:r>
          </a:p>
          <a:p>
            <a:pPr marL="514350" indent="-514350">
              <a:buFont typeface="+mj-lt"/>
              <a:buAutoNum type="arabicPeriod"/>
            </a:pPr>
            <a:r>
              <a:rPr lang="en-US" b="1" dirty="0">
                <a:latin typeface="Arial" pitchFamily="34" charset="0"/>
                <a:cs typeface="Arial" pitchFamily="34" charset="0"/>
              </a:rPr>
              <a:t>Reading and Writing</a:t>
            </a:r>
          </a:p>
          <a:p>
            <a:pPr marL="514350" indent="-514350">
              <a:buFont typeface="+mj-lt"/>
              <a:buAutoNum type="arabicPeriod"/>
            </a:pPr>
            <a:r>
              <a:rPr lang="en-US" b="1" dirty="0">
                <a:latin typeface="Arial" pitchFamily="34" charset="0"/>
                <a:cs typeface="Arial" pitchFamily="34" charset="0"/>
              </a:rPr>
              <a:t>Listening and Reading</a:t>
            </a:r>
          </a:p>
          <a:p>
            <a:endParaRPr lang="en-US" dirty="0">
              <a:latin typeface="Arial" pitchFamily="34" charset="0"/>
              <a:cs typeface="Arial" pitchFamily="34" charset="0"/>
            </a:endParaRPr>
          </a:p>
          <a:p>
            <a:endParaRPr lang="en-IN"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ln>
            <a:solidFill>
              <a:schemeClr val="tx1"/>
            </a:solidFill>
          </a:ln>
        </p:spPr>
        <p:txBody>
          <a:bodyPr>
            <a:normAutofit/>
          </a:bodyPr>
          <a:lstStyle/>
          <a:p>
            <a:pPr algn="ctr"/>
            <a:r>
              <a:rPr lang="en-US" sz="4000" b="1" dirty="0">
                <a:latin typeface="Arial Black" panose="020B0A04020102020204" pitchFamily="34" charset="0"/>
                <a:cs typeface="Arial" pitchFamily="34" charset="0"/>
              </a:rPr>
              <a:t>Example of Poor Language Skills </a:t>
            </a:r>
            <a:endParaRPr lang="en-IN" sz="4000" b="1" dirty="0">
              <a:latin typeface="Arial Black" panose="020B0A04020102020204" pitchFamily="34" charset="0"/>
              <a:cs typeface="Arial" pitchFamily="34" charset="0"/>
            </a:endParaRPr>
          </a:p>
        </p:txBody>
      </p:sp>
      <p:sp>
        <p:nvSpPr>
          <p:cNvPr id="7" name="Content Placeholder 6"/>
          <p:cNvSpPr>
            <a:spLocks noGrp="1"/>
          </p:cNvSpPr>
          <p:nvPr>
            <p:ph idx="1"/>
          </p:nvPr>
        </p:nvSpPr>
        <p:spPr>
          <a:ln>
            <a:solidFill>
              <a:schemeClr val="tx1"/>
            </a:solidFill>
          </a:ln>
        </p:spPr>
        <p:txBody>
          <a:bodyPr>
            <a:normAutofit/>
          </a:bodyPr>
          <a:lstStyle/>
          <a:p>
            <a:pPr algn="ctr">
              <a:buNone/>
            </a:pPr>
            <a:r>
              <a:rPr lang="en-IN" b="1" dirty="0">
                <a:latin typeface="Arial" pitchFamily="34" charset="0"/>
                <a:cs typeface="Arial" pitchFamily="34" charset="0"/>
              </a:rPr>
              <a:t>One garbled Memo</a:t>
            </a:r>
          </a:p>
          <a:p>
            <a:pPr algn="just">
              <a:buNone/>
            </a:pPr>
            <a:r>
              <a:rPr lang="en-CA" dirty="0">
                <a:latin typeface="Arial" pitchFamily="34" charset="0"/>
                <a:cs typeface="Arial" pitchFamily="34" charset="0"/>
              </a:rPr>
              <a:t>	When workloads increase to a level requiring hours in excess of an employee’s regular duty assignment, and when such work is estimated to require a full shift of eight (8) hours or more on two (2) or more consecutive days, even though unscheduled days intervene, an employee’s tour of duty shall be altered so as to include the hours when such work must be done, unless an adverse impact would result from such employee’s absence from his previously scheduled assignment.</a:t>
            </a:r>
            <a:endParaRPr lang="en-IN" dirty="0">
              <a:latin typeface="Arial" pitchFamily="34" charset="0"/>
              <a:cs typeface="Arial" pitchFamily="34" charset="0"/>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pP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853786" y="1825928"/>
            <a:ext cx="5394611" cy="4365866"/>
          </a:xfrm>
        </p:spPr>
        <p:txBody>
          <a:bodyPr>
            <a:noAutofit/>
          </a:bodyPr>
          <a:lstStyle/>
          <a:p>
            <a:pPr>
              <a:lnSpc>
                <a:spcPct val="150000"/>
              </a:lnSpc>
            </a:pPr>
            <a:r>
              <a:rPr lang="en-US" sz="2800" dirty="0">
                <a:latin typeface="Arial" pitchFamily="34" charset="0"/>
                <a:cs typeface="Arial" pitchFamily="34" charset="0"/>
              </a:rPr>
              <a:t>Business communication is the sharing of information between people within or outside an organization that is performed for the commercial benefit of the organization.</a:t>
            </a:r>
            <a:endParaRPr lang="en-US" sz="2800" dirty="0">
              <a:solidFill>
                <a:schemeClr val="tx1">
                  <a:lumMod val="85000"/>
                  <a:lumOff val="15000"/>
                </a:schemeClr>
              </a:solidFill>
              <a:latin typeface="Arial" pitchFamily="34" charset="0"/>
              <a:cs typeface="Arial" pitchFamily="34" charset="0"/>
            </a:endParaRPr>
          </a:p>
          <a:p>
            <a:endParaRPr lang="en-US" sz="2800" dirty="0">
              <a:latin typeface="Arial" pitchFamily="34" charset="0"/>
              <a:cs typeface="Arial" pitchFamily="34" charset="0"/>
            </a:endParaRPr>
          </a:p>
        </p:txBody>
      </p:sp>
      <p:sp>
        <p:nvSpPr>
          <p:cNvPr id="5" name="Slide Number Placeholder 4"/>
          <p:cNvSpPr>
            <a:spLocks noGrp="1"/>
          </p:cNvSpPr>
          <p:nvPr>
            <p:ph type="sldNum" sz="quarter" idx="12"/>
          </p:nvPr>
        </p:nvSpPr>
        <p:spPr>
          <a:xfrm>
            <a:off x="8839200" y="6356350"/>
            <a:ext cx="2743200" cy="365125"/>
          </a:xfrm>
        </p:spPr>
        <p:txBody>
          <a:bodyPr/>
          <a:lstStyle/>
          <a:p>
            <a:fld id="{BDCDBBEF-AA6C-4BA6-85B2-A17D7F280E38}" type="slidenum">
              <a:rPr lang="en-US" smtClean="0"/>
              <a:pPr/>
              <a:t>11</a:t>
            </a:fld>
            <a:endParaRPr lang="en-US" dirty="0"/>
          </a:p>
        </p:txBody>
      </p:sp>
      <p:sp>
        <p:nvSpPr>
          <p:cNvPr id="8" name="Title 7"/>
          <p:cNvSpPr txBox="1">
            <a:spLocks noGrp="1" noChangeArrowheads="1"/>
          </p:cNvSpPr>
          <p:nvPr>
            <p:ph type="title"/>
          </p:nvPr>
        </p:nvSpPr>
        <p:spPr bwMode="auto">
          <a:xfrm>
            <a:off x="449262" y="1734466"/>
            <a:ext cx="4456567" cy="5909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a:br>
              <a:rPr lang="en-US" sz="2000" b="1" dirty="0">
                <a:latin typeface="Karla" pitchFamily="2" charset="0"/>
                <a:ea typeface="Karla" pitchFamily="2" charset="0"/>
                <a:cs typeface="Karla" pitchFamily="2" charset="0"/>
              </a:rPr>
            </a:br>
            <a:endParaRPr lang="en-US" sz="1600" dirty="0">
              <a:latin typeface="Raleway ExtraBold" pitchFamily="34" charset="-52"/>
            </a:endParaRPr>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7"/>
          <p:cNvSpPr txBox="1">
            <a:spLocks noChangeArrowheads="1"/>
          </p:cNvSpPr>
          <p:nvPr/>
        </p:nvSpPr>
        <p:spPr bwMode="auto">
          <a:xfrm>
            <a:off x="1046181" y="703360"/>
            <a:ext cx="10153605"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rtlCol="0" anchor="b">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a:lnSpc>
                <a:spcPct val="90000"/>
              </a:lnSpc>
              <a:spcBef>
                <a:spcPct val="0"/>
              </a:spcBef>
              <a:defRPr/>
            </a:pPr>
            <a:r>
              <a:rPr lang="en-US" sz="4400" b="1" dirty="0">
                <a:latin typeface="Arial Black" panose="020B0A04020102020204" pitchFamily="34" charset="0"/>
              </a:rPr>
              <a:t>Business Communication</a:t>
            </a:r>
            <a:endParaRPr kumimoji="0" lang="en-US" sz="1600" b="0" i="0" u="none" strike="noStrike" kern="1200" cap="none" spc="0" normalizeH="0" baseline="0" noProof="0" dirty="0">
              <a:ln>
                <a:noFill/>
              </a:ln>
              <a:solidFill>
                <a:schemeClr val="tx1"/>
              </a:solidFill>
              <a:effectLst/>
              <a:uLnTx/>
              <a:uFillTx/>
              <a:latin typeface="Raleway ExtraBold" pitchFamily="34" charset="-52"/>
              <a:ea typeface="+mj-ea"/>
              <a:cs typeface="+mj-cs"/>
            </a:endParaRPr>
          </a:p>
        </p:txBody>
      </p:sp>
      <p:pic>
        <p:nvPicPr>
          <p:cNvPr id="12" name="Picture 2" descr="Image result for business communication"/>
          <p:cNvPicPr>
            <a:picLocks noChangeAspect="1" noChangeArrowheads="1"/>
          </p:cNvPicPr>
          <p:nvPr/>
        </p:nvPicPr>
        <p:blipFill>
          <a:blip r:embed="rId2" cstate="print"/>
          <a:srcRect/>
          <a:stretch>
            <a:fillRect/>
          </a:stretch>
        </p:blipFill>
        <p:spPr bwMode="auto">
          <a:xfrm>
            <a:off x="7280246" y="2130392"/>
            <a:ext cx="3790526" cy="3695642"/>
          </a:xfrm>
          <a:prstGeom prst="rect">
            <a:avLst/>
          </a:prstGeom>
          <a:noFill/>
          <a:ln>
            <a:solidFill>
              <a:schemeClr val="accent1"/>
            </a:solidFill>
          </a:ln>
        </p:spPr>
      </p:pic>
      <p:sp>
        <p:nvSpPr>
          <p:cNvPr id="13" name="Slide Number Placeholder 3"/>
          <p:cNvSpPr txBox="1">
            <a:spLocks/>
          </p:cNvSpPr>
          <p:nvPr/>
        </p:nvSpPr>
        <p:spPr>
          <a:xfrm>
            <a:off x="8357374" y="6322786"/>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solidFill>
                  <a:schemeClr val="tx1"/>
                </a:solidFill>
                <a:latin typeface="Arial" pitchFamily="34" charset="0"/>
                <a:cs typeface="Arial" pitchFamily="34" charset="0"/>
              </a:rPr>
              <a:t>effectivecommunicationadvice.com</a:t>
            </a:r>
          </a:p>
        </p:txBody>
      </p:sp>
      <p:sp>
        <p:nvSpPr>
          <p:cNvPr id="15" name="Rectangle 14"/>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504969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838200" y="258445"/>
            <a:ext cx="10515600" cy="945515"/>
          </a:xfrm>
          <a:ln>
            <a:solidFill>
              <a:schemeClr val="tx1"/>
            </a:solidFill>
          </a:ln>
        </p:spPr>
        <p:txBody>
          <a:bodyPr>
            <a:normAutofit/>
          </a:bodyPr>
          <a:lstStyle/>
          <a:p>
            <a:pPr algn="ctr"/>
            <a:r>
              <a:rPr lang="en-CA" b="1" dirty="0">
                <a:latin typeface="Arial Black" panose="020B0A04020102020204" pitchFamily="34" charset="0"/>
                <a:cs typeface="Arial" pitchFamily="34" charset="0"/>
              </a:rPr>
              <a:t>Perils of Poor Communication</a:t>
            </a:r>
            <a:endParaRPr lang="en-IN" b="1" dirty="0">
              <a:latin typeface="Arial Black" panose="020B0A04020102020204" pitchFamily="34" charset="0"/>
              <a:cs typeface="Arial" pitchFamily="34" charset="0"/>
            </a:endParaRPr>
          </a:p>
        </p:txBody>
      </p:sp>
      <p:sp>
        <p:nvSpPr>
          <p:cNvPr id="5" name="Slide Number Placeholder 4"/>
          <p:cNvSpPr>
            <a:spLocks noGrp="1"/>
          </p:cNvSpPr>
          <p:nvPr>
            <p:ph type="sldNum" sz="quarter" idx="12"/>
          </p:nvPr>
        </p:nvSpPr>
        <p:spPr/>
        <p:txBody>
          <a:bodyPr/>
          <a:lstStyle/>
          <a:p>
            <a:fld id="{BDCDBBEF-AA6C-4BA6-85B2-A17D7F280E38}" type="slidenum">
              <a:rPr lang="en-US" smtClean="0"/>
              <a:pPr/>
              <a:t>12</a:t>
            </a:fld>
            <a:endParaRPr lang="en-US" dirty="0"/>
          </a:p>
        </p:txBody>
      </p:sp>
      <p:pic>
        <p:nvPicPr>
          <p:cNvPr id="216066" name="Picture 2"/>
          <p:cNvPicPr>
            <a:picLocks noChangeAspect="1" noChangeArrowheads="1"/>
          </p:cNvPicPr>
          <p:nvPr/>
        </p:nvPicPr>
        <p:blipFill>
          <a:blip r:embed="rId2" cstate="print"/>
          <a:srcRect l="24548" t="14860" r="26238" b="22829"/>
          <a:stretch>
            <a:fillRect/>
          </a:stretch>
        </p:blipFill>
        <p:spPr bwMode="auto">
          <a:xfrm>
            <a:off x="1021080" y="1249680"/>
            <a:ext cx="9982200" cy="5199473"/>
          </a:xfrm>
          <a:prstGeom prst="rect">
            <a:avLst/>
          </a:prstGeom>
          <a:noFill/>
          <a:ln w="9525">
            <a:noFill/>
            <a:miter lim="800000"/>
            <a:headEnd/>
            <a:tailEnd/>
          </a:ln>
        </p:spPr>
      </p:pic>
      <p:sp>
        <p:nvSpPr>
          <p:cNvPr id="9" name="Rectangle 8"/>
          <p:cNvSpPr/>
          <p:nvPr/>
        </p:nvSpPr>
        <p:spPr>
          <a:xfrm>
            <a:off x="9605239" y="6383774"/>
            <a:ext cx="1358962" cy="307777"/>
          </a:xfrm>
          <a:prstGeom prst="rect">
            <a:avLst/>
          </a:prstGeom>
        </p:spPr>
        <p:txBody>
          <a:bodyPr wrap="none">
            <a:spAutoFit/>
          </a:bodyPr>
          <a:lstStyle/>
          <a:p>
            <a:r>
              <a:rPr lang="en-IN" sz="1400" dirty="0"/>
              <a:t>Pressbooks.com</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838199" y="1904400"/>
            <a:ext cx="6294121" cy="4269067"/>
          </a:xfrm>
        </p:spPr>
        <p:txBody>
          <a:bodyPr>
            <a:noAutofit/>
          </a:bodyPr>
          <a:lstStyle/>
          <a:p>
            <a:pPr marL="350838" indent="-350838">
              <a:lnSpc>
                <a:spcPct val="100000"/>
              </a:lnSpc>
              <a:buFont typeface="Arial" pitchFamily="34" charset="0"/>
              <a:buChar char="•"/>
            </a:pPr>
            <a:r>
              <a:rPr lang="en-US" sz="2800" dirty="0">
                <a:latin typeface="Arial" pitchFamily="34" charset="0"/>
                <a:cs typeface="Arial" pitchFamily="34" charset="0"/>
              </a:rPr>
              <a:t>In the professional world, communication decides a person’s career curve - better the communication skills, higher are the chances of touching the zenith of success.</a:t>
            </a:r>
          </a:p>
          <a:p>
            <a:pPr marL="350838" indent="-350838">
              <a:lnSpc>
                <a:spcPct val="100000"/>
              </a:lnSpc>
              <a:buFont typeface="Arial" pitchFamily="34" charset="0"/>
              <a:buChar char="•"/>
            </a:pPr>
            <a:r>
              <a:rPr lang="en-US" sz="2800" dirty="0">
                <a:latin typeface="Arial" pitchFamily="34" charset="0"/>
                <a:cs typeface="Arial" pitchFamily="34" charset="0"/>
              </a:rPr>
              <a:t>The new global and diverse workplace requires excellent spoken and written communication skills. </a:t>
            </a:r>
            <a:endParaRPr lang="en-US" sz="2800" dirty="0">
              <a:solidFill>
                <a:schemeClr val="tx1">
                  <a:lumMod val="85000"/>
                  <a:lumOff val="15000"/>
                </a:schemeClr>
              </a:solidFill>
              <a:latin typeface="Arial" pitchFamily="34" charset="0"/>
              <a:cs typeface="Arial" pitchFamily="34" charset="0"/>
            </a:endParaRPr>
          </a:p>
          <a:p>
            <a:pPr>
              <a:lnSpc>
                <a:spcPct val="100000"/>
              </a:lnSpc>
            </a:pPr>
            <a:endParaRPr lang="en-US" sz="2800" dirty="0">
              <a:latin typeface="Arial" pitchFamily="34" charset="0"/>
              <a:cs typeface="Arial" pitchFamily="34" charset="0"/>
            </a:endParaRPr>
          </a:p>
        </p:txBody>
      </p:sp>
      <p:sp>
        <p:nvSpPr>
          <p:cNvPr id="5" name="Slide Number Placeholder 4"/>
          <p:cNvSpPr>
            <a:spLocks noGrp="1"/>
          </p:cNvSpPr>
          <p:nvPr>
            <p:ph type="sldNum" sz="quarter" idx="12"/>
          </p:nvPr>
        </p:nvSpPr>
        <p:spPr>
          <a:xfrm>
            <a:off x="8849652" y="6356350"/>
            <a:ext cx="2743200" cy="365125"/>
          </a:xfrm>
        </p:spPr>
        <p:txBody>
          <a:bodyPr/>
          <a:lstStyle/>
          <a:p>
            <a:fld id="{BDCDBBEF-AA6C-4BA6-85B2-A17D7F280E38}" type="slidenum">
              <a:rPr lang="en-US" smtClean="0"/>
              <a:pPr/>
              <a:t>13</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itle 7"/>
          <p:cNvSpPr txBox="1">
            <a:spLocks noChangeArrowheads="1"/>
          </p:cNvSpPr>
          <p:nvPr/>
        </p:nvSpPr>
        <p:spPr bwMode="auto">
          <a:xfrm>
            <a:off x="3816792" y="630163"/>
            <a:ext cx="4456567" cy="7186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rtlCol="0" anchor="b">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a:lnSpc>
                <a:spcPct val="90000"/>
              </a:lnSpc>
              <a:spcBef>
                <a:spcPct val="0"/>
              </a:spcBef>
              <a:defRPr/>
            </a:pPr>
            <a:r>
              <a:rPr lang="en-US" sz="2800" dirty="0"/>
              <a:t> </a:t>
            </a:r>
            <a:r>
              <a:rPr lang="en-US" sz="4400" b="1" dirty="0">
                <a:latin typeface="Arial Black" panose="020B0A04020102020204" pitchFamily="34" charset="0"/>
              </a:rPr>
              <a:t>Importance</a:t>
            </a:r>
            <a:endParaRPr kumimoji="0" lang="en-US" sz="1600" b="0" i="0" u="none" strike="noStrike" kern="1200" cap="none" spc="0" normalizeH="0" baseline="0" noProof="0" dirty="0">
              <a:ln>
                <a:noFill/>
              </a:ln>
              <a:solidFill>
                <a:schemeClr val="tx1"/>
              </a:solidFill>
              <a:effectLst/>
              <a:uLnTx/>
              <a:uFillTx/>
              <a:latin typeface="Raleway ExtraBold" pitchFamily="34" charset="-52"/>
              <a:ea typeface="+mj-ea"/>
              <a:cs typeface="+mj-cs"/>
            </a:endParaRPr>
          </a:p>
        </p:txBody>
      </p:sp>
      <p:pic>
        <p:nvPicPr>
          <p:cNvPr id="12" name="Picture 11" descr="Ch01diversity"/>
          <p:cNvPicPr>
            <a:picLocks noChangeAspect="1" noChangeArrowheads="1"/>
          </p:cNvPicPr>
          <p:nvPr/>
        </p:nvPicPr>
        <p:blipFill>
          <a:blip r:embed="rId2" cstate="print"/>
          <a:srcRect/>
          <a:stretch>
            <a:fillRect/>
          </a:stretch>
        </p:blipFill>
        <p:spPr>
          <a:xfrm>
            <a:off x="7178040" y="1981199"/>
            <a:ext cx="4041718" cy="3940899"/>
          </a:xfrm>
          <a:prstGeom prst="rect">
            <a:avLst/>
          </a:prstGeom>
          <a:noFill/>
          <a:ln>
            <a:solidFill>
              <a:schemeClr val="accent1"/>
            </a:solidFill>
          </a:ln>
        </p:spPr>
      </p:pic>
      <p:sp>
        <p:nvSpPr>
          <p:cNvPr id="14" name="Rectangle 13"/>
          <p:cNvSpPr/>
          <p:nvPr/>
        </p:nvSpPr>
        <p:spPr>
          <a:xfrm>
            <a:off x="8062478" y="6361974"/>
            <a:ext cx="3886200" cy="35877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a:solidFill>
                  <a:schemeClr val="tx1"/>
                </a:solidFill>
                <a:latin typeface="Arial" pitchFamily="34" charset="0"/>
                <a:cs typeface="Arial" pitchFamily="34" charset="0"/>
              </a:rPr>
              <a:t>VitalSmartsIndia.com</a:t>
            </a:r>
          </a:p>
        </p:txBody>
      </p:sp>
      <p:sp>
        <p:nvSpPr>
          <p:cNvPr id="15" name="Rectangle 14"/>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32934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82881"/>
            <a:ext cx="10515600" cy="990600"/>
          </a:xfrm>
          <a:ln>
            <a:solidFill>
              <a:schemeClr val="tx1"/>
            </a:solidFill>
          </a:ln>
        </p:spPr>
        <p:txBody>
          <a:bodyPr>
            <a:normAutofit/>
          </a:bodyPr>
          <a:lstStyle/>
          <a:p>
            <a:pPr algn="ctr">
              <a:defRPr/>
            </a:pPr>
            <a:r>
              <a:rPr lang="en-IN" b="1" dirty="0">
                <a:latin typeface="Arial Black" panose="020B0A04020102020204" pitchFamily="34" charset="0"/>
                <a:ea typeface="+mn-ea"/>
                <a:cs typeface="+mn-cs"/>
              </a:rPr>
              <a:t>The Communication Quiz</a:t>
            </a:r>
          </a:p>
        </p:txBody>
      </p:sp>
      <p:graphicFrame>
        <p:nvGraphicFramePr>
          <p:cNvPr id="5" name="Content Placeholder 4"/>
          <p:cNvGraphicFramePr>
            <a:graphicFrameLocks noGrp="1"/>
          </p:cNvGraphicFramePr>
          <p:nvPr>
            <p:ph idx="1"/>
          </p:nvPr>
        </p:nvGraphicFramePr>
        <p:xfrm>
          <a:off x="882650" y="1269746"/>
          <a:ext cx="10440670" cy="5214995"/>
        </p:xfrm>
        <a:graphic>
          <a:graphicData uri="http://schemas.openxmlformats.org/drawingml/2006/table">
            <a:tbl>
              <a:tblPr/>
              <a:tblGrid>
                <a:gridCol w="4009390">
                  <a:extLst>
                    <a:ext uri="{9D8B030D-6E8A-4147-A177-3AD203B41FA5}">
                      <a16:colId xmlns:a16="http://schemas.microsoft.com/office/drawing/2014/main" val="20000"/>
                    </a:ext>
                  </a:extLst>
                </a:gridCol>
                <a:gridCol w="1295400">
                  <a:extLst>
                    <a:ext uri="{9D8B030D-6E8A-4147-A177-3AD203B41FA5}">
                      <a16:colId xmlns:a16="http://schemas.microsoft.com/office/drawing/2014/main" val="20001"/>
                    </a:ext>
                  </a:extLst>
                </a:gridCol>
                <a:gridCol w="1249680">
                  <a:extLst>
                    <a:ext uri="{9D8B030D-6E8A-4147-A177-3AD203B41FA5}">
                      <a16:colId xmlns:a16="http://schemas.microsoft.com/office/drawing/2014/main" val="20002"/>
                    </a:ext>
                  </a:extLst>
                </a:gridCol>
                <a:gridCol w="1419497">
                  <a:extLst>
                    <a:ext uri="{9D8B030D-6E8A-4147-A177-3AD203B41FA5}">
                      <a16:colId xmlns:a16="http://schemas.microsoft.com/office/drawing/2014/main" val="20003"/>
                    </a:ext>
                  </a:extLst>
                </a:gridCol>
                <a:gridCol w="1034143">
                  <a:extLst>
                    <a:ext uri="{9D8B030D-6E8A-4147-A177-3AD203B41FA5}">
                      <a16:colId xmlns:a16="http://schemas.microsoft.com/office/drawing/2014/main" val="20004"/>
                    </a:ext>
                  </a:extLst>
                </a:gridCol>
                <a:gridCol w="1432560">
                  <a:extLst>
                    <a:ext uri="{9D8B030D-6E8A-4147-A177-3AD203B41FA5}">
                      <a16:colId xmlns:a16="http://schemas.microsoft.com/office/drawing/2014/main" val="20005"/>
                    </a:ext>
                  </a:extLst>
                </a:gridCol>
              </a:tblGrid>
              <a:tr h="267279">
                <a:tc>
                  <a:txBody>
                    <a:bodyPr/>
                    <a:lstStyle/>
                    <a:p>
                      <a:pPr algn="ctr">
                        <a:lnSpc>
                          <a:spcPct val="115000"/>
                        </a:lnSpc>
                        <a:spcAft>
                          <a:spcPts val="0"/>
                        </a:spcAft>
                      </a:pPr>
                      <a:r>
                        <a:rPr lang="en-GB" sz="2000" dirty="0">
                          <a:latin typeface="Arial" pitchFamily="34" charset="0"/>
                          <a:ea typeface="Calibri"/>
                          <a:cs typeface="Arial" pitchFamily="34" charset="0"/>
                        </a:rPr>
                        <a:t>Statement</a:t>
                      </a:r>
                      <a:endParaRPr lang="en-IN" sz="20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000" dirty="0">
                          <a:latin typeface="Arial" pitchFamily="34" charset="0"/>
                          <a:ea typeface="Calibri"/>
                          <a:cs typeface="Arial" pitchFamily="34" charset="0"/>
                        </a:rPr>
                        <a:t>1.</a:t>
                      </a:r>
                    </a:p>
                    <a:p>
                      <a:pPr algn="ctr">
                        <a:lnSpc>
                          <a:spcPct val="115000"/>
                        </a:lnSpc>
                        <a:spcAft>
                          <a:spcPts val="0"/>
                        </a:spcAft>
                      </a:pPr>
                      <a:r>
                        <a:rPr lang="en-GB" sz="2000" dirty="0">
                          <a:latin typeface="Arial" pitchFamily="34" charset="0"/>
                          <a:ea typeface="Calibri"/>
                          <a:cs typeface="Arial" pitchFamily="34" charset="0"/>
                        </a:rPr>
                        <a:t>Not at All</a:t>
                      </a:r>
                      <a:endParaRPr lang="en-IN" sz="20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000" dirty="0">
                          <a:latin typeface="Arial" pitchFamily="34" charset="0"/>
                          <a:ea typeface="Calibri"/>
                          <a:cs typeface="Arial" pitchFamily="34" charset="0"/>
                        </a:rPr>
                        <a:t>2. </a:t>
                      </a:r>
                    </a:p>
                    <a:p>
                      <a:pPr algn="ctr">
                        <a:lnSpc>
                          <a:spcPct val="115000"/>
                        </a:lnSpc>
                        <a:spcAft>
                          <a:spcPts val="0"/>
                        </a:spcAft>
                      </a:pPr>
                      <a:r>
                        <a:rPr lang="en-GB" sz="2000" dirty="0">
                          <a:latin typeface="Arial" pitchFamily="34" charset="0"/>
                          <a:ea typeface="Calibri"/>
                          <a:cs typeface="Arial" pitchFamily="34" charset="0"/>
                        </a:rPr>
                        <a:t>Rarely</a:t>
                      </a:r>
                      <a:endParaRPr lang="en-IN" sz="20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000" dirty="0">
                          <a:latin typeface="Arial" pitchFamily="34" charset="0"/>
                          <a:ea typeface="Calibri"/>
                          <a:cs typeface="Arial" pitchFamily="34" charset="0"/>
                        </a:rPr>
                        <a:t>3. </a:t>
                      </a:r>
                    </a:p>
                    <a:p>
                      <a:pPr algn="ctr">
                        <a:lnSpc>
                          <a:spcPct val="115000"/>
                        </a:lnSpc>
                        <a:spcAft>
                          <a:spcPts val="0"/>
                        </a:spcAft>
                      </a:pPr>
                      <a:r>
                        <a:rPr lang="en-GB" sz="2000" dirty="0">
                          <a:latin typeface="Arial" pitchFamily="34" charset="0"/>
                          <a:ea typeface="Calibri"/>
                          <a:cs typeface="Arial" pitchFamily="34" charset="0"/>
                        </a:rPr>
                        <a:t>Sometimes</a:t>
                      </a:r>
                      <a:endParaRPr lang="en-IN" sz="20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000" dirty="0">
                          <a:latin typeface="Arial" pitchFamily="34" charset="0"/>
                          <a:ea typeface="Calibri"/>
                          <a:cs typeface="Arial" pitchFamily="34" charset="0"/>
                        </a:rPr>
                        <a:t>4. </a:t>
                      </a:r>
                    </a:p>
                    <a:p>
                      <a:pPr algn="ctr">
                        <a:lnSpc>
                          <a:spcPct val="115000"/>
                        </a:lnSpc>
                        <a:spcAft>
                          <a:spcPts val="0"/>
                        </a:spcAft>
                      </a:pPr>
                      <a:r>
                        <a:rPr lang="en-GB" sz="2000" dirty="0">
                          <a:latin typeface="Arial" pitchFamily="34" charset="0"/>
                          <a:ea typeface="Calibri"/>
                          <a:cs typeface="Arial" pitchFamily="34" charset="0"/>
                        </a:rPr>
                        <a:t>Often</a:t>
                      </a:r>
                      <a:endParaRPr lang="en-IN" sz="20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GB" sz="2000" dirty="0">
                          <a:latin typeface="Arial" pitchFamily="34" charset="0"/>
                          <a:ea typeface="Calibri"/>
                          <a:cs typeface="Arial" pitchFamily="34" charset="0"/>
                        </a:rPr>
                        <a:t>5. </a:t>
                      </a:r>
                    </a:p>
                    <a:p>
                      <a:pPr algn="ctr">
                        <a:lnSpc>
                          <a:spcPct val="115000"/>
                        </a:lnSpc>
                        <a:spcAft>
                          <a:spcPts val="0"/>
                        </a:spcAft>
                      </a:pPr>
                      <a:r>
                        <a:rPr lang="en-GB" sz="2000" dirty="0">
                          <a:latin typeface="Arial" pitchFamily="34" charset="0"/>
                          <a:ea typeface="Calibri"/>
                          <a:cs typeface="Arial" pitchFamily="34" charset="0"/>
                        </a:rPr>
                        <a:t>Very Often</a:t>
                      </a:r>
                      <a:endParaRPr lang="en-IN" sz="20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69114">
                <a:tc>
                  <a:txBody>
                    <a:bodyPr/>
                    <a:lstStyle/>
                    <a:p>
                      <a:pPr>
                        <a:lnSpc>
                          <a:spcPct val="115000"/>
                        </a:lnSpc>
                        <a:spcAft>
                          <a:spcPts val="0"/>
                        </a:spcAft>
                      </a:pPr>
                      <a:r>
                        <a:rPr lang="en-GB" sz="2000" dirty="0">
                          <a:latin typeface="Arial" pitchFamily="34" charset="0"/>
                          <a:ea typeface="Calibri"/>
                          <a:cs typeface="Arial" pitchFamily="34" charset="0"/>
                        </a:rPr>
                        <a:t>If I don't understand something, I tend to keep this to myself and figure it out later.</a:t>
                      </a:r>
                      <a:endParaRPr lang="en-IN" sz="20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GB"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GB"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GB"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GB"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GB"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01836">
                <a:tc>
                  <a:txBody>
                    <a:bodyPr/>
                    <a:lstStyle/>
                    <a:p>
                      <a:pPr>
                        <a:lnSpc>
                          <a:spcPct val="115000"/>
                        </a:lnSpc>
                        <a:spcAft>
                          <a:spcPts val="0"/>
                        </a:spcAft>
                      </a:pPr>
                      <a:r>
                        <a:rPr lang="en-GB" sz="2000">
                          <a:latin typeface="Arial" pitchFamily="34" charset="0"/>
                          <a:ea typeface="Calibri"/>
                          <a:cs typeface="Arial" pitchFamily="34" charset="0"/>
                        </a:rPr>
                        <a:t>When talking to people, I pay attention to their body language.</a:t>
                      </a:r>
                      <a:endParaRPr lang="en-IN"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GB"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GB" sz="20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GB"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GB"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GB"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801836">
                <a:tc>
                  <a:txBody>
                    <a:bodyPr/>
                    <a:lstStyle/>
                    <a:p>
                      <a:pPr>
                        <a:lnSpc>
                          <a:spcPct val="115000"/>
                        </a:lnSpc>
                        <a:spcAft>
                          <a:spcPts val="0"/>
                        </a:spcAft>
                      </a:pPr>
                      <a:r>
                        <a:rPr lang="en-GB" sz="2000">
                          <a:latin typeface="Arial" pitchFamily="34" charset="0"/>
                          <a:ea typeface="Calibri"/>
                          <a:cs typeface="Arial" pitchFamily="34" charset="0"/>
                        </a:rPr>
                        <a:t>I'm surprised to find that people haven't understood what I've said.</a:t>
                      </a:r>
                      <a:endParaRPr lang="en-IN"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GB"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GB"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GB"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GB"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GB"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069114">
                <a:tc>
                  <a:txBody>
                    <a:bodyPr/>
                    <a:lstStyle/>
                    <a:p>
                      <a:pPr>
                        <a:lnSpc>
                          <a:spcPct val="115000"/>
                        </a:lnSpc>
                        <a:spcAft>
                          <a:spcPts val="0"/>
                        </a:spcAft>
                      </a:pPr>
                      <a:r>
                        <a:rPr lang="en-GB" sz="2000">
                          <a:latin typeface="Arial" pitchFamily="34" charset="0"/>
                          <a:ea typeface="Calibri"/>
                          <a:cs typeface="Arial" pitchFamily="34" charset="0"/>
                        </a:rPr>
                        <a:t>Before I communicate, I think about what the person needs to know, and how best to convey it.</a:t>
                      </a:r>
                      <a:endParaRPr lang="en-IN"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GB"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GB"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GB"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GB"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GB"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801836">
                <a:tc>
                  <a:txBody>
                    <a:bodyPr/>
                    <a:lstStyle/>
                    <a:p>
                      <a:pPr>
                        <a:lnSpc>
                          <a:spcPct val="115000"/>
                        </a:lnSpc>
                        <a:spcAft>
                          <a:spcPts val="0"/>
                        </a:spcAft>
                      </a:pPr>
                      <a:r>
                        <a:rPr lang="en-GB" sz="2000">
                          <a:latin typeface="Arial" pitchFamily="34" charset="0"/>
                          <a:ea typeface="Calibri"/>
                          <a:cs typeface="Arial" pitchFamily="34" charset="0"/>
                        </a:rPr>
                        <a:t>I consider cultural barriers when planning my communications.</a:t>
                      </a:r>
                      <a:endParaRPr lang="en-IN"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GB"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GB"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GB"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GB" sz="200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nSpc>
                          <a:spcPct val="115000"/>
                        </a:lnSpc>
                        <a:spcAft>
                          <a:spcPts val="0"/>
                        </a:spcAft>
                      </a:pPr>
                      <a:endParaRPr lang="en-GB" sz="2000" dirty="0">
                        <a:latin typeface="Arial" pitchFamily="34" charset="0"/>
                        <a:ea typeface="Calibri"/>
                        <a:cs typeface="Arial"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4" name="Slide Number Placeholder 3"/>
          <p:cNvSpPr>
            <a:spLocks noGrp="1"/>
          </p:cNvSpPr>
          <p:nvPr>
            <p:ph type="sldNum" sz="quarter" idx="12"/>
          </p:nvPr>
        </p:nvSpPr>
        <p:spPr/>
        <p:txBody>
          <a:bodyPr/>
          <a:lstStyle/>
          <a:p>
            <a:fld id="{BDCDBBEF-AA6C-4BA6-85B2-A17D7F280E38}" type="slidenum">
              <a:rPr lang="en-US" smtClean="0"/>
              <a:pPr/>
              <a:t>14</a:t>
            </a:fld>
            <a:endParaRPr lang="en-US"/>
          </a:p>
        </p:txBody>
      </p:sp>
      <p:sp>
        <p:nvSpPr>
          <p:cNvPr id="6" name="Rectangle 5"/>
          <p:cNvSpPr/>
          <p:nvPr/>
        </p:nvSpPr>
        <p:spPr>
          <a:xfrm>
            <a:off x="7067322" y="6514405"/>
            <a:ext cx="4007379" cy="276999"/>
          </a:xfrm>
          <a:prstGeom prst="rect">
            <a:avLst/>
          </a:prstGeom>
        </p:spPr>
        <p:txBody>
          <a:bodyPr wrap="none">
            <a:spAutoFit/>
          </a:bodyPr>
          <a:lstStyle/>
          <a:p>
            <a:r>
              <a:rPr lang="en-GB" sz="1200" u="sng" dirty="0">
                <a:latin typeface="Arial" pitchFamily="34" charset="0"/>
                <a:cs typeface="Arial" pitchFamily="34" charset="0"/>
                <a:hlinkClick r:id="rId2"/>
              </a:rPr>
              <a:t>https://www.mindtools.com/pages/article/newCS_99.htm</a:t>
            </a:r>
            <a:endParaRPr lang="en-IN" sz="1200" dirty="0">
              <a:latin typeface="Arial" pitchFamily="34" charset="0"/>
              <a:cs typeface="Arial" pitchFamily="3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8839200" y="6356350"/>
            <a:ext cx="2743200" cy="365125"/>
          </a:xfrm>
        </p:spPr>
        <p:txBody>
          <a:bodyPr/>
          <a:lstStyle/>
          <a:p>
            <a:r>
              <a:rPr lang="en-US" dirty="0"/>
              <a:t>www.comunis.com             </a:t>
            </a:r>
            <a:fld id="{BDCDBBEF-AA6C-4BA6-85B2-A17D7F280E38}" type="slidenum">
              <a:rPr lang="en-US" smtClean="0"/>
              <a:pPr/>
              <a:t>15</a:t>
            </a:fld>
            <a:endParaRPr lang="en-US" dirty="0"/>
          </a:p>
        </p:txBody>
      </p:sp>
      <p:sp>
        <p:nvSpPr>
          <p:cNvPr id="10" name="Oval 9"/>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2" descr="C:\Users\PCS\Desktop\communication process.png"/>
          <p:cNvPicPr>
            <a:picLocks noGrp="1" noChangeAspect="1" noChangeArrowheads="1"/>
          </p:cNvPicPr>
          <p:nvPr>
            <p:ph idx="1"/>
          </p:nvPr>
        </p:nvPicPr>
        <p:blipFill>
          <a:blip r:embed="rId2" cstate="print"/>
          <a:srcRect/>
          <a:stretch>
            <a:fillRect/>
          </a:stretch>
        </p:blipFill>
        <p:spPr bwMode="auto">
          <a:xfrm>
            <a:off x="1071945" y="358239"/>
            <a:ext cx="10084526" cy="5943600"/>
          </a:xfrm>
          <a:prstGeom prst="rect">
            <a:avLst/>
          </a:prstGeom>
          <a:noFill/>
          <a:ln>
            <a:solidFill>
              <a:schemeClr val="tx1"/>
            </a:solidFill>
          </a:ln>
        </p:spPr>
      </p:pic>
    </p:spTree>
    <p:extLst>
      <p:ext uri="{BB962C8B-B14F-4D97-AF65-F5344CB8AC3E}">
        <p14:creationId xmlns:p14="http://schemas.microsoft.com/office/powerpoint/2010/main" val="21222031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b="1" dirty="0">
                <a:latin typeface="Arial Black" panose="020B0A04020102020204" pitchFamily="34" charset="0"/>
              </a:rPr>
              <a:t>Process of Communication</a:t>
            </a:r>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849085" y="1803282"/>
            <a:ext cx="9849393" cy="3890489"/>
          </a:xfrm>
          <a:prstGeom prst="rect">
            <a:avLst/>
          </a:prstGeom>
        </p:spPr>
        <p:txBody>
          <a:bodyPr wrap="square">
            <a:spAutoFit/>
          </a:bodyPr>
          <a:lstStyle/>
          <a:p>
            <a:pPr marL="396875" indent="-396875" algn="just">
              <a:lnSpc>
                <a:spcPct val="150000"/>
              </a:lnSpc>
              <a:buFont typeface="Wingdings" pitchFamily="2" charset="2"/>
              <a:buChar char="§"/>
            </a:pPr>
            <a:r>
              <a:rPr lang="en-CA" sz="2800" dirty="0">
                <a:latin typeface="Arial" pitchFamily="34" charset="0"/>
                <a:cs typeface="Arial" pitchFamily="34" charset="0"/>
              </a:rPr>
              <a:t>The formation of communicative </a:t>
            </a:r>
            <a:r>
              <a:rPr lang="en-CA" sz="2800" b="1" dirty="0">
                <a:latin typeface="Arial" pitchFamily="34" charset="0"/>
                <a:cs typeface="Arial" pitchFamily="34" charset="0"/>
              </a:rPr>
              <a:t>motivation</a:t>
            </a:r>
            <a:r>
              <a:rPr lang="en-CA" sz="2800" dirty="0">
                <a:latin typeface="Arial" pitchFamily="34" charset="0"/>
                <a:cs typeface="Arial" pitchFamily="34" charset="0"/>
              </a:rPr>
              <a:t> or </a:t>
            </a:r>
            <a:r>
              <a:rPr lang="en-CA" sz="2800" b="1" dirty="0">
                <a:latin typeface="Arial" pitchFamily="34" charset="0"/>
                <a:cs typeface="Arial" pitchFamily="34" charset="0"/>
              </a:rPr>
              <a:t>reason</a:t>
            </a:r>
            <a:r>
              <a:rPr lang="en-CA" sz="2800" dirty="0">
                <a:latin typeface="Arial" pitchFamily="34" charset="0"/>
                <a:cs typeface="Arial" pitchFamily="34" charset="0"/>
              </a:rPr>
              <a:t>.</a:t>
            </a:r>
            <a:endParaRPr lang="en-US" sz="2800" dirty="0">
              <a:latin typeface="Arial" pitchFamily="34" charset="0"/>
              <a:cs typeface="Arial" pitchFamily="34" charset="0"/>
            </a:endParaRPr>
          </a:p>
          <a:p>
            <a:pPr marL="396875" indent="-396875" algn="just">
              <a:lnSpc>
                <a:spcPct val="150000"/>
              </a:lnSpc>
              <a:buFont typeface="Wingdings" pitchFamily="2" charset="2"/>
              <a:buChar char="§"/>
            </a:pPr>
            <a:r>
              <a:rPr lang="en-US" sz="2800" dirty="0">
                <a:latin typeface="Arial" pitchFamily="34" charset="0"/>
                <a:cs typeface="Arial" pitchFamily="34" charset="0"/>
              </a:rPr>
              <a:t>Information is encoded, channeled and sent by a sender to a receiver via some medium.</a:t>
            </a:r>
          </a:p>
          <a:p>
            <a:pPr marL="396875" indent="-396875" algn="just">
              <a:lnSpc>
                <a:spcPct val="150000"/>
              </a:lnSpc>
              <a:buFont typeface="Wingdings" pitchFamily="2" charset="2"/>
              <a:buChar char="§"/>
            </a:pPr>
            <a:r>
              <a:rPr lang="en-US" sz="2800" dirty="0">
                <a:latin typeface="Arial" pitchFamily="34" charset="0"/>
                <a:cs typeface="Arial" pitchFamily="34" charset="0"/>
              </a:rPr>
              <a:t>All forms of communication require a </a:t>
            </a:r>
            <a:r>
              <a:rPr lang="en-US" sz="2800" b="1" dirty="0">
                <a:latin typeface="Arial" pitchFamily="34" charset="0"/>
                <a:cs typeface="Arial" pitchFamily="34" charset="0"/>
              </a:rPr>
              <a:t>sender</a:t>
            </a:r>
            <a:r>
              <a:rPr lang="en-US" sz="2800" dirty="0">
                <a:latin typeface="Arial" pitchFamily="34" charset="0"/>
                <a:cs typeface="Arial" pitchFamily="34" charset="0"/>
              </a:rPr>
              <a:t>, a </a:t>
            </a:r>
            <a:r>
              <a:rPr lang="en-US" sz="2800" b="1" dirty="0">
                <a:latin typeface="Arial" pitchFamily="34" charset="0"/>
                <a:cs typeface="Arial" pitchFamily="34" charset="0"/>
              </a:rPr>
              <a:t>channel</a:t>
            </a:r>
            <a:r>
              <a:rPr lang="en-US" sz="2800" dirty="0">
                <a:latin typeface="Arial" pitchFamily="34" charset="0"/>
                <a:cs typeface="Arial" pitchFamily="34" charset="0"/>
              </a:rPr>
              <a:t>, a </a:t>
            </a:r>
            <a:r>
              <a:rPr lang="en-US" sz="2800" b="1" dirty="0">
                <a:latin typeface="Arial" pitchFamily="34" charset="0"/>
                <a:cs typeface="Arial" pitchFamily="34" charset="0"/>
              </a:rPr>
              <a:t>message</a:t>
            </a:r>
            <a:r>
              <a:rPr lang="en-US" sz="2800" dirty="0">
                <a:latin typeface="Arial" pitchFamily="34" charset="0"/>
                <a:cs typeface="Arial" pitchFamily="34" charset="0"/>
              </a:rPr>
              <a:t>, a </a:t>
            </a:r>
            <a:r>
              <a:rPr lang="en-US" sz="2800" b="1" dirty="0">
                <a:latin typeface="Arial" pitchFamily="34" charset="0"/>
                <a:cs typeface="Arial" pitchFamily="34" charset="0"/>
              </a:rPr>
              <a:t>receiver</a:t>
            </a:r>
            <a:r>
              <a:rPr lang="en-US" sz="2800" dirty="0">
                <a:latin typeface="Arial" pitchFamily="34" charset="0"/>
                <a:cs typeface="Arial" pitchFamily="34" charset="0"/>
              </a:rPr>
              <a:t> and the </a:t>
            </a:r>
            <a:r>
              <a:rPr lang="en-US" sz="2800" b="1" dirty="0">
                <a:latin typeface="Arial" pitchFamily="34" charset="0"/>
                <a:cs typeface="Arial" pitchFamily="34" charset="0"/>
              </a:rPr>
              <a:t>feedback</a:t>
            </a:r>
            <a:r>
              <a:rPr lang="en-US" sz="2800" dirty="0">
                <a:latin typeface="Arial" pitchFamily="34" charset="0"/>
                <a:cs typeface="Arial" pitchFamily="34" charset="0"/>
              </a:rPr>
              <a:t>.</a:t>
            </a:r>
          </a:p>
          <a:p>
            <a:pPr marL="396875" indent="-396875" algn="just">
              <a:lnSpc>
                <a:spcPct val="150000"/>
              </a:lnSpc>
              <a:buFont typeface="Wingdings" pitchFamily="2" charset="2"/>
              <a:buChar char="§"/>
            </a:pPr>
            <a:r>
              <a:rPr lang="en-US" sz="2800" dirty="0">
                <a:latin typeface="Arial" pitchFamily="34" charset="0"/>
                <a:cs typeface="Arial" pitchFamily="34" charset="0"/>
              </a:rPr>
              <a:t>A hindrance in the communication process is called </a:t>
            </a:r>
            <a:r>
              <a:rPr lang="en-US" sz="2800" b="1" dirty="0">
                <a:latin typeface="Arial" pitchFamily="34" charset="0"/>
                <a:cs typeface="Arial" pitchFamily="34" charset="0"/>
              </a:rPr>
              <a:t>noise.</a:t>
            </a:r>
          </a:p>
        </p:txBody>
      </p:sp>
      <p:sp>
        <p:nvSpPr>
          <p:cNvPr id="7" name="Oval 6"/>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8</a:t>
            </a:r>
          </a:p>
        </p:txBody>
      </p:sp>
    </p:spTree>
    <p:extLst>
      <p:ext uri="{BB962C8B-B14F-4D97-AF65-F5344CB8AC3E}">
        <p14:creationId xmlns:p14="http://schemas.microsoft.com/office/powerpoint/2010/main" val="14959711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97915"/>
          </a:xfrm>
        </p:spPr>
        <p:txBody>
          <a:bodyPr>
            <a:noAutofit/>
          </a:bodyPr>
          <a:lstStyle/>
          <a:p>
            <a:pPr algn="ctr">
              <a:defRPr/>
            </a:pPr>
            <a:r>
              <a:rPr lang="en-CA" b="1" dirty="0">
                <a:latin typeface="Arial Black" panose="020B0A04020102020204" pitchFamily="34" charset="0"/>
                <a:ea typeface="+mn-ea"/>
                <a:cs typeface="+mn-cs"/>
              </a:rPr>
              <a:t>Case Study- The co-op student who mixed up genres</a:t>
            </a:r>
            <a:endParaRPr lang="en-IN" b="1" dirty="0">
              <a:latin typeface="Arial Black" panose="020B0A04020102020204" pitchFamily="34" charset="0"/>
              <a:ea typeface="+mn-ea"/>
              <a:cs typeface="+mn-cs"/>
            </a:endParaRPr>
          </a:p>
        </p:txBody>
      </p:sp>
      <p:sp>
        <p:nvSpPr>
          <p:cNvPr id="3" name="Content Placeholder 2"/>
          <p:cNvSpPr>
            <a:spLocks noGrp="1"/>
          </p:cNvSpPr>
          <p:nvPr>
            <p:ph idx="1"/>
          </p:nvPr>
        </p:nvSpPr>
        <p:spPr>
          <a:xfrm>
            <a:off x="326571" y="1600200"/>
            <a:ext cx="11443063" cy="4937760"/>
          </a:xfrm>
        </p:spPr>
        <p:txBody>
          <a:bodyPr>
            <a:normAutofit fontScale="70000" lnSpcReduction="20000"/>
          </a:bodyPr>
          <a:lstStyle/>
          <a:p>
            <a:pPr algn="just">
              <a:buNone/>
            </a:pPr>
            <a:r>
              <a:rPr lang="en-CA" dirty="0">
                <a:latin typeface="Arial" pitchFamily="34" charset="0"/>
                <a:cs typeface="Arial" pitchFamily="34" charset="0"/>
              </a:rPr>
              <a:t>	Chris was simultaneously enrolled in a university writing course and working as a co-op student at the Widget Manufacturing plant. As part of his co-op work experience, Chris shadowed his supervisor/mentor on a safety inspection of the plant, and was asked to write up the results of the inspection in a </a:t>
            </a:r>
            <a:r>
              <a:rPr lang="en-CA" b="1" dirty="0">
                <a:latin typeface="Arial" pitchFamily="34" charset="0"/>
                <a:cs typeface="Arial" pitchFamily="34" charset="0"/>
              </a:rPr>
              <a:t>compliance memo</a:t>
            </a:r>
            <a:r>
              <a:rPr lang="en-CA" dirty="0">
                <a:latin typeface="Arial" pitchFamily="34" charset="0"/>
                <a:cs typeface="Arial" pitchFamily="34" charset="0"/>
              </a:rPr>
              <a:t>. In the same week, Chris’s writing instructor assigned the class to write a </a:t>
            </a:r>
            <a:r>
              <a:rPr lang="en-CA" b="1" dirty="0">
                <a:latin typeface="Arial" pitchFamily="34" charset="0"/>
                <a:cs typeface="Arial" pitchFamily="34" charset="0"/>
              </a:rPr>
              <a:t>narrative essay</a:t>
            </a:r>
            <a:r>
              <a:rPr lang="en-CA" dirty="0">
                <a:latin typeface="Arial" pitchFamily="34" charset="0"/>
                <a:cs typeface="Arial" pitchFamily="34" charset="0"/>
              </a:rPr>
              <a:t> based on some personal experience. Chris, trying to be efficient, thought that the plant visit experience could provide the basis for his essay assignment as well.</a:t>
            </a:r>
          </a:p>
          <a:p>
            <a:pPr algn="just">
              <a:buNone/>
            </a:pPr>
            <a:r>
              <a:rPr lang="en-CA" dirty="0">
                <a:latin typeface="Arial" pitchFamily="34" charset="0"/>
                <a:cs typeface="Arial" pitchFamily="34" charset="0"/>
              </a:rPr>
              <a:t>	He wrote the essay first, because he was used to writing essays and was pretty good at it. He had never even seen a compliance memo, much less written one, so was not as confident about that task. He began the essay like this: On June 1, 2018, I conducted a safety audit of the Widget Manufacturing plant in New City. The purpose of the audit was to ensure that all processes and activities in the plant adhere to safety and handling rules and policies outlined in the Workplace Safety Handbook and relevant government regulations. I was escorted on a 3-hour tour of the facility by…</a:t>
            </a:r>
          </a:p>
          <a:p>
            <a:pPr algn="just">
              <a:buNone/>
            </a:pPr>
            <a:r>
              <a:rPr lang="en-CA" dirty="0">
                <a:latin typeface="Arial" pitchFamily="34" charset="0"/>
                <a:cs typeface="Arial" pitchFamily="34" charset="0"/>
              </a:rPr>
              <a:t>	Chris finished the essay and submitted it to his writing instructor. He then revised the essay slightly, keeping the introduction the same, and submitted it to his co-op supervisor. He “aced” the essay, getting an A grade, but his supervisor told him that the report was unacceptable and would have to be rewritten – especially the beginning, which should have clearly indicated whether or not the plant was in compliance with safety regulations. Chris was aghast! He had never heard of putting the “conclusion” at the</a:t>
            </a:r>
            <a:r>
              <a:rPr lang="en-CA" b="1" dirty="0">
                <a:latin typeface="Arial" pitchFamily="34" charset="0"/>
                <a:cs typeface="Arial" pitchFamily="34" charset="0"/>
              </a:rPr>
              <a:t> beginning</a:t>
            </a:r>
            <a:r>
              <a:rPr lang="en-CA" dirty="0">
                <a:latin typeface="Arial" pitchFamily="34" charset="0"/>
                <a:cs typeface="Arial" pitchFamily="34" charset="0"/>
              </a:rPr>
              <a:t>. He missed the company softball game that Saturday so he could rewrite the report to the satisfaction of his supervisor.</a:t>
            </a:r>
          </a:p>
          <a:p>
            <a:endParaRPr lang="en-IN"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17</a:t>
            </a:fld>
            <a:endParaRPr lang="en-US"/>
          </a:p>
        </p:txBody>
      </p:sp>
      <p:sp>
        <p:nvSpPr>
          <p:cNvPr id="5" name="TextBox 4"/>
          <p:cNvSpPr txBox="1"/>
          <p:nvPr/>
        </p:nvSpPr>
        <p:spPr>
          <a:xfrm>
            <a:off x="731520" y="6385563"/>
            <a:ext cx="5138266" cy="369332"/>
          </a:xfrm>
          <a:prstGeom prst="rect">
            <a:avLst/>
          </a:prstGeom>
          <a:noFill/>
        </p:spPr>
        <p:txBody>
          <a:bodyPr wrap="none" rtlCol="0">
            <a:spAutoFit/>
          </a:bodyPr>
          <a:lstStyle/>
          <a:p>
            <a:r>
              <a:rPr lang="en-IN" dirty="0">
                <a:hlinkClick r:id="rId2"/>
              </a:rPr>
              <a:t>http://www.exec-comm.com/about-us/case-studies/</a:t>
            </a:r>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29640" y="365125"/>
            <a:ext cx="10424160" cy="1325563"/>
          </a:xfrm>
          <a:ln>
            <a:solidFill>
              <a:schemeClr val="tx1"/>
            </a:solidFill>
          </a:ln>
        </p:spPr>
        <p:txBody>
          <a:bodyPr>
            <a:normAutofit/>
          </a:bodyPr>
          <a:lstStyle/>
          <a:p>
            <a:pPr algn="ctr"/>
            <a:r>
              <a:rPr lang="en-CA" b="1" dirty="0">
                <a:latin typeface="Arial Black" pitchFamily="34" charset="0"/>
              </a:rPr>
              <a:t>Examine the case and determine the following:</a:t>
            </a:r>
            <a:endParaRPr lang="en-IN" dirty="0">
              <a:latin typeface="Arial Black" pitchFamily="34" charset="0"/>
            </a:endParaRPr>
          </a:p>
        </p:txBody>
      </p:sp>
      <p:sp>
        <p:nvSpPr>
          <p:cNvPr id="3" name="Content Placeholder 2"/>
          <p:cNvSpPr>
            <a:spLocks noGrp="1"/>
          </p:cNvSpPr>
          <p:nvPr>
            <p:ph idx="1"/>
          </p:nvPr>
        </p:nvSpPr>
        <p:spPr>
          <a:xfrm>
            <a:off x="899160" y="1825625"/>
            <a:ext cx="10454640" cy="4351338"/>
          </a:xfrm>
          <a:ln>
            <a:solidFill>
              <a:schemeClr val="tx1"/>
            </a:solidFill>
          </a:ln>
        </p:spPr>
        <p:txBody>
          <a:bodyPr>
            <a:normAutofit/>
          </a:bodyPr>
          <a:lstStyle/>
          <a:p>
            <a:r>
              <a:rPr lang="en-CA" dirty="0">
                <a:latin typeface="Arial" pitchFamily="34" charset="0"/>
                <a:cs typeface="Arial" pitchFamily="34" charset="0"/>
              </a:rPr>
              <a:t>Define the </a:t>
            </a:r>
            <a:r>
              <a:rPr lang="en-CA" b="1" dirty="0">
                <a:latin typeface="Arial" pitchFamily="34" charset="0"/>
                <a:cs typeface="Arial" pitchFamily="34" charset="0"/>
              </a:rPr>
              <a:t>rhetorical situation</a:t>
            </a:r>
            <a:r>
              <a:rPr lang="en-CA" dirty="0">
                <a:latin typeface="Arial" pitchFamily="34" charset="0"/>
                <a:cs typeface="Arial" pitchFamily="34" charset="0"/>
              </a:rPr>
              <a:t>: Who is communicating to whom about what, how, and why? What was the goal of the communication?</a:t>
            </a:r>
          </a:p>
          <a:p>
            <a:r>
              <a:rPr lang="en-CA" dirty="0">
                <a:latin typeface="Arial" pitchFamily="34" charset="0"/>
                <a:cs typeface="Arial" pitchFamily="34" charset="0"/>
              </a:rPr>
              <a:t>Identify the </a:t>
            </a:r>
            <a:r>
              <a:rPr lang="en-CA" b="1" dirty="0">
                <a:latin typeface="Arial" pitchFamily="34" charset="0"/>
                <a:cs typeface="Arial" pitchFamily="34" charset="0"/>
              </a:rPr>
              <a:t>communication error</a:t>
            </a:r>
            <a:r>
              <a:rPr lang="en-CA" dirty="0">
                <a:latin typeface="Arial" pitchFamily="34" charset="0"/>
                <a:cs typeface="Arial" pitchFamily="34" charset="0"/>
              </a:rPr>
              <a:t>? </a:t>
            </a:r>
          </a:p>
          <a:p>
            <a:r>
              <a:rPr lang="en-CA" dirty="0">
                <a:latin typeface="Arial" pitchFamily="34" charset="0"/>
                <a:cs typeface="Arial" pitchFamily="34" charset="0"/>
              </a:rPr>
              <a:t>Explain the </a:t>
            </a:r>
            <a:r>
              <a:rPr lang="en-CA" b="1" dirty="0">
                <a:latin typeface="Arial" pitchFamily="34" charset="0"/>
                <a:cs typeface="Arial" pitchFamily="34" charset="0"/>
              </a:rPr>
              <a:t>losses</a:t>
            </a:r>
            <a:r>
              <a:rPr lang="en-CA" dirty="0">
                <a:latin typeface="Arial" pitchFamily="34" charset="0"/>
                <a:cs typeface="Arial" pitchFamily="34" charset="0"/>
              </a:rPr>
              <a:t> that were incurred by this problem.</a:t>
            </a:r>
          </a:p>
          <a:p>
            <a:r>
              <a:rPr lang="en-CA" dirty="0">
                <a:latin typeface="Arial" pitchFamily="34" charset="0"/>
                <a:cs typeface="Arial" pitchFamily="34" charset="0"/>
              </a:rPr>
              <a:t>Identify </a:t>
            </a:r>
            <a:r>
              <a:rPr lang="en-CA" b="1" dirty="0">
                <a:latin typeface="Arial" pitchFamily="34" charset="0"/>
                <a:cs typeface="Arial" pitchFamily="34" charset="0"/>
              </a:rPr>
              <a:t>possible solution</a:t>
            </a:r>
            <a:r>
              <a:rPr lang="en-CA" dirty="0">
                <a:latin typeface="Arial" pitchFamily="34" charset="0"/>
                <a:cs typeface="Arial" pitchFamily="34" charset="0"/>
              </a:rPr>
              <a:t>s or strategies that would have prevented the problem.</a:t>
            </a:r>
          </a:p>
          <a:p>
            <a:endParaRPr lang="en-IN" dirty="0">
              <a:latin typeface="Arial" pitchFamily="34" charset="0"/>
              <a:cs typeface="Arial" pitchFamily="34" charset="0"/>
            </a:endParaRPr>
          </a:p>
        </p:txBody>
      </p:sp>
      <p:sp>
        <p:nvSpPr>
          <p:cNvPr id="4" name="Slide Number Placeholder 3"/>
          <p:cNvSpPr>
            <a:spLocks noGrp="1"/>
          </p:cNvSpPr>
          <p:nvPr>
            <p:ph type="sldNum" sz="quarter" idx="12"/>
          </p:nvPr>
        </p:nvSpPr>
        <p:spPr/>
        <p:txBody>
          <a:bodyPr/>
          <a:lstStyle/>
          <a:p>
            <a:fld id="{BDCDBBEF-AA6C-4BA6-85B2-A17D7F280E38}" type="slidenum">
              <a:rPr lang="en-US" smtClean="0"/>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dirty="0">
                <a:latin typeface="Arial Black" panose="020B0A04020102020204" pitchFamily="34" charset="0"/>
                <a:cs typeface="Arial" panose="020B0604020202020204" pitchFamily="34" charset="0"/>
              </a:rPr>
              <a:t>Applications  </a:t>
            </a:r>
            <a:r>
              <a:rPr lang="en-US" dirty="0">
                <a:latin typeface="Arial Black" panose="020B0A04020102020204" pitchFamily="34" charset="0"/>
              </a:rPr>
              <a:t>  </a:t>
            </a:r>
          </a:p>
        </p:txBody>
      </p:sp>
      <p:sp>
        <p:nvSpPr>
          <p:cNvPr id="3" name="Content Placeholder 2"/>
          <p:cNvSpPr>
            <a:spLocks noGrp="1"/>
          </p:cNvSpPr>
          <p:nvPr>
            <p:ph idx="1"/>
          </p:nvPr>
        </p:nvSpPr>
        <p:spPr/>
        <p:txBody>
          <a:bodyPr>
            <a:noAutofit/>
          </a:bodyPr>
          <a:lstStyle/>
          <a:p>
            <a:pPr>
              <a:lnSpc>
                <a:spcPct val="100000"/>
              </a:lnSpc>
              <a:buNone/>
            </a:pPr>
            <a:r>
              <a:rPr lang="en-US" dirty="0">
                <a:latin typeface="Arial" pitchFamily="34" charset="0"/>
                <a:cs typeface="Arial" pitchFamily="34" charset="0"/>
              </a:rPr>
              <a:t>Applicable to both personal and professional life:</a:t>
            </a:r>
          </a:p>
          <a:p>
            <a:pPr>
              <a:lnSpc>
                <a:spcPct val="100000"/>
              </a:lnSpc>
            </a:pPr>
            <a:r>
              <a:rPr lang="en-CA" dirty="0">
                <a:latin typeface="Arial" pitchFamily="34" charset="0"/>
                <a:cs typeface="Arial" pitchFamily="34" charset="0"/>
              </a:rPr>
              <a:t>In personal life, good communication skills can improve your personal relationships by helping you to understand others, and to be understood. </a:t>
            </a:r>
          </a:p>
          <a:p>
            <a:pPr>
              <a:lnSpc>
                <a:spcPct val="100000"/>
              </a:lnSpc>
            </a:pPr>
            <a:r>
              <a:rPr lang="en-CA" dirty="0">
                <a:latin typeface="Arial" pitchFamily="34" charset="0"/>
                <a:cs typeface="Arial" pitchFamily="34" charset="0"/>
              </a:rPr>
              <a:t>Professionally, if you are applying for jobs or looking for a promotion, you will almost certainly need to demonstrate good communication skills.</a:t>
            </a:r>
          </a:p>
          <a:p>
            <a:pPr>
              <a:lnSpc>
                <a:spcPct val="100000"/>
              </a:lnSpc>
            </a:pPr>
            <a:r>
              <a:rPr lang="en-CA" dirty="0">
                <a:latin typeface="Arial" pitchFamily="34" charset="0"/>
                <a:cs typeface="Arial" pitchFamily="34" charset="0"/>
              </a:rPr>
              <a:t>Communication skills can also ensure that you are able to manage interactions with businesses and organisations.</a:t>
            </a:r>
            <a:endParaRPr lang="en-US" sz="18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a:xfrm>
            <a:off x="8869680" y="6356350"/>
            <a:ext cx="2743200" cy="365125"/>
          </a:xfrm>
        </p:spPr>
        <p:txBody>
          <a:bodyPr/>
          <a:lstStyle/>
          <a:p>
            <a:fld id="{BDCDBBEF-AA6C-4BA6-85B2-A17D7F280E38}" type="slidenum">
              <a:rPr lang="en-US" smtClean="0"/>
              <a:pPr/>
              <a:t>19</a:t>
            </a:fld>
            <a:endParaRPr lang="en-US" dirty="0"/>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295510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dirty="0">
                <a:latin typeface="Arial Black" pitchFamily="34" charset="0"/>
                <a:cs typeface="Arial" panose="020B0604020202020204" pitchFamily="34" charset="0"/>
              </a:rPr>
              <a:t>Assessment Pattern </a:t>
            </a:r>
            <a:r>
              <a:rPr lang="en-US" dirty="0">
                <a:latin typeface="Arial Black" pitchFamily="34" charset="0"/>
              </a:rPr>
              <a:t>  </a:t>
            </a:r>
          </a:p>
        </p:txBody>
      </p:sp>
      <p:sp>
        <p:nvSpPr>
          <p:cNvPr id="3" name="Content Placeholder 2"/>
          <p:cNvSpPr>
            <a:spLocks noGrp="1"/>
          </p:cNvSpPr>
          <p:nvPr>
            <p:ph idx="1"/>
          </p:nvPr>
        </p:nvSpPr>
        <p:spPr/>
        <p:txBody>
          <a:bodyPr>
            <a:noAutofit/>
          </a:bodyPr>
          <a:lstStyle/>
          <a:p>
            <a:pPr>
              <a:lnSpc>
                <a:spcPct val="100000"/>
              </a:lnSpc>
              <a:spcBef>
                <a:spcPts val="0"/>
              </a:spcBef>
              <a:buNone/>
            </a:pPr>
            <a:r>
              <a:rPr lang="en-IN" b="1" dirty="0">
                <a:latin typeface="Arial" pitchFamily="34" charset="0"/>
                <a:cs typeface="Arial" pitchFamily="34" charset="0"/>
              </a:rPr>
              <a:t>Students are assessed on the basis of the following parameters:</a:t>
            </a:r>
          </a:p>
          <a:p>
            <a:pPr marL="579438" indent="-350838">
              <a:lnSpc>
                <a:spcPct val="100000"/>
              </a:lnSpc>
              <a:spcBef>
                <a:spcPts val="0"/>
              </a:spcBef>
            </a:pPr>
            <a:r>
              <a:rPr lang="en-US" dirty="0">
                <a:latin typeface="Arial" pitchFamily="34" charset="0"/>
                <a:cs typeface="Arial" pitchFamily="34" charset="0"/>
              </a:rPr>
              <a:t>Hourly Test-2</a:t>
            </a:r>
          </a:p>
          <a:p>
            <a:pPr marL="579438" indent="-350838">
              <a:lnSpc>
                <a:spcPct val="100000"/>
              </a:lnSpc>
              <a:spcBef>
                <a:spcPts val="0"/>
              </a:spcBef>
            </a:pPr>
            <a:r>
              <a:rPr lang="en-US" dirty="0">
                <a:latin typeface="Arial" pitchFamily="34" charset="0"/>
                <a:cs typeface="Arial" pitchFamily="34" charset="0"/>
              </a:rPr>
              <a:t>Assignments</a:t>
            </a:r>
          </a:p>
          <a:p>
            <a:pPr marL="579438" indent="-350838">
              <a:lnSpc>
                <a:spcPct val="100000"/>
              </a:lnSpc>
              <a:spcBef>
                <a:spcPts val="0"/>
              </a:spcBef>
            </a:pPr>
            <a:r>
              <a:rPr lang="en-US" dirty="0">
                <a:latin typeface="Arial" pitchFamily="34" charset="0"/>
                <a:cs typeface="Arial" pitchFamily="34" charset="0"/>
              </a:rPr>
              <a:t>Surprise Test</a:t>
            </a:r>
          </a:p>
          <a:p>
            <a:pPr marL="579438" indent="-350838">
              <a:lnSpc>
                <a:spcPct val="100000"/>
              </a:lnSpc>
              <a:spcBef>
                <a:spcPts val="0"/>
              </a:spcBef>
            </a:pPr>
            <a:r>
              <a:rPr lang="en-US" dirty="0">
                <a:latin typeface="Arial" pitchFamily="34" charset="0"/>
                <a:cs typeface="Arial" pitchFamily="34" charset="0"/>
              </a:rPr>
              <a:t>Worksheets</a:t>
            </a:r>
          </a:p>
          <a:p>
            <a:pPr marL="579438" indent="-350838">
              <a:lnSpc>
                <a:spcPct val="100000"/>
              </a:lnSpc>
              <a:spcBef>
                <a:spcPts val="0"/>
              </a:spcBef>
            </a:pPr>
            <a:r>
              <a:rPr lang="en-US" dirty="0">
                <a:latin typeface="Arial" pitchFamily="34" charset="0"/>
                <a:cs typeface="Arial" pitchFamily="34" charset="0"/>
              </a:rPr>
              <a:t>Quiz</a:t>
            </a:r>
          </a:p>
          <a:p>
            <a:pPr marL="579438" indent="-350838">
              <a:lnSpc>
                <a:spcPct val="100000"/>
              </a:lnSpc>
              <a:spcBef>
                <a:spcPts val="0"/>
              </a:spcBef>
            </a:pPr>
            <a:r>
              <a:rPr lang="en-US" dirty="0">
                <a:latin typeface="Arial" pitchFamily="34" charset="0"/>
                <a:cs typeface="Arial" pitchFamily="34" charset="0"/>
              </a:rPr>
              <a:t>Student Engagement</a:t>
            </a:r>
          </a:p>
          <a:p>
            <a:pPr marL="579438" indent="-350838">
              <a:lnSpc>
                <a:spcPct val="100000"/>
              </a:lnSpc>
              <a:spcBef>
                <a:spcPts val="0"/>
              </a:spcBef>
            </a:pPr>
            <a:r>
              <a:rPr lang="en-US" dirty="0">
                <a:latin typeface="Arial" pitchFamily="34" charset="0"/>
                <a:cs typeface="Arial" pitchFamily="34" charset="0"/>
              </a:rPr>
              <a:t>End Semester Exam</a:t>
            </a:r>
          </a:p>
          <a:p>
            <a:pPr>
              <a:lnSpc>
                <a:spcPct val="100000"/>
              </a:lnSpc>
              <a:spcBef>
                <a:spcPts val="0"/>
              </a:spcBef>
            </a:pPr>
            <a:endParaRPr lang="en-US" dirty="0">
              <a:latin typeface="Arial" pitchFamily="34" charset="0"/>
              <a:cs typeface="Arial" pitchFamily="34" charset="0"/>
            </a:endParaRPr>
          </a:p>
          <a:p>
            <a:pPr>
              <a:lnSpc>
                <a:spcPct val="100000"/>
              </a:lnSpc>
              <a:spcBef>
                <a:spcPts val="0"/>
              </a:spcBef>
            </a:pPr>
            <a:endParaRPr lang="en-IN" dirty="0">
              <a:latin typeface="Arial" pitchFamily="34" charset="0"/>
              <a:cs typeface="Arial" pitchFamily="34" charset="0"/>
            </a:endParaRPr>
          </a:p>
          <a:p>
            <a:pPr>
              <a:lnSpc>
                <a:spcPct val="100000"/>
              </a:lnSpc>
              <a:spcBef>
                <a:spcPts val="0"/>
              </a:spcBef>
              <a:buNone/>
            </a:pPr>
            <a:endParaRPr lang="en-US" sz="1800" dirty="0">
              <a:latin typeface="Arial" pitchFamily="34" charset="0"/>
              <a:cs typeface="Arial" pitchFamily="34" charset="0"/>
            </a:endParaRPr>
          </a:p>
        </p:txBody>
      </p:sp>
      <p:sp>
        <p:nvSpPr>
          <p:cNvPr id="4" name="Slide Number Placeholder 3"/>
          <p:cNvSpPr>
            <a:spLocks noGrp="1"/>
          </p:cNvSpPr>
          <p:nvPr>
            <p:ph type="sldNum" sz="quarter" idx="12"/>
          </p:nvPr>
        </p:nvSpPr>
        <p:spPr>
          <a:xfrm>
            <a:off x="8887700" y="6356350"/>
            <a:ext cx="2743200" cy="365125"/>
          </a:xfrm>
        </p:spPr>
        <p:txBody>
          <a:bodyPr/>
          <a:lstStyle/>
          <a:p>
            <a:fld id="{BDCDBBEF-AA6C-4BA6-85B2-A17D7F280E38}" type="slidenum">
              <a:rPr lang="en-US" smtClean="0"/>
              <a:pPr/>
              <a:t>20</a:t>
            </a:fld>
            <a:endParaRPr lang="en-US" dirty="0"/>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48845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0361"/>
            <a:ext cx="10515600" cy="1279527"/>
          </a:xfrm>
        </p:spPr>
        <p:txBody>
          <a:bodyPr>
            <a:normAutofit/>
          </a:bodyPr>
          <a:lstStyle/>
          <a:p>
            <a:pPr algn="ctr"/>
            <a:r>
              <a:rPr lang="en-US" dirty="0">
                <a:latin typeface="Arial Black" panose="020B0A04020102020204" pitchFamily="34" charset="0"/>
                <a:cs typeface="Arial" panose="020B0604020202020204" pitchFamily="34" charset="0"/>
              </a:rPr>
              <a:t>References </a:t>
            </a:r>
            <a:r>
              <a:rPr lang="en-US" dirty="0">
                <a:latin typeface="Arial Black" panose="020B0A04020102020204" pitchFamily="34" charset="0"/>
              </a:rPr>
              <a:t>  </a:t>
            </a:r>
          </a:p>
        </p:txBody>
      </p:sp>
      <p:sp>
        <p:nvSpPr>
          <p:cNvPr id="3" name="Content Placeholder 2"/>
          <p:cNvSpPr>
            <a:spLocks noGrp="1"/>
          </p:cNvSpPr>
          <p:nvPr>
            <p:ph idx="1"/>
          </p:nvPr>
        </p:nvSpPr>
        <p:spPr>
          <a:xfrm>
            <a:off x="772884" y="1825625"/>
            <a:ext cx="10722429" cy="4351338"/>
          </a:xfrm>
        </p:spPr>
        <p:txBody>
          <a:bodyPr>
            <a:noAutofit/>
          </a:bodyPr>
          <a:lstStyle/>
          <a:p>
            <a:pPr marL="0">
              <a:lnSpc>
                <a:spcPct val="100000"/>
              </a:lnSpc>
              <a:spcBef>
                <a:spcPts val="0"/>
              </a:spcBef>
            </a:pPr>
            <a:r>
              <a:rPr lang="en-CA" sz="2400" dirty="0">
                <a:latin typeface="Arial" panose="020B0604020202020204" pitchFamily="34" charset="0"/>
                <a:cs typeface="Arial" panose="020B0604020202020204" pitchFamily="34" charset="0"/>
              </a:rPr>
              <a:t>Raman, M. and Sharma, S. (2017). Technical Communication - Principles and Practice, Oxford University Press: New Delhi</a:t>
            </a:r>
          </a:p>
          <a:p>
            <a:pPr marL="0">
              <a:lnSpc>
                <a:spcPct val="100000"/>
              </a:lnSpc>
              <a:spcBef>
                <a:spcPts val="0"/>
              </a:spcBef>
            </a:pPr>
            <a:r>
              <a:rPr lang="en-US" sz="2400" dirty="0">
                <a:latin typeface="Arial" panose="020B0604020202020204" pitchFamily="34" charset="0"/>
                <a:cs typeface="Arial" panose="020B0604020202020204" pitchFamily="34" charset="0"/>
              </a:rPr>
              <a:t>https://nptel.ac.in/courses/109/104/109104030/</a:t>
            </a:r>
          </a:p>
          <a:p>
            <a:pPr marL="0">
              <a:lnSpc>
                <a:spcPct val="100000"/>
              </a:lnSpc>
              <a:spcBef>
                <a:spcPts val="0"/>
              </a:spcBef>
            </a:pPr>
            <a:r>
              <a:rPr lang="en-US" sz="2400" dirty="0">
                <a:latin typeface="Arial" panose="020B0604020202020204" pitchFamily="34" charset="0"/>
                <a:cs typeface="Arial" panose="020B0604020202020204" pitchFamily="34" charset="0"/>
              </a:rPr>
              <a:t>www.managementstudyguide.com/business_communication.htm</a:t>
            </a:r>
          </a:p>
          <a:p>
            <a:pPr marL="0">
              <a:lnSpc>
                <a:spcPct val="100000"/>
              </a:lnSpc>
              <a:spcBef>
                <a:spcPts val="0"/>
              </a:spcBef>
            </a:pPr>
            <a:r>
              <a:rPr lang="en-US" sz="2400" dirty="0">
                <a:latin typeface="Arial" panose="020B0604020202020204" pitchFamily="34" charset="0"/>
                <a:cs typeface="Arial" panose="020B0604020202020204" pitchFamily="34" charset="0"/>
              </a:rPr>
              <a:t>www.skillsyouneed.com/ips/communication-skills.html</a:t>
            </a:r>
          </a:p>
          <a:p>
            <a:pPr marL="0">
              <a:lnSpc>
                <a:spcPct val="100000"/>
              </a:lnSpc>
              <a:spcBef>
                <a:spcPts val="0"/>
              </a:spcBef>
            </a:pPr>
            <a:r>
              <a:rPr lang="en-US" sz="2400" dirty="0">
                <a:latin typeface="Arial" panose="020B0604020202020204" pitchFamily="34" charset="0"/>
                <a:cs typeface="Arial" panose="020B0604020202020204" pitchFamily="34" charset="0"/>
              </a:rPr>
              <a:t>www.pressbooks.bccampus.ca/technicalwriting/chapter/casestudy-costpoorcommunication/</a:t>
            </a:r>
          </a:p>
          <a:p>
            <a:pPr marL="0">
              <a:lnSpc>
                <a:spcPct val="100000"/>
              </a:lnSpc>
              <a:spcBef>
                <a:spcPts val="0"/>
              </a:spcBef>
            </a:pPr>
            <a:r>
              <a:rPr lang="en-US" sz="2400" dirty="0">
                <a:latin typeface="Arial" panose="020B0604020202020204" pitchFamily="34" charset="0"/>
                <a:cs typeface="Arial" panose="020B0604020202020204" pitchFamily="34" charset="0"/>
                <a:hlinkClick r:id="rId2"/>
              </a:rPr>
              <a:t>www.notesdesk.com/.../business-communications/business-communication-</a:t>
            </a:r>
            <a:endParaRPr lang="en-US" sz="2400" dirty="0">
              <a:latin typeface="Arial" panose="020B0604020202020204" pitchFamily="34" charset="0"/>
              <a:cs typeface="Arial" panose="020B0604020202020204" pitchFamily="34" charset="0"/>
            </a:endParaRPr>
          </a:p>
          <a:p>
            <a:pPr marL="0">
              <a:lnSpc>
                <a:spcPct val="100000"/>
              </a:lnSpc>
              <a:spcBef>
                <a:spcPts val="0"/>
              </a:spcBef>
            </a:pPr>
            <a:r>
              <a:rPr lang="en-US" sz="2400" dirty="0">
                <a:latin typeface="Arial" panose="020B0604020202020204" pitchFamily="34" charset="0"/>
                <a:cs typeface="Arial" panose="020B0604020202020204" pitchFamily="34" charset="0"/>
              </a:rPr>
              <a:t>https://www.ndsu.edu/fileadmin/staffsenate/Staff_Development/EFFECTIVE_COMMUNICATION_-_Staff_Senate.pptx</a:t>
            </a:r>
          </a:p>
          <a:p>
            <a:pPr marL="0">
              <a:lnSpc>
                <a:spcPct val="100000"/>
              </a:lnSpc>
              <a:spcBef>
                <a:spcPts val="0"/>
              </a:spcBef>
            </a:pPr>
            <a:endParaRPr lang="en-US" sz="1600" dirty="0">
              <a:latin typeface="Casper" panose="02000506000000020004" pitchFamily="2" charset="0"/>
              <a:cs typeface="Arial" panose="020B0604020202020204" pitchFamily="34" charset="0"/>
            </a:endParaRPr>
          </a:p>
        </p:txBody>
      </p:sp>
      <p:sp>
        <p:nvSpPr>
          <p:cNvPr id="4" name="Slide Number Placeholder 3"/>
          <p:cNvSpPr>
            <a:spLocks noGrp="1"/>
          </p:cNvSpPr>
          <p:nvPr>
            <p:ph type="sldNum" sz="quarter" idx="12"/>
          </p:nvPr>
        </p:nvSpPr>
        <p:spPr>
          <a:xfrm>
            <a:off x="8887700" y="6356350"/>
            <a:ext cx="2743200" cy="365125"/>
          </a:xfrm>
        </p:spPr>
        <p:txBody>
          <a:bodyPr/>
          <a:lstStyle/>
          <a:p>
            <a:fld id="{BDCDBBEF-AA6C-4BA6-85B2-A17D7F280E38}" type="slidenum">
              <a:rPr lang="en-US" smtClean="0"/>
              <a:pPr/>
              <a:t>21</a:t>
            </a:fld>
            <a:endParaRPr lang="en-US" dirty="0"/>
          </a:p>
        </p:txBody>
      </p:sp>
      <p:sp>
        <p:nvSpPr>
          <p:cNvPr id="5" name="Rectangle 4"/>
          <p:cNvSpPr/>
          <p:nvPr/>
        </p:nvSpPr>
        <p:spPr>
          <a:xfrm>
            <a:off x="838200" y="1803400"/>
            <a:ext cx="10515600" cy="43688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p:cNvSpPr/>
          <p:nvPr/>
        </p:nvSpPr>
        <p:spPr>
          <a:xfrm>
            <a:off x="838200" y="360361"/>
            <a:ext cx="10515600" cy="1263651"/>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11217276"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367579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18" name="Straight Connector 17">
            <a:extLst>
              <a:ext uri="{FF2B5EF4-FFF2-40B4-BE49-F238E27FC236}">
                <a16:creationId xmlns:a16="http://schemas.microsoft.com/office/drawing/2014/main" id="{8C6F3F28-25A8-4E20-83C7-12F88E7C28D0}"/>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E1879BF-80CB-413D-9BC1-C05963A116D7}"/>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D354CBC-26FA-4C5C-B91C-AD6F2AE53BC2}"/>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6F6E02B-7F30-40ED-9667-2C98864546BE}"/>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Title 1"/>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Casper" panose="02000506000000020004" pitchFamily="2" charset="0"/>
                <a:ea typeface="Segoe UI" panose="020B0502040204020203" pitchFamily="34" charset="0"/>
                <a:cs typeface="Segoe UI" panose="020B0502040204020203" pitchFamily="34" charset="0"/>
              </a:rPr>
              <a:t>THANK YOU</a:t>
            </a:r>
          </a:p>
        </p:txBody>
      </p:sp>
      <p:sp>
        <p:nvSpPr>
          <p:cNvPr id="22" name="Diamond 6">
            <a:extLst>
              <a:ext uri="{FF2B5EF4-FFF2-40B4-BE49-F238E27FC236}">
                <a16:creationId xmlns:a16="http://schemas.microsoft.com/office/drawing/2014/main" id="{AFBA4B1A-59E0-42F9-8062-FE9B4E00A99F}"/>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grpSp>
        <p:nvGrpSpPr>
          <p:cNvPr id="29" name="Group 28"/>
          <p:cNvGrpSpPr/>
          <p:nvPr/>
        </p:nvGrpSpPr>
        <p:grpSpPr>
          <a:xfrm>
            <a:off x="237520" y="152400"/>
            <a:ext cx="410563" cy="1612900"/>
            <a:chOff x="83821" y="0"/>
            <a:chExt cx="219636" cy="903079"/>
          </a:xfrm>
        </p:grpSpPr>
        <p:sp>
          <p:nvSpPr>
            <p:cNvPr id="30" name="Rectangle 29"/>
            <p:cNvSpPr/>
            <p:nvPr/>
          </p:nvSpPr>
          <p:spPr>
            <a:xfrm>
              <a:off x="84026" y="0"/>
              <a:ext cx="219431" cy="2109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84262" y="408599"/>
              <a:ext cx="219194" cy="494480"/>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83821" y="210952"/>
              <a:ext cx="217937" cy="2209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3" name="Object 32">
              <a:extLst>
                <a:ext uri="{FF2B5EF4-FFF2-40B4-BE49-F238E27FC236}">
                  <a16:creationId xmlns:a16="http://schemas.microsoft.com/office/drawing/2014/main" id="{CAD0D7B8-E462-453C-B296-CA0154FA54AE}"/>
                </a:ext>
              </a:extLst>
            </p:cNvPr>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name="CorelDRAW" r:id="rId2" imgW="2169000" imgH="2169360" progId="">
                    <p:embed/>
                  </p:oleObj>
                </mc:Choice>
                <mc:Fallback>
                  <p:oleObj name="CorelDRAW" r:id="rId2" imgW="2169000" imgH="2169360" progId="">
                    <p:embed/>
                    <p:pic>
                      <p:nvPicPr>
                        <p:cNvPr id="0" name="Picture 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 name="Rectangle 1"/>
          <p:cNvSpPr/>
          <p:nvPr/>
        </p:nvSpPr>
        <p:spPr>
          <a:xfrm>
            <a:off x="4114005" y="5394447"/>
            <a:ext cx="3169457" cy="646331"/>
          </a:xfrm>
          <a:prstGeom prst="rect">
            <a:avLst/>
          </a:prstGeom>
        </p:spPr>
        <p:txBody>
          <a:bodyPr wrap="none">
            <a:spAutoFit/>
          </a:bodyPr>
          <a:lstStyle/>
          <a:p>
            <a:r>
              <a:rPr lang="en-US" dirty="0">
                <a:latin typeface="Casper" panose="02000506000000020004" pitchFamily="2" charset="0"/>
                <a:ea typeface="Segoe UI" panose="020B0502040204020203" pitchFamily="34" charset="0"/>
                <a:cs typeface="Segoe UI" panose="020B0502040204020203" pitchFamily="34" charset="0"/>
              </a:rPr>
              <a:t>For queries</a:t>
            </a:r>
          </a:p>
          <a:p>
            <a:r>
              <a:rPr lang="en-US" dirty="0">
                <a:latin typeface="Casper" panose="02000506000000020004" pitchFamily="2" charset="0"/>
                <a:cs typeface="Segoe UI" panose="020B0502040204020203" pitchFamily="34" charset="0"/>
              </a:rPr>
              <a:t>Email: communicationskills.uilah@gmail.com</a:t>
            </a:r>
            <a:endParaRPr lang="en-US" dirty="0"/>
          </a:p>
        </p:txBody>
      </p:sp>
    </p:spTree>
    <p:extLst>
      <p:ext uri="{BB962C8B-B14F-4D97-AF65-F5344CB8AC3E}">
        <p14:creationId xmlns:p14="http://schemas.microsoft.com/office/powerpoint/2010/main" val="2512426757"/>
      </p:ext>
    </p:extLst>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7286</TotalTime>
  <Words>1556</Words>
  <Application>Microsoft Office PowerPoint</Application>
  <PresentationFormat>Widescreen</PresentationFormat>
  <Paragraphs>171</Paragraphs>
  <Slides>22</Slides>
  <Notes>0</Notes>
  <HiddenSlides>0</HiddenSlides>
  <MMClips>0</MMClips>
  <ScaleCrop>false</ScaleCrop>
  <HeadingPairs>
    <vt:vector size="8" baseType="variant">
      <vt:variant>
        <vt:lpstr>Fonts Used</vt:lpstr>
      </vt:variant>
      <vt:variant>
        <vt:i4>11</vt:i4>
      </vt:variant>
      <vt:variant>
        <vt:lpstr>Theme</vt:lpstr>
      </vt:variant>
      <vt:variant>
        <vt:i4>2</vt:i4>
      </vt:variant>
      <vt:variant>
        <vt:lpstr>Embedded OLE Servers</vt:lpstr>
      </vt:variant>
      <vt:variant>
        <vt:i4>1</vt:i4>
      </vt:variant>
      <vt:variant>
        <vt:lpstr>Slide Titles</vt:lpstr>
      </vt:variant>
      <vt:variant>
        <vt:i4>22</vt:i4>
      </vt:variant>
    </vt:vector>
  </HeadingPairs>
  <TitlesOfParts>
    <vt:vector size="36" baseType="lpstr">
      <vt:lpstr>Arial</vt:lpstr>
      <vt:lpstr>Arial Black</vt:lpstr>
      <vt:lpstr>Calibri</vt:lpstr>
      <vt:lpstr>Calibri Light</vt:lpstr>
      <vt:lpstr>Casper</vt:lpstr>
      <vt:lpstr>Casper Bold</vt:lpstr>
      <vt:lpstr>Karla</vt:lpstr>
      <vt:lpstr>King</vt:lpstr>
      <vt:lpstr>Raleway ExtraBold</vt:lpstr>
      <vt:lpstr>Times New Roman</vt:lpstr>
      <vt:lpstr>Wingdings</vt:lpstr>
      <vt:lpstr>1_Office Theme</vt:lpstr>
      <vt:lpstr>Contents Slide Master</vt:lpstr>
      <vt:lpstr>CorelDRAW</vt:lpstr>
      <vt:lpstr>PowerPoint Presentation</vt:lpstr>
      <vt:lpstr>COURSE OBJECTIVES </vt:lpstr>
      <vt:lpstr>Course Outcomes </vt:lpstr>
      <vt:lpstr>PowerPoint Presentation</vt:lpstr>
      <vt:lpstr>   What is Communication?</vt:lpstr>
      <vt:lpstr>  Definition</vt:lpstr>
      <vt:lpstr>  Why Effective Communication?</vt:lpstr>
      <vt:lpstr>Language Skills</vt:lpstr>
      <vt:lpstr>Poll Question 1</vt:lpstr>
      <vt:lpstr>Example of Poor Language Skills </vt:lpstr>
      <vt:lpstr> </vt:lpstr>
      <vt:lpstr>Perils of Poor Communication</vt:lpstr>
      <vt:lpstr>PowerPoint Presentation</vt:lpstr>
      <vt:lpstr>The Communication Quiz</vt:lpstr>
      <vt:lpstr>PowerPoint Presentation</vt:lpstr>
      <vt:lpstr>Process of Communication</vt:lpstr>
      <vt:lpstr>Case Study- The co-op student who mixed up genres</vt:lpstr>
      <vt:lpstr>Examine the case and determine the following:</vt:lpstr>
      <vt:lpstr>Applications    </vt:lpstr>
      <vt:lpstr>Assessment Pattern   </vt:lpstr>
      <vt:lpstr>References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Vishal Monga</cp:lastModifiedBy>
  <cp:revision>238</cp:revision>
  <dcterms:created xsi:type="dcterms:W3CDTF">2019-01-09T10:33:58Z</dcterms:created>
  <dcterms:modified xsi:type="dcterms:W3CDTF">2023-07-05T08:30:08Z</dcterms:modified>
</cp:coreProperties>
</file>