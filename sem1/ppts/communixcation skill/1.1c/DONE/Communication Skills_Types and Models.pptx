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40"/>
  </p:notesMasterIdLst>
  <p:handoutMasterIdLst>
    <p:handoutMasterId r:id="rId41"/>
  </p:handoutMasterIdLst>
  <p:sldIdLst>
    <p:sldId id="422" r:id="rId3"/>
    <p:sldId id="285" r:id="rId4"/>
    <p:sldId id="427" r:id="rId5"/>
    <p:sldId id="385" r:id="rId6"/>
    <p:sldId id="387" r:id="rId7"/>
    <p:sldId id="388" r:id="rId8"/>
    <p:sldId id="390" r:id="rId9"/>
    <p:sldId id="391" r:id="rId10"/>
    <p:sldId id="392" r:id="rId11"/>
    <p:sldId id="395" r:id="rId12"/>
    <p:sldId id="396" r:id="rId13"/>
    <p:sldId id="399" r:id="rId14"/>
    <p:sldId id="400" r:id="rId15"/>
    <p:sldId id="402" r:id="rId16"/>
    <p:sldId id="403" r:id="rId17"/>
    <p:sldId id="404" r:id="rId18"/>
    <p:sldId id="405" r:id="rId19"/>
    <p:sldId id="406" r:id="rId20"/>
    <p:sldId id="408" r:id="rId21"/>
    <p:sldId id="409" r:id="rId22"/>
    <p:sldId id="410" r:id="rId23"/>
    <p:sldId id="411" r:id="rId24"/>
    <p:sldId id="412" r:id="rId25"/>
    <p:sldId id="425" r:id="rId26"/>
    <p:sldId id="413" r:id="rId27"/>
    <p:sldId id="414" r:id="rId28"/>
    <p:sldId id="415" r:id="rId29"/>
    <p:sldId id="416" r:id="rId30"/>
    <p:sldId id="417" r:id="rId31"/>
    <p:sldId id="418" r:id="rId32"/>
    <p:sldId id="256" r:id="rId33"/>
    <p:sldId id="257" r:id="rId34"/>
    <p:sldId id="259" r:id="rId35"/>
    <p:sldId id="355" r:id="rId36"/>
    <p:sldId id="372" r:id="rId37"/>
    <p:sldId id="356" r:id="rId38"/>
    <p:sldId id="32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09T09:26:32.5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2323 413 24575,'-52'0'0,"-26"0"0,16 0 0,-3 0 0,1 0 0,4 0 0,-23-5 0,71 3 0,-1-3 0,0 5 0,-9 0 0,7 0 0,-18 0 0,18 0 0,-31 0 0,18 0 0,-21 0 0,14 0 0,10 0 0,3 0 0,9 0 0,0 0 0,1 0 0,-1 0 0,0 0 0,-9 0 0,7 0 0,-8 0 0,11 0 0,-1 0 0,-9 0 0,-3 0 0,-10 0 0,10 0 0,-7 0 0,7 0 0,-10 0 0,0 0 0,10 0 0,3 0 0,9 0 0,0 0 0,1 0 0,-1 0 0,1 0 0,-11 0 0,8 0 0,-7 0 0,-1 0 0,8 0 0,-7 0 0,9 0 0,0 0 0,1 0 0,-1 0 0,-9 0 0,-3 0 0,-10 0 0,-14 0 0,11 0 0,-11 0 0,14 0 0,0 0 0,10 0 0,3 0 0,21 0 0,24-6 0,-5 5 0,17-5 0,-23 6 0,1 0 0,23-10 0,-8 8 0,35-18 0,30 17-984,2-18 547,-7 11 0,3 0 437,-31-4 0,-1 0 0,31 5 0,0-1-492,-33-2 0,-2 0 445,11 4 0,-2 1-132,25-8 179,-5 3 0,-41 7 0,3 3 983,-31-3-233,7 5 233,-9 0-794,-48 0 21,14 0-210,-54 0 0,22 0 0,1 0 0,-3 0-817,-21 0 817,4 0 0,-4 0-492,17 0 0,1 0 337,-10-1 0,0 2 155,11 4 0,3 0-100,1-5 1,3 2 99,-21 18 0,0-18 0,33 8 754,-9 0-754,29-8 983,-19 8-632,25-10-129,-1 0-222,-10 0 0,-1 0 0,-11 0 0,0 0 0,-14 0 0,11 0 0,-11 0 0,14 0 0,10 0 0,-7 0 0,17 0 0,-8 0 0,16 5 0,2 2 0,5 6 0,0-1 0,0 1 0,-16 2 0,7-8 0,-14 1 0,11-8 0,-1 0 0,1 0 0,-11 0 0,-2 0 0,-10 0 0,1 0 0,9 0 0,2 0 0,11 0 0,-1 0 0,0 0 0,6 5 0,28-3 0,1 3 0,24-5 0,3 0 0,3 0 0,32 0 0,-13 0-317,-21 0 1,2 0 316,37 0 0,0 0 0,-37 0 0,-1 0 0,20 0 0,-8 0 0,-1 0 0,0 0 0,-1 0 0,0 0 0,-4 0 0,27 0 0,-18 0 0,0 0 0,0 0 0,0 0 0,0 0 633,-13 0-633,9 0 0,-24 0 0,25 0 0,-25 0 0,25 0 0,-11 0 0,0 0 0,11 0 0,-11 0 0,0 0 0,-4 0 0,-13 0 0,-10 0 0,7 0 0,-17 0 0,7 0 0,-9 0 0,-1 0 0,1 0 0,9 0 0,9 0 0,-5 0 0,12 0 0,-23 0 0,7 0 0,0 0 0,-7 0 0,8 0 0,-1-8 0,-7 6 0,17-5 0,-7 7 0,10 0 0,-1-8 0,1 6 0,0-13 0,-1 13 0,1-6 0,0 8 0,-1 0 0,-9-6 0,7 5 0,-17-5 0,8 6 0,-1 0 0,-7 0 0,32-7 0,-18 5 0,21-6 0,-15 0 0,0 6 0,-11-5 0,-1 1 0,-1 5 0,-7-5 0,17-2 0,-7 6 0,24-15 0,3 4 0,14 1 0,0-8 0,-14 18 0,11-18 0,-11 18 0,14-18 0,0 18 0,0-8 0,0 10 0,-14 0 0,29 0 0,-24 0 0,27 0 0,12 0 0,-37 0 0,33 0 0,-54 0 0,1 0 0,-7 0 0,-17 0 0,18 0 0,5 0 0,0 0 0,25 0 0,-25 0 0,11 0 0,-14 0 0,-11 0 0,9 0 0,-18 0 0,7 0 0,-10 0 0,1 0 0,-1-6 0,1 5 0,25-13 0,-10 5 0,22-1 0,-1-8 0,-11 16 0,11-16 0,-15 16 0,-9-5 0,7 7 0,-7-8 0,0 6 0,7-6 0,-7 8 0,0 0 0,7 0 0,-17 0 0,7 0 0,-9 0 0,-1 0 0,1 0 0,-1 0 0,1 0 0,5 0 0,-4 0 0,4 0 0,-6 0 0,1 0 0,-1 0 0,1 0 0,-1 0 0,1 0 0,-1 0 0,1 0 0,-1 0 0,1 0 0,9 8 0,-7-6 0,8 11 0,-11-11 0,1 3 0,-1-5 0,1 6 0,-1-5 0,1 5 0,-1-6 0,1 0 0,-7 5 0,0 2 0,0 0 0,-5 4 0,10-9 0,-10 9 0,5-4 0,-6 5 0,0 1 0,0-1 0,0 1 0,0-1 0,0 1 0,0-1 0,-6-5 0,-1-1 0,-5-6 0,-1 5 0,1-3 0,-25 13 0,9-13 0,-21 8 0,14-2 0,0-6 0,10 5 0,3-7 0,9 0 0,1 0 0,-1 0 0,0 0 0,1 0 0,-11 0 0,8 0 0,-7 0 0,-1 0 0,8 0 0,-7 0 0,9 0 0,0 0 0,1 0 0,-11 8 0,8-6 0,-17 6 0,17-8 0,-8 0 0,1 0 0,7 0 0,-8 0 0,11 0 0,-1 0 0,0 0 0,1 0 0,-1 0 0,0 0 0,1 0 0,-1 0 0,1 0 0,-1 0 0,0 0 0,1 0 0,-1 0 0,0 0 0,1 0 0,-1 0 0,-9 0 0,7 0 0,-8 0 0,1 0 0,-3 0 0,-10 0 0,0 0 0,-14 0 0,11 0 0,-25 0 0,11 0 0,-14 0 0,0 0 0,13 0 0,-9 0 0,23 0 0,0 0 0,7 0 0,17 0 0,-17 0 0,17 0 0,-18 0 0,18 0 0,-7 0 0,9 0 0,0 0 0,-9 0 0,7 0 0,-17 0 0,7 0 0,0 0 0,-23 0 0,19 0 0,-21 0 0,15 7 0,0-5 0,-14 6 0,11-8 0,-11 8 0,1-6 0,9 5 0,-9-7 0,13 0 0,0 0 0,0 0 0,0 0 0,1 0 0,9 0 0,-8 0 0,8 0 0,1 0 0,-9 0 0,18 0 0,-17 0 0,17 0 0,-13 0 0,14 0 0,-15 0 0,14 0 0,-17 0 0,17 0 0,-17 0 0,17 0 0,-8 0 0,1 0 0,7 0 0,-18 0 0,18 0 0,-17 0 0,17 0 0,-18 0 0,-7 0 0,1 0 0,-11 0 0,15 0 0,0 0 0,11 0 0,-9 0 0,8 0 0,0 0 0,3-5 0,-1 3 0,-2-3 0,0 5 0,-7 0 0,17 0 0,-17 0 0,17 0 0,-8 0 0,11 0 0,-1 0 0,0 0 0,1 0 0,-1 0 0,0 0 0,-9 0 0,7 0 0,-8 0 0,1 0 0,7 0 0,-8 0 0,11 0 0,-1 0 0,0 0 0,1 0 0,-1 0 0,1 0 0,-1 0 0,-10 0 0,8 0 0,-7 0 0,9 0 0,1 0 0,-11 0 0,8 0 0,-7 0 0,9 0 0,0 0 0,1 0 0,-1 0 0,0 0 0,-9 0 0,7 0 0,-8 0 0,11 0 0,-1 0 0,-9 0 0,7 0 0,-8 0 0,10 0 0,1 0 0,-1 0 0,1 0 0,-1 0 0,0 0 0,54 0 0,-20 0 0,46 0 0,-42 0 0,7 0 0,-7 0 0,10 0 0,-1 0 0,1 0 0,0 0 0,-1 0 0,1 0 0,0 0 0,-1 0 0,1 0 0,-10 0 0,7 0 0,-17 0 0,17 0 0,-17 0 0,7 0 0,-9 0 0,-1 0 0,1 0 0,-1 0 0,1 0 0,9 0 0,17-10 0,-1 7 0,11-7 0,-24 5 0,7 3 0,-17-3 0,17 5 0,-11-6 0,12 5 0,-12-5 0,11 6 0,-17 0 0,17 0 0,-17 0 0,17 0 0,-17-5 0,7 3 0,-9-3 0,-1 5 0,11 0 0,-8 0 0,7 0 0,-9-6 0,-1 5 0,1-5 0,9 6 0,-7 0 0,7 0 0,1 0 0,-3 0 0,14 0 0,-14 0 0,3 0 0,-11 0 0,1 0 0,-1 0 0,-42 0 0,11 0 0,-27 0 0,14 0 0,17 0 0,-17 0 0,17 0 0,-18 0 0,18 0 0,-7 0 0,9 0 0,-9 0 0,6 0 0,-6 0 0,9 0 0,1 0 0,-11 0 0,8 0 0,-7 0 0,9 0 0,-9 0 0,7 0 0,-18 0 0,18 0 0,-17 0 0,17 0 0,-18 0 0,18 0 0,-17 0 0,17 0 0,-8 0 0,11 0 0,-1 0 0,0 0 0,1 0 0,-1 0 0,1 0 0,-1 0 0,0 0 0,1 0 0,-1 0 0,0 0 0,1 0 0,-1 0 0,1 0 0,-1 0 0,0 0 0,1 0 0,-1 0 0,0 0 0,1 0 0,-1 0 0,1 0 0,-1 0 0,0 0 0,1 0 0,-1 0 0,0 0 0,1 0 0,-1 0 0,1 5 0,-1-3 0,6-2 0,23-13 0,-4-1 0,27 1 0,-15 8 0,1-1 0,7 5 0,-7-5 0,0 6 0,-3 0 0,1-7 0,-8 5 0,7-6 0,-9 2 0,-1 5 0,1-5 0,-1 1 0,1 3 0,-1-3 0,-5-1 0,4 5 0,-9-11 0,9 11 0,-10-10 0,10 9 0,-9-9 0,9 10 0,-4-5 0,5 6 0,1 0 0,-1 0 0,1 0 0,-1 0 0,-5 6 0,4-5 0,-9 10 0,3-4 0,-16 6 0,2-6 0,-9-2 0,6-5 0,-1 0 0,0 0 0,-9 0 0,7 0 0,-8 0 0,1 0 0,7 0 0,-18 0 0,18 0 0,-7 0 0,9 0 0,1 0 0,-1 0 0,0 0 0,1 0 0,-1 0 0,0 0 0,1 0 0,-1 0 0,1 0 0,-1 0 0,0 0 0,1 0 0,5 6 0,-5-5 0,5 10 0,0-4 0,-4 0 0,10 4 0,-5-4 0,6 6 0,0-1 0,0-5 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=https%3A%2F%2Fwww.visioneclick.com%2Fblog%2Felements-of-interpersonal-communication&amp;psig=AOvVaw0K0yHt3ExXqsrf51Y7zkff&amp;ust=1591776643355000&amp;source=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=0CAIQjRxqFwoTCIDK6Z6k9OkCFQAAAAAdAAAAABAJ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11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=https%3A%2F%2Ffavpng.com%2Fpng_view%2Fthinking-intrapersonal-communication-thought-mind-conversation-png%2FFLNrSQg0&amp;psig=AOvVaw2aGCcbND6IGeIrZ0BqBN0_&amp;ust=1591776528419000&amp;source=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=0CAIQjRxqFwoTCLDN2-mj9OkCFQAAAAAdAAAAABAa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44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=https%3A%2F%2Fblogs.chapman.edu%2Fcommunication%2F2018%2F10%2F23%2Forganizational-communication%2F&amp;psig=AOvVaw1IslF175r45LYh17uxI1TG&amp;ust=1591776999181000&amp;source=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=0CAIQjRxqFwoTCOiD_Mel9OkCFQAAAAAdAAAAABAD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30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=https%3A%2F%2Fwww.olympiadgenius.com%2Fstudy-material%2F%3F_id%3D961&amp;psig=AOvVaw0tS0xYGAwmDlBIb5uTQchs&amp;ust=1591777291463000&amp;source=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=0CAIQjRxqFwoTCICK7tWm9OkCFQAAAAAdAAAAABAJ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18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=https%3A%2F%2Fwww.kindpng.com%2Fimgv%2FhJbJmJx_oral-written-communication-hd-png-download%2F&amp;psig=AOvVaw2I4dEYL3m7xbV2gKzEolRX&amp;ust=1591777762768000&amp;source=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=0CAIQjRxqFwoTCPj5wr-o9OkCFQAAAAAdAAAAABAD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15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18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4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=https%3A%2F%2Fhollisterinstitute.com%2Fimproving-non-verbal-communication%2F&amp;psig=AOvVaw0YNgnyOhXBdUHwpFijVWIm&amp;ust=1591778258424000&amp;source=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=0CAIQjRxqFwoTCKD2-aGq9OkCFQAAAAAdAAAAABAi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06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1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=https%3A%2F%2Fwww.masterfile.com%2Fsearch%2Fen%2Fformal%2Bcommunication%2Bcartoon&amp;psig=AOvVaw3S63nTGdfDkQMtEnDGUZJr&amp;ust=1591779132751000&amp;source=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=0CAIQjRxqFwoTCNiYn8Ot9OkCFQAAAAAdAAAAABAn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33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=https%3A%2F%2Ffreebcomnotes.blogspot.com%2F2016%2F11%2Fadvantages-disadvantages-of-formal_20.html&amp;psig=AOvVaw1j4mmNq5HvSET-oKLroZ6Y&amp;ust=1591779398671000&amp;source=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=0CAIQjRxqFwoTCIiylM2u9OkCFQAAAAAdAAAAABAD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45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=https%3A%2F%2Fwww.iedunote.com%2Fgrapevine&amp;psig=AOvVaw2Ta07veaGe-LW9969YgDYm&amp;ust=1591779661702000&amp;source=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=0CAIQjRxqFwoTCLje3NWv9OkCFQAAAAAdAAAAABAN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37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=https%3A%2F%2Fwww.slideshare.net%2Fjonrwallace%2Fob-communication-and-networking&amp;psig=AOvVaw0YVXIIgu0nGriI_ipa_0Vx&amp;ust=1591779833605000&amp;source=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=0CAIQjRxqFwoTCPDW0JSw9OkCFQAAAAAdAAAAABAI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44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=https%3A%2F%2Fwww.quora.com%2FWhat-is-one-way-communication&amp;psig=AOvVaw33rv5ePqcj9Tq18ftVUP67&amp;ust=1591780025469000&amp;source=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=0CAIQjRxqFwoTCLiNpu2w9OkCFQAAAAAdAAAAABAb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16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=https%3A%2F%2Fwww.flaticon.com%2Ffree-icon%2Ftwo-way-communication_2332750&amp;psig=AOvVaw2DKgYDhpx6AfzJOvPSuIa9&amp;ust=1591780289637000&amp;source=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=0CAIQjRxqFwoTCPDLkO2x9OkCFQAAAAAdAAAAABAD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09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=https%3A%2F%2Fthebusinesscommunication.com%2Fwhat-is-upward-communication-media-or-ways-of-upward-communication%2F&amp;psig=AOvVaw0fkUJqEtx29eX_zJOIYa5d&amp;ust=1591780556423000&amp;source=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=0CAIQjRxqFwoTCOipkKGz9OkCFQAAAAAdAAAAABAD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86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=https%3A%2F%2Fthebusinesscommunication.com%2Fwhat-is-vertical-communication-types-of-vertical-communication%2F&amp;psig=AOvVaw2DbYaUVdrco1bT5R347QgN&amp;ust=1591780962707000&amp;source=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=0CAIQjRxqFwoTCNCzgLG09OkCFQAAAAAdAAAAABAS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01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=https%3A%2F%2Fwww.marketing91.com%2Fhorizontal-communication%2F&amp;psig=AOvVaw1qwJI6rixemE10ReE_OFvB&amp;ust=1591781543778000&amp;source=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=0CAIQjRxqFwoTCJCfqsK29OkCFQAAAAAdAAAAABAD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72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http://jayaseelansr.blogspot.com/2017/07/david-berlos-model-of-communication.html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8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=https%3A%2F%2Fwww.communicationtheory.org%2Fshannon-and-weaver-model-of-communication%2F&amp;psig=AOvVaw0MoFDeXMmKAMFEGIU5u80t&amp;ust=1591782013589000&amp;source=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vfe&amp;ved</a:t>
            </a:r>
            <a:r>
              <a:rPr lang="en-US" dirty="0"/>
              <a:t>=0CAIQjRxqFwoTCMiSkJ-49OkCFQAAAAAdAAAAABAb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2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459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visioneclick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s.chapman.edu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lympiadgenius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indpng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llisterinstitute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sterfile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bcomnotes.blogspot.com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edunote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quora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aticon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businesscommunication.com/" TargetMode="External"/><Relationship Id="rId5" Type="http://schemas.openxmlformats.org/officeDocument/2006/relationships/image" Target="../media/image33.png"/><Relationship Id="rId4" Type="http://schemas.openxmlformats.org/officeDocument/2006/relationships/customXml" Target="../ink/ink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businesscommunication.com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rketing91.com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municationtheory.org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otesdesk.com/.../business-communications/business-communication-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27931" y="5844357"/>
            <a:ext cx="5160057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Communication Skills- Types, and Models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5458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631926"/>
            <a:ext cx="5806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5988" y="624840"/>
            <a:ext cx="5149532" cy="108204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Course Outcomes </a:t>
            </a:r>
            <a:endParaRPr lang="en-IN" sz="3600" dirty="0"/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B0DD84C9-D378-035C-B3DB-BA112343A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4775" y="1089803"/>
            <a:ext cx="4593730" cy="510928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BBF804-B848-E72C-DCCB-1E69CFFB9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141688"/>
              </p:ext>
            </p:extLst>
          </p:nvPr>
        </p:nvGraphicFramePr>
        <p:xfrm>
          <a:off x="155505" y="2134907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9635523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636530275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26355225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29203561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193935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66616838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7774112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1760516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0621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821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Types of Communication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494B22-8A9C-7645-8E18-EAA264035FF5}"/>
              </a:ext>
            </a:extLst>
          </p:cNvPr>
          <p:cNvSpPr/>
          <p:nvPr/>
        </p:nvSpPr>
        <p:spPr>
          <a:xfrm>
            <a:off x="1027958" y="1802091"/>
            <a:ext cx="2249383" cy="1263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On the basis of Relationship Element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D717EF-B953-8E4C-B0CF-14B4B03D1949}"/>
              </a:ext>
            </a:extLst>
          </p:cNvPr>
          <p:cNvSpPr/>
          <p:nvPr/>
        </p:nvSpPr>
        <p:spPr>
          <a:xfrm>
            <a:off x="8724900" y="1802091"/>
            <a:ext cx="2249383" cy="1263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On the basis of Direction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F11049D-FF41-3C47-AC20-BDB8E619D85C}"/>
              </a:ext>
            </a:extLst>
          </p:cNvPr>
          <p:cNvSpPr/>
          <p:nvPr/>
        </p:nvSpPr>
        <p:spPr>
          <a:xfrm>
            <a:off x="6143439" y="1802091"/>
            <a:ext cx="2249383" cy="1263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On the basis of Purpose and Style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971302C-6B20-7446-99C3-02E82AA23316}"/>
              </a:ext>
            </a:extLst>
          </p:cNvPr>
          <p:cNvSpPr/>
          <p:nvPr/>
        </p:nvSpPr>
        <p:spPr>
          <a:xfrm>
            <a:off x="3561979" y="1802091"/>
            <a:ext cx="2249383" cy="1263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On the basis of Channels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0F53C9-2020-9548-A44D-B3E93E814AD2}"/>
              </a:ext>
            </a:extLst>
          </p:cNvPr>
          <p:cNvCxnSpPr/>
          <p:nvPr/>
        </p:nvCxnSpPr>
        <p:spPr>
          <a:xfrm>
            <a:off x="1425039" y="3065742"/>
            <a:ext cx="0" cy="2848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949DD7-7BCA-FF4F-BD86-E1FC24616E70}"/>
              </a:ext>
            </a:extLst>
          </p:cNvPr>
          <p:cNvCxnSpPr>
            <a:cxnSpLocks/>
          </p:cNvCxnSpPr>
          <p:nvPr/>
        </p:nvCxnSpPr>
        <p:spPr>
          <a:xfrm>
            <a:off x="9035143" y="3065742"/>
            <a:ext cx="0" cy="3085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2140587-6846-BD4A-87D0-18637128291C}"/>
              </a:ext>
            </a:extLst>
          </p:cNvPr>
          <p:cNvCxnSpPr/>
          <p:nvPr/>
        </p:nvCxnSpPr>
        <p:spPr>
          <a:xfrm>
            <a:off x="6515595" y="3065742"/>
            <a:ext cx="0" cy="2848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FE3B903-37B8-284A-9885-746374DBF7F0}"/>
              </a:ext>
            </a:extLst>
          </p:cNvPr>
          <p:cNvCxnSpPr/>
          <p:nvPr/>
        </p:nvCxnSpPr>
        <p:spPr>
          <a:xfrm>
            <a:off x="3972296" y="3065742"/>
            <a:ext cx="0" cy="2848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E489237-EE5D-0F43-8E50-07F320384092}"/>
              </a:ext>
            </a:extLst>
          </p:cNvPr>
          <p:cNvSpPr/>
          <p:nvPr/>
        </p:nvSpPr>
        <p:spPr>
          <a:xfrm>
            <a:off x="1468738" y="3429000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Interpersonal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84CF2F4-90E4-404F-AD2E-771D68E843DC}"/>
              </a:ext>
            </a:extLst>
          </p:cNvPr>
          <p:cNvSpPr/>
          <p:nvPr/>
        </p:nvSpPr>
        <p:spPr>
          <a:xfrm>
            <a:off x="1468737" y="4032233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Intrapersonal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4377817-3988-4C42-ABF7-C8A3A94A8B40}"/>
              </a:ext>
            </a:extLst>
          </p:cNvPr>
          <p:cNvSpPr/>
          <p:nvPr/>
        </p:nvSpPr>
        <p:spPr>
          <a:xfrm>
            <a:off x="1468737" y="4638435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Organizational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7E040D3-E56A-CA49-9E0F-272DDE6AF599}"/>
              </a:ext>
            </a:extLst>
          </p:cNvPr>
          <p:cNvSpPr/>
          <p:nvPr/>
        </p:nvSpPr>
        <p:spPr>
          <a:xfrm>
            <a:off x="1485839" y="5244637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Mass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A8BDEE3-E51B-D649-9B31-808865DEBF5C}"/>
              </a:ext>
            </a:extLst>
          </p:cNvPr>
          <p:cNvSpPr/>
          <p:nvPr/>
        </p:nvSpPr>
        <p:spPr>
          <a:xfrm>
            <a:off x="4012036" y="3428999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Verbal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7546FD4-A97E-E841-91F1-65BCCDF068CC}"/>
              </a:ext>
            </a:extLst>
          </p:cNvPr>
          <p:cNvSpPr/>
          <p:nvPr/>
        </p:nvSpPr>
        <p:spPr>
          <a:xfrm>
            <a:off x="4006192" y="4009375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Non - verbal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7E13796-51EF-4D4F-8A7B-94F6D2D80F86}"/>
              </a:ext>
            </a:extLst>
          </p:cNvPr>
          <p:cNvSpPr/>
          <p:nvPr/>
        </p:nvSpPr>
        <p:spPr>
          <a:xfrm>
            <a:off x="6574136" y="3967824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Informal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5249465-5F0B-7D47-A851-8BBF20479AB0}"/>
              </a:ext>
            </a:extLst>
          </p:cNvPr>
          <p:cNvSpPr/>
          <p:nvPr/>
        </p:nvSpPr>
        <p:spPr>
          <a:xfrm>
            <a:off x="9093683" y="5584299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Lateral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8629BA9-C8EF-5C42-B343-47AE9675B886}"/>
              </a:ext>
            </a:extLst>
          </p:cNvPr>
          <p:cNvSpPr/>
          <p:nvPr/>
        </p:nvSpPr>
        <p:spPr>
          <a:xfrm>
            <a:off x="9093683" y="5045474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Downward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855FBE6-BBBD-F94F-8418-8524460094CC}"/>
              </a:ext>
            </a:extLst>
          </p:cNvPr>
          <p:cNvSpPr/>
          <p:nvPr/>
        </p:nvSpPr>
        <p:spPr>
          <a:xfrm>
            <a:off x="9093683" y="4506649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Upward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0C89E4D-BA13-A14A-A778-F92BCEFBEEA1}"/>
              </a:ext>
            </a:extLst>
          </p:cNvPr>
          <p:cNvSpPr/>
          <p:nvPr/>
        </p:nvSpPr>
        <p:spPr>
          <a:xfrm>
            <a:off x="9093684" y="3428999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One-Way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81993E1-0074-3A4F-9498-707E1FE6D18A}"/>
              </a:ext>
            </a:extLst>
          </p:cNvPr>
          <p:cNvSpPr/>
          <p:nvPr/>
        </p:nvSpPr>
        <p:spPr>
          <a:xfrm>
            <a:off x="9095526" y="3967824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Two-Way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A56706D-4C7D-8140-8402-968BBFAE3A5B}"/>
              </a:ext>
            </a:extLst>
          </p:cNvPr>
          <p:cNvSpPr/>
          <p:nvPr/>
        </p:nvSpPr>
        <p:spPr>
          <a:xfrm>
            <a:off x="6574136" y="3428998"/>
            <a:ext cx="2049543" cy="4799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Formal</a:t>
            </a:r>
          </a:p>
        </p:txBody>
      </p:sp>
    </p:spTree>
    <p:extLst>
      <p:ext uri="{BB962C8B-B14F-4D97-AF65-F5344CB8AC3E}">
        <p14:creationId xmlns:p14="http://schemas.microsoft.com/office/powerpoint/2010/main" val="131771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46"/>
    </mc:Choice>
    <mc:Fallback xmlns="">
      <p:transition spd="slow" advTm="4094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Interpersonal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04512" cy="4351338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Process of exchange of information, ideas, feelings and meaning between two or more people through verbal and/or non-verbal methods.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Often includes face-to-face exchange of messages.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For Example: Client meetings, employee performance reviews and project discussions. </a:t>
            </a:r>
            <a:endParaRPr lang="en-US" sz="28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0F5CEB-D108-8E4C-A204-6EDA5D157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842" y="1978786"/>
            <a:ext cx="3432958" cy="3854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108B60-0770-014B-8FFD-A34126FF5B86}"/>
              </a:ext>
            </a:extLst>
          </p:cNvPr>
          <p:cNvSpPr txBox="1"/>
          <p:nvPr/>
        </p:nvSpPr>
        <p:spPr>
          <a:xfrm>
            <a:off x="7920842" y="5833220"/>
            <a:ext cx="2600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https://www.visioneclick.com/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3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803"/>
    </mc:Choice>
    <mc:Fallback xmlns="">
      <p:transition spd="slow" advTm="748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Intrapersonal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13270" cy="4351338"/>
          </a:xfrm>
        </p:spPr>
        <p:txBody>
          <a:bodyPr>
            <a:normAutofit/>
          </a:bodyPr>
          <a:lstStyle/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Communication with one’s self.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includes internal monologue, imagination and visualization, internal conflict resolution,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individual reflection, contemplation, meditation, etc.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CFA36-FD8B-B347-AA1F-3B7C40E96E65}"/>
              </a:ext>
            </a:extLst>
          </p:cNvPr>
          <p:cNvSpPr txBox="1"/>
          <p:nvPr/>
        </p:nvSpPr>
        <p:spPr>
          <a:xfrm>
            <a:off x="8816786" y="6264124"/>
            <a:ext cx="2822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https://favpng.com/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7634" name="Picture 2" descr="C:\Users\Leader\Downloads\FAVPNG_intrapersonal-communication-thought-mind-conversation_FLNrSQg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76383" y="1941343"/>
            <a:ext cx="3176620" cy="4051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67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468"/>
    </mc:Choice>
    <mc:Fallback xmlns="">
      <p:transition spd="slow" advTm="9546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Organizational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1327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A process by which activities of the organization are coordinated to reach the goals of both individuals and the organization. </a:t>
            </a:r>
          </a:p>
          <a:p>
            <a:pPr marL="166688" indent="-166688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Leads to effective management in the workplace.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492583-B768-4549-A8E3-3FD1785C3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914" y="1983692"/>
            <a:ext cx="3153232" cy="3957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A14F1B-BC1C-9E47-A27C-EAF91338071B}"/>
              </a:ext>
            </a:extLst>
          </p:cNvPr>
          <p:cNvSpPr txBox="1"/>
          <p:nvPr/>
        </p:nvSpPr>
        <p:spPr>
          <a:xfrm>
            <a:off x="8459189" y="6305798"/>
            <a:ext cx="2612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https://blogs.chapman.edu/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22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68"/>
    </mc:Choice>
    <mc:Fallback xmlns="">
      <p:transition spd="slow" advTm="7356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Mass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80761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Means of conveying messages to an entire populace.</a:t>
            </a:r>
          </a:p>
          <a:p>
            <a:pPr marL="166688" indent="-166688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 of modern mass media include books, the press, cinema, television, radio, internet etc.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AD8B74-8D40-7541-9B0C-CCAB0789A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094" y="1964718"/>
            <a:ext cx="3432958" cy="4014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646493-1285-BA44-8DE3-366C7C8AE747}"/>
              </a:ext>
            </a:extLst>
          </p:cNvPr>
          <p:cNvSpPr txBox="1"/>
          <p:nvPr/>
        </p:nvSpPr>
        <p:spPr>
          <a:xfrm>
            <a:off x="8061519" y="6342336"/>
            <a:ext cx="2921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https://www.olympiadgenius.com/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72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708"/>
    </mc:Choice>
    <mc:Fallback xmlns="">
      <p:transition spd="slow" advTm="4970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Verbal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0208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Arial" pitchFamily="34" charset="0"/>
                <a:cs typeface="Arial" pitchFamily="34" charset="0"/>
              </a:rPr>
              <a:t>Oral Communication </a:t>
            </a:r>
            <a:r>
              <a:rPr lang="en-US" dirty="0">
                <a:latin typeface="Arial" pitchFamily="34" charset="0"/>
                <a:cs typeface="Arial" pitchFamily="34" charset="0"/>
              </a:rPr>
              <a:t>– A face-to-face interaction between sender and receiver. For Example: Giving a  presentation.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Arial" pitchFamily="34" charset="0"/>
                <a:cs typeface="Arial" pitchFamily="34" charset="0"/>
              </a:rPr>
              <a:t>Written Communication </a:t>
            </a:r>
            <a:r>
              <a:rPr lang="en-US" dirty="0">
                <a:latin typeface="Arial" pitchFamily="34" charset="0"/>
                <a:cs typeface="Arial" pitchFamily="34" charset="0"/>
              </a:rPr>
              <a:t>– The sender uses the written mode to transmit his/her message. For Example: Writing reports and emails.</a:t>
            </a:r>
          </a:p>
          <a:p>
            <a:pPr marL="166688" indent="-166688" algn="just">
              <a:lnSpc>
                <a:spcPct val="10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0EDDE6-4040-B74B-BF40-827AB16A47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924" y="1936582"/>
            <a:ext cx="3397332" cy="3887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446D14-D864-2C47-962A-8072A4464813}"/>
              </a:ext>
            </a:extLst>
          </p:cNvPr>
          <p:cNvSpPr txBox="1"/>
          <p:nvPr/>
        </p:nvSpPr>
        <p:spPr>
          <a:xfrm>
            <a:off x="8026806" y="6312557"/>
            <a:ext cx="2873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https://www.kindpng.com/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02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65"/>
    </mc:Choice>
    <mc:Fallback xmlns="">
      <p:transition spd="slow" advTm="4746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Preview Quiz (Non-verbal Communication)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9185E9-6A3B-1346-8886-1ED844EA9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sz="9600" dirty="0">
                <a:latin typeface="Arial" panose="020B0604020202020204" pitchFamily="34" charset="0"/>
                <a:cs typeface="Arial" panose="020B0604020202020204" pitchFamily="34" charset="0"/>
              </a:rPr>
              <a:t>1. A dishonest person avoids eye contact. </a:t>
            </a:r>
            <a:endParaRPr lang="en-IN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sz="9600" dirty="0">
                <a:latin typeface="Arial" panose="020B0604020202020204" pitchFamily="34" charset="0"/>
                <a:cs typeface="Arial" panose="020B0604020202020204" pitchFamily="34" charset="0"/>
              </a:rPr>
              <a:t>2. Crossing the hands, legs or the ankles is a defensive gesture. </a:t>
            </a:r>
            <a:endParaRPr lang="en-IN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sz="9600" dirty="0">
                <a:latin typeface="Arial" panose="020B0604020202020204" pitchFamily="34" charset="0"/>
                <a:cs typeface="Arial" panose="020B0604020202020204" pitchFamily="34" charset="0"/>
              </a:rPr>
              <a:t>3. Resting your head on the hand indicates interest in the subject.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9600" dirty="0">
                <a:latin typeface="Arial" panose="020B0604020202020204" pitchFamily="34" charset="0"/>
                <a:cs typeface="Arial" panose="020B0604020202020204" pitchFamily="34" charset="0"/>
              </a:rPr>
              <a:t>4. Non-verbal communication is less intense and impactful than verbal communication. 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9600" dirty="0">
                <a:latin typeface="Arial" panose="020B0604020202020204" pitchFamily="34" charset="0"/>
                <a:cs typeface="Arial" panose="020B0604020202020204" pitchFamily="34" charset="0"/>
              </a:rPr>
              <a:t>5. Showing your thumbs up indicates a successfully completed job or interview.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0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3"/>
    </mc:Choice>
    <mc:Fallback xmlns="">
      <p:transition spd="slow" advTm="2500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Preview Quiz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9185E9-6A3B-1346-8886-1ED844EA9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1. A dishonest person avoids eye contact. 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2. Crossing the hands, legs or the ankles is a defensive gesture. 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3. Resting your head on the hand indicates interest in the subject.  </a:t>
            </a:r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4. Non-verbal communication is less intense and impactful than verbal communication.  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5. Showing your thumbs up indicates a successfully completed job or interview.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</a:p>
          <a:p>
            <a:pPr marL="514350" indent="-514350">
              <a:lnSpc>
                <a:spcPct val="150000"/>
              </a:lnSpc>
              <a:spcAft>
                <a:spcPts val="1200"/>
              </a:spcAft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49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62"/>
    </mc:Choice>
    <mc:Fallback xmlns="">
      <p:transition spd="slow" advTm="5406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Non-verbal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44137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Message is communicated without using a word.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 The process requires non-verbal cues to be transmitted and received.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Facial expressions, posture, eye contact, walk, person’s voice, sign language, body language volume, pitch, voice modulation etc.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2C06CB-3CC9-D642-9F5C-59CC0A21F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806" y="1948842"/>
            <a:ext cx="4084314" cy="3987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E9AD2F-31FD-B044-8027-59CC7EA5497B}"/>
              </a:ext>
            </a:extLst>
          </p:cNvPr>
          <p:cNvSpPr txBox="1"/>
          <p:nvPr/>
        </p:nvSpPr>
        <p:spPr>
          <a:xfrm>
            <a:off x="7410163" y="6294142"/>
            <a:ext cx="327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https://hollisterinstitute.com/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00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138"/>
    </mc:Choice>
    <mc:Fallback xmlns="">
      <p:transition spd="slow" advTm="8013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Non-verbal Communication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numCol="2">
            <a:no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Kinesics (or body movements)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Deliberate hand gestures and head movements.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Proxemics (or closeness/personal space)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Measure of physical distance.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Posture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Way you sit or stand.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Eye contact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Way of gauging interest or disinterest.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Touch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Physical touch like a hug or a handshake.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Paralanguage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Vocal qualities like loudness or tone of voice.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Facial expressions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Indicators of someone’s attitude. 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Physiology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Changes in body physiology like an increase in sweat or blinking rapidly.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1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434"/>
    </mc:Choice>
    <mc:Fallback xmlns="">
      <p:transition spd="slow" advTm="11143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Formal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08865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Communication through formal channels in  organizational structure along the lines of authority.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Such communications are in writing and may take any form; policy; manual: procedures and rule book; memoranda; official meetings; reports, etc.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45737B-CE05-CB4A-ACE5-07F3DA5E4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661" y="1950650"/>
            <a:ext cx="4017323" cy="3929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838660-C6B1-4247-B331-91A7937D2F3D}"/>
              </a:ext>
            </a:extLst>
          </p:cNvPr>
          <p:cNvSpPr txBox="1"/>
          <p:nvPr/>
        </p:nvSpPr>
        <p:spPr>
          <a:xfrm>
            <a:off x="7938198" y="6316081"/>
            <a:ext cx="3158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https://www.masterfile.com/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1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439"/>
    </mc:Choice>
    <mc:Fallback xmlns="">
      <p:transition spd="slow" advTm="6643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Informal Communication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843954" cy="4351338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Communication through channels other than formal channels.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Does not follow lines of authority.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Communication is usually oral and may be covered even by simple glance, gesture, smile or silence. 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It includes Grapevine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272D42-0B71-1847-B022-EDF27323C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237" y="1968198"/>
            <a:ext cx="4280883" cy="3968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11952D-4C11-FB48-8D62-A3A7F29EDB6C}"/>
              </a:ext>
            </a:extLst>
          </p:cNvPr>
          <p:cNvSpPr txBox="1"/>
          <p:nvPr/>
        </p:nvSpPr>
        <p:spPr>
          <a:xfrm>
            <a:off x="7593422" y="6330096"/>
            <a:ext cx="343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https://freebcomnotes.blogspot.com/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6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96"/>
    </mc:Choice>
    <mc:Fallback xmlns="">
      <p:transition spd="slow" advTm="6229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01555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09897" y="2690948"/>
            <a:ext cx="4754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n-US" b="1" dirty="0">
                <a:latin typeface="Arial" pitchFamily="34" charset="0"/>
                <a:cs typeface="Arial" pitchFamily="34" charset="0"/>
              </a:rPr>
              <a:t> 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44880" y="2011067"/>
            <a:ext cx="5142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84962" y="362735"/>
          <a:ext cx="10403841" cy="5940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8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5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Informal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56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Official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Unofficial Channel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12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Planned &amp; Systematic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Cuts across formal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relationships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12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Goal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and task oriented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Individual Goal and need oriented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56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Impersonal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Personal &amp; Social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56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Stable and rigid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Flexible and instable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56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Slow &amp; 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Fast &amp; 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764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Authentic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– little chance of  distortion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Non- Authentic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 - bigger chance of distortion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9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67"/>
    </mc:Choice>
    <mc:Fallback xmlns="">
      <p:transition spd="slow" advTm="1446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Informal Communication -  Grapevine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980462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Informal communication 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Stretches throughout the organization in all directions.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Irrespective of the authority levels. 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Not easy to trace the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D85C92-A7EE-744C-BC92-2C29B768E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661" y="1987414"/>
            <a:ext cx="4365154" cy="396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4D5831-0F36-5540-8499-0D27C16E691B}"/>
              </a:ext>
            </a:extLst>
          </p:cNvPr>
          <p:cNvSpPr txBox="1"/>
          <p:nvPr/>
        </p:nvSpPr>
        <p:spPr>
          <a:xfrm>
            <a:off x="8184506" y="6272534"/>
            <a:ext cx="3394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https://www.iedunote.com/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6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95"/>
    </mc:Choice>
    <mc:Fallback xmlns="">
      <p:transition spd="slow" advTm="2039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904483-D88A-0541-A54E-4C08EBF98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86889"/>
            <a:ext cx="10719582" cy="56764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3B24C-EA64-124B-AE19-36605A58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F0C629-3255-3A44-B1A1-D2F664377F95}"/>
              </a:ext>
            </a:extLst>
          </p:cNvPr>
          <p:cNvSpPr txBox="1"/>
          <p:nvPr/>
        </p:nvSpPr>
        <p:spPr>
          <a:xfrm>
            <a:off x="7490407" y="6389838"/>
            <a:ext cx="3598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https://www.slideshare.net/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82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917"/>
    </mc:Choice>
    <mc:Fallback xmlns="">
      <p:transition spd="slow" advTm="9391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One-way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1891352"/>
          </a:xfrm>
        </p:spPr>
        <p:txBody>
          <a:bodyPr>
            <a:noAutofit/>
          </a:bodyPr>
          <a:lstStyle/>
          <a:p>
            <a:pPr lvl="0"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Transfer of information in one direction from the sender to the receiver. 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no opportunity for the receiver to give feedback to the sender. For Example: weather report on television, newspaper, billboard messages.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CF730B-1F52-544B-A139-4C9076180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10" y="3716977"/>
            <a:ext cx="5505655" cy="2477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F998B1-E27D-9B41-8C82-43A43D74F621}"/>
              </a:ext>
            </a:extLst>
          </p:cNvPr>
          <p:cNvSpPr txBox="1"/>
          <p:nvPr/>
        </p:nvSpPr>
        <p:spPr>
          <a:xfrm>
            <a:off x="7905007" y="6262254"/>
            <a:ext cx="3206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https://www.quora.com/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48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42"/>
    </mc:Choice>
    <mc:Fallback xmlns="">
      <p:transition spd="slow" advTm="2294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Two-way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6963887" cy="43465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Transmission in which both parties are involved to transmit information.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For Example: Chat rooms and Instant Messaging, Telephone conversations etc.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66F7EA-727D-1341-952E-2045D777E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807" y="2006922"/>
            <a:ext cx="3467594" cy="4017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E340CE-4B61-6F48-A346-AFDC2CD342CC}"/>
              </a:ext>
            </a:extLst>
          </p:cNvPr>
          <p:cNvSpPr txBox="1"/>
          <p:nvPr/>
        </p:nvSpPr>
        <p:spPr>
          <a:xfrm>
            <a:off x="8202375" y="6333901"/>
            <a:ext cx="277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https://www.flaticon.com/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945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33"/>
    </mc:Choice>
    <mc:Fallback xmlns="">
      <p:transition spd="slow" advTm="2913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Upward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6619503" cy="434657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The process of information flowing from the lower levels of a hierarchy to the upper levels.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Function: to send information, suggestions, complaints and grievances of the lower level workers to the managers above.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07AB68-4B97-0441-BE79-2404D8E8F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452" y="2049126"/>
            <a:ext cx="3271666" cy="3906478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094255C-6023-3B46-AB58-A93182075D55}"/>
                  </a:ext>
                </a:extLst>
              </p14:cNvPr>
              <p14:cNvContentPartPr/>
              <p14:nvPr/>
            </p14:nvContentPartPr>
            <p14:xfrm>
              <a:off x="8610600" y="5646430"/>
              <a:ext cx="2218680" cy="149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D094255C-6023-3B46-AB58-A93182075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7600" y="5583430"/>
                <a:ext cx="2344320" cy="2746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5E017EF-01D4-A548-AED1-936B3E10D075}"/>
              </a:ext>
            </a:extLst>
          </p:cNvPr>
          <p:cNvSpPr txBox="1"/>
          <p:nvPr/>
        </p:nvSpPr>
        <p:spPr>
          <a:xfrm>
            <a:off x="8096199" y="6339413"/>
            <a:ext cx="2747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https://thebusinesscommunication.com/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84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34"/>
    </mc:Choice>
    <mc:Fallback xmlns="">
      <p:transition spd="slow" advTm="2743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Downward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6619503" cy="43465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Downward communication involves a message travelling to one or more receivers at the lower level in the hierarchy.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Involves directions or performance feedback.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down ward flow of communication generally corresponds to the formal communication.</a:t>
            </a:r>
            <a:endParaRPr lang="en-US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B20F5-4F08-8A4B-92AA-5595493AC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400" y="2035058"/>
            <a:ext cx="3468583" cy="3851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0BEEDF-6824-B843-9F67-B83F961F92D7}"/>
              </a:ext>
            </a:extLst>
          </p:cNvPr>
          <p:cNvSpPr txBox="1"/>
          <p:nvPr/>
        </p:nvSpPr>
        <p:spPr>
          <a:xfrm>
            <a:off x="8039961" y="6308172"/>
            <a:ext cx="273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https://thebusinesscommunication.com/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67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87"/>
    </mc:Choice>
    <mc:Fallback xmlns="">
      <p:transition spd="slow" advTm="2748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Lateral/Horizontal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4"/>
            <a:ext cx="6003963" cy="43465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Takes place between persons at the same level or working.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main use is to maintain coordination and review activities assigned to various subordinates.</a:t>
            </a:r>
          </a:p>
          <a:p>
            <a:pPr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0795EB-9FC1-2041-9937-F0F89F793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28" y="2013902"/>
            <a:ext cx="4241799" cy="39369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31A858-4225-9643-AAEE-53DC0FBBD303}"/>
              </a:ext>
            </a:extLst>
          </p:cNvPr>
          <p:cNvSpPr txBox="1"/>
          <p:nvPr/>
        </p:nvSpPr>
        <p:spPr>
          <a:xfrm>
            <a:off x="7538849" y="6321632"/>
            <a:ext cx="3548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https://www.marketing91.com/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85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26"/>
    </mc:Choice>
    <mc:Fallback xmlns="">
      <p:transition spd="slow" advTm="3582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86550"/>
            <a:ext cx="10526486" cy="92307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Models of Communication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2848065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47"/>
    </mc:Choice>
    <mc:Fallback xmlns="">
      <p:transition spd="slow" advTm="5464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David Berlo’s SMCR Model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B83E3-5771-8945-85FF-0EA7B5BEE1F2}"/>
              </a:ext>
            </a:extLst>
          </p:cNvPr>
          <p:cNvSpPr txBox="1"/>
          <p:nvPr/>
        </p:nvSpPr>
        <p:spPr>
          <a:xfrm>
            <a:off x="8674385" y="6427343"/>
            <a:ext cx="4164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http://jayaseelansr.blogspot.com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8658" name="Picture 2" descr="C:\Users\Leader\Desktop\smc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1829" y="1712687"/>
            <a:ext cx="10551885" cy="46155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209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160"/>
    </mc:Choice>
    <mc:Fallback xmlns="">
      <p:transition spd="slow" advTm="15416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6087"/>
            <a:ext cx="10526486" cy="92307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Components of SMCR Model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3184"/>
            <a:ext cx="10701270" cy="3818042"/>
          </a:xfrm>
        </p:spPr>
        <p:txBody>
          <a:bodyPr>
            <a:noAutofit/>
          </a:bodyPr>
          <a:lstStyle/>
          <a:p>
            <a:pPr fontAlgn="base"/>
            <a:r>
              <a:rPr lang="en-IN" u="sng" dirty="0">
                <a:latin typeface="Arial" pitchFamily="34" charset="0"/>
                <a:cs typeface="Arial" pitchFamily="34" charset="0"/>
              </a:rPr>
              <a:t>Source</a:t>
            </a:r>
            <a:r>
              <a:rPr lang="en-IN" dirty="0">
                <a:latin typeface="Arial" pitchFamily="34" charset="0"/>
                <a:cs typeface="Arial" pitchFamily="34" charset="0"/>
              </a:rPr>
              <a:t> is the sender of the message or the person who originates the message. </a:t>
            </a:r>
          </a:p>
          <a:p>
            <a:pPr fontAlgn="base"/>
            <a:r>
              <a:rPr lang="en-IN" u="sng" dirty="0">
                <a:latin typeface="Arial" pitchFamily="34" charset="0"/>
                <a:cs typeface="Arial" pitchFamily="34" charset="0"/>
              </a:rPr>
              <a:t>Message</a:t>
            </a:r>
            <a:r>
              <a:rPr lang="en-IN" dirty="0">
                <a:latin typeface="Arial" pitchFamily="34" charset="0"/>
                <a:cs typeface="Arial" pitchFamily="34" charset="0"/>
              </a:rPr>
              <a:t> is the substance that is being sent by the sender to the receiver. </a:t>
            </a:r>
          </a:p>
          <a:p>
            <a:pPr fontAlgn="base"/>
            <a:r>
              <a:rPr lang="en-IN" u="sng" dirty="0">
                <a:latin typeface="Arial" pitchFamily="34" charset="0"/>
                <a:cs typeface="Arial" pitchFamily="34" charset="0"/>
              </a:rPr>
              <a:t>Channel</a:t>
            </a:r>
            <a:r>
              <a:rPr lang="en-IN" dirty="0">
                <a:latin typeface="Arial" pitchFamily="34" charset="0"/>
                <a:cs typeface="Arial" pitchFamily="34" charset="0"/>
              </a:rPr>
              <a:t> is the medium used to send the message. </a:t>
            </a:r>
          </a:p>
          <a:p>
            <a:pPr fontAlgn="base"/>
            <a:r>
              <a:rPr lang="en-IN" u="sng" dirty="0">
                <a:latin typeface="Arial" pitchFamily="34" charset="0"/>
                <a:cs typeface="Arial" pitchFamily="34" charset="0"/>
              </a:rPr>
              <a:t>Receiver</a:t>
            </a:r>
            <a:r>
              <a:rPr lang="en-IN" dirty="0">
                <a:latin typeface="Arial" pitchFamily="34" charset="0"/>
                <a:cs typeface="Arial" pitchFamily="34" charset="0"/>
              </a:rPr>
              <a:t> is the person who gets the message sent in the process.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29737"/>
            <a:ext cx="10526486" cy="45266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35"/>
    </mc:Choice>
    <mc:Fallback xmlns="">
      <p:transition spd="slow" advTm="24335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6087"/>
            <a:ext cx="10526486" cy="92307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Criticism of SMCR Model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3184"/>
            <a:ext cx="10701270" cy="3818042"/>
          </a:xfrm>
        </p:spPr>
        <p:txBody>
          <a:bodyPr>
            <a:noAutofit/>
          </a:bodyPr>
          <a:lstStyle/>
          <a:p>
            <a:pPr lvl="0" fontAlgn="base"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There is no concept of feedback, so the effect is not considered.</a:t>
            </a:r>
          </a:p>
          <a:p>
            <a:pPr lvl="0" fontAlgn="base"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There is no concept of noise or any kind of barriers in communication process.</a:t>
            </a:r>
          </a:p>
          <a:p>
            <a:pPr lvl="0" fontAlgn="base"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It is a linear model of communication, there is no two way communication. </a:t>
            </a:r>
          </a:p>
          <a:p>
            <a:pPr lvl="0" fontAlgn="base"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Both of the people must be similar according to all the factors, which is practically not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29737"/>
            <a:ext cx="10526486" cy="45266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47"/>
    </mc:Choice>
    <mc:Fallback xmlns="">
      <p:transition spd="slow" advTm="54647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73845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2" descr="C:\Users\PCS\Desktop\shannon_weaver_mode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9994" y="1786597"/>
            <a:ext cx="10522634" cy="4453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Oval 7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Shannon-Weaver Model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1BB36-E184-844A-8B11-ACC1AFC92695}"/>
              </a:ext>
            </a:extLst>
          </p:cNvPr>
          <p:cNvSpPr txBox="1"/>
          <p:nvPr/>
        </p:nvSpPr>
        <p:spPr>
          <a:xfrm>
            <a:off x="7902008" y="6380872"/>
            <a:ext cx="3781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https://www.communicationtheory.org/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5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58"/>
    </mc:Choice>
    <mc:Fallback xmlns="">
      <p:transition spd="slow" advTm="46758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6087"/>
            <a:ext cx="10526486" cy="92307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Components of Shannon-Weaver Model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3184"/>
            <a:ext cx="10701270" cy="3818042"/>
          </a:xfrm>
        </p:spPr>
        <p:txBody>
          <a:bodyPr>
            <a:no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</a:pPr>
            <a:r>
              <a:rPr lang="en-IN" sz="2600" u="sng" dirty="0">
                <a:latin typeface="Arial" panose="020B0604020202020204" pitchFamily="34" charset="0"/>
                <a:cs typeface="Arial" panose="020B0604020202020204" pitchFamily="34" charset="0"/>
              </a:rPr>
              <a:t>Sender (Information source) 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– Sender is the person who makes the message, chooses the channel and sends the message.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</a:pPr>
            <a:r>
              <a:rPr lang="en-IN" sz="2600" u="sng" dirty="0">
                <a:latin typeface="Arial" panose="020B0604020202020204" pitchFamily="34" charset="0"/>
                <a:cs typeface="Arial" panose="020B0604020202020204" pitchFamily="34" charset="0"/>
              </a:rPr>
              <a:t>Encoder (Transmitter) 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– Encoder is the sender who uses machine, which converts message into signals or binary data. 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</a:pPr>
            <a:r>
              <a:rPr lang="en-IN" sz="2600" u="sng" dirty="0">
                <a:latin typeface="Arial" panose="020B0604020202020204" pitchFamily="34" charset="0"/>
                <a:cs typeface="Arial" panose="020B0604020202020204" pitchFamily="34" charset="0"/>
              </a:rPr>
              <a:t>Channel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 – Channel is the medium used to send message.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</a:pPr>
            <a:r>
              <a:rPr lang="en-IN" sz="2600" u="sng" dirty="0">
                <a:latin typeface="Arial" panose="020B0604020202020204" pitchFamily="34" charset="0"/>
                <a:cs typeface="Arial" panose="020B0604020202020204" pitchFamily="34" charset="0"/>
              </a:rPr>
              <a:t>Decoder (Receiver)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 – Receiver is the one who decodes the message.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</a:pPr>
            <a:r>
              <a:rPr lang="en-IN" sz="2600" u="sng" dirty="0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 – Noise is the physical disturbances like environment, people, etc. which does not let the message get to the receiver as what is sent.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</a:pP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29737"/>
            <a:ext cx="10526486" cy="45266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7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009"/>
    </mc:Choice>
    <mc:Fallback xmlns="">
      <p:transition spd="slow" advTm="14200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6087"/>
            <a:ext cx="10526486" cy="92307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Criticism of Shannon-Weaver Model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9737"/>
            <a:ext cx="10526486" cy="4161489"/>
          </a:xfrm>
        </p:spPr>
        <p:txBody>
          <a:bodyPr>
            <a:noAutofit/>
          </a:bodyPr>
          <a:lstStyle/>
          <a:p>
            <a:pPr lvl="0" fontAlgn="base">
              <a:spcBef>
                <a:spcPts val="600"/>
              </a:spcBef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can be applied more for interpersonal communication than group communication and mass communication.</a:t>
            </a:r>
          </a:p>
          <a:p>
            <a:pPr lvl="0" fontAlgn="base">
              <a:spcBef>
                <a:spcPts val="600"/>
              </a:spcBef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Receiver plays the passive part in the communication process as sender plays the primary role that sends messages.</a:t>
            </a:r>
          </a:p>
          <a:p>
            <a:pPr lvl="0" fontAlgn="base">
              <a:spcBef>
                <a:spcPts val="600"/>
              </a:spcBef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Feedback is taken as less important in comparison to the messages sent by the sender.</a:t>
            </a:r>
          </a:p>
          <a:p>
            <a:pPr lvl="0" fontAlgn="base">
              <a:spcBef>
                <a:spcPts val="600"/>
              </a:spcBef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model is taken by some critics as a “misleading misrepresentation of the nature of human communication” as human communication is not mathematical in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29737"/>
            <a:ext cx="10526486" cy="45266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7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000"/>
    </mc:Choice>
    <mc:Fallback xmlns="">
      <p:transition spd="slow" advTm="66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B2E9-4949-6C7A-2057-9ECA5AE83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325203"/>
            <a:ext cx="10515599" cy="1065025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rial Black" panose="020B0A04020102020204" pitchFamily="34" charset="0"/>
              </a:rPr>
              <a:t>Helical Communication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EAE79-A853-14C7-BF25-65FC51F72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837766"/>
            <a:ext cx="6872756" cy="3496234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“At any and all times, the helix gives geometrical testimony to the concept that communication while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moving forward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at the same time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coming back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upon itself and being affected by its past behavior, for the coming curve of the helix is fundamentally affected by the curve  from which it emerges. </a:t>
            </a:r>
          </a:p>
          <a:p>
            <a:pPr algn="l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 helical communication model offers a </a:t>
            </a:r>
            <a:r>
              <a:rPr lang="en-US"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flexible communication process.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”</a:t>
            </a:r>
          </a:p>
          <a:p>
            <a:pPr algn="l">
              <a:buNone/>
            </a:pP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– Dance (1967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99190-FC92-24C9-60E9-547BF0BCA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191" y="1869141"/>
            <a:ext cx="3586496" cy="44872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2FA009-BF58-63CF-34AC-F66869F71DB0}"/>
              </a:ext>
            </a:extLst>
          </p:cNvPr>
          <p:cNvSpPr/>
          <p:nvPr/>
        </p:nvSpPr>
        <p:spPr>
          <a:xfrm>
            <a:off x="838200" y="320020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1BA5FE-7DEA-D821-862A-9688D5EC6E3D}"/>
              </a:ext>
            </a:extLst>
          </p:cNvPr>
          <p:cNvSpPr/>
          <p:nvPr/>
        </p:nvSpPr>
        <p:spPr>
          <a:xfrm>
            <a:off x="838200" y="1829737"/>
            <a:ext cx="10526486" cy="45266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65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3F62-B3A4-B2C8-D4D8-6CE1DEEC4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a child is born, the only means of communication is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crying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He/she cries for everything like hunger, pain, cold, etc. As the child grows, the means of communication of the child becomes wider and broader. He learns to make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noises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then he learns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obtain attention and to fulfill his needs.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It illustrates the development of an individual</a:t>
            </a:r>
            <a:r>
              <a:rPr kumimoji="0" lang="en-US" b="0" i="1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throughout life, as their knowledge base deepens and expands through communication; thus the helical model can be seen as </a:t>
            </a:r>
            <a:r>
              <a:rPr kumimoji="0" lang="en-US" b="1" i="1" u="sng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dynamic.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6D079EC-4D25-C407-72D1-1FBD7E7BCB3E}"/>
              </a:ext>
            </a:extLst>
          </p:cNvPr>
          <p:cNvSpPr txBox="1">
            <a:spLocks/>
          </p:cNvSpPr>
          <p:nvPr/>
        </p:nvSpPr>
        <p:spPr>
          <a:xfrm>
            <a:off x="838199" y="432779"/>
            <a:ext cx="10515599" cy="1065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latin typeface="Arial Black" panose="020B0A04020102020204" pitchFamily="34" charset="0"/>
              </a:rPr>
              <a:t>For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B94BF9-B110-A84F-3674-A65DDFF4CEDA}"/>
              </a:ext>
            </a:extLst>
          </p:cNvPr>
          <p:cNvSpPr/>
          <p:nvPr/>
        </p:nvSpPr>
        <p:spPr>
          <a:xfrm>
            <a:off x="838200" y="279679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596E53-E7E6-D18C-8D70-8A3DE763A1A1}"/>
              </a:ext>
            </a:extLst>
          </p:cNvPr>
          <p:cNvSpPr/>
          <p:nvPr/>
        </p:nvSpPr>
        <p:spPr>
          <a:xfrm>
            <a:off x="838200" y="1829737"/>
            <a:ext cx="10526486" cy="45266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38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2623-DF0A-1975-820B-90D0B3865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00481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4675A-DDC2-09CD-F161-D77A56A10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6307" y="2572967"/>
            <a:ext cx="5157787" cy="3684588"/>
          </a:xfrm>
        </p:spPr>
        <p:txBody>
          <a:bodyPr>
            <a:normAutofit fontScale="850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The model takes into account the dimension of time in ways that most other models fail to do.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The model takes into account the ways learning throughout a cycle of communication leads to increasing complexity.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There is acknowledgement that every experience impacts upon our future actions, and that we cannot get a chance at re-doing an argument, discussion or moment that has passed.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B6802-438A-D9BD-7EA8-E8D0D5104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87034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AD83F-E1D4-B00A-8510-B038DEEC34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7352" y="2505075"/>
            <a:ext cx="4968035" cy="3684588"/>
          </a:xfrm>
        </p:spPr>
        <p:txBody>
          <a:bodyPr>
            <a:normAutofit fontScale="85000" lnSpcReduction="20000"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The model is somewhat ambiguous due to its abstract nature.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The model assumes continuity and does not account for moments when there are breaks in communication 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6E048-6908-2C87-4675-29EA2FB8CB58}"/>
              </a:ext>
            </a:extLst>
          </p:cNvPr>
          <p:cNvSpPr/>
          <p:nvPr/>
        </p:nvSpPr>
        <p:spPr>
          <a:xfrm>
            <a:off x="838200" y="1829737"/>
            <a:ext cx="10526486" cy="45266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45D9E0-AE0E-2FC6-DC15-42C6F66C1010}"/>
              </a:ext>
            </a:extLst>
          </p:cNvPr>
          <p:cNvSpPr txBox="1">
            <a:spLocks/>
          </p:cNvSpPr>
          <p:nvPr/>
        </p:nvSpPr>
        <p:spPr>
          <a:xfrm>
            <a:off x="838199" y="432779"/>
            <a:ext cx="10515599" cy="1065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latin typeface="Arial Black" panose="020B0A04020102020204" pitchFamily="34" charset="0"/>
              </a:rPr>
              <a:t>Advantages and Disadvantages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B270FB-78D9-57FE-6309-F834BD871FB1}"/>
              </a:ext>
            </a:extLst>
          </p:cNvPr>
          <p:cNvSpPr/>
          <p:nvPr/>
        </p:nvSpPr>
        <p:spPr>
          <a:xfrm>
            <a:off x="838200" y="279679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61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anose="020B0A04020102020204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Applicable to both personal and professional life:</a:t>
            </a:r>
          </a:p>
          <a:p>
            <a:pPr>
              <a:lnSpc>
                <a:spcPct val="100000"/>
              </a:lnSpc>
            </a:pPr>
            <a:r>
              <a:rPr lang="en-CA" dirty="0">
                <a:latin typeface="Arial" pitchFamily="34" charset="0"/>
                <a:cs typeface="Arial" pitchFamily="34" charset="0"/>
              </a:rPr>
              <a:t>In personal life, good communication skills can improve your personal relationships by helping you to understand others, and to be understood. </a:t>
            </a:r>
          </a:p>
          <a:p>
            <a:pPr>
              <a:lnSpc>
                <a:spcPct val="100000"/>
              </a:lnSpc>
            </a:pPr>
            <a:r>
              <a:rPr lang="en-CA" dirty="0">
                <a:latin typeface="Arial" pitchFamily="34" charset="0"/>
                <a:cs typeface="Arial" pitchFamily="34" charset="0"/>
              </a:rPr>
              <a:t>Professionally, if you are applying for jobs or looking for a promotion, you will almost certainly need to demonstrate good communication skills.</a:t>
            </a:r>
          </a:p>
          <a:p>
            <a:pPr>
              <a:lnSpc>
                <a:spcPct val="100000"/>
              </a:lnSpc>
            </a:pPr>
            <a:r>
              <a:rPr lang="en-CA" dirty="0">
                <a:latin typeface="Arial" pitchFamily="34" charset="0"/>
                <a:cs typeface="Arial" pitchFamily="34" charset="0"/>
              </a:rPr>
              <a:t>Communication skills can also ensure that you are able to manage interactions with businesses and organisations.</a:t>
            </a:r>
            <a:endParaRPr lang="en-US" sz="18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51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pPr marL="579438" indent="-350838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Hourly Test-2</a:t>
            </a:r>
          </a:p>
          <a:p>
            <a:pPr marL="579438" indent="-350838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pPr marL="579438" indent="-350838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pPr marL="579438" indent="-350838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Worksheets</a:t>
            </a:r>
          </a:p>
          <a:p>
            <a:pPr marL="579438" indent="-350838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pPr marL="579438" indent="-350838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pPr marL="579438" indent="-350838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anose="020B0A04020102020204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4" y="1825625"/>
            <a:ext cx="10722429" cy="4351338"/>
          </a:xfrm>
        </p:spPr>
        <p:txBody>
          <a:bodyPr>
            <a:no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Raman, M. and Sharma, S. (2017). Technical Communication - Principles and Practice, Oxford University Press: New Delhi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https://nptel.ac.in/courses/109/104/109104030/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www.managementstudyguide.com/business_communication.htm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www.skillsyouneed.com/ips/communication-skills.html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www.pressbooks.bccampus.ca/technicalwriting/chapter/casestudy-costpoorcommunication/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www.notesdesk.com/.../business-communications/business-communication-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https://www.ndsu.edu/fileadmin/staffsenate/Staff_Development/EFFECTIVE_COMMUNICATION_-_Staff_Senate.pptx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877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57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69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4267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7093</TotalTime>
  <Words>2956</Words>
  <Application>Microsoft Office PowerPoint</Application>
  <PresentationFormat>Widescreen</PresentationFormat>
  <Paragraphs>303</Paragraphs>
  <Slides>37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 </vt:lpstr>
      <vt:lpstr>Types of Communication   </vt:lpstr>
      <vt:lpstr>Interpersonal Communication   </vt:lpstr>
      <vt:lpstr>Intrapersonal Communication   </vt:lpstr>
      <vt:lpstr>Organizational Communication   </vt:lpstr>
      <vt:lpstr>Mass Communication   </vt:lpstr>
      <vt:lpstr>Verbal Communication   </vt:lpstr>
      <vt:lpstr>Preview Quiz (Non-verbal Communication)</vt:lpstr>
      <vt:lpstr>Preview Quiz Answers</vt:lpstr>
      <vt:lpstr>Non-verbal Communication   </vt:lpstr>
      <vt:lpstr>Non-verbal Communication    </vt:lpstr>
      <vt:lpstr>Formal Communication   </vt:lpstr>
      <vt:lpstr>Informal Communication   </vt:lpstr>
      <vt:lpstr>PowerPoint Presentation</vt:lpstr>
      <vt:lpstr>Informal Communication -  Grapevine   </vt:lpstr>
      <vt:lpstr>PowerPoint Presentation</vt:lpstr>
      <vt:lpstr>One-way Communication </vt:lpstr>
      <vt:lpstr>Two-way Communication </vt:lpstr>
      <vt:lpstr>Upward Communication </vt:lpstr>
      <vt:lpstr>Downward Communication </vt:lpstr>
      <vt:lpstr>Lateral/Horizontal Communication </vt:lpstr>
      <vt:lpstr>Models of Communication</vt:lpstr>
      <vt:lpstr>David Berlo’s SMCR Model</vt:lpstr>
      <vt:lpstr>Components of SMCR Model</vt:lpstr>
      <vt:lpstr>Criticism of SMCR Model</vt:lpstr>
      <vt:lpstr>Shannon-Weaver Model</vt:lpstr>
      <vt:lpstr>Components of Shannon-Weaver Model</vt:lpstr>
      <vt:lpstr>Criticism of Shannon-Weaver Model</vt:lpstr>
      <vt:lpstr>Helical Communication Model</vt:lpstr>
      <vt:lpstr>PowerPoint Presentation</vt:lpstr>
      <vt:lpstr>PowerPoint Presentation</vt:lpstr>
      <vt:lpstr>Applications    </vt:lpstr>
      <vt:lpstr>Assessment Pattern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238</cp:revision>
  <dcterms:created xsi:type="dcterms:W3CDTF">2019-01-09T10:33:58Z</dcterms:created>
  <dcterms:modified xsi:type="dcterms:W3CDTF">2023-07-05T08:30:35Z</dcterms:modified>
</cp:coreProperties>
</file>