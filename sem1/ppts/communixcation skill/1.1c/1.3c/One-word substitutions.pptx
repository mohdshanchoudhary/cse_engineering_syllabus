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1"/>
  </p:notesMasterIdLst>
  <p:handoutMasterIdLst>
    <p:handoutMasterId r:id="rId22"/>
  </p:handoutMasterIdLst>
  <p:sldIdLst>
    <p:sldId id="277" r:id="rId3"/>
    <p:sldId id="285" r:id="rId4"/>
    <p:sldId id="325" r:id="rId5"/>
    <p:sldId id="297" r:id="rId6"/>
    <p:sldId id="280" r:id="rId7"/>
    <p:sldId id="326" r:id="rId8"/>
    <p:sldId id="327" r:id="rId9"/>
    <p:sldId id="328" r:id="rId10"/>
    <p:sldId id="289" r:id="rId11"/>
    <p:sldId id="290" r:id="rId12"/>
    <p:sldId id="299" r:id="rId13"/>
    <p:sldId id="292" r:id="rId14"/>
    <p:sldId id="298" r:id="rId15"/>
    <p:sldId id="300" r:id="rId16"/>
    <p:sldId id="305" r:id="rId17"/>
    <p:sldId id="339" r:id="rId18"/>
    <p:sldId id="284" r:id="rId19"/>
    <p:sldId id="27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69A2"/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7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7/5/2023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7/5/2023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file:///C:\Users\LAPTOP%20ADDA\Downloads\onewordsubstitution-170201152425.pdf" TargetMode="External"/><Relationship Id="rId2" Type="http://schemas.openxmlformats.org/officeDocument/2006/relationships/hyperlink" Target="https://www.hitbullseye.com/Vocab/One-Word-Substitution.ph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rajwalarao.files.wordpress.com/2011/08/synonym_antonym_questions_prsolutions2.pdf" TargetMode="External"/><Relationship Id="rId5" Type="http://schemas.openxmlformats.org/officeDocument/2006/relationships/hyperlink" Target="https://7esl.com/synonyms/" TargetMode="External"/><Relationship Id="rId4" Type="http://schemas.openxmlformats.org/officeDocument/2006/relationships/hyperlink" Target="https://books.google.co.in/books?id=GMEwBQAAQBAJ&amp;printsec=frontcover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onjbjjnjnjnjdbj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343296" y="1870168"/>
            <a:ext cx="9464040" cy="24745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itchFamily="34" charset="0"/>
                <a:ea typeface="Karla" pitchFamily="2" charset="0"/>
                <a:cs typeface="Arial" pitchFamily="34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Course Name: Communication Skills</a:t>
            </a:r>
          </a:p>
          <a:p>
            <a:pPr algn="ctr" defTabSz="622300">
              <a:lnSpc>
                <a:spcPct val="90000"/>
              </a:lnSpc>
              <a:spcAft>
                <a:spcPct val="35000"/>
              </a:spcAft>
            </a:pPr>
            <a:r>
              <a:rPr lang="en-US" sz="3200" dirty="0"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Course Code: 23PCH-105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3080" y="6105131"/>
            <a:ext cx="25987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100" b="1" dirty="0">
              <a:solidFill>
                <a:prstClr val="black"/>
              </a:solidFill>
              <a:latin typeface="Casper" panose="02000506000000020004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E2683B-AF78-43D3-BFB1-EDFFEF09C645}"/>
              </a:ext>
            </a:extLst>
          </p:cNvPr>
          <p:cNvSpPr txBox="1"/>
          <p:nvPr/>
        </p:nvSpPr>
        <p:spPr>
          <a:xfrm>
            <a:off x="361129" y="5960429"/>
            <a:ext cx="513952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ONE-WORD SUBSTITUTIONS</a:t>
            </a:r>
            <a:endParaRPr lang="en-IN" sz="26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70183" y="305158"/>
            <a:ext cx="4967986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OUTCOMES</a:t>
            </a:r>
            <a:endParaRPr lang="en-US" sz="4400" dirty="0"/>
          </a:p>
        </p:txBody>
      </p:sp>
      <p:sp>
        <p:nvSpPr>
          <p:cNvPr id="10" name="Rectangle 9"/>
          <p:cNvSpPr/>
          <p:nvPr/>
        </p:nvSpPr>
        <p:spPr>
          <a:xfrm>
            <a:off x="195029" y="1776095"/>
            <a:ext cx="37321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The students are expected to</a:t>
            </a:r>
          </a:p>
        </p:txBody>
      </p:sp>
      <p:pic>
        <p:nvPicPr>
          <p:cNvPr id="87046" name="Picture 6" descr="Effective #communication skill is very much essential whether it's ..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88388" y="1072055"/>
            <a:ext cx="4564342" cy="5192727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757B5C-788A-4293-BCB9-86D2F8B4F5F2}"/>
              </a:ext>
            </a:extLst>
          </p:cNvPr>
          <p:cNvSpPr txBox="1"/>
          <p:nvPr/>
        </p:nvSpPr>
        <p:spPr>
          <a:xfrm>
            <a:off x="7981627" y="6356350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Dreamstime.com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40862F7-F495-29A0-179A-ED244FA8FA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276147"/>
              </p:ext>
            </p:extLst>
          </p:nvPr>
        </p:nvGraphicFramePr>
        <p:xfrm>
          <a:off x="195029" y="2225673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2296355238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636530275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26355225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29203561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1193935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566616838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17774112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31760516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5062193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075AF-F3A2-4B9B-8FC4-43DE493BF7EC}"/>
              </a:ext>
            </a:extLst>
          </p:cNvPr>
          <p:cNvSpPr txBox="1"/>
          <p:nvPr/>
        </p:nvSpPr>
        <p:spPr>
          <a:xfrm>
            <a:off x="9097504" y="6210370"/>
            <a:ext cx="15748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Dreamstime.com</a:t>
            </a:r>
            <a:endParaRPr lang="en-IN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EFB190-BCEC-41B4-9925-7FD26F3887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959" y="1919916"/>
            <a:ext cx="4735947" cy="412931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56592" y="586745"/>
            <a:ext cx="105103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One word substitutions</a:t>
            </a:r>
            <a:endParaRPr lang="en-IN" sz="4400" dirty="0"/>
          </a:p>
        </p:txBody>
      </p:sp>
      <p:sp>
        <p:nvSpPr>
          <p:cNvPr id="11" name="Rectangle 10"/>
          <p:cNvSpPr/>
          <p:nvPr/>
        </p:nvSpPr>
        <p:spPr>
          <a:xfrm>
            <a:off x="935421" y="1974485"/>
            <a:ext cx="483475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One word substitution is a procedure where a single word is supplanted to a tedious expression, to make the sentence structure all the more clear. </a:t>
            </a:r>
          </a:p>
        </p:txBody>
      </p:sp>
    </p:spTree>
  </p:cSld>
  <p:clrMapOvr>
    <a:masterClrMapping/>
  </p:clrMapOvr>
  <p:transition>
    <p:split orient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735810"/>
            <a:ext cx="10515599" cy="431052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The technique for doing one word substitution is to use the root method. 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Look at the root word - CRACY.</a:t>
            </a:r>
          </a:p>
          <a:p>
            <a:pPr marL="457200" indent="-457200">
              <a:buNone/>
            </a:pPr>
            <a:r>
              <a:rPr lang="en-US" b="1" dirty="0">
                <a:latin typeface="Arial" panose="020B0604020202020204" pitchFamily="34" charset="0"/>
                <a:cs typeface="Arial" pitchFamily="34" charset="0"/>
              </a:rPr>
              <a:t>1. CRACY = RULE / GOVERNMENT</a:t>
            </a:r>
          </a:p>
          <a:p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A government by the people - </a:t>
            </a:r>
            <a:r>
              <a:rPr lang="en-US" b="1" dirty="0">
                <a:latin typeface="Arial" panose="020B0604020202020204" pitchFamily="34" charset="0"/>
                <a:cs typeface="Arial" pitchFamily="34" charset="0"/>
              </a:rPr>
              <a:t>Democracy</a:t>
            </a:r>
          </a:p>
          <a:p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A government by the officials - </a:t>
            </a:r>
            <a:r>
              <a:rPr lang="en-US" b="1" dirty="0">
                <a:latin typeface="Arial" panose="020B0604020202020204" pitchFamily="34" charset="0"/>
                <a:cs typeface="Arial" pitchFamily="34" charset="0"/>
              </a:rPr>
              <a:t>Bureaucracy</a:t>
            </a:r>
          </a:p>
          <a:p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A government by the rich – </a:t>
            </a:r>
            <a:r>
              <a:rPr lang="en-US" b="1" dirty="0">
                <a:latin typeface="Arial" panose="020B0604020202020204" pitchFamily="34" charset="0"/>
                <a:cs typeface="Arial" pitchFamily="34" charset="0"/>
              </a:rPr>
              <a:t>Plutocracy </a:t>
            </a:r>
          </a:p>
          <a:p>
            <a:r>
              <a:rPr lang="en-US" dirty="0">
                <a:latin typeface="Arial" panose="020B0604020202020204" pitchFamily="34" charset="0"/>
                <a:cs typeface="Arial" pitchFamily="34" charset="0"/>
              </a:rPr>
              <a:t>A government by the nobles - </a:t>
            </a:r>
            <a:r>
              <a:rPr lang="en-US" b="1" dirty="0">
                <a:latin typeface="Arial" panose="020B0604020202020204" pitchFamily="34" charset="0"/>
                <a:cs typeface="Arial" pitchFamily="34" charset="0"/>
              </a:rPr>
              <a:t>Aristocracy</a:t>
            </a:r>
          </a:p>
          <a:p>
            <a:pPr marL="457200" indent="-457200">
              <a:buAutoNum type="arabicParenR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44598" y="595728"/>
            <a:ext cx="1050657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The technique to be used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38ABF-1CC3-4CEB-B103-7828AF982D9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br>
              <a:rPr lang="en-US" b="1" dirty="0">
                <a:latin typeface="Times New Roman" pitchFamily="18" charset="0"/>
                <a:cs typeface="Times New Roman" pitchFamily="18" charset="0"/>
              </a:rPr>
            </a:br>
            <a:r>
              <a:rPr lang="en-US" b="1" dirty="0">
                <a:latin typeface="Arial Black" panose="020B0A04020102020204" pitchFamily="34" charset="0"/>
                <a:cs typeface="Arial" pitchFamily="34" charset="0"/>
              </a:rPr>
              <a:t> Omni= All</a:t>
            </a:r>
            <a:br>
              <a:rPr lang="en-US" b="1" dirty="0">
                <a:latin typeface="Arial" pitchFamily="34" charset="0"/>
                <a:cs typeface="Arial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E5D92-E2D8-4CFC-A9B9-8E0C03FDA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733081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One who is all powerful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Omnipotent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One who is present everywhere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Omnipresent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One who knows everything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Omniscient</a:t>
            </a: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629EC-7553-407A-A17D-A0BFE6B11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DE9C3-46DA-488F-8256-BFF033560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250" y="1825625"/>
            <a:ext cx="4503549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BA1F5C-9BBE-4B99-B6BC-F033A1B55649}"/>
              </a:ext>
            </a:extLst>
          </p:cNvPr>
          <p:cNvSpPr txBox="1"/>
          <p:nvPr/>
        </p:nvSpPr>
        <p:spPr>
          <a:xfrm>
            <a:off x="7671661" y="6356350"/>
            <a:ext cx="3084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Dreamstime.com</a:t>
            </a:r>
          </a:p>
        </p:txBody>
      </p:sp>
    </p:spTree>
    <p:extLst>
      <p:ext uri="{BB962C8B-B14F-4D97-AF65-F5344CB8AC3E}">
        <p14:creationId xmlns:p14="http://schemas.microsoft.com/office/powerpoint/2010/main" val="2834604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1F640-A18F-4B31-B6B4-96F1F4CCA4E2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br>
              <a:rPr lang="en-US" sz="4400" b="1" dirty="0">
                <a:latin typeface="Arial Black" panose="020B0A04020102020204" pitchFamily="34" charset="0"/>
                <a:cs typeface="Arial" pitchFamily="34" charset="0"/>
              </a:rPr>
            </a:br>
            <a:r>
              <a:rPr lang="en-US" sz="4900" b="1" dirty="0">
                <a:latin typeface="Arial Black" panose="020B0A04020102020204" pitchFamily="34" charset="0"/>
                <a:cs typeface="Arial" pitchFamily="34" charset="0"/>
              </a:rPr>
              <a:t>CIDE= KILLING</a:t>
            </a:r>
            <a:br>
              <a:rPr lang="en-US" sz="4400" b="1" dirty="0">
                <a:latin typeface="Arial Black" panose="020B0A04020102020204" pitchFamily="34" charset="0"/>
                <a:cs typeface="Arial" pitchFamily="34" charset="0"/>
              </a:rPr>
            </a:b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18765-FB4D-4B35-A3BA-CA59BCB128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88689"/>
            <a:ext cx="6019800" cy="435133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Killing of a human being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Homicide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Killing/ Murder of a king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Regicide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Killing of an Infant/ newborn baby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- Infanticide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Killing of a race or community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Genocide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Killing of One's sister -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Sororicide</a:t>
            </a:r>
          </a:p>
          <a:p>
            <a:endParaRPr lang="en-IN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8411FF-A220-4EB9-8A76-F4152C450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2" descr="Using Greek and Latin Root Words to Build Vocabulary - ppt download">
            <a:extLst>
              <a:ext uri="{FF2B5EF4-FFF2-40B4-BE49-F238E27FC236}">
                <a16:creationId xmlns:a16="http://schemas.microsoft.com/office/drawing/2014/main" id="{4C4127C0-503E-4660-B325-B149C8621B6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l="3829" b="9845"/>
          <a:stretch>
            <a:fillRect/>
          </a:stretch>
        </p:blipFill>
        <p:spPr bwMode="auto">
          <a:xfrm>
            <a:off x="7220607" y="1825625"/>
            <a:ext cx="4133193" cy="4351338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338D75-F95E-4653-8B6D-3F061397FBDA}"/>
              </a:ext>
            </a:extLst>
          </p:cNvPr>
          <p:cNvSpPr txBox="1"/>
          <p:nvPr/>
        </p:nvSpPr>
        <p:spPr>
          <a:xfrm>
            <a:off x="7671661" y="6356350"/>
            <a:ext cx="2743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Proprofs.com</a:t>
            </a:r>
          </a:p>
        </p:txBody>
      </p:sp>
    </p:spTree>
    <p:extLst>
      <p:ext uri="{BB962C8B-B14F-4D97-AF65-F5344CB8AC3E}">
        <p14:creationId xmlns:p14="http://schemas.microsoft.com/office/powerpoint/2010/main" val="127342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86A7B-6244-4197-B18B-9713AEAA1535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b="1" dirty="0" err="1">
                <a:latin typeface="Arial Black" panose="020B0A04020102020204" pitchFamily="34" charset="0"/>
                <a:cs typeface="Arial" pitchFamily="34" charset="0"/>
              </a:rPr>
              <a:t>Ible</a:t>
            </a:r>
            <a:r>
              <a:rPr lang="en-US" b="1" dirty="0">
                <a:latin typeface="Arial Black" panose="020B0A04020102020204" pitchFamily="34" charset="0"/>
                <a:cs typeface="Arial" pitchFamily="34" charset="0"/>
              </a:rPr>
              <a:t>= Able to be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3AD75-9147-4ED8-AB96-7587E116D0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939159"/>
            <a:ext cx="5862145" cy="423780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Inaudible </a:t>
            </a:r>
            <a:r>
              <a:rPr lang="en-US" dirty="0">
                <a:latin typeface="Arial" pitchFamily="34" charset="0"/>
                <a:cs typeface="Arial" pitchFamily="34" charset="0"/>
              </a:rPr>
              <a:t>- a sound that cannot be heard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Inaccessible</a:t>
            </a:r>
            <a:r>
              <a:rPr lang="en-US" dirty="0">
                <a:latin typeface="Arial" pitchFamily="34" charset="0"/>
                <a:cs typeface="Arial" pitchFamily="34" charset="0"/>
              </a:rPr>
              <a:t> - that cannot be easily approached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Incorrigible</a:t>
            </a:r>
            <a:r>
              <a:rPr lang="en-US" dirty="0">
                <a:latin typeface="Arial" pitchFamily="34" charset="0"/>
                <a:cs typeface="Arial" pitchFamily="34" charset="0"/>
              </a:rPr>
              <a:t> - incapable of being corrected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Irreparable</a:t>
            </a:r>
            <a:r>
              <a:rPr lang="en-US" dirty="0">
                <a:latin typeface="Arial" pitchFamily="34" charset="0"/>
                <a:cs typeface="Arial" pitchFamily="34" charset="0"/>
              </a:rPr>
              <a:t> - incapable of being repaired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Illegible</a:t>
            </a:r>
            <a:r>
              <a:rPr lang="en-US" dirty="0">
                <a:latin typeface="Arial" pitchFamily="34" charset="0"/>
                <a:cs typeface="Arial" pitchFamily="34" charset="0"/>
              </a:rPr>
              <a:t> - incapable of being read</a:t>
            </a:r>
          </a:p>
          <a:p>
            <a:pPr marL="0" indent="0">
              <a:buNone/>
            </a:pPr>
            <a:endParaRPr lang="en-IN" sz="3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538F6-6DF1-4951-8432-CD5E855DB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2" descr="Drawing on Knowledge — Scriberia">
            <a:extLst>
              <a:ext uri="{FF2B5EF4-FFF2-40B4-BE49-F238E27FC236}">
                <a16:creationId xmlns:a16="http://schemas.microsoft.com/office/drawing/2014/main" id="{AA66CC19-83D6-46BF-AA01-D2E43525F029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062950" y="2045775"/>
            <a:ext cx="4275083" cy="4131188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C3AC023-F141-40AC-A198-340269CDD995}"/>
              </a:ext>
            </a:extLst>
          </p:cNvPr>
          <p:cNvSpPr txBox="1"/>
          <p:nvPr/>
        </p:nvSpPr>
        <p:spPr>
          <a:xfrm>
            <a:off x="6927742" y="6356350"/>
            <a:ext cx="36111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Careertimes.com</a:t>
            </a:r>
          </a:p>
        </p:txBody>
      </p:sp>
    </p:spTree>
    <p:extLst>
      <p:ext uri="{BB962C8B-B14F-4D97-AF65-F5344CB8AC3E}">
        <p14:creationId xmlns:p14="http://schemas.microsoft.com/office/powerpoint/2010/main" val="19328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69413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467012"/>
              </p:ext>
            </p:extLst>
          </p:nvPr>
        </p:nvGraphicFramePr>
        <p:xfrm>
          <a:off x="1023413" y="1921790"/>
          <a:ext cx="10515601" cy="44430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15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2908">
                <a:tc>
                  <a:txBody>
                    <a:bodyPr/>
                    <a:lstStyle/>
                    <a:p>
                      <a:r>
                        <a:rPr lang="en-US" sz="2800" b="0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A person leaving his native country to settle in another – </a:t>
                      </a:r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Emigrant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97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 person coming to a foreign land to settle there – </a:t>
                      </a:r>
                      <a:r>
                        <a:rPr lang="en-US" sz="2800" b="1" dirty="0">
                          <a:latin typeface="Arial" pitchFamily="34" charset="0"/>
                          <a:cs typeface="Arial" pitchFamily="34" charset="0"/>
                        </a:rPr>
                        <a:t>Immigrant</a:t>
                      </a:r>
                      <a:endParaRPr lang="en-US" sz="2800" b="1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365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 person living in a foreign country – </a:t>
                      </a:r>
                      <a:r>
                        <a:rPr lang="en-US" sz="2800" b="1" dirty="0">
                          <a:latin typeface="Arial" pitchFamily="34" charset="0"/>
                          <a:cs typeface="Arial" pitchFamily="34" charset="0"/>
                        </a:rPr>
                        <a:t>Alien/foreigner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2908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 person who is voluntarily absent from home or country – </a:t>
                      </a:r>
                      <a:r>
                        <a:rPr lang="en-US" sz="2800" b="1" dirty="0">
                          <a:latin typeface="Arial" pitchFamily="34" charset="0"/>
                          <a:cs typeface="Arial" pitchFamily="34" charset="0"/>
                        </a:rPr>
                        <a:t>expatriate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97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 person looking only to the dark side of things – </a:t>
                      </a:r>
                      <a:r>
                        <a:rPr lang="en-US" sz="2800" b="1" dirty="0">
                          <a:latin typeface="Arial" pitchFamily="34" charset="0"/>
                          <a:cs typeface="Arial" pitchFamily="34" charset="0"/>
                        </a:rPr>
                        <a:t>Pessimist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9979"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A person looking only to the bright side of things- </a:t>
                      </a:r>
                      <a:r>
                        <a:rPr lang="en-US" sz="2800" b="1" dirty="0">
                          <a:latin typeface="Arial" pitchFamily="34" charset="0"/>
                          <a:cs typeface="Arial" pitchFamily="34" charset="0"/>
                        </a:rPr>
                        <a:t>Optimist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44598" y="595728"/>
            <a:ext cx="1050657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Some More Examples</a:t>
            </a:r>
            <a:endParaRPr lang="en-IN" sz="4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3115" y="757428"/>
            <a:ext cx="9144000" cy="7048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endParaRPr lang="en-US" sz="2800" b="1" dirty="0">
              <a:latin typeface="Arial" pitchFamily="34" charset="0"/>
              <a:cs typeface="Arial" pitchFamily="34" charset="0"/>
            </a:endParaRPr>
          </a:p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1. A person who thinks only of himself</a:t>
            </a: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/>
          </a:p>
        </p:txBody>
      </p:sp>
      <p:sp>
        <p:nvSpPr>
          <p:cNvPr id="11" name="Rectangle 10"/>
          <p:cNvSpPr/>
          <p:nvPr/>
        </p:nvSpPr>
        <p:spPr>
          <a:xfrm>
            <a:off x="1958792" y="8995"/>
            <a:ext cx="80592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/>
          </a:p>
        </p:txBody>
      </p:sp>
      <p:pic>
        <p:nvPicPr>
          <p:cNvPr id="12" name="Picture 2" descr="Is talking to yourself a sign of mental illness? An expert ..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93029" y="2433234"/>
            <a:ext cx="4608876" cy="3507930"/>
          </a:xfrm>
          <a:prstGeom prst="rect">
            <a:avLst/>
          </a:prstGeom>
          <a:noFill/>
        </p:spPr>
      </p:pic>
      <p:sp>
        <p:nvSpPr>
          <p:cNvPr id="49156" name="AutoShape 4" descr="Travelling Green in the UK | Travel Tood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 flipH="1">
            <a:off x="2362542" y="6113110"/>
            <a:ext cx="1680883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slideshare.com</a:t>
            </a:r>
          </a:p>
          <a:p>
            <a:endParaRPr lang="en-US" sz="800" dirty="0"/>
          </a:p>
        </p:txBody>
      </p:sp>
      <p:sp>
        <p:nvSpPr>
          <p:cNvPr id="28" name="Rectangle 27"/>
          <p:cNvSpPr/>
          <p:nvPr/>
        </p:nvSpPr>
        <p:spPr>
          <a:xfrm>
            <a:off x="6947522" y="1334860"/>
            <a:ext cx="5053563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2. A person who speaks less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0178" name="Picture 2" descr="reticent - Phocabulary word - Photo Word of the Day to improve and ..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93590" y="2299120"/>
            <a:ext cx="4274055" cy="3801452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8989017" y="6167347"/>
            <a:ext cx="2914313" cy="265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slideshare.com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44598" y="595728"/>
            <a:ext cx="1050657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Exercise</a:t>
            </a:r>
            <a:endParaRPr lang="en-IN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48912" y="757428"/>
            <a:ext cx="9144000" cy="34470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endParaRPr lang="en-US" sz="2000" b="1" dirty="0"/>
          </a:p>
        </p:txBody>
      </p:sp>
      <p:sp>
        <p:nvSpPr>
          <p:cNvPr id="9" name="Rectangle 8"/>
          <p:cNvSpPr/>
          <p:nvPr/>
        </p:nvSpPr>
        <p:spPr>
          <a:xfrm>
            <a:off x="6088614" y="1400569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4. A place where the birds are kept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58792" y="8995"/>
            <a:ext cx="805927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2800" dirty="0">
                <a:latin typeface="Times New Roman" pitchFamily="18" charset="0"/>
                <a:cs typeface="Times New Roman" pitchFamily="18" charset="0"/>
              </a:rPr>
            </a:br>
            <a:endParaRPr lang="en-US" sz="2800" dirty="0"/>
          </a:p>
        </p:txBody>
      </p:sp>
      <p:sp>
        <p:nvSpPr>
          <p:cNvPr id="49156" name="AutoShape 4" descr="Travelling Green in the UK | Travel Toodl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5" name="Picture 10" descr="Walking holidays for solo travellers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8736" y="2018028"/>
            <a:ext cx="5400334" cy="4082543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730131" y="1376555"/>
            <a:ext cx="6096000" cy="8002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3. People travel on foot</a:t>
            </a:r>
          </a:p>
          <a:p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9164" name="Picture 12" descr="Aviary Park Stock Photos - Download 5,924 Royalty Free Photos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53497" y="2020905"/>
            <a:ext cx="4756932" cy="4079666"/>
          </a:xfrm>
          <a:prstGeom prst="rect">
            <a:avLst/>
          </a:prstGeom>
          <a:noFill/>
        </p:spPr>
      </p:pic>
      <p:sp>
        <p:nvSpPr>
          <p:cNvPr id="24" name="Rectangle 23"/>
          <p:cNvSpPr/>
          <p:nvPr/>
        </p:nvSpPr>
        <p:spPr>
          <a:xfrm>
            <a:off x="8916379" y="6367476"/>
            <a:ext cx="144333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Proprofs.com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-31363" y="6271462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b="1" dirty="0"/>
              <a:t>proprofs.com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31511" y="953593"/>
            <a:ext cx="4702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5. A place of storing grain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65660" y="1005843"/>
            <a:ext cx="59095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6. A road with trees on both sides</a:t>
            </a:r>
          </a:p>
        </p:txBody>
      </p:sp>
      <p:pic>
        <p:nvPicPr>
          <p:cNvPr id="47110" name="Picture 6" descr="Tree Avenue Jigsaw Puzzle - JigZone.co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38809" y="1720312"/>
            <a:ext cx="5172891" cy="4184094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8610600" y="6214761"/>
            <a:ext cx="188972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Dreamstime.com</a:t>
            </a:r>
          </a:p>
        </p:txBody>
      </p:sp>
      <p:pic>
        <p:nvPicPr>
          <p:cNvPr id="47112" name="Picture 8" descr="Granaries On Way Upper Shivalaya North Stock Photo (Edit Now ..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5208" y="1720312"/>
            <a:ext cx="5639470" cy="4184094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1946366" y="5329648"/>
            <a:ext cx="2730137" cy="169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-21805" y="622254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Dreamstime.com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61257" y="1084223"/>
            <a:ext cx="6074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7. A place given to soldiers to live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4516" name="Picture 4" descr="Checking violates Defence Ministry orders' - The Hindu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7543" y="1632855"/>
            <a:ext cx="5058860" cy="4302995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4321" y="619641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Careerpath.com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2423" y="1058093"/>
            <a:ext cx="5869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itchFamily="34" charset="0"/>
                <a:cs typeface="Arial" pitchFamily="34" charset="0"/>
              </a:rPr>
              <a:t>8. A place where coins are made</a:t>
            </a:r>
          </a:p>
        </p:txBody>
      </p:sp>
      <p:pic>
        <p:nvPicPr>
          <p:cNvPr id="64518" name="Picture 6" descr="Inside the Royal Mint factory producing Magna Carta coins | Daily ...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33538" y="1658981"/>
            <a:ext cx="5505378" cy="4302995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8314542" y="6120498"/>
            <a:ext cx="1667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Careerpath.com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4514" name="Picture 2" descr="New classifications for land use in Pune cantonmen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-222069" y="8526782"/>
            <a:ext cx="11430000" cy="8572500"/>
          </a:xfrm>
          <a:prstGeom prst="rect">
            <a:avLst/>
          </a:prstGeom>
          <a:noFill/>
        </p:spPr>
      </p:pic>
      <p:sp>
        <p:nvSpPr>
          <p:cNvPr id="12" name="TextBox 11"/>
          <p:cNvSpPr txBox="1"/>
          <p:nvPr/>
        </p:nvSpPr>
        <p:spPr>
          <a:xfrm>
            <a:off x="929896" y="1761845"/>
            <a:ext cx="398306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rial" pitchFamily="34" charset="0"/>
                <a:cs typeface="Arial" pitchFamily="34" charset="0"/>
              </a:rPr>
              <a:t>1. Egoistic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2. Reticent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3. Pedestrian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4. Aviary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5. Granary 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6. Avenue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7. Cantonment</a:t>
            </a:r>
          </a:p>
          <a:p>
            <a:r>
              <a:rPr lang="en-US" sz="2800" dirty="0">
                <a:latin typeface="Arial" pitchFamily="34" charset="0"/>
                <a:cs typeface="Arial" pitchFamily="34" charset="0"/>
              </a:rPr>
              <a:t>8. Mint</a:t>
            </a:r>
          </a:p>
        </p:txBody>
      </p:sp>
      <p:pic>
        <p:nvPicPr>
          <p:cNvPr id="18" name="Picture 17" descr="Build And Release and DevOps Interview Questions with Answers ...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35006" y="2096814"/>
            <a:ext cx="5172925" cy="3544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" name="Rectangle 18"/>
          <p:cNvSpPr/>
          <p:nvPr/>
        </p:nvSpPr>
        <p:spPr>
          <a:xfrm>
            <a:off x="2624623" y="640110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sz="1200" dirty="0"/>
              <a:t>Dreamstime.com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44598" y="595728"/>
            <a:ext cx="1050657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Answers</a:t>
            </a:r>
            <a:endParaRPr lang="en-IN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Applications 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Helps in making communication effective.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Reduces ambiguity in language.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Helps make text more clear and comprehensible.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Arial Black" pitchFamily="34" charset="0"/>
                <a:cs typeface="Arial" pitchFamily="34" charset="0"/>
              </a:rPr>
              <a:t>Assessment Pattern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 –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IN" sz="24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879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u="sng" dirty="0">
                <a:latin typeface="Arial" pitchFamily="34" charset="0"/>
                <a:cs typeface="Arial" pitchFamily="34" charset="0"/>
                <a:hlinkClick r:id="rId2"/>
              </a:rPr>
              <a:t>https://www.hitbullseye.com/Vocab/One-Word-Substitution.php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en-US" u="sng" dirty="0">
                <a:latin typeface="Arial" pitchFamily="34" charset="0"/>
                <a:cs typeface="Arial" pitchFamily="34" charset="0"/>
                <a:hlinkClick r:id="rId3" action="ppaction://hlinkfile"/>
              </a:rPr>
              <a:t>file:///C:/Users/LAPTOP%20ADDA/Downloads/onewordsubstitution-170201152425.pdf</a:t>
            </a:r>
            <a:endParaRPr lang="en-US" u="sng" dirty="0">
              <a:latin typeface="Arial" pitchFamily="34" charset="0"/>
              <a:cs typeface="Arial" pitchFamily="34" charset="0"/>
            </a:endParaRPr>
          </a:p>
          <a:p>
            <a:r>
              <a:rPr lang="en-US" u="sng" dirty="0">
                <a:latin typeface="Arial" pitchFamily="34" charset="0"/>
                <a:cs typeface="Arial" pitchFamily="34" charset="0"/>
                <a:hlinkClick r:id="rId4"/>
              </a:rPr>
              <a:t>https://books.google.co.in/books?id=GMEwBQAAQBAJ&amp;printsec=frontcover#v=onepage&amp;q&amp;f=false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r>
              <a:rPr lang="en-US" u="sng" dirty="0">
                <a:latin typeface="Arial" pitchFamily="34" charset="0"/>
                <a:cs typeface="Arial" pitchFamily="34" charset="0"/>
                <a:hlinkClick r:id="rId5"/>
              </a:rPr>
              <a:t>https://7esl.com/synonyms/#Synonyms</a:t>
            </a: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</a:p>
          <a:p>
            <a:r>
              <a:rPr lang="en-US" u="sng" dirty="0">
                <a:latin typeface="Arial" pitchFamily="34" charset="0"/>
                <a:cs typeface="Arial" pitchFamily="34" charset="0"/>
                <a:hlinkClick r:id="rId6"/>
              </a:rPr>
              <a:t>https://prajwalarao.files.wordpress.com/2011/08/synonym_antonym_questions_prsolutions2.pdf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lvl="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Rectangle 1"/>
          <p:cNvSpPr/>
          <p:nvPr/>
        </p:nvSpPr>
        <p:spPr>
          <a:xfrm>
            <a:off x="4114005" y="5394447"/>
            <a:ext cx="441031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For queries</a:t>
            </a:r>
          </a:p>
          <a:p>
            <a:r>
              <a:rPr lang="en-US" dirty="0">
                <a:latin typeface="Casper" panose="02000506000000020004" pitchFamily="2" charset="0"/>
                <a:cs typeface="Segoe UI" panose="020B0502040204020203" pitchFamily="34" charset="0"/>
              </a:rPr>
              <a:t>Email: communicationskills.uilah@gmail.com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3715</TotalTime>
  <Words>837</Words>
  <Application>Microsoft Office PowerPoint</Application>
  <PresentationFormat>Widescreen</PresentationFormat>
  <Paragraphs>182</Paragraphs>
  <Slides>18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PowerPoint Presentation</vt:lpstr>
      <vt:lpstr>PowerPoint Presentation</vt:lpstr>
      <vt:lpstr>PowerPoint Presentation</vt:lpstr>
      <vt:lpstr>  Omni= All </vt:lpstr>
      <vt:lpstr> CIDE= KILLING </vt:lpstr>
      <vt:lpstr>Ible= Able to be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   </vt:lpstr>
      <vt:lpstr>Assessment Pattern   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378</cp:revision>
  <dcterms:created xsi:type="dcterms:W3CDTF">2019-01-09T10:33:58Z</dcterms:created>
  <dcterms:modified xsi:type="dcterms:W3CDTF">2023-07-05T08:31:52Z</dcterms:modified>
</cp:coreProperties>
</file>