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3"/>
  </p:notesMasterIdLst>
  <p:handoutMasterIdLst>
    <p:handoutMasterId r:id="rId34"/>
  </p:handoutMasterIdLst>
  <p:sldIdLst>
    <p:sldId id="313" r:id="rId3"/>
    <p:sldId id="312" r:id="rId4"/>
    <p:sldId id="265" r:id="rId5"/>
    <p:sldId id="281" r:id="rId6"/>
    <p:sldId id="280" r:id="rId7"/>
    <p:sldId id="287" r:id="rId8"/>
    <p:sldId id="288" r:id="rId9"/>
    <p:sldId id="289" r:id="rId10"/>
    <p:sldId id="290" r:id="rId11"/>
    <p:sldId id="291" r:id="rId12"/>
    <p:sldId id="292" r:id="rId13"/>
    <p:sldId id="293" r:id="rId14"/>
    <p:sldId id="294" r:id="rId15"/>
    <p:sldId id="295" r:id="rId16"/>
    <p:sldId id="296" r:id="rId17"/>
    <p:sldId id="303" r:id="rId18"/>
    <p:sldId id="302" r:id="rId19"/>
    <p:sldId id="301" r:id="rId20"/>
    <p:sldId id="300" r:id="rId21"/>
    <p:sldId id="299" r:id="rId22"/>
    <p:sldId id="298" r:id="rId23"/>
    <p:sldId id="297" r:id="rId24"/>
    <p:sldId id="304" r:id="rId25"/>
    <p:sldId id="305" r:id="rId26"/>
    <p:sldId id="307" r:id="rId27"/>
    <p:sldId id="308" r:id="rId28"/>
    <p:sldId id="284" r:id="rId29"/>
    <p:sldId id="311" r:id="rId30"/>
    <p:sldId id="310" r:id="rId31"/>
    <p:sldId id="32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660"/>
  </p:normalViewPr>
  <p:slideViewPr>
    <p:cSldViewPr snapToGrid="0">
      <p:cViewPr varScale="1">
        <p:scale>
          <a:sx n="71" d="100"/>
          <a:sy n="71" d="100"/>
        </p:scale>
        <p:origin x="678"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webapps.towson.edu/ows/moduleSVAGR.htm" TargetMode="Externa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guidetogrammar.org/grammar/sv_agr.htm" TargetMode="External"/><Relationship Id="rId2" Type="http://schemas.openxmlformats.org/officeDocument/2006/relationships/hyperlink" Target="https://academicguides.waldenu.edu/writingcenter/grammar/subjectverbagreement" TargetMode="External"/><Relationship Id="rId1" Type="http://schemas.openxmlformats.org/officeDocument/2006/relationships/slideLayout" Target="../slideLayouts/slideLayout2.xml"/><Relationship Id="rId6" Type="http://schemas.openxmlformats.org/officeDocument/2006/relationships/hyperlink" Target="https://www.grammarbook.com/grammar/subjectVerbAgree.asp" TargetMode="External"/><Relationship Id="rId5" Type="http://schemas.openxmlformats.org/officeDocument/2006/relationships/hyperlink" Target="https://grammar.yourdictionary.com/sentences/20-rules-of-subject-verb-agreement.html" TargetMode="External"/><Relationship Id="rId4" Type="http://schemas.openxmlformats.org/officeDocument/2006/relationships/hyperlink" Target="https://examples.yourdictionary.com/examples-of-subject-verb-agreement.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0" y="5339447"/>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2"/>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cstate="print">
            <a:extLst>
              <a:ext uri="{BEBA8EAE-BF5A-486C-A8C5-ECC9F3942E4B}">
                <a14:imgProps xmlns:a14="http://schemas.microsoft.com/office/drawing/2010/main">
                  <a14:imgLayer>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55050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106511" y="5974967"/>
            <a:ext cx="614155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Arial" pitchFamily="34" charset="0"/>
                <a:cs typeface="Arial" pitchFamily="34" charset="0"/>
              </a:rPr>
              <a:t>SUBJECT-VERB AGREEMENT</a:t>
            </a:r>
          </a:p>
          <a:p>
            <a:pPr eaLnBrk="1" hangingPunct="1"/>
            <a:endParaRPr lang="en-US" sz="1400" dirty="0">
              <a:latin typeface="Raleway ExtraBold" pitchFamily="34" charset="-52"/>
            </a:endParaRPr>
          </a:p>
        </p:txBody>
      </p:sp>
      <p:sp>
        <p:nvSpPr>
          <p:cNvPr id="2" name="TextBox 1"/>
          <p:cNvSpPr txBox="1"/>
          <p:nvPr/>
        </p:nvSpPr>
        <p:spPr>
          <a:xfrm>
            <a:off x="3871857" y="6296559"/>
            <a:ext cx="1830785" cy="369332"/>
          </a:xfrm>
          <a:prstGeom prst="rect">
            <a:avLst/>
          </a:prstGeom>
          <a:noFill/>
        </p:spPr>
        <p:txBody>
          <a:bodyPr wrap="square" rtlCol="0">
            <a:spAutoFit/>
          </a:bodyPr>
          <a:lstStyle/>
          <a:p>
            <a:r>
              <a:rPr lang="en-US" dirty="0"/>
              <a:t> </a:t>
            </a:r>
          </a:p>
        </p:txBody>
      </p:sp>
      <p:sp>
        <p:nvSpPr>
          <p:cNvPr id="16" name="TextBox 15"/>
          <p:cNvSpPr txBox="1">
            <a:spLocks noChangeArrowheads="1"/>
          </p:cNvSpPr>
          <p:nvPr/>
        </p:nvSpPr>
        <p:spPr bwMode="auto">
          <a:xfrm>
            <a:off x="1447800" y="1554480"/>
            <a:ext cx="946404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4000" b="1" dirty="0">
                <a:latin typeface="Arial Black" panose="020B0A04020102020204" pitchFamily="34" charset="0"/>
                <a:ea typeface="Karla" pitchFamily="2" charset="0"/>
                <a:cs typeface="Karla" pitchFamily="2" charset="0"/>
              </a:rPr>
              <a:t>University Institute of Liberal Arts and Humanities</a:t>
            </a:r>
          </a:p>
          <a:p>
            <a:pPr algn="ctr" defTabSz="622300">
              <a:lnSpc>
                <a:spcPct val="90000"/>
              </a:lnSpc>
              <a:spcBef>
                <a:spcPct val="0"/>
              </a:spcBef>
              <a:spcAft>
                <a:spcPct val="35000"/>
              </a:spcAft>
            </a:pPr>
            <a:r>
              <a:rPr lang="en-US" sz="3200" dirty="0">
                <a:latin typeface="Times New Roman" panose="02020603050405020304" pitchFamily="18" charset="0"/>
                <a:ea typeface="Calibri" panose="020F0502020204030204" pitchFamily="34" charset="0"/>
                <a:cs typeface="Times New Roman" panose="02020603050405020304" pitchFamily="18" charset="0"/>
              </a:rPr>
              <a:t>Course Name – Communication Skills</a:t>
            </a:r>
          </a:p>
          <a:p>
            <a:pPr algn="ctr" defTabSz="622300">
              <a:lnSpc>
                <a:spcPct val="90000"/>
              </a:lnSpc>
              <a:spcBef>
                <a:spcPct val="0"/>
              </a:spcBef>
              <a:spcAft>
                <a:spcPct val="35000"/>
              </a:spcAft>
            </a:pPr>
            <a:r>
              <a:rPr lang="en-US" sz="3200" dirty="0">
                <a:latin typeface="Times New Roman" panose="02020603050405020304" pitchFamily="18" charset="0"/>
                <a:ea typeface="Calibri" panose="020F0502020204030204" pitchFamily="34" charset="0"/>
                <a:cs typeface="Times New Roman" panose="02020603050405020304" pitchFamily="18" charset="0"/>
              </a:rPr>
              <a:t>Course Code – 23PCH-105</a:t>
            </a:r>
          </a:p>
          <a:p>
            <a:pPr lvl="0" algn="ctr" defTabSz="622300">
              <a:lnSpc>
                <a:spcPct val="90000"/>
              </a:lnSpc>
              <a:spcBef>
                <a:spcPct val="0"/>
              </a:spcBef>
              <a:spcAft>
                <a:spcPct val="35000"/>
              </a:spcAft>
            </a:pPr>
            <a:endParaRPr lang="en-US" sz="40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40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40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20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2156142" y="629692"/>
            <a:ext cx="781081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latin typeface="Arial Black" pitchFamily="34" charset="0"/>
                <a:ea typeface="Karla" pitchFamily="2" charset="0"/>
                <a:cs typeface="Karla" pitchFamily="2" charset="0"/>
              </a:rPr>
              <a:t>COURSE OBJECTIVES</a:t>
            </a:r>
            <a:br>
              <a:rPr lang="en-US" sz="2000"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nvGraphicFramePr>
        <p:xfrm>
          <a:off x="660698" y="2285999"/>
          <a:ext cx="10708342" cy="3770907"/>
        </p:xfrm>
        <a:graphic>
          <a:graphicData uri="http://schemas.openxmlformats.org/drawingml/2006/table">
            <a:tbl>
              <a:tblPr firstRow="1" firstCol="1" bandRow="1">
                <a:tableStyleId>{5940675A-B579-460E-94D1-54222C63F5DA}</a:tableStyleId>
              </a:tblPr>
              <a:tblGrid>
                <a:gridCol w="1413086">
                  <a:extLst>
                    <a:ext uri="{9D8B030D-6E8A-4147-A177-3AD203B41FA5}">
                      <a16:colId xmlns:a16="http://schemas.microsoft.com/office/drawing/2014/main" val="20000"/>
                    </a:ext>
                  </a:extLst>
                </a:gridCol>
                <a:gridCol w="9295256">
                  <a:extLst>
                    <a:ext uri="{9D8B030D-6E8A-4147-A177-3AD203B41FA5}">
                      <a16:colId xmlns:a16="http://schemas.microsoft.com/office/drawing/2014/main" val="20001"/>
                    </a:ext>
                  </a:extLst>
                </a:gridCol>
              </a:tblGrid>
              <a:tr h="1186795">
                <a:tc>
                  <a:txBody>
                    <a:bodyPr/>
                    <a:lstStyle/>
                    <a:p>
                      <a:pPr marL="0" marR="0" algn="ctr">
                        <a:lnSpc>
                          <a:spcPct val="100000"/>
                        </a:lnSpc>
                        <a:spcBef>
                          <a:spcPts val="0"/>
                        </a:spcBef>
                        <a:spcAft>
                          <a:spcPts val="0"/>
                        </a:spcAft>
                      </a:pPr>
                      <a:r>
                        <a:rPr lang="en-US" sz="2400" b="1" dirty="0">
                          <a:solidFill>
                            <a:schemeClr val="tx1"/>
                          </a:solidFill>
                          <a:effectLst/>
                        </a:rPr>
                        <a:t>1</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Augment students overall communication and interpersonal skills by making them realize the importance of good oral and written English Language in professional life.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0"/>
                  </a:ext>
                </a:extLst>
              </a:tr>
              <a:tr h="743416">
                <a:tc>
                  <a:txBody>
                    <a:bodyPr/>
                    <a:lstStyle/>
                    <a:p>
                      <a:pPr marL="0" marR="0" algn="ctr">
                        <a:lnSpc>
                          <a:spcPct val="100000"/>
                        </a:lnSpc>
                        <a:spcBef>
                          <a:spcPts val="0"/>
                        </a:spcBef>
                        <a:spcAft>
                          <a:spcPts val="0"/>
                        </a:spcAft>
                      </a:pPr>
                      <a:r>
                        <a:rPr lang="en-US" sz="2400" b="1" dirty="0">
                          <a:solidFill>
                            <a:schemeClr val="tx1"/>
                          </a:solidFill>
                          <a:effectLst/>
                        </a:rPr>
                        <a:t>2</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Enrich their reading capability with special emphasis on expanding vocabulary and grammatical formations.</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1"/>
                  </a:ext>
                </a:extLst>
              </a:tr>
              <a:tr h="743416">
                <a:tc>
                  <a:txBody>
                    <a:bodyPr/>
                    <a:lstStyle/>
                    <a:p>
                      <a:pPr marL="0" marR="0" algn="ctr">
                        <a:lnSpc>
                          <a:spcPct val="100000"/>
                        </a:lnSpc>
                        <a:spcBef>
                          <a:spcPts val="0"/>
                        </a:spcBef>
                        <a:spcAft>
                          <a:spcPts val="0"/>
                        </a:spcAft>
                      </a:pPr>
                      <a:r>
                        <a:rPr lang="en-US" sz="2400" b="1" dirty="0">
                          <a:solidFill>
                            <a:schemeClr val="tx1"/>
                          </a:solidFill>
                          <a:effectLst/>
                        </a:rPr>
                        <a:t>3</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Build exceptional speaking, reading and writing skills by correcting grammatical errors and pronunciation through practice.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2"/>
                  </a:ext>
                </a:extLst>
              </a:tr>
              <a:tr h="743416">
                <a:tc>
                  <a:txBody>
                    <a:bodyPr/>
                    <a:lstStyle/>
                    <a:p>
                      <a:pPr marL="0" marR="0" algn="ctr">
                        <a:lnSpc>
                          <a:spcPct val="100000"/>
                        </a:lnSpc>
                        <a:spcBef>
                          <a:spcPts val="0"/>
                        </a:spcBef>
                        <a:spcAft>
                          <a:spcPts val="0"/>
                        </a:spcAft>
                      </a:pPr>
                      <a:r>
                        <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a:t>
                      </a:r>
                    </a:p>
                  </a:txBody>
                  <a:tcPr marL="68580" marR="68580" marT="0" marB="0" anchor="ctr"/>
                </a:tc>
                <a:tc>
                  <a:txBody>
                    <a:bodyPr/>
                    <a:lstStyle/>
                    <a:p>
                      <a:pPr marL="0" marR="0">
                        <a:lnSpc>
                          <a:spcPct val="100000"/>
                        </a:lnSpc>
                        <a:spcBef>
                          <a:spcPts val="0"/>
                        </a:spcBef>
                        <a:spcAft>
                          <a:spcPts val="0"/>
                        </a:spcAft>
                      </a:pPr>
                      <a:r>
                        <a:rPr lang="en-US" sz="2400" b="0" dirty="0">
                          <a:solidFill>
                            <a:schemeClr val="tx1"/>
                          </a:solidFill>
                          <a:effectLst/>
                          <a:latin typeface="Arial" pitchFamily="34" charset="0"/>
                          <a:ea typeface="Times New Roman" panose="02020603050405020304" pitchFamily="18" charset="0"/>
                          <a:cs typeface="Arial" pitchFamily="34" charset="0"/>
                        </a:rPr>
                        <a:t>Enhances soft skills by fostering self awareness, confidence and a positive attitude in students’ ability to communicate effectively in English.</a:t>
                      </a:r>
                    </a:p>
                  </a:txBody>
                  <a:tcPr marL="68580" marR="68580" marT="0" marB="0"/>
                </a:tc>
                <a:extLst>
                  <a:ext uri="{0D108BD9-81ED-4DB2-BD59-A6C34878D82A}">
                    <a16:rowId xmlns:a16="http://schemas.microsoft.com/office/drawing/2014/main" val="2339887652"/>
                  </a:ext>
                </a:extLst>
              </a:tr>
            </a:tbl>
          </a:graphicData>
        </a:graphic>
      </p:graphicFrame>
      <p:sp>
        <p:nvSpPr>
          <p:cNvPr id="11" name="Rectangle 10"/>
          <p:cNvSpPr/>
          <p:nvPr/>
        </p:nvSpPr>
        <p:spPr>
          <a:xfrm>
            <a:off x="492162" y="1616818"/>
            <a:ext cx="2956259" cy="461665"/>
          </a:xfrm>
          <a:prstGeom prst="rect">
            <a:avLst/>
          </a:prstGeom>
        </p:spPr>
        <p:txBody>
          <a:bodyPr wrap="none">
            <a:spAutoFit/>
          </a:bodyPr>
          <a:lstStyle/>
          <a:p>
            <a:r>
              <a:rPr lang="en-US" sz="2400" dirty="0">
                <a:latin typeface="Arial" pitchFamily="34" charset="0"/>
                <a:cs typeface="Arial" pitchFamily="34" charset="0"/>
              </a:rPr>
              <a:t>The Course aims to:</a:t>
            </a:r>
            <a:endParaRPr lang="en-US" sz="2400" b="1" dirty="0">
              <a:latin typeface="Arial" pitchFamily="34" charset="0"/>
              <a:cs typeface="Arial" pitchFamily="34" charset="0"/>
            </a:endParaRPr>
          </a:p>
        </p:txBody>
      </p:sp>
    </p:spTree>
    <p:extLst>
      <p:ext uri="{BB962C8B-B14F-4D97-AF65-F5344CB8AC3E}">
        <p14:creationId xmlns:p14="http://schemas.microsoft.com/office/powerpoint/2010/main" val="2403462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23760" y="1310640"/>
            <a:ext cx="4069080" cy="4591685"/>
          </a:xfrm>
        </p:spPr>
        <p:txBody>
          <a:bodyPr>
            <a:normAutofit/>
          </a:bodyPr>
          <a:lstStyle/>
          <a:p>
            <a:r>
              <a:rPr lang="en-US" sz="2400" dirty="0">
                <a:latin typeface="Casper" panose="02000506000000020004" pitchFamily="2" charset="0"/>
                <a:cs typeface="Arial" panose="020B0604020202020204" pitchFamily="34" charset="0"/>
              </a:rPr>
              <a:t>Space for visual (size 24)</a:t>
            </a:r>
          </a:p>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997902" y="584262"/>
            <a:ext cx="5966778"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Arial Black" pitchFamily="34" charset="0"/>
                <a:ea typeface="Karla" pitchFamily="2" charset="0"/>
                <a:cs typeface="Karla" pitchFamily="2" charset="0"/>
              </a:rPr>
              <a:t>COURSE OUTCOMES</a:t>
            </a:r>
            <a:endParaRPr lang="en-US" sz="1600" dirty="0">
              <a:latin typeface="Arial Black" pitchFamily="34" charset="0"/>
            </a:endParaRPr>
          </a:p>
        </p:txBody>
      </p:sp>
      <p:sp>
        <p:nvSpPr>
          <p:cNvPr id="2" name="Rectangle 1"/>
          <p:cNvSpPr/>
          <p:nvPr/>
        </p:nvSpPr>
        <p:spPr>
          <a:xfrm>
            <a:off x="7208520" y="1280160"/>
            <a:ext cx="4122419" cy="47396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62846" y="1827247"/>
            <a:ext cx="5208477" cy="400110"/>
          </a:xfrm>
          <a:prstGeom prst="rect">
            <a:avLst/>
          </a:prstGeom>
        </p:spPr>
        <p:txBody>
          <a:bodyPr wrap="none">
            <a:spAutoFit/>
          </a:bodyPr>
          <a:lstStyle/>
          <a:p>
            <a:r>
              <a:rPr lang="en-US" sz="2000" dirty="0">
                <a:latin typeface="Arial" pitchFamily="34" charset="0"/>
                <a:cs typeface="Arial" pitchFamily="34" charset="0"/>
              </a:rPr>
              <a:t>On completion, the students are expected to</a:t>
            </a:r>
            <a:endParaRPr lang="en-US" sz="2000" b="1" dirty="0">
              <a:latin typeface="Arial" pitchFamily="34" charset="0"/>
              <a:cs typeface="Arial" pitchFamily="34" charset="0"/>
            </a:endParaRPr>
          </a:p>
        </p:txBody>
      </p:sp>
      <p:pic>
        <p:nvPicPr>
          <p:cNvPr id="11266" name="Picture 2" descr="Picture">
            <a:extLst>
              <a:ext uri="{FF2B5EF4-FFF2-40B4-BE49-F238E27FC236}">
                <a16:creationId xmlns:a16="http://schemas.microsoft.com/office/drawing/2014/main" id="{AB770583-03EE-43AB-98BB-C613170802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9539" y="1214846"/>
            <a:ext cx="4190590" cy="481801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8EE1170-0F86-4FA0-9A22-A1C785780206}"/>
              </a:ext>
            </a:extLst>
          </p:cNvPr>
          <p:cNvSpPr/>
          <p:nvPr/>
        </p:nvSpPr>
        <p:spPr>
          <a:xfrm>
            <a:off x="8038783" y="6121325"/>
            <a:ext cx="2367764" cy="307777"/>
          </a:xfrm>
          <a:prstGeom prst="rect">
            <a:avLst/>
          </a:prstGeom>
        </p:spPr>
        <p:txBody>
          <a:bodyPr wrap="none">
            <a:spAutoFit/>
          </a:bodyPr>
          <a:lstStyle/>
          <a:p>
            <a:r>
              <a:rPr lang="en-IN" sz="1400" dirty="0"/>
              <a:t>https://www.kilmerlibrary.org</a:t>
            </a:r>
          </a:p>
        </p:txBody>
      </p:sp>
      <p:graphicFrame>
        <p:nvGraphicFramePr>
          <p:cNvPr id="6" name="Table 5">
            <a:extLst>
              <a:ext uri="{FF2B5EF4-FFF2-40B4-BE49-F238E27FC236}">
                <a16:creationId xmlns:a16="http://schemas.microsoft.com/office/drawing/2014/main" id="{FCC4F6D0-8FF0-2D41-DDD1-45A70AC33A7B}"/>
              </a:ext>
            </a:extLst>
          </p:cNvPr>
          <p:cNvGraphicFramePr>
            <a:graphicFrameLocks noGrp="1"/>
          </p:cNvGraphicFramePr>
          <p:nvPr>
            <p:extLst>
              <p:ext uri="{D42A27DB-BD31-4B8C-83A1-F6EECF244321}">
                <p14:modId xmlns:p14="http://schemas.microsoft.com/office/powerpoint/2010/main" val="2473965547"/>
              </p:ext>
            </p:extLst>
          </p:nvPr>
        </p:nvGraphicFramePr>
        <p:xfrm>
          <a:off x="179248" y="2251073"/>
          <a:ext cx="6670497" cy="4495802"/>
        </p:xfrm>
        <a:graphic>
          <a:graphicData uri="http://schemas.openxmlformats.org/drawingml/2006/table">
            <a:tbl>
              <a:tblPr firstRow="1" firstCol="1" bandRow="1">
                <a:tableStyleId>{5940675A-B579-460E-94D1-54222C63F5DA}</a:tableStyleId>
              </a:tblPr>
              <a:tblGrid>
                <a:gridCol w="543484">
                  <a:extLst>
                    <a:ext uri="{9D8B030D-6E8A-4147-A177-3AD203B41FA5}">
                      <a16:colId xmlns:a16="http://schemas.microsoft.com/office/drawing/2014/main" val="2296355238"/>
                    </a:ext>
                  </a:extLst>
                </a:gridCol>
                <a:gridCol w="4854552">
                  <a:extLst>
                    <a:ext uri="{9D8B030D-6E8A-4147-A177-3AD203B41FA5}">
                      <a16:colId xmlns:a16="http://schemas.microsoft.com/office/drawing/2014/main" val="636530275"/>
                    </a:ext>
                  </a:extLst>
                </a:gridCol>
                <a:gridCol w="1272461">
                  <a:extLst>
                    <a:ext uri="{9D8B030D-6E8A-4147-A177-3AD203B41FA5}">
                      <a16:colId xmlns:a16="http://schemas.microsoft.com/office/drawing/2014/main" val="2635522502"/>
                    </a:ext>
                  </a:extLst>
                </a:gridCol>
              </a:tblGrid>
              <a:tr h="763998">
                <a:tc>
                  <a:txBody>
                    <a:bodyPr/>
                    <a:lstStyle/>
                    <a:p>
                      <a:pPr algn="ctr">
                        <a:lnSpc>
                          <a:spcPct val="115000"/>
                        </a:lnSpc>
                        <a:spcAft>
                          <a:spcPts val="1000"/>
                        </a:spcAft>
                      </a:pPr>
                      <a:r>
                        <a:rPr lang="en-US" sz="1200" b="1" dirty="0">
                          <a:effectLst/>
                          <a:latin typeface="+mn-lt"/>
                        </a:rPr>
                        <a:t>CO Number</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Title</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 </a:t>
                      </a:r>
                      <a:endParaRPr lang="en-IN" sz="1200" b="1" dirty="0">
                        <a:effectLst/>
                        <a:latin typeface="+mn-lt"/>
                      </a:endParaRPr>
                    </a:p>
                    <a:p>
                      <a:pPr algn="ctr">
                        <a:lnSpc>
                          <a:spcPct val="115000"/>
                        </a:lnSpc>
                        <a:spcAft>
                          <a:spcPts val="1000"/>
                        </a:spcAft>
                      </a:pPr>
                      <a:r>
                        <a:rPr lang="en-US" sz="1200" b="1" dirty="0">
                          <a:effectLst/>
                          <a:latin typeface="+mn-lt"/>
                        </a:rPr>
                        <a:t>Level</a:t>
                      </a:r>
                      <a:endParaRPr lang="en-IN" sz="1200" b="1" dirty="0">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129203561"/>
                  </a:ext>
                </a:extLst>
              </a:tr>
              <a:tr h="719905">
                <a:tc>
                  <a:txBody>
                    <a:bodyPr/>
                    <a:lstStyle/>
                    <a:p>
                      <a:pPr>
                        <a:lnSpc>
                          <a:spcPct val="115000"/>
                        </a:lnSpc>
                        <a:spcAft>
                          <a:spcPts val="1000"/>
                        </a:spcAft>
                      </a:pPr>
                      <a:r>
                        <a:rPr lang="en-US" sz="1200" dirty="0">
                          <a:solidFill>
                            <a:schemeClr val="tx1"/>
                          </a:solidFill>
                          <a:effectLst/>
                          <a:latin typeface="+mn-lt"/>
                        </a:rPr>
                        <a:t>CO1</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Apply appropriate Listening, Speaking, Reading and Writing Skills (LSRW Skills) with correct non-verbal cues to attain expertise in soft skills.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511939352"/>
                  </a:ext>
                </a:extLst>
              </a:tr>
              <a:tr h="719905">
                <a:tc>
                  <a:txBody>
                    <a:bodyPr/>
                    <a:lstStyle/>
                    <a:p>
                      <a:pPr>
                        <a:lnSpc>
                          <a:spcPct val="115000"/>
                        </a:lnSpc>
                        <a:spcAft>
                          <a:spcPts val="1000"/>
                        </a:spcAft>
                      </a:pPr>
                      <a:r>
                        <a:rPr lang="en-US" sz="1200">
                          <a:solidFill>
                            <a:schemeClr val="tx1"/>
                          </a:solidFill>
                          <a:effectLst/>
                          <a:latin typeface="+mn-lt"/>
                        </a:rPr>
                        <a:t>CO2</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Apply correct contextual and comprehensible written text in the form of paragraph writing, short compositions business correspondence, using logical support and argument in a wide range of communication situations.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1566616838"/>
                  </a:ext>
                </a:extLst>
              </a:tr>
              <a:tr h="763998">
                <a:tc>
                  <a:txBody>
                    <a:bodyPr/>
                    <a:lstStyle/>
                    <a:p>
                      <a:pPr>
                        <a:lnSpc>
                          <a:spcPct val="115000"/>
                        </a:lnSpc>
                        <a:spcAft>
                          <a:spcPts val="1000"/>
                        </a:spcAft>
                      </a:pPr>
                      <a:r>
                        <a:rPr lang="en-US" sz="1200" dirty="0">
                          <a:solidFill>
                            <a:schemeClr val="tx1"/>
                          </a:solidFill>
                          <a:effectLst/>
                          <a:latin typeface="+mn-lt"/>
                        </a:rPr>
                        <a:t>CO3</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Demonstrate linguistic competence while speaking and during presentations through accuracy in grammatical usage, vocabulary, pronunciation and intonation.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817774112"/>
                  </a:ext>
                </a:extLst>
              </a:tr>
              <a:tr h="763998">
                <a:tc>
                  <a:txBody>
                    <a:bodyPr/>
                    <a:lstStyle/>
                    <a:p>
                      <a:pPr>
                        <a:lnSpc>
                          <a:spcPct val="115000"/>
                        </a:lnSpc>
                        <a:spcAft>
                          <a:spcPts val="1000"/>
                        </a:spcAft>
                      </a:pPr>
                      <a:r>
                        <a:rPr lang="en-US" sz="1200">
                          <a:solidFill>
                            <a:schemeClr val="tx1"/>
                          </a:solidFill>
                          <a:effectLst/>
                          <a:latin typeface="+mn-lt"/>
                        </a:rPr>
                        <a:t>CO4</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Evaluate information as critical readers, speakers and writers applying ethics in communication and</a:t>
                      </a:r>
                      <a:endParaRPr lang="en-IN" sz="1200" dirty="0">
                        <a:solidFill>
                          <a:schemeClr val="tx1"/>
                        </a:solidFill>
                        <a:effectLst/>
                        <a:latin typeface="+mn-lt"/>
                        <a:ea typeface="Calibri" panose="020F0502020204030204" pitchFamily="34" charset="0"/>
                      </a:endParaRPr>
                    </a:p>
                    <a:p>
                      <a:pPr algn="just">
                        <a:lnSpc>
                          <a:spcPct val="115000"/>
                        </a:lnSpc>
                        <a:spcAft>
                          <a:spcPts val="1000"/>
                        </a:spcAft>
                      </a:pPr>
                      <a:r>
                        <a:rPr lang="en-US" sz="1200" dirty="0">
                          <a:solidFill>
                            <a:schemeClr val="tx1"/>
                          </a:solidFill>
                          <a:effectLst/>
                          <a:latin typeface="+mn-lt"/>
                          <a:ea typeface="Times New Roman" panose="02020603050405020304" pitchFamily="18" charset="0"/>
                        </a:rPr>
                        <a:t>being sensitive in cross cultural communication.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Evaluate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331760516"/>
                  </a:ext>
                </a:extLst>
              </a:tr>
              <a:tr h="763998">
                <a:tc>
                  <a:txBody>
                    <a:bodyPr/>
                    <a:lstStyle/>
                    <a:p>
                      <a:pPr>
                        <a:lnSpc>
                          <a:spcPct val="115000"/>
                        </a:lnSpc>
                        <a:spcAft>
                          <a:spcPts val="1000"/>
                        </a:spcAft>
                      </a:pPr>
                      <a:r>
                        <a:rPr lang="en-US" sz="1200">
                          <a:solidFill>
                            <a:schemeClr val="tx1"/>
                          </a:solidFill>
                          <a:effectLst/>
                          <a:latin typeface="+mn-lt"/>
                        </a:rPr>
                        <a:t>CO5</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 Create original, digital content for websites, blogs, vlogs and personal social media profiles etc.</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Create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506219392"/>
                  </a:ext>
                </a:extLst>
              </a:tr>
            </a:tbl>
          </a:graphicData>
        </a:graphic>
      </p:graphicFrame>
    </p:spTree>
    <p:extLst>
      <p:ext uri="{BB962C8B-B14F-4D97-AF65-F5344CB8AC3E}">
        <p14:creationId xmlns:p14="http://schemas.microsoft.com/office/powerpoint/2010/main" val="522203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25640" y="6217921"/>
            <a:ext cx="4198620" cy="396239"/>
          </a:xfrm>
        </p:spPr>
        <p:txBody>
          <a:bodyPr>
            <a:normAutofit fontScale="55000" lnSpcReduction="20000"/>
          </a:bodyPr>
          <a:lstStyle/>
          <a:p>
            <a:pPr marL="0" indent="0">
              <a:buNone/>
            </a:pPr>
            <a:r>
              <a:rPr lang="en-IN" sz="2400" dirty="0">
                <a:hlinkClick r:id="rId2"/>
              </a:rPr>
              <a:t>https://webapps.towson.edu/ows/moduleSVAGR.htm</a:t>
            </a:r>
            <a:endParaRPr lang="en-IN" sz="2400" dirty="0"/>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494210" y="1424106"/>
            <a:ext cx="5645331" cy="4833003"/>
          </a:xfrm>
        </p:spPr>
        <p:txBody>
          <a:bodyPr>
            <a:normAutofit/>
          </a:bodyPr>
          <a:lstStyle/>
          <a:p>
            <a:pPr>
              <a:lnSpc>
                <a:spcPct val="100000"/>
              </a:lnSpc>
              <a:buFont typeface="Arial" pitchFamily="34" charset="0"/>
              <a:buChar char="•"/>
            </a:pPr>
            <a:r>
              <a:rPr lang="en-IN" sz="2800" dirty="0">
                <a:latin typeface="Arial" pitchFamily="34" charset="0"/>
                <a:cs typeface="Arial" pitchFamily="34" charset="0"/>
              </a:rPr>
              <a:t>Subjects and verbs must  AGREE with one another in number (singular or plural). </a:t>
            </a:r>
          </a:p>
          <a:p>
            <a:pPr>
              <a:lnSpc>
                <a:spcPct val="100000"/>
              </a:lnSpc>
              <a:buFont typeface="Arial" pitchFamily="34" charset="0"/>
              <a:buChar char="•"/>
            </a:pPr>
            <a:r>
              <a:rPr lang="en-IN" sz="2800" dirty="0">
                <a:latin typeface="Arial" pitchFamily="34" charset="0"/>
                <a:cs typeface="Arial" pitchFamily="34" charset="0"/>
              </a:rPr>
              <a:t>Thus, if a subject is singular, its verb must also be singular; if a subject is plural, its verb must also be plural.</a:t>
            </a:r>
          </a:p>
          <a:p>
            <a:pPr>
              <a:lnSpc>
                <a:spcPct val="100000"/>
              </a:lnSpc>
              <a:buFont typeface="Arial" pitchFamily="34" charset="0"/>
              <a:buChar char="•"/>
            </a:pPr>
            <a:endParaRPr lang="en-US" sz="2800" dirty="0">
              <a:latin typeface="Arial" pitchFamily="34" charset="0"/>
              <a:cs typeface="Arial"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1176428" y="336040"/>
            <a:ext cx="10127298"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Arial Black" pitchFamily="34" charset="0"/>
                <a:cs typeface="Arial" panose="020B0604020202020204" pitchFamily="34" charset="0"/>
              </a:rPr>
              <a:t>Subject Verb Agreement</a:t>
            </a:r>
            <a:endParaRPr lang="en-US" sz="4400" dirty="0">
              <a:latin typeface="Arial Black" pitchFamily="34" charset="0"/>
              <a:cs typeface="Arial" panose="020B0604020202020204" pitchFamily="34" charset="0"/>
            </a:endParaRPr>
          </a:p>
        </p:txBody>
      </p:sp>
      <p:sp>
        <p:nvSpPr>
          <p:cNvPr id="2" name="Rectangle 1"/>
          <p:cNvSpPr/>
          <p:nvPr/>
        </p:nvSpPr>
        <p:spPr>
          <a:xfrm>
            <a:off x="6416040" y="1508760"/>
            <a:ext cx="4869180" cy="44818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49262" y="1410788"/>
            <a:ext cx="5722938" cy="49455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930A080F-F904-4492-9B11-7FCE12D5DE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6040" y="1508759"/>
            <a:ext cx="4861560" cy="457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801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Arial Black" pitchFamily="34" charset="0"/>
                <a:cs typeface="Arial" panose="020B0604020202020204" pitchFamily="34" charset="0"/>
              </a:rPr>
              <a:t>Why Subject Verb Agreement?</a:t>
            </a:r>
            <a:endParaRPr lang="en-US" dirty="0">
              <a:latin typeface="Arial Black" pitchFamily="34" charset="0"/>
            </a:endParaRPr>
          </a:p>
        </p:txBody>
      </p:sp>
      <p:sp>
        <p:nvSpPr>
          <p:cNvPr id="3" name="Content Placeholder 2"/>
          <p:cNvSpPr>
            <a:spLocks noGrp="1"/>
          </p:cNvSpPr>
          <p:nvPr>
            <p:ph idx="1"/>
          </p:nvPr>
        </p:nvSpPr>
        <p:spPr/>
        <p:txBody>
          <a:bodyPr>
            <a:normAutofit/>
          </a:bodyPr>
          <a:lstStyle/>
          <a:p>
            <a:r>
              <a:rPr lang="en-US" dirty="0">
                <a:latin typeface="Arial" pitchFamily="34" charset="0"/>
                <a:cs typeface="Arial" pitchFamily="34" charset="0"/>
              </a:rPr>
              <a:t>Incorrect Subject Verb Agreement can cause your writing to be confusing to the reader. </a:t>
            </a:r>
          </a:p>
          <a:p>
            <a:r>
              <a:rPr lang="en-US" dirty="0">
                <a:latin typeface="Arial" pitchFamily="34" charset="0"/>
                <a:cs typeface="Arial" pitchFamily="34" charset="0"/>
              </a:rPr>
              <a:t>Example: If your subject and verb disagree you </a:t>
            </a:r>
            <a:r>
              <a:rPr lang="en-US" i="1" dirty="0">
                <a:solidFill>
                  <a:srgbClr val="FF0000"/>
                </a:solidFill>
                <a:latin typeface="Arial" panose="020B0604020202020204" pitchFamily="34" charset="0"/>
                <a:cs typeface="Arial" pitchFamily="34" charset="0"/>
              </a:rPr>
              <a:t>does</a:t>
            </a:r>
            <a:r>
              <a:rPr lang="en-US" dirty="0">
                <a:latin typeface="Arial" pitchFamily="34" charset="0"/>
                <a:cs typeface="Arial" pitchFamily="34" charset="0"/>
              </a:rPr>
              <a:t> not sound so good.</a:t>
            </a:r>
          </a:p>
          <a:p>
            <a:r>
              <a:rPr lang="en-US" dirty="0">
                <a:latin typeface="Arial" pitchFamily="34" charset="0"/>
                <a:cs typeface="Arial" pitchFamily="34" charset="0"/>
              </a:rPr>
              <a:t>She </a:t>
            </a:r>
            <a:r>
              <a:rPr lang="en-US" i="1" dirty="0">
                <a:solidFill>
                  <a:srgbClr val="FF0000"/>
                </a:solidFill>
                <a:latin typeface="Arial" panose="020B0604020202020204" pitchFamily="34" charset="0"/>
                <a:cs typeface="Arial" pitchFamily="34" charset="0"/>
              </a:rPr>
              <a:t>are</a:t>
            </a:r>
            <a:r>
              <a:rPr lang="en-US" dirty="0">
                <a:latin typeface="Arial" panose="020B0604020202020204" pitchFamily="34" charset="0"/>
                <a:cs typeface="Arial" pitchFamily="34" charset="0"/>
              </a:rPr>
              <a:t> a nice person. (Incorrect)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1</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pPr marL="0" indent="0">
              <a:buNone/>
            </a:pPr>
            <a:r>
              <a:rPr lang="en-US" dirty="0">
                <a:latin typeface="Arial" panose="020B0604020202020204" pitchFamily="34" charset="0"/>
                <a:cs typeface="Arial" panose="020B0604020202020204" pitchFamily="34" charset="0"/>
              </a:rPr>
              <a:t>Subjects and verbs </a:t>
            </a:r>
            <a:r>
              <a:rPr lang="en-US" b="1" dirty="0">
                <a:latin typeface="Arial" panose="020B0604020202020204" pitchFamily="34" charset="0"/>
                <a:cs typeface="Arial" panose="020B0604020202020204" pitchFamily="34" charset="0"/>
              </a:rPr>
              <a:t>must agree in number.</a:t>
            </a:r>
          </a:p>
          <a:p>
            <a:endParaRPr lang="en-US"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Example</a:t>
            </a:r>
            <a:r>
              <a:rPr lang="en-IN" dirty="0">
                <a:latin typeface="Arial" panose="020B0604020202020204" pitchFamily="34" charset="0"/>
                <a:cs typeface="Arial" panose="020B0604020202020204" pitchFamily="34" charset="0"/>
              </a:rPr>
              <a:t>: She writes every day.</a:t>
            </a:r>
          </a:p>
          <a:p>
            <a:pPr marL="0" indent="0">
              <a:buNone/>
            </a:pPr>
            <a:r>
              <a:rPr lang="en-IN" dirty="0">
                <a:latin typeface="Arial" panose="020B0604020202020204" pitchFamily="34" charset="0"/>
                <a:cs typeface="Arial" panose="020B0604020202020204" pitchFamily="34" charset="0"/>
              </a:rPr>
              <a:t>                 They write every day.</a:t>
            </a:r>
          </a:p>
          <a:p>
            <a:pPr marL="0" indent="0">
              <a:buNone/>
            </a:pPr>
            <a:r>
              <a:rPr lang="en-IN" dirty="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2</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Don’t get confused by the words and phrases that come between the subject and verb; they do not affect agreement.</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pPr marL="0" indent="0">
              <a:buNone/>
            </a:pPr>
            <a:r>
              <a:rPr lang="en-IN" dirty="0">
                <a:latin typeface="Arial" panose="020B0604020202020204" pitchFamily="34" charset="0"/>
                <a:cs typeface="Arial" panose="020B0604020202020204" pitchFamily="34" charset="0"/>
              </a:rPr>
              <a:t>Example: This movie, out of all other movies, is my favourite.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3</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Two singular subjects connected by </a:t>
            </a:r>
            <a:r>
              <a:rPr lang="en-US" b="1" i="1" dirty="0">
                <a:latin typeface="Arial" panose="020B0604020202020204" pitchFamily="34" charset="0"/>
                <a:cs typeface="Arial" panose="020B0604020202020204" pitchFamily="34" charset="0"/>
              </a:rPr>
              <a:t>or</a:t>
            </a:r>
            <a:r>
              <a:rPr lang="en-US" b="1"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a:t>
            </a:r>
            <a:r>
              <a:rPr lang="en-US" b="1" i="1" dirty="0">
                <a:latin typeface="Arial" panose="020B0604020202020204" pitchFamily="34" charset="0"/>
                <a:cs typeface="Arial" panose="020B0604020202020204" pitchFamily="34" charset="0"/>
              </a:rPr>
              <a:t>nor </a:t>
            </a:r>
            <a:r>
              <a:rPr lang="en-US" dirty="0">
                <a:latin typeface="Arial" panose="020B0604020202020204" pitchFamily="34" charset="0"/>
                <a:cs typeface="Arial" panose="020B0604020202020204" pitchFamily="34" charset="0"/>
              </a:rPr>
              <a:t>require a singular verb.</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pPr marL="0" indent="0">
              <a:buNone/>
            </a:pPr>
            <a:r>
              <a:rPr lang="en-IN" dirty="0">
                <a:latin typeface="Arial" panose="020B0604020202020204" pitchFamily="34" charset="0"/>
                <a:cs typeface="Arial" panose="020B0604020202020204" pitchFamily="34" charset="0"/>
              </a:rPr>
              <a:t>Example: A taxi or a bus is on its way.</a:t>
            </a:r>
          </a:p>
          <a:p>
            <a:pPr marL="0" indent="0">
              <a:buNone/>
            </a:pPr>
            <a:r>
              <a:rPr lang="en-IN" i="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A blue or White shirt is fine for an interview.</a:t>
            </a:r>
          </a:p>
          <a:p>
            <a:pPr marL="0" indent="0">
              <a:buNone/>
            </a:pPr>
            <a:r>
              <a:rPr lang="en-IN" dirty="0">
                <a:latin typeface="Arial" panose="020B0604020202020204" pitchFamily="34" charset="0"/>
                <a:cs typeface="Arial" panose="020B0604020202020204" pitchFamily="34" charset="0"/>
              </a:rPr>
              <a:t>                That guy or his friends were standing here.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4</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When sentences start with “there” or “here”, the subject will always be placed after the verb, so care needs to be taken to identify it correctly.</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pPr marL="0" indent="0">
              <a:buNone/>
            </a:pPr>
            <a:endParaRPr lang="en-IN" dirty="0">
              <a:latin typeface="Arial" panose="020B0604020202020204" pitchFamily="34" charset="0"/>
              <a:cs typeface="Arial" panose="020B0604020202020204" pitchFamily="34" charset="0"/>
            </a:endParaRPr>
          </a:p>
          <a:p>
            <a:pPr marL="0" indent="0">
              <a:buNone/>
            </a:pPr>
            <a:r>
              <a:rPr lang="en-IN" dirty="0">
                <a:latin typeface="Arial" panose="020B0604020202020204" pitchFamily="34" charset="0"/>
                <a:cs typeface="Arial" panose="020B0604020202020204" pitchFamily="34" charset="0"/>
              </a:rPr>
              <a:t>Example: There are no cookies in the jar.</a:t>
            </a:r>
          </a:p>
          <a:p>
            <a:pPr marL="0" indent="0">
              <a:buNone/>
            </a:pPr>
            <a:r>
              <a:rPr lang="en-IN" dirty="0">
                <a:latin typeface="Arial" panose="020B0604020202020204" pitchFamily="34" charset="0"/>
                <a:cs typeface="Arial" panose="020B0604020202020204" pitchFamily="34" charset="0"/>
              </a:rPr>
              <a:t>                 Here is the pen you were looking for.</a:t>
            </a:r>
          </a:p>
          <a:p>
            <a:pPr marL="0" indent="0">
              <a:buNone/>
            </a:pPr>
            <a:r>
              <a:rPr lang="en-IN" dirty="0">
                <a:latin typeface="Arial" panose="020B0604020202020204" pitchFamily="34" charset="0"/>
                <a:cs typeface="Arial" panose="020B0604020202020204" pitchFamily="34" charset="0"/>
              </a:rPr>
              <a:t>                 There is a book in my bag.</a:t>
            </a: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5</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Two singular subjects connected by </a:t>
            </a:r>
            <a:r>
              <a:rPr lang="en-US" b="1" dirty="0">
                <a:latin typeface="Arial" panose="020B0604020202020204" pitchFamily="34" charset="0"/>
                <a:cs typeface="Arial" panose="020B0604020202020204" pitchFamily="34" charset="0"/>
              </a:rPr>
              <a:t>either/or</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neither/nor</a:t>
            </a:r>
            <a:r>
              <a:rPr lang="en-US" dirty="0">
                <a:latin typeface="Arial" panose="020B0604020202020204" pitchFamily="34" charset="0"/>
                <a:cs typeface="Arial" panose="020B0604020202020204" pitchFamily="34" charset="0"/>
              </a:rPr>
              <a:t> require a singular verb.</a:t>
            </a:r>
          </a:p>
          <a:p>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Example: Either Susan or Carol has a lecture today.</a:t>
            </a:r>
          </a:p>
          <a:p>
            <a:pPr marL="0" indent="0">
              <a:buNone/>
            </a:pPr>
            <a:r>
              <a:rPr lang="en-US" dirty="0">
                <a:latin typeface="Arial" panose="020B0604020202020204" pitchFamily="34" charset="0"/>
                <a:cs typeface="Arial" panose="020B0604020202020204" pitchFamily="34" charset="0"/>
              </a:rPr>
              <a:t>                Neither Chemistry or Physics is easy to master.</a:t>
            </a:r>
          </a:p>
          <a:p>
            <a:pPr marL="0" indent="0">
              <a:buNone/>
            </a:pP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6</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If two subjects are joined by </a:t>
            </a:r>
            <a:r>
              <a:rPr lang="en-US" b="1" dirty="0">
                <a:latin typeface="Arial" panose="020B0604020202020204" pitchFamily="34" charset="0"/>
                <a:cs typeface="Arial" panose="020B0604020202020204" pitchFamily="34" charset="0"/>
              </a:rPr>
              <a:t>and</a:t>
            </a:r>
            <a:r>
              <a:rPr lang="en-US" dirty="0">
                <a:latin typeface="Arial" panose="020B0604020202020204" pitchFamily="34" charset="0"/>
                <a:cs typeface="Arial" panose="020B0604020202020204" pitchFamily="34" charset="0"/>
              </a:rPr>
              <a:t> they require a plural verb form.</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Example: James and Susan look good together.</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t>                  </a:t>
            </a:r>
            <a:endParaRPr lang="en-IN" dirty="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dirty="0">
                <a:latin typeface="Arial Black" pitchFamily="34" charset="0"/>
                <a:cs typeface="Arial" panose="020B0604020202020204" pitchFamily="34" charset="0"/>
              </a:rPr>
              <a:t>Rule 7</a:t>
            </a:r>
            <a:endParaRPr lang="en-IN"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The verb is singular if the two subjects separated by </a:t>
            </a:r>
            <a:r>
              <a:rPr lang="en-US" b="1" dirty="0">
                <a:latin typeface="Arial" panose="020B0604020202020204" pitchFamily="34" charset="0"/>
                <a:cs typeface="Arial" panose="020B0604020202020204" pitchFamily="34" charset="0"/>
              </a:rPr>
              <a:t>and </a:t>
            </a:r>
            <a:r>
              <a:rPr lang="en-US" dirty="0">
                <a:latin typeface="Arial" panose="020B0604020202020204" pitchFamily="34" charset="0"/>
                <a:cs typeface="Arial" panose="020B0604020202020204" pitchFamily="34" charset="0"/>
              </a:rPr>
              <a:t>refer to the same person or thing.</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 Red beans and rice is my mom’s </a:t>
            </a:r>
            <a:r>
              <a:rPr lang="en-US" dirty="0" err="1">
                <a:latin typeface="Arial" panose="020B0604020202020204" pitchFamily="34" charset="0"/>
                <a:cs typeface="Arial" panose="020B0604020202020204" pitchFamily="34" charset="0"/>
              </a:rPr>
              <a:t>favourite</a:t>
            </a:r>
            <a:r>
              <a:rPr lang="en-US" dirty="0">
                <a:latin typeface="Arial" panose="020B0604020202020204" pitchFamily="34" charset="0"/>
                <a:cs typeface="Arial" panose="020B0604020202020204" pitchFamily="34" charset="0"/>
              </a:rPr>
              <a:t> dish.</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8</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If one of the words </a:t>
            </a:r>
            <a:r>
              <a:rPr lang="en-US" b="1" dirty="0">
                <a:latin typeface="Arial" panose="020B0604020202020204" pitchFamily="34" charset="0"/>
                <a:cs typeface="Arial" panose="020B0604020202020204" pitchFamily="34" charset="0"/>
              </a:rPr>
              <a:t>each</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every</a:t>
            </a:r>
            <a:r>
              <a:rPr lang="en-US" dirty="0">
                <a:latin typeface="Arial" panose="020B0604020202020204" pitchFamily="34" charset="0"/>
                <a:cs typeface="Arial" panose="020B0604020202020204" pitchFamily="34" charset="0"/>
              </a:rPr>
              <a:t> or </a:t>
            </a:r>
            <a:r>
              <a:rPr lang="en-US" b="1" dirty="0">
                <a:latin typeface="Arial" panose="020B0604020202020204" pitchFamily="34" charset="0"/>
                <a:cs typeface="Arial" panose="020B0604020202020204" pitchFamily="34" charset="0"/>
              </a:rPr>
              <a:t>no</a:t>
            </a:r>
            <a:r>
              <a:rPr lang="en-US" dirty="0">
                <a:latin typeface="Arial" panose="020B0604020202020204" pitchFamily="34" charset="0"/>
                <a:cs typeface="Arial" panose="020B0604020202020204" pitchFamily="34" charset="0"/>
              </a:rPr>
              <a:t> comes before the subject, the verb is singular.</a:t>
            </a:r>
          </a:p>
          <a:p>
            <a:endParaRPr lang="en-US" dirty="0">
              <a:latin typeface="Arial" panose="020B0604020202020204" pitchFamily="34" charset="0"/>
              <a:cs typeface="Arial" panose="020B0604020202020204" pitchFamily="34" charset="0"/>
            </a:endParaRPr>
          </a:p>
          <a:p>
            <a:pPr marL="0" lvl="0" indent="0">
              <a:buNone/>
            </a:pPr>
            <a:r>
              <a:rPr lang="en-US" dirty="0">
                <a:latin typeface="Arial" panose="020B0604020202020204" pitchFamily="34" charset="0"/>
                <a:cs typeface="Arial" panose="020B0604020202020204" pitchFamily="34" charset="0"/>
              </a:rPr>
              <a:t>Example: No smoking or drinking is allowed.</a:t>
            </a:r>
            <a:endParaRPr lang="en-IN" dirty="0">
              <a:latin typeface="Arial" panose="020B0604020202020204" pitchFamily="34" charset="0"/>
              <a:cs typeface="Arial" panose="020B0604020202020204" pitchFamily="34" charset="0"/>
            </a:endParaRPr>
          </a:p>
          <a:p>
            <a:pPr marL="0" lvl="0" indent="0">
              <a:buNone/>
            </a:pPr>
            <a:r>
              <a:rPr lang="en-US" dirty="0">
                <a:latin typeface="Arial" panose="020B0604020202020204" pitchFamily="34" charset="0"/>
                <a:cs typeface="Arial" panose="020B0604020202020204" pitchFamily="34" charset="0"/>
              </a:rPr>
              <a:t>                Every man and woman is required to check in.</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9</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Phrases such as </a:t>
            </a:r>
            <a:r>
              <a:rPr lang="en-US" b="1" dirty="0">
                <a:latin typeface="Arial" panose="020B0604020202020204" pitchFamily="34" charset="0"/>
                <a:cs typeface="Arial" panose="020B0604020202020204" pitchFamily="34" charset="0"/>
              </a:rPr>
              <a:t>together with</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as well as</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along with </a:t>
            </a:r>
            <a:r>
              <a:rPr lang="en-US" dirty="0">
                <a:latin typeface="Arial" panose="020B0604020202020204" pitchFamily="34" charset="0"/>
                <a:cs typeface="Arial" panose="020B0604020202020204" pitchFamily="34" charset="0"/>
              </a:rPr>
              <a:t>are not the same as</a:t>
            </a:r>
            <a:r>
              <a:rPr lang="en-US" b="1" dirty="0">
                <a:latin typeface="Arial" panose="020B0604020202020204" pitchFamily="34" charset="0"/>
                <a:cs typeface="Arial" panose="020B0604020202020204" pitchFamily="34" charset="0"/>
              </a:rPr>
              <a:t> and. </a:t>
            </a:r>
            <a:r>
              <a:rPr lang="en-US" dirty="0">
                <a:latin typeface="Arial" panose="020B0604020202020204" pitchFamily="34" charset="0"/>
                <a:cs typeface="Arial" panose="020B0604020202020204" pitchFamily="34" charset="0"/>
              </a:rPr>
              <a:t>The phrase introduced by </a:t>
            </a:r>
            <a:r>
              <a:rPr lang="en-US" b="1" dirty="0">
                <a:latin typeface="Arial" panose="020B0604020202020204" pitchFamily="34" charset="0"/>
                <a:cs typeface="Arial" panose="020B0604020202020204" pitchFamily="34" charset="0"/>
              </a:rPr>
              <a:t>as well as</a:t>
            </a:r>
            <a:r>
              <a:rPr lang="en-US" dirty="0">
                <a:latin typeface="Arial" panose="020B0604020202020204" pitchFamily="34" charset="0"/>
                <a:cs typeface="Arial" panose="020B0604020202020204" pitchFamily="34" charset="0"/>
              </a:rPr>
              <a:t> or </a:t>
            </a:r>
            <a:r>
              <a:rPr lang="en-US" b="1" dirty="0">
                <a:latin typeface="Arial" panose="020B0604020202020204" pitchFamily="34" charset="0"/>
                <a:cs typeface="Arial" panose="020B0604020202020204" pitchFamily="34" charset="0"/>
              </a:rPr>
              <a:t>along with</a:t>
            </a:r>
            <a:r>
              <a:rPr lang="en-US" dirty="0">
                <a:latin typeface="Arial" panose="020B0604020202020204" pitchFamily="34" charset="0"/>
                <a:cs typeface="Arial" panose="020B0604020202020204" pitchFamily="34" charset="0"/>
              </a:rPr>
              <a:t> will modify the earlier word (mayor in this case), but it does not compound the subjects (as the word and would do).</a:t>
            </a:r>
          </a:p>
          <a:p>
            <a:endParaRPr lang="en-US" dirty="0">
              <a:latin typeface="Arial" panose="020B0604020202020204" pitchFamily="34" charset="0"/>
              <a:cs typeface="Arial" panose="020B0604020202020204" pitchFamily="34" charset="0"/>
            </a:endParaRPr>
          </a:p>
          <a:p>
            <a:pPr marL="0" lvl="0" indent="0">
              <a:buNone/>
            </a:pPr>
            <a:r>
              <a:rPr lang="en-US" dirty="0">
                <a:latin typeface="Arial" panose="020B0604020202020204" pitchFamily="34" charset="0"/>
                <a:cs typeface="Arial" panose="020B0604020202020204" pitchFamily="34" charset="0"/>
              </a:rPr>
              <a:t>Example: The mayor as well as his brother is going to prison.</a:t>
            </a:r>
            <a:endParaRPr lang="en-IN" dirty="0">
              <a:latin typeface="Arial" panose="020B0604020202020204" pitchFamily="34" charset="0"/>
              <a:cs typeface="Arial" panose="020B0604020202020204" pitchFamily="34" charset="0"/>
            </a:endParaRPr>
          </a:p>
          <a:p>
            <a:pPr marL="0" lvl="0" indent="0">
              <a:buNone/>
            </a:pPr>
            <a:r>
              <a:rPr lang="en-US" dirty="0">
                <a:latin typeface="Arial" panose="020B0604020202020204" pitchFamily="34" charset="0"/>
                <a:cs typeface="Arial" panose="020B0604020202020204" pitchFamily="34" charset="0"/>
              </a:rPr>
              <a:t>                 The mayor and his brothers are going to jail.</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10</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The singular verb form is usually used for </a:t>
            </a:r>
            <a:r>
              <a:rPr lang="en-US" b="1" dirty="0">
                <a:latin typeface="Arial" panose="020B0604020202020204" pitchFamily="34" charset="0"/>
                <a:cs typeface="Arial" panose="020B0604020202020204" pitchFamily="34" charset="0"/>
              </a:rPr>
              <a:t>units of measurement</a:t>
            </a:r>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 Four quarts of oil was required to get the car running.</a:t>
            </a:r>
            <a:endParaRPr lang="en-IN"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11</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When </a:t>
            </a:r>
            <a:r>
              <a:rPr lang="en-US" b="1" i="1" dirty="0">
                <a:latin typeface="Arial" panose="020B0604020202020204" pitchFamily="34" charset="0"/>
                <a:cs typeface="Arial" panose="020B0604020202020204" pitchFamily="34" charset="0"/>
              </a:rPr>
              <a:t>I </a:t>
            </a:r>
            <a:r>
              <a:rPr lang="en-US" dirty="0">
                <a:latin typeface="Arial" panose="020B0604020202020204" pitchFamily="34" charset="0"/>
                <a:cs typeface="Arial" panose="020B0604020202020204" pitchFamily="34" charset="0"/>
              </a:rPr>
              <a:t>is one of the two subjects connected by either/or </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neither/nor, put it second and follow with the singular verb </a:t>
            </a:r>
            <a:r>
              <a:rPr lang="en-US" b="1" i="1" dirty="0">
                <a:latin typeface="Arial" panose="020B0604020202020204" pitchFamily="34" charset="0"/>
                <a:cs typeface="Arial" panose="020B0604020202020204" pitchFamily="34" charset="0"/>
              </a:rPr>
              <a:t>am</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 Neither she nor I am going to the festival.</a:t>
            </a:r>
            <a:endParaRPr lang="en-IN"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val="1673679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12</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Sometimes nouns seem they are plural when they are really singular and vice-versa. Words such as glasses, pants, pliers, and scissors are regarded as plural (and require plural verbs) unless they are preceded by the phrase pair of (in which case the word pair becomes the subject).</a:t>
            </a:r>
          </a:p>
          <a:p>
            <a:endParaRPr lang="en-US" dirty="0">
              <a:latin typeface="Arial" panose="020B0604020202020204" pitchFamily="34" charset="0"/>
              <a:cs typeface="Arial" panose="020B0604020202020204" pitchFamily="34" charset="0"/>
            </a:endParaRPr>
          </a:p>
          <a:p>
            <a:pPr lvl="0"/>
            <a:r>
              <a:rPr lang="en-US" dirty="0">
                <a:latin typeface="Arial" panose="020B0604020202020204" pitchFamily="34" charset="0"/>
                <a:cs typeface="Arial" panose="020B0604020202020204" pitchFamily="34" charset="0"/>
              </a:rPr>
              <a:t>Example: My glasses </a:t>
            </a:r>
            <a:r>
              <a:rPr lang="en-US" i="1" dirty="0">
                <a:latin typeface="Arial" panose="020B0604020202020204" pitchFamily="34" charset="0"/>
                <a:cs typeface="Arial" panose="020B0604020202020204" pitchFamily="34" charset="0"/>
              </a:rPr>
              <a:t>were</a:t>
            </a:r>
            <a:r>
              <a:rPr lang="en-US" dirty="0">
                <a:latin typeface="Arial" panose="020B0604020202020204" pitchFamily="34" charset="0"/>
                <a:cs typeface="Arial" panose="020B0604020202020204" pitchFamily="34" charset="0"/>
              </a:rPr>
              <a:t> on the bed.</a:t>
            </a:r>
            <a:endParaRPr lang="en-IN" dirty="0">
              <a:latin typeface="Arial" panose="020B0604020202020204" pitchFamily="34" charset="0"/>
              <a:cs typeface="Arial" panose="020B0604020202020204" pitchFamily="34" charset="0"/>
            </a:endParaRPr>
          </a:p>
          <a:p>
            <a:pPr marL="0" lvl="0" indent="0">
              <a:buNone/>
            </a:pPr>
            <a:r>
              <a:rPr lang="en-US" dirty="0">
                <a:latin typeface="Arial" panose="020B0604020202020204" pitchFamily="34" charset="0"/>
                <a:cs typeface="Arial" panose="020B0604020202020204" pitchFamily="34" charset="0"/>
              </a:rPr>
              <a:t>                   My pants </a:t>
            </a:r>
            <a:r>
              <a:rPr lang="en-US" i="1" dirty="0">
                <a:latin typeface="Arial" panose="020B0604020202020204" pitchFamily="34" charset="0"/>
                <a:cs typeface="Arial" panose="020B0604020202020204" pitchFamily="34" charset="0"/>
              </a:rPr>
              <a:t>were</a:t>
            </a:r>
            <a:r>
              <a:rPr lang="en-US" dirty="0">
                <a:latin typeface="Arial" panose="020B0604020202020204" pitchFamily="34" charset="0"/>
                <a:cs typeface="Arial" panose="020B0604020202020204" pitchFamily="34" charset="0"/>
              </a:rPr>
              <a:t> torn.</a:t>
            </a:r>
          </a:p>
          <a:p>
            <a:pPr marL="0" lvl="0" indent="0">
              <a:buNone/>
            </a:pPr>
            <a:r>
              <a:rPr lang="en-US" dirty="0">
                <a:latin typeface="Arial" panose="020B0604020202020204" pitchFamily="34" charset="0"/>
                <a:cs typeface="Arial" panose="020B0604020202020204" pitchFamily="34" charset="0"/>
              </a:rPr>
              <a:t>                   A pair of my jeans is in the closet.</a:t>
            </a:r>
            <a:endParaRPr lang="en-IN" dirty="0">
              <a:latin typeface="Arial" panose="020B0604020202020204" pitchFamily="34" charset="0"/>
              <a:cs typeface="Arial" panose="020B0604020202020204" pitchFamily="34" charset="0"/>
            </a:endParaRPr>
          </a:p>
          <a:p>
            <a:pPr marL="0" indent="0">
              <a:buNone/>
            </a:pPr>
            <a:endParaRPr lang="en-IN" dirty="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extLst>
      <p:ext uri="{BB962C8B-B14F-4D97-AF65-F5344CB8AC3E}">
        <p14:creationId xmlns:p14="http://schemas.microsoft.com/office/powerpoint/2010/main" val="906002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13</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If one subject is singular and one plural and the words are connected by the words or, nor, neither/nor, either/or, and not only/but also, you use the verb form of the subject that is nearest the verb.</a:t>
            </a:r>
          </a:p>
          <a:p>
            <a:endParaRPr lang="en-US" dirty="0">
              <a:latin typeface="Arial" panose="020B0604020202020204" pitchFamily="34" charset="0"/>
              <a:cs typeface="Arial" panose="020B0604020202020204" pitchFamily="34" charset="0"/>
            </a:endParaRPr>
          </a:p>
          <a:p>
            <a:pPr lvl="0"/>
            <a:r>
              <a:rPr lang="en-US" dirty="0">
                <a:latin typeface="Arial" panose="020B0604020202020204" pitchFamily="34" charset="0"/>
                <a:cs typeface="Arial" panose="020B0604020202020204" pitchFamily="34" charset="0"/>
              </a:rPr>
              <a:t>Example: Either the bears or the lion has escaped from the zoo.</a:t>
            </a:r>
            <a:endParaRPr lang="en-IN" dirty="0">
              <a:latin typeface="Arial" panose="020B0604020202020204" pitchFamily="34" charset="0"/>
              <a:cs typeface="Arial" panose="020B0604020202020204" pitchFamily="34" charset="0"/>
            </a:endParaRPr>
          </a:p>
          <a:p>
            <a:pPr marL="0" lvl="0" indent="0">
              <a:buNone/>
            </a:pPr>
            <a:r>
              <a:rPr lang="en-US" dirty="0">
                <a:latin typeface="Arial" panose="020B0604020202020204" pitchFamily="34" charset="0"/>
                <a:cs typeface="Arial" panose="020B0604020202020204" pitchFamily="34" charset="0"/>
              </a:rPr>
              <a:t>                   Neither the lion nor the bears have escaped from the zoo.</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Tree>
    <p:extLst>
      <p:ext uri="{BB962C8B-B14F-4D97-AF65-F5344CB8AC3E}">
        <p14:creationId xmlns:p14="http://schemas.microsoft.com/office/powerpoint/2010/main" val="2619738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14</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Use a singular verb with sums of money or periods of time.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lvl="0"/>
            <a:r>
              <a:rPr lang="en-US" dirty="0">
                <a:latin typeface="Arial" panose="020B0604020202020204" pitchFamily="34" charset="0"/>
                <a:cs typeface="Arial" panose="020B0604020202020204" pitchFamily="34" charset="0"/>
              </a:rPr>
              <a:t>Example: Ten dollars is a high price to pay.</a:t>
            </a:r>
            <a:endParaRPr lang="en-IN" dirty="0">
              <a:latin typeface="Arial" panose="020B0604020202020204" pitchFamily="34" charset="0"/>
              <a:cs typeface="Arial" panose="020B0604020202020204" pitchFamily="34" charset="0"/>
            </a:endParaRPr>
          </a:p>
          <a:p>
            <a:pPr marL="0" lvl="0" indent="0">
              <a:buNone/>
            </a:pPr>
            <a:r>
              <a:rPr lang="en-US" dirty="0">
                <a:latin typeface="Arial" panose="020B0604020202020204" pitchFamily="34" charset="0"/>
                <a:cs typeface="Arial" panose="020B0604020202020204" pitchFamily="34" charset="0"/>
              </a:rPr>
              <a:t>                   Five years is the maximum sentence for that offense.</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965965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15</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Collective nouns like herd, senate, class, crowd, etc. usually take a singular verb form.</a:t>
            </a:r>
          </a:p>
          <a:p>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Example: The herd is stampeding.</a:t>
            </a:r>
          </a:p>
          <a:p>
            <a:pPr marL="0" indent="0">
              <a:buNone/>
            </a:pPr>
            <a:r>
              <a:rPr lang="en-US" dirty="0">
                <a:latin typeface="Arial" panose="020B0604020202020204" pitchFamily="34" charset="0"/>
                <a:cs typeface="Arial" panose="020B0604020202020204" pitchFamily="34" charset="0"/>
              </a:rPr>
              <a:t>                 The Senate has taken a unanimous decision.</a:t>
            </a:r>
            <a:endParaRPr lang="en-IN" dirty="0">
              <a:latin typeface="Arial" panose="020B0604020202020204" pitchFamily="34" charset="0"/>
              <a:cs typeface="Arial" panose="020B0604020202020204" pitchFamily="34" charset="0"/>
            </a:endParaRPr>
          </a:p>
          <a:p>
            <a:pPr marL="0" indent="0">
              <a:buNone/>
            </a:pPr>
            <a:endParaRPr lang="en-IN"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2867748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16</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normAutofit lnSpcReduction="10000"/>
          </a:bodyPr>
          <a:lstStyle/>
          <a:p>
            <a:r>
              <a:rPr lang="en-US" dirty="0">
                <a:latin typeface="Arial" panose="020B0604020202020204" pitchFamily="34" charset="0"/>
                <a:cs typeface="Arial" panose="020B0604020202020204" pitchFamily="34" charset="0"/>
              </a:rPr>
              <a:t>The indefinite pronouns </a:t>
            </a:r>
            <a:r>
              <a:rPr lang="en-US" b="1" dirty="0">
                <a:latin typeface="Arial" panose="020B0604020202020204" pitchFamily="34" charset="0"/>
                <a:cs typeface="Arial" panose="020B0604020202020204" pitchFamily="34" charset="0"/>
              </a:rPr>
              <a:t>anyone, everyone, someone, no one, nobody</a:t>
            </a:r>
            <a:r>
              <a:rPr lang="en-US" dirty="0">
                <a:latin typeface="Arial" panose="020B0604020202020204" pitchFamily="34" charset="0"/>
                <a:cs typeface="Arial" panose="020B0604020202020204" pitchFamily="34" charset="0"/>
              </a:rPr>
              <a:t>, are always singular and, therefore, require singular verbs. </a:t>
            </a:r>
            <a:r>
              <a:rPr lang="en-US" b="1" dirty="0">
                <a:latin typeface="Arial" panose="020B0604020202020204" pitchFamily="34" charset="0"/>
                <a:cs typeface="Arial" panose="020B0604020202020204" pitchFamily="34" charset="0"/>
              </a:rPr>
              <a:t>Everyone</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everybody</a:t>
            </a:r>
            <a:r>
              <a:rPr lang="en-US" dirty="0">
                <a:latin typeface="Arial" panose="020B0604020202020204" pitchFamily="34" charset="0"/>
                <a:cs typeface="Arial" panose="020B0604020202020204" pitchFamily="34" charset="0"/>
              </a:rPr>
              <a:t> certainly feel like more than one person and, therefore, students are sometimes tempted to use a plural verb with them. </a:t>
            </a:r>
            <a:r>
              <a:rPr lang="en-US" b="1" dirty="0">
                <a:latin typeface="Arial" panose="020B0604020202020204" pitchFamily="34" charset="0"/>
                <a:cs typeface="Arial" panose="020B0604020202020204" pitchFamily="34" charset="0"/>
              </a:rPr>
              <a:t>Each</a:t>
            </a:r>
            <a:r>
              <a:rPr lang="en-US" dirty="0">
                <a:latin typeface="Arial" panose="020B0604020202020204" pitchFamily="34" charset="0"/>
                <a:cs typeface="Arial" panose="020B0604020202020204" pitchFamily="34" charset="0"/>
              </a:rPr>
              <a:t> is often followed by a prepositional phrase ending in a plural word (Each of the cars), thus confusing the verb choice. Each, too, is always singular and requires a singular verb.</a:t>
            </a:r>
          </a:p>
          <a:p>
            <a:endParaRPr lang="en-US" dirty="0">
              <a:latin typeface="Arial" panose="020B0604020202020204" pitchFamily="34" charset="0"/>
              <a:cs typeface="Arial" panose="020B0604020202020204" pitchFamily="34" charset="0"/>
            </a:endParaRPr>
          </a:p>
          <a:p>
            <a:pPr lvl="0"/>
            <a:r>
              <a:rPr lang="en-US" dirty="0">
                <a:latin typeface="Arial" panose="020B0604020202020204" pitchFamily="34" charset="0"/>
                <a:cs typeface="Arial" panose="020B0604020202020204" pitchFamily="34" charset="0"/>
              </a:rPr>
              <a:t>Example: Everyone has done his or her homework.</a:t>
            </a:r>
            <a:endParaRPr lang="en-IN" dirty="0">
              <a:latin typeface="Arial" panose="020B0604020202020204" pitchFamily="34" charset="0"/>
              <a:cs typeface="Arial" panose="020B0604020202020204" pitchFamily="34" charset="0"/>
            </a:endParaRPr>
          </a:p>
          <a:p>
            <a:pPr marL="0" lvl="0" indent="0">
              <a:buNone/>
            </a:pPr>
            <a:r>
              <a:rPr lang="en-US" dirty="0">
                <a:latin typeface="Arial" panose="020B0604020202020204" pitchFamily="34" charset="0"/>
                <a:cs typeface="Arial" panose="020B0604020202020204" pitchFamily="34" charset="0"/>
              </a:rPr>
              <a:t>                   Somebody has left her purse.</a:t>
            </a:r>
            <a:endParaRPr lang="en-IN" dirty="0">
              <a:latin typeface="Arial" panose="020B0604020202020204" pitchFamily="34" charset="0"/>
              <a:cs typeface="Arial" panose="020B0604020202020204" pitchFamily="34" charset="0"/>
            </a:endParaRPr>
          </a:p>
          <a:p>
            <a:endParaRPr lang="en-IN" dirty="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val="3148715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17</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Some words end in -s and appear to be plural but are really singular and require singular verbs.</a:t>
            </a:r>
          </a:p>
          <a:p>
            <a:endParaRPr lang="en-US" dirty="0">
              <a:latin typeface="Arial" panose="020B0604020202020204" pitchFamily="34" charset="0"/>
              <a:cs typeface="Arial" panose="020B0604020202020204" pitchFamily="34" charset="0"/>
            </a:endParaRPr>
          </a:p>
          <a:p>
            <a:pPr lvl="0"/>
            <a:r>
              <a:rPr lang="en-US" dirty="0">
                <a:latin typeface="Arial" panose="020B0604020202020204" pitchFamily="34" charset="0"/>
                <a:cs typeface="Arial" panose="020B0604020202020204" pitchFamily="34" charset="0"/>
              </a:rPr>
              <a:t>Example: The news from the front is bad.</a:t>
            </a:r>
            <a:endParaRPr lang="en-IN"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Measles is a dangerous disease for pregnant women.</a:t>
            </a:r>
            <a:endParaRPr lang="en-IN"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p14="http://schemas.microsoft.com/office/powerpoint/2010/main" val="2681155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18</a:t>
            </a:r>
            <a:endParaRPr lang="en-IN" b="1" dirty="0">
              <a:latin typeface="Arial Black"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
        <p:nvSpPr>
          <p:cNvPr id="3" name="Content Placeholder 2"/>
          <p:cNvSpPr>
            <a:spLocks noGrp="1"/>
          </p:cNvSpPr>
          <p:nvPr>
            <p:ph idx="1"/>
          </p:nvPr>
        </p:nvSpPr>
        <p:spPr>
          <a:ln>
            <a:solidFill>
              <a:schemeClr val="tx1"/>
            </a:solidFill>
          </a:ln>
        </p:spPr>
        <p:txBody>
          <a:bodyPr>
            <a:noAutofit/>
          </a:bodyPr>
          <a:lstStyle/>
          <a:p>
            <a:pPr>
              <a:lnSpc>
                <a:spcPct val="100000"/>
              </a:lnSpc>
            </a:pPr>
            <a:r>
              <a:rPr lang="en-US" dirty="0">
                <a:latin typeface="Arial" panose="020B0604020202020204" pitchFamily="34" charset="0"/>
                <a:cs typeface="Arial" panose="020B0604020202020204" pitchFamily="34" charset="0"/>
              </a:rPr>
              <a:t>Fractional expressions such as half of, a part of, a percentage of, a majority of are sometimes singular and sometimes plural, depending on the meaning. Sums and products of mathematical processes are expressed as singular and require singular verbs. The expression “more than one” takes a singular verb: “More than one student has tried this.” </a:t>
            </a:r>
            <a:r>
              <a:rPr lang="en-US" b="1" dirty="0">
                <a:latin typeface="Arial" panose="020B0604020202020204" pitchFamily="34" charset="0"/>
                <a:cs typeface="Arial" panose="020B0604020202020204" pitchFamily="34" charset="0"/>
              </a:rPr>
              <a:t>Example</a:t>
            </a:r>
            <a:r>
              <a:rPr lang="en-US" dirty="0">
                <a:latin typeface="Arial" panose="020B0604020202020204" pitchFamily="34" charset="0"/>
                <a:cs typeface="Arial" panose="020B0604020202020204" pitchFamily="34" charset="0"/>
              </a:rPr>
              <a:t>:</a:t>
            </a:r>
          </a:p>
          <a:p>
            <a:pPr marL="0" indent="0">
              <a:lnSpc>
                <a:spcPct val="100000"/>
              </a:lnSpc>
            </a:pPr>
            <a:r>
              <a:rPr lang="en-US" dirty="0">
                <a:latin typeface="Arial" panose="020B0604020202020204" pitchFamily="34" charset="0"/>
                <a:cs typeface="Arial" panose="020B0604020202020204" pitchFamily="34" charset="0"/>
              </a:rPr>
              <a:t>Some of the voters are still angry.</a:t>
            </a:r>
            <a:endParaRPr lang="en-IN" dirty="0">
              <a:latin typeface="Arial" panose="020B0604020202020204" pitchFamily="34" charset="0"/>
              <a:cs typeface="Arial" panose="020B0604020202020204" pitchFamily="34" charset="0"/>
            </a:endParaRPr>
          </a:p>
          <a:p>
            <a:pPr marL="0" indent="0">
              <a:lnSpc>
                <a:spcPct val="100000"/>
              </a:lnSpc>
            </a:pPr>
            <a:r>
              <a:rPr lang="en-US" dirty="0">
                <a:latin typeface="Arial" panose="020B0604020202020204" pitchFamily="34" charset="0"/>
                <a:cs typeface="Arial" panose="020B0604020202020204" pitchFamily="34" charset="0"/>
              </a:rPr>
              <a:t>A large percentage of the older population is voting against her.</a:t>
            </a:r>
            <a:endParaRPr lang="en-IN" dirty="0">
              <a:latin typeface="Arial" panose="020B0604020202020204" pitchFamily="34" charset="0"/>
              <a:cs typeface="Arial" panose="020B0604020202020204" pitchFamily="34" charset="0"/>
            </a:endParaRPr>
          </a:p>
          <a:p>
            <a:pPr marL="0" indent="0">
              <a:lnSpc>
                <a:spcPct val="100000"/>
              </a:lnSpc>
            </a:pPr>
            <a:r>
              <a:rPr lang="en-US" dirty="0">
                <a:latin typeface="Arial" panose="020B0604020202020204" pitchFamily="34" charset="0"/>
                <a:cs typeface="Arial" panose="020B0604020202020204" pitchFamily="34" charset="0"/>
              </a:rPr>
              <a:t>Two-fifths of the troops were lost in the battle.</a:t>
            </a:r>
            <a:endParaRPr lang="en-IN" dirty="0"/>
          </a:p>
        </p:txBody>
      </p:sp>
    </p:spTree>
    <p:extLst>
      <p:ext uri="{BB962C8B-B14F-4D97-AF65-F5344CB8AC3E}">
        <p14:creationId xmlns:p14="http://schemas.microsoft.com/office/powerpoint/2010/main" val="3297848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Rule 19</a:t>
            </a:r>
            <a:endParaRPr lang="en-IN" b="1" dirty="0">
              <a:latin typeface="Arial Black" pitchFamily="34" charset="0"/>
              <a:cs typeface="Arial" panose="020B0604020202020204" pitchFamily="34" charset="0"/>
            </a:endParaRPr>
          </a:p>
        </p:txBody>
      </p:sp>
      <p:sp>
        <p:nvSpPr>
          <p:cNvPr id="3" name="Content Placeholder 2"/>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If a sentence compounds a positive and a negative subject and one is plural, the other singular, the verb should agree with positive subject.</a:t>
            </a:r>
          </a:p>
          <a:p>
            <a:endParaRPr lang="en-US" dirty="0">
              <a:latin typeface="Arial" panose="020B0604020202020204" pitchFamily="34" charset="0"/>
              <a:cs typeface="Arial" panose="020B0604020202020204" pitchFamily="34" charset="0"/>
            </a:endParaRPr>
          </a:p>
          <a:p>
            <a:pPr marL="0" lvl="0" indent="0">
              <a:buNone/>
            </a:pPr>
            <a:r>
              <a:rPr lang="en-US" dirty="0">
                <a:latin typeface="Arial" panose="020B0604020202020204" pitchFamily="34" charset="0"/>
                <a:cs typeface="Arial" panose="020B0604020202020204" pitchFamily="34" charset="0"/>
              </a:rPr>
              <a:t>Example: It is not the faculty members but the president who decided this issue.</a:t>
            </a:r>
            <a:endParaRPr lang="en-IN" dirty="0">
              <a:latin typeface="Arial" panose="020B0604020202020204" pitchFamily="34" charset="0"/>
              <a:cs typeface="Arial" panose="020B0604020202020204" pitchFamily="34" charset="0"/>
            </a:endParaRPr>
          </a:p>
          <a:p>
            <a:pPr marL="0" lvl="0" indent="0">
              <a:buNone/>
            </a:pPr>
            <a:r>
              <a:rPr lang="en-US" dirty="0">
                <a:latin typeface="Arial" panose="020B0604020202020204" pitchFamily="34" charset="0"/>
                <a:cs typeface="Arial" panose="020B0604020202020204" pitchFamily="34" charset="0"/>
              </a:rPr>
              <a:t>It was the speaker, not his ideas, that has provoked the students to riot.</a:t>
            </a:r>
            <a:endParaRPr lang="en-IN" dirty="0">
              <a:latin typeface="Arial" panose="020B0604020202020204" pitchFamily="34" charset="0"/>
              <a:cs typeface="Arial" panose="020B0604020202020204" pitchFamily="34" charset="0"/>
            </a:endParaRPr>
          </a:p>
          <a:p>
            <a:pPr marL="0" lvl="0" indent="0">
              <a:buNone/>
            </a:pPr>
            <a:endParaRPr lang="en-IN" dirty="0">
              <a:latin typeface="Arial" panose="020B0604020202020204" pitchFamily="34" charset="0"/>
              <a:cs typeface="Arial" panose="020B0604020202020204" pitchFamily="34" charset="0"/>
            </a:endParaRPr>
          </a:p>
          <a:p>
            <a:pPr marL="0" indent="0">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Tree>
    <p:extLst>
      <p:ext uri="{BB962C8B-B14F-4D97-AF65-F5344CB8AC3E}">
        <p14:creationId xmlns:p14="http://schemas.microsoft.com/office/powerpoint/2010/main" val="1997526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254A0-1728-4380-91F6-BCBEDB9EE5D8}"/>
              </a:ext>
            </a:extLst>
          </p:cNvPr>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Exercise</a:t>
            </a:r>
            <a:endParaRPr lang="en-IN" b="1" dirty="0">
              <a:latin typeface="Arial Black"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BAC33BD-B11A-4C23-8906-08A61315492C}"/>
              </a:ext>
            </a:extLst>
          </p:cNvPr>
          <p:cNvSpPr>
            <a:spLocks noGrp="1"/>
          </p:cNvSpPr>
          <p:nvPr>
            <p:ph idx="1"/>
          </p:nvPr>
        </p:nvSpPr>
        <p:spPr>
          <a:ln>
            <a:solidFill>
              <a:schemeClr val="tx1"/>
            </a:solidFill>
          </a:ln>
        </p:spPr>
        <p:txBody>
          <a:bodyPr/>
          <a:lstStyle/>
          <a:p>
            <a:pPr marL="514350" indent="-514350">
              <a:buFont typeface="+mj-lt"/>
              <a:buAutoNum type="arabicPeriod"/>
            </a:pPr>
            <a:r>
              <a:rPr lang="en-US" dirty="0">
                <a:latin typeface="Arial" panose="020B0604020202020204" pitchFamily="34" charset="0"/>
                <a:cs typeface="Arial" panose="020B0604020202020204" pitchFamily="34" charset="0"/>
              </a:rPr>
              <a:t>A bouquet of yellow roses </a:t>
            </a:r>
            <a:r>
              <a:rPr lang="en-US" u="sng" dirty="0">
                <a:latin typeface="Arial" panose="020B0604020202020204" pitchFamily="34" charset="0"/>
                <a:cs typeface="Arial" panose="020B0604020202020204" pitchFamily="34" charset="0"/>
              </a:rPr>
              <a:t>lend/lends </a:t>
            </a:r>
            <a:r>
              <a:rPr lang="en-US" dirty="0">
                <a:latin typeface="Arial" panose="020B0604020202020204" pitchFamily="34" charset="0"/>
                <a:cs typeface="Arial" panose="020B0604020202020204" pitchFamily="34" charset="0"/>
              </a:rPr>
              <a:t>color and fragrance to the room.</a:t>
            </a:r>
          </a:p>
          <a:p>
            <a:pPr marL="514350" indent="-514350">
              <a:buFont typeface="+mj-lt"/>
              <a:buAutoNum type="arabicPeriod"/>
            </a:pPr>
            <a:r>
              <a:rPr lang="en-US" dirty="0">
                <a:latin typeface="Arial" panose="020B0604020202020204" pitchFamily="34" charset="0"/>
                <a:cs typeface="Arial" panose="020B0604020202020204" pitchFamily="34" charset="0"/>
              </a:rPr>
              <a:t>Annie and her brothers (is, are) at school.</a:t>
            </a:r>
          </a:p>
          <a:p>
            <a:pPr marL="514350" indent="-514350">
              <a:buFont typeface="+mj-lt"/>
              <a:buAutoNum type="arabicPeriod"/>
            </a:pPr>
            <a:r>
              <a:rPr lang="en-US" dirty="0">
                <a:latin typeface="Arial" panose="020B0604020202020204" pitchFamily="34" charset="0"/>
                <a:cs typeface="Arial" panose="020B0604020202020204" pitchFamily="34" charset="0"/>
              </a:rPr>
              <a:t>George and Tamara (doesn't, don't) want to see that movie.</a:t>
            </a:r>
          </a:p>
          <a:p>
            <a:pPr marL="514350" indent="-514350">
              <a:buFont typeface="+mj-lt"/>
              <a:buAutoNum type="arabicPeriod"/>
            </a:pPr>
            <a:r>
              <a:rPr lang="en-US" dirty="0">
                <a:latin typeface="Arial" panose="020B0604020202020204" pitchFamily="34" charset="0"/>
                <a:cs typeface="Arial" panose="020B0604020202020204" pitchFamily="34" charset="0"/>
              </a:rPr>
              <a:t> One of my sisters (is, are) going on a trip to France.</a:t>
            </a:r>
          </a:p>
          <a:p>
            <a:pPr marL="514350" indent="-514350">
              <a:buFont typeface="+mj-lt"/>
              <a:buAutoNum type="arabicPeriod"/>
            </a:pPr>
            <a:r>
              <a:rPr lang="en-US" dirty="0">
                <a:latin typeface="Arial" panose="020B0604020202020204" pitchFamily="34" charset="0"/>
                <a:cs typeface="Arial" panose="020B0604020202020204" pitchFamily="34" charset="0"/>
              </a:rPr>
              <a:t>The movie, including all the previews, (take, takes) about two hours to watch. </a:t>
            </a:r>
          </a:p>
          <a:p>
            <a:pPr marL="514350" indent="-514350">
              <a:buFont typeface="+mj-lt"/>
              <a:buAutoNum type="arabicPeriod"/>
            </a:pPr>
            <a:r>
              <a:rPr lang="en-US" dirty="0">
                <a:latin typeface="Arial" panose="020B0604020202020204" pitchFamily="34" charset="0"/>
                <a:cs typeface="Arial" panose="020B0604020202020204" pitchFamily="34" charset="0"/>
              </a:rPr>
              <a:t>Either answer (is, are) acceptable.</a:t>
            </a:r>
            <a:endParaRPr lang="en-US" i="1" dirty="0">
              <a:latin typeface="Arial" panose="020B0604020202020204" pitchFamily="34" charset="0"/>
              <a:cs typeface="Arial" panose="020B0604020202020204" pitchFamily="34" charset="0"/>
            </a:endParaRPr>
          </a:p>
          <a:p>
            <a:pPr marL="514350" indent="-514350">
              <a:buFont typeface="+mj-lt"/>
              <a:buAutoNum type="arabicPeriod"/>
            </a:pPr>
            <a:endParaRPr lang="en-IN" dirty="0"/>
          </a:p>
        </p:txBody>
      </p:sp>
      <p:sp>
        <p:nvSpPr>
          <p:cNvPr id="4" name="Slide Number Placeholder 3">
            <a:extLst>
              <a:ext uri="{FF2B5EF4-FFF2-40B4-BE49-F238E27FC236}">
                <a16:creationId xmlns:a16="http://schemas.microsoft.com/office/drawing/2014/main" id="{30CF0974-FDC3-44D9-B48C-927847009DFB}"/>
              </a:ext>
            </a:extLst>
          </p:cNvPr>
          <p:cNvSpPr>
            <a:spLocks noGrp="1"/>
          </p:cNvSpPr>
          <p:nvPr>
            <p:ph type="sldNum" sz="quarter" idx="12"/>
          </p:nvPr>
        </p:nvSpPr>
        <p:spPr/>
        <p:txBody>
          <a:bodyPr/>
          <a:lstStyle/>
          <a:p>
            <a:fld id="{BDCDBBEF-AA6C-4BA6-85B2-A17D7F280E38}" type="slidenum">
              <a:rPr lang="en-US" smtClean="0"/>
              <a:pPr/>
              <a:t>25</a:t>
            </a:fld>
            <a:endParaRPr lang="en-US"/>
          </a:p>
        </p:txBody>
      </p:sp>
    </p:spTree>
    <p:extLst>
      <p:ext uri="{BB962C8B-B14F-4D97-AF65-F5344CB8AC3E}">
        <p14:creationId xmlns:p14="http://schemas.microsoft.com/office/powerpoint/2010/main" val="1546387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9B544-B409-4AD5-9229-1F65AF7C571D}"/>
              </a:ext>
            </a:extLst>
          </p:cNvPr>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Answers</a:t>
            </a:r>
            <a:endParaRPr lang="en-IN" b="1" dirty="0">
              <a:latin typeface="Arial Black"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440E6B1-D4E9-400C-8664-D0DDC92E1F73}"/>
              </a:ext>
            </a:extLst>
          </p:cNvPr>
          <p:cNvSpPr>
            <a:spLocks noGrp="1"/>
          </p:cNvSpPr>
          <p:nvPr>
            <p:ph idx="1"/>
          </p:nvPr>
        </p:nvSpPr>
        <p:spPr>
          <a:ln>
            <a:solidFill>
              <a:schemeClr val="tx1"/>
            </a:solidFill>
          </a:ln>
        </p:spPr>
        <p:txBody>
          <a:bodyPr/>
          <a:lstStyle/>
          <a:p>
            <a:pPr marL="514350" indent="-514350">
              <a:buFont typeface="+mj-lt"/>
              <a:buAutoNum type="arabicPeriod"/>
            </a:pPr>
            <a:r>
              <a:rPr lang="en-US" dirty="0">
                <a:latin typeface="Arial" panose="020B0604020202020204" pitchFamily="34" charset="0"/>
                <a:cs typeface="Arial" panose="020B0604020202020204" pitchFamily="34" charset="0"/>
              </a:rPr>
              <a:t>Lends</a:t>
            </a:r>
          </a:p>
          <a:p>
            <a:pPr marL="514350" indent="-514350">
              <a:buFont typeface="+mj-lt"/>
              <a:buAutoNum type="arabicPeriod"/>
            </a:pPr>
            <a:r>
              <a:rPr lang="en-US" dirty="0">
                <a:latin typeface="Arial" panose="020B0604020202020204" pitchFamily="34" charset="0"/>
                <a:cs typeface="Arial" panose="020B0604020202020204" pitchFamily="34" charset="0"/>
              </a:rPr>
              <a:t>Are</a:t>
            </a:r>
          </a:p>
          <a:p>
            <a:pPr marL="514350" indent="-514350">
              <a:buFont typeface="+mj-lt"/>
              <a:buAutoNum type="arabicPeriod"/>
            </a:pPr>
            <a:r>
              <a:rPr lang="en-US" dirty="0">
                <a:latin typeface="Arial" panose="020B0604020202020204" pitchFamily="34" charset="0"/>
                <a:cs typeface="Arial" panose="020B0604020202020204" pitchFamily="34" charset="0"/>
              </a:rPr>
              <a:t>Don’t</a:t>
            </a:r>
          </a:p>
          <a:p>
            <a:pPr marL="514350" indent="-514350">
              <a:buFont typeface="+mj-lt"/>
              <a:buAutoNum type="arabicPeriod"/>
            </a:pPr>
            <a:r>
              <a:rPr lang="en-US" dirty="0">
                <a:latin typeface="Arial" panose="020B0604020202020204" pitchFamily="34" charset="0"/>
                <a:cs typeface="Arial" panose="020B0604020202020204" pitchFamily="34" charset="0"/>
              </a:rPr>
              <a:t>Is</a:t>
            </a:r>
          </a:p>
          <a:p>
            <a:pPr marL="514350" indent="-514350">
              <a:buFont typeface="+mj-lt"/>
              <a:buAutoNum type="arabicPeriod"/>
            </a:pPr>
            <a:r>
              <a:rPr lang="en-US" dirty="0">
                <a:latin typeface="Arial" panose="020B0604020202020204" pitchFamily="34" charset="0"/>
                <a:cs typeface="Arial" panose="020B0604020202020204" pitchFamily="34" charset="0"/>
              </a:rPr>
              <a:t>Takes</a:t>
            </a:r>
          </a:p>
          <a:p>
            <a:pPr marL="514350" indent="-514350">
              <a:buFont typeface="+mj-lt"/>
              <a:buAutoNum type="arabicPeriod"/>
            </a:pPr>
            <a:r>
              <a:rPr lang="en-US" dirty="0">
                <a:latin typeface="Arial" panose="020B0604020202020204" pitchFamily="34" charset="0"/>
                <a:cs typeface="Arial" panose="020B0604020202020204" pitchFamily="34" charset="0"/>
              </a:rPr>
              <a:t>Is</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IN" dirty="0"/>
          </a:p>
        </p:txBody>
      </p:sp>
      <p:sp>
        <p:nvSpPr>
          <p:cNvPr id="4" name="Slide Number Placeholder 3">
            <a:extLst>
              <a:ext uri="{FF2B5EF4-FFF2-40B4-BE49-F238E27FC236}">
                <a16:creationId xmlns:a16="http://schemas.microsoft.com/office/drawing/2014/main" id="{2E0C7731-EB50-4489-A95C-369E9AAEC824}"/>
              </a:ext>
            </a:extLst>
          </p:cNvPr>
          <p:cNvSpPr>
            <a:spLocks noGrp="1"/>
          </p:cNvSpPr>
          <p:nvPr>
            <p:ph type="sldNum" sz="quarter" idx="12"/>
          </p:nvPr>
        </p:nvSpPr>
        <p:spPr/>
        <p:txBody>
          <a:bodyPr/>
          <a:lstStyle/>
          <a:p>
            <a:fld id="{BDCDBBEF-AA6C-4BA6-85B2-A17D7F280E38}" type="slidenum">
              <a:rPr lang="en-US" smtClean="0"/>
              <a:pPr/>
              <a:t>26</a:t>
            </a:fld>
            <a:endParaRPr lang="en-US"/>
          </a:p>
        </p:txBody>
      </p:sp>
    </p:spTree>
    <p:extLst>
      <p:ext uri="{BB962C8B-B14F-4D97-AF65-F5344CB8AC3E}">
        <p14:creationId xmlns:p14="http://schemas.microsoft.com/office/powerpoint/2010/main" val="35728423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latin typeface="Arial Black" pitchFamily="34" charset="0"/>
                <a:cs typeface="Arial" panose="020B0604020202020204" pitchFamily="34" charset="0"/>
              </a:rPr>
              <a:t>References </a:t>
            </a:r>
            <a:r>
              <a:rPr lang="en-US" dirty="0">
                <a:latin typeface="Arial Black" pitchFamily="34" charset="0"/>
              </a:rPr>
              <a:t>  </a:t>
            </a:r>
          </a:p>
        </p:txBody>
      </p:sp>
      <p:sp>
        <p:nvSpPr>
          <p:cNvPr id="3" name="Content Placeholder 2"/>
          <p:cNvSpPr>
            <a:spLocks noGrp="1"/>
          </p:cNvSpPr>
          <p:nvPr>
            <p:ph idx="1"/>
          </p:nvPr>
        </p:nvSpPr>
        <p:spPr/>
        <p:txBody>
          <a:bodyPr>
            <a:normAutofit/>
          </a:bodyPr>
          <a:lstStyle/>
          <a:p>
            <a:r>
              <a:rPr lang="en-IN" dirty="0">
                <a:latin typeface="Arial" panose="020B0604020202020204" pitchFamily="34" charset="0"/>
                <a:cs typeface="Arial" panose="020B0604020202020204" pitchFamily="34" charset="0"/>
                <a:hlinkClick r:id="rId2"/>
              </a:rPr>
              <a:t>https://academicguides.waldenu.edu/writingcenter/grammar/subjectverbagreement</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hlinkClick r:id="rId3"/>
              </a:rPr>
              <a:t>http://guidetogrammar.org/grammar/sv_agr.htm</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hlinkClick r:id="rId4"/>
              </a:rPr>
              <a:t>https://examples.yourdictionary.com/examples-of-subject-verb-agreement.html</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hlinkClick r:id="rId5"/>
              </a:rPr>
              <a:t>https://grammar.yourdictionary.com/sentences/20-rules-of-subject-verb-agreement.html</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hlinkClick r:id="rId6"/>
              </a:rPr>
              <a:t>https://www.grammarbook.com/grammar/subjectVerbAgree.asp</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Chandigarh University Study Material for Communication Skills</a:t>
            </a:r>
          </a:p>
          <a:p>
            <a:endParaRPr lang="en-IN" dirty="0">
              <a:latin typeface="Arial" panose="020B0604020202020204" pitchFamily="34" charset="0"/>
              <a:cs typeface="Arial" panose="020B0604020202020204" pitchFamily="34" charset="0"/>
            </a:endParaRPr>
          </a:p>
          <a:p>
            <a:endParaRPr lang="en-US" sz="24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A091B-B17A-4753-A5D9-2502BEAE7EDC}"/>
              </a:ext>
            </a:extLst>
          </p:cNvPr>
          <p:cNvSpPr>
            <a:spLocks noGrp="1"/>
          </p:cNvSpPr>
          <p:nvPr>
            <p:ph type="title"/>
          </p:nvPr>
        </p:nvSpPr>
        <p:spPr>
          <a:ln>
            <a:solidFill>
              <a:schemeClr val="tx1"/>
            </a:solidFill>
          </a:ln>
        </p:spPr>
        <p:txBody>
          <a:bodyPr>
            <a:normAutofit/>
          </a:bodyPr>
          <a:lstStyle/>
          <a:p>
            <a:pPr algn="ctr"/>
            <a:r>
              <a:rPr lang="en-US" b="1" dirty="0">
                <a:latin typeface="Arial Black" pitchFamily="34" charset="0"/>
                <a:cs typeface="Arial" panose="020B0604020202020204" pitchFamily="34" charset="0"/>
              </a:rPr>
              <a:t>Application</a:t>
            </a:r>
            <a:endParaRPr lang="en-IN" b="1" dirty="0">
              <a:latin typeface="Arial Black"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B2F9CCC-2F5E-4BDC-876D-F3E38157D0D4}"/>
              </a:ext>
            </a:extLst>
          </p:cNvPr>
          <p:cNvSpPr>
            <a:spLocks noGrp="1"/>
          </p:cNvSpPr>
          <p:nvPr>
            <p:ph idx="1"/>
          </p:nvPr>
        </p:nvSpPr>
        <p:spPr>
          <a:ln>
            <a:solidFill>
              <a:schemeClr val="tx1"/>
            </a:solidFill>
          </a:ln>
        </p:spPr>
        <p:txBody>
          <a:bodyPr/>
          <a:lstStyle/>
          <a:p>
            <a:r>
              <a:rPr lang="en-US" dirty="0">
                <a:latin typeface="Arial" panose="020B0604020202020204" pitchFamily="34" charset="0"/>
                <a:cs typeface="Arial" panose="020B0604020202020204" pitchFamily="34" charset="0"/>
              </a:rPr>
              <a:t>Using the correct grammar (when one writes or speaks) is important to avoid misunderstandings, and to help the other person understand easily. If ones English is too full of mistakes, it will slow down communication and conversations. It will be harder to express ones ideas and thoughts clearly and concisely. </a:t>
            </a:r>
          </a:p>
          <a:p>
            <a:r>
              <a:rPr lang="en-US" dirty="0">
                <a:latin typeface="Arial" panose="020B0604020202020204" pitchFamily="34" charset="0"/>
                <a:cs typeface="Arial" panose="020B0604020202020204" pitchFamily="34" charset="0"/>
              </a:rPr>
              <a:t>Understanding Subject verb Agreement will help students to know the syntactical relation that exists between a subject and a verb in a sentence and to avoid ambiguities.</a:t>
            </a:r>
            <a:endParaRPr lang="en-IN"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19021-1C75-4E4B-8D1E-798BD94BEDB4}"/>
              </a:ext>
            </a:extLst>
          </p:cNvPr>
          <p:cNvSpPr>
            <a:spLocks noGrp="1"/>
          </p:cNvSpPr>
          <p:nvPr>
            <p:ph type="sldNum" sz="quarter" idx="12"/>
          </p:nvPr>
        </p:nvSpPr>
        <p:spPr/>
        <p:txBody>
          <a:bodyPr/>
          <a:lstStyle/>
          <a:p>
            <a:fld id="{BDCDBBEF-AA6C-4BA6-85B2-A17D7F280E38}" type="slidenum">
              <a:rPr lang="en-US" smtClean="0"/>
              <a:pPr/>
              <a:t>28</a:t>
            </a:fld>
            <a:endParaRPr lang="en-US"/>
          </a:p>
        </p:txBody>
      </p:sp>
    </p:spTree>
    <p:extLst>
      <p:ext uri="{BB962C8B-B14F-4D97-AF65-F5344CB8AC3E}">
        <p14:creationId xmlns:p14="http://schemas.microsoft.com/office/powerpoint/2010/main" val="3249372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74B8E-44AA-47AA-B0CB-8AE3DB827A06}"/>
              </a:ext>
            </a:extLst>
          </p:cNvPr>
          <p:cNvSpPr>
            <a:spLocks noGrp="1"/>
          </p:cNvSpPr>
          <p:nvPr>
            <p:ph type="title"/>
          </p:nvPr>
        </p:nvSpPr>
        <p:spPr>
          <a:ln>
            <a:solidFill>
              <a:schemeClr val="tx1"/>
            </a:solidFill>
          </a:ln>
        </p:spPr>
        <p:txBody>
          <a:bodyPr/>
          <a:lstStyle/>
          <a:p>
            <a:pPr algn="ctr"/>
            <a:r>
              <a:rPr lang="en-US" b="1" dirty="0">
                <a:latin typeface="Arial Black" pitchFamily="34" charset="0"/>
                <a:cs typeface="Arial" panose="020B0604020202020204" pitchFamily="34" charset="0"/>
              </a:rPr>
              <a:t>Assessment Pattern</a:t>
            </a:r>
            <a:endParaRPr lang="en-IN" b="1" dirty="0">
              <a:latin typeface="Arial Black"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7478C58-48EE-4D43-A3E5-E15F9098CF11}"/>
              </a:ext>
            </a:extLst>
          </p:cNvPr>
          <p:cNvSpPr>
            <a:spLocks noGrp="1"/>
          </p:cNvSpPr>
          <p:nvPr>
            <p:ph idx="1"/>
          </p:nvPr>
        </p:nvSpPr>
        <p:spPr>
          <a:ln>
            <a:solidFill>
              <a:schemeClr val="tx1"/>
            </a:solidFill>
          </a:ln>
        </p:spPr>
        <p:txBody>
          <a:bodyPr/>
          <a:lstStyle/>
          <a:p>
            <a:pPr marL="0" indent="0">
              <a:buNone/>
            </a:pPr>
            <a:r>
              <a:rPr lang="en-US" b="1" dirty="0">
                <a:latin typeface="Arial" pitchFamily="34" charset="0"/>
                <a:cs typeface="Arial" pitchFamily="34" charset="0"/>
              </a:rPr>
              <a:t>Students are assessed on the basis of the following parameters:</a:t>
            </a:r>
          </a:p>
          <a:p>
            <a:r>
              <a:rPr lang="en-US" dirty="0">
                <a:latin typeface="Arial" pitchFamily="34" charset="0"/>
                <a:cs typeface="Arial" pitchFamily="34" charset="0"/>
              </a:rPr>
              <a:t>Hourly Tests-2</a:t>
            </a:r>
          </a:p>
          <a:p>
            <a:r>
              <a:rPr lang="en-US" dirty="0">
                <a:latin typeface="Arial" pitchFamily="34" charset="0"/>
                <a:cs typeface="Arial" pitchFamily="34" charset="0"/>
              </a:rPr>
              <a:t>Assignments</a:t>
            </a:r>
          </a:p>
          <a:p>
            <a:r>
              <a:rPr lang="en-US" dirty="0">
                <a:latin typeface="Arial" pitchFamily="34" charset="0"/>
                <a:cs typeface="Arial" pitchFamily="34" charset="0"/>
              </a:rPr>
              <a:t>Surprise Test</a:t>
            </a:r>
          </a:p>
          <a:p>
            <a:r>
              <a:rPr lang="en-US" dirty="0">
                <a:latin typeface="Arial" pitchFamily="34" charset="0"/>
                <a:cs typeface="Arial" pitchFamily="34" charset="0"/>
              </a:rPr>
              <a:t>Quiz</a:t>
            </a:r>
          </a:p>
          <a:p>
            <a:r>
              <a:rPr lang="en-US" dirty="0">
                <a:latin typeface="Arial" pitchFamily="34" charset="0"/>
                <a:cs typeface="Arial" pitchFamily="34" charset="0"/>
              </a:rPr>
              <a:t>Students Engagement</a:t>
            </a:r>
          </a:p>
          <a:p>
            <a:r>
              <a:rPr lang="en-US" dirty="0">
                <a:latin typeface="Arial" pitchFamily="34" charset="0"/>
                <a:cs typeface="Arial" pitchFamily="34" charset="0"/>
              </a:rPr>
              <a:t>End Semester Exam</a:t>
            </a:r>
            <a:endParaRPr lang="en-IN" dirty="0">
              <a:latin typeface="Arial" pitchFamily="34" charset="0"/>
              <a:cs typeface="Arial" pitchFamily="34" charset="0"/>
            </a:endParaRPr>
          </a:p>
        </p:txBody>
      </p:sp>
      <p:sp>
        <p:nvSpPr>
          <p:cNvPr id="4" name="Slide Number Placeholder 3">
            <a:extLst>
              <a:ext uri="{FF2B5EF4-FFF2-40B4-BE49-F238E27FC236}">
                <a16:creationId xmlns:a16="http://schemas.microsoft.com/office/drawing/2014/main" id="{138F0308-D242-411D-BF25-D309B4DFB72D}"/>
              </a:ext>
            </a:extLst>
          </p:cNvPr>
          <p:cNvSpPr>
            <a:spLocks noGrp="1"/>
          </p:cNvSpPr>
          <p:nvPr>
            <p:ph type="sldNum" sz="quarter" idx="12"/>
          </p:nvPr>
        </p:nvSpPr>
        <p:spPr/>
        <p:txBody>
          <a:bodyPr/>
          <a:lstStyle/>
          <a:p>
            <a:fld id="{BDCDBBEF-AA6C-4BA6-85B2-A17D7F280E38}" type="slidenum">
              <a:rPr lang="en-US" smtClean="0"/>
              <a:pPr/>
              <a:t>29</a:t>
            </a:fld>
            <a:endParaRPr lang="en-US"/>
          </a:p>
        </p:txBody>
      </p:sp>
    </p:spTree>
    <p:extLst>
      <p:ext uri="{BB962C8B-B14F-4D97-AF65-F5344CB8AC3E}">
        <p14:creationId xmlns:p14="http://schemas.microsoft.com/office/powerpoint/2010/main" val="33751674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3169457"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communicationskills.uilah@gmail.com</a:t>
            </a:r>
            <a:endParaRPr lang="en-US" dirty="0"/>
          </a:p>
        </p:txBody>
      </p:sp>
    </p:spTree>
    <p:extLst>
      <p:ext uri="{BB962C8B-B14F-4D97-AF65-F5344CB8AC3E}">
        <p14:creationId xmlns:p14="http://schemas.microsoft.com/office/powerpoint/2010/main" val="251242675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962</TotalTime>
  <Words>1717</Words>
  <Application>Microsoft Office PowerPoint</Application>
  <PresentationFormat>Widescreen</PresentationFormat>
  <Paragraphs>229</Paragraphs>
  <Slides>30</Slides>
  <Notes>0</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30</vt:i4>
      </vt:variant>
    </vt:vector>
  </HeadingPairs>
  <TitlesOfParts>
    <vt:vector size="41" baseType="lpstr">
      <vt:lpstr>Arial</vt:lpstr>
      <vt:lpstr>Arial Black</vt:lpstr>
      <vt:lpstr>Calibri</vt:lpstr>
      <vt:lpstr>Calibri Light</vt:lpstr>
      <vt:lpstr>Casper</vt:lpstr>
      <vt:lpstr>Karla</vt:lpstr>
      <vt:lpstr>Raleway ExtraBold</vt:lpstr>
      <vt:lpstr>Times New Roman</vt:lpstr>
      <vt:lpstr>1_Office Theme</vt:lpstr>
      <vt:lpstr>Contents Slide Master</vt:lpstr>
      <vt:lpstr>CorelDRAW</vt:lpstr>
      <vt:lpstr>PowerPoint Presentation</vt:lpstr>
      <vt:lpstr>COURSE OBJECTIVES </vt:lpstr>
      <vt:lpstr>COURSE OUTCOMES</vt:lpstr>
      <vt:lpstr>Subject Verb Agreement</vt:lpstr>
      <vt:lpstr>Why Subject Verb Agreement?</vt:lpstr>
      <vt:lpstr>Rule 1</vt:lpstr>
      <vt:lpstr>Rule 2</vt:lpstr>
      <vt:lpstr>Rule 3</vt:lpstr>
      <vt:lpstr>Rule 4</vt:lpstr>
      <vt:lpstr>Rule 5</vt:lpstr>
      <vt:lpstr>Rule 6</vt:lpstr>
      <vt:lpstr>Rule 7</vt:lpstr>
      <vt:lpstr>Rule 8</vt:lpstr>
      <vt:lpstr>Rule 9</vt:lpstr>
      <vt:lpstr>Rule 10</vt:lpstr>
      <vt:lpstr>Rule 11</vt:lpstr>
      <vt:lpstr>Rule 12</vt:lpstr>
      <vt:lpstr>Rule 13</vt:lpstr>
      <vt:lpstr>Rule 14</vt:lpstr>
      <vt:lpstr>Rule 15</vt:lpstr>
      <vt:lpstr>Rule 16</vt:lpstr>
      <vt:lpstr>Rule 17</vt:lpstr>
      <vt:lpstr>Rule 18</vt:lpstr>
      <vt:lpstr>Rule 19</vt:lpstr>
      <vt:lpstr>Exercise</vt:lpstr>
      <vt:lpstr>Answers</vt:lpstr>
      <vt:lpstr>References   </vt:lpstr>
      <vt:lpstr>Application</vt:lpstr>
      <vt:lpstr>Assessment Pattern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Vishal Monga</cp:lastModifiedBy>
  <cp:revision>116</cp:revision>
  <dcterms:created xsi:type="dcterms:W3CDTF">2019-01-09T10:33:58Z</dcterms:created>
  <dcterms:modified xsi:type="dcterms:W3CDTF">2023-07-05T08:33:15Z</dcterms:modified>
</cp:coreProperties>
</file>