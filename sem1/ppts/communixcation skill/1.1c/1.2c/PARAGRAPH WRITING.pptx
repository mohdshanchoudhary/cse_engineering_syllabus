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1"/>
  </p:notesMasterIdLst>
  <p:handoutMasterIdLst>
    <p:handoutMasterId r:id="rId32"/>
  </p:handoutMasterIdLst>
  <p:sldIdLst>
    <p:sldId id="327" r:id="rId3"/>
    <p:sldId id="285" r:id="rId4"/>
    <p:sldId id="258" r:id="rId5"/>
    <p:sldId id="321" r:id="rId6"/>
    <p:sldId id="288" r:id="rId7"/>
    <p:sldId id="318" r:id="rId8"/>
    <p:sldId id="306" r:id="rId9"/>
    <p:sldId id="317" r:id="rId10"/>
    <p:sldId id="289" r:id="rId11"/>
    <p:sldId id="323" r:id="rId12"/>
    <p:sldId id="316" r:id="rId13"/>
    <p:sldId id="314" r:id="rId14"/>
    <p:sldId id="315" r:id="rId15"/>
    <p:sldId id="324" r:id="rId16"/>
    <p:sldId id="292" r:id="rId17"/>
    <p:sldId id="294" r:id="rId18"/>
    <p:sldId id="296" r:id="rId19"/>
    <p:sldId id="325" r:id="rId20"/>
    <p:sldId id="308" r:id="rId21"/>
    <p:sldId id="309" r:id="rId22"/>
    <p:sldId id="319" r:id="rId23"/>
    <p:sldId id="299" r:id="rId24"/>
    <p:sldId id="320" r:id="rId25"/>
    <p:sldId id="300" r:id="rId26"/>
    <p:sldId id="322" r:id="rId27"/>
    <p:sldId id="328" r:id="rId28"/>
    <p:sldId id="301" r:id="rId29"/>
    <p:sldId id="326"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2D4C0B-3203-4E41-A064-291FB56139F7}" v="101" dt="2020-07-04T08:49:35.025"/>
    <p1510:client id="{EB2925DA-B2C3-4D73-9A45-CBEE237B6508}" v="2" dt="2020-07-04T09:14:34.792"/>
    <p1510:client id="{ED9E21F8-4C5E-48A3-BE09-7BE67FD58282}" v="3" dt="2020-07-03T15:00:21.5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62" autoAdjust="0"/>
    <p:restoredTop sz="94660"/>
  </p:normalViewPr>
  <p:slideViewPr>
    <p:cSldViewPr snapToGrid="0">
      <p:cViewPr varScale="1">
        <p:scale>
          <a:sx n="71" d="100"/>
          <a:sy n="71" d="100"/>
        </p:scale>
        <p:origin x="774"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handoutMaster" Target="handoutMasters/handoutMaster1.xml"/><Relationship Id="rId37"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7/5/2023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7/5/2023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8aa64a66c8_0_38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g8aa64a66c8_0_3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009B9CD-0625-4F22-88F7-92166E0D2196}" type="slidenum">
              <a:rPr lang="en-US" smtClean="0"/>
              <a:pPr/>
              <a:t>8</a:t>
            </a:fld>
            <a:endParaRPr lang="en-US"/>
          </a:p>
        </p:txBody>
      </p:sp>
    </p:spTree>
    <p:extLst>
      <p:ext uri="{BB962C8B-B14F-4D97-AF65-F5344CB8AC3E}">
        <p14:creationId xmlns:p14="http://schemas.microsoft.com/office/powerpoint/2010/main" val="5632825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7/5/2023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420354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a:p>
        </p:txBody>
      </p:sp>
    </p:spTree>
    <p:extLst>
      <p:ext uri="{BB962C8B-B14F-4D97-AF65-F5344CB8AC3E}">
        <p14:creationId xmlns:p14="http://schemas.microsoft.com/office/powerpoint/2010/main" val="3974081683"/>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7/5/2023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theme" Target="../theme/theme2.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8"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27" r:id="rId13"/>
    <p:sldLayoutId id="2147483715" r:id="rId14"/>
    <p:sldLayoutId id="2147483716" r:id="rId15"/>
    <p:sldLayoutId id="2147483717" r:id="rId16"/>
    <p:sldLayoutId id="2147483718" r:id="rId17"/>
    <p:sldLayoutId id="2147483719" r:id="rId18"/>
    <p:sldLayoutId id="2147483720" r:id="rId19"/>
    <p:sldLayoutId id="2147483721" r:id="rId20"/>
    <p:sldLayoutId id="2147483722" r:id="rId21"/>
    <p:sldLayoutId id="2147483723" r:id="rId22"/>
    <p:sldLayoutId id="2147483724" r:id="rId23"/>
    <p:sldLayoutId id="2147483725" r:id="rId24"/>
    <p:sldLayoutId id="2147483726" r:id="rId25"/>
    <p:sldLayoutId id="2147483701" r:id="rId2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ritingcenter.unc.edu/tips-and-tools/paragraphs/" TargetMode="External"/><Relationship Id="rId2" Type="http://schemas.openxmlformats.org/officeDocument/2006/relationships/hyperlink" Target="https://advice.writing.utoronto.ca/planning/paragraphs/" TargetMode="External"/><Relationship Id="rId1" Type="http://schemas.openxmlformats.org/officeDocument/2006/relationships/slideLayout" Target="../slideLayouts/slideLayout2.xml"/><Relationship Id="rId5" Type="http://schemas.openxmlformats.org/officeDocument/2006/relationships/hyperlink" Target="https://www.youtube.com/watch?v=L1J9ZPVydrc" TargetMode="External"/><Relationship Id="rId4" Type="http://schemas.openxmlformats.org/officeDocument/2006/relationships/hyperlink" Target="https://open.lib.umn.edu/writingforsuccess/chapter/6-2-effective-means-for-writing-a-paragraph/"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3"/>
                      <p:cNvPicPr>
                        <a:picLocks noChangeAspect="1" noChangeArrowheads="1"/>
                      </p:cNvPicPr>
                      <p:nvPr/>
                    </p:nvPicPr>
                    <p:blipFill>
                      <a:blip r:embed="rId3">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55050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97897" y="5949548"/>
            <a:ext cx="4304284"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schemeClr val="bg2">
                    <a:lumMod val="25000"/>
                  </a:schemeClr>
                </a:solidFill>
                <a:latin typeface="Times New Roman" panose="02020603050405020304" pitchFamily="18" charset="0"/>
                <a:cs typeface="Times New Roman" panose="02020603050405020304" pitchFamily="18" charset="0"/>
              </a:rPr>
              <a:t>PARAGRAPH WRITING </a:t>
            </a:r>
          </a:p>
        </p:txBody>
      </p:sp>
      <p:sp>
        <p:nvSpPr>
          <p:cNvPr id="26" name="TextBox 25"/>
          <p:cNvSpPr txBox="1">
            <a:spLocks noChangeArrowheads="1"/>
          </p:cNvSpPr>
          <p:nvPr/>
        </p:nvSpPr>
        <p:spPr bwMode="auto">
          <a:xfrm>
            <a:off x="1472514" y="1603907"/>
            <a:ext cx="9464040"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4000" b="1" dirty="0">
                <a:latin typeface="Arial Black" panose="020B0A04020102020204" pitchFamily="34" charset="0"/>
                <a:ea typeface="Karla" pitchFamily="2" charset="0"/>
                <a:cs typeface="Karla" pitchFamily="2" charset="0"/>
              </a:rPr>
              <a:t>University Institute of Liberal Arts and Humanities</a:t>
            </a:r>
          </a:p>
          <a:p>
            <a:pPr algn="ctr" defTabSz="622300">
              <a:lnSpc>
                <a:spcPct val="90000"/>
              </a:lnSpc>
              <a:spcBef>
                <a:spcPct val="0"/>
              </a:spcBef>
              <a:spcAft>
                <a:spcPct val="35000"/>
              </a:spcAft>
            </a:pPr>
            <a:r>
              <a:rPr lang="en-US" sz="3200" dirty="0">
                <a:latin typeface="Arial" pitchFamily="34" charset="0"/>
                <a:ea typeface="Calibri" panose="020F0502020204030204" pitchFamily="34" charset="0"/>
                <a:cs typeface="Arial" pitchFamily="34" charset="0"/>
              </a:rPr>
              <a:t>Course Name: Communication Skills</a:t>
            </a:r>
          </a:p>
          <a:p>
            <a:pPr algn="ctr" defTabSz="622300">
              <a:lnSpc>
                <a:spcPct val="90000"/>
              </a:lnSpc>
              <a:spcBef>
                <a:spcPct val="0"/>
              </a:spcBef>
              <a:spcAft>
                <a:spcPct val="35000"/>
              </a:spcAft>
            </a:pPr>
            <a:r>
              <a:rPr lang="en-US" sz="3200" dirty="0">
                <a:latin typeface="Arial" pitchFamily="34" charset="0"/>
                <a:ea typeface="Calibri" panose="020F0502020204030204" pitchFamily="34" charset="0"/>
                <a:cs typeface="Arial" pitchFamily="34" charset="0"/>
              </a:rPr>
              <a:t>Course Code: 23PCH-105</a:t>
            </a:r>
          </a:p>
          <a:p>
            <a:pPr lvl="0" algn="ctr" defTabSz="622300">
              <a:lnSpc>
                <a:spcPct val="90000"/>
              </a:lnSpc>
              <a:spcBef>
                <a:spcPct val="0"/>
              </a:spcBef>
              <a:spcAft>
                <a:spcPct val="35000"/>
              </a:spcAft>
            </a:pPr>
            <a:endParaRPr lang="en-US" sz="40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40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4000" b="1" dirty="0">
                <a:solidFill>
                  <a:prstClr val="black">
                    <a:lumMod val="85000"/>
                    <a:lumOff val="15000"/>
                  </a:prstClr>
                </a:solidFill>
                <a:latin typeface="Times New Roman" panose="02020603050405020304" pitchFamily="18" charset="0"/>
                <a:cs typeface="Times New Roman" panose="02020603050405020304" pitchFamily="18" charset="0"/>
              </a:rPr>
              <a:t> </a:t>
            </a:r>
          </a:p>
          <a:p>
            <a:pPr eaLnBrk="1" hangingPunct="1"/>
            <a:endParaRPr lang="en-US" sz="2000" dirty="0">
              <a:latin typeface="Raleway ExtraBold" pitchFamily="34" charset="-52"/>
            </a:endParaRP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2156142" y="629692"/>
            <a:ext cx="781081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dirty="0">
                <a:latin typeface="Arial Black" pitchFamily="34" charset="0"/>
                <a:ea typeface="Karla" pitchFamily="2" charset="0"/>
                <a:cs typeface="Karla" pitchFamily="2" charset="0"/>
              </a:rPr>
              <a:t>COURSE OBJECTIVES</a:t>
            </a:r>
            <a:br>
              <a:rPr lang="en-US" sz="2000"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p:cNvGraphicFramePr>
            <a:graphicFrameLocks noGrp="1"/>
          </p:cNvGraphicFramePr>
          <p:nvPr/>
        </p:nvGraphicFramePr>
        <p:xfrm>
          <a:off x="660698" y="2285999"/>
          <a:ext cx="10708342" cy="3770907"/>
        </p:xfrm>
        <a:graphic>
          <a:graphicData uri="http://schemas.openxmlformats.org/drawingml/2006/table">
            <a:tbl>
              <a:tblPr firstRow="1" firstCol="1" bandRow="1">
                <a:tableStyleId>{5940675A-B579-460E-94D1-54222C63F5DA}</a:tableStyleId>
              </a:tblPr>
              <a:tblGrid>
                <a:gridCol w="1413086">
                  <a:extLst>
                    <a:ext uri="{9D8B030D-6E8A-4147-A177-3AD203B41FA5}">
                      <a16:colId xmlns:a16="http://schemas.microsoft.com/office/drawing/2014/main" val="20000"/>
                    </a:ext>
                  </a:extLst>
                </a:gridCol>
                <a:gridCol w="9295256">
                  <a:extLst>
                    <a:ext uri="{9D8B030D-6E8A-4147-A177-3AD203B41FA5}">
                      <a16:colId xmlns:a16="http://schemas.microsoft.com/office/drawing/2014/main" val="20001"/>
                    </a:ext>
                  </a:extLst>
                </a:gridCol>
              </a:tblGrid>
              <a:tr h="1186795">
                <a:tc>
                  <a:txBody>
                    <a:bodyPr/>
                    <a:lstStyle/>
                    <a:p>
                      <a:pPr marL="0" marR="0" algn="ctr">
                        <a:lnSpc>
                          <a:spcPct val="100000"/>
                        </a:lnSpc>
                        <a:spcBef>
                          <a:spcPts val="0"/>
                        </a:spcBef>
                        <a:spcAft>
                          <a:spcPts val="0"/>
                        </a:spcAft>
                      </a:pPr>
                      <a:r>
                        <a:rPr lang="en-US" sz="2400" b="1" dirty="0">
                          <a:solidFill>
                            <a:schemeClr val="tx1"/>
                          </a:solidFill>
                          <a:effectLst/>
                        </a:rPr>
                        <a:t>1</a:t>
                      </a:r>
                      <a:endPar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b="0" kern="1200" dirty="0">
                          <a:solidFill>
                            <a:schemeClr val="tx1"/>
                          </a:solidFill>
                          <a:latin typeface="Arial" pitchFamily="34" charset="0"/>
                          <a:ea typeface="+mn-ea"/>
                          <a:cs typeface="Arial" pitchFamily="34" charset="0"/>
                        </a:rPr>
                        <a:t>Augment students overall communication and interpersonal skills by making them realize the importance of good oral and written English Language in professional life.</a:t>
                      </a:r>
                      <a:endParaRPr lang="en-US" sz="2400" b="0" dirty="0">
                        <a:solidFill>
                          <a:schemeClr val="tx1"/>
                        </a:solidFill>
                        <a:effectLst/>
                        <a:latin typeface="Arial" pitchFamily="34" charset="0"/>
                        <a:ea typeface="Times New Roman" panose="02020603050405020304" pitchFamily="18" charset="0"/>
                        <a:cs typeface="Arial" pitchFamily="34" charset="0"/>
                      </a:endParaRPr>
                    </a:p>
                  </a:txBody>
                  <a:tcPr marL="68580" marR="68580" marT="0" marB="0"/>
                </a:tc>
                <a:extLst>
                  <a:ext uri="{0D108BD9-81ED-4DB2-BD59-A6C34878D82A}">
                    <a16:rowId xmlns:a16="http://schemas.microsoft.com/office/drawing/2014/main" val="10000"/>
                  </a:ext>
                </a:extLst>
              </a:tr>
              <a:tr h="743416">
                <a:tc>
                  <a:txBody>
                    <a:bodyPr/>
                    <a:lstStyle/>
                    <a:p>
                      <a:pPr marL="0" marR="0" algn="ctr">
                        <a:lnSpc>
                          <a:spcPct val="100000"/>
                        </a:lnSpc>
                        <a:spcBef>
                          <a:spcPts val="0"/>
                        </a:spcBef>
                        <a:spcAft>
                          <a:spcPts val="0"/>
                        </a:spcAft>
                      </a:pPr>
                      <a:r>
                        <a:rPr lang="en-US" sz="2400" b="1" dirty="0">
                          <a:solidFill>
                            <a:schemeClr val="tx1"/>
                          </a:solidFill>
                          <a:effectLst/>
                        </a:rPr>
                        <a:t>2</a:t>
                      </a:r>
                      <a:endPar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b="0" kern="1200" dirty="0">
                          <a:solidFill>
                            <a:schemeClr val="tx1"/>
                          </a:solidFill>
                          <a:latin typeface="Arial" pitchFamily="34" charset="0"/>
                          <a:ea typeface="+mn-ea"/>
                          <a:cs typeface="Arial" pitchFamily="34" charset="0"/>
                        </a:rPr>
                        <a:t>Enrich their reading capability with special emphasis on expanding vocabulary and grammatical formations.</a:t>
                      </a:r>
                      <a:endParaRPr lang="en-US" sz="2400" b="0" dirty="0">
                        <a:solidFill>
                          <a:schemeClr val="tx1"/>
                        </a:solidFill>
                        <a:effectLst/>
                        <a:latin typeface="Arial" pitchFamily="34" charset="0"/>
                        <a:ea typeface="Times New Roman" panose="02020603050405020304" pitchFamily="18" charset="0"/>
                        <a:cs typeface="Arial" pitchFamily="34" charset="0"/>
                      </a:endParaRPr>
                    </a:p>
                  </a:txBody>
                  <a:tcPr marL="68580" marR="68580" marT="0" marB="0"/>
                </a:tc>
                <a:extLst>
                  <a:ext uri="{0D108BD9-81ED-4DB2-BD59-A6C34878D82A}">
                    <a16:rowId xmlns:a16="http://schemas.microsoft.com/office/drawing/2014/main" val="10001"/>
                  </a:ext>
                </a:extLst>
              </a:tr>
              <a:tr h="743416">
                <a:tc>
                  <a:txBody>
                    <a:bodyPr/>
                    <a:lstStyle/>
                    <a:p>
                      <a:pPr marL="0" marR="0" algn="ctr">
                        <a:lnSpc>
                          <a:spcPct val="100000"/>
                        </a:lnSpc>
                        <a:spcBef>
                          <a:spcPts val="0"/>
                        </a:spcBef>
                        <a:spcAft>
                          <a:spcPts val="0"/>
                        </a:spcAft>
                      </a:pPr>
                      <a:r>
                        <a:rPr lang="en-US" sz="2400" b="1" dirty="0">
                          <a:solidFill>
                            <a:schemeClr val="tx1"/>
                          </a:solidFill>
                          <a:effectLst/>
                        </a:rPr>
                        <a:t>3</a:t>
                      </a:r>
                      <a:endPar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b="0" kern="1200" dirty="0">
                          <a:solidFill>
                            <a:schemeClr val="tx1"/>
                          </a:solidFill>
                          <a:latin typeface="Arial" pitchFamily="34" charset="0"/>
                          <a:ea typeface="+mn-ea"/>
                          <a:cs typeface="Arial" pitchFamily="34" charset="0"/>
                        </a:rPr>
                        <a:t>Build exceptional speaking, reading and writing skills by correcting grammatical errors and pronunciation through practice.</a:t>
                      </a:r>
                      <a:endParaRPr lang="en-US" sz="2400" b="0" dirty="0">
                        <a:solidFill>
                          <a:schemeClr val="tx1"/>
                        </a:solidFill>
                        <a:effectLst/>
                        <a:latin typeface="Arial" pitchFamily="34" charset="0"/>
                        <a:ea typeface="Times New Roman" panose="02020603050405020304" pitchFamily="18" charset="0"/>
                        <a:cs typeface="Arial" pitchFamily="34" charset="0"/>
                      </a:endParaRPr>
                    </a:p>
                  </a:txBody>
                  <a:tcPr marL="68580" marR="68580" marT="0" marB="0"/>
                </a:tc>
                <a:extLst>
                  <a:ext uri="{0D108BD9-81ED-4DB2-BD59-A6C34878D82A}">
                    <a16:rowId xmlns:a16="http://schemas.microsoft.com/office/drawing/2014/main" val="10002"/>
                  </a:ext>
                </a:extLst>
              </a:tr>
              <a:tr h="743416">
                <a:tc>
                  <a:txBody>
                    <a:bodyPr/>
                    <a:lstStyle/>
                    <a:p>
                      <a:pPr marL="0" marR="0" algn="ctr">
                        <a:lnSpc>
                          <a:spcPct val="100000"/>
                        </a:lnSpc>
                        <a:spcBef>
                          <a:spcPts val="0"/>
                        </a:spcBef>
                        <a:spcAft>
                          <a:spcPts val="0"/>
                        </a:spcAft>
                      </a:pPr>
                      <a:r>
                        <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4</a:t>
                      </a:r>
                    </a:p>
                  </a:txBody>
                  <a:tcPr marL="68580" marR="68580" marT="0" marB="0" anchor="ctr"/>
                </a:tc>
                <a:tc>
                  <a:txBody>
                    <a:bodyPr/>
                    <a:lstStyle/>
                    <a:p>
                      <a:pPr marL="0" marR="0">
                        <a:lnSpc>
                          <a:spcPct val="100000"/>
                        </a:lnSpc>
                        <a:spcBef>
                          <a:spcPts val="0"/>
                        </a:spcBef>
                        <a:spcAft>
                          <a:spcPts val="0"/>
                        </a:spcAft>
                      </a:pPr>
                      <a:r>
                        <a:rPr lang="en-US" sz="2400" b="0" dirty="0">
                          <a:solidFill>
                            <a:schemeClr val="tx1"/>
                          </a:solidFill>
                          <a:effectLst/>
                          <a:latin typeface="Arial" pitchFamily="34" charset="0"/>
                          <a:ea typeface="Times New Roman" panose="02020603050405020304" pitchFamily="18" charset="0"/>
                          <a:cs typeface="Arial" pitchFamily="34" charset="0"/>
                        </a:rPr>
                        <a:t>Enhances soft skills by fostering self awareness, confidence and a positive attitude in students’ ability to communicate effectively in English.</a:t>
                      </a:r>
                    </a:p>
                  </a:txBody>
                  <a:tcPr marL="68580" marR="68580" marT="0" marB="0"/>
                </a:tc>
                <a:extLst>
                  <a:ext uri="{0D108BD9-81ED-4DB2-BD59-A6C34878D82A}">
                    <a16:rowId xmlns:a16="http://schemas.microsoft.com/office/drawing/2014/main" val="2339887652"/>
                  </a:ext>
                </a:extLst>
              </a:tr>
            </a:tbl>
          </a:graphicData>
        </a:graphic>
      </p:graphicFrame>
      <p:sp>
        <p:nvSpPr>
          <p:cNvPr id="11" name="Rectangle 10"/>
          <p:cNvSpPr/>
          <p:nvPr/>
        </p:nvSpPr>
        <p:spPr>
          <a:xfrm>
            <a:off x="492162" y="1616818"/>
            <a:ext cx="2956259" cy="461665"/>
          </a:xfrm>
          <a:prstGeom prst="rect">
            <a:avLst/>
          </a:prstGeom>
        </p:spPr>
        <p:txBody>
          <a:bodyPr wrap="none">
            <a:spAutoFit/>
          </a:bodyPr>
          <a:lstStyle/>
          <a:p>
            <a:r>
              <a:rPr lang="en-US" sz="2400" dirty="0">
                <a:latin typeface="Arial" pitchFamily="34" charset="0"/>
                <a:cs typeface="Arial" pitchFamily="34" charset="0"/>
              </a:rPr>
              <a:t>The Course aims to:</a:t>
            </a:r>
            <a:endParaRPr lang="en-US" sz="2400" b="1" dirty="0">
              <a:latin typeface="Arial" pitchFamily="34" charset="0"/>
              <a:cs typeface="Arial" pitchFamily="34" charset="0"/>
            </a:endParaRPr>
          </a:p>
        </p:txBody>
      </p:sp>
    </p:spTree>
    <p:extLst>
      <p:ext uri="{BB962C8B-B14F-4D97-AF65-F5344CB8AC3E}">
        <p14:creationId xmlns:p14="http://schemas.microsoft.com/office/powerpoint/2010/main" val="2403462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0"/>
          <p:cNvSpPr txBox="1">
            <a:spLocks noGrp="1"/>
          </p:cNvSpPr>
          <p:nvPr>
            <p:ph type="body" idx="1"/>
          </p:nvPr>
        </p:nvSpPr>
        <p:spPr>
          <a:xfrm>
            <a:off x="7223760" y="1310640"/>
            <a:ext cx="4069200" cy="4592000"/>
          </a:xfrm>
          <a:prstGeom prst="rect">
            <a:avLst/>
          </a:prstGeom>
          <a:noFill/>
          <a:ln>
            <a:noFill/>
          </a:ln>
        </p:spPr>
        <p:txBody>
          <a:bodyPr spcFirstLastPara="1" vert="horz" wrap="square" lIns="91433" tIns="45700" rIns="91433" bIns="45700" rtlCol="0" anchor="t" anchorCtr="0">
            <a:noAutofit/>
          </a:bodyPr>
          <a:lstStyle/>
          <a:p>
            <a:pPr marL="237061" indent="-237061">
              <a:spcBef>
                <a:spcPts val="0"/>
              </a:spcBef>
              <a:buClr>
                <a:schemeClr val="dk1"/>
              </a:buClr>
              <a:buSzPts val="1800"/>
            </a:pPr>
            <a:r>
              <a:rPr lang="en" sz="2400">
                <a:latin typeface="Arial"/>
                <a:ea typeface="Arial"/>
                <a:cs typeface="Arial"/>
                <a:sym typeface="Arial"/>
              </a:rPr>
              <a:t>Space for visual (size 24)</a:t>
            </a:r>
            <a:endParaRPr sz="2400">
              <a:latin typeface="Arial"/>
              <a:ea typeface="Arial"/>
              <a:cs typeface="Arial"/>
              <a:sym typeface="Arial"/>
            </a:endParaRPr>
          </a:p>
          <a:p>
            <a:pPr marL="237061" indent="-84665">
              <a:spcBef>
                <a:spcPts val="1067"/>
              </a:spcBef>
              <a:buClr>
                <a:schemeClr val="dk1"/>
              </a:buClr>
              <a:buSzPts val="1800"/>
              <a:buNone/>
            </a:pPr>
            <a:endParaRPr sz="2400">
              <a:latin typeface="Arial"/>
              <a:ea typeface="Arial"/>
              <a:cs typeface="Arial"/>
              <a:sym typeface="Arial"/>
            </a:endParaRPr>
          </a:p>
          <a:p>
            <a:pPr marL="237061" indent="-84665">
              <a:spcBef>
                <a:spcPts val="1067"/>
              </a:spcBef>
              <a:buClr>
                <a:schemeClr val="dk1"/>
              </a:buClr>
              <a:buSzPts val="1800"/>
              <a:buNone/>
            </a:pPr>
            <a:endParaRPr sz="2400">
              <a:latin typeface="Arial"/>
              <a:ea typeface="Arial"/>
              <a:cs typeface="Arial"/>
              <a:sym typeface="Arial"/>
            </a:endParaRPr>
          </a:p>
        </p:txBody>
      </p:sp>
      <p:sp>
        <p:nvSpPr>
          <p:cNvPr id="174" name="Google Shape;174;p30"/>
          <p:cNvSpPr txBox="1">
            <a:spLocks noGrp="1"/>
          </p:cNvSpPr>
          <p:nvPr>
            <p:ph type="sldNum" idx="12"/>
          </p:nvPr>
        </p:nvSpPr>
        <p:spPr>
          <a:xfrm>
            <a:off x="11038900" y="6356367"/>
            <a:ext cx="543600" cy="365200"/>
          </a:xfrm>
          <a:prstGeom prst="rect">
            <a:avLst/>
          </a:prstGeom>
          <a:noFill/>
          <a:ln>
            <a:noFill/>
          </a:ln>
        </p:spPr>
        <p:txBody>
          <a:bodyPr spcFirstLastPara="1" vert="horz" wrap="square" lIns="91433" tIns="45700" rIns="91433" bIns="45700" rtlCol="0" anchor="ctr" anchorCtr="0">
            <a:noAutofit/>
          </a:bodyPr>
          <a:lstStyle/>
          <a:p>
            <a:pPr>
              <a:buClr>
                <a:srgbClr val="000000"/>
              </a:buClr>
            </a:pPr>
            <a:fld id="{00000000-1234-1234-1234-123412341234}" type="slidenum">
              <a:rPr lang="en"/>
              <a:pPr>
                <a:buClr>
                  <a:srgbClr val="000000"/>
                </a:buClr>
              </a:pPr>
              <a:t>3</a:t>
            </a:fld>
            <a:endParaRPr/>
          </a:p>
        </p:txBody>
      </p:sp>
      <p:sp>
        <p:nvSpPr>
          <p:cNvPr id="176" name="Google Shape;176;p30"/>
          <p:cNvSpPr/>
          <p:nvPr/>
        </p:nvSpPr>
        <p:spPr>
          <a:xfrm>
            <a:off x="7197167" y="683567"/>
            <a:ext cx="4122400" cy="5672800"/>
          </a:xfrm>
          <a:prstGeom prst="rect">
            <a:avLst/>
          </a:prstGeom>
          <a:noFill/>
          <a:ln w="12700" cap="flat" cmpd="sng">
            <a:solidFill>
              <a:srgbClr val="42719B"/>
            </a:solidFill>
            <a:prstDash val="solid"/>
            <a:miter lim="800000"/>
            <a:headEnd type="none" w="sm" len="sm"/>
            <a:tailEnd type="none" w="sm" len="sm"/>
          </a:ln>
        </p:spPr>
        <p:txBody>
          <a:bodyPr spcFirstLastPara="1" wrap="square" lIns="91433" tIns="45700" rIns="91433" bIns="45700" anchor="ctr" anchorCtr="0">
            <a:noAutofit/>
          </a:bodyPr>
          <a:lstStyle/>
          <a:p>
            <a:pPr algn="ctr"/>
            <a:endParaRPr sz="1867">
              <a:solidFill>
                <a:schemeClr val="lt1"/>
              </a:solidFill>
              <a:latin typeface="Calibri"/>
              <a:ea typeface="Calibri"/>
              <a:cs typeface="Calibri"/>
              <a:sym typeface="Calibri"/>
            </a:endParaRPr>
          </a:p>
        </p:txBody>
      </p:sp>
      <p:sp>
        <p:nvSpPr>
          <p:cNvPr id="177" name="Google Shape;177;p30"/>
          <p:cNvSpPr/>
          <p:nvPr/>
        </p:nvSpPr>
        <p:spPr>
          <a:xfrm>
            <a:off x="11217276" y="6324600"/>
            <a:ext cx="444400" cy="422400"/>
          </a:xfrm>
          <a:prstGeom prst="ellipse">
            <a:avLst/>
          </a:prstGeom>
          <a:noFill/>
          <a:ln w="12700" cap="flat" cmpd="sng">
            <a:solidFill>
              <a:srgbClr val="42719B"/>
            </a:solidFill>
            <a:prstDash val="solid"/>
            <a:miter lim="800000"/>
            <a:headEnd type="none" w="sm" len="sm"/>
            <a:tailEnd type="none" w="sm" len="sm"/>
          </a:ln>
        </p:spPr>
        <p:txBody>
          <a:bodyPr spcFirstLastPara="1" wrap="square" lIns="91433" tIns="45700" rIns="91433" bIns="45700" anchor="ctr" anchorCtr="0">
            <a:noAutofit/>
          </a:bodyPr>
          <a:lstStyle/>
          <a:p>
            <a:pPr algn="ctr"/>
            <a:endParaRPr sz="1867">
              <a:solidFill>
                <a:schemeClr val="lt1"/>
              </a:solidFill>
              <a:latin typeface="Calibri"/>
              <a:ea typeface="Calibri"/>
              <a:cs typeface="Calibri"/>
              <a:sym typeface="Calibri"/>
            </a:endParaRPr>
          </a:p>
        </p:txBody>
      </p:sp>
      <p:sp>
        <p:nvSpPr>
          <p:cNvPr id="179" name="Google Shape;179;p30"/>
          <p:cNvSpPr/>
          <p:nvPr/>
        </p:nvSpPr>
        <p:spPr>
          <a:xfrm>
            <a:off x="202603" y="1742077"/>
            <a:ext cx="6548717" cy="369200"/>
          </a:xfrm>
          <a:prstGeom prst="rect">
            <a:avLst/>
          </a:prstGeom>
          <a:noFill/>
          <a:ln>
            <a:noFill/>
          </a:ln>
        </p:spPr>
        <p:txBody>
          <a:bodyPr spcFirstLastPara="1" wrap="square" lIns="91433" tIns="45700" rIns="91433" bIns="45700" anchor="t" anchorCtr="0">
            <a:noAutofit/>
          </a:bodyPr>
          <a:lstStyle/>
          <a:p>
            <a:r>
              <a:rPr lang="en" sz="2000" dirty="0">
                <a:solidFill>
                  <a:schemeClr val="dk1"/>
                </a:solidFill>
                <a:ea typeface="Calibri"/>
                <a:cs typeface="Calibri"/>
                <a:sym typeface="Calibri"/>
              </a:rPr>
              <a:t>On completion, the students are expected to</a:t>
            </a:r>
            <a:endParaRPr sz="2000" b="1" dirty="0">
              <a:solidFill>
                <a:schemeClr val="dk1"/>
              </a:solidFill>
              <a:ea typeface="Calibri"/>
              <a:cs typeface="Calibri"/>
              <a:sym typeface="Calibri"/>
            </a:endParaRPr>
          </a:p>
        </p:txBody>
      </p:sp>
      <p:pic>
        <p:nvPicPr>
          <p:cNvPr id="180" name="Google Shape;180;p30"/>
          <p:cNvPicPr preferRelativeResize="0"/>
          <p:nvPr/>
        </p:nvPicPr>
        <p:blipFill>
          <a:blip r:embed="rId3">
            <a:alphaModFix/>
          </a:blip>
          <a:stretch>
            <a:fillRect/>
          </a:stretch>
        </p:blipFill>
        <p:spPr>
          <a:xfrm>
            <a:off x="7241332" y="2575016"/>
            <a:ext cx="4095787" cy="3682093"/>
          </a:xfrm>
          <a:prstGeom prst="rect">
            <a:avLst/>
          </a:prstGeom>
          <a:noFill/>
          <a:ln w="12700" cap="flat" cmpd="sng">
            <a:solidFill>
              <a:srgbClr val="42719B"/>
            </a:solidFill>
            <a:prstDash val="solid"/>
            <a:miter lim="8000"/>
            <a:headEnd type="none" w="sm" len="sm"/>
            <a:tailEnd type="none" w="sm" len="sm"/>
          </a:ln>
        </p:spPr>
      </p:pic>
      <p:pic>
        <p:nvPicPr>
          <p:cNvPr id="181" name="Google Shape;181;p30"/>
          <p:cNvPicPr preferRelativeResize="0"/>
          <p:nvPr/>
        </p:nvPicPr>
        <p:blipFill>
          <a:blip r:embed="rId4">
            <a:alphaModFix/>
          </a:blip>
          <a:stretch>
            <a:fillRect/>
          </a:stretch>
        </p:blipFill>
        <p:spPr>
          <a:xfrm>
            <a:off x="7223767" y="683566"/>
            <a:ext cx="4095787" cy="1859684"/>
          </a:xfrm>
          <a:prstGeom prst="rect">
            <a:avLst/>
          </a:prstGeom>
          <a:noFill/>
          <a:ln w="12700" cap="flat" cmpd="sng">
            <a:solidFill>
              <a:srgbClr val="42719B"/>
            </a:solidFill>
            <a:prstDash val="solid"/>
            <a:miter lim="8000"/>
            <a:headEnd type="none" w="sm" len="sm"/>
            <a:tailEnd type="none" w="sm" len="sm"/>
          </a:ln>
        </p:spPr>
      </p:pic>
      <p:sp>
        <p:nvSpPr>
          <p:cNvPr id="183" name="Google Shape;183;p30"/>
          <p:cNvSpPr txBox="1"/>
          <p:nvPr/>
        </p:nvSpPr>
        <p:spPr>
          <a:xfrm>
            <a:off x="8232243" y="6356147"/>
            <a:ext cx="2170756" cy="422400"/>
          </a:xfrm>
          <a:prstGeom prst="rect">
            <a:avLst/>
          </a:prstGeom>
          <a:noFill/>
          <a:ln>
            <a:noFill/>
          </a:ln>
        </p:spPr>
        <p:txBody>
          <a:bodyPr spcFirstLastPara="1" wrap="square" lIns="121900" tIns="121900" rIns="121900" bIns="121900" anchor="t" anchorCtr="0">
            <a:noAutofit/>
          </a:bodyPr>
          <a:lstStyle/>
          <a:p>
            <a:pPr>
              <a:lnSpc>
                <a:spcPct val="115000"/>
              </a:lnSpc>
              <a:buClr>
                <a:schemeClr val="dk1"/>
              </a:buClr>
              <a:buSzPts val="1100"/>
            </a:pPr>
            <a:r>
              <a:rPr lang="en-US" sz="1100" dirty="0">
                <a:solidFill>
                  <a:schemeClr val="dk1"/>
                </a:solidFill>
                <a:latin typeface="Arial" panose="020B0604020202020204" pitchFamily="34" charset="0"/>
                <a:ea typeface="Calibri"/>
                <a:cs typeface="Arial" panose="020B0604020202020204" pitchFamily="34" charset="0"/>
                <a:sym typeface="Calibri"/>
              </a:rPr>
              <a:t>www.</a:t>
            </a:r>
            <a:r>
              <a:rPr lang="en" sz="1100" dirty="0">
                <a:solidFill>
                  <a:schemeClr val="dk1"/>
                </a:solidFill>
                <a:latin typeface="Arial" panose="020B0604020202020204" pitchFamily="34" charset="0"/>
                <a:ea typeface="Calibri"/>
                <a:cs typeface="Arial" panose="020B0604020202020204" pitchFamily="34" charset="0"/>
                <a:sym typeface="Calibri"/>
              </a:rPr>
              <a:t>jrousseaux1984.com</a:t>
            </a:r>
            <a:endParaRPr sz="1100" dirty="0">
              <a:solidFill>
                <a:schemeClr val="dk1"/>
              </a:solidFill>
              <a:latin typeface="Arial" panose="020B0604020202020204" pitchFamily="34" charset="0"/>
              <a:ea typeface="Calibri"/>
              <a:cs typeface="Arial" panose="020B0604020202020204" pitchFamily="34" charset="0"/>
              <a:sym typeface="Calibri"/>
            </a:endParaRPr>
          </a:p>
        </p:txBody>
      </p:sp>
      <p:sp>
        <p:nvSpPr>
          <p:cNvPr id="13" name="Title 12"/>
          <p:cNvSpPr>
            <a:spLocks noGrp="1"/>
          </p:cNvSpPr>
          <p:nvPr>
            <p:ph type="title"/>
          </p:nvPr>
        </p:nvSpPr>
        <p:spPr>
          <a:xfrm>
            <a:off x="1453742" y="182880"/>
            <a:ext cx="3932237" cy="1600200"/>
          </a:xfrm>
        </p:spPr>
        <p:txBody>
          <a:bodyPr>
            <a:normAutofit/>
          </a:bodyPr>
          <a:lstStyle/>
          <a:p>
            <a:pPr algn="ctr"/>
            <a:r>
              <a:rPr lang="en" sz="4400" b="1" dirty="0">
                <a:solidFill>
                  <a:schemeClr val="dk1"/>
                </a:solidFill>
                <a:latin typeface="Arial Black" pitchFamily="34" charset="0"/>
                <a:ea typeface="Arial"/>
                <a:cs typeface="Arial"/>
                <a:sym typeface="Arial"/>
              </a:rPr>
              <a:t>COURSE OUTCOMES</a:t>
            </a:r>
            <a:endParaRPr lang="en-IN" sz="4400" dirty="0">
              <a:latin typeface="Arial Black" pitchFamily="34" charset="0"/>
            </a:endParaRPr>
          </a:p>
        </p:txBody>
      </p:sp>
      <p:graphicFrame>
        <p:nvGraphicFramePr>
          <p:cNvPr id="2" name="Table 1">
            <a:extLst>
              <a:ext uri="{FF2B5EF4-FFF2-40B4-BE49-F238E27FC236}">
                <a16:creationId xmlns:a16="http://schemas.microsoft.com/office/drawing/2014/main" id="{F5CF83D9-0C94-C5B5-F40B-99830F3DD351}"/>
              </a:ext>
            </a:extLst>
          </p:cNvPr>
          <p:cNvGraphicFramePr>
            <a:graphicFrameLocks noGrp="1"/>
          </p:cNvGraphicFramePr>
          <p:nvPr>
            <p:extLst>
              <p:ext uri="{D42A27DB-BD31-4B8C-83A1-F6EECF244321}">
                <p14:modId xmlns:p14="http://schemas.microsoft.com/office/powerpoint/2010/main" val="2399348922"/>
              </p:ext>
            </p:extLst>
          </p:nvPr>
        </p:nvGraphicFramePr>
        <p:xfrm>
          <a:off x="184561" y="2210131"/>
          <a:ext cx="6670497" cy="4495802"/>
        </p:xfrm>
        <a:graphic>
          <a:graphicData uri="http://schemas.openxmlformats.org/drawingml/2006/table">
            <a:tbl>
              <a:tblPr firstRow="1" firstCol="1" bandRow="1">
                <a:tableStyleId>{5940675A-B579-460E-94D1-54222C63F5DA}</a:tableStyleId>
              </a:tblPr>
              <a:tblGrid>
                <a:gridCol w="543484">
                  <a:extLst>
                    <a:ext uri="{9D8B030D-6E8A-4147-A177-3AD203B41FA5}">
                      <a16:colId xmlns:a16="http://schemas.microsoft.com/office/drawing/2014/main" val="2296355238"/>
                    </a:ext>
                  </a:extLst>
                </a:gridCol>
                <a:gridCol w="4854552">
                  <a:extLst>
                    <a:ext uri="{9D8B030D-6E8A-4147-A177-3AD203B41FA5}">
                      <a16:colId xmlns:a16="http://schemas.microsoft.com/office/drawing/2014/main" val="636530275"/>
                    </a:ext>
                  </a:extLst>
                </a:gridCol>
                <a:gridCol w="1272461">
                  <a:extLst>
                    <a:ext uri="{9D8B030D-6E8A-4147-A177-3AD203B41FA5}">
                      <a16:colId xmlns:a16="http://schemas.microsoft.com/office/drawing/2014/main" val="2635522502"/>
                    </a:ext>
                  </a:extLst>
                </a:gridCol>
              </a:tblGrid>
              <a:tr h="763998">
                <a:tc>
                  <a:txBody>
                    <a:bodyPr/>
                    <a:lstStyle/>
                    <a:p>
                      <a:pPr algn="ctr">
                        <a:lnSpc>
                          <a:spcPct val="115000"/>
                        </a:lnSpc>
                        <a:spcAft>
                          <a:spcPts val="1000"/>
                        </a:spcAft>
                      </a:pPr>
                      <a:r>
                        <a:rPr lang="en-US" sz="1200" b="1" dirty="0">
                          <a:effectLst/>
                          <a:latin typeface="+mn-lt"/>
                        </a:rPr>
                        <a:t>CO Number</a:t>
                      </a:r>
                      <a:endParaRPr lang="en-IN" sz="1200" b="1" dirty="0">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ctr">
                        <a:lnSpc>
                          <a:spcPct val="115000"/>
                        </a:lnSpc>
                        <a:spcAft>
                          <a:spcPts val="1000"/>
                        </a:spcAft>
                      </a:pPr>
                      <a:r>
                        <a:rPr lang="en-US" sz="1200" b="1" dirty="0">
                          <a:effectLst/>
                          <a:latin typeface="+mn-lt"/>
                        </a:rPr>
                        <a:t>Title</a:t>
                      </a:r>
                      <a:endParaRPr lang="en-IN" sz="1200" b="1" dirty="0">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ctr">
                        <a:lnSpc>
                          <a:spcPct val="115000"/>
                        </a:lnSpc>
                        <a:spcAft>
                          <a:spcPts val="1000"/>
                        </a:spcAft>
                      </a:pPr>
                      <a:r>
                        <a:rPr lang="en-US" sz="1200" b="1" dirty="0">
                          <a:effectLst/>
                          <a:latin typeface="+mn-lt"/>
                        </a:rPr>
                        <a:t> </a:t>
                      </a:r>
                      <a:endParaRPr lang="en-IN" sz="1200" b="1" dirty="0">
                        <a:effectLst/>
                        <a:latin typeface="+mn-lt"/>
                      </a:endParaRPr>
                    </a:p>
                    <a:p>
                      <a:pPr algn="ctr">
                        <a:lnSpc>
                          <a:spcPct val="115000"/>
                        </a:lnSpc>
                        <a:spcAft>
                          <a:spcPts val="1000"/>
                        </a:spcAft>
                      </a:pPr>
                      <a:r>
                        <a:rPr lang="en-US" sz="1200" b="1" dirty="0">
                          <a:effectLst/>
                          <a:latin typeface="+mn-lt"/>
                        </a:rPr>
                        <a:t>Level</a:t>
                      </a:r>
                      <a:endParaRPr lang="en-IN" sz="1200" b="1" dirty="0">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2129203561"/>
                  </a:ext>
                </a:extLst>
              </a:tr>
              <a:tr h="719905">
                <a:tc>
                  <a:txBody>
                    <a:bodyPr/>
                    <a:lstStyle/>
                    <a:p>
                      <a:pPr>
                        <a:lnSpc>
                          <a:spcPct val="115000"/>
                        </a:lnSpc>
                        <a:spcAft>
                          <a:spcPts val="1000"/>
                        </a:spcAft>
                      </a:pPr>
                      <a:r>
                        <a:rPr lang="en-US" sz="1200" dirty="0">
                          <a:solidFill>
                            <a:schemeClr val="tx1"/>
                          </a:solidFill>
                          <a:effectLst/>
                          <a:latin typeface="+mn-lt"/>
                        </a:rPr>
                        <a:t>CO1</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just">
                        <a:lnSpc>
                          <a:spcPct val="115000"/>
                        </a:lnSpc>
                        <a:spcAft>
                          <a:spcPts val="1000"/>
                        </a:spcAft>
                      </a:pPr>
                      <a:r>
                        <a:rPr lang="en-US" sz="1200" dirty="0">
                          <a:solidFill>
                            <a:schemeClr val="tx1"/>
                          </a:solidFill>
                          <a:effectLst/>
                          <a:latin typeface="+mn-lt"/>
                          <a:ea typeface="Times New Roman" panose="02020603050405020304" pitchFamily="18" charset="0"/>
                        </a:rPr>
                        <a:t>Apply appropriate Listening, Speaking, Reading and Writing Skills (LSRW Skills) with correct non-verbal cues to attain expertise in soft skills.</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Apply</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2511939352"/>
                  </a:ext>
                </a:extLst>
              </a:tr>
              <a:tr h="719905">
                <a:tc>
                  <a:txBody>
                    <a:bodyPr/>
                    <a:lstStyle/>
                    <a:p>
                      <a:pPr>
                        <a:lnSpc>
                          <a:spcPct val="115000"/>
                        </a:lnSpc>
                        <a:spcAft>
                          <a:spcPts val="1000"/>
                        </a:spcAft>
                      </a:pPr>
                      <a:r>
                        <a:rPr lang="en-US" sz="1200">
                          <a:solidFill>
                            <a:schemeClr val="tx1"/>
                          </a:solidFill>
                          <a:effectLst/>
                          <a:latin typeface="+mn-lt"/>
                        </a:rPr>
                        <a:t>CO2</a:t>
                      </a:r>
                      <a:endParaRPr lang="en-IN" sz="120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indent="-31115" algn="just">
                        <a:lnSpc>
                          <a:spcPct val="115000"/>
                        </a:lnSpc>
                        <a:spcAft>
                          <a:spcPts val="1000"/>
                        </a:spcAft>
                      </a:pPr>
                      <a:r>
                        <a:rPr lang="en-US" sz="1200" dirty="0">
                          <a:solidFill>
                            <a:schemeClr val="tx1"/>
                          </a:solidFill>
                          <a:effectLst/>
                          <a:latin typeface="+mn-lt"/>
                          <a:ea typeface="Times New Roman" panose="02020603050405020304" pitchFamily="18" charset="0"/>
                        </a:rPr>
                        <a:t>Apply correct contextual and comprehensible written text in the form of paragraph writing, short compositions business correspondence, using logical support and argument in a wide range of communication situations.</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Apply</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1566616838"/>
                  </a:ext>
                </a:extLst>
              </a:tr>
              <a:tr h="763998">
                <a:tc>
                  <a:txBody>
                    <a:bodyPr/>
                    <a:lstStyle/>
                    <a:p>
                      <a:pPr>
                        <a:lnSpc>
                          <a:spcPct val="115000"/>
                        </a:lnSpc>
                        <a:spcAft>
                          <a:spcPts val="1000"/>
                        </a:spcAft>
                      </a:pPr>
                      <a:r>
                        <a:rPr lang="en-US" sz="1200" dirty="0">
                          <a:solidFill>
                            <a:schemeClr val="tx1"/>
                          </a:solidFill>
                          <a:effectLst/>
                          <a:latin typeface="+mn-lt"/>
                        </a:rPr>
                        <a:t>CO3</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indent="31115" algn="just">
                        <a:lnSpc>
                          <a:spcPct val="115000"/>
                        </a:lnSpc>
                        <a:spcAft>
                          <a:spcPts val="1000"/>
                        </a:spcAft>
                      </a:pPr>
                      <a:r>
                        <a:rPr lang="en-US" sz="1200" dirty="0">
                          <a:solidFill>
                            <a:schemeClr val="tx1"/>
                          </a:solidFill>
                          <a:effectLst/>
                          <a:latin typeface="+mn-lt"/>
                          <a:ea typeface="Times New Roman" panose="02020603050405020304" pitchFamily="18" charset="0"/>
                        </a:rPr>
                        <a:t>Demonstrate linguistic competence while speaking and during presentations through accuracy in grammatical usage, vocabulary, pronunciation and intonation.</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Apply</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3817774112"/>
                  </a:ext>
                </a:extLst>
              </a:tr>
              <a:tr h="763998">
                <a:tc>
                  <a:txBody>
                    <a:bodyPr/>
                    <a:lstStyle/>
                    <a:p>
                      <a:pPr>
                        <a:lnSpc>
                          <a:spcPct val="115000"/>
                        </a:lnSpc>
                        <a:spcAft>
                          <a:spcPts val="1000"/>
                        </a:spcAft>
                      </a:pPr>
                      <a:r>
                        <a:rPr lang="en-US" sz="1200">
                          <a:solidFill>
                            <a:schemeClr val="tx1"/>
                          </a:solidFill>
                          <a:effectLst/>
                          <a:latin typeface="+mn-lt"/>
                        </a:rPr>
                        <a:t>CO4</a:t>
                      </a:r>
                      <a:endParaRPr lang="en-IN" sz="120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just">
                        <a:lnSpc>
                          <a:spcPct val="115000"/>
                        </a:lnSpc>
                        <a:spcAft>
                          <a:spcPts val="1000"/>
                        </a:spcAft>
                      </a:pPr>
                      <a:r>
                        <a:rPr lang="en-US" sz="1200" dirty="0">
                          <a:solidFill>
                            <a:schemeClr val="tx1"/>
                          </a:solidFill>
                          <a:effectLst/>
                          <a:latin typeface="+mn-lt"/>
                          <a:ea typeface="Times New Roman" panose="02020603050405020304" pitchFamily="18" charset="0"/>
                        </a:rPr>
                        <a:t>Evaluate information as critical readers, speakers and writers applying ethics in communication and</a:t>
                      </a:r>
                      <a:endParaRPr lang="en-IN" sz="1200" dirty="0">
                        <a:solidFill>
                          <a:schemeClr val="tx1"/>
                        </a:solidFill>
                        <a:effectLst/>
                        <a:latin typeface="+mn-lt"/>
                        <a:ea typeface="Calibri" panose="020F0502020204030204" pitchFamily="34" charset="0"/>
                      </a:endParaRPr>
                    </a:p>
                    <a:p>
                      <a:pPr algn="just">
                        <a:lnSpc>
                          <a:spcPct val="115000"/>
                        </a:lnSpc>
                        <a:spcAft>
                          <a:spcPts val="1000"/>
                        </a:spcAft>
                      </a:pPr>
                      <a:r>
                        <a:rPr lang="en-US" sz="1200" dirty="0">
                          <a:solidFill>
                            <a:schemeClr val="tx1"/>
                          </a:solidFill>
                          <a:effectLst/>
                          <a:latin typeface="+mn-lt"/>
                          <a:ea typeface="Times New Roman" panose="02020603050405020304" pitchFamily="18" charset="0"/>
                        </a:rPr>
                        <a:t>being sensitive in cross cultural communication.</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Evaluate</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2331760516"/>
                  </a:ext>
                </a:extLst>
              </a:tr>
              <a:tr h="763998">
                <a:tc>
                  <a:txBody>
                    <a:bodyPr/>
                    <a:lstStyle/>
                    <a:p>
                      <a:pPr>
                        <a:lnSpc>
                          <a:spcPct val="115000"/>
                        </a:lnSpc>
                        <a:spcAft>
                          <a:spcPts val="1000"/>
                        </a:spcAft>
                      </a:pPr>
                      <a:r>
                        <a:rPr lang="en-US" sz="1200">
                          <a:solidFill>
                            <a:schemeClr val="tx1"/>
                          </a:solidFill>
                          <a:effectLst/>
                          <a:latin typeface="+mn-lt"/>
                        </a:rPr>
                        <a:t>CO5</a:t>
                      </a:r>
                      <a:endParaRPr lang="en-IN" sz="120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indent="-31115" algn="just">
                        <a:lnSpc>
                          <a:spcPct val="115000"/>
                        </a:lnSpc>
                        <a:spcAft>
                          <a:spcPts val="1000"/>
                        </a:spcAft>
                      </a:pPr>
                      <a:r>
                        <a:rPr lang="en-US" sz="1200" dirty="0">
                          <a:solidFill>
                            <a:schemeClr val="tx1"/>
                          </a:solidFill>
                          <a:effectLst/>
                          <a:latin typeface="+mn-lt"/>
                          <a:ea typeface="Times New Roman" panose="02020603050405020304" pitchFamily="18" charset="0"/>
                        </a:rPr>
                        <a:t> Create original, digital content for websites, blogs, vlogs and personal social media profiles etc.</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Create</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506219392"/>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509F5-4A90-4228-A6BE-3D4971F2A972}"/>
              </a:ext>
            </a:extLst>
          </p:cNvPr>
          <p:cNvSpPr>
            <a:spLocks noGrp="1"/>
          </p:cNvSpPr>
          <p:nvPr>
            <p:ph type="title"/>
          </p:nvPr>
        </p:nvSpPr>
        <p:spPr>
          <a:xfrm>
            <a:off x="838200" y="234320"/>
            <a:ext cx="10515600" cy="1325563"/>
          </a:xfrm>
        </p:spPr>
        <p:style>
          <a:lnRef idx="2">
            <a:schemeClr val="dk1"/>
          </a:lnRef>
          <a:fillRef idx="1">
            <a:schemeClr val="lt1"/>
          </a:fillRef>
          <a:effectRef idx="0">
            <a:schemeClr val="dk1"/>
          </a:effectRef>
          <a:fontRef idx="minor">
            <a:schemeClr val="dk1"/>
          </a:fontRef>
        </p:style>
        <p:txBody>
          <a:bodyPr/>
          <a:lstStyle/>
          <a:p>
            <a:pPr algn="ctr"/>
            <a:br>
              <a:rPr lang="en-US" b="1" dirty="0">
                <a:latin typeface="Arial Black"/>
              </a:rPr>
            </a:br>
            <a:r>
              <a:rPr lang="en-US" b="1" dirty="0">
                <a:latin typeface="Arial Black"/>
              </a:rPr>
              <a:t>WHAT IS A PARAGRAPH?</a:t>
            </a:r>
            <a:endParaRPr lang="en-US" dirty="0">
              <a:ea typeface="+mj-lt"/>
              <a:cs typeface="+mj-lt"/>
            </a:endParaRPr>
          </a:p>
          <a:p>
            <a:endParaRPr lang="en-US" dirty="0">
              <a:cs typeface="Calibri Light"/>
            </a:endParaRPr>
          </a:p>
        </p:txBody>
      </p:sp>
      <p:sp>
        <p:nvSpPr>
          <p:cNvPr id="3" name="Content Placeholder 2">
            <a:extLst>
              <a:ext uri="{FF2B5EF4-FFF2-40B4-BE49-F238E27FC236}">
                <a16:creationId xmlns:a16="http://schemas.microsoft.com/office/drawing/2014/main" id="{A6C67DCB-AD03-4E02-BEB0-7D55CE1757C5}"/>
              </a:ext>
            </a:extLst>
          </p:cNvPr>
          <p:cNvSpPr>
            <a:spLocks noGrp="1"/>
          </p:cNvSpPr>
          <p:nvPr>
            <p:ph sz="half" idx="1"/>
          </p:nvPr>
        </p:nvSpPr>
        <p:spPr>
          <a:xfrm>
            <a:off x="838200" y="1867989"/>
            <a:ext cx="5288280" cy="4467497"/>
          </a:xfrm>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p>
            <a:pPr>
              <a:lnSpc>
                <a:spcPct val="100000"/>
              </a:lnSpc>
              <a:spcBef>
                <a:spcPts val="0"/>
              </a:spcBef>
            </a:pPr>
            <a:r>
              <a:rPr lang="en-US" dirty="0">
                <a:latin typeface="Arial"/>
                <a:ea typeface="+mn-lt"/>
                <a:cs typeface="Arial"/>
              </a:rPr>
              <a:t>It is a series of sentences which are related to a topic or an idea.</a:t>
            </a:r>
          </a:p>
          <a:p>
            <a:pPr>
              <a:lnSpc>
                <a:spcPct val="100000"/>
              </a:lnSpc>
              <a:spcBef>
                <a:spcPts val="0"/>
              </a:spcBef>
            </a:pPr>
            <a:r>
              <a:rPr lang="en-US" dirty="0">
                <a:latin typeface="Arial"/>
                <a:ea typeface="+mn-lt"/>
                <a:cs typeface="Arial"/>
              </a:rPr>
              <a:t>These sentences are coherent, organized and develop the main topic or idea.</a:t>
            </a:r>
          </a:p>
          <a:p>
            <a:pPr>
              <a:lnSpc>
                <a:spcPct val="100000"/>
              </a:lnSpc>
              <a:spcBef>
                <a:spcPts val="0"/>
              </a:spcBef>
            </a:pPr>
            <a:r>
              <a:rPr lang="en-US" dirty="0">
                <a:latin typeface="Arial"/>
                <a:ea typeface="+mn-lt"/>
                <a:cs typeface="Arial"/>
              </a:rPr>
              <a:t>A paragraph is usually 5 to 10 sentences long or a half page.</a:t>
            </a:r>
            <a:endParaRPr lang="en-US" dirty="0">
              <a:latin typeface="Calibri"/>
              <a:cs typeface="Calibri"/>
            </a:endParaRPr>
          </a:p>
        </p:txBody>
      </p:sp>
      <p:pic>
        <p:nvPicPr>
          <p:cNvPr id="6" name="Picture 6" descr="A close up of a piece of paper&#10;&#10;Description generated with very high confidence">
            <a:extLst>
              <a:ext uri="{FF2B5EF4-FFF2-40B4-BE49-F238E27FC236}">
                <a16:creationId xmlns:a16="http://schemas.microsoft.com/office/drawing/2014/main" id="{0994D6DD-9A05-42EE-9E4F-59F76C8CA205}"/>
              </a:ext>
            </a:extLst>
          </p:cNvPr>
          <p:cNvPicPr>
            <a:picLocks noGrp="1" noChangeAspect="1"/>
          </p:cNvPicPr>
          <p:nvPr>
            <p:ph sz="half" idx="2"/>
          </p:nvPr>
        </p:nvPicPr>
        <p:blipFill>
          <a:blip r:embed="rId2"/>
          <a:stretch>
            <a:fillRect/>
          </a:stretch>
        </p:blipFill>
        <p:spPr>
          <a:xfrm>
            <a:off x="6161315" y="2165056"/>
            <a:ext cx="5181600" cy="4067373"/>
          </a:xfrm>
          <a:prstGeom prst="rect">
            <a:avLst/>
          </a:prstGeom>
          <a:ln>
            <a:noFill/>
          </a:ln>
          <a:effectLst>
            <a:outerShdw blurRad="292100" dist="139700" dir="2700000" algn="tl" rotWithShape="0">
              <a:srgbClr val="333333">
                <a:alpha val="65000"/>
              </a:srgbClr>
            </a:outerShdw>
          </a:effectLst>
        </p:spPr>
      </p:pic>
      <p:sp>
        <p:nvSpPr>
          <p:cNvPr id="5" name="Slide Number Placeholder 4">
            <a:extLst>
              <a:ext uri="{FF2B5EF4-FFF2-40B4-BE49-F238E27FC236}">
                <a16:creationId xmlns:a16="http://schemas.microsoft.com/office/drawing/2014/main" id="{6A859A05-C1A2-41BC-A004-0AED2624D715}"/>
              </a:ext>
            </a:extLst>
          </p:cNvPr>
          <p:cNvSpPr>
            <a:spLocks noGrp="1"/>
          </p:cNvSpPr>
          <p:nvPr>
            <p:ph type="sldNum" sz="quarter" idx="12"/>
          </p:nvPr>
        </p:nvSpPr>
        <p:spPr/>
        <p:txBody>
          <a:bodyPr/>
          <a:lstStyle/>
          <a:p>
            <a:fld id="{BDCDBBEF-AA6C-4BA6-85B2-A17D7F280E38}" type="slidenum">
              <a:rPr lang="en-US" smtClean="0"/>
              <a:pPr/>
              <a:t>4</a:t>
            </a:fld>
            <a:endParaRPr lang="en-US"/>
          </a:p>
        </p:txBody>
      </p:sp>
      <p:sp>
        <p:nvSpPr>
          <p:cNvPr id="7" name="TextBox 6">
            <a:extLst>
              <a:ext uri="{FF2B5EF4-FFF2-40B4-BE49-F238E27FC236}">
                <a16:creationId xmlns:a16="http://schemas.microsoft.com/office/drawing/2014/main" id="{E4BD7304-FE87-4367-B43D-C7163D58DEC3}"/>
              </a:ext>
            </a:extLst>
          </p:cNvPr>
          <p:cNvSpPr txBox="1"/>
          <p:nvPr/>
        </p:nvSpPr>
        <p:spPr>
          <a:xfrm>
            <a:off x="7986575" y="6362070"/>
            <a:ext cx="2743200"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100" dirty="0">
                <a:latin typeface="Arial" panose="020B0604020202020204" pitchFamily="34" charset="0"/>
                <a:ea typeface="+mn-lt"/>
                <a:cs typeface="Arial" panose="020B0604020202020204" pitchFamily="34" charset="0"/>
              </a:rPr>
              <a:t>www.authorstream.com</a:t>
            </a:r>
            <a:endParaRPr lang="en-US"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69844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4321"/>
            <a:ext cx="10515600" cy="1325563"/>
          </a:xfrm>
        </p:spPr>
        <p:style>
          <a:lnRef idx="2">
            <a:schemeClr val="dk1"/>
          </a:lnRef>
          <a:fillRef idx="1">
            <a:schemeClr val="lt1"/>
          </a:fillRef>
          <a:effectRef idx="0">
            <a:schemeClr val="dk1"/>
          </a:effectRef>
          <a:fontRef idx="minor">
            <a:schemeClr val="dk1"/>
          </a:fontRef>
        </p:style>
        <p:txBody>
          <a:bodyPr/>
          <a:lstStyle/>
          <a:p>
            <a:pPr algn="ctr"/>
            <a:r>
              <a:rPr lang="en-IN" b="1" dirty="0">
                <a:latin typeface="Arial Black"/>
                <a:ea typeface="+mj-lt"/>
                <a:cs typeface="+mj-lt"/>
              </a:rPr>
              <a:t>A PARAGRAPH</a:t>
            </a:r>
            <a:endParaRPr lang="en-US" dirty="0">
              <a:latin typeface="Arial Black"/>
            </a:endParaRPr>
          </a:p>
        </p:txBody>
      </p:sp>
      <p:sp>
        <p:nvSpPr>
          <p:cNvPr id="3" name="Content Placeholder 2"/>
          <p:cNvSpPr>
            <a:spLocks noGrp="1"/>
          </p:cNvSpPr>
          <p:nvPr>
            <p:ph sz="half" idx="2"/>
          </p:nvPr>
        </p:nvSpPr>
        <p:spPr>
          <a:xfrm>
            <a:off x="838200" y="1886728"/>
            <a:ext cx="4806138" cy="4351338"/>
          </a:xfr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a:bodyPr>
          <a:lstStyle/>
          <a:p>
            <a:pPr>
              <a:lnSpc>
                <a:spcPct val="100000"/>
              </a:lnSpc>
              <a:spcBef>
                <a:spcPts val="0"/>
              </a:spcBef>
            </a:pPr>
            <a:r>
              <a:rPr lang="en-US" dirty="0">
                <a:latin typeface="Arial"/>
                <a:ea typeface="+mn-lt"/>
                <a:cs typeface="+mn-lt"/>
              </a:rPr>
              <a:t>Is a part of longer composition, like a miniature essay.</a:t>
            </a:r>
          </a:p>
          <a:p>
            <a:pPr>
              <a:lnSpc>
                <a:spcPct val="100000"/>
              </a:lnSpc>
              <a:spcBef>
                <a:spcPts val="0"/>
              </a:spcBef>
            </a:pPr>
            <a:endParaRPr lang="en-US" dirty="0">
              <a:latin typeface="Arial"/>
              <a:ea typeface="+mn-lt"/>
              <a:cs typeface="+mn-lt"/>
            </a:endParaRPr>
          </a:p>
          <a:p>
            <a:pPr>
              <a:lnSpc>
                <a:spcPct val="100000"/>
              </a:lnSpc>
              <a:spcBef>
                <a:spcPts val="0"/>
              </a:spcBef>
            </a:pPr>
            <a:r>
              <a:rPr lang="en-US" dirty="0">
                <a:latin typeface="Arial"/>
                <a:ea typeface="+mn-lt"/>
                <a:cs typeface="+mn-lt"/>
              </a:rPr>
              <a:t>Shows well organized content.</a:t>
            </a:r>
            <a:endParaRPr lang="en-US" dirty="0"/>
          </a:p>
          <a:p>
            <a:pPr>
              <a:lnSpc>
                <a:spcPct val="100000"/>
              </a:lnSpc>
              <a:spcBef>
                <a:spcPts val="0"/>
              </a:spcBef>
            </a:pPr>
            <a:endParaRPr lang="en-US" dirty="0">
              <a:latin typeface="Arial"/>
              <a:ea typeface="+mn-lt"/>
              <a:cs typeface="+mn-lt"/>
            </a:endParaRPr>
          </a:p>
          <a:p>
            <a:pPr>
              <a:lnSpc>
                <a:spcPct val="100000"/>
              </a:lnSpc>
              <a:spcBef>
                <a:spcPts val="0"/>
              </a:spcBef>
            </a:pPr>
            <a:r>
              <a:rPr lang="en-US" dirty="0">
                <a:latin typeface="Arial"/>
                <a:ea typeface="+mn-lt"/>
                <a:cs typeface="+mn-lt"/>
              </a:rPr>
              <a:t>Has a thematic unity.</a:t>
            </a:r>
            <a:endParaRPr lang="en-IN" dirty="0">
              <a:latin typeface="Arial"/>
              <a:cs typeface="Aria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pic>
        <p:nvPicPr>
          <p:cNvPr id="23" name="Picture 23" descr="A screenshot of a cell phone&#10;&#10;Description generated with very high confidence">
            <a:extLst>
              <a:ext uri="{FF2B5EF4-FFF2-40B4-BE49-F238E27FC236}">
                <a16:creationId xmlns:a16="http://schemas.microsoft.com/office/drawing/2014/main" id="{E87C9D2E-CB79-4D15-8F18-C858F791E240}"/>
              </a:ext>
            </a:extLst>
          </p:cNvPr>
          <p:cNvPicPr>
            <a:picLocks noGrp="1" noChangeAspect="1"/>
          </p:cNvPicPr>
          <p:nvPr>
            <p:ph sz="half" idx="1"/>
          </p:nvPr>
        </p:nvPicPr>
        <p:blipFill>
          <a:blip r:embed="rId2"/>
          <a:stretch>
            <a:fillRect/>
          </a:stretch>
        </p:blipFill>
        <p:spPr>
          <a:xfrm>
            <a:off x="5766605" y="1910825"/>
            <a:ext cx="5687989" cy="430314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4" name="TextBox 23">
            <a:extLst>
              <a:ext uri="{FF2B5EF4-FFF2-40B4-BE49-F238E27FC236}">
                <a16:creationId xmlns:a16="http://schemas.microsoft.com/office/drawing/2014/main" id="{D8046D09-3F6C-4B17-8546-B4AD105B0AF8}"/>
              </a:ext>
            </a:extLst>
          </p:cNvPr>
          <p:cNvSpPr txBox="1"/>
          <p:nvPr/>
        </p:nvSpPr>
        <p:spPr>
          <a:xfrm>
            <a:off x="7693076" y="6362069"/>
            <a:ext cx="1555856"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100" dirty="0">
                <a:latin typeface="Arial" panose="020B0604020202020204" pitchFamily="34" charset="0"/>
                <a:ea typeface="+mn-lt"/>
                <a:cs typeface="Arial" panose="020B0604020202020204" pitchFamily="34" charset="0"/>
              </a:rPr>
              <a:t>www.present5.com</a:t>
            </a:r>
          </a:p>
        </p:txBody>
      </p:sp>
    </p:spTree>
    <p:extLst>
      <p:ext uri="{BB962C8B-B14F-4D97-AF65-F5344CB8AC3E}">
        <p14:creationId xmlns:p14="http://schemas.microsoft.com/office/powerpoint/2010/main" val="1497049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42BEA-C3A8-47E3-89BD-2549DD8AA49F}"/>
              </a:ext>
            </a:extLst>
          </p:cNvPr>
          <p:cNvSpPr>
            <a:spLocks noGrp="1"/>
          </p:cNvSpPr>
          <p:nvPr>
            <p:ph type="title"/>
          </p:nvPr>
        </p:nvSpPr>
        <p:spPr>
          <a:xfrm>
            <a:off x="838200" y="182547"/>
            <a:ext cx="10515600" cy="1325563"/>
          </a:xfrm>
        </p:spPr>
        <p:style>
          <a:lnRef idx="2">
            <a:schemeClr val="dk1"/>
          </a:lnRef>
          <a:fillRef idx="1">
            <a:schemeClr val="lt1"/>
          </a:fillRef>
          <a:effectRef idx="0">
            <a:schemeClr val="dk1"/>
          </a:effectRef>
          <a:fontRef idx="minor">
            <a:schemeClr val="dk1"/>
          </a:fontRef>
        </p:style>
        <p:txBody>
          <a:bodyPr/>
          <a:lstStyle/>
          <a:p>
            <a:r>
              <a:rPr lang="en-US" dirty="0">
                <a:latin typeface="Arial Black"/>
                <a:cs typeface="Calibri Light"/>
              </a:rPr>
              <a:t>COMPONENTS OF A PARAGRAPH</a:t>
            </a:r>
            <a:endParaRPr lang="en-US" dirty="0">
              <a:cs typeface="Calibri Light"/>
            </a:endParaRPr>
          </a:p>
        </p:txBody>
      </p:sp>
      <p:sp>
        <p:nvSpPr>
          <p:cNvPr id="3" name="Content Placeholder 2">
            <a:extLst>
              <a:ext uri="{FF2B5EF4-FFF2-40B4-BE49-F238E27FC236}">
                <a16:creationId xmlns:a16="http://schemas.microsoft.com/office/drawing/2014/main" id="{E4D148B1-49B0-404D-9678-E03652B33D9B}"/>
              </a:ext>
            </a:extLst>
          </p:cNvPr>
          <p:cNvSpPr>
            <a:spLocks noGrp="1"/>
          </p:cNvSpPr>
          <p:nvPr>
            <p:ph sz="half" idx="1"/>
          </p:nvPr>
        </p:nvSpPr>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a:bodyPr>
          <a:lstStyle/>
          <a:p>
            <a:pPr marL="457200"/>
            <a:endParaRPr lang="en-US" dirty="0">
              <a:latin typeface="Arial" pitchFamily="34" charset="0"/>
              <a:cs typeface="Arial" pitchFamily="34" charset="0"/>
            </a:endParaRPr>
          </a:p>
          <a:p>
            <a:pPr marL="457200"/>
            <a:r>
              <a:rPr lang="en-US" dirty="0">
                <a:latin typeface="Arial" pitchFamily="34" charset="0"/>
                <a:cs typeface="Arial" pitchFamily="34" charset="0"/>
              </a:rPr>
              <a:t>The Topic sentence</a:t>
            </a:r>
            <a:endParaRPr lang="en-US" dirty="0">
              <a:latin typeface="Arial" pitchFamily="34" charset="0"/>
              <a:ea typeface="+mn-lt"/>
              <a:cs typeface="Arial" pitchFamily="34" charset="0"/>
            </a:endParaRPr>
          </a:p>
          <a:p>
            <a:pPr marL="457200"/>
            <a:endParaRPr lang="en-US" dirty="0">
              <a:latin typeface="Arial" pitchFamily="34" charset="0"/>
              <a:ea typeface="+mn-lt"/>
              <a:cs typeface="Arial" pitchFamily="34" charset="0"/>
            </a:endParaRPr>
          </a:p>
          <a:p>
            <a:pPr marL="457200"/>
            <a:r>
              <a:rPr lang="en-US" dirty="0">
                <a:latin typeface="Arial" pitchFamily="34" charset="0"/>
                <a:cs typeface="Arial" pitchFamily="34" charset="0"/>
              </a:rPr>
              <a:t>Supporting details</a:t>
            </a:r>
            <a:endParaRPr lang="en-US" dirty="0">
              <a:latin typeface="Arial" pitchFamily="34" charset="0"/>
              <a:ea typeface="+mn-lt"/>
              <a:cs typeface="Arial" pitchFamily="34" charset="0"/>
            </a:endParaRPr>
          </a:p>
          <a:p>
            <a:pPr marL="457200"/>
            <a:endParaRPr lang="en-US" dirty="0">
              <a:latin typeface="Arial" pitchFamily="34" charset="0"/>
              <a:ea typeface="+mn-lt"/>
              <a:cs typeface="Arial" pitchFamily="34" charset="0"/>
            </a:endParaRPr>
          </a:p>
          <a:p>
            <a:pPr marL="457200"/>
            <a:r>
              <a:rPr lang="en-US" dirty="0">
                <a:latin typeface="Arial" pitchFamily="34" charset="0"/>
                <a:cs typeface="Arial" pitchFamily="34" charset="0"/>
              </a:rPr>
              <a:t>Closing sentence</a:t>
            </a:r>
            <a:endParaRPr lang="en-US" dirty="0">
              <a:latin typeface="Arial" pitchFamily="34" charset="0"/>
              <a:ea typeface="+mn-lt"/>
              <a:cs typeface="Arial" pitchFamily="34" charset="0"/>
            </a:endParaRPr>
          </a:p>
        </p:txBody>
      </p:sp>
      <p:pic>
        <p:nvPicPr>
          <p:cNvPr id="6" name="Picture 6" descr="A picture containing sitting, different, table, colorful&#10;&#10;Description generated with very high confidence">
            <a:extLst>
              <a:ext uri="{FF2B5EF4-FFF2-40B4-BE49-F238E27FC236}">
                <a16:creationId xmlns:a16="http://schemas.microsoft.com/office/drawing/2014/main" id="{060BFA28-A5B4-40E3-8B79-F310D6BF87AD}"/>
              </a:ext>
            </a:extLst>
          </p:cNvPr>
          <p:cNvPicPr>
            <a:picLocks noGrp="1" noChangeAspect="1"/>
          </p:cNvPicPr>
          <p:nvPr>
            <p:ph sz="half" idx="2"/>
          </p:nvPr>
        </p:nvPicPr>
        <p:blipFill>
          <a:blip r:embed="rId2"/>
          <a:stretch>
            <a:fillRect/>
          </a:stretch>
        </p:blipFill>
        <p:spPr>
          <a:xfrm>
            <a:off x="6357937" y="1963753"/>
            <a:ext cx="4810125" cy="407508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Slide Number Placeholder 4">
            <a:extLst>
              <a:ext uri="{FF2B5EF4-FFF2-40B4-BE49-F238E27FC236}">
                <a16:creationId xmlns:a16="http://schemas.microsoft.com/office/drawing/2014/main" id="{EC41A7D6-871C-4C7A-8133-E98BCE0E51F9}"/>
              </a:ext>
            </a:extLst>
          </p:cNvPr>
          <p:cNvSpPr>
            <a:spLocks noGrp="1"/>
          </p:cNvSpPr>
          <p:nvPr>
            <p:ph type="sldNum" sz="quarter" idx="12"/>
          </p:nvPr>
        </p:nvSpPr>
        <p:spPr>
          <a:xfrm>
            <a:off x="10522788" y="6356350"/>
            <a:ext cx="831012" cy="494521"/>
          </a:xfrm>
        </p:spPr>
        <p:txBody>
          <a:bodyPr/>
          <a:lstStyle/>
          <a:p>
            <a:fld id="{BDCDBBEF-AA6C-4BA6-85B2-A17D7F280E38}" type="slidenum">
              <a:rPr lang="en-US" smtClean="0"/>
              <a:pPr/>
              <a:t>6</a:t>
            </a:fld>
            <a:endParaRPr lang="en-US"/>
          </a:p>
        </p:txBody>
      </p:sp>
      <p:sp>
        <p:nvSpPr>
          <p:cNvPr id="7" name="TextBox 6">
            <a:extLst>
              <a:ext uri="{FF2B5EF4-FFF2-40B4-BE49-F238E27FC236}">
                <a16:creationId xmlns:a16="http://schemas.microsoft.com/office/drawing/2014/main" id="{A59ED27D-5C43-461A-9BC8-7E25D5D9D2C2}"/>
              </a:ext>
            </a:extLst>
          </p:cNvPr>
          <p:cNvSpPr txBox="1"/>
          <p:nvPr/>
        </p:nvSpPr>
        <p:spPr>
          <a:xfrm>
            <a:off x="8173567" y="6342000"/>
            <a:ext cx="1480780"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a:latin typeface="Arial" panose="020B0604020202020204" pitchFamily="34" charset="0"/>
                <a:cs typeface="Arial" panose="020B0604020202020204" pitchFamily="34" charset="0"/>
              </a:rPr>
              <a:t>i.ytimg.com</a:t>
            </a:r>
          </a:p>
        </p:txBody>
      </p:sp>
    </p:spTree>
    <p:extLst>
      <p:ext uri="{BB962C8B-B14F-4D97-AF65-F5344CB8AC3E}">
        <p14:creationId xmlns:p14="http://schemas.microsoft.com/office/powerpoint/2010/main" val="40742012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4C8EC-AEAE-46BD-AD08-224F201DDE4F}"/>
              </a:ext>
            </a:extLst>
          </p:cNvPr>
          <p:cNvSpPr>
            <a:spLocks noGrp="1"/>
          </p:cNvSpPr>
          <p:nvPr>
            <p:ph type="title"/>
          </p:nvPr>
        </p:nvSpPr>
        <p:spPr>
          <a:xfrm>
            <a:off x="838200" y="221906"/>
            <a:ext cx="10515600" cy="1292808"/>
          </a:xfrm>
        </p:spPr>
        <p:style>
          <a:lnRef idx="2">
            <a:schemeClr val="dk1"/>
          </a:lnRef>
          <a:fillRef idx="1">
            <a:schemeClr val="lt1"/>
          </a:fillRef>
          <a:effectRef idx="0">
            <a:schemeClr val="dk1"/>
          </a:effectRef>
          <a:fontRef idx="minor">
            <a:schemeClr val="dk1"/>
          </a:fontRef>
        </p:style>
        <p:txBody>
          <a:bodyPr/>
          <a:lstStyle/>
          <a:p>
            <a:pPr algn="ctr"/>
            <a:r>
              <a:rPr lang="en-US" dirty="0">
                <a:latin typeface="Arial Black"/>
                <a:ea typeface="+mj-lt"/>
                <a:cs typeface="+mj-lt"/>
              </a:rPr>
              <a:t>THE TOPIC SENTENCE</a:t>
            </a:r>
            <a:endParaRPr lang="en-US" dirty="0">
              <a:latin typeface="Arial Black"/>
            </a:endParaRPr>
          </a:p>
        </p:txBody>
      </p:sp>
      <p:sp>
        <p:nvSpPr>
          <p:cNvPr id="3" name="Content Placeholder 2">
            <a:extLst>
              <a:ext uri="{FF2B5EF4-FFF2-40B4-BE49-F238E27FC236}">
                <a16:creationId xmlns:a16="http://schemas.microsoft.com/office/drawing/2014/main" id="{8B64E6B4-71D6-4635-B14D-25197E0C77D1}"/>
              </a:ext>
            </a:extLst>
          </p:cNvPr>
          <p:cNvSpPr>
            <a:spLocks noGrp="1"/>
          </p:cNvSpPr>
          <p:nvPr>
            <p:ph sz="half" idx="1"/>
          </p:nvPr>
        </p:nvSpPr>
        <p:spPr>
          <a:xfrm>
            <a:off x="833887" y="1743362"/>
            <a:ext cx="4908431" cy="4788068"/>
          </a:xfrm>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p>
            <a:pPr>
              <a:lnSpc>
                <a:spcPct val="100000"/>
              </a:lnSpc>
              <a:spcBef>
                <a:spcPts val="0"/>
              </a:spcBef>
            </a:pPr>
            <a:r>
              <a:rPr lang="en-US" dirty="0">
                <a:latin typeface="Arial"/>
                <a:ea typeface="+mn-lt"/>
                <a:cs typeface="+mn-lt"/>
              </a:rPr>
              <a:t>It is the introductory sentence.</a:t>
            </a:r>
          </a:p>
          <a:p>
            <a:pPr>
              <a:lnSpc>
                <a:spcPct val="100000"/>
              </a:lnSpc>
              <a:spcBef>
                <a:spcPts val="0"/>
              </a:spcBef>
            </a:pPr>
            <a:r>
              <a:rPr lang="en-US" dirty="0">
                <a:latin typeface="Arial"/>
                <a:ea typeface="+mn-lt"/>
                <a:cs typeface="+mn-lt"/>
              </a:rPr>
              <a:t>It has the controlling idea and tells the reader what the paragraph is about.</a:t>
            </a:r>
          </a:p>
          <a:p>
            <a:pPr>
              <a:lnSpc>
                <a:spcPct val="100000"/>
              </a:lnSpc>
              <a:spcBef>
                <a:spcPts val="0"/>
              </a:spcBef>
            </a:pPr>
            <a:r>
              <a:rPr lang="en-US" dirty="0">
                <a:latin typeface="Arial"/>
                <a:ea typeface="+mn-lt"/>
                <a:cs typeface="+mn-lt"/>
              </a:rPr>
              <a:t>It must be a complete sentence.</a:t>
            </a:r>
          </a:p>
        </p:txBody>
      </p:sp>
      <p:sp>
        <p:nvSpPr>
          <p:cNvPr id="4" name="Slide Number Placeholder 3">
            <a:extLst>
              <a:ext uri="{FF2B5EF4-FFF2-40B4-BE49-F238E27FC236}">
                <a16:creationId xmlns:a16="http://schemas.microsoft.com/office/drawing/2014/main" id="{E8FFBBBB-1A91-4BB0-95B9-DB4D78B5706F}"/>
              </a:ext>
            </a:extLst>
          </p:cNvPr>
          <p:cNvSpPr>
            <a:spLocks noGrp="1"/>
          </p:cNvSpPr>
          <p:nvPr>
            <p:ph type="sldNum" sz="quarter" idx="12"/>
          </p:nvPr>
        </p:nvSpPr>
        <p:spPr/>
        <p:txBody>
          <a:bodyPr/>
          <a:lstStyle/>
          <a:p>
            <a:fld id="{BDCDBBEF-AA6C-4BA6-85B2-A17D7F280E38}" type="slidenum">
              <a:rPr lang="en-US" smtClean="0"/>
              <a:pPr/>
              <a:t>7</a:t>
            </a:fld>
            <a:endParaRPr lang="en-US"/>
          </a:p>
        </p:txBody>
      </p:sp>
      <p:pic>
        <p:nvPicPr>
          <p:cNvPr id="18" name="Picture 18" descr="A close up of text on a white background&#10;&#10;Description generated with very high confidence">
            <a:extLst>
              <a:ext uri="{FF2B5EF4-FFF2-40B4-BE49-F238E27FC236}">
                <a16:creationId xmlns:a16="http://schemas.microsoft.com/office/drawing/2014/main" id="{1A80452C-A401-4EBE-9FED-C200D1E699C7}"/>
              </a:ext>
            </a:extLst>
          </p:cNvPr>
          <p:cNvPicPr>
            <a:picLocks noGrp="1" noChangeAspect="1"/>
          </p:cNvPicPr>
          <p:nvPr>
            <p:ph sz="half" idx="2"/>
          </p:nvPr>
        </p:nvPicPr>
        <p:blipFill>
          <a:blip r:embed="rId2"/>
          <a:stretch>
            <a:fillRect/>
          </a:stretch>
        </p:blipFill>
        <p:spPr>
          <a:xfrm>
            <a:off x="6096000" y="1879885"/>
            <a:ext cx="5262113" cy="461298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9" name="TextBox 18">
            <a:extLst>
              <a:ext uri="{FF2B5EF4-FFF2-40B4-BE49-F238E27FC236}">
                <a16:creationId xmlns:a16="http://schemas.microsoft.com/office/drawing/2014/main" id="{D50A97AA-31E4-43B1-9C64-6F1411EC72C3}"/>
              </a:ext>
            </a:extLst>
          </p:cNvPr>
          <p:cNvSpPr txBox="1"/>
          <p:nvPr/>
        </p:nvSpPr>
        <p:spPr>
          <a:xfrm>
            <a:off x="8094689" y="6530159"/>
            <a:ext cx="2000571"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100" dirty="0">
                <a:latin typeface="Arial" panose="020B0604020202020204" pitchFamily="34" charset="0"/>
                <a:ea typeface="+mn-lt"/>
                <a:cs typeface="Arial" panose="020B0604020202020204" pitchFamily="34" charset="0"/>
              </a:rPr>
              <a:t>www.kibin.com</a:t>
            </a:r>
            <a:endParaRPr lang="en-US"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494640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9A638-CBDA-4D36-960E-7E1290F4FAC9}"/>
              </a:ext>
            </a:extLst>
          </p:cNvPr>
          <p:cNvSpPr>
            <a:spLocks noGrp="1"/>
          </p:cNvSpPr>
          <p:nvPr>
            <p:ph type="title"/>
          </p:nvPr>
        </p:nvSpPr>
        <p:spPr>
          <a:xfrm>
            <a:off x="838200" y="205075"/>
            <a:ext cx="10515600" cy="1325563"/>
          </a:xfrm>
        </p:spPr>
        <p:style>
          <a:lnRef idx="2">
            <a:schemeClr val="dk1"/>
          </a:lnRef>
          <a:fillRef idx="1">
            <a:schemeClr val="lt1"/>
          </a:fillRef>
          <a:effectRef idx="0">
            <a:schemeClr val="dk1"/>
          </a:effectRef>
          <a:fontRef idx="minor">
            <a:schemeClr val="dk1"/>
          </a:fontRef>
        </p:style>
        <p:txBody>
          <a:bodyPr/>
          <a:lstStyle/>
          <a:p>
            <a:pPr algn="ctr"/>
            <a:r>
              <a:rPr lang="en-US" dirty="0">
                <a:latin typeface="Arial Black"/>
              </a:rPr>
              <a:t>   </a:t>
            </a:r>
            <a:br>
              <a:rPr lang="en-US" dirty="0">
                <a:latin typeface="Arial Black"/>
              </a:rPr>
            </a:br>
            <a:r>
              <a:rPr lang="en-US" dirty="0">
                <a:latin typeface="Arial Black"/>
              </a:rPr>
              <a:t>SUPPORTING DETAILS</a:t>
            </a:r>
            <a:endParaRPr lang="en-US" dirty="0">
              <a:ea typeface="+mj-lt"/>
              <a:cs typeface="+mj-lt"/>
            </a:endParaRPr>
          </a:p>
          <a:p>
            <a:endParaRPr lang="en-US" dirty="0">
              <a:cs typeface="Calibri Light"/>
            </a:endParaRPr>
          </a:p>
        </p:txBody>
      </p:sp>
      <p:sp>
        <p:nvSpPr>
          <p:cNvPr id="3" name="Content Placeholder 2">
            <a:extLst>
              <a:ext uri="{FF2B5EF4-FFF2-40B4-BE49-F238E27FC236}">
                <a16:creationId xmlns:a16="http://schemas.microsoft.com/office/drawing/2014/main" id="{8740F2B5-7162-4249-8501-E7B8F6E1F526}"/>
              </a:ext>
            </a:extLst>
          </p:cNvPr>
          <p:cNvSpPr>
            <a:spLocks noGrp="1"/>
          </p:cNvSpPr>
          <p:nvPr>
            <p:ph sz="half" idx="1"/>
          </p:nvPr>
        </p:nvSpPr>
        <p:spPr>
          <a:xfrm>
            <a:off x="838200" y="1825625"/>
            <a:ext cx="4606506" cy="4523866"/>
          </a:xfr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a:bodyPr>
          <a:lstStyle/>
          <a:p>
            <a:pPr>
              <a:lnSpc>
                <a:spcPct val="100000"/>
              </a:lnSpc>
              <a:spcBef>
                <a:spcPts val="0"/>
              </a:spcBef>
            </a:pPr>
            <a:endParaRPr lang="en-US" dirty="0">
              <a:latin typeface="Arial"/>
              <a:ea typeface="+mn-lt"/>
              <a:cs typeface="+mn-lt"/>
            </a:endParaRPr>
          </a:p>
          <a:p>
            <a:pPr>
              <a:lnSpc>
                <a:spcPct val="100000"/>
              </a:lnSpc>
              <a:spcBef>
                <a:spcPts val="0"/>
              </a:spcBef>
            </a:pPr>
            <a:r>
              <a:rPr lang="en-US" dirty="0">
                <a:latin typeface="Arial"/>
                <a:ea typeface="+mn-lt"/>
                <a:cs typeface="+mn-lt"/>
              </a:rPr>
              <a:t>They provide information to support the topic sentence.</a:t>
            </a:r>
            <a:endParaRPr lang="en-US" dirty="0"/>
          </a:p>
          <a:p>
            <a:pPr marL="0" indent="0">
              <a:lnSpc>
                <a:spcPct val="100000"/>
              </a:lnSpc>
              <a:spcBef>
                <a:spcPts val="0"/>
              </a:spcBef>
              <a:buNone/>
            </a:pPr>
            <a:endParaRPr lang="en-US" dirty="0">
              <a:latin typeface="Arial"/>
              <a:ea typeface="+mn-lt"/>
              <a:cs typeface="+mn-lt"/>
            </a:endParaRPr>
          </a:p>
          <a:p>
            <a:pPr>
              <a:lnSpc>
                <a:spcPct val="100000"/>
              </a:lnSpc>
              <a:spcBef>
                <a:spcPts val="0"/>
              </a:spcBef>
            </a:pPr>
            <a:r>
              <a:rPr lang="en-US" dirty="0">
                <a:latin typeface="Arial"/>
                <a:ea typeface="+mn-lt"/>
                <a:cs typeface="+mn-lt"/>
              </a:rPr>
              <a:t>It can be a definition, explanation or an example.</a:t>
            </a:r>
          </a:p>
        </p:txBody>
      </p:sp>
      <p:pic>
        <p:nvPicPr>
          <p:cNvPr id="6" name="Picture 6" descr="A screenshot of a cell phone&#10;&#10;Description generated with very high confidence">
            <a:extLst>
              <a:ext uri="{FF2B5EF4-FFF2-40B4-BE49-F238E27FC236}">
                <a16:creationId xmlns:a16="http://schemas.microsoft.com/office/drawing/2014/main" id="{BFEF287F-0784-409E-9A5F-6ABF97EEE641}"/>
              </a:ext>
            </a:extLst>
          </p:cNvPr>
          <p:cNvPicPr>
            <a:picLocks noGrp="1" noChangeAspect="1"/>
          </p:cNvPicPr>
          <p:nvPr>
            <p:ph sz="half" idx="2"/>
          </p:nvPr>
        </p:nvPicPr>
        <p:blipFill>
          <a:blip r:embed="rId3"/>
          <a:stretch>
            <a:fillRect/>
          </a:stretch>
        </p:blipFill>
        <p:spPr>
          <a:xfrm>
            <a:off x="5763173" y="1878897"/>
            <a:ext cx="5590627" cy="45307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Slide Number Placeholder 4">
            <a:extLst>
              <a:ext uri="{FF2B5EF4-FFF2-40B4-BE49-F238E27FC236}">
                <a16:creationId xmlns:a16="http://schemas.microsoft.com/office/drawing/2014/main" id="{F8443301-6E35-4090-B912-047DCA83077F}"/>
              </a:ext>
            </a:extLst>
          </p:cNvPr>
          <p:cNvSpPr>
            <a:spLocks noGrp="1"/>
          </p:cNvSpPr>
          <p:nvPr>
            <p:ph type="sldNum" sz="quarter" idx="12"/>
          </p:nvPr>
        </p:nvSpPr>
        <p:spPr/>
        <p:txBody>
          <a:bodyPr/>
          <a:lstStyle/>
          <a:p>
            <a:fld id="{BDCDBBEF-AA6C-4BA6-85B2-A17D7F280E38}" type="slidenum">
              <a:rPr lang="en-US" smtClean="0"/>
              <a:pPr/>
              <a:t>8</a:t>
            </a:fld>
            <a:endParaRPr lang="en-US"/>
          </a:p>
        </p:txBody>
      </p:sp>
      <p:sp>
        <p:nvSpPr>
          <p:cNvPr id="8" name="TextBox 7">
            <a:extLst>
              <a:ext uri="{FF2B5EF4-FFF2-40B4-BE49-F238E27FC236}">
                <a16:creationId xmlns:a16="http://schemas.microsoft.com/office/drawing/2014/main" id="{9E1167D3-DB53-42C2-B33A-F143CA92C509}"/>
              </a:ext>
            </a:extLst>
          </p:cNvPr>
          <p:cNvSpPr txBox="1"/>
          <p:nvPr/>
        </p:nvSpPr>
        <p:spPr>
          <a:xfrm>
            <a:off x="7413202" y="6492875"/>
            <a:ext cx="198563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 </a:t>
            </a:r>
            <a:r>
              <a:rPr lang="en-US" sz="1100" dirty="0">
                <a:latin typeface="Arial" panose="020B0604020202020204" pitchFamily="34" charset="0"/>
                <a:ea typeface="+mn-lt"/>
                <a:cs typeface="Arial" panose="020B0604020202020204" pitchFamily="34" charset="0"/>
              </a:rPr>
              <a:t>image.slidesharecdn.com</a:t>
            </a:r>
            <a:endParaRPr lang="en-US"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69651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4221F-3985-4FAB-A95A-82F52B83243E}"/>
              </a:ext>
            </a:extLst>
          </p:cNvPr>
          <p:cNvSpPr>
            <a:spLocks noGrp="1"/>
          </p:cNvSpPr>
          <p:nvPr>
            <p:ph type="title"/>
          </p:nvPr>
        </p:nvSpPr>
        <p:spPr>
          <a:xfrm>
            <a:off x="838200" y="175929"/>
            <a:ext cx="10515600" cy="1325563"/>
          </a:xfrm>
        </p:spPr>
        <p:style>
          <a:lnRef idx="2">
            <a:schemeClr val="dk1"/>
          </a:lnRef>
          <a:fillRef idx="1">
            <a:schemeClr val="lt1"/>
          </a:fillRef>
          <a:effectRef idx="0">
            <a:schemeClr val="dk1"/>
          </a:effectRef>
          <a:fontRef idx="minor">
            <a:schemeClr val="dk1"/>
          </a:fontRef>
        </p:style>
        <p:txBody>
          <a:bodyPr/>
          <a:lstStyle/>
          <a:p>
            <a:pPr algn="ctr"/>
            <a:r>
              <a:rPr lang="en-US" dirty="0">
                <a:latin typeface="Arial Black"/>
              </a:rPr>
              <a:t>CLOSING SENTENCE</a:t>
            </a:r>
            <a:endParaRPr lang="en-US" dirty="0">
              <a:cs typeface="Calibri Light"/>
            </a:endParaRPr>
          </a:p>
        </p:txBody>
      </p:sp>
      <p:sp>
        <p:nvSpPr>
          <p:cNvPr id="3" name="Content Placeholder 2">
            <a:extLst>
              <a:ext uri="{FF2B5EF4-FFF2-40B4-BE49-F238E27FC236}">
                <a16:creationId xmlns:a16="http://schemas.microsoft.com/office/drawing/2014/main" id="{C5D5A0FE-381C-4F0B-9779-C41E76DC7419}"/>
              </a:ext>
            </a:extLst>
          </p:cNvPr>
          <p:cNvSpPr>
            <a:spLocks noGrp="1"/>
          </p:cNvSpPr>
          <p:nvPr>
            <p:ph sz="half" idx="1"/>
          </p:nvPr>
        </p:nvSpPr>
        <p:spPr>
          <a:xfrm>
            <a:off x="838199" y="1758987"/>
            <a:ext cx="4255321" cy="4178809"/>
          </a:xfr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a:bodyPr>
          <a:lstStyle/>
          <a:p>
            <a:pPr marL="0" indent="0">
              <a:lnSpc>
                <a:spcPct val="100000"/>
              </a:lnSpc>
              <a:spcBef>
                <a:spcPts val="0"/>
              </a:spcBef>
              <a:buNone/>
            </a:pPr>
            <a:endParaRPr lang="en-US" dirty="0">
              <a:latin typeface="Arial"/>
              <a:ea typeface="+mn-lt"/>
              <a:cs typeface="+mn-lt"/>
            </a:endParaRPr>
          </a:p>
          <a:p>
            <a:pPr>
              <a:lnSpc>
                <a:spcPct val="100000"/>
              </a:lnSpc>
              <a:spcBef>
                <a:spcPts val="0"/>
              </a:spcBef>
            </a:pPr>
            <a:r>
              <a:rPr lang="en-US" dirty="0">
                <a:latin typeface="Arial"/>
                <a:ea typeface="+mn-lt"/>
                <a:cs typeface="+mn-lt"/>
              </a:rPr>
              <a:t>It is the concluding sentence which summarizes the main idea and feeling of the paragraph.</a:t>
            </a:r>
          </a:p>
          <a:p>
            <a:pPr marL="0" indent="0">
              <a:lnSpc>
                <a:spcPct val="100000"/>
              </a:lnSpc>
              <a:spcBef>
                <a:spcPts val="0"/>
              </a:spcBef>
              <a:buNone/>
            </a:pPr>
            <a:endParaRPr lang="en-US" dirty="0">
              <a:latin typeface="Arial"/>
              <a:ea typeface="+mn-lt"/>
              <a:cs typeface="+mn-lt"/>
            </a:endParaRPr>
          </a:p>
          <a:p>
            <a:pPr>
              <a:lnSpc>
                <a:spcPct val="100000"/>
              </a:lnSpc>
              <a:spcBef>
                <a:spcPts val="0"/>
              </a:spcBef>
            </a:pPr>
            <a:endParaRPr lang="en-US" dirty="0">
              <a:latin typeface="Arial"/>
              <a:cs typeface="Calibri"/>
            </a:endParaRPr>
          </a:p>
        </p:txBody>
      </p:sp>
      <p:pic>
        <p:nvPicPr>
          <p:cNvPr id="6" name="Picture 6" descr="A screenshot of a cell phone&#10;&#10;Description generated with very high confidence">
            <a:extLst>
              <a:ext uri="{FF2B5EF4-FFF2-40B4-BE49-F238E27FC236}">
                <a16:creationId xmlns:a16="http://schemas.microsoft.com/office/drawing/2014/main" id="{16456BCA-8C5A-4FAF-A492-01AA534ECA9B}"/>
              </a:ext>
            </a:extLst>
          </p:cNvPr>
          <p:cNvPicPr>
            <a:picLocks noGrp="1" noChangeAspect="1"/>
          </p:cNvPicPr>
          <p:nvPr>
            <p:ph sz="half" idx="2"/>
          </p:nvPr>
        </p:nvPicPr>
        <p:blipFill rotWithShape="1">
          <a:blip r:embed="rId2"/>
          <a:srcRect l="3784" t="2732" r="2458" b="6462"/>
          <a:stretch/>
        </p:blipFill>
        <p:spPr>
          <a:xfrm>
            <a:off x="5371479" y="1772050"/>
            <a:ext cx="5982321" cy="456343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Slide Number Placeholder 4">
            <a:extLst>
              <a:ext uri="{FF2B5EF4-FFF2-40B4-BE49-F238E27FC236}">
                <a16:creationId xmlns:a16="http://schemas.microsoft.com/office/drawing/2014/main" id="{B5876785-B64E-402B-B316-CF430943F690}"/>
              </a:ext>
            </a:extLst>
          </p:cNvPr>
          <p:cNvSpPr>
            <a:spLocks noGrp="1"/>
          </p:cNvSpPr>
          <p:nvPr>
            <p:ph type="sldNum" sz="quarter" idx="12"/>
          </p:nvPr>
        </p:nvSpPr>
        <p:spPr>
          <a:xfrm>
            <a:off x="10463134" y="6421450"/>
            <a:ext cx="890666" cy="365125"/>
          </a:xfrm>
        </p:spPr>
        <p:txBody>
          <a:bodyPr/>
          <a:lstStyle/>
          <a:p>
            <a:fld id="{BDCDBBEF-AA6C-4BA6-85B2-A17D7F280E38}" type="slidenum">
              <a:rPr lang="en-US" smtClean="0"/>
              <a:pPr/>
              <a:t>9</a:t>
            </a:fld>
            <a:endParaRPr lang="en-US" dirty="0"/>
          </a:p>
        </p:txBody>
      </p:sp>
      <p:sp>
        <p:nvSpPr>
          <p:cNvPr id="7" name="TextBox 6">
            <a:extLst>
              <a:ext uri="{FF2B5EF4-FFF2-40B4-BE49-F238E27FC236}">
                <a16:creationId xmlns:a16="http://schemas.microsoft.com/office/drawing/2014/main" id="{C92BC842-8207-4D3C-9C71-1B92631812C3}"/>
              </a:ext>
            </a:extLst>
          </p:cNvPr>
          <p:cNvSpPr txBox="1"/>
          <p:nvPr/>
        </p:nvSpPr>
        <p:spPr>
          <a:xfrm>
            <a:off x="7838236" y="6538912"/>
            <a:ext cx="15447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100" dirty="0">
                <a:latin typeface="Arial" panose="020B0604020202020204" pitchFamily="34" charset="0"/>
                <a:ea typeface="+mn-lt"/>
                <a:cs typeface="Arial" panose="020B0604020202020204" pitchFamily="34" charset="0"/>
              </a:rPr>
              <a:t>www.slideshare.net</a:t>
            </a:r>
            <a:endParaRPr lang="en-US"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56040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0DE73-54D9-4542-9C96-6356E6C0FAFC}"/>
              </a:ext>
            </a:extLst>
          </p:cNvPr>
          <p:cNvSpPr>
            <a:spLocks noGrp="1"/>
          </p:cNvSpPr>
          <p:nvPr>
            <p:ph type="title"/>
          </p:nvPr>
        </p:nvSpPr>
        <p:spPr>
          <a:xfrm>
            <a:off x="838200" y="192597"/>
            <a:ext cx="10515600" cy="1325563"/>
          </a:xfrm>
        </p:spPr>
        <p:style>
          <a:lnRef idx="2">
            <a:schemeClr val="dk1"/>
          </a:lnRef>
          <a:fillRef idx="1">
            <a:schemeClr val="lt1"/>
          </a:fillRef>
          <a:effectRef idx="0">
            <a:schemeClr val="dk1"/>
          </a:effectRef>
          <a:fontRef idx="minor">
            <a:schemeClr val="dk1"/>
          </a:fontRef>
        </p:style>
        <p:txBody>
          <a:bodyPr/>
          <a:lstStyle/>
          <a:p>
            <a:r>
              <a:rPr lang="en-US" dirty="0">
                <a:latin typeface="Arial Black"/>
                <a:cs typeface="Calibri Light"/>
              </a:rPr>
              <a:t>             POLL QUESTION 1</a:t>
            </a:r>
            <a:endParaRPr lang="en-US" dirty="0">
              <a:latin typeface="Arial Black"/>
            </a:endParaRPr>
          </a:p>
        </p:txBody>
      </p:sp>
      <p:sp>
        <p:nvSpPr>
          <p:cNvPr id="3" name="Content Placeholder 2">
            <a:extLst>
              <a:ext uri="{FF2B5EF4-FFF2-40B4-BE49-F238E27FC236}">
                <a16:creationId xmlns:a16="http://schemas.microsoft.com/office/drawing/2014/main" id="{74A81266-69E9-41F1-919D-D149E5CE3BF5}"/>
              </a:ext>
            </a:extLst>
          </p:cNvPr>
          <p:cNvSpPr>
            <a:spLocks noGrp="1"/>
          </p:cNvSpPr>
          <p:nvPr>
            <p:ph idx="1"/>
          </p:nvPr>
        </p:nvSpPr>
        <p:spPr>
          <a:xfrm>
            <a:off x="838200" y="1710607"/>
            <a:ext cx="10515600" cy="4538243"/>
          </a:xfr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a:bodyPr>
          <a:lstStyle/>
          <a:p>
            <a:pPr marL="0" indent="0">
              <a:buNone/>
            </a:pPr>
            <a:r>
              <a:rPr lang="en-US" b="1" dirty="0">
                <a:solidFill>
                  <a:schemeClr val="tx1"/>
                </a:solidFill>
                <a:latin typeface="Arial"/>
                <a:ea typeface="+mn-lt"/>
                <a:cs typeface="+mn-lt"/>
              </a:rPr>
              <a:t> Which of these is true for a topic sentence?</a:t>
            </a:r>
            <a:endParaRPr lang="en-US" b="1" dirty="0">
              <a:solidFill>
                <a:schemeClr val="tx1"/>
              </a:solidFill>
              <a:latin typeface="Arial"/>
              <a:cs typeface="Calibri"/>
            </a:endParaRPr>
          </a:p>
          <a:p>
            <a:pPr marL="514350" indent="-514350">
              <a:buFont typeface="+mj-lt"/>
              <a:buAutoNum type="arabicPeriod"/>
            </a:pPr>
            <a:r>
              <a:rPr lang="en-US" dirty="0">
                <a:solidFill>
                  <a:schemeClr val="tx1"/>
                </a:solidFill>
                <a:latin typeface="Arial"/>
                <a:ea typeface="+mn-lt"/>
                <a:cs typeface="+mn-lt"/>
              </a:rPr>
              <a:t>A topic sentence can be incomplete.</a:t>
            </a:r>
            <a:endParaRPr lang="en-US" dirty="0">
              <a:solidFill>
                <a:schemeClr val="tx1"/>
              </a:solidFill>
              <a:latin typeface="Arial"/>
              <a:cs typeface="Arial"/>
            </a:endParaRPr>
          </a:p>
          <a:p>
            <a:pPr marL="514350" indent="-514350">
              <a:buFont typeface="+mj-lt"/>
              <a:buAutoNum type="arabicPeriod"/>
            </a:pPr>
            <a:r>
              <a:rPr lang="en-US" dirty="0">
                <a:solidFill>
                  <a:schemeClr val="tx1"/>
                </a:solidFill>
                <a:latin typeface="Arial"/>
                <a:ea typeface="+mn-lt"/>
                <a:cs typeface="+mn-lt"/>
              </a:rPr>
              <a:t>Everything in the paragraph is tied back to the topic sentence</a:t>
            </a:r>
            <a:endParaRPr lang="en-US" dirty="0">
              <a:solidFill>
                <a:schemeClr val="tx1"/>
              </a:solidFill>
              <a:latin typeface="Arial"/>
              <a:ea typeface="+mn-lt"/>
              <a:cs typeface="Arial"/>
            </a:endParaRPr>
          </a:p>
          <a:p>
            <a:pPr marL="514350" indent="-514350">
              <a:buFont typeface="+mj-lt"/>
              <a:buAutoNum type="arabicPeriod"/>
            </a:pPr>
            <a:r>
              <a:rPr lang="en-US" dirty="0">
                <a:solidFill>
                  <a:schemeClr val="tx1"/>
                </a:solidFill>
                <a:latin typeface="Arial"/>
                <a:ea typeface="+mn-lt"/>
                <a:cs typeface="+mn-lt"/>
              </a:rPr>
              <a:t>A topic sentence can never be a question.</a:t>
            </a:r>
            <a:endParaRPr lang="en-US" dirty="0">
              <a:solidFill>
                <a:schemeClr val="tx1"/>
              </a:solidFill>
              <a:latin typeface="Arial"/>
              <a:ea typeface="+mn-lt"/>
              <a:cs typeface="Arial"/>
            </a:endParaRPr>
          </a:p>
          <a:p>
            <a:pPr marL="514350" indent="-514350">
              <a:buFont typeface="+mj-lt"/>
              <a:buAutoNum type="arabicPeriod"/>
            </a:pPr>
            <a:r>
              <a:rPr lang="en-US" dirty="0">
                <a:solidFill>
                  <a:schemeClr val="tx1"/>
                </a:solidFill>
                <a:latin typeface="Arial"/>
                <a:ea typeface="+mn-lt"/>
                <a:cs typeface="+mn-lt"/>
              </a:rPr>
              <a:t>A topic sentence and closing sentence are the same.</a:t>
            </a:r>
            <a:endParaRPr lang="en-US" dirty="0">
              <a:solidFill>
                <a:schemeClr val="tx1"/>
              </a:solidFill>
              <a:latin typeface="Arial"/>
              <a:cs typeface="Arial"/>
            </a:endParaRPr>
          </a:p>
        </p:txBody>
      </p:sp>
      <p:sp>
        <p:nvSpPr>
          <p:cNvPr id="5" name="Slide Number Placeholder 4">
            <a:extLst>
              <a:ext uri="{FF2B5EF4-FFF2-40B4-BE49-F238E27FC236}">
                <a16:creationId xmlns:a16="http://schemas.microsoft.com/office/drawing/2014/main" id="{FF1D2E76-F338-41A0-BC25-94ACCA485AA0}"/>
              </a:ext>
            </a:extLst>
          </p:cNvPr>
          <p:cNvSpPr>
            <a:spLocks noGrp="1"/>
          </p:cNvSpPr>
          <p:nvPr>
            <p:ph type="sldNum" sz="quarter" idx="12"/>
          </p:nvPr>
        </p:nvSpPr>
        <p:spPr/>
        <p:txBody>
          <a:bodyPr/>
          <a:lstStyle/>
          <a:p>
            <a:fld id="{BDCDBBEF-AA6C-4BA6-85B2-A17D7F280E38}" type="slidenum">
              <a:rPr lang="en-US" smtClean="0"/>
              <a:pPr/>
              <a:t>10</a:t>
            </a:fld>
            <a:endParaRPr lang="en-US"/>
          </a:p>
        </p:txBody>
      </p:sp>
    </p:spTree>
    <p:extLst>
      <p:ext uri="{BB962C8B-B14F-4D97-AF65-F5344CB8AC3E}">
        <p14:creationId xmlns:p14="http://schemas.microsoft.com/office/powerpoint/2010/main" val="2909087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8D2E8-4057-44A4-98DE-AEDAAAA45120}"/>
              </a:ext>
            </a:extLst>
          </p:cNvPr>
          <p:cNvSpPr>
            <a:spLocks noGrp="1"/>
          </p:cNvSpPr>
          <p:nvPr>
            <p:ph type="title"/>
          </p:nvPr>
        </p:nvSpPr>
        <p:spPr>
          <a:xfrm>
            <a:off x="838200" y="246552"/>
            <a:ext cx="10515600" cy="1325563"/>
          </a:xfrm>
        </p:spPr>
        <p:style>
          <a:lnRef idx="2">
            <a:schemeClr val="dk1"/>
          </a:lnRef>
          <a:fillRef idx="1">
            <a:schemeClr val="lt1"/>
          </a:fillRef>
          <a:effectRef idx="0">
            <a:schemeClr val="dk1"/>
          </a:effectRef>
          <a:fontRef idx="minor">
            <a:schemeClr val="dk1"/>
          </a:fontRef>
        </p:style>
        <p:txBody>
          <a:bodyPr/>
          <a:lstStyle/>
          <a:p>
            <a:r>
              <a:rPr lang="en-US" dirty="0">
                <a:latin typeface="Arial Black"/>
              </a:rPr>
              <a:t>         ESSENTIAL ELEMENTS</a:t>
            </a:r>
            <a:endParaRPr lang="en-US" dirty="0"/>
          </a:p>
        </p:txBody>
      </p:sp>
      <p:sp>
        <p:nvSpPr>
          <p:cNvPr id="3" name="Content Placeholder 2">
            <a:extLst>
              <a:ext uri="{FF2B5EF4-FFF2-40B4-BE49-F238E27FC236}">
                <a16:creationId xmlns:a16="http://schemas.microsoft.com/office/drawing/2014/main" id="{A1C57A95-B793-4B15-8970-DC98B4C68071}"/>
              </a:ext>
            </a:extLst>
          </p:cNvPr>
          <p:cNvSpPr>
            <a:spLocks noGrp="1"/>
          </p:cNvSpPr>
          <p:nvPr>
            <p:ph idx="1"/>
          </p:nvPr>
        </p:nvSpPr>
        <p:spPr>
          <a:xfrm>
            <a:off x="838200" y="1763485"/>
            <a:ext cx="10515600" cy="4413477"/>
          </a:xfr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a:bodyPr>
          <a:lstStyle/>
          <a:p>
            <a:pPr marL="0" indent="0">
              <a:lnSpc>
                <a:spcPct val="100000"/>
              </a:lnSpc>
              <a:spcBef>
                <a:spcPts val="0"/>
              </a:spcBef>
              <a:buNone/>
            </a:pPr>
            <a:r>
              <a:rPr lang="en-US" dirty="0">
                <a:latin typeface="Arial"/>
                <a:ea typeface="+mn-lt"/>
                <a:cs typeface="Arial"/>
              </a:rPr>
              <a:t>There are 4 fundamental elements which make an effective paragraph. These are as follows:</a:t>
            </a:r>
            <a:endParaRPr lang="en-US" dirty="0">
              <a:ea typeface="+mn-lt"/>
              <a:cs typeface="+mn-lt"/>
            </a:endParaRPr>
          </a:p>
          <a:p>
            <a:pPr>
              <a:lnSpc>
                <a:spcPct val="100000"/>
              </a:lnSpc>
              <a:spcBef>
                <a:spcPts val="0"/>
              </a:spcBef>
            </a:pPr>
            <a:endParaRPr lang="en-US" dirty="0">
              <a:latin typeface="Arial"/>
              <a:ea typeface="+mn-lt"/>
              <a:cs typeface="+mn-lt"/>
            </a:endParaRPr>
          </a:p>
          <a:p>
            <a:pPr>
              <a:lnSpc>
                <a:spcPct val="100000"/>
              </a:lnSpc>
              <a:spcBef>
                <a:spcPts val="0"/>
              </a:spcBef>
            </a:pPr>
            <a:r>
              <a:rPr lang="en-US" dirty="0">
                <a:latin typeface="Arial"/>
                <a:ea typeface="+mn-lt"/>
                <a:cs typeface="+mn-lt"/>
              </a:rPr>
              <a:t>UNITY</a:t>
            </a:r>
            <a:endParaRPr lang="en-US" dirty="0">
              <a:cs typeface="Calibri"/>
            </a:endParaRPr>
          </a:p>
          <a:p>
            <a:pPr>
              <a:lnSpc>
                <a:spcPct val="100000"/>
              </a:lnSpc>
              <a:spcBef>
                <a:spcPts val="0"/>
              </a:spcBef>
            </a:pPr>
            <a:r>
              <a:rPr lang="en-US" dirty="0">
                <a:latin typeface="Arial"/>
                <a:ea typeface="+mn-lt"/>
                <a:cs typeface="+mn-lt"/>
              </a:rPr>
              <a:t>COHERENCE</a:t>
            </a:r>
          </a:p>
          <a:p>
            <a:pPr>
              <a:lnSpc>
                <a:spcPct val="100000"/>
              </a:lnSpc>
              <a:spcBef>
                <a:spcPts val="0"/>
              </a:spcBef>
            </a:pPr>
            <a:r>
              <a:rPr lang="en-US" dirty="0">
                <a:latin typeface="Arial"/>
                <a:ea typeface="+mn-lt"/>
                <a:cs typeface="+mn-lt"/>
              </a:rPr>
              <a:t>ORDER</a:t>
            </a:r>
          </a:p>
          <a:p>
            <a:pPr>
              <a:lnSpc>
                <a:spcPct val="100000"/>
              </a:lnSpc>
              <a:spcBef>
                <a:spcPts val="0"/>
              </a:spcBef>
            </a:pPr>
            <a:r>
              <a:rPr lang="en-US" dirty="0">
                <a:latin typeface="Arial"/>
                <a:ea typeface="+mn-lt"/>
                <a:cs typeface="+mn-lt"/>
              </a:rPr>
              <a:t>COMPLETENESS</a:t>
            </a:r>
          </a:p>
          <a:p>
            <a:endParaRPr lang="en-US" sz="2400" dirty="0">
              <a:cs typeface="Calibri"/>
            </a:endParaRPr>
          </a:p>
        </p:txBody>
      </p:sp>
      <p:sp>
        <p:nvSpPr>
          <p:cNvPr id="5" name="Slide Number Placeholder 4">
            <a:extLst>
              <a:ext uri="{FF2B5EF4-FFF2-40B4-BE49-F238E27FC236}">
                <a16:creationId xmlns:a16="http://schemas.microsoft.com/office/drawing/2014/main" id="{A168751E-53D1-445F-83E6-1AF397280DE5}"/>
              </a:ext>
            </a:extLst>
          </p:cNvPr>
          <p:cNvSpPr>
            <a:spLocks noGrp="1"/>
          </p:cNvSpPr>
          <p:nvPr>
            <p:ph type="sldNum" sz="quarter" idx="12"/>
          </p:nvPr>
        </p:nvSpPr>
        <p:spPr/>
        <p:txBody>
          <a:bodyPr/>
          <a:lstStyle/>
          <a:p>
            <a:fld id="{BDCDBBEF-AA6C-4BA6-85B2-A17D7F280E38}" type="slidenum">
              <a:rPr lang="en-US" smtClean="0"/>
              <a:pPr/>
              <a:t>11</a:t>
            </a:fld>
            <a:endParaRPr lang="en-US"/>
          </a:p>
        </p:txBody>
      </p:sp>
    </p:spTree>
    <p:extLst>
      <p:ext uri="{BB962C8B-B14F-4D97-AF65-F5344CB8AC3E}">
        <p14:creationId xmlns:p14="http://schemas.microsoft.com/office/powerpoint/2010/main" val="388330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04B22-3CC9-4056-AAF6-4B7FBA6EF7AC}"/>
              </a:ext>
            </a:extLst>
          </p:cNvPr>
          <p:cNvSpPr>
            <a:spLocks noGrp="1"/>
          </p:cNvSpPr>
          <p:nvPr>
            <p:ph type="title"/>
          </p:nvPr>
        </p:nvSpPr>
        <p:spPr>
          <a:xfrm>
            <a:off x="838200" y="264404"/>
            <a:ext cx="10515600" cy="1187584"/>
          </a:xfrm>
        </p:spPr>
        <p:style>
          <a:lnRef idx="2">
            <a:schemeClr val="dk1"/>
          </a:lnRef>
          <a:fillRef idx="1">
            <a:schemeClr val="lt1"/>
          </a:fillRef>
          <a:effectRef idx="0">
            <a:schemeClr val="dk1"/>
          </a:effectRef>
          <a:fontRef idx="minor">
            <a:schemeClr val="dk1"/>
          </a:fontRef>
        </p:style>
        <p:txBody>
          <a:bodyPr>
            <a:noAutofit/>
          </a:bodyPr>
          <a:lstStyle/>
          <a:p>
            <a:pPr algn="ctr"/>
            <a:br>
              <a:rPr lang="en-US" dirty="0">
                <a:latin typeface="Arial Black"/>
              </a:rPr>
            </a:br>
            <a:r>
              <a:rPr lang="en-US" dirty="0">
                <a:latin typeface="Arial Black"/>
              </a:rPr>
              <a:t>UNITY</a:t>
            </a:r>
            <a:endParaRPr lang="en-US" dirty="0">
              <a:ea typeface="+mj-lt"/>
              <a:cs typeface="+mj-lt"/>
            </a:endParaRPr>
          </a:p>
          <a:p>
            <a:endParaRPr lang="en-US" dirty="0">
              <a:cs typeface="Calibri Light"/>
            </a:endParaRPr>
          </a:p>
        </p:txBody>
      </p:sp>
      <p:sp>
        <p:nvSpPr>
          <p:cNvPr id="3" name="Content Placeholder 2">
            <a:extLst>
              <a:ext uri="{FF2B5EF4-FFF2-40B4-BE49-F238E27FC236}">
                <a16:creationId xmlns:a16="http://schemas.microsoft.com/office/drawing/2014/main" id="{30D7F7E7-14C2-4778-88A7-1865C99A760E}"/>
              </a:ext>
            </a:extLst>
          </p:cNvPr>
          <p:cNvSpPr>
            <a:spLocks noGrp="1"/>
          </p:cNvSpPr>
          <p:nvPr>
            <p:ph idx="1"/>
          </p:nvPr>
        </p:nvSpPr>
        <p:spPr>
          <a:xfrm>
            <a:off x="838200" y="1645920"/>
            <a:ext cx="10515600" cy="4432569"/>
          </a:xfr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a:bodyPr>
          <a:lstStyle/>
          <a:p>
            <a:pPr>
              <a:lnSpc>
                <a:spcPct val="100000"/>
              </a:lnSpc>
              <a:spcBef>
                <a:spcPts val="0"/>
              </a:spcBef>
            </a:pPr>
            <a:r>
              <a:rPr lang="en-US" dirty="0">
                <a:latin typeface="Arial"/>
                <a:ea typeface="+mn-lt"/>
                <a:cs typeface="+mn-lt"/>
              </a:rPr>
              <a:t>Unity in a paragraph begins with the topic sentence which describes the central idea of the paragraph.</a:t>
            </a:r>
          </a:p>
          <a:p>
            <a:pPr>
              <a:lnSpc>
                <a:spcPct val="100000"/>
              </a:lnSpc>
              <a:spcBef>
                <a:spcPts val="0"/>
              </a:spcBef>
            </a:pPr>
            <a:r>
              <a:rPr lang="en-US" dirty="0">
                <a:latin typeface="Arial"/>
                <a:ea typeface="+mn-lt"/>
                <a:cs typeface="+mn-lt"/>
              </a:rPr>
              <a:t>A paragraph has unity when all the supporting sentences support the central idea, that means sentences are unified to the topic.</a:t>
            </a:r>
          </a:p>
          <a:p>
            <a:pPr>
              <a:lnSpc>
                <a:spcPct val="100000"/>
              </a:lnSpc>
              <a:spcBef>
                <a:spcPts val="0"/>
              </a:spcBef>
            </a:pPr>
            <a:r>
              <a:rPr lang="en-US" dirty="0">
                <a:latin typeface="Arial"/>
                <a:ea typeface="+mn-lt"/>
                <a:cs typeface="+mn-lt"/>
              </a:rPr>
              <a:t>It means oneness, that is the entire paragraph should focus on one single idea.</a:t>
            </a:r>
          </a:p>
          <a:p>
            <a:pPr>
              <a:lnSpc>
                <a:spcPct val="100000"/>
              </a:lnSpc>
              <a:spcBef>
                <a:spcPts val="0"/>
              </a:spcBef>
            </a:pPr>
            <a:r>
              <a:rPr lang="en-US" dirty="0">
                <a:latin typeface="Arial"/>
                <a:ea typeface="+mn-lt"/>
                <a:cs typeface="+mn-lt"/>
              </a:rPr>
              <a:t>This </a:t>
            </a:r>
            <a:r>
              <a:rPr lang="en-US">
                <a:latin typeface="Arial"/>
                <a:ea typeface="+mn-lt"/>
                <a:cs typeface="+mn-lt"/>
              </a:rPr>
              <a:t>way thematic </a:t>
            </a:r>
            <a:r>
              <a:rPr lang="en-US" dirty="0">
                <a:latin typeface="Arial"/>
                <a:ea typeface="+mn-lt"/>
                <a:cs typeface="+mn-lt"/>
              </a:rPr>
              <a:t>unity is developed.</a:t>
            </a:r>
          </a:p>
          <a:p>
            <a:endParaRPr lang="en-US" sz="2400" dirty="0">
              <a:cs typeface="Calibri"/>
            </a:endParaRPr>
          </a:p>
        </p:txBody>
      </p:sp>
      <p:sp>
        <p:nvSpPr>
          <p:cNvPr id="4" name="Slide Number Placeholder 3">
            <a:extLst>
              <a:ext uri="{FF2B5EF4-FFF2-40B4-BE49-F238E27FC236}">
                <a16:creationId xmlns:a16="http://schemas.microsoft.com/office/drawing/2014/main" id="{0B93444F-24C1-4CFC-8092-39B55365D53A}"/>
              </a:ext>
            </a:extLst>
          </p:cNvPr>
          <p:cNvSpPr>
            <a:spLocks noGrp="1"/>
          </p:cNvSpPr>
          <p:nvPr>
            <p:ph type="sldNum" sz="quarter" idx="12"/>
          </p:nvPr>
        </p:nvSpPr>
        <p:spPr/>
        <p:txBody>
          <a:bodyPr/>
          <a:lstStyle/>
          <a:p>
            <a:fld id="{BDCDBBEF-AA6C-4BA6-85B2-A17D7F280E38}" type="slidenum">
              <a:rPr lang="en-US" smtClean="0"/>
              <a:pPr/>
              <a:t>12</a:t>
            </a:fld>
            <a:endParaRPr lang="en-US"/>
          </a:p>
        </p:txBody>
      </p:sp>
    </p:spTree>
    <p:extLst>
      <p:ext uri="{BB962C8B-B14F-4D97-AF65-F5344CB8AC3E}">
        <p14:creationId xmlns:p14="http://schemas.microsoft.com/office/powerpoint/2010/main" val="31932087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5EA59-AD00-4720-90D4-D0CC248FAF3B}"/>
              </a:ext>
            </a:extLst>
          </p:cNvPr>
          <p:cNvSpPr>
            <a:spLocks noGrp="1"/>
          </p:cNvSpPr>
          <p:nvPr>
            <p:ph type="title"/>
          </p:nvPr>
        </p:nvSpPr>
        <p:spPr>
          <a:xfrm>
            <a:off x="838200" y="236503"/>
            <a:ext cx="10515600" cy="1325563"/>
          </a:xfrm>
        </p:spPr>
        <p:style>
          <a:lnRef idx="2">
            <a:schemeClr val="dk1"/>
          </a:lnRef>
          <a:fillRef idx="1">
            <a:schemeClr val="lt1"/>
          </a:fillRef>
          <a:effectRef idx="0">
            <a:schemeClr val="dk1"/>
          </a:effectRef>
          <a:fontRef idx="minor">
            <a:schemeClr val="dk1"/>
          </a:fontRef>
        </p:style>
        <p:txBody>
          <a:bodyPr/>
          <a:lstStyle/>
          <a:p>
            <a:r>
              <a:rPr lang="en-US" dirty="0">
                <a:latin typeface="Arial Black"/>
              </a:rPr>
              <a:t>                COHERENCE</a:t>
            </a:r>
            <a:endParaRPr lang="en-US" dirty="0"/>
          </a:p>
        </p:txBody>
      </p:sp>
      <p:sp>
        <p:nvSpPr>
          <p:cNvPr id="3" name="Content Placeholder 2">
            <a:extLst>
              <a:ext uri="{FF2B5EF4-FFF2-40B4-BE49-F238E27FC236}">
                <a16:creationId xmlns:a16="http://schemas.microsoft.com/office/drawing/2014/main" id="{1F8E97C8-CBC2-471D-B903-F0848875E47A}"/>
              </a:ext>
            </a:extLst>
          </p:cNvPr>
          <p:cNvSpPr>
            <a:spLocks noGrp="1"/>
          </p:cNvSpPr>
          <p:nvPr>
            <p:ph idx="1"/>
          </p:nvPr>
        </p:nvSpPr>
        <p:spPr>
          <a:xfrm>
            <a:off x="838200" y="1750423"/>
            <a:ext cx="10515600" cy="4532811"/>
          </a:xfr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a:bodyPr>
          <a:lstStyle/>
          <a:p>
            <a:pPr>
              <a:lnSpc>
                <a:spcPct val="100000"/>
              </a:lnSpc>
              <a:spcBef>
                <a:spcPts val="0"/>
              </a:spcBef>
              <a:buFont typeface="Arial"/>
              <a:buChar char="•"/>
            </a:pPr>
            <a:r>
              <a:rPr lang="en-US" dirty="0">
                <a:latin typeface="Arial"/>
                <a:ea typeface="+mn-lt"/>
                <a:cs typeface="Arial"/>
              </a:rPr>
              <a:t>Coherence means maintaining the logical glue in the paragraph.</a:t>
            </a:r>
          </a:p>
          <a:p>
            <a:pPr>
              <a:lnSpc>
                <a:spcPct val="100000"/>
              </a:lnSpc>
              <a:spcBef>
                <a:spcPts val="0"/>
              </a:spcBef>
              <a:buFont typeface="Arial"/>
              <a:buChar char="•"/>
            </a:pPr>
            <a:r>
              <a:rPr lang="en-US" dirty="0">
                <a:latin typeface="Arial"/>
                <a:ea typeface="+mn-lt"/>
                <a:cs typeface="Arial"/>
              </a:rPr>
              <a:t>The supporting sentences are in logical order.</a:t>
            </a:r>
          </a:p>
          <a:p>
            <a:pPr>
              <a:lnSpc>
                <a:spcPct val="100000"/>
              </a:lnSpc>
              <a:spcBef>
                <a:spcPts val="0"/>
              </a:spcBef>
              <a:buFont typeface="Arial"/>
              <a:buChar char="•"/>
            </a:pPr>
            <a:r>
              <a:rPr lang="en-US" dirty="0">
                <a:latin typeface="Arial"/>
                <a:ea typeface="+mn-lt"/>
                <a:cs typeface="Arial"/>
              </a:rPr>
              <a:t>This order is created by using appropriate transition words.</a:t>
            </a:r>
          </a:p>
          <a:p>
            <a:pPr>
              <a:lnSpc>
                <a:spcPct val="100000"/>
              </a:lnSpc>
              <a:spcBef>
                <a:spcPts val="0"/>
              </a:spcBef>
              <a:buFont typeface="Arial"/>
              <a:buChar char="•"/>
            </a:pPr>
            <a:r>
              <a:rPr lang="en-US" dirty="0">
                <a:latin typeface="Arial"/>
                <a:ea typeface="+mn-lt"/>
                <a:cs typeface="Arial"/>
              </a:rPr>
              <a:t>The logical flow is created in the paragraph when one idea leads to the another.</a:t>
            </a:r>
          </a:p>
          <a:p>
            <a:pPr>
              <a:lnSpc>
                <a:spcPct val="100000"/>
              </a:lnSpc>
              <a:spcBef>
                <a:spcPts val="0"/>
              </a:spcBef>
              <a:buFont typeface="Arial"/>
              <a:buChar char="•"/>
            </a:pPr>
            <a:r>
              <a:rPr lang="en-US" dirty="0">
                <a:latin typeface="Arial"/>
                <a:ea typeface="+mn-lt"/>
                <a:cs typeface="Arial"/>
              </a:rPr>
              <a:t>Paragraph becomes comprehensible.</a:t>
            </a:r>
          </a:p>
          <a:p>
            <a:pPr marL="0" indent="0">
              <a:buNone/>
            </a:pPr>
            <a:endParaRPr lang="en-US" sz="2400" dirty="0">
              <a:latin typeface="Arial Black"/>
              <a:ea typeface="+mn-lt"/>
              <a:cs typeface="+mn-lt"/>
            </a:endParaRPr>
          </a:p>
        </p:txBody>
      </p:sp>
      <p:sp>
        <p:nvSpPr>
          <p:cNvPr id="4" name="Slide Number Placeholder 3">
            <a:extLst>
              <a:ext uri="{FF2B5EF4-FFF2-40B4-BE49-F238E27FC236}">
                <a16:creationId xmlns:a16="http://schemas.microsoft.com/office/drawing/2014/main" id="{18055215-314D-4D1B-B95D-75699052D6DB}"/>
              </a:ext>
            </a:extLst>
          </p:cNvPr>
          <p:cNvSpPr>
            <a:spLocks noGrp="1"/>
          </p:cNvSpPr>
          <p:nvPr>
            <p:ph type="sldNum" sz="quarter" idx="12"/>
          </p:nvPr>
        </p:nvSpPr>
        <p:spPr/>
        <p:txBody>
          <a:bodyPr/>
          <a:lstStyle/>
          <a:p>
            <a:fld id="{BDCDBBEF-AA6C-4BA6-85B2-A17D7F280E38}" type="slidenum">
              <a:rPr lang="en-US" smtClean="0"/>
              <a:pPr/>
              <a:t>13</a:t>
            </a:fld>
            <a:endParaRPr lang="en-US"/>
          </a:p>
        </p:txBody>
      </p:sp>
    </p:spTree>
    <p:extLst>
      <p:ext uri="{BB962C8B-B14F-4D97-AF65-F5344CB8AC3E}">
        <p14:creationId xmlns:p14="http://schemas.microsoft.com/office/powerpoint/2010/main" val="36182843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D0A72-02A2-4BDE-9835-C5582D41B824}"/>
              </a:ext>
            </a:extLst>
          </p:cNvPr>
          <p:cNvSpPr>
            <a:spLocks noGrp="1"/>
          </p:cNvSpPr>
          <p:nvPr>
            <p:ph type="title"/>
          </p:nvPr>
        </p:nvSpPr>
        <p:spPr>
          <a:xfrm>
            <a:off x="838200" y="178219"/>
            <a:ext cx="10515600" cy="1325563"/>
          </a:xfrm>
        </p:spPr>
        <p:style>
          <a:lnRef idx="2">
            <a:schemeClr val="dk1"/>
          </a:lnRef>
          <a:fillRef idx="1">
            <a:schemeClr val="lt1"/>
          </a:fillRef>
          <a:effectRef idx="0">
            <a:schemeClr val="dk1"/>
          </a:effectRef>
          <a:fontRef idx="minor">
            <a:schemeClr val="dk1"/>
          </a:fontRef>
        </p:style>
        <p:txBody>
          <a:bodyPr/>
          <a:lstStyle/>
          <a:p>
            <a:r>
              <a:rPr lang="en-US" dirty="0">
                <a:latin typeface="Arial Black"/>
                <a:cs typeface="Calibri Light"/>
              </a:rPr>
              <a:t>            POLL QUESTION 2</a:t>
            </a:r>
            <a:endParaRPr lang="en-US" dirty="0">
              <a:latin typeface="Arial Black"/>
            </a:endParaRPr>
          </a:p>
        </p:txBody>
      </p:sp>
      <p:sp>
        <p:nvSpPr>
          <p:cNvPr id="3" name="Content Placeholder 2">
            <a:extLst>
              <a:ext uri="{FF2B5EF4-FFF2-40B4-BE49-F238E27FC236}">
                <a16:creationId xmlns:a16="http://schemas.microsoft.com/office/drawing/2014/main" id="{01958DAB-FABD-46BD-887F-8A8CFD9E5F90}"/>
              </a:ext>
            </a:extLst>
          </p:cNvPr>
          <p:cNvSpPr>
            <a:spLocks noGrp="1"/>
          </p:cNvSpPr>
          <p:nvPr>
            <p:ph idx="1"/>
          </p:nvPr>
        </p:nvSpPr>
        <p:spPr>
          <a:xfrm>
            <a:off x="838200" y="1710606"/>
            <a:ext cx="10515600" cy="4394470"/>
          </a:xfr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a:bodyPr>
          <a:lstStyle/>
          <a:p>
            <a:pPr marL="0" indent="0">
              <a:buNone/>
            </a:pPr>
            <a:r>
              <a:rPr lang="en-US" b="1" dirty="0">
                <a:solidFill>
                  <a:schemeClr val="tx1"/>
                </a:solidFill>
                <a:latin typeface="Arial" pitchFamily="34" charset="0"/>
                <a:ea typeface="+mn-lt"/>
                <a:cs typeface="Arial" pitchFamily="34" charset="0"/>
              </a:rPr>
              <a:t>What do you think of the word COHERENCE?</a:t>
            </a:r>
            <a:endParaRPr lang="en-US" b="1" dirty="0">
              <a:solidFill>
                <a:schemeClr val="tx1"/>
              </a:solidFill>
              <a:latin typeface="Arial" pitchFamily="34" charset="0"/>
              <a:cs typeface="Arial" pitchFamily="34" charset="0"/>
            </a:endParaRPr>
          </a:p>
          <a:p>
            <a:pPr marL="0" indent="0">
              <a:buNone/>
            </a:pPr>
            <a:endParaRPr lang="en-US" dirty="0">
              <a:solidFill>
                <a:schemeClr val="tx1"/>
              </a:solidFill>
              <a:latin typeface="Arial" pitchFamily="34" charset="0"/>
              <a:ea typeface="+mn-lt"/>
              <a:cs typeface="Arial" pitchFamily="34" charset="0"/>
            </a:endParaRPr>
          </a:p>
          <a:p>
            <a:pPr marL="514350" indent="-514350">
              <a:buFont typeface="+mj-lt"/>
              <a:buAutoNum type="arabicPeriod"/>
            </a:pPr>
            <a:r>
              <a:rPr lang="en-US" dirty="0">
                <a:solidFill>
                  <a:schemeClr val="tx1"/>
                </a:solidFill>
                <a:latin typeface="Arial" pitchFamily="34" charset="0"/>
                <a:ea typeface="+mn-lt"/>
                <a:cs typeface="Arial" pitchFamily="34" charset="0"/>
              </a:rPr>
              <a:t>Hold together</a:t>
            </a:r>
            <a:endParaRPr lang="en-US" dirty="0">
              <a:solidFill>
                <a:schemeClr val="tx1"/>
              </a:solidFill>
              <a:latin typeface="Arial" pitchFamily="34" charset="0"/>
              <a:cs typeface="Arial" pitchFamily="34" charset="0"/>
            </a:endParaRPr>
          </a:p>
          <a:p>
            <a:pPr marL="514350" indent="-514350">
              <a:buFont typeface="+mj-lt"/>
              <a:buAutoNum type="arabicPeriod"/>
            </a:pPr>
            <a:r>
              <a:rPr lang="en-US" dirty="0">
                <a:solidFill>
                  <a:schemeClr val="tx1"/>
                </a:solidFill>
                <a:latin typeface="Arial" pitchFamily="34" charset="0"/>
                <a:ea typeface="+mn-lt"/>
                <a:cs typeface="Arial" pitchFamily="34" charset="0"/>
              </a:rPr>
              <a:t>No sudden jumps and each sentence should flow smoothly into the next one.</a:t>
            </a:r>
            <a:endParaRPr lang="en-US" dirty="0">
              <a:solidFill>
                <a:schemeClr val="tx1"/>
              </a:solidFill>
              <a:latin typeface="Arial" pitchFamily="34" charset="0"/>
              <a:cs typeface="Arial" pitchFamily="34" charset="0"/>
            </a:endParaRPr>
          </a:p>
          <a:p>
            <a:pPr marL="514350" indent="-514350">
              <a:buFont typeface="+mj-lt"/>
              <a:buAutoNum type="arabicPeriod"/>
            </a:pPr>
            <a:r>
              <a:rPr lang="en-US" dirty="0">
                <a:solidFill>
                  <a:schemeClr val="tx1"/>
                </a:solidFill>
                <a:latin typeface="Arial" pitchFamily="34" charset="0"/>
                <a:ea typeface="+mn-lt"/>
                <a:cs typeface="Arial" pitchFamily="34" charset="0"/>
              </a:rPr>
              <a:t>The movement from one sentence to the next must be logical and smooth.</a:t>
            </a:r>
            <a:endParaRPr lang="en-US" dirty="0">
              <a:solidFill>
                <a:schemeClr val="tx1"/>
              </a:solidFill>
              <a:latin typeface="Arial" pitchFamily="34" charset="0"/>
              <a:cs typeface="Arial" pitchFamily="34" charset="0"/>
            </a:endParaRPr>
          </a:p>
          <a:p>
            <a:pPr marL="514350" indent="-514350">
              <a:buFont typeface="+mj-lt"/>
              <a:buAutoNum type="arabicPeriod"/>
            </a:pPr>
            <a:r>
              <a:rPr lang="en-US" dirty="0">
                <a:solidFill>
                  <a:schemeClr val="tx1"/>
                </a:solidFill>
                <a:latin typeface="Arial" pitchFamily="34" charset="0"/>
                <a:ea typeface="+mn-lt"/>
                <a:cs typeface="Arial" pitchFamily="34" charset="0"/>
              </a:rPr>
              <a:t>All of the above.</a:t>
            </a:r>
            <a:br>
              <a:rPr lang="en-US" dirty="0">
                <a:solidFill>
                  <a:schemeClr val="tx1"/>
                </a:solidFill>
                <a:latin typeface="Arial" pitchFamily="34" charset="0"/>
                <a:cs typeface="Arial" pitchFamily="34" charset="0"/>
              </a:rPr>
            </a:br>
            <a:endParaRPr lang="en-US" dirty="0">
              <a:solidFill>
                <a:schemeClr val="tx1"/>
              </a:solidFill>
              <a:latin typeface="Arial" pitchFamily="34" charset="0"/>
              <a:cs typeface="Arial" pitchFamily="34" charset="0"/>
            </a:endParaRPr>
          </a:p>
        </p:txBody>
      </p:sp>
      <p:sp>
        <p:nvSpPr>
          <p:cNvPr id="4" name="Slide Number Placeholder 3">
            <a:extLst>
              <a:ext uri="{FF2B5EF4-FFF2-40B4-BE49-F238E27FC236}">
                <a16:creationId xmlns:a16="http://schemas.microsoft.com/office/drawing/2014/main" id="{AF8586B6-7F06-4A9A-94FF-397107718405}"/>
              </a:ext>
            </a:extLst>
          </p:cNvPr>
          <p:cNvSpPr>
            <a:spLocks noGrp="1"/>
          </p:cNvSpPr>
          <p:nvPr>
            <p:ph type="sldNum" sz="quarter" idx="12"/>
          </p:nvPr>
        </p:nvSpPr>
        <p:spPr/>
        <p:txBody>
          <a:bodyPr/>
          <a:lstStyle/>
          <a:p>
            <a:fld id="{BDCDBBEF-AA6C-4BA6-85B2-A17D7F280E38}" type="slidenum">
              <a:rPr lang="en-US" smtClean="0"/>
              <a:pPr/>
              <a:t>14</a:t>
            </a:fld>
            <a:endParaRPr lang="en-US"/>
          </a:p>
        </p:txBody>
      </p:sp>
    </p:spTree>
    <p:extLst>
      <p:ext uri="{BB962C8B-B14F-4D97-AF65-F5344CB8AC3E}">
        <p14:creationId xmlns:p14="http://schemas.microsoft.com/office/powerpoint/2010/main" val="25334388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B9003-C8FE-4963-A44B-02CCC48C66E0}"/>
              </a:ext>
            </a:extLst>
          </p:cNvPr>
          <p:cNvSpPr>
            <a:spLocks noGrp="1"/>
          </p:cNvSpPr>
          <p:nvPr>
            <p:ph type="title"/>
          </p:nvPr>
        </p:nvSpPr>
        <p:spPr>
          <a:xfrm>
            <a:off x="838200" y="241029"/>
            <a:ext cx="10515600" cy="1325563"/>
          </a:xfrm>
        </p:spPr>
        <p:style>
          <a:lnRef idx="2">
            <a:schemeClr val="dk1"/>
          </a:lnRef>
          <a:fillRef idx="1">
            <a:schemeClr val="lt1"/>
          </a:fillRef>
          <a:effectRef idx="0">
            <a:schemeClr val="dk1"/>
          </a:effectRef>
          <a:fontRef idx="minor">
            <a:schemeClr val="dk1"/>
          </a:fontRef>
        </p:style>
        <p:txBody>
          <a:bodyPr/>
          <a:lstStyle/>
          <a:p>
            <a:pPr algn="ctr"/>
            <a:r>
              <a:rPr lang="en-US" dirty="0">
                <a:latin typeface="Arial Black"/>
                <a:cs typeface="Calibri Light"/>
              </a:rPr>
              <a:t>ORDER</a:t>
            </a:r>
            <a:endParaRPr lang="en-US" dirty="0">
              <a:latin typeface="Arial Black"/>
            </a:endParaRPr>
          </a:p>
        </p:txBody>
      </p:sp>
      <p:sp>
        <p:nvSpPr>
          <p:cNvPr id="3" name="Content Placeholder 2">
            <a:extLst>
              <a:ext uri="{FF2B5EF4-FFF2-40B4-BE49-F238E27FC236}">
                <a16:creationId xmlns:a16="http://schemas.microsoft.com/office/drawing/2014/main" id="{A06425E6-E539-4DF3-BAFC-A426BB988C02}"/>
              </a:ext>
            </a:extLst>
          </p:cNvPr>
          <p:cNvSpPr>
            <a:spLocks noGrp="1"/>
          </p:cNvSpPr>
          <p:nvPr>
            <p:ph idx="1"/>
          </p:nvPr>
        </p:nvSpPr>
        <p:spPr>
          <a:xfrm>
            <a:off x="841263" y="1731151"/>
            <a:ext cx="10515600" cy="4426178"/>
          </a:xfr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a:bodyPr>
          <a:lstStyle/>
          <a:p>
            <a:endParaRPr lang="en-US" dirty="0">
              <a:latin typeface="Arial"/>
              <a:cs typeface="Calibri"/>
            </a:endParaRPr>
          </a:p>
          <a:p>
            <a:r>
              <a:rPr lang="en-US" dirty="0">
                <a:latin typeface="Arial"/>
                <a:cs typeface="Calibri"/>
              </a:rPr>
              <a:t>It is achieved by systemizing the supporting sentences.</a:t>
            </a:r>
          </a:p>
          <a:p>
            <a:r>
              <a:rPr lang="en-US" dirty="0">
                <a:latin typeface="Arial"/>
                <a:cs typeface="Calibri"/>
              </a:rPr>
              <a:t>The sentences in the paragraph should be put in a particular  order, for example, a sequential order, while sustaining the idea.</a:t>
            </a:r>
          </a:p>
          <a:p>
            <a:r>
              <a:rPr lang="en-US" dirty="0">
                <a:latin typeface="Arial"/>
                <a:cs typeface="Calibri"/>
              </a:rPr>
              <a:t>Develops well organized content.</a:t>
            </a:r>
          </a:p>
          <a:p>
            <a:r>
              <a:rPr lang="en-US" dirty="0">
                <a:latin typeface="Arial"/>
                <a:cs typeface="Calibri"/>
              </a:rPr>
              <a:t>Organized sentences clears the central idea to the reader.</a:t>
            </a:r>
          </a:p>
        </p:txBody>
      </p:sp>
      <p:sp>
        <p:nvSpPr>
          <p:cNvPr id="4" name="Slide Number Placeholder 3">
            <a:extLst>
              <a:ext uri="{FF2B5EF4-FFF2-40B4-BE49-F238E27FC236}">
                <a16:creationId xmlns:a16="http://schemas.microsoft.com/office/drawing/2014/main" id="{450993C0-CD11-4A83-B7C0-297BFA09E0D9}"/>
              </a:ext>
            </a:extLst>
          </p:cNvPr>
          <p:cNvSpPr>
            <a:spLocks noGrp="1"/>
          </p:cNvSpPr>
          <p:nvPr>
            <p:ph type="sldNum" sz="quarter" idx="12"/>
          </p:nvPr>
        </p:nvSpPr>
        <p:spPr/>
        <p:txBody>
          <a:bodyPr/>
          <a:lstStyle/>
          <a:p>
            <a:fld id="{BDCDBBEF-AA6C-4BA6-85B2-A17D7F280E38}" type="slidenum">
              <a:rPr lang="en-US" smtClean="0"/>
              <a:pPr/>
              <a:t>15</a:t>
            </a:fld>
            <a:endParaRPr lang="en-US"/>
          </a:p>
        </p:txBody>
      </p:sp>
    </p:spTree>
    <p:extLst>
      <p:ext uri="{BB962C8B-B14F-4D97-AF65-F5344CB8AC3E}">
        <p14:creationId xmlns:p14="http://schemas.microsoft.com/office/powerpoint/2010/main" val="134748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9651D-D3D7-4CDD-9054-3C04A2EFA1DD}"/>
              </a:ext>
            </a:extLst>
          </p:cNvPr>
          <p:cNvSpPr>
            <a:spLocks noGrp="1"/>
          </p:cNvSpPr>
          <p:nvPr>
            <p:ph type="title"/>
          </p:nvPr>
        </p:nvSpPr>
        <p:spPr>
          <a:xfrm>
            <a:off x="838200" y="239591"/>
            <a:ext cx="10515600" cy="1325563"/>
          </a:xfrm>
        </p:spPr>
        <p:style>
          <a:lnRef idx="2">
            <a:schemeClr val="dk1"/>
          </a:lnRef>
          <a:fillRef idx="1">
            <a:schemeClr val="lt1"/>
          </a:fillRef>
          <a:effectRef idx="0">
            <a:schemeClr val="dk1"/>
          </a:effectRef>
          <a:fontRef idx="minor">
            <a:schemeClr val="dk1"/>
          </a:fontRef>
        </p:style>
        <p:txBody>
          <a:bodyPr/>
          <a:lstStyle/>
          <a:p>
            <a:pPr algn="ctr"/>
            <a:r>
              <a:rPr lang="en-US" dirty="0">
                <a:latin typeface="Arial Black"/>
              </a:rPr>
              <a:t>COMPLETENESS</a:t>
            </a:r>
            <a:endParaRPr lang="en-US" dirty="0">
              <a:cs typeface="Calibri Light"/>
            </a:endParaRPr>
          </a:p>
        </p:txBody>
      </p:sp>
      <p:sp>
        <p:nvSpPr>
          <p:cNvPr id="3" name="Content Placeholder 2">
            <a:extLst>
              <a:ext uri="{FF2B5EF4-FFF2-40B4-BE49-F238E27FC236}">
                <a16:creationId xmlns:a16="http://schemas.microsoft.com/office/drawing/2014/main" id="{06EBC5B6-C7CD-4CA1-B930-43F96A650DDE}"/>
              </a:ext>
            </a:extLst>
          </p:cNvPr>
          <p:cNvSpPr>
            <a:spLocks noGrp="1"/>
          </p:cNvSpPr>
          <p:nvPr>
            <p:ph idx="1"/>
          </p:nvPr>
        </p:nvSpPr>
        <p:spPr>
          <a:xfrm>
            <a:off x="838200" y="1803729"/>
            <a:ext cx="10515600" cy="4440317"/>
          </a:xfrm>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p>
            <a:pPr marL="457200" indent="-457200"/>
            <a:r>
              <a:rPr lang="en-US" dirty="0">
                <a:latin typeface="Arial"/>
                <a:ea typeface="+mn-lt"/>
                <a:cs typeface="+mn-lt"/>
              </a:rPr>
              <a:t>A complete paragraph provides complete information and states clearly the central idea.</a:t>
            </a:r>
            <a:endParaRPr lang="en-US" dirty="0">
              <a:latin typeface="Arial"/>
              <a:cs typeface="Calibri"/>
            </a:endParaRPr>
          </a:p>
          <a:p>
            <a:r>
              <a:rPr lang="en-US" dirty="0">
                <a:latin typeface="Arial"/>
                <a:cs typeface="Calibri"/>
              </a:rPr>
              <a:t>  Information is provided with the use of examples, details and answering the possible WH questions.</a:t>
            </a:r>
          </a:p>
          <a:p>
            <a:r>
              <a:rPr lang="en-US" dirty="0">
                <a:latin typeface="Arial"/>
                <a:cs typeface="Calibri"/>
              </a:rPr>
              <a:t>  A complete well-developed paragraph has the topic sentence which is followed by at least three supporting sentences and a closing sentence.</a:t>
            </a:r>
          </a:p>
          <a:p>
            <a:r>
              <a:rPr lang="en-US" dirty="0">
                <a:latin typeface="Arial"/>
                <a:cs typeface="Calibri"/>
              </a:rPr>
              <a:t>  The closing sentence reinforces the topic sentence.</a:t>
            </a:r>
          </a:p>
          <a:p>
            <a:endParaRPr lang="en-US" sz="2400" dirty="0">
              <a:cs typeface="Calibri"/>
            </a:endParaRPr>
          </a:p>
        </p:txBody>
      </p:sp>
      <p:sp>
        <p:nvSpPr>
          <p:cNvPr id="4" name="Slide Number Placeholder 3">
            <a:extLst>
              <a:ext uri="{FF2B5EF4-FFF2-40B4-BE49-F238E27FC236}">
                <a16:creationId xmlns:a16="http://schemas.microsoft.com/office/drawing/2014/main" id="{182EA01D-1F00-4BC0-A544-1D1B5C3A43CD}"/>
              </a:ext>
            </a:extLst>
          </p:cNvPr>
          <p:cNvSpPr>
            <a:spLocks noGrp="1"/>
          </p:cNvSpPr>
          <p:nvPr>
            <p:ph type="sldNum" sz="quarter" idx="12"/>
          </p:nvPr>
        </p:nvSpPr>
        <p:spPr/>
        <p:txBody>
          <a:bodyPr/>
          <a:lstStyle/>
          <a:p>
            <a:fld id="{BDCDBBEF-AA6C-4BA6-85B2-A17D7F280E38}" type="slidenum">
              <a:rPr lang="en-US" smtClean="0"/>
              <a:pPr/>
              <a:t>16</a:t>
            </a:fld>
            <a:endParaRPr lang="en-US"/>
          </a:p>
        </p:txBody>
      </p:sp>
    </p:spTree>
    <p:extLst>
      <p:ext uri="{BB962C8B-B14F-4D97-AF65-F5344CB8AC3E}">
        <p14:creationId xmlns:p14="http://schemas.microsoft.com/office/powerpoint/2010/main" val="1228464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AF47E-125F-40D8-85C9-D2F845C152D1}"/>
              </a:ext>
            </a:extLst>
          </p:cNvPr>
          <p:cNvSpPr>
            <a:spLocks noGrp="1"/>
          </p:cNvSpPr>
          <p:nvPr>
            <p:ph type="title"/>
          </p:nvPr>
        </p:nvSpPr>
        <p:spPr>
          <a:xfrm>
            <a:off x="804519" y="172141"/>
            <a:ext cx="10515600" cy="1325563"/>
          </a:xfrm>
        </p:spPr>
        <p:style>
          <a:lnRef idx="2">
            <a:schemeClr val="dk1"/>
          </a:lnRef>
          <a:fillRef idx="1">
            <a:schemeClr val="lt1"/>
          </a:fillRef>
          <a:effectRef idx="0">
            <a:schemeClr val="dk1"/>
          </a:effectRef>
          <a:fontRef idx="minor">
            <a:schemeClr val="dk1"/>
          </a:fontRef>
        </p:style>
        <p:txBody>
          <a:bodyPr/>
          <a:lstStyle/>
          <a:p>
            <a:pPr algn="ctr"/>
            <a:r>
              <a:rPr lang="en-US" dirty="0">
                <a:latin typeface="Arial Black"/>
                <a:ea typeface="+mj-lt"/>
                <a:cs typeface="+mj-lt"/>
              </a:rPr>
              <a:t>TRANSITION WORDS</a:t>
            </a:r>
            <a:endParaRPr lang="en-US" dirty="0">
              <a:latin typeface="Arial Black"/>
            </a:endParaRPr>
          </a:p>
        </p:txBody>
      </p:sp>
      <p:pic>
        <p:nvPicPr>
          <p:cNvPr id="6" name="Picture 6" descr="A close up of text on a black background&#10;&#10;Description generated with very high confidence">
            <a:extLst>
              <a:ext uri="{FF2B5EF4-FFF2-40B4-BE49-F238E27FC236}">
                <a16:creationId xmlns:a16="http://schemas.microsoft.com/office/drawing/2014/main" id="{BD342755-2080-45AE-BE40-B7C8B74035E8}"/>
              </a:ext>
            </a:extLst>
          </p:cNvPr>
          <p:cNvPicPr>
            <a:picLocks noGrp="1" noChangeAspect="1"/>
          </p:cNvPicPr>
          <p:nvPr>
            <p:ph idx="1"/>
          </p:nvPr>
        </p:nvPicPr>
        <p:blipFill>
          <a:blip r:embed="rId2"/>
          <a:stretch>
            <a:fillRect/>
          </a:stretch>
        </p:blipFill>
        <p:spPr>
          <a:xfrm>
            <a:off x="1791418" y="1868667"/>
            <a:ext cx="8541801" cy="4351338"/>
          </a:xfrm>
          <a:prstGeom prst="rect">
            <a:avLst/>
          </a:prstGeom>
          <a:ln w="228600" cap="sq" cmpd="thickThin">
            <a:solidFill>
              <a:srgbClr val="000000"/>
            </a:solidFill>
            <a:prstDash val="solid"/>
            <a:miter lim="800000"/>
          </a:ln>
          <a:effectLst>
            <a:innerShdw blurRad="76200">
              <a:srgbClr val="000000"/>
            </a:innerShdw>
          </a:effectLst>
        </p:spPr>
      </p:pic>
      <p:sp>
        <p:nvSpPr>
          <p:cNvPr id="5" name="Slide Number Placeholder 4">
            <a:extLst>
              <a:ext uri="{FF2B5EF4-FFF2-40B4-BE49-F238E27FC236}">
                <a16:creationId xmlns:a16="http://schemas.microsoft.com/office/drawing/2014/main" id="{09F9213A-4FB4-4F4B-922B-2FF68AAB2BEC}"/>
              </a:ext>
            </a:extLst>
          </p:cNvPr>
          <p:cNvSpPr>
            <a:spLocks noGrp="1"/>
          </p:cNvSpPr>
          <p:nvPr>
            <p:ph type="sldNum" sz="quarter" idx="12"/>
          </p:nvPr>
        </p:nvSpPr>
        <p:spPr/>
        <p:txBody>
          <a:bodyPr/>
          <a:lstStyle/>
          <a:p>
            <a:fld id="{BDCDBBEF-AA6C-4BA6-85B2-A17D7F280E38}" type="slidenum">
              <a:rPr lang="en-US" smtClean="0"/>
              <a:pPr/>
              <a:t>17</a:t>
            </a:fld>
            <a:endParaRPr lang="en-US"/>
          </a:p>
        </p:txBody>
      </p:sp>
      <p:sp>
        <p:nvSpPr>
          <p:cNvPr id="4" name="Content Placeholder 3">
            <a:extLst>
              <a:ext uri="{FF2B5EF4-FFF2-40B4-BE49-F238E27FC236}">
                <a16:creationId xmlns:a16="http://schemas.microsoft.com/office/drawing/2014/main" id="{72B73309-4260-4D21-B3C5-0319B2172341}"/>
              </a:ext>
            </a:extLst>
          </p:cNvPr>
          <p:cNvSpPr>
            <a:spLocks noGrp="1"/>
          </p:cNvSpPr>
          <p:nvPr>
            <p:ph sz="half" idx="4294967295"/>
          </p:nvPr>
        </p:nvSpPr>
        <p:spPr>
          <a:xfrm>
            <a:off x="1519687" y="1696948"/>
            <a:ext cx="10672313" cy="4437152"/>
          </a:xfrm>
        </p:spPr>
        <p:txBody>
          <a:bodyPr vert="horz" lIns="91440" tIns="45720" rIns="91440" bIns="45720" rtlCol="0" anchor="t">
            <a:normAutofit/>
          </a:bodyPr>
          <a:lstStyle/>
          <a:p>
            <a:pPr marL="0" indent="0">
              <a:buNone/>
            </a:pPr>
            <a:endParaRPr lang="en-US" dirty="0">
              <a:latin typeface="Arial"/>
              <a:cs typeface="Calibri"/>
            </a:endParaRPr>
          </a:p>
          <a:p>
            <a:endParaRPr lang="en-US" dirty="0">
              <a:latin typeface="Arial"/>
              <a:cs typeface="Calibri"/>
            </a:endParaRPr>
          </a:p>
        </p:txBody>
      </p:sp>
      <p:sp>
        <p:nvSpPr>
          <p:cNvPr id="7" name="TextBox 6">
            <a:extLst>
              <a:ext uri="{FF2B5EF4-FFF2-40B4-BE49-F238E27FC236}">
                <a16:creationId xmlns:a16="http://schemas.microsoft.com/office/drawing/2014/main" id="{CDC1A31D-8903-4B9B-9253-65F31A8D63A8}"/>
              </a:ext>
            </a:extLst>
          </p:cNvPr>
          <p:cNvSpPr txBox="1"/>
          <p:nvPr/>
        </p:nvSpPr>
        <p:spPr>
          <a:xfrm>
            <a:off x="4930066" y="6475101"/>
            <a:ext cx="233186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100" dirty="0">
                <a:latin typeface="Arial" panose="020B0604020202020204" pitchFamily="34" charset="0"/>
                <a:cs typeface="Arial" panose="020B0604020202020204" pitchFamily="34" charset="0"/>
              </a:rPr>
              <a:t>image.slidesharecdn.com</a:t>
            </a:r>
          </a:p>
        </p:txBody>
      </p:sp>
    </p:spTree>
    <p:extLst>
      <p:ext uri="{BB962C8B-B14F-4D97-AF65-F5344CB8AC3E}">
        <p14:creationId xmlns:p14="http://schemas.microsoft.com/office/powerpoint/2010/main" val="29000900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AAEE3-91A4-406F-80AB-BE4FC6BD955A}"/>
              </a:ext>
            </a:extLst>
          </p:cNvPr>
          <p:cNvSpPr>
            <a:spLocks noGrp="1"/>
          </p:cNvSpPr>
          <p:nvPr>
            <p:ph type="title"/>
          </p:nvPr>
        </p:nvSpPr>
        <p:spPr>
          <a:xfrm>
            <a:off x="838200" y="77578"/>
            <a:ext cx="10515600" cy="1325563"/>
          </a:xfrm>
        </p:spPr>
        <p:style>
          <a:lnRef idx="2">
            <a:schemeClr val="dk1"/>
          </a:lnRef>
          <a:fillRef idx="1">
            <a:schemeClr val="lt1"/>
          </a:fillRef>
          <a:effectRef idx="0">
            <a:schemeClr val="dk1"/>
          </a:effectRef>
          <a:fontRef idx="minor">
            <a:schemeClr val="dk1"/>
          </a:fontRef>
        </p:style>
        <p:txBody>
          <a:bodyPr>
            <a:normAutofit/>
          </a:bodyPr>
          <a:lstStyle/>
          <a:p>
            <a:r>
              <a:rPr lang="en-US" dirty="0">
                <a:latin typeface="Arial Black"/>
              </a:rPr>
              <a:t>            POLL QUESTION 3</a:t>
            </a:r>
          </a:p>
        </p:txBody>
      </p:sp>
      <p:sp>
        <p:nvSpPr>
          <p:cNvPr id="3" name="Content Placeholder 2">
            <a:extLst>
              <a:ext uri="{FF2B5EF4-FFF2-40B4-BE49-F238E27FC236}">
                <a16:creationId xmlns:a16="http://schemas.microsoft.com/office/drawing/2014/main" id="{271608D0-7766-43D9-B9FD-DDB89BD26EF3}"/>
              </a:ext>
            </a:extLst>
          </p:cNvPr>
          <p:cNvSpPr>
            <a:spLocks noGrp="1"/>
          </p:cNvSpPr>
          <p:nvPr>
            <p:ph idx="1"/>
          </p:nvPr>
        </p:nvSpPr>
        <p:spPr>
          <a:xfrm>
            <a:off x="838200" y="1566833"/>
            <a:ext cx="10515600" cy="4610130"/>
          </a:xfr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a:bodyPr>
          <a:lstStyle/>
          <a:p>
            <a:pPr marL="0" indent="0">
              <a:buNone/>
            </a:pPr>
            <a:endParaRPr lang="en-US" b="1" dirty="0">
              <a:latin typeface="Arial"/>
              <a:ea typeface="+mn-lt"/>
              <a:cs typeface="+mn-lt"/>
            </a:endParaRPr>
          </a:p>
          <a:p>
            <a:pPr marL="0" indent="0">
              <a:buNone/>
            </a:pPr>
            <a:r>
              <a:rPr lang="en-US" b="1" dirty="0">
                <a:latin typeface="Arial"/>
                <a:ea typeface="+mn-lt"/>
                <a:cs typeface="+mn-lt"/>
              </a:rPr>
              <a:t>Why do we need to learn unity and coherence techniques?</a:t>
            </a:r>
            <a:endParaRPr lang="en-US" b="1" dirty="0">
              <a:latin typeface="Arial"/>
              <a:cs typeface="Calibri"/>
            </a:endParaRPr>
          </a:p>
          <a:p>
            <a:pPr marL="514350" indent="-514350">
              <a:buFont typeface="+mj-lt"/>
              <a:buAutoNum type="arabicPeriod"/>
            </a:pPr>
            <a:r>
              <a:rPr lang="en-US" dirty="0">
                <a:latin typeface="Arial"/>
                <a:ea typeface="+mn-lt"/>
                <a:cs typeface="+mn-lt"/>
              </a:rPr>
              <a:t>To increase words during the process of writing an essay.</a:t>
            </a:r>
            <a:endParaRPr lang="en-US" dirty="0">
              <a:latin typeface="Arial"/>
              <a:cs typeface="Calibri"/>
            </a:endParaRPr>
          </a:p>
          <a:p>
            <a:pPr marL="514350" indent="-514350">
              <a:buFont typeface="+mj-lt"/>
              <a:buAutoNum type="arabicPeriod"/>
            </a:pPr>
            <a:r>
              <a:rPr lang="en-US" dirty="0">
                <a:latin typeface="Arial"/>
                <a:ea typeface="+mn-lt"/>
                <a:cs typeface="+mn-lt"/>
              </a:rPr>
              <a:t>To make paragraphs logical and clear with certain topics.</a:t>
            </a:r>
            <a:endParaRPr lang="en-US" dirty="0">
              <a:latin typeface="Arial"/>
              <a:cs typeface="Calibri"/>
            </a:endParaRPr>
          </a:p>
          <a:p>
            <a:pPr marL="514350" indent="-514350">
              <a:buFont typeface="+mj-lt"/>
              <a:buAutoNum type="arabicPeriod"/>
            </a:pPr>
            <a:r>
              <a:rPr lang="en-US" dirty="0">
                <a:latin typeface="Arial"/>
                <a:ea typeface="+mn-lt"/>
                <a:cs typeface="+mn-lt"/>
              </a:rPr>
              <a:t>To show your vocabulary and language skills.</a:t>
            </a:r>
            <a:endParaRPr lang="en-US" dirty="0">
              <a:latin typeface="Arial"/>
              <a:cs typeface="Calibri"/>
            </a:endParaRPr>
          </a:p>
          <a:p>
            <a:pPr marL="514350" indent="-514350">
              <a:buFont typeface="+mj-lt"/>
              <a:buAutoNum type="arabicPeriod"/>
            </a:pPr>
            <a:r>
              <a:rPr lang="en-US" dirty="0">
                <a:latin typeface="Arial"/>
                <a:ea typeface="+mn-lt"/>
                <a:cs typeface="+mn-lt"/>
              </a:rPr>
              <a:t>To attract your reader’s attention.</a:t>
            </a:r>
            <a:endParaRPr lang="en-US" dirty="0">
              <a:latin typeface="Arial"/>
              <a:cs typeface="Calibri"/>
            </a:endParaRPr>
          </a:p>
        </p:txBody>
      </p:sp>
      <p:sp>
        <p:nvSpPr>
          <p:cNvPr id="4" name="Slide Number Placeholder 3">
            <a:extLst>
              <a:ext uri="{FF2B5EF4-FFF2-40B4-BE49-F238E27FC236}">
                <a16:creationId xmlns:a16="http://schemas.microsoft.com/office/drawing/2014/main" id="{9AFE280B-24E2-4C08-B624-4AE4BA3D222C}"/>
              </a:ext>
            </a:extLst>
          </p:cNvPr>
          <p:cNvSpPr>
            <a:spLocks noGrp="1"/>
          </p:cNvSpPr>
          <p:nvPr>
            <p:ph type="sldNum" sz="quarter" idx="12"/>
          </p:nvPr>
        </p:nvSpPr>
        <p:spPr/>
        <p:txBody>
          <a:bodyPr/>
          <a:lstStyle/>
          <a:p>
            <a:fld id="{BDCDBBEF-AA6C-4BA6-85B2-A17D7F280E38}" type="slidenum">
              <a:rPr lang="en-US" smtClean="0"/>
              <a:pPr/>
              <a:t>18</a:t>
            </a:fld>
            <a:endParaRPr lang="en-US"/>
          </a:p>
        </p:txBody>
      </p:sp>
    </p:spTree>
    <p:extLst>
      <p:ext uri="{BB962C8B-B14F-4D97-AF65-F5344CB8AC3E}">
        <p14:creationId xmlns:p14="http://schemas.microsoft.com/office/powerpoint/2010/main" val="38908435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E9A6A-FE30-4D21-858F-7EA2CE5EB21C}"/>
              </a:ext>
            </a:extLst>
          </p:cNvPr>
          <p:cNvSpPr>
            <a:spLocks noGrp="1"/>
          </p:cNvSpPr>
          <p:nvPr>
            <p:ph type="title"/>
          </p:nvPr>
        </p:nvSpPr>
        <p:spPr>
          <a:xfrm>
            <a:off x="838200" y="241029"/>
            <a:ext cx="10515600" cy="1157588"/>
          </a:xfrm>
        </p:spPr>
        <p:style>
          <a:lnRef idx="2">
            <a:schemeClr val="dk1"/>
          </a:lnRef>
          <a:fillRef idx="1">
            <a:schemeClr val="lt1"/>
          </a:fillRef>
          <a:effectRef idx="0">
            <a:schemeClr val="dk1"/>
          </a:effectRef>
          <a:fontRef idx="minor">
            <a:schemeClr val="dk1"/>
          </a:fontRef>
        </p:style>
        <p:txBody>
          <a:bodyPr/>
          <a:lstStyle/>
          <a:p>
            <a:pPr algn="ctr"/>
            <a:r>
              <a:rPr lang="en-US" b="1" dirty="0">
                <a:latin typeface="Arial Black"/>
                <a:cs typeface="Calibri Light"/>
              </a:rPr>
              <a:t>SAMPLE</a:t>
            </a:r>
            <a:endParaRPr lang="en-US" dirty="0">
              <a:latin typeface="Calibri Light"/>
              <a:cs typeface="Calibri Light"/>
            </a:endParaRPr>
          </a:p>
        </p:txBody>
      </p:sp>
      <p:sp>
        <p:nvSpPr>
          <p:cNvPr id="3" name="Content Placeholder 2">
            <a:extLst>
              <a:ext uri="{FF2B5EF4-FFF2-40B4-BE49-F238E27FC236}">
                <a16:creationId xmlns:a16="http://schemas.microsoft.com/office/drawing/2014/main" id="{3375ADBB-DADC-4DF7-A690-07FECE49FDE5}"/>
              </a:ext>
            </a:extLst>
          </p:cNvPr>
          <p:cNvSpPr>
            <a:spLocks noGrp="1"/>
          </p:cNvSpPr>
          <p:nvPr>
            <p:ph idx="1"/>
          </p:nvPr>
        </p:nvSpPr>
        <p:spPr>
          <a:xfrm>
            <a:off x="838200" y="1593668"/>
            <a:ext cx="10515600" cy="4519749"/>
          </a:xfrm>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p>
            <a:pPr marL="0" indent="0">
              <a:buNone/>
            </a:pPr>
            <a:r>
              <a:rPr lang="en-US" dirty="0">
                <a:highlight>
                  <a:srgbClr val="FFFF00"/>
                </a:highlight>
                <a:latin typeface="Arial"/>
                <a:cs typeface="Calibri"/>
              </a:rPr>
              <a:t>Canada is one of the best countries in the world to live in.</a:t>
            </a:r>
            <a:r>
              <a:rPr lang="en-US" dirty="0">
                <a:latin typeface="Arial"/>
                <a:cs typeface="Calibri"/>
              </a:rPr>
              <a:t> </a:t>
            </a:r>
            <a:r>
              <a:rPr lang="en-US" dirty="0">
                <a:highlight>
                  <a:srgbClr val="00FFFF"/>
                </a:highlight>
                <a:latin typeface="Arial"/>
                <a:cs typeface="Calibri"/>
              </a:rPr>
              <a:t>First, Canada has an excellent health care system. All Canadians have access to medical services at a reasonable price. Second, Canada has a high standard of education. Students are taught by well‐trained teachers and are encouraged to continue studying at university. Finally, Canada's cities are clean and efficiently managed. Canadian cities have many parks and lots of space for people to live. </a:t>
            </a:r>
            <a:r>
              <a:rPr lang="en-US" dirty="0">
                <a:highlight>
                  <a:srgbClr val="008000"/>
                </a:highlight>
                <a:latin typeface="Arial"/>
                <a:cs typeface="Calibri"/>
              </a:rPr>
              <a:t>As a result, Canada is a desirable place to live.  </a:t>
            </a:r>
          </a:p>
        </p:txBody>
      </p:sp>
      <p:sp>
        <p:nvSpPr>
          <p:cNvPr id="4" name="Slide Number Placeholder 3">
            <a:extLst>
              <a:ext uri="{FF2B5EF4-FFF2-40B4-BE49-F238E27FC236}">
                <a16:creationId xmlns:a16="http://schemas.microsoft.com/office/drawing/2014/main" id="{4ADFF032-60B3-4437-A8B3-E3A4A2E660DD}"/>
              </a:ext>
            </a:extLst>
          </p:cNvPr>
          <p:cNvSpPr>
            <a:spLocks noGrp="1"/>
          </p:cNvSpPr>
          <p:nvPr>
            <p:ph type="sldNum" sz="quarter" idx="12"/>
          </p:nvPr>
        </p:nvSpPr>
        <p:spPr/>
        <p:txBody>
          <a:bodyPr/>
          <a:lstStyle/>
          <a:p>
            <a:fld id="{BDCDBBEF-AA6C-4BA6-85B2-A17D7F280E38}" type="slidenum">
              <a:rPr lang="en-US" smtClean="0"/>
              <a:pPr/>
              <a:t>19</a:t>
            </a:fld>
            <a:endParaRPr lang="en-US"/>
          </a:p>
        </p:txBody>
      </p:sp>
      <p:sp>
        <p:nvSpPr>
          <p:cNvPr id="5" name="TextBox 4">
            <a:extLst>
              <a:ext uri="{FF2B5EF4-FFF2-40B4-BE49-F238E27FC236}">
                <a16:creationId xmlns:a16="http://schemas.microsoft.com/office/drawing/2014/main" id="{102AC1DE-7A91-4D35-AB91-27E56BD4E819}"/>
              </a:ext>
            </a:extLst>
          </p:cNvPr>
          <p:cNvSpPr txBox="1"/>
          <p:nvPr/>
        </p:nvSpPr>
        <p:spPr>
          <a:xfrm>
            <a:off x="855740" y="5307754"/>
            <a:ext cx="10482820" cy="369332"/>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highlight>
                  <a:srgbClr val="FFFF00"/>
                </a:highlight>
                <a:latin typeface="Arial"/>
                <a:cs typeface="Calibri"/>
              </a:rPr>
              <a:t>     THE TOPIC SENTENCE</a:t>
            </a:r>
            <a:r>
              <a:rPr lang="en-US" dirty="0">
                <a:highlight>
                  <a:srgbClr val="FFFF00"/>
                </a:highlight>
                <a:latin typeface="Arial"/>
                <a:cs typeface="Calibri"/>
              </a:rPr>
              <a:t> </a:t>
            </a:r>
            <a:r>
              <a:rPr lang="en-US" dirty="0">
                <a:latin typeface="Arial"/>
                <a:cs typeface="Calibri"/>
              </a:rPr>
              <a:t>        </a:t>
            </a:r>
            <a:r>
              <a:rPr lang="en-US" dirty="0">
                <a:latin typeface="Arial"/>
                <a:ea typeface="+mn-lt"/>
                <a:cs typeface="+mn-lt"/>
              </a:rPr>
              <a:t>      </a:t>
            </a:r>
            <a:r>
              <a:rPr lang="en-US" b="1" dirty="0">
                <a:highlight>
                  <a:srgbClr val="00FFFF"/>
                </a:highlight>
                <a:latin typeface="Arial"/>
                <a:ea typeface="+mn-lt"/>
                <a:cs typeface="+mn-lt"/>
              </a:rPr>
              <a:t>SUPPORTING DETAILS</a:t>
            </a:r>
            <a:r>
              <a:rPr lang="en-US" dirty="0">
                <a:latin typeface="Arial"/>
                <a:ea typeface="+mn-lt"/>
                <a:cs typeface="+mn-lt"/>
              </a:rPr>
              <a:t>                </a:t>
            </a:r>
            <a:r>
              <a:rPr lang="en-US" b="1" dirty="0">
                <a:highlight>
                  <a:srgbClr val="008000"/>
                </a:highlight>
                <a:latin typeface="Arial"/>
                <a:ea typeface="+mn-lt"/>
                <a:cs typeface="+mn-lt"/>
              </a:rPr>
              <a:t>CLOSING SENTENCE</a:t>
            </a:r>
            <a:endParaRPr lang="en-US" b="1" dirty="0">
              <a:highlight>
                <a:srgbClr val="008000"/>
              </a:highlight>
              <a:latin typeface="Arial"/>
              <a:cs typeface="Calibri"/>
            </a:endParaRPr>
          </a:p>
        </p:txBody>
      </p:sp>
    </p:spTree>
    <p:extLst>
      <p:ext uri="{BB962C8B-B14F-4D97-AF65-F5344CB8AC3E}">
        <p14:creationId xmlns:p14="http://schemas.microsoft.com/office/powerpoint/2010/main" val="36434587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4E156-651E-41CE-80AE-4E2EBED40ACB}"/>
              </a:ext>
            </a:extLst>
          </p:cNvPr>
          <p:cNvSpPr>
            <a:spLocks noGrp="1"/>
          </p:cNvSpPr>
          <p:nvPr>
            <p:ph type="title"/>
          </p:nvPr>
        </p:nvSpPr>
        <p:spPr>
          <a:xfrm>
            <a:off x="838200" y="195124"/>
            <a:ext cx="10515600" cy="1325563"/>
          </a:xfrm>
        </p:spPr>
        <p:style>
          <a:lnRef idx="2">
            <a:schemeClr val="dk1"/>
          </a:lnRef>
          <a:fillRef idx="1">
            <a:schemeClr val="lt1"/>
          </a:fillRef>
          <a:effectRef idx="0">
            <a:schemeClr val="dk1"/>
          </a:effectRef>
          <a:fontRef idx="minor">
            <a:schemeClr val="dk1"/>
          </a:fontRef>
        </p:style>
        <p:txBody>
          <a:bodyPr/>
          <a:lstStyle/>
          <a:p>
            <a:pPr algn="ctr"/>
            <a:r>
              <a:rPr lang="en-US" dirty="0">
                <a:latin typeface="Arial Black"/>
                <a:cs typeface="Calibri Light"/>
              </a:rPr>
              <a:t>QUIZ</a:t>
            </a:r>
            <a:endParaRPr lang="en-US" dirty="0">
              <a:latin typeface="Arial Black"/>
              <a:cs typeface="Arial"/>
            </a:endParaRPr>
          </a:p>
        </p:txBody>
      </p:sp>
      <p:sp>
        <p:nvSpPr>
          <p:cNvPr id="3" name="Content Placeholder 2">
            <a:extLst>
              <a:ext uri="{FF2B5EF4-FFF2-40B4-BE49-F238E27FC236}">
                <a16:creationId xmlns:a16="http://schemas.microsoft.com/office/drawing/2014/main" id="{320A8229-FCFE-4004-9DC5-7FA60385A2DB}"/>
              </a:ext>
            </a:extLst>
          </p:cNvPr>
          <p:cNvSpPr>
            <a:spLocks noGrp="1"/>
          </p:cNvSpPr>
          <p:nvPr>
            <p:ph idx="1"/>
          </p:nvPr>
        </p:nvSpPr>
        <p:spPr>
          <a:xfrm>
            <a:off x="838200" y="1762849"/>
            <a:ext cx="10515600" cy="4494260"/>
          </a:xfr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a:bodyPr>
          <a:lstStyle/>
          <a:p>
            <a:pPr marL="0" indent="0">
              <a:buNone/>
            </a:pPr>
            <a:r>
              <a:rPr lang="en-US" dirty="0">
                <a:latin typeface="Arial"/>
                <a:cs typeface="Calibri"/>
              </a:rPr>
              <a:t>TRUE OR FALSE?</a:t>
            </a:r>
          </a:p>
          <a:p>
            <a:r>
              <a:rPr lang="en-US" dirty="0">
                <a:latin typeface="Arial"/>
                <a:cs typeface="Calibri"/>
              </a:rPr>
              <a:t>A paragraph always contains one main idea.</a:t>
            </a:r>
          </a:p>
          <a:p>
            <a:r>
              <a:rPr lang="en-US" dirty="0">
                <a:latin typeface="Arial"/>
                <a:cs typeface="Calibri"/>
              </a:rPr>
              <a:t>The main idea is reflected in the topic.</a:t>
            </a:r>
          </a:p>
          <a:p>
            <a:r>
              <a:rPr lang="en-US" dirty="0">
                <a:latin typeface="Arial"/>
                <a:cs typeface="Calibri"/>
              </a:rPr>
              <a:t>The topic sentence is developed into a paragraph.</a:t>
            </a:r>
          </a:p>
          <a:p>
            <a:r>
              <a:rPr lang="en-US" dirty="0">
                <a:latin typeface="Arial"/>
                <a:cs typeface="Calibri"/>
              </a:rPr>
              <a:t>Besides the topic sentence, a paragraph normally consists of supporting sentences and a concluding sentence.</a:t>
            </a:r>
          </a:p>
          <a:p>
            <a:r>
              <a:rPr lang="en-US" dirty="0">
                <a:latin typeface="Arial"/>
                <a:cs typeface="Calibri"/>
              </a:rPr>
              <a:t>The topic sentence and the closing sentence of the paragraph must be same.</a:t>
            </a:r>
          </a:p>
          <a:p>
            <a:pPr marL="0" indent="0">
              <a:buNone/>
            </a:pPr>
            <a:endParaRPr lang="en-US" sz="2400" dirty="0">
              <a:latin typeface="Arial"/>
              <a:cs typeface="Calibri"/>
            </a:endParaRPr>
          </a:p>
        </p:txBody>
      </p:sp>
      <p:sp>
        <p:nvSpPr>
          <p:cNvPr id="4" name="Slide Number Placeholder 3">
            <a:extLst>
              <a:ext uri="{FF2B5EF4-FFF2-40B4-BE49-F238E27FC236}">
                <a16:creationId xmlns:a16="http://schemas.microsoft.com/office/drawing/2014/main" id="{142A0FF6-AE4B-4B96-AB82-970875145DCC}"/>
              </a:ext>
            </a:extLst>
          </p:cNvPr>
          <p:cNvSpPr>
            <a:spLocks noGrp="1"/>
          </p:cNvSpPr>
          <p:nvPr>
            <p:ph type="sldNum" sz="quarter" idx="12"/>
          </p:nvPr>
        </p:nvSpPr>
        <p:spPr/>
        <p:txBody>
          <a:bodyPr/>
          <a:lstStyle/>
          <a:p>
            <a:fld id="{BDCDBBEF-AA6C-4BA6-85B2-A17D7F280E38}" type="slidenum">
              <a:rPr lang="en-US" smtClean="0"/>
              <a:pPr/>
              <a:t>20</a:t>
            </a:fld>
            <a:endParaRPr lang="en-US"/>
          </a:p>
        </p:txBody>
      </p:sp>
    </p:spTree>
    <p:extLst>
      <p:ext uri="{BB962C8B-B14F-4D97-AF65-F5344CB8AC3E}">
        <p14:creationId xmlns:p14="http://schemas.microsoft.com/office/powerpoint/2010/main" val="5881090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55808-16D4-44D5-B58F-5294D3FC8FB9}"/>
              </a:ext>
            </a:extLst>
          </p:cNvPr>
          <p:cNvSpPr>
            <a:spLocks noGrp="1"/>
          </p:cNvSpPr>
          <p:nvPr>
            <p:ph type="title"/>
          </p:nvPr>
        </p:nvSpPr>
        <p:spPr>
          <a:xfrm>
            <a:off x="838200" y="214903"/>
            <a:ext cx="10515600" cy="1325563"/>
          </a:xfrm>
        </p:spPr>
        <p:style>
          <a:lnRef idx="2">
            <a:schemeClr val="dk1"/>
          </a:lnRef>
          <a:fillRef idx="1">
            <a:schemeClr val="lt1"/>
          </a:fillRef>
          <a:effectRef idx="0">
            <a:schemeClr val="dk1"/>
          </a:effectRef>
          <a:fontRef idx="minor">
            <a:schemeClr val="dk1"/>
          </a:fontRef>
        </p:style>
        <p:txBody>
          <a:bodyPr/>
          <a:lstStyle/>
          <a:p>
            <a:r>
              <a:rPr lang="en-US" dirty="0">
                <a:latin typeface="Arial Black"/>
              </a:rPr>
              <a:t>                       QUIZ</a:t>
            </a:r>
            <a:endParaRPr lang="en-US" dirty="0"/>
          </a:p>
        </p:txBody>
      </p:sp>
      <p:sp>
        <p:nvSpPr>
          <p:cNvPr id="3" name="Content Placeholder 2">
            <a:extLst>
              <a:ext uri="{FF2B5EF4-FFF2-40B4-BE49-F238E27FC236}">
                <a16:creationId xmlns:a16="http://schemas.microsoft.com/office/drawing/2014/main" id="{01034D2E-4B07-46F6-8D8F-144CCF5BD415}"/>
              </a:ext>
            </a:extLst>
          </p:cNvPr>
          <p:cNvSpPr>
            <a:spLocks noGrp="1"/>
          </p:cNvSpPr>
          <p:nvPr>
            <p:ph idx="1"/>
          </p:nvPr>
        </p:nvSpPr>
        <p:spPr>
          <a:xfrm>
            <a:off x="838200" y="1750127"/>
            <a:ext cx="10515600" cy="4441667"/>
          </a:xfrm>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p>
            <a:pPr marL="0" indent="0">
              <a:buNone/>
            </a:pPr>
            <a:r>
              <a:rPr lang="en-US" dirty="0">
                <a:latin typeface="Arial" panose="020B0604020202020204" pitchFamily="34" charset="0"/>
                <a:cs typeface="Arial" panose="020B0604020202020204" pitchFamily="34" charset="0"/>
              </a:rPr>
              <a:t>TRUE OR FALSE?</a:t>
            </a:r>
            <a:endParaRPr lang="en-US" dirty="0">
              <a:latin typeface="Arial" panose="020B0604020202020204" pitchFamily="34" charset="0"/>
              <a:ea typeface="+mn-lt"/>
              <a:cs typeface="Arial" panose="020B0604020202020204" pitchFamily="34" charset="0"/>
            </a:endParaRPr>
          </a:p>
          <a:p>
            <a:r>
              <a:rPr lang="en-US" dirty="0">
                <a:latin typeface="Arial" panose="020B0604020202020204" pitchFamily="34" charset="0"/>
                <a:cs typeface="Arial" panose="020B0604020202020204" pitchFamily="34" charset="0"/>
              </a:rPr>
              <a:t>A paragraph always contains one main idea.</a:t>
            </a:r>
            <a:r>
              <a:rPr lang="en-US" dirty="0">
                <a:solidFill>
                  <a:srgbClr val="FF0000"/>
                </a:solidFill>
                <a:latin typeface="Arial" panose="020B0604020202020204" pitchFamily="34" charset="0"/>
                <a:cs typeface="Arial" panose="020B0604020202020204" pitchFamily="34" charset="0"/>
              </a:rPr>
              <a:t> </a:t>
            </a:r>
            <a:r>
              <a:rPr lang="en-US" b="1" dirty="0">
                <a:solidFill>
                  <a:srgbClr val="FF0000"/>
                </a:solidFill>
                <a:latin typeface="Arial" panose="020B0604020202020204" pitchFamily="34" charset="0"/>
                <a:cs typeface="Arial" panose="020B0604020202020204" pitchFamily="34" charset="0"/>
              </a:rPr>
              <a:t>TRUE</a:t>
            </a:r>
            <a:endParaRPr lang="en-US" dirty="0">
              <a:solidFill>
                <a:srgbClr val="FF0000"/>
              </a:solidFill>
              <a:latin typeface="Arial" panose="020B0604020202020204" pitchFamily="34" charset="0"/>
              <a:ea typeface="+mn-lt"/>
              <a:cs typeface="Arial" panose="020B0604020202020204" pitchFamily="34" charset="0"/>
            </a:endParaRPr>
          </a:p>
          <a:p>
            <a:r>
              <a:rPr lang="en-US" dirty="0">
                <a:latin typeface="Arial" panose="020B0604020202020204" pitchFamily="34" charset="0"/>
                <a:cs typeface="Arial" panose="020B0604020202020204" pitchFamily="34" charset="0"/>
              </a:rPr>
              <a:t>The main idea is reflected in the topic.  </a:t>
            </a:r>
            <a:r>
              <a:rPr lang="en-US" b="1" dirty="0">
                <a:solidFill>
                  <a:srgbClr val="FF0000"/>
                </a:solidFill>
                <a:latin typeface="Arial" panose="020B0604020202020204" pitchFamily="34" charset="0"/>
                <a:cs typeface="Arial" panose="020B0604020202020204" pitchFamily="34" charset="0"/>
              </a:rPr>
              <a:t>TRUE</a:t>
            </a:r>
            <a:endParaRPr lang="en-US" dirty="0">
              <a:latin typeface="Arial" panose="020B0604020202020204" pitchFamily="34" charset="0"/>
              <a:ea typeface="+mn-lt"/>
              <a:cs typeface="Arial" panose="020B0604020202020204" pitchFamily="34" charset="0"/>
            </a:endParaRPr>
          </a:p>
          <a:p>
            <a:r>
              <a:rPr lang="en-US" dirty="0">
                <a:latin typeface="Arial" panose="020B0604020202020204" pitchFamily="34" charset="0"/>
                <a:cs typeface="Arial" panose="020B0604020202020204" pitchFamily="34" charset="0"/>
              </a:rPr>
              <a:t>The topic sentence is developed into a paragraph.  </a:t>
            </a:r>
            <a:r>
              <a:rPr lang="en-US" b="1" dirty="0">
                <a:solidFill>
                  <a:srgbClr val="FF0000"/>
                </a:solidFill>
                <a:latin typeface="Arial" panose="020B0604020202020204" pitchFamily="34" charset="0"/>
                <a:cs typeface="Arial" panose="020B0604020202020204" pitchFamily="34" charset="0"/>
              </a:rPr>
              <a:t>TRUE</a:t>
            </a:r>
            <a:endParaRPr lang="en-US" dirty="0">
              <a:latin typeface="Arial" panose="020B0604020202020204" pitchFamily="34" charset="0"/>
              <a:ea typeface="+mn-lt"/>
              <a:cs typeface="Arial" panose="020B0604020202020204" pitchFamily="34" charset="0"/>
            </a:endParaRPr>
          </a:p>
          <a:p>
            <a:r>
              <a:rPr lang="en-US" dirty="0">
                <a:latin typeface="Arial" panose="020B0604020202020204" pitchFamily="34" charset="0"/>
                <a:cs typeface="Arial" panose="020B0604020202020204" pitchFamily="34" charset="0"/>
              </a:rPr>
              <a:t>Besides the topic sentence, a paragraph normally consists of supporting sentences and a concluding sentence. </a:t>
            </a:r>
            <a:r>
              <a:rPr lang="en-US" b="1" dirty="0">
                <a:solidFill>
                  <a:srgbClr val="FF0000"/>
                </a:solidFill>
                <a:latin typeface="Arial" panose="020B0604020202020204" pitchFamily="34" charset="0"/>
                <a:cs typeface="Arial" panose="020B0604020202020204" pitchFamily="34" charset="0"/>
              </a:rPr>
              <a:t>TRUE</a:t>
            </a:r>
            <a:endParaRPr lang="en-US" dirty="0">
              <a:latin typeface="Arial" panose="020B0604020202020204" pitchFamily="34" charset="0"/>
              <a:ea typeface="+mn-lt"/>
              <a:cs typeface="Arial" panose="020B0604020202020204" pitchFamily="34" charset="0"/>
            </a:endParaRPr>
          </a:p>
          <a:p>
            <a:r>
              <a:rPr lang="en-US" dirty="0">
                <a:latin typeface="Arial" panose="020B0604020202020204" pitchFamily="34" charset="0"/>
                <a:cs typeface="Arial" panose="020B0604020202020204" pitchFamily="34" charset="0"/>
              </a:rPr>
              <a:t>The topic sentence and the closing sentence of the paragraph must be same. </a:t>
            </a:r>
            <a:r>
              <a:rPr lang="en-US" b="1" dirty="0">
                <a:solidFill>
                  <a:srgbClr val="FF0000"/>
                </a:solidFill>
                <a:latin typeface="Arial" panose="020B0604020202020204" pitchFamily="34" charset="0"/>
                <a:cs typeface="Arial" panose="020B0604020202020204" pitchFamily="34" charset="0"/>
              </a:rPr>
              <a:t>FALSE</a:t>
            </a:r>
            <a:endParaRPr lang="en-US" dirty="0">
              <a:latin typeface="Arial" panose="020B0604020202020204" pitchFamily="34" charset="0"/>
              <a:ea typeface="+mn-lt"/>
              <a:cs typeface="Arial" panose="020B0604020202020204" pitchFamily="34" charset="0"/>
            </a:endParaRPr>
          </a:p>
          <a:p>
            <a:endParaRPr lang="en-US" dirty="0">
              <a:ea typeface="+mn-lt"/>
              <a:cs typeface="+mn-lt"/>
            </a:endParaRPr>
          </a:p>
          <a:p>
            <a:endParaRPr lang="en-US" dirty="0">
              <a:cs typeface="Calibri"/>
            </a:endParaRPr>
          </a:p>
        </p:txBody>
      </p:sp>
      <p:sp>
        <p:nvSpPr>
          <p:cNvPr id="4" name="Slide Number Placeholder 3">
            <a:extLst>
              <a:ext uri="{FF2B5EF4-FFF2-40B4-BE49-F238E27FC236}">
                <a16:creationId xmlns:a16="http://schemas.microsoft.com/office/drawing/2014/main" id="{097F85A1-2DA8-4D51-9281-33D30A980326}"/>
              </a:ext>
            </a:extLst>
          </p:cNvPr>
          <p:cNvSpPr>
            <a:spLocks noGrp="1"/>
          </p:cNvSpPr>
          <p:nvPr>
            <p:ph type="sldNum" sz="quarter" idx="12"/>
          </p:nvPr>
        </p:nvSpPr>
        <p:spPr/>
        <p:txBody>
          <a:bodyPr/>
          <a:lstStyle/>
          <a:p>
            <a:fld id="{BDCDBBEF-AA6C-4BA6-85B2-A17D7F280E38}" type="slidenum">
              <a:rPr lang="en-US" smtClean="0"/>
              <a:pPr/>
              <a:t>21</a:t>
            </a:fld>
            <a:endParaRPr lang="en-US"/>
          </a:p>
        </p:txBody>
      </p:sp>
    </p:spTree>
    <p:extLst>
      <p:ext uri="{BB962C8B-B14F-4D97-AF65-F5344CB8AC3E}">
        <p14:creationId xmlns:p14="http://schemas.microsoft.com/office/powerpoint/2010/main" val="4450470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2D2169D-A4B8-48D5-886B-4C7BE72A7F10}"/>
              </a:ext>
            </a:extLst>
          </p:cNvPr>
          <p:cNvSpPr>
            <a:spLocks noGrp="1"/>
          </p:cNvSpPr>
          <p:nvPr>
            <p:ph type="title"/>
          </p:nvPr>
        </p:nvSpPr>
        <p:spPr>
          <a:xfrm>
            <a:off x="838200" y="156989"/>
            <a:ext cx="10515600" cy="1325563"/>
          </a:xfrm>
        </p:spPr>
        <p:style>
          <a:lnRef idx="2">
            <a:schemeClr val="dk1"/>
          </a:lnRef>
          <a:fillRef idx="1">
            <a:schemeClr val="lt1"/>
          </a:fillRef>
          <a:effectRef idx="0">
            <a:schemeClr val="dk1"/>
          </a:effectRef>
          <a:fontRef idx="minor">
            <a:schemeClr val="dk1"/>
          </a:fontRef>
        </p:style>
        <p:txBody>
          <a:bodyPr>
            <a:normAutofit/>
          </a:bodyPr>
          <a:lstStyle/>
          <a:p>
            <a:pPr algn="ctr"/>
            <a:r>
              <a:rPr lang="en-US" b="1" dirty="0">
                <a:solidFill>
                  <a:srgbClr val="000000"/>
                </a:solidFill>
                <a:latin typeface="Arial Black"/>
                <a:cs typeface="Arial"/>
              </a:rPr>
              <a:t>PRACTICE SET</a:t>
            </a:r>
          </a:p>
        </p:txBody>
      </p:sp>
      <p:sp>
        <p:nvSpPr>
          <p:cNvPr id="9" name="Content Placeholder 8">
            <a:extLst>
              <a:ext uri="{FF2B5EF4-FFF2-40B4-BE49-F238E27FC236}">
                <a16:creationId xmlns:a16="http://schemas.microsoft.com/office/drawing/2014/main" id="{18932FBC-6730-47DB-A146-B85BB572B10E}"/>
              </a:ext>
            </a:extLst>
          </p:cNvPr>
          <p:cNvSpPr>
            <a:spLocks noGrp="1"/>
          </p:cNvSpPr>
          <p:nvPr>
            <p:ph idx="1"/>
          </p:nvPr>
        </p:nvSpPr>
        <p:spPr>
          <a:xfrm>
            <a:off x="838200" y="1724298"/>
            <a:ext cx="10515600" cy="4632052"/>
          </a:xfr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a:bodyPr>
          <a:lstStyle/>
          <a:p>
            <a:pPr>
              <a:spcBef>
                <a:spcPct val="0"/>
              </a:spcBef>
            </a:pPr>
            <a:r>
              <a:rPr lang="en-US" dirty="0">
                <a:latin typeface="Arial"/>
                <a:cs typeface="Arial"/>
              </a:rPr>
              <a:t>Given below is the profile of Rabindranath Tagore. Write a paragraph using the clues given below :</a:t>
            </a:r>
            <a:endParaRPr lang="en-US" dirty="0">
              <a:ea typeface="+mn-lt"/>
              <a:cs typeface="+mn-lt"/>
            </a:endParaRPr>
          </a:p>
          <a:p>
            <a:endParaRPr lang="en-US" dirty="0">
              <a:cs typeface="Calibri"/>
            </a:endParaRPr>
          </a:p>
        </p:txBody>
      </p:sp>
      <p:sp>
        <p:nvSpPr>
          <p:cNvPr id="4" name="Slide Number Placeholder 3">
            <a:extLst>
              <a:ext uri="{FF2B5EF4-FFF2-40B4-BE49-F238E27FC236}">
                <a16:creationId xmlns:a16="http://schemas.microsoft.com/office/drawing/2014/main" id="{AAE9308C-4A27-4164-B76D-22D765C7AE28}"/>
              </a:ext>
            </a:extLst>
          </p:cNvPr>
          <p:cNvSpPr>
            <a:spLocks noGrp="1"/>
          </p:cNvSpPr>
          <p:nvPr>
            <p:ph type="sldNum" sz="quarter" idx="12"/>
          </p:nvPr>
        </p:nvSpPr>
        <p:spPr/>
        <p:txBody>
          <a:bodyPr/>
          <a:lstStyle/>
          <a:p>
            <a:fld id="{BDCDBBEF-AA6C-4BA6-85B2-A17D7F280E38}" type="slidenum">
              <a:rPr lang="en-US" smtClean="0"/>
              <a:pPr/>
              <a:t>22</a:t>
            </a:fld>
            <a:endParaRPr lang="en-US"/>
          </a:p>
        </p:txBody>
      </p:sp>
      <p:graphicFrame>
        <p:nvGraphicFramePr>
          <p:cNvPr id="6" name="Table 6">
            <a:extLst>
              <a:ext uri="{FF2B5EF4-FFF2-40B4-BE49-F238E27FC236}">
                <a16:creationId xmlns:a16="http://schemas.microsoft.com/office/drawing/2014/main" id="{AA154C05-B5A1-4D67-97B8-86B3AE9EBD0E}"/>
              </a:ext>
            </a:extLst>
          </p:cNvPr>
          <p:cNvGraphicFramePr>
            <a:graphicFrameLocks noGrp="1"/>
          </p:cNvGraphicFramePr>
          <p:nvPr/>
        </p:nvGraphicFramePr>
        <p:xfrm>
          <a:off x="1238996" y="2746075"/>
          <a:ext cx="9714007" cy="3300177"/>
        </p:xfrm>
        <a:graphic>
          <a:graphicData uri="http://schemas.openxmlformats.org/drawingml/2006/table">
            <a:tbl>
              <a:tblPr firstRow="1" bandRow="1">
                <a:tableStyleId>{073A0DAA-6AF3-43AB-8588-CEC1D06C72B9}</a:tableStyleId>
              </a:tblPr>
              <a:tblGrid>
                <a:gridCol w="4753052">
                  <a:extLst>
                    <a:ext uri="{9D8B030D-6E8A-4147-A177-3AD203B41FA5}">
                      <a16:colId xmlns:a16="http://schemas.microsoft.com/office/drawing/2014/main" val="3893089213"/>
                    </a:ext>
                  </a:extLst>
                </a:gridCol>
                <a:gridCol w="4960955">
                  <a:extLst>
                    <a:ext uri="{9D8B030D-6E8A-4147-A177-3AD203B41FA5}">
                      <a16:colId xmlns:a16="http://schemas.microsoft.com/office/drawing/2014/main" val="3707747908"/>
                    </a:ext>
                  </a:extLst>
                </a:gridCol>
              </a:tblGrid>
              <a:tr h="345553">
                <a:tc>
                  <a:txBody>
                    <a:bodyPr/>
                    <a:lstStyle/>
                    <a:p>
                      <a:pPr lvl="0">
                        <a:buNone/>
                      </a:pPr>
                      <a:r>
                        <a:rPr lang="en-US" sz="1800" b="0" u="none" strike="noStrike" noProof="0"/>
                        <a:t>Known in Bengal as:</a:t>
                      </a:r>
                      <a:endParaRPr lang="en-US" sz="1800" b="0" i="0" u="none" strike="noStrike" noProof="0">
                        <a:latin typeface="Calibri"/>
                      </a:endParaRPr>
                    </a:p>
                  </a:txBody>
                  <a:tcPr/>
                </a:tc>
                <a:tc>
                  <a:txBody>
                    <a:bodyPr/>
                    <a:lstStyle/>
                    <a:p>
                      <a:r>
                        <a:rPr lang="en-US"/>
                        <a:t>GURUDEV</a:t>
                      </a:r>
                    </a:p>
                  </a:txBody>
                  <a:tcPr/>
                </a:tc>
                <a:extLst>
                  <a:ext uri="{0D108BD9-81ED-4DB2-BD59-A6C34878D82A}">
                    <a16:rowId xmlns:a16="http://schemas.microsoft.com/office/drawing/2014/main" val="3884464903"/>
                  </a:ext>
                </a:extLst>
              </a:tr>
              <a:tr h="441971">
                <a:tc>
                  <a:txBody>
                    <a:bodyPr/>
                    <a:lstStyle/>
                    <a:p>
                      <a:pPr lvl="0">
                        <a:buNone/>
                      </a:pPr>
                      <a:r>
                        <a:rPr lang="en-US" sz="1800" b="0" u="none" strike="noStrike" noProof="0"/>
                        <a:t>Birth:</a:t>
                      </a:r>
                      <a:endParaRPr lang="en-US" sz="1800" b="0" i="0" u="none" strike="noStrike" noProof="0">
                        <a:latin typeface="Calibri"/>
                      </a:endParaRPr>
                    </a:p>
                  </a:txBody>
                  <a:tcPr/>
                </a:tc>
                <a:tc>
                  <a:txBody>
                    <a:bodyPr/>
                    <a:lstStyle/>
                    <a:p>
                      <a:r>
                        <a:rPr lang="en-US"/>
                        <a:t>7TH MAY,1861</a:t>
                      </a:r>
                    </a:p>
                  </a:txBody>
                  <a:tcPr/>
                </a:tc>
                <a:extLst>
                  <a:ext uri="{0D108BD9-81ED-4DB2-BD59-A6C34878D82A}">
                    <a16:rowId xmlns:a16="http://schemas.microsoft.com/office/drawing/2014/main" val="3753873829"/>
                  </a:ext>
                </a:extLst>
              </a:tr>
              <a:tr h="429741">
                <a:tc>
                  <a:txBody>
                    <a:bodyPr/>
                    <a:lstStyle/>
                    <a:p>
                      <a:pPr lvl="0">
                        <a:buNone/>
                      </a:pPr>
                      <a:r>
                        <a:rPr lang="en-US" sz="1800" b="0" u="none" strike="noStrike" noProof="0"/>
                        <a:t>Parents:</a:t>
                      </a:r>
                      <a:endParaRPr lang="en-US" sz="1800" b="0" i="0" u="none" strike="noStrike" noProof="0">
                        <a:latin typeface="Calibri"/>
                      </a:endParaRPr>
                    </a:p>
                  </a:txBody>
                  <a:tcPr/>
                </a:tc>
                <a:tc>
                  <a:txBody>
                    <a:bodyPr/>
                    <a:lstStyle/>
                    <a:p>
                      <a:pPr lvl="0">
                        <a:buNone/>
                      </a:pPr>
                      <a:r>
                        <a:rPr lang="en-US" sz="1800" b="0" u="none" strike="noStrike" noProof="0" dirty="0" err="1"/>
                        <a:t>Debendranath</a:t>
                      </a:r>
                      <a:r>
                        <a:rPr lang="en-US" sz="1800" b="0" u="none" strike="noStrike" noProof="0" dirty="0"/>
                        <a:t> Tagore and Sarala Devi</a:t>
                      </a:r>
                      <a:endParaRPr lang="en-US" sz="1800" b="0" i="0" u="none" strike="noStrike" noProof="0" dirty="0">
                        <a:latin typeface="Calibri"/>
                      </a:endParaRPr>
                    </a:p>
                  </a:txBody>
                  <a:tcPr/>
                </a:tc>
                <a:extLst>
                  <a:ext uri="{0D108BD9-81ED-4DB2-BD59-A6C34878D82A}">
                    <a16:rowId xmlns:a16="http://schemas.microsoft.com/office/drawing/2014/main" val="3412078261"/>
                  </a:ext>
                </a:extLst>
              </a:tr>
              <a:tr h="429741">
                <a:tc>
                  <a:txBody>
                    <a:bodyPr/>
                    <a:lstStyle/>
                    <a:p>
                      <a:pPr lvl="0">
                        <a:buNone/>
                      </a:pPr>
                      <a:r>
                        <a:rPr lang="en-US" sz="1800" b="0" u="none" strike="noStrike" noProof="0"/>
                        <a:t>Occupation:</a:t>
                      </a:r>
                      <a:endParaRPr lang="en-US" sz="1800" b="0" i="0" u="none" strike="noStrike" noProof="0">
                        <a:latin typeface="Calibri"/>
                      </a:endParaRPr>
                    </a:p>
                  </a:txBody>
                  <a:tcPr/>
                </a:tc>
                <a:tc>
                  <a:txBody>
                    <a:bodyPr/>
                    <a:lstStyle/>
                    <a:p>
                      <a:pPr lvl="0">
                        <a:buNone/>
                      </a:pPr>
                      <a:r>
                        <a:rPr lang="en-US" sz="1800" b="0" u="none" strike="noStrike" noProof="0"/>
                        <a:t>Writer, Painter, Singer</a:t>
                      </a:r>
                      <a:endParaRPr lang="en-US" sz="1800" b="0" i="0" u="none" strike="noStrike" noProof="0">
                        <a:latin typeface="Calibri"/>
                      </a:endParaRPr>
                    </a:p>
                  </a:txBody>
                  <a:tcPr/>
                </a:tc>
                <a:extLst>
                  <a:ext uri="{0D108BD9-81ED-4DB2-BD59-A6C34878D82A}">
                    <a16:rowId xmlns:a16="http://schemas.microsoft.com/office/drawing/2014/main" val="3288565206"/>
                  </a:ext>
                </a:extLst>
              </a:tr>
              <a:tr h="773482">
                <a:tc>
                  <a:txBody>
                    <a:bodyPr/>
                    <a:lstStyle/>
                    <a:p>
                      <a:pPr lvl="0">
                        <a:buNone/>
                      </a:pPr>
                      <a:r>
                        <a:rPr lang="en-US" sz="1800" b="0" u="none" strike="noStrike" noProof="0"/>
                        <a:t>Notable works:</a:t>
                      </a:r>
                      <a:endParaRPr lang="en-US" sz="1800" b="0" i="0" u="none" strike="noStrike" noProof="0">
                        <a:latin typeface="Calibri"/>
                      </a:endParaRPr>
                    </a:p>
                  </a:txBody>
                  <a:tcPr/>
                </a:tc>
                <a:tc>
                  <a:txBody>
                    <a:bodyPr/>
                    <a:lstStyle/>
                    <a:p>
                      <a:pPr lvl="0">
                        <a:buNone/>
                      </a:pPr>
                      <a:r>
                        <a:rPr lang="en-US" sz="1800" b="0" u="none" strike="noStrike" noProof="0"/>
                        <a:t>Gitanjali, Jana Gana Mana, Rabindranath Sangeet, Amar Sonar Bangla etc.</a:t>
                      </a:r>
                      <a:endParaRPr lang="en-US" sz="1800" b="0" i="0" u="none" strike="noStrike" noProof="0"/>
                    </a:p>
                  </a:txBody>
                  <a:tcPr/>
                </a:tc>
                <a:extLst>
                  <a:ext uri="{0D108BD9-81ED-4DB2-BD59-A6C34878D82A}">
                    <a16:rowId xmlns:a16="http://schemas.microsoft.com/office/drawing/2014/main" val="3658771219"/>
                  </a:ext>
                </a:extLst>
              </a:tr>
              <a:tr h="429741">
                <a:tc>
                  <a:txBody>
                    <a:bodyPr/>
                    <a:lstStyle/>
                    <a:p>
                      <a:pPr lvl="0">
                        <a:buNone/>
                      </a:pPr>
                      <a:r>
                        <a:rPr lang="en-US" sz="1800" b="0" u="none" strike="noStrike" noProof="0"/>
                        <a:t>Award:</a:t>
                      </a:r>
                      <a:endParaRPr lang="en-US" sz="1800" b="0" i="0" u="none" strike="noStrike" noProof="0">
                        <a:latin typeface="Calibri"/>
                      </a:endParaRPr>
                    </a:p>
                  </a:txBody>
                  <a:tcPr/>
                </a:tc>
                <a:tc>
                  <a:txBody>
                    <a:bodyPr/>
                    <a:lstStyle/>
                    <a:p>
                      <a:pPr lvl="0">
                        <a:buNone/>
                      </a:pPr>
                      <a:r>
                        <a:rPr lang="en-US" sz="1800" b="0" u="none" strike="noStrike" noProof="0" dirty="0"/>
                        <a:t>Nobel Prize for literature in 1913</a:t>
                      </a:r>
                      <a:endParaRPr lang="en-US" sz="1800" b="0" i="0" u="none" strike="noStrike" noProof="0" dirty="0">
                        <a:latin typeface="Calibri"/>
                      </a:endParaRPr>
                    </a:p>
                  </a:txBody>
                  <a:tcPr/>
                </a:tc>
                <a:extLst>
                  <a:ext uri="{0D108BD9-81ED-4DB2-BD59-A6C34878D82A}">
                    <a16:rowId xmlns:a16="http://schemas.microsoft.com/office/drawing/2014/main" val="2728889586"/>
                  </a:ext>
                </a:extLst>
              </a:tr>
              <a:tr h="429741">
                <a:tc>
                  <a:txBody>
                    <a:bodyPr/>
                    <a:lstStyle/>
                    <a:p>
                      <a:pPr lvl="0">
                        <a:buNone/>
                      </a:pPr>
                      <a:r>
                        <a:rPr lang="en-US" sz="1800" b="0" u="none" strike="noStrike" noProof="0"/>
                        <a:t>Death:</a:t>
                      </a:r>
                      <a:endParaRPr lang="en-US" sz="1800" b="0" i="0" u="none" strike="noStrike" noProof="0">
                        <a:latin typeface="Calibri"/>
                      </a:endParaRPr>
                    </a:p>
                  </a:txBody>
                  <a:tcPr/>
                </a:tc>
                <a:tc>
                  <a:txBody>
                    <a:bodyPr/>
                    <a:lstStyle/>
                    <a:p>
                      <a:pPr lvl="0">
                        <a:buNone/>
                      </a:pPr>
                      <a:r>
                        <a:rPr lang="en-US" sz="1800" b="0" u="none" strike="noStrike" noProof="0" dirty="0"/>
                        <a:t>7th August 1941</a:t>
                      </a:r>
                      <a:endParaRPr lang="en-US" sz="1800" b="0" i="0" u="none" strike="noStrike" noProof="0" dirty="0">
                        <a:latin typeface="Calibri"/>
                      </a:endParaRPr>
                    </a:p>
                  </a:txBody>
                  <a:tcPr/>
                </a:tc>
                <a:extLst>
                  <a:ext uri="{0D108BD9-81ED-4DB2-BD59-A6C34878D82A}">
                    <a16:rowId xmlns:a16="http://schemas.microsoft.com/office/drawing/2014/main" val="2867530833"/>
                  </a:ext>
                </a:extLst>
              </a:tr>
            </a:tbl>
          </a:graphicData>
        </a:graphic>
      </p:graphicFrame>
    </p:spTree>
    <p:extLst>
      <p:ext uri="{BB962C8B-B14F-4D97-AF65-F5344CB8AC3E}">
        <p14:creationId xmlns:p14="http://schemas.microsoft.com/office/powerpoint/2010/main" val="36221757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095E1-1DCC-4013-BC6B-410D594F27C4}"/>
              </a:ext>
            </a:extLst>
          </p:cNvPr>
          <p:cNvSpPr>
            <a:spLocks noGrp="1"/>
          </p:cNvSpPr>
          <p:nvPr>
            <p:ph type="title"/>
          </p:nvPr>
        </p:nvSpPr>
        <p:spPr>
          <a:xfrm>
            <a:off x="838200" y="136525"/>
            <a:ext cx="10515600" cy="1325563"/>
          </a:xfrm>
        </p:spPr>
        <p:style>
          <a:lnRef idx="2">
            <a:schemeClr val="dk1"/>
          </a:lnRef>
          <a:fillRef idx="1">
            <a:schemeClr val="lt1"/>
          </a:fillRef>
          <a:effectRef idx="0">
            <a:schemeClr val="dk1"/>
          </a:effectRef>
          <a:fontRef idx="minor">
            <a:schemeClr val="dk1"/>
          </a:fontRef>
        </p:style>
        <p:txBody>
          <a:bodyPr/>
          <a:lstStyle/>
          <a:p>
            <a:r>
              <a:rPr lang="en-US" dirty="0">
                <a:latin typeface="Arial Black"/>
                <a:cs typeface="Calibri Light"/>
              </a:rPr>
              <a:t>           DETAILED ANSWER</a:t>
            </a:r>
          </a:p>
        </p:txBody>
      </p:sp>
      <p:sp>
        <p:nvSpPr>
          <p:cNvPr id="3" name="Content Placeholder 2">
            <a:extLst>
              <a:ext uri="{FF2B5EF4-FFF2-40B4-BE49-F238E27FC236}">
                <a16:creationId xmlns:a16="http://schemas.microsoft.com/office/drawing/2014/main" id="{04D5E867-6D10-4649-AC8F-E1717FA89993}"/>
              </a:ext>
            </a:extLst>
          </p:cNvPr>
          <p:cNvSpPr>
            <a:spLocks noGrp="1"/>
          </p:cNvSpPr>
          <p:nvPr>
            <p:ph idx="1"/>
          </p:nvPr>
        </p:nvSpPr>
        <p:spPr>
          <a:xfrm>
            <a:off x="838200" y="1733550"/>
            <a:ext cx="10515600" cy="4351338"/>
          </a:xfr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a:bodyPr>
          <a:lstStyle/>
          <a:p>
            <a:pPr marL="0" indent="0">
              <a:buNone/>
            </a:pPr>
            <a:r>
              <a:rPr lang="en-US" dirty="0">
                <a:latin typeface="Arial"/>
                <a:ea typeface="+mn-lt"/>
                <a:cs typeface="+mn-lt"/>
              </a:rPr>
              <a:t>Rabindranath Tagore, also known as Guru dev in Bengal, was born on 7th May 1861. His father’s name was </a:t>
            </a:r>
            <a:r>
              <a:rPr lang="en-US" dirty="0" err="1">
                <a:latin typeface="Arial"/>
                <a:ea typeface="+mn-lt"/>
                <a:cs typeface="+mn-lt"/>
              </a:rPr>
              <a:t>Debendranath</a:t>
            </a:r>
            <a:r>
              <a:rPr lang="en-US" dirty="0">
                <a:latin typeface="Arial"/>
                <a:ea typeface="+mn-lt"/>
                <a:cs typeface="+mn-lt"/>
              </a:rPr>
              <a:t> Tagore and mother’s name was </a:t>
            </a:r>
            <a:r>
              <a:rPr lang="en-US" dirty="0" err="1">
                <a:latin typeface="Arial"/>
                <a:ea typeface="+mn-lt"/>
                <a:cs typeface="+mn-lt"/>
              </a:rPr>
              <a:t>Sarla</a:t>
            </a:r>
            <a:r>
              <a:rPr lang="en-US" dirty="0">
                <a:latin typeface="Arial"/>
                <a:ea typeface="+mn-lt"/>
                <a:cs typeface="+mn-lt"/>
              </a:rPr>
              <a:t> Devi. He was a writer, painter and a singer. His notable works are Gitanjali, Jana Gana Mana, Rabindra Sangeet, Amar Sonar Bangla etc. He was awarded Nobel Prize for literature in 1913. This great man died on 7th August 1941.</a:t>
            </a:r>
          </a:p>
          <a:p>
            <a:pPr marL="0" indent="0">
              <a:buNone/>
            </a:pPr>
            <a:endParaRPr lang="en-US" dirty="0">
              <a:latin typeface="Arial"/>
              <a:cs typeface="Calibri"/>
            </a:endParaRPr>
          </a:p>
          <a:p>
            <a:pPr marL="0" indent="0">
              <a:buNone/>
            </a:pPr>
            <a:r>
              <a:rPr lang="en-US" dirty="0">
                <a:latin typeface="Arial"/>
                <a:cs typeface="Calibri"/>
              </a:rPr>
              <a:t>(FOCUS ON SEQUENCE OF POINTS AND ACCURACY OF LANGUAGE)</a:t>
            </a:r>
          </a:p>
        </p:txBody>
      </p:sp>
      <p:sp>
        <p:nvSpPr>
          <p:cNvPr id="4" name="Slide Number Placeholder 3">
            <a:extLst>
              <a:ext uri="{FF2B5EF4-FFF2-40B4-BE49-F238E27FC236}">
                <a16:creationId xmlns:a16="http://schemas.microsoft.com/office/drawing/2014/main" id="{F02CD80C-FE10-40F5-A559-C82DA3CBFA51}"/>
              </a:ext>
            </a:extLst>
          </p:cNvPr>
          <p:cNvSpPr>
            <a:spLocks noGrp="1"/>
          </p:cNvSpPr>
          <p:nvPr>
            <p:ph type="sldNum" sz="quarter" idx="12"/>
          </p:nvPr>
        </p:nvSpPr>
        <p:spPr/>
        <p:txBody>
          <a:bodyPr/>
          <a:lstStyle/>
          <a:p>
            <a:fld id="{BDCDBBEF-AA6C-4BA6-85B2-A17D7F280E38}" type="slidenum">
              <a:rPr lang="en-US" smtClean="0"/>
              <a:pPr/>
              <a:t>23</a:t>
            </a:fld>
            <a:endParaRPr lang="en-US"/>
          </a:p>
        </p:txBody>
      </p:sp>
    </p:spTree>
    <p:extLst>
      <p:ext uri="{BB962C8B-B14F-4D97-AF65-F5344CB8AC3E}">
        <p14:creationId xmlns:p14="http://schemas.microsoft.com/office/powerpoint/2010/main" val="3683329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1D9E1-F1B6-4332-8D1E-EF9A142C100E}"/>
              </a:ext>
            </a:extLst>
          </p:cNvPr>
          <p:cNvSpPr>
            <a:spLocks noGrp="1"/>
          </p:cNvSpPr>
          <p:nvPr>
            <p:ph type="title"/>
          </p:nvPr>
        </p:nvSpPr>
        <p:spPr>
          <a:xfrm>
            <a:off x="838200" y="197600"/>
            <a:ext cx="10515600" cy="1224661"/>
          </a:xfrm>
        </p:spPr>
        <p:style>
          <a:lnRef idx="2">
            <a:schemeClr val="dk1"/>
          </a:lnRef>
          <a:fillRef idx="1">
            <a:schemeClr val="lt1"/>
          </a:fillRef>
          <a:effectRef idx="0">
            <a:schemeClr val="dk1"/>
          </a:effectRef>
          <a:fontRef idx="minor">
            <a:schemeClr val="dk1"/>
          </a:fontRef>
        </p:style>
        <p:txBody>
          <a:bodyPr/>
          <a:lstStyle/>
          <a:p>
            <a:pPr algn="ctr"/>
            <a:r>
              <a:rPr lang="en-US" dirty="0">
                <a:latin typeface="Arial Black"/>
                <a:cs typeface="Calibri Light"/>
              </a:rPr>
              <a:t> TRY THEM</a:t>
            </a:r>
            <a:endParaRPr lang="en-US" dirty="0">
              <a:cs typeface="Calibri Light"/>
            </a:endParaRPr>
          </a:p>
        </p:txBody>
      </p:sp>
      <p:sp>
        <p:nvSpPr>
          <p:cNvPr id="3" name="Content Placeholder 2">
            <a:extLst>
              <a:ext uri="{FF2B5EF4-FFF2-40B4-BE49-F238E27FC236}">
                <a16:creationId xmlns:a16="http://schemas.microsoft.com/office/drawing/2014/main" id="{7CFD89F1-1186-4424-9337-2D8882B4FB0B}"/>
              </a:ext>
            </a:extLst>
          </p:cNvPr>
          <p:cNvSpPr>
            <a:spLocks noGrp="1"/>
          </p:cNvSpPr>
          <p:nvPr>
            <p:ph idx="1"/>
          </p:nvPr>
        </p:nvSpPr>
        <p:spPr>
          <a:xfrm>
            <a:off x="838199" y="1624344"/>
            <a:ext cx="10567309" cy="4554387"/>
          </a:xfrm>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p>
            <a:pPr marL="0" indent="0">
              <a:buNone/>
            </a:pPr>
            <a:r>
              <a:rPr lang="en-US" dirty="0">
                <a:latin typeface="Arial"/>
                <a:ea typeface="+mn-lt"/>
                <a:cs typeface="+mn-lt"/>
              </a:rPr>
              <a:t>Write a paragraph, using the clues given below. You may add some more if necessary:</a:t>
            </a:r>
            <a:endParaRPr lang="en-US" dirty="0">
              <a:latin typeface="Arial"/>
              <a:ea typeface="+mn-lt"/>
              <a:cs typeface="Arial"/>
            </a:endParaRPr>
          </a:p>
          <a:p>
            <a:pPr marL="0" indent="0">
              <a:buNone/>
            </a:pPr>
            <a:r>
              <a:rPr lang="en-US" dirty="0">
                <a:latin typeface="Arial"/>
                <a:cs typeface="Arial"/>
              </a:rPr>
              <a:t>1.In a distant village - farmer - a magical hen - one golden egg -</a:t>
            </a:r>
            <a:br>
              <a:rPr lang="en-US" dirty="0">
                <a:latin typeface="Arial"/>
              </a:rPr>
            </a:br>
            <a:r>
              <a:rPr lang="en-US" dirty="0">
                <a:latin typeface="Arial"/>
                <a:cs typeface="Arial"/>
              </a:rPr>
              <a:t>every day - the richest man - He thought - lazy hen - greedy and</a:t>
            </a:r>
            <a:br>
              <a:rPr lang="en-US" dirty="0">
                <a:latin typeface="Arial"/>
              </a:rPr>
            </a:br>
            <a:r>
              <a:rPr lang="en-US" dirty="0">
                <a:latin typeface="Arial"/>
                <a:cs typeface="Arial"/>
              </a:rPr>
              <a:t>impatient - thought of an idea - take out all the eggs - big knife - cut</a:t>
            </a:r>
            <a:br>
              <a:rPr lang="en-US" dirty="0">
                <a:latin typeface="Arial"/>
              </a:rPr>
            </a:br>
            <a:r>
              <a:rPr lang="en-US" dirty="0">
                <a:latin typeface="Arial"/>
                <a:cs typeface="Arial"/>
              </a:rPr>
              <a:t>her stomach - no eggs - hen died - moral.</a:t>
            </a:r>
          </a:p>
          <a:p>
            <a:pPr marL="0" indent="0">
              <a:buNone/>
            </a:pPr>
            <a:r>
              <a:rPr lang="en-US" dirty="0">
                <a:latin typeface="Arial"/>
                <a:cs typeface="Arial"/>
              </a:rPr>
              <a:t>2.</a:t>
            </a:r>
            <a:r>
              <a:rPr lang="en-US" dirty="0">
                <a:latin typeface="Arial"/>
                <a:ea typeface="+mn-lt"/>
                <a:cs typeface="+mn-lt"/>
              </a:rPr>
              <a:t>Twelve fools start on a journey - cross a river - count themselves - one man lost - a passer  by offers help - gives each a blow on the back - they count twelve strokes - satisfied - moral.</a:t>
            </a:r>
            <a:br>
              <a:rPr lang="en-US" dirty="0"/>
            </a:br>
            <a:endParaRPr lang="en-US" dirty="0">
              <a:cs typeface="Calibri"/>
            </a:endParaRPr>
          </a:p>
          <a:p>
            <a:pPr marL="0" indent="0">
              <a:buNone/>
            </a:pPr>
            <a:endParaRPr lang="en-US" dirty="0">
              <a:latin typeface="Arial"/>
              <a:cs typeface="Calibri"/>
            </a:endParaRPr>
          </a:p>
        </p:txBody>
      </p:sp>
      <p:sp>
        <p:nvSpPr>
          <p:cNvPr id="4" name="Slide Number Placeholder 3">
            <a:extLst>
              <a:ext uri="{FF2B5EF4-FFF2-40B4-BE49-F238E27FC236}">
                <a16:creationId xmlns:a16="http://schemas.microsoft.com/office/drawing/2014/main" id="{F34A7630-D93F-482A-9734-6B21C26408F9}"/>
              </a:ext>
            </a:extLst>
          </p:cNvPr>
          <p:cNvSpPr>
            <a:spLocks noGrp="1"/>
          </p:cNvSpPr>
          <p:nvPr>
            <p:ph type="sldNum" sz="quarter" idx="12"/>
          </p:nvPr>
        </p:nvSpPr>
        <p:spPr/>
        <p:txBody>
          <a:bodyPr/>
          <a:lstStyle/>
          <a:p>
            <a:fld id="{BDCDBBEF-AA6C-4BA6-85B2-A17D7F280E38}" type="slidenum">
              <a:rPr lang="en-US" smtClean="0"/>
              <a:pPr/>
              <a:t>24</a:t>
            </a:fld>
            <a:endParaRPr lang="en-US"/>
          </a:p>
        </p:txBody>
      </p:sp>
    </p:spTree>
    <p:extLst>
      <p:ext uri="{BB962C8B-B14F-4D97-AF65-F5344CB8AC3E}">
        <p14:creationId xmlns:p14="http://schemas.microsoft.com/office/powerpoint/2010/main" val="4881426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A801E-D4C6-445C-97C4-B72DFA0AB1C7}"/>
              </a:ext>
            </a:extLst>
          </p:cNvPr>
          <p:cNvSpPr>
            <a:spLocks noGrp="1"/>
          </p:cNvSpPr>
          <p:nvPr>
            <p:ph type="title"/>
          </p:nvPr>
        </p:nvSpPr>
        <p:spPr>
          <a:xfrm>
            <a:off x="838200" y="210378"/>
            <a:ext cx="10515600" cy="1325563"/>
          </a:xfrm>
        </p:spPr>
        <p:style>
          <a:lnRef idx="2">
            <a:schemeClr val="dk1"/>
          </a:lnRef>
          <a:fillRef idx="1">
            <a:schemeClr val="lt1"/>
          </a:fillRef>
          <a:effectRef idx="0">
            <a:schemeClr val="dk1"/>
          </a:effectRef>
          <a:fontRef idx="minor">
            <a:schemeClr val="dk1"/>
          </a:fontRef>
        </p:style>
        <p:txBody>
          <a:bodyPr/>
          <a:lstStyle/>
          <a:p>
            <a:pPr algn="ctr"/>
            <a:r>
              <a:rPr lang="en-US" b="1" dirty="0">
                <a:latin typeface="Arial Black"/>
                <a:cs typeface="Arial"/>
              </a:rPr>
              <a:t> APPLICATIONS</a:t>
            </a:r>
            <a:endParaRPr lang="en-US" dirty="0">
              <a:latin typeface="Arial Black" panose="020B0A04020102020204" pitchFamily="34" charset="0"/>
            </a:endParaRPr>
          </a:p>
        </p:txBody>
      </p:sp>
      <p:sp>
        <p:nvSpPr>
          <p:cNvPr id="3" name="Content Placeholder 2">
            <a:extLst>
              <a:ext uri="{FF2B5EF4-FFF2-40B4-BE49-F238E27FC236}">
                <a16:creationId xmlns:a16="http://schemas.microsoft.com/office/drawing/2014/main" id="{8811C543-7C5D-49B4-8545-4DEA236E340C}"/>
              </a:ext>
            </a:extLst>
          </p:cNvPr>
          <p:cNvSpPr>
            <a:spLocks noGrp="1"/>
          </p:cNvSpPr>
          <p:nvPr>
            <p:ph idx="1"/>
          </p:nvPr>
        </p:nvSpPr>
        <p:spPr>
          <a:xfrm>
            <a:off x="838200" y="1799499"/>
            <a:ext cx="10515600" cy="4351338"/>
          </a:xfrm>
        </p:spPr>
        <p:style>
          <a:lnRef idx="2">
            <a:schemeClr val="dk1"/>
          </a:lnRef>
          <a:fillRef idx="1">
            <a:schemeClr val="lt1"/>
          </a:fillRef>
          <a:effectRef idx="0">
            <a:schemeClr val="dk1"/>
          </a:effectRef>
          <a:fontRef idx="minor">
            <a:schemeClr val="dk1"/>
          </a:fontRef>
        </p:style>
        <p:txBody>
          <a:bodyPr/>
          <a:lstStyle/>
          <a:p>
            <a:endParaRPr lang="en-US" dirty="0">
              <a:latin typeface="Arial"/>
              <a:cs typeface="Arial"/>
            </a:endParaRPr>
          </a:p>
          <a:p>
            <a:r>
              <a:rPr lang="en-US" dirty="0">
                <a:latin typeface="Arial"/>
                <a:cs typeface="Arial"/>
              </a:rPr>
              <a:t>Effective writing skills will help students in creating quality technical documents, project reports, research papers.</a:t>
            </a:r>
          </a:p>
          <a:p>
            <a:endParaRPr lang="en-US" dirty="0">
              <a:latin typeface="Arial"/>
              <a:cs typeface="Arial"/>
            </a:endParaRPr>
          </a:p>
          <a:p>
            <a:r>
              <a:rPr lang="en-US" dirty="0">
                <a:latin typeface="Arial"/>
                <a:cs typeface="Arial"/>
              </a:rPr>
              <a:t>It will also help them in clear expression of thoughts.</a:t>
            </a:r>
          </a:p>
          <a:p>
            <a:endParaRPr lang="en-US" dirty="0">
              <a:latin typeface="Arial"/>
              <a:cs typeface="Arial"/>
            </a:endParaRPr>
          </a:p>
          <a:p>
            <a:r>
              <a:rPr lang="en-US" dirty="0">
                <a:latin typeface="Arial"/>
                <a:cs typeface="Arial"/>
              </a:rPr>
              <a:t>Effective writing skills establishes competence to relate both spoken and written English to a wide range of communication situation </a:t>
            </a:r>
          </a:p>
        </p:txBody>
      </p:sp>
      <p:sp>
        <p:nvSpPr>
          <p:cNvPr id="4" name="Slide Number Placeholder 3">
            <a:extLst>
              <a:ext uri="{FF2B5EF4-FFF2-40B4-BE49-F238E27FC236}">
                <a16:creationId xmlns:a16="http://schemas.microsoft.com/office/drawing/2014/main" id="{CA087245-8323-4FDA-B710-F7D4C910E109}"/>
              </a:ext>
            </a:extLst>
          </p:cNvPr>
          <p:cNvSpPr>
            <a:spLocks noGrp="1"/>
          </p:cNvSpPr>
          <p:nvPr>
            <p:ph type="sldNum" sz="quarter" idx="12"/>
          </p:nvPr>
        </p:nvSpPr>
        <p:spPr/>
        <p:txBody>
          <a:bodyPr/>
          <a:lstStyle/>
          <a:p>
            <a:fld id="{BDCDBBEF-AA6C-4BA6-85B2-A17D7F280E38}" type="slidenum">
              <a:rPr lang="en-US" smtClean="0"/>
              <a:pPr/>
              <a:t>25</a:t>
            </a:fld>
            <a:endParaRPr lang="en-US"/>
          </a:p>
        </p:txBody>
      </p:sp>
    </p:spTree>
    <p:extLst>
      <p:ext uri="{BB962C8B-B14F-4D97-AF65-F5344CB8AC3E}">
        <p14:creationId xmlns:p14="http://schemas.microsoft.com/office/powerpoint/2010/main" val="2693736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0977"/>
            <a:ext cx="10515600" cy="1263652"/>
          </a:xfrm>
        </p:spPr>
        <p:txBody>
          <a:bodyPr/>
          <a:lstStyle/>
          <a:p>
            <a:pPr algn="ctr"/>
            <a:r>
              <a:rPr lang="en-US" dirty="0">
                <a:latin typeface="Arial Black" panose="020B0A04020102020204" pitchFamily="34" charset="0"/>
                <a:cs typeface="Arial" panose="020B0604020202020204" pitchFamily="34" charset="0"/>
              </a:rPr>
              <a:t>Assessment Pattern</a:t>
            </a:r>
            <a:endParaRPr lang="en-US" dirty="0">
              <a:latin typeface="Arial Black" panose="020B0A04020102020204" pitchFamily="34" charset="0"/>
            </a:endParaRPr>
          </a:p>
        </p:txBody>
      </p:sp>
      <p:sp>
        <p:nvSpPr>
          <p:cNvPr id="3" name="Content Placeholder 2"/>
          <p:cNvSpPr>
            <a:spLocks noGrp="1"/>
          </p:cNvSpPr>
          <p:nvPr>
            <p:ph idx="1"/>
          </p:nvPr>
        </p:nvSpPr>
        <p:spPr>
          <a:xfrm>
            <a:off x="838200" y="1825625"/>
            <a:ext cx="10515600" cy="4351338"/>
          </a:xfrm>
        </p:spPr>
        <p:txBody>
          <a:bodyPr>
            <a:normAutofit/>
          </a:bodyPr>
          <a:lstStyle/>
          <a:p>
            <a:pPr>
              <a:buNone/>
            </a:pPr>
            <a:r>
              <a:rPr lang="en-IN" b="1" dirty="0">
                <a:latin typeface="Arial" pitchFamily="34" charset="0"/>
                <a:cs typeface="Arial" pitchFamily="34" charset="0"/>
              </a:rPr>
              <a:t>Students are assessed on the basis of the following parameters:</a:t>
            </a:r>
          </a:p>
          <a:p>
            <a:r>
              <a:rPr lang="en-US" dirty="0">
                <a:latin typeface="Arial" pitchFamily="34" charset="0"/>
                <a:cs typeface="Arial" pitchFamily="34" charset="0"/>
              </a:rPr>
              <a:t>Hourly Tests - 2</a:t>
            </a:r>
          </a:p>
          <a:p>
            <a:r>
              <a:rPr lang="en-US" dirty="0">
                <a:latin typeface="Arial" pitchFamily="34" charset="0"/>
                <a:cs typeface="Arial" pitchFamily="34" charset="0"/>
              </a:rPr>
              <a:t>Assignments</a:t>
            </a:r>
          </a:p>
          <a:p>
            <a:r>
              <a:rPr lang="en-US" dirty="0">
                <a:latin typeface="Arial" pitchFamily="34" charset="0"/>
                <a:cs typeface="Arial" pitchFamily="34" charset="0"/>
              </a:rPr>
              <a:t>Surprise Test</a:t>
            </a:r>
          </a:p>
          <a:p>
            <a:r>
              <a:rPr lang="en-US" dirty="0">
                <a:latin typeface="Arial" pitchFamily="34" charset="0"/>
                <a:cs typeface="Arial" pitchFamily="34" charset="0"/>
              </a:rPr>
              <a:t>Quiz</a:t>
            </a:r>
          </a:p>
          <a:p>
            <a:r>
              <a:rPr lang="en-US" dirty="0">
                <a:latin typeface="Arial" pitchFamily="34" charset="0"/>
                <a:cs typeface="Arial" pitchFamily="34" charset="0"/>
              </a:rPr>
              <a:t>Student Engagement</a:t>
            </a:r>
          </a:p>
          <a:p>
            <a:r>
              <a:rPr lang="en-US" dirty="0">
                <a:latin typeface="Arial" pitchFamily="34" charset="0"/>
                <a:cs typeface="Arial" pitchFamily="34" charset="0"/>
              </a:rPr>
              <a:t>End Semester Exam</a:t>
            </a:r>
            <a:endParaRPr lang="en-US" sz="1600"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dirty="0" smtClean="0"/>
              <a:pPr/>
              <a:t>26</a:t>
            </a:fld>
            <a:endParaRPr lang="en-US" dirty="0"/>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280977"/>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252240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259AB0-8D30-4F78-BE58-E030C2C0C75A}"/>
              </a:ext>
            </a:extLst>
          </p:cNvPr>
          <p:cNvSpPr>
            <a:spLocks noGrp="1"/>
          </p:cNvSpPr>
          <p:nvPr>
            <p:ph idx="1"/>
          </p:nvPr>
        </p:nvSpPr>
        <p:spPr>
          <a:xfrm>
            <a:off x="838200" y="1834787"/>
            <a:ext cx="10515600" cy="4351338"/>
          </a:xfr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a:bodyPr>
          <a:lstStyle/>
          <a:p>
            <a:r>
              <a:rPr lang="en-US" dirty="0">
                <a:latin typeface="Arial"/>
                <a:ea typeface="+mn-lt"/>
                <a:cs typeface="+mn-lt"/>
                <a:hlinkClick r:id="rId2"/>
              </a:rPr>
              <a:t>https://advice.writing.utoronto.ca/planning/paragraphs/</a:t>
            </a:r>
            <a:endParaRPr lang="en-US" dirty="0">
              <a:latin typeface="Arial"/>
              <a:cs typeface="Calibri"/>
            </a:endParaRPr>
          </a:p>
          <a:p>
            <a:r>
              <a:rPr lang="en-US" dirty="0">
                <a:latin typeface="Arial"/>
                <a:ea typeface="+mn-lt"/>
                <a:cs typeface="+mn-lt"/>
                <a:hlinkClick r:id="rId3"/>
              </a:rPr>
              <a:t>https://writingcenter.unc.edu/tips-and-tools/paragraphs/</a:t>
            </a:r>
            <a:endParaRPr lang="en-US" dirty="0">
              <a:latin typeface="Arial"/>
              <a:ea typeface="+mn-lt"/>
              <a:cs typeface="Arial"/>
            </a:endParaRPr>
          </a:p>
          <a:p>
            <a:pPr marL="0" indent="0">
              <a:buNone/>
            </a:pPr>
            <a:r>
              <a:rPr lang="en-US" dirty="0">
                <a:latin typeface="Arial"/>
                <a:cs typeface="Calibri"/>
              </a:rPr>
              <a:t>E-BOOKS:</a:t>
            </a:r>
          </a:p>
          <a:p>
            <a:pPr marL="0" indent="0">
              <a:buNone/>
            </a:pPr>
            <a:r>
              <a:rPr lang="en-US" b="1" dirty="0">
                <a:latin typeface="Arial"/>
                <a:ea typeface="+mn-lt"/>
                <a:cs typeface="+mn-lt"/>
              </a:rPr>
              <a:t>   WRITING FOR SUCCESS</a:t>
            </a:r>
            <a:endParaRPr lang="en-US" dirty="0"/>
          </a:p>
          <a:p>
            <a:r>
              <a:rPr lang="en-US" dirty="0">
                <a:ea typeface="+mn-lt"/>
                <a:cs typeface="+mn-lt"/>
                <a:hlinkClick r:id="rId4"/>
              </a:rPr>
              <a:t>https://open.lib.umn.edu/writingforsuccess/chapter/6-2-effective-means-for-writing-a-paragraph/</a:t>
            </a:r>
          </a:p>
          <a:p>
            <a:pPr marL="0" indent="0">
              <a:buNone/>
            </a:pPr>
            <a:r>
              <a:rPr lang="en-US" dirty="0">
                <a:latin typeface="Arial"/>
                <a:cs typeface="Calibri"/>
              </a:rPr>
              <a:t>VIDEO LINKS:</a:t>
            </a:r>
          </a:p>
          <a:p>
            <a:r>
              <a:rPr lang="en-US" dirty="0">
                <a:ea typeface="+mn-lt"/>
                <a:cs typeface="+mn-lt"/>
                <a:hlinkClick r:id="rId5"/>
              </a:rPr>
              <a:t>https://www.youtube.com/watch?v=L1J9ZPVydrc</a:t>
            </a:r>
            <a:endParaRPr lang="en-US" dirty="0">
              <a:ea typeface="+mn-lt"/>
              <a:cs typeface="+mn-lt"/>
            </a:endParaRPr>
          </a:p>
          <a:p>
            <a:pPr marL="0" indent="0">
              <a:buNone/>
            </a:pPr>
            <a:endParaRPr lang="en-US" dirty="0">
              <a:cs typeface="Calibri"/>
            </a:endParaRPr>
          </a:p>
        </p:txBody>
      </p:sp>
      <p:sp>
        <p:nvSpPr>
          <p:cNvPr id="4" name="Slide Number Placeholder 3">
            <a:extLst>
              <a:ext uri="{FF2B5EF4-FFF2-40B4-BE49-F238E27FC236}">
                <a16:creationId xmlns:a16="http://schemas.microsoft.com/office/drawing/2014/main" id="{77DD0E91-AB80-48E8-956B-20C3704B1E5F}"/>
              </a:ext>
            </a:extLst>
          </p:cNvPr>
          <p:cNvSpPr>
            <a:spLocks noGrp="1"/>
          </p:cNvSpPr>
          <p:nvPr>
            <p:ph type="sldNum" sz="quarter" idx="12"/>
          </p:nvPr>
        </p:nvSpPr>
        <p:spPr/>
        <p:txBody>
          <a:bodyPr/>
          <a:lstStyle/>
          <a:p>
            <a:fld id="{BDCDBBEF-AA6C-4BA6-85B2-A17D7F280E38}" type="slidenum">
              <a:rPr lang="en-US" dirty="0" smtClean="0"/>
              <a:pPr/>
              <a:t>27</a:t>
            </a:fld>
            <a:endParaRPr lang="en-US" dirty="0"/>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838693" y="631762"/>
            <a:ext cx="10512930" cy="769441"/>
          </a:xfrm>
          <a:prstGeom prst="rect">
            <a:avLst/>
          </a:prstGeom>
        </p:spPr>
        <p:txBody>
          <a:bodyPr wrap="square">
            <a:spAutoFit/>
          </a:bodyPr>
          <a:lstStyle/>
          <a:p>
            <a:pPr algn="ctr"/>
            <a:r>
              <a:rPr lang="en-US" sz="4400" dirty="0">
                <a:latin typeface="Arial Black"/>
                <a:cs typeface="Calibri Light"/>
              </a:rPr>
              <a:t>REFRENCES</a:t>
            </a:r>
            <a:endParaRPr lang="en-IN" sz="4400" dirty="0"/>
          </a:p>
        </p:txBody>
      </p:sp>
    </p:spTree>
    <p:extLst>
      <p:ext uri="{BB962C8B-B14F-4D97-AF65-F5344CB8AC3E}">
        <p14:creationId xmlns:p14="http://schemas.microsoft.com/office/powerpoint/2010/main" val="40442198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Rectangle 1"/>
          <p:cNvSpPr/>
          <p:nvPr/>
        </p:nvSpPr>
        <p:spPr>
          <a:xfrm>
            <a:off x="4114005" y="5394447"/>
            <a:ext cx="4669102" cy="646331"/>
          </a:xfrm>
          <a:prstGeom prst="rect">
            <a:avLst/>
          </a:prstGeom>
        </p:spPr>
        <p:txBody>
          <a:bodyPr wrap="square" anchor="t">
            <a:spAutoFit/>
          </a:bodyPr>
          <a:lstStyle/>
          <a:p>
            <a:r>
              <a:rPr lang="en-US" dirty="0">
                <a:latin typeface="Casper" panose="02000506000000020004" pitchFamily="2" charset="0"/>
                <a:ea typeface="Segoe UI" panose="020B0502040204020203" pitchFamily="34" charset="0"/>
                <a:cs typeface="Segoe UI" panose="020B0502040204020203" pitchFamily="34" charset="0"/>
              </a:rPr>
              <a:t>For queries</a:t>
            </a:r>
          </a:p>
          <a:p>
            <a:r>
              <a:rPr lang="en-US" dirty="0">
                <a:latin typeface="Casper"/>
                <a:cs typeface="Segoe UI"/>
              </a:rPr>
              <a:t>Email: communicationskills.uilah@gmail.com</a:t>
            </a:r>
          </a:p>
        </p:txBody>
      </p:sp>
    </p:spTree>
    <p:extLst>
      <p:ext uri="{BB962C8B-B14F-4D97-AF65-F5344CB8AC3E}">
        <p14:creationId xmlns:p14="http://schemas.microsoft.com/office/powerpoint/2010/main" val="246629089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729</TotalTime>
  <Words>1589</Words>
  <Application>Microsoft Office PowerPoint</Application>
  <PresentationFormat>Widescreen</PresentationFormat>
  <Paragraphs>228</Paragraphs>
  <Slides>28</Slides>
  <Notes>2</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28</vt:i4>
      </vt:variant>
    </vt:vector>
  </HeadingPairs>
  <TitlesOfParts>
    <vt:vector size="39" baseType="lpstr">
      <vt:lpstr>Arial</vt:lpstr>
      <vt:lpstr>Arial Black</vt:lpstr>
      <vt:lpstr>Calibri</vt:lpstr>
      <vt:lpstr>Calibri Light</vt:lpstr>
      <vt:lpstr>Casper</vt:lpstr>
      <vt:lpstr>Karla</vt:lpstr>
      <vt:lpstr>Raleway ExtraBold</vt:lpstr>
      <vt:lpstr>Times New Roman</vt:lpstr>
      <vt:lpstr>1_Office Theme</vt:lpstr>
      <vt:lpstr>Contents Slide Master</vt:lpstr>
      <vt:lpstr>CorelDRAW</vt:lpstr>
      <vt:lpstr>PowerPoint Presentation</vt:lpstr>
      <vt:lpstr>COURSE OBJECTIVES </vt:lpstr>
      <vt:lpstr>COURSE OUTCOMES</vt:lpstr>
      <vt:lpstr> WHAT IS A PARAGRAPH? </vt:lpstr>
      <vt:lpstr>A PARAGRAPH</vt:lpstr>
      <vt:lpstr>COMPONENTS OF A PARAGRAPH</vt:lpstr>
      <vt:lpstr>THE TOPIC SENTENCE</vt:lpstr>
      <vt:lpstr>    SUPPORTING DETAILS </vt:lpstr>
      <vt:lpstr>CLOSING SENTENCE</vt:lpstr>
      <vt:lpstr>             POLL QUESTION 1</vt:lpstr>
      <vt:lpstr>         ESSENTIAL ELEMENTS</vt:lpstr>
      <vt:lpstr> UNITY </vt:lpstr>
      <vt:lpstr>                COHERENCE</vt:lpstr>
      <vt:lpstr>            POLL QUESTION 2</vt:lpstr>
      <vt:lpstr>ORDER</vt:lpstr>
      <vt:lpstr>COMPLETENESS</vt:lpstr>
      <vt:lpstr>TRANSITION WORDS</vt:lpstr>
      <vt:lpstr>            POLL QUESTION 3</vt:lpstr>
      <vt:lpstr>SAMPLE</vt:lpstr>
      <vt:lpstr>QUIZ</vt:lpstr>
      <vt:lpstr>                       QUIZ</vt:lpstr>
      <vt:lpstr>PRACTICE SET</vt:lpstr>
      <vt:lpstr>           DETAILED ANSWER</vt:lpstr>
      <vt:lpstr> TRY THEM</vt:lpstr>
      <vt:lpstr> APPLICATIONS</vt:lpstr>
      <vt:lpstr>Assessment Pattern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Vishal Monga</cp:lastModifiedBy>
  <cp:revision>113</cp:revision>
  <dcterms:created xsi:type="dcterms:W3CDTF">2019-01-09T10:33:58Z</dcterms:created>
  <dcterms:modified xsi:type="dcterms:W3CDTF">2023-07-05T08:32:09Z</dcterms:modified>
</cp:coreProperties>
</file>