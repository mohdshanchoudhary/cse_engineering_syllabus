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4" r:id="rId1"/>
  </p:sldMasterIdLst>
  <p:notesMasterIdLst>
    <p:notesMasterId r:id="rId35"/>
  </p:notesMasterIdLst>
  <p:sldIdLst>
    <p:sldId id="311" r:id="rId2"/>
    <p:sldId id="429" r:id="rId3"/>
    <p:sldId id="430" r:id="rId4"/>
    <p:sldId id="259" r:id="rId5"/>
    <p:sldId id="341" r:id="rId6"/>
    <p:sldId id="342" r:id="rId7"/>
    <p:sldId id="288" r:id="rId8"/>
    <p:sldId id="330" r:id="rId9"/>
    <p:sldId id="315" r:id="rId10"/>
    <p:sldId id="316" r:id="rId11"/>
    <p:sldId id="337" r:id="rId12"/>
    <p:sldId id="317" r:id="rId13"/>
    <p:sldId id="338" r:id="rId14"/>
    <p:sldId id="319" r:id="rId15"/>
    <p:sldId id="320" r:id="rId16"/>
    <p:sldId id="346" r:id="rId17"/>
    <p:sldId id="347" r:id="rId18"/>
    <p:sldId id="331" r:id="rId19"/>
    <p:sldId id="343" r:id="rId20"/>
    <p:sldId id="423" r:id="rId21"/>
    <p:sldId id="344" r:id="rId22"/>
    <p:sldId id="345" r:id="rId23"/>
    <p:sldId id="321" r:id="rId24"/>
    <p:sldId id="322" r:id="rId25"/>
    <p:sldId id="339" r:id="rId26"/>
    <p:sldId id="333" r:id="rId27"/>
    <p:sldId id="334" r:id="rId28"/>
    <p:sldId id="335" r:id="rId29"/>
    <p:sldId id="336" r:id="rId30"/>
    <p:sldId id="303" r:id="rId31"/>
    <p:sldId id="332" r:id="rId32"/>
    <p:sldId id="301" r:id="rId33"/>
    <p:sldId id="340"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834"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4A5290F-626A-4F59-9A7A-33F865145623}"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691339E2-3648-4B0E-ABA5-E029929806E3}">
      <dgm:prSet custT="1"/>
      <dgm:spPr/>
      <dgm:t>
        <a:bodyPr/>
        <a:lstStyle/>
        <a:p>
          <a:pPr rtl="0"/>
          <a:r>
            <a:rPr lang="en-US" sz="2800" dirty="0">
              <a:latin typeface="Arial"/>
              <a:cs typeface="Arial"/>
            </a:rPr>
            <a:t>It is a reading that targets understanding</a:t>
          </a:r>
          <a:r>
            <a:rPr lang="en-US" sz="3400" dirty="0">
              <a:latin typeface="Arial"/>
              <a:cs typeface="Arial"/>
            </a:rPr>
            <a:t>.</a:t>
          </a:r>
          <a:endParaRPr lang="en-US" sz="3400" b="0" i="0" u="none" strike="noStrike" cap="none" baseline="0" noProof="0" dirty="0">
            <a:solidFill>
              <a:srgbClr val="010000"/>
            </a:solidFill>
            <a:latin typeface="Arial"/>
            <a:cs typeface="Arial"/>
          </a:endParaRPr>
        </a:p>
      </dgm:t>
    </dgm:pt>
    <dgm:pt modelId="{121A7F4B-6A3F-4056-A2C9-F6B66EDDDEE4}" type="parTrans" cxnId="{D834A900-D44D-4365-849C-C5A79D0010F3}">
      <dgm:prSet/>
      <dgm:spPr/>
      <dgm:t>
        <a:bodyPr/>
        <a:lstStyle/>
        <a:p>
          <a:endParaRPr lang="en-US"/>
        </a:p>
      </dgm:t>
    </dgm:pt>
    <dgm:pt modelId="{80EE6F86-F094-4908-B8A1-A19E09F3AB23}" type="sibTrans" cxnId="{D834A900-D44D-4365-849C-C5A79D0010F3}">
      <dgm:prSet/>
      <dgm:spPr/>
      <dgm:t>
        <a:bodyPr/>
        <a:lstStyle/>
        <a:p>
          <a:endParaRPr lang="en-US"/>
        </a:p>
      </dgm:t>
    </dgm:pt>
    <dgm:pt modelId="{4AE933D0-0484-46B9-8D4A-DF8E61C75018}">
      <dgm:prSet custT="1"/>
      <dgm:spPr/>
      <dgm:t>
        <a:bodyPr/>
        <a:lstStyle/>
        <a:p>
          <a:pPr rtl="0"/>
          <a:r>
            <a:rPr lang="en-US" sz="2800" dirty="0">
              <a:latin typeface="Arial"/>
              <a:cs typeface="Arial"/>
            </a:rPr>
            <a:t>It is reading that pivots catching the central idea</a:t>
          </a:r>
          <a:r>
            <a:rPr lang="en-US" sz="3400" dirty="0">
              <a:latin typeface="Arial"/>
              <a:cs typeface="Arial"/>
            </a:rPr>
            <a:t>.</a:t>
          </a:r>
        </a:p>
      </dgm:t>
    </dgm:pt>
    <dgm:pt modelId="{B7E0AAAF-B580-4C12-BE2A-FE9F9A2D6227}" type="parTrans" cxnId="{63A9C58F-2221-4F7B-93C2-847ECC4CCAA6}">
      <dgm:prSet/>
      <dgm:spPr/>
      <dgm:t>
        <a:bodyPr/>
        <a:lstStyle/>
        <a:p>
          <a:endParaRPr lang="en-US"/>
        </a:p>
      </dgm:t>
    </dgm:pt>
    <dgm:pt modelId="{72142B53-F4DF-4235-B2FF-31644E07A3E0}" type="sibTrans" cxnId="{63A9C58F-2221-4F7B-93C2-847ECC4CCAA6}">
      <dgm:prSet/>
      <dgm:spPr/>
      <dgm:t>
        <a:bodyPr/>
        <a:lstStyle/>
        <a:p>
          <a:endParaRPr lang="en-US"/>
        </a:p>
      </dgm:t>
    </dgm:pt>
    <dgm:pt modelId="{767CC8F2-F0B7-4774-8A52-3740340FD88A}">
      <dgm:prSet custT="1"/>
      <dgm:spPr/>
      <dgm:t>
        <a:bodyPr/>
        <a:lstStyle/>
        <a:p>
          <a:pPr rtl="0"/>
          <a:r>
            <a:rPr lang="en-US" sz="2800" dirty="0">
              <a:latin typeface="Arial"/>
              <a:cs typeface="Arial"/>
            </a:rPr>
            <a:t>It includes learning beyond what is stated.</a:t>
          </a:r>
        </a:p>
      </dgm:t>
    </dgm:pt>
    <dgm:pt modelId="{25204914-FE3C-42A1-BB47-AC59C020C8B2}" type="parTrans" cxnId="{249E804F-F8BB-4D1B-94A3-0E8C6C62BE18}">
      <dgm:prSet/>
      <dgm:spPr/>
      <dgm:t>
        <a:bodyPr/>
        <a:lstStyle/>
        <a:p>
          <a:endParaRPr lang="en-US"/>
        </a:p>
      </dgm:t>
    </dgm:pt>
    <dgm:pt modelId="{3CC7D26F-365A-417A-B09F-368DA584D09B}" type="sibTrans" cxnId="{249E804F-F8BB-4D1B-94A3-0E8C6C62BE18}">
      <dgm:prSet/>
      <dgm:spPr/>
      <dgm:t>
        <a:bodyPr/>
        <a:lstStyle/>
        <a:p>
          <a:endParaRPr lang="en-US"/>
        </a:p>
      </dgm:t>
    </dgm:pt>
    <dgm:pt modelId="{816286F2-E189-4F84-8423-A71225E7F6D5}" type="pres">
      <dgm:prSet presAssocID="{14A5290F-626A-4F59-9A7A-33F865145623}" presName="linear" presStyleCnt="0">
        <dgm:presLayoutVars>
          <dgm:animLvl val="lvl"/>
          <dgm:resizeHandles val="exact"/>
        </dgm:presLayoutVars>
      </dgm:prSet>
      <dgm:spPr/>
    </dgm:pt>
    <dgm:pt modelId="{B7621603-B30A-4C49-9BC0-845F885125DC}" type="pres">
      <dgm:prSet presAssocID="{691339E2-3648-4B0E-ABA5-E029929806E3}" presName="parentText" presStyleLbl="node1" presStyleIdx="0" presStyleCnt="3">
        <dgm:presLayoutVars>
          <dgm:chMax val="0"/>
          <dgm:bulletEnabled val="1"/>
        </dgm:presLayoutVars>
      </dgm:prSet>
      <dgm:spPr/>
    </dgm:pt>
    <dgm:pt modelId="{64767295-FAD8-4687-B31B-FCFAC7F530D6}" type="pres">
      <dgm:prSet presAssocID="{80EE6F86-F094-4908-B8A1-A19E09F3AB23}" presName="spacer" presStyleCnt="0"/>
      <dgm:spPr/>
    </dgm:pt>
    <dgm:pt modelId="{18F06660-0247-4ADB-A868-B438B9EF8EB3}" type="pres">
      <dgm:prSet presAssocID="{4AE933D0-0484-46B9-8D4A-DF8E61C75018}" presName="parentText" presStyleLbl="node1" presStyleIdx="1" presStyleCnt="3" custLinFactNeighborY="-21969">
        <dgm:presLayoutVars>
          <dgm:chMax val="0"/>
          <dgm:bulletEnabled val="1"/>
        </dgm:presLayoutVars>
      </dgm:prSet>
      <dgm:spPr/>
    </dgm:pt>
    <dgm:pt modelId="{B80AB392-4C8B-406A-A524-F35B4BC407A4}" type="pres">
      <dgm:prSet presAssocID="{72142B53-F4DF-4235-B2FF-31644E07A3E0}" presName="spacer" presStyleCnt="0"/>
      <dgm:spPr/>
    </dgm:pt>
    <dgm:pt modelId="{12B2E6D2-D866-49C5-A615-DED2FDB341EA}" type="pres">
      <dgm:prSet presAssocID="{767CC8F2-F0B7-4774-8A52-3740340FD88A}" presName="parentText" presStyleLbl="node1" presStyleIdx="2" presStyleCnt="3">
        <dgm:presLayoutVars>
          <dgm:chMax val="0"/>
          <dgm:bulletEnabled val="1"/>
        </dgm:presLayoutVars>
      </dgm:prSet>
      <dgm:spPr/>
    </dgm:pt>
  </dgm:ptLst>
  <dgm:cxnLst>
    <dgm:cxn modelId="{D834A900-D44D-4365-849C-C5A79D0010F3}" srcId="{14A5290F-626A-4F59-9A7A-33F865145623}" destId="{691339E2-3648-4B0E-ABA5-E029929806E3}" srcOrd="0" destOrd="0" parTransId="{121A7F4B-6A3F-4056-A2C9-F6B66EDDDEE4}" sibTransId="{80EE6F86-F094-4908-B8A1-A19E09F3AB23}"/>
    <dgm:cxn modelId="{323C9364-99ED-4F65-B7B7-33972C421787}" type="presOf" srcId="{691339E2-3648-4B0E-ABA5-E029929806E3}" destId="{B7621603-B30A-4C49-9BC0-845F885125DC}" srcOrd="0" destOrd="0" presId="urn:microsoft.com/office/officeart/2005/8/layout/vList2"/>
    <dgm:cxn modelId="{249E804F-F8BB-4D1B-94A3-0E8C6C62BE18}" srcId="{14A5290F-626A-4F59-9A7A-33F865145623}" destId="{767CC8F2-F0B7-4774-8A52-3740340FD88A}" srcOrd="2" destOrd="0" parTransId="{25204914-FE3C-42A1-BB47-AC59C020C8B2}" sibTransId="{3CC7D26F-365A-417A-B09F-368DA584D09B}"/>
    <dgm:cxn modelId="{AAE2E579-C1B6-4250-8E73-7B52C174A1A2}" type="presOf" srcId="{767CC8F2-F0B7-4774-8A52-3740340FD88A}" destId="{12B2E6D2-D866-49C5-A615-DED2FDB341EA}" srcOrd="0" destOrd="0" presId="urn:microsoft.com/office/officeart/2005/8/layout/vList2"/>
    <dgm:cxn modelId="{63A9C58F-2221-4F7B-93C2-847ECC4CCAA6}" srcId="{14A5290F-626A-4F59-9A7A-33F865145623}" destId="{4AE933D0-0484-46B9-8D4A-DF8E61C75018}" srcOrd="1" destOrd="0" parTransId="{B7E0AAAF-B580-4C12-BE2A-FE9F9A2D6227}" sibTransId="{72142B53-F4DF-4235-B2FF-31644E07A3E0}"/>
    <dgm:cxn modelId="{730758B4-9213-4166-938A-7B5CD4699418}" type="presOf" srcId="{14A5290F-626A-4F59-9A7A-33F865145623}" destId="{816286F2-E189-4F84-8423-A71225E7F6D5}" srcOrd="0" destOrd="0" presId="urn:microsoft.com/office/officeart/2005/8/layout/vList2"/>
    <dgm:cxn modelId="{B7BCD0B7-0691-410E-9379-201F23D0E7FD}" type="presOf" srcId="{4AE933D0-0484-46B9-8D4A-DF8E61C75018}" destId="{18F06660-0247-4ADB-A868-B438B9EF8EB3}" srcOrd="0" destOrd="0" presId="urn:microsoft.com/office/officeart/2005/8/layout/vList2"/>
    <dgm:cxn modelId="{8EE704D9-0A17-4F52-A1D9-0EC0686A3B6F}" type="presParOf" srcId="{816286F2-E189-4F84-8423-A71225E7F6D5}" destId="{B7621603-B30A-4C49-9BC0-845F885125DC}" srcOrd="0" destOrd="0" presId="urn:microsoft.com/office/officeart/2005/8/layout/vList2"/>
    <dgm:cxn modelId="{83A2B7CC-5F75-4378-882B-3CD9EEB73CB7}" type="presParOf" srcId="{816286F2-E189-4F84-8423-A71225E7F6D5}" destId="{64767295-FAD8-4687-B31B-FCFAC7F530D6}" srcOrd="1" destOrd="0" presId="urn:microsoft.com/office/officeart/2005/8/layout/vList2"/>
    <dgm:cxn modelId="{F892D680-EDB4-4AFE-A0B5-59A65CAF9978}" type="presParOf" srcId="{816286F2-E189-4F84-8423-A71225E7F6D5}" destId="{18F06660-0247-4ADB-A868-B438B9EF8EB3}" srcOrd="2" destOrd="0" presId="urn:microsoft.com/office/officeart/2005/8/layout/vList2"/>
    <dgm:cxn modelId="{CC3006F5-338F-4DF6-B17B-5DBE584D038B}" type="presParOf" srcId="{816286F2-E189-4F84-8423-A71225E7F6D5}" destId="{B80AB392-4C8B-406A-A524-F35B4BC407A4}" srcOrd="3" destOrd="0" presId="urn:microsoft.com/office/officeart/2005/8/layout/vList2"/>
    <dgm:cxn modelId="{0C36FB0D-192E-471C-B247-78DA8A2990E7}" type="presParOf" srcId="{816286F2-E189-4F84-8423-A71225E7F6D5}" destId="{12B2E6D2-D866-49C5-A615-DED2FDB341EA}"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621603-B30A-4C49-9BC0-845F885125DC}">
      <dsp:nvSpPr>
        <dsp:cNvPr id="0" name=""/>
        <dsp:cNvSpPr/>
      </dsp:nvSpPr>
      <dsp:spPr>
        <a:xfrm>
          <a:off x="0" y="407683"/>
          <a:ext cx="5253486" cy="12168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rtl="0">
            <a:lnSpc>
              <a:spcPct val="90000"/>
            </a:lnSpc>
            <a:spcBef>
              <a:spcPct val="0"/>
            </a:spcBef>
            <a:spcAft>
              <a:spcPct val="35000"/>
            </a:spcAft>
            <a:buNone/>
          </a:pPr>
          <a:r>
            <a:rPr lang="en-US" sz="2800" kern="1200" dirty="0">
              <a:latin typeface="Arial"/>
              <a:cs typeface="Arial"/>
            </a:rPr>
            <a:t>It is a reading that targets understanding</a:t>
          </a:r>
          <a:r>
            <a:rPr lang="en-US" sz="3400" kern="1200" dirty="0">
              <a:latin typeface="Arial"/>
              <a:cs typeface="Arial"/>
            </a:rPr>
            <a:t>.</a:t>
          </a:r>
          <a:endParaRPr lang="en-US" sz="3400" b="0" i="0" u="none" strike="noStrike" kern="1200" cap="none" baseline="0" noProof="0" dirty="0">
            <a:solidFill>
              <a:srgbClr val="010000"/>
            </a:solidFill>
            <a:latin typeface="Arial"/>
            <a:cs typeface="Arial"/>
          </a:endParaRPr>
        </a:p>
      </dsp:txBody>
      <dsp:txXfrm>
        <a:off x="59399" y="467082"/>
        <a:ext cx="5134688" cy="1098002"/>
      </dsp:txXfrm>
    </dsp:sp>
    <dsp:sp modelId="{18F06660-0247-4ADB-A868-B438B9EF8EB3}">
      <dsp:nvSpPr>
        <dsp:cNvPr id="0" name=""/>
        <dsp:cNvSpPr/>
      </dsp:nvSpPr>
      <dsp:spPr>
        <a:xfrm>
          <a:off x="0" y="1770558"/>
          <a:ext cx="5253486" cy="12168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rtl="0">
            <a:lnSpc>
              <a:spcPct val="90000"/>
            </a:lnSpc>
            <a:spcBef>
              <a:spcPct val="0"/>
            </a:spcBef>
            <a:spcAft>
              <a:spcPct val="35000"/>
            </a:spcAft>
            <a:buNone/>
          </a:pPr>
          <a:r>
            <a:rPr lang="en-US" sz="2800" kern="1200" dirty="0">
              <a:latin typeface="Arial"/>
              <a:cs typeface="Arial"/>
            </a:rPr>
            <a:t>It is reading that pivots catching the central idea</a:t>
          </a:r>
          <a:r>
            <a:rPr lang="en-US" sz="3400" kern="1200" dirty="0">
              <a:latin typeface="Arial"/>
              <a:cs typeface="Arial"/>
            </a:rPr>
            <a:t>.</a:t>
          </a:r>
        </a:p>
      </dsp:txBody>
      <dsp:txXfrm>
        <a:off x="59399" y="1829957"/>
        <a:ext cx="5134688" cy="1098002"/>
      </dsp:txXfrm>
    </dsp:sp>
    <dsp:sp modelId="{12B2E6D2-D866-49C5-A615-DED2FDB341EA}">
      <dsp:nvSpPr>
        <dsp:cNvPr id="0" name=""/>
        <dsp:cNvSpPr/>
      </dsp:nvSpPr>
      <dsp:spPr>
        <a:xfrm>
          <a:off x="0" y="3215684"/>
          <a:ext cx="5253486" cy="12168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rtl="0">
            <a:lnSpc>
              <a:spcPct val="90000"/>
            </a:lnSpc>
            <a:spcBef>
              <a:spcPct val="0"/>
            </a:spcBef>
            <a:spcAft>
              <a:spcPct val="35000"/>
            </a:spcAft>
            <a:buNone/>
          </a:pPr>
          <a:r>
            <a:rPr lang="en-US" sz="2800" kern="1200" dirty="0">
              <a:latin typeface="Arial"/>
              <a:cs typeface="Arial"/>
            </a:rPr>
            <a:t>It includes learning beyond what is stated.</a:t>
          </a:r>
        </a:p>
      </dsp:txBody>
      <dsp:txXfrm>
        <a:off x="59399" y="3275083"/>
        <a:ext cx="5134688" cy="109800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D86BE7B-7ADB-4966-8376-4C007EACAAFD}" type="datetimeFigureOut">
              <a:rPr lang="en-US" smtClean="0"/>
              <a:pPr/>
              <a:t>7/5/2023</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4DD695D-7AAB-43E7-90EB-1CDFA6E72D95}"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a:t>B</a:t>
            </a:r>
            <a:endParaRPr lang="en-US" dirty="0"/>
          </a:p>
        </p:txBody>
      </p:sp>
      <p:sp>
        <p:nvSpPr>
          <p:cNvPr id="4" name="Slide Number Placeholder 3"/>
          <p:cNvSpPr>
            <a:spLocks noGrp="1"/>
          </p:cNvSpPr>
          <p:nvPr>
            <p:ph type="sldNum" sz="quarter" idx="10"/>
          </p:nvPr>
        </p:nvSpPr>
        <p:spPr/>
        <p:txBody>
          <a:bodyPr/>
          <a:lstStyle/>
          <a:p>
            <a:fld id="{14DD695D-7AAB-43E7-90EB-1CDFA6E72D95}" type="slidenum">
              <a:rPr lang="en-US" smtClean="0"/>
              <a:pPr/>
              <a:t>27</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a:t>c</a:t>
            </a:r>
            <a:endParaRPr lang="en-US" dirty="0"/>
          </a:p>
        </p:txBody>
      </p:sp>
      <p:sp>
        <p:nvSpPr>
          <p:cNvPr id="4" name="Slide Number Placeholder 3"/>
          <p:cNvSpPr>
            <a:spLocks noGrp="1"/>
          </p:cNvSpPr>
          <p:nvPr>
            <p:ph type="sldNum" sz="quarter" idx="10"/>
          </p:nvPr>
        </p:nvSpPr>
        <p:spPr/>
        <p:txBody>
          <a:bodyPr/>
          <a:lstStyle/>
          <a:p>
            <a:fld id="{14DD695D-7AAB-43E7-90EB-1CDFA6E72D95}" type="slidenum">
              <a:rPr lang="en-US" smtClean="0"/>
              <a:pPr/>
              <a:t>28</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a:t>c</a:t>
            </a:r>
            <a:endParaRPr lang="en-US" dirty="0"/>
          </a:p>
        </p:txBody>
      </p:sp>
      <p:sp>
        <p:nvSpPr>
          <p:cNvPr id="4" name="Slide Number Placeholder 3"/>
          <p:cNvSpPr>
            <a:spLocks noGrp="1"/>
          </p:cNvSpPr>
          <p:nvPr>
            <p:ph type="sldNum" sz="quarter" idx="10"/>
          </p:nvPr>
        </p:nvSpPr>
        <p:spPr/>
        <p:txBody>
          <a:bodyPr/>
          <a:lstStyle/>
          <a:p>
            <a:fld id="{14DD695D-7AAB-43E7-90EB-1CDFA6E72D95}" type="slidenum">
              <a:rPr lang="en-US" smtClean="0"/>
              <a:pPr/>
              <a:t>29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7/5/2023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a:p>
        </p:txBody>
      </p:sp>
    </p:spTree>
    <p:extLst>
      <p:ext uri="{BB962C8B-B14F-4D97-AF65-F5344CB8AC3E}">
        <p14:creationId xmlns:p14="http://schemas.microsoft.com/office/powerpoint/2010/main" val="3974081683"/>
      </p:ext>
    </p:extLst>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7/5/2023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8"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60" r:id="rId25"/>
    <p:sldLayoutId id="2147483701" r:id="rId2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6.png"/><Relationship Id="rId1" Type="http://schemas.openxmlformats.org/officeDocument/2006/relationships/slideLayout" Target="../slideLayouts/slideLayout1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www.creativeteaching.com/products/reading-comprehension-ebook" TargetMode="External"/><Relationship Id="rId2" Type="http://schemas.openxmlformats.org/officeDocument/2006/relationships/hyperlink" Target="https://www.ets.org/gre/revised_general/prepare/verbal_reasoning/reading_comprehension/"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2.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1600193726"/>
              </p:ext>
            </p:extLst>
          </p:nvPr>
        </p:nvGraphicFramePr>
        <p:xfrm>
          <a:off x="76788" y="2834174"/>
          <a:ext cx="3303056" cy="3291831"/>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1"/>
                      <p:cNvPicPr>
                        <a:picLocks noChangeAspect="1" noChangeArrowheads="1"/>
                      </p:cNvPicPr>
                      <p:nvPr/>
                    </p:nvPicPr>
                    <p:blipFill>
                      <a:blip r:embed="rId3">
                        <a:lum bright="76000"/>
                        <a:extLst>
                          <a:ext uri="{28A0092B-C50C-407E-A947-70E740481C1C}">
                            <a14:useLocalDpi xmlns:a14="http://schemas.microsoft.com/office/drawing/2010/main" val="0"/>
                          </a:ext>
                        </a:extLst>
                      </a:blip>
                      <a:srcRect/>
                      <a:stretch>
                        <a:fillRect/>
                      </a:stretch>
                    </p:blipFill>
                    <p:spPr bwMode="auto">
                      <a:xfrm>
                        <a:off x="76788" y="2834174"/>
                        <a:ext cx="3303056" cy="329183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4" cstate="print">
            <a:extLst>
              <a:ext uri="{BEBA8EAE-BF5A-486C-A8C5-ECC9F3942E4B}">
                <a14:imgProps xmlns:a14="http://schemas.microsoft.com/office/drawing/2010/main">
                  <a14:imgLayer r:embed="rId5">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2273" y="-4253"/>
            <a:ext cx="3960394" cy="1567008"/>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a:solidFill>
                  <a:srgbClr val="C00000"/>
                </a:solidFill>
                <a:latin typeface="Casper" panose="02000506000000020004" pitchFamily="2" charset="0"/>
                <a:ea typeface="Karla" pitchFamily="2" charset="0"/>
                <a:cs typeface="Karla" pitchFamily="2" charset="0"/>
              </a:rPr>
              <a:t>LEARN</a:t>
            </a:r>
            <a:r>
              <a:rPr lang="en-US" sz="2000" b="1">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a:solidFill>
                <a:prstClr val="black"/>
              </a:solidFill>
              <a:latin typeface="Casper" panose="02000506000000020004" pitchFamily="2" charset="0"/>
            </a:endParaRPr>
          </a:p>
          <a:p>
            <a:pPr eaLnBrk="1" hangingPunct="1"/>
            <a:endParaRPr lang="en-US" sz="1600" b="1">
              <a:latin typeface="Casper" panose="02000506000000020004" pitchFamily="2" charset="0"/>
            </a:endParaRPr>
          </a:p>
        </p:txBody>
      </p:sp>
      <p:sp>
        <p:nvSpPr>
          <p:cNvPr id="52" name="Rectangle 51"/>
          <p:cNvSpPr/>
          <p:nvPr/>
        </p:nvSpPr>
        <p:spPr>
          <a:xfrm>
            <a:off x="655050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259654" y="6014156"/>
            <a:ext cx="5713176"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endParaRPr lang="en-US" sz="2400" b="1">
              <a:latin typeface="Times New Roman"/>
              <a:cs typeface="Times New Roman"/>
            </a:endParaRPr>
          </a:p>
          <a:p>
            <a:pPr eaLnBrk="1" hangingPunct="1"/>
            <a:endParaRPr lang="en-US" sz="1600">
              <a:latin typeface="Raleway ExtraBold" pitchFamily="34" charset="-52"/>
            </a:endParaRPr>
          </a:p>
        </p:txBody>
      </p:sp>
      <p:sp>
        <p:nvSpPr>
          <p:cNvPr id="2" name="TextBox 1"/>
          <p:cNvSpPr txBox="1"/>
          <p:nvPr/>
        </p:nvSpPr>
        <p:spPr>
          <a:xfrm>
            <a:off x="1269555" y="6109653"/>
            <a:ext cx="1830785" cy="369332"/>
          </a:xfrm>
          <a:prstGeom prst="rect">
            <a:avLst/>
          </a:prstGeom>
          <a:noFill/>
        </p:spPr>
        <p:txBody>
          <a:bodyPr wrap="square" rtlCol="0" anchor="t">
            <a:spAutoFit/>
          </a:bodyPr>
          <a:lstStyle/>
          <a:p>
            <a:endParaRPr lang="en-US"/>
          </a:p>
        </p:txBody>
      </p:sp>
      <p:sp>
        <p:nvSpPr>
          <p:cNvPr id="26" name="TextBox 25"/>
          <p:cNvSpPr txBox="1">
            <a:spLocks noChangeArrowheads="1"/>
          </p:cNvSpPr>
          <p:nvPr/>
        </p:nvSpPr>
        <p:spPr bwMode="auto">
          <a:xfrm>
            <a:off x="1603034" y="1703352"/>
            <a:ext cx="9464040" cy="293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4400" b="1" dirty="0">
                <a:latin typeface="Arial Black"/>
                <a:ea typeface="Karla" pitchFamily="2" charset="0"/>
                <a:cs typeface="Karla" pitchFamily="2" charset="0"/>
              </a:rPr>
              <a:t>University Institute of Liberal Arts and Humanities</a:t>
            </a:r>
          </a:p>
          <a:p>
            <a:pPr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Course Name – Communication Skills</a:t>
            </a:r>
          </a:p>
          <a:p>
            <a:pPr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Course Code – : 23PCH-105</a:t>
            </a:r>
          </a:p>
          <a:p>
            <a:pPr defTabSz="622300"/>
            <a:r>
              <a:rPr lang="en-US" sz="2000" dirty="0">
                <a:solidFill>
                  <a:srgbClr val="000000"/>
                </a:solidFill>
                <a:latin typeface="Times New Roman" panose="02020603050405020304" pitchFamily="18" charset="0"/>
                <a:cs typeface="Times New Roman" panose="02020603050405020304" pitchFamily="18" charset="0"/>
              </a:rPr>
              <a:t>	</a:t>
            </a:r>
          </a:p>
        </p:txBody>
      </p:sp>
      <p:sp>
        <p:nvSpPr>
          <p:cNvPr id="3" name="TextBox 2">
            <a:extLst>
              <a:ext uri="{FF2B5EF4-FFF2-40B4-BE49-F238E27FC236}">
                <a16:creationId xmlns:a16="http://schemas.microsoft.com/office/drawing/2014/main" id="{3969443E-5B9A-4481-B6E4-21D332D2D075}"/>
              </a:ext>
            </a:extLst>
          </p:cNvPr>
          <p:cNvSpPr txBox="1"/>
          <p:nvPr/>
        </p:nvSpPr>
        <p:spPr>
          <a:xfrm>
            <a:off x="463809" y="5923129"/>
            <a:ext cx="528189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r>
              <a:rPr lang="en-US" sz="2800" b="1" dirty="0">
                <a:solidFill>
                  <a:prstClr val="black">
                    <a:lumMod val="85000"/>
                    <a:lumOff val="15000"/>
                  </a:prstClr>
                </a:solidFill>
                <a:latin typeface="Times New Roman" panose="02020603050405020304" pitchFamily="18" charset="0"/>
                <a:cs typeface="Times New Roman" panose="02020603050405020304" pitchFamily="18" charset="0"/>
              </a:rPr>
              <a:t>READING COMPREHENSION</a:t>
            </a:r>
          </a:p>
        </p:txBody>
      </p:sp>
    </p:spTree>
    <p:extLst>
      <p:ext uri="{BB962C8B-B14F-4D97-AF65-F5344CB8AC3E}">
        <p14:creationId xmlns:p14="http://schemas.microsoft.com/office/powerpoint/2010/main" val="4152714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2</a:t>
            </a:fld>
            <a:endParaRPr lang="en-US" dirty="0"/>
          </a:p>
        </p:txBody>
      </p:sp>
      <p:sp>
        <p:nvSpPr>
          <p:cNvPr id="8" name="Title 7"/>
          <p:cNvSpPr txBox="1">
            <a:spLocks noGrp="1" noChangeArrowheads="1"/>
          </p:cNvSpPr>
          <p:nvPr>
            <p:ph type="title"/>
          </p:nvPr>
        </p:nvSpPr>
        <p:spPr bwMode="auto">
          <a:xfrm>
            <a:off x="2169205" y="613035"/>
            <a:ext cx="781081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Arial Black" pitchFamily="34" charset="0"/>
                <a:ea typeface="Karla" pitchFamily="2" charset="0"/>
                <a:cs typeface="Karla" pitchFamily="2" charset="0"/>
              </a:rPr>
              <a:t>COURSE OBJECTIVES</a:t>
            </a:r>
            <a:br>
              <a:rPr lang="en-US" sz="2000" b="1" dirty="0">
                <a:latin typeface="Karla" pitchFamily="2" charset="0"/>
                <a:ea typeface="Karla" pitchFamily="2" charset="0"/>
                <a:cs typeface="Karla" pitchFamily="2" charset="0"/>
              </a:rPr>
            </a:br>
            <a:endParaRPr lang="en-US" sz="1600" dirty="0">
              <a:latin typeface="Raleway ExtraBold" pitchFamily="34" charset="-52"/>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able 5"/>
          <p:cNvGraphicFramePr>
            <a:graphicFrameLocks noGrp="1"/>
          </p:cNvGraphicFramePr>
          <p:nvPr/>
        </p:nvGraphicFramePr>
        <p:xfrm>
          <a:off x="660698" y="2285999"/>
          <a:ext cx="10708342" cy="3892733"/>
        </p:xfrm>
        <a:graphic>
          <a:graphicData uri="http://schemas.openxmlformats.org/drawingml/2006/table">
            <a:tbl>
              <a:tblPr firstRow="1" firstCol="1" bandRow="1">
                <a:tableStyleId>{5940675A-B579-460E-94D1-54222C63F5DA}</a:tableStyleId>
              </a:tblPr>
              <a:tblGrid>
                <a:gridCol w="1413086">
                  <a:extLst>
                    <a:ext uri="{9D8B030D-6E8A-4147-A177-3AD203B41FA5}">
                      <a16:colId xmlns:a16="http://schemas.microsoft.com/office/drawing/2014/main" val="20000"/>
                    </a:ext>
                  </a:extLst>
                </a:gridCol>
                <a:gridCol w="9295256">
                  <a:extLst>
                    <a:ext uri="{9D8B030D-6E8A-4147-A177-3AD203B41FA5}">
                      <a16:colId xmlns:a16="http://schemas.microsoft.com/office/drawing/2014/main" val="20001"/>
                    </a:ext>
                  </a:extLst>
                </a:gridCol>
              </a:tblGrid>
              <a:tr h="1689053">
                <a:tc>
                  <a:txBody>
                    <a:bodyPr/>
                    <a:lstStyle/>
                    <a:p>
                      <a:pPr marL="0" marR="0" algn="ctr">
                        <a:lnSpc>
                          <a:spcPct val="150000"/>
                        </a:lnSpc>
                        <a:spcBef>
                          <a:spcPts val="0"/>
                        </a:spcBef>
                        <a:spcAft>
                          <a:spcPts val="0"/>
                        </a:spcAft>
                      </a:pPr>
                      <a:r>
                        <a:rPr lang="en-US" sz="2400" b="0" dirty="0">
                          <a:solidFill>
                            <a:schemeClr val="tx1"/>
                          </a:solidFill>
                          <a:effectLst/>
                          <a:latin typeface="Arial" pitchFamily="34" charset="0"/>
                          <a:cs typeface="Arial" pitchFamily="34" charset="0"/>
                        </a:rPr>
                        <a:t>1</a:t>
                      </a:r>
                      <a:endParaRPr lang="en-US" sz="2400" b="0" dirty="0">
                        <a:solidFill>
                          <a:schemeClr val="tx1"/>
                        </a:solidFill>
                        <a:effectLst/>
                        <a:latin typeface="Arial" pitchFamily="34" charset="0"/>
                        <a:ea typeface="Times New Roman" panose="02020603050405020304" pitchFamily="18" charset="0"/>
                        <a:cs typeface="Arial" pitchFamily="34" charset="0"/>
                      </a:endParaRPr>
                    </a:p>
                  </a:txBody>
                  <a:tcPr marL="68580" marR="68580" marT="0" marB="0" anchor="ctr"/>
                </a:tc>
                <a:tc>
                  <a:txBody>
                    <a:bodyPr/>
                    <a:lstStyle/>
                    <a:p>
                      <a:pPr marL="0" marR="0">
                        <a:lnSpc>
                          <a:spcPct val="150000"/>
                        </a:lnSpc>
                        <a:spcBef>
                          <a:spcPts val="0"/>
                        </a:spcBef>
                        <a:spcAft>
                          <a:spcPts val="0"/>
                        </a:spcAft>
                      </a:pPr>
                      <a:r>
                        <a:rPr lang="en-US" sz="2400" b="0" kern="1200" dirty="0">
                          <a:solidFill>
                            <a:schemeClr val="tx1"/>
                          </a:solidFill>
                          <a:latin typeface="Arial" pitchFamily="34" charset="0"/>
                          <a:ea typeface="+mn-ea"/>
                          <a:cs typeface="Arial" pitchFamily="34" charset="0"/>
                        </a:rPr>
                        <a:t>Augment students overall communication and interpersonal skills by making them realize the importance of good oral and written English Language in professional life.</a:t>
                      </a:r>
                      <a:endParaRPr lang="en-US" sz="2400" b="0" dirty="0">
                        <a:solidFill>
                          <a:schemeClr val="tx1"/>
                        </a:solidFill>
                        <a:effectLst/>
                        <a:latin typeface="Arial" pitchFamily="34" charset="0"/>
                        <a:ea typeface="Times New Roman" panose="02020603050405020304" pitchFamily="18" charset="0"/>
                        <a:cs typeface="Arial" pitchFamily="34" charset="0"/>
                      </a:endParaRPr>
                    </a:p>
                  </a:txBody>
                  <a:tcPr marL="68580" marR="68580" marT="0" marB="0"/>
                </a:tc>
                <a:extLst>
                  <a:ext uri="{0D108BD9-81ED-4DB2-BD59-A6C34878D82A}">
                    <a16:rowId xmlns:a16="http://schemas.microsoft.com/office/drawing/2014/main" val="10000"/>
                  </a:ext>
                </a:extLst>
              </a:tr>
              <a:tr h="1101840">
                <a:tc>
                  <a:txBody>
                    <a:bodyPr/>
                    <a:lstStyle/>
                    <a:p>
                      <a:pPr marL="0" marR="0" algn="ctr">
                        <a:lnSpc>
                          <a:spcPct val="150000"/>
                        </a:lnSpc>
                        <a:spcBef>
                          <a:spcPts val="0"/>
                        </a:spcBef>
                        <a:spcAft>
                          <a:spcPts val="0"/>
                        </a:spcAft>
                      </a:pPr>
                      <a:r>
                        <a:rPr lang="en-US" sz="2400" b="0" dirty="0">
                          <a:solidFill>
                            <a:schemeClr val="tx1"/>
                          </a:solidFill>
                          <a:effectLst/>
                          <a:latin typeface="Arial" pitchFamily="34" charset="0"/>
                          <a:cs typeface="Arial" pitchFamily="34" charset="0"/>
                        </a:rPr>
                        <a:t>2</a:t>
                      </a:r>
                      <a:endParaRPr lang="en-US" sz="2400" b="0" dirty="0">
                        <a:solidFill>
                          <a:schemeClr val="tx1"/>
                        </a:solidFill>
                        <a:effectLst/>
                        <a:latin typeface="Arial" pitchFamily="34" charset="0"/>
                        <a:ea typeface="Times New Roman" panose="02020603050405020304" pitchFamily="18" charset="0"/>
                        <a:cs typeface="Arial" pitchFamily="34" charset="0"/>
                      </a:endParaRPr>
                    </a:p>
                  </a:txBody>
                  <a:tcPr marL="68580" marR="68580" marT="0" marB="0" anchor="ctr"/>
                </a:tc>
                <a:tc>
                  <a:txBody>
                    <a:bodyPr/>
                    <a:lstStyle/>
                    <a:p>
                      <a:pPr marL="0" marR="0">
                        <a:lnSpc>
                          <a:spcPct val="150000"/>
                        </a:lnSpc>
                        <a:spcBef>
                          <a:spcPts val="0"/>
                        </a:spcBef>
                        <a:spcAft>
                          <a:spcPts val="0"/>
                        </a:spcAft>
                      </a:pPr>
                      <a:r>
                        <a:rPr lang="en-US" sz="2400" b="0" kern="1200" dirty="0">
                          <a:solidFill>
                            <a:schemeClr val="tx1"/>
                          </a:solidFill>
                          <a:latin typeface="Arial" pitchFamily="34" charset="0"/>
                          <a:ea typeface="+mn-ea"/>
                          <a:cs typeface="Arial" pitchFamily="34" charset="0"/>
                        </a:rPr>
                        <a:t>Enrich their reading capability with special emphasis on expanding vocabulary and grammatical formations.</a:t>
                      </a:r>
                      <a:endParaRPr lang="en-US" sz="2400" b="0" dirty="0">
                        <a:solidFill>
                          <a:schemeClr val="tx1"/>
                        </a:solidFill>
                        <a:effectLst/>
                        <a:latin typeface="Arial" pitchFamily="34" charset="0"/>
                        <a:ea typeface="Times New Roman" panose="02020603050405020304" pitchFamily="18" charset="0"/>
                        <a:cs typeface="Arial" pitchFamily="34" charset="0"/>
                      </a:endParaRPr>
                    </a:p>
                  </a:txBody>
                  <a:tcPr marL="68580" marR="68580" marT="0" marB="0"/>
                </a:tc>
                <a:extLst>
                  <a:ext uri="{0D108BD9-81ED-4DB2-BD59-A6C34878D82A}">
                    <a16:rowId xmlns:a16="http://schemas.microsoft.com/office/drawing/2014/main" val="10001"/>
                  </a:ext>
                </a:extLst>
              </a:tr>
              <a:tr h="1101840">
                <a:tc>
                  <a:txBody>
                    <a:bodyPr/>
                    <a:lstStyle/>
                    <a:p>
                      <a:pPr marL="0" marR="0" algn="ctr">
                        <a:lnSpc>
                          <a:spcPct val="150000"/>
                        </a:lnSpc>
                        <a:spcBef>
                          <a:spcPts val="0"/>
                        </a:spcBef>
                        <a:spcAft>
                          <a:spcPts val="0"/>
                        </a:spcAft>
                      </a:pPr>
                      <a:r>
                        <a:rPr lang="en-US" sz="2400" b="0" dirty="0">
                          <a:solidFill>
                            <a:schemeClr val="tx1"/>
                          </a:solidFill>
                          <a:effectLst/>
                          <a:latin typeface="Arial" pitchFamily="34" charset="0"/>
                          <a:cs typeface="Arial" pitchFamily="34" charset="0"/>
                        </a:rPr>
                        <a:t>3</a:t>
                      </a:r>
                      <a:endParaRPr lang="en-US" sz="2400" b="0" dirty="0">
                        <a:solidFill>
                          <a:schemeClr val="tx1"/>
                        </a:solidFill>
                        <a:effectLst/>
                        <a:latin typeface="Arial" pitchFamily="34" charset="0"/>
                        <a:ea typeface="Times New Roman" panose="02020603050405020304" pitchFamily="18" charset="0"/>
                        <a:cs typeface="Arial" pitchFamily="34" charset="0"/>
                      </a:endParaRPr>
                    </a:p>
                  </a:txBody>
                  <a:tcPr marL="68580" marR="68580" marT="0" marB="0" anchor="ctr"/>
                </a:tc>
                <a:tc>
                  <a:txBody>
                    <a:bodyPr/>
                    <a:lstStyle/>
                    <a:p>
                      <a:pPr marL="0" marR="0">
                        <a:lnSpc>
                          <a:spcPct val="150000"/>
                        </a:lnSpc>
                        <a:spcBef>
                          <a:spcPts val="0"/>
                        </a:spcBef>
                        <a:spcAft>
                          <a:spcPts val="0"/>
                        </a:spcAft>
                      </a:pPr>
                      <a:r>
                        <a:rPr lang="en-US" sz="2400" b="0" kern="1200" dirty="0">
                          <a:solidFill>
                            <a:schemeClr val="tx1"/>
                          </a:solidFill>
                          <a:latin typeface="Arial" pitchFamily="34" charset="0"/>
                          <a:ea typeface="+mn-ea"/>
                          <a:cs typeface="Arial" pitchFamily="34" charset="0"/>
                        </a:rPr>
                        <a:t>Build exceptional reading and writing skills by correcting grammatical errors and pronunciation through practice.</a:t>
                      </a:r>
                      <a:endParaRPr lang="en-US" sz="2400" b="0" dirty="0">
                        <a:solidFill>
                          <a:schemeClr val="tx1"/>
                        </a:solidFill>
                        <a:effectLst/>
                        <a:latin typeface="Arial" pitchFamily="34" charset="0"/>
                        <a:ea typeface="Times New Roman" panose="02020603050405020304" pitchFamily="18" charset="0"/>
                        <a:cs typeface="Arial" pitchFamily="34" charset="0"/>
                      </a:endParaRPr>
                    </a:p>
                  </a:txBody>
                  <a:tcPr marL="68580" marR="68580" marT="0" marB="0"/>
                </a:tc>
                <a:extLst>
                  <a:ext uri="{0D108BD9-81ED-4DB2-BD59-A6C34878D82A}">
                    <a16:rowId xmlns:a16="http://schemas.microsoft.com/office/drawing/2014/main" val="10002"/>
                  </a:ext>
                </a:extLst>
              </a:tr>
            </a:tbl>
          </a:graphicData>
        </a:graphic>
      </p:graphicFrame>
      <p:sp>
        <p:nvSpPr>
          <p:cNvPr id="11" name="Rectangle 10"/>
          <p:cNvSpPr/>
          <p:nvPr/>
        </p:nvSpPr>
        <p:spPr>
          <a:xfrm>
            <a:off x="492162" y="1616818"/>
            <a:ext cx="3408305" cy="523220"/>
          </a:xfrm>
          <a:prstGeom prst="rect">
            <a:avLst/>
          </a:prstGeom>
        </p:spPr>
        <p:txBody>
          <a:bodyPr wrap="none">
            <a:spAutoFit/>
          </a:bodyPr>
          <a:lstStyle/>
          <a:p>
            <a:r>
              <a:rPr lang="en-US" sz="2800" dirty="0">
                <a:latin typeface="Arial" pitchFamily="34" charset="0"/>
                <a:cs typeface="Arial" pitchFamily="34" charset="0"/>
              </a:rPr>
              <a:t>The Course aims to</a:t>
            </a:r>
            <a:r>
              <a:rPr lang="en-US" sz="2400" dirty="0">
                <a:latin typeface="Arial" pitchFamily="34" charset="0"/>
                <a:cs typeface="Arial" pitchFamily="34" charset="0"/>
              </a:rPr>
              <a:t>:</a:t>
            </a:r>
            <a:endParaRPr lang="en-US" sz="2400" b="1" dirty="0">
              <a:latin typeface="Arial" pitchFamily="34" charset="0"/>
              <a:cs typeface="Arial" pitchFamily="34" charset="0"/>
            </a:endParaRPr>
          </a:p>
        </p:txBody>
      </p:sp>
    </p:spTree>
    <p:extLst>
      <p:ext uri="{BB962C8B-B14F-4D97-AF65-F5344CB8AC3E}">
        <p14:creationId xmlns:p14="http://schemas.microsoft.com/office/powerpoint/2010/main" val="4018097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106018" y="1781555"/>
            <a:ext cx="5806440" cy="400110"/>
          </a:xfrm>
          <a:prstGeom prst="rect">
            <a:avLst/>
          </a:prstGeom>
        </p:spPr>
        <p:txBody>
          <a:bodyPr wrap="square">
            <a:spAutoFit/>
          </a:bodyPr>
          <a:lstStyle/>
          <a:p>
            <a:r>
              <a:rPr lang="en-US" sz="2000" dirty="0">
                <a:latin typeface="Arial" pitchFamily="34" charset="0"/>
                <a:cs typeface="Arial" pitchFamily="34" charset="0"/>
              </a:rPr>
              <a:t>On completion, the students are expected to:</a:t>
            </a:r>
            <a:endParaRPr lang="en-US" sz="2000" b="1" dirty="0">
              <a:latin typeface="Arial" pitchFamily="34" charset="0"/>
              <a:cs typeface="Arial" pitchFamily="34" charset="0"/>
            </a:endParaRPr>
          </a:p>
        </p:txBody>
      </p:sp>
      <p:sp>
        <p:nvSpPr>
          <p:cNvPr id="12" name="Title 11"/>
          <p:cNvSpPr>
            <a:spLocks noGrp="1"/>
          </p:cNvSpPr>
          <p:nvPr>
            <p:ph type="title"/>
          </p:nvPr>
        </p:nvSpPr>
        <p:spPr>
          <a:xfrm>
            <a:off x="915988" y="624840"/>
            <a:ext cx="5149532" cy="1082040"/>
          </a:xfrm>
        </p:spPr>
        <p:txBody>
          <a:bodyPr>
            <a:noAutofit/>
          </a:bodyPr>
          <a:lstStyle/>
          <a:p>
            <a:pPr algn="ctr"/>
            <a:r>
              <a:rPr lang="en-US" sz="4400" b="1" dirty="0">
                <a:latin typeface="Arial Black" pitchFamily="34" charset="0"/>
              </a:rPr>
              <a:t>Course Outcomes </a:t>
            </a:r>
            <a:endParaRPr lang="en-IN" sz="3600" dirty="0"/>
          </a:p>
        </p:txBody>
      </p:sp>
      <p:sp>
        <p:nvSpPr>
          <p:cNvPr id="13" name="TextBox 12">
            <a:extLst>
              <a:ext uri="{FF2B5EF4-FFF2-40B4-BE49-F238E27FC236}">
                <a16:creationId xmlns:a16="http://schemas.microsoft.com/office/drawing/2014/main" id="{062B56FD-3E1C-ED2A-8089-269ED3593A01}"/>
              </a:ext>
            </a:extLst>
          </p:cNvPr>
          <p:cNvSpPr txBox="1"/>
          <p:nvPr/>
        </p:nvSpPr>
        <p:spPr>
          <a:xfrm>
            <a:off x="7903509" y="6223635"/>
            <a:ext cx="2961715" cy="276999"/>
          </a:xfrm>
          <a:prstGeom prst="rect">
            <a:avLst/>
          </a:prstGeom>
          <a:noFill/>
        </p:spPr>
        <p:txBody>
          <a:bodyPr wrap="square">
            <a:spAutoFit/>
          </a:bodyPr>
          <a:lstStyle/>
          <a:p>
            <a:pPr algn="l"/>
            <a:r>
              <a:rPr lang="en-US" sz="1200" dirty="0">
                <a:latin typeface="Arial" pitchFamily="34" charset="0"/>
                <a:ea typeface="+mn-lt"/>
                <a:cs typeface="Arial" pitchFamily="34" charset="0"/>
              </a:rPr>
              <a:t>rousseaux1984.com</a:t>
            </a:r>
            <a:endParaRPr lang="en-US" sz="1200" dirty="0">
              <a:latin typeface="Arial" pitchFamily="34" charset="0"/>
              <a:cs typeface="Arial" pitchFamily="34" charset="0"/>
            </a:endParaRPr>
          </a:p>
        </p:txBody>
      </p:sp>
      <p:pic>
        <p:nvPicPr>
          <p:cNvPr id="8" name="Picture 7" descr="A close up of a logo&#10;&#10;Description generated with very high confidence">
            <a:extLst>
              <a:ext uri="{FF2B5EF4-FFF2-40B4-BE49-F238E27FC236}">
                <a16:creationId xmlns:a16="http://schemas.microsoft.com/office/drawing/2014/main" id="{4B1A5835-1182-49B2-B1AA-EF433F5278F2}"/>
              </a:ext>
            </a:extLst>
          </p:cNvPr>
          <p:cNvPicPr>
            <a:picLocks noChangeAspect="1"/>
          </p:cNvPicPr>
          <p:nvPr/>
        </p:nvPicPr>
        <p:blipFill rotWithShape="1">
          <a:blip r:embed="rId2"/>
          <a:srcRect l="19527" t="520" r="20367" b="1053"/>
          <a:stretch/>
        </p:blipFill>
        <p:spPr>
          <a:xfrm>
            <a:off x="7028597" y="1383821"/>
            <a:ext cx="4241532" cy="1337126"/>
          </a:xfrm>
          <a:prstGeom prst="rect">
            <a:avLst/>
          </a:prstGeom>
        </p:spPr>
      </p:pic>
      <p:pic>
        <p:nvPicPr>
          <p:cNvPr id="9" name="Picture 8" descr="A picture containing drawing&#10;&#10;Description generated with very high confidence">
            <a:extLst>
              <a:ext uri="{FF2B5EF4-FFF2-40B4-BE49-F238E27FC236}">
                <a16:creationId xmlns:a16="http://schemas.microsoft.com/office/drawing/2014/main" id="{0821C0B1-3C34-9D6B-4DCC-69286EAC0D09}"/>
              </a:ext>
            </a:extLst>
          </p:cNvPr>
          <p:cNvPicPr>
            <a:picLocks noChangeAspect="1"/>
          </p:cNvPicPr>
          <p:nvPr/>
        </p:nvPicPr>
        <p:blipFill>
          <a:blip r:embed="rId3"/>
          <a:stretch>
            <a:fillRect/>
          </a:stretch>
        </p:blipFill>
        <p:spPr>
          <a:xfrm>
            <a:off x="7290938" y="2765126"/>
            <a:ext cx="3864273" cy="3182427"/>
          </a:xfrm>
          <a:prstGeom prst="rect">
            <a:avLst/>
          </a:prstGeom>
        </p:spPr>
      </p:pic>
      <p:sp>
        <p:nvSpPr>
          <p:cNvPr id="14" name="Rectangle 13">
            <a:extLst>
              <a:ext uri="{FF2B5EF4-FFF2-40B4-BE49-F238E27FC236}">
                <a16:creationId xmlns:a16="http://schemas.microsoft.com/office/drawing/2014/main" id="{EA0F653D-CC72-7649-BA7B-5A5D5526DBC5}"/>
              </a:ext>
            </a:extLst>
          </p:cNvPr>
          <p:cNvSpPr/>
          <p:nvPr/>
        </p:nvSpPr>
        <p:spPr>
          <a:xfrm>
            <a:off x="6928161" y="996639"/>
            <a:ext cx="4344406" cy="50384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e 1">
            <a:extLst>
              <a:ext uri="{FF2B5EF4-FFF2-40B4-BE49-F238E27FC236}">
                <a16:creationId xmlns:a16="http://schemas.microsoft.com/office/drawing/2014/main" id="{EB66A010-0F4B-71E6-C82C-597027AFC9C3}"/>
              </a:ext>
            </a:extLst>
          </p:cNvPr>
          <p:cNvGraphicFramePr>
            <a:graphicFrameLocks noGrp="1"/>
          </p:cNvGraphicFramePr>
          <p:nvPr>
            <p:extLst>
              <p:ext uri="{D42A27DB-BD31-4B8C-83A1-F6EECF244321}">
                <p14:modId xmlns:p14="http://schemas.microsoft.com/office/powerpoint/2010/main" val="278930053"/>
              </p:ext>
            </p:extLst>
          </p:nvPr>
        </p:nvGraphicFramePr>
        <p:xfrm>
          <a:off x="207446" y="2181665"/>
          <a:ext cx="6670497" cy="4495802"/>
        </p:xfrm>
        <a:graphic>
          <a:graphicData uri="http://schemas.openxmlformats.org/drawingml/2006/table">
            <a:tbl>
              <a:tblPr firstRow="1" firstCol="1" bandRow="1">
                <a:tableStyleId>{5940675A-B579-460E-94D1-54222C63F5DA}</a:tableStyleId>
              </a:tblPr>
              <a:tblGrid>
                <a:gridCol w="543484">
                  <a:extLst>
                    <a:ext uri="{9D8B030D-6E8A-4147-A177-3AD203B41FA5}">
                      <a16:colId xmlns:a16="http://schemas.microsoft.com/office/drawing/2014/main" val="2296355238"/>
                    </a:ext>
                  </a:extLst>
                </a:gridCol>
                <a:gridCol w="4854552">
                  <a:extLst>
                    <a:ext uri="{9D8B030D-6E8A-4147-A177-3AD203B41FA5}">
                      <a16:colId xmlns:a16="http://schemas.microsoft.com/office/drawing/2014/main" val="636530275"/>
                    </a:ext>
                  </a:extLst>
                </a:gridCol>
                <a:gridCol w="1272461">
                  <a:extLst>
                    <a:ext uri="{9D8B030D-6E8A-4147-A177-3AD203B41FA5}">
                      <a16:colId xmlns:a16="http://schemas.microsoft.com/office/drawing/2014/main" val="2635522502"/>
                    </a:ext>
                  </a:extLst>
                </a:gridCol>
              </a:tblGrid>
              <a:tr h="763998">
                <a:tc>
                  <a:txBody>
                    <a:bodyPr/>
                    <a:lstStyle/>
                    <a:p>
                      <a:pPr algn="ctr">
                        <a:lnSpc>
                          <a:spcPct val="115000"/>
                        </a:lnSpc>
                        <a:spcAft>
                          <a:spcPts val="1000"/>
                        </a:spcAft>
                      </a:pPr>
                      <a:r>
                        <a:rPr lang="en-US" sz="1200" b="1" dirty="0">
                          <a:effectLst/>
                          <a:latin typeface="+mn-lt"/>
                        </a:rPr>
                        <a:t>CO Number</a:t>
                      </a:r>
                      <a:endParaRPr lang="en-IN" sz="1200" b="1" dirty="0">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algn="ctr">
                        <a:lnSpc>
                          <a:spcPct val="115000"/>
                        </a:lnSpc>
                        <a:spcAft>
                          <a:spcPts val="1000"/>
                        </a:spcAft>
                      </a:pPr>
                      <a:r>
                        <a:rPr lang="en-US" sz="1200" b="1" dirty="0">
                          <a:effectLst/>
                          <a:latin typeface="+mn-lt"/>
                        </a:rPr>
                        <a:t>Title</a:t>
                      </a:r>
                      <a:endParaRPr lang="en-IN" sz="1200" b="1" dirty="0">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algn="ctr">
                        <a:lnSpc>
                          <a:spcPct val="115000"/>
                        </a:lnSpc>
                        <a:spcAft>
                          <a:spcPts val="1000"/>
                        </a:spcAft>
                      </a:pPr>
                      <a:r>
                        <a:rPr lang="en-US" sz="1200" b="1" dirty="0">
                          <a:effectLst/>
                          <a:latin typeface="+mn-lt"/>
                        </a:rPr>
                        <a:t> </a:t>
                      </a:r>
                      <a:endParaRPr lang="en-IN" sz="1200" b="1" dirty="0">
                        <a:effectLst/>
                        <a:latin typeface="+mn-lt"/>
                      </a:endParaRPr>
                    </a:p>
                    <a:p>
                      <a:pPr algn="ctr">
                        <a:lnSpc>
                          <a:spcPct val="115000"/>
                        </a:lnSpc>
                        <a:spcAft>
                          <a:spcPts val="1000"/>
                        </a:spcAft>
                      </a:pPr>
                      <a:r>
                        <a:rPr lang="en-US" sz="1200" b="1" dirty="0">
                          <a:effectLst/>
                          <a:latin typeface="+mn-lt"/>
                        </a:rPr>
                        <a:t>Level</a:t>
                      </a:r>
                      <a:endParaRPr lang="en-IN" sz="1200" b="1" dirty="0">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2129203561"/>
                  </a:ext>
                </a:extLst>
              </a:tr>
              <a:tr h="719905">
                <a:tc>
                  <a:txBody>
                    <a:bodyPr/>
                    <a:lstStyle/>
                    <a:p>
                      <a:pPr>
                        <a:lnSpc>
                          <a:spcPct val="115000"/>
                        </a:lnSpc>
                        <a:spcAft>
                          <a:spcPts val="1000"/>
                        </a:spcAft>
                      </a:pPr>
                      <a:r>
                        <a:rPr lang="en-US" sz="1200" dirty="0">
                          <a:solidFill>
                            <a:schemeClr val="tx1"/>
                          </a:solidFill>
                          <a:effectLst/>
                          <a:latin typeface="+mn-lt"/>
                        </a:rPr>
                        <a:t>CO1</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algn="just">
                        <a:lnSpc>
                          <a:spcPct val="115000"/>
                        </a:lnSpc>
                        <a:spcAft>
                          <a:spcPts val="1000"/>
                        </a:spcAft>
                      </a:pPr>
                      <a:r>
                        <a:rPr lang="en-US" sz="1200" dirty="0">
                          <a:solidFill>
                            <a:schemeClr val="tx1"/>
                          </a:solidFill>
                          <a:effectLst/>
                          <a:latin typeface="+mn-lt"/>
                          <a:ea typeface="Times New Roman" panose="02020603050405020304" pitchFamily="18" charset="0"/>
                        </a:rPr>
                        <a:t>Apply appropriate Listening, Speaking, Reading and Writing Skills (LSRW Skills) with correct non-verbal cues to attain expertise in soft skills.</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Apply</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2511939352"/>
                  </a:ext>
                </a:extLst>
              </a:tr>
              <a:tr h="719905">
                <a:tc>
                  <a:txBody>
                    <a:bodyPr/>
                    <a:lstStyle/>
                    <a:p>
                      <a:pPr>
                        <a:lnSpc>
                          <a:spcPct val="115000"/>
                        </a:lnSpc>
                        <a:spcAft>
                          <a:spcPts val="1000"/>
                        </a:spcAft>
                      </a:pPr>
                      <a:r>
                        <a:rPr lang="en-US" sz="1200">
                          <a:solidFill>
                            <a:schemeClr val="tx1"/>
                          </a:solidFill>
                          <a:effectLst/>
                          <a:latin typeface="+mn-lt"/>
                        </a:rPr>
                        <a:t>CO2</a:t>
                      </a:r>
                      <a:endParaRPr lang="en-IN" sz="120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indent="-31115" algn="just">
                        <a:lnSpc>
                          <a:spcPct val="115000"/>
                        </a:lnSpc>
                        <a:spcAft>
                          <a:spcPts val="1000"/>
                        </a:spcAft>
                      </a:pPr>
                      <a:r>
                        <a:rPr lang="en-US" sz="1200" dirty="0">
                          <a:solidFill>
                            <a:schemeClr val="tx1"/>
                          </a:solidFill>
                          <a:effectLst/>
                          <a:latin typeface="+mn-lt"/>
                          <a:ea typeface="Times New Roman" panose="02020603050405020304" pitchFamily="18" charset="0"/>
                        </a:rPr>
                        <a:t>Apply correct contextual and comprehensible written text in the form of paragraph writing, short compositions business correspondence, using logical support and argument in a wide range of communication situations.</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Apply</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1566616838"/>
                  </a:ext>
                </a:extLst>
              </a:tr>
              <a:tr h="763998">
                <a:tc>
                  <a:txBody>
                    <a:bodyPr/>
                    <a:lstStyle/>
                    <a:p>
                      <a:pPr>
                        <a:lnSpc>
                          <a:spcPct val="115000"/>
                        </a:lnSpc>
                        <a:spcAft>
                          <a:spcPts val="1000"/>
                        </a:spcAft>
                      </a:pPr>
                      <a:r>
                        <a:rPr lang="en-US" sz="1200" dirty="0">
                          <a:solidFill>
                            <a:schemeClr val="tx1"/>
                          </a:solidFill>
                          <a:effectLst/>
                          <a:latin typeface="+mn-lt"/>
                        </a:rPr>
                        <a:t>CO3</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indent="31115" algn="just">
                        <a:lnSpc>
                          <a:spcPct val="115000"/>
                        </a:lnSpc>
                        <a:spcAft>
                          <a:spcPts val="1000"/>
                        </a:spcAft>
                      </a:pPr>
                      <a:r>
                        <a:rPr lang="en-US" sz="1200" dirty="0">
                          <a:solidFill>
                            <a:schemeClr val="tx1"/>
                          </a:solidFill>
                          <a:effectLst/>
                          <a:latin typeface="+mn-lt"/>
                          <a:ea typeface="Times New Roman" panose="02020603050405020304" pitchFamily="18" charset="0"/>
                        </a:rPr>
                        <a:t>Demonstrate linguistic competence while speaking and during presentations through accuracy in grammatical usage, vocabulary, pronunciation and intonation.</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Apply</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3817774112"/>
                  </a:ext>
                </a:extLst>
              </a:tr>
              <a:tr h="763998">
                <a:tc>
                  <a:txBody>
                    <a:bodyPr/>
                    <a:lstStyle/>
                    <a:p>
                      <a:pPr>
                        <a:lnSpc>
                          <a:spcPct val="115000"/>
                        </a:lnSpc>
                        <a:spcAft>
                          <a:spcPts val="1000"/>
                        </a:spcAft>
                      </a:pPr>
                      <a:r>
                        <a:rPr lang="en-US" sz="1200">
                          <a:solidFill>
                            <a:schemeClr val="tx1"/>
                          </a:solidFill>
                          <a:effectLst/>
                          <a:latin typeface="+mn-lt"/>
                        </a:rPr>
                        <a:t>CO4</a:t>
                      </a:r>
                      <a:endParaRPr lang="en-IN" sz="120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algn="just">
                        <a:lnSpc>
                          <a:spcPct val="115000"/>
                        </a:lnSpc>
                        <a:spcAft>
                          <a:spcPts val="1000"/>
                        </a:spcAft>
                      </a:pPr>
                      <a:r>
                        <a:rPr lang="en-US" sz="1200" dirty="0">
                          <a:solidFill>
                            <a:schemeClr val="tx1"/>
                          </a:solidFill>
                          <a:effectLst/>
                          <a:latin typeface="+mn-lt"/>
                          <a:ea typeface="Times New Roman" panose="02020603050405020304" pitchFamily="18" charset="0"/>
                        </a:rPr>
                        <a:t>Evaluate information as critical readers, speakers and writers applying ethics in communication and</a:t>
                      </a:r>
                      <a:endParaRPr lang="en-IN" sz="1200" dirty="0">
                        <a:solidFill>
                          <a:schemeClr val="tx1"/>
                        </a:solidFill>
                        <a:effectLst/>
                        <a:latin typeface="+mn-lt"/>
                        <a:ea typeface="Calibri" panose="020F0502020204030204" pitchFamily="34" charset="0"/>
                      </a:endParaRPr>
                    </a:p>
                    <a:p>
                      <a:pPr algn="just">
                        <a:lnSpc>
                          <a:spcPct val="115000"/>
                        </a:lnSpc>
                        <a:spcAft>
                          <a:spcPts val="1000"/>
                        </a:spcAft>
                      </a:pPr>
                      <a:r>
                        <a:rPr lang="en-US" sz="1200" dirty="0">
                          <a:solidFill>
                            <a:schemeClr val="tx1"/>
                          </a:solidFill>
                          <a:effectLst/>
                          <a:latin typeface="+mn-lt"/>
                          <a:ea typeface="Times New Roman" panose="02020603050405020304" pitchFamily="18" charset="0"/>
                        </a:rPr>
                        <a:t>being sensitive in cross cultural communication.</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Evaluate</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2331760516"/>
                  </a:ext>
                </a:extLst>
              </a:tr>
              <a:tr h="763998">
                <a:tc>
                  <a:txBody>
                    <a:bodyPr/>
                    <a:lstStyle/>
                    <a:p>
                      <a:pPr>
                        <a:lnSpc>
                          <a:spcPct val="115000"/>
                        </a:lnSpc>
                        <a:spcAft>
                          <a:spcPts val="1000"/>
                        </a:spcAft>
                      </a:pPr>
                      <a:r>
                        <a:rPr lang="en-US" sz="1200">
                          <a:solidFill>
                            <a:schemeClr val="tx1"/>
                          </a:solidFill>
                          <a:effectLst/>
                          <a:latin typeface="+mn-lt"/>
                        </a:rPr>
                        <a:t>CO5</a:t>
                      </a:r>
                      <a:endParaRPr lang="en-IN" sz="120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indent="-31115" algn="just">
                        <a:lnSpc>
                          <a:spcPct val="115000"/>
                        </a:lnSpc>
                        <a:spcAft>
                          <a:spcPts val="1000"/>
                        </a:spcAft>
                      </a:pPr>
                      <a:r>
                        <a:rPr lang="en-US" sz="1200" dirty="0">
                          <a:solidFill>
                            <a:schemeClr val="tx1"/>
                          </a:solidFill>
                          <a:effectLst/>
                          <a:latin typeface="+mn-lt"/>
                          <a:ea typeface="Times New Roman" panose="02020603050405020304" pitchFamily="18" charset="0"/>
                        </a:rPr>
                        <a:t> Create original, digital content for websites, blogs, vlogs and personal social media profiles etc.</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Create</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506219392"/>
                  </a:ext>
                </a:extLst>
              </a:tr>
            </a:tbl>
          </a:graphicData>
        </a:graphic>
      </p:graphicFrame>
    </p:spTree>
    <p:extLst>
      <p:ext uri="{BB962C8B-B14F-4D97-AF65-F5344CB8AC3E}">
        <p14:creationId xmlns:p14="http://schemas.microsoft.com/office/powerpoint/2010/main" val="13738362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B5232-5D0A-42D9-BE9A-8CC739E2A3D5}"/>
              </a:ext>
            </a:extLst>
          </p:cNvPr>
          <p:cNvSpPr>
            <a:spLocks noGrp="1"/>
          </p:cNvSpPr>
          <p:nvPr>
            <p:ph type="title"/>
          </p:nvPr>
        </p:nvSpPr>
        <p:spPr/>
        <p:txBody>
          <a:bodyPr>
            <a:normAutofit/>
          </a:bodyPr>
          <a:lstStyle/>
          <a:p>
            <a:pPr algn="ctr"/>
            <a:r>
              <a:rPr lang="en-US" b="1" dirty="0">
                <a:latin typeface="Arial Black"/>
                <a:cs typeface="Calibri"/>
              </a:rPr>
              <a:t>What is Reading Comprehension?</a:t>
            </a:r>
          </a:p>
        </p:txBody>
      </p:sp>
      <p:pic>
        <p:nvPicPr>
          <p:cNvPr id="9" name="Picture 12" descr="A close up of a sign&#10;&#10;Description generated with very high confidence">
            <a:extLst>
              <a:ext uri="{FF2B5EF4-FFF2-40B4-BE49-F238E27FC236}">
                <a16:creationId xmlns:a16="http://schemas.microsoft.com/office/drawing/2014/main" id="{EA804F26-3D45-4085-B1D4-323DC28DF860}"/>
              </a:ext>
            </a:extLst>
          </p:cNvPr>
          <p:cNvPicPr>
            <a:picLocks noGrp="1" noChangeAspect="1"/>
          </p:cNvPicPr>
          <p:nvPr>
            <p:ph sz="half" idx="1"/>
          </p:nvPr>
        </p:nvPicPr>
        <p:blipFill>
          <a:blip r:embed="rId2"/>
          <a:stretch>
            <a:fillRect/>
          </a:stretch>
        </p:blipFill>
        <p:spPr>
          <a:xfrm>
            <a:off x="3114631" y="3515451"/>
            <a:ext cx="628738" cy="971686"/>
          </a:xfrm>
        </p:spPr>
      </p:pic>
      <p:graphicFrame>
        <p:nvGraphicFramePr>
          <p:cNvPr id="4" name="Diagram 4">
            <a:extLst>
              <a:ext uri="{FF2B5EF4-FFF2-40B4-BE49-F238E27FC236}">
                <a16:creationId xmlns:a16="http://schemas.microsoft.com/office/drawing/2014/main" id="{6A54BBF8-6B76-4D1D-83CD-B335BAA45A0A}"/>
              </a:ext>
            </a:extLst>
          </p:cNvPr>
          <p:cNvGraphicFramePr/>
          <p:nvPr>
            <p:extLst>
              <p:ext uri="{D42A27DB-BD31-4B8C-83A1-F6EECF244321}">
                <p14:modId xmlns:p14="http://schemas.microsoft.com/office/powerpoint/2010/main" val="3418580194"/>
              </p:ext>
            </p:extLst>
          </p:nvPr>
        </p:nvGraphicFramePr>
        <p:xfrm>
          <a:off x="1040513" y="1497864"/>
          <a:ext cx="5253486" cy="48401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0" name="Slide Number Placeholder 79">
            <a:extLst>
              <a:ext uri="{FF2B5EF4-FFF2-40B4-BE49-F238E27FC236}">
                <a16:creationId xmlns:a16="http://schemas.microsoft.com/office/drawing/2014/main" id="{5FB8932C-3CAB-4A1F-BF36-458387C5C043}"/>
              </a:ext>
            </a:extLst>
          </p:cNvPr>
          <p:cNvSpPr>
            <a:spLocks noGrp="1"/>
          </p:cNvSpPr>
          <p:nvPr>
            <p:ph type="sldNum" sz="quarter" idx="12"/>
          </p:nvPr>
        </p:nvSpPr>
        <p:spPr/>
        <p:txBody>
          <a:bodyPr/>
          <a:lstStyle/>
          <a:p>
            <a:fld id="{BDCDBBEF-AA6C-4BA6-85B2-A17D7F280E38}" type="slidenum">
              <a:rPr lang="en-US" smtClean="0"/>
              <a:pPr/>
              <a:t>4</a:t>
            </a:fld>
            <a:endParaRPr lang="en-US"/>
          </a:p>
        </p:txBody>
      </p:sp>
      <p:pic>
        <p:nvPicPr>
          <p:cNvPr id="3" name="Picture 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260608" y="1937983"/>
            <a:ext cx="3903259" cy="3903260"/>
          </a:xfrm>
          <a:prstGeom prst="rect">
            <a:avLst/>
          </a:prstGeom>
        </p:spPr>
      </p:pic>
      <p:sp>
        <p:nvSpPr>
          <p:cNvPr id="5" name="TextBox 4"/>
          <p:cNvSpPr txBox="1"/>
          <p:nvPr/>
        </p:nvSpPr>
        <p:spPr>
          <a:xfrm>
            <a:off x="7690513" y="6277970"/>
            <a:ext cx="4831307" cy="261610"/>
          </a:xfrm>
          <a:prstGeom prst="rect">
            <a:avLst/>
          </a:prstGeom>
          <a:noFill/>
        </p:spPr>
        <p:txBody>
          <a:bodyPr wrap="square" rtlCol="0">
            <a:spAutoFit/>
          </a:bodyPr>
          <a:lstStyle/>
          <a:p>
            <a:pPr algn="ctr"/>
            <a:r>
              <a:rPr lang="en-GB" sz="1100" dirty="0">
                <a:latin typeface="Arial" pitchFamily="34" charset="0"/>
                <a:cs typeface="Arial" pitchFamily="34" charset="0"/>
              </a:rPr>
              <a:t>Cetking.com</a:t>
            </a:r>
          </a:p>
        </p:txBody>
      </p:sp>
      <p:sp>
        <p:nvSpPr>
          <p:cNvPr id="8" name="Rectangle 7"/>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32738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87574-FED4-9C7C-88D8-7FF55AC3555D}"/>
              </a:ext>
            </a:extLst>
          </p:cNvPr>
          <p:cNvSpPr>
            <a:spLocks noGrp="1"/>
          </p:cNvSpPr>
          <p:nvPr>
            <p:ph type="title"/>
          </p:nvPr>
        </p:nvSpPr>
        <p:spPr/>
        <p:txBody>
          <a:bodyPr>
            <a:normAutofit/>
          </a:bodyPr>
          <a:lstStyle/>
          <a:p>
            <a:pPr algn="ctr"/>
            <a:r>
              <a:rPr lang="en-IN" b="1" dirty="0">
                <a:latin typeface="Arial Black" panose="020B0A04020102020204" pitchFamily="34" charset="0"/>
              </a:rPr>
              <a:t>Why Reading Comprehension?</a:t>
            </a:r>
          </a:p>
        </p:txBody>
      </p:sp>
      <p:sp>
        <p:nvSpPr>
          <p:cNvPr id="3" name="Content Placeholder 2">
            <a:extLst>
              <a:ext uri="{FF2B5EF4-FFF2-40B4-BE49-F238E27FC236}">
                <a16:creationId xmlns:a16="http://schemas.microsoft.com/office/drawing/2014/main" id="{65BEAEB0-0270-F3F9-D52E-F370C528735F}"/>
              </a:ext>
            </a:extLst>
          </p:cNvPr>
          <p:cNvSpPr>
            <a:spLocks noGrp="1"/>
          </p:cNvSpPr>
          <p:nvPr>
            <p:ph sz="half" idx="1"/>
          </p:nvPr>
        </p:nvSpPr>
        <p:spPr>
          <a:xfrm>
            <a:off x="838200" y="1846173"/>
            <a:ext cx="5181600" cy="4351338"/>
          </a:xfrm>
        </p:spPr>
        <p:txBody>
          <a:bodyPr/>
          <a:lstStyle/>
          <a:p>
            <a:r>
              <a:rPr lang="en-IN" dirty="0">
                <a:latin typeface="Arial" panose="020B0604020202020204" pitchFamily="34" charset="0"/>
                <a:cs typeface="Arial" panose="020B0604020202020204" pitchFamily="34" charset="0"/>
              </a:rPr>
              <a:t>Pre-employment tests</a:t>
            </a:r>
          </a:p>
          <a:p>
            <a:r>
              <a:rPr lang="en-IN" dirty="0">
                <a:latin typeface="Arial" panose="020B0604020202020204" pitchFamily="34" charset="0"/>
                <a:cs typeface="Arial" panose="020B0604020202020204" pitchFamily="34" charset="0"/>
              </a:rPr>
              <a:t>IELTS</a:t>
            </a:r>
          </a:p>
          <a:p>
            <a:r>
              <a:rPr lang="en-IN" dirty="0">
                <a:latin typeface="Arial" panose="020B0604020202020204" pitchFamily="34" charset="0"/>
                <a:cs typeface="Arial" panose="020B0604020202020204" pitchFamily="34" charset="0"/>
              </a:rPr>
              <a:t>GRE</a:t>
            </a:r>
          </a:p>
          <a:p>
            <a:r>
              <a:rPr lang="en-IN" dirty="0">
                <a:latin typeface="Arial" panose="020B0604020202020204" pitchFamily="34" charset="0"/>
                <a:cs typeface="Arial" panose="020B0604020202020204" pitchFamily="34" charset="0"/>
              </a:rPr>
              <a:t>IBPS</a:t>
            </a:r>
          </a:p>
          <a:p>
            <a:r>
              <a:rPr lang="en-IN" dirty="0">
                <a:latin typeface="Arial" panose="020B0604020202020204" pitchFamily="34" charset="0"/>
                <a:cs typeface="Arial" panose="020B0604020202020204" pitchFamily="34" charset="0"/>
              </a:rPr>
              <a:t>Other competitive exams</a:t>
            </a:r>
          </a:p>
        </p:txBody>
      </p:sp>
      <p:sp>
        <p:nvSpPr>
          <p:cNvPr id="5" name="Slide Number Placeholder 4">
            <a:extLst>
              <a:ext uri="{FF2B5EF4-FFF2-40B4-BE49-F238E27FC236}">
                <a16:creationId xmlns:a16="http://schemas.microsoft.com/office/drawing/2014/main" id="{2AB7E0B6-09A3-10A3-FB48-5D9F7D91E50B}"/>
              </a:ext>
            </a:extLst>
          </p:cNvPr>
          <p:cNvSpPr>
            <a:spLocks noGrp="1"/>
          </p:cNvSpPr>
          <p:nvPr>
            <p:ph type="sldNum" sz="quarter" idx="12"/>
          </p:nvPr>
        </p:nvSpPr>
        <p:spPr/>
        <p:txBody>
          <a:bodyPr/>
          <a:lstStyle/>
          <a:p>
            <a:fld id="{BDCDBBEF-AA6C-4BA6-85B2-A17D7F280E38}" type="slidenum">
              <a:rPr lang="en-US" smtClean="0"/>
              <a:pPr/>
              <a:t>5</a:t>
            </a:fld>
            <a:endParaRPr lang="en-US"/>
          </a:p>
        </p:txBody>
      </p:sp>
      <p:pic>
        <p:nvPicPr>
          <p:cNvPr id="60420" name="Picture 4" descr="See the source image">
            <a:extLst>
              <a:ext uri="{FF2B5EF4-FFF2-40B4-BE49-F238E27FC236}">
                <a16:creationId xmlns:a16="http://schemas.microsoft.com/office/drawing/2014/main" id="{BC4B9FFA-630B-0443-6917-D9C1AFA654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00697" y="1985962"/>
            <a:ext cx="5698331" cy="3952127"/>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7EE32795-08F3-D0BA-34F7-0085AE724720}"/>
              </a:ext>
            </a:extLst>
          </p:cNvPr>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66218FC-83F3-61C3-386B-2E2CB39263A3}"/>
              </a:ext>
            </a:extLst>
          </p:cNvPr>
          <p:cNvSpPr/>
          <p:nvPr/>
        </p:nvSpPr>
        <p:spPr>
          <a:xfrm>
            <a:off x="838200" y="339813"/>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54694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EB2C0-9AE2-A6AB-132E-2CC17FB2796D}"/>
              </a:ext>
            </a:extLst>
          </p:cNvPr>
          <p:cNvSpPr>
            <a:spLocks noGrp="1"/>
          </p:cNvSpPr>
          <p:nvPr>
            <p:ph type="title"/>
          </p:nvPr>
        </p:nvSpPr>
        <p:spPr/>
        <p:txBody>
          <a:bodyPr>
            <a:normAutofit/>
          </a:bodyPr>
          <a:lstStyle/>
          <a:p>
            <a:pPr algn="ctr"/>
            <a:r>
              <a:rPr lang="en-IN" b="1" dirty="0">
                <a:latin typeface="Arial Black" panose="020B0A04020102020204" pitchFamily="34" charset="0"/>
              </a:rPr>
              <a:t>Importance of Reading Comprehension Tests</a:t>
            </a:r>
          </a:p>
        </p:txBody>
      </p:sp>
      <p:sp>
        <p:nvSpPr>
          <p:cNvPr id="3" name="Content Placeholder 2">
            <a:extLst>
              <a:ext uri="{FF2B5EF4-FFF2-40B4-BE49-F238E27FC236}">
                <a16:creationId xmlns:a16="http://schemas.microsoft.com/office/drawing/2014/main" id="{384666F0-0B90-3EC5-6907-EC06ED42EF82}"/>
              </a:ext>
            </a:extLst>
          </p:cNvPr>
          <p:cNvSpPr>
            <a:spLocks noGrp="1"/>
          </p:cNvSpPr>
          <p:nvPr>
            <p:ph sz="half" idx="1"/>
          </p:nvPr>
        </p:nvSpPr>
        <p:spPr/>
        <p:txBody>
          <a:bodyPr/>
          <a:lstStyle/>
          <a:p>
            <a:pPr marL="0" indent="0">
              <a:buNone/>
            </a:pPr>
            <a:r>
              <a:rPr lang="en-IN" b="1" dirty="0">
                <a:latin typeface="Arial" panose="020B0604020202020204" pitchFamily="34" charset="0"/>
                <a:cs typeface="Arial" panose="020B0604020202020204" pitchFamily="34" charset="0"/>
              </a:rPr>
              <a:t>To determine </a:t>
            </a:r>
          </a:p>
          <a:p>
            <a:r>
              <a:rPr lang="en-IN" dirty="0">
                <a:latin typeface="Arial" panose="020B0604020202020204" pitchFamily="34" charset="0"/>
                <a:cs typeface="Arial" panose="020B0604020202020204" pitchFamily="34" charset="0"/>
              </a:rPr>
              <a:t>Ability to understand</a:t>
            </a:r>
          </a:p>
          <a:p>
            <a:r>
              <a:rPr lang="en-IN" dirty="0">
                <a:latin typeface="Arial" panose="020B0604020202020204" pitchFamily="34" charset="0"/>
                <a:cs typeface="Arial" panose="020B0604020202020204" pitchFamily="34" charset="0"/>
              </a:rPr>
              <a:t>Analytical ability</a:t>
            </a:r>
          </a:p>
          <a:p>
            <a:r>
              <a:rPr lang="en-IN" dirty="0">
                <a:latin typeface="Arial" panose="020B0604020202020204" pitchFamily="34" charset="0"/>
                <a:cs typeface="Arial" panose="020B0604020202020204" pitchFamily="34" charset="0"/>
              </a:rPr>
              <a:t>Ability to comprehend</a:t>
            </a:r>
          </a:p>
          <a:p>
            <a:r>
              <a:rPr lang="en-IN" dirty="0">
                <a:latin typeface="Arial" panose="020B0604020202020204" pitchFamily="34" charset="0"/>
                <a:cs typeface="Arial" panose="020B0604020202020204" pitchFamily="34" charset="0"/>
              </a:rPr>
              <a:t>Memory</a:t>
            </a:r>
          </a:p>
          <a:p>
            <a:r>
              <a:rPr lang="en-IN" dirty="0">
                <a:latin typeface="Arial" panose="020B0604020202020204" pitchFamily="34" charset="0"/>
                <a:cs typeface="Arial" panose="020B0604020202020204" pitchFamily="34" charset="0"/>
              </a:rPr>
              <a:t>Problem solving</a:t>
            </a:r>
          </a:p>
          <a:p>
            <a:r>
              <a:rPr lang="en-IN" dirty="0">
                <a:latin typeface="Arial" panose="020B0604020202020204" pitchFamily="34" charset="0"/>
                <a:cs typeface="Arial" panose="020B0604020202020204" pitchFamily="34" charset="0"/>
              </a:rPr>
              <a:t>Ability to accurately interpret</a:t>
            </a:r>
          </a:p>
        </p:txBody>
      </p:sp>
      <p:sp>
        <p:nvSpPr>
          <p:cNvPr id="5" name="Slide Number Placeholder 4">
            <a:extLst>
              <a:ext uri="{FF2B5EF4-FFF2-40B4-BE49-F238E27FC236}">
                <a16:creationId xmlns:a16="http://schemas.microsoft.com/office/drawing/2014/main" id="{6BB8A6ED-74C4-C18F-E2C1-28DB3F185201}"/>
              </a:ext>
            </a:extLst>
          </p:cNvPr>
          <p:cNvSpPr>
            <a:spLocks noGrp="1"/>
          </p:cNvSpPr>
          <p:nvPr>
            <p:ph type="sldNum" sz="quarter" idx="12"/>
          </p:nvPr>
        </p:nvSpPr>
        <p:spPr/>
        <p:txBody>
          <a:bodyPr/>
          <a:lstStyle/>
          <a:p>
            <a:fld id="{BDCDBBEF-AA6C-4BA6-85B2-A17D7F280E38}" type="slidenum">
              <a:rPr lang="en-US" smtClean="0"/>
              <a:pPr/>
              <a:t>6</a:t>
            </a:fld>
            <a:endParaRPr lang="en-US"/>
          </a:p>
        </p:txBody>
      </p:sp>
      <p:pic>
        <p:nvPicPr>
          <p:cNvPr id="61442" name="Picture 2" descr="See the source image">
            <a:extLst>
              <a:ext uri="{FF2B5EF4-FFF2-40B4-BE49-F238E27FC236}">
                <a16:creationId xmlns:a16="http://schemas.microsoft.com/office/drawing/2014/main" id="{4EE99F56-27C7-326B-56E7-CB3DDFAA62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5999" y="1874838"/>
            <a:ext cx="5174751" cy="4207463"/>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9DD7C3F4-34D2-B8A0-0994-D1948A3EB74A}"/>
              </a:ext>
            </a:extLst>
          </p:cNvPr>
          <p:cNvSpPr/>
          <p:nvPr/>
        </p:nvSpPr>
        <p:spPr>
          <a:xfrm>
            <a:off x="838200" y="1803399"/>
            <a:ext cx="10515600" cy="4373563"/>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05170FB-C031-AF92-7F16-8BF5AB62149B}"/>
              </a:ext>
            </a:extLst>
          </p:cNvPr>
          <p:cNvSpPr/>
          <p:nvPr/>
        </p:nvSpPr>
        <p:spPr>
          <a:xfrm>
            <a:off x="838200" y="339813"/>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205386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latin typeface="Arial Black"/>
                <a:ea typeface="+mj-lt"/>
                <a:cs typeface="+mj-lt"/>
              </a:rPr>
              <a:t>The Dilemma is:</a:t>
            </a:r>
            <a:endParaRPr lang="en-US" dirty="0">
              <a:latin typeface="Arial Black"/>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dirty="0"/>
          </a:p>
        </p:txBody>
      </p:sp>
      <p:sp>
        <p:nvSpPr>
          <p:cNvPr id="6" name="Rounded Rectangle 5"/>
          <p:cNvSpPr/>
          <p:nvPr/>
        </p:nvSpPr>
        <p:spPr>
          <a:xfrm>
            <a:off x="1064525" y="2074460"/>
            <a:ext cx="4251278" cy="88710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dirty="0">
                <a:solidFill>
                  <a:schemeClr val="bg1"/>
                </a:solidFill>
                <a:latin typeface="Arial" pitchFamily="34" charset="0"/>
                <a:cs typeface="Arial" pitchFamily="34" charset="0"/>
              </a:rPr>
              <a:t>What to read first?</a:t>
            </a:r>
          </a:p>
        </p:txBody>
      </p:sp>
      <p:sp>
        <p:nvSpPr>
          <p:cNvPr id="8" name="Rounded Rectangle 7"/>
          <p:cNvSpPr/>
          <p:nvPr/>
        </p:nvSpPr>
        <p:spPr>
          <a:xfrm>
            <a:off x="1071348" y="3145808"/>
            <a:ext cx="4244454" cy="89392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dirty="0">
                <a:latin typeface="Arial" pitchFamily="34" charset="0"/>
                <a:cs typeface="Arial" pitchFamily="34" charset="0"/>
              </a:rPr>
              <a:t>Shall we read the passage?</a:t>
            </a:r>
          </a:p>
        </p:txBody>
      </p:sp>
      <p:sp>
        <p:nvSpPr>
          <p:cNvPr id="9" name="Rounded Rectangle 8"/>
          <p:cNvSpPr/>
          <p:nvPr/>
        </p:nvSpPr>
        <p:spPr>
          <a:xfrm>
            <a:off x="1064525" y="4162566"/>
            <a:ext cx="4244454" cy="873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dirty="0">
                <a:latin typeface="Arial" pitchFamily="34" charset="0"/>
                <a:cs typeface="Arial" pitchFamily="34" charset="0"/>
              </a:rPr>
              <a:t>Or the questions?</a:t>
            </a:r>
          </a:p>
        </p:txBody>
      </p:sp>
      <p:sp>
        <p:nvSpPr>
          <p:cNvPr id="10" name="Rounded Rectangle 9"/>
          <p:cNvSpPr/>
          <p:nvPr/>
        </p:nvSpPr>
        <p:spPr>
          <a:xfrm>
            <a:off x="1071350" y="5203559"/>
            <a:ext cx="4244453" cy="873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dirty="0">
                <a:latin typeface="Arial" pitchFamily="34" charset="0"/>
                <a:cs typeface="Arial" pitchFamily="34" charset="0"/>
              </a:rPr>
              <a:t>Or it does not matter?</a:t>
            </a:r>
          </a:p>
        </p:txBody>
      </p:sp>
      <p:pic>
        <p:nvPicPr>
          <p:cNvPr id="12" name="Picture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73754" y="2074459"/>
            <a:ext cx="4562901" cy="3930555"/>
          </a:xfrm>
          <a:prstGeom prst="rect">
            <a:avLst/>
          </a:prstGeom>
        </p:spPr>
      </p:pic>
      <p:sp>
        <p:nvSpPr>
          <p:cNvPr id="13" name="TextBox 12"/>
          <p:cNvSpPr txBox="1"/>
          <p:nvPr/>
        </p:nvSpPr>
        <p:spPr>
          <a:xfrm>
            <a:off x="7629099" y="6359857"/>
            <a:ext cx="4562901" cy="261610"/>
          </a:xfrm>
          <a:prstGeom prst="rect">
            <a:avLst/>
          </a:prstGeom>
          <a:noFill/>
        </p:spPr>
        <p:txBody>
          <a:bodyPr wrap="square" rtlCol="0">
            <a:spAutoFit/>
          </a:bodyPr>
          <a:lstStyle/>
          <a:p>
            <a:pPr algn="ctr"/>
            <a:r>
              <a:rPr lang="en-GB" sz="1100" dirty="0">
                <a:latin typeface="Arial" pitchFamily="34" charset="0"/>
                <a:cs typeface="Arial" pitchFamily="34" charset="0"/>
              </a:rPr>
              <a:t>Dreamstime.com</a:t>
            </a:r>
          </a:p>
        </p:txBody>
      </p:sp>
      <p:sp>
        <p:nvSpPr>
          <p:cNvPr id="11" name="Rectangle 10"/>
          <p:cNvSpPr/>
          <p:nvPr/>
        </p:nvSpPr>
        <p:spPr>
          <a:xfrm>
            <a:off x="838200" y="339813"/>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970493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latin typeface="Arial Black" pitchFamily="34" charset="0"/>
                <a:cs typeface="Arial" pitchFamily="34" charset="0"/>
              </a:rPr>
              <a:t>What should we read first? (continued)</a:t>
            </a:r>
            <a:endParaRPr lang="en-US" dirty="0">
              <a:latin typeface="Arial Black" pitchFamily="34" charset="0"/>
              <a:cs typeface="Arial" pitchFamily="34" charset="0"/>
            </a:endParaRPr>
          </a:p>
        </p:txBody>
      </p:sp>
      <p:graphicFrame>
        <p:nvGraphicFramePr>
          <p:cNvPr id="7" name="Content Placeholder 6">
            <a:extLst>
              <a:ext uri="{FF2B5EF4-FFF2-40B4-BE49-F238E27FC236}">
                <a16:creationId xmlns:a16="http://schemas.microsoft.com/office/drawing/2014/main" id="{52FD4F88-9B03-9FA7-0E82-0F0A8123FB8C}"/>
              </a:ext>
            </a:extLst>
          </p:cNvPr>
          <p:cNvGraphicFramePr>
            <a:graphicFrameLocks noGrp="1"/>
          </p:cNvGraphicFramePr>
          <p:nvPr>
            <p:ph idx="1"/>
            <p:extLst>
              <p:ext uri="{D42A27DB-BD31-4B8C-83A1-F6EECF244321}">
                <p14:modId xmlns:p14="http://schemas.microsoft.com/office/powerpoint/2010/main" val="2035516269"/>
              </p:ext>
            </p:extLst>
          </p:nvPr>
        </p:nvGraphicFramePr>
        <p:xfrm>
          <a:off x="838200" y="1825625"/>
          <a:ext cx="10515600" cy="4771602"/>
        </p:xfrm>
        <a:graphic>
          <a:graphicData uri="http://schemas.openxmlformats.org/drawingml/2006/table">
            <a:tbl>
              <a:tblPr>
                <a:tableStyleId>{5940675A-B579-460E-94D1-54222C63F5DA}</a:tableStyleId>
              </a:tblPr>
              <a:tblGrid>
                <a:gridCol w="3505200">
                  <a:extLst>
                    <a:ext uri="{9D8B030D-6E8A-4147-A177-3AD203B41FA5}">
                      <a16:colId xmlns:a16="http://schemas.microsoft.com/office/drawing/2014/main" val="500174808"/>
                    </a:ext>
                  </a:extLst>
                </a:gridCol>
                <a:gridCol w="3505200">
                  <a:extLst>
                    <a:ext uri="{9D8B030D-6E8A-4147-A177-3AD203B41FA5}">
                      <a16:colId xmlns:a16="http://schemas.microsoft.com/office/drawing/2014/main" val="4037590787"/>
                    </a:ext>
                  </a:extLst>
                </a:gridCol>
                <a:gridCol w="3505200">
                  <a:extLst>
                    <a:ext uri="{9D8B030D-6E8A-4147-A177-3AD203B41FA5}">
                      <a16:colId xmlns:a16="http://schemas.microsoft.com/office/drawing/2014/main" val="1459070138"/>
                    </a:ext>
                  </a:extLst>
                </a:gridCol>
              </a:tblGrid>
              <a:tr h="345203">
                <a:tc>
                  <a:txBody>
                    <a:bodyPr/>
                    <a:lstStyle/>
                    <a:p>
                      <a:pPr algn="ctr" fontAlgn="base"/>
                      <a:r>
                        <a:rPr lang="en-IN" sz="2000" b="1" cap="all" dirty="0">
                          <a:effectLst/>
                          <a:latin typeface="Arial" panose="020B0604020202020204" pitchFamily="34" charset="0"/>
                          <a:cs typeface="Arial" panose="020B0604020202020204" pitchFamily="34" charset="0"/>
                        </a:rPr>
                        <a:t>STRATEGY</a:t>
                      </a:r>
                    </a:p>
                  </a:txBody>
                  <a:tcPr marL="44356" marR="44356" marT="33267" marB="33267" anchor="ctr"/>
                </a:tc>
                <a:tc>
                  <a:txBody>
                    <a:bodyPr/>
                    <a:lstStyle/>
                    <a:p>
                      <a:pPr algn="ctr" fontAlgn="base"/>
                      <a:r>
                        <a:rPr lang="en-IN" sz="2000" b="1" cap="all" dirty="0">
                          <a:effectLst/>
                          <a:latin typeface="Arial" panose="020B0604020202020204" pitchFamily="34" charset="0"/>
                          <a:cs typeface="Arial" panose="020B0604020202020204" pitchFamily="34" charset="0"/>
                        </a:rPr>
                        <a:t>ADVANTAGES</a:t>
                      </a:r>
                    </a:p>
                  </a:txBody>
                  <a:tcPr marL="44356" marR="44356" marT="33267" marB="33267" anchor="ctr"/>
                </a:tc>
                <a:tc>
                  <a:txBody>
                    <a:bodyPr/>
                    <a:lstStyle/>
                    <a:p>
                      <a:pPr algn="ctr" fontAlgn="base"/>
                      <a:r>
                        <a:rPr lang="en-IN" sz="2000" b="1" cap="all" dirty="0">
                          <a:effectLst/>
                          <a:latin typeface="Arial" panose="020B0604020202020204" pitchFamily="34" charset="0"/>
                          <a:cs typeface="Arial" panose="020B0604020202020204" pitchFamily="34" charset="0"/>
                        </a:rPr>
                        <a:t>DISADVANTAGES</a:t>
                      </a:r>
                    </a:p>
                  </a:txBody>
                  <a:tcPr marL="44356" marR="44356" marT="33267" marB="33267" anchor="ctr"/>
                </a:tc>
                <a:extLst>
                  <a:ext uri="{0D108BD9-81ED-4DB2-BD59-A6C34878D82A}">
                    <a16:rowId xmlns:a16="http://schemas.microsoft.com/office/drawing/2014/main" val="128497100"/>
                  </a:ext>
                </a:extLst>
              </a:tr>
              <a:tr h="1487943">
                <a:tc>
                  <a:txBody>
                    <a:bodyPr/>
                    <a:lstStyle/>
                    <a:p>
                      <a:pPr fontAlgn="base"/>
                      <a:r>
                        <a:rPr lang="en-US" sz="2000" dirty="0">
                          <a:effectLst/>
                          <a:latin typeface="Arial" panose="020B0604020202020204" pitchFamily="34" charset="0"/>
                          <a:cs typeface="Arial" panose="020B0604020202020204" pitchFamily="34" charset="0"/>
                        </a:rPr>
                        <a:t>1) Read the passage fully before looking at any of the corresponding questions.</a:t>
                      </a:r>
                    </a:p>
                  </a:txBody>
                  <a:tcPr marL="44356" marR="44356" marT="33267" marB="33267" anchor="ctr"/>
                </a:tc>
                <a:tc>
                  <a:txBody>
                    <a:bodyPr/>
                    <a:lstStyle/>
                    <a:p>
                      <a:pPr fontAlgn="base"/>
                      <a:r>
                        <a:rPr lang="en-US" sz="2000" dirty="0">
                          <a:effectLst/>
                          <a:latin typeface="Arial" panose="020B0604020202020204" pitchFamily="34" charset="0"/>
                          <a:cs typeface="Arial" panose="020B0604020202020204" pitchFamily="34" charset="0"/>
                        </a:rPr>
                        <a:t>– You won’t miss out on any important details.</a:t>
                      </a:r>
                      <a:br>
                        <a:rPr lang="en-US" sz="2000" dirty="0">
                          <a:effectLst/>
                          <a:latin typeface="Arial" panose="020B0604020202020204" pitchFamily="34" charset="0"/>
                          <a:cs typeface="Arial" panose="020B0604020202020204" pitchFamily="34" charset="0"/>
                        </a:rPr>
                      </a:br>
                      <a:r>
                        <a:rPr lang="en-US" sz="2000" dirty="0">
                          <a:effectLst/>
                          <a:latin typeface="Arial" panose="020B0604020202020204" pitchFamily="34" charset="0"/>
                          <a:cs typeface="Arial" panose="020B0604020202020204" pitchFamily="34" charset="0"/>
                        </a:rPr>
                        <a:t>– You will have a better understanding of the main point of a passage.</a:t>
                      </a:r>
                    </a:p>
                  </a:txBody>
                  <a:tcPr marL="44356" marR="44356" marT="33267" marB="33267" anchor="ctr"/>
                </a:tc>
                <a:tc>
                  <a:txBody>
                    <a:bodyPr/>
                    <a:lstStyle/>
                    <a:p>
                      <a:pPr fontAlgn="base"/>
                      <a:r>
                        <a:rPr lang="en-US" sz="2000" dirty="0">
                          <a:effectLst/>
                          <a:latin typeface="Arial" panose="020B0604020202020204" pitchFamily="34" charset="0"/>
                          <a:cs typeface="Arial" panose="020B0604020202020204" pitchFamily="34" charset="0"/>
                        </a:rPr>
                        <a:t>– This may take longer for slow readers</a:t>
                      </a:r>
                      <a:br>
                        <a:rPr lang="en-US" sz="2000" dirty="0">
                          <a:effectLst/>
                          <a:latin typeface="Arial" panose="020B0604020202020204" pitchFamily="34" charset="0"/>
                          <a:cs typeface="Arial" panose="020B0604020202020204" pitchFamily="34" charset="0"/>
                        </a:rPr>
                      </a:br>
                      <a:r>
                        <a:rPr lang="en-US" sz="2000" dirty="0">
                          <a:effectLst/>
                          <a:latin typeface="Arial" panose="020B0604020202020204" pitchFamily="34" charset="0"/>
                          <a:cs typeface="Arial" panose="020B0604020202020204" pitchFamily="34" charset="0"/>
                        </a:rPr>
                        <a:t>– There is a danger of ‘zoning out’ or losing focus while reading.</a:t>
                      </a:r>
                    </a:p>
                  </a:txBody>
                  <a:tcPr marL="44356" marR="44356" marT="33267" marB="33267" anchor="ctr"/>
                </a:tc>
                <a:extLst>
                  <a:ext uri="{0D108BD9-81ED-4DB2-BD59-A6C34878D82A}">
                    <a16:rowId xmlns:a16="http://schemas.microsoft.com/office/drawing/2014/main" val="2603702133"/>
                  </a:ext>
                </a:extLst>
              </a:tr>
              <a:tr h="2513429">
                <a:tc>
                  <a:txBody>
                    <a:bodyPr/>
                    <a:lstStyle/>
                    <a:p>
                      <a:pPr fontAlgn="base"/>
                      <a:r>
                        <a:rPr lang="en-US" sz="2000" dirty="0">
                          <a:effectLst/>
                          <a:latin typeface="Arial" panose="020B0604020202020204" pitchFamily="34" charset="0"/>
                          <a:cs typeface="Arial" panose="020B0604020202020204" pitchFamily="34" charset="0"/>
                        </a:rPr>
                        <a:t>2) Skim through the questions and then read the passage, answering questions as you read.</a:t>
                      </a:r>
                    </a:p>
                  </a:txBody>
                  <a:tcPr marL="44356" marR="44356" marT="33267" marB="33267" anchor="ctr"/>
                </a:tc>
                <a:tc>
                  <a:txBody>
                    <a:bodyPr/>
                    <a:lstStyle/>
                    <a:p>
                      <a:pPr fontAlgn="base"/>
                      <a:r>
                        <a:rPr lang="en-US" sz="2000" dirty="0">
                          <a:effectLst/>
                          <a:latin typeface="Arial" panose="020B0604020202020204" pitchFamily="34" charset="0"/>
                          <a:cs typeface="Arial" panose="020B0604020202020204" pitchFamily="34" charset="0"/>
                        </a:rPr>
                        <a:t>– You save time by skipping info unrelated to the questions.</a:t>
                      </a:r>
                      <a:br>
                        <a:rPr lang="en-US" sz="2000" dirty="0">
                          <a:effectLst/>
                          <a:latin typeface="Arial" panose="020B0604020202020204" pitchFamily="34" charset="0"/>
                          <a:cs typeface="Arial" panose="020B0604020202020204" pitchFamily="34" charset="0"/>
                        </a:rPr>
                      </a:br>
                      <a:r>
                        <a:rPr lang="en-US" sz="2000" dirty="0">
                          <a:effectLst/>
                          <a:latin typeface="Arial" panose="020B0604020202020204" pitchFamily="34" charset="0"/>
                          <a:cs typeface="Arial" panose="020B0604020202020204" pitchFamily="34" charset="0"/>
                        </a:rPr>
                        <a:t>– You won’t lose focus as much during long stretches of reading.</a:t>
                      </a:r>
                      <a:br>
                        <a:rPr lang="en-US" sz="2000" dirty="0">
                          <a:effectLst/>
                          <a:latin typeface="Arial" panose="020B0604020202020204" pitchFamily="34" charset="0"/>
                          <a:cs typeface="Arial" panose="020B0604020202020204" pitchFamily="34" charset="0"/>
                        </a:rPr>
                      </a:br>
                      <a:r>
                        <a:rPr lang="en-US" sz="2000" dirty="0">
                          <a:effectLst/>
                          <a:latin typeface="Arial" panose="020B0604020202020204" pitchFamily="34" charset="0"/>
                          <a:cs typeface="Arial" panose="020B0604020202020204" pitchFamily="34" charset="0"/>
                        </a:rPr>
                        <a:t>– Relevant parts of the passage are fresh in your mind.</a:t>
                      </a:r>
                    </a:p>
                  </a:txBody>
                  <a:tcPr marL="44356" marR="44356" marT="33267" marB="33267" anchor="ctr"/>
                </a:tc>
                <a:tc>
                  <a:txBody>
                    <a:bodyPr/>
                    <a:lstStyle/>
                    <a:p>
                      <a:pPr fontAlgn="base"/>
                      <a:endParaRPr lang="en-US" sz="2000" dirty="0">
                        <a:effectLst/>
                        <a:latin typeface="Arial" panose="020B0604020202020204" pitchFamily="34" charset="0"/>
                        <a:cs typeface="Arial" panose="020B0604020202020204" pitchFamily="34" charset="0"/>
                      </a:endParaRPr>
                    </a:p>
                    <a:p>
                      <a:pPr fontAlgn="base"/>
                      <a:endParaRPr lang="en-US" sz="2000" dirty="0">
                        <a:effectLst/>
                        <a:latin typeface="Arial" panose="020B0604020202020204" pitchFamily="34" charset="0"/>
                        <a:cs typeface="Arial" panose="020B0604020202020204" pitchFamily="34" charset="0"/>
                      </a:endParaRPr>
                    </a:p>
                    <a:p>
                      <a:pPr fontAlgn="base"/>
                      <a:r>
                        <a:rPr lang="en-US" sz="2000" dirty="0">
                          <a:effectLst/>
                          <a:latin typeface="Arial" panose="020B0604020202020204" pitchFamily="34" charset="0"/>
                          <a:cs typeface="Arial" panose="020B0604020202020204" pitchFamily="34" charset="0"/>
                        </a:rPr>
                        <a:t>– Selective reading can cause you to miss the main point.</a:t>
                      </a:r>
                      <a:br>
                        <a:rPr lang="en-US" sz="2000" dirty="0">
                          <a:effectLst/>
                          <a:latin typeface="Arial" panose="020B0604020202020204" pitchFamily="34" charset="0"/>
                          <a:cs typeface="Arial" panose="020B0604020202020204" pitchFamily="34" charset="0"/>
                        </a:rPr>
                      </a:br>
                      <a:r>
                        <a:rPr lang="en-US" sz="2000" dirty="0">
                          <a:effectLst/>
                          <a:latin typeface="Arial" panose="020B0604020202020204" pitchFamily="34" charset="0"/>
                          <a:cs typeface="Arial" panose="020B0604020202020204" pitchFamily="34" charset="0"/>
                        </a:rPr>
                        <a:t>– You may struggle with questions that don’t have line references or questions that ask about the passage’s main idea.</a:t>
                      </a:r>
                    </a:p>
                  </a:txBody>
                  <a:tcPr marL="44356" marR="44356" marT="33267" marB="33267" anchor="ctr"/>
                </a:tc>
                <a:extLst>
                  <a:ext uri="{0D108BD9-81ED-4DB2-BD59-A6C34878D82A}">
                    <a16:rowId xmlns:a16="http://schemas.microsoft.com/office/drawing/2014/main" val="3499298109"/>
                  </a:ext>
                </a:extLst>
              </a:tr>
            </a:tbl>
          </a:graphicData>
        </a:graphic>
      </p:graphicFrame>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sp>
        <p:nvSpPr>
          <p:cNvPr id="5" name="Rectangle 4"/>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D82042E-9E3A-DB57-B002-B5202E34817F}"/>
              </a:ext>
            </a:extLst>
          </p:cNvPr>
          <p:cNvSpPr/>
          <p:nvPr/>
        </p:nvSpPr>
        <p:spPr>
          <a:xfrm>
            <a:off x="838200" y="1803399"/>
            <a:ext cx="10515600" cy="477160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ctr"/>
            <a:r>
              <a:rPr lang="en-GB" dirty="0">
                <a:latin typeface="Arial Black" pitchFamily="34" charset="0"/>
                <a:cs typeface="Arial" pitchFamily="34" charset="0"/>
              </a:rPr>
              <a:t>Central Idea</a:t>
            </a:r>
            <a:endParaRPr lang="en-US" dirty="0">
              <a:latin typeface="Arial Black" pitchFamily="34" charset="0"/>
              <a:cs typeface="Arial" pitchFamily="34" charset="0"/>
            </a:endParaRPr>
          </a:p>
        </p:txBody>
      </p:sp>
      <p:sp>
        <p:nvSpPr>
          <p:cNvPr id="6" name="Content Placeholder 5"/>
          <p:cNvSpPr>
            <a:spLocks noGrp="1"/>
          </p:cNvSpPr>
          <p:nvPr>
            <p:ph idx="1"/>
          </p:nvPr>
        </p:nvSpPr>
        <p:spPr/>
        <p:txBody>
          <a:bodyPr>
            <a:normAutofit/>
          </a:bodyPr>
          <a:lstStyle/>
          <a:p>
            <a:pPr marL="514350" indent="-514350" algn="just">
              <a:lnSpc>
                <a:spcPct val="150000"/>
              </a:lnSpc>
              <a:buNone/>
            </a:pPr>
            <a:r>
              <a:rPr lang="en-GB" dirty="0">
                <a:latin typeface="Arial" pitchFamily="34" charset="0"/>
                <a:ea typeface="Calibri" pitchFamily="34" charset="0"/>
                <a:cs typeface="Arial" pitchFamily="34" charset="0"/>
              </a:rPr>
              <a:t>      A paragraph must be understood in the light of:</a:t>
            </a:r>
          </a:p>
          <a:p>
            <a:pPr marL="514350" indent="-514350" algn="just">
              <a:lnSpc>
                <a:spcPct val="150000"/>
              </a:lnSpc>
            </a:pPr>
            <a:r>
              <a:rPr lang="en-GB" dirty="0">
                <a:latin typeface="Arial" pitchFamily="34" charset="0"/>
                <a:ea typeface="Calibri" pitchFamily="34" charset="0"/>
                <a:cs typeface="Arial" pitchFamily="34" charset="0"/>
              </a:rPr>
              <a:t>Central idea, which may be comprehended in accordance with the figures and facts.</a:t>
            </a:r>
          </a:p>
          <a:p>
            <a:pPr marL="514350" indent="-514350" algn="just">
              <a:lnSpc>
                <a:spcPct val="150000"/>
              </a:lnSpc>
            </a:pPr>
            <a:r>
              <a:rPr lang="en-GB" dirty="0">
                <a:latin typeface="Arial" pitchFamily="34" charset="0"/>
                <a:ea typeface="Calibri" pitchFamily="34" charset="0"/>
                <a:cs typeface="Arial" pitchFamily="34" charset="0"/>
              </a:rPr>
              <a:t>Change in the tone may help to comprehend the idea whether changed or extended. Key words may help to identify the tone</a:t>
            </a:r>
          </a:p>
          <a:p>
            <a:pPr marL="514350" indent="-514350" algn="just">
              <a:lnSpc>
                <a:spcPct val="150000"/>
              </a:lnSpc>
              <a:buNone/>
            </a:pPr>
            <a:endParaRPr lang="en-GB" dirty="0">
              <a:latin typeface="Arial" pitchFamily="34" charset="0"/>
              <a:ea typeface="Calibri" pitchFamily="34" charset="0"/>
              <a:cs typeface="Arial" pitchFamily="34" charset="0"/>
            </a:endParaRP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
        <p:nvSpPr>
          <p:cNvPr id="7" name="Rectangle 6"/>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latin typeface="Arial Black" pitchFamily="34" charset="0"/>
                <a:cs typeface="Arial" pitchFamily="34" charset="0"/>
              </a:rPr>
              <a:t>Key Words (continued)</a:t>
            </a:r>
            <a:endParaRPr lang="en-US" dirty="0">
              <a:latin typeface="Arial Black" pitchFamily="34" charset="0"/>
              <a:cs typeface="Arial" pitchFamily="34" charset="0"/>
            </a:endParaRPr>
          </a:p>
        </p:txBody>
      </p:sp>
      <p:sp>
        <p:nvSpPr>
          <p:cNvPr id="3" name="Content Placeholder 2"/>
          <p:cNvSpPr>
            <a:spLocks noGrp="1"/>
          </p:cNvSpPr>
          <p:nvPr>
            <p:ph idx="1"/>
          </p:nvPr>
        </p:nvSpPr>
        <p:spPr/>
        <p:txBody>
          <a:bodyPr>
            <a:normAutofit/>
          </a:bodyPr>
          <a:lstStyle/>
          <a:p>
            <a:pPr marL="514350" indent="-514350" algn="just">
              <a:lnSpc>
                <a:spcPct val="150000"/>
              </a:lnSpc>
            </a:pPr>
            <a:r>
              <a:rPr lang="en-GB" dirty="0">
                <a:latin typeface="Arial" pitchFamily="34" charset="0"/>
                <a:ea typeface="Calibri" pitchFamily="34" charset="0"/>
                <a:cs typeface="Arial" pitchFamily="34" charset="0"/>
              </a:rPr>
              <a:t>The students were working well. </a:t>
            </a:r>
            <a:r>
              <a:rPr lang="en-GB" b="1" dirty="0">
                <a:latin typeface="Arial" pitchFamily="34" charset="0"/>
                <a:ea typeface="Calibri" pitchFamily="34" charset="0"/>
                <a:cs typeface="Arial" pitchFamily="34" charset="0"/>
              </a:rPr>
              <a:t>However</a:t>
            </a:r>
            <a:r>
              <a:rPr lang="en-GB" dirty="0">
                <a:latin typeface="Arial" pitchFamily="34" charset="0"/>
                <a:ea typeface="Calibri" pitchFamily="34" charset="0"/>
                <a:cs typeface="Arial" pitchFamily="34" charset="0"/>
              </a:rPr>
              <a:t>……..This suggests that the idea will change. </a:t>
            </a:r>
          </a:p>
          <a:p>
            <a:pPr marL="514350" indent="-514350" algn="just">
              <a:lnSpc>
                <a:spcPct val="150000"/>
              </a:lnSpc>
            </a:pPr>
            <a:r>
              <a:rPr lang="en-GB" dirty="0">
                <a:latin typeface="Arial" pitchFamily="34" charset="0"/>
                <a:ea typeface="Calibri" pitchFamily="34" charset="0"/>
                <a:cs typeface="Arial" pitchFamily="34" charset="0"/>
              </a:rPr>
              <a:t>The students were working well. </a:t>
            </a:r>
            <a:r>
              <a:rPr lang="en-GB" b="1" dirty="0">
                <a:latin typeface="Arial" pitchFamily="34" charset="0"/>
                <a:ea typeface="Calibri" pitchFamily="34" charset="0"/>
                <a:cs typeface="Arial" pitchFamily="34" charset="0"/>
              </a:rPr>
              <a:t>And</a:t>
            </a:r>
            <a:r>
              <a:rPr lang="en-GB" dirty="0">
                <a:latin typeface="Arial" pitchFamily="34" charset="0"/>
                <a:ea typeface="Calibri" pitchFamily="34" charset="0"/>
                <a:cs typeface="Arial" pitchFamily="34" charset="0"/>
              </a:rPr>
              <a:t>……This suggests that the idea will be extended.</a:t>
            </a:r>
          </a:p>
          <a:p>
            <a:pPr marL="514350" indent="-514350" algn="just">
              <a:lnSpc>
                <a:spcPct val="150000"/>
              </a:lnSpc>
            </a:pPr>
            <a:r>
              <a:rPr lang="en-GB" dirty="0">
                <a:latin typeface="Arial" pitchFamily="34" charset="0"/>
                <a:ea typeface="Calibri" pitchFamily="34" charset="0"/>
                <a:cs typeface="Arial" pitchFamily="34" charset="0"/>
              </a:rPr>
              <a:t>For </a:t>
            </a:r>
            <a:r>
              <a:rPr lang="en-GB" dirty="0" err="1">
                <a:latin typeface="Arial" pitchFamily="34" charset="0"/>
                <a:ea typeface="Calibri" pitchFamily="34" charset="0"/>
                <a:cs typeface="Arial" pitchFamily="34" charset="0"/>
              </a:rPr>
              <a:t>eg</a:t>
            </a:r>
            <a:r>
              <a:rPr lang="en-GB" dirty="0">
                <a:latin typeface="Arial" pitchFamily="34" charset="0"/>
                <a:ea typeface="Calibri" pitchFamily="34" charset="0"/>
                <a:cs typeface="Arial" pitchFamily="34" charset="0"/>
              </a:rPr>
              <a:t> ‘He scored well in the exam (Positive).</a:t>
            </a:r>
          </a:p>
          <a:p>
            <a:pPr marL="514350" indent="-514350" algn="just">
              <a:lnSpc>
                <a:spcPct val="150000"/>
              </a:lnSpc>
            </a:pPr>
            <a:r>
              <a:rPr lang="en-GB" dirty="0">
                <a:latin typeface="Arial" pitchFamily="34" charset="0"/>
                <a:ea typeface="Calibri" pitchFamily="34" charset="0"/>
                <a:cs typeface="Arial" pitchFamily="34" charset="0"/>
              </a:rPr>
              <a:t>However, he annoyed all (Becomes negative with however).</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sp>
        <p:nvSpPr>
          <p:cNvPr id="5" name="Rectangle 4"/>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latin typeface="Arial Black" pitchFamily="34" charset="0"/>
                <a:cs typeface="Arial" pitchFamily="34" charset="0"/>
              </a:rPr>
              <a:t>Key Words</a:t>
            </a:r>
            <a:endParaRPr lang="en-US" dirty="0">
              <a:latin typeface="Arial Black" pitchFamily="34" charset="0"/>
              <a:cs typeface="Arial" pitchFamily="34" charset="0"/>
            </a:endParaRPr>
          </a:p>
        </p:txBody>
      </p:sp>
      <p:sp>
        <p:nvSpPr>
          <p:cNvPr id="3" name="Content Placeholder 2"/>
          <p:cNvSpPr>
            <a:spLocks noGrp="1"/>
          </p:cNvSpPr>
          <p:nvPr>
            <p:ph idx="1"/>
          </p:nvPr>
        </p:nvSpPr>
        <p:spPr/>
        <p:txBody>
          <a:bodyPr>
            <a:normAutofit/>
          </a:bodyPr>
          <a:lstStyle/>
          <a:p>
            <a:pPr marL="514350" indent="-514350" algn="just">
              <a:lnSpc>
                <a:spcPct val="150000"/>
              </a:lnSpc>
            </a:pPr>
            <a:r>
              <a:rPr lang="en-GB" dirty="0">
                <a:latin typeface="Arial" pitchFamily="34" charset="0"/>
                <a:ea typeface="Calibri" pitchFamily="34" charset="0"/>
                <a:cs typeface="Arial" pitchFamily="34" charset="0"/>
              </a:rPr>
              <a:t>Tone extenders: And, Further, In addition to this, Also, Moreover, Furthermore, etc.</a:t>
            </a:r>
          </a:p>
          <a:p>
            <a:pPr marL="514350" indent="-514350" algn="just">
              <a:lnSpc>
                <a:spcPct val="150000"/>
              </a:lnSpc>
              <a:buNone/>
            </a:pPr>
            <a:endParaRPr lang="en-GB" dirty="0">
              <a:latin typeface="Arial" pitchFamily="34" charset="0"/>
              <a:ea typeface="Calibri" pitchFamily="34" charset="0"/>
              <a:cs typeface="Arial" pitchFamily="34" charset="0"/>
            </a:endParaRPr>
          </a:p>
          <a:p>
            <a:pPr marL="514350" indent="-514350" algn="just">
              <a:lnSpc>
                <a:spcPct val="150000"/>
              </a:lnSpc>
            </a:pPr>
            <a:r>
              <a:rPr lang="en-GB" dirty="0">
                <a:latin typeface="Arial" pitchFamily="34" charset="0"/>
                <a:ea typeface="Calibri" pitchFamily="34" charset="0"/>
                <a:cs typeface="Arial" pitchFamily="34" charset="0"/>
              </a:rPr>
              <a:t>Tone changers: However, Although, Despite, In spite of, etc.</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sp>
        <p:nvSpPr>
          <p:cNvPr id="5" name="Rectangle 4"/>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latin typeface="Arial Black" pitchFamily="34" charset="0"/>
                <a:cs typeface="Arial" pitchFamily="34" charset="0"/>
              </a:rPr>
              <a:t>Inference</a:t>
            </a:r>
            <a:endParaRPr lang="en-US" dirty="0">
              <a:latin typeface="Arial Black" pitchFamily="34" charset="0"/>
            </a:endParaRPr>
          </a:p>
        </p:txBody>
      </p:sp>
      <p:sp>
        <p:nvSpPr>
          <p:cNvPr id="3" name="Content Placeholder 2"/>
          <p:cNvSpPr>
            <a:spLocks noGrp="1"/>
          </p:cNvSpPr>
          <p:nvPr>
            <p:ph idx="1"/>
          </p:nvPr>
        </p:nvSpPr>
        <p:spPr/>
        <p:txBody>
          <a:bodyPr>
            <a:noAutofit/>
          </a:bodyPr>
          <a:lstStyle/>
          <a:p>
            <a:pPr>
              <a:lnSpc>
                <a:spcPct val="150000"/>
              </a:lnSpc>
            </a:pPr>
            <a:r>
              <a:rPr lang="en-US" dirty="0">
                <a:latin typeface="Arial" pitchFamily="34" charset="0"/>
                <a:ea typeface="Calibri" pitchFamily="34" charset="0"/>
                <a:cs typeface="Arial" pitchFamily="34" charset="0"/>
              </a:rPr>
              <a:t>Inference is an unstated conclusion that the reader draws. </a:t>
            </a:r>
          </a:p>
          <a:p>
            <a:pPr>
              <a:lnSpc>
                <a:spcPct val="150000"/>
              </a:lnSpc>
            </a:pPr>
            <a:r>
              <a:rPr lang="en-US" dirty="0">
                <a:latin typeface="Arial" pitchFamily="34" charset="0"/>
                <a:ea typeface="Calibri" pitchFamily="34" charset="0"/>
                <a:cs typeface="Arial" pitchFamily="34" charset="0"/>
              </a:rPr>
              <a:t>Questions of Inference are tricky. The correct answer is neither stated directly nor based on conjectural opinions.</a:t>
            </a:r>
          </a:p>
          <a:p>
            <a:pPr>
              <a:lnSpc>
                <a:spcPct val="150000"/>
              </a:lnSpc>
            </a:pPr>
            <a:r>
              <a:rPr lang="en-US" dirty="0">
                <a:latin typeface="Arial" pitchFamily="34" charset="0"/>
                <a:ea typeface="Calibri" pitchFamily="34" charset="0"/>
                <a:cs typeface="Arial" pitchFamily="34" charset="0"/>
              </a:rPr>
              <a:t>For example the sentence, ‘The student scored 95 out of 100’ leads to the inference that the student performed well. </a:t>
            </a:r>
          </a:p>
          <a:p>
            <a:pPr>
              <a:lnSpc>
                <a:spcPct val="150000"/>
              </a:lnSpc>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a:p>
        </p:txBody>
      </p:sp>
      <p:sp>
        <p:nvSpPr>
          <p:cNvPr id="5" name="Rectangle 4"/>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54069-12C2-4C5A-BE82-6A1442E6892E}"/>
              </a:ext>
            </a:extLst>
          </p:cNvPr>
          <p:cNvSpPr>
            <a:spLocks noGrp="1"/>
          </p:cNvSpPr>
          <p:nvPr>
            <p:ph type="title"/>
          </p:nvPr>
        </p:nvSpPr>
        <p:spPr>
          <a:xfrm>
            <a:off x="838200" y="206974"/>
            <a:ext cx="10515600" cy="1325563"/>
          </a:xfrm>
        </p:spPr>
        <p:style>
          <a:lnRef idx="2">
            <a:schemeClr val="dk1"/>
          </a:lnRef>
          <a:fillRef idx="1">
            <a:schemeClr val="lt1"/>
          </a:fillRef>
          <a:effectRef idx="0">
            <a:schemeClr val="dk1"/>
          </a:effectRef>
          <a:fontRef idx="minor">
            <a:schemeClr val="dk1"/>
          </a:fontRef>
        </p:style>
        <p:txBody>
          <a:bodyPr/>
          <a:lstStyle/>
          <a:p>
            <a:r>
              <a:rPr lang="en-US" dirty="0">
                <a:latin typeface="Arial Black"/>
              </a:rPr>
              <a:t>           POLL QUESTION</a:t>
            </a:r>
            <a:endParaRPr lang="en-US" dirty="0"/>
          </a:p>
        </p:txBody>
      </p:sp>
      <p:sp>
        <p:nvSpPr>
          <p:cNvPr id="3" name="Content Placeholder 2">
            <a:extLst>
              <a:ext uri="{FF2B5EF4-FFF2-40B4-BE49-F238E27FC236}">
                <a16:creationId xmlns:a16="http://schemas.microsoft.com/office/drawing/2014/main" id="{69A6991F-B728-452F-BA0C-862845B701C1}"/>
              </a:ext>
            </a:extLst>
          </p:cNvPr>
          <p:cNvSpPr>
            <a:spLocks noGrp="1"/>
          </p:cNvSpPr>
          <p:nvPr>
            <p:ph idx="1"/>
          </p:nvPr>
        </p:nvSpPr>
        <p:spPr>
          <a:xfrm>
            <a:off x="838200" y="1825625"/>
            <a:ext cx="10515600" cy="4351338"/>
          </a:xfrm>
        </p:spPr>
        <p:style>
          <a:lnRef idx="2">
            <a:schemeClr val="dk1"/>
          </a:lnRef>
          <a:fillRef idx="1">
            <a:schemeClr val="lt1"/>
          </a:fillRef>
          <a:effectRef idx="0">
            <a:schemeClr val="dk1"/>
          </a:effectRef>
          <a:fontRef idx="minor">
            <a:schemeClr val="dk1"/>
          </a:fontRef>
        </p:style>
        <p:txBody>
          <a:bodyPr vert="horz" lIns="91440" tIns="45720" rIns="91440" bIns="45720" rtlCol="0" anchor="t">
            <a:normAutofit/>
          </a:bodyPr>
          <a:lstStyle/>
          <a:p>
            <a:pPr marL="0" indent="0">
              <a:buNone/>
            </a:pPr>
            <a:endParaRPr lang="en-US" b="1" dirty="0">
              <a:latin typeface="Arial"/>
              <a:cs typeface="Calibri"/>
            </a:endParaRPr>
          </a:p>
          <a:p>
            <a:pPr marL="0" indent="0">
              <a:buNone/>
            </a:pPr>
            <a:r>
              <a:rPr lang="en-US" b="1" dirty="0">
                <a:latin typeface="Arial"/>
                <a:cs typeface="Calibri"/>
              </a:rPr>
              <a:t>Reading speed may be increased by a strong grip on:</a:t>
            </a:r>
          </a:p>
          <a:p>
            <a:pPr marL="457200" indent="-457200">
              <a:buAutoNum type="arabicPeriod"/>
            </a:pPr>
            <a:r>
              <a:rPr lang="en-US" dirty="0">
                <a:latin typeface="Arial"/>
                <a:cs typeface="Calibri"/>
              </a:rPr>
              <a:t>Central idea</a:t>
            </a:r>
          </a:p>
          <a:p>
            <a:pPr marL="457200" indent="-457200">
              <a:buAutoNum type="arabicPeriod"/>
            </a:pPr>
            <a:r>
              <a:rPr lang="en-US" dirty="0">
                <a:latin typeface="Arial"/>
                <a:cs typeface="Calibri"/>
              </a:rPr>
              <a:t>Words</a:t>
            </a:r>
          </a:p>
          <a:p>
            <a:pPr marL="457200" indent="-457200">
              <a:buAutoNum type="arabicPeriod"/>
            </a:pPr>
            <a:r>
              <a:rPr lang="en-US" dirty="0">
                <a:latin typeface="Arial"/>
                <a:cs typeface="Calibri"/>
              </a:rPr>
              <a:t>Meanings</a:t>
            </a:r>
          </a:p>
          <a:p>
            <a:pPr marL="457200" indent="-457200">
              <a:buAutoNum type="arabicPeriod"/>
            </a:pPr>
            <a:r>
              <a:rPr lang="en-US" dirty="0">
                <a:latin typeface="Arial"/>
                <a:cs typeface="Calibri"/>
              </a:rPr>
              <a:t>None of these</a:t>
            </a:r>
          </a:p>
        </p:txBody>
      </p:sp>
      <p:sp>
        <p:nvSpPr>
          <p:cNvPr id="4" name="Slide Number Placeholder 3">
            <a:extLst>
              <a:ext uri="{FF2B5EF4-FFF2-40B4-BE49-F238E27FC236}">
                <a16:creationId xmlns:a16="http://schemas.microsoft.com/office/drawing/2014/main" id="{D258CCC4-4195-4893-8F85-024F73951EC3}"/>
              </a:ext>
            </a:extLst>
          </p:cNvPr>
          <p:cNvSpPr>
            <a:spLocks noGrp="1"/>
          </p:cNvSpPr>
          <p:nvPr>
            <p:ph type="sldNum" sz="quarter" idx="12"/>
          </p:nvPr>
        </p:nvSpPr>
        <p:spPr/>
        <p:txBody>
          <a:bodyPr/>
          <a:lstStyle/>
          <a:p>
            <a:fld id="{BDCDBBEF-AA6C-4BA6-85B2-A17D7F280E38}" type="slidenum">
              <a:rPr lang="en-US" smtClean="0"/>
              <a:pPr/>
              <a:t>13</a:t>
            </a:fld>
            <a:endParaRPr lang="en-US"/>
          </a:p>
        </p:txBody>
      </p:sp>
    </p:spTree>
    <p:extLst>
      <p:ext uri="{BB962C8B-B14F-4D97-AF65-F5344CB8AC3E}">
        <p14:creationId xmlns:p14="http://schemas.microsoft.com/office/powerpoint/2010/main" val="8911625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Arial Black" pitchFamily="34" charset="0"/>
                <a:cs typeface="Arial" pitchFamily="34" charset="0"/>
              </a:rPr>
              <a:t>Barriers To Quick Reading</a:t>
            </a:r>
            <a:endParaRPr lang="en-US" dirty="0">
              <a:latin typeface="Arial Black" pitchFamily="34" charset="0"/>
              <a:cs typeface="Arial" pitchFamily="34" charset="0"/>
            </a:endParaRPr>
          </a:p>
        </p:txBody>
      </p:sp>
      <p:sp>
        <p:nvSpPr>
          <p:cNvPr id="3" name="Content Placeholder 2"/>
          <p:cNvSpPr>
            <a:spLocks noGrp="1"/>
          </p:cNvSpPr>
          <p:nvPr>
            <p:ph idx="1"/>
          </p:nvPr>
        </p:nvSpPr>
        <p:spPr/>
        <p:txBody>
          <a:bodyPr>
            <a:noAutofit/>
          </a:bodyPr>
          <a:lstStyle/>
          <a:p>
            <a:pPr>
              <a:lnSpc>
                <a:spcPct val="200000"/>
              </a:lnSpc>
            </a:pPr>
            <a:r>
              <a:rPr lang="en-US" dirty="0">
                <a:latin typeface="Arial" pitchFamily="34" charset="0"/>
                <a:cs typeface="Arial" pitchFamily="34" charset="0"/>
              </a:rPr>
              <a:t>Sub-vocalization- When we repeat words inside. </a:t>
            </a:r>
          </a:p>
          <a:p>
            <a:pPr>
              <a:lnSpc>
                <a:spcPct val="200000"/>
              </a:lnSpc>
              <a:buFont typeface="Arial" charset="0"/>
              <a:buChar char="•"/>
            </a:pPr>
            <a:r>
              <a:rPr lang="en-US" dirty="0">
                <a:latin typeface="Arial" pitchFamily="34" charset="0"/>
                <a:cs typeface="Arial" pitchFamily="34" charset="0"/>
              </a:rPr>
              <a:t>Regression- When we are coerced to read again.</a:t>
            </a:r>
          </a:p>
          <a:p>
            <a:pPr>
              <a:lnSpc>
                <a:spcPct val="200000"/>
              </a:lnSpc>
              <a:buFont typeface="Arial" charset="0"/>
              <a:buChar char="•"/>
            </a:pPr>
            <a:r>
              <a:rPr lang="en-GB" dirty="0">
                <a:latin typeface="Arial" pitchFamily="34" charset="0"/>
                <a:cs typeface="Arial" pitchFamily="34" charset="0"/>
              </a:rPr>
              <a:t>Limited Vocabulary- When we are unfamiliar with words.</a:t>
            </a:r>
          </a:p>
          <a:p>
            <a:pPr>
              <a:lnSpc>
                <a:spcPct val="200000"/>
              </a:lnSpc>
              <a:buFont typeface="Arial" charset="0"/>
              <a:buChar char="•"/>
            </a:pPr>
            <a:r>
              <a:rPr lang="en-GB" dirty="0">
                <a:latin typeface="Arial" pitchFamily="34" charset="0"/>
                <a:cs typeface="Arial" pitchFamily="34" charset="0"/>
              </a:rPr>
              <a:t>Limited Knowledge- When we are unfamiliar with the context.</a:t>
            </a:r>
            <a:endParaRPr lang="en-US" dirty="0">
              <a:latin typeface="Arial" pitchFamily="34" charset="0"/>
              <a:cs typeface="Arial" pitchFamily="34" charset="0"/>
            </a:endParaRPr>
          </a:p>
          <a:p>
            <a:pPr>
              <a:lnSpc>
                <a:spcPct val="200000"/>
              </a:lnSpc>
            </a:pPr>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sp>
        <p:nvSpPr>
          <p:cNvPr id="5" name="Rectangle 4"/>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Arial Black" pitchFamily="34" charset="0"/>
                <a:cs typeface="Arial" pitchFamily="34" charset="0"/>
              </a:rPr>
              <a:t>Types of Questions</a:t>
            </a:r>
            <a:endParaRPr lang="en-US" dirty="0">
              <a:latin typeface="Arial Black" pitchFamily="34" charset="0"/>
            </a:endParaRPr>
          </a:p>
        </p:txBody>
      </p:sp>
      <p:sp>
        <p:nvSpPr>
          <p:cNvPr id="3" name="Content Placeholder 2"/>
          <p:cNvSpPr>
            <a:spLocks noGrp="1"/>
          </p:cNvSpPr>
          <p:nvPr>
            <p:ph idx="1"/>
          </p:nvPr>
        </p:nvSpPr>
        <p:spPr/>
        <p:txBody>
          <a:bodyPr>
            <a:noAutofit/>
          </a:bodyPr>
          <a:lstStyle/>
          <a:p>
            <a:pPr>
              <a:lnSpc>
                <a:spcPct val="100000"/>
              </a:lnSpc>
            </a:pPr>
            <a:r>
              <a:rPr lang="en-US" dirty="0">
                <a:latin typeface="Arial" pitchFamily="34" charset="0"/>
                <a:cs typeface="Arial" pitchFamily="34" charset="0"/>
              </a:rPr>
              <a:t>Tone: Such questions can be answered in the light of key words</a:t>
            </a:r>
          </a:p>
          <a:p>
            <a:pPr>
              <a:lnSpc>
                <a:spcPct val="100000"/>
              </a:lnSpc>
            </a:pPr>
            <a:r>
              <a:rPr lang="en-US" dirty="0">
                <a:latin typeface="Arial" pitchFamily="34" charset="0"/>
                <a:cs typeface="Arial" pitchFamily="34" charset="0"/>
              </a:rPr>
              <a:t>Inferential: Inferences are drawn on the basis of the information given</a:t>
            </a:r>
          </a:p>
          <a:p>
            <a:pPr>
              <a:lnSpc>
                <a:spcPct val="100000"/>
              </a:lnSpc>
            </a:pPr>
            <a:r>
              <a:rPr lang="en-US" dirty="0">
                <a:latin typeface="Arial" pitchFamily="34" charset="0"/>
                <a:cs typeface="Arial" pitchFamily="34" charset="0"/>
              </a:rPr>
              <a:t>Referential: These are direct questions. To solve these, one must be able to retain the information </a:t>
            </a:r>
          </a:p>
          <a:p>
            <a:pPr>
              <a:lnSpc>
                <a:spcPct val="100000"/>
              </a:lnSpc>
            </a:pPr>
            <a:r>
              <a:rPr lang="en-GB" dirty="0">
                <a:latin typeface="Arial" pitchFamily="34" charset="0"/>
                <a:cs typeface="Arial" pitchFamily="34" charset="0"/>
              </a:rPr>
              <a:t>Vocabulary: Sometimes contextual meanings of words are asked</a:t>
            </a:r>
            <a:endParaRPr lang="en-US" dirty="0">
              <a:latin typeface="Arial" pitchFamily="34" charset="0"/>
              <a:cs typeface="Arial" pitchFamily="34" charset="0"/>
            </a:endParaRPr>
          </a:p>
          <a:p>
            <a:pPr>
              <a:lnSpc>
                <a:spcPct val="100000"/>
              </a:lnSpc>
            </a:pPr>
            <a:endParaRPr lang="en-US" dirty="0"/>
          </a:p>
          <a:p>
            <a:pPr>
              <a:lnSpc>
                <a:spcPct val="100000"/>
              </a:lnSpc>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sp>
        <p:nvSpPr>
          <p:cNvPr id="5" name="Rectangle 4"/>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05A45-687B-19A2-F491-91ABA0BF0187}"/>
              </a:ext>
            </a:extLst>
          </p:cNvPr>
          <p:cNvSpPr>
            <a:spLocks noGrp="1"/>
          </p:cNvSpPr>
          <p:nvPr>
            <p:ph type="title"/>
          </p:nvPr>
        </p:nvSpPr>
        <p:spPr/>
        <p:txBody>
          <a:bodyPr/>
          <a:lstStyle/>
          <a:p>
            <a:pPr algn="ctr"/>
            <a:r>
              <a:rPr lang="en-IN" b="1" dirty="0">
                <a:latin typeface="Arial Black" panose="020B0A04020102020204" pitchFamily="34" charset="0"/>
              </a:rPr>
              <a:t>Inferential Question Example</a:t>
            </a:r>
          </a:p>
        </p:txBody>
      </p:sp>
      <p:sp>
        <p:nvSpPr>
          <p:cNvPr id="3" name="Content Placeholder 2">
            <a:extLst>
              <a:ext uri="{FF2B5EF4-FFF2-40B4-BE49-F238E27FC236}">
                <a16:creationId xmlns:a16="http://schemas.microsoft.com/office/drawing/2014/main" id="{45AA5AB2-064C-7F50-4C83-54CFCBBCD084}"/>
              </a:ext>
            </a:extLst>
          </p:cNvPr>
          <p:cNvSpPr>
            <a:spLocks noGrp="1"/>
          </p:cNvSpPr>
          <p:nvPr>
            <p:ph idx="1"/>
          </p:nvPr>
        </p:nvSpPr>
        <p:spPr/>
        <p:txBody>
          <a:bodyPr/>
          <a:lstStyle/>
          <a:p>
            <a:pPr algn="l"/>
            <a:r>
              <a:rPr lang="en-US" b="0" i="0" dirty="0">
                <a:effectLst/>
                <a:latin typeface="Arial" panose="020B0604020202020204" pitchFamily="34" charset="0"/>
                <a:cs typeface="Arial" panose="020B0604020202020204" pitchFamily="34" charset="0"/>
              </a:rPr>
              <a:t>Autumn is the season that falls between summer and winter. There are many changes that occur at the beginning of the season. Days become shorter, leaves turn red, yellow, and orange. Sunlight is very essential for trees to keep their leaves green. Animals start storing their food to last through the long winter months.</a:t>
            </a:r>
          </a:p>
          <a:p>
            <a:pPr marL="0" indent="0" algn="l">
              <a:buNone/>
            </a:pPr>
            <a:endParaRPr lang="en-US" b="0" i="0" dirty="0">
              <a:effectLst/>
              <a:latin typeface="Arial" panose="020B0604020202020204" pitchFamily="34" charset="0"/>
              <a:cs typeface="Arial" panose="020B0604020202020204" pitchFamily="34" charset="0"/>
            </a:endParaRPr>
          </a:p>
          <a:p>
            <a:pPr algn="l"/>
            <a:r>
              <a:rPr lang="en-US" b="1" i="0" dirty="0">
                <a:effectLst/>
                <a:latin typeface="Arial" panose="020B0604020202020204" pitchFamily="34" charset="0"/>
                <a:cs typeface="Arial" panose="020B0604020202020204" pitchFamily="34" charset="0"/>
              </a:rPr>
              <a:t>Question </a:t>
            </a:r>
            <a:r>
              <a:rPr lang="en-US" b="0" i="0" dirty="0">
                <a:effectLst/>
                <a:latin typeface="Arial" panose="020B0604020202020204" pitchFamily="34" charset="0"/>
                <a:cs typeface="Arial" panose="020B0604020202020204" pitchFamily="34" charset="0"/>
              </a:rPr>
              <a:t>What is the main purpose of the passage? Here, the reader has to draw a conclusion according to his un</a:t>
            </a:r>
            <a:r>
              <a:rPr lang="en-US" dirty="0">
                <a:latin typeface="Arial" panose="020B0604020202020204" pitchFamily="34" charset="0"/>
                <a:cs typeface="Arial" panose="020B0604020202020204" pitchFamily="34" charset="0"/>
              </a:rPr>
              <a:t>derstanding.</a:t>
            </a:r>
            <a:endParaRPr lang="en-IN"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0F6A7AC-34CE-3DB8-22FF-E71D72FAB5DF}"/>
              </a:ext>
            </a:extLst>
          </p:cNvPr>
          <p:cNvSpPr>
            <a:spLocks noGrp="1"/>
          </p:cNvSpPr>
          <p:nvPr>
            <p:ph type="sldNum" sz="quarter" idx="12"/>
          </p:nvPr>
        </p:nvSpPr>
        <p:spPr/>
        <p:txBody>
          <a:bodyPr/>
          <a:lstStyle/>
          <a:p>
            <a:fld id="{BDCDBBEF-AA6C-4BA6-85B2-A17D7F280E38}" type="slidenum">
              <a:rPr lang="en-US" smtClean="0"/>
              <a:pPr/>
              <a:t>16</a:t>
            </a:fld>
            <a:endParaRPr lang="en-US"/>
          </a:p>
        </p:txBody>
      </p:sp>
      <p:sp>
        <p:nvSpPr>
          <p:cNvPr id="5" name="Rectangle 4">
            <a:extLst>
              <a:ext uri="{FF2B5EF4-FFF2-40B4-BE49-F238E27FC236}">
                <a16:creationId xmlns:a16="http://schemas.microsoft.com/office/drawing/2014/main" id="{CEF5D7BD-4571-1767-D817-4CFF84863CCA}"/>
              </a:ext>
            </a:extLst>
          </p:cNvPr>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8DFA1E70-A143-7833-13A3-AF818B7818D4}"/>
              </a:ext>
            </a:extLst>
          </p:cNvPr>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731963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05A45-687B-19A2-F491-91ABA0BF0187}"/>
              </a:ext>
            </a:extLst>
          </p:cNvPr>
          <p:cNvSpPr>
            <a:spLocks noGrp="1"/>
          </p:cNvSpPr>
          <p:nvPr>
            <p:ph type="title"/>
          </p:nvPr>
        </p:nvSpPr>
        <p:spPr/>
        <p:txBody>
          <a:bodyPr/>
          <a:lstStyle/>
          <a:p>
            <a:pPr algn="ctr"/>
            <a:r>
              <a:rPr lang="en-IN" b="1" dirty="0">
                <a:latin typeface="Arial Black" panose="020B0A04020102020204" pitchFamily="34" charset="0"/>
              </a:rPr>
              <a:t>Referential</a:t>
            </a:r>
            <a:r>
              <a:rPr lang="en-IN" b="1" dirty="0"/>
              <a:t> </a:t>
            </a:r>
            <a:r>
              <a:rPr lang="en-IN" b="1" dirty="0">
                <a:latin typeface="Arial Black" panose="020B0A04020102020204" pitchFamily="34" charset="0"/>
              </a:rPr>
              <a:t>Question Example</a:t>
            </a:r>
          </a:p>
        </p:txBody>
      </p:sp>
      <p:sp>
        <p:nvSpPr>
          <p:cNvPr id="3" name="Content Placeholder 2">
            <a:extLst>
              <a:ext uri="{FF2B5EF4-FFF2-40B4-BE49-F238E27FC236}">
                <a16:creationId xmlns:a16="http://schemas.microsoft.com/office/drawing/2014/main" id="{45AA5AB2-064C-7F50-4C83-54CFCBBCD084}"/>
              </a:ext>
            </a:extLst>
          </p:cNvPr>
          <p:cNvSpPr>
            <a:spLocks noGrp="1"/>
          </p:cNvSpPr>
          <p:nvPr>
            <p:ph idx="1"/>
          </p:nvPr>
        </p:nvSpPr>
        <p:spPr/>
        <p:txBody>
          <a:bodyPr/>
          <a:lstStyle/>
          <a:p>
            <a:pPr algn="l"/>
            <a:r>
              <a:rPr lang="en-US" b="0" i="0" dirty="0">
                <a:effectLst/>
                <a:latin typeface="Arial" panose="020B0604020202020204" pitchFamily="34" charset="0"/>
                <a:cs typeface="Arial" panose="020B0604020202020204" pitchFamily="34" charset="0"/>
              </a:rPr>
              <a:t>Autumn is the season that falls between summer and winter. There are many changes that occur at the beginning of the season. Days become shorter, leaves turn red, yellow, and orange. Sunlight is very essential for trees to keep their leaves green. Animals start storing their food to last through the long winter months.</a:t>
            </a:r>
          </a:p>
          <a:p>
            <a:pPr marL="0" indent="0" algn="l">
              <a:buNone/>
            </a:pPr>
            <a:endParaRPr lang="en-US" b="0" i="0" dirty="0">
              <a:effectLst/>
              <a:latin typeface="Arial" panose="020B0604020202020204" pitchFamily="34" charset="0"/>
              <a:cs typeface="Arial" panose="020B0604020202020204" pitchFamily="34" charset="0"/>
            </a:endParaRPr>
          </a:p>
          <a:p>
            <a:pPr algn="l"/>
            <a:r>
              <a:rPr lang="en-US" b="1" i="0" dirty="0">
                <a:effectLst/>
                <a:latin typeface="Arial" panose="020B0604020202020204" pitchFamily="34" charset="0"/>
                <a:cs typeface="Arial" panose="020B0604020202020204" pitchFamily="34" charset="0"/>
              </a:rPr>
              <a:t>Question </a:t>
            </a:r>
            <a:r>
              <a:rPr lang="en-US" b="0" i="0" dirty="0">
                <a:effectLst/>
                <a:latin typeface="roboto" panose="02000000000000000000" pitchFamily="2" charset="0"/>
              </a:rPr>
              <a:t>Autumn occurs between summer and which another season? Here, the answer is directly given in the passage.</a:t>
            </a:r>
            <a:endParaRPr lang="en-IN"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0F6A7AC-34CE-3DB8-22FF-E71D72FAB5DF}"/>
              </a:ext>
            </a:extLst>
          </p:cNvPr>
          <p:cNvSpPr>
            <a:spLocks noGrp="1"/>
          </p:cNvSpPr>
          <p:nvPr>
            <p:ph type="sldNum" sz="quarter" idx="12"/>
          </p:nvPr>
        </p:nvSpPr>
        <p:spPr/>
        <p:txBody>
          <a:bodyPr/>
          <a:lstStyle/>
          <a:p>
            <a:fld id="{BDCDBBEF-AA6C-4BA6-85B2-A17D7F280E38}" type="slidenum">
              <a:rPr lang="en-US" smtClean="0"/>
              <a:pPr/>
              <a:t>17</a:t>
            </a:fld>
            <a:endParaRPr lang="en-US"/>
          </a:p>
        </p:txBody>
      </p:sp>
      <p:sp>
        <p:nvSpPr>
          <p:cNvPr id="7" name="Rectangle 6">
            <a:extLst>
              <a:ext uri="{FF2B5EF4-FFF2-40B4-BE49-F238E27FC236}">
                <a16:creationId xmlns:a16="http://schemas.microsoft.com/office/drawing/2014/main" id="{943EAFCE-B173-22AF-80F3-D11D279E12C5}"/>
              </a:ext>
            </a:extLst>
          </p:cNvPr>
          <p:cNvSpPr/>
          <p:nvPr/>
        </p:nvSpPr>
        <p:spPr>
          <a:xfrm>
            <a:off x="838200" y="174625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55F22D3-80EA-19E8-A964-916E2B67CC68}"/>
              </a:ext>
            </a:extLst>
          </p:cNvPr>
          <p:cNvSpPr/>
          <p:nvPr/>
        </p:nvSpPr>
        <p:spPr>
          <a:xfrm>
            <a:off x="838200" y="30321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845371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latin typeface="Arial Black" pitchFamily="34" charset="0"/>
              </a:rPr>
              <a:t>Location of Questions</a:t>
            </a:r>
            <a:endParaRPr lang="en-US" dirty="0">
              <a:latin typeface="Arial Black" pitchFamily="34" charset="0"/>
            </a:endParaRPr>
          </a:p>
        </p:txBody>
      </p:sp>
      <p:sp>
        <p:nvSpPr>
          <p:cNvPr id="3" name="Content Placeholder 2"/>
          <p:cNvSpPr>
            <a:spLocks noGrp="1"/>
          </p:cNvSpPr>
          <p:nvPr>
            <p:ph idx="1"/>
          </p:nvPr>
        </p:nvSpPr>
        <p:spPr/>
        <p:txBody>
          <a:bodyPr/>
          <a:lstStyle/>
          <a:p>
            <a:pPr>
              <a:lnSpc>
                <a:spcPct val="200000"/>
              </a:lnSpc>
            </a:pPr>
            <a:r>
              <a:rPr lang="en-GB" dirty="0">
                <a:latin typeface="Arial" pitchFamily="34" charset="0"/>
                <a:cs typeface="Arial" pitchFamily="34" charset="0"/>
              </a:rPr>
              <a:t>Around phrases</a:t>
            </a:r>
          </a:p>
          <a:p>
            <a:pPr>
              <a:lnSpc>
                <a:spcPct val="200000"/>
              </a:lnSpc>
            </a:pPr>
            <a:r>
              <a:rPr lang="en-GB" dirty="0">
                <a:latin typeface="Arial" pitchFamily="34" charset="0"/>
                <a:cs typeface="Arial" pitchFamily="34" charset="0"/>
              </a:rPr>
              <a:t>Statistics</a:t>
            </a:r>
          </a:p>
          <a:p>
            <a:pPr>
              <a:lnSpc>
                <a:spcPct val="200000"/>
              </a:lnSpc>
            </a:pPr>
            <a:r>
              <a:rPr lang="en-GB" dirty="0">
                <a:latin typeface="Arial" pitchFamily="34" charset="0"/>
                <a:cs typeface="Arial" pitchFamily="34" charset="0"/>
              </a:rPr>
              <a:t>Statements within quotes</a:t>
            </a:r>
          </a:p>
          <a:p>
            <a:pPr>
              <a:lnSpc>
                <a:spcPct val="200000"/>
              </a:lnSpc>
            </a:pPr>
            <a:r>
              <a:rPr lang="en-GB" dirty="0">
                <a:latin typeface="Arial" pitchFamily="34" charset="0"/>
                <a:cs typeface="Arial" pitchFamily="34" charset="0"/>
              </a:rPr>
              <a:t>Question in the passage (if any)</a:t>
            </a:r>
          </a:p>
          <a:p>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18</a:t>
            </a:fld>
            <a:endParaRPr lang="en-US"/>
          </a:p>
        </p:txBody>
      </p:sp>
      <p:sp>
        <p:nvSpPr>
          <p:cNvPr id="5" name="Rectangle 4"/>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693C3-78A1-0C28-329F-3520C579D5DD}"/>
              </a:ext>
            </a:extLst>
          </p:cNvPr>
          <p:cNvSpPr>
            <a:spLocks noGrp="1"/>
          </p:cNvSpPr>
          <p:nvPr>
            <p:ph type="title"/>
          </p:nvPr>
        </p:nvSpPr>
        <p:spPr/>
        <p:txBody>
          <a:bodyPr/>
          <a:lstStyle/>
          <a:p>
            <a:pPr algn="ctr"/>
            <a:r>
              <a:rPr lang="en-IN" b="1" dirty="0">
                <a:latin typeface="Arial Black" panose="020B0A04020102020204" pitchFamily="34" charset="0"/>
              </a:rPr>
              <a:t>Tips for long paragraphs</a:t>
            </a:r>
          </a:p>
        </p:txBody>
      </p:sp>
      <p:sp>
        <p:nvSpPr>
          <p:cNvPr id="3" name="Content Placeholder 2">
            <a:extLst>
              <a:ext uri="{FF2B5EF4-FFF2-40B4-BE49-F238E27FC236}">
                <a16:creationId xmlns:a16="http://schemas.microsoft.com/office/drawing/2014/main" id="{07CDD757-AA16-4423-4D66-14428390617A}"/>
              </a:ext>
            </a:extLst>
          </p:cNvPr>
          <p:cNvSpPr>
            <a:spLocks noGrp="1"/>
          </p:cNvSpPr>
          <p:nvPr>
            <p:ph idx="1"/>
          </p:nvPr>
        </p:nvSpPr>
        <p:spPr>
          <a:xfrm>
            <a:off x="838200" y="1768473"/>
            <a:ext cx="10515600" cy="4351338"/>
          </a:xfrm>
        </p:spPr>
        <p:txBody>
          <a:bodyPr>
            <a:noAutofit/>
          </a:bodyPr>
          <a:lstStyle/>
          <a:p>
            <a:pPr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The reader should develop a </a:t>
            </a:r>
            <a:r>
              <a:rPr lang="en-US" b="1" i="0" dirty="0">
                <a:effectLst/>
                <a:latin typeface="Arial" panose="020B0604020202020204" pitchFamily="34" charset="0"/>
                <a:cs typeface="Arial" panose="020B0604020202020204" pitchFamily="34" charset="0"/>
              </a:rPr>
              <a:t>habit of reading</a:t>
            </a:r>
            <a:r>
              <a:rPr lang="en-US" b="0" i="0" dirty="0">
                <a:effectLst/>
                <a:latin typeface="Arial" panose="020B0604020202020204" pitchFamily="34" charset="0"/>
                <a:cs typeface="Arial" panose="020B0604020202020204" pitchFamily="34" charset="0"/>
              </a:rPr>
              <a:t> different types of articles which will help them to understand the tone, attitude, and style of writing of several writers.</a:t>
            </a:r>
          </a:p>
          <a:p>
            <a:pPr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Use the </a:t>
            </a:r>
            <a:r>
              <a:rPr lang="en-US" b="1" i="0" dirty="0">
                <a:effectLst/>
                <a:latin typeface="Arial" panose="020B0604020202020204" pitchFamily="34" charset="0"/>
                <a:cs typeface="Arial" panose="020B0604020202020204" pitchFamily="34" charset="0"/>
              </a:rPr>
              <a:t>“bottom-up”</a:t>
            </a:r>
            <a:r>
              <a:rPr lang="en-US" b="0" i="0" dirty="0">
                <a:effectLst/>
                <a:latin typeface="Arial" panose="020B0604020202020204" pitchFamily="34" charset="0"/>
                <a:cs typeface="Arial" panose="020B0604020202020204" pitchFamily="34" charset="0"/>
              </a:rPr>
              <a:t> approach which means, read the questions first, so that the reader has an idea of what to look for, in the passage. It will save the reader’s time.</a:t>
            </a:r>
          </a:p>
          <a:p>
            <a:pPr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While reading the long passage make sure </a:t>
            </a:r>
            <a:r>
              <a:rPr lang="en-US" b="1" i="0" dirty="0">
                <a:effectLst/>
                <a:latin typeface="Arial" panose="020B0604020202020204" pitchFamily="34" charset="0"/>
                <a:cs typeface="Arial" panose="020B0604020202020204" pitchFamily="34" charset="0"/>
              </a:rPr>
              <a:t>not to read the complete passage</a:t>
            </a:r>
            <a:r>
              <a:rPr lang="en-US" b="0" i="0" dirty="0">
                <a:effectLst/>
                <a:latin typeface="Arial" panose="020B0604020202020204" pitchFamily="34" charset="0"/>
                <a:cs typeface="Arial" panose="020B0604020202020204" pitchFamily="34" charset="0"/>
              </a:rPr>
              <a:t>, try reading only the part that is related to the questions that are asked.</a:t>
            </a:r>
          </a:p>
          <a:p>
            <a:pPr algn="l"/>
            <a:endParaRPr lang="en-US" b="0" i="0" dirty="0">
              <a:effectLst/>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D85461-097A-B7BB-085C-C848A302866E}"/>
              </a:ext>
            </a:extLst>
          </p:cNvPr>
          <p:cNvSpPr>
            <a:spLocks noGrp="1"/>
          </p:cNvSpPr>
          <p:nvPr>
            <p:ph type="sldNum" sz="quarter" idx="12"/>
          </p:nvPr>
        </p:nvSpPr>
        <p:spPr/>
        <p:txBody>
          <a:bodyPr/>
          <a:lstStyle/>
          <a:p>
            <a:fld id="{BDCDBBEF-AA6C-4BA6-85B2-A17D7F280E38}" type="slidenum">
              <a:rPr lang="en-US" smtClean="0"/>
              <a:pPr/>
              <a:t>19</a:t>
            </a:fld>
            <a:endParaRPr lang="en-US"/>
          </a:p>
        </p:txBody>
      </p:sp>
      <p:sp>
        <p:nvSpPr>
          <p:cNvPr id="5" name="Rectangle 4">
            <a:extLst>
              <a:ext uri="{FF2B5EF4-FFF2-40B4-BE49-F238E27FC236}">
                <a16:creationId xmlns:a16="http://schemas.microsoft.com/office/drawing/2014/main" id="{E5D0D175-3A44-E4E1-7D9B-09BCA07C6AAD}"/>
              </a:ext>
            </a:extLst>
          </p:cNvPr>
          <p:cNvSpPr/>
          <p:nvPr/>
        </p:nvSpPr>
        <p:spPr>
          <a:xfrm>
            <a:off x="838200" y="174625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90DC46B-FD70-DF4A-F182-8A7C9CE155E6}"/>
              </a:ext>
            </a:extLst>
          </p:cNvPr>
          <p:cNvSpPr/>
          <p:nvPr/>
        </p:nvSpPr>
        <p:spPr>
          <a:xfrm>
            <a:off x="838200" y="30321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59459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693C3-78A1-0C28-329F-3520C579D5DD}"/>
              </a:ext>
            </a:extLst>
          </p:cNvPr>
          <p:cNvSpPr>
            <a:spLocks noGrp="1"/>
          </p:cNvSpPr>
          <p:nvPr>
            <p:ph type="title"/>
          </p:nvPr>
        </p:nvSpPr>
        <p:spPr/>
        <p:txBody>
          <a:bodyPr/>
          <a:lstStyle/>
          <a:p>
            <a:pPr algn="ctr"/>
            <a:r>
              <a:rPr lang="en-IN" b="1" dirty="0">
                <a:latin typeface="Arial Black" panose="020B0A04020102020204" pitchFamily="34" charset="0"/>
              </a:rPr>
              <a:t>Tips for long paragraphs (Contd.)</a:t>
            </a:r>
          </a:p>
        </p:txBody>
      </p:sp>
      <p:sp>
        <p:nvSpPr>
          <p:cNvPr id="3" name="Content Placeholder 2">
            <a:extLst>
              <a:ext uri="{FF2B5EF4-FFF2-40B4-BE49-F238E27FC236}">
                <a16:creationId xmlns:a16="http://schemas.microsoft.com/office/drawing/2014/main" id="{07CDD757-AA16-4423-4D66-14428390617A}"/>
              </a:ext>
            </a:extLst>
          </p:cNvPr>
          <p:cNvSpPr>
            <a:spLocks noGrp="1"/>
          </p:cNvSpPr>
          <p:nvPr>
            <p:ph idx="1"/>
          </p:nvPr>
        </p:nvSpPr>
        <p:spPr>
          <a:xfrm>
            <a:off x="838200" y="1768473"/>
            <a:ext cx="10515600" cy="4351338"/>
          </a:xfrm>
        </p:spPr>
        <p:txBody>
          <a:bodyPr>
            <a:noAutofit/>
          </a:bodyPr>
          <a:lstStyle/>
          <a:p>
            <a:pPr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While reading the passage </a:t>
            </a:r>
            <a:r>
              <a:rPr lang="en-US" b="1" i="0" dirty="0">
                <a:effectLst/>
                <a:latin typeface="Arial" panose="020B0604020202020204" pitchFamily="34" charset="0"/>
                <a:cs typeface="Arial" panose="020B0604020202020204" pitchFamily="34" charset="0"/>
              </a:rPr>
              <a:t>don’t try to memorize</a:t>
            </a:r>
            <a:r>
              <a:rPr lang="en-US" b="0" i="0" dirty="0">
                <a:effectLst/>
                <a:latin typeface="Arial" panose="020B0604020202020204" pitchFamily="34" charset="0"/>
                <a:cs typeface="Arial" panose="020B0604020202020204" pitchFamily="34" charset="0"/>
              </a:rPr>
              <a:t> every part of the passage instead understanding the essence of the point being conveyed by the author.</a:t>
            </a:r>
          </a:p>
          <a:p>
            <a:pPr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Increase the </a:t>
            </a:r>
            <a:r>
              <a:rPr lang="en-US" b="1" i="0" dirty="0">
                <a:effectLst/>
                <a:latin typeface="Arial" panose="020B0604020202020204" pitchFamily="34" charset="0"/>
                <a:cs typeface="Arial" panose="020B0604020202020204" pitchFamily="34" charset="0"/>
              </a:rPr>
              <a:t>reading speed</a:t>
            </a:r>
            <a:r>
              <a:rPr lang="en-US" b="0" i="0" dirty="0">
                <a:effectLst/>
                <a:latin typeface="Arial" panose="020B0604020202020204" pitchFamily="34" charset="0"/>
                <a:cs typeface="Arial" panose="020B0604020202020204" pitchFamily="34" charset="0"/>
              </a:rPr>
              <a:t> by solving different exam papers or online mock tests.</a:t>
            </a:r>
          </a:p>
          <a:p>
            <a:pPr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Try to </a:t>
            </a:r>
            <a:r>
              <a:rPr lang="en-US" b="1" i="0" dirty="0">
                <a:effectLst/>
                <a:latin typeface="Arial" panose="020B0604020202020204" pitchFamily="34" charset="0"/>
                <a:cs typeface="Arial" panose="020B0604020202020204" pitchFamily="34" charset="0"/>
              </a:rPr>
              <a:t>engage with the passage</a:t>
            </a:r>
            <a:r>
              <a:rPr lang="en-US" b="0" i="0" dirty="0">
                <a:effectLst/>
                <a:latin typeface="Arial" panose="020B0604020202020204" pitchFamily="34" charset="0"/>
                <a:cs typeface="Arial" panose="020B0604020202020204" pitchFamily="34" charset="0"/>
              </a:rPr>
              <a:t> from the start. Take down important details and </a:t>
            </a:r>
            <a:r>
              <a:rPr lang="en-US" b="1" i="0" dirty="0">
                <a:effectLst/>
                <a:latin typeface="Arial" panose="020B0604020202020204" pitchFamily="34" charset="0"/>
                <a:cs typeface="Arial" panose="020B0604020202020204" pitchFamily="34" charset="0"/>
              </a:rPr>
              <a:t>question</a:t>
            </a:r>
            <a:r>
              <a:rPr lang="en-US" b="0" i="0" dirty="0">
                <a:effectLst/>
                <a:latin typeface="Arial" panose="020B0604020202020204" pitchFamily="34" charset="0"/>
                <a:cs typeface="Arial" panose="020B0604020202020204" pitchFamily="34" charset="0"/>
              </a:rPr>
              <a:t> each passage on the basis of inference.</a:t>
            </a:r>
            <a:br>
              <a:rPr lang="en-US" b="0" i="0" dirty="0">
                <a:effectLst/>
                <a:latin typeface="Arial" panose="020B0604020202020204" pitchFamily="34" charset="0"/>
                <a:cs typeface="Arial" panose="020B0604020202020204" pitchFamily="34" charset="0"/>
              </a:rPr>
            </a:br>
            <a:endParaRPr lang="en-US" b="0" i="0" dirty="0">
              <a:effectLst/>
              <a:latin typeface="Arial" panose="020B0604020202020204" pitchFamily="34" charset="0"/>
              <a:cs typeface="Arial" panose="020B0604020202020204" pitchFamily="34" charset="0"/>
            </a:endParaRPr>
          </a:p>
          <a:p>
            <a:pPr algn="l"/>
            <a:endParaRPr lang="en-US" b="0" i="0" dirty="0">
              <a:effectLst/>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D85461-097A-B7BB-085C-C848A302866E}"/>
              </a:ext>
            </a:extLst>
          </p:cNvPr>
          <p:cNvSpPr>
            <a:spLocks noGrp="1"/>
          </p:cNvSpPr>
          <p:nvPr>
            <p:ph type="sldNum" sz="quarter" idx="12"/>
          </p:nvPr>
        </p:nvSpPr>
        <p:spPr/>
        <p:txBody>
          <a:bodyPr/>
          <a:lstStyle/>
          <a:p>
            <a:fld id="{BDCDBBEF-AA6C-4BA6-85B2-A17D7F280E38}" type="slidenum">
              <a:rPr lang="en-US" smtClean="0"/>
              <a:pPr/>
              <a:t>20</a:t>
            </a:fld>
            <a:endParaRPr lang="en-US"/>
          </a:p>
        </p:txBody>
      </p:sp>
      <p:sp>
        <p:nvSpPr>
          <p:cNvPr id="5" name="Rectangle 4">
            <a:extLst>
              <a:ext uri="{FF2B5EF4-FFF2-40B4-BE49-F238E27FC236}">
                <a16:creationId xmlns:a16="http://schemas.microsoft.com/office/drawing/2014/main" id="{E5D0D175-3A44-E4E1-7D9B-09BCA07C6AAD}"/>
              </a:ext>
            </a:extLst>
          </p:cNvPr>
          <p:cNvSpPr/>
          <p:nvPr/>
        </p:nvSpPr>
        <p:spPr>
          <a:xfrm>
            <a:off x="838200" y="174625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839229B-1E29-5986-588A-43FBF2AFCF36}"/>
              </a:ext>
            </a:extLst>
          </p:cNvPr>
          <p:cNvSpPr/>
          <p:nvPr/>
        </p:nvSpPr>
        <p:spPr>
          <a:xfrm>
            <a:off x="838200" y="2460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58345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2047A-4EDC-B5F7-5FCD-0155DC9E1572}"/>
              </a:ext>
            </a:extLst>
          </p:cNvPr>
          <p:cNvSpPr>
            <a:spLocks noGrp="1"/>
          </p:cNvSpPr>
          <p:nvPr>
            <p:ph type="title"/>
          </p:nvPr>
        </p:nvSpPr>
        <p:spPr/>
        <p:txBody>
          <a:bodyPr/>
          <a:lstStyle/>
          <a:p>
            <a:pPr algn="ctr"/>
            <a:r>
              <a:rPr lang="en-IN" b="1" dirty="0">
                <a:latin typeface="Arial Black" panose="020B0A04020102020204" pitchFamily="34" charset="0"/>
              </a:rPr>
              <a:t>Tips for short paragraphs</a:t>
            </a:r>
          </a:p>
        </p:txBody>
      </p:sp>
      <p:sp>
        <p:nvSpPr>
          <p:cNvPr id="3" name="Content Placeholder 2">
            <a:extLst>
              <a:ext uri="{FF2B5EF4-FFF2-40B4-BE49-F238E27FC236}">
                <a16:creationId xmlns:a16="http://schemas.microsoft.com/office/drawing/2014/main" id="{79CBFDF9-8FC5-E5AC-4612-1BF2844A5A7B}"/>
              </a:ext>
            </a:extLst>
          </p:cNvPr>
          <p:cNvSpPr>
            <a:spLocks noGrp="1"/>
          </p:cNvSpPr>
          <p:nvPr>
            <p:ph idx="1"/>
          </p:nvPr>
        </p:nvSpPr>
        <p:spPr>
          <a:xfrm>
            <a:off x="838200" y="1711321"/>
            <a:ext cx="10515600" cy="4351338"/>
          </a:xfrm>
        </p:spPr>
        <p:txBody>
          <a:bodyPr>
            <a:normAutofit/>
          </a:bodyPr>
          <a:lstStyle/>
          <a:p>
            <a:pPr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The short reading comprehension passages are either</a:t>
            </a:r>
            <a:r>
              <a:rPr lang="en-US" b="1" i="0" dirty="0">
                <a:effectLst/>
                <a:latin typeface="Arial" panose="020B0604020202020204" pitchFamily="34" charset="0"/>
                <a:cs typeface="Arial" panose="020B0604020202020204" pitchFamily="34" charset="0"/>
              </a:rPr>
              <a:t> one or two</a:t>
            </a:r>
            <a:r>
              <a:rPr lang="en-US" b="0" i="0" dirty="0">
                <a:effectLst/>
                <a:latin typeface="Arial" panose="020B0604020202020204" pitchFamily="34" charset="0"/>
                <a:cs typeface="Arial" panose="020B0604020202020204" pitchFamily="34" charset="0"/>
              </a:rPr>
              <a:t> paragraphs long.</a:t>
            </a:r>
          </a:p>
          <a:p>
            <a:pPr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They can be read </a:t>
            </a:r>
            <a:r>
              <a:rPr lang="en-US" b="1" i="0" dirty="0">
                <a:effectLst/>
                <a:latin typeface="Arial" panose="020B0604020202020204" pitchFamily="34" charset="0"/>
                <a:cs typeface="Arial" panose="020B0604020202020204" pitchFamily="34" charset="0"/>
              </a:rPr>
              <a:t>easily</a:t>
            </a:r>
            <a:r>
              <a:rPr lang="en-US" b="0" i="0" dirty="0">
                <a:effectLst/>
                <a:latin typeface="Arial" panose="020B0604020202020204" pitchFamily="34" charset="0"/>
                <a:cs typeface="Arial" panose="020B0604020202020204" pitchFamily="34" charset="0"/>
              </a:rPr>
              <a:t> and quickly.</a:t>
            </a:r>
          </a:p>
          <a:p>
            <a:pPr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The readers are advised to</a:t>
            </a:r>
            <a:r>
              <a:rPr lang="en-US" b="1" i="0" dirty="0">
                <a:effectLst/>
                <a:latin typeface="Arial" panose="020B0604020202020204" pitchFamily="34" charset="0"/>
                <a:cs typeface="Arial" panose="020B0604020202020204" pitchFamily="34" charset="0"/>
              </a:rPr>
              <a:t> read the passage slowly</a:t>
            </a:r>
            <a:r>
              <a:rPr lang="en-US" b="0" i="0" dirty="0">
                <a:effectLst/>
                <a:latin typeface="Arial" panose="020B0604020202020204" pitchFamily="34" charset="0"/>
                <a:cs typeface="Arial" panose="020B0604020202020204" pitchFamily="34" charset="0"/>
              </a:rPr>
              <a:t> but simultaneously look for the important details.</a:t>
            </a:r>
          </a:p>
          <a:p>
            <a:pPr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Then, from the questions, </a:t>
            </a:r>
            <a:r>
              <a:rPr lang="en-US" b="1" i="0" dirty="0">
                <a:effectLst/>
                <a:latin typeface="Arial" panose="020B0604020202020204" pitchFamily="34" charset="0"/>
                <a:cs typeface="Arial" panose="020B0604020202020204" pitchFamily="34" charset="0"/>
              </a:rPr>
              <a:t>retrace the lines</a:t>
            </a:r>
            <a:r>
              <a:rPr lang="en-US" b="0" i="0" dirty="0">
                <a:effectLst/>
                <a:latin typeface="Arial" panose="020B0604020202020204" pitchFamily="34" charset="0"/>
                <a:cs typeface="Arial" panose="020B0604020202020204" pitchFamily="34" charset="0"/>
              </a:rPr>
              <a:t> that correspond to the questions.</a:t>
            </a:r>
          </a:p>
          <a:p>
            <a:endParaRPr lang="en-IN" sz="3200" dirty="0"/>
          </a:p>
        </p:txBody>
      </p:sp>
      <p:sp>
        <p:nvSpPr>
          <p:cNvPr id="4" name="Slide Number Placeholder 3">
            <a:extLst>
              <a:ext uri="{FF2B5EF4-FFF2-40B4-BE49-F238E27FC236}">
                <a16:creationId xmlns:a16="http://schemas.microsoft.com/office/drawing/2014/main" id="{77DF1A80-1E45-5FC2-03CA-CFF75B375DFC}"/>
              </a:ext>
            </a:extLst>
          </p:cNvPr>
          <p:cNvSpPr>
            <a:spLocks noGrp="1"/>
          </p:cNvSpPr>
          <p:nvPr>
            <p:ph type="sldNum" sz="quarter" idx="12"/>
          </p:nvPr>
        </p:nvSpPr>
        <p:spPr/>
        <p:txBody>
          <a:bodyPr/>
          <a:lstStyle/>
          <a:p>
            <a:fld id="{BDCDBBEF-AA6C-4BA6-85B2-A17D7F280E38}" type="slidenum">
              <a:rPr lang="en-US" smtClean="0"/>
              <a:pPr/>
              <a:t>21</a:t>
            </a:fld>
            <a:endParaRPr lang="en-US"/>
          </a:p>
        </p:txBody>
      </p:sp>
      <p:sp>
        <p:nvSpPr>
          <p:cNvPr id="5" name="Rectangle 4">
            <a:extLst>
              <a:ext uri="{FF2B5EF4-FFF2-40B4-BE49-F238E27FC236}">
                <a16:creationId xmlns:a16="http://schemas.microsoft.com/office/drawing/2014/main" id="{12B63E99-4D69-E89A-7FA7-964EBBC6EE14}"/>
              </a:ext>
            </a:extLst>
          </p:cNvPr>
          <p:cNvSpPr/>
          <p:nvPr/>
        </p:nvSpPr>
        <p:spPr>
          <a:xfrm>
            <a:off x="838200" y="16891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6A59DF1-2E7A-1410-79A7-4339EAB87D6A}"/>
              </a:ext>
            </a:extLst>
          </p:cNvPr>
          <p:cNvSpPr/>
          <p:nvPr/>
        </p:nvSpPr>
        <p:spPr>
          <a:xfrm>
            <a:off x="838200" y="2460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295019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9319B-938E-5504-96ED-B80A283E04A8}"/>
              </a:ext>
            </a:extLst>
          </p:cNvPr>
          <p:cNvSpPr>
            <a:spLocks noGrp="1"/>
          </p:cNvSpPr>
          <p:nvPr>
            <p:ph type="title"/>
          </p:nvPr>
        </p:nvSpPr>
        <p:spPr/>
        <p:txBody>
          <a:bodyPr>
            <a:normAutofit/>
          </a:bodyPr>
          <a:lstStyle/>
          <a:p>
            <a:r>
              <a:rPr lang="en-IN" sz="4000" b="1" dirty="0">
                <a:latin typeface="Arial Black" panose="020B0A04020102020204" pitchFamily="34" charset="0"/>
              </a:rPr>
              <a:t>Tips for medium length paragraphs- </a:t>
            </a:r>
          </a:p>
        </p:txBody>
      </p:sp>
      <p:sp>
        <p:nvSpPr>
          <p:cNvPr id="3" name="Content Placeholder 2">
            <a:extLst>
              <a:ext uri="{FF2B5EF4-FFF2-40B4-BE49-F238E27FC236}">
                <a16:creationId xmlns:a16="http://schemas.microsoft.com/office/drawing/2014/main" id="{3FA305A1-0CED-B7C7-C1DF-AA0035F2700F}"/>
              </a:ext>
            </a:extLst>
          </p:cNvPr>
          <p:cNvSpPr>
            <a:spLocks noGrp="1"/>
          </p:cNvSpPr>
          <p:nvPr>
            <p:ph idx="1"/>
          </p:nvPr>
        </p:nvSpPr>
        <p:spPr>
          <a:xfrm>
            <a:off x="838200" y="1825624"/>
            <a:ext cx="10515600" cy="4451885"/>
          </a:xfrm>
        </p:spPr>
        <p:txBody>
          <a:bodyPr>
            <a:noAutofit/>
          </a:bodyPr>
          <a:lstStyle/>
          <a:p>
            <a:pPr algn="l">
              <a:buFont typeface="Arial" panose="020B0604020202020204" pitchFamily="34" charset="0"/>
              <a:buChar char="•"/>
            </a:pPr>
            <a:r>
              <a:rPr lang="en-US" sz="2600" b="0" i="0" dirty="0">
                <a:effectLst/>
                <a:latin typeface="Arial" panose="020B0604020202020204" pitchFamily="34" charset="0"/>
                <a:cs typeface="Arial" panose="020B0604020202020204" pitchFamily="34" charset="0"/>
              </a:rPr>
              <a:t>The reader should </a:t>
            </a:r>
            <a:r>
              <a:rPr lang="en-US" sz="2600" b="1" i="0" dirty="0">
                <a:effectLst/>
                <a:latin typeface="Arial" panose="020B0604020202020204" pitchFamily="34" charset="0"/>
                <a:cs typeface="Arial" panose="020B0604020202020204" pitchFamily="34" charset="0"/>
              </a:rPr>
              <a:t>first try to read two to three lines</a:t>
            </a:r>
            <a:r>
              <a:rPr lang="en-US" sz="2600" b="0" i="0" dirty="0">
                <a:effectLst/>
                <a:latin typeface="Arial" panose="020B0604020202020204" pitchFamily="34" charset="0"/>
                <a:cs typeface="Arial" panose="020B0604020202020204" pitchFamily="34" charset="0"/>
              </a:rPr>
              <a:t> of each paragraph given. It will allow the reader to find the conclusion and essence of the paragraph quickly.</a:t>
            </a:r>
          </a:p>
          <a:p>
            <a:pPr algn="l">
              <a:buFont typeface="Arial" panose="020B0604020202020204" pitchFamily="34" charset="0"/>
              <a:buChar char="•"/>
            </a:pPr>
            <a:r>
              <a:rPr lang="en-US" sz="2600" b="0" i="0" dirty="0">
                <a:effectLst/>
                <a:latin typeface="Arial" panose="020B0604020202020204" pitchFamily="34" charset="0"/>
                <a:cs typeface="Arial" panose="020B0604020202020204" pitchFamily="34" charset="0"/>
              </a:rPr>
              <a:t>Along with reading try to </a:t>
            </a:r>
            <a:r>
              <a:rPr lang="en-US" sz="2600" b="1" i="0" dirty="0">
                <a:effectLst/>
                <a:latin typeface="Arial" panose="020B0604020202020204" pitchFamily="34" charset="0"/>
                <a:cs typeface="Arial" panose="020B0604020202020204" pitchFamily="34" charset="0"/>
              </a:rPr>
              <a:t>take note</a:t>
            </a:r>
            <a:r>
              <a:rPr lang="en-US" sz="2600" b="0" i="0" dirty="0">
                <a:effectLst/>
                <a:latin typeface="Arial" panose="020B0604020202020204" pitchFamily="34" charset="0"/>
                <a:cs typeface="Arial" panose="020B0604020202020204" pitchFamily="34" charset="0"/>
              </a:rPr>
              <a:t> of some information given in the passage by recollecting the important words.</a:t>
            </a:r>
          </a:p>
          <a:p>
            <a:pPr algn="l">
              <a:buFont typeface="Arial" panose="020B0604020202020204" pitchFamily="34" charset="0"/>
              <a:buChar char="•"/>
            </a:pPr>
            <a:r>
              <a:rPr lang="en-US" sz="2600" b="0" i="0" dirty="0">
                <a:effectLst/>
                <a:latin typeface="Arial" panose="020B0604020202020204" pitchFamily="34" charset="0"/>
                <a:cs typeface="Arial" panose="020B0604020202020204" pitchFamily="34" charset="0"/>
              </a:rPr>
              <a:t>Further, </a:t>
            </a:r>
            <a:r>
              <a:rPr lang="en-US" sz="2600" b="1" i="0" dirty="0">
                <a:effectLst/>
                <a:latin typeface="Arial" panose="020B0604020202020204" pitchFamily="34" charset="0"/>
                <a:cs typeface="Arial" panose="020B0604020202020204" pitchFamily="34" charset="0"/>
              </a:rPr>
              <a:t>eliminating</a:t>
            </a:r>
            <a:r>
              <a:rPr lang="en-US" sz="2600" b="0" i="0" dirty="0">
                <a:effectLst/>
                <a:latin typeface="Arial" panose="020B0604020202020204" pitchFamily="34" charset="0"/>
                <a:cs typeface="Arial" panose="020B0604020202020204" pitchFamily="34" charset="0"/>
              </a:rPr>
              <a:t> the words, phrases, and sentences from the passage that is not useful will help in answering questions which have almost similar options.</a:t>
            </a:r>
          </a:p>
          <a:p>
            <a:pPr algn="l">
              <a:buFont typeface="Arial" panose="020B0604020202020204" pitchFamily="34" charset="0"/>
              <a:buChar char="•"/>
            </a:pPr>
            <a:r>
              <a:rPr lang="en-US" sz="2600" b="0" i="0" dirty="0">
                <a:effectLst/>
                <a:latin typeface="Arial" panose="020B0604020202020204" pitchFamily="34" charset="0"/>
                <a:cs typeface="Arial" panose="020B0604020202020204" pitchFamily="34" charset="0"/>
              </a:rPr>
              <a:t>Try to</a:t>
            </a:r>
            <a:r>
              <a:rPr lang="en-US" sz="2600" b="1" i="0" dirty="0">
                <a:effectLst/>
                <a:latin typeface="Arial" panose="020B0604020202020204" pitchFamily="34" charset="0"/>
                <a:cs typeface="Arial" panose="020B0604020202020204" pitchFamily="34" charset="0"/>
              </a:rPr>
              <a:t> improve vocabulary</a:t>
            </a:r>
            <a:r>
              <a:rPr lang="en-US" sz="2600" b="0" i="0" dirty="0">
                <a:effectLst/>
                <a:latin typeface="Arial" panose="020B0604020202020204" pitchFamily="34" charset="0"/>
                <a:cs typeface="Arial" panose="020B0604020202020204" pitchFamily="34" charset="0"/>
              </a:rPr>
              <a:t>, read and solve comprehensions from different fields of knowledge, like Science, Arts, Literature, Politics, Economics, and Current Affairs, etc.</a:t>
            </a:r>
          </a:p>
          <a:p>
            <a:pPr marL="0" indent="0">
              <a:buNone/>
            </a:pPr>
            <a:endParaRPr lang="en-IN" sz="26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219400E-125B-6C2B-77B6-CCCA1F99F84F}"/>
              </a:ext>
            </a:extLst>
          </p:cNvPr>
          <p:cNvSpPr>
            <a:spLocks noGrp="1"/>
          </p:cNvSpPr>
          <p:nvPr>
            <p:ph type="sldNum" sz="quarter" idx="12"/>
          </p:nvPr>
        </p:nvSpPr>
        <p:spPr/>
        <p:txBody>
          <a:bodyPr/>
          <a:lstStyle/>
          <a:p>
            <a:fld id="{BDCDBBEF-AA6C-4BA6-85B2-A17D7F280E38}" type="slidenum">
              <a:rPr lang="en-US" smtClean="0"/>
              <a:pPr/>
              <a:t>22</a:t>
            </a:fld>
            <a:endParaRPr lang="en-US"/>
          </a:p>
        </p:txBody>
      </p:sp>
      <p:sp>
        <p:nvSpPr>
          <p:cNvPr id="5" name="Rectangle 4">
            <a:extLst>
              <a:ext uri="{FF2B5EF4-FFF2-40B4-BE49-F238E27FC236}">
                <a16:creationId xmlns:a16="http://schemas.microsoft.com/office/drawing/2014/main" id="{6B2EDB2C-CBF3-7AF5-5168-074077CFC07E}"/>
              </a:ext>
            </a:extLst>
          </p:cNvPr>
          <p:cNvSpPr/>
          <p:nvPr/>
        </p:nvSpPr>
        <p:spPr>
          <a:xfrm>
            <a:off x="838200" y="1689099"/>
            <a:ext cx="10515600" cy="458840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80CB527-10BF-6A70-0CA6-FF351C3533B6}"/>
              </a:ext>
            </a:extLst>
          </p:cNvPr>
          <p:cNvSpPr/>
          <p:nvPr/>
        </p:nvSpPr>
        <p:spPr>
          <a:xfrm>
            <a:off x="838200" y="2460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926607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latin typeface="Arial Black" pitchFamily="34" charset="0"/>
                <a:cs typeface="Arial" pitchFamily="34" charset="0"/>
              </a:rPr>
              <a:t>Practice Questions: Central Idea</a:t>
            </a:r>
            <a:endParaRPr lang="en-US" dirty="0">
              <a:latin typeface="Arial Black" pitchFamily="34" charset="0"/>
              <a:cs typeface="Arial" pitchFamily="34" charset="0"/>
            </a:endParaRPr>
          </a:p>
        </p:txBody>
      </p:sp>
      <p:sp>
        <p:nvSpPr>
          <p:cNvPr id="3" name="Content Placeholder 2"/>
          <p:cNvSpPr>
            <a:spLocks noGrp="1"/>
          </p:cNvSpPr>
          <p:nvPr>
            <p:ph idx="1"/>
          </p:nvPr>
        </p:nvSpPr>
        <p:spPr/>
        <p:txBody>
          <a:bodyPr/>
          <a:lstStyle/>
          <a:p>
            <a:r>
              <a:rPr lang="en-GB" dirty="0">
                <a:latin typeface="Arial" pitchFamily="34" charset="0"/>
                <a:cs typeface="Arial" pitchFamily="34" charset="0"/>
              </a:rPr>
              <a:t>A teacher teaching English to many students. Following are the details of year wise report:</a:t>
            </a:r>
          </a:p>
          <a:p>
            <a:r>
              <a:rPr lang="en-GB" dirty="0">
                <a:latin typeface="Arial" pitchFamily="34" charset="0"/>
                <a:cs typeface="Arial" pitchFamily="34" charset="0"/>
              </a:rPr>
              <a:t>Year 1- He guided  200 students, 50 passed and the rest failed. </a:t>
            </a:r>
          </a:p>
          <a:p>
            <a:r>
              <a:rPr lang="en-GB" dirty="0">
                <a:latin typeface="Arial" pitchFamily="34" charset="0"/>
                <a:cs typeface="Arial" pitchFamily="34" charset="0"/>
              </a:rPr>
              <a:t>Year 2- He guided 300 students, 70 passed and the rest failed.</a:t>
            </a:r>
          </a:p>
          <a:p>
            <a:r>
              <a:rPr lang="en-GB" dirty="0">
                <a:latin typeface="Arial" pitchFamily="34" charset="0"/>
                <a:cs typeface="Arial" pitchFamily="34" charset="0"/>
              </a:rPr>
              <a:t>Year 3- He guided 500 students, 100 passed and the rest failed. </a:t>
            </a:r>
          </a:p>
          <a:p>
            <a:r>
              <a:rPr lang="en-GB" dirty="0">
                <a:latin typeface="Arial" pitchFamily="34" charset="0"/>
                <a:cs typeface="Arial" pitchFamily="34" charset="0"/>
              </a:rPr>
              <a:t>Is the teacher improving? </a:t>
            </a:r>
          </a:p>
          <a:p>
            <a:pPr>
              <a:buNone/>
            </a:pPr>
            <a:endParaRPr lang="en-US" dirty="0"/>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23</a:t>
            </a:fld>
            <a:endParaRPr lang="en-US"/>
          </a:p>
        </p:txBody>
      </p:sp>
      <p:sp>
        <p:nvSpPr>
          <p:cNvPr id="5" name="Rectangle 4"/>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latin typeface="Arial Black" pitchFamily="34" charset="0"/>
                <a:cs typeface="Arial" pitchFamily="34" charset="0"/>
              </a:rPr>
              <a:t>Hidden Facts (Continued)</a:t>
            </a:r>
            <a:endParaRPr lang="en-US" dirty="0">
              <a:latin typeface="Arial Black" pitchFamily="34" charset="0"/>
              <a:cs typeface="Arial" pitchFamily="34" charset="0"/>
            </a:endParaRPr>
          </a:p>
        </p:txBody>
      </p:sp>
      <p:sp>
        <p:nvSpPr>
          <p:cNvPr id="3" name="Content Placeholder 2"/>
          <p:cNvSpPr>
            <a:spLocks noGrp="1"/>
          </p:cNvSpPr>
          <p:nvPr>
            <p:ph idx="1"/>
          </p:nvPr>
        </p:nvSpPr>
        <p:spPr/>
        <p:txBody>
          <a:bodyPr/>
          <a:lstStyle/>
          <a:p>
            <a:r>
              <a:rPr lang="en-GB" dirty="0">
                <a:latin typeface="Arial" pitchFamily="34" charset="0"/>
                <a:cs typeface="Arial" pitchFamily="34" charset="0"/>
              </a:rPr>
              <a:t>He has an experience of  3 years. Still the numbers are not impressive</a:t>
            </a:r>
          </a:p>
          <a:p>
            <a:r>
              <a:rPr lang="en-GB" dirty="0">
                <a:latin typeface="Arial" pitchFamily="34" charset="0"/>
                <a:cs typeface="Arial" pitchFamily="34" charset="0"/>
              </a:rPr>
              <a:t>He has taught English to 1000 students. Thus many students might have been brilliant, average or weak. Out of so many students, if only 220 have passed. Hence the teacher is not improving considerably. </a:t>
            </a:r>
          </a:p>
          <a:p>
            <a:r>
              <a:rPr lang="en-GB" dirty="0">
                <a:latin typeface="Arial" pitchFamily="34" charset="0"/>
                <a:cs typeface="Arial" pitchFamily="34" charset="0"/>
              </a:rPr>
              <a:t>The central idea is that the teacher has not been able to improve despite 3 years of experience. The numbers may suggest the opposite.</a:t>
            </a:r>
          </a:p>
          <a:p>
            <a:r>
              <a:rPr lang="en-GB" dirty="0">
                <a:latin typeface="Arial" pitchFamily="34" charset="0"/>
                <a:cs typeface="Arial" pitchFamily="34" charset="0"/>
              </a:rPr>
              <a:t>The numbers are thus only indicators. </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24</a:t>
            </a:fld>
            <a:endParaRPr lang="en-US"/>
          </a:p>
        </p:txBody>
      </p:sp>
      <p:sp>
        <p:nvSpPr>
          <p:cNvPr id="5" name="Rectangle 4"/>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520F7-BA2D-4907-B349-40C83B31B743}"/>
              </a:ext>
            </a:extLst>
          </p:cNvPr>
          <p:cNvSpPr>
            <a:spLocks noGrp="1"/>
          </p:cNvSpPr>
          <p:nvPr>
            <p:ph type="title"/>
          </p:nvPr>
        </p:nvSpPr>
        <p:spPr>
          <a:xfrm>
            <a:off x="838200" y="178219"/>
            <a:ext cx="10515600" cy="1325563"/>
          </a:xfrm>
        </p:spPr>
        <p:style>
          <a:lnRef idx="2">
            <a:schemeClr val="dk1"/>
          </a:lnRef>
          <a:fillRef idx="1">
            <a:schemeClr val="lt1"/>
          </a:fillRef>
          <a:effectRef idx="0">
            <a:schemeClr val="dk1"/>
          </a:effectRef>
          <a:fontRef idx="minor">
            <a:schemeClr val="dk1"/>
          </a:fontRef>
        </p:style>
        <p:txBody>
          <a:bodyPr/>
          <a:lstStyle/>
          <a:p>
            <a:r>
              <a:rPr lang="en-US" dirty="0">
                <a:latin typeface="Arial Black"/>
              </a:rPr>
              <a:t>             POLL QUESTION</a:t>
            </a:r>
            <a:endParaRPr lang="en-US" dirty="0"/>
          </a:p>
        </p:txBody>
      </p:sp>
      <p:sp>
        <p:nvSpPr>
          <p:cNvPr id="3" name="Content Placeholder 2">
            <a:extLst>
              <a:ext uri="{FF2B5EF4-FFF2-40B4-BE49-F238E27FC236}">
                <a16:creationId xmlns:a16="http://schemas.microsoft.com/office/drawing/2014/main" id="{8CEFC24F-8704-42FE-8C4A-76CB5BB33AB2}"/>
              </a:ext>
            </a:extLst>
          </p:cNvPr>
          <p:cNvSpPr>
            <a:spLocks noGrp="1"/>
          </p:cNvSpPr>
          <p:nvPr>
            <p:ph idx="1"/>
          </p:nvPr>
        </p:nvSpPr>
        <p:spPr/>
        <p:style>
          <a:lnRef idx="2">
            <a:schemeClr val="dk1"/>
          </a:lnRef>
          <a:fillRef idx="1">
            <a:schemeClr val="lt1"/>
          </a:fillRef>
          <a:effectRef idx="0">
            <a:schemeClr val="dk1"/>
          </a:effectRef>
          <a:fontRef idx="minor">
            <a:schemeClr val="dk1"/>
          </a:fontRef>
        </p:style>
        <p:txBody>
          <a:bodyPr vert="horz" lIns="91440" tIns="45720" rIns="91440" bIns="45720" rtlCol="0" anchor="t">
            <a:normAutofit/>
          </a:bodyPr>
          <a:lstStyle/>
          <a:p>
            <a:pPr marL="0" indent="0">
              <a:buNone/>
            </a:pPr>
            <a:endParaRPr lang="en-US" b="1" dirty="0">
              <a:latin typeface="Arial"/>
              <a:cs typeface="Calibri"/>
            </a:endParaRPr>
          </a:p>
          <a:p>
            <a:pPr marL="0" indent="0">
              <a:buNone/>
            </a:pPr>
            <a:r>
              <a:rPr lang="en-US" b="1" dirty="0">
                <a:latin typeface="Arial"/>
                <a:cs typeface="Calibri"/>
              </a:rPr>
              <a:t>Reading is hampered by:</a:t>
            </a:r>
            <a:endParaRPr lang="en-US" b="1" dirty="0">
              <a:latin typeface="Arial"/>
              <a:cs typeface="Arial"/>
            </a:endParaRPr>
          </a:p>
          <a:p>
            <a:pPr marL="514350" indent="-514350">
              <a:buAutoNum type="arabicPeriod"/>
            </a:pPr>
            <a:r>
              <a:rPr lang="en-US" dirty="0">
                <a:latin typeface="Arial"/>
                <a:cs typeface="Calibri"/>
              </a:rPr>
              <a:t>Sub vocalization</a:t>
            </a:r>
          </a:p>
          <a:p>
            <a:pPr marL="514350" indent="-514350">
              <a:buAutoNum type="arabicPeriod"/>
            </a:pPr>
            <a:r>
              <a:rPr lang="en-US" dirty="0">
                <a:latin typeface="Arial"/>
                <a:cs typeface="Calibri"/>
              </a:rPr>
              <a:t>Regression</a:t>
            </a:r>
          </a:p>
          <a:p>
            <a:pPr marL="514350" indent="-514350">
              <a:buAutoNum type="arabicPeriod"/>
            </a:pPr>
            <a:r>
              <a:rPr lang="en-US" dirty="0">
                <a:latin typeface="Arial"/>
                <a:cs typeface="Calibri"/>
              </a:rPr>
              <a:t>Ocular slaving</a:t>
            </a:r>
          </a:p>
          <a:p>
            <a:pPr marL="514350" indent="-514350">
              <a:buAutoNum type="arabicPeriod"/>
            </a:pPr>
            <a:r>
              <a:rPr lang="en-US" dirty="0">
                <a:latin typeface="Arial"/>
                <a:cs typeface="Calibri"/>
              </a:rPr>
              <a:t>All of these</a:t>
            </a:r>
          </a:p>
        </p:txBody>
      </p:sp>
      <p:sp>
        <p:nvSpPr>
          <p:cNvPr id="4" name="Slide Number Placeholder 3">
            <a:extLst>
              <a:ext uri="{FF2B5EF4-FFF2-40B4-BE49-F238E27FC236}">
                <a16:creationId xmlns:a16="http://schemas.microsoft.com/office/drawing/2014/main" id="{AEFC134A-23B6-4B3D-A58A-BBB7E9DE2146}"/>
              </a:ext>
            </a:extLst>
          </p:cNvPr>
          <p:cNvSpPr>
            <a:spLocks noGrp="1"/>
          </p:cNvSpPr>
          <p:nvPr>
            <p:ph type="sldNum" sz="quarter" idx="12"/>
          </p:nvPr>
        </p:nvSpPr>
        <p:spPr/>
        <p:txBody>
          <a:bodyPr/>
          <a:lstStyle/>
          <a:p>
            <a:fld id="{BDCDBBEF-AA6C-4BA6-85B2-A17D7F280E38}" type="slidenum">
              <a:rPr lang="en-US" smtClean="0"/>
              <a:pPr/>
              <a:t>25</a:t>
            </a:fld>
            <a:endParaRPr lang="en-US"/>
          </a:p>
        </p:txBody>
      </p:sp>
    </p:spTree>
    <p:extLst>
      <p:ext uri="{BB962C8B-B14F-4D97-AF65-F5344CB8AC3E}">
        <p14:creationId xmlns:p14="http://schemas.microsoft.com/office/powerpoint/2010/main" val="19517209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latin typeface="Arial Black" pitchFamily="34" charset="0"/>
                <a:cs typeface="Arial" pitchFamily="34" charset="0"/>
              </a:rPr>
              <a:t>Read the following passage and answer the questions</a:t>
            </a:r>
            <a:endParaRPr lang="en-US" dirty="0">
              <a:latin typeface="Arial Black" pitchFamily="34" charset="0"/>
              <a:cs typeface="Arial" pitchFamily="34" charset="0"/>
            </a:endParaRPr>
          </a:p>
        </p:txBody>
      </p:sp>
      <p:sp>
        <p:nvSpPr>
          <p:cNvPr id="3" name="Content Placeholder 2"/>
          <p:cNvSpPr>
            <a:spLocks noGrp="1"/>
          </p:cNvSpPr>
          <p:nvPr>
            <p:ph idx="1"/>
          </p:nvPr>
        </p:nvSpPr>
        <p:spPr/>
        <p:txBody>
          <a:bodyPr>
            <a:noAutofit/>
          </a:bodyPr>
          <a:lstStyle/>
          <a:p>
            <a:pPr>
              <a:buNone/>
            </a:pPr>
            <a:r>
              <a:rPr lang="en-US" dirty="0">
                <a:latin typeface="Arial" pitchFamily="34" charset="0"/>
                <a:cs typeface="Arial" pitchFamily="34" charset="0"/>
              </a:rPr>
              <a:t>	Opera refers to a dramatic art form, originating in Europe, in which the emotional content is conveyed to the audience as much through music, both vocal and instrumental, as it is through the lyrics. By contrast, in musical theater an actor's dramatic performance is primary, and the music plays a lesser role. The drama in opera is presented using the primary elements of theater such as scenery, costumes, and acting. However, the words of the opera, or libretto, are sung rather than spoken. The singers are accompanied by a musical ensemble ranging from a small instrumental ensemble to a full symphonic orchestra.</a:t>
            </a:r>
          </a:p>
          <a:p>
            <a:pPr>
              <a:buNone/>
            </a:pPr>
            <a:br>
              <a:rPr lang="en-US" dirty="0">
                <a:latin typeface="Arial" pitchFamily="34" charset="0"/>
                <a:cs typeface="Arial" pitchFamily="34" charset="0"/>
              </a:rPr>
            </a:br>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26</a:t>
            </a:fld>
            <a:endParaRPr lang="en-US"/>
          </a:p>
        </p:txBody>
      </p:sp>
      <p:sp>
        <p:nvSpPr>
          <p:cNvPr id="5" name="Rectangle 4"/>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latin typeface="Arial Black" pitchFamily="34" charset="0"/>
                <a:cs typeface="Arial" pitchFamily="34" charset="0"/>
              </a:rPr>
              <a:t>Answer the questions</a:t>
            </a:r>
            <a:endParaRPr lang="en-US" dirty="0">
              <a:latin typeface="Arial Black" pitchFamily="34" charset="0"/>
              <a:cs typeface="Arial" pitchFamily="34" charset="0"/>
            </a:endParaRPr>
          </a:p>
        </p:txBody>
      </p:sp>
      <p:sp>
        <p:nvSpPr>
          <p:cNvPr id="3" name="Content Placeholder 2"/>
          <p:cNvSpPr>
            <a:spLocks noGrp="1"/>
          </p:cNvSpPr>
          <p:nvPr>
            <p:ph idx="1"/>
          </p:nvPr>
        </p:nvSpPr>
        <p:spPr/>
        <p:txBody>
          <a:bodyPr>
            <a:normAutofit/>
          </a:bodyPr>
          <a:lstStyle/>
          <a:p>
            <a:pPr>
              <a:buNone/>
            </a:pPr>
            <a:r>
              <a:rPr lang="en-US" dirty="0">
                <a:latin typeface="Arial" pitchFamily="34" charset="0"/>
                <a:cs typeface="Arial" pitchFamily="34" charset="0"/>
              </a:rPr>
              <a:t>	</a:t>
            </a:r>
            <a:r>
              <a:rPr lang="en-US" b="1" dirty="0">
                <a:latin typeface="Arial" pitchFamily="34" charset="0"/>
                <a:cs typeface="Arial" pitchFamily="34" charset="0"/>
              </a:rPr>
              <a:t>It is pointed out in the reading that opera ----.</a:t>
            </a:r>
            <a:br>
              <a:rPr lang="en-US" dirty="0">
                <a:latin typeface="Arial" pitchFamily="34" charset="0"/>
                <a:cs typeface="Arial" pitchFamily="34" charset="0"/>
              </a:rPr>
            </a:br>
            <a:br>
              <a:rPr lang="en-US" dirty="0">
                <a:latin typeface="Arial" pitchFamily="34" charset="0"/>
                <a:cs typeface="Arial" pitchFamily="34" charset="0"/>
              </a:rPr>
            </a:br>
            <a:r>
              <a:rPr lang="en-US" dirty="0">
                <a:latin typeface="Arial" pitchFamily="34" charset="0"/>
                <a:cs typeface="Arial" pitchFamily="34" charset="0"/>
              </a:rPr>
              <a:t>A) has developed under the influence of musical theater</a:t>
            </a:r>
            <a:br>
              <a:rPr lang="en-US" dirty="0">
                <a:latin typeface="Arial" pitchFamily="34" charset="0"/>
                <a:cs typeface="Arial" pitchFamily="34" charset="0"/>
              </a:rPr>
            </a:br>
            <a:r>
              <a:rPr lang="en-US" dirty="0">
                <a:latin typeface="Arial" pitchFamily="34" charset="0"/>
                <a:cs typeface="Arial" pitchFamily="34" charset="0"/>
              </a:rPr>
              <a:t>B) </a:t>
            </a:r>
            <a:r>
              <a:rPr lang="en-US" b="1" dirty="0">
                <a:latin typeface="Arial" pitchFamily="34" charset="0"/>
                <a:cs typeface="Arial" pitchFamily="34" charset="0"/>
              </a:rPr>
              <a:t>is a drama sung with the accompaniment of an orchestra</a:t>
            </a:r>
            <a:br>
              <a:rPr lang="en-US" dirty="0">
                <a:latin typeface="Arial" pitchFamily="34" charset="0"/>
                <a:cs typeface="Arial" pitchFamily="34" charset="0"/>
              </a:rPr>
            </a:br>
            <a:r>
              <a:rPr lang="en-US" dirty="0">
                <a:latin typeface="Arial" pitchFamily="34" charset="0"/>
                <a:cs typeface="Arial" pitchFamily="34" charset="0"/>
              </a:rPr>
              <a:t>C) is not a high-budget production</a:t>
            </a:r>
            <a:br>
              <a:rPr lang="en-US" dirty="0">
                <a:latin typeface="Arial" pitchFamily="34" charset="0"/>
                <a:cs typeface="Arial" pitchFamily="34" charset="0"/>
              </a:rPr>
            </a:br>
            <a:r>
              <a:rPr lang="en-US" dirty="0">
                <a:latin typeface="Arial" pitchFamily="34" charset="0"/>
                <a:cs typeface="Arial" pitchFamily="34" charset="0"/>
              </a:rPr>
              <a:t>D) is often performed in Europe</a:t>
            </a:r>
            <a:br>
              <a:rPr lang="en-US" dirty="0">
                <a:latin typeface="Arial" pitchFamily="34" charset="0"/>
                <a:cs typeface="Arial" pitchFamily="34" charset="0"/>
              </a:rPr>
            </a:br>
            <a:r>
              <a:rPr lang="en-US" dirty="0">
                <a:latin typeface="Arial" pitchFamily="34" charset="0"/>
                <a:cs typeface="Arial" pitchFamily="34" charset="0"/>
              </a:rPr>
              <a:t>E) is the most complex of all the performing arts</a:t>
            </a:r>
          </a:p>
          <a:p>
            <a:pPr>
              <a:buNone/>
            </a:pPr>
            <a:br>
              <a:rPr lang="en-US" dirty="0">
                <a:latin typeface="Arial" pitchFamily="34" charset="0"/>
                <a:cs typeface="Arial" pitchFamily="34" charset="0"/>
              </a:rPr>
            </a:br>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27</a:t>
            </a:fld>
            <a:endParaRPr lang="en-US"/>
          </a:p>
        </p:txBody>
      </p:sp>
      <p:sp>
        <p:nvSpPr>
          <p:cNvPr id="5" name="Rectangle 4"/>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latin typeface="Arial Black" pitchFamily="34" charset="0"/>
                <a:cs typeface="Arial" pitchFamily="34" charset="0"/>
              </a:rPr>
              <a:t>Answer the questions</a:t>
            </a:r>
            <a:endParaRPr lang="en-US" dirty="0">
              <a:latin typeface="Arial Black" pitchFamily="34" charset="0"/>
              <a:cs typeface="Arial" pitchFamily="34" charset="0"/>
            </a:endParaRPr>
          </a:p>
        </p:txBody>
      </p:sp>
      <p:sp>
        <p:nvSpPr>
          <p:cNvPr id="3" name="Content Placeholder 2"/>
          <p:cNvSpPr>
            <a:spLocks noGrp="1"/>
          </p:cNvSpPr>
          <p:nvPr>
            <p:ph idx="1"/>
          </p:nvPr>
        </p:nvSpPr>
        <p:spPr/>
        <p:txBody>
          <a:bodyPr>
            <a:normAutofit/>
          </a:bodyPr>
          <a:lstStyle/>
          <a:p>
            <a:pPr>
              <a:buNone/>
            </a:pPr>
            <a:r>
              <a:rPr lang="en-US" dirty="0">
                <a:latin typeface="Arial" pitchFamily="34" charset="0"/>
                <a:cs typeface="Arial" pitchFamily="34" charset="0"/>
              </a:rPr>
              <a:t>	</a:t>
            </a:r>
            <a:r>
              <a:rPr lang="en-US" b="1" dirty="0">
                <a:latin typeface="Arial" pitchFamily="34" charset="0"/>
                <a:cs typeface="Arial" pitchFamily="34" charset="0"/>
              </a:rPr>
              <a:t>We can understand from the reading that ----.</a:t>
            </a:r>
            <a:br>
              <a:rPr lang="en-US" dirty="0">
                <a:latin typeface="Arial" pitchFamily="34" charset="0"/>
                <a:cs typeface="Arial" pitchFamily="34" charset="0"/>
              </a:rPr>
            </a:br>
            <a:br>
              <a:rPr lang="en-US" dirty="0">
                <a:latin typeface="Arial" pitchFamily="34" charset="0"/>
                <a:cs typeface="Arial" pitchFamily="34" charset="0"/>
              </a:rPr>
            </a:br>
            <a:r>
              <a:rPr lang="en-US" dirty="0">
                <a:latin typeface="Arial" pitchFamily="34" charset="0"/>
                <a:cs typeface="Arial" pitchFamily="34" charset="0"/>
              </a:rPr>
              <a:t>A) people are captivated more by opera than musical theater</a:t>
            </a:r>
            <a:br>
              <a:rPr lang="en-US" dirty="0">
                <a:latin typeface="Arial" pitchFamily="34" charset="0"/>
                <a:cs typeface="Arial" pitchFamily="34" charset="0"/>
              </a:rPr>
            </a:br>
            <a:r>
              <a:rPr lang="en-US" dirty="0">
                <a:latin typeface="Arial" pitchFamily="34" charset="0"/>
                <a:cs typeface="Arial" pitchFamily="34" charset="0"/>
              </a:rPr>
              <a:t>B) drama in opera is more important than the music</a:t>
            </a:r>
            <a:br>
              <a:rPr lang="en-US" dirty="0">
                <a:latin typeface="Arial" pitchFamily="34" charset="0"/>
                <a:cs typeface="Arial" pitchFamily="34" charset="0"/>
              </a:rPr>
            </a:br>
            <a:r>
              <a:rPr lang="en-US" dirty="0">
                <a:latin typeface="Arial" pitchFamily="34" charset="0"/>
                <a:cs typeface="Arial" pitchFamily="34" charset="0"/>
              </a:rPr>
              <a:t>C) </a:t>
            </a:r>
            <a:r>
              <a:rPr lang="en-US" b="1" dirty="0">
                <a:latin typeface="Arial" pitchFamily="34" charset="0"/>
                <a:cs typeface="Arial" pitchFamily="34" charset="0"/>
              </a:rPr>
              <a:t>orchestras in operas can vary considerably in size</a:t>
            </a:r>
            <a:br>
              <a:rPr lang="en-US" dirty="0">
                <a:latin typeface="Arial" pitchFamily="34" charset="0"/>
                <a:cs typeface="Arial" pitchFamily="34" charset="0"/>
              </a:rPr>
            </a:br>
            <a:r>
              <a:rPr lang="en-US" dirty="0">
                <a:latin typeface="Arial" pitchFamily="34" charset="0"/>
                <a:cs typeface="Arial" pitchFamily="34" charset="0"/>
              </a:rPr>
              <a:t>D) musical theater relies above all on music</a:t>
            </a:r>
            <a:br>
              <a:rPr lang="en-US" dirty="0">
                <a:latin typeface="Arial" pitchFamily="34" charset="0"/>
                <a:cs typeface="Arial" pitchFamily="34" charset="0"/>
              </a:rPr>
            </a:br>
            <a:r>
              <a:rPr lang="en-US" dirty="0">
                <a:latin typeface="Arial" pitchFamily="34" charset="0"/>
                <a:cs typeface="Arial" pitchFamily="34" charset="0"/>
              </a:rPr>
              <a:t>E) there is argument over whether the music is important or the words in opera</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28</a:t>
            </a:fld>
            <a:endParaRPr lang="en-US"/>
          </a:p>
        </p:txBody>
      </p:sp>
      <p:sp>
        <p:nvSpPr>
          <p:cNvPr id="5" name="Rectangle 4"/>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latin typeface="Arial Black" pitchFamily="34" charset="0"/>
                <a:cs typeface="Arial" pitchFamily="34" charset="0"/>
              </a:rPr>
              <a:t>Answer the questions</a:t>
            </a:r>
            <a:endParaRPr lang="en-US" dirty="0">
              <a:latin typeface="Arial Black" pitchFamily="34" charset="0"/>
              <a:cs typeface="Arial" pitchFamily="34" charset="0"/>
            </a:endParaRPr>
          </a:p>
        </p:txBody>
      </p:sp>
      <p:sp>
        <p:nvSpPr>
          <p:cNvPr id="3" name="Content Placeholder 2"/>
          <p:cNvSpPr>
            <a:spLocks noGrp="1"/>
          </p:cNvSpPr>
          <p:nvPr>
            <p:ph idx="1"/>
          </p:nvPr>
        </p:nvSpPr>
        <p:spPr/>
        <p:txBody>
          <a:bodyPr>
            <a:normAutofit lnSpcReduction="10000"/>
          </a:bodyPr>
          <a:lstStyle/>
          <a:p>
            <a:pPr>
              <a:buNone/>
            </a:pPr>
            <a:r>
              <a:rPr lang="en-US" dirty="0">
                <a:latin typeface="Arial" pitchFamily="34" charset="0"/>
                <a:cs typeface="Arial" pitchFamily="34" charset="0"/>
              </a:rPr>
              <a:t>	</a:t>
            </a:r>
            <a:r>
              <a:rPr lang="en-US" b="1" dirty="0">
                <a:latin typeface="Arial" pitchFamily="34" charset="0"/>
                <a:cs typeface="Arial" pitchFamily="34" charset="0"/>
              </a:rPr>
              <a:t> It is stated in the reading that ----.</a:t>
            </a:r>
            <a:br>
              <a:rPr lang="en-US" dirty="0">
                <a:latin typeface="Arial" pitchFamily="34" charset="0"/>
                <a:cs typeface="Arial" pitchFamily="34" charset="0"/>
              </a:rPr>
            </a:br>
            <a:br>
              <a:rPr lang="en-US" dirty="0">
                <a:latin typeface="Arial" pitchFamily="34" charset="0"/>
                <a:cs typeface="Arial" pitchFamily="34" charset="0"/>
              </a:rPr>
            </a:br>
            <a:r>
              <a:rPr lang="en-US" dirty="0">
                <a:latin typeface="Arial" pitchFamily="34" charset="0"/>
                <a:cs typeface="Arial" pitchFamily="34" charset="0"/>
              </a:rPr>
              <a:t>A) acting and costumes are secondary to music in musical theater</a:t>
            </a:r>
            <a:br>
              <a:rPr lang="en-US" dirty="0">
                <a:latin typeface="Arial" pitchFamily="34" charset="0"/>
                <a:cs typeface="Arial" pitchFamily="34" charset="0"/>
              </a:rPr>
            </a:br>
            <a:r>
              <a:rPr lang="en-US" dirty="0">
                <a:latin typeface="Arial" pitchFamily="34" charset="0"/>
                <a:cs typeface="Arial" pitchFamily="34" charset="0"/>
              </a:rPr>
              <a:t>B) many people find musical theater more captivating than opera</a:t>
            </a:r>
            <a:br>
              <a:rPr lang="en-US" dirty="0">
                <a:latin typeface="Arial" pitchFamily="34" charset="0"/>
                <a:cs typeface="Arial" pitchFamily="34" charset="0"/>
              </a:rPr>
            </a:br>
            <a:r>
              <a:rPr lang="en-US" dirty="0">
                <a:latin typeface="Arial" pitchFamily="34" charset="0"/>
                <a:cs typeface="Arial" pitchFamily="34" charset="0"/>
              </a:rPr>
              <a:t>C) </a:t>
            </a:r>
            <a:r>
              <a:rPr lang="en-US" b="1" dirty="0">
                <a:latin typeface="Arial" pitchFamily="34" charset="0"/>
                <a:cs typeface="Arial" pitchFamily="34" charset="0"/>
              </a:rPr>
              <a:t>music in musical theater is not as important as it is in opera</a:t>
            </a:r>
            <a:br>
              <a:rPr lang="en-US" dirty="0">
                <a:latin typeface="Arial" pitchFamily="34" charset="0"/>
                <a:cs typeface="Arial" pitchFamily="34" charset="0"/>
              </a:rPr>
            </a:br>
            <a:r>
              <a:rPr lang="en-US" dirty="0">
                <a:latin typeface="Arial" pitchFamily="34" charset="0"/>
                <a:cs typeface="Arial" pitchFamily="34" charset="0"/>
              </a:rPr>
              <a:t>D) an opera requires a huge orchestra as well as a large choir</a:t>
            </a:r>
            <a:br>
              <a:rPr lang="en-US" dirty="0">
                <a:latin typeface="Arial" pitchFamily="34" charset="0"/>
                <a:cs typeface="Arial" pitchFamily="34" charset="0"/>
              </a:rPr>
            </a:br>
            <a:r>
              <a:rPr lang="en-US" dirty="0">
                <a:latin typeface="Arial" pitchFamily="34" charset="0"/>
                <a:cs typeface="Arial" pitchFamily="34" charset="0"/>
              </a:rPr>
              <a:t>E) opera doesn't have any properties in common with musical theater</a:t>
            </a:r>
            <a:br>
              <a:rPr lang="en-US" dirty="0">
                <a:latin typeface="Arial" pitchFamily="34" charset="0"/>
                <a:cs typeface="Arial" pitchFamily="34" charset="0"/>
              </a:rPr>
            </a:br>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29</a:t>
            </a:fld>
            <a:endParaRPr lang="en-US"/>
          </a:p>
        </p:txBody>
      </p:sp>
      <p:sp>
        <p:nvSpPr>
          <p:cNvPr id="5" name="Rectangle 4"/>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b="1" dirty="0">
                <a:latin typeface="Arial Black"/>
                <a:cs typeface="Arial"/>
              </a:rPr>
              <a:t>Applications</a:t>
            </a:r>
          </a:p>
        </p:txBody>
      </p:sp>
      <p:sp>
        <p:nvSpPr>
          <p:cNvPr id="3" name="Content Placeholder 2"/>
          <p:cNvSpPr>
            <a:spLocks noGrp="1"/>
          </p:cNvSpPr>
          <p:nvPr>
            <p:ph idx="1"/>
          </p:nvPr>
        </p:nvSpPr>
        <p:spPr>
          <a:xfrm>
            <a:off x="838200" y="1811248"/>
            <a:ext cx="10515600" cy="4725148"/>
          </a:xfrm>
        </p:spPr>
        <p:txBody>
          <a:bodyPr vert="horz" lIns="91440" tIns="45720" rIns="91440" bIns="45720" rtlCol="0" anchor="t">
            <a:noAutofit/>
          </a:bodyPr>
          <a:lstStyle/>
          <a:p>
            <a:endParaRPr lang="en-US" dirty="0">
              <a:latin typeface="Arial"/>
              <a:cs typeface="Arial"/>
            </a:endParaRPr>
          </a:p>
          <a:p>
            <a:r>
              <a:rPr lang="en-US" dirty="0">
                <a:latin typeface="Arial"/>
                <a:cs typeface="Arial"/>
              </a:rPr>
              <a:t>Good comprehension skills will help students to answer various trick questions better.</a:t>
            </a:r>
          </a:p>
          <a:p>
            <a:endParaRPr lang="en-US" dirty="0">
              <a:latin typeface="Arial"/>
              <a:cs typeface="Arial"/>
            </a:endParaRPr>
          </a:p>
          <a:p>
            <a:r>
              <a:rPr lang="en-US" dirty="0">
                <a:latin typeface="Arial"/>
                <a:cs typeface="Arial"/>
              </a:rPr>
              <a:t>It will also help them find solutions to most academic and other problems.</a:t>
            </a:r>
          </a:p>
          <a:p>
            <a:endParaRPr lang="en-US" dirty="0">
              <a:latin typeface="Arial"/>
              <a:cs typeface="Arial"/>
            </a:endParaRPr>
          </a:p>
          <a:p>
            <a:r>
              <a:rPr lang="en-US" dirty="0">
                <a:latin typeface="Arial"/>
                <a:cs typeface="Arial"/>
              </a:rPr>
              <a:t>It will also help them do well at various competitive and recruitment tests. </a:t>
            </a:r>
          </a:p>
          <a:p>
            <a:pPr marL="0" indent="0">
              <a:buNone/>
            </a:pPr>
            <a:endParaRPr lang="en-US" dirty="0">
              <a:latin typeface="Arial"/>
              <a:cs typeface="Arial"/>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30</a:t>
            </a:fld>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801279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a:latin typeface="Arial Black" pitchFamily="34" charset="0"/>
                <a:cs typeface="Arial" panose="020B0604020202020204" pitchFamily="34" charset="0"/>
              </a:rPr>
              <a:t>Assessment Pattern</a:t>
            </a:r>
            <a:endParaRPr lang="en-US" dirty="0">
              <a:latin typeface="Arial Black" pitchFamily="34" charset="0"/>
            </a:endParaRPr>
          </a:p>
        </p:txBody>
      </p:sp>
      <p:sp>
        <p:nvSpPr>
          <p:cNvPr id="3" name="Content Placeholder 2"/>
          <p:cNvSpPr>
            <a:spLocks noGrp="1"/>
          </p:cNvSpPr>
          <p:nvPr>
            <p:ph idx="1"/>
          </p:nvPr>
        </p:nvSpPr>
        <p:spPr/>
        <p:txBody>
          <a:bodyPr>
            <a:normAutofit/>
          </a:bodyPr>
          <a:lstStyle/>
          <a:p>
            <a:pPr>
              <a:buNone/>
            </a:pPr>
            <a:r>
              <a:rPr lang="en-IN" b="1" dirty="0">
                <a:latin typeface="Arial" pitchFamily="34" charset="0"/>
                <a:cs typeface="Arial" pitchFamily="34" charset="0"/>
              </a:rPr>
              <a:t>Students are assessed on the basis of the following parameters:</a:t>
            </a:r>
          </a:p>
          <a:p>
            <a:r>
              <a:rPr lang="en-US" dirty="0">
                <a:latin typeface="Arial" pitchFamily="34" charset="0"/>
                <a:cs typeface="Arial" pitchFamily="34" charset="0"/>
              </a:rPr>
              <a:t>Hourly Tests - 2</a:t>
            </a:r>
          </a:p>
          <a:p>
            <a:r>
              <a:rPr lang="en-US" dirty="0">
                <a:latin typeface="Arial" pitchFamily="34" charset="0"/>
                <a:cs typeface="Arial" pitchFamily="34" charset="0"/>
              </a:rPr>
              <a:t>Assignments</a:t>
            </a:r>
          </a:p>
          <a:p>
            <a:r>
              <a:rPr lang="en-US" dirty="0">
                <a:latin typeface="Arial" pitchFamily="34" charset="0"/>
                <a:cs typeface="Arial" pitchFamily="34" charset="0"/>
              </a:rPr>
              <a:t>Surprise Test</a:t>
            </a:r>
          </a:p>
          <a:p>
            <a:r>
              <a:rPr lang="en-US" dirty="0">
                <a:latin typeface="Arial" pitchFamily="34" charset="0"/>
                <a:cs typeface="Arial" pitchFamily="34" charset="0"/>
              </a:rPr>
              <a:t>Quiz</a:t>
            </a:r>
          </a:p>
          <a:p>
            <a:r>
              <a:rPr lang="en-US" dirty="0">
                <a:latin typeface="Arial" pitchFamily="34" charset="0"/>
                <a:cs typeface="Arial" pitchFamily="34" charset="0"/>
              </a:rPr>
              <a:t>Student Engagement</a:t>
            </a:r>
          </a:p>
          <a:p>
            <a:r>
              <a:rPr lang="en-US" dirty="0">
                <a:latin typeface="Arial" pitchFamily="34" charset="0"/>
                <a:cs typeface="Arial" pitchFamily="34" charset="0"/>
              </a:rPr>
              <a:t>End Semester Exam</a:t>
            </a:r>
            <a:endParaRPr lang="en-US" sz="1600"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31</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252240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7AA28-F645-4DAF-8E13-22D70A1C37F4}"/>
              </a:ext>
            </a:extLst>
          </p:cNvPr>
          <p:cNvSpPr>
            <a:spLocks noGrp="1"/>
          </p:cNvSpPr>
          <p:nvPr>
            <p:ph type="title"/>
          </p:nvPr>
        </p:nvSpPr>
        <p:spPr/>
        <p:txBody>
          <a:bodyPr/>
          <a:lstStyle/>
          <a:p>
            <a:pPr algn="ctr"/>
            <a:r>
              <a:rPr lang="en-US" dirty="0">
                <a:latin typeface="Arial Black"/>
                <a:cs typeface="Calibri Light"/>
              </a:rPr>
              <a:t>References</a:t>
            </a:r>
            <a:endParaRPr lang="en-US" dirty="0">
              <a:cs typeface="Calibri Light"/>
            </a:endParaRPr>
          </a:p>
        </p:txBody>
      </p:sp>
      <p:sp>
        <p:nvSpPr>
          <p:cNvPr id="3" name="Content Placeholder 2">
            <a:extLst>
              <a:ext uri="{FF2B5EF4-FFF2-40B4-BE49-F238E27FC236}">
                <a16:creationId xmlns:a16="http://schemas.microsoft.com/office/drawing/2014/main" id="{F0259AB0-8D30-4F78-BE58-E030C2C0C75A}"/>
              </a:ext>
            </a:extLst>
          </p:cNvPr>
          <p:cNvSpPr>
            <a:spLocks noGrp="1"/>
          </p:cNvSpPr>
          <p:nvPr>
            <p:ph idx="1"/>
          </p:nvPr>
        </p:nvSpPr>
        <p:spPr>
          <a:xfrm>
            <a:off x="848931" y="1823228"/>
            <a:ext cx="10515600" cy="4351338"/>
          </a:xfrm>
        </p:spPr>
        <p:txBody>
          <a:bodyPr vert="horz" lIns="91440" tIns="45720" rIns="91440" bIns="45720" rtlCol="0" anchor="t">
            <a:normAutofit/>
          </a:bodyPr>
          <a:lstStyle/>
          <a:p>
            <a:r>
              <a:rPr lang="en-US" dirty="0">
                <a:latin typeface="Arial" pitchFamily="34" charset="0"/>
                <a:cs typeface="Arial" pitchFamily="34" charset="0"/>
              </a:rPr>
              <a:t>https://www.k12reader.com/subject/reading-skills/reading-comprehension/</a:t>
            </a:r>
          </a:p>
          <a:p>
            <a:r>
              <a:rPr lang="en-US" dirty="0">
                <a:latin typeface="Arial" pitchFamily="34" charset="0"/>
                <a:cs typeface="Arial" pitchFamily="34" charset="0"/>
                <a:hlinkClick r:id="rId2"/>
              </a:rPr>
              <a:t>https://www.ets.org/gre/revised_general/prepare/verbal_reasoning/reading_comprehension/</a:t>
            </a:r>
            <a:endParaRPr lang="en-US" dirty="0">
              <a:latin typeface="Arial" pitchFamily="34" charset="0"/>
              <a:cs typeface="Arial" pitchFamily="34" charset="0"/>
            </a:endParaRPr>
          </a:p>
          <a:p>
            <a:r>
              <a:rPr lang="en-US" dirty="0">
                <a:latin typeface="Arial" pitchFamily="34" charset="0"/>
                <a:cs typeface="Arial" pitchFamily="34" charset="0"/>
              </a:rPr>
              <a:t>E-BOOKS:</a:t>
            </a:r>
          </a:p>
          <a:p>
            <a:r>
              <a:rPr lang="en-US" dirty="0">
                <a:latin typeface="Arial" pitchFamily="34" charset="0"/>
                <a:cs typeface="Arial" pitchFamily="34" charset="0"/>
                <a:hlinkClick r:id="rId3"/>
              </a:rPr>
              <a:t>https://www.creativeteaching.com/products/reading-comprehension-ebook</a:t>
            </a:r>
            <a:endParaRPr lang="en-US" dirty="0">
              <a:latin typeface="Arial" pitchFamily="34" charset="0"/>
              <a:cs typeface="Arial" pitchFamily="34" charset="0"/>
            </a:endParaRPr>
          </a:p>
          <a:p>
            <a:r>
              <a:rPr lang="en-US" dirty="0">
                <a:latin typeface="Arial" pitchFamily="34" charset="0"/>
                <a:cs typeface="Arial" pitchFamily="34" charset="0"/>
              </a:rPr>
              <a:t>VIDEO LINKS:</a:t>
            </a:r>
          </a:p>
          <a:p>
            <a:r>
              <a:rPr lang="en-US" dirty="0">
                <a:latin typeface="Arial" pitchFamily="34" charset="0"/>
                <a:ea typeface="+mn-lt"/>
                <a:cs typeface="Arial" pitchFamily="34" charset="0"/>
              </a:rPr>
              <a:t>https://youtu.be/rcxTucEWugA</a:t>
            </a:r>
            <a:endParaRPr lang="en-US" dirty="0">
              <a:latin typeface="Arial" pitchFamily="34" charset="0"/>
              <a:cs typeface="Arial" pitchFamily="34" charset="0"/>
            </a:endParaRPr>
          </a:p>
        </p:txBody>
      </p:sp>
      <p:sp>
        <p:nvSpPr>
          <p:cNvPr id="4" name="Slide Number Placeholder 3">
            <a:extLst>
              <a:ext uri="{FF2B5EF4-FFF2-40B4-BE49-F238E27FC236}">
                <a16:creationId xmlns:a16="http://schemas.microsoft.com/office/drawing/2014/main" id="{77DD0E91-AB80-48E8-956B-20C3704B1E5F}"/>
              </a:ext>
            </a:extLst>
          </p:cNvPr>
          <p:cNvSpPr>
            <a:spLocks noGrp="1"/>
          </p:cNvSpPr>
          <p:nvPr>
            <p:ph type="sldNum" sz="quarter" idx="12"/>
          </p:nvPr>
        </p:nvSpPr>
        <p:spPr/>
        <p:txBody>
          <a:bodyPr/>
          <a:lstStyle/>
          <a:p>
            <a:fld id="{BDCDBBEF-AA6C-4BA6-85B2-A17D7F280E38}" type="slidenum">
              <a:rPr lang="en-US" smtClean="0"/>
              <a:pPr/>
              <a:t>32</a:t>
            </a:fld>
            <a:endParaRPr lang="en-US"/>
          </a:p>
        </p:txBody>
      </p:sp>
      <p:sp>
        <p:nvSpPr>
          <p:cNvPr id="5" name="Rectangle 4"/>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442198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 name="Rectangle 1"/>
          <p:cNvSpPr/>
          <p:nvPr/>
        </p:nvSpPr>
        <p:spPr>
          <a:xfrm>
            <a:off x="4114005" y="5394447"/>
            <a:ext cx="4669102" cy="646331"/>
          </a:xfrm>
          <a:prstGeom prst="rect">
            <a:avLst/>
          </a:prstGeom>
        </p:spPr>
        <p:txBody>
          <a:bodyPr wrap="square" anchor="t">
            <a:spAutoFit/>
          </a:bodyPr>
          <a:lstStyle/>
          <a:p>
            <a:r>
              <a:rPr lang="en-US" dirty="0">
                <a:latin typeface="Casper" panose="02000506000000020004" pitchFamily="2" charset="0"/>
                <a:ea typeface="Segoe UI" panose="020B0502040204020203" pitchFamily="34" charset="0"/>
                <a:cs typeface="Segoe UI" panose="020B0502040204020203" pitchFamily="34" charset="0"/>
              </a:rPr>
              <a:t>For queries</a:t>
            </a:r>
          </a:p>
          <a:p>
            <a:r>
              <a:rPr lang="en-US" dirty="0">
                <a:latin typeface="Casper"/>
                <a:cs typeface="Segoe UI"/>
              </a:rPr>
              <a:t>Email: communicationskills.uilah@gmail.com</a:t>
            </a:r>
          </a:p>
        </p:txBody>
      </p:sp>
    </p:spTree>
    <p:extLst>
      <p:ext uri="{BB962C8B-B14F-4D97-AF65-F5344CB8AC3E}">
        <p14:creationId xmlns:p14="http://schemas.microsoft.com/office/powerpoint/2010/main" val="2305447518"/>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347</TotalTime>
  <Words>2076</Words>
  <Application>Microsoft Office PowerPoint</Application>
  <PresentationFormat>Widescreen</PresentationFormat>
  <Paragraphs>234</Paragraphs>
  <Slides>33</Slides>
  <Notes>3</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33</vt:i4>
      </vt:variant>
    </vt:vector>
  </HeadingPairs>
  <TitlesOfParts>
    <vt:vector size="44" baseType="lpstr">
      <vt:lpstr>Arial</vt:lpstr>
      <vt:lpstr>Arial Black</vt:lpstr>
      <vt:lpstr>Calibri</vt:lpstr>
      <vt:lpstr>Calibri Light</vt:lpstr>
      <vt:lpstr>Casper</vt:lpstr>
      <vt:lpstr>Karla</vt:lpstr>
      <vt:lpstr>Raleway ExtraBold</vt:lpstr>
      <vt:lpstr>roboto</vt:lpstr>
      <vt:lpstr>Times New Roman</vt:lpstr>
      <vt:lpstr>1_Office Theme</vt:lpstr>
      <vt:lpstr>CorelDRAW</vt:lpstr>
      <vt:lpstr>PowerPoint Presentation</vt:lpstr>
      <vt:lpstr>COURSE OBJECTIVES </vt:lpstr>
      <vt:lpstr>Course Outcomes </vt:lpstr>
      <vt:lpstr>What is Reading Comprehension?</vt:lpstr>
      <vt:lpstr>Why Reading Comprehension?</vt:lpstr>
      <vt:lpstr>Importance of Reading Comprehension Tests</vt:lpstr>
      <vt:lpstr>The Dilemma is:</vt:lpstr>
      <vt:lpstr>What should we read first? (continued)</vt:lpstr>
      <vt:lpstr>Central Idea</vt:lpstr>
      <vt:lpstr>Key Words (continued)</vt:lpstr>
      <vt:lpstr>Key Words</vt:lpstr>
      <vt:lpstr>Inference</vt:lpstr>
      <vt:lpstr>           POLL QUESTION</vt:lpstr>
      <vt:lpstr>Barriers To Quick Reading</vt:lpstr>
      <vt:lpstr>Types of Questions</vt:lpstr>
      <vt:lpstr>Inferential Question Example</vt:lpstr>
      <vt:lpstr>Referential Question Example</vt:lpstr>
      <vt:lpstr>Location of Questions</vt:lpstr>
      <vt:lpstr>Tips for long paragraphs</vt:lpstr>
      <vt:lpstr>Tips for long paragraphs (Contd.)</vt:lpstr>
      <vt:lpstr>Tips for short paragraphs</vt:lpstr>
      <vt:lpstr>Tips for medium length paragraphs- </vt:lpstr>
      <vt:lpstr>Practice Questions: Central Idea</vt:lpstr>
      <vt:lpstr>Hidden Facts (Continued)</vt:lpstr>
      <vt:lpstr>             POLL QUESTION</vt:lpstr>
      <vt:lpstr>Read the following passage and answer the questions</vt:lpstr>
      <vt:lpstr>Answer the questions</vt:lpstr>
      <vt:lpstr>Answer the questions</vt:lpstr>
      <vt:lpstr>Answer the questions</vt:lpstr>
      <vt:lpstr>Applications</vt:lpstr>
      <vt:lpstr>Assessment Pattern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VIKAS KUMAR</dc:creator>
  <cp:lastModifiedBy>Vishal Monga</cp:lastModifiedBy>
  <cp:revision>1910</cp:revision>
  <dcterms:created xsi:type="dcterms:W3CDTF">2020-06-09T11:11:19Z</dcterms:created>
  <dcterms:modified xsi:type="dcterms:W3CDTF">2023-07-05T08:32:51Z</dcterms:modified>
</cp:coreProperties>
</file>