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2"/>
  </p:notesMasterIdLst>
  <p:handoutMasterIdLst>
    <p:handoutMasterId r:id="rId23"/>
  </p:handoutMasterIdLst>
  <p:sldIdLst>
    <p:sldId id="277" r:id="rId3"/>
    <p:sldId id="397" r:id="rId4"/>
    <p:sldId id="265" r:id="rId5"/>
    <p:sldId id="281" r:id="rId6"/>
    <p:sldId id="280" r:id="rId7"/>
    <p:sldId id="308" r:id="rId8"/>
    <p:sldId id="287" r:id="rId9"/>
    <p:sldId id="288" r:id="rId10"/>
    <p:sldId id="309" r:id="rId11"/>
    <p:sldId id="310" r:id="rId12"/>
    <p:sldId id="292" r:id="rId13"/>
    <p:sldId id="293" r:id="rId14"/>
    <p:sldId id="302" r:id="rId15"/>
    <p:sldId id="299" r:id="rId16"/>
    <p:sldId id="307" r:id="rId17"/>
    <p:sldId id="283" r:id="rId18"/>
    <p:sldId id="282" r:id="rId19"/>
    <p:sldId id="284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asmartstudyzone.blogspot.com/2019/01/idioms-and-phrases-related-to-love.html?m=0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nglishstudypage.com/vocabulary/common-collocations-in-english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ughtco.com/collocation-examples-1210325" TargetMode="External"/><Relationship Id="rId2" Type="http://schemas.openxmlformats.org/officeDocument/2006/relationships/hyperlink" Target="https://7esl.com/collocation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903355" y="5961904"/>
            <a:ext cx="6432043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  <a:cs typeface="Times New Roman" panose="02020603050405020304" pitchFamily="18" charset="0"/>
              </a:rPr>
              <a:t>COLLOCATIONS </a:t>
            </a:r>
          </a:p>
          <a:p>
            <a:pPr eaLnBrk="1" hangingPunct="1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34737" y="1815736"/>
            <a:ext cx="9464040" cy="513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Name-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Code- 23PCH-105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7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0" y="1249680"/>
            <a:ext cx="4069080" cy="4591685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9402" y="6373259"/>
            <a:ext cx="2903220" cy="365125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15022" y="417629"/>
            <a:ext cx="5966778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>
              <a:latin typeface="Arial Black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52360" y="1234440"/>
            <a:ext cx="4122419" cy="4739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325498" y="6349088"/>
            <a:ext cx="307124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8728" y="1771352"/>
            <a:ext cx="5279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41F1F-583D-67A7-662A-28D38A967CF2}"/>
              </a:ext>
            </a:extLst>
          </p:cNvPr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u="sng" dirty="0">
                <a:latin typeface="Arial" pitchFamily="34" charset="0"/>
                <a:cs typeface="Arial" pitchFamily="34" charset="0"/>
                <a:hlinkClick r:id="rId2"/>
              </a:rPr>
              <a:t>Wordpress.com</a:t>
            </a:r>
          </a:p>
        </p:txBody>
      </p:sp>
      <p:pic>
        <p:nvPicPr>
          <p:cNvPr id="7" name="Picture 4" descr="C:\Users\Manminder Singh\Desktop\Sem.I 2020\images.jpg">
            <a:extLst>
              <a:ext uri="{FF2B5EF4-FFF2-40B4-BE49-F238E27FC236}">
                <a16:creationId xmlns:a16="http://schemas.microsoft.com/office/drawing/2014/main" id="{9FA811ED-9E18-0CBF-BC6A-7901E6C72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6196" y="1136469"/>
            <a:ext cx="4232366" cy="4885508"/>
          </a:xfrm>
          <a:prstGeom prst="rect">
            <a:avLst/>
          </a:prstGeom>
          <a:noFill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A0C9BA-2DF8-4343-3817-BC40B96C2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50462"/>
              </p:ext>
            </p:extLst>
          </p:nvPr>
        </p:nvGraphicFramePr>
        <p:xfrm>
          <a:off x="206553" y="216049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5543" y="5865221"/>
            <a:ext cx="2717074" cy="496389"/>
          </a:xfrm>
        </p:spPr>
        <p:txBody>
          <a:bodyPr>
            <a:noAutofit/>
          </a:bodyPr>
          <a:lstStyle/>
          <a:p>
            <a:pPr>
              <a:buNone/>
            </a:pPr>
            <a:endParaRPr lang="en-IN" sz="1200" u="sng" dirty="0">
              <a:latin typeface="Arial" pitchFamily="34" charset="0"/>
              <a:cs typeface="Arial" pitchFamily="34" charset="0"/>
              <a:hlinkClick r:id="rId2"/>
            </a:endParaRPr>
          </a:p>
          <a:p>
            <a:pPr>
              <a:buNone/>
            </a:pPr>
            <a:r>
              <a:rPr lang="en-IN" sz="1200" u="sng" dirty="0">
                <a:latin typeface="Arial" pitchFamily="34" charset="0"/>
                <a:cs typeface="Arial" pitchFamily="34" charset="0"/>
                <a:hlinkClick r:id="rId2"/>
              </a:rPr>
              <a:t>englishstudypage.com </a:t>
            </a:r>
            <a:endParaRPr 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1615440"/>
            <a:ext cx="5471160" cy="4602480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Topics to be covered: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What are Collocations?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Importance of Collocations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Types of Collocations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examples of collocations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Business collocations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Worksheet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50302" y="195023"/>
            <a:ext cx="1012729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400" dirty="0">
                <a:latin typeface="Arial Black" pitchFamily="34" charset="0"/>
              </a:rPr>
              <a:t>COLLOCATIONS</a:t>
            </a:r>
            <a:br>
              <a:rPr lang="en-IN" sz="4400" dirty="0">
                <a:latin typeface="Arial Black" pitchFamily="34" charset="0"/>
              </a:rPr>
            </a:b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6040" y="15087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310640"/>
            <a:ext cx="5722938" cy="5045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C:\Users\Manminder Singh\Desktop\Sem.I 2020\download.png"/>
          <p:cNvPicPr>
            <a:picLocks noChangeAspect="1" noChangeArrowheads="1"/>
          </p:cNvPicPr>
          <p:nvPr/>
        </p:nvPicPr>
        <p:blipFill>
          <a:blip r:embed="rId3"/>
          <a:srcRect r="1951" b="5222"/>
          <a:stretch>
            <a:fillRect/>
          </a:stretch>
        </p:blipFill>
        <p:spPr bwMode="auto">
          <a:xfrm>
            <a:off x="6453051" y="1528354"/>
            <a:ext cx="4833258" cy="44152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What are Collocations ?</a:t>
            </a:r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>
                <a:latin typeface="Arial" pitchFamily="34" charset="0"/>
                <a:cs typeface="Arial" pitchFamily="34" charset="0"/>
              </a:rPr>
              <a:t>The words which usually come together in their usage are called collocations. 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These words are closely linked with each other for e.g.  :- golden opportunity, make mistakes etc. 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In daily business communication, nouns are usually combined with verbs and adjectives. For e.g. :- to hold meeting, conduct negotiations etc. 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Importance of using collocations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For improving vocabulary.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language will be more natural and will be easily understood.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Rather than a single word we can learn and use the language in blocks.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Expression of yours will be richer and there will be alternative ways of expressing.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Types of Collocations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Noun, verb, adverb or adjective maintains a connection with another word as in :</a:t>
            </a:r>
          </a:p>
          <a:p>
            <a:endParaRPr lang="en-IN" b="1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Adverb + adjective </a:t>
            </a:r>
            <a:r>
              <a:rPr lang="en-IN" dirty="0">
                <a:latin typeface="Arial" pitchFamily="34" charset="0"/>
                <a:cs typeface="Arial" pitchFamily="34" charset="0"/>
              </a:rPr>
              <a:t>- 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absolutely exhausted , fully aware </a:t>
            </a:r>
          </a:p>
          <a:p>
            <a:pPr>
              <a:buNone/>
            </a:pPr>
            <a:r>
              <a:rPr lang="en-IN" i="1" dirty="0">
                <a:latin typeface="Arial" pitchFamily="34" charset="0"/>
                <a:cs typeface="Arial" pitchFamily="34" charset="0"/>
              </a:rPr>
              <a:t>    </a:t>
            </a:r>
          </a:p>
          <a:p>
            <a:pPr>
              <a:buNone/>
            </a:pPr>
            <a:r>
              <a:rPr lang="en-IN" i="1" dirty="0">
                <a:latin typeface="Arial" pitchFamily="34" charset="0"/>
                <a:cs typeface="Arial" pitchFamily="34" charset="0"/>
              </a:rPr>
              <a:t>      </a:t>
            </a:r>
            <a:r>
              <a:rPr lang="en-IN" dirty="0">
                <a:latin typeface="Arial" pitchFamily="34" charset="0"/>
                <a:cs typeface="Arial" pitchFamily="34" charset="0"/>
              </a:rPr>
              <a:t>He seemed to be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absolutely exhausted </a:t>
            </a:r>
            <a:r>
              <a:rPr lang="en-IN" dirty="0">
                <a:latin typeface="Arial" pitchFamily="34" charset="0"/>
                <a:cs typeface="Arial" pitchFamily="34" charset="0"/>
              </a:rPr>
              <a:t>after this  event.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  I was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fully aware </a:t>
            </a:r>
            <a:r>
              <a:rPr lang="en-IN" dirty="0">
                <a:latin typeface="Arial" pitchFamily="34" charset="0"/>
                <a:cs typeface="Arial" pitchFamily="34" charset="0"/>
              </a:rPr>
              <a:t>that there was something wrong at the bottom.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Types of Collocations contd.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IN" b="1" dirty="0">
                <a:latin typeface="Arial" pitchFamily="34" charset="0"/>
                <a:cs typeface="Arial" pitchFamily="34" charset="0"/>
              </a:rPr>
              <a:t>Adjective + Noun </a:t>
            </a:r>
            <a:r>
              <a:rPr lang="en-IN" dirty="0">
                <a:latin typeface="Arial" pitchFamily="34" charset="0"/>
                <a:cs typeface="Arial" pitchFamily="34" charset="0"/>
              </a:rPr>
              <a:t>-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stormy night, </a:t>
            </a:r>
          </a:p>
          <a:p>
            <a:pPr>
              <a:buNone/>
            </a:pPr>
            <a:r>
              <a:rPr lang="en-IN" b="1" i="1" dirty="0">
                <a:latin typeface="Arial" pitchFamily="34" charset="0"/>
                <a:cs typeface="Arial" pitchFamily="34" charset="0"/>
              </a:rPr>
              <a:t>                                positive attitude</a:t>
            </a:r>
          </a:p>
          <a:p>
            <a:pPr>
              <a:buNone/>
            </a:pPr>
            <a:r>
              <a:rPr lang="en-IN" i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>
                <a:latin typeface="Arial" pitchFamily="34" charset="0"/>
                <a:cs typeface="Arial" pitchFamily="34" charset="0"/>
              </a:rPr>
              <a:t> We had to travel in such a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stormy night</a:t>
            </a:r>
            <a:r>
              <a:rPr lang="en-IN" i="1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IN" i="1" dirty="0">
                <a:latin typeface="Arial" pitchFamily="34" charset="0"/>
                <a:cs typeface="Arial" pitchFamily="34" charset="0"/>
              </a:rPr>
              <a:t>  </a:t>
            </a:r>
            <a:r>
              <a:rPr lang="en-IN" dirty="0">
                <a:latin typeface="Arial" pitchFamily="34" charset="0"/>
                <a:cs typeface="Arial" pitchFamily="34" charset="0"/>
              </a:rPr>
              <a:t> She is admired for her 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positive attitude</a:t>
            </a:r>
            <a:r>
              <a:rPr lang="en-IN" i="1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u="sng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Verb + noun </a:t>
            </a:r>
            <a:r>
              <a:rPr lang="en-IN" dirty="0">
                <a:latin typeface="Arial" pitchFamily="34" charset="0"/>
                <a:cs typeface="Arial" pitchFamily="34" charset="0"/>
              </a:rPr>
              <a:t>–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make mistake, commit suicide, make progress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He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makes mistakes </a:t>
            </a:r>
            <a:r>
              <a:rPr lang="en-IN" dirty="0">
                <a:latin typeface="Arial" pitchFamily="34" charset="0"/>
                <a:cs typeface="Arial" pitchFamily="34" charset="0"/>
              </a:rPr>
              <a:t>in handling this task.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Our country is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making progress</a:t>
            </a:r>
            <a:r>
              <a:rPr lang="en-IN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   Types of Collocations contd.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verb or adjective must be followed by a preposition or a noun must be followed by a particular form of verb as follows: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Verb + preposition-     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depend on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It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depends on </a:t>
            </a:r>
            <a:r>
              <a:rPr lang="en-IN" dirty="0">
                <a:latin typeface="Arial" pitchFamily="34" charset="0"/>
                <a:cs typeface="Arial" pitchFamily="34" charset="0"/>
              </a:rPr>
              <a:t>your opinion.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Adjective + Preposition –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satisfied with 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 I am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satisfied with </a:t>
            </a:r>
            <a:r>
              <a:rPr lang="en-IN" dirty="0">
                <a:latin typeface="Arial" pitchFamily="34" charset="0"/>
                <a:cs typeface="Arial" pitchFamily="34" charset="0"/>
              </a:rPr>
              <a:t>whatever I have.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Noun + verb-    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strength to lift it 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  He has </a:t>
            </a:r>
            <a:r>
              <a:rPr lang="en-IN" b="1" i="1" dirty="0">
                <a:latin typeface="Arial" pitchFamily="34" charset="0"/>
                <a:cs typeface="Arial" pitchFamily="34" charset="0"/>
              </a:rPr>
              <a:t>strength to lift it </a:t>
            </a:r>
            <a:r>
              <a:rPr lang="en-IN" dirty="0">
                <a:latin typeface="Arial" pitchFamily="34" charset="0"/>
                <a:cs typeface="Arial" pitchFamily="34" charset="0"/>
              </a:rPr>
              <a:t>up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Examples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Happily married  ( adverb + adjective)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Major problem   ( adjective+ noun)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 sense of pride  (noun + noun)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Launch the product   (verb + noun)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 Whispered softly      (verb+ adverb)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Economy booms       (noun + verb)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 burst into tears     (verb+ expression with preposition)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1" descr="C:\Users\Manminder Singh\Desktop\Sem.I 2020\download colloc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0069" y="1907177"/>
            <a:ext cx="4180113" cy="306977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098971" y="6217920"/>
            <a:ext cx="27170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talkintownenglish.com</a:t>
            </a:r>
            <a:endParaRPr lang="en-IN" sz="1200" dirty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sz="4900" dirty="0">
                <a:latin typeface="Arial Black" pitchFamily="34" charset="0"/>
              </a:rPr>
              <a:t>Some business Collocations     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Go bankrupt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Dismiss an offer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Chair a meeting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Come to the point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Draw conclusion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Close a deal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Lead a team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0177" name="Picture 1" descr="C:\Users\Manminder Singh\Desktop\Sem.I 2020\images business (4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5692" y="1933303"/>
            <a:ext cx="6570056" cy="4140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IN" sz="4900" dirty="0">
                <a:latin typeface="Arial Black" pitchFamily="34" charset="0"/>
              </a:rPr>
            </a:br>
            <a:r>
              <a:rPr lang="en-IN" sz="4900" dirty="0">
                <a:latin typeface="Arial Black" pitchFamily="34" charset="0"/>
              </a:rPr>
              <a:t>Exercise</a:t>
            </a:r>
            <a:br>
              <a:rPr lang="en-IN" sz="4900" dirty="0">
                <a:latin typeface="Arial Black" pitchFamily="34" charset="0"/>
              </a:rPr>
            </a:br>
            <a:endParaRPr lang="en-IN" sz="49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He will have to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eat/ chew/swallow </a:t>
            </a:r>
            <a:r>
              <a:rPr lang="en-IN" dirty="0">
                <a:latin typeface="Arial" pitchFamily="34" charset="0"/>
                <a:cs typeface="Arial" pitchFamily="34" charset="0"/>
              </a:rPr>
              <a:t>his pride for his wrong comments on her.</a:t>
            </a:r>
          </a:p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His  sister is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carefully/ brutally/painfully </a:t>
            </a:r>
            <a:r>
              <a:rPr lang="en-IN" dirty="0">
                <a:latin typeface="Arial" pitchFamily="34" charset="0"/>
                <a:cs typeface="Arial" pitchFamily="34" charset="0"/>
              </a:rPr>
              <a:t>shy but he always encourages her to come out of her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skin/shell/case</a:t>
            </a:r>
            <a:r>
              <a:rPr lang="en-IN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He has apologized as he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wrecked/lost/forgot</a:t>
            </a:r>
            <a:r>
              <a:rPr lang="en-IN" dirty="0">
                <a:latin typeface="Arial" pitchFamily="34" charset="0"/>
                <a:cs typeface="Arial" pitchFamily="34" charset="0"/>
              </a:rPr>
              <a:t> his temper last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IN" sz="4900" dirty="0">
                <a:latin typeface="Arial Black" pitchFamily="34" charset="0"/>
              </a:rPr>
            </a:br>
            <a:r>
              <a:rPr lang="en-IN" sz="4900" dirty="0">
                <a:latin typeface="Arial Black" pitchFamily="34" charset="0"/>
              </a:rPr>
              <a:t>Exercise answers</a:t>
            </a:r>
            <a:br>
              <a:rPr lang="en-IN" sz="4900" dirty="0">
                <a:latin typeface="Arial Black" pitchFamily="34" charset="0"/>
              </a:rPr>
            </a:br>
            <a:endParaRPr lang="en-IN" sz="49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He will have to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eat/ chew/</a:t>
            </a:r>
            <a:r>
              <a:rPr lang="en-IN" b="1" u="sng" dirty="0">
                <a:latin typeface="Arial" pitchFamily="34" charset="0"/>
                <a:cs typeface="Arial" pitchFamily="34" charset="0"/>
              </a:rPr>
              <a:t>swallow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>
                <a:latin typeface="Arial" pitchFamily="34" charset="0"/>
                <a:cs typeface="Arial" pitchFamily="34" charset="0"/>
              </a:rPr>
              <a:t>his pride for his wrong comments on her.</a:t>
            </a:r>
          </a:p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His  sister is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carefully/ brutally/</a:t>
            </a:r>
            <a:r>
              <a:rPr lang="en-IN" b="1" u="sng" dirty="0">
                <a:latin typeface="Arial" pitchFamily="34" charset="0"/>
                <a:cs typeface="Arial" pitchFamily="34" charset="0"/>
              </a:rPr>
              <a:t>painfully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>
                <a:latin typeface="Arial" pitchFamily="34" charset="0"/>
                <a:cs typeface="Arial" pitchFamily="34" charset="0"/>
              </a:rPr>
              <a:t>shy but he always encourages her to come out of her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skin/</a:t>
            </a:r>
            <a:r>
              <a:rPr lang="en-IN" b="1" u="sng" dirty="0">
                <a:latin typeface="Arial" pitchFamily="34" charset="0"/>
                <a:cs typeface="Arial" pitchFamily="34" charset="0"/>
              </a:rPr>
              <a:t>shell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/case</a:t>
            </a:r>
            <a:r>
              <a:rPr lang="en-IN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/>
            <a:endParaRPr lang="en-IN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IN" dirty="0">
                <a:latin typeface="Arial" pitchFamily="34" charset="0"/>
                <a:cs typeface="Arial" pitchFamily="34" charset="0"/>
              </a:rPr>
              <a:t>He has apologized as he 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wrecked/</a:t>
            </a:r>
            <a:r>
              <a:rPr lang="en-IN" b="1" u="sng" dirty="0">
                <a:latin typeface="Arial" pitchFamily="34" charset="0"/>
                <a:cs typeface="Arial" pitchFamily="34" charset="0"/>
              </a:rPr>
              <a:t>lost</a:t>
            </a:r>
            <a:r>
              <a:rPr lang="en-IN" u="sng" dirty="0">
                <a:latin typeface="Arial" pitchFamily="34" charset="0"/>
                <a:cs typeface="Arial" pitchFamily="34" charset="0"/>
              </a:rPr>
              <a:t>/forgot</a:t>
            </a:r>
            <a:r>
              <a:rPr lang="en-IN" dirty="0">
                <a:latin typeface="Arial" pitchFamily="34" charset="0"/>
                <a:cs typeface="Arial" pitchFamily="34" charset="0"/>
              </a:rPr>
              <a:t> his temper last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Poll question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Which is an example of a adverb+ adjective collocation?</a:t>
            </a:r>
          </a:p>
          <a:p>
            <a:pPr marL="514350" indent="-51435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Richly decorated</a:t>
            </a: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Richly wealthy</a:t>
            </a: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Greedily rich</a:t>
            </a: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 man</a:t>
            </a:r>
          </a:p>
          <a:p>
            <a:pPr marL="514350" indent="-514350">
              <a:buAutoNum type="alphaL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Poll question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Which is an example of a adverb+ adjective collocation?</a:t>
            </a:r>
          </a:p>
          <a:p>
            <a:pPr marL="514350" indent="-51435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Richly decorated</a:t>
            </a: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Richly wealthy</a:t>
            </a:r>
          </a:p>
          <a:p>
            <a:pPr marL="514350" indent="-514350">
              <a:buAutoNum type="alphaLcPeriod"/>
            </a:pPr>
            <a:r>
              <a:rPr lang="en-US" b="1" dirty="0">
                <a:latin typeface="Arial" pitchFamily="34" charset="0"/>
                <a:cs typeface="Arial" pitchFamily="34" charset="0"/>
              </a:rPr>
              <a:t>Greedily rich</a:t>
            </a:r>
          </a:p>
          <a:p>
            <a:pPr marL="514350" indent="-514350">
              <a:buAutoNum type="alphaL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Rich man</a:t>
            </a:r>
          </a:p>
          <a:p>
            <a:pPr marL="514350" indent="-514350">
              <a:buAutoNum type="alphaL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Applications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professional life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speaking and writing skills of students with vocabulary usage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speak a variety of effective words so that they will be able to get more job opportunities.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McCarthy Michael; O’Dell Felicity, English Collocations in Use, Cambridge University  Press,2017</a:t>
            </a:r>
          </a:p>
          <a:p>
            <a:r>
              <a:rPr lang="en-IN" u="sng" dirty="0">
                <a:latin typeface="Arial" pitchFamily="34" charset="0"/>
                <a:cs typeface="Arial" pitchFamily="34" charset="0"/>
                <a:hlinkClick r:id="rId2"/>
              </a:rPr>
              <a:t>https://7esl.com/collocations/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  <a:r>
              <a:rPr lang="en-IN" u="sng" dirty="0">
                <a:latin typeface="Arial" pitchFamily="34" charset="0"/>
                <a:cs typeface="Arial" pitchFamily="34" charset="0"/>
                <a:hlinkClick r:id="rId3"/>
              </a:rPr>
              <a:t>https://www.thoughtco.com/collocation-examples-1210325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93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Arial" pitchFamily="34" charset="0"/>
                <a:ea typeface="Segoe UI" panose="020B0502040204020203" pitchFamily="34" charset="0"/>
                <a:cs typeface="Arial" pitchFamily="34" charset="0"/>
              </a:rPr>
              <a:t>For queries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Email: communicationskillsuilah@gmail.com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1230</TotalTime>
  <Words>986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COLLOCATIONS  </vt:lpstr>
      <vt:lpstr>What are Collocations ?   </vt:lpstr>
      <vt:lpstr> Importance of using collocations</vt:lpstr>
      <vt:lpstr>Types of Collocations</vt:lpstr>
      <vt:lpstr>Types of Collocations contd.</vt:lpstr>
      <vt:lpstr>    Types of Collocations contd.</vt:lpstr>
      <vt:lpstr>Examples</vt:lpstr>
      <vt:lpstr>Some business Collocations       </vt:lpstr>
      <vt:lpstr> Exercise </vt:lpstr>
      <vt:lpstr> Exercise answers </vt:lpstr>
      <vt:lpstr>Poll question</vt:lpstr>
      <vt:lpstr>Poll question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164</cp:revision>
  <dcterms:created xsi:type="dcterms:W3CDTF">2019-01-09T10:33:58Z</dcterms:created>
  <dcterms:modified xsi:type="dcterms:W3CDTF">2023-07-11T08:35:28Z</dcterms:modified>
</cp:coreProperties>
</file>