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0"/>
  </p:notesMasterIdLst>
  <p:handoutMasterIdLst>
    <p:handoutMasterId r:id="rId31"/>
  </p:handoutMasterIdLst>
  <p:sldIdLst>
    <p:sldId id="342" r:id="rId3"/>
    <p:sldId id="285" r:id="rId4"/>
    <p:sldId id="298" r:id="rId5"/>
    <p:sldId id="299" r:id="rId6"/>
    <p:sldId id="280" r:id="rId7"/>
    <p:sldId id="300" r:id="rId8"/>
    <p:sldId id="287" r:id="rId9"/>
    <p:sldId id="341" r:id="rId10"/>
    <p:sldId id="288" r:id="rId11"/>
    <p:sldId id="329" r:id="rId12"/>
    <p:sldId id="289" r:id="rId13"/>
    <p:sldId id="339" r:id="rId14"/>
    <p:sldId id="325" r:id="rId15"/>
    <p:sldId id="301" r:id="rId16"/>
    <p:sldId id="320" r:id="rId17"/>
    <p:sldId id="331" r:id="rId18"/>
    <p:sldId id="302" r:id="rId19"/>
    <p:sldId id="337" r:id="rId20"/>
    <p:sldId id="304" r:id="rId21"/>
    <p:sldId id="305" r:id="rId22"/>
    <p:sldId id="306" r:id="rId23"/>
    <p:sldId id="309" r:id="rId24"/>
    <p:sldId id="311" r:id="rId25"/>
    <p:sldId id="283" r:id="rId26"/>
    <p:sldId id="282" r:id="rId27"/>
    <p:sldId id="313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85305" autoAdjust="0"/>
  </p:normalViewPr>
  <p:slideViewPr>
    <p:cSldViewPr snapToGrid="0">
      <p:cViewPr varScale="1">
        <p:scale>
          <a:sx n="61" d="100"/>
          <a:sy n="61" d="100"/>
        </p:scale>
        <p:origin x="108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.edu/31597806/GrammarVoice_and_Narration" TargetMode="External"/><Relationship Id="rId2" Type="http://schemas.openxmlformats.org/officeDocument/2006/relationships/hyperlink" Target="https://www.slideshare.net/idahisyam/active-and-passive-voice-ppt-53307051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394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58500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ea typeface="Karla" pitchFamily="2" charset="0"/>
                <a:cs typeface="Arial" pitchFamily="34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Karla" pitchFamily="2" charset="0"/>
                <a:cs typeface="Arial" pitchFamily="34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ea typeface="Karla" pitchFamily="2" charset="0"/>
                <a:cs typeface="Arial" pitchFamily="34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228178" y="5980837"/>
            <a:ext cx="643204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ACTIVE AND PASSIVE VOICE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05394" y="1661160"/>
            <a:ext cx="10206446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8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8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66753" y="392798"/>
            <a:ext cx="468661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 COURSE OUTCOMES</a:t>
            </a:r>
            <a:endParaRPr lang="en-US" sz="1600" dirty="0">
              <a:latin typeface="Arial Black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1348" y="1684747"/>
            <a:ext cx="52084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6322" name="AutoShape 2" descr="blob:https://web.whatsapp.com/df8784bb-2292-4e56-9194-8a2fc892c85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324" name="Picture 4" descr="C:\Users\Harpreet\Downloads\WhatsApp Image 2020-06-23 at 15.21.35.jpe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226710" y="1084217"/>
            <a:ext cx="4137976" cy="4963886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7226710" y="6150077"/>
            <a:ext cx="36870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latin typeface="Arial" pitchFamily="34" charset="0"/>
                <a:cs typeface="Arial" pitchFamily="34" charset="0"/>
              </a:rPr>
              <a:t>   	  </a:t>
            </a:r>
            <a:r>
              <a:rPr lang="en-IN" dirty="0">
                <a:latin typeface="Arial" pitchFamily="34" charset="0"/>
                <a:cs typeface="Arial" pitchFamily="34" charset="0"/>
              </a:rPr>
              <a:t>www.istockphoto.com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1561CB-E7F8-72E2-D4C1-43C65621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54588"/>
              </p:ext>
            </p:extLst>
          </p:nvPr>
        </p:nvGraphicFramePr>
        <p:xfrm>
          <a:off x="206553" y="213359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640" y="6217921"/>
            <a:ext cx="4198620" cy="39623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     URL for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im</a:t>
            </a:r>
            <a:r>
              <a:rPr lang="en-IN" sz="1800" dirty="0">
                <a:latin typeface="Arial" pitchFamily="34" charset="0"/>
                <a:cs typeface="Arial" pitchFamily="34" charset="0"/>
              </a:rPr>
              <a:t>https://ieltsfever.org</a:t>
            </a:r>
          </a:p>
          <a:p>
            <a:pPr>
              <a:buNone/>
            </a:pPr>
            <a:endParaRPr lang="en-US" sz="12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8142" y="1533832"/>
            <a:ext cx="5191432" cy="4616245"/>
          </a:xfrm>
        </p:spPr>
        <p:txBody>
          <a:bodyPr>
            <a:norm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Voice is the form of a verb     </a:t>
            </a:r>
          </a:p>
          <a:p>
            <a:pPr algn="just"/>
            <a:r>
              <a:rPr lang="en-US" sz="2600" dirty="0">
                <a:latin typeface="Arial" pitchFamily="34" charset="0"/>
                <a:cs typeface="Arial" pitchFamily="34" charset="0"/>
              </a:rPr>
              <a:t>  takes to indicate whether the      </a:t>
            </a:r>
          </a:p>
          <a:p>
            <a:pPr algn="just"/>
            <a:r>
              <a:rPr lang="en-US" sz="2600" dirty="0">
                <a:latin typeface="Arial" pitchFamily="34" charset="0"/>
                <a:cs typeface="Arial" pitchFamily="34" charset="0"/>
              </a:rPr>
              <a:t>  subject of the verb performs    </a:t>
            </a:r>
          </a:p>
          <a:p>
            <a:pPr algn="just"/>
            <a:r>
              <a:rPr lang="en-US" sz="2600" dirty="0">
                <a:latin typeface="Arial" pitchFamily="34" charset="0"/>
                <a:cs typeface="Arial" pitchFamily="34" charset="0"/>
              </a:rPr>
              <a:t>  or receives the action.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There are two types of voice: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Active voice</a:t>
            </a: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  Passive voice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02890" y="408383"/>
            <a:ext cx="1033862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Arial" pitchFamily="34" charset="0"/>
              </a:rPr>
              <a:t>Voice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16040" y="150876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88142" y="1517117"/>
            <a:ext cx="5184058" cy="4632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 descr="C:\Users\Harpreet\Downloads\WhatsApp Image 2020-06-09 at 23.38.10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15548" y="1489587"/>
            <a:ext cx="5032993" cy="4668497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6568440" y="166116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Active Voice</a:t>
            </a:r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Active voice indicates that the subject of the verb is acting. E.g.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The police is catching the robbers.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The police (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subject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) is doing the catching (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verb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US" sz="2600" dirty="0">
                <a:latin typeface="Arial" pitchFamily="34" charset="0"/>
                <a:cs typeface="Arial" pitchFamily="34" charset="0"/>
              </a:rPr>
              <a:t>Because the subject does or “act upon” the verb in such sentences, </a:t>
            </a:r>
          </a:p>
          <a:p>
            <a:pPr algn="just"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  the sentences are said to be in active voice.</a:t>
            </a:r>
          </a:p>
          <a:p>
            <a:pPr algn="just"/>
            <a:r>
              <a:rPr lang="en-US" sz="2600" dirty="0">
                <a:latin typeface="Arial" pitchFamily="34" charset="0"/>
                <a:cs typeface="Arial" pitchFamily="34" charset="0"/>
              </a:rPr>
              <a:t>I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t follows a clear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subject + verb + object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construct that's easy to </a:t>
            </a:r>
          </a:p>
          <a:p>
            <a:pPr algn="just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read. </a:t>
            </a: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128805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Passive Voice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798320"/>
            <a:ext cx="10515600" cy="470521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In a passive voice sentence the subject and the object flip-flop. The object takes the position of a subject and the subject becomes the passive recipient of the action.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3" descr="C:\Users\Harpreet\Downloads\WhatsApp Image 2020-06-09 at 23.33.0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0606" y="3126658"/>
            <a:ext cx="8242663" cy="3104324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10515600" cy="45089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Transformation of Active into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Passive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 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Some rules to follow:-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1.When the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subject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of the active voice becomes the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object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of 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the passive voice, it is generally preceded by the preposition </a:t>
            </a:r>
          </a:p>
          <a:p>
            <a:pPr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“by”.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E.g.    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He likes you.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You are liked </a:t>
            </a:r>
            <a:r>
              <a:rPr lang="en-IN" sz="2600" b="1" i="1" dirty="0">
                <a:latin typeface="Arial" pitchFamily="34" charset="0"/>
                <a:cs typeface="Arial" pitchFamily="34" charset="0"/>
              </a:rPr>
              <a:t>by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 him.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Transformation of Active into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Passive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If there are two objects in an active construction, it is better to 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transform the sentence from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direct object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which is placed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immediately after the verb. E.g.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</a:t>
            </a:r>
            <a:r>
              <a:rPr lang="en-IN" sz="2600" dirty="0" err="1">
                <a:latin typeface="Arial" pitchFamily="34" charset="0"/>
                <a:cs typeface="Arial" pitchFamily="34" charset="0"/>
              </a:rPr>
              <a:t>Rakesh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teaches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us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English.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We are taught English by </a:t>
            </a:r>
            <a:r>
              <a:rPr lang="en-IN" sz="2600" i="1" dirty="0" err="1">
                <a:latin typeface="Arial" pitchFamily="34" charset="0"/>
                <a:cs typeface="Arial" pitchFamily="34" charset="0"/>
              </a:rPr>
              <a:t>Rakesh</a:t>
            </a:r>
            <a:r>
              <a:rPr lang="en-IN" sz="2600" i="1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198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itchFamily="34" charset="0"/>
              </a:rPr>
              <a:t>   Transformation of Active into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Passive Voice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dirty="0"/>
              <a:t>3.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There are certain verbs such as know, surprise, shock, astonish, annoy, contain, please, displease, satisfy etc. which take different prepositions in the passive voice: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26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2043" y="3019425"/>
            <a:ext cx="974407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198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itchFamily="34" charset="0"/>
              </a:rPr>
              <a:t>   			Poll Question-1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Q:- The police is looking into the matter.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1. The matter is being looked into.</a:t>
            </a:r>
          </a:p>
          <a:p>
            <a:pPr marL="514350" indent="-514350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The matter is being looked by the police.</a:t>
            </a:r>
          </a:p>
          <a:p>
            <a:pPr marL="514350" indent="-514350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The matter is being looked into the police.</a:t>
            </a:r>
          </a:p>
          <a:p>
            <a:pPr marL="514350" indent="-514350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The matter is being looked into by the police.</a:t>
            </a:r>
          </a:p>
          <a:p>
            <a:pPr marL="514350" indent="-514350"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rabicPeriod"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7198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 Transformation</a:t>
            </a:r>
            <a:r>
              <a:rPr lang="en-IN" sz="4900" dirty="0">
                <a:latin typeface="Arial Black" pitchFamily="34" charset="0"/>
              </a:rPr>
              <a:t> of Tenses</a:t>
            </a:r>
            <a:endParaRPr lang="en-IN" sz="4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680" y="1825624"/>
            <a:ext cx="10439400" cy="4697096"/>
          </a:xfrm>
        </p:spPr>
        <p:txBody>
          <a:bodyPr/>
          <a:lstStyle/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In the passive voice the subject is followed by the “be” form of the   verb, such as- is, am, are, was, were, been, being and be and, and the third form of the verb (v</a:t>
            </a:r>
            <a:r>
              <a:rPr lang="en-IN" sz="1800" dirty="0">
                <a:latin typeface="Arial" pitchFamily="34" charset="0"/>
                <a:cs typeface="Arial" pitchFamily="34" charset="0"/>
              </a:rPr>
              <a:t>3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).</a:t>
            </a:r>
          </a:p>
          <a:p>
            <a:pPr>
              <a:buNone/>
            </a:pPr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62149" y="1816463"/>
            <a:ext cx="10463348" cy="47149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05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4420" y="3162300"/>
            <a:ext cx="95250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7198"/>
          </a:xfrm>
        </p:spPr>
        <p:txBody>
          <a:bodyPr/>
          <a:lstStyle/>
          <a:p>
            <a:r>
              <a:rPr lang="en-IN" dirty="0">
                <a:latin typeface="Arial Black" pitchFamily="34" charset="0"/>
              </a:rPr>
              <a:t>      Transformation of Tenses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720" y="1825624"/>
            <a:ext cx="10546080" cy="4712336"/>
          </a:xfrm>
        </p:spPr>
        <p:txBody>
          <a:bodyPr/>
          <a:lstStyle/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62149" y="1816463"/>
            <a:ext cx="10463348" cy="47149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4920" y="1926899"/>
            <a:ext cx="9723120" cy="4528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7198"/>
          </a:xfrm>
        </p:spPr>
        <p:txBody>
          <a:bodyPr/>
          <a:lstStyle/>
          <a:p>
            <a:r>
              <a:rPr lang="en-IN" dirty="0">
                <a:latin typeface="Arial Black" pitchFamily="34" charset="0"/>
              </a:rPr>
              <a:t>      Transformation of Tenses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9049"/>
          </a:xfrm>
        </p:spPr>
        <p:txBody>
          <a:bodyPr/>
          <a:lstStyle/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62149" y="1816463"/>
            <a:ext cx="10463348" cy="47149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 descr="C:\Users\Harpreet\Downloads\WhatsApp Image 2020-06-09 at 23.23.53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4920" y="1908176"/>
            <a:ext cx="9509760" cy="43939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Transformation of Interrogative  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   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5. While changing interrogative sentences from active to passive use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the following sentence structure- 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helping verb + subject + v3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For example:-	  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			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Does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he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keep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his promise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?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  H.V + S  + V</a:t>
            </a:r>
            <a:r>
              <a:rPr lang="en-IN" sz="1800" dirty="0">
                <a:latin typeface="Arial" pitchFamily="34" charset="0"/>
                <a:cs typeface="Arial" pitchFamily="34" charset="0"/>
              </a:rPr>
              <a:t>1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+   O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			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Is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his promise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kept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by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him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?               </a:t>
            </a:r>
          </a:p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			H.V +    O  +     V</a:t>
            </a:r>
            <a:r>
              <a:rPr lang="en-IN" sz="1800" dirty="0">
                <a:latin typeface="Arial" pitchFamily="34" charset="0"/>
                <a:cs typeface="Arial" pitchFamily="34" charset="0"/>
              </a:rPr>
              <a:t>3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+     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Transformation of Interrogative  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   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6. However, in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Wh</a:t>
            </a:r>
            <a:r>
              <a:rPr lang="en-IN" dirty="0">
                <a:latin typeface="Arial" pitchFamily="34" charset="0"/>
                <a:cs typeface="Arial" pitchFamily="34" charset="0"/>
              </a:rPr>
              <a:t>-words the following structure is followed- </a:t>
            </a:r>
          </a:p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    </a:t>
            </a:r>
            <a:r>
              <a:rPr lang="en-IN" b="1" dirty="0" err="1">
                <a:latin typeface="Arial" pitchFamily="34" charset="0"/>
                <a:cs typeface="Arial" pitchFamily="34" charset="0"/>
              </a:rPr>
              <a:t>Wh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-words+</a:t>
            </a:r>
            <a:r>
              <a:rPr lang="en-IN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helping verb + subject + v</a:t>
            </a:r>
            <a:r>
              <a:rPr lang="en-IN" sz="2200" b="1" dirty="0">
                <a:latin typeface="Arial" pitchFamily="34" charset="0"/>
                <a:cs typeface="Arial" pitchFamily="34" charset="0"/>
              </a:rPr>
              <a:t>3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IN" dirty="0">
                <a:latin typeface="Arial" pitchFamily="34" charset="0"/>
                <a:cs typeface="Arial" pitchFamily="34" charset="0"/>
              </a:rPr>
              <a:t>e.g.</a:t>
            </a:r>
          </a:p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			 What</a:t>
            </a:r>
            <a:r>
              <a:rPr lang="en-IN" dirty="0">
                <a:latin typeface="Arial" pitchFamily="34" charset="0"/>
                <a:cs typeface="Arial" pitchFamily="34" charset="0"/>
              </a:rPr>
              <a:t> will you buy?</a:t>
            </a:r>
          </a:p>
          <a:p>
            <a:pPr>
              <a:lnSpc>
                <a:spcPct val="120000"/>
              </a:lnSpc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			 What will be bought by you?</a:t>
            </a:r>
          </a:p>
          <a:p>
            <a:pPr>
              <a:lnSpc>
                <a:spcPct val="120000"/>
              </a:lnSpc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			 Who</a:t>
            </a:r>
            <a:r>
              <a:rPr lang="en-IN" dirty="0">
                <a:latin typeface="Arial" pitchFamily="34" charset="0"/>
                <a:cs typeface="Arial" pitchFamily="34" charset="0"/>
              </a:rPr>
              <a:t> is dusting the room?</a:t>
            </a:r>
          </a:p>
          <a:p>
            <a:pPr>
              <a:lnSpc>
                <a:spcPct val="120000"/>
              </a:lnSpc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			 By whom is the room being dusted? </a:t>
            </a:r>
          </a:p>
          <a:p>
            <a:pPr>
              <a:lnSpc>
                <a:spcPct val="120000"/>
              </a:lnSpc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			 How</a:t>
            </a:r>
            <a:r>
              <a:rPr lang="en-IN" dirty="0">
                <a:latin typeface="Arial" pitchFamily="34" charset="0"/>
                <a:cs typeface="Arial" pitchFamily="34" charset="0"/>
              </a:rPr>
              <a:t> will you do it?</a:t>
            </a:r>
          </a:p>
          <a:p>
            <a:pPr>
              <a:lnSpc>
                <a:spcPct val="120000"/>
              </a:lnSpc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			 How will it be done by you? </a:t>
            </a:r>
          </a:p>
          <a:p>
            <a:pPr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198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itchFamily="34" charset="0"/>
              </a:rPr>
              <a:t>   			Poll Question- 2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Q:- Why did you wait for her? 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1. Why she was waited for by you?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Why was she waited for by you?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Why she was waited by you?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Why was she waited for you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 Transformation of Sentences  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 with Modals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7. Modals such as will, shall, can, may are followed by </a:t>
            </a:r>
          </a:p>
          <a:p>
            <a:pPr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 past form of modals + be + v</a:t>
            </a:r>
            <a:r>
              <a:rPr lang="en-IN" sz="1600" b="1" dirty="0">
                <a:latin typeface="Arial" pitchFamily="34" charset="0"/>
                <a:cs typeface="Arial" pitchFamily="34" charset="0"/>
              </a:rPr>
              <a:t>3 .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e.g.</a:t>
            </a:r>
          </a:p>
          <a:p>
            <a:pPr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34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9693" y="3112770"/>
            <a:ext cx="80295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57198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itchFamily="34" charset="0"/>
              </a:rPr>
              <a:t>   			Poll Question- 3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Q:- They will demolish the entire block.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1. The entire block is being demolished.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2. The block may be demolished entirely.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The entire block will have to be demolished by them.</a:t>
            </a:r>
          </a:p>
          <a:p>
            <a:pPr fontAlgn="base"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4. The entire block will be demolished by them.</a:t>
            </a:r>
          </a:p>
          <a:p>
            <a:pPr marL="514350" indent="-514350"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AutoNum type="arabicPeriod"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Transformation of Imperative  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   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8. To change the active construction of imperative sentences use </a:t>
            </a:r>
          </a:p>
          <a:p>
            <a:pPr>
              <a:lnSpc>
                <a:spcPct val="100000"/>
              </a:lnSpc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 Let + subject (the object of active voice) + be + v</a:t>
            </a:r>
            <a:r>
              <a:rPr lang="en-IN" sz="1400" b="1" dirty="0">
                <a:latin typeface="Arial" pitchFamily="34" charset="0"/>
                <a:cs typeface="Arial" pitchFamily="34" charset="0"/>
              </a:rPr>
              <a:t>3.  </a:t>
            </a:r>
            <a:endParaRPr lang="en-IN" sz="26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For Examples:-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            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1.Touch this screw.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Let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this screw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be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u="sng" dirty="0">
                <a:latin typeface="Arial" pitchFamily="34" charset="0"/>
                <a:cs typeface="Arial" pitchFamily="34" charset="0"/>
              </a:rPr>
              <a:t>touched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              Let   +   S  +   be   +   v</a:t>
            </a:r>
            <a:r>
              <a:rPr lang="en-IN" sz="1400" b="1" dirty="0">
                <a:latin typeface="Arial" pitchFamily="34" charset="0"/>
                <a:cs typeface="Arial" pitchFamily="34" charset="0"/>
              </a:rPr>
              <a:t>3 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2. Solve these sums.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Let these sums be solved.</a:t>
            </a:r>
          </a:p>
          <a:p>
            <a:pPr>
              <a:lnSpc>
                <a:spcPct val="100000"/>
              </a:lnSpc>
              <a:buNone/>
            </a:pPr>
            <a:endParaRPr lang="en-IN" sz="2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6555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 Black" pitchFamily="34" charset="0"/>
              </a:rPr>
              <a:t>   Transformation of Imperative  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9. Imperative sentences can also be transformed by using the words such as- requested, ordered, suggested, advised etc.</a:t>
            </a:r>
          </a:p>
          <a:p>
            <a:pPr>
              <a:lnSpc>
                <a:spcPct val="100000"/>
              </a:lnSpc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For example:-</a:t>
            </a:r>
          </a:p>
          <a:p>
            <a:pPr>
              <a:lnSpc>
                <a:spcPct val="100000"/>
              </a:lnSpc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            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1. Chew your food slowly.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You are advised to chew your food slowly.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2. Shut the door.</a:t>
            </a:r>
          </a:p>
          <a:p>
            <a:pPr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 You are ordered to shut the door.</a:t>
            </a:r>
          </a:p>
          <a:p>
            <a:pPr>
              <a:lnSpc>
                <a:spcPct val="100000"/>
              </a:lnSpc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00000"/>
              </a:lnSpc>
              <a:buNone/>
            </a:pPr>
            <a:endParaRPr lang="en-IN" sz="2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Transformation of Imperative      </a:t>
            </a:r>
            <a:br>
              <a:rPr lang="en-IN" dirty="0">
                <a:latin typeface="Arial Black" pitchFamily="34" charset="0"/>
              </a:rPr>
            </a:br>
            <a:r>
              <a:rPr lang="en-IN" dirty="0">
                <a:latin typeface="Arial Black" pitchFamily="34" charset="0"/>
              </a:rPr>
              <a:t>                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3.  Leave the room at once.</a:t>
            </a:r>
          </a:p>
          <a:p>
            <a:pPr marL="514350" indent="-51435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You are ordered to leave the room at once.         </a:t>
            </a:r>
          </a:p>
          <a:p>
            <a:pPr marL="514350" indent="-51435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        OR </a:t>
            </a:r>
          </a:p>
          <a:p>
            <a:pPr marL="514350" indent="-51435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Let the room be left at once. </a:t>
            </a:r>
          </a:p>
          <a:p>
            <a:pPr marL="514350" indent="-51435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                    OR</a:t>
            </a:r>
          </a:p>
          <a:p>
            <a:pPr marL="514350" indent="-514350">
              <a:lnSpc>
                <a:spcPct val="100000"/>
              </a:lnSpc>
              <a:buNone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      The room should be left at once.</a:t>
            </a:r>
          </a:p>
          <a:p>
            <a:pPr marL="514350" indent="-514350">
              <a:lnSpc>
                <a:spcPct val="100000"/>
              </a:lnSpc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		  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They were being paid.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Allison was sending him to a high school.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They will make large sums of money.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A face was being painted on it.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Who teaches you English?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She uses my nice carpet when I was absent.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 will never forget this experience.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Did she do her duty?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This pot contains milk.</a:t>
            </a:r>
          </a:p>
          <a:p>
            <a:pPr marL="514350" indent="-514350">
              <a:lnSpc>
                <a:spcPct val="100000"/>
              </a:lnSpc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itchFamily="34" charset="0"/>
              </a:rPr>
              <a:t>   		        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618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The company was paying them.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He was being sent to a high school by Allison.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Large sums of money will be made by them.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She was painting a face on it.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By whom are you taught English?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My nice carpet is used by her when I was absent.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This experience will never be forgotten by me.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Was her duty done by her?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Milk is contained in this pot.</a:t>
            </a:r>
          </a:p>
          <a:p>
            <a:pPr marL="514350" indent="-514350">
              <a:lnSpc>
                <a:spcPct val="100000"/>
              </a:lnSpc>
              <a:buNone/>
            </a:pPr>
            <a:endParaRPr lang="en-IN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Teaching grammar to</a:t>
            </a:r>
            <a:r>
              <a:rPr lang="en-IN" sz="2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600" dirty="0">
                <a:latin typeface="Arial" pitchFamily="34" charset="0"/>
                <a:cs typeface="Arial" pitchFamily="34" charset="0"/>
              </a:rPr>
              <a:t>students is to think from creative angles. 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It’s about having the ability to organize words, phrases, and sentences for maximum communication power. </a:t>
            </a:r>
          </a:p>
          <a:p>
            <a:pPr>
              <a:lnSpc>
                <a:spcPct val="100000"/>
              </a:lnSpc>
            </a:pPr>
            <a:r>
              <a:rPr lang="en-IN" sz="2600" dirty="0">
                <a:latin typeface="Arial" pitchFamily="34" charset="0"/>
                <a:cs typeface="Arial" pitchFamily="34" charset="0"/>
              </a:rPr>
              <a:t>If students don’t know grammar, they don’t know what’s possible with the English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600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End Semester Exam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REFERENCES</a:t>
            </a:r>
            <a:r>
              <a:rPr lang="en-US" sz="2800" b="1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IN" sz="10400" b="1" dirty="0">
                <a:latin typeface="Arial" pitchFamily="34" charset="0"/>
                <a:cs typeface="Arial" pitchFamily="34" charset="0"/>
              </a:rPr>
              <a:t>   Reference Books:-</a:t>
            </a:r>
          </a:p>
          <a:p>
            <a:r>
              <a:rPr lang="en-IN" sz="10400" dirty="0">
                <a:latin typeface="Arial" pitchFamily="34" charset="0"/>
                <a:cs typeface="Arial" pitchFamily="34" charset="0"/>
              </a:rPr>
              <a:t> Murphy, R., Essential Grammar in Use, 5th Edition Cambridge 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University Press (2018), UK</a:t>
            </a:r>
          </a:p>
          <a:p>
            <a:r>
              <a:rPr lang="en-IN" sz="10400" dirty="0">
                <a:latin typeface="Arial" pitchFamily="34" charset="0"/>
                <a:cs typeface="Arial" pitchFamily="34" charset="0"/>
              </a:rPr>
              <a:t> Hewing, Martin, English Grammar (Intermediate Level), Cambridge 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</a:rPr>
              <a:t>    University Press (2017), UK</a:t>
            </a:r>
          </a:p>
          <a:p>
            <a:pPr>
              <a:buNone/>
            </a:pPr>
            <a:r>
              <a:rPr lang="en-IN" sz="10400" b="1" dirty="0">
                <a:latin typeface="Arial" pitchFamily="34" charset="0"/>
                <a:cs typeface="Arial" pitchFamily="34" charset="0"/>
              </a:rPr>
              <a:t>  Reference Websites:-</a:t>
            </a:r>
          </a:p>
          <a:p>
            <a:r>
              <a:rPr lang="en-IN" sz="10400" u="sng" dirty="0">
                <a:latin typeface="Arial" pitchFamily="34" charset="0"/>
                <a:cs typeface="Arial" pitchFamily="34" charset="0"/>
                <a:hlinkClick r:id="rId2"/>
              </a:rPr>
              <a:t> </a:t>
            </a:r>
            <a:r>
              <a:rPr lang="en-IN" sz="10400" dirty="0">
                <a:latin typeface="Arial" pitchFamily="34" charset="0"/>
                <a:cs typeface="Arial" pitchFamily="34" charset="0"/>
                <a:hlinkClick r:id="rId2"/>
              </a:rPr>
              <a:t>https://www.slideshare.net/idahisyam/active-and-passive-voice-ppt-</a:t>
            </a:r>
          </a:p>
          <a:p>
            <a:pPr>
              <a:buNone/>
            </a:pPr>
            <a:r>
              <a:rPr lang="en-IN" sz="10400" dirty="0">
                <a:latin typeface="Arial" pitchFamily="34" charset="0"/>
                <a:cs typeface="Arial" pitchFamily="34" charset="0"/>
                <a:hlinkClick r:id="rId2"/>
              </a:rPr>
              <a:t>   53307051</a:t>
            </a:r>
            <a:endParaRPr lang="en-IN" sz="10400" dirty="0">
              <a:latin typeface="Arial" pitchFamily="34" charset="0"/>
              <a:cs typeface="Arial" pitchFamily="34" charset="0"/>
            </a:endParaRPr>
          </a:p>
          <a:p>
            <a:r>
              <a:rPr lang="en-IN" sz="10400" dirty="0">
                <a:latin typeface="Arial" pitchFamily="34" charset="0"/>
                <a:cs typeface="Arial" pitchFamily="34" charset="0"/>
                <a:hlinkClick r:id="rId3"/>
              </a:rPr>
              <a:t> https://www.academia.edu/31597806/GrammarVoice_and_Narration</a:t>
            </a:r>
            <a:endParaRPr lang="en-IN" sz="10400" dirty="0">
              <a:latin typeface="Arial" pitchFamily="34" charset="0"/>
              <a:cs typeface="Arial" pitchFamily="34" charset="0"/>
            </a:endParaRPr>
          </a:p>
          <a:p>
            <a:endParaRPr lang="en-IN" sz="10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47788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itchFamily="34" charset="0"/>
                <a:ea typeface="Segoe UI" panose="020B0502040204020203" pitchFamily="34" charset="0"/>
                <a:cs typeface="Arial" pitchFamily="34" charset="0"/>
              </a:rPr>
              <a:t>For queries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Email: communicationskills.uilah@gmail.com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9678</TotalTime>
  <Words>1583</Words>
  <Application>Microsoft Office PowerPoint</Application>
  <PresentationFormat>Widescreen</PresentationFormat>
  <Paragraphs>229</Paragraphs>
  <Slides>27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 COURSE OUTCOMES</vt:lpstr>
      <vt:lpstr>Voice </vt:lpstr>
      <vt:lpstr>Active Voice </vt:lpstr>
      <vt:lpstr>Passive Voice</vt:lpstr>
      <vt:lpstr>   Transformation of Active into                    Passive Voice</vt:lpstr>
      <vt:lpstr>   Transformation of Active into                    Passive Voice</vt:lpstr>
      <vt:lpstr>   Transformation of Active into                   Passive Voice</vt:lpstr>
      <vt:lpstr>      Poll Question-1</vt:lpstr>
      <vt:lpstr>    Transformation of Tenses</vt:lpstr>
      <vt:lpstr>      Transformation of Tenses</vt:lpstr>
      <vt:lpstr>      Transformation of Tenses</vt:lpstr>
      <vt:lpstr> Transformation of Interrogative                          Sentences</vt:lpstr>
      <vt:lpstr> Transformation of Interrogative                          Sentences</vt:lpstr>
      <vt:lpstr>      Poll Question- 2</vt:lpstr>
      <vt:lpstr>    Transformation of Sentences                       with Modals </vt:lpstr>
      <vt:lpstr>      Poll Question- 3</vt:lpstr>
      <vt:lpstr>   Transformation of Imperative                          Sentences</vt:lpstr>
      <vt:lpstr>   Transformation of Imperative                  Sentences</vt:lpstr>
      <vt:lpstr>   Transformation of Imperative                        Sentences</vt:lpstr>
      <vt:lpstr>       Practice Exercise</vt:lpstr>
      <vt:lpstr>              Answers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354</cp:revision>
  <dcterms:created xsi:type="dcterms:W3CDTF">2019-01-09T10:33:58Z</dcterms:created>
  <dcterms:modified xsi:type="dcterms:W3CDTF">2023-07-11T08:34:41Z</dcterms:modified>
</cp:coreProperties>
</file>