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4"/>
  </p:notesMasterIdLst>
  <p:handoutMasterIdLst>
    <p:handoutMasterId r:id="rId25"/>
  </p:handoutMasterIdLst>
  <p:sldIdLst>
    <p:sldId id="312" r:id="rId3"/>
    <p:sldId id="397" r:id="rId4"/>
    <p:sldId id="265" r:id="rId5"/>
    <p:sldId id="281" r:id="rId6"/>
    <p:sldId id="280" r:id="rId7"/>
    <p:sldId id="286" r:id="rId8"/>
    <p:sldId id="287" r:id="rId9"/>
    <p:sldId id="290" r:id="rId10"/>
    <p:sldId id="302" r:id="rId11"/>
    <p:sldId id="303" r:id="rId12"/>
    <p:sldId id="304" r:id="rId13"/>
    <p:sldId id="305" r:id="rId14"/>
    <p:sldId id="291" r:id="rId15"/>
    <p:sldId id="307" r:id="rId16"/>
    <p:sldId id="309" r:id="rId17"/>
    <p:sldId id="297" r:id="rId18"/>
    <p:sldId id="311" r:id="rId19"/>
    <p:sldId id="283" r:id="rId20"/>
    <p:sldId id="282" r:id="rId21"/>
    <p:sldId id="284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7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7/11/2023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asmartstudyzone.blogspot.com/2019/01/idioms-and-phrases-related-to-love.html?m=0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english.eagetutor.com/idioms-and-phrases/english-idioms-to-be-prepared-for-in-your-office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ordsworthelt.com/blog/importance-teaching-idioms-proverbs-esl-learners/" TargetMode="External"/><Relationship Id="rId2" Type="http://schemas.openxmlformats.org/officeDocument/2006/relationships/hyperlink" Target="https://www.digitalpolyglot.com/idioms-important-achieve-fluency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fluentu.com/blog/english/english-idioms-6/" TargetMode="External"/><Relationship Id="rId4" Type="http://schemas.openxmlformats.org/officeDocument/2006/relationships/hyperlink" Target="https://www.bkacontent.com/40-popular-idioms-and-their-meanings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55050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903354" y="5961904"/>
            <a:ext cx="5070406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itchFamily="34" charset="0"/>
                <a:cs typeface="Times New Roman" panose="02020603050405020304" pitchFamily="18" charset="0"/>
              </a:rPr>
              <a:t>IDIOMS </a:t>
            </a:r>
          </a:p>
          <a:p>
            <a:pPr eaLnBrk="1" hangingPunct="1"/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aleway ExtraBold" pitchFamily="34" charset="-52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434737" y="1815736"/>
            <a:ext cx="9464040" cy="5130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Liberal Arts and Humanities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Name- Communication Skills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Code- 23PCH-105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20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156142" y="629692"/>
            <a:ext cx="781081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OBJECTIVES</a:t>
            </a:r>
            <a:br>
              <a:rPr lang="en-US" sz="2000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698" y="2285999"/>
          <a:ext cx="10708342" cy="37709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1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6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Augment students overall communication and interpersonal skills by making them realize the importance of good oral and written English Language in professional life.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Enrich their reading capability with special emphasis on expanding vocabulary and grammatical formations.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Build exceptional speaking, reading and writing skills by correcting grammatical errors and pronunciation through practice.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Enhances soft skills by fostering self awareness, confidence and a positive attitude in students’ ability to communicate effectively in English.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988765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92162" y="1616818"/>
            <a:ext cx="2956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Course aims to: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071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8080" y="1249680"/>
            <a:ext cx="4069080" cy="4591685"/>
          </a:xfrm>
        </p:spPr>
        <p:txBody>
          <a:bodyPr>
            <a:normAutofit/>
          </a:bodyPr>
          <a:lstStyle/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29402" y="6373259"/>
            <a:ext cx="2903220" cy="365125"/>
          </a:xfrm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15022" y="417629"/>
            <a:ext cx="5966778" cy="1311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OUTCOMES</a:t>
            </a:r>
            <a:endParaRPr lang="en-US" sz="4400" dirty="0">
              <a:latin typeface="Arial Black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452360" y="1234440"/>
            <a:ext cx="4122419" cy="4739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325498" y="6349088"/>
            <a:ext cx="307124" cy="3651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28728" y="1771352"/>
            <a:ext cx="52790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On completion, the students are expected to: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 descr="C:\Users\Manminder Singh\Desktop\Sem.I 2020\images (2).jpg">
            <a:extLst>
              <a:ext uri="{FF2B5EF4-FFF2-40B4-BE49-F238E27FC236}">
                <a16:creationId xmlns:a16="http://schemas.microsoft.com/office/drawing/2014/main" id="{6A1195CC-DD88-0CD5-3CB6-C500BDAC1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637" y="1254034"/>
            <a:ext cx="4258490" cy="4794069"/>
          </a:xfrm>
          <a:prstGeom prst="rect">
            <a:avLst/>
          </a:prstGeom>
          <a:noFill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4A41F1F-583D-67A7-662A-28D38A967CF2}"/>
              </a:ext>
            </a:extLst>
          </p:cNvPr>
          <p:cNvSpPr/>
          <p:nvPr/>
        </p:nvSpPr>
        <p:spPr>
          <a:xfrm>
            <a:off x="8668760" y="6272206"/>
            <a:ext cx="254558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50" u="sng" dirty="0">
                <a:latin typeface="Arial" pitchFamily="34" charset="0"/>
                <a:cs typeface="Arial" pitchFamily="34" charset="0"/>
                <a:hlinkClick r:id="rId3"/>
              </a:rPr>
              <a:t>asmartstudyzone.blogspot.com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33D29B-F172-5620-329E-6B402E9F8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154588"/>
              </p:ext>
            </p:extLst>
          </p:nvPr>
        </p:nvGraphicFramePr>
        <p:xfrm>
          <a:off x="206553" y="2133599"/>
          <a:ext cx="6670497" cy="44958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43484">
                  <a:extLst>
                    <a:ext uri="{9D8B030D-6E8A-4147-A177-3AD203B41FA5}">
                      <a16:colId xmlns:a16="http://schemas.microsoft.com/office/drawing/2014/main" val="4168448416"/>
                    </a:ext>
                  </a:extLst>
                </a:gridCol>
                <a:gridCol w="4854552">
                  <a:extLst>
                    <a:ext uri="{9D8B030D-6E8A-4147-A177-3AD203B41FA5}">
                      <a16:colId xmlns:a16="http://schemas.microsoft.com/office/drawing/2014/main" val="2558219792"/>
                    </a:ext>
                  </a:extLst>
                </a:gridCol>
                <a:gridCol w="1272461">
                  <a:extLst>
                    <a:ext uri="{9D8B030D-6E8A-4147-A177-3AD203B41FA5}">
                      <a16:colId xmlns:a16="http://schemas.microsoft.com/office/drawing/2014/main" val="1836805902"/>
                    </a:ext>
                  </a:extLst>
                </a:gridCol>
              </a:tblGrid>
              <a:tr h="7639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CO Number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Title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 </a:t>
                      </a:r>
                      <a:endParaRPr lang="en-IN" sz="12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Level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27487202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CO1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appropriate Listening, Speaking, Reading and Writing Skills (LSRW Skills) with correct non-verbal cues to attain expertise in soft skills.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01671737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CO2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correct contextual and comprehensible written text in the form of paragraph writing, short compositions business correspondence, using logical support and argument in a wide range of communication situations.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72378065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CO3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Demonstrate linguistic competence while speaking and during presentations through accuracy in grammatical usage, vocabulary, pronunciation and intonation.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55796211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CO4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Evaluate information as critical readers, speakers and writers applying ethics in communication and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being sensitive in cross cultural communication.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Evaluate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01307360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CO5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Create original, digital content for websites, blogs, vlogs and personal social media profiles etc.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Create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52195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94468" y="6152607"/>
            <a:ext cx="3229791" cy="70539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1200" u="sng" dirty="0">
                <a:latin typeface="Arial" pitchFamily="34" charset="0"/>
                <a:cs typeface="Arial" pitchFamily="34" charset="0"/>
                <a:hlinkClick r:id="rId2"/>
              </a:rPr>
              <a:t>english.eagetutor.com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1615440"/>
            <a:ext cx="5471160" cy="4602480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Topics to be Covered: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 What are Idioms?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Importance of Idioms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Usage of idioms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Different types of Idioms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Examples of Idiomatic and non Idiomatic sentences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 Worksheet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150302" y="195023"/>
            <a:ext cx="1012729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IN" sz="4400" dirty="0">
                <a:latin typeface="Arial Black" pitchFamily="34" charset="0"/>
              </a:rPr>
              <a:t>IDIOMS</a:t>
            </a:r>
            <a:br>
              <a:rPr lang="en-IN" sz="4400" dirty="0">
                <a:latin typeface="Arial Black" pitchFamily="34" charset="0"/>
              </a:rPr>
            </a:br>
            <a:br>
              <a:rPr lang="en-US" sz="20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416040" y="1508760"/>
            <a:ext cx="4869180" cy="44818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9262" y="1310640"/>
            <a:ext cx="5722938" cy="5045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297" name="Picture 1" descr="C:\Users\Manminder Singh\Desktop\Sem.I 2020\images (1)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66114" y="1554480"/>
            <a:ext cx="4728755" cy="44021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What are Idioms ?</a:t>
            </a:r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" pitchFamily="34" charset="0"/>
                <a:cs typeface="Arial" pitchFamily="34" charset="0"/>
              </a:rPr>
              <a:t> The expressions which are having different meaning from the literal one. 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Reflection of a certain cultural traditions and personalities found in idioms. 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Lexical usage presents deeper meaning and understanding of the expression used. </a:t>
            </a:r>
          </a:p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For e.g. :-  ‘ It is raining by cats and dogs’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               Meaning: </a:t>
            </a:r>
            <a:r>
              <a:rPr lang="en-IN" dirty="0">
                <a:latin typeface="Arial" pitchFamily="34" charset="0"/>
                <a:cs typeface="Arial" pitchFamily="34" charset="0"/>
              </a:rPr>
              <a:t>It is raining heavily.     </a:t>
            </a:r>
          </a:p>
          <a:p>
            <a:pPr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297" name="Picture 1" descr="C:\Users\Manminder Singh\Desktop\Sem.I 2020\download raining (2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23081" y="4058466"/>
            <a:ext cx="2390775" cy="177165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8634549" y="6406157"/>
            <a:ext cx="1998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   Shutterstock.com</a:t>
            </a:r>
            <a:endParaRPr lang="en-IN" sz="1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Arial Black" pitchFamily="34" charset="0"/>
              </a:rPr>
              <a:t>Importance of using Idioms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dirty="0">
                <a:latin typeface="Arial" pitchFamily="34" charset="0"/>
                <a:cs typeface="Arial" pitchFamily="34" charset="0"/>
              </a:rPr>
              <a:t>To make our conversation less monotonous by adding idioms</a:t>
            </a:r>
          </a:p>
          <a:p>
            <a:pPr lvl="0"/>
            <a:endParaRPr lang="en-IN" dirty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en-IN" dirty="0">
                <a:latin typeface="Arial" pitchFamily="34" charset="0"/>
                <a:cs typeface="Arial" pitchFamily="34" charset="0"/>
              </a:rPr>
              <a:t>Help us to have the better expression of exact same idea in creative and more efficient way </a:t>
            </a:r>
          </a:p>
          <a:p>
            <a:pPr lvl="0"/>
            <a:endParaRPr lang="en-IN" dirty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en-IN" dirty="0">
                <a:latin typeface="Arial" pitchFamily="34" charset="0"/>
                <a:cs typeface="Arial" pitchFamily="34" charset="0"/>
              </a:rPr>
              <a:t>Their usage enriches our language making it more impressive</a:t>
            </a:r>
          </a:p>
          <a:p>
            <a:pPr lvl="0"/>
            <a:endParaRPr lang="en-IN" dirty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en-IN" dirty="0">
                <a:latin typeface="Arial" pitchFamily="34" charset="0"/>
                <a:cs typeface="Arial" pitchFamily="34" charset="0"/>
              </a:rPr>
              <a:t>Variety can be seen in the text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Arial Black" pitchFamily="34" charset="0"/>
              </a:rPr>
              <a:t>Importance of using Idioms(contd.)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dirty="0">
                <a:latin typeface="Arial" pitchFamily="34" charset="0"/>
                <a:cs typeface="Arial" pitchFamily="34" charset="0"/>
              </a:rPr>
              <a:t>For improving your speaking and writing style</a:t>
            </a:r>
          </a:p>
          <a:p>
            <a:pPr lvl="0"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 lvl="0"/>
            <a:r>
              <a:rPr lang="en-IN" dirty="0">
                <a:latin typeface="Arial" pitchFamily="34" charset="0"/>
                <a:cs typeface="Arial" pitchFamily="34" charset="0"/>
              </a:rPr>
              <a:t>Helps to say many things in just a few words</a:t>
            </a:r>
          </a:p>
          <a:p>
            <a:pPr lvl="0"/>
            <a:endParaRPr lang="en-IN" dirty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en-IN" dirty="0">
                <a:latin typeface="Arial" pitchFamily="34" charset="0"/>
                <a:cs typeface="Arial" pitchFamily="34" charset="0"/>
              </a:rPr>
              <a:t>Makes the speaker confident in communicating well</a:t>
            </a:r>
          </a:p>
          <a:p>
            <a:pPr lvl="0"/>
            <a:endParaRPr lang="en-IN" dirty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en-IN" dirty="0">
                <a:latin typeface="Arial" pitchFamily="34" charset="0"/>
                <a:cs typeface="Arial" pitchFamily="34" charset="0"/>
              </a:rPr>
              <a:t>For improving LSRW skills by understanding and using idiomatic expressions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itchFamily="34" charset="0"/>
              </a:rPr>
              <a:t>Use of idioms(contd.)</a:t>
            </a:r>
            <a:br>
              <a:rPr lang="en-IN" dirty="0">
                <a:latin typeface="Arial Black" pitchFamily="34" charset="0"/>
              </a:rPr>
            </a:br>
            <a:endParaRPr lang="en-IN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u="sng" dirty="0">
                <a:latin typeface="Arial" pitchFamily="34" charset="0"/>
                <a:cs typeface="Arial" pitchFamily="34" charset="0"/>
              </a:rPr>
              <a:t>A piece of cake</a:t>
            </a:r>
          </a:p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  Meaning- very easy task</a:t>
            </a:r>
          </a:p>
          <a:p>
            <a:r>
              <a:rPr lang="en-IN" u="sng" dirty="0">
                <a:latin typeface="Arial" pitchFamily="34" charset="0"/>
                <a:cs typeface="Arial" pitchFamily="34" charset="0"/>
              </a:rPr>
              <a:t>A hard nut to crack</a:t>
            </a:r>
          </a:p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   Meaning- a difficult task or problem to solve</a:t>
            </a:r>
          </a:p>
          <a:p>
            <a:r>
              <a:rPr lang="en-IN" u="sng" dirty="0">
                <a:latin typeface="Arial" pitchFamily="34" charset="0"/>
                <a:cs typeface="Arial" pitchFamily="34" charset="0"/>
              </a:rPr>
              <a:t>Between the devil and the deep sea</a:t>
            </a:r>
          </a:p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  Meaning- between two difficulties</a:t>
            </a:r>
          </a:p>
          <a:p>
            <a:endParaRPr lang="en-IN" sz="32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0177" name="Picture 1" descr="C:\Users\Manminder Singh\Desktop\Sem.I 2020\download  devil(2)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191794" y="1854926"/>
            <a:ext cx="4715692" cy="42715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7811589" y="6217920"/>
            <a:ext cx="2782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Pinterest.com</a:t>
            </a:r>
            <a:endParaRPr lang="en-IN" sz="1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</a:rPr>
              <a:t>Idioms with food related words</a:t>
            </a:r>
            <a:endParaRPr lang="en-IN" dirty="0">
              <a:latin typeface="Arial Black" pitchFamily="34" charset="0"/>
            </a:endParaRP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4926" cy="44805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257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A couch potato 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8217" marR="128217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 an idle person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8217" marR="12821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Big cheese 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8217" marR="128217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an important person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8217" marR="12821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Bread and butter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8217" marR="128217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daily necessities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8217" marR="12821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Not my cup of tea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8217" marR="128217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Not the kind of thing that I enjoy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8217" marR="12821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 Selling like hot cakes</a:t>
                      </a:r>
                      <a:r>
                        <a:rPr lang="en-IN" sz="2800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8217" marR="128217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Quick sale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8217" marR="12821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The icing on the cake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8217" marR="128217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Something that makes good thing better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8217" marR="12821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To butter someone up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8217" marR="128217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To flatter or be nice to someone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8217" marR="12821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1201" name="Picture 1"/>
          <p:cNvPicPr>
            <a:picLocks noChangeAspect="1" noChangeArrowheads="1"/>
          </p:cNvPicPr>
          <p:nvPr/>
        </p:nvPicPr>
        <p:blipFill>
          <a:blip r:embed="rId2"/>
          <a:srcRect l="27810" t="38929" r="13156" b="16250"/>
          <a:stretch>
            <a:fillRect/>
          </a:stretch>
        </p:blipFill>
        <p:spPr bwMode="auto">
          <a:xfrm>
            <a:off x="836022" y="1815737"/>
            <a:ext cx="10528664" cy="4506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</a:rPr>
              <a:t>Idioms to describe persons</a:t>
            </a:r>
            <a:endParaRPr lang="en-IN" dirty="0">
              <a:latin typeface="Arial Black" pitchFamily="34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4403" cy="42976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292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2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Smart cookie 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0657" marR="120657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One who is very clever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0657" marR="12065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Party pooper 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0657" marR="120657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One who ruins all the fun at a party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0657" marR="12065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Worrywart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0657" marR="120657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Those who worry about unimportant things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0657" marR="12065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A wet blanket 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0657" marR="120657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Very boring or unenthusiastic person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0657" marR="12065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Big fish in a small pond 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0657" marR="120657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Highly ranked person in a small group in an organization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0657" marR="12065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0177" name="Picture 1"/>
          <p:cNvPicPr>
            <a:picLocks noChangeAspect="1" noChangeArrowheads="1"/>
          </p:cNvPicPr>
          <p:nvPr/>
        </p:nvPicPr>
        <p:blipFill>
          <a:blip r:embed="rId2"/>
          <a:srcRect l="27910" t="38750" r="13056" b="18036"/>
          <a:stretch>
            <a:fillRect/>
          </a:stretch>
        </p:blipFill>
        <p:spPr bwMode="auto">
          <a:xfrm>
            <a:off x="849086" y="1815737"/>
            <a:ext cx="10515600" cy="4349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</a:rPr>
              <a:t>Idioms with birds/animals related words</a:t>
            </a:r>
            <a:endParaRPr lang="en-IN" dirty="0">
              <a:latin typeface="Arial Black" pitchFamily="34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</p:nvPr>
        </p:nvGraphicFramePr>
        <p:xfrm>
          <a:off x="838200" y="1881412"/>
          <a:ext cx="7783286" cy="4666959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891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1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1168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At a snail’s pace 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moving very slowly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337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Wild goose chase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try to follow something difficult or impossible 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411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Bull in a china shop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very clumsy person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0337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Wolf in sheep’s clothing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a dangerous person who pretends to be harmless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443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Busy as a bee 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extremely busy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37668" y="6217920"/>
            <a:ext cx="681445" cy="359864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647612" y="6165668"/>
            <a:ext cx="17112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Pinterest.co.uk</a:t>
            </a:r>
            <a:endParaRPr lang="en-IN" sz="1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2466" name="Picture 2" descr="C:\Users\Manminder Singh\Desktop\Sem.I 2020\images wolf(4)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647611" y="1854926"/>
            <a:ext cx="2677886" cy="42976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49153" name="Picture 1"/>
          <p:cNvPicPr>
            <a:picLocks noChangeAspect="1" noChangeArrowheads="1"/>
          </p:cNvPicPr>
          <p:nvPr/>
        </p:nvPicPr>
        <p:blipFill>
          <a:blip r:embed="rId3"/>
          <a:srcRect l="27810" t="39643" r="28316" b="13929"/>
          <a:stretch>
            <a:fillRect/>
          </a:stretch>
        </p:blipFill>
        <p:spPr bwMode="auto">
          <a:xfrm>
            <a:off x="836022" y="1894114"/>
            <a:ext cx="7798527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</a:rPr>
              <a:t>Idioms with body parts related words</a:t>
            </a:r>
            <a:endParaRPr lang="en-IN" dirty="0">
              <a:latin typeface="Arial Black" pitchFamily="34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4804" cy="35356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257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Face the music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3738" marR="123738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stand up to unpleasant consequences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3738" marR="1237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Cold feet 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3738" marR="123738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nervous just before a big event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3738" marR="1237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Give a hand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3738" marR="123738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help somebody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3738" marR="1237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Keep an eye on 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3738" marR="123738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watch closely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3738" marR="1237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Pull one’s leg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3738" marR="123738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joke or tease somebody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3738" marR="1237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Sweet tooth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3738" marR="123738"/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love of sugar or sweet things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23738" marR="12373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48129" name="Picture 1"/>
          <p:cNvPicPr>
            <a:picLocks noChangeAspect="1" noChangeArrowheads="1"/>
          </p:cNvPicPr>
          <p:nvPr/>
        </p:nvPicPr>
        <p:blipFill>
          <a:blip r:embed="rId2"/>
          <a:srcRect l="27609" t="38929" r="13156" b="25714"/>
          <a:stretch>
            <a:fillRect/>
          </a:stretch>
        </p:blipFill>
        <p:spPr bwMode="auto">
          <a:xfrm>
            <a:off x="809897" y="1854925"/>
            <a:ext cx="10541726" cy="4010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br>
              <a:rPr lang="en-IN" dirty="0">
                <a:latin typeface="Arial Black" pitchFamily="34" charset="0"/>
                <a:cs typeface="Arial" pitchFamily="34" charset="0"/>
              </a:rPr>
            </a:br>
            <a:br>
              <a:rPr lang="en-IN" dirty="0">
                <a:latin typeface="Arial Black" pitchFamily="34" charset="0"/>
                <a:cs typeface="Arial" pitchFamily="34" charset="0"/>
              </a:rPr>
            </a:br>
            <a:r>
              <a:rPr lang="en-IN" dirty="0">
                <a:latin typeface="Arial Black" pitchFamily="34" charset="0"/>
                <a:cs typeface="Arial" pitchFamily="34" charset="0"/>
              </a:rPr>
              <a:t>Idiomatic and non idiomatic sentences</a:t>
            </a:r>
            <a:br>
              <a:rPr lang="en-IN" dirty="0">
                <a:latin typeface="Arial Black" pitchFamily="34" charset="0"/>
                <a:cs typeface="Arial" pitchFamily="34" charset="0"/>
              </a:rPr>
            </a:br>
            <a:br>
              <a:rPr lang="en-IN" dirty="0">
                <a:latin typeface="Arial Black" pitchFamily="34" charset="0"/>
              </a:rPr>
            </a:br>
            <a:endParaRPr lang="en-IN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514350" lvl="0" indent="-514350">
              <a:buFont typeface="Wingdings" pitchFamily="2" charset="2"/>
              <a:buChar char="Ø"/>
            </a:pPr>
            <a:r>
              <a:rPr lang="en-IN" dirty="0">
                <a:latin typeface="Arial" pitchFamily="34" charset="0"/>
                <a:cs typeface="Arial" pitchFamily="34" charset="0"/>
              </a:rPr>
              <a:t>a) There is quarrel between two brothers because of this house.</a:t>
            </a:r>
          </a:p>
          <a:p>
            <a:pPr marL="514350" lvl="0" indent="-514350"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      b) This house is an 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apple of discord </a:t>
            </a:r>
            <a:r>
              <a:rPr lang="en-IN" dirty="0">
                <a:latin typeface="Arial" pitchFamily="34" charset="0"/>
                <a:cs typeface="Arial" pitchFamily="34" charset="0"/>
              </a:rPr>
              <a:t>between two brothers.</a:t>
            </a:r>
          </a:p>
          <a:p>
            <a:pPr>
              <a:buFont typeface="Wingdings" pitchFamily="2" charset="2"/>
              <a:buChar char="Ø"/>
            </a:pPr>
            <a:r>
              <a:rPr lang="en-IN" dirty="0">
                <a:latin typeface="Arial" pitchFamily="34" charset="0"/>
                <a:cs typeface="Arial" pitchFamily="34" charset="0"/>
              </a:rPr>
              <a:t>  a)  He has invited everyone to the party so his wife will keep       the house neat and clean by arranging everything nicely at    home.</a:t>
            </a:r>
          </a:p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     b) He has invited 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all and sundry </a:t>
            </a:r>
            <a:r>
              <a:rPr lang="en-IN" dirty="0">
                <a:latin typeface="Arial" pitchFamily="34" charset="0"/>
                <a:cs typeface="Arial" pitchFamily="34" charset="0"/>
              </a:rPr>
              <a:t>to the party so his wife will keep the house 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spick and span </a:t>
            </a:r>
            <a:r>
              <a:rPr lang="en-IN" dirty="0">
                <a:latin typeface="Arial" pitchFamily="34" charset="0"/>
                <a:cs typeface="Arial" pitchFamily="34" charset="0"/>
              </a:rPr>
              <a:t>with everything in apple pie order.</a:t>
            </a:r>
          </a:p>
          <a:p>
            <a:pPr marL="514350" indent="-514350">
              <a:buNone/>
            </a:pPr>
            <a:endParaRPr lang="en-IN" dirty="0"/>
          </a:p>
          <a:p>
            <a:pPr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02418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</a:rPr>
              <a:t>EXERCISE</a:t>
            </a:r>
            <a:endParaRPr lang="en-IN" dirty="0">
              <a:latin typeface="Arial Black" pitchFamily="34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49329" y="1706880"/>
          <a:ext cx="10528420" cy="515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64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4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99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 err="1">
                          <a:latin typeface="Arial" pitchFamily="34" charset="0"/>
                          <a:cs typeface="Arial" pitchFamily="34" charset="0"/>
                        </a:rPr>
                        <a:t>i</a:t>
                      </a:r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)To add fuel to the fire</a:t>
                      </a:r>
                    </a:p>
                    <a:p>
                      <a:endParaRPr lang="en-IN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a. In disorder</a:t>
                      </a:r>
                      <a:endParaRPr lang="en-IN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ii)At  the eleventh hour</a:t>
                      </a:r>
                    </a:p>
                    <a:p>
                      <a:endParaRPr lang="en-IN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b.Favorite of</a:t>
                      </a:r>
                    </a:p>
                    <a:p>
                      <a:endParaRPr lang="en-IN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05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iii)In the good books of</a:t>
                      </a:r>
                    </a:p>
                    <a:p>
                      <a:endParaRPr lang="en-IN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c.To make problem worse</a:t>
                      </a:r>
                    </a:p>
                    <a:p>
                      <a:endParaRPr lang="en-IN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05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iv)To make a clean breast of</a:t>
                      </a:r>
                    </a:p>
                    <a:p>
                      <a:endParaRPr lang="en-IN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d.At the last stage</a:t>
                      </a:r>
                    </a:p>
                    <a:p>
                      <a:endParaRPr lang="en-IN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37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v)At sixes and sevens</a:t>
                      </a:r>
                    </a:p>
                    <a:p>
                      <a:endParaRPr lang="en-IN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e.To make full confession of some secret</a:t>
                      </a:r>
                    </a:p>
                    <a:p>
                      <a:endParaRPr lang="en-IN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/>
          <a:srcRect l="27910" t="37321" r="15867" b="14464"/>
          <a:stretch>
            <a:fillRect/>
          </a:stretch>
        </p:blipFill>
        <p:spPr bwMode="auto">
          <a:xfrm>
            <a:off x="796833" y="1658983"/>
            <a:ext cx="10593977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</a:rPr>
              <a:t> EXERCISE</a:t>
            </a:r>
            <a:endParaRPr lang="en-IN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45057" name="Picture 1"/>
          <p:cNvPicPr>
            <a:picLocks noChangeAspect="1" noChangeArrowheads="1"/>
          </p:cNvPicPr>
          <p:nvPr/>
        </p:nvPicPr>
        <p:blipFill>
          <a:blip r:embed="rId2"/>
          <a:srcRect l="27810" t="37500" r="13457" b="15179"/>
          <a:stretch>
            <a:fillRect/>
          </a:stretch>
        </p:blipFill>
        <p:spPr bwMode="auto">
          <a:xfrm>
            <a:off x="836022" y="1828800"/>
            <a:ext cx="10528664" cy="4519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</a:rPr>
              <a:t>Poll question</a:t>
            </a:r>
            <a:endParaRPr lang="en-IN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buNone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Which is the correct meaning of the idiom-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Above Board</a:t>
            </a:r>
            <a:r>
              <a:rPr lang="en-US" dirty="0">
                <a:latin typeface="Arial" pitchFamily="34" charset="0"/>
                <a:cs typeface="Arial" pitchFamily="34" charset="0"/>
              </a:rPr>
              <a:t>?</a:t>
            </a:r>
          </a:p>
          <a:p>
            <a:pPr marL="514350" indent="-51435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a. boasting person</a:t>
            </a:r>
          </a:p>
          <a:p>
            <a:pPr marL="514350" indent="-51435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b. honest and straightforward</a:t>
            </a:r>
          </a:p>
          <a:p>
            <a:pPr marL="514350" indent="-51435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c. a man with arrogance</a:t>
            </a:r>
          </a:p>
          <a:p>
            <a:pPr marL="514350" indent="-51435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d. a dishonest person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</a:rPr>
              <a:t>Poll question</a:t>
            </a:r>
            <a:endParaRPr lang="en-IN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buNone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Which is the correct meaning of the idiom-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Above Board</a:t>
            </a:r>
            <a:r>
              <a:rPr lang="en-US" dirty="0">
                <a:latin typeface="Arial" pitchFamily="34" charset="0"/>
                <a:cs typeface="Arial" pitchFamily="34" charset="0"/>
              </a:rPr>
              <a:t>?</a:t>
            </a:r>
          </a:p>
          <a:p>
            <a:pPr marL="514350" indent="-51435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a. boasting person</a:t>
            </a:r>
          </a:p>
          <a:p>
            <a:pPr marL="514350" indent="-51435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b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. honest and straightforward</a:t>
            </a:r>
          </a:p>
          <a:p>
            <a:pPr marL="514350" indent="-51435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c. a man with arrogance</a:t>
            </a:r>
          </a:p>
          <a:p>
            <a:pPr marL="514350" indent="-51435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d. a dishonest person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Applications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Applicable to professional and personal life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Will strengthen the speaking and writing skills of students with vocabulary usage to make their language figurative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Students will be able to speak variety of effective words so that they will have impressive communication skills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Assessment Pattern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Students are assessed on the basis of the following parameters: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Hourly Tests - 2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Assignments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Surprise Test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Quiz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Student Engagement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End Semester Exam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References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u="sng" dirty="0">
                <a:latin typeface="Arial" pitchFamily="34" charset="0"/>
                <a:cs typeface="Arial" pitchFamily="34" charset="0"/>
                <a:hlinkClick r:id="rId2"/>
              </a:rPr>
              <a:t>https://www.digitalpolyglot.com/idioms-important-achieve-fluency/</a:t>
            </a:r>
            <a:endParaRPr lang="en-IN" sz="2400" dirty="0">
              <a:latin typeface="Arial" pitchFamily="34" charset="0"/>
              <a:cs typeface="Arial" pitchFamily="34" charset="0"/>
            </a:endParaRPr>
          </a:p>
          <a:p>
            <a:r>
              <a:rPr lang="en-IN" sz="2400" u="sng" dirty="0">
                <a:latin typeface="Arial" pitchFamily="34" charset="0"/>
                <a:cs typeface="Arial" pitchFamily="34" charset="0"/>
                <a:hlinkClick r:id="rId3"/>
              </a:rPr>
              <a:t>http://www.wordsworthelt.com/blog/importance-teaching-idioms-proverbs-esl-learners/</a:t>
            </a:r>
            <a:endParaRPr lang="en-IN" sz="2400" dirty="0">
              <a:latin typeface="Arial" pitchFamily="34" charset="0"/>
              <a:cs typeface="Arial" pitchFamily="34" charset="0"/>
            </a:endParaRPr>
          </a:p>
          <a:p>
            <a:r>
              <a:rPr lang="en-IN" sz="2400" u="sng" dirty="0">
                <a:latin typeface="Arial" pitchFamily="34" charset="0"/>
                <a:cs typeface="Arial" pitchFamily="34" charset="0"/>
                <a:hlinkClick r:id="rId4"/>
              </a:rPr>
              <a:t>https://www.bkacontent.com/40-popular-idioms-and-their-meanings/</a:t>
            </a:r>
            <a:endParaRPr lang="en-IN" sz="2400" dirty="0">
              <a:latin typeface="Arial" pitchFamily="34" charset="0"/>
              <a:cs typeface="Arial" pitchFamily="34" charset="0"/>
            </a:endParaRPr>
          </a:p>
          <a:p>
            <a:r>
              <a:rPr lang="en-IN" sz="2400" u="sng" dirty="0">
                <a:latin typeface="Arial" pitchFamily="34" charset="0"/>
                <a:cs typeface="Arial" pitchFamily="34" charset="0"/>
                <a:hlinkClick r:id="rId5"/>
              </a:rPr>
              <a:t>https://www.fluentu.com/blog/english/english-idioms-6/</a:t>
            </a:r>
            <a:endParaRPr lang="en-IN" sz="2400" u="sng" dirty="0">
              <a:latin typeface="Arial" pitchFamily="34" charset="0"/>
              <a:cs typeface="Arial" pitchFamily="34" charset="0"/>
            </a:endParaRPr>
          </a:p>
          <a:p>
            <a:r>
              <a:rPr lang="en-IN" sz="2400" dirty="0">
                <a:latin typeface="Arial" pitchFamily="34" charset="0"/>
                <a:cs typeface="Arial" pitchFamily="34" charset="0"/>
              </a:rPr>
              <a:t>Collins Steven, Practical Everyday English: Advanced Vocabulary, Phrasal Verbs, Idioms and Expressions; Montserrat Publishing 2008</a:t>
            </a:r>
          </a:p>
          <a:p>
            <a:r>
              <a:rPr lang="en-IN" sz="2400" b="1" dirty="0">
                <a:latin typeface="Arial" pitchFamily="34" charset="0"/>
                <a:cs typeface="Arial" pitchFamily="34" charset="0"/>
              </a:rPr>
              <a:t>Wyatt </a:t>
            </a:r>
            <a:r>
              <a:rPr lang="en-IN" sz="2400" b="1" dirty="0" err="1">
                <a:latin typeface="Arial" pitchFamily="34" charset="0"/>
                <a:cs typeface="Arial" pitchFamily="34" charset="0"/>
              </a:rPr>
              <a:t>Rawden</a:t>
            </a:r>
            <a:r>
              <a:rPr lang="en-IN" sz="2400" b="1" dirty="0">
                <a:latin typeface="Arial" pitchFamily="34" charset="0"/>
                <a:cs typeface="Arial" pitchFamily="34" charset="0"/>
              </a:rPr>
              <a:t>, Phrasal Verbs and Idioms,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 A &amp; C Black Publishers Ltd</a:t>
            </a:r>
            <a:r>
              <a:rPr lang="en-IN" sz="2400" b="1" dirty="0">
                <a:latin typeface="Arial" pitchFamily="34" charset="0"/>
                <a:cs typeface="Arial" pitchFamily="34" charset="0"/>
              </a:rPr>
              <a:t>. </a:t>
            </a:r>
            <a:r>
              <a:rPr lang="en-IN" sz="2400" b="1" dirty="0" err="1">
                <a:latin typeface="Arial" pitchFamily="34" charset="0"/>
                <a:cs typeface="Arial" pitchFamily="34" charset="0"/>
              </a:rPr>
              <a:t>Thetford,Norfolk</a:t>
            </a:r>
            <a:r>
              <a:rPr lang="en-IN" sz="2400" b="1" dirty="0">
                <a:latin typeface="Arial" pitchFamily="34" charset="0"/>
                <a:cs typeface="Arial" pitchFamily="34" charset="0"/>
              </a:rPr>
              <a:t> 2006</a:t>
            </a:r>
            <a:endParaRPr lang="en-IN" sz="2400" dirty="0">
              <a:latin typeface="Arial" pitchFamily="34" charset="0"/>
              <a:cs typeface="Arial" pitchFamily="34" charset="0"/>
            </a:endParaRPr>
          </a:p>
          <a:p>
            <a:endParaRPr lang="en-IN" sz="2400" b="1" dirty="0"/>
          </a:p>
          <a:p>
            <a:pPr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3193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Arial" pitchFamily="34" charset="0"/>
                <a:ea typeface="Segoe UI" panose="020B0502040204020203" pitchFamily="34" charset="0"/>
                <a:cs typeface="Arial" pitchFamily="34" charset="0"/>
              </a:rPr>
              <a:t>For queries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Email: communicationskillsuilah@gmail.com</a:t>
            </a: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1333</TotalTime>
  <Words>1139</Words>
  <Application>Microsoft Office PowerPoint</Application>
  <PresentationFormat>Widescreen</PresentationFormat>
  <Paragraphs>211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Arial</vt:lpstr>
      <vt:lpstr>Arial Black</vt:lpstr>
      <vt:lpstr>Calibri</vt:lpstr>
      <vt:lpstr>Calibri Light</vt:lpstr>
      <vt:lpstr>Casper</vt:lpstr>
      <vt:lpstr>Karla</vt:lpstr>
      <vt:lpstr>Raleway ExtraBold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COURSE OBJECTIVES </vt:lpstr>
      <vt:lpstr>COURSE OUTCOMES</vt:lpstr>
      <vt:lpstr>IDIOMS  </vt:lpstr>
      <vt:lpstr>What are Idioms ?   </vt:lpstr>
      <vt:lpstr>Importance of using Idioms </vt:lpstr>
      <vt:lpstr>Importance of using Idioms(contd.)</vt:lpstr>
      <vt:lpstr>Use of idioms(contd.) </vt:lpstr>
      <vt:lpstr>Idioms with food related words</vt:lpstr>
      <vt:lpstr>Idioms to describe persons</vt:lpstr>
      <vt:lpstr>Idioms with birds/animals related words</vt:lpstr>
      <vt:lpstr>Idioms with body parts related words</vt:lpstr>
      <vt:lpstr>  Idiomatic and non idiomatic sentences  </vt:lpstr>
      <vt:lpstr>EXERCISE</vt:lpstr>
      <vt:lpstr> EXERCISE</vt:lpstr>
      <vt:lpstr>Poll question</vt:lpstr>
      <vt:lpstr>Poll question</vt:lpstr>
      <vt:lpstr>Applications</vt:lpstr>
      <vt:lpstr>Assessment Pattern</vt:lpstr>
      <vt:lpstr>References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Vishal Monga</cp:lastModifiedBy>
  <cp:revision>188</cp:revision>
  <dcterms:created xsi:type="dcterms:W3CDTF">2019-01-09T10:33:58Z</dcterms:created>
  <dcterms:modified xsi:type="dcterms:W3CDTF">2023-07-11T08:35:52Z</dcterms:modified>
</cp:coreProperties>
</file>