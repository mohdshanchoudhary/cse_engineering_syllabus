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2"/>
  </p:notesMasterIdLst>
  <p:handoutMasterIdLst>
    <p:handoutMasterId r:id="rId33"/>
  </p:handoutMasterIdLst>
  <p:sldIdLst>
    <p:sldId id="277" r:id="rId3"/>
    <p:sldId id="285" r:id="rId4"/>
    <p:sldId id="265" r:id="rId5"/>
    <p:sldId id="281" r:id="rId6"/>
    <p:sldId id="300" r:id="rId7"/>
    <p:sldId id="322" r:id="rId8"/>
    <p:sldId id="324" r:id="rId9"/>
    <p:sldId id="301" r:id="rId10"/>
    <p:sldId id="315" r:id="rId11"/>
    <p:sldId id="345" r:id="rId12"/>
    <p:sldId id="318" r:id="rId13"/>
    <p:sldId id="304" r:id="rId14"/>
    <p:sldId id="326" r:id="rId15"/>
    <p:sldId id="306" r:id="rId16"/>
    <p:sldId id="307" r:id="rId17"/>
    <p:sldId id="347" r:id="rId18"/>
    <p:sldId id="308" r:id="rId19"/>
    <p:sldId id="334" r:id="rId20"/>
    <p:sldId id="335" r:id="rId21"/>
    <p:sldId id="336" r:id="rId22"/>
    <p:sldId id="338" r:id="rId23"/>
    <p:sldId id="340" r:id="rId24"/>
    <p:sldId id="349" r:id="rId25"/>
    <p:sldId id="309" r:id="rId26"/>
    <p:sldId id="313" r:id="rId27"/>
    <p:sldId id="341" r:id="rId28"/>
    <p:sldId id="311" r:id="rId29"/>
    <p:sldId id="351" r:id="rId30"/>
    <p:sldId id="27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grammar.net/english-grammar/narration-reported-to-reporting" TargetMode="External"/><Relationship Id="rId2" Type="http://schemas.openxmlformats.org/officeDocument/2006/relationships/hyperlink" Target="https://www.slideshare.net/idahisyam/active-and-passive-voice-ppt-5330705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xamweb.in/practice-set-for-direct-indirect-speech-narration-2417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394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58500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ea typeface="Karla" pitchFamily="2" charset="0"/>
                <a:cs typeface="Arial" pitchFamily="34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Karla" pitchFamily="2" charset="0"/>
                <a:cs typeface="Arial" pitchFamily="34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ea typeface="Karla" pitchFamily="2" charset="0"/>
                <a:cs typeface="Arial" pitchFamily="34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1538818" y="5980837"/>
            <a:ext cx="6432043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NARRATION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05394" y="1661160"/>
            <a:ext cx="10206446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8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5286" y="429413"/>
            <a:ext cx="468661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1600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27520" y="1097280"/>
            <a:ext cx="4488179" cy="49377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44346" y="1690366"/>
            <a:ext cx="471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On completion, the students are expected to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6321" name="Picture 1" descr="C:\Users\Harpreet\Downloads\WhatsApp Image 2020-06-22 at 09.29.29.jpe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40901" y="1071154"/>
            <a:ext cx="4484596" cy="50030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7119257" y="6100354"/>
            <a:ext cx="40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www.images.app.googl.com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B7CFDF-C0C5-31A8-7BC8-8A40B617B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612315"/>
              </p:ext>
            </p:extLst>
          </p:nvPr>
        </p:nvGraphicFramePr>
        <p:xfrm>
          <a:off x="179659" y="213359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640" y="6217921"/>
            <a:ext cx="4198620" cy="39623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</a:rPr>
              <a:t>	https://www.google.com/imgres?</a:t>
            </a: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3954" y="1463041"/>
            <a:ext cx="5695406" cy="5029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 art of reporting the words,        messages, speeches, comments, and requests of a person or persons to others is called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narration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There are two main ways of          reporting the words of a speaker:-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Direct Speech</a:t>
            </a:r>
          </a:p>
          <a:p>
            <a:pPr>
              <a:lnSpc>
                <a:spcPct val="100000"/>
              </a:lnSpc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Indirect Speech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49087" y="417094"/>
            <a:ext cx="10502536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Narration </a:t>
            </a:r>
            <a:b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endParaRPr lang="en-US" sz="4400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16040" y="169164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298" name="Picture 2" descr="C:\Users\Harpreet\Downloads\WhatsApp Image 2020-06-22 at 09.42.25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13095" y="1554480"/>
            <a:ext cx="4951590" cy="4637314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6426926" y="1541418"/>
            <a:ext cx="4924696" cy="46407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1662" y="1463040"/>
            <a:ext cx="5722938" cy="5045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4669"/>
          </a:xfrm>
        </p:spPr>
        <p:txBody>
          <a:bodyPr/>
          <a:lstStyle/>
          <a:p>
            <a:r>
              <a:rPr lang="en-IN" b="1" dirty="0">
                <a:latin typeface="Arial Black" pitchFamily="34" charset="0"/>
                <a:ea typeface="Karla" pitchFamily="2" charset="0"/>
                <a:cs typeface="Karla" pitchFamily="2" charset="0"/>
              </a:rPr>
              <a:t>				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Narration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spcBef>
                <a:spcPts val="600"/>
              </a:spcBef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David said, “I am baking a chocolate cake for you.’’</a:t>
            </a:r>
          </a:p>
          <a:p>
            <a:pPr algn="just" fontAlgn="base">
              <a:spcBef>
                <a:spcPts val="600"/>
              </a:spcBef>
              <a:buNone/>
            </a:pPr>
            <a:r>
              <a:rPr lang="en-IN" sz="2600" i="1" dirty="0">
                <a:latin typeface="Arial" pitchFamily="34" charset="0"/>
                <a:cs typeface="Arial" pitchFamily="34" charset="0"/>
              </a:rPr>
              <a:t>   David said that he was baking a chocolate cake for me.</a:t>
            </a:r>
          </a:p>
          <a:p>
            <a:pPr algn="just" fontAlgn="base"/>
            <a:r>
              <a:rPr lang="en-IN" sz="2600" dirty="0">
                <a:latin typeface="Arial" pitchFamily="34" charset="0"/>
                <a:cs typeface="Arial" pitchFamily="34" charset="0"/>
              </a:rPr>
              <a:t>If we consider these two sentences, we might notice that both of them convey the same message, but there is a difference if we look closely. </a:t>
            </a:r>
          </a:p>
          <a:p>
            <a:pPr algn="just" fontAlgn="base"/>
            <a:r>
              <a:rPr lang="en-IN" sz="2600" dirty="0">
                <a:latin typeface="Arial" pitchFamily="34" charset="0"/>
                <a:cs typeface="Arial" pitchFamily="34" charset="0"/>
              </a:rPr>
              <a:t>In the first sentence, I am conveying the activities of David in his (D) own words without changing it; it is called 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direct speech.</a:t>
            </a:r>
          </a:p>
          <a:p>
            <a:pPr algn="just" fontAlgn="base"/>
            <a:r>
              <a:rPr lang="en-IN" sz="2600" dirty="0">
                <a:latin typeface="Arial" pitchFamily="34" charset="0"/>
                <a:cs typeface="Arial" pitchFamily="34" charset="0"/>
              </a:rPr>
              <a:t>In the second sentence, I am using my own words to convey the activities of the speaker (D) to the audience. This we can say 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indirect speech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 or 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reported speech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IN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00360" cy="1241605"/>
          </a:xfrm>
        </p:spPr>
        <p:txBody>
          <a:bodyPr/>
          <a:lstStyle/>
          <a:p>
            <a:r>
              <a:rPr lang="en-IN" dirty="0"/>
              <a:t>   			</a:t>
            </a:r>
            <a:r>
              <a:rPr lang="en-IN" dirty="0">
                <a:latin typeface="Arial Black" pitchFamily="34" charset="0"/>
              </a:rPr>
              <a:t> 	</a:t>
            </a:r>
            <a:r>
              <a:rPr lang="en-IN" b="1" dirty="0">
                <a:latin typeface="Arial Black" pitchFamily="34" charset="0"/>
                <a:cs typeface="Arial" pitchFamily="34" charset="0"/>
              </a:rPr>
              <a:t>Direct Speech</a:t>
            </a:r>
            <a:endParaRPr lang="en-IN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263" y="1802674"/>
            <a:ext cx="10500360" cy="43760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Direct Speech: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The speech which is under Quotation marks or inverted commas in writing is called Direct Speech or Reporting Speech. E.g.</a:t>
            </a: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Aryan said to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Swati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, "I will give my toys to you.“</a:t>
            </a:r>
          </a:p>
          <a:p>
            <a:r>
              <a:rPr lang="en-IN" sz="2600" dirty="0">
                <a:latin typeface="Arial" pitchFamily="34" charset="0"/>
                <a:cs typeface="Arial" pitchFamily="34" charset="0"/>
              </a:rPr>
              <a:t>Direct speech has two parts-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Reporting Verb </a:t>
            </a:r>
          </a:p>
          <a:p>
            <a:pPr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  Reported Speech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Aryan said to </a:t>
            </a:r>
            <a:r>
              <a:rPr lang="en-IN" sz="2600" u="sng" dirty="0" err="1">
                <a:latin typeface="Arial" pitchFamily="34" charset="0"/>
                <a:cs typeface="Arial" pitchFamily="34" charset="0"/>
              </a:rPr>
              <a:t>Swati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,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"I will give my toys to you."</a:t>
            </a:r>
            <a:endParaRPr lang="en-IN" sz="2600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R.V                                  R.S</a:t>
            </a:r>
          </a:p>
          <a:p>
            <a:pPr>
              <a:buNone/>
            </a:pPr>
            <a:endParaRPr lang="en-IN" sz="3200" dirty="0">
              <a:solidFill>
                <a:srgbClr val="FF0000"/>
              </a:solidFill>
            </a:endParaRPr>
          </a:p>
          <a:p>
            <a:pPr>
              <a:buNone/>
            </a:pPr>
            <a:endParaRPr lang="en-IN" sz="3200" dirty="0">
              <a:solidFill>
                <a:srgbClr val="FF0000"/>
              </a:solidFill>
            </a:endParaRPr>
          </a:p>
          <a:p>
            <a:pPr>
              <a:buNone/>
            </a:pPr>
            <a:endParaRPr lang="en-IN" sz="3200" dirty="0">
              <a:solidFill>
                <a:srgbClr val="FF0000"/>
              </a:solidFill>
            </a:endParaRPr>
          </a:p>
          <a:p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00360" cy="1241605"/>
          </a:xfrm>
        </p:spPr>
        <p:txBody>
          <a:bodyPr/>
          <a:lstStyle/>
          <a:p>
            <a:r>
              <a:rPr lang="en-IN" dirty="0"/>
              <a:t>   			</a:t>
            </a:r>
            <a:r>
              <a:rPr lang="en-IN" b="1" dirty="0">
                <a:latin typeface="Arial Black" pitchFamily="34" charset="0"/>
                <a:cs typeface="Arial" pitchFamily="34" charset="0"/>
              </a:rPr>
              <a:t>Indirect Speech</a:t>
            </a:r>
            <a:endParaRPr lang="en-IN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263" y="1802674"/>
            <a:ext cx="10500360" cy="437605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Indirect Speech: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The speech without quoting exact words is called Indirect or Reported Speech. We may report what the speaker said without quoting his exact words. E.g.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Aryan said to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Swati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, “I will give my toys to you.”</a:t>
            </a:r>
            <a:endParaRPr lang="en-IN" sz="2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Aryan told </a:t>
            </a:r>
            <a:r>
              <a:rPr lang="en-IN" sz="2600" b="1" i="1" dirty="0" err="1">
                <a:latin typeface="Arial" pitchFamily="34" charset="0"/>
                <a:cs typeface="Arial" pitchFamily="34" charset="0"/>
              </a:rPr>
              <a:t>Swati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 that he would give his toys to her.</a:t>
            </a:r>
          </a:p>
          <a:p>
            <a:pPr>
              <a:lnSpc>
                <a:spcPct val="100000"/>
              </a:lnSpc>
              <a:buNone/>
            </a:pPr>
            <a:r>
              <a:rPr lang="en-IN" sz="2600" b="1" i="1" dirty="0">
                <a:latin typeface="Arial" pitchFamily="34" charset="0"/>
                <a:cs typeface="Arial" pitchFamily="34" charset="0"/>
              </a:rPr>
              <a:t>     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 He said, “I can do it.”</a:t>
            </a:r>
          </a:p>
          <a:p>
            <a:pPr>
              <a:lnSpc>
                <a:spcPct val="100000"/>
              </a:lnSpc>
              <a:buNone/>
            </a:pPr>
            <a:r>
              <a:rPr lang="en-IN" sz="2600" b="1" i="1" dirty="0">
                <a:latin typeface="Arial" pitchFamily="34" charset="0"/>
                <a:cs typeface="Arial" pitchFamily="34" charset="0"/>
              </a:rPr>
              <a:t>        He said that he could do it.</a:t>
            </a:r>
          </a:p>
          <a:p>
            <a:pPr>
              <a:buNone/>
            </a:pPr>
            <a:endParaRPr lang="en-IN" sz="2600" b="1" i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3200" dirty="0">
              <a:solidFill>
                <a:srgbClr val="FF0000"/>
              </a:solidFill>
            </a:endParaRPr>
          </a:p>
          <a:p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7731"/>
          </a:xfrm>
        </p:spPr>
        <p:txBody>
          <a:bodyPr/>
          <a:lstStyle/>
          <a:p>
            <a:r>
              <a:rPr lang="en-IN" dirty="0"/>
              <a:t> 			</a:t>
            </a:r>
            <a:r>
              <a:rPr lang="en-IN" dirty="0">
                <a:latin typeface="Arial Black" pitchFamily="34" charset="0"/>
              </a:rPr>
              <a:t>Rules of 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Narration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1. If a reporting verb is in present or future e.g. ‘say, says or will say’, in direct speech it will remain same 'say, says or will say ‘ in indirect speech. 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For example: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      He says, “I will bring a camera for you.”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      </a:t>
            </a:r>
            <a:r>
              <a:rPr lang="en-IN" sz="10400" b="1" dirty="0">
                <a:latin typeface="Arial" pitchFamily="34" charset="0"/>
                <a:cs typeface="Arial" pitchFamily="34" charset="0"/>
              </a:rPr>
              <a:t>He says that he will bring a camera for me.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      He will say, “I will bring a camera for you.”</a:t>
            </a:r>
          </a:p>
          <a:p>
            <a:pPr>
              <a:buNone/>
            </a:pPr>
            <a:r>
              <a:rPr lang="en-IN" sz="10400" b="1" dirty="0">
                <a:latin typeface="Arial" pitchFamily="34" charset="0"/>
                <a:cs typeface="Arial" pitchFamily="34" charset="0"/>
              </a:rPr>
              <a:t>          He will say that he will bring a camera for me.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      He said, “I will bring a camera for you.”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      </a:t>
            </a:r>
            <a:r>
              <a:rPr lang="en-IN" sz="10400" b="1" dirty="0">
                <a:latin typeface="Arial" pitchFamily="34" charset="0"/>
                <a:cs typeface="Arial" pitchFamily="34" charset="0"/>
              </a:rPr>
              <a:t>He said that he would bring a camera for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4669"/>
          </a:xfrm>
        </p:spPr>
        <p:txBody>
          <a:bodyPr/>
          <a:lstStyle/>
          <a:p>
            <a:r>
              <a:rPr lang="en-IN" dirty="0"/>
              <a:t> 		   	</a:t>
            </a:r>
            <a:r>
              <a:rPr lang="en-IN" dirty="0">
                <a:latin typeface="Arial Black" pitchFamily="34" charset="0"/>
              </a:rPr>
              <a:t>Rules of 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Narration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1802673"/>
            <a:ext cx="10504714" cy="436299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If 'to' is added with the Reporting Verb then in Indirect Speech it will be changed as per the rule below:</a:t>
            </a:r>
            <a:br>
              <a:rPr lang="en-IN" sz="2600" dirty="0">
                <a:latin typeface="Arial" pitchFamily="34" charset="0"/>
                <a:cs typeface="Arial" pitchFamily="34" charset="0"/>
              </a:rPr>
            </a:br>
            <a:endParaRPr lang="en-IN" sz="2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328" y="3187202"/>
            <a:ext cx="798195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198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itchFamily="34" charset="0"/>
              </a:rPr>
              <a:t>   			 Poll Question-1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Q:-  The Indian express says, "We shall issue a astrology section in our Thursday's paper".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1. The Indian express says that it will issue a astrology section in their Thursday's paper.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The Indian express says that they will issue a astrology section in their Thursday's paper.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The Indian express said that it will issue a astrology section in its Thursday's paper.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The Indian express says that it will issue a astrology section in its Thursday's paper.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rabicPeriod"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4669"/>
          </a:xfrm>
        </p:spPr>
        <p:txBody>
          <a:bodyPr/>
          <a:lstStyle/>
          <a:p>
            <a:r>
              <a:rPr lang="en-IN" dirty="0"/>
              <a:t> 		  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Change in Pronouns</a:t>
            </a:r>
            <a:endParaRPr lang="en-IN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1802674"/>
            <a:ext cx="10504714" cy="50553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For changing  direct to indirect speech,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pronouns of reported   speech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are changed as per “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S O N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” rule.  E.g.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                               1  2  3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She said to me , “I like you very much.”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She told me that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she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liked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me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very much.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They said to me, “We have given our share to you.”</a:t>
            </a:r>
          </a:p>
          <a:p>
            <a:pPr>
              <a:buNone/>
            </a:pPr>
            <a:r>
              <a:rPr lang="en-IN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They told me that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they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had given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their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share to me.</a:t>
            </a:r>
            <a:br>
              <a:rPr lang="en-IN" sz="2600" dirty="0"/>
            </a:br>
            <a:r>
              <a:rPr lang="en-IN" sz="2600" dirty="0"/>
              <a:t>   </a:t>
            </a:r>
          </a:p>
          <a:p>
            <a:endParaRPr lang="en-IN" sz="45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4669"/>
          </a:xfrm>
        </p:spPr>
        <p:txBody>
          <a:bodyPr/>
          <a:lstStyle/>
          <a:p>
            <a:r>
              <a:rPr lang="en-IN" dirty="0"/>
              <a:t>		   	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Change in Modals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Modal verbs like shall, will, can and may change into should, would, could and might. Let’s follow some examples:</a:t>
            </a:r>
          </a:p>
          <a:p>
            <a:pPr fontAlgn="base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John said, “I 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will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 be there.”</a:t>
            </a:r>
          </a:p>
          <a:p>
            <a:pPr fontAlgn="base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John promised that he 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would 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be there.</a:t>
            </a:r>
          </a:p>
          <a:p>
            <a:pPr fontAlgn="base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Joseph said, “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Shall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 I buy the car?”</a:t>
            </a:r>
          </a:p>
          <a:p>
            <a:pPr fontAlgn="base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Joseph asked if he 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should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 buy the car.</a:t>
            </a:r>
          </a:p>
          <a:p>
            <a:pPr fontAlgn="base"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However, would, could, might, must, used to, ought to etc. remain unchanged.</a:t>
            </a:r>
          </a:p>
          <a:p>
            <a:pPr fontAlgn="base"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4669"/>
          </a:xfrm>
        </p:spPr>
        <p:txBody>
          <a:bodyPr/>
          <a:lstStyle/>
          <a:p>
            <a:r>
              <a:rPr lang="en-IN" b="1" dirty="0"/>
              <a:t> 		    	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Change in Tenses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5190" y="1952171"/>
            <a:ext cx="973908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latin typeface="Arial" pitchFamily="34" charset="0"/>
                <a:cs typeface="Arial" pitchFamily="34" charset="0"/>
              </a:rPr>
              <a:t>5. In narration (in indirect speech) tenses change from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Present         Past         Perfect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3599" y="3128554"/>
            <a:ext cx="100203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ight Arrow 11"/>
          <p:cNvSpPr/>
          <p:nvPr/>
        </p:nvSpPr>
        <p:spPr>
          <a:xfrm>
            <a:off x="2847702" y="2416627"/>
            <a:ext cx="666206" cy="3657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4345577" y="2399210"/>
            <a:ext cx="666206" cy="3657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1605"/>
          </a:xfrm>
        </p:spPr>
        <p:txBody>
          <a:bodyPr/>
          <a:lstStyle/>
          <a:p>
            <a:r>
              <a:rPr lang="en-IN" dirty="0"/>
              <a:t>	           	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Change in Adverbs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6.The demonstrative (this, that etc.) and the adverb of time and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place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(here, there, today, now, etc.) observe the following changes. </a:t>
            </a:r>
          </a:p>
          <a:p>
            <a:pPr algn="just" fontAlgn="base"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824" y="2666999"/>
            <a:ext cx="79438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4669"/>
          </a:xfrm>
        </p:spPr>
        <p:txBody>
          <a:bodyPr/>
          <a:lstStyle/>
          <a:p>
            <a:r>
              <a:rPr lang="en-IN" dirty="0"/>
              <a:t>	   	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Change in Adverbs (Time)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51263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240" y="2105025"/>
            <a:ext cx="934402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198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itchFamily="34" charset="0"/>
              </a:rPr>
              <a:t>   		   	Poll Question- 2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Q:- Ram said to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Rahul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, "You are a good player of cricket".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1. Ram told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Rahul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that he was a good player of cricket.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Ram told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Rahul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that he were a good player of cricket.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Ram told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Rahul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that he would a good player of cricket.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Ram told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Rahul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that he could be a good player of cricket.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4668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	Change in Interrogative    </a:t>
            </a:r>
            <a:b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          	Sentences</a:t>
            </a:r>
            <a:endParaRPr lang="en-IN" sz="49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7.The interrogative sentences (question sentences) are changed into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assertive form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instead of question form.</a:t>
            </a:r>
          </a:p>
          <a:p>
            <a:pPr lvl="0"/>
            <a:r>
              <a:rPr lang="en-IN" sz="2600" dirty="0">
                <a:latin typeface="Arial" pitchFamily="34" charset="0"/>
                <a:cs typeface="Arial" pitchFamily="34" charset="0"/>
              </a:rPr>
              <a:t>The reporting verb is changed from “said” to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“asked”. </a:t>
            </a:r>
          </a:p>
          <a:p>
            <a:pPr lvl="0"/>
            <a:r>
              <a:rPr lang="en-IN" sz="2600" dirty="0">
                <a:latin typeface="Arial" pitchFamily="34" charset="0"/>
                <a:cs typeface="Arial" pitchFamily="34" charset="0"/>
              </a:rPr>
              <a:t>To make indirect speech of such questions the word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if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and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 whether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is used in indirect speech if it starts with a helping verb. E.g.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	David said to me, “ Do you like Coffee?”</a:t>
            </a:r>
          </a:p>
          <a:p>
            <a:pPr>
              <a:buNone/>
            </a:pPr>
            <a:r>
              <a:rPr lang="en-IN" sz="26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	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David 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asked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 me 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if 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I liked coffee.</a:t>
            </a: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	He said to me, “Will you help me?”</a:t>
            </a:r>
          </a:p>
          <a:p>
            <a:pPr>
              <a:buNone/>
            </a:pPr>
            <a:r>
              <a:rPr lang="en-IN" sz="2600" i="1" dirty="0">
                <a:latin typeface="Arial" pitchFamily="34" charset="0"/>
                <a:cs typeface="Arial" pitchFamily="34" charset="0"/>
              </a:rPr>
              <a:t>     	He 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asked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 me 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if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 I would help him.</a:t>
            </a:r>
            <a:endParaRPr lang="en-IN" sz="2600" dirty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4668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	Change in Interrogative    </a:t>
            </a:r>
            <a:b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          	Sentences</a:t>
            </a:r>
            <a:endParaRPr lang="en-IN" sz="49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1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8.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No conjunction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(If and whether) is used in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Wh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-type questions beginning with: what, why, when, where, who, whose, whom, which etc. E.g.</a:t>
            </a: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I said to her, “Where is my hammer?”</a:t>
            </a: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I asked her where his hammer was.</a:t>
            </a: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Aunt Jane said to Jack, “How much do you earn?”</a:t>
            </a: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Aunt Jane asked Jack how much he earned.</a:t>
            </a:r>
          </a:p>
          <a:p>
            <a:pPr lvl="0">
              <a:lnSpc>
                <a:spcPct val="100000"/>
              </a:lnSpc>
              <a:buNone/>
            </a:pPr>
            <a:r>
              <a:rPr lang="en-IN" sz="2600" i="1" dirty="0">
                <a:latin typeface="Arial" pitchFamily="34" charset="0"/>
                <a:cs typeface="Arial" pitchFamily="34" charset="0"/>
              </a:rPr>
              <a:t>       </a:t>
            </a:r>
            <a:endParaRPr lang="en-IN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4668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	Change in Exclamatory    </a:t>
            </a:r>
            <a:b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          	Sentences</a:t>
            </a:r>
            <a:endParaRPr lang="en-IN" sz="49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>
              <a:lnSpc>
                <a:spcPct val="110000"/>
              </a:lnSpc>
              <a:buNone/>
            </a:pPr>
            <a:r>
              <a:rPr lang="en-IN" sz="5500" dirty="0">
                <a:latin typeface="Arial" pitchFamily="34" charset="0"/>
                <a:cs typeface="Arial" pitchFamily="34" charset="0"/>
              </a:rPr>
              <a:t>9. Exclamatory sentences in reported speech are changed into  </a:t>
            </a:r>
          </a:p>
          <a:p>
            <a:pPr lvl="0">
              <a:lnSpc>
                <a:spcPct val="110000"/>
              </a:lnSpc>
              <a:buNone/>
            </a:pPr>
            <a:r>
              <a:rPr lang="en-IN" sz="5500" b="1" dirty="0">
                <a:latin typeface="Arial" pitchFamily="34" charset="0"/>
                <a:cs typeface="Arial" pitchFamily="34" charset="0"/>
              </a:rPr>
              <a:t>    statements</a:t>
            </a:r>
            <a:r>
              <a:rPr lang="en-IN" sz="55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IN" sz="5500" dirty="0">
                <a:latin typeface="Arial" pitchFamily="34" charset="0"/>
                <a:cs typeface="Arial" pitchFamily="34" charset="0"/>
              </a:rPr>
              <a:t> The reporting verb “said” is changed into </a:t>
            </a:r>
            <a:r>
              <a:rPr lang="en-IN" sz="5500" b="1" dirty="0">
                <a:latin typeface="Arial" pitchFamily="34" charset="0"/>
                <a:cs typeface="Arial" pitchFamily="34" charset="0"/>
              </a:rPr>
              <a:t>“exclaimed” </a:t>
            </a:r>
            <a:r>
              <a:rPr lang="en-IN" sz="5500" dirty="0">
                <a:latin typeface="Arial" pitchFamily="34" charset="0"/>
                <a:cs typeface="Arial" pitchFamily="34" charset="0"/>
              </a:rPr>
              <a:t>followed by     the conjunction “</a:t>
            </a:r>
            <a:r>
              <a:rPr lang="en-IN" sz="5500" b="1" dirty="0">
                <a:latin typeface="Arial" pitchFamily="34" charset="0"/>
                <a:cs typeface="Arial" pitchFamily="34" charset="0"/>
              </a:rPr>
              <a:t>that”. </a:t>
            </a:r>
            <a:r>
              <a:rPr lang="en-IN" sz="5500" dirty="0">
                <a:latin typeface="Arial" pitchFamily="34" charset="0"/>
                <a:cs typeface="Arial" pitchFamily="34" charset="0"/>
              </a:rPr>
              <a:t>E.g.</a:t>
            </a:r>
          </a:p>
          <a:p>
            <a:pPr>
              <a:lnSpc>
                <a:spcPct val="110000"/>
              </a:lnSpc>
              <a:buNone/>
            </a:pPr>
            <a:r>
              <a:rPr lang="en-IN" sz="5500" dirty="0">
                <a:latin typeface="Arial" pitchFamily="34" charset="0"/>
                <a:cs typeface="Arial" pitchFamily="34" charset="0"/>
              </a:rPr>
              <a:t>         	She said, “Alas! He has failed.”</a:t>
            </a:r>
          </a:p>
          <a:p>
            <a:pPr>
              <a:lnSpc>
                <a:spcPct val="110000"/>
              </a:lnSpc>
              <a:buNone/>
            </a:pPr>
            <a:r>
              <a:rPr lang="en-IN" sz="5500" dirty="0">
                <a:latin typeface="Arial" pitchFamily="34" charset="0"/>
                <a:cs typeface="Arial" pitchFamily="34" charset="0"/>
              </a:rPr>
              <a:t>         	</a:t>
            </a:r>
            <a:r>
              <a:rPr lang="en-IN" sz="5500" i="1" dirty="0">
                <a:latin typeface="Arial" pitchFamily="34" charset="0"/>
                <a:cs typeface="Arial" pitchFamily="34" charset="0"/>
              </a:rPr>
              <a:t>She exclaimed with sorrow that he had failed.</a:t>
            </a:r>
          </a:p>
          <a:p>
            <a:pPr>
              <a:lnSpc>
                <a:spcPct val="110000"/>
              </a:lnSpc>
              <a:buNone/>
            </a:pPr>
            <a:r>
              <a:rPr lang="en-IN" sz="5500" dirty="0">
                <a:latin typeface="Arial" pitchFamily="34" charset="0"/>
                <a:cs typeface="Arial" pitchFamily="34" charset="0"/>
              </a:rPr>
              <a:t>         	“Hurrah! We have won,” they said.</a:t>
            </a:r>
          </a:p>
          <a:p>
            <a:pPr>
              <a:lnSpc>
                <a:spcPct val="110000"/>
              </a:lnSpc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                 	</a:t>
            </a:r>
            <a:r>
              <a:rPr lang="en-IN" sz="5500" i="1" dirty="0">
                <a:latin typeface="Arial" pitchFamily="34" charset="0"/>
                <a:cs typeface="Arial" pitchFamily="34" charset="0"/>
              </a:rPr>
              <a:t>They exclaimed  with joy that they had won.</a:t>
            </a:r>
          </a:p>
          <a:p>
            <a:pPr lvl="0">
              <a:lnSpc>
                <a:spcPct val="110000"/>
              </a:lnSpc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4668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	Change in Exclamatory    </a:t>
            </a:r>
            <a:b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          	Sentences</a:t>
            </a:r>
            <a:endParaRPr lang="en-IN" sz="49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1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10. “What” and “How” in exclamatory sentences are placed by suitable adverbs such as “very”, “highly”, “extremely”, etc. E.g.</a:t>
            </a:r>
          </a:p>
          <a:p>
            <a:pPr lvl="0">
              <a:lnSpc>
                <a:spcPct val="11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The boy said, “How amazing it is!”</a:t>
            </a:r>
          </a:p>
          <a:p>
            <a:pPr lvl="0">
              <a:lnSpc>
                <a:spcPct val="11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The boy exclaimed that it was very amazing.</a:t>
            </a:r>
          </a:p>
          <a:p>
            <a:pPr lvl="0">
              <a:lnSpc>
                <a:spcPct val="150000"/>
              </a:lnSpc>
              <a:buNone/>
            </a:pPr>
            <a:r>
              <a:rPr lang="en-IN" sz="2600" i="1" dirty="0">
                <a:latin typeface="Arial" pitchFamily="34" charset="0"/>
                <a:cs typeface="Arial" pitchFamily="34" charset="0"/>
              </a:rPr>
              <a:t>           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Sunita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said, “What a beautiful scenery it is!”</a:t>
            </a:r>
            <a:br>
              <a:rPr lang="en-IN" sz="2600" i="1" dirty="0">
                <a:latin typeface="Arial" pitchFamily="34" charset="0"/>
                <a:cs typeface="Arial" pitchFamily="34" charset="0"/>
              </a:rPr>
            </a:br>
            <a:r>
              <a:rPr lang="en-IN" sz="2600" i="1" dirty="0">
                <a:latin typeface="Arial" pitchFamily="34" charset="0"/>
                <a:cs typeface="Arial" pitchFamily="34" charset="0"/>
              </a:rPr>
              <a:t>          </a:t>
            </a:r>
            <a:r>
              <a:rPr lang="en-IN" sz="2600" i="1" dirty="0" err="1">
                <a:latin typeface="Arial" pitchFamily="34" charset="0"/>
                <a:cs typeface="Arial" pitchFamily="34" charset="0"/>
              </a:rPr>
              <a:t>Sunita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 exclaimed that it was a very beautiful scenery.</a:t>
            </a:r>
          </a:p>
          <a:p>
            <a:pPr lvl="0">
              <a:lnSpc>
                <a:spcPct val="110000"/>
              </a:lnSpc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4668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	Change in Exclamatory    </a:t>
            </a:r>
            <a:b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          	Sentences</a:t>
            </a:r>
            <a:endParaRPr lang="en-IN" sz="49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1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11. Some more words to be used in place of interjections and other           constructions are as given below:</a:t>
            </a:r>
          </a:p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2189" y="2718027"/>
            <a:ext cx="794385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4668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	Change in Exclamatory    </a:t>
            </a:r>
            <a:b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r>
              <a:rPr lang="en-US" sz="49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                 	Sentences</a:t>
            </a:r>
            <a:endParaRPr lang="en-IN" sz="49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Some more examples are:-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8026" y="2842125"/>
            <a:ext cx="793432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198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itchFamily="34" charset="0"/>
              </a:rPr>
              <a:t>   			Poll Question- 3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Q:- He said to us, "Are you going to market today?"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1. He asked us if we were going to market that day.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He asked us if you are going to market that day.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He asked us if we went to market that day.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He asked us if we had gone to market that day.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rabicPeriod"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59433"/>
          </a:xfrm>
        </p:spPr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 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Practice Exercise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She said to me, “I had been waiting for him for two hours.”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They said, “We will be partying tonight.”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 said to her, “Why do you like me ?”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 err="1">
                <a:latin typeface="Arial" pitchFamily="34" charset="0"/>
                <a:cs typeface="Arial" pitchFamily="34" charset="0"/>
              </a:rPr>
              <a:t>Rudra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said to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Kinjal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, “Are you stupid ?”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 err="1">
                <a:latin typeface="Arial" pitchFamily="34" charset="0"/>
                <a:cs typeface="Arial" pitchFamily="34" charset="0"/>
              </a:rPr>
              <a:t>Sunita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said to her father, “Bring me a car, Please.”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John said to me , “Do you know where he is ?”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 err="1">
                <a:latin typeface="Arial" pitchFamily="34" charset="0"/>
                <a:cs typeface="Arial" pitchFamily="34" charset="0"/>
              </a:rPr>
              <a:t>Jessy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said , “Hurrah ! I have won the scholarship.”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 students said, “Alas ! We are fail again.”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 teacher says, “Rose smells sweet .”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1606"/>
          </a:xfrm>
        </p:spPr>
        <p:txBody>
          <a:bodyPr/>
          <a:lstStyle/>
          <a:p>
            <a:r>
              <a:rPr lang="en-IN" b="1" dirty="0"/>
              <a:t> 			    </a:t>
            </a:r>
            <a:r>
              <a:rPr lang="en-IN" dirty="0">
                <a:latin typeface="Arial Black" pitchFamily="34" charset="0"/>
              </a:rPr>
              <a:t> </a:t>
            </a:r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Answers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9794"/>
            <a:ext cx="10515600" cy="45571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600" dirty="0"/>
              <a:t>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She told me that she had been waiting for him for two hours.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They said that they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would be partying that night.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 asked her why she liked me.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 err="1">
                <a:latin typeface="Arial" pitchFamily="34" charset="0"/>
                <a:cs typeface="Arial" pitchFamily="34" charset="0"/>
              </a:rPr>
              <a:t>Rudra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asked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Kinjal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if she was stupid.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 err="1">
                <a:latin typeface="Arial" pitchFamily="34" charset="0"/>
                <a:cs typeface="Arial" pitchFamily="34" charset="0"/>
              </a:rPr>
              <a:t>Sunita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requested her father to bring her a car.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John asked me if I knew where he was.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 err="1">
                <a:latin typeface="Arial" pitchFamily="34" charset="0"/>
                <a:cs typeface="Arial" pitchFamily="34" charset="0"/>
              </a:rPr>
              <a:t>Jessy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exclaimed with joy that she had won the scholarship.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 students exclaimed with sorrow that they were fail again.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 teacher says that Rose smells sweet.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470262"/>
            <a:ext cx="10515600" cy="100584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51263" y="1593669"/>
            <a:ext cx="10515600" cy="45132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Teaching grammar to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students is to think from creative angles. 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It’s about having the ability to organize words, phrases, and sentences for maximum communication power. 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If students don’t know grammar, they don’t know what’s possible with the English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59433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End Semester Exam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REFERENCES</a:t>
            </a:r>
            <a:r>
              <a:rPr lang="en-US" sz="2800" b="1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IN" sz="10400" b="1" dirty="0">
                <a:latin typeface="Arial" pitchFamily="34" charset="0"/>
                <a:cs typeface="Arial" pitchFamily="34" charset="0"/>
              </a:rPr>
              <a:t>   Reference Books:-</a:t>
            </a:r>
          </a:p>
          <a:p>
            <a:r>
              <a:rPr lang="en-IN" sz="10400" dirty="0">
                <a:latin typeface="Arial" pitchFamily="34" charset="0"/>
                <a:cs typeface="Arial" pitchFamily="34" charset="0"/>
              </a:rPr>
              <a:t>  Murphy, R., Essential Grammar in Use, 5th Edition Cambridge 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 University Press (2018), UK</a:t>
            </a:r>
          </a:p>
          <a:p>
            <a:r>
              <a:rPr lang="en-IN" sz="10400" dirty="0">
                <a:latin typeface="Arial" pitchFamily="34" charset="0"/>
                <a:cs typeface="Arial" pitchFamily="34" charset="0"/>
              </a:rPr>
              <a:t>  Hewing, Martin, English Grammar (Intermediate Level), Cambridge 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 University Press (2017), UK</a:t>
            </a:r>
          </a:p>
          <a:p>
            <a:pPr>
              <a:buNone/>
            </a:pPr>
            <a:r>
              <a:rPr lang="en-IN" sz="10400" b="1" dirty="0">
                <a:latin typeface="Arial" pitchFamily="34" charset="0"/>
                <a:cs typeface="Arial" pitchFamily="34" charset="0"/>
              </a:rPr>
              <a:t>  Reference Websites:-</a:t>
            </a:r>
          </a:p>
          <a:p>
            <a:r>
              <a:rPr lang="en-IN" sz="10400" u="sng" dirty="0">
                <a:latin typeface="Arial" pitchFamily="34" charset="0"/>
                <a:cs typeface="Arial" pitchFamily="34" charset="0"/>
                <a:hlinkClick r:id="rId2"/>
              </a:rPr>
              <a:t> </a:t>
            </a:r>
            <a:r>
              <a:rPr lang="en-IN" sz="10400" u="sng" dirty="0">
                <a:latin typeface="Arial" pitchFamily="34" charset="0"/>
                <a:cs typeface="Arial" pitchFamily="34" charset="0"/>
              </a:rPr>
              <a:t>  </a:t>
            </a:r>
            <a:r>
              <a:rPr lang="en-IN" sz="10400" u="sng" dirty="0">
                <a:latin typeface="Arial" pitchFamily="34" charset="0"/>
                <a:cs typeface="Arial" pitchFamily="34" charset="0"/>
                <a:hlinkClick r:id="rId3"/>
              </a:rPr>
              <a:t>https://www.learngrammar.net/english-grammar/narration-reported-  to-reporting </a:t>
            </a:r>
            <a:endParaRPr lang="en-IN" sz="10400" u="sng" dirty="0">
              <a:latin typeface="Arial" pitchFamily="34" charset="0"/>
              <a:cs typeface="Arial" pitchFamily="34" charset="0"/>
            </a:endParaRPr>
          </a:p>
          <a:p>
            <a:r>
              <a:rPr lang="en-IN" sz="10400" dirty="0">
                <a:latin typeface="Arial" pitchFamily="34" charset="0"/>
                <a:cs typeface="Arial" pitchFamily="34" charset="0"/>
                <a:hlinkClick r:id="rId4"/>
              </a:rPr>
              <a:t>  https://www.examweb.in/practice-set-for-direct-indirect-speech-narration-2417</a:t>
            </a:r>
            <a:endParaRPr lang="en-IN" sz="10400" dirty="0">
              <a:latin typeface="Arial" pitchFamily="34" charset="0"/>
              <a:cs typeface="Arial" pitchFamily="34" charset="0"/>
            </a:endParaRPr>
          </a:p>
          <a:p>
            <a:endParaRPr lang="en-IN" sz="10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47788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ea typeface="Segoe UI" panose="020B0502040204020203" pitchFamily="34" charset="0"/>
                <a:cs typeface="Arial" pitchFamily="34" charset="0"/>
              </a:rPr>
              <a:t>For queries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Email: communicationskills.uilah@gmail.com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9996</TotalTime>
  <Words>2131</Words>
  <Application>Microsoft Office PowerPoint</Application>
  <PresentationFormat>Widescreen</PresentationFormat>
  <Paragraphs>237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</vt:lpstr>
      <vt:lpstr>Narration  </vt:lpstr>
      <vt:lpstr>    Narration</vt:lpstr>
      <vt:lpstr>        Direct Speech</vt:lpstr>
      <vt:lpstr>      Indirect Speech</vt:lpstr>
      <vt:lpstr>    Rules of Narration</vt:lpstr>
      <vt:lpstr>       Rules of Narration</vt:lpstr>
      <vt:lpstr>       Poll Question-1</vt:lpstr>
      <vt:lpstr>     Change in Pronouns</vt:lpstr>
      <vt:lpstr>      Change in Modals</vt:lpstr>
      <vt:lpstr>        Change in Tenses</vt:lpstr>
      <vt:lpstr>             Change in Adverbs </vt:lpstr>
      <vt:lpstr>     Change in Adverbs (Time)</vt:lpstr>
      <vt:lpstr>         Poll Question- 2</vt:lpstr>
      <vt:lpstr>         Change in Interrogative                        Sentences</vt:lpstr>
      <vt:lpstr>         Change in Interrogative                        Sentences</vt:lpstr>
      <vt:lpstr>         Change in Exclamatory                        Sentences</vt:lpstr>
      <vt:lpstr>         Change in Exclamatory                        Sentences</vt:lpstr>
      <vt:lpstr>         Change in Exclamatory                        Sentences</vt:lpstr>
      <vt:lpstr>         Change in Exclamatory                        Sentences</vt:lpstr>
      <vt:lpstr>      Poll Question- 3</vt:lpstr>
      <vt:lpstr> Practice Exercise</vt:lpstr>
      <vt:lpstr>         Answers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313</cp:revision>
  <dcterms:created xsi:type="dcterms:W3CDTF">2019-01-09T10:33:58Z</dcterms:created>
  <dcterms:modified xsi:type="dcterms:W3CDTF">2023-07-11T08:36:18Z</dcterms:modified>
</cp:coreProperties>
</file>