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8"/>
  </p:notesMasterIdLst>
  <p:handoutMasterIdLst>
    <p:handoutMasterId r:id="rId29"/>
  </p:handoutMasterIdLst>
  <p:sldIdLst>
    <p:sldId id="345" r:id="rId3"/>
    <p:sldId id="397" r:id="rId4"/>
    <p:sldId id="265" r:id="rId5"/>
    <p:sldId id="346" r:id="rId6"/>
    <p:sldId id="295" r:id="rId7"/>
    <p:sldId id="329" r:id="rId8"/>
    <p:sldId id="309" r:id="rId9"/>
    <p:sldId id="310" r:id="rId10"/>
    <p:sldId id="311" r:id="rId11"/>
    <p:sldId id="314" r:id="rId12"/>
    <p:sldId id="334" r:id="rId13"/>
    <p:sldId id="323" r:id="rId14"/>
    <p:sldId id="320" r:id="rId15"/>
    <p:sldId id="318" r:id="rId16"/>
    <p:sldId id="308" r:id="rId17"/>
    <p:sldId id="330" r:id="rId18"/>
    <p:sldId id="297" r:id="rId19"/>
    <p:sldId id="298" r:id="rId20"/>
    <p:sldId id="299" r:id="rId21"/>
    <p:sldId id="337" r:id="rId22"/>
    <p:sldId id="332" r:id="rId23"/>
    <p:sldId id="338" r:id="rId24"/>
    <p:sldId id="343" r:id="rId25"/>
    <p:sldId id="327" r:id="rId26"/>
    <p:sldId id="34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68" autoAdjust="0"/>
    <p:restoredTop sz="94660"/>
  </p:normalViewPr>
  <p:slideViewPr>
    <p:cSldViewPr snapToGrid="0">
      <p:cViewPr varScale="1">
        <p:scale>
          <a:sx n="71" d="100"/>
          <a:sy n="71" d="100"/>
        </p:scale>
        <p:origin x="684"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7/11/2023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7/11/2023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https://</a:t>
            </a:r>
            <a:r>
              <a:rPr lang="en-US" sz="1200" dirty="0" err="1">
                <a:latin typeface="Arial" panose="020B0604020202020204" pitchFamily="34" charset="0"/>
                <a:cs typeface="Arial" panose="020B0604020202020204" pitchFamily="34" charset="0"/>
              </a:rPr>
              <a:t>www.google.com</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url?sa</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i&amp;url</a:t>
            </a:r>
            <a:r>
              <a:rPr lang="en-US" sz="1200" dirty="0">
                <a:latin typeface="Arial" panose="020B0604020202020204" pitchFamily="34" charset="0"/>
                <a:cs typeface="Arial" panose="020B0604020202020204" pitchFamily="34" charset="0"/>
              </a:rPr>
              <a:t>=https%3A%2F%2Fsloanreview.mit.edu%2Farticle%2Ffive-ways-to-improve-communication-in-virtual-teams%2F&amp;psig=AOvVaw0TTElm7CjMaUyvrnZ7z0V9&amp;ust=1591773620787000&amp;source=</a:t>
            </a:r>
            <a:r>
              <a:rPr lang="en-US" sz="1200" dirty="0" err="1">
                <a:latin typeface="Arial" panose="020B0604020202020204" pitchFamily="34" charset="0"/>
                <a:cs typeface="Arial" panose="020B0604020202020204" pitchFamily="34" charset="0"/>
              </a:rPr>
              <a:t>images&amp;cd</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vfe&amp;ved</a:t>
            </a:r>
            <a:r>
              <a:rPr lang="en-US" sz="1200" dirty="0">
                <a:latin typeface="Arial" panose="020B0604020202020204" pitchFamily="34" charset="0"/>
                <a:cs typeface="Arial" panose="020B0604020202020204" pitchFamily="34" charset="0"/>
              </a:rPr>
              <a:t>=0CAIQjRxqFwoTCKi454SZ9OkCFQAAAAAdAAAAABAO</a:t>
            </a:r>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3456234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7/11/2023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writingcenter.unc.edu/handouts/fragments-and-run-ons/" TargetMode="External"/><Relationship Id="rId2" Type="http://schemas.openxmlformats.org/officeDocument/2006/relationships/hyperlink" Target="http://vdvdvdvdvdvdvdv.blogspot.com/2012/02/5-common-english-grammar-mistakes.html" TargetMode="External"/><Relationship Id="rId1" Type="http://schemas.openxmlformats.org/officeDocument/2006/relationships/slideLayout" Target="../slideLayouts/slideLayout2.xml"/><Relationship Id="rId5" Type="http://schemas.openxmlformats.org/officeDocument/2006/relationships/hyperlink" Target="http://www.englishliteraturenotes.com/Grammar/Fragments.html" TargetMode="External"/><Relationship Id="rId4" Type="http://schemas.openxmlformats.org/officeDocument/2006/relationships/hyperlink" Target="http://booksoulmates.blogspot.com/2011/02/grammar-101-apostrophes.html"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4" cstate="print">
            <a:extLst>
              <a:ext uri="{BEBA8EAE-BF5A-486C-A8C5-ECC9F3942E4B}">
                <a14:imgProps xmlns:a14="http://schemas.microsoft.com/office/drawing/2010/main">
                  <a14:imgLayer>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55050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302197" y="5896590"/>
            <a:ext cx="4978302"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IN" sz="2400" b="1" dirty="0">
                <a:solidFill>
                  <a:prstClr val="black">
                    <a:lumMod val="85000"/>
                    <a:lumOff val="15000"/>
                  </a:prstClr>
                </a:solidFill>
                <a:latin typeface="Times New Roman" pitchFamily="18" charset="0"/>
                <a:cs typeface="Times New Roman" pitchFamily="18" charset="0"/>
              </a:rPr>
              <a:t>CORRECTION OF SENTENCES</a:t>
            </a: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 </a:t>
            </a:r>
          </a:p>
          <a:p>
            <a:endParaRPr lang="en-US" sz="1600" dirty="0">
              <a:latin typeface="Raleway ExtraBold" pitchFamily="34" charset="-52"/>
            </a:endParaRPr>
          </a:p>
        </p:txBody>
      </p:sp>
      <p:sp>
        <p:nvSpPr>
          <p:cNvPr id="15" name="TextBox 14"/>
          <p:cNvSpPr txBox="1">
            <a:spLocks noChangeArrowheads="1"/>
          </p:cNvSpPr>
          <p:nvPr/>
        </p:nvSpPr>
        <p:spPr bwMode="auto">
          <a:xfrm>
            <a:off x="998861" y="1963005"/>
            <a:ext cx="9612429" cy="3562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8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dirty="0">
                <a:latin typeface="Times New Roman" panose="02020603050405020304" pitchFamily="18" charset="0"/>
                <a:ea typeface="Calibri" panose="020F0502020204030204" pitchFamily="34" charset="0"/>
                <a:cs typeface="Times New Roman" panose="02020603050405020304" pitchFamily="18" charset="0"/>
              </a:rPr>
              <a:t>Course Name- Communication Skills</a:t>
            </a:r>
          </a:p>
          <a:p>
            <a:pPr algn="ctr" defTabSz="622300">
              <a:lnSpc>
                <a:spcPct val="90000"/>
              </a:lnSpc>
              <a:spcBef>
                <a:spcPct val="0"/>
              </a:spcBef>
              <a:spcAft>
                <a:spcPct val="35000"/>
              </a:spcAft>
            </a:pPr>
            <a:r>
              <a:rPr lang="en-US" sz="3200" dirty="0">
                <a:latin typeface="Times New Roman" panose="02020603050405020304" pitchFamily="18" charset="0"/>
                <a:ea typeface="Calibri" panose="020F0502020204030204" pitchFamily="34" charset="0"/>
                <a:cs typeface="Times New Roman" panose="02020603050405020304" pitchFamily="18" charset="0"/>
              </a:rPr>
              <a:t>Course Code- 23PCH-105</a:t>
            </a:r>
          </a:p>
          <a:p>
            <a:pPr algn="ctr" defTabSz="622300">
              <a:lnSpc>
                <a:spcPct val="90000"/>
              </a:lnSpc>
              <a:spcBef>
                <a:spcPct val="0"/>
              </a:spcBef>
              <a:spcAft>
                <a:spcPct val="35000"/>
              </a:spcAft>
            </a:pP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algn="ctr" defTabSz="622300">
              <a:lnSpc>
                <a:spcPct val="90000"/>
              </a:lnSpc>
              <a:spcBef>
                <a:spcPct val="0"/>
              </a:spcBef>
              <a:spcAft>
                <a:spcPct val="35000"/>
              </a:spcAft>
            </a:pPr>
            <a:endParaRPr lang="en-US" sz="3200" dirty="0">
              <a:latin typeface="Times New Roman" pitchFamily="18" charset="0"/>
              <a:cs typeface="Times New Roman" pitchFamily="18" charset="0"/>
            </a:endParaRPr>
          </a:p>
          <a:p>
            <a:pPr algn="ctr" defTabSz="622300">
              <a:lnSpc>
                <a:spcPct val="90000"/>
              </a:lnSpc>
              <a:spcBef>
                <a:spcPct val="0"/>
              </a:spcBef>
              <a:spcAft>
                <a:spcPct val="35000"/>
              </a:spcAft>
            </a:pPr>
            <a:endParaRPr lang="en-US" sz="2000" dirty="0">
              <a:latin typeface="Raleway ExtraBold" pitchFamily="34" charset="-52"/>
            </a:endParaRPr>
          </a:p>
        </p:txBody>
      </p:sp>
    </p:spTree>
    <p:extLst>
      <p:ext uri="{BB962C8B-B14F-4D97-AF65-F5344CB8AC3E}">
        <p14:creationId xmlns:p14="http://schemas.microsoft.com/office/powerpoint/2010/main" val="3161169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2156142" y="629692"/>
            <a:ext cx="781081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dirty="0">
                <a:latin typeface="Arial Black" pitchFamily="34" charset="0"/>
                <a:ea typeface="Karla" pitchFamily="2" charset="0"/>
                <a:cs typeface="Karla" pitchFamily="2" charset="0"/>
              </a:rPr>
              <a:t>COURSE OBJECTIVES</a:t>
            </a:r>
            <a:br>
              <a:rPr lang="en-US" sz="2000"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p:cNvGraphicFramePr>
            <a:graphicFrameLocks noGrp="1"/>
          </p:cNvGraphicFramePr>
          <p:nvPr/>
        </p:nvGraphicFramePr>
        <p:xfrm>
          <a:off x="660698" y="2285999"/>
          <a:ext cx="10708342" cy="3770907"/>
        </p:xfrm>
        <a:graphic>
          <a:graphicData uri="http://schemas.openxmlformats.org/drawingml/2006/table">
            <a:tbl>
              <a:tblPr firstRow="1" firstCol="1" bandRow="1">
                <a:tableStyleId>{5940675A-B579-460E-94D1-54222C63F5DA}</a:tableStyleId>
              </a:tblPr>
              <a:tblGrid>
                <a:gridCol w="1413086">
                  <a:extLst>
                    <a:ext uri="{9D8B030D-6E8A-4147-A177-3AD203B41FA5}">
                      <a16:colId xmlns:a16="http://schemas.microsoft.com/office/drawing/2014/main" val="20000"/>
                    </a:ext>
                  </a:extLst>
                </a:gridCol>
                <a:gridCol w="9295256">
                  <a:extLst>
                    <a:ext uri="{9D8B030D-6E8A-4147-A177-3AD203B41FA5}">
                      <a16:colId xmlns:a16="http://schemas.microsoft.com/office/drawing/2014/main" val="20001"/>
                    </a:ext>
                  </a:extLst>
                </a:gridCol>
              </a:tblGrid>
              <a:tr h="1186795">
                <a:tc>
                  <a:txBody>
                    <a:bodyPr/>
                    <a:lstStyle/>
                    <a:p>
                      <a:pPr marL="0" marR="0" algn="ctr">
                        <a:lnSpc>
                          <a:spcPct val="100000"/>
                        </a:lnSpc>
                        <a:spcBef>
                          <a:spcPts val="0"/>
                        </a:spcBef>
                        <a:spcAft>
                          <a:spcPts val="0"/>
                        </a:spcAft>
                      </a:pPr>
                      <a:r>
                        <a:rPr lang="en-US" sz="2400" b="1" dirty="0">
                          <a:solidFill>
                            <a:schemeClr val="tx1"/>
                          </a:solidFill>
                          <a:effectLst/>
                        </a:rPr>
                        <a:t>1</a:t>
                      </a:r>
                      <a:endPar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b="0" kern="1200" dirty="0">
                          <a:solidFill>
                            <a:schemeClr val="tx1"/>
                          </a:solidFill>
                          <a:latin typeface="Arial" pitchFamily="34" charset="0"/>
                          <a:ea typeface="+mn-ea"/>
                          <a:cs typeface="Arial" pitchFamily="34" charset="0"/>
                        </a:rPr>
                        <a:t>Augment students overall communication and interpersonal skills by making them realize the importance of good oral and written English Language in professional life.</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0"/>
                  </a:ext>
                </a:extLst>
              </a:tr>
              <a:tr h="743416">
                <a:tc>
                  <a:txBody>
                    <a:bodyPr/>
                    <a:lstStyle/>
                    <a:p>
                      <a:pPr marL="0" marR="0" algn="ctr">
                        <a:lnSpc>
                          <a:spcPct val="100000"/>
                        </a:lnSpc>
                        <a:spcBef>
                          <a:spcPts val="0"/>
                        </a:spcBef>
                        <a:spcAft>
                          <a:spcPts val="0"/>
                        </a:spcAft>
                      </a:pPr>
                      <a:r>
                        <a:rPr lang="en-US" sz="2400" b="1" dirty="0">
                          <a:solidFill>
                            <a:schemeClr val="tx1"/>
                          </a:solidFill>
                          <a:effectLst/>
                        </a:rPr>
                        <a:t>2</a:t>
                      </a:r>
                      <a:endPar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b="0" kern="1200" dirty="0">
                          <a:solidFill>
                            <a:schemeClr val="tx1"/>
                          </a:solidFill>
                          <a:latin typeface="Arial" pitchFamily="34" charset="0"/>
                          <a:ea typeface="+mn-ea"/>
                          <a:cs typeface="Arial" pitchFamily="34" charset="0"/>
                        </a:rPr>
                        <a:t>Enrich their reading capability with special emphasis on expanding vocabulary and grammatical formations.</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1"/>
                  </a:ext>
                </a:extLst>
              </a:tr>
              <a:tr h="743416">
                <a:tc>
                  <a:txBody>
                    <a:bodyPr/>
                    <a:lstStyle/>
                    <a:p>
                      <a:pPr marL="0" marR="0" algn="ctr">
                        <a:lnSpc>
                          <a:spcPct val="100000"/>
                        </a:lnSpc>
                        <a:spcBef>
                          <a:spcPts val="0"/>
                        </a:spcBef>
                        <a:spcAft>
                          <a:spcPts val="0"/>
                        </a:spcAft>
                      </a:pPr>
                      <a:r>
                        <a:rPr lang="en-US" sz="2400" b="1" dirty="0">
                          <a:solidFill>
                            <a:schemeClr val="tx1"/>
                          </a:solidFill>
                          <a:effectLst/>
                        </a:rPr>
                        <a:t>3</a:t>
                      </a:r>
                      <a:endPar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b="0" kern="1200" dirty="0">
                          <a:solidFill>
                            <a:schemeClr val="tx1"/>
                          </a:solidFill>
                          <a:latin typeface="Arial" pitchFamily="34" charset="0"/>
                          <a:ea typeface="+mn-ea"/>
                          <a:cs typeface="Arial" pitchFamily="34" charset="0"/>
                        </a:rPr>
                        <a:t>Build exceptional speaking, reading and writing skills by correcting grammatical errors and pronunciation through practice.</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2"/>
                  </a:ext>
                </a:extLst>
              </a:tr>
              <a:tr h="743416">
                <a:tc>
                  <a:txBody>
                    <a:bodyPr/>
                    <a:lstStyle/>
                    <a:p>
                      <a:pPr marL="0" marR="0" algn="ctr">
                        <a:lnSpc>
                          <a:spcPct val="100000"/>
                        </a:lnSpc>
                        <a:spcBef>
                          <a:spcPts val="0"/>
                        </a:spcBef>
                        <a:spcAft>
                          <a:spcPts val="0"/>
                        </a:spcAft>
                      </a:pPr>
                      <a:r>
                        <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4</a:t>
                      </a:r>
                    </a:p>
                  </a:txBody>
                  <a:tcPr marL="68580" marR="68580" marT="0" marB="0" anchor="ctr"/>
                </a:tc>
                <a:tc>
                  <a:txBody>
                    <a:bodyPr/>
                    <a:lstStyle/>
                    <a:p>
                      <a:pPr marL="0" marR="0">
                        <a:lnSpc>
                          <a:spcPct val="100000"/>
                        </a:lnSpc>
                        <a:spcBef>
                          <a:spcPts val="0"/>
                        </a:spcBef>
                        <a:spcAft>
                          <a:spcPts val="0"/>
                        </a:spcAft>
                      </a:pPr>
                      <a:r>
                        <a:rPr lang="en-US" sz="2400" b="0" dirty="0">
                          <a:solidFill>
                            <a:schemeClr val="tx1"/>
                          </a:solidFill>
                          <a:effectLst/>
                          <a:latin typeface="Arial" pitchFamily="34" charset="0"/>
                          <a:ea typeface="Times New Roman" panose="02020603050405020304" pitchFamily="18" charset="0"/>
                          <a:cs typeface="Arial" pitchFamily="34" charset="0"/>
                        </a:rPr>
                        <a:t>Enhances soft skills by fostering self awareness, confidence and a positive attitude in students’ ability to communicate effectively in English.</a:t>
                      </a:r>
                    </a:p>
                  </a:txBody>
                  <a:tcPr marL="68580" marR="68580" marT="0" marB="0"/>
                </a:tc>
                <a:extLst>
                  <a:ext uri="{0D108BD9-81ED-4DB2-BD59-A6C34878D82A}">
                    <a16:rowId xmlns:a16="http://schemas.microsoft.com/office/drawing/2014/main" val="2339887652"/>
                  </a:ext>
                </a:extLst>
              </a:tr>
            </a:tbl>
          </a:graphicData>
        </a:graphic>
      </p:graphicFrame>
      <p:sp>
        <p:nvSpPr>
          <p:cNvPr id="11" name="Rectangle 10"/>
          <p:cNvSpPr/>
          <p:nvPr/>
        </p:nvSpPr>
        <p:spPr>
          <a:xfrm>
            <a:off x="492162" y="1616818"/>
            <a:ext cx="2956259" cy="461665"/>
          </a:xfrm>
          <a:prstGeom prst="rect">
            <a:avLst/>
          </a:prstGeom>
        </p:spPr>
        <p:txBody>
          <a:bodyPr wrap="none">
            <a:spAutoFit/>
          </a:bodyPr>
          <a:lstStyle/>
          <a:p>
            <a:r>
              <a:rPr lang="en-US" sz="2400" dirty="0">
                <a:latin typeface="Arial" pitchFamily="34" charset="0"/>
                <a:cs typeface="Arial" pitchFamily="34" charset="0"/>
              </a:rPr>
              <a:t>The Course aims to:</a:t>
            </a:r>
            <a:endParaRPr lang="en-US" sz="2400" b="1" dirty="0">
              <a:latin typeface="Arial" pitchFamily="34" charset="0"/>
              <a:cs typeface="Arial" pitchFamily="34" charset="0"/>
            </a:endParaRPr>
          </a:p>
        </p:txBody>
      </p:sp>
    </p:spTree>
    <p:extLst>
      <p:ext uri="{BB962C8B-B14F-4D97-AF65-F5344CB8AC3E}">
        <p14:creationId xmlns:p14="http://schemas.microsoft.com/office/powerpoint/2010/main" val="2403462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98080" y="1249680"/>
            <a:ext cx="4069080" cy="4591685"/>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729402" y="6373259"/>
            <a:ext cx="2903220" cy="365125"/>
          </a:xfrm>
        </p:spPr>
        <p:txBody>
          <a:bodyPr/>
          <a:lstStyle/>
          <a:p>
            <a:r>
              <a:rPr lang="en-US" dirty="0">
                <a:solidFill>
                  <a:schemeClr val="tx1"/>
                </a:solidFill>
              </a:rPr>
              <a:t>Pinterest.com</a:t>
            </a:r>
            <a:endParaRPr lang="en-US" dirty="0"/>
          </a:p>
        </p:txBody>
      </p:sp>
      <p:sp>
        <p:nvSpPr>
          <p:cNvPr id="8" name="Title 7"/>
          <p:cNvSpPr txBox="1">
            <a:spLocks noGrp="1" noChangeArrowheads="1"/>
          </p:cNvSpPr>
          <p:nvPr>
            <p:ph type="title"/>
          </p:nvPr>
        </p:nvSpPr>
        <p:spPr bwMode="auto">
          <a:xfrm>
            <a:off x="815022" y="417629"/>
            <a:ext cx="5966778" cy="131112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Arial Black" pitchFamily="34" charset="0"/>
                <a:ea typeface="Karla" pitchFamily="2" charset="0"/>
                <a:cs typeface="Karla" pitchFamily="2" charset="0"/>
              </a:rPr>
              <a:t>COURSE OUTCOMES</a:t>
            </a:r>
            <a:endParaRPr lang="en-US" sz="4400" dirty="0">
              <a:latin typeface="Arial Black" pitchFamily="34" charset="0"/>
              <a:cs typeface="Arial" panose="020B0604020202020204" pitchFamily="34" charset="0"/>
            </a:endParaRPr>
          </a:p>
        </p:txBody>
      </p:sp>
      <p:sp>
        <p:nvSpPr>
          <p:cNvPr id="2" name="Rectangle 1"/>
          <p:cNvSpPr/>
          <p:nvPr/>
        </p:nvSpPr>
        <p:spPr>
          <a:xfrm>
            <a:off x="7452360" y="1234440"/>
            <a:ext cx="4122419" cy="47396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325498" y="6349088"/>
            <a:ext cx="307124" cy="36512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228728" y="1771352"/>
            <a:ext cx="5279009" cy="400110"/>
          </a:xfrm>
          <a:prstGeom prst="rect">
            <a:avLst/>
          </a:prstGeom>
        </p:spPr>
        <p:txBody>
          <a:bodyPr wrap="none">
            <a:spAutoFit/>
          </a:bodyPr>
          <a:lstStyle/>
          <a:p>
            <a:r>
              <a:rPr lang="en-US" sz="2000" dirty="0">
                <a:latin typeface="Arial" pitchFamily="34" charset="0"/>
                <a:cs typeface="Arial" pitchFamily="34" charset="0"/>
              </a:rPr>
              <a:t>On completion, the students are expected to:</a:t>
            </a:r>
            <a:endParaRPr lang="en-US" sz="2000" b="1" dirty="0">
              <a:latin typeface="Arial" pitchFamily="34" charset="0"/>
              <a:cs typeface="Arial" pitchFamily="34" charset="0"/>
            </a:endParaRPr>
          </a:p>
        </p:txBody>
      </p:sp>
      <p:pic>
        <p:nvPicPr>
          <p:cNvPr id="4" name="Picture 3">
            <a:extLst>
              <a:ext uri="{FF2B5EF4-FFF2-40B4-BE49-F238E27FC236}">
                <a16:creationId xmlns:a16="http://schemas.microsoft.com/office/drawing/2014/main" id="{BDF2E52E-16D8-B79B-E21C-2E3FB624D4C6}"/>
              </a:ext>
            </a:extLst>
          </p:cNvPr>
          <p:cNvPicPr>
            <a:picLocks noChangeAspect="1"/>
          </p:cNvPicPr>
          <p:nvPr/>
        </p:nvPicPr>
        <p:blipFill>
          <a:blip r:embed="rId2"/>
          <a:stretch>
            <a:fillRect/>
          </a:stretch>
        </p:blipFill>
        <p:spPr>
          <a:xfrm>
            <a:off x="7025804" y="590209"/>
            <a:ext cx="4453256" cy="5559290"/>
          </a:xfrm>
          <a:prstGeom prst="rect">
            <a:avLst/>
          </a:prstGeom>
          <a:ln w="22225">
            <a:solidFill>
              <a:schemeClr val="tx1"/>
            </a:solidFill>
          </a:ln>
        </p:spPr>
      </p:pic>
      <p:graphicFrame>
        <p:nvGraphicFramePr>
          <p:cNvPr id="6" name="Table 5">
            <a:extLst>
              <a:ext uri="{FF2B5EF4-FFF2-40B4-BE49-F238E27FC236}">
                <a16:creationId xmlns:a16="http://schemas.microsoft.com/office/drawing/2014/main" id="{80D94F23-4172-6D80-FE77-6097DC11DC7C}"/>
              </a:ext>
            </a:extLst>
          </p:cNvPr>
          <p:cNvGraphicFramePr>
            <a:graphicFrameLocks noGrp="1"/>
          </p:cNvGraphicFramePr>
          <p:nvPr>
            <p:extLst>
              <p:ext uri="{D42A27DB-BD31-4B8C-83A1-F6EECF244321}">
                <p14:modId xmlns:p14="http://schemas.microsoft.com/office/powerpoint/2010/main" val="2937154588"/>
              </p:ext>
            </p:extLst>
          </p:nvPr>
        </p:nvGraphicFramePr>
        <p:xfrm>
          <a:off x="206553" y="2133599"/>
          <a:ext cx="6670497" cy="4495802"/>
        </p:xfrm>
        <a:graphic>
          <a:graphicData uri="http://schemas.openxmlformats.org/drawingml/2006/table">
            <a:tbl>
              <a:tblPr firstRow="1" firstCol="1" bandRow="1">
                <a:tableStyleId>{5940675A-B579-460E-94D1-54222C63F5DA}</a:tableStyleId>
              </a:tblPr>
              <a:tblGrid>
                <a:gridCol w="543484">
                  <a:extLst>
                    <a:ext uri="{9D8B030D-6E8A-4147-A177-3AD203B41FA5}">
                      <a16:colId xmlns:a16="http://schemas.microsoft.com/office/drawing/2014/main" val="4168448416"/>
                    </a:ext>
                  </a:extLst>
                </a:gridCol>
                <a:gridCol w="4854552">
                  <a:extLst>
                    <a:ext uri="{9D8B030D-6E8A-4147-A177-3AD203B41FA5}">
                      <a16:colId xmlns:a16="http://schemas.microsoft.com/office/drawing/2014/main" val="2558219792"/>
                    </a:ext>
                  </a:extLst>
                </a:gridCol>
                <a:gridCol w="1272461">
                  <a:extLst>
                    <a:ext uri="{9D8B030D-6E8A-4147-A177-3AD203B41FA5}">
                      <a16:colId xmlns:a16="http://schemas.microsoft.com/office/drawing/2014/main" val="1836805902"/>
                    </a:ext>
                  </a:extLst>
                </a:gridCol>
              </a:tblGrid>
              <a:tr h="763998">
                <a:tc>
                  <a:txBody>
                    <a:bodyPr/>
                    <a:lstStyle/>
                    <a:p>
                      <a:pPr algn="ctr">
                        <a:lnSpc>
                          <a:spcPct val="115000"/>
                        </a:lnSpc>
                        <a:spcAft>
                          <a:spcPts val="1000"/>
                        </a:spcAft>
                      </a:pPr>
                      <a:r>
                        <a:rPr lang="en-US" sz="1200" b="1" dirty="0">
                          <a:effectLst/>
                          <a:latin typeface="+mn-lt"/>
                        </a:rPr>
                        <a:t>CO Number</a:t>
                      </a:r>
                      <a:endParaRPr lang="en-IN" sz="1200" b="1" dirty="0">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ctr">
                        <a:lnSpc>
                          <a:spcPct val="115000"/>
                        </a:lnSpc>
                        <a:spcAft>
                          <a:spcPts val="1000"/>
                        </a:spcAft>
                      </a:pPr>
                      <a:r>
                        <a:rPr lang="en-US" sz="1200" b="1" dirty="0">
                          <a:effectLst/>
                          <a:latin typeface="+mn-lt"/>
                        </a:rPr>
                        <a:t>Title</a:t>
                      </a:r>
                      <a:endParaRPr lang="en-IN" sz="1200" b="1" dirty="0">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ctr">
                        <a:lnSpc>
                          <a:spcPct val="115000"/>
                        </a:lnSpc>
                        <a:spcAft>
                          <a:spcPts val="1000"/>
                        </a:spcAft>
                      </a:pPr>
                      <a:r>
                        <a:rPr lang="en-US" sz="1200" b="1" dirty="0">
                          <a:effectLst/>
                          <a:latin typeface="+mn-lt"/>
                        </a:rPr>
                        <a:t> </a:t>
                      </a:r>
                      <a:endParaRPr lang="en-IN" sz="1200" b="1" dirty="0">
                        <a:effectLst/>
                        <a:latin typeface="+mn-lt"/>
                      </a:endParaRPr>
                    </a:p>
                    <a:p>
                      <a:pPr algn="ctr">
                        <a:lnSpc>
                          <a:spcPct val="115000"/>
                        </a:lnSpc>
                        <a:spcAft>
                          <a:spcPts val="1000"/>
                        </a:spcAft>
                      </a:pPr>
                      <a:r>
                        <a:rPr lang="en-US" sz="1200" b="1" dirty="0">
                          <a:effectLst/>
                          <a:latin typeface="+mn-lt"/>
                        </a:rPr>
                        <a:t>Level</a:t>
                      </a:r>
                      <a:endParaRPr lang="en-IN" sz="1200" b="1" dirty="0">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4127487202"/>
                  </a:ext>
                </a:extLst>
              </a:tr>
              <a:tr h="719905">
                <a:tc>
                  <a:txBody>
                    <a:bodyPr/>
                    <a:lstStyle/>
                    <a:p>
                      <a:pPr>
                        <a:lnSpc>
                          <a:spcPct val="115000"/>
                        </a:lnSpc>
                        <a:spcAft>
                          <a:spcPts val="1000"/>
                        </a:spcAft>
                      </a:pPr>
                      <a:r>
                        <a:rPr lang="en-US" sz="1200" dirty="0">
                          <a:solidFill>
                            <a:schemeClr val="tx1"/>
                          </a:solidFill>
                          <a:effectLst/>
                          <a:latin typeface="+mn-lt"/>
                        </a:rPr>
                        <a:t>CO1</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just">
                        <a:lnSpc>
                          <a:spcPct val="115000"/>
                        </a:lnSpc>
                        <a:spcAft>
                          <a:spcPts val="1000"/>
                        </a:spcAft>
                      </a:pPr>
                      <a:r>
                        <a:rPr lang="en-US" sz="1200" dirty="0">
                          <a:solidFill>
                            <a:schemeClr val="tx1"/>
                          </a:solidFill>
                          <a:effectLst/>
                          <a:latin typeface="+mn-lt"/>
                          <a:ea typeface="Times New Roman" panose="02020603050405020304" pitchFamily="18" charset="0"/>
                        </a:rPr>
                        <a:t>Apply appropriate Listening, Speaking, Reading and Writing Skills (LSRW Skills) with correct non-verbal cues to attain expertise in soft skills.</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2301671737"/>
                  </a:ext>
                </a:extLst>
              </a:tr>
              <a:tr h="719905">
                <a:tc>
                  <a:txBody>
                    <a:bodyPr/>
                    <a:lstStyle/>
                    <a:p>
                      <a:pPr>
                        <a:lnSpc>
                          <a:spcPct val="115000"/>
                        </a:lnSpc>
                        <a:spcAft>
                          <a:spcPts val="1000"/>
                        </a:spcAft>
                      </a:pPr>
                      <a:r>
                        <a:rPr lang="en-US" sz="1200">
                          <a:solidFill>
                            <a:schemeClr val="tx1"/>
                          </a:solidFill>
                          <a:effectLst/>
                          <a:latin typeface="+mn-lt"/>
                        </a:rPr>
                        <a:t>CO2</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Apply correct contextual and comprehensible written text in the form of paragraph writing, short compositions business correspondence, using logical support and argument in a wide range of communication situations.</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3872378065"/>
                  </a:ext>
                </a:extLst>
              </a:tr>
              <a:tr h="763998">
                <a:tc>
                  <a:txBody>
                    <a:bodyPr/>
                    <a:lstStyle/>
                    <a:p>
                      <a:pPr>
                        <a:lnSpc>
                          <a:spcPct val="115000"/>
                        </a:lnSpc>
                        <a:spcAft>
                          <a:spcPts val="1000"/>
                        </a:spcAft>
                      </a:pPr>
                      <a:r>
                        <a:rPr lang="en-US" sz="1200" dirty="0">
                          <a:solidFill>
                            <a:schemeClr val="tx1"/>
                          </a:solidFill>
                          <a:effectLst/>
                          <a:latin typeface="+mn-lt"/>
                        </a:rPr>
                        <a:t>CO3</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Demonstrate linguistic competence while speaking and during presentations through accuracy in grammatical usage, vocabulary, pronunciation and intonation.</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2555796211"/>
                  </a:ext>
                </a:extLst>
              </a:tr>
              <a:tr h="763998">
                <a:tc>
                  <a:txBody>
                    <a:bodyPr/>
                    <a:lstStyle/>
                    <a:p>
                      <a:pPr>
                        <a:lnSpc>
                          <a:spcPct val="115000"/>
                        </a:lnSpc>
                        <a:spcAft>
                          <a:spcPts val="1000"/>
                        </a:spcAft>
                      </a:pPr>
                      <a:r>
                        <a:rPr lang="en-US" sz="1200">
                          <a:solidFill>
                            <a:schemeClr val="tx1"/>
                          </a:solidFill>
                          <a:effectLst/>
                          <a:latin typeface="+mn-lt"/>
                        </a:rPr>
                        <a:t>CO4</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just">
                        <a:lnSpc>
                          <a:spcPct val="115000"/>
                        </a:lnSpc>
                        <a:spcAft>
                          <a:spcPts val="1000"/>
                        </a:spcAft>
                      </a:pPr>
                      <a:r>
                        <a:rPr lang="en-US" sz="1200" dirty="0">
                          <a:solidFill>
                            <a:schemeClr val="tx1"/>
                          </a:solidFill>
                          <a:effectLst/>
                          <a:latin typeface="+mn-lt"/>
                          <a:ea typeface="Times New Roman" panose="02020603050405020304" pitchFamily="18" charset="0"/>
                        </a:rPr>
                        <a:t>Evaluate information as critical readers, speakers and writers applying ethics in communication and</a:t>
                      </a:r>
                      <a:endParaRPr lang="en-IN" sz="1200" dirty="0">
                        <a:solidFill>
                          <a:schemeClr val="tx1"/>
                        </a:solidFill>
                        <a:effectLst/>
                        <a:latin typeface="+mn-lt"/>
                        <a:ea typeface="Calibri" panose="020F0502020204030204" pitchFamily="34" charset="0"/>
                      </a:endParaRPr>
                    </a:p>
                    <a:p>
                      <a:pPr algn="just">
                        <a:lnSpc>
                          <a:spcPct val="115000"/>
                        </a:lnSpc>
                        <a:spcAft>
                          <a:spcPts val="1000"/>
                        </a:spcAft>
                      </a:pPr>
                      <a:r>
                        <a:rPr lang="en-US" sz="1200" dirty="0">
                          <a:solidFill>
                            <a:schemeClr val="tx1"/>
                          </a:solidFill>
                          <a:effectLst/>
                          <a:latin typeface="+mn-lt"/>
                          <a:ea typeface="Times New Roman" panose="02020603050405020304" pitchFamily="18" charset="0"/>
                        </a:rPr>
                        <a:t>being sensitive in cross cultural communication.</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Evaluate</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3201307360"/>
                  </a:ext>
                </a:extLst>
              </a:tr>
              <a:tr h="763998">
                <a:tc>
                  <a:txBody>
                    <a:bodyPr/>
                    <a:lstStyle/>
                    <a:p>
                      <a:pPr>
                        <a:lnSpc>
                          <a:spcPct val="115000"/>
                        </a:lnSpc>
                        <a:spcAft>
                          <a:spcPts val="1000"/>
                        </a:spcAft>
                      </a:pPr>
                      <a:r>
                        <a:rPr lang="en-US" sz="1200">
                          <a:solidFill>
                            <a:schemeClr val="tx1"/>
                          </a:solidFill>
                          <a:effectLst/>
                          <a:latin typeface="+mn-lt"/>
                        </a:rPr>
                        <a:t>CO5</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 Create original, digital content for websites, blogs, vlogs and personal social media profiles etc.</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Create</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3552195131"/>
                  </a:ext>
                </a:extLst>
              </a:tr>
            </a:tbl>
          </a:graphicData>
        </a:graphic>
      </p:graphicFrame>
    </p:spTree>
    <p:extLst>
      <p:ext uri="{BB962C8B-B14F-4D97-AF65-F5344CB8AC3E}">
        <p14:creationId xmlns:p14="http://schemas.microsoft.com/office/powerpoint/2010/main" val="4018097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27520" y="1310640"/>
            <a:ext cx="4335779" cy="4591685"/>
          </a:xfrm>
        </p:spPr>
        <p:txBody>
          <a:bodyPr>
            <a:normAutofit/>
          </a:bodyPr>
          <a:lstStyle/>
          <a:p>
            <a:pPr marL="0" indent="0">
              <a:buNone/>
            </a:pPr>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12696" y="6353174"/>
            <a:ext cx="2743200" cy="365125"/>
          </a:xfrm>
        </p:spPr>
        <p:txBody>
          <a:bodyPr/>
          <a:lstStyle/>
          <a:p>
            <a:fld id="{BDCDBBEF-AA6C-4BA6-85B2-A17D7F280E38}" type="slidenum">
              <a:rPr lang="en-US" smtClean="0"/>
              <a:pPr/>
              <a:t>4</a:t>
            </a:fld>
            <a:endParaRPr lang="en-US" dirty="0"/>
          </a:p>
        </p:txBody>
      </p:sp>
      <p:sp>
        <p:nvSpPr>
          <p:cNvPr id="8" name="Title 7"/>
          <p:cNvSpPr txBox="1">
            <a:spLocks noGrp="1" noChangeArrowheads="1"/>
          </p:cNvSpPr>
          <p:nvPr>
            <p:ph type="title"/>
          </p:nvPr>
        </p:nvSpPr>
        <p:spPr bwMode="auto">
          <a:xfrm>
            <a:off x="1170818" y="503514"/>
            <a:ext cx="4686618"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Arial Black" pitchFamily="34" charset="0"/>
                <a:ea typeface="Karla" pitchFamily="2" charset="0"/>
                <a:cs typeface="Arial" panose="020B0604020202020204" pitchFamily="34" charset="0"/>
              </a:rPr>
              <a:t>Course Outcomes</a:t>
            </a:r>
            <a:endParaRPr lang="en-US" sz="1600" dirty="0">
              <a:latin typeface="Arial Black" pitchFamily="34" charset="0"/>
            </a:endParaRPr>
          </a:p>
        </p:txBody>
      </p:sp>
      <p:sp>
        <p:nvSpPr>
          <p:cNvPr id="2" name="Rectangle 1"/>
          <p:cNvSpPr/>
          <p:nvPr/>
        </p:nvSpPr>
        <p:spPr>
          <a:xfrm>
            <a:off x="6751319" y="503514"/>
            <a:ext cx="4488179" cy="553152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266110" y="2023650"/>
            <a:ext cx="4214615" cy="338554"/>
          </a:xfrm>
          <a:prstGeom prst="rect">
            <a:avLst/>
          </a:prstGeom>
        </p:spPr>
        <p:txBody>
          <a:bodyPr wrap="none">
            <a:spAutoFit/>
          </a:bodyPr>
          <a:lstStyle/>
          <a:p>
            <a:r>
              <a:rPr lang="en-US" sz="1600" dirty="0">
                <a:latin typeface="Arial" pitchFamily="34" charset="0"/>
                <a:cs typeface="Arial" pitchFamily="34" charset="0"/>
              </a:rPr>
              <a:t>On completion, the students are expected to</a:t>
            </a:r>
            <a:endParaRPr lang="en-US" sz="1600" b="1" dirty="0">
              <a:latin typeface="Arial" pitchFamily="34" charset="0"/>
              <a:cs typeface="Arial" pitchFamily="34" charset="0"/>
            </a:endParaRPr>
          </a:p>
        </p:txBody>
      </p:sp>
      <p:sp>
        <p:nvSpPr>
          <p:cNvPr id="4" name="TextBox 3">
            <a:extLst>
              <a:ext uri="{FF2B5EF4-FFF2-40B4-BE49-F238E27FC236}">
                <a16:creationId xmlns:a16="http://schemas.microsoft.com/office/drawing/2014/main" id="{D4F26C4B-ADDA-5543-975D-B07E57B84339}"/>
              </a:ext>
            </a:extLst>
          </p:cNvPr>
          <p:cNvSpPr txBox="1"/>
          <p:nvPr/>
        </p:nvSpPr>
        <p:spPr>
          <a:xfrm>
            <a:off x="8903688" y="6331375"/>
            <a:ext cx="3271454" cy="276999"/>
          </a:xfrm>
          <a:prstGeom prst="rect">
            <a:avLst/>
          </a:prstGeom>
          <a:noFill/>
        </p:spPr>
        <p:txBody>
          <a:bodyPr wrap="square" rtlCol="0">
            <a:spAutoFit/>
          </a:bodyPr>
          <a:lstStyle/>
          <a:p>
            <a:r>
              <a:rPr lang="en-US" sz="1200" dirty="0"/>
              <a:t>pinterest.com   </a:t>
            </a:r>
          </a:p>
        </p:txBody>
      </p:sp>
      <p:sp>
        <p:nvSpPr>
          <p:cNvPr id="129026" name="AutoShape 2" descr="How to Write a Compelling Cover Letter for a Job | Mone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29028" name="AutoShape 4" descr="How to Write a Compelling Cover Letter for a Job | Mone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graphicFrame>
        <p:nvGraphicFramePr>
          <p:cNvPr id="13" name="Table 12">
            <a:extLst>
              <a:ext uri="{FF2B5EF4-FFF2-40B4-BE49-F238E27FC236}">
                <a16:creationId xmlns:a16="http://schemas.microsoft.com/office/drawing/2014/main" id="{E4D8FA22-F3BF-4A19-ADBD-8F245D323959}"/>
              </a:ext>
            </a:extLst>
          </p:cNvPr>
          <p:cNvGraphicFramePr>
            <a:graphicFrameLocks noGrp="1"/>
          </p:cNvGraphicFramePr>
          <p:nvPr>
            <p:extLst>
              <p:ext uri="{D42A27DB-BD31-4B8C-83A1-F6EECF244321}">
                <p14:modId xmlns:p14="http://schemas.microsoft.com/office/powerpoint/2010/main" val="2814924170"/>
              </p:ext>
            </p:extLst>
          </p:nvPr>
        </p:nvGraphicFramePr>
        <p:xfrm>
          <a:off x="249218" y="2547680"/>
          <a:ext cx="6396221" cy="3996386"/>
        </p:xfrm>
        <a:graphic>
          <a:graphicData uri="http://schemas.openxmlformats.org/drawingml/2006/table">
            <a:tbl>
              <a:tblPr firstRow="1" firstCol="1" bandRow="1">
                <a:tableStyleId>{5940675A-B579-460E-94D1-54222C63F5DA}</a:tableStyleId>
              </a:tblPr>
              <a:tblGrid>
                <a:gridCol w="965766">
                  <a:extLst>
                    <a:ext uri="{9D8B030D-6E8A-4147-A177-3AD203B41FA5}">
                      <a16:colId xmlns:a16="http://schemas.microsoft.com/office/drawing/2014/main" val="20000"/>
                    </a:ext>
                  </a:extLst>
                </a:gridCol>
                <a:gridCol w="4264085">
                  <a:extLst>
                    <a:ext uri="{9D8B030D-6E8A-4147-A177-3AD203B41FA5}">
                      <a16:colId xmlns:a16="http://schemas.microsoft.com/office/drawing/2014/main" val="20001"/>
                    </a:ext>
                  </a:extLst>
                </a:gridCol>
                <a:gridCol w="1166370">
                  <a:extLst>
                    <a:ext uri="{9D8B030D-6E8A-4147-A177-3AD203B41FA5}">
                      <a16:colId xmlns:a16="http://schemas.microsoft.com/office/drawing/2014/main" val="20002"/>
                    </a:ext>
                  </a:extLst>
                </a:gridCol>
              </a:tblGrid>
              <a:tr h="588511">
                <a:tc>
                  <a:txBody>
                    <a:bodyPr/>
                    <a:lstStyle/>
                    <a:p>
                      <a:pPr marL="0" marR="0" algn="ctr">
                        <a:lnSpc>
                          <a:spcPct val="115000"/>
                        </a:lnSpc>
                        <a:spcBef>
                          <a:spcPts val="0"/>
                        </a:spcBef>
                        <a:spcAft>
                          <a:spcPts val="0"/>
                        </a:spcAft>
                      </a:pPr>
                      <a:r>
                        <a:rPr lang="en-US" sz="1400" dirty="0">
                          <a:solidFill>
                            <a:schemeClr val="tx1"/>
                          </a:solidFill>
                          <a:effectLst/>
                          <a:latin typeface="Arial" panose="020B0604020202020204" pitchFamily="34" charset="0"/>
                          <a:cs typeface="Arial" panose="020B0604020202020204" pitchFamily="34" charset="0"/>
                        </a:rPr>
                        <a:t>CO Number</a:t>
                      </a:r>
                      <a:endParaRPr lang="en-US" sz="1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lnSpc>
                          <a:spcPct val="115000"/>
                        </a:lnSpc>
                        <a:spcBef>
                          <a:spcPts val="0"/>
                        </a:spcBef>
                        <a:spcAft>
                          <a:spcPts val="0"/>
                        </a:spcAft>
                      </a:pPr>
                      <a:r>
                        <a:rPr lang="en-US" sz="1400" dirty="0">
                          <a:solidFill>
                            <a:schemeClr val="tx1"/>
                          </a:solidFill>
                          <a:effectLst/>
                          <a:latin typeface="Arial" panose="020B0604020202020204" pitchFamily="34" charset="0"/>
                          <a:cs typeface="Arial" panose="020B0604020202020204" pitchFamily="34" charset="0"/>
                        </a:rPr>
                        <a:t>Title </a:t>
                      </a:r>
                      <a:endParaRPr lang="en-US" sz="1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lnSpc>
                          <a:spcPct val="115000"/>
                        </a:lnSpc>
                        <a:spcBef>
                          <a:spcPts val="0"/>
                        </a:spcBef>
                        <a:spcAft>
                          <a:spcPts val="0"/>
                        </a:spcAft>
                      </a:pPr>
                      <a:r>
                        <a:rPr lang="en-US" sz="1400" dirty="0">
                          <a:solidFill>
                            <a:schemeClr val="tx1"/>
                          </a:solidFill>
                          <a:effectLst/>
                          <a:latin typeface="Arial" panose="020B0604020202020204" pitchFamily="34" charset="0"/>
                          <a:cs typeface="Arial" panose="020B0604020202020204" pitchFamily="34" charset="0"/>
                        </a:rPr>
                        <a:t>Level </a:t>
                      </a:r>
                      <a:endParaRPr lang="en-US" sz="1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000"/>
                  </a:ext>
                </a:extLst>
              </a:tr>
              <a:tr h="615960">
                <a:tc>
                  <a:txBody>
                    <a:bodyPr/>
                    <a:lstStyle/>
                    <a:p>
                      <a:pPr marL="0" marR="0">
                        <a:lnSpc>
                          <a:spcPct val="115000"/>
                        </a:lnSpc>
                        <a:spcBef>
                          <a:spcPts val="0"/>
                        </a:spcBef>
                        <a:spcAft>
                          <a:spcPts val="0"/>
                        </a:spcAft>
                      </a:pPr>
                      <a:r>
                        <a:rPr lang="en-US" sz="1400" b="0" dirty="0">
                          <a:solidFill>
                            <a:schemeClr val="tx1"/>
                          </a:solidFill>
                          <a:effectLst/>
                          <a:latin typeface="Arial" panose="020B0604020202020204" pitchFamily="34" charset="0"/>
                          <a:cs typeface="Arial" panose="020B0604020202020204" pitchFamily="34" charset="0"/>
                        </a:rPr>
                        <a:t>CO1</a:t>
                      </a:r>
                      <a:endParaRPr lang="en-US" sz="1400" b="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400" b="0" i="0" kern="1200" dirty="0">
                          <a:solidFill>
                            <a:schemeClr val="tx1"/>
                          </a:solidFill>
                          <a:latin typeface="Arial" panose="020B0604020202020204" pitchFamily="34" charset="0"/>
                          <a:ea typeface="+mn-ea"/>
                          <a:cs typeface="Arial" panose="020B0604020202020204" pitchFamily="34" charset="0"/>
                        </a:rPr>
                        <a:t>Evaluate facts to write research and short official, technical or social reports.</a:t>
                      </a:r>
                    </a:p>
                  </a:txBody>
                  <a:tcPr marL="68580" marR="68580" marT="0" marB="0"/>
                </a:tc>
                <a:tc>
                  <a:txBody>
                    <a:bodyPr/>
                    <a:lstStyle/>
                    <a:p>
                      <a:pPr marL="0" marR="0" algn="ctr">
                        <a:lnSpc>
                          <a:spcPct val="115000"/>
                        </a:lnSpc>
                        <a:spcBef>
                          <a:spcPts val="0"/>
                        </a:spcBef>
                        <a:spcAft>
                          <a:spcPts val="0"/>
                        </a:spcAft>
                      </a:pPr>
                      <a:r>
                        <a:rPr lang="en-US" sz="1400" b="0" dirty="0">
                          <a:solidFill>
                            <a:schemeClr val="tx1"/>
                          </a:solidFill>
                          <a:effectLst/>
                          <a:latin typeface="Arial" panose="020B0604020202020204" pitchFamily="34" charset="0"/>
                          <a:cs typeface="Arial" panose="020B0604020202020204" pitchFamily="34" charset="0"/>
                        </a:rPr>
                        <a:t>Evaluate </a:t>
                      </a:r>
                      <a:endParaRPr lang="en-US" sz="1400" b="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extLst>
                  <a:ext uri="{0D108BD9-81ED-4DB2-BD59-A6C34878D82A}">
                    <a16:rowId xmlns:a16="http://schemas.microsoft.com/office/drawing/2014/main" val="10001"/>
                  </a:ext>
                </a:extLst>
              </a:tr>
              <a:tr h="891676">
                <a:tc>
                  <a:txBody>
                    <a:bodyPr/>
                    <a:lstStyle/>
                    <a:p>
                      <a:pPr marL="0" marR="0">
                        <a:lnSpc>
                          <a:spcPct val="115000"/>
                        </a:lnSpc>
                        <a:spcBef>
                          <a:spcPts val="0"/>
                        </a:spcBef>
                        <a:spcAft>
                          <a:spcPts val="0"/>
                        </a:spcAft>
                      </a:pPr>
                      <a:r>
                        <a:rPr lang="en-US" sz="1400" b="0" dirty="0">
                          <a:solidFill>
                            <a:schemeClr val="tx1"/>
                          </a:solidFill>
                          <a:effectLst/>
                          <a:latin typeface="Arial" panose="020B0604020202020204" pitchFamily="34" charset="0"/>
                          <a:cs typeface="Arial" panose="020B0604020202020204" pitchFamily="34" charset="0"/>
                        </a:rPr>
                        <a:t>CO2</a:t>
                      </a:r>
                      <a:endParaRPr lang="en-US" sz="1400" b="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400" b="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Create communication material for an organization dedicated to a social cause and use electronic/social media to share concepts and ideas.</a:t>
                      </a:r>
                    </a:p>
                  </a:txBody>
                  <a:tcPr marL="68580" marR="68580" marT="0" marB="0"/>
                </a:tc>
                <a:tc>
                  <a:txBody>
                    <a:bodyPr/>
                    <a:lstStyle/>
                    <a:p>
                      <a:pPr marL="0" marR="0" algn="ctr">
                        <a:lnSpc>
                          <a:spcPct val="115000"/>
                        </a:lnSpc>
                        <a:spcBef>
                          <a:spcPts val="0"/>
                        </a:spcBef>
                        <a:spcAft>
                          <a:spcPts val="0"/>
                        </a:spcAft>
                      </a:pPr>
                      <a:r>
                        <a:rPr lang="en-US" sz="1400" b="0" dirty="0">
                          <a:solidFill>
                            <a:schemeClr val="tx1"/>
                          </a:solidFill>
                          <a:effectLst/>
                          <a:latin typeface="Arial" panose="020B0604020202020204" pitchFamily="34" charset="0"/>
                          <a:cs typeface="Arial" panose="020B0604020202020204" pitchFamily="34" charset="0"/>
                        </a:rPr>
                        <a:t> Create</a:t>
                      </a:r>
                      <a:endParaRPr lang="en-US" sz="1400" b="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extLst>
                  <a:ext uri="{0D108BD9-81ED-4DB2-BD59-A6C34878D82A}">
                    <a16:rowId xmlns:a16="http://schemas.microsoft.com/office/drawing/2014/main" val="10002"/>
                  </a:ext>
                </a:extLst>
              </a:tr>
              <a:tr h="891676">
                <a:tc>
                  <a:txBody>
                    <a:bodyPr/>
                    <a:lstStyle/>
                    <a:p>
                      <a:pPr marL="0" marR="0">
                        <a:lnSpc>
                          <a:spcPct val="115000"/>
                        </a:lnSpc>
                        <a:spcBef>
                          <a:spcPts val="0"/>
                        </a:spcBef>
                        <a:spcAft>
                          <a:spcPts val="0"/>
                        </a:spcAft>
                      </a:pPr>
                      <a:r>
                        <a:rPr lang="en-US" sz="1400" dirty="0">
                          <a:solidFill>
                            <a:srgbClr val="FF0000"/>
                          </a:solidFill>
                          <a:effectLst/>
                          <a:latin typeface="Arial" panose="020B0604020202020204" pitchFamily="34" charset="0"/>
                          <a:cs typeface="Arial" panose="020B0604020202020204" pitchFamily="34" charset="0"/>
                        </a:rPr>
                        <a:t>CO3</a:t>
                      </a:r>
                      <a:endParaRPr lang="en-US" sz="1400" dirty="0">
                        <a:solidFill>
                          <a:srgbClr val="FF0000"/>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400" dirty="0" err="1">
                          <a:solidFill>
                            <a:srgbClr val="FF0000"/>
                          </a:solidFill>
                          <a:effectLst/>
                          <a:latin typeface="Arial" panose="020B0604020202020204" pitchFamily="34" charset="0"/>
                          <a:ea typeface="Times New Roman" panose="02020603050405020304" pitchFamily="18" charset="0"/>
                          <a:cs typeface="Arial" panose="020B0604020202020204" pitchFamily="34" charset="0"/>
                        </a:rPr>
                        <a:t>Analyse</a:t>
                      </a:r>
                      <a:r>
                        <a:rPr lang="en-US" sz="1400"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 and summarize information, ideas and opinions on a social issue using grammatically correct English.</a:t>
                      </a:r>
                    </a:p>
                    <a:p>
                      <a:pPr marL="0" marR="0" indent="0" algn="l" defTabSz="914400" rtl="0" eaLnBrk="1" fontAlgn="auto" latinLnBrk="0" hangingPunct="1">
                        <a:lnSpc>
                          <a:spcPct val="115000"/>
                        </a:lnSpc>
                        <a:spcBef>
                          <a:spcPts val="0"/>
                        </a:spcBef>
                        <a:spcAft>
                          <a:spcPts val="0"/>
                        </a:spcAft>
                        <a:buClrTx/>
                        <a:buSzTx/>
                        <a:buFontTx/>
                        <a:buNone/>
                        <a:tabLst/>
                        <a:defRPr/>
                      </a:pPr>
                      <a:endParaRPr lang="en-US" sz="1400" dirty="0">
                        <a:solidFill>
                          <a:srgbClr val="FF0000"/>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lnSpc>
                          <a:spcPct val="115000"/>
                        </a:lnSpc>
                        <a:spcBef>
                          <a:spcPts val="0"/>
                        </a:spcBef>
                        <a:spcAft>
                          <a:spcPts val="0"/>
                        </a:spcAft>
                      </a:pPr>
                      <a:r>
                        <a:rPr lang="en-US" sz="1400" dirty="0" err="1">
                          <a:solidFill>
                            <a:srgbClr val="FF0000"/>
                          </a:solidFill>
                          <a:effectLst/>
                          <a:latin typeface="Arial" panose="020B0604020202020204" pitchFamily="34" charset="0"/>
                          <a:ea typeface="Times New Roman" panose="02020603050405020304" pitchFamily="18" charset="0"/>
                          <a:cs typeface="Arial" panose="020B0604020202020204" pitchFamily="34" charset="0"/>
                        </a:rPr>
                        <a:t>Analyse</a:t>
                      </a:r>
                      <a:endParaRPr lang="en-US" sz="1400" dirty="0">
                        <a:solidFill>
                          <a:srgbClr val="FF0000"/>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extLst>
                  <a:ext uri="{0D108BD9-81ED-4DB2-BD59-A6C34878D82A}">
                    <a16:rowId xmlns:a16="http://schemas.microsoft.com/office/drawing/2014/main" val="10003"/>
                  </a:ext>
                </a:extLst>
              </a:tr>
              <a:tr h="459885">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400" dirty="0">
                          <a:solidFill>
                            <a:schemeClr val="tx1"/>
                          </a:solidFill>
                          <a:effectLst/>
                          <a:latin typeface="Arial" panose="020B0604020202020204" pitchFamily="34" charset="0"/>
                          <a:cs typeface="Arial" panose="020B0604020202020204" pitchFamily="34" charset="0"/>
                        </a:rPr>
                        <a:t>CO4</a:t>
                      </a:r>
                      <a:endParaRPr lang="en-US" sz="1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a:lnSpc>
                          <a:spcPct val="115000"/>
                        </a:lnSpc>
                        <a:spcBef>
                          <a:spcPts val="0"/>
                        </a:spcBef>
                        <a:spcAft>
                          <a:spcPts val="0"/>
                        </a:spcAft>
                      </a:pPr>
                      <a:endParaRPr lang="en-US" sz="1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Perform effectively in the placement process.</a:t>
                      </a:r>
                    </a:p>
                  </a:txBody>
                  <a:tcPr marL="68580" marR="68580" marT="0" marB="0"/>
                </a:tc>
                <a:tc>
                  <a:txBody>
                    <a:bodyPr/>
                    <a:lstStyle/>
                    <a:p>
                      <a:pPr marL="0" marR="0" algn="ctr">
                        <a:lnSpc>
                          <a:spcPct val="115000"/>
                        </a:lnSpc>
                        <a:spcBef>
                          <a:spcPts val="0"/>
                        </a:spcBef>
                        <a:spcAft>
                          <a:spcPts val="0"/>
                        </a:spcAft>
                      </a:pPr>
                      <a:r>
                        <a:rPr lang="en-US" sz="1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Apply</a:t>
                      </a:r>
                    </a:p>
                  </a:txBody>
                  <a:tcPr marL="68580" marR="68580" marT="0" marB="0" anchor="ctr"/>
                </a:tc>
                <a:extLst>
                  <a:ext uri="{0D108BD9-81ED-4DB2-BD59-A6C34878D82A}">
                    <a16:rowId xmlns:a16="http://schemas.microsoft.com/office/drawing/2014/main" val="10004"/>
                  </a:ext>
                </a:extLst>
              </a:tr>
              <a:tr h="459885">
                <a:tc>
                  <a:txBody>
                    <a:bodyPr/>
                    <a:lstStyle/>
                    <a:p>
                      <a:pPr marL="0" marR="0">
                        <a:lnSpc>
                          <a:spcPct val="115000"/>
                        </a:lnSpc>
                        <a:spcBef>
                          <a:spcPts val="0"/>
                        </a:spcBef>
                        <a:spcAft>
                          <a:spcPts val="0"/>
                        </a:spcAft>
                      </a:pPr>
                      <a:r>
                        <a:rPr lang="en-US" sz="1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CO5</a:t>
                      </a: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Display moral values, ethics and sensitivity for diversity and inclusion.</a:t>
                      </a:r>
                    </a:p>
                  </a:txBody>
                  <a:tcPr marL="68580" marR="68580" marT="0" marB="0"/>
                </a:tc>
                <a:tc>
                  <a:txBody>
                    <a:bodyPr/>
                    <a:lstStyle/>
                    <a:p>
                      <a:pPr marL="0" marR="0" algn="ctr">
                        <a:lnSpc>
                          <a:spcPct val="115000"/>
                        </a:lnSpc>
                        <a:spcBef>
                          <a:spcPts val="0"/>
                        </a:spcBef>
                        <a:spcAft>
                          <a:spcPts val="0"/>
                        </a:spcAft>
                      </a:pPr>
                      <a:r>
                        <a:rPr lang="en-US" sz="1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Apply</a:t>
                      </a:r>
                    </a:p>
                  </a:txBody>
                  <a:tcPr marL="68580" marR="68580" marT="0" marB="0" anchor="ctr"/>
                </a:tc>
                <a:extLst>
                  <a:ext uri="{0D108BD9-81ED-4DB2-BD59-A6C34878D82A}">
                    <a16:rowId xmlns:a16="http://schemas.microsoft.com/office/drawing/2014/main" val="10005"/>
                  </a:ext>
                </a:extLst>
              </a:tr>
            </a:tbl>
          </a:graphicData>
        </a:graphic>
      </p:graphicFrame>
      <p:pic>
        <p:nvPicPr>
          <p:cNvPr id="12" name="Picture 11">
            <a:extLst>
              <a:ext uri="{FF2B5EF4-FFF2-40B4-BE49-F238E27FC236}">
                <a16:creationId xmlns:a16="http://schemas.microsoft.com/office/drawing/2014/main" id="{8CEF41A4-FB68-4B0B-81F5-344AEA045B9F}"/>
              </a:ext>
            </a:extLst>
          </p:cNvPr>
          <p:cNvPicPr>
            <a:picLocks noChangeAspect="1"/>
          </p:cNvPicPr>
          <p:nvPr/>
        </p:nvPicPr>
        <p:blipFill>
          <a:blip r:embed="rId3"/>
          <a:stretch>
            <a:fillRect/>
          </a:stretch>
        </p:blipFill>
        <p:spPr>
          <a:xfrm>
            <a:off x="6771336" y="475750"/>
            <a:ext cx="4453256" cy="5559290"/>
          </a:xfrm>
          <a:prstGeom prst="rect">
            <a:avLst/>
          </a:prstGeom>
          <a:ln w="22225">
            <a:solidFill>
              <a:schemeClr val="tx1"/>
            </a:solidFill>
          </a:ln>
        </p:spPr>
      </p:pic>
    </p:spTree>
    <p:extLst>
      <p:ext uri="{BB962C8B-B14F-4D97-AF65-F5344CB8AC3E}">
        <p14:creationId xmlns:p14="http://schemas.microsoft.com/office/powerpoint/2010/main" val="1977596099"/>
      </p:ext>
    </p:extLst>
  </p:cSld>
  <p:clrMapOvr>
    <a:masterClrMapping/>
  </p:clrMapOvr>
  <mc:AlternateContent xmlns:mc="http://schemas.openxmlformats.org/markup-compatibility/2006" xmlns:p14="http://schemas.microsoft.com/office/powerpoint/2010/main">
    <mc:Choice Requires="p14">
      <p:transition spd="slow" p14:dur="2000" advTm="3599"/>
    </mc:Choice>
    <mc:Fallback xmlns="">
      <p:transition spd="slow" advTm="3599"/>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ln>
            <a:solidFill>
              <a:schemeClr val="tx1"/>
            </a:solidFill>
          </a:ln>
        </p:spPr>
        <p:txBody>
          <a:bodyPr/>
          <a:lstStyle/>
          <a:p>
            <a:pPr algn="ctr"/>
            <a:r>
              <a:rPr lang="en-US" dirty="0">
                <a:latin typeface="Arial Black" panose="020B0A04020102020204" pitchFamily="34" charset="0"/>
              </a:rPr>
              <a:t>Types of Errors</a:t>
            </a:r>
            <a:endParaRPr lang="en-IN" dirty="0">
              <a:latin typeface="Arial Black" panose="020B0A04020102020204" pitchFamily="34" charset="0"/>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pPr/>
              <a:t>5</a:t>
            </a:fld>
            <a:endParaRPr lang="en-US"/>
          </a:p>
        </p:txBody>
      </p:sp>
      <p:pic>
        <p:nvPicPr>
          <p:cNvPr id="6" name="Picture 5"/>
          <p:cNvPicPr>
            <a:picLocks noChangeAspect="1"/>
          </p:cNvPicPr>
          <p:nvPr/>
        </p:nvPicPr>
        <p:blipFill>
          <a:blip r:embed="rId2"/>
          <a:stretch>
            <a:fillRect/>
          </a:stretch>
        </p:blipFill>
        <p:spPr>
          <a:xfrm>
            <a:off x="838201" y="1825624"/>
            <a:ext cx="10515600" cy="4530725"/>
          </a:xfrm>
          <a:prstGeom prst="rect">
            <a:avLst/>
          </a:prstGeom>
          <a:ln>
            <a:solidFill>
              <a:schemeClr val="tx1"/>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US" dirty="0">
                <a:latin typeface="Arial Black" panose="020B0A04020102020204" pitchFamily="34" charset="0"/>
              </a:rPr>
              <a:t>Sentence Structure Errors</a:t>
            </a:r>
            <a:endParaRPr lang="en-IN" dirty="0">
              <a:latin typeface="Arial Black" panose="020B0A04020102020204" pitchFamily="34" charset="0"/>
            </a:endParaRPr>
          </a:p>
        </p:txBody>
      </p:sp>
      <p:sp>
        <p:nvSpPr>
          <p:cNvPr id="3" name="Content Placeholder 2"/>
          <p:cNvSpPr>
            <a:spLocks noGrp="1"/>
          </p:cNvSpPr>
          <p:nvPr>
            <p:ph idx="1"/>
          </p:nvPr>
        </p:nvSpPr>
        <p:spPr>
          <a:ln>
            <a:solidFill>
              <a:schemeClr val="tx1"/>
            </a:solidFill>
          </a:ln>
        </p:spPr>
        <p:txBody>
          <a:bodyPr/>
          <a:lstStyle/>
          <a:p>
            <a:pPr>
              <a:buFont typeface="Wingdings" panose="05000000000000000000" pitchFamily="2" charset="2"/>
              <a:buChar char="Ø"/>
            </a:pPr>
            <a:r>
              <a:rPr lang="en-US" b="1" dirty="0">
                <a:latin typeface="Arial" pitchFamily="34" charset="0"/>
                <a:cs typeface="Arial" pitchFamily="34" charset="0"/>
              </a:rPr>
              <a:t>Sentence structure determines how the different parts of a sentence are put together, from its punctuation to the ordering of its words.</a:t>
            </a:r>
          </a:p>
          <a:p>
            <a:pPr marL="0" indent="0">
              <a:buNone/>
            </a:pPr>
            <a:r>
              <a:rPr lang="en-US" dirty="0">
                <a:latin typeface="Arial" pitchFamily="34" charset="0"/>
                <a:cs typeface="Arial" pitchFamily="34" charset="0"/>
              </a:rPr>
              <a:t>There are two especially common sentence construction mistakes:</a:t>
            </a:r>
          </a:p>
          <a:p>
            <a:r>
              <a:rPr lang="en-US" b="1" dirty="0">
                <a:latin typeface="Arial" pitchFamily="34" charset="0"/>
                <a:cs typeface="Arial" pitchFamily="34" charset="0"/>
              </a:rPr>
              <a:t>Sentence fragments</a:t>
            </a:r>
            <a:r>
              <a:rPr lang="en-US" dirty="0">
                <a:latin typeface="Arial" pitchFamily="34" charset="0"/>
                <a:cs typeface="Arial" pitchFamily="34" charset="0"/>
              </a:rPr>
              <a:t>: missing necessary components to form a full grammatically correct sentence.</a:t>
            </a:r>
          </a:p>
          <a:p>
            <a:r>
              <a:rPr lang="en-US" b="1" dirty="0">
                <a:latin typeface="Arial" pitchFamily="34" charset="0"/>
                <a:cs typeface="Arial" pitchFamily="34" charset="0"/>
              </a:rPr>
              <a:t>Run-on sentences</a:t>
            </a:r>
            <a:r>
              <a:rPr lang="en-US" dirty="0">
                <a:latin typeface="Arial" pitchFamily="34" charset="0"/>
                <a:cs typeface="Arial" pitchFamily="34" charset="0"/>
              </a:rPr>
              <a:t>: incorrect punctuation used to join different parts of a sentence.</a:t>
            </a:r>
          </a:p>
          <a:p>
            <a:endParaRPr lang="en-US" dirty="0">
              <a:latin typeface="Arial" pitchFamily="34" charset="0"/>
              <a:cs typeface="Arial" pitchFamily="34" charset="0"/>
            </a:endParaRPr>
          </a:p>
          <a:p>
            <a:pPr marL="0" indent="0">
              <a:buNone/>
            </a:pPr>
            <a:endParaRPr lang="en-IN"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Tree>
    <p:extLst>
      <p:ext uri="{BB962C8B-B14F-4D97-AF65-F5344CB8AC3E}">
        <p14:creationId xmlns:p14="http://schemas.microsoft.com/office/powerpoint/2010/main" val="221219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IN" dirty="0">
                <a:latin typeface="Arial Black" panose="020B0A04020102020204" pitchFamily="34" charset="0"/>
              </a:rPr>
              <a:t>Fragments</a:t>
            </a:r>
          </a:p>
        </p:txBody>
      </p:sp>
      <p:sp>
        <p:nvSpPr>
          <p:cNvPr id="3" name="Content Placeholder 2"/>
          <p:cNvSpPr>
            <a:spLocks noGrp="1"/>
          </p:cNvSpPr>
          <p:nvPr>
            <p:ph idx="1"/>
          </p:nvPr>
        </p:nvSpPr>
        <p:spPr>
          <a:xfrm>
            <a:off x="838201" y="1825625"/>
            <a:ext cx="5228770" cy="4351338"/>
          </a:xfrm>
          <a:ln>
            <a:solidFill>
              <a:schemeClr val="tx1"/>
            </a:solidFill>
          </a:ln>
        </p:spPr>
        <p:txBody>
          <a:bodyPr>
            <a:normAutofit lnSpcReduction="10000"/>
          </a:bodyPr>
          <a:lstStyle/>
          <a:p>
            <a:pPr>
              <a:buFont typeface="Wingdings" panose="05000000000000000000" pitchFamily="2" charset="2"/>
              <a:buChar char="Ø"/>
            </a:pPr>
            <a:r>
              <a:rPr lang="en-US" b="1" dirty="0">
                <a:latin typeface="Arial" panose="020B0604020202020204" pitchFamily="34" charset="0"/>
                <a:cs typeface="Arial" panose="020B0604020202020204" pitchFamily="34" charset="0"/>
              </a:rPr>
              <a:t>A complete sentence must have three components:</a:t>
            </a:r>
          </a:p>
          <a:p>
            <a:r>
              <a:rPr lang="en-US" dirty="0">
                <a:latin typeface="Arial" panose="020B0604020202020204" pitchFamily="34" charset="0"/>
                <a:cs typeface="Arial" panose="020B0604020202020204" pitchFamily="34" charset="0"/>
              </a:rPr>
              <a:t>A subject (the actor in the sentence)</a:t>
            </a:r>
          </a:p>
          <a:p>
            <a:r>
              <a:rPr lang="en-US" dirty="0">
                <a:latin typeface="Arial" panose="020B0604020202020204" pitchFamily="34" charset="0"/>
                <a:cs typeface="Arial" panose="020B0604020202020204" pitchFamily="34" charset="0"/>
              </a:rPr>
              <a:t>A predicate (the verb or action)</a:t>
            </a:r>
          </a:p>
          <a:p>
            <a:r>
              <a:rPr lang="en-US" dirty="0">
                <a:latin typeface="Arial" panose="020B0604020202020204" pitchFamily="34" charset="0"/>
                <a:cs typeface="Arial" panose="020B0604020202020204" pitchFamily="34" charset="0"/>
              </a:rPr>
              <a:t>A complete thought (it can stand alone and make sense). </a:t>
            </a:r>
          </a:p>
          <a:p>
            <a:r>
              <a:rPr lang="en-US" dirty="0">
                <a:latin typeface="Arial" panose="020B0604020202020204" pitchFamily="34" charset="0"/>
                <a:cs typeface="Arial" panose="020B0604020202020204" pitchFamily="34" charset="0"/>
              </a:rPr>
              <a:t>A fragment is an incomplete sentence. </a:t>
            </a:r>
          </a:p>
        </p:txBody>
      </p:sp>
      <p:sp>
        <p:nvSpPr>
          <p:cNvPr id="4" name="Slide Number Placeholder 3"/>
          <p:cNvSpPr>
            <a:spLocks noGrp="1"/>
          </p:cNvSpPr>
          <p:nvPr>
            <p:ph type="sldNum" sz="quarter" idx="12"/>
          </p:nvPr>
        </p:nvSpPr>
        <p:spPr/>
        <p:txBody>
          <a:bodyPr/>
          <a:lstStyle/>
          <a:p>
            <a:r>
              <a:rPr lang="en-US" dirty="0"/>
              <a:t>pinterest.com          </a:t>
            </a:r>
            <a:fld id="{BDCDBBEF-AA6C-4BA6-85B2-A17D7F280E38}" type="slidenum">
              <a:rPr lang="en-US" smtClean="0"/>
              <a:pPr/>
              <a:t>7</a:t>
            </a:fld>
            <a:endParaRPr lang="en-US" dirty="0"/>
          </a:p>
        </p:txBody>
      </p:sp>
      <p:pic>
        <p:nvPicPr>
          <p:cNvPr id="5" name="Picture 4"/>
          <p:cNvPicPr>
            <a:picLocks noChangeAspect="1"/>
          </p:cNvPicPr>
          <p:nvPr/>
        </p:nvPicPr>
        <p:blipFill rotWithShape="1">
          <a:blip r:embed="rId2"/>
          <a:srcRect l="10216" t="10344" r="10747" b="3873"/>
          <a:stretch/>
        </p:blipFill>
        <p:spPr>
          <a:xfrm>
            <a:off x="6230257" y="1825625"/>
            <a:ext cx="5123543" cy="4351338"/>
          </a:xfrm>
          <a:prstGeom prst="rect">
            <a:avLst/>
          </a:prstGeom>
          <a:ln w="19050">
            <a:solidFill>
              <a:schemeClr val="tx1"/>
            </a:solidFill>
          </a:ln>
        </p:spPr>
      </p:pic>
    </p:spTree>
    <p:extLst>
      <p:ext uri="{BB962C8B-B14F-4D97-AF65-F5344CB8AC3E}">
        <p14:creationId xmlns:p14="http://schemas.microsoft.com/office/powerpoint/2010/main" val="3020311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IN" dirty="0">
                <a:latin typeface="Arial Black" panose="020B0A04020102020204" pitchFamily="34" charset="0"/>
              </a:rPr>
              <a:t>Fragments</a:t>
            </a:r>
          </a:p>
        </p:txBody>
      </p:sp>
      <p:sp>
        <p:nvSpPr>
          <p:cNvPr id="3" name="Content Placeholder 2"/>
          <p:cNvSpPr>
            <a:spLocks noGrp="1"/>
          </p:cNvSpPr>
          <p:nvPr>
            <p:ph idx="1"/>
          </p:nvPr>
        </p:nvSpPr>
        <p:spPr>
          <a:ln>
            <a:solidFill>
              <a:schemeClr val="tx1"/>
            </a:solidFill>
          </a:ln>
        </p:spPr>
        <p:txBody>
          <a:bodyPr/>
          <a:lstStyle/>
          <a:p>
            <a:pPr>
              <a:buFont typeface="Wingdings" panose="05000000000000000000" pitchFamily="2" charset="2"/>
              <a:buChar char="Ø"/>
            </a:pPr>
            <a:r>
              <a:rPr lang="en-US" b="1" dirty="0">
                <a:latin typeface="Arial" panose="020B0604020202020204" pitchFamily="34" charset="0"/>
                <a:cs typeface="Arial" panose="020B0604020202020204" pitchFamily="34" charset="0"/>
              </a:rPr>
              <a:t>It cannot stand alone and does not express a complete thought.</a:t>
            </a:r>
          </a:p>
          <a:p>
            <a:r>
              <a:rPr lang="en-US" dirty="0">
                <a:latin typeface="Arial" panose="020B0604020202020204" pitchFamily="34" charset="0"/>
                <a:cs typeface="Arial" panose="020B0604020202020204" pitchFamily="34" charset="0"/>
              </a:rPr>
              <a:t>Some fragments lack either a subject or verb or both. </a:t>
            </a:r>
          </a:p>
          <a:p>
            <a:r>
              <a:rPr lang="en-US" dirty="0">
                <a:latin typeface="Arial" panose="020B0604020202020204" pitchFamily="34" charset="0"/>
                <a:cs typeface="Arial" panose="020B0604020202020204" pitchFamily="34" charset="0"/>
              </a:rPr>
              <a:t>Dependent clauses are also fragments if they stand alone. </a:t>
            </a:r>
            <a:endParaRPr lang="en-IN"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Example:</a:t>
            </a:r>
          </a:p>
          <a:p>
            <a:r>
              <a:rPr lang="en-US" dirty="0"/>
              <a:t>Went out of business after Starbucks Coffee opened.</a:t>
            </a:r>
          </a:p>
          <a:p>
            <a:r>
              <a:rPr lang="en-US" dirty="0"/>
              <a:t>One of my friends who won a contest by playing a variety of instruments.</a:t>
            </a:r>
          </a:p>
          <a:p>
            <a:r>
              <a:rPr lang="en-US" dirty="0"/>
              <a:t>Since I went fishing. </a:t>
            </a: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Tree>
    <p:extLst>
      <p:ext uri="{BB962C8B-B14F-4D97-AF65-F5344CB8AC3E}">
        <p14:creationId xmlns:p14="http://schemas.microsoft.com/office/powerpoint/2010/main" val="595802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IN" dirty="0">
                <a:latin typeface="Arial Black" panose="020B0A04020102020204" pitchFamily="34" charset="0"/>
              </a:rPr>
              <a:t>Run-on Sentences</a:t>
            </a:r>
          </a:p>
        </p:txBody>
      </p:sp>
      <p:sp>
        <p:nvSpPr>
          <p:cNvPr id="3" name="Content Placeholder 2"/>
          <p:cNvSpPr>
            <a:spLocks noGrp="1"/>
          </p:cNvSpPr>
          <p:nvPr>
            <p:ph idx="1"/>
          </p:nvPr>
        </p:nvSpPr>
        <p:spPr>
          <a:xfrm>
            <a:off x="838200" y="1825624"/>
            <a:ext cx="4923971" cy="4530725"/>
          </a:xfrm>
          <a:ln>
            <a:solidFill>
              <a:schemeClr val="tx1"/>
            </a:solidFill>
          </a:ln>
        </p:spPr>
        <p:txBody>
          <a:bodyPr>
            <a:normAutofit/>
          </a:bodyPr>
          <a:lstStyle/>
          <a:p>
            <a:r>
              <a:rPr lang="en-US" b="1" dirty="0">
                <a:latin typeface="Arial" panose="020B0604020202020204" pitchFamily="34" charset="0"/>
                <a:cs typeface="Arial" panose="020B0604020202020204" pitchFamily="34" charset="0"/>
              </a:rPr>
              <a:t>A run-on sentence is not simply a long sentence. </a:t>
            </a:r>
          </a:p>
          <a:p>
            <a:pPr marL="0" indent="0">
              <a:buNone/>
            </a:pP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It might include:</a:t>
            </a:r>
          </a:p>
          <a:p>
            <a:r>
              <a:rPr lang="en-US" dirty="0">
                <a:latin typeface="Arial" panose="020B0604020202020204" pitchFamily="34" charset="0"/>
                <a:cs typeface="Arial" panose="020B0604020202020204" pitchFamily="34" charset="0"/>
              </a:rPr>
              <a:t>Lack of punctuation and/or conjunctions</a:t>
            </a:r>
          </a:p>
          <a:p>
            <a:r>
              <a:rPr lang="en-US" dirty="0">
                <a:latin typeface="Arial" panose="020B0604020202020204" pitchFamily="34" charset="0"/>
                <a:cs typeface="Arial" panose="020B0604020202020204" pitchFamily="34" charset="0"/>
              </a:rPr>
              <a:t>Incorrect punctuation</a:t>
            </a:r>
          </a:p>
          <a:p>
            <a:r>
              <a:rPr lang="en-US" dirty="0">
                <a:latin typeface="Arial" panose="020B0604020202020204" pitchFamily="34" charset="0"/>
                <a:cs typeface="Arial" panose="020B0604020202020204" pitchFamily="34" charset="0"/>
              </a:rPr>
              <a:t>A comma splice—two independent clauses joined by a comma—is a run-on sentence.</a:t>
            </a:r>
          </a:p>
          <a:p>
            <a:endParaRPr lang="en-IN" dirty="0"/>
          </a:p>
        </p:txBody>
      </p:sp>
      <p:sp>
        <p:nvSpPr>
          <p:cNvPr id="4" name="Slide Number Placeholder 3"/>
          <p:cNvSpPr>
            <a:spLocks noGrp="1"/>
          </p:cNvSpPr>
          <p:nvPr>
            <p:ph type="sldNum" sz="quarter" idx="12"/>
          </p:nvPr>
        </p:nvSpPr>
        <p:spPr/>
        <p:txBody>
          <a:bodyPr/>
          <a:lstStyle/>
          <a:p>
            <a:r>
              <a:rPr lang="en-US" dirty="0"/>
              <a:t>GrammarFlip.com         </a:t>
            </a:r>
            <a:fld id="{BDCDBBEF-AA6C-4BA6-85B2-A17D7F280E38}" type="slidenum">
              <a:rPr lang="en-US" smtClean="0"/>
              <a:pPr/>
              <a:t>9</a:t>
            </a:fld>
            <a:endParaRPr lang="en-US" dirty="0"/>
          </a:p>
        </p:txBody>
      </p:sp>
      <p:pic>
        <p:nvPicPr>
          <p:cNvPr id="5" name="Picture 4"/>
          <p:cNvPicPr>
            <a:picLocks noChangeAspect="1"/>
          </p:cNvPicPr>
          <p:nvPr/>
        </p:nvPicPr>
        <p:blipFill rotWithShape="1">
          <a:blip r:embed="rId2"/>
          <a:srcRect l="5201" r="5590" b="1640"/>
          <a:stretch/>
        </p:blipFill>
        <p:spPr>
          <a:xfrm>
            <a:off x="5939971" y="1825623"/>
            <a:ext cx="5413829" cy="4530725"/>
          </a:xfrm>
          <a:prstGeom prst="rect">
            <a:avLst/>
          </a:prstGeom>
          <a:solidFill>
            <a:schemeClr val="tx1"/>
          </a:solidFill>
          <a:ln w="19050">
            <a:solidFill>
              <a:schemeClr val="tx1"/>
            </a:solidFill>
          </a:ln>
        </p:spPr>
      </p:pic>
    </p:spTree>
    <p:extLst>
      <p:ext uri="{BB962C8B-B14F-4D97-AF65-F5344CB8AC3E}">
        <p14:creationId xmlns:p14="http://schemas.microsoft.com/office/powerpoint/2010/main" val="1002451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IN" dirty="0">
                <a:latin typeface="Arial Black" panose="020B0A04020102020204" pitchFamily="34" charset="0"/>
              </a:rPr>
              <a:t>Dangling Participles</a:t>
            </a:r>
          </a:p>
        </p:txBody>
      </p:sp>
      <p:sp>
        <p:nvSpPr>
          <p:cNvPr id="3" name="Content Placeholder 2"/>
          <p:cNvSpPr>
            <a:spLocks noGrp="1"/>
          </p:cNvSpPr>
          <p:nvPr>
            <p:ph idx="1"/>
          </p:nvPr>
        </p:nvSpPr>
        <p:spPr>
          <a:xfrm>
            <a:off x="838200" y="1825624"/>
            <a:ext cx="7025640" cy="4640975"/>
          </a:xfrm>
          <a:ln>
            <a:solidFill>
              <a:schemeClr val="tx1"/>
            </a:solidFill>
          </a:ln>
        </p:spPr>
        <p:txBody>
          <a:bodyPr>
            <a:noAutofit/>
          </a:bodyPr>
          <a:lstStyle/>
          <a:p>
            <a:pPr>
              <a:spcBef>
                <a:spcPts val="0"/>
              </a:spcBef>
              <a:buFont typeface="Wingdings" panose="05000000000000000000" pitchFamily="2" charset="2"/>
              <a:buChar char="Ø"/>
            </a:pPr>
            <a:r>
              <a:rPr lang="en-US" dirty="0">
                <a:latin typeface="Arial" panose="020B0604020202020204" pitchFamily="34" charset="0"/>
                <a:cs typeface="Arial" panose="020B0604020202020204" pitchFamily="34" charset="0"/>
              </a:rPr>
              <a:t>A dangling participle is a word or phrase that modifies a word not clearly stated or an unintended noun in the sentence. </a:t>
            </a:r>
          </a:p>
          <a:p>
            <a:pPr marL="0" indent="0">
              <a:spcBef>
                <a:spcPts val="0"/>
              </a:spcBef>
              <a:buNone/>
            </a:pPr>
            <a:r>
              <a:rPr lang="en-US" dirty="0">
                <a:latin typeface="Arial" panose="020B0604020202020204" pitchFamily="34" charset="0"/>
                <a:cs typeface="Arial" panose="020B0604020202020204" pitchFamily="34" charset="0"/>
              </a:rPr>
              <a:t>Example:</a:t>
            </a:r>
          </a:p>
          <a:p>
            <a:pPr>
              <a:spcBef>
                <a:spcPts val="0"/>
              </a:spcBef>
            </a:pPr>
            <a:r>
              <a:rPr lang="en-US" dirty="0">
                <a:latin typeface="Arial" panose="020B0604020202020204" pitchFamily="34" charset="0"/>
                <a:cs typeface="Arial" panose="020B0604020202020204" pitchFamily="34" charset="0"/>
              </a:rPr>
              <a:t>He chased the monkey with his hat.  </a:t>
            </a:r>
          </a:p>
          <a:p>
            <a:pPr marL="457200" lvl="1" indent="0">
              <a:spcBef>
                <a:spcPts val="0"/>
              </a:spcBef>
              <a:buNone/>
            </a:pP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(He chased the monkey wearing his hat or the monkey had his hat?)</a:t>
            </a:r>
          </a:p>
          <a:p>
            <a:pPr>
              <a:spcBef>
                <a:spcPts val="0"/>
              </a:spcBef>
            </a:pPr>
            <a:r>
              <a:rPr lang="en-US" dirty="0">
                <a:latin typeface="Arial" panose="020B0604020202020204" pitchFamily="34" charset="0"/>
                <a:cs typeface="Arial" panose="020B0604020202020204" pitchFamily="34" charset="0"/>
              </a:rPr>
              <a:t>Correct: Wearing his hat, he chased the monkey.</a:t>
            </a:r>
          </a:p>
          <a:p>
            <a:pPr marL="457200" lvl="1" indent="0">
              <a:spcBef>
                <a:spcPts val="0"/>
              </a:spcBef>
              <a:buNone/>
            </a:pP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(The participle has to be next to the       noun that it modifies. The participle phrase ’wearing his hat’ modifies ’he’.)</a:t>
            </a:r>
            <a:endParaRPr lang="en-IN" dirty="0"/>
          </a:p>
        </p:txBody>
      </p:sp>
      <p:sp>
        <p:nvSpPr>
          <p:cNvPr id="4" name="Slide Number Placeholder 3"/>
          <p:cNvSpPr>
            <a:spLocks noGrp="1"/>
          </p:cNvSpPr>
          <p:nvPr>
            <p:ph type="sldNum" sz="quarter" idx="12"/>
          </p:nvPr>
        </p:nvSpPr>
        <p:spPr>
          <a:xfrm>
            <a:off x="8610600" y="6492725"/>
            <a:ext cx="2743200" cy="365125"/>
          </a:xfrm>
        </p:spPr>
        <p:txBody>
          <a:bodyPr/>
          <a:lstStyle/>
          <a:p>
            <a:r>
              <a:rPr lang="en-US" dirty="0"/>
              <a:t>english-grammar-revolution.com          </a:t>
            </a:r>
            <a:fld id="{BDCDBBEF-AA6C-4BA6-85B2-A17D7F280E38}" type="slidenum">
              <a:rPr lang="en-US" smtClean="0"/>
              <a:pPr/>
              <a:t>10</a:t>
            </a:fld>
            <a:endParaRPr lang="en-US" dirty="0"/>
          </a:p>
        </p:txBody>
      </p:sp>
      <p:pic>
        <p:nvPicPr>
          <p:cNvPr id="5" name="Picture 4"/>
          <p:cNvPicPr>
            <a:picLocks noChangeAspect="1"/>
          </p:cNvPicPr>
          <p:nvPr/>
        </p:nvPicPr>
        <p:blipFill>
          <a:blip r:embed="rId2"/>
          <a:stretch>
            <a:fillRect/>
          </a:stretch>
        </p:blipFill>
        <p:spPr>
          <a:xfrm>
            <a:off x="7876903" y="1825624"/>
            <a:ext cx="3476897" cy="4640975"/>
          </a:xfrm>
          <a:prstGeom prst="rect">
            <a:avLst/>
          </a:prstGeom>
          <a:ln w="19050">
            <a:solidFill>
              <a:schemeClr val="tx1"/>
            </a:solidFill>
          </a:ln>
        </p:spPr>
      </p:pic>
    </p:spTree>
    <p:extLst>
      <p:ext uri="{BB962C8B-B14F-4D97-AF65-F5344CB8AC3E}">
        <p14:creationId xmlns:p14="http://schemas.microsoft.com/office/powerpoint/2010/main" val="412005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US" dirty="0">
                <a:latin typeface="Arial Black" panose="020B0A04020102020204" pitchFamily="34" charset="0"/>
              </a:rPr>
              <a:t>Poll Question 1</a:t>
            </a:r>
            <a:endParaRPr lang="en-IN" dirty="0">
              <a:latin typeface="Arial Black" panose="020B0A04020102020204" pitchFamily="34" charset="0"/>
            </a:endParaRPr>
          </a:p>
        </p:txBody>
      </p:sp>
      <p:sp>
        <p:nvSpPr>
          <p:cNvPr id="3" name="Content Placeholder 2"/>
          <p:cNvSpPr>
            <a:spLocks noGrp="1"/>
          </p:cNvSpPr>
          <p:nvPr>
            <p:ph idx="1"/>
          </p:nvPr>
        </p:nvSpPr>
        <p:spPr>
          <a:ln>
            <a:solidFill>
              <a:schemeClr val="tx1"/>
            </a:solidFill>
          </a:ln>
        </p:spPr>
        <p:txBody>
          <a:bodyPr>
            <a:normAutofit lnSpcReduction="10000"/>
          </a:bodyPr>
          <a:lstStyle/>
          <a:p>
            <a:pPr marL="0" indent="0">
              <a:buNone/>
            </a:pPr>
            <a:r>
              <a:rPr lang="en-US" b="1" dirty="0">
                <a:latin typeface="Arial" pitchFamily="34" charset="0"/>
                <a:cs typeface="Arial" pitchFamily="34" charset="0"/>
              </a:rPr>
              <a:t>Q. Coming around the corner, the skyscrapers came clearly into view across the river.</a:t>
            </a:r>
          </a:p>
          <a:p>
            <a:pPr marL="514350" indent="-514350">
              <a:buAutoNum type="arabicPeriod"/>
            </a:pPr>
            <a:r>
              <a:rPr lang="en-US" dirty="0">
                <a:latin typeface="Arial" pitchFamily="34" charset="0"/>
                <a:cs typeface="Arial" pitchFamily="34" charset="0"/>
              </a:rPr>
              <a:t>Coming around the corner, the skyscrapers are viewed clearly across the river.</a:t>
            </a:r>
          </a:p>
          <a:p>
            <a:pPr marL="514350" indent="-514350">
              <a:buAutoNum type="arabicPeriod"/>
            </a:pPr>
            <a:r>
              <a:rPr lang="en-US" dirty="0">
                <a:latin typeface="Arial" pitchFamily="34" charset="0"/>
                <a:cs typeface="Arial" pitchFamily="34" charset="0"/>
              </a:rPr>
              <a:t>Coming around the corner, the skyscrapers came clearly into view across the river.</a:t>
            </a:r>
          </a:p>
          <a:p>
            <a:pPr marL="514350" indent="-514350">
              <a:buAutoNum type="arabicPeriod"/>
            </a:pPr>
            <a:r>
              <a:rPr lang="en-US" dirty="0">
                <a:latin typeface="Arial" pitchFamily="34" charset="0"/>
                <a:cs typeface="Arial" pitchFamily="34" charset="0"/>
              </a:rPr>
              <a:t>Coming around the corner, the people got a view of the skyscrapers across the river.</a:t>
            </a:r>
          </a:p>
          <a:p>
            <a:pPr marL="514350" indent="-514350">
              <a:buAutoNum type="arabicPeriod"/>
            </a:pPr>
            <a:r>
              <a:rPr lang="en-US" dirty="0">
                <a:latin typeface="Arial" pitchFamily="34" charset="0"/>
                <a:cs typeface="Arial" pitchFamily="34" charset="0"/>
              </a:rPr>
              <a:t>Comes around the corner, the skyscrapers came clearly into view across the river.</a:t>
            </a:r>
            <a:endParaRPr lang="en-IN"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Tree>
    <p:extLst>
      <p:ext uri="{BB962C8B-B14F-4D97-AF65-F5344CB8AC3E}">
        <p14:creationId xmlns:p14="http://schemas.microsoft.com/office/powerpoint/2010/main" val="20701434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IN" dirty="0">
                <a:latin typeface="Arial Black" panose="020B0A04020102020204" pitchFamily="34" charset="0"/>
              </a:rPr>
              <a:t>Subject/Verb Agreement</a:t>
            </a:r>
          </a:p>
        </p:txBody>
      </p:sp>
      <p:sp>
        <p:nvSpPr>
          <p:cNvPr id="3" name="Content Placeholder 2"/>
          <p:cNvSpPr>
            <a:spLocks noGrp="1"/>
          </p:cNvSpPr>
          <p:nvPr>
            <p:ph idx="1"/>
          </p:nvPr>
        </p:nvSpPr>
        <p:spPr>
          <a:xfrm>
            <a:off x="838200" y="1825624"/>
            <a:ext cx="5867399" cy="4562113"/>
          </a:xfrm>
          <a:ln>
            <a:solidFill>
              <a:schemeClr val="tx1"/>
            </a:solidFill>
          </a:ln>
        </p:spPr>
        <p:txBody>
          <a:bodyPr>
            <a:normAutofit/>
          </a:bodyPr>
          <a:lstStyle/>
          <a:p>
            <a:pPr>
              <a:lnSpc>
                <a:spcPct val="100000"/>
              </a:lnSpc>
              <a:buFont typeface="Wingdings" panose="05000000000000000000" pitchFamily="2" charset="2"/>
              <a:buChar char="Ø"/>
            </a:pPr>
            <a:r>
              <a:rPr lang="en-US" b="1" dirty="0">
                <a:latin typeface="Arial" panose="020B0604020202020204" pitchFamily="34" charset="0"/>
                <a:cs typeface="Arial" panose="020B0604020202020204" pitchFamily="34" charset="0"/>
              </a:rPr>
              <a:t>Singular subjects </a:t>
            </a:r>
            <a:r>
              <a:rPr lang="en-US" dirty="0">
                <a:latin typeface="Arial" panose="020B0604020202020204" pitchFamily="34" charset="0"/>
                <a:cs typeface="Arial" panose="020B0604020202020204" pitchFamily="34" charset="0"/>
              </a:rPr>
              <a:t>must have </a:t>
            </a:r>
            <a:r>
              <a:rPr lang="en-US" b="1" dirty="0">
                <a:latin typeface="Arial" panose="020B0604020202020204" pitchFamily="34" charset="0"/>
                <a:cs typeface="Arial" panose="020B0604020202020204" pitchFamily="34" charset="0"/>
              </a:rPr>
              <a:t>singular verbs</a:t>
            </a:r>
            <a:r>
              <a:rPr lang="en-US" dirty="0">
                <a:latin typeface="Arial" panose="020B0604020202020204" pitchFamily="34" charset="0"/>
                <a:cs typeface="Arial" panose="020B0604020202020204" pitchFamily="34" charset="0"/>
              </a:rPr>
              <a:t>. </a:t>
            </a:r>
          </a:p>
          <a:p>
            <a:pPr>
              <a:lnSpc>
                <a:spcPct val="100000"/>
              </a:lnSpc>
              <a:buFont typeface="Wingdings" panose="05000000000000000000" pitchFamily="2" charset="2"/>
              <a:buChar char="Ø"/>
            </a:pPr>
            <a:r>
              <a:rPr lang="en-US" b="1" dirty="0">
                <a:latin typeface="Arial" panose="020B0604020202020204" pitchFamily="34" charset="0"/>
                <a:cs typeface="Arial" panose="020B0604020202020204" pitchFamily="34" charset="0"/>
              </a:rPr>
              <a:t>Plural subjects </a:t>
            </a:r>
            <a:r>
              <a:rPr lang="en-US" dirty="0">
                <a:latin typeface="Arial" panose="020B0604020202020204" pitchFamily="34" charset="0"/>
                <a:cs typeface="Arial" panose="020B0604020202020204" pitchFamily="34" charset="0"/>
              </a:rPr>
              <a:t>must have </a:t>
            </a:r>
            <a:r>
              <a:rPr lang="en-US" b="1" dirty="0">
                <a:latin typeface="Arial" panose="020B0604020202020204" pitchFamily="34" charset="0"/>
                <a:cs typeface="Arial" panose="020B0604020202020204" pitchFamily="34" charset="0"/>
              </a:rPr>
              <a:t>plural verbs</a:t>
            </a:r>
            <a:r>
              <a:rPr lang="en-US" dirty="0">
                <a:latin typeface="Arial" panose="020B0604020202020204" pitchFamily="34" charset="0"/>
                <a:cs typeface="Arial" panose="020B0604020202020204" pitchFamily="34" charset="0"/>
              </a:rPr>
              <a:t>. </a:t>
            </a:r>
          </a:p>
          <a:p>
            <a:pPr>
              <a:lnSpc>
                <a:spcPct val="100000"/>
              </a:lnSpc>
              <a:buFont typeface="Wingdings" panose="05000000000000000000" pitchFamily="2" charset="2"/>
              <a:buChar char="Ø"/>
            </a:pPr>
            <a:r>
              <a:rPr lang="en-US" b="1" dirty="0">
                <a:latin typeface="Arial" panose="020B0604020202020204" pitchFamily="34" charset="0"/>
                <a:cs typeface="Arial" panose="020B0604020202020204" pitchFamily="34" charset="0"/>
              </a:rPr>
              <a:t>Rule of thumb: </a:t>
            </a:r>
          </a:p>
          <a:p>
            <a:pPr>
              <a:lnSpc>
                <a:spcPct val="100000"/>
              </a:lnSpc>
            </a:pPr>
            <a:r>
              <a:rPr lang="en-US" dirty="0">
                <a:latin typeface="Arial" panose="020B0604020202020204" pitchFamily="34" charset="0"/>
                <a:cs typeface="Arial" panose="020B0604020202020204" pitchFamily="34" charset="0"/>
              </a:rPr>
              <a:t>Subjects ending in “s” are plural</a:t>
            </a:r>
          </a:p>
          <a:p>
            <a:pPr>
              <a:lnSpc>
                <a:spcPct val="100000"/>
              </a:lnSpc>
            </a:pPr>
            <a:r>
              <a:rPr lang="en-US" dirty="0">
                <a:latin typeface="Arial" panose="020B0604020202020204" pitchFamily="34" charset="0"/>
                <a:cs typeface="Arial" panose="020B0604020202020204" pitchFamily="34" charset="0"/>
              </a:rPr>
              <a:t>Verbs ending in “s” are singular</a:t>
            </a:r>
          </a:p>
          <a:p>
            <a:endParaRPr lang="en-IN" sz="2000" dirty="0"/>
          </a:p>
        </p:txBody>
      </p:sp>
      <p:sp>
        <p:nvSpPr>
          <p:cNvPr id="4" name="Slide Number Placeholder 3"/>
          <p:cNvSpPr>
            <a:spLocks noGrp="1"/>
          </p:cNvSpPr>
          <p:nvPr>
            <p:ph type="sldNum" sz="quarter" idx="12"/>
          </p:nvPr>
        </p:nvSpPr>
        <p:spPr>
          <a:xfrm>
            <a:off x="8610600" y="6453218"/>
            <a:ext cx="2743200" cy="365125"/>
          </a:xfrm>
        </p:spPr>
        <p:txBody>
          <a:bodyPr/>
          <a:lstStyle/>
          <a:p>
            <a:r>
              <a:rPr lang="en-US" dirty="0"/>
              <a:t>     </a:t>
            </a:r>
            <a:fld id="{BDCDBBEF-AA6C-4BA6-85B2-A17D7F280E38}" type="slidenum">
              <a:rPr lang="en-US" smtClean="0"/>
              <a:pPr/>
              <a:t>12</a:t>
            </a:fld>
            <a:endParaRPr lang="en-US" dirty="0"/>
          </a:p>
        </p:txBody>
      </p:sp>
      <p:sp>
        <p:nvSpPr>
          <p:cNvPr id="5" name="Rectangle 4"/>
          <p:cNvSpPr/>
          <p:nvPr/>
        </p:nvSpPr>
        <p:spPr>
          <a:xfrm>
            <a:off x="6905897" y="1825624"/>
            <a:ext cx="4447903" cy="4536819"/>
          </a:xfrm>
          <a:prstGeom prst="rect">
            <a:avLst/>
          </a:prstGeom>
          <a:ln>
            <a:solidFill>
              <a:schemeClr val="tx1"/>
            </a:solidFill>
          </a:ln>
        </p:spPr>
        <p:txBody>
          <a:bodyPr wrap="square">
            <a:spAutoFit/>
          </a:bodyPr>
          <a:lstStyle/>
          <a:p>
            <a:pPr>
              <a:lnSpc>
                <a:spcPct val="150000"/>
              </a:lnSpc>
            </a:pPr>
            <a:r>
              <a:rPr lang="en-US" sz="2800" b="1" dirty="0">
                <a:latin typeface="Arial" pitchFamily="34" charset="0"/>
                <a:cs typeface="Arial" pitchFamily="34" charset="0"/>
              </a:rPr>
              <a:t>For Example:</a:t>
            </a:r>
          </a:p>
          <a:p>
            <a:pPr marL="457200" indent="-457200">
              <a:lnSpc>
                <a:spcPct val="150000"/>
              </a:lnSpc>
              <a:buFont typeface="Arial" panose="020B0604020202020204" pitchFamily="34" charset="0"/>
              <a:buChar char="•"/>
            </a:pPr>
            <a:r>
              <a:rPr lang="en-US" sz="2800" dirty="0">
                <a:latin typeface="Arial" pitchFamily="34" charset="0"/>
                <a:cs typeface="Arial" pitchFamily="34" charset="0"/>
              </a:rPr>
              <a:t>The box of ornaments belong in the attic. </a:t>
            </a:r>
          </a:p>
          <a:p>
            <a:pPr marL="457200" indent="-457200">
              <a:lnSpc>
                <a:spcPct val="150000"/>
              </a:lnSpc>
              <a:buFont typeface="Arial" panose="020B0604020202020204" pitchFamily="34" charset="0"/>
              <a:buChar char="•"/>
            </a:pPr>
            <a:r>
              <a:rPr lang="en-US" sz="2800" dirty="0">
                <a:latin typeface="Arial" pitchFamily="34" charset="0"/>
                <a:cs typeface="Arial" pitchFamily="34" charset="0"/>
              </a:rPr>
              <a:t>High levels of mercury occurs in some fish.</a:t>
            </a:r>
          </a:p>
          <a:p>
            <a:pPr marL="457200" indent="-457200">
              <a:lnSpc>
                <a:spcPct val="150000"/>
              </a:lnSpc>
              <a:buFont typeface="Arial" panose="020B0604020202020204" pitchFamily="34" charset="0"/>
              <a:buChar char="•"/>
            </a:pPr>
            <a:r>
              <a:rPr lang="en-US" sz="2800" dirty="0">
                <a:latin typeface="Arial" pitchFamily="34" charset="0"/>
                <a:cs typeface="Arial" pitchFamily="34" charset="0"/>
              </a:rPr>
              <a:t>What we need are more pots and pans.</a:t>
            </a:r>
          </a:p>
        </p:txBody>
      </p:sp>
    </p:spTree>
    <p:extLst>
      <p:ext uri="{BB962C8B-B14F-4D97-AF65-F5344CB8AC3E}">
        <p14:creationId xmlns:p14="http://schemas.microsoft.com/office/powerpoint/2010/main" val="33089279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IN" dirty="0">
                <a:latin typeface="Arial Black" panose="020B0A04020102020204" pitchFamily="34" charset="0"/>
              </a:rPr>
              <a:t>Pronoun/Antecedent Agreement</a:t>
            </a:r>
          </a:p>
        </p:txBody>
      </p:sp>
      <p:sp>
        <p:nvSpPr>
          <p:cNvPr id="3" name="Content Placeholder 2"/>
          <p:cNvSpPr>
            <a:spLocks noGrp="1"/>
          </p:cNvSpPr>
          <p:nvPr>
            <p:ph idx="1"/>
          </p:nvPr>
        </p:nvSpPr>
        <p:spPr>
          <a:xfrm>
            <a:off x="838200" y="1825625"/>
            <a:ext cx="10515600" cy="4444546"/>
          </a:xfrm>
          <a:ln>
            <a:solidFill>
              <a:schemeClr val="tx1"/>
            </a:solidFill>
          </a:ln>
        </p:spPr>
        <p:txBody>
          <a:bodyPr>
            <a:normAutofit lnSpcReduction="10000"/>
          </a:bodyPr>
          <a:lstStyle/>
          <a:p>
            <a:pPr>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Pronouns are words that take the place of nouns while Antecedents are the words that the pronouns refer to.</a:t>
            </a:r>
            <a:r>
              <a:rPr lang="en-US" b="1"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Pronouns must agree with their antecedents in number, gender, and person. </a:t>
            </a:r>
          </a:p>
          <a:p>
            <a:r>
              <a:rPr lang="en-US" dirty="0">
                <a:latin typeface="Arial" panose="020B0604020202020204" pitchFamily="34" charset="0"/>
                <a:cs typeface="Arial" panose="020B0604020202020204" pitchFamily="34" charset="0"/>
              </a:rPr>
              <a:t>Number = singular or plural</a:t>
            </a:r>
          </a:p>
          <a:p>
            <a:r>
              <a:rPr lang="en-US" dirty="0">
                <a:latin typeface="Arial" panose="020B0604020202020204" pitchFamily="34" charset="0"/>
                <a:cs typeface="Arial" panose="020B0604020202020204" pitchFamily="34" charset="0"/>
              </a:rPr>
              <a:t>Gender = masculine, feminine, or neuter</a:t>
            </a:r>
          </a:p>
          <a:p>
            <a:r>
              <a:rPr lang="en-US" dirty="0">
                <a:latin typeface="Arial" panose="020B0604020202020204" pitchFamily="34" charset="0"/>
                <a:cs typeface="Arial" panose="020B0604020202020204" pitchFamily="34" charset="0"/>
              </a:rPr>
              <a:t>Person = 1st, 2nd, or 3rd person</a:t>
            </a:r>
          </a:p>
          <a:p>
            <a:pPr marL="0" indent="0">
              <a:buNone/>
            </a:pP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Example:</a:t>
            </a:r>
          </a:p>
          <a:p>
            <a:r>
              <a:rPr lang="en-US" dirty="0">
                <a:latin typeface="Arial" panose="020B0604020202020204" pitchFamily="34" charset="0"/>
                <a:cs typeface="Arial" panose="020B0604020202020204" pitchFamily="34" charset="0"/>
              </a:rPr>
              <a:t>Everyone should make their own decisions.</a:t>
            </a:r>
          </a:p>
          <a:p>
            <a:r>
              <a:rPr lang="en-US" dirty="0">
                <a:latin typeface="Arial" panose="020B0604020202020204" pitchFamily="34" charset="0"/>
                <a:cs typeface="Arial" panose="020B0604020202020204" pitchFamily="34" charset="0"/>
              </a:rPr>
              <a:t>Each speaker maintained their poise. </a:t>
            </a: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Tree>
    <p:extLst>
      <p:ext uri="{BB962C8B-B14F-4D97-AF65-F5344CB8AC3E}">
        <p14:creationId xmlns:p14="http://schemas.microsoft.com/office/powerpoint/2010/main" val="38787692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5936"/>
            <a:ext cx="10515600" cy="1134563"/>
          </a:xfrm>
          <a:ln>
            <a:solidFill>
              <a:schemeClr val="tx1"/>
            </a:solidFill>
          </a:ln>
        </p:spPr>
        <p:txBody>
          <a:bodyPr/>
          <a:lstStyle/>
          <a:p>
            <a:pPr algn="ctr"/>
            <a:r>
              <a:rPr lang="en-IN" dirty="0">
                <a:latin typeface="Arial Black" panose="020B0A04020102020204" pitchFamily="34" charset="0"/>
              </a:rPr>
              <a:t>Verb Tense</a:t>
            </a:r>
          </a:p>
        </p:txBody>
      </p:sp>
      <p:sp>
        <p:nvSpPr>
          <p:cNvPr id="3" name="Content Placeholder 2"/>
          <p:cNvSpPr>
            <a:spLocks noGrp="1"/>
          </p:cNvSpPr>
          <p:nvPr>
            <p:ph idx="1"/>
          </p:nvPr>
        </p:nvSpPr>
        <p:spPr>
          <a:xfrm>
            <a:off x="838201" y="1640114"/>
            <a:ext cx="5196840" cy="4630057"/>
          </a:xfrm>
          <a:ln>
            <a:solidFill>
              <a:schemeClr val="tx1"/>
            </a:solidFill>
          </a:ln>
        </p:spPr>
        <p:txBody>
          <a:bodyPr>
            <a:normAutofit/>
          </a:bodyPr>
          <a:lstStyle/>
          <a:p>
            <a:pPr algn="just">
              <a:lnSpc>
                <a:spcPct val="100000"/>
              </a:lnSpc>
              <a:buFont typeface="Wingdings" panose="05000000000000000000" pitchFamily="2" charset="2"/>
              <a:buChar char="Ø"/>
            </a:pPr>
            <a:r>
              <a:rPr lang="en-US" dirty="0">
                <a:latin typeface="Arial" panose="020B0604020202020204" pitchFamily="34" charset="0"/>
                <a:cs typeface="Arial" panose="020B0604020202020204" pitchFamily="34" charset="0"/>
              </a:rPr>
              <a:t>There are three verb tenses in English Language: </a:t>
            </a:r>
            <a:r>
              <a:rPr lang="en-US" b="1" dirty="0">
                <a:latin typeface="Arial" panose="020B0604020202020204" pitchFamily="34" charset="0"/>
                <a:cs typeface="Arial" panose="020B0604020202020204" pitchFamily="34" charset="0"/>
              </a:rPr>
              <a:t>Past, Present and Future</a:t>
            </a:r>
            <a:r>
              <a:rPr lang="en-US" dirty="0">
                <a:latin typeface="Arial" panose="020B0604020202020204" pitchFamily="34" charset="0"/>
                <a:cs typeface="Arial" panose="020B0604020202020204" pitchFamily="34" charset="0"/>
              </a:rPr>
              <a:t>.</a:t>
            </a:r>
          </a:p>
          <a:p>
            <a:pPr algn="just">
              <a:lnSpc>
                <a:spcPct val="100000"/>
              </a:lnSpc>
              <a:buFont typeface="Wingdings" panose="05000000000000000000" pitchFamily="2" charset="2"/>
              <a:buChar char="Ø"/>
            </a:pPr>
            <a:r>
              <a:rPr lang="en-US" dirty="0">
                <a:latin typeface="Arial" panose="020B0604020202020204" pitchFamily="34" charset="0"/>
                <a:cs typeface="Arial" panose="020B0604020202020204" pitchFamily="34" charset="0"/>
              </a:rPr>
              <a:t>The present, past and future tenses are divided into four types: Simple, continuous, perfect and perfect continuous.</a:t>
            </a:r>
            <a:endParaRPr lang="en-IN" sz="700" dirty="0"/>
          </a:p>
        </p:txBody>
      </p:sp>
      <p:sp>
        <p:nvSpPr>
          <p:cNvPr id="4" name="Slide Number Placeholder 3"/>
          <p:cNvSpPr>
            <a:spLocks noGrp="1"/>
          </p:cNvSpPr>
          <p:nvPr>
            <p:ph type="sldNum" sz="quarter" idx="12"/>
          </p:nvPr>
        </p:nvSpPr>
        <p:spPr>
          <a:xfrm>
            <a:off x="8672286" y="6492875"/>
            <a:ext cx="2681514" cy="365125"/>
          </a:xfrm>
        </p:spPr>
        <p:txBody>
          <a:bodyPr/>
          <a:lstStyle/>
          <a:p>
            <a:r>
              <a:rPr lang="en-US" dirty="0"/>
              <a:t>pinterest.com     </a:t>
            </a:r>
            <a:fld id="{BDCDBBEF-AA6C-4BA6-85B2-A17D7F280E38}" type="slidenum">
              <a:rPr lang="en-US" smtClean="0"/>
              <a:pPr/>
              <a:t>14</a:t>
            </a:fld>
            <a:endParaRPr lang="en-US" dirty="0"/>
          </a:p>
        </p:txBody>
      </p:sp>
      <p:pic>
        <p:nvPicPr>
          <p:cNvPr id="5" name="Picture 4"/>
          <p:cNvPicPr>
            <a:picLocks noChangeAspect="1"/>
          </p:cNvPicPr>
          <p:nvPr/>
        </p:nvPicPr>
        <p:blipFill rotWithShape="1">
          <a:blip r:embed="rId2" cstate="print"/>
          <a:srcRect t="6866" b="12104"/>
          <a:stretch/>
        </p:blipFill>
        <p:spPr>
          <a:xfrm>
            <a:off x="6183086" y="1627052"/>
            <a:ext cx="5170714" cy="4656182"/>
          </a:xfrm>
          <a:prstGeom prst="rect">
            <a:avLst/>
          </a:prstGeom>
          <a:ln w="19050">
            <a:solidFill>
              <a:schemeClr val="tx1"/>
            </a:solidFill>
          </a:ln>
        </p:spPr>
      </p:pic>
    </p:spTree>
    <p:extLst>
      <p:ext uri="{BB962C8B-B14F-4D97-AF65-F5344CB8AC3E}">
        <p14:creationId xmlns:p14="http://schemas.microsoft.com/office/powerpoint/2010/main" val="1124491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pic>
        <p:nvPicPr>
          <p:cNvPr id="2" name="Picture 1"/>
          <p:cNvPicPr>
            <a:picLocks noChangeAspect="1"/>
          </p:cNvPicPr>
          <p:nvPr/>
        </p:nvPicPr>
        <p:blipFill>
          <a:blip r:embed="rId2"/>
          <a:stretch>
            <a:fillRect/>
          </a:stretch>
        </p:blipFill>
        <p:spPr>
          <a:xfrm>
            <a:off x="937221" y="497024"/>
            <a:ext cx="10416579" cy="5859326"/>
          </a:xfrm>
          <a:prstGeom prst="rect">
            <a:avLst/>
          </a:prstGeom>
          <a:ln w="22225">
            <a:solidFill>
              <a:schemeClr val="tx1"/>
            </a:solidFill>
          </a:ln>
        </p:spPr>
      </p:pic>
    </p:spTree>
    <p:extLst>
      <p:ext uri="{BB962C8B-B14F-4D97-AF65-F5344CB8AC3E}">
        <p14:creationId xmlns:p14="http://schemas.microsoft.com/office/powerpoint/2010/main" val="10292531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9001"/>
            <a:ext cx="10515600" cy="1032600"/>
          </a:xfrm>
          <a:ln>
            <a:solidFill>
              <a:schemeClr val="tx1"/>
            </a:solidFill>
          </a:ln>
        </p:spPr>
        <p:txBody>
          <a:bodyPr/>
          <a:lstStyle/>
          <a:p>
            <a:pPr algn="ctr"/>
            <a:r>
              <a:rPr lang="en-IN" dirty="0">
                <a:latin typeface="Arial Black" panose="020B0A04020102020204" pitchFamily="34" charset="0"/>
              </a:rPr>
              <a:t>Commonly Confused Words</a:t>
            </a:r>
            <a:endParaRPr lang="en-IN" dirty="0"/>
          </a:p>
        </p:txBody>
      </p:sp>
      <p:pic>
        <p:nvPicPr>
          <p:cNvPr id="5" name="Content Placeholder 4"/>
          <p:cNvPicPr>
            <a:picLocks noGrp="1" noChangeAspect="1"/>
          </p:cNvPicPr>
          <p:nvPr>
            <p:ph idx="1"/>
          </p:nvPr>
        </p:nvPicPr>
        <p:blipFill rotWithShape="1">
          <a:blip r:embed="rId2"/>
          <a:srcRect t="9949" b="7623"/>
          <a:stretch/>
        </p:blipFill>
        <p:spPr>
          <a:xfrm>
            <a:off x="1785257" y="1502229"/>
            <a:ext cx="8621486" cy="5036683"/>
          </a:xfrm>
          <a:prstGeom prst="rect">
            <a:avLst/>
          </a:prstGeom>
          <a:ln w="19050">
            <a:solidFill>
              <a:schemeClr val="tx1"/>
            </a:solidFill>
          </a:ln>
        </p:spPr>
      </p:pic>
      <p:sp>
        <p:nvSpPr>
          <p:cNvPr id="4" name="Slide Number Placeholder 3"/>
          <p:cNvSpPr>
            <a:spLocks noGrp="1"/>
          </p:cNvSpPr>
          <p:nvPr>
            <p:ph type="sldNum" sz="quarter" idx="12"/>
          </p:nvPr>
        </p:nvSpPr>
        <p:spPr>
          <a:xfrm>
            <a:off x="9035143" y="6356350"/>
            <a:ext cx="2743200" cy="365125"/>
          </a:xfrm>
        </p:spPr>
        <p:txBody>
          <a:bodyPr/>
          <a:lstStyle/>
          <a:p>
            <a:r>
              <a:rPr lang="en-US" dirty="0"/>
              <a:t>pinterest.com   </a:t>
            </a:r>
            <a:fld id="{BDCDBBEF-AA6C-4BA6-85B2-A17D7F280E38}" type="slidenum">
              <a:rPr lang="en-US" smtClean="0"/>
              <a:pPr/>
              <a:t>16</a:t>
            </a:fld>
            <a:endParaRPr lang="en-US" dirty="0"/>
          </a:p>
        </p:txBody>
      </p:sp>
    </p:spTree>
    <p:extLst>
      <p:ext uri="{BB962C8B-B14F-4D97-AF65-F5344CB8AC3E}">
        <p14:creationId xmlns:p14="http://schemas.microsoft.com/office/powerpoint/2010/main" val="852546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IN" dirty="0">
                <a:latin typeface="Arial Black" panose="020B0A04020102020204" pitchFamily="34" charset="0"/>
              </a:rPr>
              <a:t>Commonly Confused Words</a:t>
            </a:r>
          </a:p>
        </p:txBody>
      </p:sp>
      <p:sp>
        <p:nvSpPr>
          <p:cNvPr id="3" name="Content Placeholder 2"/>
          <p:cNvSpPr>
            <a:spLocks noGrp="1"/>
          </p:cNvSpPr>
          <p:nvPr>
            <p:ph idx="1"/>
          </p:nvPr>
        </p:nvSpPr>
        <p:spPr>
          <a:ln>
            <a:solidFill>
              <a:schemeClr val="tx1"/>
            </a:solidFill>
          </a:ln>
        </p:spPr>
        <p:txBody>
          <a:bodyPr>
            <a:normAutofit lnSpcReduction="10000"/>
          </a:bodyPr>
          <a:lstStyle/>
          <a:p>
            <a:pPr>
              <a:buFont typeface="Wingdings" panose="05000000000000000000" pitchFamily="2" charset="2"/>
              <a:buChar char="Ø"/>
            </a:pPr>
            <a:r>
              <a:rPr lang="en-US" altLang="en-US" b="1" dirty="0">
                <a:latin typeface="Arial" panose="020B0604020202020204" pitchFamily="34" charset="0"/>
                <a:cs typeface="Arial" panose="020B0604020202020204" pitchFamily="34" charset="0"/>
              </a:rPr>
              <a:t>They're / Their / There</a:t>
            </a:r>
          </a:p>
          <a:p>
            <a:pPr lvl="1"/>
            <a:r>
              <a:rPr lang="en-US" altLang="en-US" sz="2800" u="sng" dirty="0">
                <a:latin typeface="Arial" panose="020B0604020202020204" pitchFamily="34" charset="0"/>
                <a:cs typeface="Arial" panose="020B0604020202020204" pitchFamily="34" charset="0"/>
              </a:rPr>
              <a:t>They’re</a:t>
            </a:r>
            <a:r>
              <a:rPr lang="en-US" altLang="en-US" sz="2800" dirty="0">
                <a:latin typeface="Arial" panose="020B0604020202020204" pitchFamily="34" charset="0"/>
                <a:cs typeface="Arial" panose="020B0604020202020204" pitchFamily="34" charset="0"/>
              </a:rPr>
              <a:t> going to store together. (contraction of “they are”)</a:t>
            </a:r>
          </a:p>
          <a:p>
            <a:pPr lvl="1"/>
            <a:r>
              <a:rPr lang="en-US" altLang="en-US" sz="2800" dirty="0">
                <a:latin typeface="Arial" panose="020B0604020202020204" pitchFamily="34" charset="0"/>
                <a:cs typeface="Arial" panose="020B0604020202020204" pitchFamily="34" charset="0"/>
              </a:rPr>
              <a:t>The managers are in </a:t>
            </a:r>
            <a:r>
              <a:rPr lang="en-US" altLang="en-US" sz="2800" u="sng" dirty="0">
                <a:latin typeface="Arial" panose="020B0604020202020204" pitchFamily="34" charset="0"/>
                <a:cs typeface="Arial" panose="020B0604020202020204" pitchFamily="34" charset="0"/>
              </a:rPr>
              <a:t>their</a:t>
            </a:r>
            <a:r>
              <a:rPr lang="en-US" altLang="en-US" sz="2800" dirty="0">
                <a:latin typeface="Arial" panose="020B0604020202020204" pitchFamily="34" charset="0"/>
                <a:cs typeface="Arial" panose="020B0604020202020204" pitchFamily="34" charset="0"/>
              </a:rPr>
              <a:t> weekly meeting. (possessive)</a:t>
            </a:r>
          </a:p>
          <a:p>
            <a:pPr lvl="1"/>
            <a:r>
              <a:rPr lang="en-US" altLang="en-US" sz="2800" dirty="0">
                <a:latin typeface="Arial" panose="020B0604020202020204" pitchFamily="34" charset="0"/>
                <a:cs typeface="Arial" panose="020B0604020202020204" pitchFamily="34" charset="0"/>
              </a:rPr>
              <a:t>Place the flowers </a:t>
            </a:r>
            <a:r>
              <a:rPr lang="en-US" altLang="en-US" sz="2800" u="sng" dirty="0">
                <a:latin typeface="Arial" panose="020B0604020202020204" pitchFamily="34" charset="0"/>
                <a:cs typeface="Arial" panose="020B0604020202020204" pitchFamily="34" charset="0"/>
              </a:rPr>
              <a:t>there</a:t>
            </a:r>
            <a:r>
              <a:rPr lang="en-US" altLang="en-US" sz="2800" dirty="0">
                <a:latin typeface="Arial" panose="020B0604020202020204" pitchFamily="34" charset="0"/>
                <a:cs typeface="Arial" panose="020B0604020202020204" pitchFamily="34" charset="0"/>
              </a:rPr>
              <a:t>. (adv. – indicates location/direction)</a:t>
            </a:r>
          </a:p>
          <a:p>
            <a:pPr>
              <a:buFont typeface="Wingdings" panose="05000000000000000000" pitchFamily="2" charset="2"/>
              <a:buChar char="Ø"/>
            </a:pPr>
            <a:r>
              <a:rPr lang="en-US" altLang="en-US" b="1" dirty="0">
                <a:latin typeface="Arial" panose="020B0604020202020204" pitchFamily="34" charset="0"/>
                <a:cs typeface="Arial" panose="020B0604020202020204" pitchFamily="34" charset="0"/>
              </a:rPr>
              <a:t>You're / Your </a:t>
            </a:r>
          </a:p>
          <a:p>
            <a:pPr lvl="1"/>
            <a:r>
              <a:rPr lang="en-US" altLang="en-US" sz="2800" u="sng" dirty="0">
                <a:latin typeface="Arial" panose="020B0604020202020204" pitchFamily="34" charset="0"/>
                <a:cs typeface="Arial" panose="020B0604020202020204" pitchFamily="34" charset="0"/>
              </a:rPr>
              <a:t>You're</a:t>
            </a:r>
            <a:r>
              <a:rPr lang="en-US" altLang="en-US" sz="2800" dirty="0">
                <a:latin typeface="Arial" panose="020B0604020202020204" pitchFamily="34" charset="0"/>
                <a:cs typeface="Arial" panose="020B0604020202020204" pitchFamily="34" charset="0"/>
              </a:rPr>
              <a:t> going to be a great writer! (contraction of “you are”)</a:t>
            </a:r>
          </a:p>
          <a:p>
            <a:pPr lvl="1"/>
            <a:r>
              <a:rPr lang="en-US" altLang="en-US" sz="2800" u="sng" dirty="0">
                <a:latin typeface="Arial" panose="020B0604020202020204" pitchFamily="34" charset="0"/>
                <a:cs typeface="Arial" panose="020B0604020202020204" pitchFamily="34" charset="0"/>
              </a:rPr>
              <a:t>Your</a:t>
            </a:r>
            <a:r>
              <a:rPr lang="en-US" altLang="en-US" sz="2800" dirty="0">
                <a:latin typeface="Arial" panose="020B0604020202020204" pitchFamily="34" charset="0"/>
                <a:cs typeface="Arial" panose="020B0604020202020204" pitchFamily="34" charset="0"/>
              </a:rPr>
              <a:t> hair looks nice today. (possessive)</a:t>
            </a:r>
          </a:p>
          <a:p>
            <a:pPr>
              <a:buFont typeface="Wingdings" panose="05000000000000000000" pitchFamily="2" charset="2"/>
              <a:buChar char="Ø"/>
            </a:pPr>
            <a:r>
              <a:rPr lang="en-US" altLang="en-US" b="1" dirty="0">
                <a:latin typeface="Arial" panose="020B0604020202020204" pitchFamily="34" charset="0"/>
                <a:cs typeface="Arial" panose="020B0604020202020204" pitchFamily="34" charset="0"/>
              </a:rPr>
              <a:t>Who's / Whose </a:t>
            </a:r>
          </a:p>
          <a:p>
            <a:pPr lvl="1"/>
            <a:r>
              <a:rPr lang="en-US" altLang="en-US" sz="2800" u="sng" dirty="0">
                <a:latin typeface="Arial" panose="020B0604020202020204" pitchFamily="34" charset="0"/>
                <a:cs typeface="Arial" panose="020B0604020202020204" pitchFamily="34" charset="0"/>
              </a:rPr>
              <a:t>Who's</a:t>
            </a:r>
            <a:r>
              <a:rPr lang="en-US" altLang="en-US" sz="2800" dirty="0">
                <a:latin typeface="Arial" panose="020B0604020202020204" pitchFamily="34" charset="0"/>
                <a:cs typeface="Arial" panose="020B0604020202020204" pitchFamily="34" charset="0"/>
              </a:rPr>
              <a:t> on first base? (contraction of “who is”) </a:t>
            </a:r>
          </a:p>
          <a:p>
            <a:pPr lvl="1"/>
            <a:r>
              <a:rPr lang="en-US" altLang="en-US" sz="2800" u="sng" dirty="0">
                <a:latin typeface="Arial" panose="020B0604020202020204" pitchFamily="34" charset="0"/>
                <a:cs typeface="Arial" panose="020B0604020202020204" pitchFamily="34" charset="0"/>
              </a:rPr>
              <a:t>Whose</a:t>
            </a:r>
            <a:r>
              <a:rPr lang="en-US" altLang="en-US" sz="2800" dirty="0">
                <a:latin typeface="Arial" panose="020B0604020202020204" pitchFamily="34" charset="0"/>
                <a:cs typeface="Arial" panose="020B0604020202020204" pitchFamily="34" charset="0"/>
              </a:rPr>
              <a:t> watch is this? (possession) </a:t>
            </a: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Tree>
    <p:extLst>
      <p:ext uri="{BB962C8B-B14F-4D97-AF65-F5344CB8AC3E}">
        <p14:creationId xmlns:p14="http://schemas.microsoft.com/office/powerpoint/2010/main" val="3839179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IN" dirty="0">
                <a:latin typeface="Arial Black" panose="020B0A04020102020204" pitchFamily="34" charset="0"/>
              </a:rPr>
              <a:t>Commonly Confused Words</a:t>
            </a:r>
          </a:p>
        </p:txBody>
      </p:sp>
      <p:sp>
        <p:nvSpPr>
          <p:cNvPr id="3" name="Content Placeholder 2"/>
          <p:cNvSpPr>
            <a:spLocks noGrp="1"/>
          </p:cNvSpPr>
          <p:nvPr>
            <p:ph idx="1"/>
          </p:nvPr>
        </p:nvSpPr>
        <p:spPr>
          <a:ln>
            <a:solidFill>
              <a:schemeClr val="tx1"/>
            </a:solidFill>
          </a:ln>
        </p:spPr>
        <p:txBody>
          <a:bodyPr/>
          <a:lstStyle/>
          <a:p>
            <a:pPr>
              <a:buFont typeface="Wingdings" panose="05000000000000000000" pitchFamily="2" charset="2"/>
              <a:buChar char="Ø"/>
            </a:pPr>
            <a:r>
              <a:rPr lang="en-US" b="1" dirty="0">
                <a:latin typeface="Arial" panose="020B0604020202020204" pitchFamily="34" charset="0"/>
                <a:cs typeface="Arial" panose="020B0604020202020204" pitchFamily="34" charset="0"/>
              </a:rPr>
              <a:t>It's / Its / Its’</a:t>
            </a:r>
          </a:p>
          <a:p>
            <a:r>
              <a:rPr lang="en-US" u="sng" dirty="0">
                <a:latin typeface="Arial" panose="020B0604020202020204" pitchFamily="34" charset="0"/>
                <a:cs typeface="Arial" panose="020B0604020202020204" pitchFamily="34" charset="0"/>
              </a:rPr>
              <a:t>It’s</a:t>
            </a:r>
            <a:r>
              <a:rPr lang="en-US" dirty="0">
                <a:latin typeface="Arial" panose="020B0604020202020204" pitchFamily="34" charset="0"/>
                <a:cs typeface="Arial" panose="020B0604020202020204" pitchFamily="34" charset="0"/>
              </a:rPr>
              <a:t> a beautiful day! (contraction of “it is”)</a:t>
            </a:r>
          </a:p>
          <a:p>
            <a:r>
              <a:rPr lang="en-US" dirty="0">
                <a:latin typeface="Arial" panose="020B0604020202020204" pitchFamily="34" charset="0"/>
                <a:cs typeface="Arial" panose="020B0604020202020204" pitchFamily="34" charset="0"/>
              </a:rPr>
              <a:t>Download the program, along with </a:t>
            </a:r>
            <a:r>
              <a:rPr lang="en-US" u="sng" dirty="0">
                <a:latin typeface="Arial" panose="020B0604020202020204" pitchFamily="34" charset="0"/>
                <a:cs typeface="Arial" panose="020B0604020202020204" pitchFamily="34" charset="0"/>
              </a:rPr>
              <a:t>its</a:t>
            </a:r>
            <a:r>
              <a:rPr lang="en-US" dirty="0">
                <a:latin typeface="Arial" panose="020B0604020202020204" pitchFamily="34" charset="0"/>
                <a:cs typeface="Arial" panose="020B0604020202020204" pitchFamily="34" charset="0"/>
              </a:rPr>
              <a:t> readme file. (possessive)</a:t>
            </a:r>
          </a:p>
          <a:p>
            <a:r>
              <a:rPr lang="en-US" u="sng" dirty="0">
                <a:latin typeface="Arial" panose="020B0604020202020204" pitchFamily="34" charset="0"/>
                <a:cs typeface="Arial" panose="020B0604020202020204" pitchFamily="34" charset="0"/>
              </a:rPr>
              <a:t>Its’</a:t>
            </a:r>
            <a:r>
              <a:rPr lang="en-US" dirty="0">
                <a:latin typeface="Arial" panose="020B0604020202020204" pitchFamily="34" charset="0"/>
                <a:cs typeface="Arial" panose="020B0604020202020204" pitchFamily="34" charset="0"/>
              </a:rPr>
              <a:t> is not a word.</a:t>
            </a:r>
          </a:p>
          <a:p>
            <a:pPr>
              <a:buFont typeface="Wingdings" panose="05000000000000000000" pitchFamily="2" charset="2"/>
              <a:buChar char="Ø"/>
            </a:pPr>
            <a:r>
              <a:rPr lang="en-US" b="1" dirty="0">
                <a:latin typeface="Arial" panose="020B0604020202020204" pitchFamily="34" charset="0"/>
                <a:cs typeface="Arial" panose="020B0604020202020204" pitchFamily="34" charset="0"/>
              </a:rPr>
              <a:t>Affect / Effect</a:t>
            </a:r>
          </a:p>
          <a:p>
            <a:r>
              <a:rPr lang="en-US" dirty="0">
                <a:latin typeface="Arial" panose="020B0604020202020204" pitchFamily="34" charset="0"/>
                <a:cs typeface="Arial" panose="020B0604020202020204" pitchFamily="34" charset="0"/>
              </a:rPr>
              <a:t>The outage shouldn't </a:t>
            </a:r>
            <a:r>
              <a:rPr lang="en-US" u="sng" dirty="0">
                <a:latin typeface="Arial" panose="020B0604020202020204" pitchFamily="34" charset="0"/>
                <a:cs typeface="Arial" panose="020B0604020202020204" pitchFamily="34" charset="0"/>
              </a:rPr>
              <a:t>affect</a:t>
            </a:r>
            <a:r>
              <a:rPr lang="en-US" dirty="0">
                <a:latin typeface="Arial" panose="020B0604020202020204" pitchFamily="34" charset="0"/>
                <a:cs typeface="Arial" panose="020B0604020202020204" pitchFamily="34" charset="0"/>
              </a:rPr>
              <a:t> anyone during work hours. (verb – to act on, influence)</a:t>
            </a:r>
          </a:p>
          <a:p>
            <a:r>
              <a:rPr lang="en-US" dirty="0">
                <a:latin typeface="Arial" panose="020B0604020202020204" pitchFamily="34" charset="0"/>
                <a:cs typeface="Arial" panose="020B0604020202020204" pitchFamily="34" charset="0"/>
              </a:rPr>
              <a:t>The outage shouldn't have any </a:t>
            </a:r>
            <a:r>
              <a:rPr lang="en-US" u="sng" dirty="0">
                <a:latin typeface="Arial" panose="020B0604020202020204" pitchFamily="34" charset="0"/>
                <a:cs typeface="Arial" panose="020B0604020202020204" pitchFamily="34" charset="0"/>
              </a:rPr>
              <a:t>effect</a:t>
            </a:r>
            <a:r>
              <a:rPr lang="en-US" dirty="0">
                <a:latin typeface="Arial" panose="020B0604020202020204" pitchFamily="34" charset="0"/>
                <a:cs typeface="Arial" panose="020B0604020202020204" pitchFamily="34" charset="0"/>
              </a:rPr>
              <a:t> on users. (noun – result)</a:t>
            </a: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Tree>
    <p:extLst>
      <p:ext uri="{BB962C8B-B14F-4D97-AF65-F5344CB8AC3E}">
        <p14:creationId xmlns:p14="http://schemas.microsoft.com/office/powerpoint/2010/main" val="9679746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US" dirty="0">
                <a:latin typeface="Arial Black" panose="020B0A04020102020204" pitchFamily="34" charset="0"/>
              </a:rPr>
              <a:t>Commonly Confused Words</a:t>
            </a:r>
            <a:endParaRPr lang="en-IN" dirty="0">
              <a:latin typeface="Arial Black" panose="020B0A04020102020204" pitchFamily="34" charset="0"/>
            </a:endParaRPr>
          </a:p>
        </p:txBody>
      </p:sp>
      <p:sp>
        <p:nvSpPr>
          <p:cNvPr id="3" name="Content Placeholder 2"/>
          <p:cNvSpPr>
            <a:spLocks noGrp="1"/>
          </p:cNvSpPr>
          <p:nvPr>
            <p:ph idx="1"/>
          </p:nvPr>
        </p:nvSpPr>
        <p:spPr>
          <a:xfrm>
            <a:off x="838200" y="1825624"/>
            <a:ext cx="10515600" cy="4530725"/>
          </a:xfrm>
          <a:ln>
            <a:solidFill>
              <a:schemeClr val="tx1"/>
            </a:solidFill>
          </a:ln>
        </p:spPr>
        <p:txBody>
          <a:bodyPr>
            <a:normAutofit fontScale="92500" lnSpcReduction="10000"/>
          </a:bodyPr>
          <a:lstStyle/>
          <a:p>
            <a:pPr>
              <a:buFont typeface="Wingdings" panose="05000000000000000000" pitchFamily="2" charset="2"/>
              <a:buChar char="Ø"/>
            </a:pPr>
            <a:r>
              <a:rPr lang="en-US" sz="3000" b="1" dirty="0">
                <a:latin typeface="Arial" panose="020B0604020202020204" pitchFamily="34" charset="0"/>
                <a:cs typeface="Arial" panose="020B0604020202020204" pitchFamily="34" charset="0"/>
              </a:rPr>
              <a:t>To / Too / Two</a:t>
            </a:r>
          </a:p>
          <a:p>
            <a:r>
              <a:rPr lang="en-US" sz="3000" dirty="0">
                <a:latin typeface="Arial" panose="020B0604020202020204" pitchFamily="34" charset="0"/>
                <a:cs typeface="Arial" panose="020B0604020202020204" pitchFamily="34" charset="0"/>
              </a:rPr>
              <a:t>I am going </a:t>
            </a:r>
            <a:r>
              <a:rPr lang="en-US" sz="3000" u="sng" dirty="0">
                <a:latin typeface="Arial" panose="020B0604020202020204" pitchFamily="34" charset="0"/>
                <a:cs typeface="Arial" panose="020B0604020202020204" pitchFamily="34" charset="0"/>
              </a:rPr>
              <a:t>to</a:t>
            </a:r>
            <a:r>
              <a:rPr lang="en-US" sz="3000" dirty="0">
                <a:latin typeface="Arial" panose="020B0604020202020204" pitchFamily="34" charset="0"/>
                <a:cs typeface="Arial" panose="020B0604020202020204" pitchFamily="34" charset="0"/>
              </a:rPr>
              <a:t> the store. (preposition)</a:t>
            </a:r>
          </a:p>
          <a:p>
            <a:r>
              <a:rPr lang="en-US" sz="3000" dirty="0">
                <a:latin typeface="Arial" panose="020B0604020202020204" pitchFamily="34" charset="0"/>
                <a:cs typeface="Arial" panose="020B0604020202020204" pitchFamily="34" charset="0"/>
              </a:rPr>
              <a:t>She decided </a:t>
            </a:r>
            <a:r>
              <a:rPr lang="en-US" sz="3000" u="sng" dirty="0">
                <a:latin typeface="Arial" panose="020B0604020202020204" pitchFamily="34" charset="0"/>
                <a:cs typeface="Arial" panose="020B0604020202020204" pitchFamily="34" charset="0"/>
              </a:rPr>
              <a:t>to</a:t>
            </a:r>
            <a:r>
              <a:rPr lang="en-US" sz="3000" dirty="0">
                <a:latin typeface="Arial" panose="020B0604020202020204" pitchFamily="34" charset="0"/>
                <a:cs typeface="Arial" panose="020B0604020202020204" pitchFamily="34" charset="0"/>
              </a:rPr>
              <a:t> go along </a:t>
            </a:r>
            <a:r>
              <a:rPr lang="en-US" sz="3000" u="sng" dirty="0">
                <a:latin typeface="Arial" panose="020B0604020202020204" pitchFamily="34" charset="0"/>
                <a:cs typeface="Arial" panose="020B0604020202020204" pitchFamily="34" charset="0"/>
              </a:rPr>
              <a:t>too</a:t>
            </a:r>
            <a:r>
              <a:rPr lang="en-US" sz="3000" dirty="0">
                <a:latin typeface="Arial" panose="020B0604020202020204" pitchFamily="34" charset="0"/>
                <a:cs typeface="Arial" panose="020B0604020202020204" pitchFamily="34" charset="0"/>
              </a:rPr>
              <a:t>. (adv. – also)</a:t>
            </a:r>
          </a:p>
          <a:p>
            <a:r>
              <a:rPr lang="en-US" sz="3000" dirty="0">
                <a:latin typeface="Arial" panose="020B0604020202020204" pitchFamily="34" charset="0"/>
                <a:cs typeface="Arial" panose="020B0604020202020204" pitchFamily="34" charset="0"/>
              </a:rPr>
              <a:t>I have </a:t>
            </a:r>
            <a:r>
              <a:rPr lang="en-US" sz="3000" u="sng" dirty="0">
                <a:latin typeface="Arial" panose="020B0604020202020204" pitchFamily="34" charset="0"/>
                <a:cs typeface="Arial" panose="020B0604020202020204" pitchFamily="34" charset="0"/>
              </a:rPr>
              <a:t>two</a:t>
            </a:r>
            <a:r>
              <a:rPr lang="en-US" sz="3000" dirty="0">
                <a:latin typeface="Arial" panose="020B0604020202020204" pitchFamily="34" charset="0"/>
                <a:cs typeface="Arial" panose="020B0604020202020204" pitchFamily="34" charset="0"/>
              </a:rPr>
              <a:t> buttons missing. (number)</a:t>
            </a:r>
          </a:p>
          <a:p>
            <a:pPr>
              <a:buFont typeface="Wingdings" panose="05000000000000000000" pitchFamily="2" charset="2"/>
              <a:buChar char="Ø"/>
            </a:pPr>
            <a:r>
              <a:rPr lang="en-US" sz="3000" b="1" dirty="0">
                <a:latin typeface="Arial" panose="020B0604020202020204" pitchFamily="34" charset="0"/>
                <a:cs typeface="Arial" panose="020B0604020202020204" pitchFamily="34" charset="0"/>
              </a:rPr>
              <a:t>A lot / Alot / Allot</a:t>
            </a:r>
          </a:p>
          <a:p>
            <a:r>
              <a:rPr lang="en-US" sz="3000" dirty="0">
                <a:latin typeface="Arial" panose="020B0604020202020204" pitchFamily="34" charset="0"/>
                <a:cs typeface="Arial" panose="020B0604020202020204" pitchFamily="34" charset="0"/>
              </a:rPr>
              <a:t>The workers are worrying </a:t>
            </a:r>
            <a:r>
              <a:rPr lang="en-US" sz="3000" u="sng" dirty="0">
                <a:latin typeface="Arial" panose="020B0604020202020204" pitchFamily="34" charset="0"/>
                <a:cs typeface="Arial" panose="020B0604020202020204" pitchFamily="34" charset="0"/>
              </a:rPr>
              <a:t>a lot </a:t>
            </a:r>
            <a:r>
              <a:rPr lang="en-US" sz="3000" dirty="0">
                <a:latin typeface="Arial" panose="020B0604020202020204" pitchFamily="34" charset="0"/>
                <a:cs typeface="Arial" panose="020B0604020202020204" pitchFamily="34" charset="0"/>
              </a:rPr>
              <a:t>about their jobs. (adv. – to a great degree/extent)</a:t>
            </a:r>
          </a:p>
          <a:p>
            <a:r>
              <a:rPr lang="en-US" sz="3000" u="sng" dirty="0">
                <a:latin typeface="Arial" panose="020B0604020202020204" pitchFamily="34" charset="0"/>
                <a:cs typeface="Arial" panose="020B0604020202020204" pitchFamily="34" charset="0"/>
              </a:rPr>
              <a:t>Alot</a:t>
            </a:r>
            <a:r>
              <a:rPr lang="en-US" sz="3000" dirty="0">
                <a:latin typeface="Arial" panose="020B0604020202020204" pitchFamily="34" charset="0"/>
                <a:cs typeface="Arial" panose="020B0604020202020204" pitchFamily="34" charset="0"/>
              </a:rPr>
              <a:t> is not a word.</a:t>
            </a:r>
          </a:p>
          <a:p>
            <a:r>
              <a:rPr lang="en-US" sz="3000" dirty="0">
                <a:latin typeface="Arial" panose="020B0604020202020204" pitchFamily="34" charset="0"/>
                <a:cs typeface="Arial" panose="020B0604020202020204" pitchFamily="34" charset="0"/>
              </a:rPr>
              <a:t>We were each </a:t>
            </a:r>
            <a:r>
              <a:rPr lang="en-US" sz="3000" u="sng" dirty="0">
                <a:latin typeface="Arial" panose="020B0604020202020204" pitchFamily="34" charset="0"/>
                <a:cs typeface="Arial" panose="020B0604020202020204" pitchFamily="34" charset="0"/>
              </a:rPr>
              <a:t>allotted</a:t>
            </a:r>
            <a:r>
              <a:rPr lang="en-US" sz="3000" dirty="0">
                <a:latin typeface="Arial" panose="020B0604020202020204" pitchFamily="34" charset="0"/>
                <a:cs typeface="Arial" panose="020B0604020202020204" pitchFamily="34" charset="0"/>
              </a:rPr>
              <a:t> twenty tickets. (verb – to assign/distribute)</a:t>
            </a: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Tree>
    <p:extLst>
      <p:ext uri="{BB962C8B-B14F-4D97-AF65-F5344CB8AC3E}">
        <p14:creationId xmlns:p14="http://schemas.microsoft.com/office/powerpoint/2010/main" val="28958533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US" dirty="0">
                <a:latin typeface="Arial Black" panose="020B0A04020102020204" pitchFamily="34" charset="0"/>
              </a:rPr>
              <a:t>Poll Question 2</a:t>
            </a:r>
            <a:endParaRPr lang="en-IN" dirty="0"/>
          </a:p>
        </p:txBody>
      </p:sp>
      <p:sp>
        <p:nvSpPr>
          <p:cNvPr id="3" name="Content Placeholder 2"/>
          <p:cNvSpPr>
            <a:spLocks noGrp="1"/>
          </p:cNvSpPr>
          <p:nvPr>
            <p:ph idx="1"/>
          </p:nvPr>
        </p:nvSpPr>
        <p:spPr>
          <a:ln>
            <a:solidFill>
              <a:schemeClr val="tx1"/>
            </a:solidFill>
          </a:ln>
        </p:spPr>
        <p:txBody>
          <a:bodyPr/>
          <a:lstStyle/>
          <a:p>
            <a:pPr marL="0" indent="0">
              <a:buNone/>
            </a:pPr>
            <a:r>
              <a:rPr lang="en-US" dirty="0">
                <a:latin typeface="Arial" pitchFamily="34" charset="0"/>
                <a:cs typeface="Arial" pitchFamily="34" charset="0"/>
              </a:rPr>
              <a:t>Q. A part of the sentence is underlined. Below are given alternatives to the bold part which may improve the sentence. Choose the correct alternative. In case no improvement is required, choose No Improvement' option. </a:t>
            </a:r>
          </a:p>
          <a:p>
            <a:r>
              <a:rPr lang="en-US" b="1" dirty="0">
                <a:latin typeface="Arial" pitchFamily="34" charset="0"/>
                <a:cs typeface="Arial" pitchFamily="34" charset="0"/>
              </a:rPr>
              <a:t>He behaves </a:t>
            </a:r>
            <a:r>
              <a:rPr lang="en-US" b="1" u="sng" dirty="0">
                <a:latin typeface="Arial" pitchFamily="34" charset="0"/>
                <a:cs typeface="Arial" pitchFamily="34" charset="0"/>
              </a:rPr>
              <a:t>as if he </a:t>
            </a:r>
            <a:r>
              <a:rPr lang="en-US" b="1" dirty="0">
                <a:latin typeface="Arial" pitchFamily="34" charset="0"/>
                <a:cs typeface="Arial" pitchFamily="34" charset="0"/>
              </a:rPr>
              <a:t>is the supreme leader.</a:t>
            </a:r>
          </a:p>
          <a:p>
            <a:pPr marL="514350" indent="-514350">
              <a:buAutoNum type="arabicPeriod"/>
            </a:pPr>
            <a:r>
              <a:rPr lang="en-IN" dirty="0">
                <a:latin typeface="Arial" pitchFamily="34" charset="0"/>
                <a:cs typeface="Arial" pitchFamily="34" charset="0"/>
              </a:rPr>
              <a:t>as he is</a:t>
            </a:r>
          </a:p>
          <a:p>
            <a:pPr marL="514350" indent="-514350">
              <a:buAutoNum type="arabicPeriod"/>
            </a:pPr>
            <a:r>
              <a:rPr lang="en-IN" dirty="0">
                <a:latin typeface="Arial" pitchFamily="34" charset="0"/>
                <a:cs typeface="Arial" pitchFamily="34" charset="0"/>
              </a:rPr>
              <a:t>as if he were</a:t>
            </a:r>
          </a:p>
          <a:p>
            <a:pPr marL="514350" indent="-514350">
              <a:buAutoNum type="arabicPeriod"/>
            </a:pPr>
            <a:r>
              <a:rPr lang="en-IN" dirty="0">
                <a:latin typeface="Arial" pitchFamily="34" charset="0"/>
                <a:cs typeface="Arial" pitchFamily="34" charset="0"/>
              </a:rPr>
              <a:t>as if he was </a:t>
            </a:r>
          </a:p>
          <a:p>
            <a:pPr marL="514350" indent="-514350">
              <a:buAutoNum type="arabicPeriod"/>
            </a:pPr>
            <a:r>
              <a:rPr lang="en-IN" dirty="0">
                <a:latin typeface="Arial" pitchFamily="34" charset="0"/>
                <a:cs typeface="Arial" pitchFamily="34" charset="0"/>
              </a:rPr>
              <a:t>No improvement</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Tree>
    <p:extLst>
      <p:ext uri="{BB962C8B-B14F-4D97-AF65-F5344CB8AC3E}">
        <p14:creationId xmlns:p14="http://schemas.microsoft.com/office/powerpoint/2010/main" val="1592819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ln>
            <a:solidFill>
              <a:schemeClr val="tx1"/>
            </a:solidFill>
          </a:ln>
        </p:spPr>
        <p:txBody>
          <a:bodyPr/>
          <a:lstStyle/>
          <a:p>
            <a:pPr algn="ctr"/>
            <a:r>
              <a:rPr lang="en-US" b="1" dirty="0">
                <a:latin typeface="Arial Black" panose="020B0A04020102020204" pitchFamily="34" charset="0"/>
              </a:rPr>
              <a:t>Preparation Tips to Solve Sentence Correction Questions</a:t>
            </a:r>
            <a:endParaRPr lang="en-IN" dirty="0">
              <a:latin typeface="Arial Black" panose="020B0A04020102020204" pitchFamily="34" charset="0"/>
            </a:endParaRPr>
          </a:p>
        </p:txBody>
      </p:sp>
      <p:sp>
        <p:nvSpPr>
          <p:cNvPr id="6" name="Content Placeholder 5"/>
          <p:cNvSpPr>
            <a:spLocks noGrp="1"/>
          </p:cNvSpPr>
          <p:nvPr>
            <p:ph idx="1"/>
          </p:nvPr>
        </p:nvSpPr>
        <p:spPr>
          <a:ln>
            <a:solidFill>
              <a:schemeClr val="tx1"/>
            </a:solidFill>
          </a:ln>
        </p:spPr>
        <p:txBody>
          <a:bodyPr>
            <a:normAutofit lnSpcReduction="10000"/>
          </a:bodyPr>
          <a:lstStyle/>
          <a:p>
            <a:pPr>
              <a:buFont typeface="Wingdings" panose="05000000000000000000" pitchFamily="2" charset="2"/>
              <a:buChar char="Ø"/>
            </a:pPr>
            <a:r>
              <a:rPr lang="en-US" dirty="0">
                <a:latin typeface="Arial" panose="020B0604020202020204" pitchFamily="34" charset="0"/>
                <a:cs typeface="Arial" panose="020B0604020202020204" pitchFamily="34" charset="0"/>
              </a:rPr>
              <a:t>Keep the following things in mind while tackling a sentence correction question:</a:t>
            </a:r>
          </a:p>
          <a:p>
            <a:r>
              <a:rPr lang="en-IN" dirty="0">
                <a:latin typeface="Arial" panose="020B0604020202020204" pitchFamily="34" charset="0"/>
                <a:cs typeface="Arial" panose="020B0604020202020204" pitchFamily="34" charset="0"/>
              </a:rPr>
              <a:t>Identify the concept</a:t>
            </a:r>
          </a:p>
          <a:p>
            <a:r>
              <a:rPr lang="en-IN" dirty="0">
                <a:latin typeface="Arial" panose="020B0604020202020204" pitchFamily="34" charset="0"/>
                <a:cs typeface="Arial" panose="020B0604020202020204" pitchFamily="34" charset="0"/>
              </a:rPr>
              <a:t>Similar answer choices</a:t>
            </a:r>
          </a:p>
          <a:p>
            <a:r>
              <a:rPr lang="en-IN" dirty="0">
                <a:latin typeface="Arial" panose="020B0604020202020204" pitchFamily="34" charset="0"/>
                <a:cs typeface="Arial" panose="020B0604020202020204" pitchFamily="34" charset="0"/>
              </a:rPr>
              <a:t>Treat all options equally</a:t>
            </a:r>
          </a:p>
          <a:p>
            <a:r>
              <a:rPr lang="en-US" dirty="0">
                <a:latin typeface="Arial" panose="020B0604020202020204" pitchFamily="34" charset="0"/>
                <a:cs typeface="Arial" panose="020B0604020202020204" pitchFamily="34" charset="0"/>
              </a:rPr>
              <a:t>Pay attention to the non-underlined part</a:t>
            </a:r>
          </a:p>
          <a:p>
            <a:r>
              <a:rPr lang="en-IN" dirty="0">
                <a:latin typeface="Arial" panose="020B0604020202020204" pitchFamily="34" charset="0"/>
                <a:cs typeface="Arial" panose="020B0604020202020204" pitchFamily="34" charset="0"/>
              </a:rPr>
              <a:t>Choose the shorter answer</a:t>
            </a:r>
          </a:p>
          <a:p>
            <a:r>
              <a:rPr lang="en-IN" dirty="0">
                <a:latin typeface="Arial" panose="020B0604020202020204" pitchFamily="34" charset="0"/>
                <a:cs typeface="Arial" panose="020B0604020202020204" pitchFamily="34" charset="0"/>
              </a:rPr>
              <a:t>Substitute the selected answer</a:t>
            </a:r>
          </a:p>
          <a:p>
            <a:r>
              <a:rPr lang="en-IN" dirty="0">
                <a:latin typeface="Arial" panose="020B0604020202020204" pitchFamily="34" charset="0"/>
                <a:cs typeface="Arial" panose="020B0604020202020204" pitchFamily="34" charset="0"/>
              </a:rPr>
              <a:t>Elimination technique</a:t>
            </a:r>
          </a:p>
        </p:txBody>
      </p:sp>
      <p:sp>
        <p:nvSpPr>
          <p:cNvPr id="4" name="Slide Number Placeholder 3"/>
          <p:cNvSpPr>
            <a:spLocks noGrp="1"/>
          </p:cNvSpPr>
          <p:nvPr>
            <p:ph type="sldNum" sz="quarter" idx="12"/>
          </p:nvPr>
        </p:nvSpPr>
        <p:spPr/>
        <p:txBody>
          <a:bodyPr/>
          <a:lstStyle/>
          <a:p>
            <a:r>
              <a:rPr lang="en-US" dirty="0"/>
              <a:t>pinterest.com         </a:t>
            </a:r>
            <a:fld id="{BDCDBBEF-AA6C-4BA6-85B2-A17D7F280E38}" type="slidenum">
              <a:rPr lang="en-US" smtClean="0"/>
              <a:pPr/>
              <a:t>21</a:t>
            </a:fld>
            <a:endParaRPr lang="en-US" dirty="0"/>
          </a:p>
        </p:txBody>
      </p:sp>
      <p:pic>
        <p:nvPicPr>
          <p:cNvPr id="7" name="Picture 6"/>
          <p:cNvPicPr>
            <a:picLocks noChangeAspect="1"/>
          </p:cNvPicPr>
          <p:nvPr/>
        </p:nvPicPr>
        <p:blipFill>
          <a:blip r:embed="rId2"/>
          <a:stretch>
            <a:fillRect/>
          </a:stretch>
        </p:blipFill>
        <p:spPr>
          <a:xfrm>
            <a:off x="7572835" y="2438400"/>
            <a:ext cx="3780965" cy="3338285"/>
          </a:xfrm>
          <a:prstGeom prst="rect">
            <a:avLst/>
          </a:prstGeom>
        </p:spPr>
      </p:pic>
    </p:spTree>
    <p:extLst>
      <p:ext uri="{BB962C8B-B14F-4D97-AF65-F5344CB8AC3E}">
        <p14:creationId xmlns:p14="http://schemas.microsoft.com/office/powerpoint/2010/main" val="10457421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US" dirty="0">
                <a:latin typeface="Arial Black" panose="020B0A04020102020204" pitchFamily="34" charset="0"/>
              </a:rPr>
              <a:t>Applications</a:t>
            </a:r>
            <a:endParaRPr lang="en-IN" dirty="0">
              <a:latin typeface="Arial Black" panose="020B0A04020102020204" pitchFamily="34" charset="0"/>
            </a:endParaRPr>
          </a:p>
        </p:txBody>
      </p:sp>
      <p:sp>
        <p:nvSpPr>
          <p:cNvPr id="3" name="Content Placeholder 2"/>
          <p:cNvSpPr>
            <a:spLocks noGrp="1"/>
          </p:cNvSpPr>
          <p:nvPr>
            <p:ph idx="1"/>
          </p:nvPr>
        </p:nvSpPr>
        <p:spPr>
          <a:xfrm>
            <a:off x="838200" y="1825625"/>
            <a:ext cx="10500360" cy="4351338"/>
          </a:xfrm>
          <a:ln>
            <a:solidFill>
              <a:schemeClr val="tx1"/>
            </a:solidFill>
          </a:ln>
        </p:spPr>
        <p:txBody>
          <a:bodyPr>
            <a:normAutofit/>
          </a:bodyPr>
          <a:lstStyle/>
          <a:p>
            <a:r>
              <a:rPr lang="en-US" dirty="0">
                <a:latin typeface="Arial" pitchFamily="34" charset="0"/>
                <a:cs typeface="Arial" pitchFamily="34" charset="0"/>
              </a:rPr>
              <a:t>Students will be able to make correct sentences.</a:t>
            </a:r>
          </a:p>
          <a:p>
            <a:r>
              <a:rPr lang="en-US" dirty="0">
                <a:latin typeface="Arial" pitchFamily="34" charset="0"/>
                <a:cs typeface="Arial" pitchFamily="34" charset="0"/>
              </a:rPr>
              <a:t>Students will have a better understanding of sentence structure and sentence formation.</a:t>
            </a:r>
          </a:p>
          <a:p>
            <a:r>
              <a:rPr lang="en-US" dirty="0">
                <a:latin typeface="Arial" pitchFamily="34" charset="0"/>
                <a:cs typeface="Arial" pitchFamily="34" charset="0"/>
              </a:rPr>
              <a:t>It will improve their overall language. </a:t>
            </a:r>
            <a:endParaRPr lang="en-IN"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spTree>
    <p:extLst>
      <p:ext uri="{BB962C8B-B14F-4D97-AF65-F5344CB8AC3E}">
        <p14:creationId xmlns:p14="http://schemas.microsoft.com/office/powerpoint/2010/main" val="39722720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dirty="0">
                <a:latin typeface="Arial Black" pitchFamily="34" charset="0"/>
                <a:cs typeface="Arial" pitchFamily="34" charset="0"/>
              </a:rPr>
              <a:t>Assessment Pattern   </a:t>
            </a:r>
          </a:p>
        </p:txBody>
      </p:sp>
      <p:sp>
        <p:nvSpPr>
          <p:cNvPr id="3" name="Content Placeholder 2"/>
          <p:cNvSpPr>
            <a:spLocks noGrp="1"/>
          </p:cNvSpPr>
          <p:nvPr>
            <p:ph idx="1"/>
          </p:nvPr>
        </p:nvSpPr>
        <p:spPr/>
        <p:txBody>
          <a:bodyPr>
            <a:normAutofit/>
          </a:bodyPr>
          <a:lstStyle/>
          <a:p>
            <a:pPr>
              <a:buNone/>
            </a:pPr>
            <a:r>
              <a:rPr lang="en-IN" b="1" dirty="0">
                <a:latin typeface="Arial" pitchFamily="34" charset="0"/>
                <a:cs typeface="Arial" pitchFamily="34" charset="0"/>
              </a:rPr>
              <a:t>Students are assessed on the basis of the following parameters:</a:t>
            </a:r>
          </a:p>
          <a:p>
            <a:r>
              <a:rPr lang="en-US" dirty="0">
                <a:latin typeface="Arial" pitchFamily="34" charset="0"/>
                <a:cs typeface="Arial" pitchFamily="34" charset="0"/>
              </a:rPr>
              <a:t>Hourly Test – 2</a:t>
            </a:r>
          </a:p>
          <a:p>
            <a:r>
              <a:rPr lang="en-US" dirty="0">
                <a:latin typeface="Arial" pitchFamily="34" charset="0"/>
                <a:cs typeface="Arial" pitchFamily="34" charset="0"/>
              </a:rPr>
              <a:t>Assignments</a:t>
            </a:r>
          </a:p>
          <a:p>
            <a:r>
              <a:rPr lang="en-US" dirty="0">
                <a:latin typeface="Arial" pitchFamily="34" charset="0"/>
                <a:cs typeface="Arial" pitchFamily="34" charset="0"/>
              </a:rPr>
              <a:t>Surprise Test</a:t>
            </a:r>
          </a:p>
          <a:p>
            <a:r>
              <a:rPr lang="en-US" dirty="0">
                <a:latin typeface="Arial" pitchFamily="34" charset="0"/>
                <a:cs typeface="Arial" pitchFamily="34" charset="0"/>
              </a:rPr>
              <a:t>Quiz</a:t>
            </a:r>
          </a:p>
          <a:p>
            <a:r>
              <a:rPr lang="en-US" dirty="0">
                <a:latin typeface="Arial" pitchFamily="34" charset="0"/>
                <a:cs typeface="Arial" pitchFamily="34" charset="0"/>
              </a:rPr>
              <a:t>Student Engagement</a:t>
            </a:r>
          </a:p>
          <a:p>
            <a:r>
              <a:rPr lang="en-US" dirty="0">
                <a:latin typeface="Arial" pitchFamily="34" charset="0"/>
                <a:cs typeface="Arial" pitchFamily="34" charset="0"/>
              </a:rPr>
              <a:t>End Semester Exam</a:t>
            </a:r>
          </a:p>
          <a:p>
            <a:pPr>
              <a:buNone/>
            </a:pPr>
            <a:endParaRPr lang="en-IN" sz="2400" dirty="0">
              <a:latin typeface="Arial" pitchFamily="34" charset="0"/>
              <a:cs typeface="Arial" pitchFamily="34" charset="0"/>
            </a:endParaRPr>
          </a:p>
          <a:p>
            <a:pPr>
              <a:buNone/>
            </a:pPr>
            <a:endParaRPr lang="en-IN" sz="2400" dirty="0">
              <a:latin typeface="Arial" pitchFamily="34" charset="0"/>
              <a:cs typeface="Arial" pitchFamily="34" charset="0"/>
            </a:endParaRPr>
          </a:p>
          <a:p>
            <a:pPr>
              <a:buNone/>
            </a:pPr>
            <a:endParaRPr lang="en-US" sz="1600"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88792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lstStyle/>
          <a:p>
            <a:pPr algn="ctr"/>
            <a:r>
              <a:rPr lang="en-IN" dirty="0">
                <a:latin typeface="Arial Black" panose="020B0A04020102020204" pitchFamily="34" charset="0"/>
              </a:rPr>
              <a:t>References</a:t>
            </a:r>
          </a:p>
        </p:txBody>
      </p:sp>
      <p:sp>
        <p:nvSpPr>
          <p:cNvPr id="3" name="Content Placeholder 2"/>
          <p:cNvSpPr>
            <a:spLocks noGrp="1"/>
          </p:cNvSpPr>
          <p:nvPr>
            <p:ph idx="1"/>
          </p:nvPr>
        </p:nvSpPr>
        <p:spPr>
          <a:xfrm>
            <a:off x="838200" y="1825624"/>
            <a:ext cx="10515600" cy="4444547"/>
          </a:xfrm>
          <a:ln>
            <a:solidFill>
              <a:schemeClr val="tx1"/>
            </a:solidFill>
          </a:ln>
        </p:spPr>
        <p:txBody>
          <a:bodyPr>
            <a:noAutofit/>
          </a:bodyPr>
          <a:lstStyle/>
          <a:p>
            <a:pPr>
              <a:spcBef>
                <a:spcPts val="0"/>
              </a:spcBef>
            </a:pPr>
            <a:r>
              <a:rPr lang="en-US" dirty="0">
                <a:latin typeface="Arial" panose="020B0604020202020204" pitchFamily="34" charset="0"/>
                <a:cs typeface="Arial" panose="020B0604020202020204" pitchFamily="34" charset="0"/>
              </a:rPr>
              <a:t>ISC Total English Class 12 by </a:t>
            </a:r>
            <a:r>
              <a:rPr lang="en-IN" dirty="0">
                <a:latin typeface="Arial" panose="020B0604020202020204" pitchFamily="34" charset="0"/>
                <a:cs typeface="Arial" panose="020B0604020202020204" pitchFamily="34" charset="0"/>
              </a:rPr>
              <a:t>by P. Pinto, Xavier Pinto.</a:t>
            </a:r>
          </a:p>
          <a:p>
            <a:pPr>
              <a:spcBef>
                <a:spcPts val="0"/>
              </a:spcBef>
            </a:pPr>
            <a:r>
              <a:rPr lang="en-US" dirty="0">
                <a:latin typeface="Arial" panose="020B0604020202020204" pitchFamily="34" charset="0"/>
                <a:cs typeface="Arial" panose="020B0604020202020204" pitchFamily="34" charset="0"/>
              </a:rPr>
              <a:t>High School English Grammar and Composition Paperback by  P.C. Wren, N.D.V. Prasada Rao</a:t>
            </a:r>
            <a:endParaRPr lang="en-IN" dirty="0">
              <a:latin typeface="Arial" panose="020B0604020202020204" pitchFamily="34" charset="0"/>
              <a:cs typeface="Arial" panose="020B0604020202020204" pitchFamily="34" charset="0"/>
              <a:hlinkClick r:id="rId2"/>
            </a:endParaRPr>
          </a:p>
          <a:p>
            <a:pPr>
              <a:spcBef>
                <a:spcPts val="0"/>
              </a:spcBef>
            </a:pPr>
            <a:r>
              <a:rPr lang="en-IN" dirty="0">
                <a:latin typeface="Arial" panose="020B0604020202020204" pitchFamily="34" charset="0"/>
                <a:cs typeface="Arial" panose="020B0604020202020204" pitchFamily="34" charset="0"/>
                <a:hlinkClick r:id="rId2"/>
              </a:rPr>
              <a:t>http://vdvdvdvdvdvdvdv.blogspot.com/2012/02/5-common-english-grammar-mistakes.html#!/2012/02/5-common-english-grammar-mistakes.html</a:t>
            </a:r>
            <a:r>
              <a:rPr lang="en-IN" dirty="0">
                <a:latin typeface="Arial" panose="020B0604020202020204" pitchFamily="34" charset="0"/>
                <a:cs typeface="Arial" panose="020B0604020202020204" pitchFamily="34" charset="0"/>
              </a:rPr>
              <a:t> </a:t>
            </a:r>
          </a:p>
          <a:p>
            <a:pPr>
              <a:spcBef>
                <a:spcPts val="0"/>
              </a:spcBef>
            </a:pPr>
            <a:r>
              <a:rPr lang="en-IN" dirty="0">
                <a:latin typeface="Arial" panose="020B0604020202020204" pitchFamily="34" charset="0"/>
                <a:cs typeface="Arial" panose="020B0604020202020204" pitchFamily="34" charset="0"/>
                <a:hlinkClick r:id="rId3"/>
              </a:rPr>
              <a:t>http://writingcenter.unc.edu/handouts/fragments-and-run-ons/</a:t>
            </a:r>
            <a:r>
              <a:rPr lang="en-IN" dirty="0">
                <a:latin typeface="Arial" panose="020B0604020202020204" pitchFamily="34" charset="0"/>
                <a:cs typeface="Arial" panose="020B0604020202020204" pitchFamily="34" charset="0"/>
              </a:rPr>
              <a:t> </a:t>
            </a:r>
          </a:p>
          <a:p>
            <a:pPr>
              <a:spcBef>
                <a:spcPts val="0"/>
              </a:spcBef>
            </a:pPr>
            <a:r>
              <a:rPr lang="en-IN" dirty="0">
                <a:latin typeface="Arial" panose="020B0604020202020204" pitchFamily="34" charset="0"/>
                <a:cs typeface="Arial" panose="020B0604020202020204" pitchFamily="34" charset="0"/>
                <a:hlinkClick r:id="rId4"/>
              </a:rPr>
              <a:t>http://booksoulmates.blogspot.com/2011/02/grammar-101-apostrophes.html</a:t>
            </a:r>
            <a:endParaRPr lang="en-IN" dirty="0">
              <a:latin typeface="Arial" panose="020B0604020202020204" pitchFamily="34" charset="0"/>
              <a:cs typeface="Arial" panose="020B0604020202020204" pitchFamily="34" charset="0"/>
            </a:endParaRPr>
          </a:p>
          <a:p>
            <a:pPr>
              <a:spcBef>
                <a:spcPts val="0"/>
              </a:spcBef>
            </a:pPr>
            <a:r>
              <a:rPr lang="en-IN" dirty="0">
                <a:latin typeface="Arial" panose="020B0604020202020204" pitchFamily="34" charset="0"/>
                <a:cs typeface="Arial" panose="020B0604020202020204" pitchFamily="34" charset="0"/>
                <a:hlinkClick r:id="rId5"/>
              </a:rPr>
              <a:t>http://www.englishliteraturenotes.com/Grammar/Fragments.html</a:t>
            </a:r>
            <a:r>
              <a:rPr lang="en-IN"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spTree>
    <p:extLst>
      <p:ext uri="{BB962C8B-B14F-4D97-AF65-F5344CB8AC3E}">
        <p14:creationId xmlns:p14="http://schemas.microsoft.com/office/powerpoint/2010/main" val="36495319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3"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Rectangle 1"/>
          <p:cNvSpPr/>
          <p:nvPr/>
        </p:nvSpPr>
        <p:spPr>
          <a:xfrm>
            <a:off x="4114005" y="5394447"/>
            <a:ext cx="4410310" cy="646331"/>
          </a:xfrm>
          <a:prstGeom prst="rect">
            <a:avLst/>
          </a:prstGeom>
        </p:spPr>
        <p:txBody>
          <a:bodyPr wrap="none">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panose="02000506000000020004" pitchFamily="2" charset="0"/>
                <a:cs typeface="Segoe UI" panose="020B0502040204020203" pitchFamily="34" charset="0"/>
              </a:rPr>
              <a:t>Email: communicationskills.uilah@gmail.com</a:t>
            </a:r>
            <a:endParaRPr lang="en-US" dirty="0"/>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1895</TotalTime>
  <Words>1565</Words>
  <Application>Microsoft Office PowerPoint</Application>
  <PresentationFormat>Widescreen</PresentationFormat>
  <Paragraphs>219</Paragraphs>
  <Slides>25</Slides>
  <Notes>1</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25</vt:i4>
      </vt:variant>
    </vt:vector>
  </HeadingPairs>
  <TitlesOfParts>
    <vt:vector size="37" baseType="lpstr">
      <vt:lpstr>Arial</vt:lpstr>
      <vt:lpstr>Arial Black</vt:lpstr>
      <vt:lpstr>Calibri</vt:lpstr>
      <vt:lpstr>Calibri Light</vt:lpstr>
      <vt:lpstr>Casper</vt:lpstr>
      <vt:lpstr>Karla</vt:lpstr>
      <vt:lpstr>Raleway ExtraBold</vt:lpstr>
      <vt:lpstr>Times New Roman</vt:lpstr>
      <vt:lpstr>Wingdings</vt:lpstr>
      <vt:lpstr>1_Office Theme</vt:lpstr>
      <vt:lpstr>Contents Slide Master</vt:lpstr>
      <vt:lpstr>CorelDRAW</vt:lpstr>
      <vt:lpstr>PowerPoint Presentation</vt:lpstr>
      <vt:lpstr>COURSE OBJECTIVES </vt:lpstr>
      <vt:lpstr>COURSE OUTCOMES</vt:lpstr>
      <vt:lpstr>Course Outcomes</vt:lpstr>
      <vt:lpstr>Types of Errors</vt:lpstr>
      <vt:lpstr>Sentence Structure Errors</vt:lpstr>
      <vt:lpstr>Fragments</vt:lpstr>
      <vt:lpstr>Fragments</vt:lpstr>
      <vt:lpstr>Run-on Sentences</vt:lpstr>
      <vt:lpstr>Dangling Participles</vt:lpstr>
      <vt:lpstr>Poll Question 1</vt:lpstr>
      <vt:lpstr>Subject/Verb Agreement</vt:lpstr>
      <vt:lpstr>Pronoun/Antecedent Agreement</vt:lpstr>
      <vt:lpstr>Verb Tense</vt:lpstr>
      <vt:lpstr>PowerPoint Presentation</vt:lpstr>
      <vt:lpstr>Commonly Confused Words</vt:lpstr>
      <vt:lpstr>Commonly Confused Words</vt:lpstr>
      <vt:lpstr>Commonly Confused Words</vt:lpstr>
      <vt:lpstr>Commonly Confused Words</vt:lpstr>
      <vt:lpstr>Poll Question 2</vt:lpstr>
      <vt:lpstr>Preparation Tips to Solve Sentence Correction Questions</vt:lpstr>
      <vt:lpstr>Applications</vt:lpstr>
      <vt:lpstr>Assessment Pattern   </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Vishal Monga</cp:lastModifiedBy>
  <cp:revision>184</cp:revision>
  <dcterms:created xsi:type="dcterms:W3CDTF">2019-01-09T10:33:58Z</dcterms:created>
  <dcterms:modified xsi:type="dcterms:W3CDTF">2023-07-11T08:35:40Z</dcterms:modified>
</cp:coreProperties>
</file>