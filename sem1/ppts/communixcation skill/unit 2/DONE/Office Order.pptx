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9"/>
  </p:notesMasterIdLst>
  <p:handoutMasterIdLst>
    <p:handoutMasterId r:id="rId20"/>
  </p:handoutMasterIdLst>
  <p:sldIdLst>
    <p:sldId id="423" r:id="rId3"/>
    <p:sldId id="424" r:id="rId4"/>
    <p:sldId id="422" r:id="rId5"/>
    <p:sldId id="390" r:id="rId6"/>
    <p:sldId id="402" r:id="rId7"/>
    <p:sldId id="403" r:id="rId8"/>
    <p:sldId id="404" r:id="rId9"/>
    <p:sldId id="394" r:id="rId10"/>
    <p:sldId id="396" r:id="rId11"/>
    <p:sldId id="397" r:id="rId12"/>
    <p:sldId id="398" r:id="rId13"/>
    <p:sldId id="408" r:id="rId14"/>
    <p:sldId id="401" r:id="rId15"/>
    <p:sldId id="405" r:id="rId16"/>
    <p:sldId id="406" r:id="rId17"/>
    <p:sldId id="40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835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0" autoAdjust="0"/>
    <p:restoredTop sz="94660" autoAdjust="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476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peducation.com/home" TargetMode="External"/><Relationship Id="rId2" Type="http://schemas.openxmlformats.org/officeDocument/2006/relationships/hyperlink" Target="https://www.pearson.com/u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pick.in/prime/documents/notes/details/4727/memos-circulars-and-notice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3394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106511" y="5974967"/>
            <a:ext cx="61415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Office order</a:t>
            </a:r>
          </a:p>
          <a:p>
            <a:pPr eaLnBrk="1" hangingPunct="1"/>
            <a:endParaRPr lang="en-US" sz="1400" dirty="0">
              <a:latin typeface="Raleway ExtraBold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6018" y="1781555"/>
            <a:ext cx="5806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5988" y="624840"/>
            <a:ext cx="5149532" cy="108204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Course Outcomes </a:t>
            </a:r>
            <a:endParaRPr lang="en-IN" sz="3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80BAFE-5E54-191E-5CD5-2CD1339CFA21}"/>
              </a:ext>
            </a:extLst>
          </p:cNvPr>
          <p:cNvSpPr/>
          <p:nvPr/>
        </p:nvSpPr>
        <p:spPr>
          <a:xfrm>
            <a:off x="8668760" y="6272206"/>
            <a:ext cx="254558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latin typeface="Arial" pitchFamily="34" charset="0"/>
                <a:cs typeface="Arial" pitchFamily="34" charset="0"/>
              </a:rPr>
              <a:t>www.blogspot.com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E3550ABB-C332-EE9C-FE1E-3EE7E5386E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5" t="5597" r="17810" b="4628"/>
          <a:stretch/>
        </p:blipFill>
        <p:spPr bwMode="auto">
          <a:xfrm>
            <a:off x="7219664" y="1296533"/>
            <a:ext cx="4094329" cy="4708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60FEBC-B759-9C0E-42BA-BE5400C28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54588"/>
              </p:ext>
            </p:extLst>
          </p:nvPr>
        </p:nvGraphicFramePr>
        <p:xfrm>
          <a:off x="206553" y="213359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64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Office Order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825625"/>
            <a:ext cx="5944737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Office order is a means of internal communication within an organization.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term 'order' generally means telling subordinates to do or refrain from doing a specific job.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By passing an order, high level executives want their subordinates to carry out the order.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69289" y="1842379"/>
            <a:ext cx="4570863" cy="429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8424384" y="6339056"/>
            <a:ext cx="2494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http://matrixdubai.com/</a:t>
            </a:r>
          </a:p>
        </p:txBody>
      </p:sp>
    </p:spTree>
    <p:extLst>
      <p:ext uri="{BB962C8B-B14F-4D97-AF65-F5344CB8AC3E}">
        <p14:creationId xmlns:p14="http://schemas.microsoft.com/office/powerpoint/2010/main" val="223322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Features of Office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48952" cy="4351338"/>
          </a:xfrm>
        </p:spPr>
        <p:txBody>
          <a:bodyPr>
            <a:normAutofit/>
          </a:bodyPr>
          <a:lstStyle/>
          <a:p>
            <a:pPr marL="287338" lvl="1" indent="-177800"/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287338" lvl="1" indent="-177800"/>
            <a:r>
              <a:rPr lang="en-US" sz="2800" dirty="0">
                <a:latin typeface="Arial" pitchFamily="34" charset="0"/>
                <a:cs typeface="Arial" pitchFamily="34" charset="0"/>
              </a:rPr>
              <a:t>It is a means of Downward Communication.</a:t>
            </a:r>
          </a:p>
          <a:p>
            <a:pPr marL="287338" lvl="1" indent="-177800"/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287338" lvl="1" indent="-177800"/>
            <a:r>
              <a:rPr lang="en-US" sz="2800" dirty="0">
                <a:latin typeface="Arial" pitchFamily="34" charset="0"/>
                <a:cs typeface="Arial" pitchFamily="34" charset="0"/>
              </a:rPr>
              <a:t>It carries a stamp of authority.</a:t>
            </a:r>
          </a:p>
          <a:p>
            <a:pPr marL="287338" lvl="1" indent="-177800"/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287338" lvl="1" indent="-177800"/>
            <a:r>
              <a:rPr lang="en-US" sz="2800" dirty="0">
                <a:latin typeface="Arial" pitchFamily="34" charset="0"/>
                <a:cs typeface="Arial" pitchFamily="34" charset="0"/>
              </a:rPr>
              <a:t>People working at lower level are bound to accept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982" y="1844769"/>
            <a:ext cx="4830169" cy="43001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008077" y="6271168"/>
            <a:ext cx="2069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 "/>
              </a:rPr>
              <a:t>www.roarwap.com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anose="020B0A04020102020204" pitchFamily="34" charset="0"/>
              </a:rPr>
              <a:t>Matters Concerned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It is used to communicate matters concerning:</a:t>
            </a:r>
          </a:p>
          <a:p>
            <a:pPr lvl="1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87" y="2333766"/>
            <a:ext cx="10072047" cy="3770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  <a:cs typeface="Arial" panose="020B0604020202020204" pitchFamily="34" charset="0"/>
              </a:rPr>
              <a:t>Essentials of Office Order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order must be precise.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should be written in very simple words.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order should be written in unoffending language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should clearly specify for whom they are meant.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should be correct, short &amp; to the point.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It must contain specific instructions or directions for                   compliance.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must be authentic &amp; duly signed by a competent authority.</a:t>
            </a:r>
          </a:p>
          <a:p>
            <a:pPr marL="457200" lvl="1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Poll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1775" lvl="1" indent="0"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‘Transfer’ is one of the matters that is communicated through office orders.</a:t>
            </a:r>
          </a:p>
          <a:p>
            <a:pPr marL="231775" lvl="1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688975" lvl="1" indent="-457200"/>
            <a:r>
              <a:rPr lang="en-US" sz="2800" dirty="0">
                <a:latin typeface="Arial" pitchFamily="34" charset="0"/>
                <a:cs typeface="Arial" pitchFamily="34" charset="0"/>
              </a:rPr>
              <a:t>Yes</a:t>
            </a:r>
          </a:p>
          <a:p>
            <a:pPr marL="688975" lvl="1" indent="-457200"/>
            <a:r>
              <a:rPr lang="en-US" sz="2800" dirty="0">
                <a:latin typeface="Arial" pitchFamily="34" charset="0"/>
                <a:cs typeface="Arial" pitchFamily="34" charset="0"/>
              </a:rPr>
              <a:t>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SAMPLE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189" lvl="0" indent="-457189" algn="ctr" defTabSz="1219170" latinLnBrk="1">
              <a:lnSpc>
                <a:spcPct val="100000"/>
              </a:lnSpc>
              <a:spcBef>
                <a:spcPct val="20000"/>
              </a:spcBef>
              <a:buNone/>
            </a:pPr>
            <a:r>
              <a:rPr lang="en-US" sz="1500" b="1" dirty="0">
                <a:solidFill>
                  <a:prstClr val="black"/>
                </a:solidFill>
                <a:latin typeface="Arial"/>
                <a:ea typeface="Arial Unicode MS"/>
              </a:rPr>
              <a:t> </a:t>
            </a:r>
            <a:r>
              <a:rPr lang="en-US" sz="1900" b="1" dirty="0" err="1">
                <a:latin typeface="Arial" pitchFamily="34" charset="0"/>
                <a:cs typeface="Arial" pitchFamily="34" charset="0"/>
              </a:rPr>
              <a:t>Aman</a:t>
            </a:r>
            <a:r>
              <a:rPr lang="en-US" sz="1900" b="1" dirty="0">
                <a:latin typeface="Arial" pitchFamily="34" charset="0"/>
                <a:cs typeface="Arial" pitchFamily="34" charset="0"/>
              </a:rPr>
              <a:t> Watch Company</a:t>
            </a:r>
          </a:p>
          <a:p>
            <a:pPr algn="ctr">
              <a:buNone/>
            </a:pPr>
            <a:r>
              <a:rPr lang="en-US" sz="1900" b="1" dirty="0">
                <a:latin typeface="Arial" pitchFamily="34" charset="0"/>
                <a:cs typeface="Arial" pitchFamily="34" charset="0"/>
              </a:rPr>
              <a:t>New Delhi</a:t>
            </a:r>
          </a:p>
          <a:p>
            <a:pPr algn="ctr">
              <a:buNone/>
            </a:pPr>
            <a:r>
              <a:rPr lang="en-US" sz="1900" b="1" dirty="0">
                <a:latin typeface="Arial" pitchFamily="34" charset="0"/>
                <a:cs typeface="Arial" pitchFamily="34" charset="0"/>
              </a:rPr>
              <a:t>OFFICE ORDER</a:t>
            </a:r>
            <a:endParaRPr lang="en-US" sz="30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900" b="1" dirty="0">
                <a:latin typeface="Arial" pitchFamily="34" charset="0"/>
                <a:cs typeface="Arial" pitchFamily="34" charset="0"/>
              </a:rPr>
              <a:t>        Reference :HR/2016/08                                   				Dated: 15-07-2020</a:t>
            </a:r>
          </a:p>
          <a:p>
            <a:pPr>
              <a:buNone/>
            </a:pPr>
            <a:endParaRPr lang="en-US" sz="1900" b="1" dirty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1900" b="1" dirty="0">
                <a:latin typeface="Arial" pitchFamily="34" charset="0"/>
                <a:cs typeface="Arial" pitchFamily="34" charset="0"/>
              </a:rPr>
              <a:t>         The management is pleased to grant the promotion to </a:t>
            </a:r>
            <a:r>
              <a:rPr lang="en-US" sz="1900" b="1" dirty="0" err="1">
                <a:latin typeface="Arial" pitchFamily="34" charset="0"/>
                <a:cs typeface="Arial" pitchFamily="34" charset="0"/>
              </a:rPr>
              <a:t>Mr.Ashish</a:t>
            </a:r>
            <a:r>
              <a:rPr lang="en-US" sz="19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900" b="1" dirty="0" err="1">
                <a:latin typeface="Arial" pitchFamily="34" charset="0"/>
                <a:cs typeface="Arial" pitchFamily="34" charset="0"/>
              </a:rPr>
              <a:t>Sinha</a:t>
            </a:r>
            <a:r>
              <a:rPr lang="en-US" sz="1900" b="1" dirty="0">
                <a:latin typeface="Arial" pitchFamily="34" charset="0"/>
                <a:cs typeface="Arial" pitchFamily="34" charset="0"/>
              </a:rPr>
              <a:t> in recognition of his meritorious services to our organization for the last five years. With effect from 20-07-2020, he will hold the rank of Sales Manager and would be entitled to all the emoluments and benefits of this post.</a:t>
            </a:r>
          </a:p>
          <a:p>
            <a:pPr>
              <a:buNone/>
            </a:pPr>
            <a:r>
              <a:rPr lang="en-US" sz="19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r>
              <a:rPr lang="en-US" sz="1900" b="1" dirty="0">
                <a:latin typeface="Arial" pitchFamily="34" charset="0"/>
                <a:cs typeface="Arial" pitchFamily="34" charset="0"/>
              </a:rPr>
              <a:t>       Copy to:                           	   		      	     </a:t>
            </a:r>
            <a:r>
              <a:rPr lang="en-US" sz="1900" b="1" dirty="0" err="1">
                <a:latin typeface="Arial" pitchFamily="34" charset="0"/>
                <a:cs typeface="Arial" pitchFamily="34" charset="0"/>
              </a:rPr>
              <a:t>Amit</a:t>
            </a:r>
            <a:r>
              <a:rPr lang="en-US" sz="19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900" b="1" dirty="0" err="1">
                <a:latin typeface="Arial" pitchFamily="34" charset="0"/>
                <a:cs typeface="Arial" pitchFamily="34" charset="0"/>
              </a:rPr>
              <a:t>Sood</a:t>
            </a:r>
            <a:endParaRPr lang="en-US" sz="19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900" b="1" dirty="0">
                <a:latin typeface="Arial" pitchFamily="34" charset="0"/>
                <a:cs typeface="Arial" pitchFamily="34" charset="0"/>
              </a:rPr>
              <a:t>       Accounts Officer                                                                 Human Resource Manager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Arial Black" pitchFamily="34" charset="0"/>
              </a:rPr>
              <a:t>DIFFERENCE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62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33195"/>
            <a:ext cx="10521950" cy="4548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Differences contd.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50" y="1760492"/>
            <a:ext cx="10521950" cy="4602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Poll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Tick the correct option that better suits to Office Order:</a:t>
            </a:r>
          </a:p>
          <a:p>
            <a:pPr marL="457200" lvl="1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is mandatory of compliance by all.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is an information for all.</a:t>
            </a:r>
          </a:p>
          <a:p>
            <a:pPr lvl="1"/>
            <a:r>
              <a:rPr lang="en-US" sz="2800" dirty="0">
                <a:latin typeface="Arial" pitchFamily="34" charset="0"/>
                <a:cs typeface="Arial" pitchFamily="34" charset="0"/>
              </a:rPr>
              <a:t>is an advisory for all.</a:t>
            </a:r>
          </a:p>
          <a:p>
            <a:pPr marL="457200" lvl="1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220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instructions about the work related information by the       organization helps to work smoothly.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Correct grammar , punctuation and spellings are the keys in  written communication , hence these can be improved with the practice.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Technical words used in writing skills improve vocabulary . </a:t>
            </a:r>
          </a:p>
          <a:p>
            <a:pPr marL="514350" indent="-514350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</a:p>
          <a:p>
            <a:pPr marL="457200" lvl="1" indent="0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008077" y="6301946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62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0248" y="1817401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71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  <a:cs typeface="Arial" panose="020B0604020202020204" pitchFamily="34" charset="0"/>
              </a:rPr>
              <a:t>References</a:t>
            </a:r>
            <a:r>
              <a:rPr lang="en-US" b="1" dirty="0">
                <a:latin typeface="Aerial black"/>
                <a:cs typeface="Arial" panose="020B0604020202020204" pitchFamily="34" charset="0"/>
              </a:rPr>
              <a:t> </a:t>
            </a:r>
            <a:r>
              <a:rPr lang="en-US" dirty="0">
                <a:latin typeface="Aerial black"/>
              </a:rPr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  <a:hlinkClick r:id="rId2"/>
              </a:rPr>
              <a:t>https://www.pearson.com/us/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  <a:hlinkClick r:id="rId3"/>
              </a:rPr>
              <a:t>https://www.atpeducation.com/home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  <a:hlinkClick r:id="rId4"/>
              </a:rPr>
              <a:t>https://www.learnpick.in/prime/documents/notes/details/4727/memos-circulars-and-notice</a:t>
            </a: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Practical English Usage fourth  edition by Michael Swan(Online book at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Flipkart</a:t>
            </a:r>
            <a:r>
              <a:rPr lang="en-IN" dirty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768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5524134</TotalTime>
  <Words>739</Words>
  <Application>Microsoft Office PowerPoint</Application>
  <PresentationFormat>Widescreen</PresentationFormat>
  <Paragraphs>127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Aerial black</vt:lpstr>
      <vt:lpstr>Arial</vt:lpstr>
      <vt:lpstr>Arial 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 </vt:lpstr>
      <vt:lpstr>Office Order</vt:lpstr>
      <vt:lpstr>Features of Office Order</vt:lpstr>
      <vt:lpstr>Matters Concerned</vt:lpstr>
      <vt:lpstr>Essentials of Office Order</vt:lpstr>
      <vt:lpstr>Poll Question 1</vt:lpstr>
      <vt:lpstr>SAMPLE</vt:lpstr>
      <vt:lpstr>DIFFERENCE</vt:lpstr>
      <vt:lpstr>Differences contd.</vt:lpstr>
      <vt:lpstr>Poll Question 2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424</cp:revision>
  <dcterms:created xsi:type="dcterms:W3CDTF">2019-01-09T10:33:58Z</dcterms:created>
  <dcterms:modified xsi:type="dcterms:W3CDTF">2023-07-11T08:36:27Z</dcterms:modified>
</cp:coreProperties>
</file>