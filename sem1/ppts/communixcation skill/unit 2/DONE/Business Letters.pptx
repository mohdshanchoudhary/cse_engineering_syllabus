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33"/>
  </p:notesMasterIdLst>
  <p:handoutMasterIdLst>
    <p:handoutMasterId r:id="rId34"/>
  </p:handoutMasterIdLst>
  <p:sldIdLst>
    <p:sldId id="423" r:id="rId3"/>
    <p:sldId id="397" r:id="rId4"/>
    <p:sldId id="422" r:id="rId5"/>
    <p:sldId id="342" r:id="rId6"/>
    <p:sldId id="343" r:id="rId7"/>
    <p:sldId id="344" r:id="rId8"/>
    <p:sldId id="349" r:id="rId9"/>
    <p:sldId id="350" r:id="rId10"/>
    <p:sldId id="381" r:id="rId11"/>
    <p:sldId id="382" r:id="rId12"/>
    <p:sldId id="356" r:id="rId13"/>
    <p:sldId id="357" r:id="rId14"/>
    <p:sldId id="358" r:id="rId15"/>
    <p:sldId id="359" r:id="rId16"/>
    <p:sldId id="360" r:id="rId17"/>
    <p:sldId id="361" r:id="rId18"/>
    <p:sldId id="364" r:id="rId19"/>
    <p:sldId id="365" r:id="rId20"/>
    <p:sldId id="366" r:id="rId21"/>
    <p:sldId id="367" r:id="rId22"/>
    <p:sldId id="368" r:id="rId23"/>
    <p:sldId id="369" r:id="rId24"/>
    <p:sldId id="370" r:id="rId25"/>
    <p:sldId id="371" r:id="rId26"/>
    <p:sldId id="372" r:id="rId27"/>
    <p:sldId id="375" r:id="rId28"/>
    <p:sldId id="376" r:id="rId29"/>
    <p:sldId id="377" r:id="rId30"/>
    <p:sldId id="378" r:id="rId31"/>
    <p:sldId id="37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726" autoAdjust="0"/>
    <p:restoredTop sz="94660"/>
  </p:normalViewPr>
  <p:slideViewPr>
    <p:cSldViewPr snapToGrid="0">
      <p:cViewPr varScale="1">
        <p:scale>
          <a:sx n="71" d="100"/>
          <a:sy n="71" d="100"/>
        </p:scale>
        <p:origin x="66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7/11/2023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7/11/2023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ioviedo.es/reunido/index.php/EBL/index" TargetMode="External"/><Relationship Id="rId2" Type="http://schemas.openxmlformats.org/officeDocument/2006/relationships/hyperlink" Target="http://www.jfips.com/joubuslet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researchgate.net/journal/0021-9436_Journal_of_Business_Communication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0" y="5339447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7045437" y="-6496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55050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-106511" y="5974967"/>
            <a:ext cx="614155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b="1" dirty="0">
                <a:solidFill>
                  <a:prstClr val="black">
                    <a:lumMod val="85000"/>
                    <a:lumOff val="15000"/>
                  </a:prstClr>
                </a:solidFill>
                <a:latin typeface="Arial" pitchFamily="34" charset="0"/>
                <a:cs typeface="Arial" pitchFamily="34" charset="0"/>
              </a:rPr>
              <a:t>Business letters</a:t>
            </a:r>
          </a:p>
          <a:p>
            <a:pPr eaLnBrk="1" hangingPunct="1"/>
            <a:endParaRPr lang="en-US" sz="1400" dirty="0">
              <a:latin typeface="Raleway ExtraBold" pitchFamily="34" charset="-5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871857" y="6296559"/>
            <a:ext cx="1830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1447800" y="1554480"/>
            <a:ext cx="9464040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Liberal Arts and Humanities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Name – Communication Skills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Course Code – 23PCH-105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4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4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/>
            <a:endParaRPr lang="en-US" sz="2000" dirty="0">
              <a:latin typeface="Raleway ExtraBold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2156142" y="629692"/>
            <a:ext cx="7810818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>
                <a:latin typeface="Arial Black" pitchFamily="34" charset="0"/>
                <a:ea typeface="Karla" pitchFamily="2" charset="0"/>
                <a:cs typeface="Karla" pitchFamily="2" charset="0"/>
              </a:rPr>
              <a:t>COURSE OBJECTIVES</a:t>
            </a:r>
            <a:br>
              <a:rPr lang="en-US" sz="2000" dirty="0">
                <a:latin typeface="Karla" pitchFamily="2" charset="0"/>
                <a:ea typeface="Karla" pitchFamily="2" charset="0"/>
                <a:cs typeface="Karla" pitchFamily="2" charset="0"/>
              </a:rPr>
            </a:br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0698" y="2285999"/>
          <a:ext cx="10708342" cy="377090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130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95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867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Augment students overall communication and interpersonal skills by making them realize the importance of good oral and written English Language in professional life.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Enrich their reading capability with special emphasis on expanding vocabulary and grammatical formations.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2400" b="1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Arial" pitchFamily="34" charset="0"/>
                          <a:ea typeface="+mn-ea"/>
                          <a:cs typeface="Arial" pitchFamily="34" charset="0"/>
                        </a:rPr>
                        <a:t>Build exceptional speaking, reading and writing skills by correcting grammatical errors and pronunciation through practice.</a:t>
                      </a:r>
                      <a:endParaRPr lang="en-US" sz="2400" b="0" dirty="0"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34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Times New Roman" panose="02020603050405020304" pitchFamily="18" charset="0"/>
                          <a:cs typeface="Arial" pitchFamily="34" charset="0"/>
                        </a:rPr>
                        <a:t>Enhances soft skills by fostering self awareness, confidence and a positive attitude in students’ ability to communicate effectively in English.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39887652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492162" y="1616818"/>
            <a:ext cx="29562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The Course aims to:</a:t>
            </a: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462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06018" y="1781555"/>
            <a:ext cx="580644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On completion, the students are expected to: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915988" y="624840"/>
            <a:ext cx="5149532" cy="1082040"/>
          </a:xfrm>
        </p:spPr>
        <p:txBody>
          <a:bodyPr>
            <a:noAutofit/>
          </a:bodyPr>
          <a:lstStyle/>
          <a:p>
            <a:pPr algn="ctr"/>
            <a:r>
              <a:rPr lang="en-US" sz="4400" b="1" dirty="0">
                <a:latin typeface="Arial Black" pitchFamily="34" charset="0"/>
              </a:rPr>
              <a:t>Course Outcomes </a:t>
            </a:r>
            <a:endParaRPr lang="en-IN" sz="3600" dirty="0"/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F7CE0FDC-AB46-4DD6-AF41-953063E47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69376" y="1057975"/>
            <a:ext cx="4469133" cy="55090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/>
          </a:sp3d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25E8668-B260-3DBC-7349-1083938E32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154588"/>
              </p:ext>
            </p:extLst>
          </p:nvPr>
        </p:nvGraphicFramePr>
        <p:xfrm>
          <a:off x="206553" y="2133599"/>
          <a:ext cx="6670497" cy="449580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543484">
                  <a:extLst>
                    <a:ext uri="{9D8B030D-6E8A-4147-A177-3AD203B41FA5}">
                      <a16:colId xmlns:a16="http://schemas.microsoft.com/office/drawing/2014/main" val="4168448416"/>
                    </a:ext>
                  </a:extLst>
                </a:gridCol>
                <a:gridCol w="4854552">
                  <a:extLst>
                    <a:ext uri="{9D8B030D-6E8A-4147-A177-3AD203B41FA5}">
                      <a16:colId xmlns:a16="http://schemas.microsoft.com/office/drawing/2014/main" val="2558219792"/>
                    </a:ext>
                  </a:extLst>
                </a:gridCol>
                <a:gridCol w="1272461">
                  <a:extLst>
                    <a:ext uri="{9D8B030D-6E8A-4147-A177-3AD203B41FA5}">
                      <a16:colId xmlns:a16="http://schemas.microsoft.com/office/drawing/2014/main" val="1836805902"/>
                    </a:ext>
                  </a:extLst>
                </a:gridCol>
              </a:tblGrid>
              <a:tr h="76399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CO Number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Title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 </a:t>
                      </a:r>
                      <a:endParaRPr lang="en-IN" sz="12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b="1" dirty="0">
                          <a:effectLst/>
                          <a:latin typeface="+mn-lt"/>
                        </a:rPr>
                        <a:t>Level</a:t>
                      </a:r>
                      <a:endParaRPr lang="en-IN" sz="1200" b="1" dirty="0"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27487202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CO1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appropriate Listening, Speaking, Reading and Writing Skills (LSRW Skills) with correct non-verbal cues to attain expertise in soft skills.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301671737"/>
                  </a:ext>
                </a:extLst>
              </a:tr>
              <a:tr h="71990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CO2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Apply correct contextual and comprehensible written text in the form of paragraph writing, short compositions business correspondence, using logical support and argument in a wide range of communication situations.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872378065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CO3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Demonstrate linguistic competence while speaking and during presentations through accuracy in grammatical usage, vocabulary, pronunciation and intonation.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Apply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555796211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CO4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Evaluate information as critical readers, speakers and writers applying ethics in communication and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being sensitive in cross cultural communication.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Evaluate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01307360"/>
                  </a:ext>
                </a:extLst>
              </a:tr>
              <a:tr h="7639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CO5</a:t>
                      </a:r>
                      <a:endParaRPr lang="en-IN" sz="120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57591" marR="57591" marT="7999" marB="0" anchor="ctr"/>
                </a:tc>
                <a:tc>
                  <a:txBody>
                    <a:bodyPr/>
                    <a:lstStyle/>
                    <a:p>
                      <a:pPr indent="-31115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</a:rPr>
                        <a:t> Create original, digital content for websites, blogs, vlogs and personal social media profiles etc.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 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Create</a:t>
                      </a:r>
                      <a:endParaRPr lang="en-IN" sz="1200" dirty="0">
                        <a:solidFill>
                          <a:schemeClr val="tx1"/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552195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7642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199" y="1888604"/>
            <a:ext cx="10515600" cy="4270149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2800" b="1" dirty="0">
                <a:latin typeface="Arial" pitchFamily="34" charset="0"/>
                <a:cs typeface="Arial" pitchFamily="34" charset="0"/>
              </a:rPr>
              <a:t>Letter</a:t>
            </a:r>
          </a:p>
          <a:p>
            <a:pPr>
              <a:lnSpc>
                <a:spcPct val="110000"/>
              </a:lnSpc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The business letter is the basic means of communication between two companies.</a:t>
            </a:r>
          </a:p>
          <a:p>
            <a:pPr>
              <a:lnSpc>
                <a:spcPct val="110000"/>
              </a:lnSpc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Most business letters have a formal tone. </a:t>
            </a:r>
          </a:p>
          <a:p>
            <a:pPr>
              <a:lnSpc>
                <a:spcPct val="110000"/>
              </a:lnSpc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10000"/>
              </a:lnSpc>
            </a:pPr>
            <a:r>
              <a:rPr lang="en-US" sz="2800" b="1" dirty="0">
                <a:latin typeface="Arial" pitchFamily="34" charset="0"/>
                <a:cs typeface="Arial" pitchFamily="34" charset="0"/>
              </a:rPr>
              <a:t>Letters may be created and sent as:</a:t>
            </a:r>
          </a:p>
          <a:p>
            <a:pPr>
              <a:lnSpc>
                <a:spcPct val="110000"/>
              </a:lnSpc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E mail or electronic submission</a:t>
            </a:r>
          </a:p>
          <a:p>
            <a:pPr>
              <a:lnSpc>
                <a:spcPct val="110000"/>
              </a:lnSpc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Hand- delivered transmissions</a:t>
            </a:r>
          </a:p>
          <a:p>
            <a:pPr>
              <a:lnSpc>
                <a:spcPct val="110000"/>
              </a:lnSpc>
              <a:buFont typeface="Arial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Regular mail transmission</a:t>
            </a: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82228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838200" y="1888604"/>
            <a:ext cx="10515600" cy="42701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247DC5-3E67-0E1C-E306-19A031F40D39}"/>
              </a:ext>
            </a:extLst>
          </p:cNvPr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C465B60-29AD-3B6C-70D9-7EA96C6FD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4900" b="1" dirty="0">
                <a:latin typeface="Arial Black" pitchFamily="34" charset="0"/>
                <a:cs typeface="Arial" pitchFamily="34" charset="0"/>
              </a:rPr>
              <a:t>Business Letters</a:t>
            </a:r>
            <a:endParaRPr lang="en-US" sz="4900" dirty="0">
              <a:latin typeface="Arial Black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sz="4900" b="1" dirty="0">
                <a:latin typeface="Arial Black" pitchFamily="34" charset="0"/>
                <a:cs typeface="Arial" pitchFamily="34" charset="0"/>
              </a:rPr>
              <a:t>Difference Between a Letter and an Application</a:t>
            </a:r>
            <a:endParaRPr lang="en-US" sz="4900" dirty="0"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60000"/>
              </a:lnSpc>
              <a:buClr>
                <a:schemeClr val="folHlink"/>
              </a:buClr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A 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letter</a:t>
            </a:r>
            <a:r>
              <a:rPr lang="en-US" dirty="0">
                <a:latin typeface="Arial" pitchFamily="34" charset="0"/>
                <a:cs typeface="Arial" pitchFamily="34" charset="0"/>
              </a:rPr>
              <a:t> is common form of external communication. It can be either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formal </a:t>
            </a:r>
            <a:r>
              <a:rPr lang="en-US" dirty="0">
                <a:latin typeface="Arial" pitchFamily="34" charset="0"/>
                <a:cs typeface="Arial" pitchFamily="34" charset="0"/>
              </a:rPr>
              <a:t>(also known as Business letters)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" pitchFamily="34" charset="0"/>
                <a:cs typeface="Arial" pitchFamily="34" charset="0"/>
              </a:rPr>
              <a:t>or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informal</a:t>
            </a:r>
            <a:r>
              <a:rPr lang="en-US" dirty="0">
                <a:latin typeface="Arial" pitchFamily="34" charset="0"/>
                <a:cs typeface="Arial" pitchFamily="34" charset="0"/>
              </a:rPr>
              <a:t>.</a:t>
            </a:r>
          </a:p>
          <a:p>
            <a:pPr algn="just">
              <a:lnSpc>
                <a:spcPct val="160000"/>
              </a:lnSpc>
              <a:buClr>
                <a:schemeClr val="folHlink"/>
              </a:buClr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An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application</a:t>
            </a:r>
            <a:r>
              <a:rPr lang="en-US" dirty="0">
                <a:latin typeface="Arial" pitchFamily="34" charset="0"/>
                <a:cs typeface="Arial" pitchFamily="34" charset="0"/>
              </a:rPr>
              <a:t> is a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formal</a:t>
            </a:r>
            <a:r>
              <a:rPr lang="en-US" dirty="0">
                <a:latin typeface="Arial" pitchFamily="34" charset="0"/>
                <a:cs typeface="Arial" pitchFamily="34" charset="0"/>
              </a:rPr>
              <a:t> letter which can be used for applying for leave, job or any professional request.</a:t>
            </a:r>
          </a:p>
          <a:p>
            <a:pPr>
              <a:buNone/>
            </a:pPr>
            <a:endParaRPr lang="en-US" sz="4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latin typeface="Arial Black" pitchFamily="34" charset="0"/>
                <a:cs typeface="Arial" pitchFamily="34" charset="0"/>
              </a:rPr>
              <a:t>Formal and Informal letters</a:t>
            </a:r>
            <a:endParaRPr lang="en-US" dirty="0">
              <a:latin typeface="Arial Black" pitchFamily="34" charset="0"/>
              <a:cs typeface="Arial" pitchFamily="34" charset="0"/>
            </a:endParaRP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838200" y="1799499"/>
          <a:ext cx="10515600" cy="4346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487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Formal</a:t>
                      </a:r>
                      <a:r>
                        <a:rPr lang="en-US" sz="2800" baseline="0" dirty="0">
                          <a:latin typeface="Arial" pitchFamily="34" charset="0"/>
                          <a:cs typeface="Arial" pitchFamily="34" charset="0"/>
                        </a:rPr>
                        <a:t> Letters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Informal Letters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113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Formal letters</a:t>
                      </a:r>
                      <a:r>
                        <a:rPr lang="en-US" sz="2800" baseline="0" dirty="0">
                          <a:latin typeface="Arial" pitchFamily="34" charset="0"/>
                          <a:cs typeface="Arial" pitchFamily="34" charset="0"/>
                        </a:rPr>
                        <a:t> follow a particular format for writing.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Informal letters do not follow any</a:t>
                      </a:r>
                      <a:r>
                        <a:rPr lang="en-US" sz="2800" baseline="0" dirty="0">
                          <a:latin typeface="Arial" pitchFamily="34" charset="0"/>
                          <a:cs typeface="Arial" pitchFamily="34" charset="0"/>
                        </a:rPr>
                        <a:t> specific format for writing.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8113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To give a professional</a:t>
                      </a:r>
                      <a:r>
                        <a:rPr lang="en-US" sz="2800" baseline="0" dirty="0">
                          <a:latin typeface="Arial" pitchFamily="34" charset="0"/>
                          <a:cs typeface="Arial" pitchFamily="34" charset="0"/>
                        </a:rPr>
                        <a:t> look, the formal letters need to be typed on the computer.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These letters can be hand written.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97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These are written to a formal entity like bank manager, news editor, government official etc.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These letters are written to friends, relatives</a:t>
                      </a:r>
                      <a:r>
                        <a:rPr lang="en-US" sz="2800" baseline="0" dirty="0">
                          <a:latin typeface="Arial" pitchFamily="34" charset="0"/>
                          <a:cs typeface="Arial" pitchFamily="34" charset="0"/>
                        </a:rPr>
                        <a:t> or parents.</a:t>
                      </a:r>
                      <a:endParaRPr lang="en-US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latin typeface="Arial Black" pitchFamily="34" charset="0"/>
                <a:cs typeface="Arial" pitchFamily="34" charset="0"/>
              </a:rPr>
              <a:t>Letter Mechanics</a:t>
            </a:r>
            <a:endParaRPr lang="en-US" dirty="0"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None/>
            </a:pPr>
            <a:r>
              <a:rPr lang="en-US" b="1" dirty="0">
                <a:latin typeface="Arial" pitchFamily="34" charset="0"/>
                <a:cs typeface="Arial" pitchFamily="34" charset="0"/>
              </a:rPr>
              <a:t>Pronoun (Point of View)</a:t>
            </a:r>
          </a:p>
          <a:p>
            <a:pPr>
              <a:lnSpc>
                <a:spcPct val="150000"/>
              </a:lnSpc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The use of personal pronouns is important in letters . . . I, he, she, it, we, they, you.</a:t>
            </a:r>
          </a:p>
          <a:p>
            <a:pPr>
              <a:lnSpc>
                <a:spcPct val="150000"/>
              </a:lnSpc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It is perfected to shift our focus from “I” and “We” to “You” and “Your”. The </a:t>
            </a:r>
            <a:r>
              <a:rPr lang="en-US" i="1" dirty="0">
                <a:latin typeface="Arial" pitchFamily="34" charset="0"/>
                <a:cs typeface="Arial" pitchFamily="34" charset="0"/>
              </a:rPr>
              <a:t>you-attitude is </a:t>
            </a:r>
            <a:r>
              <a:rPr lang="en-US" dirty="0">
                <a:latin typeface="Arial" pitchFamily="34" charset="0"/>
                <a:cs typeface="Arial" pitchFamily="34" charset="0"/>
              </a:rPr>
              <a:t>recipient –centered.</a:t>
            </a:r>
          </a:p>
          <a:p>
            <a:pPr>
              <a:lnSpc>
                <a:spcPct val="150000"/>
              </a:lnSpc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Writer has to  view things from the reader’s point of view.</a:t>
            </a:r>
          </a:p>
          <a:p>
            <a:pPr marL="514350" indent="-514350"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latin typeface="Arial Black" pitchFamily="34" charset="0"/>
                <a:cs typeface="Arial" pitchFamily="34" charset="0"/>
              </a:rPr>
              <a:t>Pronoun Point of view (cont.)</a:t>
            </a:r>
            <a:endParaRPr lang="en-US" dirty="0"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838200" y="1786436"/>
          <a:ext cx="10515600" cy="4418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429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WE- attitude</a:t>
                      </a:r>
                      <a:endParaRPr lang="en-IN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" pitchFamily="34" charset="0"/>
                          <a:cs typeface="Arial" pitchFamily="34" charset="0"/>
                        </a:rPr>
                        <a:t>YOU- attitude</a:t>
                      </a:r>
                      <a:endParaRPr lang="en-IN" sz="2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254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We have received your letter of June 15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Thank you for your letter of June15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07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I have five year’s experience as a sales executive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Five year’s practical experience as a sales executive will enable me to push up your sales.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78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We have shipped the two dozen steel racks you ordered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800" dirty="0">
                          <a:latin typeface="Arial" pitchFamily="34" charset="0"/>
                          <a:cs typeface="Arial" pitchFamily="34" charset="0"/>
                        </a:rPr>
                        <a:t>Your two dozen steel racks should reach you soon/with this letter.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075" y="339000"/>
            <a:ext cx="10515600" cy="1325563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dirty="0">
                <a:latin typeface="Arial Black" pitchFamily="34" charset="0"/>
              </a:rPr>
              <a:t>Do’s and </a:t>
            </a:r>
            <a:r>
              <a:rPr lang="en-IN" dirty="0" err="1">
                <a:latin typeface="Arial Black" pitchFamily="34" charset="0"/>
              </a:rPr>
              <a:t>Dont’s</a:t>
            </a:r>
            <a:r>
              <a:rPr lang="en-IN" dirty="0">
                <a:latin typeface="Arial Black" pitchFamily="34" charset="0"/>
              </a:rPr>
              <a:t> of Letter Writing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DO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write with the reader in mind.</a:t>
            </a:r>
          </a:p>
          <a:p>
            <a:pPr>
              <a:lnSpc>
                <a:spcPct val="1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DON'T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become over-reliant on your computer's spelling/grammar checking facility.</a:t>
            </a:r>
          </a:p>
          <a:p>
            <a:pPr>
              <a:lnSpc>
                <a:spcPct val="1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DO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keep writing as simple and succinct as possible.</a:t>
            </a:r>
          </a:p>
          <a:p>
            <a:pPr>
              <a:lnSpc>
                <a:spcPct val="1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DON'T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 be tempted to use sarcasm jokingly in written communication.</a:t>
            </a:r>
          </a:p>
          <a:p>
            <a:pPr>
              <a:lnSpc>
                <a:spcPct val="10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DO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structure and organize your business writing.</a:t>
            </a:r>
          </a:p>
          <a:p>
            <a:pPr>
              <a:lnSpc>
                <a:spcPct val="100000"/>
              </a:lnSpc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IN" dirty="0">
                <a:latin typeface="Arial Black" pitchFamily="34" charset="0"/>
              </a:rPr>
              <a:t>DO’S AND DONT’S OF LETTER WRITING 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DON'T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 careless when writing a recipient's name, gender, or professional title.</a:t>
            </a:r>
          </a:p>
          <a:p>
            <a:pPr>
              <a:lnSpc>
                <a:spcPct val="11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DO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choose an appropriate tone for your business writing.</a:t>
            </a:r>
          </a:p>
          <a:p>
            <a:pPr>
              <a:lnSpc>
                <a:spcPct val="11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DON'T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forget to include a call to action if a response is needed.</a:t>
            </a:r>
          </a:p>
          <a:p>
            <a:pPr>
              <a:lnSpc>
                <a:spcPct val="11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DO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save your best-written documents as templates for future use.</a:t>
            </a:r>
          </a:p>
          <a:p>
            <a:pPr>
              <a:lnSpc>
                <a:spcPct val="110000"/>
              </a:lnSpc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DON'T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 unprofessional in your writing.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latin typeface="Arial Black" pitchFamily="34" charset="0"/>
                <a:cs typeface="Arial" pitchFamily="34" charset="0"/>
              </a:rPr>
              <a:t>Parts of a Business Letter</a:t>
            </a:r>
            <a:endParaRPr lang="en-US" dirty="0"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399"/>
            <a:ext cx="10515600" cy="440145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5169" name="Picture 1"/>
          <p:cNvPicPr>
            <a:picLocks noChangeAspect="1" noChangeArrowheads="1"/>
          </p:cNvPicPr>
          <p:nvPr/>
        </p:nvPicPr>
        <p:blipFill>
          <a:blip r:embed="rId2"/>
          <a:srcRect l="27810" t="38393" r="13257" b="17321"/>
          <a:stretch>
            <a:fillRect/>
          </a:stretch>
        </p:blipFill>
        <p:spPr bwMode="auto">
          <a:xfrm>
            <a:off x="838200" y="1763485"/>
            <a:ext cx="10515601" cy="4441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itchFamily="34" charset="0"/>
              </a:rPr>
              <a:t>Format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latin typeface="Arial Black" pitchFamily="34" charset="0"/>
                <a:cs typeface="Arial" pitchFamily="34" charset="0"/>
              </a:rPr>
              <a:t>of a Business Letter</a:t>
            </a:r>
            <a:endParaRPr lang="en-US" dirty="0"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There are three main styles of Business Letters:</a:t>
            </a:r>
          </a:p>
          <a:p>
            <a:pPr algn="just">
              <a:buNone/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Block style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Modified Block style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Semi-block style</a:t>
            </a:r>
          </a:p>
          <a:p>
            <a:pPr algn="just">
              <a:buNone/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algn="just"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The Block style format is the most popular.</a:t>
            </a:r>
          </a:p>
          <a:p>
            <a:pPr algn="just">
              <a:defRPr/>
            </a:pPr>
            <a:endParaRPr lang="en-US" sz="3300" dirty="0">
              <a:latin typeface="Arial" pitchFamily="34" charset="0"/>
              <a:cs typeface="Arial" pitchFamily="34" charset="0"/>
            </a:endParaRPr>
          </a:p>
          <a:p>
            <a:pPr algn="just">
              <a:defRPr/>
            </a:pPr>
            <a:endParaRPr lang="en-US" sz="3300" dirty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endParaRPr lang="en-US" sz="4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/>
          <p:cNvSpPr/>
          <p:nvPr/>
        </p:nvSpPr>
        <p:spPr>
          <a:xfrm>
            <a:off x="1432572" y="2934789"/>
            <a:ext cx="2220685" cy="3135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/>
          <p:cNvSpPr/>
          <p:nvPr/>
        </p:nvSpPr>
        <p:spPr>
          <a:xfrm>
            <a:off x="1458698" y="2346959"/>
            <a:ext cx="2220685" cy="3135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463052" y="1802674"/>
            <a:ext cx="2220685" cy="3135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 Black" pitchFamily="34" charset="0"/>
                <a:cs typeface="Arial" pitchFamily="34" charset="0"/>
              </a:rPr>
              <a:t>Block Style Letter Format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321" name="Picture 1"/>
          <p:cNvPicPr>
            <a:picLocks noChangeAspect="1" noChangeArrowheads="1"/>
          </p:cNvPicPr>
          <p:nvPr/>
        </p:nvPicPr>
        <p:blipFill>
          <a:blip r:embed="rId2"/>
          <a:srcRect l="9237" t="21964" r="50403" b="8571"/>
          <a:stretch>
            <a:fillRect/>
          </a:stretch>
        </p:blipFill>
        <p:spPr bwMode="auto">
          <a:xfrm>
            <a:off x="4663439" y="1763485"/>
            <a:ext cx="6688185" cy="45328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0" name="Right Arrow 19"/>
          <p:cNvSpPr/>
          <p:nvPr/>
        </p:nvSpPr>
        <p:spPr>
          <a:xfrm>
            <a:off x="3722925" y="1802674"/>
            <a:ext cx="796833" cy="3396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ight Arrow 20"/>
          <p:cNvSpPr/>
          <p:nvPr/>
        </p:nvSpPr>
        <p:spPr>
          <a:xfrm>
            <a:off x="3722926" y="2386152"/>
            <a:ext cx="779416" cy="3396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ight Arrow 29"/>
          <p:cNvSpPr/>
          <p:nvPr/>
        </p:nvSpPr>
        <p:spPr>
          <a:xfrm>
            <a:off x="3735988" y="2978332"/>
            <a:ext cx="757645" cy="3396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ight Arrow 30"/>
          <p:cNvSpPr/>
          <p:nvPr/>
        </p:nvSpPr>
        <p:spPr>
          <a:xfrm>
            <a:off x="3670674" y="4493624"/>
            <a:ext cx="757645" cy="3396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ight Arrow 31"/>
          <p:cNvSpPr/>
          <p:nvPr/>
        </p:nvSpPr>
        <p:spPr>
          <a:xfrm>
            <a:off x="3657612" y="5499463"/>
            <a:ext cx="744582" cy="3396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Left Arrow 32"/>
          <p:cNvSpPr/>
          <p:nvPr/>
        </p:nvSpPr>
        <p:spPr>
          <a:xfrm>
            <a:off x="6766559" y="3370217"/>
            <a:ext cx="613955" cy="26125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Left Arrow 33"/>
          <p:cNvSpPr/>
          <p:nvPr/>
        </p:nvSpPr>
        <p:spPr>
          <a:xfrm>
            <a:off x="6788330" y="3775167"/>
            <a:ext cx="605247" cy="25690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Box 34"/>
          <p:cNvSpPr txBox="1"/>
          <p:nvPr/>
        </p:nvSpPr>
        <p:spPr>
          <a:xfrm>
            <a:off x="1410800" y="1750423"/>
            <a:ext cx="23568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Sender’s Address</a:t>
            </a:r>
            <a:endParaRPr lang="en-IN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445634" y="2294709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Date Line</a:t>
            </a:r>
            <a:endParaRPr lang="en-IN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445635" y="2908664"/>
            <a:ext cx="20138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Inside Address</a:t>
            </a:r>
            <a:endParaRPr lang="en-IN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410789" y="4506686"/>
            <a:ext cx="2220685" cy="3135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Rectangle 42"/>
          <p:cNvSpPr/>
          <p:nvPr/>
        </p:nvSpPr>
        <p:spPr>
          <a:xfrm>
            <a:off x="822961" y="5512526"/>
            <a:ext cx="2782388" cy="3265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Rectangle 43"/>
          <p:cNvSpPr/>
          <p:nvPr/>
        </p:nvSpPr>
        <p:spPr>
          <a:xfrm>
            <a:off x="7519852" y="3291840"/>
            <a:ext cx="1754777" cy="32221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Rectangle 44"/>
          <p:cNvSpPr/>
          <p:nvPr/>
        </p:nvSpPr>
        <p:spPr>
          <a:xfrm>
            <a:off x="7519852" y="3696790"/>
            <a:ext cx="1754777" cy="34834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TextBox 45"/>
          <p:cNvSpPr txBox="1"/>
          <p:nvPr/>
        </p:nvSpPr>
        <p:spPr>
          <a:xfrm>
            <a:off x="1415154" y="4458789"/>
            <a:ext cx="14814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Main Body</a:t>
            </a:r>
            <a:endParaRPr lang="en-IN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36021" y="5464628"/>
            <a:ext cx="32293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Complimentary Close</a:t>
            </a:r>
            <a:endParaRPr lang="en-IN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593885" y="3257006"/>
            <a:ext cx="17091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Subject Line</a:t>
            </a:r>
            <a:endParaRPr lang="en-IN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554697" y="3675017"/>
            <a:ext cx="14237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Salutation</a:t>
            </a:r>
            <a:endParaRPr lang="en-IN" sz="2000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1953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br>
              <a:rPr lang="en-US" b="1" dirty="0">
                <a:latin typeface="Arial" pitchFamily="34" charset="0"/>
                <a:cs typeface="Arial" pitchFamily="34" charset="0"/>
              </a:rPr>
            </a:br>
            <a:r>
              <a:rPr lang="en-US" dirty="0">
                <a:latin typeface="Arial Black" pitchFamily="34" charset="0"/>
                <a:cs typeface="Arial" pitchFamily="34" charset="0"/>
              </a:rPr>
              <a:t>Business Letter - Content</a:t>
            </a:r>
            <a:br>
              <a:rPr lang="en-US" sz="4900" dirty="0">
                <a:latin typeface="Arial Black" pitchFamily="34" charset="0"/>
              </a:rPr>
            </a:br>
            <a:endParaRPr lang="en-US" sz="4900" dirty="0"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Body of the letter is the main content of the letter.</a:t>
            </a:r>
          </a:p>
          <a:p>
            <a:pPr>
              <a:lnSpc>
                <a:spcPct val="150000"/>
              </a:lnSpc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Split the body of long letters to smaller paragraphs.. </a:t>
            </a:r>
          </a:p>
          <a:p>
            <a:pPr>
              <a:lnSpc>
                <a:spcPct val="150000"/>
              </a:lnSpc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The first paragraph should grab attention and state the reason for the letter.</a:t>
            </a:r>
          </a:p>
          <a:p>
            <a:pPr>
              <a:lnSpc>
                <a:spcPct val="150000"/>
              </a:lnSpc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The middle paragraphs must support your reason and go into details.</a:t>
            </a:r>
          </a:p>
          <a:p>
            <a:pPr>
              <a:buNone/>
            </a:pPr>
            <a:endParaRPr lang="en-US" sz="4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9465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br>
              <a:rPr lang="en-US" b="1" dirty="0">
                <a:latin typeface="Arial" pitchFamily="34" charset="0"/>
                <a:cs typeface="Arial" pitchFamily="34" charset="0"/>
              </a:rPr>
            </a:br>
            <a:r>
              <a:rPr lang="en-US" sz="4900" dirty="0">
                <a:latin typeface="Arial Black" pitchFamily="34" charset="0"/>
                <a:cs typeface="Arial" pitchFamily="34" charset="0"/>
              </a:rPr>
              <a:t>Business Letter – Content (cont.)</a:t>
            </a:r>
            <a:br>
              <a:rPr lang="en-US" sz="4900" dirty="0">
                <a:latin typeface="Arial Black" pitchFamily="34" charset="0"/>
              </a:rPr>
            </a:br>
            <a:endParaRPr lang="en-US" sz="4900" dirty="0"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In the final paragraph request the recipient to take some kind of action. It includes ‘call for action’.</a:t>
            </a:r>
          </a:p>
          <a:p>
            <a:pPr marL="234950" indent="-234950" algn="just">
              <a:lnSpc>
                <a:spcPct val="150000"/>
              </a:lnSpc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Use of Transitional words during writing the letters: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However, so, therefore, thus, consequently </a:t>
            </a:r>
            <a:r>
              <a:rPr lang="en-US" dirty="0">
                <a:latin typeface="Arial" pitchFamily="34" charset="0"/>
                <a:cs typeface="Arial" pitchFamily="34" charset="0"/>
              </a:rPr>
              <a:t>etc. are some of the transitional words we use while shifting the paragraphs. </a:t>
            </a:r>
          </a:p>
          <a:p>
            <a:pPr marL="234950" indent="-234950" algn="just">
              <a:lnSpc>
                <a:spcPct val="150000"/>
              </a:lnSpc>
              <a:defRPr/>
            </a:pPr>
            <a:r>
              <a:rPr lang="en-US" dirty="0">
                <a:latin typeface="Arial" pitchFamily="34" charset="0"/>
                <a:cs typeface="Arial" pitchFamily="34" charset="0"/>
              </a:rPr>
              <a:t>Do not leave room for ambiguity.</a:t>
            </a:r>
          </a:p>
          <a:p>
            <a:pPr>
              <a:buNone/>
            </a:pPr>
            <a:endParaRPr lang="en-US" sz="4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914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 Black" pitchFamily="34" charset="0"/>
                <a:cs typeface="Arial" pitchFamily="34" charset="0"/>
              </a:rPr>
              <a:t>Business Letter – Content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The closing of a business letter usually states ‘Sincerely,’ followed by three blank lines for the writer’s signature and then the writer’s typed name.</a:t>
            </a:r>
          </a:p>
          <a:p>
            <a:pPr>
              <a:buNone/>
            </a:pPr>
            <a:endParaRPr lang="en-US" sz="4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651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IN" b="1" dirty="0">
                <a:latin typeface="Arial Black" pitchFamily="34" charset="0"/>
                <a:cs typeface="Arial" pitchFamily="34" charset="0"/>
              </a:rPr>
              <a:t>Kinds of Business Letters</a:t>
            </a:r>
            <a:endParaRPr lang="en-US" dirty="0"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dirty="0">
                <a:latin typeface="Arial" pitchFamily="34" charset="0"/>
                <a:cs typeface="Arial" pitchFamily="34" charset="0"/>
              </a:rPr>
              <a:t>There are many kinds of the business letters according to need: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Enquiry letter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Offer and Quotations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Order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Acknowledgement letters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Sales letters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Complaint and Adjustments</a:t>
            </a:r>
          </a:p>
          <a:p>
            <a:r>
              <a:rPr lang="en-IN" dirty="0">
                <a:latin typeface="Arial" pitchFamily="34" charset="0"/>
                <a:cs typeface="Arial" pitchFamily="34" charset="0"/>
              </a:rPr>
              <a:t>Collection Letters</a:t>
            </a:r>
          </a:p>
          <a:p>
            <a:pPr>
              <a:buNone/>
            </a:pPr>
            <a:endParaRPr lang="en-US" sz="4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dirty="0">
                <a:latin typeface="Arial Black" pitchFamily="34" charset="0"/>
                <a:cs typeface="Arial" pitchFamily="34" charset="0"/>
              </a:rPr>
              <a:t>Enquiry letter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Letters of enquiry describe what the writer wants and why.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b="1" dirty="0">
                <a:latin typeface="Arial" pitchFamily="34" charset="0"/>
                <a:cs typeface="Arial" pitchFamily="34" charset="0"/>
              </a:rPr>
              <a:t>Solicited enquiry</a:t>
            </a:r>
            <a:r>
              <a:rPr lang="en-US" dirty="0">
                <a:latin typeface="Arial" pitchFamily="34" charset="0"/>
                <a:cs typeface="Arial" pitchFamily="34" charset="0"/>
              </a:rPr>
              <a:t>: An enquiry made in response to the seller’s advertisement and publicity.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b="1" dirty="0">
                <a:latin typeface="Arial" pitchFamily="34" charset="0"/>
                <a:cs typeface="Arial" pitchFamily="34" charset="0"/>
              </a:rPr>
              <a:t>Unsolicited enquiry</a:t>
            </a:r>
            <a:r>
              <a:rPr lang="en-US" dirty="0">
                <a:latin typeface="Arial" pitchFamily="34" charset="0"/>
                <a:cs typeface="Arial" pitchFamily="34" charset="0"/>
              </a:rPr>
              <a:t>: An enquiry made the buyer’s own initiative.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b="1" dirty="0">
                <a:latin typeface="Arial" pitchFamily="34" charset="0"/>
                <a:cs typeface="Arial" pitchFamily="34" charset="0"/>
              </a:rPr>
              <a:t>Enquiry for some favor</a:t>
            </a:r>
            <a:r>
              <a:rPr lang="en-US" dirty="0">
                <a:latin typeface="Arial" pitchFamily="34" charset="0"/>
                <a:cs typeface="Arial" pitchFamily="34" charset="0"/>
              </a:rPr>
              <a:t>: An enquiry not about goods but about some other </a:t>
            </a:r>
            <a:r>
              <a:rPr lang="en-US" i="1" dirty="0">
                <a:latin typeface="Arial" pitchFamily="34" charset="0"/>
                <a:cs typeface="Arial" pitchFamily="34" charset="0"/>
              </a:rPr>
              <a:t>information</a:t>
            </a:r>
            <a:r>
              <a:rPr lang="en-US" dirty="0">
                <a:latin typeface="Arial" pitchFamily="34" charset="0"/>
                <a:cs typeface="Arial" pitchFamily="34" charset="0"/>
              </a:rPr>
              <a:t>, may be about some special price or some favorable terms.</a:t>
            </a:r>
          </a:p>
          <a:p>
            <a:pPr>
              <a:buNone/>
            </a:pPr>
            <a:endParaRPr lang="en-US" sz="4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Arial Black" pitchFamily="34" charset="0"/>
                <a:cs typeface="Arial" pitchFamily="34" charset="0"/>
              </a:rPr>
              <a:t> </a:t>
            </a:r>
            <a:br>
              <a:rPr lang="en-US" b="1" dirty="0">
                <a:latin typeface="Arial Black" pitchFamily="34" charset="0"/>
                <a:cs typeface="Arial" pitchFamily="34" charset="0"/>
              </a:rPr>
            </a:br>
            <a:r>
              <a:rPr lang="en-US" dirty="0">
                <a:latin typeface="Arial Black" pitchFamily="34" charset="0"/>
                <a:cs typeface="Arial" pitchFamily="34" charset="0"/>
              </a:rPr>
              <a:t>Enquiry letter (cont.)</a:t>
            </a:r>
            <a:br>
              <a:rPr lang="en-US" dirty="0">
                <a:latin typeface="Arial" pitchFamily="34" charset="0"/>
                <a:cs typeface="Arial" pitchFamily="34" charset="0"/>
              </a:rPr>
            </a:b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Opening statement </a:t>
            </a:r>
            <a:r>
              <a:rPr lang="en-US" dirty="0">
                <a:latin typeface="Arial" pitchFamily="34" charset="0"/>
                <a:cs typeface="Arial" pitchFamily="34" charset="0"/>
              </a:rPr>
              <a:t>:Suitable opening sentences in a letter of enquiry includes: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</a:t>
            </a:r>
            <a:r>
              <a:rPr lang="en-US" i="1" dirty="0">
                <a:latin typeface="Arial" pitchFamily="34" charset="0"/>
                <a:cs typeface="Arial" pitchFamily="34" charset="0"/>
              </a:rPr>
              <a:t>We shall be glad to receive details of your terms and conditions for the supply of the following items</a:t>
            </a:r>
            <a:r>
              <a:rPr lang="en-US" dirty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en-US" b="1" dirty="0">
                <a:latin typeface="Arial" pitchFamily="34" charset="0"/>
                <a:cs typeface="Arial" pitchFamily="34" charset="0"/>
              </a:rPr>
              <a:t>Closing statement</a:t>
            </a:r>
            <a:r>
              <a:rPr lang="en-US" dirty="0">
                <a:latin typeface="Arial" pitchFamily="34" charset="0"/>
                <a:cs typeface="Arial" pitchFamily="34" charset="0"/>
              </a:rPr>
              <a:t>: Suitable opening sentences in a letter of enquiry includes:</a:t>
            </a:r>
          </a:p>
          <a:p>
            <a:pPr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</a:t>
            </a:r>
            <a:r>
              <a:rPr lang="en-US" i="1" dirty="0">
                <a:latin typeface="Arial" pitchFamily="34" charset="0"/>
                <a:cs typeface="Arial" pitchFamily="34" charset="0"/>
              </a:rPr>
              <a:t>We look forward to your reply. If your terms are favourable, we will be pleased to send our order immediately</a:t>
            </a:r>
            <a:r>
              <a:rPr lang="en-US" i="1" dirty="0"/>
              <a:t>.</a:t>
            </a:r>
          </a:p>
          <a:p>
            <a:pPr>
              <a:buNone/>
            </a:pPr>
            <a:endParaRPr lang="en-US" sz="4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itchFamily="34" charset="0"/>
              </a:rPr>
              <a:t> Quotation Letters</a:t>
            </a:r>
            <a:endParaRPr lang="en-US" dirty="0"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After enquires, quotations, stating various term and conditions, are stated or sometimes offers are made.</a:t>
            </a:r>
          </a:p>
          <a:p>
            <a:pPr algn="just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While drafting letter of quotations consider the following points:</a:t>
            </a: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Reply promptly to quotations and orders made in response to enquiry.</a:t>
            </a: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Make reasonable offers that can persuade the other party to buy.</a:t>
            </a:r>
          </a:p>
          <a:p>
            <a:pPr algn="just"/>
            <a:r>
              <a:rPr lang="en-US" dirty="0">
                <a:latin typeface="Arial" pitchFamily="34" charset="0"/>
                <a:cs typeface="Arial" pitchFamily="34" charset="0"/>
              </a:rPr>
              <a:t>Be clear about the various terms used in quoting prices.</a:t>
            </a:r>
          </a:p>
          <a:p>
            <a:pPr>
              <a:buNone/>
            </a:pPr>
            <a:endParaRPr lang="en-US" sz="4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b="1" dirty="0">
                <a:latin typeface="Arial Black" pitchFamily="34" charset="0"/>
                <a:cs typeface="Arial" pitchFamily="34" charset="0"/>
              </a:rPr>
              <a:t>Order Letters</a:t>
            </a:r>
            <a:endParaRPr lang="en-US" dirty="0"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44000" algn="just">
              <a:buNone/>
            </a:pPr>
            <a:r>
              <a:rPr lang="en-US" b="1" dirty="0">
                <a:latin typeface="Arial" pitchFamily="34" charset="0"/>
                <a:cs typeface="Arial" pitchFamily="34" charset="0"/>
              </a:rPr>
              <a:t>An order letter is also known as purchase letters.</a:t>
            </a:r>
          </a:p>
          <a:p>
            <a:pPr marL="144000" algn="just"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 marL="144000" algn="just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Orders placed by letter should-</a:t>
            </a:r>
          </a:p>
          <a:p>
            <a:pPr marL="144000" algn="just"/>
            <a:r>
              <a:rPr lang="en-US" dirty="0">
                <a:latin typeface="Arial" pitchFamily="34" charset="0"/>
                <a:cs typeface="Arial" pitchFamily="34" charset="0"/>
              </a:rPr>
              <a:t>Give full details and quote catalogue number, if any.</a:t>
            </a:r>
          </a:p>
          <a:p>
            <a:pPr marL="144000" algn="just"/>
            <a:r>
              <a:rPr lang="en-US" dirty="0">
                <a:latin typeface="Arial" pitchFamily="34" charset="0"/>
                <a:cs typeface="Arial" pitchFamily="34" charset="0"/>
              </a:rPr>
              <a:t>Give full description of the date of delivery, mode of transportation etc. </a:t>
            </a:r>
          </a:p>
          <a:p>
            <a:pPr marL="144000" algn="just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  <a:cs typeface="Arial" pitchFamily="34" charset="0"/>
              </a:rPr>
              <a:t>Acknowledgement Letters</a:t>
            </a:r>
            <a:endParaRPr lang="en-US" dirty="0"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44000" algn="just">
              <a:buNone/>
            </a:pPr>
            <a:r>
              <a:rPr lang="en-US" b="1" dirty="0">
                <a:latin typeface="Arial" pitchFamily="34" charset="0"/>
                <a:cs typeface="Arial" pitchFamily="34" charset="0"/>
              </a:rPr>
              <a:t>The receipt of the order should be acknowledged.</a:t>
            </a:r>
            <a:r>
              <a:rPr lang="en-US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144000" algn="just"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 </a:t>
            </a:r>
          </a:p>
          <a:p>
            <a:pPr marL="144000" algn="just"/>
            <a:r>
              <a:rPr lang="en-US" dirty="0">
                <a:latin typeface="Arial" pitchFamily="34" charset="0"/>
                <a:cs typeface="Arial" pitchFamily="34" charset="0"/>
              </a:rPr>
              <a:t>The letters bearing such acknowledgements are known as Acknowledgement letters.</a:t>
            </a:r>
          </a:p>
          <a:p>
            <a:pPr marL="144000" algn="just"/>
            <a:r>
              <a:rPr lang="en-US" dirty="0">
                <a:latin typeface="Arial" pitchFamily="34" charset="0"/>
                <a:cs typeface="Arial" pitchFamily="34" charset="0"/>
              </a:rPr>
              <a:t>This acknowledgement is a legal acceptance of all the mentioned points in the order letter.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itchFamily="34" charset="0"/>
              </a:rPr>
              <a:t>Sales letter</a:t>
            </a:r>
            <a:endParaRPr lang="en-US" dirty="0"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dirty="0">
                <a:latin typeface="Arial" pitchFamily="34" charset="0"/>
                <a:cs typeface="Arial" pitchFamily="34" charset="0"/>
              </a:rPr>
              <a:t> A document designed to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generate sales </a:t>
            </a:r>
            <a:r>
              <a:rPr lang="en-US" dirty="0">
                <a:latin typeface="Arial" pitchFamily="34" charset="0"/>
                <a:cs typeface="Arial" pitchFamily="34" charset="0"/>
              </a:rPr>
              <a:t>is known as Sales letter.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Influences the reader to take a specific action by making an offer.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Arial" pitchFamily="34" charset="0"/>
                <a:cs typeface="Arial" pitchFamily="34" charset="0"/>
              </a:rPr>
              <a:t>Convinces the reader to place an order.</a:t>
            </a:r>
          </a:p>
          <a:p>
            <a:pPr>
              <a:lnSpc>
                <a:spcPct val="100000"/>
              </a:lnSpc>
            </a:pPr>
            <a:r>
              <a:rPr lang="en-IN" dirty="0">
                <a:latin typeface="Arial" pitchFamily="34" charset="0"/>
                <a:cs typeface="Arial" pitchFamily="34" charset="0"/>
              </a:rPr>
              <a:t>Uses the language of persuasion which is indirect approach.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pPr algn="just">
              <a:lnSpc>
                <a:spcPct val="100000"/>
              </a:lnSpc>
              <a:buNone/>
            </a:pPr>
            <a:endParaRPr lang="en-US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00000"/>
              </a:lnSpc>
              <a:buNone/>
            </a:pPr>
            <a:endParaRPr lang="en-US" sz="4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49491" y="6361859"/>
            <a:ext cx="4198620" cy="23923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050" dirty="0">
                <a:latin typeface="Arial" pitchFamily="34" charset="0"/>
                <a:cs typeface="Arial" pitchFamily="34" charset="0"/>
              </a:rPr>
              <a:t>                          www.pinterst.com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2412" y="1475117"/>
            <a:ext cx="5471160" cy="4889452"/>
          </a:xfrm>
        </p:spPr>
        <p:txBody>
          <a:bodyPr>
            <a:normAutofit/>
          </a:bodyPr>
          <a:lstStyle/>
          <a:p>
            <a:pPr algn="just"/>
            <a:r>
              <a:rPr lang="en-US" sz="2800" b="1" dirty="0">
                <a:latin typeface="Arial" pitchFamily="34" charset="0"/>
                <a:cs typeface="Arial" pitchFamily="34" charset="0"/>
              </a:rPr>
              <a:t>Attention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: Attract the reader’s attention</a:t>
            </a:r>
          </a:p>
          <a:p>
            <a:pPr algn="just"/>
            <a:r>
              <a:rPr lang="en-US" sz="2800" b="1" dirty="0">
                <a:latin typeface="Arial" pitchFamily="34" charset="0"/>
                <a:cs typeface="Arial" pitchFamily="34" charset="0"/>
              </a:rPr>
              <a:t>Interest: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Build the reader’s interest in the product or service</a:t>
            </a:r>
          </a:p>
          <a:p>
            <a:pPr algn="just"/>
            <a:r>
              <a:rPr lang="en-US" sz="2800" b="1" dirty="0">
                <a:latin typeface="Arial" pitchFamily="34" charset="0"/>
                <a:cs typeface="Arial" pitchFamily="34" charset="0"/>
              </a:rPr>
              <a:t>Desire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: Create a desire in reader’s mind for the product or service </a:t>
            </a:r>
          </a:p>
          <a:p>
            <a:pPr algn="just"/>
            <a:r>
              <a:rPr lang="en-US" sz="2800" b="1" dirty="0">
                <a:latin typeface="Arial" pitchFamily="34" charset="0"/>
                <a:cs typeface="Arial" pitchFamily="34" charset="0"/>
              </a:rPr>
              <a:t>Action: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Induce the reader to take an action in </a:t>
            </a:r>
            <a:r>
              <a:rPr lang="en-US" sz="2800" dirty="0" err="1">
                <a:latin typeface="Arial" pitchFamily="34" charset="0"/>
                <a:cs typeface="Arial" pitchFamily="34" charset="0"/>
              </a:rPr>
              <a:t>favour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 of product or service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416040" y="1508760"/>
            <a:ext cx="4869180" cy="44818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9262" y="1436914"/>
            <a:ext cx="5722938" cy="49194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18055" y="1518249"/>
            <a:ext cx="4856669" cy="46237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13" name="Rectangle 12"/>
          <p:cNvSpPr/>
          <p:nvPr/>
        </p:nvSpPr>
        <p:spPr>
          <a:xfrm>
            <a:off x="12603192" y="2999406"/>
            <a:ext cx="6038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789614" y="284256"/>
            <a:ext cx="8477794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dirty="0">
                <a:latin typeface="Arial Black" pitchFamily="34" charset="0"/>
                <a:cs typeface="Arial" pitchFamily="34" charset="0"/>
              </a:rPr>
              <a:t>AIDA model for Sales letter  </a:t>
            </a:r>
            <a:br>
              <a:rPr lang="en-US" sz="4400" b="1" dirty="0">
                <a:latin typeface="Arial Black" pitchFamily="34" charset="0"/>
                <a:ea typeface="Karla" pitchFamily="2" charset="0"/>
                <a:cs typeface="Arial" pitchFamily="34" charset="0"/>
              </a:rPr>
            </a:b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25640" y="6374921"/>
            <a:ext cx="4198620" cy="23923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050" dirty="0">
                <a:latin typeface="Arial" pitchFamily="34" charset="0"/>
                <a:cs typeface="Arial" pitchFamily="34" charset="0"/>
              </a:rPr>
              <a:t>                                                                              www.pinterst.com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2603192" y="2999406"/>
            <a:ext cx="6038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89" name="AutoShape 13" descr="AIDA Model EXPLAINED with EXAMPLES | B2U | Business-to-you.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5791" name="Picture 1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59783" y="1815738"/>
            <a:ext cx="3298319" cy="44674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3"/>
          <a:srcRect l="17505" t="23304" r="51974" b="9018"/>
          <a:stretch>
            <a:fillRect/>
          </a:stretch>
        </p:blipFill>
        <p:spPr bwMode="auto">
          <a:xfrm>
            <a:off x="862144" y="1815737"/>
            <a:ext cx="7158449" cy="44674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9" name="Rectangle 18"/>
          <p:cNvSpPr/>
          <p:nvPr/>
        </p:nvSpPr>
        <p:spPr>
          <a:xfrm>
            <a:off x="840377" y="548642"/>
            <a:ext cx="1051124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400" b="1" dirty="0">
                <a:latin typeface="Arial Black" pitchFamily="34" charset="0"/>
                <a:cs typeface="Arial" pitchFamily="34" charset="0"/>
              </a:rPr>
              <a:t>Sample Sales Letter</a:t>
            </a:r>
            <a:endParaRPr lang="en-IN" sz="4400" dirty="0"/>
          </a:p>
        </p:txBody>
      </p:sp>
      <p:sp>
        <p:nvSpPr>
          <p:cNvPr id="20" name="Rectangle 19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828137" y="647792"/>
            <a:ext cx="10523486" cy="923330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>
                <a:latin typeface="Arial Black" pitchFamily="34" charset="0"/>
                <a:cs typeface="Arial" pitchFamily="34" charset="0"/>
              </a:rPr>
              <a:t>Let’s Practice</a:t>
            </a:r>
            <a:br>
              <a:rPr lang="en-US" sz="4400" b="1" dirty="0">
                <a:latin typeface="Arial Black" pitchFamily="34" charset="0"/>
                <a:ea typeface="Karla" pitchFamily="2" charset="0"/>
                <a:cs typeface="Arial" pitchFamily="34" charset="0"/>
              </a:rPr>
            </a:br>
            <a:endParaRPr lang="en-US" sz="1600" dirty="0">
              <a:latin typeface="Arial Black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2603192" y="2999406"/>
            <a:ext cx="60385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789" name="AutoShape 13" descr="AIDA Model EXPLAINED with EXAMPLES | B2U | Business-to-you.co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514350" lvl="0" indent="-514350" algn="just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You are a sales representative for your company. Write a letter to Mike Mason of ABC Enterprises, introducing one of your new products. Be sure to give important details about your product. Draft an AIDA letter.</a:t>
            </a:r>
          </a:p>
          <a:p>
            <a:pPr marL="514350" indent="-514350" algn="just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IN" sz="2800" dirty="0">
                <a:latin typeface="Arial" pitchFamily="34" charset="0"/>
                <a:cs typeface="Arial" pitchFamily="34" charset="0"/>
              </a:rPr>
              <a:t>You are the purchase officer for your company.</a:t>
            </a:r>
            <a:r>
              <a:rPr lang="en-US" sz="2800" dirty="0">
                <a:latin typeface="Arial" pitchFamily="34" charset="0"/>
                <a:cs typeface="Arial" pitchFamily="34" charset="0"/>
              </a:rPr>
              <a:t>Write a letter placing an order for office furniture, specifying the characteristics. Invent all the necessary details. 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endParaRPr lang="en-IN" sz="2800" dirty="0">
              <a:latin typeface="Arial" pitchFamily="34" charset="0"/>
              <a:cs typeface="Arial" pitchFamily="34" charset="0"/>
            </a:endParaRPr>
          </a:p>
          <a:p>
            <a:pPr marL="514350" indent="-514350">
              <a:buFont typeface="+mj-lt"/>
              <a:buAutoNum type="arabicPeriod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Applications</a:t>
            </a:r>
            <a:endParaRPr lang="en-US" b="1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Applicable to both personal and professional life.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Will strengthen the Business letter writing skills of students.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Students will be able to write letters in a wide range of professional situations and will get an extra edge on their professional skills.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711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/>
          <a:lstStyle/>
          <a:p>
            <a:pPr algn="ctr"/>
            <a:r>
              <a:rPr lang="en-US" dirty="0">
                <a:latin typeface="Arial Black" pitchFamily="34" charset="0"/>
                <a:cs typeface="Arial" panose="020B0604020202020204" pitchFamily="34" charset="0"/>
              </a:rPr>
              <a:t>Assessment Pattern</a:t>
            </a:r>
            <a:endParaRPr lang="en-US" dirty="0">
              <a:latin typeface="Arial Black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b="1" dirty="0">
                <a:latin typeface="Arial" pitchFamily="34" charset="0"/>
                <a:cs typeface="Arial" pitchFamily="34" charset="0"/>
              </a:rPr>
              <a:t>Students are assessed on the basis of the following parameters: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Hourly Tests - 2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Assignments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Surprise Test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Quiz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Student Engagement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End Semester Exam</a:t>
            </a: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361"/>
            <a:ext cx="10515600" cy="1279527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Arial Black" pitchFamily="34" charset="0"/>
                <a:cs typeface="Arial" panose="020B0604020202020204" pitchFamily="34" charset="0"/>
              </a:rPr>
              <a:t>References </a:t>
            </a:r>
            <a:r>
              <a:rPr lang="en-US" dirty="0">
                <a:latin typeface="Arial Black" pitchFamily="34" charset="0"/>
              </a:rPr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 dirty="0" err="1">
                <a:latin typeface="Arial" pitchFamily="34" charset="0"/>
                <a:cs typeface="Arial" pitchFamily="34" charset="0"/>
              </a:rPr>
              <a:t>Bean,B.C</a:t>
            </a:r>
            <a:r>
              <a:rPr lang="en-US" dirty="0">
                <a:latin typeface="Arial" pitchFamily="34" charset="0"/>
                <a:cs typeface="Arial" pitchFamily="34" charset="0"/>
              </a:rPr>
              <a:t>.(2017),</a:t>
            </a:r>
            <a:r>
              <a:rPr lang="en-US" i="1" dirty="0">
                <a:latin typeface="Arial" pitchFamily="34" charset="0"/>
                <a:cs typeface="Arial" pitchFamily="34" charset="0"/>
              </a:rPr>
              <a:t>Business Correspondence. </a:t>
            </a:r>
            <a:r>
              <a:rPr lang="en-US" dirty="0">
                <a:latin typeface="Arial" pitchFamily="34" charset="0"/>
                <a:cs typeface="Arial" pitchFamily="34" charset="0"/>
              </a:rPr>
              <a:t>Forgotten Books</a:t>
            </a:r>
            <a:r>
              <a:rPr lang="en-US" i="1" dirty="0">
                <a:latin typeface="Arial" pitchFamily="34" charset="0"/>
                <a:cs typeface="Arial" pitchFamily="34" charset="0"/>
              </a:rPr>
              <a:t>.</a:t>
            </a:r>
          </a:p>
          <a:p>
            <a:pPr lvl="0"/>
            <a:r>
              <a:rPr lang="en-US" dirty="0" err="1">
                <a:latin typeface="Arial" pitchFamily="34" charset="0"/>
                <a:cs typeface="Arial" pitchFamily="34" charset="0"/>
              </a:rPr>
              <a:t>Jovin,E</a:t>
            </a:r>
            <a:r>
              <a:rPr lang="en-US" dirty="0">
                <a:latin typeface="Arial" pitchFamily="34" charset="0"/>
                <a:cs typeface="Arial" pitchFamily="34" charset="0"/>
              </a:rPr>
              <a:t>. (2019). </a:t>
            </a:r>
            <a:r>
              <a:rPr lang="en-US" i="1" dirty="0">
                <a:latin typeface="Arial" pitchFamily="34" charset="0"/>
                <a:cs typeface="Arial" pitchFamily="34" charset="0"/>
              </a:rPr>
              <a:t>Writing for Business.</a:t>
            </a:r>
          </a:p>
          <a:p>
            <a:pPr lvl="0"/>
            <a:r>
              <a:rPr lang="en-US" dirty="0" err="1">
                <a:latin typeface="Arial" pitchFamily="34" charset="0"/>
                <a:cs typeface="Arial" pitchFamily="34" charset="0"/>
              </a:rPr>
              <a:t>Lougheed,L</a:t>
            </a:r>
            <a:r>
              <a:rPr lang="en-US" dirty="0">
                <a:latin typeface="Arial" pitchFamily="34" charset="0"/>
                <a:cs typeface="Arial" pitchFamily="34" charset="0"/>
              </a:rPr>
              <a:t>. (2002).</a:t>
            </a:r>
            <a:r>
              <a:rPr lang="en-US" i="1" dirty="0">
                <a:latin typeface="Arial" pitchFamily="34" charset="0"/>
                <a:cs typeface="Arial" pitchFamily="34" charset="0"/>
              </a:rPr>
              <a:t>Business </a:t>
            </a:r>
            <a:r>
              <a:rPr lang="en-US" i="1" dirty="0" err="1">
                <a:latin typeface="Arial" pitchFamily="34" charset="0"/>
                <a:cs typeface="Arial" pitchFamily="34" charset="0"/>
              </a:rPr>
              <a:t>Correspondece</a:t>
            </a:r>
            <a:r>
              <a:rPr lang="en-US" i="1" dirty="0">
                <a:latin typeface="Arial" pitchFamily="34" charset="0"/>
                <a:cs typeface="Arial" pitchFamily="34" charset="0"/>
              </a:rPr>
              <a:t>: </a:t>
            </a:r>
            <a:r>
              <a:rPr lang="en-US" dirty="0">
                <a:latin typeface="Arial" pitchFamily="34" charset="0"/>
                <a:cs typeface="Arial" pitchFamily="34" charset="0"/>
              </a:rPr>
              <a:t>A Guide to Everyday Writing. Pearson Education ESL.</a:t>
            </a:r>
          </a:p>
          <a:p>
            <a:pPr lvl="0"/>
            <a:r>
              <a:rPr lang="en-US" dirty="0">
                <a:latin typeface="Arial" pitchFamily="34" charset="0"/>
                <a:cs typeface="Arial" pitchFamily="34" charset="0"/>
                <a:hlinkClick r:id="rId2"/>
              </a:rPr>
              <a:t>http://www.jfip</a:t>
            </a:r>
          </a:p>
          <a:p>
            <a:pPr lvl="0"/>
            <a:r>
              <a:rPr lang="en-US" dirty="0">
                <a:latin typeface="Arial" pitchFamily="34" charset="0"/>
                <a:cs typeface="Arial" pitchFamily="34" charset="0"/>
                <a:hlinkClick r:id="rId3"/>
              </a:rPr>
              <a:t>https://www.unioviedo.es/reunido/i</a:t>
            </a:r>
          </a:p>
          <a:p>
            <a:pPr lvl="0"/>
            <a:r>
              <a:rPr lang="en-US" dirty="0">
                <a:latin typeface="Arial" pitchFamily="34" charset="0"/>
                <a:cs typeface="Arial" pitchFamily="34" charset="0"/>
                <a:hlinkClick r:id="rId4"/>
              </a:rPr>
              <a:t>https://www.researchgate.net/journal/0021-9436_Journal_of_Business_Communication </a:t>
            </a:r>
            <a:r>
              <a:rPr lang="en-US" dirty="0">
                <a:latin typeface="Arial" pitchFamily="34" charset="0"/>
                <a:cs typeface="Arial" pitchFamily="34" charset="0"/>
                <a:hlinkClick r:id="rId3"/>
              </a:rPr>
              <a:t>ndex.php/EBL/index </a:t>
            </a:r>
            <a:r>
              <a:rPr lang="en-US" dirty="0">
                <a:latin typeface="Arial" pitchFamily="34" charset="0"/>
                <a:cs typeface="Arial" pitchFamily="34" charset="0"/>
                <a:hlinkClick r:id="rId2"/>
              </a:rPr>
              <a:t>s.com/</a:t>
            </a:r>
            <a:r>
              <a:rPr lang="en-US" dirty="0" err="1">
                <a:latin typeface="Arial" pitchFamily="34" charset="0"/>
                <a:cs typeface="Arial" pitchFamily="34" charset="0"/>
                <a:hlinkClick r:id="rId2"/>
              </a:rPr>
              <a:t>joubuslet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3290</TotalTime>
  <Words>1635</Words>
  <Application>Microsoft Office PowerPoint</Application>
  <PresentationFormat>Widescreen</PresentationFormat>
  <Paragraphs>221</Paragraphs>
  <Slides>30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Arial</vt:lpstr>
      <vt:lpstr>Arial Black</vt:lpstr>
      <vt:lpstr>Calibri</vt:lpstr>
      <vt:lpstr>Calibri Light</vt:lpstr>
      <vt:lpstr>Casper</vt:lpstr>
      <vt:lpstr>Karla</vt:lpstr>
      <vt:lpstr>Raleway ExtraBold</vt:lpstr>
      <vt:lpstr>Times New Roman</vt:lpstr>
      <vt:lpstr>1_Office Theme</vt:lpstr>
      <vt:lpstr>Contents Slide Master</vt:lpstr>
      <vt:lpstr>CorelDRAW</vt:lpstr>
      <vt:lpstr>PowerPoint Presentation</vt:lpstr>
      <vt:lpstr>COURSE OBJECTIVES </vt:lpstr>
      <vt:lpstr>Course Outcomes </vt:lpstr>
      <vt:lpstr> Business Letters</vt:lpstr>
      <vt:lpstr> Difference Between a Letter and an Application</vt:lpstr>
      <vt:lpstr> Formal and Informal letters</vt:lpstr>
      <vt:lpstr> Letter Mechanics</vt:lpstr>
      <vt:lpstr> Pronoun Point of view (cont.)</vt:lpstr>
      <vt:lpstr>Do’s and Dont’s of Letter Writing</vt:lpstr>
      <vt:lpstr>DO’S AND DONT’S OF LETTER WRITING (CONTD.)</vt:lpstr>
      <vt:lpstr> Parts of a Business Letter</vt:lpstr>
      <vt:lpstr>Format of a Business Letter</vt:lpstr>
      <vt:lpstr> Block Style Letter Format</vt:lpstr>
      <vt:lpstr>  Business Letter - Content </vt:lpstr>
      <vt:lpstr>  Business Letter – Content (cont.) </vt:lpstr>
      <vt:lpstr> Business Letter – Content (cont.)</vt:lpstr>
      <vt:lpstr> Kinds of Business Letters</vt:lpstr>
      <vt:lpstr> Enquiry letter</vt:lpstr>
      <vt:lpstr>  Enquiry letter (cont.) </vt:lpstr>
      <vt:lpstr> Quotation Letters</vt:lpstr>
      <vt:lpstr> Order Letters</vt:lpstr>
      <vt:lpstr>Acknowledgement Letters</vt:lpstr>
      <vt:lpstr>Sales letter</vt:lpstr>
      <vt:lpstr>PowerPoint Presentation</vt:lpstr>
      <vt:lpstr>PowerPoint Presentation</vt:lpstr>
      <vt:lpstr>Let’s Practice </vt:lpstr>
      <vt:lpstr>Applications</vt:lpstr>
      <vt:lpstr>Assessment Pattern</vt:lpstr>
      <vt:lpstr>References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Vishal Monga</cp:lastModifiedBy>
  <cp:revision>293</cp:revision>
  <dcterms:created xsi:type="dcterms:W3CDTF">2019-01-09T10:33:58Z</dcterms:created>
  <dcterms:modified xsi:type="dcterms:W3CDTF">2023-07-11T08:35:04Z</dcterms:modified>
</cp:coreProperties>
</file>