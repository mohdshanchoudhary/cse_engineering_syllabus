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5"/>
  </p:notesMasterIdLst>
  <p:handoutMasterIdLst>
    <p:handoutMasterId r:id="rId36"/>
  </p:handoutMasterIdLst>
  <p:sldIdLst>
    <p:sldId id="277" r:id="rId3"/>
    <p:sldId id="397" r:id="rId4"/>
    <p:sldId id="422" r:id="rId5"/>
    <p:sldId id="313" r:id="rId6"/>
    <p:sldId id="281" r:id="rId7"/>
    <p:sldId id="280" r:id="rId8"/>
    <p:sldId id="286" r:id="rId9"/>
    <p:sldId id="287" r:id="rId10"/>
    <p:sldId id="322" r:id="rId11"/>
    <p:sldId id="288" r:id="rId12"/>
    <p:sldId id="289" r:id="rId13"/>
    <p:sldId id="292" r:id="rId14"/>
    <p:sldId id="290" r:id="rId15"/>
    <p:sldId id="304" r:id="rId16"/>
    <p:sldId id="323" r:id="rId17"/>
    <p:sldId id="293" r:id="rId18"/>
    <p:sldId id="294" r:id="rId19"/>
    <p:sldId id="295" r:id="rId20"/>
    <p:sldId id="302" r:id="rId21"/>
    <p:sldId id="296" r:id="rId22"/>
    <p:sldId id="299" r:id="rId23"/>
    <p:sldId id="324" r:id="rId24"/>
    <p:sldId id="297" r:id="rId25"/>
    <p:sldId id="298" r:id="rId26"/>
    <p:sldId id="303" r:id="rId27"/>
    <p:sldId id="321" r:id="rId28"/>
    <p:sldId id="306" r:id="rId29"/>
    <p:sldId id="317" r:id="rId30"/>
    <p:sldId id="283" r:id="rId31"/>
    <p:sldId id="282" r:id="rId32"/>
    <p:sldId id="284" r:id="rId33"/>
    <p:sldId id="27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ED8137"/>
    <a:srgbClr val="BC8F00"/>
    <a:srgbClr val="86000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7/11/2023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7/11/2023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package" Target="../embeddings/Microsoft_Word_Document.docx"/><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bizfluent.com/info-8775163-importance-having-agenda-meetings.html" TargetMode="External"/><Relationship Id="rId2" Type="http://schemas.openxmlformats.org/officeDocument/2006/relationships/hyperlink" Target="https://www.simonstapleton.com/wordpress/2012/04/18/10-reasons-why-team-meetings-are-important/" TargetMode="External"/><Relationship Id="rId1" Type="http://schemas.openxmlformats.org/officeDocument/2006/relationships/slideLayout" Target="../slideLayouts/slideLayout2.xml"/><Relationship Id="rId4" Type="http://schemas.openxmlformats.org/officeDocument/2006/relationships/hyperlink" Target="http://hcrc.revacomm.net/images/BOD/PONO/stop%20wasting%20valuable%20time.pdf"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39"/>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55050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106511" y="5974967"/>
            <a:ext cx="614155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Arial" pitchFamily="34" charset="0"/>
                <a:cs typeface="Arial" pitchFamily="34" charset="0"/>
              </a:rPr>
              <a:t>AGENDA &amp; MINUTES OF MEETING</a:t>
            </a:r>
          </a:p>
          <a:p>
            <a:pPr eaLnBrk="1" hangingPunct="1"/>
            <a:endParaRPr lang="en-US" sz="1400" dirty="0">
              <a:latin typeface="Raleway ExtraBold" pitchFamily="34" charset="-52"/>
            </a:endParaRPr>
          </a:p>
        </p:txBody>
      </p:sp>
      <p:sp>
        <p:nvSpPr>
          <p:cNvPr id="2" name="TextBox 1"/>
          <p:cNvSpPr txBox="1"/>
          <p:nvPr/>
        </p:nvSpPr>
        <p:spPr>
          <a:xfrm>
            <a:off x="3871857" y="6296559"/>
            <a:ext cx="1830785" cy="369332"/>
          </a:xfrm>
          <a:prstGeom prst="rect">
            <a:avLst/>
          </a:prstGeom>
          <a:noFill/>
        </p:spPr>
        <p:txBody>
          <a:bodyPr wrap="square" rtlCol="0">
            <a:spAutoFit/>
          </a:bodyPr>
          <a:lstStyle/>
          <a:p>
            <a:r>
              <a:rPr lang="en-US" dirty="0"/>
              <a:t> </a:t>
            </a:r>
          </a:p>
        </p:txBody>
      </p:sp>
      <p:sp>
        <p:nvSpPr>
          <p:cNvPr id="16" name="TextBox 15"/>
          <p:cNvSpPr txBox="1">
            <a:spLocks noChangeArrowheads="1"/>
          </p:cNvSpPr>
          <p:nvPr/>
        </p:nvSpPr>
        <p:spPr bwMode="auto">
          <a:xfrm>
            <a:off x="1447800" y="1554480"/>
            <a:ext cx="946404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4000" b="1" dirty="0">
                <a:latin typeface="Arial Black" panose="020B0A04020102020204" pitchFamily="34" charset="0"/>
                <a:ea typeface="Karla" pitchFamily="2" charset="0"/>
                <a:cs typeface="Karla" pitchFamily="2" charset="0"/>
              </a:rPr>
              <a:t>University Institute of Liberal Arts and Humanities</a:t>
            </a:r>
          </a:p>
          <a:p>
            <a:pPr lvl="0" algn="ctr" defTabSz="622300">
              <a:lnSpc>
                <a:spcPct val="90000"/>
              </a:lnSpc>
              <a:spcBef>
                <a:spcPct val="0"/>
              </a:spcBef>
              <a:spcAft>
                <a:spcPct val="350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Course Name- Communication Skills</a:t>
            </a:r>
          </a:p>
          <a:p>
            <a:pPr lvl="0" algn="ctr" defTabSz="622300">
              <a:lnSpc>
                <a:spcPct val="90000"/>
              </a:lnSpc>
              <a:spcBef>
                <a:spcPct val="0"/>
              </a:spcBef>
              <a:spcAft>
                <a:spcPct val="350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Course Code: 232PCH-105</a:t>
            </a:r>
          </a:p>
          <a:p>
            <a:pPr lvl="0" algn="ctr" defTabSz="622300">
              <a:lnSpc>
                <a:spcPct val="90000"/>
              </a:lnSpc>
              <a:spcBef>
                <a:spcPct val="0"/>
              </a:spcBef>
              <a:spcAft>
                <a:spcPct val="35000"/>
              </a:spcAft>
            </a:pPr>
            <a:endParaRPr lang="en-US" sz="40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40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40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20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156142" y="629692"/>
            <a:ext cx="781081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Arial Black" pitchFamily="34" charset="0"/>
                <a:ea typeface="Karla" pitchFamily="2" charset="0"/>
                <a:cs typeface="Karla" pitchFamily="2" charset="0"/>
              </a:rPr>
              <a:t>COURSE OBJECTIVES</a:t>
            </a:r>
            <a:br>
              <a:rPr lang="en-US" sz="2000"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660698" y="2285999"/>
          <a:ext cx="10708342" cy="3770907"/>
        </p:xfrm>
        <a:graphic>
          <a:graphicData uri="http://schemas.openxmlformats.org/drawingml/2006/table">
            <a:tbl>
              <a:tblPr firstRow="1" firstCol="1" bandRow="1">
                <a:tableStyleId>{5940675A-B579-460E-94D1-54222C63F5DA}</a:tableStyleId>
              </a:tblPr>
              <a:tblGrid>
                <a:gridCol w="1413086">
                  <a:extLst>
                    <a:ext uri="{9D8B030D-6E8A-4147-A177-3AD203B41FA5}">
                      <a16:colId xmlns:a16="http://schemas.microsoft.com/office/drawing/2014/main" val="20000"/>
                    </a:ext>
                  </a:extLst>
                </a:gridCol>
                <a:gridCol w="9295256">
                  <a:extLst>
                    <a:ext uri="{9D8B030D-6E8A-4147-A177-3AD203B41FA5}">
                      <a16:colId xmlns:a16="http://schemas.microsoft.com/office/drawing/2014/main" val="20001"/>
                    </a:ext>
                  </a:extLst>
                </a:gridCol>
              </a:tblGrid>
              <a:tr h="1186795">
                <a:tc>
                  <a:txBody>
                    <a:bodyPr/>
                    <a:lstStyle/>
                    <a:p>
                      <a:pPr marL="0" marR="0" algn="ctr">
                        <a:lnSpc>
                          <a:spcPct val="100000"/>
                        </a:lnSpc>
                        <a:spcBef>
                          <a:spcPts val="0"/>
                        </a:spcBef>
                        <a:spcAft>
                          <a:spcPts val="0"/>
                        </a:spcAft>
                      </a:pPr>
                      <a:r>
                        <a:rPr lang="en-US" sz="2400" b="1" dirty="0">
                          <a:solidFill>
                            <a:schemeClr val="tx1"/>
                          </a:solidFill>
                          <a:effectLst/>
                        </a:rPr>
                        <a:t>1</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Augment students overall communication and interpersonal skills by making them realize the importance of good oral and written English Language in professional life.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0"/>
                  </a:ext>
                </a:extLst>
              </a:tr>
              <a:tr h="743416">
                <a:tc>
                  <a:txBody>
                    <a:bodyPr/>
                    <a:lstStyle/>
                    <a:p>
                      <a:pPr marL="0" marR="0" algn="ctr">
                        <a:lnSpc>
                          <a:spcPct val="100000"/>
                        </a:lnSpc>
                        <a:spcBef>
                          <a:spcPts val="0"/>
                        </a:spcBef>
                        <a:spcAft>
                          <a:spcPts val="0"/>
                        </a:spcAft>
                      </a:pPr>
                      <a:r>
                        <a:rPr lang="en-US" sz="2400" b="1" dirty="0">
                          <a:solidFill>
                            <a:schemeClr val="tx1"/>
                          </a:solidFill>
                          <a:effectLst/>
                        </a:rPr>
                        <a:t>2</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Enrich their reading capability with special emphasis on expanding vocabulary and grammatical formations.</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1"/>
                  </a:ext>
                </a:extLst>
              </a:tr>
              <a:tr h="743416">
                <a:tc>
                  <a:txBody>
                    <a:bodyPr/>
                    <a:lstStyle/>
                    <a:p>
                      <a:pPr marL="0" marR="0" algn="ctr">
                        <a:lnSpc>
                          <a:spcPct val="100000"/>
                        </a:lnSpc>
                        <a:spcBef>
                          <a:spcPts val="0"/>
                        </a:spcBef>
                        <a:spcAft>
                          <a:spcPts val="0"/>
                        </a:spcAft>
                      </a:pPr>
                      <a:r>
                        <a:rPr lang="en-US" sz="2400" b="1" dirty="0">
                          <a:solidFill>
                            <a:schemeClr val="tx1"/>
                          </a:solidFill>
                          <a:effectLst/>
                        </a:rPr>
                        <a:t>3</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Build exceptional speaking, reading and writing skills by correcting grammatical errors and pronunciation through practice.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2"/>
                  </a:ext>
                </a:extLst>
              </a:tr>
              <a:tr h="743416">
                <a:tc>
                  <a:txBody>
                    <a:bodyPr/>
                    <a:lstStyle/>
                    <a:p>
                      <a:pPr marL="0" marR="0" algn="ctr">
                        <a:lnSpc>
                          <a:spcPct val="100000"/>
                        </a:lnSpc>
                        <a:spcBef>
                          <a:spcPts val="0"/>
                        </a:spcBef>
                        <a:spcAft>
                          <a:spcPts val="0"/>
                        </a:spcAft>
                      </a:pPr>
                      <a:r>
                        <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a:t>
                      </a:r>
                    </a:p>
                  </a:txBody>
                  <a:tcPr marL="68580" marR="68580" marT="0" marB="0" anchor="ctr"/>
                </a:tc>
                <a:tc>
                  <a:txBody>
                    <a:bodyPr/>
                    <a:lstStyle/>
                    <a:p>
                      <a:pPr marL="0" marR="0">
                        <a:lnSpc>
                          <a:spcPct val="100000"/>
                        </a:lnSpc>
                        <a:spcBef>
                          <a:spcPts val="0"/>
                        </a:spcBef>
                        <a:spcAft>
                          <a:spcPts val="0"/>
                        </a:spcAft>
                      </a:pPr>
                      <a:r>
                        <a:rPr lang="en-US" sz="2400" b="0" dirty="0">
                          <a:solidFill>
                            <a:schemeClr val="tx1"/>
                          </a:solidFill>
                          <a:effectLst/>
                          <a:latin typeface="Arial" pitchFamily="34" charset="0"/>
                          <a:ea typeface="Times New Roman" panose="02020603050405020304" pitchFamily="18" charset="0"/>
                          <a:cs typeface="Arial" pitchFamily="34" charset="0"/>
                        </a:rPr>
                        <a:t>Enhances soft skills by fostering self awareness, confidence and a positive attitude in students’ ability to communicate effectively in English.</a:t>
                      </a:r>
                    </a:p>
                  </a:txBody>
                  <a:tcPr marL="68580" marR="68580" marT="0" marB="0"/>
                </a:tc>
                <a:extLst>
                  <a:ext uri="{0D108BD9-81ED-4DB2-BD59-A6C34878D82A}">
                    <a16:rowId xmlns:a16="http://schemas.microsoft.com/office/drawing/2014/main" val="2339887652"/>
                  </a:ext>
                </a:extLst>
              </a:tr>
            </a:tbl>
          </a:graphicData>
        </a:graphic>
      </p:graphicFrame>
      <p:sp>
        <p:nvSpPr>
          <p:cNvPr id="11" name="Rectangle 10"/>
          <p:cNvSpPr/>
          <p:nvPr/>
        </p:nvSpPr>
        <p:spPr>
          <a:xfrm>
            <a:off x="492162" y="1616818"/>
            <a:ext cx="2956259" cy="461665"/>
          </a:xfrm>
          <a:prstGeom prst="rect">
            <a:avLst/>
          </a:prstGeom>
        </p:spPr>
        <p:txBody>
          <a:bodyPr wrap="none">
            <a:spAutoFit/>
          </a:bodyPr>
          <a:lstStyle/>
          <a:p>
            <a:r>
              <a:rPr lang="en-US" sz="2400" dirty="0">
                <a:latin typeface="Arial" pitchFamily="34" charset="0"/>
                <a:cs typeface="Arial" pitchFamily="34" charset="0"/>
              </a:rPr>
              <a:t>The Course aims to:</a:t>
            </a:r>
            <a:endParaRPr lang="en-US" sz="2400" b="1" dirty="0">
              <a:latin typeface="Arial" pitchFamily="34" charset="0"/>
              <a:cs typeface="Arial" pitchFamily="34" charset="0"/>
            </a:endParaRPr>
          </a:p>
        </p:txBody>
      </p:sp>
    </p:spTree>
    <p:extLst>
      <p:ext uri="{BB962C8B-B14F-4D97-AF65-F5344CB8AC3E}">
        <p14:creationId xmlns:p14="http://schemas.microsoft.com/office/powerpoint/2010/main" val="2403462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06018" y="1781555"/>
            <a:ext cx="5806440" cy="400110"/>
          </a:xfrm>
          <a:prstGeom prst="rect">
            <a:avLst/>
          </a:prstGeom>
        </p:spPr>
        <p:txBody>
          <a:bodyPr wrap="square">
            <a:spAutoFit/>
          </a:bodyPr>
          <a:lstStyle/>
          <a:p>
            <a:r>
              <a:rPr lang="en-US" sz="2000" dirty="0">
                <a:latin typeface="Arial" pitchFamily="34" charset="0"/>
                <a:cs typeface="Arial" pitchFamily="34" charset="0"/>
              </a:rPr>
              <a:t>On completion, the students are expected to:</a:t>
            </a:r>
            <a:endParaRPr lang="en-US" sz="2000" b="1" dirty="0">
              <a:latin typeface="Arial" pitchFamily="34" charset="0"/>
              <a:cs typeface="Arial" pitchFamily="34" charset="0"/>
            </a:endParaRPr>
          </a:p>
        </p:txBody>
      </p:sp>
      <p:sp>
        <p:nvSpPr>
          <p:cNvPr id="12" name="Title 11"/>
          <p:cNvSpPr>
            <a:spLocks noGrp="1"/>
          </p:cNvSpPr>
          <p:nvPr>
            <p:ph type="title"/>
          </p:nvPr>
        </p:nvSpPr>
        <p:spPr>
          <a:xfrm>
            <a:off x="915988" y="624840"/>
            <a:ext cx="5149532" cy="1082040"/>
          </a:xfrm>
        </p:spPr>
        <p:txBody>
          <a:bodyPr>
            <a:noAutofit/>
          </a:bodyPr>
          <a:lstStyle/>
          <a:p>
            <a:pPr algn="ctr"/>
            <a:r>
              <a:rPr lang="en-US" sz="4400" b="1" dirty="0">
                <a:latin typeface="Arial Black" pitchFamily="34" charset="0"/>
              </a:rPr>
              <a:t>Course Outcomes </a:t>
            </a:r>
            <a:endParaRPr lang="en-IN" sz="3600" dirty="0"/>
          </a:p>
        </p:txBody>
      </p:sp>
      <p:pic>
        <p:nvPicPr>
          <p:cNvPr id="9" name="Picture 8" descr="Written .jpg">
            <a:extLst>
              <a:ext uri="{FF2B5EF4-FFF2-40B4-BE49-F238E27FC236}">
                <a16:creationId xmlns:a16="http://schemas.microsoft.com/office/drawing/2014/main" id="{6E1D6AEE-B51E-81B9-8D22-4B6B7863D083}"/>
              </a:ext>
            </a:extLst>
          </p:cNvPr>
          <p:cNvPicPr>
            <a:picLocks noChangeAspect="1"/>
          </p:cNvPicPr>
          <p:nvPr/>
        </p:nvPicPr>
        <p:blipFill>
          <a:blip r:embed="rId2"/>
          <a:stretch>
            <a:fillRect/>
          </a:stretch>
        </p:blipFill>
        <p:spPr>
          <a:xfrm>
            <a:off x="7216035" y="927464"/>
            <a:ext cx="4271088" cy="5277394"/>
          </a:xfrm>
          <a:prstGeom prst="rect">
            <a:avLst/>
          </a:prstGeom>
        </p:spPr>
      </p:pic>
      <p:sp>
        <p:nvSpPr>
          <p:cNvPr id="10" name="Rectangle 9">
            <a:extLst>
              <a:ext uri="{FF2B5EF4-FFF2-40B4-BE49-F238E27FC236}">
                <a16:creationId xmlns:a16="http://schemas.microsoft.com/office/drawing/2014/main" id="{EE02656B-9563-73D0-D2DE-6793ECAA9A11}"/>
              </a:ext>
            </a:extLst>
          </p:cNvPr>
          <p:cNvSpPr/>
          <p:nvPr/>
        </p:nvSpPr>
        <p:spPr>
          <a:xfrm>
            <a:off x="9553011" y="6431670"/>
            <a:ext cx="1561646" cy="261610"/>
          </a:xfrm>
          <a:prstGeom prst="rect">
            <a:avLst/>
          </a:prstGeom>
        </p:spPr>
        <p:txBody>
          <a:bodyPr wrap="none">
            <a:spAutoFit/>
          </a:bodyPr>
          <a:lstStyle/>
          <a:p>
            <a:r>
              <a:rPr lang="en-US" sz="1100" dirty="0">
                <a:latin typeface="Arial" pitchFamily="34" charset="0"/>
                <a:cs typeface="Arial" pitchFamily="34" charset="0"/>
              </a:rPr>
              <a:t>https://penlighten.com</a:t>
            </a:r>
          </a:p>
        </p:txBody>
      </p:sp>
      <p:graphicFrame>
        <p:nvGraphicFramePr>
          <p:cNvPr id="3" name="Table 2">
            <a:extLst>
              <a:ext uri="{FF2B5EF4-FFF2-40B4-BE49-F238E27FC236}">
                <a16:creationId xmlns:a16="http://schemas.microsoft.com/office/drawing/2014/main" id="{3D5207AD-5189-F7D7-00DA-F478ACCB9D25}"/>
              </a:ext>
            </a:extLst>
          </p:cNvPr>
          <p:cNvGraphicFramePr>
            <a:graphicFrameLocks noGrp="1"/>
          </p:cNvGraphicFramePr>
          <p:nvPr>
            <p:extLst>
              <p:ext uri="{D42A27DB-BD31-4B8C-83A1-F6EECF244321}">
                <p14:modId xmlns:p14="http://schemas.microsoft.com/office/powerpoint/2010/main" val="2937154588"/>
              </p:ext>
            </p:extLst>
          </p:nvPr>
        </p:nvGraphicFramePr>
        <p:xfrm>
          <a:off x="206553" y="2133599"/>
          <a:ext cx="6670497" cy="4495802"/>
        </p:xfrm>
        <a:graphic>
          <a:graphicData uri="http://schemas.openxmlformats.org/drawingml/2006/table">
            <a:tbl>
              <a:tblPr firstRow="1" firstCol="1" bandRow="1">
                <a:tableStyleId>{5940675A-B579-460E-94D1-54222C63F5DA}</a:tableStyleId>
              </a:tblPr>
              <a:tblGrid>
                <a:gridCol w="543484">
                  <a:extLst>
                    <a:ext uri="{9D8B030D-6E8A-4147-A177-3AD203B41FA5}">
                      <a16:colId xmlns:a16="http://schemas.microsoft.com/office/drawing/2014/main" val="4168448416"/>
                    </a:ext>
                  </a:extLst>
                </a:gridCol>
                <a:gridCol w="4854552">
                  <a:extLst>
                    <a:ext uri="{9D8B030D-6E8A-4147-A177-3AD203B41FA5}">
                      <a16:colId xmlns:a16="http://schemas.microsoft.com/office/drawing/2014/main" val="2558219792"/>
                    </a:ext>
                  </a:extLst>
                </a:gridCol>
                <a:gridCol w="1272461">
                  <a:extLst>
                    <a:ext uri="{9D8B030D-6E8A-4147-A177-3AD203B41FA5}">
                      <a16:colId xmlns:a16="http://schemas.microsoft.com/office/drawing/2014/main" val="1836805902"/>
                    </a:ext>
                  </a:extLst>
                </a:gridCol>
              </a:tblGrid>
              <a:tr h="763998">
                <a:tc>
                  <a:txBody>
                    <a:bodyPr/>
                    <a:lstStyle/>
                    <a:p>
                      <a:pPr algn="ctr">
                        <a:lnSpc>
                          <a:spcPct val="115000"/>
                        </a:lnSpc>
                        <a:spcAft>
                          <a:spcPts val="1000"/>
                        </a:spcAft>
                      </a:pPr>
                      <a:r>
                        <a:rPr lang="en-US" sz="1200" b="1" dirty="0">
                          <a:effectLst/>
                          <a:latin typeface="+mn-lt"/>
                        </a:rPr>
                        <a:t>CO Number</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Title</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 </a:t>
                      </a:r>
                      <a:endParaRPr lang="en-IN" sz="1200" b="1" dirty="0">
                        <a:effectLst/>
                        <a:latin typeface="+mn-lt"/>
                      </a:endParaRPr>
                    </a:p>
                    <a:p>
                      <a:pPr algn="ctr">
                        <a:lnSpc>
                          <a:spcPct val="115000"/>
                        </a:lnSpc>
                        <a:spcAft>
                          <a:spcPts val="1000"/>
                        </a:spcAft>
                      </a:pPr>
                      <a:r>
                        <a:rPr lang="en-US" sz="1200" b="1" dirty="0">
                          <a:effectLst/>
                          <a:latin typeface="+mn-lt"/>
                        </a:rPr>
                        <a:t>Level</a:t>
                      </a:r>
                      <a:endParaRPr lang="en-IN" sz="1200" b="1" dirty="0">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4127487202"/>
                  </a:ext>
                </a:extLst>
              </a:tr>
              <a:tr h="719905">
                <a:tc>
                  <a:txBody>
                    <a:bodyPr/>
                    <a:lstStyle/>
                    <a:p>
                      <a:pPr>
                        <a:lnSpc>
                          <a:spcPct val="115000"/>
                        </a:lnSpc>
                        <a:spcAft>
                          <a:spcPts val="1000"/>
                        </a:spcAft>
                      </a:pPr>
                      <a:r>
                        <a:rPr lang="en-US" sz="1200" dirty="0">
                          <a:solidFill>
                            <a:schemeClr val="tx1"/>
                          </a:solidFill>
                          <a:effectLst/>
                          <a:latin typeface="+mn-lt"/>
                        </a:rPr>
                        <a:t>CO1</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Apply appropriate Listening, Speaking, Reading and Writing Skills (LSRW Skills) with correct non-verbal cues to attain expertise in soft skills.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301671737"/>
                  </a:ext>
                </a:extLst>
              </a:tr>
              <a:tr h="719905">
                <a:tc>
                  <a:txBody>
                    <a:bodyPr/>
                    <a:lstStyle/>
                    <a:p>
                      <a:pPr>
                        <a:lnSpc>
                          <a:spcPct val="115000"/>
                        </a:lnSpc>
                        <a:spcAft>
                          <a:spcPts val="1000"/>
                        </a:spcAft>
                      </a:pPr>
                      <a:r>
                        <a:rPr lang="en-US" sz="1200">
                          <a:solidFill>
                            <a:schemeClr val="tx1"/>
                          </a:solidFill>
                          <a:effectLst/>
                          <a:latin typeface="+mn-lt"/>
                        </a:rPr>
                        <a:t>CO2</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Apply correct contextual and comprehensible written text in the form of paragraph writing, short compositions business correspondence, using logical support and argument in a wide range of communication situations.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872378065"/>
                  </a:ext>
                </a:extLst>
              </a:tr>
              <a:tr h="763998">
                <a:tc>
                  <a:txBody>
                    <a:bodyPr/>
                    <a:lstStyle/>
                    <a:p>
                      <a:pPr>
                        <a:lnSpc>
                          <a:spcPct val="115000"/>
                        </a:lnSpc>
                        <a:spcAft>
                          <a:spcPts val="1000"/>
                        </a:spcAft>
                      </a:pPr>
                      <a:r>
                        <a:rPr lang="en-US" sz="1200" dirty="0">
                          <a:solidFill>
                            <a:schemeClr val="tx1"/>
                          </a:solidFill>
                          <a:effectLst/>
                          <a:latin typeface="+mn-lt"/>
                        </a:rPr>
                        <a:t>CO3</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Demonstrate linguistic competence while speaking and during presentations through accuracy in grammatical usage, vocabulary, pronunciation and intonation.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555796211"/>
                  </a:ext>
                </a:extLst>
              </a:tr>
              <a:tr h="763998">
                <a:tc>
                  <a:txBody>
                    <a:bodyPr/>
                    <a:lstStyle/>
                    <a:p>
                      <a:pPr>
                        <a:lnSpc>
                          <a:spcPct val="115000"/>
                        </a:lnSpc>
                        <a:spcAft>
                          <a:spcPts val="1000"/>
                        </a:spcAft>
                      </a:pPr>
                      <a:r>
                        <a:rPr lang="en-US" sz="1200">
                          <a:solidFill>
                            <a:schemeClr val="tx1"/>
                          </a:solidFill>
                          <a:effectLst/>
                          <a:latin typeface="+mn-lt"/>
                        </a:rPr>
                        <a:t>CO4</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Evaluate information as critical readers, speakers and writers applying ethics in communication and</a:t>
                      </a:r>
                      <a:endParaRPr lang="en-IN" sz="1200" dirty="0">
                        <a:solidFill>
                          <a:schemeClr val="tx1"/>
                        </a:solidFill>
                        <a:effectLst/>
                        <a:latin typeface="+mn-lt"/>
                        <a:ea typeface="Calibri" panose="020F0502020204030204" pitchFamily="34" charset="0"/>
                      </a:endParaRPr>
                    </a:p>
                    <a:p>
                      <a:pPr algn="just">
                        <a:lnSpc>
                          <a:spcPct val="115000"/>
                        </a:lnSpc>
                        <a:spcAft>
                          <a:spcPts val="1000"/>
                        </a:spcAft>
                      </a:pPr>
                      <a:r>
                        <a:rPr lang="en-US" sz="1200" dirty="0">
                          <a:solidFill>
                            <a:schemeClr val="tx1"/>
                          </a:solidFill>
                          <a:effectLst/>
                          <a:latin typeface="+mn-lt"/>
                          <a:ea typeface="Times New Roman" panose="02020603050405020304" pitchFamily="18" charset="0"/>
                        </a:rPr>
                        <a:t>being sensitive in cross cultural communication.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Evaluate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201307360"/>
                  </a:ext>
                </a:extLst>
              </a:tr>
              <a:tr h="763998">
                <a:tc>
                  <a:txBody>
                    <a:bodyPr/>
                    <a:lstStyle/>
                    <a:p>
                      <a:pPr>
                        <a:lnSpc>
                          <a:spcPct val="115000"/>
                        </a:lnSpc>
                        <a:spcAft>
                          <a:spcPts val="1000"/>
                        </a:spcAft>
                      </a:pPr>
                      <a:r>
                        <a:rPr lang="en-US" sz="1200">
                          <a:solidFill>
                            <a:schemeClr val="tx1"/>
                          </a:solidFill>
                          <a:effectLst/>
                          <a:latin typeface="+mn-lt"/>
                        </a:rPr>
                        <a:t>CO5</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 Create original, digital content for websites, blogs, vlogs and personal social media profiles etc.</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Create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552195131"/>
                  </a:ext>
                </a:extLst>
              </a:tr>
            </a:tbl>
          </a:graphicData>
        </a:graphic>
      </p:graphicFrame>
    </p:spTree>
    <p:extLst>
      <p:ext uri="{BB962C8B-B14F-4D97-AF65-F5344CB8AC3E}">
        <p14:creationId xmlns:p14="http://schemas.microsoft.com/office/powerpoint/2010/main" val="2987642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44902" y="6426926"/>
            <a:ext cx="1332401" cy="274320"/>
          </a:xfrm>
        </p:spPr>
        <p:txBody>
          <a:bodyPr>
            <a:normAutofit/>
          </a:bodyPr>
          <a:lstStyle/>
          <a:p>
            <a:pPr>
              <a:buNone/>
            </a:pPr>
            <a:r>
              <a:rPr lang="en-US" sz="1100" u="sng" dirty="0">
                <a:latin typeface="Arial" pitchFamily="34" charset="0"/>
                <a:cs typeface="Arial" pitchFamily="34" charset="0"/>
              </a:rPr>
              <a:t>www.freepik.com</a:t>
            </a:r>
            <a:endParaRPr lang="en-US" sz="1100" dirty="0">
              <a:latin typeface="Arial" pitchFamily="34" charset="0"/>
              <a:cs typeface="Arial" pitchFamily="34" charset="0"/>
            </a:endParaRPr>
          </a:p>
        </p:txBody>
      </p:sp>
      <p:sp>
        <p:nvSpPr>
          <p:cNvPr id="5" name="Slide Number Placeholder 4"/>
          <p:cNvSpPr>
            <a:spLocks noGrp="1"/>
          </p:cNvSpPr>
          <p:nvPr>
            <p:ph type="sldNum" sz="quarter" idx="12"/>
          </p:nvPr>
        </p:nvSpPr>
        <p:spPr>
          <a:xfrm>
            <a:off x="11093824" y="6414247"/>
            <a:ext cx="488576" cy="293781"/>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822960" y="592438"/>
            <a:ext cx="10541726"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Arial Black" pitchFamily="34" charset="0"/>
              </a:rPr>
              <a:t>Running Effective Meetings</a:t>
            </a:r>
            <a:endParaRPr lang="en-US" sz="4400" dirty="0">
              <a:latin typeface="Arial Black" pitchFamily="34" charset="0"/>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7"/>
          <p:cNvSpPr txBox="1">
            <a:spLocks noChangeArrowheads="1"/>
          </p:cNvSpPr>
          <p:nvPr/>
        </p:nvSpPr>
        <p:spPr bwMode="auto">
          <a:xfrm>
            <a:off x="1302702" y="347423"/>
            <a:ext cx="10127298"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br>
              <a:rPr kumimoji="0" lang="en-US" sz="4400" b="1" i="0" u="none" strike="noStrike" kern="1200" cap="none" spc="0" normalizeH="0" baseline="0" noProof="0" dirty="0">
                <a:ln>
                  <a:noFill/>
                </a:ln>
                <a:solidFill>
                  <a:schemeClr val="tx1"/>
                </a:solidFill>
                <a:effectLst/>
                <a:uLnTx/>
                <a:uFillTx/>
                <a:latin typeface="Arial Black" pitchFamily="34" charset="0"/>
                <a:ea typeface="Karla" pitchFamily="2" charset="0"/>
                <a:cs typeface="Karla" pitchFamily="2" charset="0"/>
              </a:rPr>
            </a:br>
            <a:endParaRPr kumimoji="0" lang="en-US" sz="4400" b="0" i="0" u="none" strike="noStrike" kern="1200" cap="none" spc="0" normalizeH="0" baseline="0" noProof="0" dirty="0">
              <a:ln>
                <a:noFill/>
              </a:ln>
              <a:solidFill>
                <a:schemeClr val="tx1"/>
              </a:solidFill>
              <a:effectLst/>
              <a:uLnTx/>
              <a:uFillTx/>
              <a:latin typeface="Arial Black" pitchFamily="34" charset="0"/>
              <a:ea typeface="+mj-ea"/>
              <a:cs typeface="+mj-cs"/>
            </a:endParaRPr>
          </a:p>
        </p:txBody>
      </p:sp>
      <p:sp>
        <p:nvSpPr>
          <p:cNvPr id="14" name="Rectangle 13"/>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5" name="Rectangle 1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56130" y="2112315"/>
            <a:ext cx="5309539" cy="4401205"/>
          </a:xfrm>
          <a:prstGeom prst="rect">
            <a:avLst/>
          </a:prstGeom>
        </p:spPr>
        <p:txBody>
          <a:bodyPr wrap="square">
            <a:spAutoFit/>
          </a:bodyPr>
          <a:lstStyle/>
          <a:p>
            <a:r>
              <a:rPr lang="en-US" sz="2800" dirty="0">
                <a:latin typeface="Arial" pitchFamily="34" charset="0"/>
                <a:cs typeface="Arial" pitchFamily="34" charset="0"/>
              </a:rPr>
              <a:t>Meetings are an inevitable part of business organizations.</a:t>
            </a:r>
          </a:p>
          <a:p>
            <a:endParaRPr lang="en-US" sz="2800" dirty="0">
              <a:latin typeface="Arial" pitchFamily="34" charset="0"/>
              <a:cs typeface="Arial" pitchFamily="34" charset="0"/>
            </a:endParaRPr>
          </a:p>
          <a:p>
            <a:r>
              <a:rPr lang="en-US" sz="2800" dirty="0">
                <a:latin typeface="Arial" pitchFamily="34" charset="0"/>
                <a:cs typeface="Arial" pitchFamily="34" charset="0"/>
              </a:rPr>
              <a:t>Their success depends on how they are conducted that is </a:t>
            </a:r>
          </a:p>
          <a:p>
            <a:r>
              <a:rPr lang="en-US" sz="2800" dirty="0">
                <a:latin typeface="Arial" pitchFamily="34" charset="0"/>
                <a:cs typeface="Arial" pitchFamily="34" charset="0"/>
              </a:rPr>
              <a:t>with or without rules.</a:t>
            </a:r>
          </a:p>
          <a:p>
            <a:endParaRPr lang="en-US" sz="2800" dirty="0">
              <a:latin typeface="Arial" pitchFamily="34" charset="0"/>
              <a:cs typeface="Arial" pitchFamily="34" charset="0"/>
            </a:endParaRPr>
          </a:p>
          <a:p>
            <a:endParaRPr lang="en-US" sz="2800" dirty="0">
              <a:latin typeface="Arial" pitchFamily="34" charset="0"/>
              <a:cs typeface="Arial" pitchFamily="34" charset="0"/>
            </a:endParaRPr>
          </a:p>
          <a:p>
            <a:endParaRPr lang="en-US" sz="2800" dirty="0">
              <a:latin typeface="Arial" pitchFamily="34" charset="0"/>
              <a:cs typeface="Arial" pitchFamily="34" charset="0"/>
            </a:endParaRPr>
          </a:p>
          <a:p>
            <a:endParaRPr lang="en-US" sz="2800" dirty="0">
              <a:latin typeface="Arial" pitchFamily="34" charset="0"/>
              <a:cs typeface="Arial" pitchFamily="34" charset="0"/>
            </a:endParaRPr>
          </a:p>
        </p:txBody>
      </p:sp>
      <p:grpSp>
        <p:nvGrpSpPr>
          <p:cNvPr id="50" name="Group 49"/>
          <p:cNvGrpSpPr/>
          <p:nvPr/>
        </p:nvGrpSpPr>
        <p:grpSpPr>
          <a:xfrm>
            <a:off x="6105503" y="1894114"/>
            <a:ext cx="5141618" cy="4180115"/>
            <a:chOff x="6131628" y="1828798"/>
            <a:chExt cx="5196746" cy="4323809"/>
          </a:xfrm>
        </p:grpSpPr>
        <p:pic>
          <p:nvPicPr>
            <p:cNvPr id="16" name="Picture 15" descr="Meetings.jpg"/>
            <p:cNvPicPr>
              <a:picLocks noChangeAspect="1"/>
            </p:cNvPicPr>
            <p:nvPr/>
          </p:nvPicPr>
          <p:blipFill>
            <a:blip r:embed="rId2"/>
            <a:srcRect b="19454"/>
            <a:stretch>
              <a:fillRect/>
            </a:stretch>
          </p:blipFill>
          <p:spPr>
            <a:xfrm>
              <a:off x="6131628" y="2664117"/>
              <a:ext cx="5196746" cy="3488490"/>
            </a:xfrm>
            <a:prstGeom prst="rect">
              <a:avLst/>
            </a:prstGeom>
          </p:spPr>
        </p:pic>
        <p:grpSp>
          <p:nvGrpSpPr>
            <p:cNvPr id="49" name="Group 48"/>
            <p:cNvGrpSpPr/>
            <p:nvPr/>
          </p:nvGrpSpPr>
          <p:grpSpPr>
            <a:xfrm>
              <a:off x="6766560" y="1828798"/>
              <a:ext cx="4036423" cy="849088"/>
              <a:chOff x="6766560" y="1828798"/>
              <a:chExt cx="4036423" cy="849088"/>
            </a:xfrm>
          </p:grpSpPr>
          <p:sp>
            <p:nvSpPr>
              <p:cNvPr id="17" name="TextBox 16"/>
              <p:cNvSpPr txBox="1"/>
              <p:nvPr/>
            </p:nvSpPr>
            <p:spPr>
              <a:xfrm>
                <a:off x="6766560" y="1828798"/>
                <a:ext cx="4036423" cy="523220"/>
              </a:xfrm>
              <a:prstGeom prst="rect">
                <a:avLst/>
              </a:prstGeom>
              <a:noFill/>
            </p:spPr>
            <p:txBody>
              <a:bodyPr wrap="square" rtlCol="0">
                <a:spAutoFit/>
              </a:bodyPr>
              <a:lstStyle/>
              <a:p>
                <a:pPr algn="ctr"/>
                <a:r>
                  <a:rPr lang="en-US" sz="2800" b="1" dirty="0">
                    <a:latin typeface="Arial" pitchFamily="34" charset="0"/>
                    <a:cs typeface="Arial" pitchFamily="34" charset="0"/>
                  </a:rPr>
                  <a:t>Meetings</a:t>
                </a:r>
              </a:p>
            </p:txBody>
          </p:sp>
          <p:cxnSp>
            <p:nvCxnSpPr>
              <p:cNvPr id="21" name="Straight Connector 20"/>
              <p:cNvCxnSpPr/>
              <p:nvPr/>
            </p:nvCxnSpPr>
            <p:spPr>
              <a:xfrm rot="10800000" flipV="1">
                <a:off x="7667898" y="2246810"/>
                <a:ext cx="1097283" cy="4310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10800000">
                <a:off x="8765177" y="2246812"/>
                <a:ext cx="940526" cy="4310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693801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822960" y="613956"/>
            <a:ext cx="10541726"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Arial Black" pitchFamily="34" charset="0"/>
                <a:ea typeface="Karla" pitchFamily="2" charset="0"/>
                <a:cs typeface="Karla" pitchFamily="2" charset="0"/>
              </a:rPr>
              <a:t>Components of a Meeting</a:t>
            </a:r>
            <a:endParaRPr lang="en-US" sz="4400" dirty="0">
              <a:latin typeface="Arial Black" pitchFamily="34" charset="0"/>
            </a:endParaRPr>
          </a:p>
        </p:txBody>
      </p:sp>
      <p:sp>
        <p:nvSpPr>
          <p:cNvPr id="9" name="Title 7"/>
          <p:cNvSpPr txBox="1">
            <a:spLocks noChangeArrowheads="1"/>
          </p:cNvSpPr>
          <p:nvPr/>
        </p:nvSpPr>
        <p:spPr bwMode="auto">
          <a:xfrm>
            <a:off x="1302702" y="347423"/>
            <a:ext cx="10127298"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br>
              <a:rPr kumimoji="0" lang="en-US" sz="4400" b="1" i="0" u="none" strike="noStrike" kern="1200" cap="none" spc="0" normalizeH="0" baseline="0" noProof="0" dirty="0">
                <a:ln>
                  <a:noFill/>
                </a:ln>
                <a:solidFill>
                  <a:schemeClr val="tx1"/>
                </a:solidFill>
                <a:effectLst/>
                <a:uLnTx/>
                <a:uFillTx/>
                <a:latin typeface="Arial Black" pitchFamily="34" charset="0"/>
                <a:ea typeface="Karla" pitchFamily="2" charset="0"/>
                <a:cs typeface="Karla" pitchFamily="2" charset="0"/>
              </a:rPr>
            </a:br>
            <a:endParaRPr kumimoji="0" lang="en-US" sz="4400" b="0" i="0" u="none" strike="noStrike" kern="1200" cap="none" spc="0" normalizeH="0" baseline="0" noProof="0" dirty="0">
              <a:ln>
                <a:noFill/>
              </a:ln>
              <a:solidFill>
                <a:schemeClr val="tx1"/>
              </a:solidFill>
              <a:effectLst/>
              <a:uLnTx/>
              <a:uFillTx/>
              <a:latin typeface="Arial Black" pitchFamily="34" charset="0"/>
              <a:ea typeface="+mj-ea"/>
              <a:cs typeface="+mj-cs"/>
            </a:endParaRPr>
          </a:p>
        </p:txBody>
      </p:sp>
      <p:sp>
        <p:nvSpPr>
          <p:cNvPr id="14" name="Rectangle 13"/>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5" name="Rectangle 1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56898" y="1815737"/>
            <a:ext cx="5074023" cy="3108543"/>
          </a:xfrm>
          <a:prstGeom prst="rect">
            <a:avLst/>
          </a:prstGeom>
        </p:spPr>
        <p:txBody>
          <a:bodyPr wrap="square">
            <a:spAutoFit/>
          </a:bodyPr>
          <a:lstStyle/>
          <a:p>
            <a:r>
              <a:rPr lang="en-US" sz="2800" dirty="0">
                <a:latin typeface="Arial" pitchFamily="34" charset="0"/>
                <a:cs typeface="Arial" pitchFamily="34" charset="0"/>
              </a:rPr>
              <a:t>The 3 components which are inextricably linked to team meetings are: </a:t>
            </a:r>
          </a:p>
          <a:p>
            <a:endParaRPr lang="en-US" sz="2800" dirty="0">
              <a:latin typeface="Arial" pitchFamily="34" charset="0"/>
              <a:cs typeface="Arial" pitchFamily="34" charset="0"/>
            </a:endParaRPr>
          </a:p>
          <a:p>
            <a:pPr>
              <a:buFont typeface="Wingdings" pitchFamily="2" charset="2"/>
              <a:buChar char="§"/>
            </a:pPr>
            <a:r>
              <a:rPr lang="en-US" sz="2800" dirty="0">
                <a:latin typeface="Arial" pitchFamily="34" charset="0"/>
                <a:cs typeface="Arial" pitchFamily="34" charset="0"/>
              </a:rPr>
              <a:t> Notice</a:t>
            </a:r>
          </a:p>
          <a:p>
            <a:pPr>
              <a:buFont typeface="Wingdings" pitchFamily="2" charset="2"/>
              <a:buChar char="§"/>
            </a:pPr>
            <a:r>
              <a:rPr lang="en-US" sz="2800" dirty="0">
                <a:latin typeface="Arial" pitchFamily="34" charset="0"/>
                <a:cs typeface="Arial" pitchFamily="34" charset="0"/>
              </a:rPr>
              <a:t> Agenda</a:t>
            </a:r>
          </a:p>
          <a:p>
            <a:pPr>
              <a:buFont typeface="Wingdings" pitchFamily="2" charset="2"/>
              <a:buChar char="§"/>
            </a:pPr>
            <a:r>
              <a:rPr lang="en-US" sz="2800" dirty="0">
                <a:latin typeface="Arial" pitchFamily="34" charset="0"/>
                <a:cs typeface="Arial" pitchFamily="34" charset="0"/>
              </a:rPr>
              <a:t> Minutes of the Meeting</a:t>
            </a:r>
          </a:p>
        </p:txBody>
      </p:sp>
      <p:sp>
        <p:nvSpPr>
          <p:cNvPr id="18" name="Content Placeholder 2"/>
          <p:cNvSpPr>
            <a:spLocks noGrp="1"/>
          </p:cNvSpPr>
          <p:nvPr>
            <p:ph idx="1"/>
          </p:nvPr>
        </p:nvSpPr>
        <p:spPr>
          <a:xfrm>
            <a:off x="8334107" y="6374675"/>
            <a:ext cx="2847701" cy="313508"/>
          </a:xfrm>
        </p:spPr>
        <p:txBody>
          <a:bodyPr>
            <a:noAutofit/>
          </a:bodyPr>
          <a:lstStyle/>
          <a:p>
            <a:pPr>
              <a:buNone/>
            </a:pPr>
            <a:r>
              <a:rPr lang="en-US" sz="1100" dirty="0">
                <a:latin typeface="Arial" pitchFamily="34" charset="0"/>
                <a:cs typeface="Arial" pitchFamily="34" charset="0"/>
              </a:rPr>
              <a:t>http://www.free-management-ebooks.com</a:t>
            </a:r>
          </a:p>
        </p:txBody>
      </p:sp>
      <p:sp>
        <p:nvSpPr>
          <p:cNvPr id="21" name="Slide Number Placeholder 3"/>
          <p:cNvSpPr>
            <a:spLocks noGrp="1"/>
          </p:cNvSpPr>
          <p:nvPr>
            <p:ph type="sldNum" sz="quarter" idx="12"/>
          </p:nvPr>
        </p:nvSpPr>
        <p:spPr>
          <a:xfrm>
            <a:off x="10972800" y="6257109"/>
            <a:ext cx="380999" cy="464367"/>
          </a:xfrm>
        </p:spPr>
        <p:txBody>
          <a:bodyPr/>
          <a:lstStyle/>
          <a:p>
            <a:fld id="{BDCDBBEF-AA6C-4BA6-85B2-A17D7F280E38}" type="slidenum">
              <a:rPr lang="en-US" smtClean="0"/>
              <a:pPr/>
              <a:t>5</a:t>
            </a:fld>
            <a:endParaRPr lang="en-US" dirty="0"/>
          </a:p>
        </p:txBody>
      </p:sp>
      <p:pic>
        <p:nvPicPr>
          <p:cNvPr id="10" name="Picture 9" descr="business-meeting-flat_1284-12386.jpg"/>
          <p:cNvPicPr>
            <a:picLocks noChangeAspect="1"/>
          </p:cNvPicPr>
          <p:nvPr/>
        </p:nvPicPr>
        <p:blipFill>
          <a:blip r:embed="rId2"/>
          <a:stretch>
            <a:fillRect/>
          </a:stretch>
        </p:blipFill>
        <p:spPr>
          <a:xfrm>
            <a:off x="6230983" y="1815730"/>
            <a:ext cx="5123714" cy="4362994"/>
          </a:xfrm>
          <a:prstGeom prst="rect">
            <a:avLst/>
          </a:prstGeom>
        </p:spPr>
      </p:pic>
    </p:spTree>
    <p:extLst>
      <p:ext uri="{BB962C8B-B14F-4D97-AF65-F5344CB8AC3E}">
        <p14:creationId xmlns:p14="http://schemas.microsoft.com/office/powerpoint/2010/main" val="693801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Arial Black" pitchFamily="34" charset="0"/>
                <a:cs typeface="Arial" panose="020B0604020202020204" pitchFamily="34" charset="0"/>
              </a:rPr>
              <a:t>What is a Notice?</a:t>
            </a:r>
            <a:endParaRPr lang="en-US" dirty="0"/>
          </a:p>
        </p:txBody>
      </p:sp>
      <p:sp>
        <p:nvSpPr>
          <p:cNvPr id="3" name="Content Placeholder 2"/>
          <p:cNvSpPr>
            <a:spLocks noGrp="1"/>
          </p:cNvSpPr>
          <p:nvPr>
            <p:ph idx="1"/>
          </p:nvPr>
        </p:nvSpPr>
        <p:spPr/>
        <p:txBody>
          <a:bodyPr>
            <a:normAutofit/>
          </a:bodyPr>
          <a:lstStyle/>
          <a:p>
            <a:pPr>
              <a:buNone/>
            </a:pPr>
            <a:r>
              <a:rPr lang="en-US" b="1" dirty="0">
                <a:latin typeface="Arial" pitchFamily="34" charset="0"/>
                <a:cs typeface="Arial" pitchFamily="34" charset="0"/>
              </a:rPr>
              <a:t>   </a:t>
            </a:r>
          </a:p>
          <a:p>
            <a:r>
              <a:rPr lang="en-US" dirty="0">
                <a:latin typeface="Arial" pitchFamily="34" charset="0"/>
                <a:cs typeface="Arial" pitchFamily="34" charset="0"/>
              </a:rPr>
              <a:t>The statement that contains the particulars of holding a meeting is known as notice. It is one kind of request to the members for attending the meeting. </a:t>
            </a:r>
          </a:p>
          <a:p>
            <a:pPr>
              <a:buNone/>
            </a:pPr>
            <a:endParaRPr lang="en-US" dirty="0">
              <a:latin typeface="Arial" pitchFamily="34" charset="0"/>
              <a:cs typeface="Arial" pitchFamily="34" charset="0"/>
            </a:endParaRPr>
          </a:p>
          <a:p>
            <a:r>
              <a:rPr lang="en-US" dirty="0">
                <a:latin typeface="Arial" pitchFamily="34" charset="0"/>
                <a:cs typeface="Arial" pitchFamily="34" charset="0"/>
              </a:rPr>
              <a:t>“ A notice is the communication-verbal or written, informing the persons entitled to attend the meeting about the time, date, place and the business of the meeting.” - S.K. </a:t>
            </a:r>
            <a:r>
              <a:rPr lang="en-US" dirty="0" err="1">
                <a:latin typeface="Arial" pitchFamily="34" charset="0"/>
                <a:cs typeface="Arial" pitchFamily="34" charset="0"/>
              </a:rPr>
              <a:t>Dutta</a:t>
            </a:r>
            <a:endParaRPr lang="en-US" dirty="0">
              <a:latin typeface="Arial" pitchFamily="34" charset="0"/>
              <a:cs typeface="Arial" pitchFamily="34" charset="0"/>
            </a:endParaRPr>
          </a:p>
          <a:p>
            <a:pPr>
              <a:buNone/>
            </a:pPr>
            <a:endParaRPr lang="en-US" sz="2400" dirty="0">
              <a:latin typeface="Arial" pitchFamily="34" charset="0"/>
              <a:cs typeface="Arial" pitchFamily="34" charset="0"/>
            </a:endParaRPr>
          </a:p>
          <a:p>
            <a:pPr>
              <a:buNone/>
            </a:pPr>
            <a:endParaRPr lang="en-US" sz="2400" dirty="0">
              <a:latin typeface="Arial" pitchFamily="34" charset="0"/>
              <a:cs typeface="Arial" pitchFamily="34" charset="0"/>
            </a:endParaRPr>
          </a:p>
          <a:p>
            <a:endParaRPr lang="en-US"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7" name="Rectangle 6"/>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latin typeface="Arial" pitchFamily="34" charset="0"/>
                <a:cs typeface="Arial" pitchFamily="34" charset="0"/>
              </a:rPr>
              <a:t>The notice of meeting informs the members when and where the meeting will be.</a:t>
            </a:r>
          </a:p>
          <a:p>
            <a:pPr>
              <a:buNone/>
            </a:pPr>
            <a:r>
              <a:rPr lang="en-US" b="1" dirty="0">
                <a:latin typeface="Arial" pitchFamily="34" charset="0"/>
                <a:cs typeface="Arial" pitchFamily="34" charset="0"/>
              </a:rPr>
              <a:t>  Every notice of meeting should contain the following contents:</a:t>
            </a:r>
          </a:p>
          <a:p>
            <a:pPr marL="971550" lvl="1" indent="-514350">
              <a:buFont typeface="+mj-lt"/>
              <a:buAutoNum type="arabicParenR"/>
            </a:pPr>
            <a:r>
              <a:rPr lang="en-IN" sz="2800" dirty="0">
                <a:latin typeface="Arial" pitchFamily="34" charset="0"/>
                <a:cs typeface="Arial" pitchFamily="34" charset="0"/>
              </a:rPr>
              <a:t>Title/</a:t>
            </a:r>
            <a:r>
              <a:rPr lang="en-US" sz="2800" dirty="0">
                <a:latin typeface="Arial" pitchFamily="34" charset="0"/>
                <a:cs typeface="Arial" pitchFamily="34" charset="0"/>
              </a:rPr>
              <a:t>Type of the meeting such as annual general meeting, annual review meeting, board meeting etc.</a:t>
            </a:r>
          </a:p>
          <a:p>
            <a:pPr marL="971550" lvl="1" indent="-514350">
              <a:buFont typeface="+mj-lt"/>
              <a:buAutoNum type="arabicParenR"/>
            </a:pPr>
            <a:r>
              <a:rPr lang="en-US" sz="2800" dirty="0">
                <a:latin typeface="Arial" pitchFamily="34" charset="0"/>
                <a:cs typeface="Arial" pitchFamily="34" charset="0"/>
              </a:rPr>
              <a:t>Date, time and place of the meeting</a:t>
            </a:r>
          </a:p>
          <a:p>
            <a:pPr marL="971550" lvl="1" indent="-514350">
              <a:buFont typeface="+mj-lt"/>
              <a:buAutoNum type="arabicParenR"/>
            </a:pPr>
            <a:r>
              <a:rPr lang="en-US" sz="2800" dirty="0">
                <a:latin typeface="Arial" pitchFamily="34" charset="0"/>
                <a:cs typeface="Arial" pitchFamily="34" charset="0"/>
              </a:rPr>
              <a:t>Agenda for the meeting</a:t>
            </a:r>
          </a:p>
          <a:p>
            <a:pPr marL="971550" lvl="1" indent="-514350">
              <a:buFont typeface="+mj-lt"/>
              <a:buAutoNum type="arabicParenR"/>
            </a:pPr>
            <a:r>
              <a:rPr lang="en-US" sz="2800" dirty="0">
                <a:latin typeface="Arial" pitchFamily="34" charset="0"/>
                <a:cs typeface="Arial" pitchFamily="34" charset="0"/>
              </a:rPr>
              <a:t>Signature of the competent person</a:t>
            </a:r>
          </a:p>
          <a:p>
            <a:pPr>
              <a:buNone/>
            </a:pPr>
            <a:endParaRPr lang="en-IN"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dirty="0"/>
          </a:p>
        </p:txBody>
      </p:sp>
      <p:sp>
        <p:nvSpPr>
          <p:cNvPr id="2" name="Title 1"/>
          <p:cNvSpPr>
            <a:spLocks noGrp="1"/>
          </p:cNvSpPr>
          <p:nvPr>
            <p:ph type="title"/>
          </p:nvPr>
        </p:nvSpPr>
        <p:spPr>
          <a:xfrm>
            <a:off x="838200" y="365126"/>
            <a:ext cx="10526486" cy="1319984"/>
          </a:xfrm>
        </p:spPr>
        <p:txBody>
          <a:bodyPr/>
          <a:lstStyle/>
          <a:p>
            <a:pPr algn="ctr"/>
            <a:r>
              <a:rPr lang="en-IN" dirty="0">
                <a:latin typeface="Arial Black" pitchFamily="34" charset="0"/>
              </a:rPr>
              <a:t>Purpose &amp; Prerequisites of Notice</a:t>
            </a:r>
          </a:p>
        </p:txBody>
      </p:sp>
      <p:sp>
        <p:nvSpPr>
          <p:cNvPr id="7" name="Rectangle 6"/>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00806" cy="1306921"/>
          </a:xfrm>
        </p:spPr>
        <p:txBody>
          <a:bodyPr/>
          <a:lstStyle/>
          <a:p>
            <a:r>
              <a:rPr lang="en-IN" dirty="0">
                <a:latin typeface="Arial Black" pitchFamily="34" charset="0"/>
              </a:rPr>
              <a:t>Notice of Meeting-Companies Act</a:t>
            </a:r>
          </a:p>
        </p:txBody>
      </p:sp>
      <p:sp>
        <p:nvSpPr>
          <p:cNvPr id="3" name="Content Placeholder 2"/>
          <p:cNvSpPr>
            <a:spLocks noGrp="1"/>
          </p:cNvSpPr>
          <p:nvPr>
            <p:ph idx="1"/>
          </p:nvPr>
        </p:nvSpPr>
        <p:spPr>
          <a:xfrm>
            <a:off x="838199" y="1825625"/>
            <a:ext cx="10539549" cy="4366169"/>
          </a:xfrm>
        </p:spPr>
        <p:txBody>
          <a:bodyPr/>
          <a:lstStyle/>
          <a:p>
            <a:r>
              <a:rPr lang="en-US" dirty="0">
                <a:latin typeface="Arial" pitchFamily="34" charset="0"/>
                <a:cs typeface="Arial" pitchFamily="34" charset="0"/>
              </a:rPr>
              <a:t>In case of company meetings, the Companies Act provides specific time limit for sending notice to the concerned parties prior to meeting. The Companies Act 2013 defines the minimum time length for sending notice prior to meeting:</a:t>
            </a:r>
            <a:br>
              <a:rPr lang="en-US" dirty="0"/>
            </a:b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pic>
        <p:nvPicPr>
          <p:cNvPr id="5" name="Picture 4" descr="What-is-Notice-of-Meeting.jpg"/>
          <p:cNvPicPr>
            <a:picLocks noChangeAspect="1"/>
          </p:cNvPicPr>
          <p:nvPr/>
        </p:nvPicPr>
        <p:blipFill>
          <a:blip r:embed="rId2"/>
          <a:srcRect l="3927" t="8923" r="3829" b="8540"/>
          <a:stretch>
            <a:fillRect/>
          </a:stretch>
        </p:blipFill>
        <p:spPr>
          <a:xfrm>
            <a:off x="2024731" y="3644536"/>
            <a:ext cx="8281852" cy="2416628"/>
          </a:xfrm>
          <a:prstGeom prst="rect">
            <a:avLst/>
          </a:prstGeom>
        </p:spPr>
      </p:pic>
      <p:sp>
        <p:nvSpPr>
          <p:cNvPr id="6" name="Rectangle 5"/>
          <p:cNvSpPr/>
          <p:nvPr/>
        </p:nvSpPr>
        <p:spPr>
          <a:xfrm>
            <a:off x="8321056" y="6400800"/>
            <a:ext cx="2834631" cy="261610"/>
          </a:xfrm>
          <a:prstGeom prst="rect">
            <a:avLst/>
          </a:prstGeom>
        </p:spPr>
        <p:txBody>
          <a:bodyPr wrap="square">
            <a:spAutoFit/>
          </a:bodyPr>
          <a:lstStyle/>
          <a:p>
            <a:pPr algn="ctr"/>
            <a:r>
              <a:rPr lang="en-US" sz="1100" u="sng" dirty="0">
                <a:latin typeface="Arial" pitchFamily="34" charset="0"/>
                <a:cs typeface="Arial" pitchFamily="34" charset="0"/>
              </a:rPr>
              <a:t>https://thebusinesscommunication.com</a:t>
            </a:r>
            <a:endParaRPr lang="en-US" sz="1100" dirty="0">
              <a:latin typeface="Arial" pitchFamily="34" charset="0"/>
              <a:cs typeface="Arial" pitchFamily="34" charset="0"/>
            </a:endParaRPr>
          </a:p>
        </p:txBody>
      </p:sp>
      <p:sp>
        <p:nvSpPr>
          <p:cNvPr id="9" name="Rectangle 8"/>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0" name="Rectangle 9"/>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487297" cy="1280795"/>
          </a:xfrm>
        </p:spPr>
        <p:txBody>
          <a:bodyPr>
            <a:normAutofit fontScale="90000"/>
          </a:bodyPr>
          <a:lstStyle/>
          <a:p>
            <a:pPr algn="ctr"/>
            <a:br>
              <a:rPr lang="en-IN" sz="4900" dirty="0">
                <a:latin typeface="Arial Black" pitchFamily="34" charset="0"/>
              </a:rPr>
            </a:br>
            <a:r>
              <a:rPr lang="en-IN" sz="4900" dirty="0">
                <a:latin typeface="Arial Black" pitchFamily="34" charset="0"/>
              </a:rPr>
              <a:t>Poll Question 1</a:t>
            </a:r>
            <a:br>
              <a:rPr lang="en-IN" dirty="0">
                <a:latin typeface="Arial Black" pitchFamily="34" charset="0"/>
              </a:rPr>
            </a:br>
            <a:endParaRPr lang="en-IN" dirty="0">
              <a:latin typeface="Arial Black" pitchFamily="34" charset="0"/>
            </a:endParaRPr>
          </a:p>
        </p:txBody>
      </p:sp>
      <p:sp>
        <p:nvSpPr>
          <p:cNvPr id="3" name="Content Placeholder 2"/>
          <p:cNvSpPr>
            <a:spLocks noGrp="1"/>
          </p:cNvSpPr>
          <p:nvPr>
            <p:ph idx="1"/>
          </p:nvPr>
        </p:nvSpPr>
        <p:spPr/>
        <p:txBody>
          <a:bodyPr/>
          <a:lstStyle/>
          <a:p>
            <a:pPr>
              <a:buNone/>
            </a:pPr>
            <a:r>
              <a:rPr lang="en-IN" sz="2400" dirty="0">
                <a:latin typeface="Arial" pitchFamily="34" charset="0"/>
                <a:cs typeface="Arial" pitchFamily="34" charset="0"/>
              </a:rPr>
              <a:t>   </a:t>
            </a:r>
          </a:p>
          <a:p>
            <a:pPr>
              <a:buNone/>
            </a:pPr>
            <a:r>
              <a:rPr lang="en-IN" dirty="0">
                <a:latin typeface="Arial" pitchFamily="34" charset="0"/>
                <a:cs typeface="Arial" pitchFamily="34" charset="0"/>
              </a:rPr>
              <a:t>Which out of these is an important component of a Notice?</a:t>
            </a:r>
          </a:p>
          <a:p>
            <a:pPr>
              <a:buNone/>
            </a:pPr>
            <a:endParaRPr lang="en-IN" dirty="0">
              <a:latin typeface="Arial" pitchFamily="34" charset="0"/>
              <a:cs typeface="Arial" pitchFamily="34" charset="0"/>
            </a:endParaRPr>
          </a:p>
          <a:p>
            <a:pPr marL="514350" indent="-514350">
              <a:buAutoNum type="alphaUcParenR"/>
            </a:pPr>
            <a:r>
              <a:rPr lang="en-IN" dirty="0">
                <a:latin typeface="Arial" pitchFamily="34" charset="0"/>
                <a:cs typeface="Arial" pitchFamily="34" charset="0"/>
              </a:rPr>
              <a:t>Address of the organisation</a:t>
            </a:r>
          </a:p>
          <a:p>
            <a:pPr marL="514350" indent="-514350">
              <a:buAutoNum type="alphaUcParenR"/>
            </a:pPr>
            <a:r>
              <a:rPr lang="en-IN" dirty="0">
                <a:latin typeface="Arial" pitchFamily="34" charset="0"/>
                <a:cs typeface="Arial" pitchFamily="34" charset="0"/>
              </a:rPr>
              <a:t>Objective of a meeting</a:t>
            </a:r>
          </a:p>
          <a:p>
            <a:pPr marL="514350" indent="-514350">
              <a:buAutoNum type="alphaUcParenR"/>
            </a:pPr>
            <a:r>
              <a:rPr lang="en-IN" dirty="0">
                <a:latin typeface="Arial" pitchFamily="34" charset="0"/>
                <a:cs typeface="Arial" pitchFamily="34" charset="0"/>
              </a:rPr>
              <a:t>Outcome of a meeting</a:t>
            </a:r>
          </a:p>
          <a:p>
            <a:pPr marL="514350" indent="-514350">
              <a:buAutoNum type="alphaUcParenR"/>
            </a:pPr>
            <a:endParaRPr lang="en-IN" dirty="0"/>
          </a:p>
          <a:p>
            <a:pPr>
              <a:buNone/>
            </a:pPr>
            <a:endParaRPr lang="en-IN" dirty="0"/>
          </a:p>
          <a:p>
            <a:pPr>
              <a:buNone/>
            </a:pPr>
            <a:endParaRPr lang="en-IN" dirty="0"/>
          </a:p>
          <a:p>
            <a:pPr>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dirty="0"/>
          </a:p>
        </p:txBody>
      </p:sp>
      <p:sp>
        <p:nvSpPr>
          <p:cNvPr id="7" name="Rectangle 6"/>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Arial Black" pitchFamily="34" charset="0"/>
              </a:rPr>
              <a:t>Agenda</a:t>
            </a:r>
          </a:p>
        </p:txBody>
      </p:sp>
      <p:sp>
        <p:nvSpPr>
          <p:cNvPr id="3" name="Content Placeholder 2"/>
          <p:cNvSpPr>
            <a:spLocks noGrp="1"/>
          </p:cNvSpPr>
          <p:nvPr>
            <p:ph idx="1"/>
          </p:nvPr>
        </p:nvSpPr>
        <p:spPr>
          <a:xfrm>
            <a:off x="836022" y="1789612"/>
            <a:ext cx="5342709" cy="4415246"/>
          </a:xfrm>
        </p:spPr>
        <p:txBody>
          <a:bodyPr>
            <a:normAutofit/>
          </a:bodyPr>
          <a:lstStyle/>
          <a:p>
            <a:pPr>
              <a:buNone/>
            </a:pPr>
            <a:r>
              <a:rPr lang="en-IN" dirty="0">
                <a:latin typeface="Arial" pitchFamily="34" charset="0"/>
                <a:cs typeface="Arial" pitchFamily="34" charset="0"/>
              </a:rPr>
              <a:t>   </a:t>
            </a:r>
            <a:r>
              <a:rPr lang="en-IN" b="1" dirty="0">
                <a:latin typeface="Arial" pitchFamily="34" charset="0"/>
                <a:cs typeface="Arial" pitchFamily="34" charset="0"/>
              </a:rPr>
              <a:t>What is an Agenda?</a:t>
            </a:r>
          </a:p>
          <a:p>
            <a:r>
              <a:rPr lang="en-IN" dirty="0">
                <a:latin typeface="Arial" pitchFamily="34" charset="0"/>
                <a:cs typeface="Arial" pitchFamily="34" charset="0"/>
              </a:rPr>
              <a:t> </a:t>
            </a:r>
            <a:r>
              <a:rPr lang="en-US" dirty="0">
                <a:latin typeface="Arial" pitchFamily="34" charset="0"/>
                <a:cs typeface="Arial" pitchFamily="34" charset="0"/>
              </a:rPr>
              <a:t>Agenda is an official list of things to be done or dealt with at a particular meeting.</a:t>
            </a:r>
          </a:p>
          <a:p>
            <a:r>
              <a:rPr lang="en-US" dirty="0">
                <a:latin typeface="Arial" pitchFamily="34" charset="0"/>
                <a:cs typeface="Arial" pitchFamily="34" charset="0"/>
              </a:rPr>
              <a:t>An agenda is always preceded by a notice.</a:t>
            </a:r>
          </a:p>
          <a:p>
            <a:r>
              <a:rPr lang="en-US" dirty="0">
                <a:latin typeface="Arial" pitchFamily="34" charset="0"/>
                <a:cs typeface="Arial" pitchFamily="34" charset="0"/>
              </a:rPr>
              <a:t>It is a planning which is essential to be made before a meeting.</a:t>
            </a:r>
            <a:endParaRPr lang="en-IN" dirty="0">
              <a:latin typeface="Arial" pitchFamily="34" charset="0"/>
              <a:cs typeface="Arial" pitchFamily="34" charset="0"/>
            </a:endParaRPr>
          </a:p>
          <a:p>
            <a:endParaRPr lang="en-IN"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dirty="0"/>
          </a:p>
        </p:txBody>
      </p:sp>
      <p:pic>
        <p:nvPicPr>
          <p:cNvPr id="5" name="Picture 4" descr="Quote.png"/>
          <p:cNvPicPr>
            <a:picLocks noChangeAspect="1"/>
          </p:cNvPicPr>
          <p:nvPr/>
        </p:nvPicPr>
        <p:blipFill>
          <a:blip r:embed="rId2"/>
          <a:stretch>
            <a:fillRect/>
          </a:stretch>
        </p:blipFill>
        <p:spPr>
          <a:xfrm>
            <a:off x="6257109" y="1802674"/>
            <a:ext cx="5094513" cy="4376305"/>
          </a:xfrm>
          <a:prstGeom prst="rect">
            <a:avLst/>
          </a:prstGeom>
        </p:spPr>
      </p:pic>
      <p:sp>
        <p:nvSpPr>
          <p:cNvPr id="6" name="Rectangle 5"/>
          <p:cNvSpPr/>
          <p:nvPr/>
        </p:nvSpPr>
        <p:spPr>
          <a:xfrm>
            <a:off x="8906466" y="6418605"/>
            <a:ext cx="2242922" cy="261610"/>
          </a:xfrm>
          <a:prstGeom prst="rect">
            <a:avLst/>
          </a:prstGeom>
        </p:spPr>
        <p:txBody>
          <a:bodyPr wrap="none">
            <a:spAutoFit/>
          </a:bodyPr>
          <a:lstStyle/>
          <a:p>
            <a:r>
              <a:rPr lang="en-US" sz="1100" dirty="0">
                <a:latin typeface="Arial" pitchFamily="34" charset="0"/>
                <a:cs typeface="Arial" pitchFamily="34" charset="0"/>
              </a:rPr>
              <a:t>https://adminbusinesscenter.com</a:t>
            </a:r>
          </a:p>
        </p:txBody>
      </p:sp>
      <p:sp>
        <p:nvSpPr>
          <p:cNvPr id="9" name="Rectangle 8"/>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0" name="Rectangle 9"/>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Arial Black" pitchFamily="34" charset="0"/>
              </a:rPr>
              <a:t>Importance of Agenda</a:t>
            </a:r>
          </a:p>
        </p:txBody>
      </p:sp>
      <p:sp>
        <p:nvSpPr>
          <p:cNvPr id="3" name="Content Placeholder 2"/>
          <p:cNvSpPr>
            <a:spLocks noGrp="1"/>
          </p:cNvSpPr>
          <p:nvPr>
            <p:ph idx="1"/>
          </p:nvPr>
        </p:nvSpPr>
        <p:spPr>
          <a:xfrm>
            <a:off x="862149" y="1841863"/>
            <a:ext cx="10463347" cy="4310743"/>
          </a:xfrm>
        </p:spPr>
        <p:txBody>
          <a:bodyPr>
            <a:normAutofit/>
          </a:bodyPr>
          <a:lstStyle/>
          <a:p>
            <a:pPr algn="just">
              <a:buNone/>
            </a:pPr>
            <a:r>
              <a:rPr lang="en-US" b="1" dirty="0">
                <a:latin typeface="Arial" pitchFamily="34" charset="0"/>
                <a:cs typeface="Arial" pitchFamily="34" charset="0"/>
              </a:rPr>
              <a:t>     An agenda is a form of courtesy. It –</a:t>
            </a:r>
          </a:p>
          <a:p>
            <a:r>
              <a:rPr lang="en-US" dirty="0">
                <a:latin typeface="Arial" pitchFamily="34" charset="0"/>
                <a:cs typeface="Arial" pitchFamily="34" charset="0"/>
              </a:rPr>
              <a:t>informs the chairperson and participants of the purpose of the meeting.</a:t>
            </a:r>
          </a:p>
          <a:p>
            <a:r>
              <a:rPr lang="en-US" dirty="0">
                <a:latin typeface="Arial" pitchFamily="34" charset="0"/>
                <a:cs typeface="Arial" pitchFamily="34" charset="0"/>
              </a:rPr>
              <a:t>provides them time to prepare for the tasks and make a meaningful contribution.</a:t>
            </a:r>
          </a:p>
          <a:p>
            <a:r>
              <a:rPr lang="en-US" dirty="0">
                <a:latin typeface="Arial" pitchFamily="34" charset="0"/>
                <a:cs typeface="Arial" pitchFamily="34" charset="0"/>
              </a:rPr>
              <a:t>ensures that only matters relevant to that particular meeting are discussed.</a:t>
            </a:r>
          </a:p>
          <a:p>
            <a:r>
              <a:rPr lang="en-US" dirty="0">
                <a:latin typeface="Arial" pitchFamily="34" charset="0"/>
                <a:cs typeface="Arial" pitchFamily="34" charset="0"/>
              </a:rPr>
              <a:t>facilitates the preparation of the minutes.</a:t>
            </a:r>
          </a:p>
          <a:p>
            <a:endParaRPr lang="en-US" dirty="0">
              <a:latin typeface="Arial" pitchFamily="34" charset="0"/>
              <a:cs typeface="Arial" pitchFamily="34" charset="0"/>
            </a:endParaRPr>
          </a:p>
          <a:p>
            <a:pPr>
              <a:buNone/>
            </a:pPr>
            <a:endParaRPr lang="en-IN" sz="5100" dirty="0">
              <a:latin typeface="Arial" pitchFamily="34" charset="0"/>
              <a:cs typeface="Arial" pitchFamily="34" charset="0"/>
            </a:endParaRPr>
          </a:p>
          <a:p>
            <a:pPr>
              <a:buNone/>
            </a:pPr>
            <a:endParaRPr lang="en-IN" sz="5100" dirty="0">
              <a:latin typeface="Arial" pitchFamily="34" charset="0"/>
              <a:cs typeface="Arial" pitchFamily="34" charset="0"/>
            </a:endParaRPr>
          </a:p>
          <a:p>
            <a:pPr>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8" name="Rectangle 7"/>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9" name="Rectangle 8"/>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44137"/>
            <a:ext cx="10515600" cy="1110343"/>
          </a:xfrm>
        </p:spPr>
        <p:txBody>
          <a:bodyPr/>
          <a:lstStyle/>
          <a:p>
            <a:pPr algn="ctr"/>
            <a:r>
              <a:rPr lang="en-IN" dirty="0">
                <a:latin typeface="Arial Black" pitchFamily="34" charset="0"/>
              </a:rPr>
              <a:t>Importance of Agenda - Contd.</a:t>
            </a:r>
            <a:endParaRPr lang="en-IN" dirty="0"/>
          </a:p>
        </p:txBody>
      </p:sp>
      <p:sp>
        <p:nvSpPr>
          <p:cNvPr id="3" name="Content Placeholder 2"/>
          <p:cNvSpPr>
            <a:spLocks noGrp="1"/>
          </p:cNvSpPr>
          <p:nvPr>
            <p:ph idx="1"/>
          </p:nvPr>
        </p:nvSpPr>
        <p:spPr/>
        <p:txBody>
          <a:bodyPr/>
          <a:lstStyle/>
          <a:p>
            <a:pPr>
              <a:buNone/>
            </a:pPr>
            <a:r>
              <a:rPr lang="en-US" sz="2400" dirty="0">
                <a:latin typeface="Arial" pitchFamily="34" charset="0"/>
                <a:cs typeface="Arial" pitchFamily="34" charset="0"/>
              </a:rPr>
              <a:t> </a:t>
            </a:r>
            <a:r>
              <a:rPr lang="en-US" b="1" dirty="0">
                <a:latin typeface="Arial" pitchFamily="34" charset="0"/>
                <a:cs typeface="Arial" pitchFamily="34" charset="0"/>
              </a:rPr>
              <a:t>It also helps in –</a:t>
            </a:r>
          </a:p>
          <a:p>
            <a:pPr>
              <a:buNone/>
            </a:pPr>
            <a:endParaRPr lang="en-US" dirty="0">
              <a:latin typeface="Arial" pitchFamily="34" charset="0"/>
              <a:cs typeface="Arial" pitchFamily="34" charset="0"/>
            </a:endParaRPr>
          </a:p>
          <a:p>
            <a:r>
              <a:rPr lang="en-US" dirty="0">
                <a:latin typeface="Arial" pitchFamily="34" charset="0"/>
                <a:cs typeface="Arial" pitchFamily="34" charset="0"/>
              </a:rPr>
              <a:t>Advance Communication</a:t>
            </a:r>
          </a:p>
          <a:p>
            <a:r>
              <a:rPr lang="en-US" dirty="0">
                <a:latin typeface="Arial" pitchFamily="34" charset="0"/>
                <a:cs typeface="Arial" pitchFamily="34" charset="0"/>
              </a:rPr>
              <a:t>Fulfilling meeting objective</a:t>
            </a:r>
          </a:p>
          <a:p>
            <a:r>
              <a:rPr lang="en-US" dirty="0">
                <a:latin typeface="Arial" pitchFamily="34" charset="0"/>
                <a:cs typeface="Arial" pitchFamily="34" charset="0"/>
              </a:rPr>
              <a:t>Engaging the Members</a:t>
            </a:r>
          </a:p>
          <a:p>
            <a:r>
              <a:rPr lang="en-US" dirty="0">
                <a:latin typeface="Arial" pitchFamily="34" charset="0"/>
                <a:cs typeface="Arial" pitchFamily="34" charset="0"/>
              </a:rPr>
              <a:t>Managing time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dirty="0"/>
          </a:p>
        </p:txBody>
      </p:sp>
      <p:pic>
        <p:nvPicPr>
          <p:cNvPr id="7" name="Picture 6" descr="download (1).jpg"/>
          <p:cNvPicPr>
            <a:picLocks noChangeAspect="1"/>
          </p:cNvPicPr>
          <p:nvPr/>
        </p:nvPicPr>
        <p:blipFill>
          <a:blip r:embed="rId2"/>
          <a:stretch>
            <a:fillRect/>
          </a:stretch>
        </p:blipFill>
        <p:spPr>
          <a:xfrm>
            <a:off x="6126480" y="1815736"/>
            <a:ext cx="5225141" cy="4376057"/>
          </a:xfrm>
          <a:prstGeom prst="rect">
            <a:avLst/>
          </a:prstGeom>
        </p:spPr>
      </p:pic>
      <p:sp>
        <p:nvSpPr>
          <p:cNvPr id="8" name="Rectangle 7"/>
          <p:cNvSpPr/>
          <p:nvPr/>
        </p:nvSpPr>
        <p:spPr>
          <a:xfrm>
            <a:off x="9096787" y="6418606"/>
            <a:ext cx="1866217" cy="261610"/>
          </a:xfrm>
          <a:prstGeom prst="rect">
            <a:avLst/>
          </a:prstGeom>
        </p:spPr>
        <p:txBody>
          <a:bodyPr wrap="none">
            <a:spAutoFit/>
          </a:bodyPr>
          <a:lstStyle/>
          <a:p>
            <a:r>
              <a:rPr lang="en-US" sz="1100" dirty="0">
                <a:latin typeface="Arial" pitchFamily="34" charset="0"/>
                <a:cs typeface="Arial" pitchFamily="34" charset="0"/>
              </a:rPr>
              <a:t>https://www.pinterest.co.uk</a:t>
            </a:r>
          </a:p>
        </p:txBody>
      </p:sp>
      <p:sp>
        <p:nvSpPr>
          <p:cNvPr id="11" name="Rectangle 10"/>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2" name="Rectangle 11"/>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487297" cy="1280795"/>
          </a:xfrm>
        </p:spPr>
        <p:txBody>
          <a:bodyPr/>
          <a:lstStyle/>
          <a:p>
            <a:pPr algn="ctr"/>
            <a:r>
              <a:rPr lang="en-IN" dirty="0">
                <a:latin typeface="Arial Black" pitchFamily="34" charset="0"/>
              </a:rPr>
              <a:t>Essentials of Agenda</a:t>
            </a:r>
          </a:p>
        </p:txBody>
      </p:sp>
      <p:sp>
        <p:nvSpPr>
          <p:cNvPr id="3" name="Content Placeholder 2"/>
          <p:cNvSpPr>
            <a:spLocks noGrp="1"/>
          </p:cNvSpPr>
          <p:nvPr>
            <p:ph idx="1"/>
          </p:nvPr>
        </p:nvSpPr>
        <p:spPr/>
        <p:txBody>
          <a:bodyPr/>
          <a:lstStyle/>
          <a:p>
            <a:pPr>
              <a:buNone/>
            </a:pPr>
            <a:r>
              <a:rPr lang="en-IN" sz="2400" dirty="0">
                <a:latin typeface="Arial" pitchFamily="34" charset="0"/>
                <a:cs typeface="Arial" pitchFamily="34" charset="0"/>
              </a:rPr>
              <a:t>   </a:t>
            </a:r>
          </a:p>
          <a:p>
            <a:pPr>
              <a:buNone/>
            </a:pPr>
            <a:r>
              <a:rPr lang="en-IN" dirty="0">
                <a:latin typeface="Arial" pitchFamily="34" charset="0"/>
                <a:cs typeface="Arial" pitchFamily="34" charset="0"/>
              </a:rPr>
              <a:t>  </a:t>
            </a:r>
            <a:r>
              <a:rPr lang="en-IN" b="1" dirty="0">
                <a:latin typeface="Arial" pitchFamily="34" charset="0"/>
                <a:cs typeface="Arial" pitchFamily="34" charset="0"/>
              </a:rPr>
              <a:t>In order to increase the meeting productivity, an agenda must be created keeping the following elements in mind:</a:t>
            </a:r>
          </a:p>
          <a:p>
            <a:pPr>
              <a:buNone/>
            </a:pPr>
            <a:endParaRPr lang="en-IN" dirty="0">
              <a:latin typeface="Arial" pitchFamily="34" charset="0"/>
              <a:cs typeface="Arial" pitchFamily="34" charset="0"/>
            </a:endParaRPr>
          </a:p>
          <a:p>
            <a:r>
              <a:rPr lang="en-IN" dirty="0">
                <a:latin typeface="Arial" pitchFamily="34" charset="0"/>
                <a:cs typeface="Arial" pitchFamily="34" charset="0"/>
              </a:rPr>
              <a:t>Objective of the meeting to be written on the agenda clearly.</a:t>
            </a:r>
          </a:p>
          <a:p>
            <a:r>
              <a:rPr lang="en-IN" dirty="0">
                <a:latin typeface="Arial" pitchFamily="34" charset="0"/>
                <a:cs typeface="Arial" pitchFamily="34" charset="0"/>
              </a:rPr>
              <a:t>The meeting work plan/the body of the agenda.</a:t>
            </a:r>
          </a:p>
          <a:p>
            <a:r>
              <a:rPr lang="en-IN" dirty="0">
                <a:latin typeface="Arial" pitchFamily="34" charset="0"/>
                <a:cs typeface="Arial" pitchFamily="34" charset="0"/>
              </a:rPr>
              <a:t>Allocating time, keeping time check, calling the question.</a:t>
            </a:r>
          </a:p>
          <a:p>
            <a:r>
              <a:rPr lang="en-IN" dirty="0">
                <a:latin typeface="Arial" pitchFamily="34" charset="0"/>
                <a:cs typeface="Arial" pitchFamily="34" charset="0"/>
              </a:rPr>
              <a:t>Parking lot feature to be added.</a:t>
            </a:r>
          </a:p>
          <a:p>
            <a:pPr>
              <a:buNone/>
            </a:pPr>
            <a:endParaRPr lang="en-IN" dirty="0"/>
          </a:p>
          <a:p>
            <a:pPr>
              <a:buNone/>
            </a:pPr>
            <a:endParaRPr lang="en-IN" dirty="0"/>
          </a:p>
          <a:p>
            <a:pPr>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dirty="0"/>
          </a:p>
        </p:txBody>
      </p:sp>
      <p:sp>
        <p:nvSpPr>
          <p:cNvPr id="7" name="Rectangle 6"/>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461171" cy="1325563"/>
          </a:xfrm>
        </p:spPr>
        <p:txBody>
          <a:bodyPr/>
          <a:lstStyle/>
          <a:p>
            <a:pPr algn="ctr"/>
            <a:r>
              <a:rPr lang="en-IN" dirty="0">
                <a:latin typeface="Arial Black" pitchFamily="34" charset="0"/>
              </a:rPr>
              <a:t>Notice &amp; Agenda Specimen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dirty="0"/>
          </a:p>
        </p:txBody>
      </p:sp>
      <p:sp>
        <p:nvSpPr>
          <p:cNvPr id="6" name="Rectangle 5"/>
          <p:cNvSpPr/>
          <p:nvPr/>
        </p:nvSpPr>
        <p:spPr>
          <a:xfrm>
            <a:off x="809897" y="444137"/>
            <a:ext cx="10450286" cy="10972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pic>
        <p:nvPicPr>
          <p:cNvPr id="7" name="Picture 1"/>
          <p:cNvPicPr>
            <a:picLocks noChangeAspect="1" noChangeArrowheads="1"/>
          </p:cNvPicPr>
          <p:nvPr/>
        </p:nvPicPr>
        <p:blipFill>
          <a:blip r:embed="rId2"/>
          <a:srcRect l="27393" t="29771" r="11148" b="15714"/>
          <a:stretch>
            <a:fillRect/>
          </a:stretch>
        </p:blipFill>
        <p:spPr bwMode="auto">
          <a:xfrm>
            <a:off x="836023" y="1737360"/>
            <a:ext cx="10398033" cy="46373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Arial Black" pitchFamily="34" charset="0"/>
              </a:rPr>
              <a:t>Poll Question 2</a:t>
            </a:r>
          </a:p>
        </p:txBody>
      </p:sp>
      <p:sp>
        <p:nvSpPr>
          <p:cNvPr id="3" name="Content Placeholder 2"/>
          <p:cNvSpPr>
            <a:spLocks noGrp="1"/>
          </p:cNvSpPr>
          <p:nvPr>
            <p:ph idx="1"/>
          </p:nvPr>
        </p:nvSpPr>
        <p:spPr>
          <a:xfrm>
            <a:off x="862149" y="1841863"/>
            <a:ext cx="10463347" cy="4310743"/>
          </a:xfrm>
        </p:spPr>
        <p:txBody>
          <a:bodyPr>
            <a:normAutofit/>
          </a:bodyPr>
          <a:lstStyle/>
          <a:p>
            <a:pPr>
              <a:buNone/>
            </a:pPr>
            <a:endParaRPr lang="en-US" dirty="0">
              <a:latin typeface="Arial" pitchFamily="34" charset="0"/>
              <a:cs typeface="Arial" pitchFamily="34" charset="0"/>
            </a:endParaRPr>
          </a:p>
          <a:p>
            <a:pPr>
              <a:buNone/>
            </a:pPr>
            <a:r>
              <a:rPr lang="en-US" dirty="0">
                <a:latin typeface="Arial" pitchFamily="34" charset="0"/>
                <a:cs typeface="Arial" pitchFamily="34" charset="0"/>
              </a:rPr>
              <a:t>A Notice must accompany an Agenda.</a:t>
            </a:r>
          </a:p>
          <a:p>
            <a:pPr>
              <a:buNone/>
            </a:pPr>
            <a:endParaRPr lang="en-US" dirty="0">
              <a:latin typeface="Arial" pitchFamily="34" charset="0"/>
              <a:cs typeface="Arial" pitchFamily="34" charset="0"/>
            </a:endParaRPr>
          </a:p>
          <a:p>
            <a:pPr marL="514350" indent="-514350">
              <a:buAutoNum type="alphaUcParenR"/>
            </a:pPr>
            <a:r>
              <a:rPr lang="en-US" dirty="0">
                <a:latin typeface="Arial" pitchFamily="34" charset="0"/>
                <a:cs typeface="Arial" pitchFamily="34" charset="0"/>
              </a:rPr>
              <a:t>Yes</a:t>
            </a:r>
          </a:p>
          <a:p>
            <a:pPr marL="514350" indent="-514350">
              <a:buAutoNum type="alphaUcParenR"/>
            </a:pPr>
            <a:r>
              <a:rPr lang="en-US" dirty="0">
                <a:latin typeface="Arial" pitchFamily="34" charset="0"/>
                <a:cs typeface="Arial" pitchFamily="34" charset="0"/>
              </a:rPr>
              <a:t>No</a:t>
            </a:r>
          </a:p>
          <a:p>
            <a:pPr>
              <a:buNone/>
            </a:pPr>
            <a:endParaRPr lang="en-IN" sz="5100" dirty="0">
              <a:latin typeface="Arial" pitchFamily="34" charset="0"/>
              <a:cs typeface="Arial" pitchFamily="34" charset="0"/>
            </a:endParaRPr>
          </a:p>
          <a:p>
            <a:pPr>
              <a:buNone/>
            </a:pPr>
            <a:endParaRPr lang="en-IN" sz="5100" dirty="0">
              <a:latin typeface="Arial" pitchFamily="34" charset="0"/>
              <a:cs typeface="Arial" pitchFamily="34" charset="0"/>
            </a:endParaRPr>
          </a:p>
          <a:p>
            <a:pPr>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8" name="Rectangle 7"/>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9" name="Rectangle 8"/>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41606"/>
          </a:xfrm>
        </p:spPr>
        <p:txBody>
          <a:bodyPr/>
          <a:lstStyle/>
          <a:p>
            <a:pPr algn="ctr"/>
            <a:r>
              <a:rPr lang="en-IN" dirty="0">
                <a:latin typeface="Arial Black" pitchFamily="34" charset="0"/>
              </a:rPr>
              <a:t>Minutes of Meeting</a:t>
            </a:r>
          </a:p>
        </p:txBody>
      </p:sp>
      <p:sp>
        <p:nvSpPr>
          <p:cNvPr id="3" name="Content Placeholder 2"/>
          <p:cNvSpPr>
            <a:spLocks noGrp="1"/>
          </p:cNvSpPr>
          <p:nvPr>
            <p:ph idx="1"/>
          </p:nvPr>
        </p:nvSpPr>
        <p:spPr>
          <a:xfrm>
            <a:off x="838200" y="1802673"/>
            <a:ext cx="5562600" cy="4374289"/>
          </a:xfrm>
        </p:spPr>
        <p:txBody>
          <a:bodyPr>
            <a:normAutofit/>
          </a:bodyPr>
          <a:lstStyle/>
          <a:p>
            <a:r>
              <a:rPr lang="en-IN" dirty="0">
                <a:latin typeface="Arial" pitchFamily="34" charset="0"/>
                <a:cs typeface="Arial" pitchFamily="34" charset="0"/>
              </a:rPr>
              <a:t>Minutes of the meeting is a term that is used to refer to the written record of the official proceedings during a formal meeting.</a:t>
            </a:r>
          </a:p>
          <a:p>
            <a:r>
              <a:rPr lang="en-IN" dirty="0">
                <a:latin typeface="Arial" pitchFamily="34" charset="0"/>
                <a:cs typeface="Arial" pitchFamily="34" charset="0"/>
              </a:rPr>
              <a:t>The minute taker may record the meeting in shorthand, then type the minutes and issue them to the attendees afterwards.</a:t>
            </a:r>
          </a:p>
          <a:p>
            <a:pPr>
              <a:buNone/>
            </a:pPr>
            <a:endParaRPr lang="en-IN" dirty="0">
              <a:latin typeface="Arial" pitchFamily="34" charset="0"/>
              <a:cs typeface="Arial" pitchFamily="34" charset="0"/>
            </a:endParaRPr>
          </a:p>
          <a:p>
            <a:pPr>
              <a:buNone/>
            </a:pPr>
            <a:endParaRPr lang="en-IN" dirty="0"/>
          </a:p>
          <a:p>
            <a:pPr>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dirty="0"/>
          </a:p>
        </p:txBody>
      </p:sp>
      <p:pic>
        <p:nvPicPr>
          <p:cNvPr id="5" name="Picture 4" descr="quote 1.jpg"/>
          <p:cNvPicPr>
            <a:picLocks noChangeAspect="1"/>
          </p:cNvPicPr>
          <p:nvPr/>
        </p:nvPicPr>
        <p:blipFill>
          <a:blip r:embed="rId2"/>
          <a:stretch>
            <a:fillRect/>
          </a:stretch>
        </p:blipFill>
        <p:spPr>
          <a:xfrm>
            <a:off x="6374674" y="1841862"/>
            <a:ext cx="4962334" cy="4323805"/>
          </a:xfrm>
          <a:prstGeom prst="rect">
            <a:avLst/>
          </a:prstGeom>
        </p:spPr>
      </p:pic>
      <p:sp>
        <p:nvSpPr>
          <p:cNvPr id="6" name="Rectangle 5"/>
          <p:cNvSpPr/>
          <p:nvPr/>
        </p:nvSpPr>
        <p:spPr>
          <a:xfrm>
            <a:off x="9182012" y="6413862"/>
            <a:ext cx="1856104" cy="261610"/>
          </a:xfrm>
          <a:prstGeom prst="rect">
            <a:avLst/>
          </a:prstGeom>
        </p:spPr>
        <p:txBody>
          <a:bodyPr wrap="square">
            <a:spAutoFit/>
          </a:bodyPr>
          <a:lstStyle/>
          <a:p>
            <a:r>
              <a:rPr lang="en-US" sz="1100" dirty="0">
                <a:latin typeface="Arial" pitchFamily="34" charset="0"/>
                <a:cs typeface="Arial" pitchFamily="34" charset="0"/>
              </a:rPr>
              <a:t>https://www.azquotes.com</a:t>
            </a:r>
          </a:p>
        </p:txBody>
      </p:sp>
      <p:sp>
        <p:nvSpPr>
          <p:cNvPr id="9" name="Rectangle 8"/>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0" name="Rectangle 9"/>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80795"/>
          </a:xfrm>
        </p:spPr>
        <p:txBody>
          <a:bodyPr/>
          <a:lstStyle/>
          <a:p>
            <a:pPr algn="ctr"/>
            <a:r>
              <a:rPr lang="en-IN" dirty="0">
                <a:latin typeface="Arial Black" pitchFamily="34" charset="0"/>
              </a:rPr>
              <a:t>Importance of Minutes</a:t>
            </a:r>
          </a:p>
        </p:txBody>
      </p:sp>
      <p:sp>
        <p:nvSpPr>
          <p:cNvPr id="3" name="Content Placeholder 2"/>
          <p:cNvSpPr>
            <a:spLocks noGrp="1"/>
          </p:cNvSpPr>
          <p:nvPr>
            <p:ph idx="1"/>
          </p:nvPr>
        </p:nvSpPr>
        <p:spPr/>
        <p:txBody>
          <a:bodyPr>
            <a:normAutofit lnSpcReduction="10000"/>
          </a:bodyPr>
          <a:lstStyle/>
          <a:p>
            <a:pPr>
              <a:buNone/>
            </a:pPr>
            <a:r>
              <a:rPr lang="en-IN" b="1" dirty="0">
                <a:latin typeface="Arial" pitchFamily="34" charset="0"/>
                <a:cs typeface="Arial" pitchFamily="34" charset="0"/>
              </a:rPr>
              <a:t>These minutes:</a:t>
            </a:r>
          </a:p>
          <a:p>
            <a:r>
              <a:rPr lang="en-IN" dirty="0">
                <a:latin typeface="Arial" pitchFamily="34" charset="0"/>
                <a:cs typeface="Arial" pitchFamily="34" charset="0"/>
              </a:rPr>
              <a:t>Serve as records of what happened during a meeting to remind people after some time if they forget.</a:t>
            </a:r>
          </a:p>
          <a:p>
            <a:r>
              <a:rPr lang="en-IN" dirty="0">
                <a:latin typeface="Arial" pitchFamily="34" charset="0"/>
                <a:cs typeface="Arial" pitchFamily="34" charset="0"/>
              </a:rPr>
              <a:t>Are useful for all those who are not able to attend the meeting as they get to know everything that took place during the meeting.</a:t>
            </a:r>
          </a:p>
          <a:p>
            <a:r>
              <a:rPr lang="en-US" dirty="0">
                <a:latin typeface="Arial" pitchFamily="34" charset="0"/>
                <a:cs typeface="Arial" pitchFamily="34" charset="0"/>
              </a:rPr>
              <a:t>Are a record of meeting decisions, which makes them a useful review document when it’s time to measure progress. </a:t>
            </a:r>
          </a:p>
          <a:p>
            <a:r>
              <a:rPr lang="en-US" dirty="0">
                <a:latin typeface="Arial" pitchFamily="34" charset="0"/>
                <a:cs typeface="Arial" pitchFamily="34" charset="0"/>
              </a:rPr>
              <a:t>Act as an accountability tool because they make it clear who’s duty it was to perform a particular task.</a:t>
            </a:r>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dirty="0"/>
          </a:p>
        </p:txBody>
      </p:sp>
      <p:sp>
        <p:nvSpPr>
          <p:cNvPr id="8" name="Rectangle 7"/>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9" name="Rectangle 8"/>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Arial Black" pitchFamily="34" charset="0"/>
              </a:rPr>
              <a:t>Essentials of Minutes </a:t>
            </a:r>
          </a:p>
        </p:txBody>
      </p:sp>
      <p:sp>
        <p:nvSpPr>
          <p:cNvPr id="3" name="Content Placeholder 2"/>
          <p:cNvSpPr>
            <a:spLocks noGrp="1"/>
          </p:cNvSpPr>
          <p:nvPr>
            <p:ph idx="1"/>
          </p:nvPr>
        </p:nvSpPr>
        <p:spPr>
          <a:xfrm>
            <a:off x="838200" y="1528354"/>
            <a:ext cx="10515600" cy="4637315"/>
          </a:xfrm>
        </p:spPr>
        <p:txBody>
          <a:bodyPr>
            <a:normAutofit fontScale="55000" lnSpcReduction="20000"/>
          </a:bodyPr>
          <a:lstStyle/>
          <a:p>
            <a:pPr>
              <a:buNone/>
            </a:pPr>
            <a:r>
              <a:rPr lang="en-US" sz="5100" dirty="0">
                <a:latin typeface="Arial" pitchFamily="34" charset="0"/>
                <a:cs typeface="Arial" pitchFamily="34" charset="0"/>
              </a:rPr>
              <a:t>  </a:t>
            </a:r>
          </a:p>
          <a:p>
            <a:pPr>
              <a:buNone/>
            </a:pPr>
            <a:r>
              <a:rPr lang="en-US" sz="5100" dirty="0">
                <a:latin typeface="Arial" pitchFamily="34" charset="0"/>
                <a:cs typeface="Arial" pitchFamily="34" charset="0"/>
              </a:rPr>
              <a:t>  Meeting minutes should record what was </a:t>
            </a:r>
            <a:r>
              <a:rPr lang="en-US" sz="5100" i="1" dirty="0">
                <a:latin typeface="Arial" pitchFamily="34" charset="0"/>
                <a:cs typeface="Arial" pitchFamily="34" charset="0"/>
              </a:rPr>
              <a:t>done</a:t>
            </a:r>
            <a:r>
              <a:rPr lang="en-US" sz="5100" dirty="0">
                <a:latin typeface="Arial" pitchFamily="34" charset="0"/>
                <a:cs typeface="Arial" pitchFamily="34" charset="0"/>
              </a:rPr>
              <a:t> – the decisions made and the actions taken– not what was </a:t>
            </a:r>
            <a:r>
              <a:rPr lang="en-US" sz="5100" i="1" dirty="0">
                <a:latin typeface="Arial" pitchFamily="34" charset="0"/>
                <a:cs typeface="Arial" pitchFamily="34" charset="0"/>
              </a:rPr>
              <a:t>said</a:t>
            </a:r>
            <a:r>
              <a:rPr lang="en-US" sz="5100" dirty="0">
                <a:latin typeface="Arial" pitchFamily="34" charset="0"/>
                <a:cs typeface="Arial" pitchFamily="34" charset="0"/>
              </a:rPr>
              <a:t>. Standard contents include:</a:t>
            </a:r>
          </a:p>
          <a:p>
            <a:pPr>
              <a:buNone/>
            </a:pPr>
            <a:endParaRPr lang="en-US" sz="5100" dirty="0">
              <a:latin typeface="Arial" pitchFamily="34" charset="0"/>
              <a:cs typeface="Arial" pitchFamily="34" charset="0"/>
            </a:endParaRPr>
          </a:p>
          <a:p>
            <a:r>
              <a:rPr lang="en-US" sz="5100" dirty="0">
                <a:latin typeface="Arial" pitchFamily="34" charset="0"/>
                <a:cs typeface="Arial" pitchFamily="34" charset="0"/>
              </a:rPr>
              <a:t>Heading, type of meeting, organization name, date, time and place of meeting</a:t>
            </a:r>
          </a:p>
          <a:p>
            <a:r>
              <a:rPr lang="en-US" sz="5100" dirty="0">
                <a:latin typeface="Arial" pitchFamily="34" charset="0"/>
                <a:cs typeface="Arial" pitchFamily="34" charset="0"/>
              </a:rPr>
              <a:t>Attendees</a:t>
            </a:r>
          </a:p>
          <a:p>
            <a:r>
              <a:rPr lang="en-US" sz="5100" dirty="0">
                <a:latin typeface="Arial" pitchFamily="34" charset="0"/>
                <a:cs typeface="Arial" pitchFamily="34" charset="0"/>
              </a:rPr>
              <a:t>A record of the board’s acceptance of the previous meeting’s minutes</a:t>
            </a:r>
          </a:p>
          <a:p>
            <a:r>
              <a:rPr lang="en-US" sz="5100" dirty="0">
                <a:latin typeface="Arial" pitchFamily="34" charset="0"/>
                <a:cs typeface="Arial" pitchFamily="34" charset="0"/>
              </a:rPr>
              <a:t>Decisions made by the board (including decisions to table or postpone an item)</a:t>
            </a: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7" name="Rectangle 6"/>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00360" cy="1254669"/>
          </a:xfrm>
        </p:spPr>
        <p:txBody>
          <a:bodyPr/>
          <a:lstStyle/>
          <a:p>
            <a:pPr algn="ctr"/>
            <a:r>
              <a:rPr lang="en-IN" dirty="0">
                <a:latin typeface="Arial Black" pitchFamily="34" charset="0"/>
              </a:rPr>
              <a:t>Essentials Of Minutes – Contd. </a:t>
            </a:r>
          </a:p>
        </p:txBody>
      </p:sp>
      <p:sp>
        <p:nvSpPr>
          <p:cNvPr id="3" name="Content Placeholder 2"/>
          <p:cNvSpPr>
            <a:spLocks noGrp="1"/>
          </p:cNvSpPr>
          <p:nvPr>
            <p:ph idx="1"/>
          </p:nvPr>
        </p:nvSpPr>
        <p:spPr>
          <a:xfrm>
            <a:off x="838200" y="1802674"/>
            <a:ext cx="10515600" cy="4362995"/>
          </a:xfrm>
        </p:spPr>
        <p:txBody>
          <a:bodyPr>
            <a:normAutofit fontScale="40000" lnSpcReduction="20000"/>
          </a:bodyPr>
          <a:lstStyle/>
          <a:p>
            <a:endParaRPr lang="en-US" sz="6800" dirty="0">
              <a:latin typeface="Arial" pitchFamily="34" charset="0"/>
              <a:cs typeface="Arial" pitchFamily="34" charset="0"/>
            </a:endParaRPr>
          </a:p>
          <a:p>
            <a:r>
              <a:rPr lang="en-US" sz="7000" dirty="0">
                <a:latin typeface="Arial" pitchFamily="34" charset="0"/>
                <a:cs typeface="Arial" pitchFamily="34" charset="0"/>
              </a:rPr>
              <a:t>Reference to documents (e.g. written reports from the GM or committees) or resources (like information provided by outside experts) that were considered in making decisions</a:t>
            </a:r>
          </a:p>
          <a:p>
            <a:pPr>
              <a:buNone/>
            </a:pPr>
            <a:endParaRPr lang="en-US" sz="7000" dirty="0">
              <a:latin typeface="Arial" pitchFamily="34" charset="0"/>
              <a:cs typeface="Arial" pitchFamily="34" charset="0"/>
            </a:endParaRPr>
          </a:p>
          <a:p>
            <a:r>
              <a:rPr lang="en-US" sz="7000" dirty="0">
                <a:latin typeface="Arial" pitchFamily="34" charset="0"/>
                <a:cs typeface="Arial" pitchFamily="34" charset="0"/>
              </a:rPr>
              <a:t>Hour of adjournment</a:t>
            </a:r>
          </a:p>
          <a:p>
            <a:endParaRPr lang="en-US" sz="7000" dirty="0">
              <a:latin typeface="Arial" pitchFamily="34" charset="0"/>
              <a:cs typeface="Arial" pitchFamily="34" charset="0"/>
            </a:endParaRPr>
          </a:p>
          <a:p>
            <a:pPr>
              <a:buNone/>
            </a:pPr>
            <a:r>
              <a:rPr lang="en-US" sz="7000" dirty="0">
                <a:latin typeface="Arial" pitchFamily="34" charset="0"/>
                <a:cs typeface="Arial" pitchFamily="34" charset="0"/>
              </a:rPr>
              <a:t>  In general, the board Secretary is responsible for the minutes – but this does not mean that the Secretary must write the minutes</a:t>
            </a:r>
          </a:p>
          <a:p>
            <a:pPr>
              <a:buNone/>
            </a:pPr>
            <a:br>
              <a:rPr lang="en-US" dirty="0"/>
            </a:b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7" name="Rectangle 6"/>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137" y="365127"/>
            <a:ext cx="10513424" cy="1280793"/>
          </a:xfrm>
        </p:spPr>
        <p:txBody>
          <a:bodyPr>
            <a:normAutofit fontScale="90000"/>
          </a:bodyPr>
          <a:lstStyle/>
          <a:p>
            <a:pPr algn="ctr"/>
            <a:br>
              <a:rPr lang="en-US" b="1" dirty="0">
                <a:latin typeface="Arial Black" pitchFamily="34" charset="0"/>
                <a:cs typeface="Arial" pitchFamily="34" charset="0"/>
              </a:rPr>
            </a:br>
            <a:r>
              <a:rPr lang="en-US" sz="4900" b="1" dirty="0">
                <a:latin typeface="Arial Black" pitchFamily="34" charset="0"/>
                <a:cs typeface="Arial" pitchFamily="34" charset="0"/>
              </a:rPr>
              <a:t>What should Minutes </a:t>
            </a:r>
            <a:r>
              <a:rPr lang="en-US" sz="4900" b="1" i="1" dirty="0">
                <a:latin typeface="Arial Black" pitchFamily="34" charset="0"/>
                <a:cs typeface="Arial" pitchFamily="34" charset="0"/>
              </a:rPr>
              <a:t>not</a:t>
            </a:r>
            <a:r>
              <a:rPr lang="en-US" sz="4900" b="1" dirty="0">
                <a:latin typeface="Arial Black" pitchFamily="34" charset="0"/>
                <a:cs typeface="Arial" pitchFamily="34" charset="0"/>
              </a:rPr>
              <a:t> contain? </a:t>
            </a:r>
            <a:br>
              <a:rPr lang="en-US" b="1" dirty="0">
                <a:latin typeface="Arial Black" pitchFamily="34" charset="0"/>
              </a:rPr>
            </a:br>
            <a:endParaRPr lang="en-IN" dirty="0">
              <a:latin typeface="Arial Black" pitchFamily="34" charset="0"/>
            </a:endParaRPr>
          </a:p>
        </p:txBody>
      </p:sp>
      <p:sp>
        <p:nvSpPr>
          <p:cNvPr id="3" name="Content Placeholder 2"/>
          <p:cNvSpPr>
            <a:spLocks noGrp="1"/>
          </p:cNvSpPr>
          <p:nvPr>
            <p:ph idx="1"/>
          </p:nvPr>
        </p:nvSpPr>
        <p:spPr/>
        <p:txBody>
          <a:bodyPr/>
          <a:lstStyle/>
          <a:p>
            <a:pPr>
              <a:buNone/>
            </a:pPr>
            <a:r>
              <a:rPr lang="en-US" dirty="0">
                <a:latin typeface="Arial" pitchFamily="34" charset="0"/>
                <a:cs typeface="Arial" pitchFamily="34" charset="0"/>
              </a:rPr>
              <a:t> </a:t>
            </a:r>
            <a:endParaRPr lang="en-US" b="1" dirty="0">
              <a:latin typeface="Arial" pitchFamily="34" charset="0"/>
              <a:cs typeface="Arial" pitchFamily="34" charset="0"/>
            </a:endParaRPr>
          </a:p>
          <a:p>
            <a:r>
              <a:rPr lang="en-US" dirty="0">
                <a:latin typeface="Arial" pitchFamily="34" charset="0"/>
                <a:cs typeface="Arial" pitchFamily="34" charset="0"/>
              </a:rPr>
              <a:t>A transcript, or details of who said what.</a:t>
            </a:r>
          </a:p>
          <a:p>
            <a:pPr>
              <a:buNone/>
            </a:pPr>
            <a:endParaRPr lang="en-US" dirty="0">
              <a:latin typeface="Arial" pitchFamily="34" charset="0"/>
              <a:cs typeface="Arial" pitchFamily="34" charset="0"/>
            </a:endParaRPr>
          </a:p>
          <a:p>
            <a:r>
              <a:rPr lang="en-US" dirty="0">
                <a:latin typeface="Arial" pitchFamily="34" charset="0"/>
                <a:cs typeface="Arial" pitchFamily="34" charset="0"/>
              </a:rPr>
              <a:t>Personal opinions, interpretations or comments:  because this sort of information is rarely helpful later, and does not reflect the will of the board as a whole, it is better just to leave it out.</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9" name="Rectangle 8"/>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0" name="Rectangle 9"/>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graphicFrame>
        <p:nvGraphicFramePr>
          <p:cNvPr id="5" name="Object 4"/>
          <p:cNvGraphicFramePr>
            <a:graphicFrameLocks noChangeAspect="1"/>
          </p:cNvGraphicFramePr>
          <p:nvPr/>
        </p:nvGraphicFramePr>
        <p:xfrm>
          <a:off x="8824266" y="2965312"/>
          <a:ext cx="1795845" cy="1515245"/>
        </p:xfrm>
        <a:graphic>
          <a:graphicData uri="http://schemas.openxmlformats.org/presentationml/2006/ole">
            <mc:AlternateContent xmlns:mc="http://schemas.openxmlformats.org/markup-compatibility/2006">
              <mc:Choice xmlns:v="urn:schemas-microsoft-com:vml" Requires="v">
                <p:oleObj name="Document" showAsIcon="1" r:id="rId2" imgW="914400" imgH="771480" progId="Word.Document.12">
                  <p:embed/>
                </p:oleObj>
              </mc:Choice>
              <mc:Fallback>
                <p:oleObj name="Document" showAsIcon="1" r:id="rId2" imgW="914400" imgH="771480" progId="Word.Document.12">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4266" y="2965312"/>
                        <a:ext cx="1795845" cy="1515245"/>
                      </a:xfrm>
                      <a:prstGeom prst="rect">
                        <a:avLst/>
                      </a:prstGeom>
                      <a:solidFill>
                        <a:schemeClr val="accent1"/>
                      </a:solidFill>
                    </p:spPr>
                  </p:pic>
                </p:oleObj>
              </mc:Fallback>
            </mc:AlternateContent>
          </a:graphicData>
        </a:graphic>
      </p:graphicFrame>
      <p:sp>
        <p:nvSpPr>
          <p:cNvPr id="6" name="Rectangle 5"/>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9" name="TextBox 8"/>
          <p:cNvSpPr txBox="1"/>
          <p:nvPr/>
        </p:nvSpPr>
        <p:spPr>
          <a:xfrm>
            <a:off x="849085" y="574768"/>
            <a:ext cx="10502538" cy="769441"/>
          </a:xfrm>
          <a:prstGeom prst="rect">
            <a:avLst/>
          </a:prstGeom>
          <a:noFill/>
        </p:spPr>
        <p:txBody>
          <a:bodyPr wrap="square" rtlCol="0">
            <a:spAutoFit/>
          </a:bodyPr>
          <a:lstStyle/>
          <a:p>
            <a:pPr algn="ctr"/>
            <a:r>
              <a:rPr lang="en-US" sz="4400" dirty="0">
                <a:latin typeface="Arial Black" pitchFamily="34" charset="0"/>
              </a:rPr>
              <a:t>Meeting Minutes Sample</a:t>
            </a:r>
          </a:p>
        </p:txBody>
      </p:sp>
      <p:pic>
        <p:nvPicPr>
          <p:cNvPr id="11" name="Picture 4"/>
          <p:cNvPicPr>
            <a:picLocks noChangeAspect="1" noChangeArrowheads="1"/>
          </p:cNvPicPr>
          <p:nvPr/>
        </p:nvPicPr>
        <p:blipFill>
          <a:blip r:embed="rId4"/>
          <a:srcRect/>
          <a:stretch>
            <a:fillRect/>
          </a:stretch>
        </p:blipFill>
        <p:spPr bwMode="auto">
          <a:xfrm>
            <a:off x="1554480" y="1724297"/>
            <a:ext cx="6531429" cy="50030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137" y="365127"/>
            <a:ext cx="10513424" cy="1280793"/>
          </a:xfrm>
        </p:spPr>
        <p:txBody>
          <a:bodyPr>
            <a:normAutofit/>
          </a:bodyPr>
          <a:lstStyle/>
          <a:p>
            <a:pPr algn="ctr"/>
            <a:r>
              <a:rPr lang="en-US" b="1" dirty="0">
                <a:latin typeface="Arial Black" pitchFamily="34" charset="0"/>
              </a:rPr>
              <a:t>Minutes</a:t>
            </a:r>
            <a:endParaRPr lang="en-IN" dirty="0">
              <a:latin typeface="Arial Black" pitchFamily="34" charset="0"/>
            </a:endParaRPr>
          </a:p>
        </p:txBody>
      </p:sp>
      <p:sp>
        <p:nvSpPr>
          <p:cNvPr id="3" name="Content Placeholder 2"/>
          <p:cNvSpPr>
            <a:spLocks noGrp="1"/>
          </p:cNvSpPr>
          <p:nvPr>
            <p:ph idx="1"/>
          </p:nvPr>
        </p:nvSpPr>
        <p:spPr/>
        <p:txBody>
          <a:bodyPr/>
          <a:lstStyle/>
          <a:p>
            <a:pPr>
              <a:buNone/>
            </a:pPr>
            <a:r>
              <a:rPr lang="en-US" dirty="0">
                <a:latin typeface="Arial" pitchFamily="34" charset="0"/>
                <a:cs typeface="Arial" pitchFamily="34" charset="0"/>
              </a:rPr>
              <a:t> </a:t>
            </a:r>
            <a:endParaRPr lang="en-US" b="1" dirty="0">
              <a:latin typeface="Arial" pitchFamily="34" charset="0"/>
              <a:cs typeface="Arial" pitchFamily="34" charset="0"/>
            </a:endParaRPr>
          </a:p>
          <a:p>
            <a:pPr>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9" name="Rectangle 8"/>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0" name="Rectangle 9"/>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mom 1.PNG"/>
          <p:cNvPicPr>
            <a:picLocks noChangeAspect="1"/>
          </p:cNvPicPr>
          <p:nvPr/>
        </p:nvPicPr>
        <p:blipFill>
          <a:blip r:embed="rId2"/>
          <a:srcRect b="21679"/>
          <a:stretch>
            <a:fillRect/>
          </a:stretch>
        </p:blipFill>
        <p:spPr>
          <a:xfrm>
            <a:off x="862146" y="1832558"/>
            <a:ext cx="10437225" cy="434977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8999"/>
            <a:ext cx="10515600" cy="1325563"/>
          </a:xfrm>
        </p:spPr>
        <p:txBody>
          <a:bodyPr/>
          <a:lstStyle/>
          <a:p>
            <a:pPr algn="ctr"/>
            <a:r>
              <a:rPr lang="en-IN" dirty="0">
                <a:latin typeface="Arial Black" pitchFamily="34" charset="0"/>
              </a:rPr>
              <a:t>Difference Between Agenda &amp; Minutes </a:t>
            </a:r>
          </a:p>
        </p:txBody>
      </p:sp>
      <p:sp>
        <p:nvSpPr>
          <p:cNvPr id="3" name="Content Placeholder 2"/>
          <p:cNvSpPr>
            <a:spLocks noGrp="1"/>
          </p:cNvSpPr>
          <p:nvPr>
            <p:ph idx="1"/>
          </p:nvPr>
        </p:nvSpPr>
        <p:spPr>
          <a:xfrm>
            <a:off x="838200" y="1802674"/>
            <a:ext cx="10515600" cy="4415246"/>
          </a:xfrm>
        </p:spPr>
        <p:txBody>
          <a:bodyPr>
            <a:normAutofit/>
          </a:bodyPr>
          <a:lstStyle/>
          <a:p>
            <a:pPr algn="ctr">
              <a:lnSpc>
                <a:spcPct val="80000"/>
              </a:lnSpc>
              <a:buFont typeface="Wingdings 2" pitchFamily="18" charset="2"/>
              <a:buNone/>
            </a:pPr>
            <a:endParaRPr lang="en-US" b="1" dirty="0">
              <a:latin typeface="Arial" pitchFamily="34" charset="0"/>
              <a:cs typeface="Arial" pitchFamily="34" charset="0"/>
            </a:endParaRPr>
          </a:p>
          <a:p>
            <a:pPr algn="ctr">
              <a:lnSpc>
                <a:spcPct val="80000"/>
              </a:lnSpc>
              <a:buFont typeface="Wingdings 2" pitchFamily="18" charset="2"/>
              <a:buNone/>
            </a:pPr>
            <a:endParaRPr lang="en-US" b="1" dirty="0">
              <a:latin typeface="Arial" pitchFamily="34" charset="0"/>
              <a:cs typeface="Arial" pitchFamily="34" charset="0"/>
            </a:endParaRPr>
          </a:p>
          <a:p>
            <a:pPr algn="ctr">
              <a:lnSpc>
                <a:spcPct val="80000"/>
              </a:lnSpc>
              <a:buFont typeface="Wingdings 2" pitchFamily="18" charset="2"/>
              <a:buNone/>
            </a:pPr>
            <a:endParaRPr lang="en-US" dirty="0">
              <a:latin typeface="Arial" pitchFamily="34" charset="0"/>
              <a:cs typeface="Arial" pitchFamily="34" charset="0"/>
            </a:endParaRPr>
          </a:p>
          <a:p>
            <a:pPr>
              <a:lnSpc>
                <a:spcPct val="80000"/>
              </a:lnSpc>
              <a:buFont typeface="Wingdings 2" pitchFamily="18" charset="2"/>
              <a:buNone/>
            </a:pPr>
            <a:endParaRPr lang="en-US" dirty="0">
              <a:latin typeface="Arial" pitchFamily="34" charset="0"/>
              <a:cs typeface="Arial" pitchFamily="34" charset="0"/>
            </a:endParaRPr>
          </a:p>
          <a:p>
            <a:pPr>
              <a:lnSpc>
                <a:spcPct val="80000"/>
              </a:lnSpc>
              <a:buFont typeface="Wingdings 2" pitchFamily="18" charset="2"/>
              <a:buNone/>
            </a:pPr>
            <a:endParaRPr lang="en-US" dirty="0">
              <a:latin typeface="Arial" pitchFamily="34" charset="0"/>
              <a:cs typeface="Arial" pitchFamily="34" charset="0"/>
            </a:endParaRPr>
          </a:p>
          <a:p>
            <a:pPr algn="ctr">
              <a:lnSpc>
                <a:spcPct val="80000"/>
              </a:lnSpc>
              <a:buFont typeface="Wingdings 2" pitchFamily="18" charset="2"/>
              <a:buNone/>
            </a:pPr>
            <a:endParaRPr lang="en-US" b="1" dirty="0">
              <a:latin typeface="Arial" pitchFamily="34" charset="0"/>
              <a:cs typeface="Arial" pitchFamily="34" charset="0"/>
            </a:endParaRPr>
          </a:p>
          <a:p>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dirty="0"/>
          </a:p>
        </p:txBody>
      </p:sp>
      <p:sp>
        <p:nvSpPr>
          <p:cNvPr id="9" name="Rectangle 8"/>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0" name="Rectangle 9"/>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p:cNvGrpSpPr/>
          <p:nvPr/>
        </p:nvGrpSpPr>
        <p:grpSpPr>
          <a:xfrm>
            <a:off x="940526" y="2414451"/>
            <a:ext cx="10310947" cy="2773682"/>
            <a:chOff x="927463" y="2521138"/>
            <a:chExt cx="10310947" cy="2773682"/>
          </a:xfrm>
        </p:grpSpPr>
        <p:grpSp>
          <p:nvGrpSpPr>
            <p:cNvPr id="71" name="Group 70"/>
            <p:cNvGrpSpPr/>
            <p:nvPr/>
          </p:nvGrpSpPr>
          <p:grpSpPr>
            <a:xfrm>
              <a:off x="927463" y="2521138"/>
              <a:ext cx="5116284" cy="2725785"/>
              <a:chOff x="888274" y="2011681"/>
              <a:chExt cx="5116284" cy="2725785"/>
            </a:xfrm>
          </p:grpSpPr>
          <p:sp>
            <p:nvSpPr>
              <p:cNvPr id="12" name="Flowchart: Alternate Process 11"/>
              <p:cNvSpPr/>
              <p:nvPr/>
            </p:nvSpPr>
            <p:spPr>
              <a:xfrm>
                <a:off x="888274" y="3265717"/>
                <a:ext cx="2481942" cy="1449978"/>
              </a:xfrm>
              <a:prstGeom prst="flowChartAlternate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latin typeface="Arial" pitchFamily="34" charset="0"/>
                    <a:cs typeface="Arial" pitchFamily="34" charset="0"/>
                  </a:rPr>
                  <a:t>Agenda -</a:t>
                </a:r>
              </a:p>
              <a:p>
                <a:pPr algn="ctr"/>
                <a:r>
                  <a:rPr lang="en-US" sz="2000" dirty="0">
                    <a:latin typeface="Arial" pitchFamily="34" charset="0"/>
                    <a:cs typeface="Arial" pitchFamily="34" charset="0"/>
                  </a:rPr>
                  <a:t>is a list of items to be discussed at a formal meeting</a:t>
                </a:r>
              </a:p>
            </p:txBody>
          </p:sp>
          <p:cxnSp>
            <p:nvCxnSpPr>
              <p:cNvPr id="14" name="Straight Arrow Connector 13"/>
              <p:cNvCxnSpPr>
                <a:stCxn id="23" idx="2"/>
              </p:cNvCxnSpPr>
              <p:nvPr/>
            </p:nvCxnSpPr>
            <p:spPr>
              <a:xfrm rot="5400000">
                <a:off x="2504803" y="2210893"/>
                <a:ext cx="627016" cy="13781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23" idx="2"/>
              </p:cNvCxnSpPr>
              <p:nvPr/>
            </p:nvCxnSpPr>
            <p:spPr>
              <a:xfrm rot="16200000" flipH="1">
                <a:off x="3784960" y="2308860"/>
                <a:ext cx="640080" cy="11952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2024738" y="2011681"/>
                <a:ext cx="2965269" cy="57476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b="1" dirty="0">
                    <a:latin typeface="Arial" pitchFamily="34" charset="0"/>
                    <a:cs typeface="Arial" pitchFamily="34" charset="0"/>
                  </a:rPr>
                  <a:t>Definition</a:t>
                </a:r>
              </a:p>
            </p:txBody>
          </p:sp>
          <p:sp>
            <p:nvSpPr>
              <p:cNvPr id="34" name="Flowchart: Alternate Process 33"/>
              <p:cNvSpPr/>
              <p:nvPr/>
            </p:nvSpPr>
            <p:spPr>
              <a:xfrm>
                <a:off x="3522616" y="3287488"/>
                <a:ext cx="2481942" cy="1449978"/>
              </a:xfrm>
              <a:prstGeom prst="flowChartAlternate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latin typeface="Arial" pitchFamily="34" charset="0"/>
                    <a:cs typeface="Arial" pitchFamily="34" charset="0"/>
                  </a:rPr>
                  <a:t>Minutes -</a:t>
                </a:r>
              </a:p>
              <a:p>
                <a:pPr algn="ctr"/>
                <a:r>
                  <a:rPr lang="en-US" dirty="0">
                    <a:latin typeface="Arial" pitchFamily="34" charset="0"/>
                    <a:cs typeface="Arial" pitchFamily="34" charset="0"/>
                  </a:rPr>
                  <a:t>the official records of discussions held and decisions             taken at a meeting</a:t>
                </a:r>
                <a:endParaRPr lang="en-US" dirty="0"/>
              </a:p>
            </p:txBody>
          </p:sp>
        </p:grpSp>
        <p:grpSp>
          <p:nvGrpSpPr>
            <p:cNvPr id="72" name="Group 71"/>
            <p:cNvGrpSpPr/>
            <p:nvPr/>
          </p:nvGrpSpPr>
          <p:grpSpPr>
            <a:xfrm>
              <a:off x="6161314" y="2529846"/>
              <a:ext cx="5077096" cy="2764974"/>
              <a:chOff x="6239692" y="2007326"/>
              <a:chExt cx="5077096" cy="2764974"/>
            </a:xfrm>
          </p:grpSpPr>
          <p:sp>
            <p:nvSpPr>
              <p:cNvPr id="31" name="Rectangle 30"/>
              <p:cNvSpPr/>
              <p:nvPr/>
            </p:nvSpPr>
            <p:spPr>
              <a:xfrm>
                <a:off x="7519847" y="2007326"/>
                <a:ext cx="2965269" cy="574766"/>
              </a:xfrm>
              <a:prstGeom prst="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b="1" dirty="0">
                    <a:latin typeface="Arial" pitchFamily="34" charset="0"/>
                    <a:cs typeface="Arial" pitchFamily="34" charset="0"/>
                  </a:rPr>
                  <a:t>Preparation</a:t>
                </a:r>
              </a:p>
            </p:txBody>
          </p:sp>
          <p:sp>
            <p:nvSpPr>
              <p:cNvPr id="32" name="Flowchart: Alternate Process 31"/>
              <p:cNvSpPr/>
              <p:nvPr/>
            </p:nvSpPr>
            <p:spPr>
              <a:xfrm>
                <a:off x="6239692" y="3287488"/>
                <a:ext cx="2481942" cy="1449978"/>
              </a:xfrm>
              <a:prstGeom prst="flowChartAlternate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b="1" dirty="0">
                    <a:latin typeface="Arial" pitchFamily="34" charset="0"/>
                    <a:cs typeface="Arial" pitchFamily="34" charset="0"/>
                  </a:rPr>
                  <a:t>Agenda -</a:t>
                </a:r>
              </a:p>
              <a:p>
                <a:pPr algn="ctr"/>
                <a:r>
                  <a:rPr lang="en-US" dirty="0">
                    <a:latin typeface="Arial" pitchFamily="34" charset="0"/>
                    <a:cs typeface="Arial" pitchFamily="34" charset="0"/>
                  </a:rPr>
                  <a:t>drawn up by the secretary in consultation with the   Chairman.</a:t>
                </a:r>
                <a:endParaRPr lang="en-US" dirty="0"/>
              </a:p>
            </p:txBody>
          </p:sp>
          <p:sp>
            <p:nvSpPr>
              <p:cNvPr id="33" name="Flowchart: Alternate Process 32"/>
              <p:cNvSpPr/>
              <p:nvPr/>
            </p:nvSpPr>
            <p:spPr>
              <a:xfrm>
                <a:off x="8834846" y="3322322"/>
                <a:ext cx="2481942" cy="1449978"/>
              </a:xfrm>
              <a:prstGeom prst="flowChartAlternate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b="1" dirty="0">
                    <a:latin typeface="Arial" pitchFamily="34" charset="0"/>
                    <a:cs typeface="Arial" pitchFamily="34" charset="0"/>
                  </a:rPr>
                  <a:t>Minutes -</a:t>
                </a:r>
              </a:p>
              <a:p>
                <a:pPr algn="ctr"/>
                <a:r>
                  <a:rPr lang="en-US" dirty="0">
                    <a:latin typeface="Arial" pitchFamily="34" charset="0"/>
                    <a:cs typeface="Arial" pitchFamily="34" charset="0"/>
                  </a:rPr>
                  <a:t>are generally written by the secretary of the organizational unit.</a:t>
                </a:r>
                <a:endParaRPr lang="en-US" dirty="0"/>
              </a:p>
            </p:txBody>
          </p:sp>
          <p:cxnSp>
            <p:nvCxnSpPr>
              <p:cNvPr id="45" name="Straight Arrow Connector 44"/>
              <p:cNvCxnSpPr>
                <a:stCxn id="31" idx="2"/>
              </p:cNvCxnSpPr>
              <p:nvPr/>
            </p:nvCxnSpPr>
            <p:spPr>
              <a:xfrm rot="5400000">
                <a:off x="8019505" y="2269673"/>
                <a:ext cx="670559" cy="12953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31" idx="2"/>
              </p:cNvCxnSpPr>
              <p:nvPr/>
            </p:nvCxnSpPr>
            <p:spPr>
              <a:xfrm rot="16200000" flipH="1">
                <a:off x="9286601" y="2297972"/>
                <a:ext cx="696688" cy="12649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8999"/>
            <a:ext cx="10515600" cy="1325563"/>
          </a:xfrm>
        </p:spPr>
        <p:txBody>
          <a:bodyPr/>
          <a:lstStyle/>
          <a:p>
            <a:pPr algn="ctr"/>
            <a:r>
              <a:rPr lang="en-IN" dirty="0">
                <a:latin typeface="Arial Black" pitchFamily="34" charset="0"/>
              </a:rPr>
              <a:t>Difference Between Agenda &amp; Minutes – Contd.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7" name="Rectangle 6"/>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genda 3.png"/>
          <p:cNvPicPr>
            <a:picLocks noChangeAspect="1"/>
          </p:cNvPicPr>
          <p:nvPr/>
        </p:nvPicPr>
        <p:blipFill>
          <a:blip r:embed="rId2"/>
          <a:stretch>
            <a:fillRect/>
          </a:stretch>
        </p:blipFill>
        <p:spPr>
          <a:xfrm>
            <a:off x="875571" y="2337235"/>
            <a:ext cx="10440858" cy="291505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2873"/>
            <a:ext cx="10515600" cy="1325563"/>
          </a:xfrm>
        </p:spPr>
        <p:txBody>
          <a:bodyPr/>
          <a:lstStyle/>
          <a:p>
            <a:pPr algn="ctr"/>
            <a:r>
              <a:rPr lang="en-IN" dirty="0">
                <a:latin typeface="Arial Black" pitchFamily="34" charset="0"/>
              </a:rPr>
              <a:t>Difference Between Agenda &amp; Minutes – Contd.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dirty="0"/>
          </a:p>
        </p:txBody>
      </p:sp>
      <p:sp>
        <p:nvSpPr>
          <p:cNvPr id="7" name="Rectangle 6"/>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8" name="Rectangle 7"/>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genda 4.png"/>
          <p:cNvPicPr>
            <a:picLocks noChangeAspect="1"/>
          </p:cNvPicPr>
          <p:nvPr/>
        </p:nvPicPr>
        <p:blipFill>
          <a:blip r:embed="rId2"/>
          <a:stretch>
            <a:fillRect/>
          </a:stretch>
        </p:blipFill>
        <p:spPr>
          <a:xfrm>
            <a:off x="875571" y="2366898"/>
            <a:ext cx="10440858" cy="29341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137" y="365127"/>
            <a:ext cx="10513424" cy="1280793"/>
          </a:xfrm>
        </p:spPr>
        <p:txBody>
          <a:bodyPr>
            <a:noAutofit/>
          </a:bodyPr>
          <a:lstStyle/>
          <a:p>
            <a:pPr algn="ctr"/>
            <a:br>
              <a:rPr lang="en-US" b="1" dirty="0">
                <a:latin typeface="Arial Black" pitchFamily="34" charset="0"/>
                <a:cs typeface="Arial" pitchFamily="34" charset="0"/>
              </a:rPr>
            </a:br>
            <a:r>
              <a:rPr lang="en-US" b="1" dirty="0">
                <a:latin typeface="Arial Black" pitchFamily="34" charset="0"/>
                <a:cs typeface="Arial" pitchFamily="34" charset="0"/>
              </a:rPr>
              <a:t>Poll Question 3</a:t>
            </a:r>
            <a:br>
              <a:rPr lang="en-US" b="1" dirty="0">
                <a:latin typeface="Arial Black" pitchFamily="34" charset="0"/>
              </a:rPr>
            </a:br>
            <a:endParaRPr lang="en-IN" dirty="0">
              <a:latin typeface="Arial Black" pitchFamily="34" charset="0"/>
            </a:endParaRPr>
          </a:p>
        </p:txBody>
      </p:sp>
      <p:sp>
        <p:nvSpPr>
          <p:cNvPr id="3" name="Content Placeholder 2"/>
          <p:cNvSpPr>
            <a:spLocks noGrp="1"/>
          </p:cNvSpPr>
          <p:nvPr>
            <p:ph idx="1"/>
          </p:nvPr>
        </p:nvSpPr>
        <p:spPr>
          <a:xfrm>
            <a:off x="836023" y="1825625"/>
            <a:ext cx="10489474" cy="4351338"/>
          </a:xfrm>
        </p:spPr>
        <p:txBody>
          <a:bodyPr>
            <a:noAutofit/>
          </a:bodyPr>
          <a:lstStyle/>
          <a:p>
            <a:pPr algn="just">
              <a:buNone/>
            </a:pPr>
            <a:r>
              <a:rPr lang="en-US" dirty="0">
                <a:latin typeface="Arial" pitchFamily="34" charset="0"/>
                <a:cs typeface="Arial" pitchFamily="34" charset="0"/>
              </a:rPr>
              <a:t>  </a:t>
            </a:r>
          </a:p>
          <a:p>
            <a:pPr algn="just">
              <a:buNone/>
            </a:pPr>
            <a:r>
              <a:rPr lang="en-US" dirty="0">
                <a:latin typeface="Arial" pitchFamily="34" charset="0"/>
                <a:cs typeface="Arial" pitchFamily="34" charset="0"/>
              </a:rPr>
              <a:t>Minutes of the meeting must contain –</a:t>
            </a:r>
          </a:p>
          <a:p>
            <a:pPr algn="just">
              <a:buNone/>
            </a:pPr>
            <a:endParaRPr lang="en-US" dirty="0">
              <a:latin typeface="Arial" pitchFamily="34" charset="0"/>
              <a:cs typeface="Arial" pitchFamily="34" charset="0"/>
            </a:endParaRPr>
          </a:p>
          <a:p>
            <a:pPr marL="514350" indent="-514350" algn="just">
              <a:buAutoNum type="alphaUcParenR"/>
            </a:pPr>
            <a:r>
              <a:rPr lang="en-US" dirty="0">
                <a:latin typeface="Arial" pitchFamily="34" charset="0"/>
                <a:cs typeface="Arial" pitchFamily="34" charset="0"/>
              </a:rPr>
              <a:t>Hour of adjournment</a:t>
            </a:r>
          </a:p>
          <a:p>
            <a:pPr marL="514350" indent="-514350" algn="just">
              <a:buAutoNum type="alphaUcParenR"/>
            </a:pPr>
            <a:r>
              <a:rPr lang="en-US" dirty="0">
                <a:latin typeface="Arial" pitchFamily="34" charset="0"/>
                <a:cs typeface="Arial" pitchFamily="34" charset="0"/>
              </a:rPr>
              <a:t>Transcript of discussion at the meeting</a:t>
            </a:r>
          </a:p>
          <a:p>
            <a:pPr marL="514350" indent="-514350" algn="just">
              <a:buAutoNum type="alphaUcParenR"/>
            </a:pPr>
            <a:r>
              <a:rPr lang="en-US" dirty="0">
                <a:latin typeface="Arial" pitchFamily="34" charset="0"/>
                <a:cs typeface="Arial" pitchFamily="34" charset="0"/>
              </a:rPr>
              <a:t>Personal opinion about discussion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
        <p:nvSpPr>
          <p:cNvPr id="9" name="Rectangle 8"/>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0" name="Rectangle 9"/>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137" y="365127"/>
            <a:ext cx="10513424" cy="1280793"/>
          </a:xfrm>
        </p:spPr>
        <p:txBody>
          <a:bodyPr>
            <a:noAutofit/>
          </a:bodyPr>
          <a:lstStyle/>
          <a:p>
            <a:pPr algn="ctr"/>
            <a:br>
              <a:rPr lang="en-US" b="1" dirty="0">
                <a:latin typeface="Arial Black" pitchFamily="34" charset="0"/>
                <a:cs typeface="Arial" pitchFamily="34" charset="0"/>
              </a:rPr>
            </a:br>
            <a:r>
              <a:rPr lang="en-US" b="1" dirty="0">
                <a:latin typeface="Arial Black" pitchFamily="34" charset="0"/>
                <a:cs typeface="Arial" pitchFamily="34" charset="0"/>
              </a:rPr>
              <a:t>A Quick Recap</a:t>
            </a:r>
            <a:br>
              <a:rPr lang="en-US" b="1" dirty="0">
                <a:latin typeface="Arial Black" pitchFamily="34" charset="0"/>
              </a:rPr>
            </a:br>
            <a:endParaRPr lang="en-IN" dirty="0">
              <a:latin typeface="Arial Black" pitchFamily="34" charset="0"/>
            </a:endParaRPr>
          </a:p>
        </p:txBody>
      </p:sp>
      <p:sp>
        <p:nvSpPr>
          <p:cNvPr id="3" name="Content Placeholder 2"/>
          <p:cNvSpPr>
            <a:spLocks noGrp="1"/>
          </p:cNvSpPr>
          <p:nvPr>
            <p:ph idx="1"/>
          </p:nvPr>
        </p:nvSpPr>
        <p:spPr/>
        <p:txBody>
          <a:bodyPr/>
          <a:lstStyle/>
          <a:p>
            <a:pPr>
              <a:buNone/>
            </a:pPr>
            <a:r>
              <a:rPr lang="en-US" dirty="0">
                <a:latin typeface="Arial" pitchFamily="34" charset="0"/>
                <a:cs typeface="Arial" pitchFamily="34" charset="0"/>
              </a:rPr>
              <a:t> </a:t>
            </a:r>
            <a:endParaRPr lang="en-US" b="1" dirty="0">
              <a:latin typeface="Arial" pitchFamily="34" charset="0"/>
              <a:cs typeface="Arial" pitchFamily="34" charset="0"/>
            </a:endParaRPr>
          </a:p>
          <a:p>
            <a:pPr>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
        <p:nvSpPr>
          <p:cNvPr id="9" name="Rectangle 8"/>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0" name="Rectangle 9"/>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meeting 2.jpg"/>
          <p:cNvPicPr>
            <a:picLocks noChangeAspect="1"/>
          </p:cNvPicPr>
          <p:nvPr/>
        </p:nvPicPr>
        <p:blipFill>
          <a:blip r:embed="rId2"/>
          <a:stretch>
            <a:fillRect/>
          </a:stretch>
        </p:blipFill>
        <p:spPr>
          <a:xfrm>
            <a:off x="1236518" y="1849210"/>
            <a:ext cx="5495234" cy="4290334"/>
          </a:xfrm>
          <a:prstGeom prst="rect">
            <a:avLst/>
          </a:prstGeom>
        </p:spPr>
      </p:pic>
      <p:sp>
        <p:nvSpPr>
          <p:cNvPr id="8" name="Content Placeholder 2"/>
          <p:cNvSpPr txBox="1">
            <a:spLocks/>
          </p:cNvSpPr>
          <p:nvPr/>
        </p:nvSpPr>
        <p:spPr>
          <a:xfrm>
            <a:off x="8281859" y="6413864"/>
            <a:ext cx="2821572" cy="274320"/>
          </a:xfrm>
          <a:prstGeom prst="rect">
            <a:avLst/>
          </a:prstGeom>
        </p:spPr>
        <p:txBody>
          <a:bodyPr vert="horz" lIns="91440" tIns="45720" rIns="91440" bIns="45720" rtlCol="0">
            <a:no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100" b="0" i="0" u="none" strike="noStrike" kern="1200" cap="none" spc="0" normalizeH="0" baseline="0" noProof="0" dirty="0">
                <a:ln>
                  <a:noFill/>
                </a:ln>
                <a:solidFill>
                  <a:schemeClr val="tx1"/>
                </a:solidFill>
                <a:effectLst/>
                <a:uLnTx/>
                <a:uFillTx/>
                <a:latin typeface="Arial" pitchFamily="34" charset="0"/>
                <a:ea typeface="+mn-ea"/>
                <a:cs typeface="Arial" pitchFamily="34" charset="0"/>
              </a:rPr>
              <a:t>http://www.free-management-ebooks.com</a:t>
            </a:r>
          </a:p>
        </p:txBody>
      </p:sp>
      <p:pic>
        <p:nvPicPr>
          <p:cNvPr id="11" name="Picture 10" descr="Meeting 1.jpg"/>
          <p:cNvPicPr>
            <a:picLocks noChangeAspect="1"/>
          </p:cNvPicPr>
          <p:nvPr/>
        </p:nvPicPr>
        <p:blipFill>
          <a:blip r:embed="rId3"/>
          <a:stretch>
            <a:fillRect/>
          </a:stretch>
        </p:blipFill>
        <p:spPr>
          <a:xfrm>
            <a:off x="6949440" y="1833532"/>
            <a:ext cx="4369522" cy="431907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137" y="365127"/>
            <a:ext cx="10513424" cy="1280793"/>
          </a:xfrm>
        </p:spPr>
        <p:txBody>
          <a:bodyPr>
            <a:normAutofit fontScale="90000"/>
          </a:bodyPr>
          <a:lstStyle/>
          <a:p>
            <a:pPr algn="ctr"/>
            <a:br>
              <a:rPr lang="en-US" b="1" dirty="0">
                <a:latin typeface="Arial Black" pitchFamily="34" charset="0"/>
                <a:cs typeface="Arial" pitchFamily="34" charset="0"/>
              </a:rPr>
            </a:br>
            <a:r>
              <a:rPr lang="en-US" sz="4900" b="1" dirty="0">
                <a:latin typeface="Arial Black" pitchFamily="34" charset="0"/>
                <a:cs typeface="Arial" pitchFamily="34" charset="0"/>
              </a:rPr>
              <a:t>Glossary</a:t>
            </a:r>
            <a:r>
              <a:rPr lang="en-US" b="1" dirty="0">
                <a:latin typeface="Arial Black" pitchFamily="34" charset="0"/>
                <a:cs typeface="Arial" pitchFamily="34" charset="0"/>
              </a:rPr>
              <a:t> </a:t>
            </a:r>
            <a:br>
              <a:rPr lang="en-US" b="1" dirty="0">
                <a:latin typeface="Arial Black" pitchFamily="34" charset="0"/>
              </a:rPr>
            </a:br>
            <a:endParaRPr lang="en-IN" dirty="0">
              <a:latin typeface="Arial Black" pitchFamily="34" charset="0"/>
            </a:endParaRPr>
          </a:p>
        </p:txBody>
      </p:sp>
      <p:sp>
        <p:nvSpPr>
          <p:cNvPr id="3" name="Content Placeholder 2"/>
          <p:cNvSpPr>
            <a:spLocks noGrp="1"/>
          </p:cNvSpPr>
          <p:nvPr>
            <p:ph idx="1"/>
          </p:nvPr>
        </p:nvSpPr>
        <p:spPr/>
        <p:txBody>
          <a:bodyPr>
            <a:normAutofit/>
          </a:bodyPr>
          <a:lstStyle/>
          <a:p>
            <a:pPr marL="342900" indent="-342900" fontAlgn="t">
              <a:buNone/>
            </a:pPr>
            <a:endParaRPr lang="en-US" sz="2000" b="1" dirty="0">
              <a:latin typeface="Arial" pitchFamily="34" charset="0"/>
              <a:cs typeface="Arial" pitchFamily="34" charset="0"/>
            </a:endParaRPr>
          </a:p>
          <a:p>
            <a:pPr marL="342900" indent="-342900" fontAlgn="t">
              <a:buNone/>
            </a:pPr>
            <a:br>
              <a:rPr lang="en-US" sz="1600" dirty="0"/>
            </a:br>
            <a:br>
              <a:rPr lang="en-US" sz="1600" dirty="0"/>
            </a:br>
            <a:endParaRPr lang="en-US" sz="1600" dirty="0"/>
          </a:p>
          <a:p>
            <a:pPr marL="342900" indent="-342900" fontAlgn="t">
              <a:buAutoNum type="alphaUcParenR"/>
            </a:pPr>
            <a:endParaRPr lang="en-US" sz="1600" dirty="0"/>
          </a:p>
          <a:p>
            <a:pPr fontAlgn="t">
              <a:buNone/>
            </a:pPr>
            <a:endParaRPr lang="en-US" sz="1600" dirty="0">
              <a:latin typeface="Arial" pitchFamily="34" charset="0"/>
              <a:cs typeface="Arial" pitchFamily="34" charset="0"/>
            </a:endParaRPr>
          </a:p>
          <a:p>
            <a:pPr fontAlgn="t">
              <a:buNone/>
            </a:pPr>
            <a:endParaRPr lang="en-US" dirty="0"/>
          </a:p>
          <a:p>
            <a:pPr>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dirty="0"/>
          </a:p>
        </p:txBody>
      </p:sp>
      <p:sp>
        <p:nvSpPr>
          <p:cNvPr id="9" name="Rectangle 8"/>
          <p:cNvSpPr/>
          <p:nvPr/>
        </p:nvSpPr>
        <p:spPr>
          <a:xfrm>
            <a:off x="833848" y="365762"/>
            <a:ext cx="10517775" cy="12540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10" name="Rectangle 9"/>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4480561" y="1933302"/>
            <a:ext cx="6844936" cy="875212"/>
          </a:xfrm>
          <a:prstGeom prst="roundRect">
            <a:avLst/>
          </a:prstGeom>
          <a:solidFill>
            <a:schemeClr val="accent3">
              <a:lumMod val="40000"/>
              <a:lumOff val="60000"/>
            </a:schemeClr>
          </a:solidFill>
          <a:ln>
            <a:solidFill>
              <a:schemeClr val="accent1">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lvl="0"/>
            <a:r>
              <a:rPr lang="en-US" sz="2800" dirty="0">
                <a:solidFill>
                  <a:schemeClr val="tx1"/>
                </a:solidFill>
                <a:latin typeface="Arial" pitchFamily="34" charset="0"/>
                <a:cs typeface="Arial" pitchFamily="34" charset="0"/>
              </a:rPr>
              <a:t>to formally signal the start of a meeting</a:t>
            </a:r>
            <a:endParaRPr lang="en-US" sz="2800" dirty="0">
              <a:solidFill>
                <a:schemeClr val="tx1"/>
              </a:solidFill>
            </a:endParaRPr>
          </a:p>
        </p:txBody>
      </p:sp>
      <p:sp>
        <p:nvSpPr>
          <p:cNvPr id="17" name="Rounded Rectangle 16"/>
          <p:cNvSpPr/>
          <p:nvPr/>
        </p:nvSpPr>
        <p:spPr>
          <a:xfrm>
            <a:off x="4502333" y="2921723"/>
            <a:ext cx="6823164" cy="875212"/>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800" dirty="0">
                <a:solidFill>
                  <a:schemeClr val="tx1"/>
                </a:solidFill>
                <a:latin typeface="Arial" pitchFamily="34" charset="0"/>
                <a:cs typeface="Arial" pitchFamily="34" charset="0"/>
              </a:rPr>
              <a:t>progress reports presented at meetings</a:t>
            </a:r>
            <a:endParaRPr lang="en-US" sz="2800" dirty="0">
              <a:solidFill>
                <a:schemeClr val="tx1"/>
              </a:solidFill>
            </a:endParaRPr>
          </a:p>
        </p:txBody>
      </p:sp>
      <p:sp>
        <p:nvSpPr>
          <p:cNvPr id="18" name="Rounded Rectangle 17"/>
          <p:cNvSpPr/>
          <p:nvPr/>
        </p:nvSpPr>
        <p:spPr>
          <a:xfrm>
            <a:off x="4484915" y="3905794"/>
            <a:ext cx="6844936" cy="1201783"/>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800" dirty="0">
                <a:solidFill>
                  <a:schemeClr val="tx1"/>
                </a:solidFill>
                <a:latin typeface="Arial" pitchFamily="34" charset="0"/>
                <a:cs typeface="Arial" pitchFamily="34" charset="0"/>
              </a:rPr>
              <a:t>new topics and issues</a:t>
            </a:r>
            <a:endParaRPr lang="en-US" sz="2800" dirty="0">
              <a:solidFill>
                <a:schemeClr val="tx1"/>
              </a:solidFill>
            </a:endParaRPr>
          </a:p>
          <a:p>
            <a:pPr lvl="0"/>
            <a:r>
              <a:rPr lang="en-US" sz="2800" dirty="0">
                <a:solidFill>
                  <a:schemeClr val="tx1"/>
                </a:solidFill>
                <a:latin typeface="Arial" pitchFamily="34" charset="0"/>
                <a:cs typeface="Arial" pitchFamily="34" charset="0"/>
              </a:rPr>
              <a:t>unresolved discussions from a previous meeting</a:t>
            </a:r>
            <a:endParaRPr lang="en-US" sz="2800" dirty="0">
              <a:solidFill>
                <a:schemeClr val="tx1"/>
              </a:solidFill>
            </a:endParaRPr>
          </a:p>
        </p:txBody>
      </p:sp>
      <p:sp>
        <p:nvSpPr>
          <p:cNvPr id="19" name="Rounded Rectangle 18"/>
          <p:cNvSpPr/>
          <p:nvPr/>
        </p:nvSpPr>
        <p:spPr>
          <a:xfrm>
            <a:off x="4480561" y="5199017"/>
            <a:ext cx="6844936" cy="875212"/>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800" dirty="0">
                <a:solidFill>
                  <a:schemeClr val="tx1"/>
                </a:solidFill>
                <a:latin typeface="Arial" pitchFamily="34" charset="0"/>
                <a:cs typeface="Arial" pitchFamily="34" charset="0"/>
              </a:rPr>
              <a:t>the number of people needed for a meeting to be legitimate and commence</a:t>
            </a:r>
            <a:endParaRPr lang="en-US" sz="2800" dirty="0">
              <a:solidFill>
                <a:schemeClr val="tx1"/>
              </a:solidFill>
            </a:endParaRPr>
          </a:p>
        </p:txBody>
      </p:sp>
      <p:grpSp>
        <p:nvGrpSpPr>
          <p:cNvPr id="24" name="Group 23"/>
          <p:cNvGrpSpPr/>
          <p:nvPr/>
        </p:nvGrpSpPr>
        <p:grpSpPr>
          <a:xfrm>
            <a:off x="875211" y="1933302"/>
            <a:ext cx="3579223" cy="849566"/>
            <a:chOff x="0" y="1044"/>
            <a:chExt cx="3812951" cy="902299"/>
          </a:xfrm>
          <a:solidFill>
            <a:schemeClr val="accent1"/>
          </a:solidFill>
        </p:grpSpPr>
        <p:sp>
          <p:nvSpPr>
            <p:cNvPr id="25" name="Rounded Rectangle 24"/>
            <p:cNvSpPr/>
            <p:nvPr/>
          </p:nvSpPr>
          <p:spPr>
            <a:xfrm>
              <a:off x="0" y="1044"/>
              <a:ext cx="3812951" cy="902299"/>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6" name="Rounded Rectangle 4"/>
            <p:cNvSpPr/>
            <p:nvPr/>
          </p:nvSpPr>
          <p:spPr>
            <a:xfrm>
              <a:off x="44047" y="45091"/>
              <a:ext cx="3683413" cy="81420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latin typeface="Arial" pitchFamily="34" charset="0"/>
                  <a:cs typeface="Arial" pitchFamily="34" charset="0"/>
                </a:rPr>
                <a:t>Call to order</a:t>
              </a:r>
              <a:endParaRPr lang="en-US" sz="2800" kern="1200" dirty="0">
                <a:solidFill>
                  <a:schemeClr val="tx1"/>
                </a:solidFill>
              </a:endParaRPr>
            </a:p>
          </p:txBody>
        </p:sp>
      </p:grpSp>
      <p:grpSp>
        <p:nvGrpSpPr>
          <p:cNvPr id="27" name="Group 26"/>
          <p:cNvGrpSpPr/>
          <p:nvPr/>
        </p:nvGrpSpPr>
        <p:grpSpPr>
          <a:xfrm>
            <a:off x="901336" y="2886409"/>
            <a:ext cx="3579223" cy="901819"/>
            <a:chOff x="0" y="973840"/>
            <a:chExt cx="3771507" cy="902299"/>
          </a:xfrm>
        </p:grpSpPr>
        <p:sp>
          <p:nvSpPr>
            <p:cNvPr id="28" name="Rounded Rectangle 27"/>
            <p:cNvSpPr/>
            <p:nvPr/>
          </p:nvSpPr>
          <p:spPr>
            <a:xfrm>
              <a:off x="0" y="973840"/>
              <a:ext cx="3771507" cy="902299"/>
            </a:xfrm>
            <a:prstGeom prst="roundRect">
              <a:avLst/>
            </a:prstGeom>
            <a:solidFill>
              <a:schemeClr val="accent5">
                <a:lumMod val="60000"/>
                <a:lumOff val="4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9" name="Rounded Rectangle 4"/>
            <p:cNvSpPr/>
            <p:nvPr/>
          </p:nvSpPr>
          <p:spPr>
            <a:xfrm>
              <a:off x="44047" y="1017887"/>
              <a:ext cx="3683413" cy="814205"/>
            </a:xfrm>
            <a:prstGeom prst="rect">
              <a:avLst/>
            </a:prstGeom>
            <a:solidFill>
              <a:schemeClr val="accent1"/>
            </a:solidFill>
          </p:spPr>
          <p:style>
            <a:lnRef idx="0">
              <a:scrgbClr r="0" g="0" b="0"/>
            </a:lnRef>
            <a:fillRef idx="0">
              <a:scrgbClr r="0" g="0" b="0"/>
            </a:fillRef>
            <a:effectRef idx="0">
              <a:scrgbClr r="0" g="0" b="0"/>
            </a:effectRef>
            <a:fontRef idx="minor">
              <a:schemeClr val="lt1"/>
            </a:fontRef>
          </p:style>
          <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latin typeface="Arial" pitchFamily="34" charset="0"/>
                  <a:cs typeface="Arial" pitchFamily="34" charset="0"/>
                </a:rPr>
                <a:t>Committee Reports</a:t>
              </a:r>
              <a:endParaRPr lang="en-US" sz="2800" kern="1200" dirty="0">
                <a:solidFill>
                  <a:schemeClr val="tx1"/>
                </a:solidFill>
              </a:endParaRPr>
            </a:p>
          </p:txBody>
        </p:sp>
      </p:grpSp>
      <p:grpSp>
        <p:nvGrpSpPr>
          <p:cNvPr id="30" name="Group 29"/>
          <p:cNvGrpSpPr/>
          <p:nvPr/>
        </p:nvGrpSpPr>
        <p:grpSpPr>
          <a:xfrm>
            <a:off x="901336" y="3859054"/>
            <a:ext cx="3566161" cy="1256073"/>
            <a:chOff x="0" y="1934014"/>
            <a:chExt cx="3767824" cy="1256073"/>
          </a:xfrm>
          <a:solidFill>
            <a:schemeClr val="accent1"/>
          </a:solidFill>
        </p:grpSpPr>
        <p:sp>
          <p:nvSpPr>
            <p:cNvPr id="31" name="Rounded Rectangle 30"/>
            <p:cNvSpPr/>
            <p:nvPr/>
          </p:nvSpPr>
          <p:spPr>
            <a:xfrm>
              <a:off x="0" y="1934014"/>
              <a:ext cx="3767824" cy="1256073"/>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2" name="Rounded Rectangle 4"/>
            <p:cNvSpPr/>
            <p:nvPr/>
          </p:nvSpPr>
          <p:spPr>
            <a:xfrm>
              <a:off x="61316" y="1995330"/>
              <a:ext cx="3645192" cy="113344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latin typeface="Arial" pitchFamily="34" charset="0"/>
                  <a:cs typeface="Arial" pitchFamily="34" charset="0"/>
                </a:rPr>
                <a:t>New Business</a:t>
              </a:r>
            </a:p>
            <a:p>
              <a:pPr lvl="0" algn="ctr" defTabSz="1244600">
                <a:lnSpc>
                  <a:spcPct val="90000"/>
                </a:lnSpc>
                <a:spcBef>
                  <a:spcPct val="0"/>
                </a:spcBef>
                <a:spcAft>
                  <a:spcPct val="35000"/>
                </a:spcAft>
              </a:pPr>
              <a:r>
                <a:rPr lang="en-US" sz="2800" b="1" kern="1200" dirty="0">
                  <a:solidFill>
                    <a:schemeClr val="tx1"/>
                  </a:solidFill>
                  <a:latin typeface="Arial" pitchFamily="34" charset="0"/>
                  <a:cs typeface="Arial" pitchFamily="34" charset="0"/>
                </a:rPr>
                <a:t>Old Business</a:t>
              </a:r>
              <a:endParaRPr lang="en-US" sz="2800" kern="1200" dirty="0">
                <a:solidFill>
                  <a:schemeClr val="tx1"/>
                </a:solidFill>
              </a:endParaRPr>
            </a:p>
          </p:txBody>
        </p:sp>
      </p:grpSp>
      <p:grpSp>
        <p:nvGrpSpPr>
          <p:cNvPr id="33" name="Group 32"/>
          <p:cNvGrpSpPr/>
          <p:nvPr/>
        </p:nvGrpSpPr>
        <p:grpSpPr>
          <a:xfrm>
            <a:off x="888274" y="5182551"/>
            <a:ext cx="3579225" cy="891677"/>
            <a:chOff x="0" y="3278778"/>
            <a:chExt cx="3767824" cy="986520"/>
          </a:xfrm>
          <a:solidFill>
            <a:schemeClr val="accent1"/>
          </a:solidFill>
        </p:grpSpPr>
        <p:sp>
          <p:nvSpPr>
            <p:cNvPr id="34" name="Rounded Rectangle 33"/>
            <p:cNvSpPr/>
            <p:nvPr/>
          </p:nvSpPr>
          <p:spPr>
            <a:xfrm>
              <a:off x="0" y="3278778"/>
              <a:ext cx="3767824" cy="986520"/>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5" name="Rounded Rectangle 4"/>
            <p:cNvSpPr/>
            <p:nvPr/>
          </p:nvSpPr>
          <p:spPr>
            <a:xfrm>
              <a:off x="48158" y="3326936"/>
              <a:ext cx="3671508" cy="89020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1" kern="1200">
                  <a:solidFill>
                    <a:schemeClr val="tx1"/>
                  </a:solidFill>
                  <a:latin typeface="Arial" pitchFamily="34" charset="0"/>
                  <a:cs typeface="Arial" pitchFamily="34" charset="0"/>
                </a:rPr>
                <a:t>Quorum</a:t>
              </a:r>
              <a:endParaRPr lang="en-US" sz="2800" b="1" kern="1200" dirty="0">
                <a:solidFill>
                  <a:schemeClr val="tx1"/>
                </a:solidFill>
                <a:latin typeface="Arial" pitchFamily="34" charset="0"/>
                <a:cs typeface="Arial" pitchFamily="34" charset="0"/>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Arial Black" pitchFamily="34" charset="0"/>
                <a:cs typeface="Arial" panose="020B0604020202020204" pitchFamily="34" charset="0"/>
              </a:rPr>
              <a:t>Applications</a:t>
            </a:r>
            <a:endParaRPr lang="en-US" b="1" dirty="0">
              <a:latin typeface="Arial Black" pitchFamily="34" charset="0"/>
            </a:endParaRPr>
          </a:p>
        </p:txBody>
      </p:sp>
      <p:sp>
        <p:nvSpPr>
          <p:cNvPr id="3" name="Content Placeholder 2"/>
          <p:cNvSpPr>
            <a:spLocks noGrp="1"/>
          </p:cNvSpPr>
          <p:nvPr>
            <p:ph idx="1"/>
          </p:nvPr>
        </p:nvSpPr>
        <p:spPr/>
        <p:txBody>
          <a:bodyPr>
            <a:normAutofit/>
          </a:bodyPr>
          <a:lstStyle/>
          <a:p>
            <a:r>
              <a:rPr lang="en-US" dirty="0">
                <a:latin typeface="Arial" pitchFamily="34" charset="0"/>
                <a:cs typeface="Arial" pitchFamily="34" charset="0"/>
              </a:rPr>
              <a:t>Students will be able to explain what an agenda and meeting minutes are and why they are useful.</a:t>
            </a:r>
          </a:p>
          <a:p>
            <a:r>
              <a:rPr lang="en-US" dirty="0">
                <a:latin typeface="Arial" pitchFamily="34" charset="0"/>
                <a:cs typeface="Arial" pitchFamily="34" charset="0"/>
              </a:rPr>
              <a:t>They will be able to identify the key components of agenda and meeting minutes. </a:t>
            </a:r>
          </a:p>
          <a:p>
            <a:r>
              <a:rPr lang="en-US" dirty="0">
                <a:latin typeface="Arial" pitchFamily="34" charset="0"/>
                <a:cs typeface="Arial" pitchFamily="34" charset="0"/>
              </a:rPr>
              <a:t> They will be competent to draft agenda and minutes of the meeting in the workplace.</a:t>
            </a:r>
          </a:p>
          <a:p>
            <a:r>
              <a:rPr lang="en-US" dirty="0">
                <a:latin typeface="Arial" pitchFamily="34" charset="0"/>
                <a:cs typeface="Arial" pitchFamily="34" charset="0"/>
              </a:rPr>
              <a:t>They’ll be equipped with one of the essential job skills – writing.</a:t>
            </a:r>
          </a:p>
          <a:p>
            <a:r>
              <a:rPr lang="en-US" dirty="0">
                <a:latin typeface="Arial" pitchFamily="34" charset="0"/>
                <a:cs typeface="Arial" pitchFamily="34" charset="0"/>
              </a:rPr>
              <a:t>They’ll be able to demonstrate their ability to explain, summarize and refine ideas.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9711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Arial Black" pitchFamily="34" charset="0"/>
                <a:cs typeface="Arial" panose="020B0604020202020204" pitchFamily="34" charset="0"/>
              </a:rPr>
              <a:t>Assessment Pattern</a:t>
            </a:r>
            <a:endParaRPr lang="en-US" dirty="0">
              <a:latin typeface="Arial Black" pitchFamily="34" charset="0"/>
            </a:endParaRPr>
          </a:p>
        </p:txBody>
      </p:sp>
      <p:sp>
        <p:nvSpPr>
          <p:cNvPr id="3" name="Content Placeholder 2"/>
          <p:cNvSpPr>
            <a:spLocks noGrp="1"/>
          </p:cNvSpPr>
          <p:nvPr>
            <p:ph idx="1"/>
          </p:nvPr>
        </p:nvSpPr>
        <p:spPr/>
        <p:txBody>
          <a:bodyPr>
            <a:normAutofit/>
          </a:bodyPr>
          <a:lstStyle/>
          <a:p>
            <a:pPr>
              <a:buNone/>
            </a:pPr>
            <a:r>
              <a:rPr lang="en-IN" b="1" dirty="0">
                <a:latin typeface="Arial" pitchFamily="34" charset="0"/>
                <a:cs typeface="Arial" pitchFamily="34" charset="0"/>
              </a:rPr>
              <a:t>Students are assessed on the basis of the following parameters:</a:t>
            </a:r>
          </a:p>
          <a:p>
            <a:r>
              <a:rPr lang="en-US" dirty="0">
                <a:latin typeface="Arial" pitchFamily="34" charset="0"/>
                <a:cs typeface="Arial" pitchFamily="34" charset="0"/>
              </a:rPr>
              <a:t>Hourly Tests - 2</a:t>
            </a:r>
          </a:p>
          <a:p>
            <a:r>
              <a:rPr lang="en-US" dirty="0">
                <a:latin typeface="Arial" pitchFamily="34" charset="0"/>
                <a:cs typeface="Arial" pitchFamily="34" charset="0"/>
              </a:rPr>
              <a:t>Assignments</a:t>
            </a:r>
          </a:p>
          <a:p>
            <a:r>
              <a:rPr lang="en-US" dirty="0">
                <a:latin typeface="Arial" pitchFamily="34" charset="0"/>
                <a:cs typeface="Arial" pitchFamily="34" charset="0"/>
              </a:rPr>
              <a:t>Surprise Test</a:t>
            </a:r>
          </a:p>
          <a:p>
            <a:r>
              <a:rPr lang="en-US" dirty="0">
                <a:latin typeface="Arial" pitchFamily="34" charset="0"/>
                <a:cs typeface="Arial" pitchFamily="34" charset="0"/>
              </a:rPr>
              <a:t>Quiz</a:t>
            </a:r>
          </a:p>
          <a:p>
            <a:r>
              <a:rPr lang="en-US" dirty="0">
                <a:latin typeface="Arial" pitchFamily="34" charset="0"/>
                <a:cs typeface="Arial" pitchFamily="34" charset="0"/>
              </a:rPr>
              <a:t>Student Engagement</a:t>
            </a:r>
          </a:p>
          <a:p>
            <a:r>
              <a:rPr lang="en-US" dirty="0">
                <a:latin typeface="Arial" pitchFamily="34" charset="0"/>
                <a:cs typeface="Arial" pitchFamily="34" charset="0"/>
              </a:rPr>
              <a:t>End Semester Exam</a:t>
            </a:r>
            <a:endParaRPr lang="en-US" sz="16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Arial Black" pitchFamily="34" charset="0"/>
                <a:cs typeface="Arial" panose="020B0604020202020204" pitchFamily="34" charset="0"/>
              </a:rPr>
              <a:t>References </a:t>
            </a:r>
            <a:r>
              <a:rPr lang="en-US" dirty="0">
                <a:latin typeface="Arial Black" pitchFamily="34" charset="0"/>
              </a:rPr>
              <a:t>  </a:t>
            </a:r>
          </a:p>
        </p:txBody>
      </p:sp>
      <p:sp>
        <p:nvSpPr>
          <p:cNvPr id="3" name="Content Placeholder 2"/>
          <p:cNvSpPr>
            <a:spLocks noGrp="1"/>
          </p:cNvSpPr>
          <p:nvPr>
            <p:ph idx="1"/>
          </p:nvPr>
        </p:nvSpPr>
        <p:spPr/>
        <p:txBody>
          <a:bodyPr>
            <a:normAutofit fontScale="92500" lnSpcReduction="10000"/>
          </a:bodyPr>
          <a:lstStyle/>
          <a:p>
            <a:r>
              <a:rPr lang="en-US" sz="3000" dirty="0">
                <a:latin typeface="Arial" pitchFamily="34" charset="0"/>
                <a:cs typeface="Arial" pitchFamily="34" charset="0"/>
                <a:hlinkClick r:id="rId2"/>
              </a:rPr>
              <a:t>https://www.simonstapleton.com/wordpress/2012/04/18/10-reasons-why-team-meetings-are-important/</a:t>
            </a:r>
            <a:endParaRPr lang="en-US" sz="3000" dirty="0">
              <a:latin typeface="Arial" pitchFamily="34" charset="0"/>
              <a:cs typeface="Arial" pitchFamily="34" charset="0"/>
            </a:endParaRPr>
          </a:p>
          <a:p>
            <a:r>
              <a:rPr lang="en-US" sz="3000" dirty="0">
                <a:latin typeface="Arial" pitchFamily="34" charset="0"/>
                <a:cs typeface="Arial" pitchFamily="34" charset="0"/>
                <a:hlinkClick r:id="rId3"/>
              </a:rPr>
              <a:t>https://bizfluent.com/info-8775163-importance-having-agenda-meetings.html</a:t>
            </a:r>
            <a:endParaRPr lang="en-US" sz="3000" dirty="0">
              <a:latin typeface="Arial" pitchFamily="34" charset="0"/>
              <a:cs typeface="Arial" pitchFamily="34" charset="0"/>
            </a:endParaRPr>
          </a:p>
          <a:p>
            <a:r>
              <a:rPr lang="en-US" sz="3200" dirty="0">
                <a:hlinkClick r:id="rId4"/>
              </a:rPr>
              <a:t>http://hcrc.revacomm.net/images/BOD/PONO/stop%20wasting%20valuable%20time.pdf</a:t>
            </a:r>
            <a:endParaRPr lang="en-US" sz="3000" dirty="0">
              <a:latin typeface="Arial" pitchFamily="34" charset="0"/>
              <a:cs typeface="Arial" pitchFamily="34" charset="0"/>
            </a:endParaRPr>
          </a:p>
          <a:p>
            <a:r>
              <a:rPr lang="en-US" sz="3000" b="1" dirty="0">
                <a:latin typeface="Arial" pitchFamily="34" charset="0"/>
                <a:cs typeface="Arial" pitchFamily="34" charset="0"/>
              </a:rPr>
              <a:t>Reference books:</a:t>
            </a:r>
          </a:p>
          <a:p>
            <a:r>
              <a:rPr lang="en-US" sz="3000" dirty="0">
                <a:latin typeface="Arial" pitchFamily="34" charset="0"/>
                <a:cs typeface="Arial" pitchFamily="34" charset="0"/>
              </a:rPr>
              <a:t>Taking Minutes of Meetings – 5th Edition by Joanna </a:t>
            </a:r>
            <a:r>
              <a:rPr lang="en-US" sz="3000" dirty="0" err="1">
                <a:latin typeface="Arial" pitchFamily="34" charset="0"/>
                <a:cs typeface="Arial" pitchFamily="34" charset="0"/>
              </a:rPr>
              <a:t>Gutmann</a:t>
            </a:r>
            <a:endParaRPr lang="en-US" sz="3000" dirty="0">
              <a:latin typeface="Arial" pitchFamily="34" charset="0"/>
              <a:cs typeface="Arial" pitchFamily="34" charset="0"/>
            </a:endParaRPr>
          </a:p>
          <a:p>
            <a:r>
              <a:rPr lang="en-US" sz="3000" dirty="0">
                <a:latin typeface="Arial" pitchFamily="34" charset="0"/>
                <a:cs typeface="Arial" pitchFamily="34" charset="0"/>
              </a:rPr>
              <a:t>The Art of Taking Minutes Paperback – April 19, 2011 by Delores </a:t>
            </a:r>
            <a:r>
              <a:rPr lang="en-US" sz="3000" dirty="0" err="1">
                <a:latin typeface="Arial" pitchFamily="34" charset="0"/>
                <a:cs typeface="Arial" pitchFamily="34" charset="0"/>
              </a:rPr>
              <a:t>Dochterman</a:t>
            </a:r>
            <a:r>
              <a:rPr lang="en-US" sz="3000" dirty="0">
                <a:latin typeface="Arial" pitchFamily="34" charset="0"/>
                <a:cs typeface="Arial" pitchFamily="34" charset="0"/>
              </a:rPr>
              <a:t> Benson </a:t>
            </a:r>
          </a:p>
          <a:p>
            <a:pPr>
              <a:buNone/>
            </a:pPr>
            <a:endParaRPr lang="en-US" sz="2400" b="1" dirty="0"/>
          </a:p>
          <a:p>
            <a:pPr>
              <a:buNone/>
            </a:pPr>
            <a:endParaRPr lang="en-US" sz="2400" dirty="0">
              <a:latin typeface="Arial" pitchFamily="34" charset="0"/>
              <a:cs typeface="Arial" pitchFamily="34" charset="0"/>
            </a:endParaRPr>
          </a:p>
          <a:p>
            <a:endParaRPr lang="en-US"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3169457"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communicationskills.uilah@gmail.com</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2849</TotalTime>
  <Words>1524</Words>
  <Application>Microsoft Office PowerPoint</Application>
  <PresentationFormat>Widescreen</PresentationFormat>
  <Paragraphs>262</Paragraphs>
  <Slides>32</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2</vt:i4>
      </vt:variant>
      <vt:variant>
        <vt:lpstr>Slide Titles</vt:lpstr>
      </vt:variant>
      <vt:variant>
        <vt:i4>32</vt:i4>
      </vt:variant>
    </vt:vector>
  </HeadingPairs>
  <TitlesOfParts>
    <vt:vector size="46" baseType="lpstr">
      <vt:lpstr>Arial</vt:lpstr>
      <vt:lpstr>Arial Black</vt:lpstr>
      <vt:lpstr>Calibri</vt:lpstr>
      <vt:lpstr>Calibri Light</vt:lpstr>
      <vt:lpstr>Casper</vt:lpstr>
      <vt:lpstr>Karla</vt:lpstr>
      <vt:lpstr>Raleway ExtraBold</vt:lpstr>
      <vt:lpstr>Times New Roman</vt:lpstr>
      <vt:lpstr>Wingdings</vt:lpstr>
      <vt:lpstr>Wingdings 2</vt:lpstr>
      <vt:lpstr>1_Office Theme</vt:lpstr>
      <vt:lpstr>Contents Slide Master</vt:lpstr>
      <vt:lpstr>CorelDRAW</vt:lpstr>
      <vt:lpstr>Document</vt:lpstr>
      <vt:lpstr>PowerPoint Presentation</vt:lpstr>
      <vt:lpstr>COURSE OBJECTIVES </vt:lpstr>
      <vt:lpstr>Course Outcomes </vt:lpstr>
      <vt:lpstr>Running Effective Meetings</vt:lpstr>
      <vt:lpstr>Components of a Meeting</vt:lpstr>
      <vt:lpstr>What is a Notice?</vt:lpstr>
      <vt:lpstr>Purpose &amp; Prerequisites of Notice</vt:lpstr>
      <vt:lpstr>Notice of Meeting-Companies Act</vt:lpstr>
      <vt:lpstr> Poll Question 1 </vt:lpstr>
      <vt:lpstr>Agenda</vt:lpstr>
      <vt:lpstr>Importance of Agenda</vt:lpstr>
      <vt:lpstr>Importance of Agenda - Contd.</vt:lpstr>
      <vt:lpstr>Essentials of Agenda</vt:lpstr>
      <vt:lpstr>Notice &amp; Agenda Specimen</vt:lpstr>
      <vt:lpstr>Poll Question 2</vt:lpstr>
      <vt:lpstr>Minutes of Meeting</vt:lpstr>
      <vt:lpstr>Importance of Minutes</vt:lpstr>
      <vt:lpstr>Essentials of Minutes </vt:lpstr>
      <vt:lpstr>Essentials Of Minutes – Contd. </vt:lpstr>
      <vt:lpstr> What should Minutes not contain?  </vt:lpstr>
      <vt:lpstr>PowerPoint Presentation</vt:lpstr>
      <vt:lpstr>Minutes</vt:lpstr>
      <vt:lpstr>Difference Between Agenda &amp; Minutes </vt:lpstr>
      <vt:lpstr>Difference Between Agenda &amp; Minutes – Contd.</vt:lpstr>
      <vt:lpstr>Difference Between Agenda &amp; Minutes – Contd.</vt:lpstr>
      <vt:lpstr> Poll Question 3 </vt:lpstr>
      <vt:lpstr> A Quick Recap </vt:lpstr>
      <vt:lpstr> Glossary  </vt:lpstr>
      <vt:lpstr>Applications</vt:lpstr>
      <vt:lpstr>Assessment Pattern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Vishal Monga</cp:lastModifiedBy>
  <cp:revision>649</cp:revision>
  <dcterms:created xsi:type="dcterms:W3CDTF">2019-01-09T10:33:58Z</dcterms:created>
  <dcterms:modified xsi:type="dcterms:W3CDTF">2023-07-11T08:34:52Z</dcterms:modified>
</cp:coreProperties>
</file>