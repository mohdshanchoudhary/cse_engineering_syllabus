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423" r:id="rId2"/>
    <p:sldId id="397" r:id="rId3"/>
    <p:sldId id="422" r:id="rId4"/>
    <p:sldId id="310" r:id="rId5"/>
    <p:sldId id="321" r:id="rId6"/>
    <p:sldId id="424" r:id="rId7"/>
    <p:sldId id="325" r:id="rId8"/>
    <p:sldId id="297" r:id="rId9"/>
    <p:sldId id="326" r:id="rId10"/>
    <p:sldId id="298" r:id="rId11"/>
    <p:sldId id="299" r:id="rId12"/>
    <p:sldId id="317" r:id="rId13"/>
    <p:sldId id="289" r:id="rId14"/>
    <p:sldId id="425" r:id="rId15"/>
    <p:sldId id="327" r:id="rId16"/>
    <p:sldId id="328" r:id="rId17"/>
    <p:sldId id="329" r:id="rId18"/>
    <p:sldId id="330" r:id="rId19"/>
    <p:sldId id="288" r:id="rId20"/>
    <p:sldId id="287" r:id="rId21"/>
    <p:sldId id="307" r:id="rId22"/>
    <p:sldId id="316" r:id="rId23"/>
    <p:sldId id="322" r:id="rId24"/>
    <p:sldId id="324" r:id="rId25"/>
    <p:sldId id="323" r:id="rId26"/>
    <p:sldId id="309" r:id="rId27"/>
    <p:sldId id="284" r:id="rId28"/>
    <p:sldId id="305" r:id="rId29"/>
    <p:sldId id="304" r:id="rId30"/>
    <p:sldId id="306" r:id="rId31"/>
    <p:sldId id="27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7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B4977C-B282-4660-8D27-C42BCD6862E8}" type="datetimeFigureOut">
              <a:rPr lang="en-IN" smtClean="0"/>
              <a:t>24-10-2023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1627E-35F3-49F4-AC36-C949A7179E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8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1627E-35F3-49F4-AC36-C949A7179ED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659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5356-19B2-4379-B4F4-1540FAA61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AEBF1-EA42-47E2-959F-57827F0E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76FD9-D2D3-4798-B84C-886ED70B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D837-E5F4-4169-9611-6017C7FE3F9E}" type="datetimeFigureOut">
              <a:rPr lang="en-IN" smtClean="0"/>
              <a:pPr/>
              <a:t>24-10-2023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938E4-ED6C-4E50-833B-35A30C85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13F80-8D03-4765-985C-2DDD09105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49D8C-1888-4FB5-8FCA-C21EFBEF35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51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F9A0-62AB-4474-8EE4-136BF5BA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982F3-26D7-47DE-9E0C-5D4AC7F2E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B7051-A7FD-4918-9BD6-0B1A7FF21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D837-E5F4-4169-9611-6017C7FE3F9E}" type="datetimeFigureOut">
              <a:rPr lang="en-IN" smtClean="0"/>
              <a:pPr/>
              <a:t>24-10-2023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EC982-794D-4957-8428-2692CF31C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23097-A604-4A72-A00D-5A83B8C0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49D8C-1888-4FB5-8FCA-C21EFBEF35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7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AED9-5189-4F71-B2AF-84239FD9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AD0BE-7750-49B8-9318-F0C016A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D1A76-70D7-4872-975C-DA4C601E4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D837-E5F4-4169-9611-6017C7FE3F9E}" type="datetimeFigureOut">
              <a:rPr lang="en-IN" smtClean="0"/>
              <a:pPr/>
              <a:t>24-10-2023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74C55-1146-4944-93A7-2232D727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71F2D-7EEA-41B8-9992-70839EDE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49D8C-1888-4FB5-8FCA-C21EFBEF35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522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EE0CF-23BB-4A1E-9A52-AA93776B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488D4-925E-4A63-BC6E-060FB05D8B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E677B-01AC-443E-92D9-866ACFCF6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03717-9621-416C-8914-F6D5CB48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D837-E5F4-4169-9611-6017C7FE3F9E}" type="datetimeFigureOut">
              <a:rPr lang="en-IN" smtClean="0"/>
              <a:pPr/>
              <a:t>24-10-2023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184DDF-4E27-413D-B95C-E75FD0F5D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9037D-607B-4DC0-B2C0-21E1DAA03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49D8C-1888-4FB5-8FCA-C21EFBEF35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48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0255-7C88-49B8-9E28-52A70896E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47C0B-24B4-4813-9D4E-B6B3B919C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0A177-54EC-4D88-BC73-E2F529004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F7C8B3-FFEE-4BDC-A86D-3E7DA90FAD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74C70E-F589-48C7-96BE-4468B1770A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125E3B-E3E2-4FA7-AE2E-814AA2BD1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D837-E5F4-4169-9611-6017C7FE3F9E}" type="datetimeFigureOut">
              <a:rPr lang="en-IN" smtClean="0"/>
              <a:pPr/>
              <a:t>24-10-2023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BB13E-8CEA-47AD-9D1D-B02AEA9D8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0732AE-2717-4FA9-AA6B-38DD7FA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49D8C-1888-4FB5-8FCA-C21EFBEF35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583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F62BB-17BB-4F7F-8FFA-D0A615303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F4D5C7-8C53-4C4E-80AE-AF2AF4577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D837-E5F4-4169-9611-6017C7FE3F9E}" type="datetimeFigureOut">
              <a:rPr lang="en-IN" smtClean="0"/>
              <a:pPr/>
              <a:t>24-10-2023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AA38C-FA00-4056-A685-1902DE7CB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A444D5-5E04-4C23-9629-994C81193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49D8C-1888-4FB5-8FCA-C21EFBEF35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669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11864B-4D78-4E7C-8286-7BAB74DD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D837-E5F4-4169-9611-6017C7FE3F9E}" type="datetimeFigureOut">
              <a:rPr lang="en-IN" smtClean="0"/>
              <a:pPr/>
              <a:t>24-10-2023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422439-5251-4B25-A8D0-1C406375F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21243-B92C-4A2A-B91F-581BE2B4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49D8C-1888-4FB5-8FCA-C21EFBEF35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80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B1C7-A6C7-4E65-BD74-615C9DA92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793D1-C2C8-489F-AB66-235B00BC6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779B2-5BA3-41BC-8B69-D006ABAB5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57581-3062-409A-87EC-CF009ED94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D837-E5F4-4169-9611-6017C7FE3F9E}" type="datetimeFigureOut">
              <a:rPr lang="en-IN" smtClean="0"/>
              <a:pPr/>
              <a:t>24-10-2023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287CC-66F9-4C1A-B460-566402EBC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7C8EA-A903-4F59-8E29-945557D4D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49D8C-1888-4FB5-8FCA-C21EFBEF35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88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554B3-1A38-412E-BA80-365B38083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64D2CA-0B6D-4E8C-845B-80E27F025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7E45F-11EC-48E6-BC5A-8D8D22224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B1205-D353-486B-8B44-A676DA16A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D837-E5F4-4169-9611-6017C7FE3F9E}" type="datetimeFigureOut">
              <a:rPr lang="en-IN" smtClean="0"/>
              <a:pPr/>
              <a:t>24-10-2023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A3411-1F61-4016-87DC-C719C3058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0CAEC-8074-430A-8830-266201738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49D8C-1888-4FB5-8FCA-C21EFBEF35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936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A39A0-3B74-4622-AA91-BE6F0875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C6109D-A93D-409D-AA35-2178C37C3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3C33D-A705-4A76-B12D-D214690FA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D837-E5F4-4169-9611-6017C7FE3F9E}" type="datetimeFigureOut">
              <a:rPr lang="en-IN" smtClean="0"/>
              <a:pPr/>
              <a:t>24-10-2023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FFC0D-B941-443B-9DD4-12963E64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D4C62-917F-4AF9-AF27-AF6D57A2D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49D8C-1888-4FB5-8FCA-C21EFBEF35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451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1CB871-9A70-4EEF-A8B3-F90B0BDD3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5991D-7AB0-41EC-9126-30293CBAB5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D6D52-9003-47B6-A2DA-8290AAC90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D837-E5F4-4169-9611-6017C7FE3F9E}" type="datetimeFigureOut">
              <a:rPr lang="en-IN" smtClean="0"/>
              <a:pPr/>
              <a:t>24-10-2023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E5498-C616-42B4-A72F-56DD9EE91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D96D5-E3BD-4B9F-8752-6457CE397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49D8C-1888-4FB5-8FCA-C21EFBEF35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499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54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6CF26E-FF9F-4716-AA02-B9149E3B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2C578-6EF2-43BC-A890-51F8649F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000F7-B5E5-47B9-A845-ABF6A180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3D837-E5F4-4169-9611-6017C7FE3F9E}" type="datetimeFigureOut">
              <a:rPr lang="en-IN" smtClean="0"/>
              <a:pPr/>
              <a:t>24-10-2023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111BC-6B02-498F-BD02-B4B7E86D3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B5317-A1B1-4343-9EE6-86D9BD03E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49D8C-1888-4FB5-8FCA-C21EFBEF351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44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examples.yourdictionary.com/difference-between-ethics-morals-and-values.html" TargetMode="External"/><Relationship Id="rId3" Type="http://schemas.openxmlformats.org/officeDocument/2006/relationships/hyperlink" Target="https://www.pragationline.com/engineering/professional-communication-and-ethics-i-mathew/" TargetMode="External"/><Relationship Id="rId7" Type="http://schemas.openxmlformats.org/officeDocument/2006/relationships/hyperlink" Target="http://www.mhhe.com/socscience/comm/group/students/ethics.htmstudy.com/academy/lesson/ethical-communication-in-the-workplace.html" TargetMode="External"/><Relationship Id="rId2" Type="http://schemas.openxmlformats.org/officeDocument/2006/relationships/hyperlink" Target="https://www.flipkart.com/ethics-communication-3rd/p/itme2zqmeyvrsppu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rysec.org/10-basics-of-ethical-communication/" TargetMode="External"/><Relationship Id="rId5" Type="http://schemas.openxmlformats.org/officeDocument/2006/relationships/hyperlink" Target="https://en.wikipedia.org/wiki/Ethics_in_business_communication" TargetMode="External"/><Relationship Id="rId4" Type="http://schemas.openxmlformats.org/officeDocument/2006/relationships/hyperlink" Target="https://upjourney.com/real-life-examples-of-ethical-dilemmas" TargetMode="External"/><Relationship Id="rId9" Type="http://schemas.openxmlformats.org/officeDocument/2006/relationships/hyperlink" Target="https://quizizz.com/admin/quiz/581b4c4dcb1a86df32eb2673/work-ethics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0" y="5339447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106511" y="5974967"/>
            <a:ext cx="614155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Ethics in communication</a:t>
            </a:r>
          </a:p>
          <a:p>
            <a:pPr eaLnBrk="1" hangingPunct="1"/>
            <a:endParaRPr lang="en-US" sz="1400" dirty="0">
              <a:latin typeface="Raleway ExtraBold" pitchFamily="34" charset="-5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71857" y="6296559"/>
            <a:ext cx="183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447800" y="1554480"/>
            <a:ext cx="946404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Name – 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 – 23PCH-105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46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6018" y="1781555"/>
            <a:ext cx="5806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On completion, the students are expected to: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915988" y="624840"/>
            <a:ext cx="5149532" cy="108204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Course Outcomes </a:t>
            </a:r>
            <a:endParaRPr lang="en-IN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529007-B916-A037-4C37-C7D5640C1E3A}"/>
              </a:ext>
            </a:extLst>
          </p:cNvPr>
          <p:cNvSpPr txBox="1"/>
          <p:nvPr/>
        </p:nvSpPr>
        <p:spPr>
          <a:xfrm>
            <a:off x="9311640" y="6385560"/>
            <a:ext cx="1569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Academia.com</a:t>
            </a:r>
          </a:p>
        </p:txBody>
      </p:sp>
      <p:pic>
        <p:nvPicPr>
          <p:cNvPr id="9" name="Picture 4" descr="Image result for ethical communication">
            <a:extLst>
              <a:ext uri="{FF2B5EF4-FFF2-40B4-BE49-F238E27FC236}">
                <a16:creationId xmlns:a16="http://schemas.microsoft.com/office/drawing/2014/main" id="{9D7448E0-045D-5D52-E1E1-820C40D22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69481" y="1291047"/>
            <a:ext cx="4099560" cy="4698273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  <a:headEnd/>
            <a:tailEnd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E48969C-C74A-E96E-BB35-E8F683BF9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744717"/>
              </p:ext>
            </p:extLst>
          </p:nvPr>
        </p:nvGraphicFramePr>
        <p:xfrm>
          <a:off x="206553" y="2205039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4168448416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2558219792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1836805902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2748720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01671737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72378065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55796211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01307360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52195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642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89612" y="4036420"/>
            <a:ext cx="8360227" cy="181588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800" b="1" dirty="0">
                <a:latin typeface="Arial" pitchFamily="34" charset="0"/>
                <a:cs typeface="Arial" pitchFamily="34" charset="0"/>
              </a:rPr>
              <a:t>“Ethics is the difference between what you have a right to do and what is right to do.”</a:t>
            </a:r>
          </a:p>
          <a:p>
            <a:pPr algn="r">
              <a:buNone/>
            </a:pPr>
            <a:r>
              <a:rPr lang="en-IN" sz="2800" b="1" dirty="0">
                <a:latin typeface="Arial" pitchFamily="34" charset="0"/>
                <a:cs typeface="Arial" pitchFamily="34" charset="0"/>
              </a:rPr>
              <a:t>- Potter Stewart 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24645" y="6186535"/>
            <a:ext cx="6009398" cy="365125"/>
          </a:xfrm>
        </p:spPr>
        <p:txBody>
          <a:bodyPr/>
          <a:lstStyle/>
          <a:p>
            <a:r>
              <a:rPr lang="en-US" dirty="0"/>
              <a:t>   proprofs.com   </a:t>
            </a:r>
          </a:p>
        </p:txBody>
      </p:sp>
      <p:pic>
        <p:nvPicPr>
          <p:cNvPr id="63490" name="Picture 2" descr="Ethics Quizzes &amp; Trivi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0843" y="1698171"/>
            <a:ext cx="5619750" cy="2390503"/>
          </a:xfrm>
          <a:prstGeom prst="rect">
            <a:avLst/>
          </a:prstGeom>
          <a:noFill/>
        </p:spPr>
      </p:pic>
      <p:sp>
        <p:nvSpPr>
          <p:cNvPr id="9" name="Slide Number Placeholder 3"/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51263" y="536842"/>
            <a:ext cx="1050253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Arial Black" pitchFamily="34" charset="0"/>
              </a:rPr>
              <a:t>Introduction</a:t>
            </a:r>
            <a:endParaRPr lang="en-IN" sz="4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6023" y="258128"/>
            <a:ext cx="105156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Arial Black" pitchFamily="34" charset="0"/>
              </a:rPr>
              <a:t>Difference Between Ethics, Morals and Values?</a:t>
            </a:r>
            <a:endParaRPr lang="en-IN" sz="4400" dirty="0"/>
          </a:p>
        </p:txBody>
      </p:sp>
      <p:sp>
        <p:nvSpPr>
          <p:cNvPr id="11" name="Rectangle 10"/>
          <p:cNvSpPr/>
          <p:nvPr/>
        </p:nvSpPr>
        <p:spPr>
          <a:xfrm>
            <a:off x="836022" y="1814957"/>
            <a:ext cx="1052866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Values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  are the foundation of a person's ability to judge between right and wrong. Values include a deep-rooted system of beliefs.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Morals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 which are formed out of values. They're the actual system of beliefs that emerge out of a person's core values. </a:t>
            </a:r>
          </a:p>
          <a:p>
            <a:pPr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Ethics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 is a system of moral principles. They affect how people make decisions and lead their lives. Ethics is concerned with what is good for individuals and society.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059E9-AF66-6C55-629B-352BDA06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MORAL –  BELEFES INDIVISIUAL OR GROUP </a:t>
            </a:r>
            <a:br>
              <a:rPr lang="en-IN" dirty="0"/>
            </a:br>
            <a:r>
              <a:rPr lang="en-IN" dirty="0"/>
              <a:t>                  WHAT IS RIGHT WHAT IS WRONG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5B3CA-CB4F-DAAB-02E2-E6FBD09D0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5400" dirty="0"/>
              <a:t>ETHICS – PRINCIPLE WHICH HELP THE INDIVIDULAL OR GROUP TO DECIDE WHAT IS GOOD AND WHAT IS BAD </a:t>
            </a:r>
          </a:p>
          <a:p>
            <a:pPr marL="0" indent="0">
              <a:buNone/>
            </a:pPr>
            <a:r>
              <a:rPr lang="en-IN" sz="5400" dirty="0"/>
              <a:t>VALUE - </a:t>
            </a:r>
            <a:r>
              <a:rPr lang="en-US" sz="4000" b="0" i="0" dirty="0">
                <a:solidFill>
                  <a:srgbClr val="4D5156"/>
                </a:solidFill>
                <a:effectLst/>
                <a:latin typeface="Google Sans"/>
              </a:rPr>
              <a:t> </a:t>
            </a:r>
            <a:r>
              <a:rPr lang="en-US" sz="4000" b="0" i="0" dirty="0">
                <a:solidFill>
                  <a:srgbClr val="040C28"/>
                </a:solidFill>
                <a:effectLst/>
                <a:latin typeface="Google Sans"/>
              </a:rPr>
              <a:t>an individual's accepted standards of right or wrong</a:t>
            </a:r>
            <a:r>
              <a:rPr lang="en-US" sz="4000" b="0" i="0" dirty="0">
                <a:solidFill>
                  <a:srgbClr val="4D5156"/>
                </a:solidFill>
                <a:effectLst/>
                <a:latin typeface="Google Sans"/>
              </a:rPr>
              <a:t>.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79229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2223"/>
            <a:ext cx="10515600" cy="1241777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Ethical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533" y="1738488"/>
            <a:ext cx="5429956" cy="4472341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    LAW A</a:t>
            </a:r>
            <a:r>
              <a:rPr lang="en-US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B</a:t>
            </a:r>
            <a:r>
              <a:rPr lang="en-US" dirty="0">
                <a:latin typeface="Arial" pitchFamily="34" charset="0"/>
                <a:cs typeface="Arial" pitchFamily="34" charset="0"/>
              </a:rPr>
              <a:t>IDING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            R</a:t>
            </a:r>
            <a:r>
              <a:rPr lang="en-US" b="1" dirty="0">
                <a:solidFill>
                  <a:srgbClr val="00B0F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en-US" dirty="0">
                <a:latin typeface="Arial" pitchFamily="34" charset="0"/>
                <a:cs typeface="Arial" pitchFamily="34" charset="0"/>
              </a:rPr>
              <a:t>SPONSIBILITY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         INT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en-US" dirty="0">
                <a:latin typeface="Arial" pitchFamily="34" charset="0"/>
                <a:cs typeface="Arial" pitchFamily="34" charset="0"/>
              </a:rPr>
              <a:t>GRITY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RESPEC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</a:t>
            </a:r>
            <a:endParaRPr lang="en-US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      H</a:t>
            </a:r>
            <a:r>
              <a:rPr lang="en-US" dirty="0">
                <a:latin typeface="Arial" pitchFamily="34" charset="0"/>
                <a:cs typeface="Arial" pitchFamily="34" charset="0"/>
              </a:rPr>
              <a:t>ONESTY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           FA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dirty="0">
                <a:latin typeface="Arial" pitchFamily="34" charset="0"/>
                <a:cs typeface="Arial" pitchFamily="34" charset="0"/>
              </a:rPr>
              <a:t>RNESS 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      C</a:t>
            </a:r>
            <a:r>
              <a:rPr lang="en-US" dirty="0">
                <a:latin typeface="Arial" pitchFamily="34" charset="0"/>
                <a:cs typeface="Arial" pitchFamily="34" charset="0"/>
              </a:rPr>
              <a:t>ARING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       RELI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dirty="0">
                <a:latin typeface="Arial" pitchFamily="34" charset="0"/>
                <a:cs typeface="Arial" pitchFamily="34" charset="0"/>
              </a:rPr>
              <a:t>BILITY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ACCOUNTABI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</a:t>
            </a:r>
            <a:r>
              <a:rPr lang="en-US" dirty="0">
                <a:latin typeface="Arial" pitchFamily="34" charset="0"/>
                <a:cs typeface="Arial" pitchFamily="34" charset="0"/>
              </a:rPr>
              <a:t>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0418" name="Picture 2" descr="https://josephsononbusinessethics.com/wp-content/uploads/2010/12/000-Ethics-values-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5956" y="1749778"/>
            <a:ext cx="4899377" cy="4459111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9145533" y="6202023"/>
            <a:ext cx="221727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latin typeface="Arial" pitchFamily="34" charset="0"/>
                <a:cs typeface="Arial" pitchFamily="34" charset="0"/>
              </a:rPr>
              <a:t>josephsononbusinessethics.com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Ethical Communication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000" y="1796560"/>
            <a:ext cx="10435492" cy="438844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In communication, ethics work to enhance credibility, improve the decision-making process and allow for trust between the two parties.</a:t>
            </a:r>
          </a:p>
          <a:p>
            <a:pPr algn="just">
              <a:lnSpc>
                <a:spcPct val="100000"/>
              </a:lnSpc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This allows both parties to define what is acceptable to allow for better relations between individuals and different departments, in the case of organizations. </a:t>
            </a:r>
          </a:p>
          <a:p>
            <a:pPr algn="just">
              <a:lnSpc>
                <a:spcPct val="100000"/>
              </a:lnSpc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Unethical communication threatens quality of communication and consequently the well-being of individuals and society. </a:t>
            </a:r>
            <a:endParaRPr lang="en-IN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45061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Ethical Communication- Definition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67" y="1819595"/>
            <a:ext cx="10472225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Moral principles and standards that guide the conduct of individuals and their behaviour.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Standards that offer guidance about the choices we make.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Fundamental to responsible thinking, decision making and  development of relationships.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Enhances human worth and dignity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92690" y="6251788"/>
            <a:ext cx="4198620" cy="39623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100" dirty="0">
                <a:latin typeface="Arial" pitchFamily="34" charset="0"/>
                <a:cs typeface="Arial" pitchFamily="34" charset="0"/>
              </a:rPr>
              <a:t>slideshare.net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770709" y="276999"/>
            <a:ext cx="10913292" cy="131112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IN" sz="4400" b="1" dirty="0">
                <a:latin typeface="Arial Black" pitchFamily="34" charset="0"/>
                <a:cs typeface="Times New Roman" pitchFamily="18" charset="0"/>
              </a:rPr>
              <a:t>What does it mean to be an ethical communicator?</a:t>
            </a:r>
            <a:endParaRPr lang="en-US" sz="4400" dirty="0">
              <a:latin typeface="Arial Black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1510" y="1794934"/>
            <a:ext cx="10876683" cy="44491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 descr="Ethical business communicators in a meeti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flipH="1">
            <a:off x="7402285" y="1817511"/>
            <a:ext cx="4270425" cy="4425245"/>
          </a:xfrm>
          <a:prstGeom prst="rect">
            <a:avLst/>
          </a:prstGeom>
          <a:noFill/>
        </p:spPr>
      </p:pic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869244" y="1770201"/>
            <a:ext cx="6257270" cy="430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It means- 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Treating people fairly, communicates honestly.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 Avoiding language that manipulates, discriminates or exaggerates.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Calibri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Calibri" pitchFamily="34" charset="0"/>
                <a:cs typeface="Arial" pitchFamily="34" charset="0"/>
              </a:rPr>
              <a:t> Not hiding negative information behind an optimistic attitude.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Arial Black" pitchFamily="34" charset="0"/>
                <a:cs typeface="Arial" pitchFamily="34" charset="0"/>
              </a:rPr>
              <a:t>Influencing factors of Ethical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802674"/>
            <a:ext cx="10659291" cy="429768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Promote a climate of caring and mutual understanding. </a:t>
            </a:r>
          </a:p>
          <a:p>
            <a:pPr>
              <a:buFont typeface="Wingdings" pitchFamily="2" charset="2"/>
              <a:buChar char="§"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Strive to understand and respect other communicators before evaluating and responding to their messages.</a:t>
            </a:r>
          </a:p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Condemn communication that degrades individuals and humanity through distortion, intolerance, intimidation, coercion, hatred, and violence.</a:t>
            </a:r>
          </a:p>
          <a:p>
            <a:pPr>
              <a:buFont typeface="Wingdings" pitchFamily="2" charset="2"/>
              <a:buChar char="§"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44582" y="1802673"/>
            <a:ext cx="10647318" cy="429114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82683" y="373061"/>
            <a:ext cx="10609217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648178"/>
            <a:ext cx="10642600" cy="452878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To set the right culture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To enhance the productivity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To develop team Work 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To increase public Image and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brand Value 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To touch new level of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successes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To remain in compliance with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laws and regulations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23663" y="6173470"/>
            <a:ext cx="2743200" cy="365125"/>
          </a:xfrm>
        </p:spPr>
        <p:txBody>
          <a:bodyPr/>
          <a:lstStyle/>
          <a:p>
            <a:r>
              <a:rPr lang="en-US" sz="1100" dirty="0">
                <a:latin typeface="Arial" pitchFamily="34" charset="0"/>
                <a:cs typeface="Arial" pitchFamily="34" charset="0"/>
              </a:rPr>
              <a:t>Dreamstimes.com   </a:t>
            </a:r>
            <a:fld id="{BDCDBBEF-AA6C-4BA6-85B2-A17D7F280E38}" type="slidenum">
              <a:rPr lang="en-US" smtClean="0">
                <a:latin typeface="Arial" pitchFamily="34" charset="0"/>
                <a:cs typeface="Arial" pitchFamily="34" charset="0"/>
              </a:rPr>
              <a:pPr/>
              <a:t>12</a:t>
            </a:fld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825500" y="214489"/>
            <a:ext cx="10677878" cy="129822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Why Do Organizations Have a Code of Ethics?</a:t>
            </a:r>
          </a:p>
        </p:txBody>
      </p:sp>
      <p:pic>
        <p:nvPicPr>
          <p:cNvPr id="8" name="Picture 7" descr="Work ethics word abstract. In vintage letterpress wood type blocks with ink patina royalty free stock photo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15288" y="1724297"/>
            <a:ext cx="4775521" cy="4441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4490"/>
            <a:ext cx="10515600" cy="1061154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b="1" dirty="0">
                <a:latin typeface="Casper"/>
              </a:rPr>
              <a:t>        </a:t>
            </a:r>
            <a:r>
              <a:rPr lang="en-US" b="1" dirty="0">
                <a:latin typeface="Arial Black" pitchFamily="34" charset="0"/>
              </a:rPr>
              <a:t>What is an Ethical Dilemma?</a:t>
            </a:r>
            <a:endParaRPr lang="en-IN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957" y="1490133"/>
            <a:ext cx="5238043" cy="485504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 An ethical dilemma is a conflict between alternatives, where choosing any of them will lead to a compromise of some ethical principle and lead to an ethical violation.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Every person may encounter an ethical dilemma in almost every aspect of their life, including personal, social, and professional.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41068" y="6299906"/>
            <a:ext cx="4267200" cy="365125"/>
          </a:xfrm>
        </p:spPr>
        <p:txBody>
          <a:bodyPr/>
          <a:lstStyle/>
          <a:p>
            <a:r>
              <a:rPr lang="en-US" sz="1100" dirty="0">
                <a:latin typeface="Arial" pitchFamily="34" charset="0"/>
                <a:cs typeface="Arial" pitchFamily="34" charset="0"/>
              </a:rPr>
              <a:t>proprofs.com   10</a:t>
            </a:r>
            <a:endParaRPr lang="en-US" dirty="0"/>
          </a:p>
        </p:txBody>
      </p:sp>
      <p:pic>
        <p:nvPicPr>
          <p:cNvPr id="57347" name="Picture 3" descr="Ethical Dilemmas Personality Assessment Test! Quiz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54044" y="1501422"/>
            <a:ext cx="5102578" cy="484293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342B4-C1CC-F207-12E0-A347C69DE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ETHICS DILEMMA – COMPLEX SITUATION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2A2BE-D768-0EFB-ED1F-FD1A0E147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situation in which a difficult choice has to be made between two courses of action,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05589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Characteristics of Ethical Communication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04003"/>
            <a:ext cx="6213764" cy="3978637"/>
          </a:xfrm>
        </p:spPr>
        <p:txBody>
          <a:bodyPr>
            <a:normAutofit/>
          </a:bodyPr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HONESTY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TRUTHFULL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LISTNING WITH OTHER SPEAK 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RESPECT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8" descr="http://www.acfe.com/uploadedImages/ACFE_Website/Content/images/topic-landing/ethics-and-complianc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7644" y="2140134"/>
            <a:ext cx="3962400" cy="3646711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9272462" y="6365968"/>
            <a:ext cx="173797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latin typeface="Casper"/>
              </a:rPr>
              <a:t>www.lookfordiagnosis.com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Arial Black" pitchFamily="34" charset="0"/>
              </a:rPr>
              <a:t>4 Standards to Ethical Communication Decision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05527"/>
            <a:ext cx="10542564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1.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Political perspective- </a:t>
            </a:r>
            <a:r>
              <a:rPr lang="en-US" dirty="0">
                <a:latin typeface="Arial" pitchFamily="34" charset="0"/>
                <a:cs typeface="Arial" pitchFamily="34" charset="0"/>
              </a:rPr>
              <a:t>Helps us understand ethical practices based on a value system – freedom of speech, religion and press.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	2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. Dialogical perspective </a:t>
            </a:r>
            <a:r>
              <a:rPr lang="en-US" dirty="0">
                <a:latin typeface="Arial" pitchFamily="34" charset="0"/>
                <a:cs typeface="Arial" pitchFamily="34" charset="0"/>
              </a:rPr>
              <a:t>- Based on the ability to improve mutual understanding and dialog between participants for which intellectual tolerance is necessary. 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b="1" dirty="0">
                <a:latin typeface="Arial Black" pitchFamily="34" charset="0"/>
              </a:rPr>
              <a:t>4 Standards to Ethical Communication Decision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3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. Human perspective- </a:t>
            </a:r>
            <a:r>
              <a:rPr lang="en-US" dirty="0">
                <a:latin typeface="Arial" pitchFamily="34" charset="0"/>
                <a:cs typeface="Arial" pitchFamily="34" charset="0"/>
              </a:rPr>
              <a:t>Consider implications of our message and weigh costs and benefits of exercising our right to free speech. 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" pitchFamily="34" charset="0"/>
                <a:cs typeface="Arial" pitchFamily="34" charset="0"/>
              </a:rPr>
              <a:t>4.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Situational perspective </a:t>
            </a:r>
            <a:r>
              <a:rPr lang="en-US" dirty="0">
                <a:latin typeface="Arial" pitchFamily="34" charset="0"/>
                <a:cs typeface="Arial" pitchFamily="34" charset="0"/>
              </a:rPr>
              <a:t>- Audience analysis and context of the communication event, needs to be considered.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Arial Black" pitchFamily="34" charset="0"/>
                <a:cs typeface="Arial" pitchFamily="34" charset="0"/>
              </a:rPr>
              <a:t>Factors Influencing Ethical Communication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77391"/>
            <a:ext cx="1047423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IN" dirty="0">
                <a:latin typeface="Arial" pitchFamily="34" charset="0"/>
                <a:cs typeface="Arial" pitchFamily="34" charset="0"/>
              </a:rPr>
              <a:t>Truthfulness, accuracy, honesty and reason are essential to the integrity of ethical communication.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IN" dirty="0">
                <a:latin typeface="Arial" pitchFamily="34" charset="0"/>
                <a:cs typeface="Arial" pitchFamily="34" charset="0"/>
              </a:rPr>
              <a:t>Endorse freedom of expression, diversity of perspective and tolerance of dissent to achieve informed and responsible decision making.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IN" dirty="0">
                <a:latin typeface="Arial" pitchFamily="34" charset="0"/>
                <a:cs typeface="Arial" pitchFamily="34" charset="0"/>
              </a:rPr>
              <a:t>Strive to understand and respect other communicators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IN" dirty="0">
                <a:latin typeface="Arial" pitchFamily="34" charset="0"/>
                <a:cs typeface="Arial" pitchFamily="34" charset="0"/>
              </a:rPr>
              <a:t>Condemn communication that degrades individuals and humanity through distortion, intolerance, intimidation, coercion, hatred and violence.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535" y="202868"/>
            <a:ext cx="10911043" cy="1165667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 Black" pitchFamily="34" charset="0"/>
              </a:rPr>
              <a:t>Ethical Dilemmas in communication      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511" y="1614312"/>
            <a:ext cx="10905067" cy="4670228"/>
          </a:xfrm>
          <a:ln>
            <a:solidFill>
              <a:schemeClr val="tx1"/>
            </a:solidFill>
          </a:ln>
        </p:spPr>
        <p:txBody>
          <a:bodyPr/>
          <a:lstStyle/>
          <a:p>
            <a:pPr marL="401638" indent="-401638"/>
            <a:endParaRPr lang="en-IN" dirty="0"/>
          </a:p>
          <a:p>
            <a:pPr marL="401638" indent="-401638"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Secrecy</a:t>
            </a:r>
          </a:p>
          <a:p>
            <a:pPr marL="401638" indent="-401638"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Whistle-blowing</a:t>
            </a:r>
          </a:p>
          <a:p>
            <a:pPr marL="401638" indent="-401638"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Leaks</a:t>
            </a:r>
          </a:p>
          <a:p>
            <a:pPr marL="401638" indent="-401638"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Rumour and gossip</a:t>
            </a:r>
          </a:p>
          <a:p>
            <a:pPr marL="401638" indent="-401638"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Lying</a:t>
            </a:r>
          </a:p>
          <a:p>
            <a:pPr marL="401638" indent="-401638"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Ambiguity</a:t>
            </a:r>
            <a:endParaRPr lang="en-IN" dirty="0"/>
          </a:p>
          <a:p>
            <a:pPr marL="401638" indent="-401638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36378" y="6492875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1202" name="Picture 2" descr="Professional Ethics - Whistleblower Policy - Tutorialspoi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28267" y="1625601"/>
            <a:ext cx="5644444" cy="4639732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10123476" y="6313269"/>
            <a:ext cx="6145305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latin typeface="Arial" pitchFamily="34" charset="0"/>
                <a:cs typeface="Arial" pitchFamily="34" charset="0"/>
              </a:rPr>
              <a:t>tutorialspoint.com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249" y="277382"/>
            <a:ext cx="10517777" cy="1214967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r>
              <a:rPr lang="en-US" sz="4900" b="1" dirty="0">
                <a:latin typeface="Arial Black" pitchFamily="34" charset="0"/>
              </a:rPr>
              <a:t>How to Respond to an Ethical Dilemma?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41714"/>
            <a:ext cx="10515600" cy="4435249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itchFamily="2" charset="2"/>
              <a:buChar char="§"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Legal Considerations </a:t>
            </a:r>
          </a:p>
          <a:p>
            <a:pPr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Moral Considerations </a:t>
            </a:r>
          </a:p>
          <a:p>
            <a:pPr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Keep Messages Accurate </a:t>
            </a:r>
          </a:p>
          <a:p>
            <a:pPr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Avoid Deception </a:t>
            </a:r>
          </a:p>
          <a:p>
            <a:pPr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Keep others Confidences </a:t>
            </a:r>
          </a:p>
          <a:p>
            <a:pPr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Ensure Timeliness of Communication</a:t>
            </a:r>
          </a:p>
          <a:p>
            <a:pPr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Confront Unethical Behaviour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48130" name="Picture 2" descr="Automotive Compliance vs. Ethics: The Lines are Getting Blurry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97700" y="1663700"/>
            <a:ext cx="4272731" cy="4462779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10013244" y="6200380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latin typeface="Arial" pitchFamily="34" charset="0"/>
                <a:cs typeface="Arial" pitchFamily="34" charset="0"/>
              </a:rPr>
              <a:t>cbtnews.com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itchFamily="34" charset="0"/>
              </a:rPr>
              <a:t>DO’s &amp; Don'ts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932" y="1825624"/>
            <a:ext cx="10574867" cy="471064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latin typeface="Arial" pitchFamily="34" charset="0"/>
                <a:cs typeface="Arial" pitchFamily="34" charset="0"/>
              </a:rPr>
              <a:t>Do’s-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Do identify your audience.</a:t>
            </a:r>
          </a:p>
          <a:p>
            <a:pPr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Do stay true to your purpose.</a:t>
            </a:r>
          </a:p>
          <a:p>
            <a:pPr>
              <a:buFont typeface="Wingdings" pitchFamily="2" charset="2"/>
              <a:buChar char="§"/>
            </a:pPr>
            <a:r>
              <a:rPr lang="en-IN" dirty="0">
                <a:latin typeface="Arial" pitchFamily="34" charset="0"/>
                <a:cs typeface="Arial" pitchFamily="34" charset="0"/>
              </a:rPr>
              <a:t>Do choose the right time, right place and right medium.</a:t>
            </a:r>
          </a:p>
          <a:p>
            <a:pPr>
              <a:buNone/>
            </a:pPr>
            <a:r>
              <a:rPr lang="en-US" b="1" dirty="0">
                <a:latin typeface="Arial" pitchFamily="34" charset="0"/>
                <a:cs typeface="Arial" pitchFamily="34" charset="0"/>
              </a:rPr>
              <a:t>Don'ts- 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Don’t lie.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Don’t take a negative tone.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Don’t use only one communication method.</a:t>
            </a:r>
          </a:p>
          <a:p>
            <a:pPr>
              <a:buFont typeface="Wingdings" pitchFamily="2" charset="2"/>
              <a:buChar char="§"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82939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502229"/>
            <a:ext cx="10528663" cy="4792295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lvl="0" algn="just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Your friend insisted that she was not drunk and was perfectly capable of driving her car, but you could tell that she was completely intoxicated and a threat to herself and others on the road. </a:t>
            </a:r>
          </a:p>
          <a:p>
            <a:pPr lvl="0" algn="just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1.How would you persuade her to stay off the road?</a:t>
            </a:r>
          </a:p>
          <a:p>
            <a:pPr lvl="0" algn="just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2.Would it be ethical to lie to her to separate her from her car keys?</a:t>
            </a:r>
          </a:p>
          <a:p>
            <a:pPr lvl="0" algn="just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3.If she proved unresponsive to your persuasion and drove off, would you call the police to alert them to a dangerous driver?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Continued…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248357"/>
            <a:ext cx="10515600" cy="1061154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 How would you respond to this?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1032602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</a:rPr>
              <a:t>How would you respond to this?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5289"/>
            <a:ext cx="10515600" cy="4641674"/>
          </a:xfrm>
          <a:ln>
            <a:solidFill>
              <a:schemeClr val="tx1"/>
            </a:solidFill>
          </a:ln>
        </p:spPr>
        <p:txBody>
          <a:bodyPr/>
          <a:lstStyle/>
          <a:p>
            <a:pPr lvl="0" algn="just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4.If she were arrested for "driving while under the influence," how much of your role in the affair would you reveal?</a:t>
            </a:r>
          </a:p>
          <a:p>
            <a:pPr lvl="0" algn="just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lvl="0" algn="just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5.In what ways, if any, would your reactions differ if your friend were a "he" instead of a "she"? </a:t>
            </a:r>
          </a:p>
          <a:p>
            <a:pPr lvl="0" algn="just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lvl="0" algn="just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6.How would you respond if the person involved were a family member, a parent or grandparent?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248357"/>
            <a:ext cx="10515600" cy="10611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262" y="195309"/>
            <a:ext cx="10515600" cy="1084851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           </a:t>
            </a:r>
            <a:r>
              <a:rPr lang="en-US" dirty="0">
                <a:solidFill>
                  <a:prstClr val="black"/>
                </a:solidFill>
                <a:latin typeface="Arial Black" pitchFamily="34" charset="0"/>
              </a:rPr>
              <a:t>Practice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024" y="1463040"/>
            <a:ext cx="10515600" cy="4924697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Read each question and answer truthfully.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1.It is important to have a good ____________ to show you can be positive even when you don't like something you have to do.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2. Strong __________________ means you are known for doing the right thing because you have a high sense of moral and ethical behavior that earns respect of others.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3.You are a person with a high level of ______________ if you stand by your values even if others put pressure on you to do something that is wrong or if they make fun of you.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2119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            Practice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5920"/>
            <a:ext cx="10515600" cy="4650377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(Choose the right word)                     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A. Appearance                                 B. Respect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C. Attendance                                  D. Character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E. Attitude                                        F.  Integrity       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                                                                                                           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91822" y="1677370"/>
            <a:ext cx="103293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4.This work ethic is important because when you are at work, you are expected to perform your duties without wasting time or getting paid for doing very little.______________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629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>
                <a:latin typeface="Arial Black" pitchFamily="34" charset="0"/>
              </a:rPr>
              <a:t>        Be Ethical ! Be Proud!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48163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All the while, it is important to remember two things: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Ethics doesn’t judge whether you are a good person or bad person.  It provides a framework in which we can agree on the ground rules for how to live together.</a:t>
            </a:r>
          </a:p>
          <a:p>
            <a:pPr lvl="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Ethics isn’t designed to solve all of your dilemmas or tell you the meaning of life.  It only addresses how we can get along with each other.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03515" y="457200"/>
            <a:ext cx="10515600" cy="572806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838200" y="600892"/>
            <a:ext cx="10515600" cy="5576072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5400" i="1" kern="0" dirty="0">
              <a:latin typeface="Arial" pitchFamily="34" charset="0"/>
              <a:ea typeface="Comic Sans MS"/>
              <a:cs typeface="Arial" pitchFamily="34" charset="0"/>
              <a:sym typeface="Comic Sans MS"/>
            </a:endParaRPr>
          </a:p>
          <a:p>
            <a:pPr algn="ctr">
              <a:buNone/>
            </a:pPr>
            <a:endParaRPr lang="en-US" sz="5400" i="1" kern="0" dirty="0">
              <a:latin typeface="Arial" pitchFamily="34" charset="0"/>
              <a:ea typeface="Comic Sans MS"/>
              <a:cs typeface="Arial" pitchFamily="34" charset="0"/>
              <a:sym typeface="Comic Sans MS"/>
            </a:endParaRPr>
          </a:p>
          <a:p>
            <a:pPr algn="ctr">
              <a:buNone/>
            </a:pPr>
            <a:r>
              <a:rPr lang="en-US" sz="5400" i="1" kern="0" dirty="0">
                <a:latin typeface="Arial" pitchFamily="34" charset="0"/>
                <a:ea typeface="Comic Sans MS"/>
                <a:cs typeface="Arial" pitchFamily="34" charset="0"/>
                <a:sym typeface="Comic Sans MS"/>
              </a:rPr>
              <a:t>“A good decision can benefit millions, while an unethical one can cripple our future.”</a:t>
            </a:r>
            <a:endParaRPr lang="en-US" sz="5400" i="1" dirty="0">
              <a:latin typeface="Arial" pitchFamily="34" charset="0"/>
              <a:cs typeface="Arial" pitchFamily="34" charset="0"/>
            </a:endParaRPr>
          </a:p>
          <a:p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  <p:transition>
    <p:dissolv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Applications 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Understanding importance of right/wrong communication.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>
                <a:latin typeface="Arial" pitchFamily="34" charset="0"/>
                <a:cs typeface="Arial" pitchFamily="34" charset="0"/>
              </a:rPr>
              <a:t>Using ethical standards while communicating in personal and professional life.</a:t>
            </a: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itchFamily="34" charset="0"/>
              </a:rPr>
              <a:t>Assessment Pattern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 – 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</a:p>
          <a:p>
            <a:pPr>
              <a:buNone/>
            </a:pP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79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1984"/>
            <a:ext cx="10515600" cy="95898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References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1418"/>
            <a:ext cx="10515600" cy="49377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u="sng" dirty="0">
                <a:latin typeface="Arial" pitchFamily="34" charset="0"/>
                <a:cs typeface="Arial" pitchFamily="34" charset="0"/>
                <a:hlinkClick r:id="rId2"/>
              </a:rPr>
              <a:t>https://www.flipkart.com/ethics-communication-3rd/p/itme2zqmeyvrsppu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u="sng" dirty="0">
                <a:latin typeface="Arial" pitchFamily="34" charset="0"/>
                <a:cs typeface="Arial" pitchFamily="34" charset="0"/>
                <a:hlinkClick r:id="rId3"/>
              </a:rPr>
              <a:t>https://www.pragationline.com/engineering/professional-communication-and-ethics-i-mathew/</a:t>
            </a:r>
            <a:endParaRPr lang="en-US" sz="2400" u="sng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  <a:hlinkClick r:id="rId4"/>
              </a:rPr>
              <a:t>https://upjourney.com/real-life-examples-of-ethical-dilemmas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  <a:hlinkClick r:id="rId5"/>
              </a:rPr>
              <a:t>https://en.wikipedia.org/wiki/Ethics_in_business_communication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  <a:hlinkClick r:id="rId6"/>
              </a:rPr>
              <a:t>www.rysec.org/10-basics-of-ethical-communication/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  <a:hlinkClick r:id="rId7"/>
              </a:rPr>
              <a:t>study.com/academy/lesson/ethical-communication-in-theworkplace.html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  <a:hlinkClick r:id="rId8"/>
              </a:rPr>
              <a:t>https://examples.yourdictionary.com/difference-between-ethics-morals-and-values.html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r>
              <a:rPr lang="en-US" sz="2400" dirty="0">
                <a:latin typeface="Arial" pitchFamily="34" charset="0"/>
                <a:cs typeface="Arial" pitchFamily="34" charset="0"/>
                <a:hlinkClick r:id="rId9"/>
              </a:rPr>
              <a:t>https://quizizz.com/admin/quiz/581b4c4dcb1a86df32eb2673/work-ethics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100000"/>
              </a:lnSpc>
              <a:buFont typeface="Wingdings" pitchFamily="2" charset="2"/>
              <a:buChar char="§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§"/>
            </a:pPr>
            <a:endParaRPr lang="en-US" sz="2400" b="1" u="sng" dirty="0">
              <a:latin typeface="Arial" pitchFamily="34" charset="0"/>
              <a:cs typeface="Arial" pitchFamily="34" charset="0"/>
              <a:hlinkClick r:id="rId3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541417"/>
            <a:ext cx="10515600" cy="46307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213605"/>
            <a:ext cx="10515600" cy="112977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147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1680</Words>
  <Application>Microsoft Office PowerPoint</Application>
  <PresentationFormat>Widescreen</PresentationFormat>
  <Paragraphs>249</Paragraphs>
  <Slides>31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Arial</vt:lpstr>
      <vt:lpstr>Arial</vt:lpstr>
      <vt:lpstr>Arial Black</vt:lpstr>
      <vt:lpstr>Calibri</vt:lpstr>
      <vt:lpstr>Calibri Light</vt:lpstr>
      <vt:lpstr>Casper</vt:lpstr>
      <vt:lpstr>Google Sans</vt:lpstr>
      <vt:lpstr>Karla</vt:lpstr>
      <vt:lpstr>Raleway ExtraBold</vt:lpstr>
      <vt:lpstr>Times New Roman</vt:lpstr>
      <vt:lpstr>Wingdings</vt:lpstr>
      <vt:lpstr>Office Theme</vt:lpstr>
      <vt:lpstr>CorelDRAW</vt:lpstr>
      <vt:lpstr>PowerPoint Presentation</vt:lpstr>
      <vt:lpstr>COURSE OBJECTIVES </vt:lpstr>
      <vt:lpstr>Course Outcomes </vt:lpstr>
      <vt:lpstr>PowerPoint Presentation</vt:lpstr>
      <vt:lpstr>PowerPoint Presentation</vt:lpstr>
      <vt:lpstr>MORAL –  BELEFES INDIVISIUAL OR GROUP                    WHAT IS RIGHT WHAT IS WRONG </vt:lpstr>
      <vt:lpstr>Ethical Values</vt:lpstr>
      <vt:lpstr>Ethical Communication</vt:lpstr>
      <vt:lpstr>Ethical Communication- Definition</vt:lpstr>
      <vt:lpstr>What does it mean to be an ethical communicator?</vt:lpstr>
      <vt:lpstr>Influencing factors of Ethical Communication</vt:lpstr>
      <vt:lpstr>Why Do Organizations Have a Code of Ethics?</vt:lpstr>
      <vt:lpstr>        What is an Ethical Dilemma?</vt:lpstr>
      <vt:lpstr>ETHICS DILEMMA – COMPLEX SITUATION </vt:lpstr>
      <vt:lpstr>Characteristics of Ethical Communication</vt:lpstr>
      <vt:lpstr>4 Standards to Ethical Communication Decision</vt:lpstr>
      <vt:lpstr>4 Standards to Ethical Communication Decision</vt:lpstr>
      <vt:lpstr>Factors Influencing Ethical Communication</vt:lpstr>
      <vt:lpstr>Ethical Dilemmas in communication        </vt:lpstr>
      <vt:lpstr> How to Respond to an Ethical Dilemma? </vt:lpstr>
      <vt:lpstr>DO’s &amp; Don'ts</vt:lpstr>
      <vt:lpstr> How would you respond to this?</vt:lpstr>
      <vt:lpstr>How would you respond to this?</vt:lpstr>
      <vt:lpstr>           Practice Questions</vt:lpstr>
      <vt:lpstr>            Practice Questions</vt:lpstr>
      <vt:lpstr>        Be Ethical ! Be Proud!</vt:lpstr>
      <vt:lpstr>PowerPoint Presentation</vt:lpstr>
      <vt:lpstr>Applications    </vt:lpstr>
      <vt:lpstr>Assessment Pattern   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kawal13.sawhney@gmail.com</dc:creator>
  <cp:lastModifiedBy>MOHD SHAN</cp:lastModifiedBy>
  <cp:revision>14</cp:revision>
  <dcterms:created xsi:type="dcterms:W3CDTF">2020-07-21T15:07:29Z</dcterms:created>
  <dcterms:modified xsi:type="dcterms:W3CDTF">2023-10-23T20:50:07Z</dcterms:modified>
</cp:coreProperties>
</file>