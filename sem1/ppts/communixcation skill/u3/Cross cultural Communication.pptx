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702" r:id="rId2"/>
    <p:sldMasterId id="2147483716" r:id="rId3"/>
  </p:sldMasterIdLst>
  <p:notesMasterIdLst>
    <p:notesMasterId r:id="rId32"/>
  </p:notesMasterIdLst>
  <p:handoutMasterIdLst>
    <p:handoutMasterId r:id="rId33"/>
  </p:handoutMasterIdLst>
  <p:sldIdLst>
    <p:sldId id="345" r:id="rId4"/>
    <p:sldId id="375" r:id="rId5"/>
    <p:sldId id="347" r:id="rId6"/>
    <p:sldId id="348" r:id="rId7"/>
    <p:sldId id="349" r:id="rId8"/>
    <p:sldId id="350" r:id="rId9"/>
    <p:sldId id="351" r:id="rId10"/>
    <p:sldId id="353" r:id="rId11"/>
    <p:sldId id="354" r:id="rId12"/>
    <p:sldId id="355" r:id="rId13"/>
    <p:sldId id="356" r:id="rId14"/>
    <p:sldId id="358" r:id="rId15"/>
    <p:sldId id="359" r:id="rId16"/>
    <p:sldId id="360" r:id="rId17"/>
    <p:sldId id="361" r:id="rId18"/>
    <p:sldId id="362" r:id="rId19"/>
    <p:sldId id="363" r:id="rId20"/>
    <p:sldId id="364" r:id="rId21"/>
    <p:sldId id="365" r:id="rId22"/>
    <p:sldId id="366" r:id="rId23"/>
    <p:sldId id="367" r:id="rId24"/>
    <p:sldId id="368" r:id="rId25"/>
    <p:sldId id="369" r:id="rId26"/>
    <p:sldId id="370" r:id="rId27"/>
    <p:sldId id="371" r:id="rId28"/>
    <p:sldId id="372" r:id="rId29"/>
    <p:sldId id="373" r:id="rId30"/>
    <p:sldId id="37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1B3F5B"/>
    <a:srgbClr val="ED8137"/>
    <a:srgbClr val="BC8F00"/>
    <a:srgbClr val="8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7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7/17/2023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noProof="0"/>
              <a:t>Click icon to add picture</a:t>
            </a:r>
            <a:endParaRPr lang="ru-RU" noProof="0" dirty="0"/>
          </a:p>
        </p:txBody>
      </p:sp>
      <p:sp>
        <p:nvSpPr>
          <p:cNvPr id="6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9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7/17/2023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7/17/2023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2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6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7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660" r:id="rId13"/>
    <p:sldLayoutId id="2147483701" r:id="rId14"/>
    <p:sldLayoutId id="2147483731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6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gif"/><Relationship Id="rId1" Type="http://schemas.openxmlformats.org/officeDocument/2006/relationships/slideLayout" Target="../slideLayouts/slideLayout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nideffer.net/classes/GCT_RPI_S14/readings/Chap8CharacteristicsofCulture.htm" TargetMode="External"/><Relationship Id="rId2" Type="http://schemas.openxmlformats.org/officeDocument/2006/relationships/hyperlink" Target="https://www.trainingindustry.com/.../strategies-for-effective-cross-cultural-communication" TargetMode="External"/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327932" y="5844357"/>
            <a:ext cx="4312302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solidFill>
                  <a:schemeClr val="bg2">
                    <a:lumMod val="25000"/>
                  </a:schemeClr>
                </a:solidFill>
                <a:latin typeface="Arial" pitchFamily="34" charset="0"/>
                <a:cs typeface="Arial" pitchFamily="34" charset="0"/>
              </a:rPr>
              <a:t>CROSS CULTURAL COMMUNICATION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447800" y="1554480"/>
            <a:ext cx="946404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Name – Communication Skills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 – 23PCH-105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20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817384"/>
              </p:ext>
            </p:extLst>
          </p:nvPr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574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23760" y="1310640"/>
            <a:ext cx="4069080" cy="459168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sper" panose="02000506000000020004" pitchFamily="2" charset="0"/>
                <a:cs typeface="Arial" panose="020B0604020202020204" pitchFamily="34" charset="0"/>
              </a:rPr>
              <a:t>Space for visual (size 24)</a:t>
            </a: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91222" y="355865"/>
            <a:ext cx="5220018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OUTCOMES</a:t>
            </a:r>
            <a:endParaRPr lang="en-US" sz="1600" dirty="0">
              <a:latin typeface="Arial Black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208520" y="1280160"/>
            <a:ext cx="4122419" cy="47396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1598166"/>
            <a:ext cx="6224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On completion, the students are expected to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668760" y="6272206"/>
            <a:ext cx="254558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Arial" pitchFamily="34" charset="0"/>
                <a:cs typeface="Arial" pitchFamily="34" charset="0"/>
              </a:rPr>
              <a:t>Wordpress.com</a:t>
            </a:r>
          </a:p>
        </p:txBody>
      </p:sp>
      <p:pic>
        <p:nvPicPr>
          <p:cNvPr id="13" name="Picture 12" descr="CCC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206017" y="1252272"/>
            <a:ext cx="4099233" cy="4807335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685DDF-9E9C-85A8-263E-282DF78925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263044"/>
              </p:ext>
            </p:extLst>
          </p:nvPr>
        </p:nvGraphicFramePr>
        <p:xfrm>
          <a:off x="187992" y="2225673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2260446928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3818319663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1724366301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69477423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002657675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99706455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10233323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51876097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748297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809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0366" y="1801504"/>
            <a:ext cx="6135606" cy="4348838"/>
          </a:xfrm>
        </p:spPr>
        <p:txBody>
          <a:bodyPr>
            <a:normAutofit/>
          </a:bodyPr>
          <a:lstStyle/>
          <a:p>
            <a:pPr lvl="1"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Culture</a:t>
            </a:r>
          </a:p>
          <a:p>
            <a:pPr lvl="1"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Cross Cultural Communication</a:t>
            </a:r>
          </a:p>
          <a:p>
            <a:pPr lvl="2">
              <a:buFont typeface="Wingdings" pitchFamily="2" charset="2"/>
              <a:buChar char="Ø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Introduction and Meaning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lvl="2">
              <a:buFont typeface="Wingdings" pitchFamily="2" charset="2"/>
              <a:buChar char="Ø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Significance</a:t>
            </a:r>
          </a:p>
          <a:p>
            <a:pPr lvl="2">
              <a:buFont typeface="Wingdings" pitchFamily="2" charset="2"/>
              <a:buChar char="Ø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Elements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Cross Cultural Context 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Barriers to Cross-Cultural Communication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Case Study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IN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944668" y="6294283"/>
            <a:ext cx="1049215" cy="365125"/>
          </a:xfrm>
        </p:spPr>
        <p:txBody>
          <a:bodyPr/>
          <a:lstStyle/>
          <a:p>
            <a:r>
              <a:rPr lang="en-US" sz="11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Pinterest.com</a:t>
            </a:r>
          </a:p>
        </p:txBody>
      </p:sp>
      <p:pic>
        <p:nvPicPr>
          <p:cNvPr id="8" name="Picture 7" descr="cultural-barriers-of-communication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68825" y="1937282"/>
            <a:ext cx="3540370" cy="4032739"/>
          </a:xfrm>
          <a:prstGeom prst="rect">
            <a:avLst/>
          </a:prstGeom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softEdge rad="112500"/>
          </a:effectLst>
        </p:spPr>
      </p:pic>
      <p:sp>
        <p:nvSpPr>
          <p:cNvPr id="7" name="Oval 6"/>
          <p:cNvSpPr/>
          <p:nvPr/>
        </p:nvSpPr>
        <p:spPr>
          <a:xfrm>
            <a:off x="11205553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838877" y="583020"/>
            <a:ext cx="1052970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Arial Black" pitchFamily="34" charset="0"/>
                <a:cs typeface="Arial" pitchFamily="34" charset="0"/>
              </a:rPr>
              <a:t>Topics</a:t>
            </a:r>
            <a:endParaRPr lang="en-IN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Introductio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057400" y="810148"/>
            <a:ext cx="7723415" cy="42280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00B0F0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81138" y="5981211"/>
            <a:ext cx="1096108" cy="365125"/>
          </a:xfrm>
        </p:spPr>
        <p:txBody>
          <a:bodyPr/>
          <a:lstStyle/>
          <a:p>
            <a:r>
              <a:rPr lang="en-US" sz="1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Medium.com</a:t>
            </a:r>
          </a:p>
        </p:txBody>
      </p:sp>
      <p:sp>
        <p:nvSpPr>
          <p:cNvPr id="4" name="Oval 3"/>
          <p:cNvSpPr/>
          <p:nvPr/>
        </p:nvSpPr>
        <p:spPr>
          <a:xfrm>
            <a:off x="11205553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5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3519" y="836024"/>
            <a:ext cx="5663837" cy="5538650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12176" y="6434728"/>
            <a:ext cx="2743200" cy="365125"/>
          </a:xfrm>
        </p:spPr>
        <p:txBody>
          <a:bodyPr/>
          <a:lstStyle/>
          <a:p>
            <a:r>
              <a:rPr lang="en-US" sz="1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Pinterest.com</a:t>
            </a:r>
          </a:p>
        </p:txBody>
      </p:sp>
      <p:pic>
        <p:nvPicPr>
          <p:cNvPr id="11" name="Picture 2" descr="Image result for culture imag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69289" y="1801503"/>
            <a:ext cx="4599295" cy="433999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</p:pic>
      <p:sp>
        <p:nvSpPr>
          <p:cNvPr id="8" name="Oval 7"/>
          <p:cNvSpPr/>
          <p:nvPr/>
        </p:nvSpPr>
        <p:spPr>
          <a:xfrm>
            <a:off x="11205553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6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5780964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835628" y="569374"/>
            <a:ext cx="1051930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latin typeface="Arial Black" pitchFamily="34" charset="0"/>
              </a:rPr>
              <a:t>Culture</a:t>
            </a:r>
            <a:endParaRPr lang="en-IN" sz="4400" dirty="0"/>
          </a:p>
        </p:txBody>
      </p:sp>
      <p:sp>
        <p:nvSpPr>
          <p:cNvPr id="15" name="Rectangle 14"/>
          <p:cNvSpPr/>
          <p:nvPr/>
        </p:nvSpPr>
        <p:spPr>
          <a:xfrm>
            <a:off x="850711" y="1812554"/>
            <a:ext cx="5782101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buFont typeface="Arial" pitchFamily="34" charset="0"/>
              <a:buChar char="•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Culture is a complex whole which includes knowledge, beliefs, art, law, morals, customs, and any other capabilities and habits acquired by man as a member of society.(</a:t>
            </a:r>
            <a:r>
              <a:rPr lang="en-IN" sz="2800" dirty="0" err="1">
                <a:latin typeface="Arial" pitchFamily="34" charset="0"/>
                <a:cs typeface="Arial" pitchFamily="34" charset="0"/>
              </a:rPr>
              <a:t>Tylor</a:t>
            </a:r>
            <a:r>
              <a:rPr lang="en-IN" sz="2800" dirty="0">
                <a:latin typeface="Arial" pitchFamily="34" charset="0"/>
                <a:cs typeface="Arial" pitchFamily="34" charset="0"/>
              </a:rPr>
              <a:t>, 1871)</a:t>
            </a:r>
          </a:p>
          <a:p>
            <a:pPr algn="just">
              <a:buFont typeface="Arial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Culture is a way of life. </a:t>
            </a:r>
          </a:p>
          <a:p>
            <a:pPr algn="just"/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77491" y="6421665"/>
            <a:ext cx="2743200" cy="365125"/>
          </a:xfrm>
        </p:spPr>
        <p:txBody>
          <a:bodyPr/>
          <a:lstStyle/>
          <a:p>
            <a:r>
              <a:rPr lang="en-US" sz="1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Thirstt.com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513" y="1815152"/>
            <a:ext cx="5453987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7988" indent="-40798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Culture is shared, not inherent, but learned</a:t>
            </a:r>
          </a:p>
          <a:p>
            <a:pPr marL="407988" indent="-40798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Rooted in deep seated beliefs and symbols</a:t>
            </a:r>
          </a:p>
          <a:p>
            <a:pPr marL="407988" indent="-40798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Basis for self-identity</a:t>
            </a:r>
          </a:p>
          <a:p>
            <a:pPr marL="407988" indent="-407988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Ever-changing and dynamic</a:t>
            </a:r>
          </a:p>
          <a:p>
            <a:pPr>
              <a:buFont typeface="Arial" pitchFamily="34" charset="0"/>
              <a:buChar char="•"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12" name="Picture 2" descr="https://encrypted-tbn3.gstatic.com/images?q=tbn:ANd9GcTZdKbDsxW65Ts14BWWULRlCo2_3DGY1mbB9ZFOdkaU8TZXrZV7f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23881" y="2060814"/>
            <a:ext cx="4312372" cy="377507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13" name="Oval 12"/>
          <p:cNvSpPr/>
          <p:nvPr/>
        </p:nvSpPr>
        <p:spPr>
          <a:xfrm>
            <a:off x="11205553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836933" y="569373"/>
            <a:ext cx="1051800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Characteristics of Culture</a:t>
            </a: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49261" y="836023"/>
            <a:ext cx="4932635" cy="2419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br>
              <a:rPr lang="en-US" sz="44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br>
              <a:rPr lang="en-US" sz="44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br>
              <a:rPr lang="en-US" sz="44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br>
              <a:rPr lang="en-US" sz="2000" b="1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4800" y="1028700"/>
            <a:ext cx="5778500" cy="4873625"/>
          </a:xfrm>
        </p:spPr>
        <p:txBody>
          <a:bodyPr>
            <a:normAutofit/>
          </a:bodyPr>
          <a:lstStyle/>
          <a:p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4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4639" y="1828800"/>
            <a:ext cx="6313140" cy="4519749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Cross-cultural communication is  a field of study that looks at how people from differing cultural backgrounds communicate, in similar and different ways among themselves.</a:t>
            </a:r>
          </a:p>
          <a:p>
            <a:pPr algn="just">
              <a:lnSpc>
                <a:spcPct val="10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		                -Elena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Smirnova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381995" y="6382476"/>
            <a:ext cx="2743200" cy="365125"/>
          </a:xfrm>
        </p:spPr>
        <p:txBody>
          <a:bodyPr/>
          <a:lstStyle/>
          <a:p>
            <a:r>
              <a:rPr lang="en-US" sz="1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Technointeractive.com</a:t>
            </a:r>
          </a:p>
        </p:txBody>
      </p:sp>
      <p:pic>
        <p:nvPicPr>
          <p:cNvPr id="14" name="Picture 2" descr="http://leadership.uoregon.edu/upload/images/cross_cultural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78718" y="1924334"/>
            <a:ext cx="3726886" cy="395785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15" name="Oval 14"/>
          <p:cNvSpPr/>
          <p:nvPr/>
        </p:nvSpPr>
        <p:spPr>
          <a:xfrm>
            <a:off x="11205552" y="6324600"/>
            <a:ext cx="564417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10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829244" y="310061"/>
            <a:ext cx="1053934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What is Cross Cultural Communication? </a:t>
            </a:r>
            <a:endParaRPr lang="en-US" sz="44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6162" y="1828799"/>
            <a:ext cx="6741994" cy="4360985"/>
          </a:xfrm>
        </p:spPr>
        <p:txBody>
          <a:bodyPr>
            <a:norm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Helps in understanding   diverse work-force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Prepares the company for global scenario</a:t>
            </a:r>
          </a:p>
          <a:p>
            <a:pPr algn="just"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Helps in developing an understanding of how people from different cultures</a:t>
            </a:r>
          </a:p>
          <a:p>
            <a:pPr lvl="1"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speak</a:t>
            </a:r>
          </a:p>
          <a:p>
            <a:pPr lvl="1"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communicate &amp;</a:t>
            </a:r>
          </a:p>
          <a:p>
            <a:pPr lvl="1"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perceive the world around them</a:t>
            </a:r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588477" cy="365125"/>
          </a:xfrm>
        </p:spPr>
        <p:txBody>
          <a:bodyPr/>
          <a:lstStyle/>
          <a:p>
            <a:r>
              <a:rPr lang="en-US" sz="1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Textappeal.com</a:t>
            </a:r>
          </a:p>
        </p:txBody>
      </p:sp>
      <p:pic>
        <p:nvPicPr>
          <p:cNvPr id="8" name="Content Placeholder 9" descr="Conclusio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724633" y="1984000"/>
            <a:ext cx="3552793" cy="33249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2">
                <a:lumMod val="75000"/>
              </a:schemeClr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  <a:reflection blurRad="12700" stA="38000" endPos="28000" dist="5000" dir="5400000" sy="-100000" algn="bl" rotWithShape="0"/>
          </a:effectLst>
        </p:spPr>
      </p:pic>
      <p:sp>
        <p:nvSpPr>
          <p:cNvPr id="9" name="Oval 8"/>
          <p:cNvSpPr/>
          <p:nvPr/>
        </p:nvSpPr>
        <p:spPr>
          <a:xfrm>
            <a:off x="11205552" y="6324600"/>
            <a:ext cx="564417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11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29293" y="583022"/>
            <a:ext cx="1052564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  <a:cs typeface="Arial" pitchFamily="34" charset="0"/>
              </a:rPr>
              <a:t>Significance </a:t>
            </a:r>
            <a:endParaRPr lang="en-IN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One Gesture Different Interpretations </a:t>
            </a:r>
            <a:r>
              <a:rPr lang="en-US" b="1" dirty="0">
                <a:latin typeface="Arial Black" pitchFamily="34" charset="0"/>
              </a:rPr>
              <a:t>  </a:t>
            </a:r>
          </a:p>
        </p:txBody>
      </p:sp>
      <p:pic>
        <p:nvPicPr>
          <p:cNvPr id="7" name="Picture 2" descr="C:\Users\PCS\Desktop\cross-cultural-communication-in-business-world-12-1024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5769" t="13333" r="8654" b="15555"/>
          <a:stretch>
            <a:fillRect/>
          </a:stretch>
        </p:blipFill>
        <p:spPr bwMode="auto">
          <a:xfrm>
            <a:off x="2188028" y="1825625"/>
            <a:ext cx="7331529" cy="43513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chemeClr val="accent1">
                <a:lumMod val="75000"/>
              </a:schemeClr>
            </a:solidFill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r>
              <a:rPr lang="en-US" sz="1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English-ch.com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1205552" y="6324600"/>
            <a:ext cx="564417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24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964" y="1815325"/>
            <a:ext cx="6200282" cy="4126523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Element of Language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Element of Culture</a:t>
            </a:r>
          </a:p>
          <a:p>
            <a:pPr lvl="1"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High Context  vs. Low Context Culture</a:t>
            </a:r>
          </a:p>
          <a:p>
            <a:pPr lvl="1"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Informal vs. Formal Culture</a:t>
            </a:r>
          </a:p>
          <a:p>
            <a:pPr lvl="1"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Contact vs. Non-Contact Culture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Element of Symbol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Element of Values</a:t>
            </a:r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45769" y="6168781"/>
            <a:ext cx="2479431" cy="365125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Translationblog.net</a:t>
            </a:r>
          </a:p>
        </p:txBody>
      </p:sp>
      <p:pic>
        <p:nvPicPr>
          <p:cNvPr id="7" name="Picture 6" descr="image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465326" y="1934307"/>
            <a:ext cx="3766782" cy="4067907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softEdge rad="112500"/>
          </a:effectLst>
        </p:spPr>
      </p:pic>
      <p:sp>
        <p:nvSpPr>
          <p:cNvPr id="8" name="Oval 7"/>
          <p:cNvSpPr/>
          <p:nvPr/>
        </p:nvSpPr>
        <p:spPr>
          <a:xfrm>
            <a:off x="11205552" y="6324600"/>
            <a:ext cx="564417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828700" y="310062"/>
            <a:ext cx="10526237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  <a:cs typeface="Arial" pitchFamily="34" charset="0"/>
              </a:rPr>
              <a:t>Elements of Cross- Cultural Communication</a:t>
            </a:r>
            <a:endParaRPr lang="en-IN" sz="4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Quotemaster.org</a:t>
            </a:r>
          </a:p>
        </p:txBody>
      </p:sp>
      <p:pic>
        <p:nvPicPr>
          <p:cNvPr id="8" name="Picture 7" descr="Image 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95831" y="1945857"/>
            <a:ext cx="5290357" cy="390378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reflection blurRad="12700" stA="38000" endPos="28000" dist="5000" dir="5400000" sy="-100000" algn="bl" rotWithShape="0"/>
          </a:effectLst>
        </p:spPr>
      </p:pic>
      <p:sp>
        <p:nvSpPr>
          <p:cNvPr id="9" name="Oval 8"/>
          <p:cNvSpPr/>
          <p:nvPr/>
        </p:nvSpPr>
        <p:spPr>
          <a:xfrm>
            <a:off x="11205552" y="6324600"/>
            <a:ext cx="564417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50710" y="267099"/>
            <a:ext cx="1049058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  <a:cs typeface="Arial" pitchFamily="34" charset="0"/>
              </a:rPr>
              <a:t>Cross Cultural Communication</a:t>
            </a:r>
          </a:p>
          <a:p>
            <a:pPr algn="ctr"/>
            <a:r>
              <a:rPr lang="en-US" sz="4400" b="1" dirty="0">
                <a:latin typeface="Arial Black" pitchFamily="34" charset="0"/>
                <a:cs typeface="Arial" pitchFamily="34" charset="0"/>
              </a:rPr>
              <a:t>Context</a:t>
            </a:r>
            <a:endParaRPr lang="en-GB" sz="4400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1187344" y="2033693"/>
            <a:ext cx="4694830" cy="2865857"/>
          </a:xfrm>
        </p:spPr>
        <p:txBody>
          <a:bodyPr>
            <a:noAutofit/>
          </a:bodyPr>
          <a:lstStyle/>
          <a:p>
            <a:pPr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Sending a message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Receiving a message</a:t>
            </a:r>
          </a:p>
          <a:p>
            <a:pPr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Differences to consider</a:t>
            </a:r>
            <a:br>
              <a:rPr lang="en-US" sz="2800" dirty="0">
                <a:latin typeface="Arial" pitchFamily="34" charset="0"/>
                <a:cs typeface="Arial" pitchFamily="34" charset="0"/>
              </a:rPr>
            </a:br>
            <a:endParaRPr lang="en-IN" sz="2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350" y="1817398"/>
            <a:ext cx="5389029" cy="4351338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Speak slowly.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Maintain etiquette.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Be careful with the use of jargon, slang, jokes, sarcasm in conversation.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Keep it simple.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Keep your body language positive and welcoming.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Avoid closed questions.</a:t>
            </a:r>
          </a:p>
        </p:txBody>
      </p:sp>
      <p:sp>
        <p:nvSpPr>
          <p:cNvPr id="7" name="Slide Number Placeholder 4"/>
          <p:cNvSpPr txBox="1">
            <a:spLocks/>
          </p:cNvSpPr>
          <p:nvPr/>
        </p:nvSpPr>
        <p:spPr>
          <a:xfrm>
            <a:off x="9194638" y="6201454"/>
            <a:ext cx="2216604" cy="262649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hdimagegallery.net</a:t>
            </a:r>
          </a:p>
        </p:txBody>
      </p:sp>
      <p:pic>
        <p:nvPicPr>
          <p:cNvPr id="8" name="Picture 4" descr="Image result for verbal message images"/>
          <p:cNvPicPr>
            <a:picLocks noChangeAspect="1" noChangeArrowheads="1"/>
          </p:cNvPicPr>
          <p:nvPr/>
        </p:nvPicPr>
        <p:blipFill>
          <a:blip r:embed="rId2" cstate="print"/>
          <a:srcRect t="8889" b="15556"/>
          <a:stretch>
            <a:fillRect/>
          </a:stretch>
        </p:blipFill>
        <p:spPr bwMode="auto">
          <a:xfrm>
            <a:off x="6946312" y="1992573"/>
            <a:ext cx="4272156" cy="40799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Oval 8"/>
          <p:cNvSpPr/>
          <p:nvPr/>
        </p:nvSpPr>
        <p:spPr>
          <a:xfrm>
            <a:off x="11205552" y="6324600"/>
            <a:ext cx="564417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14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39322" y="610315"/>
            <a:ext cx="1051561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Sending a Message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350" y="1817398"/>
            <a:ext cx="5784814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Use active listening.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Clarify you are understood clearly.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Do not correct other person’s speech. 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Give the other person time to respond and to take in your message.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Translate the message into their language if necessary.</a:t>
            </a:r>
          </a:p>
          <a:p>
            <a:pPr algn="just"/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4"/>
          <p:cNvSpPr txBox="1">
            <a:spLocks/>
          </p:cNvSpPr>
          <p:nvPr/>
        </p:nvSpPr>
        <p:spPr>
          <a:xfrm>
            <a:off x="8921682" y="6310636"/>
            <a:ext cx="2216604" cy="262649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algn="r">
              <a:defRPr/>
            </a:pPr>
            <a:r>
              <a:rPr lang="en-US" sz="1100" dirty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rPr>
              <a:t>www.spencerstuart.co</a:t>
            </a:r>
          </a:p>
        </p:txBody>
      </p:sp>
      <p:sp>
        <p:nvSpPr>
          <p:cNvPr id="9" name="Oval 8"/>
          <p:cNvSpPr/>
          <p:nvPr/>
        </p:nvSpPr>
        <p:spPr>
          <a:xfrm>
            <a:off x="11205552" y="6324600"/>
            <a:ext cx="564417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14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39322" y="610315"/>
            <a:ext cx="1051561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Receiving a Message</a:t>
            </a:r>
            <a:endParaRPr lang="en-IN" sz="4400" dirty="0"/>
          </a:p>
        </p:txBody>
      </p:sp>
      <p:pic>
        <p:nvPicPr>
          <p:cNvPr id="13" name="Picture 2" descr="Image result for verbal message imag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83690" y="2030541"/>
            <a:ext cx="3211772" cy="38516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350" y="1817398"/>
            <a:ext cx="5784814" cy="4351338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Use of hands while talking.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Physical distance between communicators.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Speed and volume of speech.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Use of First Name vs. Titles.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Use of Facial Expressions – eye contact, smile etc.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Assertiveness.</a:t>
            </a:r>
          </a:p>
          <a:p>
            <a:pPr algn="just"/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4"/>
          <p:cNvSpPr txBox="1">
            <a:spLocks/>
          </p:cNvSpPr>
          <p:nvPr/>
        </p:nvSpPr>
        <p:spPr>
          <a:xfrm>
            <a:off x="8921682" y="6310636"/>
            <a:ext cx="2216604" cy="262649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algn="r">
              <a:defRPr/>
            </a:pPr>
            <a:r>
              <a:rPr lang="en-US" sz="1100" dirty="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rPr>
              <a:t>thebrigde.com</a:t>
            </a:r>
          </a:p>
        </p:txBody>
      </p:sp>
      <p:sp>
        <p:nvSpPr>
          <p:cNvPr id="9" name="Oval 8"/>
          <p:cNvSpPr/>
          <p:nvPr/>
        </p:nvSpPr>
        <p:spPr>
          <a:xfrm>
            <a:off x="11205552" y="6324600"/>
            <a:ext cx="564417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14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39322" y="610315"/>
            <a:ext cx="1051561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Differences to Consider</a:t>
            </a:r>
            <a:endParaRPr lang="en-IN" sz="4400" dirty="0"/>
          </a:p>
        </p:txBody>
      </p:sp>
      <p:pic>
        <p:nvPicPr>
          <p:cNvPr id="14" name="Picture 2" descr="Image result for importance clipart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7095732" y="1899473"/>
            <a:ext cx="3972602" cy="40100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350" y="1817398"/>
            <a:ext cx="5784814" cy="4351338"/>
          </a:xfrm>
        </p:spPr>
        <p:txBody>
          <a:bodyPr>
            <a:normAutofit/>
          </a:bodyPr>
          <a:lstStyle/>
          <a:p>
            <a:pPr algn="just"/>
            <a:endParaRPr lang="en-IN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Listening Skills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Speaking Skills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Observation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Patience</a:t>
            </a:r>
          </a:p>
          <a:p>
            <a:pPr algn="just"/>
            <a:r>
              <a:rPr lang="en-IN" dirty="0">
                <a:latin typeface="Arial" pitchFamily="34" charset="0"/>
                <a:cs typeface="Arial" pitchFamily="34" charset="0"/>
              </a:rPr>
              <a:t>Flexibility</a:t>
            </a:r>
          </a:p>
          <a:p>
            <a:pPr algn="just"/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4"/>
          <p:cNvSpPr txBox="1">
            <a:spLocks/>
          </p:cNvSpPr>
          <p:nvPr/>
        </p:nvSpPr>
        <p:spPr>
          <a:xfrm>
            <a:off x="8921682" y="6310636"/>
            <a:ext cx="2216604" cy="262649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r>
              <a:rPr lang="en-US" sz="1100" dirty="0">
                <a:latin typeface="Arial" pitchFamily="34" charset="0"/>
                <a:cs typeface="Arial" pitchFamily="34" charset="0"/>
              </a:rPr>
              <a:t>English-ch.com</a:t>
            </a:r>
          </a:p>
        </p:txBody>
      </p:sp>
      <p:sp>
        <p:nvSpPr>
          <p:cNvPr id="9" name="Oval 8"/>
          <p:cNvSpPr/>
          <p:nvPr/>
        </p:nvSpPr>
        <p:spPr>
          <a:xfrm>
            <a:off x="11205552" y="6324600"/>
            <a:ext cx="564417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14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39322" y="296411"/>
            <a:ext cx="1051561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Cross-Cultural Communication Needs </a:t>
            </a:r>
            <a:endParaRPr lang="en-IN" sz="4400" dirty="0"/>
          </a:p>
        </p:txBody>
      </p:sp>
      <p:pic>
        <p:nvPicPr>
          <p:cNvPr id="13" name="Picture 2" descr="http://www.phtc-online.org/learning/pages/catalog/cc2-flood/images/cc2-top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74228" y="1932037"/>
            <a:ext cx="5162173" cy="4127572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350" y="1817398"/>
            <a:ext cx="5784814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Different communication styles.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Different attitudes towards conflict.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Different approaches to completing tasks.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Different decision-making styles.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Different attitudes towards disclosure.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Different approaches to knowing.</a:t>
            </a:r>
          </a:p>
          <a:p>
            <a:pPr>
              <a:buNone/>
            </a:pP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4"/>
          <p:cNvSpPr txBox="1">
            <a:spLocks/>
          </p:cNvSpPr>
          <p:nvPr/>
        </p:nvSpPr>
        <p:spPr>
          <a:xfrm>
            <a:off x="8921682" y="6310636"/>
            <a:ext cx="2216604" cy="262649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r>
              <a:rPr lang="en-GB" sz="1100" dirty="0"/>
              <a:t>Thailandgermany.com</a:t>
            </a:r>
          </a:p>
        </p:txBody>
      </p:sp>
      <p:sp>
        <p:nvSpPr>
          <p:cNvPr id="9" name="Oval 8"/>
          <p:cNvSpPr/>
          <p:nvPr/>
        </p:nvSpPr>
        <p:spPr>
          <a:xfrm>
            <a:off x="11205552" y="6324600"/>
            <a:ext cx="564417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14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39322" y="296411"/>
            <a:ext cx="1051561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Problems of Cross Cultural Communication</a:t>
            </a:r>
            <a:endParaRPr lang="en-IN" sz="4400" dirty="0"/>
          </a:p>
        </p:txBody>
      </p:sp>
      <p:pic>
        <p:nvPicPr>
          <p:cNvPr id="14" name="Picture 13" descr="Problems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03117" y="1910684"/>
            <a:ext cx="3622430" cy="409765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GB" b="1" dirty="0">
                <a:latin typeface="Arial Black" pitchFamily="34" charset="0"/>
                <a:cs typeface="Arial" pitchFamily="34" charset="0"/>
              </a:rPr>
              <a:t>Problems Revisited!</a:t>
            </a:r>
          </a:p>
        </p:txBody>
      </p:sp>
      <p:pic>
        <p:nvPicPr>
          <p:cNvPr id="5" name="Content Placeholder 4" descr="Cartoon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926122" y="1781908"/>
            <a:ext cx="4513386" cy="431299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92862" y="6203950"/>
            <a:ext cx="1037492" cy="365125"/>
          </a:xfrm>
        </p:spPr>
        <p:txBody>
          <a:bodyPr/>
          <a:lstStyle/>
          <a:p>
            <a:r>
              <a:rPr lang="en-US" sz="1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Pinterest.com</a:t>
            </a:r>
          </a:p>
        </p:txBody>
      </p:sp>
      <p:pic>
        <p:nvPicPr>
          <p:cNvPr id="6" name="Picture 5" descr="China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638800" y="1781908"/>
            <a:ext cx="5662246" cy="43140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Oval 6"/>
          <p:cNvSpPr/>
          <p:nvPr/>
        </p:nvSpPr>
        <p:spPr>
          <a:xfrm>
            <a:off x="11205552" y="6324600"/>
            <a:ext cx="564417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19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350" y="1817398"/>
            <a:ext cx="5784814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A belief in the superiority of the  culture or group to which one  belongs and a feeling of dislike or  being judgmental towards the  cultural practices of others.</a:t>
            </a:r>
          </a:p>
          <a:p>
            <a:pPr>
              <a:buNone/>
            </a:pPr>
            <a:endParaRPr lang="en-IN" dirty="0">
              <a:latin typeface="Arial" pitchFamily="34" charset="0"/>
              <a:cs typeface="Arial" pitchFamily="34" charset="0"/>
            </a:endParaRP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Term was coined by Ludwig </a:t>
            </a:r>
            <a:r>
              <a:rPr lang="en-IN" dirty="0" err="1">
                <a:latin typeface="Arial" pitchFamily="34" charset="0"/>
                <a:cs typeface="Arial" pitchFamily="34" charset="0"/>
              </a:rPr>
              <a:t>Gumplowicz</a:t>
            </a:r>
            <a:r>
              <a:rPr lang="en-IN" dirty="0">
                <a:latin typeface="Arial" pitchFamily="34" charset="0"/>
                <a:cs typeface="Arial" pitchFamily="34" charset="0"/>
              </a:rPr>
              <a:t>.</a:t>
            </a:r>
          </a:p>
        </p:txBody>
      </p:sp>
      <p:sp>
        <p:nvSpPr>
          <p:cNvPr id="7" name="Slide Number Placeholder 4"/>
          <p:cNvSpPr txBox="1">
            <a:spLocks/>
          </p:cNvSpPr>
          <p:nvPr/>
        </p:nvSpPr>
        <p:spPr>
          <a:xfrm>
            <a:off x="8921682" y="6310636"/>
            <a:ext cx="2216604" cy="262649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r>
              <a:rPr lang="en-GB" sz="1100" dirty="0"/>
              <a:t>Quora.com</a:t>
            </a:r>
          </a:p>
        </p:txBody>
      </p:sp>
      <p:sp>
        <p:nvSpPr>
          <p:cNvPr id="9" name="Oval 8"/>
          <p:cNvSpPr/>
          <p:nvPr/>
        </p:nvSpPr>
        <p:spPr>
          <a:xfrm>
            <a:off x="11205552" y="6324600"/>
            <a:ext cx="564417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14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39322" y="610315"/>
            <a:ext cx="1051561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  <a:cs typeface="Arial" pitchFamily="34" charset="0"/>
              </a:rPr>
              <a:t>Ethnocentrism</a:t>
            </a:r>
            <a:endParaRPr lang="en-IN" sz="4400" dirty="0"/>
          </a:p>
        </p:txBody>
      </p:sp>
      <p:pic>
        <p:nvPicPr>
          <p:cNvPr id="13" name="Picture 12" descr="Ethnocentrism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19050" y="2077830"/>
            <a:ext cx="3640103" cy="3906192"/>
          </a:xfrm>
          <a:prstGeom prst="roundRect">
            <a:avLst>
              <a:gd name="adj" fmla="val 8594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350" y="1817398"/>
            <a:ext cx="5784814" cy="4351338"/>
          </a:xfrm>
        </p:spPr>
        <p:txBody>
          <a:bodyPr>
            <a:normAutofit/>
          </a:bodyPr>
          <a:lstStyle/>
          <a:p>
            <a:r>
              <a:rPr lang="en-IN" dirty="0">
                <a:latin typeface="Arial" pitchFamily="34" charset="0"/>
                <a:cs typeface="Arial" pitchFamily="34" charset="0"/>
              </a:rPr>
              <a:t>Language Barriers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Cultural Barriers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Behaviour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Stereotypes and Prejudices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Emotional Display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Ethnocentrism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Assuming similarities instead of differences</a:t>
            </a:r>
          </a:p>
          <a:p>
            <a:endParaRPr lang="en-IN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Slide Number Placeholder 4"/>
          <p:cNvSpPr txBox="1">
            <a:spLocks/>
          </p:cNvSpPr>
          <p:nvPr/>
        </p:nvSpPr>
        <p:spPr>
          <a:xfrm>
            <a:off x="8921682" y="6310636"/>
            <a:ext cx="2216604" cy="262649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lvl="0" algn="r">
              <a:defRPr/>
            </a:pPr>
            <a:r>
              <a:rPr lang="en-US" sz="1100" dirty="0">
                <a:latin typeface="Arial" pitchFamily="34" charset="0"/>
                <a:cs typeface="Arial" pitchFamily="34" charset="0"/>
              </a:rPr>
              <a:t>www.trainerbubble.com</a:t>
            </a:r>
          </a:p>
        </p:txBody>
      </p:sp>
      <p:sp>
        <p:nvSpPr>
          <p:cNvPr id="9" name="Oval 8"/>
          <p:cNvSpPr/>
          <p:nvPr/>
        </p:nvSpPr>
        <p:spPr>
          <a:xfrm>
            <a:off x="11205552" y="6324600"/>
            <a:ext cx="564417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14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39322" y="269115"/>
            <a:ext cx="1051561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  <a:cs typeface="Arial" pitchFamily="34" charset="0"/>
              </a:rPr>
              <a:t>Barriers in Cross-Cultural Communication</a:t>
            </a:r>
            <a:endParaRPr lang="en-IN" sz="4400" dirty="0"/>
          </a:p>
        </p:txBody>
      </p:sp>
      <p:pic>
        <p:nvPicPr>
          <p:cNvPr id="14" name="Picture 13" descr="C:\Users\A\Desktop\cultural-difference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77016" y="2035464"/>
            <a:ext cx="4741816" cy="38274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4350" y="1817398"/>
            <a:ext cx="10506940" cy="4351338"/>
          </a:xfrm>
        </p:spPr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Gain knowledge regarding the norms or customs of others culture.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Develop appreciation of the cultural differences.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Be open to trying new things.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Be accommodating.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Develop active listening skills.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Use interpreters.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Take workshops, tips and techniques for communicating effectively in cross-cultural work environments.</a:t>
            </a:r>
          </a:p>
          <a:p>
            <a:endParaRPr lang="en-US" sz="1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Oval 8"/>
          <p:cNvSpPr/>
          <p:nvPr/>
        </p:nvSpPr>
        <p:spPr>
          <a:xfrm>
            <a:off x="11205552" y="6324600"/>
            <a:ext cx="564417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14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39322" y="269115"/>
            <a:ext cx="1051561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Overcoming Barriers to Cross Cultural Communication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277491" y="6434728"/>
            <a:ext cx="2743200" cy="365125"/>
          </a:xfrm>
        </p:spPr>
        <p:txBody>
          <a:bodyPr/>
          <a:lstStyle/>
          <a:p>
            <a:r>
              <a:rPr lang="en-US" sz="1100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culturalq.com</a:t>
            </a:r>
          </a:p>
        </p:txBody>
      </p:sp>
      <p:sp>
        <p:nvSpPr>
          <p:cNvPr id="15" name="Oval 14"/>
          <p:cNvSpPr/>
          <p:nvPr/>
        </p:nvSpPr>
        <p:spPr>
          <a:xfrm>
            <a:off x="11205552" y="6324600"/>
            <a:ext cx="564417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23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45983" y="296417"/>
            <a:ext cx="1052260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Weird, Rude or Different?!</a:t>
            </a:r>
            <a:endParaRPr lang="en-IN" sz="4400" dirty="0"/>
          </a:p>
        </p:txBody>
      </p:sp>
      <p:pic>
        <p:nvPicPr>
          <p:cNvPr id="277505" name="Picture 1"/>
          <p:cNvPicPr>
            <a:picLocks noChangeAspect="1" noChangeArrowheads="1"/>
          </p:cNvPicPr>
          <p:nvPr/>
        </p:nvPicPr>
        <p:blipFill>
          <a:blip r:embed="rId2" cstate="print"/>
          <a:srcRect l="28636" t="35821" r="14617" b="15858"/>
          <a:stretch>
            <a:fillRect/>
          </a:stretch>
        </p:blipFill>
        <p:spPr bwMode="auto">
          <a:xfrm>
            <a:off x="764275" y="1405718"/>
            <a:ext cx="10699844" cy="4995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7" y="421510"/>
            <a:ext cx="6093276" cy="9964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GB" sz="4400" dirty="0">
                <a:latin typeface="Arial Black" pitchFamily="34" charset="0"/>
              </a:rPr>
              <a:t>Examples</a:t>
            </a:r>
          </a:p>
        </p:txBody>
      </p:sp>
      <p:pic>
        <p:nvPicPr>
          <p:cNvPr id="15" name="Content Placeholder 14" descr="argentina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7099349" y="482049"/>
            <a:ext cx="2451123" cy="222738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9467" y="1640537"/>
            <a:ext cx="5905247" cy="4572001"/>
          </a:xfrm>
        </p:spPr>
        <p:txBody>
          <a:bodyPr>
            <a:noAutofit/>
          </a:bodyPr>
          <a:lstStyle/>
          <a:p>
            <a:r>
              <a:rPr lang="en-US" sz="2800" b="1" u="sng" dirty="0">
                <a:latin typeface="Arial" pitchFamily="34" charset="0"/>
                <a:cs typeface="Arial" pitchFamily="34" charset="0"/>
              </a:rPr>
              <a:t>Greetings in Different Cultures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India: Namaste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Argentina: Kiss on the right cheek.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Japan: A bow. 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Nigeria: Snapping fingers handshake. 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Russia: A firm handshake. 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New Zealand: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Hongi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(touching noses)</a:t>
            </a:r>
          </a:p>
          <a:p>
            <a:endParaRPr lang="en-US" sz="2800" dirty="0">
              <a:latin typeface="Arial" pitchFamily="34" charset="0"/>
              <a:cs typeface="Arial" pitchFamily="34" charset="0"/>
            </a:endParaRPr>
          </a:p>
          <a:p>
            <a:endParaRPr lang="en-GB" dirty="0"/>
          </a:p>
        </p:txBody>
      </p:sp>
      <p:pic>
        <p:nvPicPr>
          <p:cNvPr id="17" name="Picture 16" descr="japan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558955" y="482051"/>
            <a:ext cx="2100962" cy="2227384"/>
          </a:xfrm>
          <a:prstGeom prst="rect">
            <a:avLst/>
          </a:prstGeom>
        </p:spPr>
      </p:pic>
      <p:pic>
        <p:nvPicPr>
          <p:cNvPr id="18" name="Picture 17" descr="new-zealand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554757" y="2709435"/>
            <a:ext cx="2128606" cy="1846588"/>
          </a:xfrm>
          <a:prstGeom prst="rect">
            <a:avLst/>
          </a:prstGeom>
        </p:spPr>
      </p:pic>
      <p:pic>
        <p:nvPicPr>
          <p:cNvPr id="19" name="Picture 18" descr="nigeria1.jpg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096843" y="2732881"/>
            <a:ext cx="2441907" cy="1721603"/>
          </a:xfrm>
          <a:prstGeom prst="rect">
            <a:avLst/>
          </a:prstGeom>
        </p:spPr>
      </p:pic>
      <p:pic>
        <p:nvPicPr>
          <p:cNvPr id="20" name="Picture 19" descr="greenland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076723" y="4409281"/>
            <a:ext cx="2497197" cy="1691807"/>
          </a:xfrm>
          <a:prstGeom prst="rect">
            <a:avLst/>
          </a:prstGeom>
        </p:spPr>
      </p:pic>
      <p:pic>
        <p:nvPicPr>
          <p:cNvPr id="21" name="Picture 20" descr="tibet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566480" y="4415028"/>
            <a:ext cx="2128606" cy="164720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152185" y="6049108"/>
            <a:ext cx="14858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Worldwittj.com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891" y="1650161"/>
            <a:ext cx="6124172" cy="45837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1205553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9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sz="2800" dirty="0">
                <a:latin typeface="Casper Bold" panose="02000806040000020004" pitchFamily="2" charset="0"/>
                <a:cs typeface="Arial" panose="020B0604020202020204" pitchFamily="34" charset="0"/>
              </a:rPr>
              <a:t> </a:t>
            </a:r>
            <a:r>
              <a:rPr lang="en-US" sz="2800" dirty="0"/>
              <a:t> 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863"/>
            <a:ext cx="10461171" cy="433510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1600" dirty="0">
              <a:latin typeface="Casper" panose="02000506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http://g4.psychcentral.com/blog/wp-content/uploads/2010/09/i_thank_you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2150" y="679269"/>
            <a:ext cx="10448175" cy="56954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8" name="Oval 7"/>
          <p:cNvSpPr/>
          <p:nvPr/>
        </p:nvSpPr>
        <p:spPr>
          <a:xfrm>
            <a:off x="11205552" y="6324600"/>
            <a:ext cx="564417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29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Applications 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Sensitivity towards others while working in cross cultural teams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Bringing cultural tolerance to the workplace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Improvement in work relationships through an understanding of cross-cultural differences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Development of an attitude of acceptance of ideas from other cultures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Prepare students for the role of global citizens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Assessment Pattern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pPr>
              <a:buNone/>
            </a:pPr>
            <a:endParaRPr lang="en-US" b="1" dirty="0">
              <a:latin typeface="Arial" pitchFamily="34" charset="0"/>
              <a:cs typeface="Arial" pitchFamily="34" charset="0"/>
            </a:endParaRP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Hourly Test-2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References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study.com/academy/.../cross-cultural-communication-definition-strategies-examples.ht...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https://www.slideshare.net/tvenkadesh/cross-communication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communicationtheory.org/cross-cultural-communication/</a:t>
            </a:r>
          </a:p>
          <a:p>
            <a:r>
              <a:rPr lang="en-US" dirty="0">
                <a:latin typeface="Arial" pitchFamily="34" charset="0"/>
                <a:cs typeface="Arial" pitchFamily="34" charset="0"/>
                <a:hlinkClick r:id="rId2"/>
              </a:rPr>
              <a:t>https://www.trainingindustry.com/.../strategies-for-effective-cross-cultural-communication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IN" dirty="0">
                <a:latin typeface="Arial" pitchFamily="34" charset="0"/>
                <a:cs typeface="Arial" pitchFamily="34" charset="0"/>
                <a:hlinkClick r:id="rId3"/>
              </a:rPr>
              <a:t>http://nideffer.net/classes/GCT_RPI_S14/readings/Chap8CharacteristicsofCulture.htm#:~:text=Culture%20has%20five%20basic%20characteristics,cultures%20share%20these%20basic%20features.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  <a:p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3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342112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Email: communicationskills.uilah@gmail.com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2934</TotalTime>
  <Words>1075</Words>
  <Application>Microsoft Office PowerPoint</Application>
  <PresentationFormat>Widescreen</PresentationFormat>
  <Paragraphs>229</Paragraphs>
  <Slides>28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Arial</vt:lpstr>
      <vt:lpstr>Arial Black</vt:lpstr>
      <vt:lpstr>Calibri</vt:lpstr>
      <vt:lpstr>Calibri Light</vt:lpstr>
      <vt:lpstr>Casper</vt:lpstr>
      <vt:lpstr>Casper Bold</vt:lpstr>
      <vt:lpstr>Karla</vt:lpstr>
      <vt:lpstr>Raleway ExtraBold</vt:lpstr>
      <vt:lpstr>Times New Roman</vt:lpstr>
      <vt:lpstr>Wingdings</vt:lpstr>
      <vt:lpstr>Contents Slide Master</vt:lpstr>
      <vt:lpstr>1_Office Theme</vt:lpstr>
      <vt:lpstr>1_Contents Slide Master</vt:lpstr>
      <vt:lpstr>CorelDRAW</vt:lpstr>
      <vt:lpstr>PowerPoint Presentation</vt:lpstr>
      <vt:lpstr>COURSE OBJECTIVES </vt:lpstr>
      <vt:lpstr>COURSE OUTCOMES</vt:lpstr>
      <vt:lpstr>PowerPoint Presentation</vt:lpstr>
      <vt:lpstr>PowerPoint Presentation</vt:lpstr>
      <vt:lpstr>PowerPoint Presentation</vt:lpstr>
      <vt:lpstr>PowerPoint Presentation</vt:lpstr>
      <vt:lpstr>    </vt:lpstr>
      <vt:lpstr>PowerPoint Presentation</vt:lpstr>
      <vt:lpstr>One Gesture Different Interpretations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Problems Revisited!</vt:lpstr>
      <vt:lpstr>PowerPoint Presentation</vt:lpstr>
      <vt:lpstr>PowerPoint Presentation</vt:lpstr>
      <vt:lpstr>PowerPoint Presentation</vt:lpstr>
      <vt:lpstr>PowerPoint Presentation</vt:lpstr>
      <vt:lpstr>Examples</vt:lpstr>
      <vt:lpstr>   </vt:lpstr>
      <vt:lpstr>Applications    </vt:lpstr>
      <vt:lpstr>Assessment Pattern   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211</cp:revision>
  <dcterms:created xsi:type="dcterms:W3CDTF">2019-01-09T10:33:58Z</dcterms:created>
  <dcterms:modified xsi:type="dcterms:W3CDTF">2023-07-17T06:45:45Z</dcterms:modified>
</cp:coreProperties>
</file>