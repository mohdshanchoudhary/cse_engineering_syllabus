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322" r:id="rId3"/>
    <p:sldId id="375" r:id="rId4"/>
    <p:sldId id="321" r:id="rId5"/>
    <p:sldId id="280" r:id="rId6"/>
    <p:sldId id="288" r:id="rId7"/>
    <p:sldId id="298" r:id="rId8"/>
    <p:sldId id="291" r:id="rId9"/>
    <p:sldId id="299" r:id="rId10"/>
    <p:sldId id="300" r:id="rId11"/>
    <p:sldId id="301" r:id="rId12"/>
    <p:sldId id="296" r:id="rId13"/>
    <p:sldId id="294" r:id="rId14"/>
    <p:sldId id="282" r:id="rId15"/>
    <p:sldId id="297" r:id="rId16"/>
    <p:sldId id="284"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291" autoAdjust="0"/>
  </p:normalViewPr>
  <p:slideViewPr>
    <p:cSldViewPr snapToGrid="0">
      <p:cViewPr varScale="1">
        <p:scale>
          <a:sx n="67" d="100"/>
          <a:sy n="67" d="100"/>
        </p:scale>
        <p:origin x="85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45623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1151544" y="5896590"/>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Cloze test</a:t>
            </a:r>
          </a:p>
          <a:p>
            <a:endParaRPr lang="en-US" sz="1600" dirty="0">
              <a:latin typeface="Raleway ExtraBold" pitchFamily="34" charset="-52"/>
            </a:endParaRPr>
          </a:p>
        </p:txBody>
      </p:sp>
      <p:sp>
        <p:nvSpPr>
          <p:cNvPr id="15" name="TextBox 14"/>
          <p:cNvSpPr txBox="1">
            <a:spLocks noChangeArrowheads="1"/>
          </p:cNvSpPr>
          <p:nvPr/>
        </p:nvSpPr>
        <p:spPr bwMode="auto">
          <a:xfrm>
            <a:off x="998861" y="1963005"/>
            <a:ext cx="9612429" cy="294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8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Name- Communication Skills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Code- 23PCH-105</a:t>
            </a:r>
          </a:p>
          <a:p>
            <a:pPr algn="ctr" defTabSz="622300">
              <a:lnSpc>
                <a:spcPct val="90000"/>
              </a:lnSpc>
              <a:spcBef>
                <a:spcPct val="0"/>
              </a:spcBef>
              <a:spcAft>
                <a:spcPct val="35000"/>
              </a:spcAft>
            </a:pPr>
            <a:endParaRPr lang="en-US" sz="3200" dirty="0">
              <a:latin typeface="Times New Roman" pitchFamily="18" charset="0"/>
              <a:cs typeface="Times New Roman" pitchFamily="18" charset="0"/>
            </a:endParaRPr>
          </a:p>
          <a:p>
            <a:pPr algn="ctr" defTabSz="622300">
              <a:lnSpc>
                <a:spcPct val="90000"/>
              </a:lnSpc>
              <a:spcBef>
                <a:spcPct val="0"/>
              </a:spcBef>
              <a:spcAft>
                <a:spcPct val="35000"/>
              </a:spcAft>
            </a:pPr>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408057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7520" y="1310640"/>
            <a:ext cx="4335779" cy="459168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12696" y="6353174"/>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1170818" y="503514"/>
            <a:ext cx="468661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Arial" panose="020B0604020202020204" pitchFamily="34" charset="0"/>
              </a:rPr>
              <a:t>Course Outcomes</a:t>
            </a:r>
            <a:endParaRPr lang="en-US" sz="1600" dirty="0">
              <a:latin typeface="Arial Black" pitchFamily="34" charset="0"/>
            </a:endParaRPr>
          </a:p>
        </p:txBody>
      </p:sp>
      <p:sp>
        <p:nvSpPr>
          <p:cNvPr id="2" name="Rectangle 1"/>
          <p:cNvSpPr/>
          <p:nvPr/>
        </p:nvSpPr>
        <p:spPr>
          <a:xfrm>
            <a:off x="6751319" y="503514"/>
            <a:ext cx="4488179" cy="55315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52462" y="1750694"/>
            <a:ext cx="4214615" cy="338554"/>
          </a:xfrm>
          <a:prstGeom prst="rect">
            <a:avLst/>
          </a:prstGeom>
        </p:spPr>
        <p:txBody>
          <a:bodyPr wrap="none">
            <a:spAutoFit/>
          </a:bodyPr>
          <a:lstStyle/>
          <a:p>
            <a:r>
              <a:rPr lang="en-US" sz="1600" dirty="0">
                <a:latin typeface="Arial" pitchFamily="34" charset="0"/>
                <a:cs typeface="Arial" pitchFamily="34" charset="0"/>
              </a:rPr>
              <a:t>On completion, the students are expected to</a:t>
            </a:r>
            <a:endParaRPr lang="en-US" sz="1600" b="1" dirty="0">
              <a:latin typeface="Arial" pitchFamily="34" charset="0"/>
              <a:cs typeface="Arial" pitchFamily="34" charset="0"/>
            </a:endParaRPr>
          </a:p>
        </p:txBody>
      </p:sp>
      <p:sp>
        <p:nvSpPr>
          <p:cNvPr id="4" name="TextBox 3">
            <a:extLst>
              <a:ext uri="{FF2B5EF4-FFF2-40B4-BE49-F238E27FC236}">
                <a16:creationId xmlns:a16="http://schemas.microsoft.com/office/drawing/2014/main" id="{D4F26C4B-ADDA-5543-975D-B07E57B84339}"/>
              </a:ext>
            </a:extLst>
          </p:cNvPr>
          <p:cNvSpPr txBox="1"/>
          <p:nvPr/>
        </p:nvSpPr>
        <p:spPr>
          <a:xfrm>
            <a:off x="7688094" y="6271590"/>
            <a:ext cx="3271454" cy="276999"/>
          </a:xfrm>
          <a:prstGeom prst="rect">
            <a:avLst/>
          </a:prstGeom>
          <a:noFill/>
        </p:spPr>
        <p:txBody>
          <a:bodyPr wrap="square" rtlCol="0">
            <a:spAutoFit/>
          </a:bodyPr>
          <a:lstStyle/>
          <a:p>
            <a:r>
              <a:rPr lang="en-IN" sz="1200" dirty="0"/>
              <a:t>Zetking.com </a:t>
            </a:r>
          </a:p>
        </p:txBody>
      </p:sp>
      <p:sp>
        <p:nvSpPr>
          <p:cNvPr id="129026" name="AutoShape 2"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29028" name="AutoShape 4"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5" name="Picture 2" descr="http://og-softskills.com/course_img/course_img_da0d3392_Writing%20Annual%20Confidential%20Report.jpg">
            <a:extLst>
              <a:ext uri="{FF2B5EF4-FFF2-40B4-BE49-F238E27FC236}">
                <a16:creationId xmlns:a16="http://schemas.microsoft.com/office/drawing/2014/main" id="{4E226FE5-38F3-4BC6-ABA0-447EC7996A8C}"/>
              </a:ext>
            </a:extLst>
          </p:cNvPr>
          <p:cNvPicPr>
            <a:picLocks noChangeAspect="1" noChangeArrowheads="1"/>
          </p:cNvPicPr>
          <p:nvPr/>
        </p:nvPicPr>
        <p:blipFill>
          <a:blip r:embed="rId3" cstate="print"/>
          <a:srcRect/>
          <a:stretch>
            <a:fillRect/>
          </a:stretch>
        </p:blipFill>
        <p:spPr bwMode="auto">
          <a:xfrm>
            <a:off x="6773245" y="503514"/>
            <a:ext cx="4471533" cy="5531525"/>
          </a:xfrm>
          <a:prstGeom prst="rect">
            <a:avLst/>
          </a:prstGeom>
          <a:noFill/>
          <a:ln>
            <a:solidFill>
              <a:schemeClr val="accent1"/>
            </a:solidFill>
          </a:ln>
        </p:spPr>
      </p:pic>
      <p:graphicFrame>
        <p:nvGraphicFramePr>
          <p:cNvPr id="6" name="Table 5">
            <a:extLst>
              <a:ext uri="{FF2B5EF4-FFF2-40B4-BE49-F238E27FC236}">
                <a16:creationId xmlns:a16="http://schemas.microsoft.com/office/drawing/2014/main" id="{98EB472E-79D5-9C3E-AEFC-6740DE71B2C7}"/>
              </a:ext>
            </a:extLst>
          </p:cNvPr>
          <p:cNvGraphicFramePr>
            <a:graphicFrameLocks noGrp="1"/>
          </p:cNvGraphicFramePr>
          <p:nvPr>
            <p:extLst>
              <p:ext uri="{D42A27DB-BD31-4B8C-83A1-F6EECF244321}">
                <p14:modId xmlns:p14="http://schemas.microsoft.com/office/powerpoint/2010/main" val="1792127197"/>
              </p:ext>
            </p:extLst>
          </p:nvPr>
        </p:nvGraphicFramePr>
        <p:xfrm>
          <a:off x="80822" y="2208339"/>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60446928"/>
                    </a:ext>
                  </a:extLst>
                </a:gridCol>
                <a:gridCol w="4854552">
                  <a:extLst>
                    <a:ext uri="{9D8B030D-6E8A-4147-A177-3AD203B41FA5}">
                      <a16:colId xmlns:a16="http://schemas.microsoft.com/office/drawing/2014/main" val="3818319663"/>
                    </a:ext>
                  </a:extLst>
                </a:gridCol>
                <a:gridCol w="1272461">
                  <a:extLst>
                    <a:ext uri="{9D8B030D-6E8A-4147-A177-3AD203B41FA5}">
                      <a16:colId xmlns:a16="http://schemas.microsoft.com/office/drawing/2014/main" val="1724366301"/>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69477423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002657675"/>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9970645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610233323"/>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51876097"/>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748297033"/>
                  </a:ext>
                </a:extLst>
              </a:tr>
            </a:tbl>
          </a:graphicData>
        </a:graphic>
      </p:graphicFrame>
    </p:spTree>
    <p:extLst>
      <p:ext uri="{BB962C8B-B14F-4D97-AF65-F5344CB8AC3E}">
        <p14:creationId xmlns:p14="http://schemas.microsoft.com/office/powerpoint/2010/main" val="1977596099"/>
      </p:ext>
    </p:extLst>
  </p:cSld>
  <p:clrMapOvr>
    <a:masterClrMapping/>
  </p:clrMapOvr>
  <mc:AlternateContent xmlns:mc="http://schemas.openxmlformats.org/markup-compatibility/2006" xmlns:p14="http://schemas.microsoft.com/office/powerpoint/2010/main">
    <mc:Choice Requires="p14">
      <p:transition spd="slow" p14:dur="2000" advTm="3599"/>
    </mc:Choice>
    <mc:Fallback xmlns="">
      <p:transition spd="slow" advTm="35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a:latin typeface="Arial Black" pitchFamily="34" charset="0"/>
                <a:cs typeface="Arial" pitchFamily="34" charset="0"/>
              </a:rPr>
              <a:t>What is Cloze- Test?</a:t>
            </a:r>
            <a:endParaRPr lang="en-US" dirty="0">
              <a:latin typeface="Arial Black" pitchFamily="34" charset="0"/>
              <a:cs typeface="Arial" pitchFamily="34" charset="0"/>
            </a:endParaRPr>
          </a:p>
        </p:txBody>
      </p:sp>
      <p:sp>
        <p:nvSpPr>
          <p:cNvPr id="3" name="Content Placeholder 2"/>
          <p:cNvSpPr>
            <a:spLocks noGrp="1"/>
          </p:cNvSpPr>
          <p:nvPr>
            <p:ph idx="1"/>
          </p:nvPr>
        </p:nvSpPr>
        <p:spPr>
          <a:xfrm>
            <a:off x="838200" y="1825625"/>
            <a:ext cx="7038703" cy="4351338"/>
          </a:xfrm>
        </p:spPr>
        <p:txBody>
          <a:bodyPr>
            <a:normAutofit/>
          </a:bodyPr>
          <a:lstStyle/>
          <a:p>
            <a:r>
              <a:rPr lang="en-US" dirty="0">
                <a:latin typeface="Arial" pitchFamily="34" charset="0"/>
                <a:cs typeface="Arial" pitchFamily="34" charset="0"/>
              </a:rPr>
              <a:t>A </a:t>
            </a:r>
            <a:r>
              <a:rPr lang="en-US" b="1" dirty="0">
                <a:latin typeface="Arial" pitchFamily="34" charset="0"/>
                <a:cs typeface="Arial" pitchFamily="34" charset="0"/>
              </a:rPr>
              <a:t>cloze test</a:t>
            </a:r>
            <a:r>
              <a:rPr lang="en-US" dirty="0">
                <a:latin typeface="Arial" pitchFamily="34" charset="0"/>
                <a:cs typeface="Arial" pitchFamily="34" charset="0"/>
              </a:rPr>
              <a:t> (also </a:t>
            </a:r>
            <a:r>
              <a:rPr lang="en-US" b="1" dirty="0">
                <a:latin typeface="Arial" pitchFamily="34" charset="0"/>
                <a:cs typeface="Arial" pitchFamily="34" charset="0"/>
              </a:rPr>
              <a:t>cloze deletion test</a:t>
            </a:r>
            <a:r>
              <a:rPr lang="en-US" dirty="0">
                <a:latin typeface="Arial" pitchFamily="34" charset="0"/>
                <a:cs typeface="Arial" pitchFamily="34" charset="0"/>
              </a:rPr>
              <a:t>) is an test consisting of a portion of language with certain items, words, or signs removed (cloze text).</a:t>
            </a:r>
          </a:p>
          <a:p>
            <a:r>
              <a:rPr lang="en-US" dirty="0">
                <a:latin typeface="Arial" pitchFamily="34" charset="0"/>
                <a:cs typeface="Arial" pitchFamily="34" charset="0"/>
              </a:rPr>
              <a:t>The word </a:t>
            </a:r>
            <a:r>
              <a:rPr lang="en-US" i="1" dirty="0">
                <a:latin typeface="Arial" pitchFamily="34" charset="0"/>
                <a:cs typeface="Arial" pitchFamily="34" charset="0"/>
              </a:rPr>
              <a:t>cloze</a:t>
            </a:r>
            <a:r>
              <a:rPr lang="en-US" dirty="0">
                <a:latin typeface="Arial" pitchFamily="34" charset="0"/>
                <a:cs typeface="Arial" pitchFamily="34" charset="0"/>
              </a:rPr>
              <a:t> is derived from </a:t>
            </a:r>
            <a:r>
              <a:rPr lang="en-US" i="1" dirty="0">
                <a:latin typeface="Arial" pitchFamily="34" charset="0"/>
                <a:cs typeface="Arial" pitchFamily="34" charset="0"/>
              </a:rPr>
              <a:t>closure</a:t>
            </a:r>
            <a:r>
              <a:rPr lang="en-US" dirty="0">
                <a:latin typeface="Arial" pitchFamily="34" charset="0"/>
                <a:cs typeface="Arial" pitchFamily="34" charset="0"/>
              </a:rPr>
              <a:t> in Gestalt theory. </a:t>
            </a:r>
          </a:p>
        </p:txBody>
      </p:sp>
      <p:sp>
        <p:nvSpPr>
          <p:cNvPr id="4" name="Slide Number Placeholder 3"/>
          <p:cNvSpPr>
            <a:spLocks noGrp="1"/>
          </p:cNvSpPr>
          <p:nvPr>
            <p:ph type="sldNum" sz="quarter" idx="12"/>
          </p:nvPr>
        </p:nvSpPr>
        <p:spPr/>
        <p:txBody>
          <a:bodyPr/>
          <a:lstStyle/>
          <a:p>
            <a:r>
              <a:rPr lang="en-US" dirty="0" err="1"/>
              <a:t>Oliveboard.in</a:t>
            </a:r>
            <a:r>
              <a:rPr lang="en-US" dirty="0"/>
              <a:t>                 </a:t>
            </a:r>
            <a:fld id="{BDCDBBEF-AA6C-4BA6-85B2-A17D7F280E38}" type="slidenum">
              <a:rPr lang="en-US" smtClean="0"/>
              <a:pPr/>
              <a:t>4</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C:\Users\my pc\Desktop\Featured-Cloze-Test.jpg"/>
          <p:cNvPicPr>
            <a:picLocks noChangeAspect="1" noChangeArrowheads="1"/>
          </p:cNvPicPr>
          <p:nvPr/>
        </p:nvPicPr>
        <p:blipFill>
          <a:blip r:embed="rId2"/>
          <a:srcRect/>
          <a:stretch>
            <a:fillRect/>
          </a:stretch>
        </p:blipFill>
        <p:spPr bwMode="auto">
          <a:xfrm>
            <a:off x="7863840" y="1815737"/>
            <a:ext cx="3487783" cy="4362994"/>
          </a:xfrm>
          <a:prstGeom prst="rect">
            <a:avLst/>
          </a:prstGeom>
          <a:noFill/>
        </p:spPr>
      </p:pic>
    </p:spTree>
    <p:extLst>
      <p:ext uri="{BB962C8B-B14F-4D97-AF65-F5344CB8AC3E}">
        <p14:creationId xmlns:p14="http://schemas.microsoft.com/office/powerpoint/2010/main" val="82370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 </a:t>
            </a:r>
            <a:r>
              <a:rPr lang="en-US" dirty="0">
                <a:latin typeface="Arial Black" pitchFamily="34" charset="0"/>
                <a:cs typeface="Arial" pitchFamily="34" charset="0"/>
              </a:rPr>
              <a:t>Approach to do Cloze Reading test</a:t>
            </a:r>
            <a:endParaRPr lang="en-IN" dirty="0">
              <a:latin typeface="Arial Black" pitchFamily="34" charset="0"/>
              <a:cs typeface="Arial" pitchFamily="34" charset="0"/>
            </a:endParaRPr>
          </a:p>
        </p:txBody>
      </p:sp>
      <p:sp>
        <p:nvSpPr>
          <p:cNvPr id="3" name="Content Placeholder 2"/>
          <p:cNvSpPr>
            <a:spLocks noGrp="1"/>
          </p:cNvSpPr>
          <p:nvPr>
            <p:ph idx="1"/>
          </p:nvPr>
        </p:nvSpPr>
        <p:spPr>
          <a:xfrm>
            <a:off x="838201" y="1825625"/>
            <a:ext cx="10735490" cy="4351338"/>
          </a:xfrm>
        </p:spPr>
        <p:txBody>
          <a:bodyPr>
            <a:normAutofit/>
          </a:bodyPr>
          <a:lstStyle/>
          <a:p>
            <a:pPr marL="514350" indent="-514350">
              <a:buAutoNum type="arabicPeriod"/>
            </a:pPr>
            <a:r>
              <a:rPr lang="en-US" dirty="0">
                <a:latin typeface="Arial" pitchFamily="34" charset="0"/>
                <a:cs typeface="Arial" pitchFamily="34" charset="0"/>
              </a:rPr>
              <a:t>Read the passage.</a:t>
            </a:r>
          </a:p>
          <a:p>
            <a:pPr marL="514350" indent="-514350">
              <a:buAutoNum type="arabicPeriod"/>
            </a:pPr>
            <a:r>
              <a:rPr lang="en-US" dirty="0">
                <a:latin typeface="Arial" pitchFamily="34" charset="0"/>
                <a:cs typeface="Arial" pitchFamily="34" charset="0"/>
              </a:rPr>
              <a:t>Analyze the theme of the passage.</a:t>
            </a:r>
          </a:p>
          <a:p>
            <a:pPr marL="514350" indent="-514350">
              <a:buAutoNum type="arabicPeriod"/>
            </a:pPr>
            <a:r>
              <a:rPr lang="en-US" dirty="0">
                <a:latin typeface="Arial" pitchFamily="34" charset="0"/>
                <a:cs typeface="Arial" pitchFamily="34" charset="0"/>
              </a:rPr>
              <a:t>Be mindful of the supporting/contradicting connectors.</a:t>
            </a:r>
          </a:p>
          <a:p>
            <a:pPr marL="514350" indent="-514350">
              <a:buAutoNum type="arabicPeriod"/>
            </a:pPr>
            <a:r>
              <a:rPr lang="en-US" dirty="0">
                <a:latin typeface="Arial" pitchFamily="34" charset="0"/>
                <a:cs typeface="Arial" pitchFamily="34" charset="0"/>
              </a:rPr>
              <a:t>Eliminate options.</a:t>
            </a:r>
          </a:p>
          <a:p>
            <a:pPr marL="514350" indent="-514350">
              <a:buAutoNum type="arabicPeriod"/>
            </a:pPr>
            <a:r>
              <a:rPr lang="en-US" dirty="0">
                <a:latin typeface="Arial" pitchFamily="34" charset="0"/>
                <a:cs typeface="Arial" pitchFamily="34" charset="0"/>
              </a:rPr>
              <a:t>Choose the correct contextual meaning.</a:t>
            </a:r>
          </a:p>
        </p:txBody>
      </p:sp>
      <p:sp>
        <p:nvSpPr>
          <p:cNvPr id="4" name="Slide Number Placeholder 3"/>
          <p:cNvSpPr>
            <a:spLocks noGrp="1"/>
          </p:cNvSpPr>
          <p:nvPr>
            <p:ph type="sldNum" sz="quarter" idx="12"/>
          </p:nvPr>
        </p:nvSpPr>
        <p:spPr/>
        <p:txBody>
          <a:bodyPr/>
          <a:lstStyle/>
          <a:p>
            <a:r>
              <a:rPr lang="en-US" dirty="0"/>
              <a:t>               </a:t>
            </a:r>
            <a:fld id="{BDCDBBEF-AA6C-4BA6-85B2-A17D7F280E38}" type="slidenum">
              <a:rPr lang="en-US" smtClean="0"/>
              <a:pPr/>
              <a:t>5</a:t>
            </a:fld>
            <a:endParaRPr lang="en-US" dirty="0"/>
          </a:p>
        </p:txBody>
      </p:sp>
      <p:sp>
        <p:nvSpPr>
          <p:cNvPr id="5" name="Rectangle 4">
            <a:extLst>
              <a:ext uri="{FF2B5EF4-FFF2-40B4-BE49-F238E27FC236}">
                <a16:creationId xmlns:a16="http://schemas.microsoft.com/office/drawing/2014/main" id="{02E199C3-1749-48AE-9598-925A3A00EE75}"/>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165B5B99-4B26-4684-B23B-F4D1CB16F7B7}"/>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 </a:t>
            </a:r>
            <a:r>
              <a:rPr lang="en-US" dirty="0">
                <a:latin typeface="Arial Black" pitchFamily="34" charset="0"/>
                <a:cs typeface="Arial" pitchFamily="34" charset="0"/>
              </a:rPr>
              <a:t>Approach to do Cloze Reading test (Contd.)</a:t>
            </a:r>
            <a:endParaRPr lang="en-IN" dirty="0">
              <a:latin typeface="Arial Black" pitchFamily="34" charset="0"/>
              <a:cs typeface="Arial" pitchFamily="34" charset="0"/>
            </a:endParaRPr>
          </a:p>
        </p:txBody>
      </p:sp>
      <p:sp>
        <p:nvSpPr>
          <p:cNvPr id="3" name="Content Placeholder 2"/>
          <p:cNvSpPr>
            <a:spLocks noGrp="1"/>
          </p:cNvSpPr>
          <p:nvPr>
            <p:ph idx="1"/>
          </p:nvPr>
        </p:nvSpPr>
        <p:spPr>
          <a:xfrm>
            <a:off x="838201" y="1825625"/>
            <a:ext cx="10515599" cy="4351338"/>
          </a:xfrm>
        </p:spPr>
        <p:txBody>
          <a:bodyPr>
            <a:normAutofit/>
          </a:bodyPr>
          <a:lstStyle/>
          <a:p>
            <a:pPr marL="514350" indent="-514350"/>
            <a:r>
              <a:rPr lang="en-US" dirty="0">
                <a:latin typeface="Arial" pitchFamily="34" charset="0"/>
                <a:cs typeface="Arial" pitchFamily="34" charset="0"/>
              </a:rPr>
              <a:t>Example, Let’s take the word “cell”. The call is the basic structural and functional unit of life. The cell is the basic unit of battery. The cell is used to refer to mobile phones. The cell is used to refer to a prison. A container is also called a cell. </a:t>
            </a:r>
          </a:p>
          <a:p>
            <a:pPr marL="514350" indent="-514350"/>
            <a:r>
              <a:rPr lang="en-US" dirty="0">
                <a:latin typeface="Arial" pitchFamily="34" charset="0"/>
                <a:cs typeface="Arial" pitchFamily="34" charset="0"/>
              </a:rPr>
              <a:t> If you go step by step, keeping in mind these five approaches, you will surely be able to solve Cloze Test with the new pattern. </a:t>
            </a:r>
          </a:p>
          <a:p>
            <a:pPr marL="514350" indent="-514350">
              <a:buAutoNum type="arabicPeriod"/>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r>
              <a:rPr lang="en-US" dirty="0"/>
              <a:t>               </a:t>
            </a:r>
            <a:fld id="{BDCDBBEF-AA6C-4BA6-85B2-A17D7F280E38}" type="slidenum">
              <a:rPr lang="en-US" smtClean="0"/>
              <a:pPr/>
              <a:t>6</a:t>
            </a:fld>
            <a:endParaRPr lang="en-US" dirty="0"/>
          </a:p>
        </p:txBody>
      </p:sp>
      <p:sp>
        <p:nvSpPr>
          <p:cNvPr id="5" name="Rectangle 4">
            <a:extLst>
              <a:ext uri="{FF2B5EF4-FFF2-40B4-BE49-F238E27FC236}">
                <a16:creationId xmlns:a16="http://schemas.microsoft.com/office/drawing/2014/main" id="{8D97FF1E-47D9-4E99-8BAF-6E27B705B1D8}"/>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7B98DAE0-74FA-44A1-835B-5C5BD875FEBA}"/>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Exercise (1)</a:t>
            </a:r>
            <a:r>
              <a:rPr lang="en-IN" dirty="0"/>
              <a:t> </a:t>
            </a:r>
            <a:endParaRPr lang="en-IN"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 The postal service is the government agency (1) ----- handles the mail. </a:t>
            </a:r>
          </a:p>
          <a:p>
            <a:pPr marL="514350" indent="-514350">
              <a:buAutoNum type="alphaUcPeriod"/>
            </a:pPr>
            <a:r>
              <a:rPr lang="en-US" dirty="0">
                <a:latin typeface="Arial" pitchFamily="34" charset="0"/>
                <a:cs typeface="Arial" pitchFamily="34" charset="0"/>
              </a:rPr>
              <a:t>The fact that</a:t>
            </a:r>
          </a:p>
          <a:p>
            <a:pPr marL="514350" indent="-514350">
              <a:buAutoNum type="alphaUcPeriod"/>
            </a:pPr>
            <a:r>
              <a:rPr lang="en-US" dirty="0">
                <a:latin typeface="Arial" pitchFamily="34" charset="0"/>
                <a:cs typeface="Arial" pitchFamily="34" charset="0"/>
              </a:rPr>
              <a:t> Whether</a:t>
            </a:r>
          </a:p>
          <a:p>
            <a:pPr marL="514350" indent="-514350">
              <a:buAutoNum type="alphaUcPeriod"/>
            </a:pPr>
            <a:r>
              <a:rPr lang="en-US" dirty="0">
                <a:latin typeface="Arial" pitchFamily="34" charset="0"/>
                <a:cs typeface="Arial" pitchFamily="34" charset="0"/>
              </a:rPr>
              <a:t> Of which</a:t>
            </a:r>
          </a:p>
          <a:p>
            <a:pPr marL="514350" indent="-514350">
              <a:buAutoNum type="alphaUcPeriod"/>
            </a:pPr>
            <a:r>
              <a:rPr lang="en-US" dirty="0">
                <a:latin typeface="Arial" pitchFamily="34" charset="0"/>
                <a:cs typeface="Arial" pitchFamily="34" charset="0"/>
              </a:rPr>
              <a:t> That</a:t>
            </a:r>
          </a:p>
          <a:p>
            <a:pPr marL="514350" indent="-514350">
              <a:buAutoNum type="alphaUcPeriod"/>
            </a:pPr>
            <a:r>
              <a:rPr lang="en-US" dirty="0">
                <a:latin typeface="Arial" pitchFamily="34" charset="0"/>
                <a:cs typeface="Arial" pitchFamily="34" charset="0"/>
              </a:rPr>
              <a:t> In that</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a:extLst>
              <a:ext uri="{FF2B5EF4-FFF2-40B4-BE49-F238E27FC236}">
                <a16:creationId xmlns:a16="http://schemas.microsoft.com/office/drawing/2014/main" id="{67118EFA-07B0-444A-BDF1-917C431FE974}"/>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87111959-F330-451A-8ECC-C682D3514913}"/>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Arial Black" pitchFamily="34" charset="0"/>
              </a:rPr>
              <a:t>(2)</a:t>
            </a: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 Its job is (2) ----- letters and packages to people and businesses all over the world. </a:t>
            </a:r>
          </a:p>
          <a:p>
            <a:pPr marL="514350" indent="-514350">
              <a:buAutoNum type="alphaUcPeriod"/>
            </a:pPr>
            <a:r>
              <a:rPr lang="en-US" dirty="0">
                <a:latin typeface="Arial" pitchFamily="34" charset="0"/>
                <a:cs typeface="Arial" pitchFamily="34" charset="0"/>
              </a:rPr>
              <a:t>Being delivered</a:t>
            </a:r>
          </a:p>
          <a:p>
            <a:pPr marL="514350" indent="-514350">
              <a:buAutoNum type="alphaUcPeriod"/>
            </a:pPr>
            <a:r>
              <a:rPr lang="en-US" dirty="0">
                <a:latin typeface="Arial" pitchFamily="34" charset="0"/>
                <a:cs typeface="Arial" pitchFamily="34" charset="0"/>
              </a:rPr>
              <a:t>To be delivered</a:t>
            </a:r>
          </a:p>
          <a:p>
            <a:pPr marL="514350" indent="-514350">
              <a:buAutoNum type="alphaUcPeriod"/>
            </a:pPr>
            <a:r>
              <a:rPr lang="en-US" dirty="0">
                <a:latin typeface="Arial" pitchFamily="34" charset="0"/>
                <a:cs typeface="Arial" pitchFamily="34" charset="0"/>
              </a:rPr>
              <a:t>To have delivered</a:t>
            </a:r>
          </a:p>
          <a:p>
            <a:pPr marL="514350" indent="-514350">
              <a:buAutoNum type="alphaUcPeriod"/>
            </a:pPr>
            <a:r>
              <a:rPr lang="en-US" dirty="0">
                <a:latin typeface="Arial" pitchFamily="34" charset="0"/>
                <a:cs typeface="Arial" pitchFamily="34" charset="0"/>
              </a:rPr>
              <a:t>Having delivered</a:t>
            </a:r>
          </a:p>
          <a:p>
            <a:pPr marL="514350" indent="-514350">
              <a:buAutoNum type="alphaUcPeriod"/>
            </a:pPr>
            <a:r>
              <a:rPr lang="en-US" dirty="0">
                <a:latin typeface="Arial" pitchFamily="34" charset="0"/>
                <a:cs typeface="Arial" pitchFamily="34" charset="0"/>
              </a:rPr>
              <a:t>To deliver</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a:extLst>
              <a:ext uri="{FF2B5EF4-FFF2-40B4-BE49-F238E27FC236}">
                <a16:creationId xmlns:a16="http://schemas.microsoft.com/office/drawing/2014/main" id="{03CB8136-946A-484A-9E90-631D07BA5D37}"/>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F78B72AD-8A62-42E1-8AEB-3298AFA32037}"/>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Arial Black" pitchFamily="34" charset="0"/>
              </a:rPr>
              <a:t>(3)</a:t>
            </a: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 Its goal is to see that your mail gets to its destination (3) ----- possible. </a:t>
            </a:r>
          </a:p>
          <a:p>
            <a:pPr marL="514350" indent="-514350">
              <a:buAutoNum type="alphaUcPeriod"/>
            </a:pPr>
            <a:r>
              <a:rPr lang="en-US" dirty="0">
                <a:latin typeface="Arial" pitchFamily="34" charset="0"/>
                <a:cs typeface="Arial" pitchFamily="34" charset="0"/>
              </a:rPr>
              <a:t>Less quickly</a:t>
            </a:r>
          </a:p>
          <a:p>
            <a:pPr marL="514350" indent="-514350">
              <a:buAutoNum type="alphaUcPeriod"/>
            </a:pPr>
            <a:r>
              <a:rPr lang="en-US" dirty="0">
                <a:latin typeface="Arial" pitchFamily="34" charset="0"/>
                <a:cs typeface="Arial" pitchFamily="34" charset="0"/>
              </a:rPr>
              <a:t>Too quickly</a:t>
            </a:r>
          </a:p>
          <a:p>
            <a:pPr marL="514350" indent="-514350">
              <a:buAutoNum type="alphaUcPeriod"/>
            </a:pPr>
            <a:r>
              <a:rPr lang="en-US" dirty="0">
                <a:latin typeface="Arial" pitchFamily="34" charset="0"/>
                <a:cs typeface="Arial" pitchFamily="34" charset="0"/>
              </a:rPr>
              <a:t>So quickly that</a:t>
            </a:r>
          </a:p>
          <a:p>
            <a:pPr marL="514350" indent="-514350">
              <a:buAutoNum type="alphaUcPeriod"/>
            </a:pPr>
            <a:r>
              <a:rPr lang="en-US" dirty="0">
                <a:latin typeface="Arial" pitchFamily="34" charset="0"/>
                <a:cs typeface="Arial" pitchFamily="34" charset="0"/>
              </a:rPr>
              <a:t>As quickly as</a:t>
            </a:r>
          </a:p>
          <a:p>
            <a:pPr marL="514350" indent="-514350">
              <a:buAutoNum type="alphaUcPeriod"/>
            </a:pPr>
            <a:r>
              <a:rPr lang="en-US" dirty="0">
                <a:latin typeface="Arial" pitchFamily="34" charset="0"/>
                <a:cs typeface="Arial" pitchFamily="34" charset="0"/>
              </a:rPr>
              <a:t>The most quickly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a:extLst>
              <a:ext uri="{FF2B5EF4-FFF2-40B4-BE49-F238E27FC236}">
                <a16:creationId xmlns:a16="http://schemas.microsoft.com/office/drawing/2014/main" id="{EA0B54E0-C4B5-4F50-80DC-593338886F0D}"/>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90776A5C-F6B8-49A4-A3F4-ADD8A8B910E7}"/>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Arial Black" pitchFamily="34" charset="0"/>
              </a:rPr>
              <a:t>(4)</a:t>
            </a: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 People (4) ----- the postal service to deliver important letters and even valuables, (5) ----- time and to the right person.</a:t>
            </a:r>
          </a:p>
          <a:p>
            <a:pPr marL="514350" indent="-514350">
              <a:buAutoNum type="alphaUcPeriod"/>
            </a:pPr>
            <a:r>
              <a:rPr lang="en-US" dirty="0">
                <a:latin typeface="Arial" pitchFamily="34" charset="0"/>
                <a:cs typeface="Arial" pitchFamily="34" charset="0"/>
              </a:rPr>
              <a:t>back out                                              A. to</a:t>
            </a:r>
          </a:p>
          <a:p>
            <a:pPr marL="514350" indent="-514350">
              <a:buAutoNum type="alphaUcPeriod"/>
            </a:pPr>
            <a:r>
              <a:rPr lang="en-US" dirty="0">
                <a:latin typeface="Arial" pitchFamily="34" charset="0"/>
                <a:cs typeface="Arial" pitchFamily="34" charset="0"/>
              </a:rPr>
              <a:t>Check out                                           B. for</a:t>
            </a:r>
          </a:p>
          <a:p>
            <a:pPr marL="514350" indent="-514350">
              <a:buAutoNum type="alphaUcPeriod"/>
            </a:pPr>
            <a:r>
              <a:rPr lang="en-US" dirty="0">
                <a:latin typeface="Arial" pitchFamily="34" charset="0"/>
                <a:cs typeface="Arial" pitchFamily="34" charset="0"/>
              </a:rPr>
              <a:t>Come in                                              C. at</a:t>
            </a:r>
          </a:p>
          <a:p>
            <a:pPr marL="514350" indent="-514350">
              <a:buAutoNum type="alphaUcPeriod"/>
            </a:pPr>
            <a:r>
              <a:rPr lang="en-US" dirty="0">
                <a:latin typeface="Arial" pitchFamily="34" charset="0"/>
                <a:cs typeface="Arial" pitchFamily="34" charset="0"/>
              </a:rPr>
              <a:t>Figure out                                           D. on</a:t>
            </a:r>
          </a:p>
          <a:p>
            <a:pPr marL="514350" indent="-514350">
              <a:buAutoNum type="alphaUcPeriod"/>
            </a:pPr>
            <a:r>
              <a:rPr lang="en-US" dirty="0">
                <a:latin typeface="Arial" pitchFamily="34" charset="0"/>
                <a:cs typeface="Arial" pitchFamily="34" charset="0"/>
              </a:rPr>
              <a:t>Rely on                                               E. over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a:extLst>
              <a:ext uri="{FF2B5EF4-FFF2-40B4-BE49-F238E27FC236}">
                <a16:creationId xmlns:a16="http://schemas.microsoft.com/office/drawing/2014/main" id="{BE530127-E2F0-43CD-ADA4-0FD32995D9D6}"/>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3F031871-B18D-4CF0-AD21-162B2AFCD7C4}"/>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rPr>
              <a:t>Exercise with Answers</a:t>
            </a:r>
            <a:r>
              <a:rPr lang="en-IN" dirty="0"/>
              <a:t> </a:t>
            </a:r>
            <a:endParaRPr lang="en-IN" dirty="0">
              <a:latin typeface="Arial Black" pitchFamily="34" charset="0"/>
              <a:cs typeface="Arial" pitchFamily="34" charset="0"/>
            </a:endParaRPr>
          </a:p>
        </p:txBody>
      </p:sp>
      <p:sp>
        <p:nvSpPr>
          <p:cNvPr id="3" name="Content Placeholder 2"/>
          <p:cNvSpPr>
            <a:spLocks noGrp="1"/>
          </p:cNvSpPr>
          <p:nvPr>
            <p:ph idx="1"/>
          </p:nvPr>
        </p:nvSpPr>
        <p:spPr/>
        <p:txBody>
          <a:bodyPr>
            <a:normAutofit/>
          </a:bodyPr>
          <a:lstStyle/>
          <a:p>
            <a:pPr>
              <a:buNone/>
            </a:pPr>
            <a:r>
              <a:rPr lang="en-US" dirty="0">
                <a:latin typeface="Arial" pitchFamily="34" charset="0"/>
                <a:cs typeface="Arial" pitchFamily="34" charset="0"/>
              </a:rPr>
              <a:t>   The postal service is the government agency (1) </a:t>
            </a:r>
            <a:r>
              <a:rPr lang="en-US" dirty="0">
                <a:solidFill>
                  <a:srgbClr val="0070C0"/>
                </a:solidFill>
                <a:latin typeface="Arial" pitchFamily="34" charset="0"/>
                <a:cs typeface="Arial" pitchFamily="34" charset="0"/>
              </a:rPr>
              <a:t>that</a:t>
            </a:r>
            <a:r>
              <a:rPr lang="en-US" dirty="0">
                <a:latin typeface="Arial" pitchFamily="34" charset="0"/>
                <a:cs typeface="Arial" pitchFamily="34" charset="0"/>
              </a:rPr>
              <a:t> handles the mail. Its job is (2) </a:t>
            </a:r>
            <a:r>
              <a:rPr lang="en-US" dirty="0">
                <a:solidFill>
                  <a:srgbClr val="0070C0"/>
                </a:solidFill>
                <a:latin typeface="Arial" pitchFamily="34" charset="0"/>
                <a:cs typeface="Arial" pitchFamily="34" charset="0"/>
              </a:rPr>
              <a:t>to deliver </a:t>
            </a:r>
            <a:r>
              <a:rPr lang="en-US" dirty="0">
                <a:latin typeface="Arial" pitchFamily="34" charset="0"/>
                <a:cs typeface="Arial" pitchFamily="34" charset="0"/>
              </a:rPr>
              <a:t>letters and packages to people and businesses all over the world. Its goal is to see that your mail gets to its destination (3) </a:t>
            </a:r>
            <a:r>
              <a:rPr lang="en-US" dirty="0">
                <a:solidFill>
                  <a:srgbClr val="0070C0"/>
                </a:solidFill>
                <a:latin typeface="Arial" pitchFamily="34" charset="0"/>
                <a:cs typeface="Arial" pitchFamily="34" charset="0"/>
              </a:rPr>
              <a:t>as quickly as </a:t>
            </a:r>
            <a:r>
              <a:rPr lang="en-US" dirty="0">
                <a:latin typeface="Arial" pitchFamily="34" charset="0"/>
                <a:cs typeface="Arial" pitchFamily="34" charset="0"/>
              </a:rPr>
              <a:t>possible. People (4) </a:t>
            </a:r>
            <a:r>
              <a:rPr lang="en-US" dirty="0">
                <a:solidFill>
                  <a:srgbClr val="0070C0"/>
                </a:solidFill>
                <a:latin typeface="Arial" pitchFamily="34" charset="0"/>
                <a:cs typeface="Arial" pitchFamily="34" charset="0"/>
              </a:rPr>
              <a:t>rely on </a:t>
            </a:r>
            <a:r>
              <a:rPr lang="en-US" dirty="0">
                <a:latin typeface="Arial" pitchFamily="34" charset="0"/>
                <a:cs typeface="Arial" pitchFamily="34" charset="0"/>
              </a:rPr>
              <a:t>the postal service to deliver important letters and even valuables, (5) </a:t>
            </a:r>
            <a:r>
              <a:rPr lang="en-US" dirty="0">
                <a:solidFill>
                  <a:srgbClr val="0070C0"/>
                </a:solidFill>
                <a:latin typeface="Arial" pitchFamily="34" charset="0"/>
                <a:cs typeface="Arial" pitchFamily="34" charset="0"/>
              </a:rPr>
              <a:t>on</a:t>
            </a:r>
            <a:r>
              <a:rPr lang="en-US" dirty="0">
                <a:latin typeface="Arial" pitchFamily="34" charset="0"/>
                <a:cs typeface="Arial" pitchFamily="34" charset="0"/>
              </a:rPr>
              <a:t> time and to the right person.</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a:extLst>
              <a:ext uri="{FF2B5EF4-FFF2-40B4-BE49-F238E27FC236}">
                <a16:creationId xmlns:a16="http://schemas.microsoft.com/office/drawing/2014/main" id="{E0155501-84F1-4805-91E2-480E13E34C40}"/>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6" name="Rectangle 5">
            <a:extLst>
              <a:ext uri="{FF2B5EF4-FFF2-40B4-BE49-F238E27FC236}">
                <a16:creationId xmlns:a16="http://schemas.microsoft.com/office/drawing/2014/main" id="{D3265512-8920-4BCD-90CD-6A7B25DF45AD}"/>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Arial Black" pitchFamily="34" charset="0"/>
                <a:cs typeface="Arial" pitchFamily="34" charset="0"/>
              </a:rPr>
              <a:t>Summary</a:t>
            </a:r>
          </a:p>
        </p:txBody>
      </p:sp>
      <p:sp>
        <p:nvSpPr>
          <p:cNvPr id="3" name="Content Placeholder 2"/>
          <p:cNvSpPr>
            <a:spLocks noGrp="1"/>
          </p:cNvSpPr>
          <p:nvPr>
            <p:ph idx="1"/>
          </p:nvPr>
        </p:nvSpPr>
        <p:spPr>
          <a:xfrm>
            <a:off x="838200" y="1825625"/>
            <a:ext cx="5508009" cy="4351338"/>
          </a:xfrm>
        </p:spPr>
        <p:txBody>
          <a:bodyPr numCol="1">
            <a:normAutofit fontScale="92500" lnSpcReduction="10000"/>
          </a:bodyPr>
          <a:lstStyle/>
          <a:p>
            <a:pPr lvl="2"/>
            <a:r>
              <a:rPr lang="en-IN" sz="2800" dirty="0">
                <a:latin typeface="Arial" pitchFamily="34" charset="0"/>
                <a:cs typeface="Arial" pitchFamily="34" charset="0"/>
              </a:rPr>
              <a:t>Cloze Test is related to the filling of the </a:t>
            </a:r>
            <a:r>
              <a:rPr lang="en-IN" sz="2800" dirty="0">
                <a:solidFill>
                  <a:srgbClr val="FF0000"/>
                </a:solidFill>
                <a:latin typeface="Arial" pitchFamily="34" charset="0"/>
                <a:cs typeface="Arial" pitchFamily="34" charset="0"/>
              </a:rPr>
              <a:t>gaps</a:t>
            </a:r>
            <a:r>
              <a:rPr lang="en-IN" sz="2800" dirty="0">
                <a:latin typeface="Arial" pitchFamily="34" charset="0"/>
                <a:cs typeface="Arial" pitchFamily="34" charset="0"/>
              </a:rPr>
              <a:t> and adding meaning to the sentence. </a:t>
            </a:r>
          </a:p>
          <a:p>
            <a:pPr lvl="2"/>
            <a:r>
              <a:rPr lang="en-IN" sz="2800" dirty="0">
                <a:latin typeface="Arial" pitchFamily="34" charset="0"/>
                <a:cs typeface="Arial" pitchFamily="34" charset="0"/>
              </a:rPr>
              <a:t>There are two types: Standard Cloze Test and Multiple Choice Cloze Test.</a:t>
            </a:r>
          </a:p>
          <a:p>
            <a:pPr lvl="2"/>
            <a:r>
              <a:rPr lang="en-IN" sz="2800" dirty="0">
                <a:latin typeface="Arial" pitchFamily="34" charset="0"/>
                <a:cs typeface="Arial" pitchFamily="34" charset="0"/>
              </a:rPr>
              <a:t>Follow the </a:t>
            </a:r>
            <a:r>
              <a:rPr lang="en-IN" sz="2800" dirty="0">
                <a:solidFill>
                  <a:srgbClr val="FF0000"/>
                </a:solidFill>
                <a:latin typeface="Arial" pitchFamily="34" charset="0"/>
                <a:cs typeface="Arial" pitchFamily="34" charset="0"/>
              </a:rPr>
              <a:t>connecting thread</a:t>
            </a:r>
            <a:r>
              <a:rPr lang="en-IN" sz="2800" dirty="0">
                <a:latin typeface="Arial" pitchFamily="34" charset="0"/>
                <a:cs typeface="Arial" pitchFamily="34" charset="0"/>
              </a:rPr>
              <a:t> and practice more.</a:t>
            </a:r>
          </a:p>
          <a:p>
            <a:pPr lvl="2"/>
            <a:r>
              <a:rPr lang="en-IN" sz="2800" dirty="0">
                <a:latin typeface="Arial" pitchFamily="34" charset="0"/>
                <a:cs typeface="Arial" pitchFamily="34" charset="0"/>
              </a:rPr>
              <a:t>Also, practice the exercise. Link is given  in the References.</a:t>
            </a:r>
          </a:p>
          <a:p>
            <a:pPr lvl="2"/>
            <a:endParaRPr lang="en-IN"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r>
              <a:rPr lang="en-US" dirty="0"/>
              <a:t>Leaveittolieber.com      </a:t>
            </a:r>
            <a:fld id="{BDCDBBEF-AA6C-4BA6-85B2-A17D7F280E38}" type="slidenum">
              <a:rPr lang="en-US" smtClean="0"/>
              <a:pPr/>
              <a:t>12</a:t>
            </a:fld>
            <a:endParaRPr lang="en-US" dirty="0"/>
          </a:p>
        </p:txBody>
      </p:sp>
      <p:pic>
        <p:nvPicPr>
          <p:cNvPr id="41985" name="Picture 1" descr="C:\Users\my pc\Desktop\The-Road-to-Success-is-Always-Under-Construction-832627458_1272x829.jpeg"/>
          <p:cNvPicPr>
            <a:picLocks noChangeAspect="1" noChangeArrowheads="1"/>
          </p:cNvPicPr>
          <p:nvPr/>
        </p:nvPicPr>
        <p:blipFill>
          <a:blip r:embed="rId2"/>
          <a:srcRect/>
          <a:stretch>
            <a:fillRect/>
          </a:stretch>
        </p:blipFill>
        <p:spPr bwMode="auto">
          <a:xfrm>
            <a:off x="6871063" y="1888236"/>
            <a:ext cx="4265510" cy="3872484"/>
          </a:xfrm>
          <a:prstGeom prst="rect">
            <a:avLst/>
          </a:prstGeom>
          <a:noFill/>
        </p:spPr>
      </p:pic>
      <p:sp>
        <p:nvSpPr>
          <p:cNvPr id="6" name="Rectangle 5">
            <a:extLst>
              <a:ext uri="{FF2B5EF4-FFF2-40B4-BE49-F238E27FC236}">
                <a16:creationId xmlns:a16="http://schemas.microsoft.com/office/drawing/2014/main" id="{B95C161B-139B-4AF1-96FE-3856D0CA34A5}"/>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7" name="Rectangle 6">
            <a:extLst>
              <a:ext uri="{FF2B5EF4-FFF2-40B4-BE49-F238E27FC236}">
                <a16:creationId xmlns:a16="http://schemas.microsoft.com/office/drawing/2014/main" id="{5CEF3335-722D-4842-9F10-33D3AF820649}"/>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Arial Black" pitchFamily="34" charset="0"/>
                <a:cs typeface="Arial" panose="020B0604020202020204" pitchFamily="34" charset="0"/>
              </a:rPr>
              <a:t>Applications</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r>
              <a:rPr lang="en-US" dirty="0">
                <a:latin typeface="Arial"/>
                <a:cs typeface="Arial"/>
              </a:rPr>
              <a:t>Cloze Test will help the students in creating quality technical documents, project reports and research papers.</a:t>
            </a:r>
          </a:p>
          <a:p>
            <a:endParaRPr lang="en-US" dirty="0">
              <a:latin typeface="Arial"/>
              <a:cs typeface="Arial"/>
            </a:endParaRPr>
          </a:p>
          <a:p>
            <a:r>
              <a:rPr lang="en-US" dirty="0">
                <a:latin typeface="Arial"/>
                <a:cs typeface="Arial"/>
              </a:rPr>
              <a:t>It will also help them in clear expression of thoughts.</a:t>
            </a:r>
          </a:p>
          <a:p>
            <a:endParaRPr lang="en-US" dirty="0">
              <a:latin typeface="Arial"/>
              <a:cs typeface="Arial"/>
            </a:endParaRPr>
          </a:p>
          <a:p>
            <a:r>
              <a:rPr lang="en-US" dirty="0">
                <a:latin typeface="Arial"/>
                <a:cs typeface="Arial"/>
              </a:rPr>
              <a:t>Cloze Test establishes competence to relate both spoken and written English to a wide range of communication situation.</a:t>
            </a:r>
          </a:p>
          <a:p>
            <a:pPr>
              <a:buNone/>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Arial Black" pitchFamily="34" charset="0"/>
                <a:cs typeface="Arial" panose="020B0604020202020204" pitchFamily="34" charset="0"/>
              </a:rPr>
              <a:t>Assessment Pattern</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anose="020B0604020202020204" pitchFamily="34" charset="0"/>
              </a:rPr>
              <a:t>References </a:t>
            </a:r>
            <a:r>
              <a:rPr lang="en-US" dirty="0">
                <a:latin typeface="Arial Black" pitchFamily="34" charset="0"/>
              </a:rPr>
              <a:t>  </a:t>
            </a: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Students should consult the study material provided to them- Communication Skills 2020</a:t>
            </a:r>
          </a:p>
          <a:p>
            <a:pPr lvl="0"/>
            <a:r>
              <a:rPr lang="en-US" dirty="0">
                <a:latin typeface="Arial" pitchFamily="34" charset="0"/>
                <a:cs typeface="Arial" pitchFamily="34" charset="0"/>
              </a:rPr>
              <a:t>https://www.grammarbank.com/cloze-test.html</a:t>
            </a:r>
          </a:p>
          <a:p>
            <a:r>
              <a:rPr lang="en-US" dirty="0">
                <a:latin typeface="Arial" pitchFamily="34" charset="0"/>
                <a:cs typeface="Arial" pitchFamily="34" charset="0"/>
              </a:rPr>
              <a:t>Hewing, Martin, Advanced English Grammar, Cambridge University Press (2015), UK.</a:t>
            </a:r>
          </a:p>
          <a:p>
            <a:pPr lvl="0"/>
            <a:r>
              <a:rPr lang="en-US" dirty="0">
                <a:latin typeface="Arial" pitchFamily="34" charset="0"/>
                <a:cs typeface="Arial" pitchFamily="34" charset="0"/>
              </a:rPr>
              <a:t>Bodheeprep.com</a:t>
            </a:r>
          </a:p>
          <a:p>
            <a:pPr lvl="0"/>
            <a:r>
              <a:rPr lang="en-US" dirty="0">
                <a:latin typeface="Arial" pitchFamily="34" charset="0"/>
                <a:cs typeface="Arial" pitchFamily="34" charset="0"/>
              </a:rPr>
              <a:t>Onlinelibrary.wiley.com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970</TotalTime>
  <Words>884</Words>
  <Application>Microsoft Office PowerPoint</Application>
  <PresentationFormat>Widescreen</PresentationFormat>
  <Paragraphs>126</Paragraphs>
  <Slides>16</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7" baseType="lpstr">
      <vt:lpstr>Arial</vt:lpstr>
      <vt:lpstr>Arial Black</vt:lpstr>
      <vt:lpstr>Calibri</vt:lpstr>
      <vt:lpstr>Calibri Light</vt:lpstr>
      <vt:lpstr>Casper</vt:lpstr>
      <vt:lpstr>Karla</vt:lpstr>
      <vt:lpstr>Raleway ExtraBold</vt:lpstr>
      <vt:lpstr>Times New Roman</vt:lpstr>
      <vt:lpstr>1_Office Theme</vt:lpstr>
      <vt:lpstr>Contents Slide Master</vt:lpstr>
      <vt:lpstr>CorelDRAW</vt:lpstr>
      <vt:lpstr>PowerPoint Presentation</vt:lpstr>
      <vt:lpstr>COURSE OBJECTIVES </vt:lpstr>
      <vt:lpstr>Course Outcomes</vt:lpstr>
      <vt:lpstr>What is Cloze- Test?</vt:lpstr>
      <vt:lpstr> Approach to do Cloze Reading test</vt:lpstr>
      <vt:lpstr> Approach to do Cloze Reading test (Contd.)</vt:lpstr>
      <vt:lpstr>Exercise (1) </vt:lpstr>
      <vt:lpstr>(2)</vt:lpstr>
      <vt:lpstr>(3)</vt:lpstr>
      <vt:lpstr>(4)</vt:lpstr>
      <vt:lpstr>Exercise with Answers </vt:lpstr>
      <vt:lpstr>Summary</vt:lpstr>
      <vt:lpstr>Applications</vt:lpstr>
      <vt:lpstr>Assessment Pattern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134</cp:revision>
  <dcterms:created xsi:type="dcterms:W3CDTF">2019-01-09T10:33:58Z</dcterms:created>
  <dcterms:modified xsi:type="dcterms:W3CDTF">2023-07-17T06:45:02Z</dcterms:modified>
</cp:coreProperties>
</file>