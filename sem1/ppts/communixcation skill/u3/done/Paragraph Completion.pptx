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16"/>
  </p:notesMasterIdLst>
  <p:handoutMasterIdLst>
    <p:handoutMasterId r:id="rId17"/>
  </p:handoutMasterIdLst>
  <p:sldIdLst>
    <p:sldId id="315" r:id="rId3"/>
    <p:sldId id="328" r:id="rId4"/>
    <p:sldId id="389" r:id="rId5"/>
    <p:sldId id="281" r:id="rId6"/>
    <p:sldId id="280" r:id="rId7"/>
    <p:sldId id="320" r:id="rId8"/>
    <p:sldId id="287" r:id="rId9"/>
    <p:sldId id="326" r:id="rId10"/>
    <p:sldId id="290" r:id="rId11"/>
    <p:sldId id="327" r:id="rId12"/>
    <p:sldId id="321" r:id="rId13"/>
    <p:sldId id="322" r:id="rId14"/>
    <p:sldId id="27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5" autoAdjust="0"/>
    <p:restoredTop sz="94660"/>
  </p:normalViewPr>
  <p:slideViewPr>
    <p:cSldViewPr snapToGrid="0">
      <p:cViewPr varScale="1">
        <p:scale>
          <a:sx n="71" d="100"/>
          <a:sy n="71" d="100"/>
        </p:scale>
        <p:origin x="678"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7/17/2023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7/17/2023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7/17/2023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hyperlink" Target="https://english.eagetutor.com/idioms-and-phrases/english-idioms-to-be-prepared-for-in-your-office" TargetMode="Externa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55050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573326" y="5896450"/>
            <a:ext cx="3230388"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a:solidFill>
                  <a:schemeClr val="tx1">
                    <a:lumMod val="75000"/>
                    <a:lumOff val="25000"/>
                  </a:schemeClr>
                </a:solidFill>
                <a:latin typeface="Arial Black" pitchFamily="34" charset="0"/>
                <a:cs typeface="Times New Roman" panose="02020603050405020304" pitchFamily="18" charset="0"/>
              </a:rPr>
              <a:t>Paragraph Completion</a:t>
            </a:r>
            <a:endParaRPr lang="en-US" sz="2400" b="1" dirty="0">
              <a:solidFill>
                <a:schemeClr val="tx1">
                  <a:lumMod val="75000"/>
                  <a:lumOff val="25000"/>
                </a:schemeClr>
              </a:solidFill>
              <a:latin typeface="Arial Black" pitchFamily="34" charset="0"/>
              <a:cs typeface="Times New Roman" panose="02020603050405020304" pitchFamily="18" charset="0"/>
            </a:endParaRPr>
          </a:p>
        </p:txBody>
      </p:sp>
      <p:sp>
        <p:nvSpPr>
          <p:cNvPr id="15" name="TextBox 14"/>
          <p:cNvSpPr txBox="1">
            <a:spLocks noChangeArrowheads="1"/>
          </p:cNvSpPr>
          <p:nvPr/>
        </p:nvSpPr>
        <p:spPr bwMode="auto">
          <a:xfrm>
            <a:off x="998861" y="1963005"/>
            <a:ext cx="9612429"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Arial Black" panose="020B0A04020102020204" pitchFamily="34" charset="0"/>
                <a:ea typeface="Karla" pitchFamily="2" charset="0"/>
                <a:cs typeface="Karla" pitchFamily="2" charset="0"/>
              </a:rPr>
              <a:t>University Institute of Liberal Arts and Humanities</a:t>
            </a:r>
          </a:p>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Course Name – Communication Skills</a:t>
            </a:r>
          </a:p>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32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Course Code – 23PCH-105</a:t>
            </a:r>
          </a:p>
          <a:p>
            <a:pPr algn="ctr" defTabSz="622300">
              <a:lnSpc>
                <a:spcPct val="90000"/>
              </a:lnSpc>
              <a:spcBef>
                <a:spcPct val="0"/>
              </a:spcBef>
              <a:spcAft>
                <a:spcPct val="35000"/>
              </a:spcAft>
            </a:pP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algn="ctr" defTabSz="622300">
              <a:lnSpc>
                <a:spcPct val="90000"/>
              </a:lnSpc>
              <a:spcBef>
                <a:spcPct val="0"/>
              </a:spcBef>
              <a:spcAft>
                <a:spcPct val="35000"/>
              </a:spcAft>
            </a:pPr>
            <a:endParaRPr lang="en-US" sz="3200" dirty="0">
              <a:latin typeface="Times New Roman" pitchFamily="18" charset="0"/>
              <a:cs typeface="Times New Roman" pitchFamily="18" charset="0"/>
            </a:endParaRPr>
          </a:p>
          <a:p>
            <a:pPr algn="ctr" defTabSz="622300">
              <a:lnSpc>
                <a:spcPct val="90000"/>
              </a:lnSpc>
              <a:spcBef>
                <a:spcPct val="0"/>
              </a:spcBef>
              <a:spcAft>
                <a:spcPct val="35000"/>
              </a:spcAft>
            </a:pPr>
            <a:endParaRPr lang="en-US" sz="2000" dirty="0">
              <a:latin typeface="Raleway ExtraBold" pitchFamily="34" charset="-52"/>
            </a:endParaRPr>
          </a:p>
        </p:txBody>
      </p:sp>
    </p:spTree>
    <p:extLst>
      <p:ext uri="{BB962C8B-B14F-4D97-AF65-F5344CB8AC3E}">
        <p14:creationId xmlns:p14="http://schemas.microsoft.com/office/powerpoint/2010/main" val="3161169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2156142" y="629692"/>
            <a:ext cx="781081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dirty="0">
                <a:latin typeface="Arial Black" pitchFamily="34" charset="0"/>
                <a:ea typeface="Karla" pitchFamily="2" charset="0"/>
                <a:cs typeface="Karla" pitchFamily="2" charset="0"/>
              </a:rPr>
              <a:t>COURSE OBJECTIVES</a:t>
            </a:r>
            <a:br>
              <a:rPr lang="en-US" sz="2000"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p:cNvGraphicFramePr>
            <a:graphicFrameLocks noGrp="1"/>
          </p:cNvGraphicFramePr>
          <p:nvPr/>
        </p:nvGraphicFramePr>
        <p:xfrm>
          <a:off x="660698" y="2285999"/>
          <a:ext cx="10708342" cy="3770907"/>
        </p:xfrm>
        <a:graphic>
          <a:graphicData uri="http://schemas.openxmlformats.org/drawingml/2006/table">
            <a:tbl>
              <a:tblPr firstRow="1" firstCol="1" bandRow="1">
                <a:tableStyleId>{5940675A-B579-460E-94D1-54222C63F5DA}</a:tableStyleId>
              </a:tblPr>
              <a:tblGrid>
                <a:gridCol w="1413086">
                  <a:extLst>
                    <a:ext uri="{9D8B030D-6E8A-4147-A177-3AD203B41FA5}">
                      <a16:colId xmlns:a16="http://schemas.microsoft.com/office/drawing/2014/main" val="20000"/>
                    </a:ext>
                  </a:extLst>
                </a:gridCol>
                <a:gridCol w="9295256">
                  <a:extLst>
                    <a:ext uri="{9D8B030D-6E8A-4147-A177-3AD203B41FA5}">
                      <a16:colId xmlns:a16="http://schemas.microsoft.com/office/drawing/2014/main" val="20001"/>
                    </a:ext>
                  </a:extLst>
                </a:gridCol>
              </a:tblGrid>
              <a:tr h="1186795">
                <a:tc>
                  <a:txBody>
                    <a:bodyPr/>
                    <a:lstStyle/>
                    <a:p>
                      <a:pPr marL="0" marR="0" algn="ctr">
                        <a:lnSpc>
                          <a:spcPct val="100000"/>
                        </a:lnSpc>
                        <a:spcBef>
                          <a:spcPts val="0"/>
                        </a:spcBef>
                        <a:spcAft>
                          <a:spcPts val="0"/>
                        </a:spcAft>
                      </a:pPr>
                      <a:r>
                        <a:rPr lang="en-US" sz="2400" b="1" dirty="0">
                          <a:solidFill>
                            <a:schemeClr val="tx1"/>
                          </a:solidFill>
                          <a:effectLst/>
                        </a:rPr>
                        <a:t>1</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Augment students overall communication and interpersonal skills by making them realize the importance of good oral and written English Language in professional life.</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0"/>
                  </a:ext>
                </a:extLst>
              </a:tr>
              <a:tr h="743416">
                <a:tc>
                  <a:txBody>
                    <a:bodyPr/>
                    <a:lstStyle/>
                    <a:p>
                      <a:pPr marL="0" marR="0" algn="ctr">
                        <a:lnSpc>
                          <a:spcPct val="100000"/>
                        </a:lnSpc>
                        <a:spcBef>
                          <a:spcPts val="0"/>
                        </a:spcBef>
                        <a:spcAft>
                          <a:spcPts val="0"/>
                        </a:spcAft>
                      </a:pPr>
                      <a:r>
                        <a:rPr lang="en-US" sz="2400" b="1" dirty="0">
                          <a:solidFill>
                            <a:schemeClr val="tx1"/>
                          </a:solidFill>
                          <a:effectLst/>
                        </a:rPr>
                        <a:t>2</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Enrich their reading capability with special emphasis on expanding vocabulary and grammatical formations.</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1"/>
                  </a:ext>
                </a:extLst>
              </a:tr>
              <a:tr h="743416">
                <a:tc>
                  <a:txBody>
                    <a:bodyPr/>
                    <a:lstStyle/>
                    <a:p>
                      <a:pPr marL="0" marR="0" algn="ctr">
                        <a:lnSpc>
                          <a:spcPct val="100000"/>
                        </a:lnSpc>
                        <a:spcBef>
                          <a:spcPts val="0"/>
                        </a:spcBef>
                        <a:spcAft>
                          <a:spcPts val="0"/>
                        </a:spcAft>
                      </a:pPr>
                      <a:r>
                        <a:rPr lang="en-US" sz="2400" b="1" dirty="0">
                          <a:solidFill>
                            <a:schemeClr val="tx1"/>
                          </a:solidFill>
                          <a:effectLst/>
                        </a:rPr>
                        <a:t>3</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Build exceptional speaking, reading and writing skills by correcting grammatical errors and pronunciation through practice.</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2"/>
                  </a:ext>
                </a:extLst>
              </a:tr>
              <a:tr h="743416">
                <a:tc>
                  <a:txBody>
                    <a:bodyPr/>
                    <a:lstStyle/>
                    <a:p>
                      <a:pPr marL="0" marR="0" algn="ctr">
                        <a:lnSpc>
                          <a:spcPct val="100000"/>
                        </a:lnSpc>
                        <a:spcBef>
                          <a:spcPts val="0"/>
                        </a:spcBef>
                        <a:spcAft>
                          <a:spcPts val="0"/>
                        </a:spcAft>
                      </a:pPr>
                      <a:r>
                        <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a:t>
                      </a:r>
                    </a:p>
                  </a:txBody>
                  <a:tcPr marL="68580" marR="68580" marT="0" marB="0" anchor="ctr"/>
                </a:tc>
                <a:tc>
                  <a:txBody>
                    <a:bodyPr/>
                    <a:lstStyle/>
                    <a:p>
                      <a:pPr marL="0" marR="0">
                        <a:lnSpc>
                          <a:spcPct val="100000"/>
                        </a:lnSpc>
                        <a:spcBef>
                          <a:spcPts val="0"/>
                        </a:spcBef>
                        <a:spcAft>
                          <a:spcPts val="0"/>
                        </a:spcAft>
                      </a:pPr>
                      <a:r>
                        <a:rPr lang="en-US" sz="2400" b="0" dirty="0">
                          <a:solidFill>
                            <a:schemeClr val="tx1"/>
                          </a:solidFill>
                          <a:effectLst/>
                          <a:latin typeface="Arial" pitchFamily="34" charset="0"/>
                          <a:ea typeface="Times New Roman" panose="02020603050405020304" pitchFamily="18" charset="0"/>
                          <a:cs typeface="Arial" pitchFamily="34" charset="0"/>
                        </a:rPr>
                        <a:t>Enhances soft skills by fostering self awareness, confidence and a positive attitude in students’ ability to communicate effectively in English.</a:t>
                      </a:r>
                    </a:p>
                  </a:txBody>
                  <a:tcPr marL="68580" marR="68580" marT="0" marB="0"/>
                </a:tc>
                <a:extLst>
                  <a:ext uri="{0D108BD9-81ED-4DB2-BD59-A6C34878D82A}">
                    <a16:rowId xmlns:a16="http://schemas.microsoft.com/office/drawing/2014/main" val="2339887652"/>
                  </a:ext>
                </a:extLst>
              </a:tr>
            </a:tbl>
          </a:graphicData>
        </a:graphic>
      </p:graphicFrame>
      <p:sp>
        <p:nvSpPr>
          <p:cNvPr id="11" name="Rectangle 10"/>
          <p:cNvSpPr/>
          <p:nvPr/>
        </p:nvSpPr>
        <p:spPr>
          <a:xfrm>
            <a:off x="492162" y="1616818"/>
            <a:ext cx="2956259" cy="461665"/>
          </a:xfrm>
          <a:prstGeom prst="rect">
            <a:avLst/>
          </a:prstGeom>
        </p:spPr>
        <p:txBody>
          <a:bodyPr wrap="none">
            <a:spAutoFit/>
          </a:bodyPr>
          <a:lstStyle/>
          <a:p>
            <a:r>
              <a:rPr lang="en-US" sz="2400" dirty="0">
                <a:latin typeface="Arial" pitchFamily="34" charset="0"/>
                <a:cs typeface="Arial" pitchFamily="34" charset="0"/>
              </a:rPr>
              <a:t>The Course aims to:</a:t>
            </a:r>
            <a:endParaRPr lang="en-US" sz="2400" b="1" dirty="0">
              <a:latin typeface="Arial" pitchFamily="34" charset="0"/>
              <a:cs typeface="Arial" pitchFamily="34" charset="0"/>
            </a:endParaRPr>
          </a:p>
        </p:txBody>
      </p:sp>
    </p:spTree>
    <p:extLst>
      <p:ext uri="{BB962C8B-B14F-4D97-AF65-F5344CB8AC3E}">
        <p14:creationId xmlns:p14="http://schemas.microsoft.com/office/powerpoint/2010/main" val="2985985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23760" y="1310640"/>
            <a:ext cx="4069080" cy="4591685"/>
          </a:xfrm>
        </p:spPr>
        <p:txBody>
          <a:bodyPr>
            <a:normAutofit/>
          </a:bodyPr>
          <a:lstStyle/>
          <a:p>
            <a:r>
              <a:rPr lang="en-US" sz="2400" dirty="0">
                <a:latin typeface="Casper" panose="02000506000000020004" pitchFamily="2" charset="0"/>
                <a:cs typeface="Arial" panose="020B0604020202020204" pitchFamily="34" charset="0"/>
              </a:rPr>
              <a:t>Space for visual (size 24)</a:t>
            </a:r>
          </a:p>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828083" y="362194"/>
            <a:ext cx="5966778"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Arial Black" pitchFamily="34" charset="0"/>
                <a:ea typeface="Karla" pitchFamily="2" charset="0"/>
                <a:cs typeface="Karla" pitchFamily="2" charset="0"/>
              </a:rPr>
              <a:t>COURSE OUTCOMES</a:t>
            </a:r>
            <a:endParaRPr lang="en-US" sz="1600" dirty="0">
              <a:latin typeface="Arial Black" pitchFamily="34" charset="0"/>
            </a:endParaRPr>
          </a:p>
        </p:txBody>
      </p:sp>
      <p:sp>
        <p:nvSpPr>
          <p:cNvPr id="2" name="Rectangle 1"/>
          <p:cNvSpPr/>
          <p:nvPr/>
        </p:nvSpPr>
        <p:spPr>
          <a:xfrm>
            <a:off x="7208520" y="1267097"/>
            <a:ext cx="4122419" cy="47396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76476" y="1788814"/>
            <a:ext cx="5208477" cy="400110"/>
          </a:xfrm>
          <a:prstGeom prst="rect">
            <a:avLst/>
          </a:prstGeom>
        </p:spPr>
        <p:txBody>
          <a:bodyPr wrap="none">
            <a:spAutoFit/>
          </a:bodyPr>
          <a:lstStyle/>
          <a:p>
            <a:r>
              <a:rPr lang="en-US" sz="2000" dirty="0">
                <a:latin typeface="Arial" pitchFamily="34" charset="0"/>
                <a:cs typeface="Arial" pitchFamily="34" charset="0"/>
              </a:rPr>
              <a:t>On completion, the students are expected to</a:t>
            </a:r>
            <a:endParaRPr lang="en-US" sz="2000" b="1" dirty="0">
              <a:latin typeface="Arial" pitchFamily="34" charset="0"/>
              <a:cs typeface="Arial" pitchFamily="34" charset="0"/>
            </a:endParaRPr>
          </a:p>
        </p:txBody>
      </p:sp>
      <p:sp>
        <p:nvSpPr>
          <p:cNvPr id="12" name="Rectangle 11"/>
          <p:cNvSpPr/>
          <p:nvPr/>
        </p:nvSpPr>
        <p:spPr>
          <a:xfrm>
            <a:off x="7816647" y="6144288"/>
            <a:ext cx="2133918" cy="430887"/>
          </a:xfrm>
          <a:prstGeom prst="rect">
            <a:avLst/>
          </a:prstGeom>
        </p:spPr>
        <p:txBody>
          <a:bodyPr wrap="none">
            <a:spAutoFit/>
          </a:bodyPr>
          <a:lstStyle/>
          <a:p>
            <a:r>
              <a:rPr lang="en-US" sz="1100" dirty="0">
                <a:latin typeface="Arial" pitchFamily="34" charset="0"/>
                <a:cs typeface="Arial" pitchFamily="34" charset="0"/>
              </a:rPr>
              <a:t>...</a:t>
            </a:r>
          </a:p>
          <a:p>
            <a:r>
              <a:rPr lang="en-US" sz="1100" dirty="0">
                <a:latin typeface="Arial" pitchFamily="34" charset="0"/>
                <a:cs typeface="Arial" pitchFamily="34" charset="0"/>
              </a:rPr>
              <a:t>asmartstudyzone.blogspot.com</a:t>
            </a:r>
          </a:p>
        </p:txBody>
      </p:sp>
      <p:pic>
        <p:nvPicPr>
          <p:cNvPr id="4" name="Picture 3">
            <a:extLst>
              <a:ext uri="{FF2B5EF4-FFF2-40B4-BE49-F238E27FC236}">
                <a16:creationId xmlns:a16="http://schemas.microsoft.com/office/drawing/2014/main" id="{C9547CAE-3C2B-1D34-69C7-464BD5694C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3364" y="511866"/>
            <a:ext cx="4688207" cy="5531525"/>
          </a:xfrm>
          <a:prstGeom prst="rect">
            <a:avLst/>
          </a:prstGeom>
        </p:spPr>
      </p:pic>
      <p:graphicFrame>
        <p:nvGraphicFramePr>
          <p:cNvPr id="6" name="Table 5">
            <a:extLst>
              <a:ext uri="{FF2B5EF4-FFF2-40B4-BE49-F238E27FC236}">
                <a16:creationId xmlns:a16="http://schemas.microsoft.com/office/drawing/2014/main" id="{D6B9E649-7158-F686-AE70-F96039DEFF30}"/>
              </a:ext>
            </a:extLst>
          </p:cNvPr>
          <p:cNvGraphicFramePr>
            <a:graphicFrameLocks noGrp="1"/>
          </p:cNvGraphicFramePr>
          <p:nvPr>
            <p:extLst>
              <p:ext uri="{D42A27DB-BD31-4B8C-83A1-F6EECF244321}">
                <p14:modId xmlns:p14="http://schemas.microsoft.com/office/powerpoint/2010/main" val="2235806747"/>
              </p:ext>
            </p:extLst>
          </p:nvPr>
        </p:nvGraphicFramePr>
        <p:xfrm>
          <a:off x="187391" y="2172240"/>
          <a:ext cx="6670497" cy="4495802"/>
        </p:xfrm>
        <a:graphic>
          <a:graphicData uri="http://schemas.openxmlformats.org/drawingml/2006/table">
            <a:tbl>
              <a:tblPr firstRow="1" firstCol="1" bandRow="1">
                <a:tableStyleId>{5940675A-B579-460E-94D1-54222C63F5DA}</a:tableStyleId>
              </a:tblPr>
              <a:tblGrid>
                <a:gridCol w="543484">
                  <a:extLst>
                    <a:ext uri="{9D8B030D-6E8A-4147-A177-3AD203B41FA5}">
                      <a16:colId xmlns:a16="http://schemas.microsoft.com/office/drawing/2014/main" val="2260446928"/>
                    </a:ext>
                  </a:extLst>
                </a:gridCol>
                <a:gridCol w="4854552">
                  <a:extLst>
                    <a:ext uri="{9D8B030D-6E8A-4147-A177-3AD203B41FA5}">
                      <a16:colId xmlns:a16="http://schemas.microsoft.com/office/drawing/2014/main" val="3818319663"/>
                    </a:ext>
                  </a:extLst>
                </a:gridCol>
                <a:gridCol w="1272461">
                  <a:extLst>
                    <a:ext uri="{9D8B030D-6E8A-4147-A177-3AD203B41FA5}">
                      <a16:colId xmlns:a16="http://schemas.microsoft.com/office/drawing/2014/main" val="1724366301"/>
                    </a:ext>
                  </a:extLst>
                </a:gridCol>
              </a:tblGrid>
              <a:tr h="763998">
                <a:tc>
                  <a:txBody>
                    <a:bodyPr/>
                    <a:lstStyle/>
                    <a:p>
                      <a:pPr algn="ctr">
                        <a:lnSpc>
                          <a:spcPct val="115000"/>
                        </a:lnSpc>
                        <a:spcAft>
                          <a:spcPts val="1000"/>
                        </a:spcAft>
                      </a:pPr>
                      <a:r>
                        <a:rPr lang="en-US" sz="1200" b="1" dirty="0">
                          <a:effectLst/>
                          <a:latin typeface="+mn-lt"/>
                        </a:rPr>
                        <a:t>CO Number</a:t>
                      </a:r>
                      <a:endParaRPr lang="en-IN" sz="1200" b="1" dirty="0">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ctr">
                        <a:lnSpc>
                          <a:spcPct val="115000"/>
                        </a:lnSpc>
                        <a:spcAft>
                          <a:spcPts val="1000"/>
                        </a:spcAft>
                      </a:pPr>
                      <a:r>
                        <a:rPr lang="en-US" sz="1200" b="1" dirty="0">
                          <a:effectLst/>
                          <a:latin typeface="+mn-lt"/>
                        </a:rPr>
                        <a:t>Title</a:t>
                      </a:r>
                      <a:endParaRPr lang="en-IN" sz="1200" b="1" dirty="0">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ctr">
                        <a:lnSpc>
                          <a:spcPct val="115000"/>
                        </a:lnSpc>
                        <a:spcAft>
                          <a:spcPts val="1000"/>
                        </a:spcAft>
                      </a:pPr>
                      <a:r>
                        <a:rPr lang="en-US" sz="1200" b="1" dirty="0">
                          <a:effectLst/>
                          <a:latin typeface="+mn-lt"/>
                        </a:rPr>
                        <a:t> </a:t>
                      </a:r>
                      <a:endParaRPr lang="en-IN" sz="1200" b="1" dirty="0">
                        <a:effectLst/>
                        <a:latin typeface="+mn-lt"/>
                      </a:endParaRPr>
                    </a:p>
                    <a:p>
                      <a:pPr algn="ctr">
                        <a:lnSpc>
                          <a:spcPct val="115000"/>
                        </a:lnSpc>
                        <a:spcAft>
                          <a:spcPts val="1000"/>
                        </a:spcAft>
                      </a:pPr>
                      <a:r>
                        <a:rPr lang="en-US" sz="1200" b="1" dirty="0">
                          <a:effectLst/>
                          <a:latin typeface="+mn-lt"/>
                        </a:rPr>
                        <a:t>Level</a:t>
                      </a:r>
                      <a:endParaRPr lang="en-IN" sz="1200" b="1" dirty="0">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1694774232"/>
                  </a:ext>
                </a:extLst>
              </a:tr>
              <a:tr h="719905">
                <a:tc>
                  <a:txBody>
                    <a:bodyPr/>
                    <a:lstStyle/>
                    <a:p>
                      <a:pPr>
                        <a:lnSpc>
                          <a:spcPct val="115000"/>
                        </a:lnSpc>
                        <a:spcAft>
                          <a:spcPts val="1000"/>
                        </a:spcAft>
                      </a:pPr>
                      <a:r>
                        <a:rPr lang="en-US" sz="1200" dirty="0">
                          <a:solidFill>
                            <a:schemeClr val="tx1"/>
                          </a:solidFill>
                          <a:effectLst/>
                          <a:latin typeface="+mn-lt"/>
                        </a:rPr>
                        <a:t>CO1</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just">
                        <a:lnSpc>
                          <a:spcPct val="115000"/>
                        </a:lnSpc>
                        <a:spcAft>
                          <a:spcPts val="1000"/>
                        </a:spcAft>
                      </a:pPr>
                      <a:r>
                        <a:rPr lang="en-US" sz="1200" dirty="0">
                          <a:solidFill>
                            <a:schemeClr val="tx1"/>
                          </a:solidFill>
                          <a:effectLst/>
                          <a:latin typeface="+mn-lt"/>
                          <a:ea typeface="Times New Roman" panose="02020603050405020304" pitchFamily="18" charset="0"/>
                        </a:rPr>
                        <a:t>Apply appropriate Listening, Speaking, Reading and Writing Skills (LSRW Skills) with correct non-verbal cues to attain expertise in soft skills.</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3002657675"/>
                  </a:ext>
                </a:extLst>
              </a:tr>
              <a:tr h="719905">
                <a:tc>
                  <a:txBody>
                    <a:bodyPr/>
                    <a:lstStyle/>
                    <a:p>
                      <a:pPr>
                        <a:lnSpc>
                          <a:spcPct val="115000"/>
                        </a:lnSpc>
                        <a:spcAft>
                          <a:spcPts val="1000"/>
                        </a:spcAft>
                      </a:pPr>
                      <a:r>
                        <a:rPr lang="en-US" sz="1200">
                          <a:solidFill>
                            <a:schemeClr val="tx1"/>
                          </a:solidFill>
                          <a:effectLst/>
                          <a:latin typeface="+mn-lt"/>
                        </a:rPr>
                        <a:t>CO2</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Apply correct contextual and comprehensible written text in the form of paragraph writing, short compositions business correspondence, using logical support and argument in a wide range of communication situations.</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599706455"/>
                  </a:ext>
                </a:extLst>
              </a:tr>
              <a:tr h="763998">
                <a:tc>
                  <a:txBody>
                    <a:bodyPr/>
                    <a:lstStyle/>
                    <a:p>
                      <a:pPr>
                        <a:lnSpc>
                          <a:spcPct val="115000"/>
                        </a:lnSpc>
                        <a:spcAft>
                          <a:spcPts val="1000"/>
                        </a:spcAft>
                      </a:pPr>
                      <a:r>
                        <a:rPr lang="en-US" sz="1200" dirty="0">
                          <a:solidFill>
                            <a:schemeClr val="tx1"/>
                          </a:solidFill>
                          <a:effectLst/>
                          <a:latin typeface="+mn-lt"/>
                        </a:rPr>
                        <a:t>CO3</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Demonstrate linguistic competence while speaking and during presentations through accuracy in grammatical usage, vocabulary, pronunciation and intonation.</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610233323"/>
                  </a:ext>
                </a:extLst>
              </a:tr>
              <a:tr h="763998">
                <a:tc>
                  <a:txBody>
                    <a:bodyPr/>
                    <a:lstStyle/>
                    <a:p>
                      <a:pPr>
                        <a:lnSpc>
                          <a:spcPct val="115000"/>
                        </a:lnSpc>
                        <a:spcAft>
                          <a:spcPts val="1000"/>
                        </a:spcAft>
                      </a:pPr>
                      <a:r>
                        <a:rPr lang="en-US" sz="1200">
                          <a:solidFill>
                            <a:schemeClr val="tx1"/>
                          </a:solidFill>
                          <a:effectLst/>
                          <a:latin typeface="+mn-lt"/>
                        </a:rPr>
                        <a:t>CO4</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just">
                        <a:lnSpc>
                          <a:spcPct val="115000"/>
                        </a:lnSpc>
                        <a:spcAft>
                          <a:spcPts val="1000"/>
                        </a:spcAft>
                      </a:pPr>
                      <a:r>
                        <a:rPr lang="en-US" sz="1200" dirty="0">
                          <a:solidFill>
                            <a:schemeClr val="tx1"/>
                          </a:solidFill>
                          <a:effectLst/>
                          <a:latin typeface="+mn-lt"/>
                          <a:ea typeface="Times New Roman" panose="02020603050405020304" pitchFamily="18" charset="0"/>
                        </a:rPr>
                        <a:t>Evaluate information as critical readers, speakers and writers applying ethics in communication and</a:t>
                      </a:r>
                      <a:endParaRPr lang="en-IN" sz="1200" dirty="0">
                        <a:solidFill>
                          <a:schemeClr val="tx1"/>
                        </a:solidFill>
                        <a:effectLst/>
                        <a:latin typeface="+mn-lt"/>
                        <a:ea typeface="Calibri" panose="020F0502020204030204" pitchFamily="34" charset="0"/>
                      </a:endParaRPr>
                    </a:p>
                    <a:p>
                      <a:pPr algn="just">
                        <a:lnSpc>
                          <a:spcPct val="115000"/>
                        </a:lnSpc>
                        <a:spcAft>
                          <a:spcPts val="1000"/>
                        </a:spcAft>
                      </a:pPr>
                      <a:r>
                        <a:rPr lang="en-US" sz="1200" dirty="0">
                          <a:solidFill>
                            <a:schemeClr val="tx1"/>
                          </a:solidFill>
                          <a:effectLst/>
                          <a:latin typeface="+mn-lt"/>
                          <a:ea typeface="Times New Roman" panose="02020603050405020304" pitchFamily="18" charset="0"/>
                        </a:rPr>
                        <a:t>being sensitive in cross cultural communication.</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Evaluate</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351876097"/>
                  </a:ext>
                </a:extLst>
              </a:tr>
              <a:tr h="763998">
                <a:tc>
                  <a:txBody>
                    <a:bodyPr/>
                    <a:lstStyle/>
                    <a:p>
                      <a:pPr>
                        <a:lnSpc>
                          <a:spcPct val="115000"/>
                        </a:lnSpc>
                        <a:spcAft>
                          <a:spcPts val="1000"/>
                        </a:spcAft>
                      </a:pPr>
                      <a:r>
                        <a:rPr lang="en-US" sz="1200">
                          <a:solidFill>
                            <a:schemeClr val="tx1"/>
                          </a:solidFill>
                          <a:effectLst/>
                          <a:latin typeface="+mn-lt"/>
                        </a:rPr>
                        <a:t>CO5</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 Create original, digital content for websites, blogs, vlogs and personal social media profiles etc.</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Create</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3748297033"/>
                  </a:ext>
                </a:extLst>
              </a:tr>
            </a:tbl>
          </a:graphicData>
        </a:graphic>
      </p:graphicFrame>
    </p:spTree>
    <p:extLst>
      <p:ext uri="{BB962C8B-B14F-4D97-AF65-F5344CB8AC3E}">
        <p14:creationId xmlns:p14="http://schemas.microsoft.com/office/powerpoint/2010/main" val="4018097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94468" y="6152607"/>
            <a:ext cx="3229791" cy="705394"/>
          </a:xfrm>
        </p:spPr>
        <p:txBody>
          <a:bodyPr>
            <a:normAutofit/>
          </a:bodyPr>
          <a:lstStyle/>
          <a:p>
            <a:pPr>
              <a:buNone/>
            </a:pPr>
            <a:r>
              <a:rPr lang="en-IN" sz="1200" u="sng" dirty="0">
                <a:latin typeface="Arial" pitchFamily="34" charset="0"/>
                <a:cs typeface="Arial" pitchFamily="34" charset="0"/>
                <a:hlinkClick r:id="rId2"/>
              </a:rPr>
              <a:t>english.eagetutor.com</a:t>
            </a:r>
          </a:p>
        </p:txBody>
      </p:sp>
      <p:sp>
        <p:nvSpPr>
          <p:cNvPr id="4" name="Text Placeholder 3"/>
          <p:cNvSpPr>
            <a:spLocks noGrp="1"/>
          </p:cNvSpPr>
          <p:nvPr>
            <p:ph type="body" sz="half" idx="2"/>
          </p:nvPr>
        </p:nvSpPr>
        <p:spPr>
          <a:xfrm>
            <a:off x="533400" y="1615440"/>
            <a:ext cx="5471160" cy="4602480"/>
          </a:xfrm>
        </p:spPr>
        <p:txBody>
          <a:bodyPr/>
          <a:lstStyle/>
          <a:p>
            <a:pPr algn="ctr"/>
            <a:r>
              <a:rPr lang="en-US" sz="2800" dirty="0">
                <a:solidFill>
                  <a:schemeClr val="tx1">
                    <a:lumMod val="85000"/>
                    <a:lumOff val="15000"/>
                  </a:schemeClr>
                </a:solidFill>
                <a:latin typeface="Arial" pitchFamily="34" charset="0"/>
                <a:cs typeface="Arial" pitchFamily="34" charset="0"/>
              </a:rPr>
              <a:t> Topics to be Covered:</a:t>
            </a:r>
          </a:p>
          <a:p>
            <a:pPr>
              <a:buFont typeface="Wingdings" pitchFamily="2" charset="2"/>
              <a:buChar char="Ø"/>
            </a:pPr>
            <a:r>
              <a:rPr lang="en-US" sz="2800" dirty="0">
                <a:latin typeface="Arial" pitchFamily="34" charset="0"/>
                <a:cs typeface="Arial" pitchFamily="34" charset="0"/>
              </a:rPr>
              <a:t>  What is Paragraph Completion?</a:t>
            </a:r>
          </a:p>
          <a:p>
            <a:pPr>
              <a:buFont typeface="Wingdings" pitchFamily="2" charset="2"/>
              <a:buChar char="Ø"/>
            </a:pPr>
            <a:r>
              <a:rPr lang="en-US" sz="2800" dirty="0">
                <a:latin typeface="Arial" pitchFamily="34" charset="0"/>
                <a:cs typeface="Arial" pitchFamily="34" charset="0"/>
              </a:rPr>
              <a:t> Strategies</a:t>
            </a:r>
          </a:p>
          <a:p>
            <a:pPr>
              <a:buFont typeface="Wingdings" pitchFamily="2" charset="2"/>
              <a:buChar char="Ø"/>
            </a:pPr>
            <a:r>
              <a:rPr lang="en-US" sz="2800" dirty="0">
                <a:latin typeface="Arial" pitchFamily="34" charset="0"/>
                <a:cs typeface="Arial" pitchFamily="34" charset="0"/>
              </a:rPr>
              <a:t> Tips and Tricks</a:t>
            </a:r>
          </a:p>
          <a:p>
            <a:pPr>
              <a:buFont typeface="Wingdings" pitchFamily="2" charset="2"/>
              <a:buChar char="Ø"/>
            </a:pPr>
            <a:r>
              <a:rPr lang="en-US" sz="2800" dirty="0">
                <a:latin typeface="Arial" pitchFamily="34" charset="0"/>
                <a:cs typeface="Arial" pitchFamily="34" charset="0"/>
              </a:rPr>
              <a:t> Examples</a:t>
            </a: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4</a:t>
            </a:fld>
            <a:endParaRPr lang="en-US" dirty="0"/>
          </a:p>
        </p:txBody>
      </p:sp>
      <p:sp>
        <p:nvSpPr>
          <p:cNvPr id="8" name="Title 7"/>
          <p:cNvSpPr txBox="1">
            <a:spLocks noGrp="1" noChangeArrowheads="1"/>
          </p:cNvSpPr>
          <p:nvPr>
            <p:ph type="title"/>
          </p:nvPr>
        </p:nvSpPr>
        <p:spPr bwMode="auto">
          <a:xfrm>
            <a:off x="1150302" y="195023"/>
            <a:ext cx="1012729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IN" sz="4400" dirty="0">
                <a:latin typeface="Arial Black" pitchFamily="34" charset="0"/>
              </a:rPr>
              <a:t>Paragraph Completion</a:t>
            </a:r>
            <a:br>
              <a:rPr lang="en-IN" sz="4400" dirty="0">
                <a:latin typeface="Arial Black" pitchFamily="34" charset="0"/>
              </a:rPr>
            </a:b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2" name="Rectangle 1"/>
          <p:cNvSpPr/>
          <p:nvPr/>
        </p:nvSpPr>
        <p:spPr>
          <a:xfrm>
            <a:off x="6416040" y="1508760"/>
            <a:ext cx="4869180" cy="44818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49262" y="1310640"/>
            <a:ext cx="5722938" cy="50457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6D71DC3-F172-BD59-CEFB-315E2D77CD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6040" y="1534251"/>
            <a:ext cx="4801236" cy="4481830"/>
          </a:xfrm>
          <a:prstGeom prst="rect">
            <a:avLst/>
          </a:prstGeom>
        </p:spPr>
      </p:pic>
    </p:spTree>
    <p:extLst>
      <p:ext uri="{BB962C8B-B14F-4D97-AF65-F5344CB8AC3E}">
        <p14:creationId xmlns:p14="http://schemas.microsoft.com/office/powerpoint/2010/main" val="693801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latin typeface="Arial Black" pitchFamily="34" charset="0"/>
                <a:cs typeface="Arial" panose="020B0604020202020204" pitchFamily="34" charset="0"/>
              </a:rPr>
              <a:t>Paragraph Completion</a:t>
            </a:r>
            <a:r>
              <a:rPr lang="en-US" dirty="0">
                <a:latin typeface="Arial Black" pitchFamily="34" charset="0"/>
                <a:cs typeface="Arial" panose="020B0604020202020204" pitchFamily="34" charset="0"/>
              </a:rPr>
              <a:t> </a:t>
            </a:r>
            <a:r>
              <a:rPr lang="en-US" dirty="0">
                <a:latin typeface="Arial Black" pitchFamily="34" charset="0"/>
              </a:rPr>
              <a:t>  </a:t>
            </a:r>
          </a:p>
        </p:txBody>
      </p:sp>
      <p:sp>
        <p:nvSpPr>
          <p:cNvPr id="3" name="Content Placeholder 2"/>
          <p:cNvSpPr>
            <a:spLocks noGrp="1"/>
          </p:cNvSpPr>
          <p:nvPr>
            <p:ph idx="1"/>
          </p:nvPr>
        </p:nvSpPr>
        <p:spPr>
          <a:xfrm>
            <a:off x="838200" y="1825625"/>
            <a:ext cx="6584576" cy="4351338"/>
          </a:xfrm>
        </p:spPr>
        <p:txBody>
          <a:bodyPr>
            <a:normAutofit/>
          </a:bodyPr>
          <a:lstStyle/>
          <a:p>
            <a:r>
              <a:rPr lang="en-IN" dirty="0">
                <a:latin typeface="Arial" panose="020B0604020202020204" pitchFamily="34" charset="0"/>
                <a:cs typeface="Arial" pitchFamily="34" charset="0"/>
              </a:rPr>
              <a:t> </a:t>
            </a:r>
            <a:r>
              <a:rPr lang="en-US" b="0" i="0" dirty="0">
                <a:effectLst/>
                <a:latin typeface="Arial" panose="020B0604020202020204" pitchFamily="34" charset="0"/>
                <a:cs typeface="Arial" panose="020B0604020202020204" pitchFamily="34" charset="0"/>
              </a:rPr>
              <a:t>Para-completion requires you to complete the paragraph in a way that it is coherent and complete. </a:t>
            </a:r>
          </a:p>
          <a:p>
            <a:r>
              <a:rPr lang="en-US" b="0" i="0" dirty="0">
                <a:effectLst/>
                <a:latin typeface="Arial" panose="020B0604020202020204" pitchFamily="34" charset="0"/>
                <a:cs typeface="Arial" panose="020B0604020202020204" pitchFamily="34" charset="0"/>
              </a:rPr>
              <a:t>It tests your comprehension skills. All it asks of you is to complete a missing line from a paragraph, and this line is generally the last line of the paragraph. </a:t>
            </a:r>
          </a:p>
          <a:p>
            <a:r>
              <a:rPr lang="en-US" b="0" i="0" dirty="0">
                <a:effectLst/>
                <a:latin typeface="Arial" panose="020B0604020202020204" pitchFamily="34" charset="0"/>
                <a:cs typeface="Arial" panose="020B0604020202020204" pitchFamily="34" charset="0"/>
              </a:rPr>
              <a:t>It is a pretty simple thing to do, isn't it? Well, not quite. Let's understand the concept with help of an example.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pitchFamily="34" charset="0"/>
              <a:buChar char="•"/>
            </a:pPr>
            <a:endParaRPr lang="en-US" sz="2800" dirty="0">
              <a:latin typeface="Arial" pitchFamily="34" charset="0"/>
              <a:cs typeface="Arial" pitchFamily="34" charset="0"/>
            </a:endParaRPr>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8634549" y="6406157"/>
            <a:ext cx="1998617" cy="276999"/>
          </a:xfrm>
          <a:prstGeom prst="rect">
            <a:avLst/>
          </a:prstGeom>
          <a:noFill/>
        </p:spPr>
        <p:txBody>
          <a:bodyPr wrap="square" rtlCol="0">
            <a:spAutoFit/>
          </a:bodyPr>
          <a:lstStyle/>
          <a:p>
            <a:r>
              <a:rPr lang="en-US" sz="1200" dirty="0">
                <a:latin typeface="Arial" pitchFamily="34" charset="0"/>
                <a:cs typeface="Arial" pitchFamily="34" charset="0"/>
              </a:rPr>
              <a:t>   Shutterstock.com</a:t>
            </a:r>
            <a:endParaRPr lang="en-IN" sz="1200" dirty="0">
              <a:latin typeface="Arial" pitchFamily="34" charset="0"/>
              <a:cs typeface="Arial" pitchFamily="34" charset="0"/>
            </a:endParaRPr>
          </a:p>
        </p:txBody>
      </p:sp>
      <p:pic>
        <p:nvPicPr>
          <p:cNvPr id="9" name="Picture 8">
            <a:extLst>
              <a:ext uri="{FF2B5EF4-FFF2-40B4-BE49-F238E27FC236}">
                <a16:creationId xmlns:a16="http://schemas.microsoft.com/office/drawing/2014/main" id="{B56B19C4-8114-40DA-7F2D-6F96213310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8270" y="1803400"/>
            <a:ext cx="3675529" cy="4348162"/>
          </a:xfrm>
          <a:prstGeom prst="rect">
            <a:avLst/>
          </a:prstGeom>
        </p:spPr>
      </p:pic>
    </p:spTree>
    <p:extLst>
      <p:ext uri="{BB962C8B-B14F-4D97-AF65-F5344CB8AC3E}">
        <p14:creationId xmlns:p14="http://schemas.microsoft.com/office/powerpoint/2010/main" val="823702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4294D-8B38-CB43-8985-39F3EF775A4F}"/>
              </a:ext>
            </a:extLst>
          </p:cNvPr>
          <p:cNvSpPr>
            <a:spLocks noGrp="1"/>
          </p:cNvSpPr>
          <p:nvPr>
            <p:ph type="title"/>
          </p:nvPr>
        </p:nvSpPr>
        <p:spPr/>
        <p:txBody>
          <a:bodyPr/>
          <a:lstStyle/>
          <a:p>
            <a:pPr algn="ctr"/>
            <a:r>
              <a:rPr lang="en-IN" b="1" dirty="0">
                <a:latin typeface="Arial Black" panose="020B0A04020102020204" pitchFamily="34" charset="0"/>
              </a:rPr>
              <a:t>Example to Understand</a:t>
            </a:r>
            <a:endParaRPr lang="en-GB" b="1" dirty="0">
              <a:latin typeface="Arial Black" panose="020B0A04020102020204" pitchFamily="34" charset="0"/>
            </a:endParaRPr>
          </a:p>
        </p:txBody>
      </p:sp>
      <p:sp>
        <p:nvSpPr>
          <p:cNvPr id="3" name="Content Placeholder 2">
            <a:extLst>
              <a:ext uri="{FF2B5EF4-FFF2-40B4-BE49-F238E27FC236}">
                <a16:creationId xmlns:a16="http://schemas.microsoft.com/office/drawing/2014/main" id="{A3998D4F-810D-EB14-3FAE-2B4AA9DD0918}"/>
              </a:ext>
            </a:extLst>
          </p:cNvPr>
          <p:cNvSpPr>
            <a:spLocks noGrp="1"/>
          </p:cNvSpPr>
          <p:nvPr>
            <p:ph idx="1"/>
          </p:nvPr>
        </p:nvSpPr>
        <p:spPr>
          <a:xfrm>
            <a:off x="838200" y="1707775"/>
            <a:ext cx="10515600" cy="5094381"/>
          </a:xfrm>
        </p:spPr>
        <p:txBody>
          <a:bodyPr>
            <a:normAutofit lnSpcReduction="10000"/>
          </a:bodyPr>
          <a:lstStyle/>
          <a:p>
            <a:pPr>
              <a:lnSpc>
                <a:spcPct val="100000"/>
              </a:lnSpc>
              <a:spcBef>
                <a:spcPts val="0"/>
              </a:spcBef>
            </a:pPr>
            <a:r>
              <a:rPr lang="en-US" sz="2400" b="0" i="0" dirty="0">
                <a:effectLst/>
                <a:latin typeface="Arial" panose="020B0604020202020204" pitchFamily="34" charset="0"/>
                <a:cs typeface="Arial" panose="020B0604020202020204" pitchFamily="34" charset="0"/>
              </a:rPr>
              <a:t>The audiences for crosswords and Sudoku, understandably, overlap greatly, but there are differences, too. A crossword attracts a more literary person, while Sudoku appeals to a keenly logical mind. Some crossword enthusiasts turn up their noses at Sudoku because they feel it lacks depth. A good crossword requires vocabulary, knowledge, mental flexibility and sometimes even a sense of humor to complete. It touches numerous areas of life and provides an "Aha!" or two along the way. (_____________)</a:t>
            </a:r>
          </a:p>
          <a:p>
            <a:pPr marL="0" indent="0">
              <a:lnSpc>
                <a:spcPct val="100000"/>
              </a:lnSpc>
              <a:spcBef>
                <a:spcPts val="0"/>
              </a:spcBef>
              <a:buNone/>
            </a:pPr>
            <a:endParaRPr lang="en-US" sz="2400" dirty="0">
              <a:latin typeface="Arial" panose="020B0604020202020204" pitchFamily="34" charset="0"/>
              <a:cs typeface="Arial" panose="020B0604020202020204" pitchFamily="34" charset="0"/>
            </a:endParaRPr>
          </a:p>
          <a:p>
            <a:pPr algn="l">
              <a:lnSpc>
                <a:spcPct val="100000"/>
              </a:lnSpc>
              <a:spcBef>
                <a:spcPts val="0"/>
              </a:spcBef>
            </a:pPr>
            <a:r>
              <a:rPr lang="en-US" sz="2400" dirty="0">
                <a:latin typeface="Arial" panose="020B0604020202020204" pitchFamily="34" charset="0"/>
                <a:cs typeface="Arial" panose="020B0604020202020204" pitchFamily="34" charset="0"/>
              </a:rPr>
              <a:t>S</a:t>
            </a:r>
            <a:r>
              <a:rPr lang="en-US" sz="2400" b="0" i="0" dirty="0">
                <a:effectLst/>
                <a:latin typeface="Arial" panose="020B0604020202020204" pitchFamily="34" charset="0"/>
                <a:cs typeface="Arial" panose="020B0604020202020204" pitchFamily="34" charset="0"/>
              </a:rPr>
              <a:t>udoku, on the other hand, is just a logical exercise, each one similar to the last.</a:t>
            </a:r>
          </a:p>
          <a:p>
            <a:pPr algn="l">
              <a:lnSpc>
                <a:spcPct val="100000"/>
              </a:lnSpc>
              <a:spcBef>
                <a:spcPts val="0"/>
              </a:spcBef>
            </a:pPr>
            <a:r>
              <a:rPr lang="en-US" sz="2400" b="0" i="0" dirty="0">
                <a:effectLst/>
                <a:latin typeface="Arial" panose="020B0604020202020204" pitchFamily="34" charset="0"/>
                <a:cs typeface="Arial" panose="020B0604020202020204" pitchFamily="34" charset="0"/>
              </a:rPr>
              <a:t>Sudoku, incidentally, is growing faster in popularity than crosswords, even among the literati.</a:t>
            </a:r>
          </a:p>
          <a:p>
            <a:pPr algn="l">
              <a:lnSpc>
                <a:spcPct val="100000"/>
              </a:lnSpc>
              <a:spcBef>
                <a:spcPts val="0"/>
              </a:spcBef>
            </a:pPr>
            <a:r>
              <a:rPr lang="en-US" sz="2400" b="0" i="0" dirty="0">
                <a:effectLst/>
                <a:latin typeface="Arial" panose="020B0604020202020204" pitchFamily="34" charset="0"/>
                <a:cs typeface="Arial" panose="020B0604020202020204" pitchFamily="34" charset="0"/>
              </a:rPr>
              <a:t>Sudoku, on the other hand, can be attempted and enjoyed even by children.</a:t>
            </a:r>
          </a:p>
          <a:p>
            <a:pPr algn="l">
              <a:lnSpc>
                <a:spcPct val="100000"/>
              </a:lnSpc>
              <a:spcBef>
                <a:spcPts val="0"/>
              </a:spcBef>
            </a:pPr>
            <a:r>
              <a:rPr lang="en-US" sz="2400" b="0" i="0" dirty="0">
                <a:effectLst/>
                <a:latin typeface="Arial" panose="020B0604020202020204" pitchFamily="34" charset="0"/>
                <a:cs typeface="Arial" panose="020B0604020202020204" pitchFamily="34" charset="0"/>
              </a:rPr>
              <a:t>Sudoku, however, is not exciting in any sense of the term.</a:t>
            </a:r>
          </a:p>
          <a:p>
            <a:pPr>
              <a:lnSpc>
                <a:spcPct val="100000"/>
              </a:lnSpc>
              <a:spcBef>
                <a:spcPts val="0"/>
              </a:spcBef>
            </a:pPr>
            <a:endParaRPr lang="en-GB" sz="24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0CDD560-FD83-0077-7DCC-866D3E865F48}"/>
              </a:ext>
            </a:extLst>
          </p:cNvPr>
          <p:cNvSpPr>
            <a:spLocks noGrp="1"/>
          </p:cNvSpPr>
          <p:nvPr>
            <p:ph type="sldNum" sz="quarter" idx="12"/>
          </p:nvPr>
        </p:nvSpPr>
        <p:spPr/>
        <p:txBody>
          <a:bodyPr/>
          <a:lstStyle/>
          <a:p>
            <a:fld id="{BDCDBBEF-AA6C-4BA6-85B2-A17D7F280E38}" type="slidenum">
              <a:rPr lang="en-US" smtClean="0"/>
              <a:pPr/>
              <a:t>6</a:t>
            </a:fld>
            <a:endParaRPr lang="en-US"/>
          </a:p>
        </p:txBody>
      </p:sp>
      <p:sp>
        <p:nvSpPr>
          <p:cNvPr id="7" name="Rectangle 6">
            <a:extLst>
              <a:ext uri="{FF2B5EF4-FFF2-40B4-BE49-F238E27FC236}">
                <a16:creationId xmlns:a16="http://schemas.microsoft.com/office/drawing/2014/main" id="{FA0C7D43-A520-AA57-333D-919F3ACB1CB9}"/>
              </a:ext>
            </a:extLst>
          </p:cNvPr>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8437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IN" dirty="0">
                <a:latin typeface="Arial Black" pitchFamily="34" charset="0"/>
              </a:rPr>
              <a:t>Strategies</a:t>
            </a:r>
          </a:p>
        </p:txBody>
      </p:sp>
      <p:sp>
        <p:nvSpPr>
          <p:cNvPr id="3" name="Content Placeholder 2"/>
          <p:cNvSpPr>
            <a:spLocks noGrp="1"/>
          </p:cNvSpPr>
          <p:nvPr>
            <p:ph idx="1"/>
          </p:nvPr>
        </p:nvSpPr>
        <p:spPr>
          <a:xfrm>
            <a:off x="838200" y="1825625"/>
            <a:ext cx="10515600" cy="4530725"/>
          </a:xfrm>
          <a:ln>
            <a:solidFill>
              <a:schemeClr val="tx1"/>
            </a:solidFill>
          </a:ln>
        </p:spPr>
        <p:txBody>
          <a:bodyPr>
            <a:noAutofit/>
          </a:bodyPr>
          <a:lstStyle/>
          <a:p>
            <a:pPr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While answering Paragraph Completion questions,</a:t>
            </a:r>
            <a:br>
              <a:rPr lang="en-US" b="0" i="0" dirty="0">
                <a:effectLst/>
                <a:latin typeface="Arial" panose="020B0604020202020204" pitchFamily="34" charset="0"/>
                <a:cs typeface="Arial" panose="020B0604020202020204" pitchFamily="34" charset="0"/>
              </a:rPr>
            </a:br>
            <a:r>
              <a:rPr lang="en-US" b="0" i="0" dirty="0">
                <a:effectLst/>
                <a:latin typeface="Arial" panose="020B0604020202020204" pitchFamily="34" charset="0"/>
                <a:cs typeface="Arial" panose="020B0604020202020204" pitchFamily="34" charset="0"/>
              </a:rPr>
              <a:t> the most important thing to remember is not to </a:t>
            </a:r>
            <a:br>
              <a:rPr lang="en-US" b="0" i="0" dirty="0">
                <a:effectLst/>
                <a:latin typeface="Arial" panose="020B0604020202020204" pitchFamily="34" charset="0"/>
                <a:cs typeface="Arial" panose="020B0604020202020204" pitchFamily="34" charset="0"/>
              </a:rPr>
            </a:br>
            <a:r>
              <a:rPr lang="en-US" b="0" i="0" dirty="0">
                <a:effectLst/>
                <a:latin typeface="Arial" panose="020B0604020202020204" pitchFamily="34" charset="0"/>
                <a:cs typeface="Arial" panose="020B0604020202020204" pitchFamily="34" charset="0"/>
              </a:rPr>
              <a:t>approach the answer option subjectively.</a:t>
            </a:r>
            <a:endParaRPr lang="en-US" dirty="0">
              <a:latin typeface="Arial" panose="020B0604020202020204" pitchFamily="34" charset="0"/>
              <a:cs typeface="Arial" panose="020B0604020202020204" pitchFamily="34" charset="0"/>
            </a:endParaRPr>
          </a:p>
          <a:p>
            <a:pPr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Do not wait till the clues present themselves. Read the paragraph with utmost</a:t>
            </a:r>
            <a:br>
              <a:rPr lang="en-US" b="0" i="0" dirty="0">
                <a:effectLst/>
                <a:latin typeface="Arial" panose="020B0604020202020204" pitchFamily="34" charset="0"/>
                <a:cs typeface="Arial" panose="020B0604020202020204" pitchFamily="34" charset="0"/>
              </a:rPr>
            </a:br>
            <a:r>
              <a:rPr lang="en-US" b="0" i="0" dirty="0">
                <a:effectLst/>
                <a:latin typeface="Arial" panose="020B0604020202020204" pitchFamily="34" charset="0"/>
                <a:cs typeface="Arial" panose="020B0604020202020204" pitchFamily="34" charset="0"/>
              </a:rPr>
              <a:t> involvement. Imagine that you are </a:t>
            </a:r>
            <a:r>
              <a:rPr lang="en-US" b="0" i="1" dirty="0">
                <a:effectLst/>
                <a:latin typeface="Arial" panose="020B0604020202020204" pitchFamily="34" charset="0"/>
                <a:cs typeface="Arial" panose="020B0604020202020204" pitchFamily="34" charset="0"/>
              </a:rPr>
              <a:t>listening</a:t>
            </a:r>
            <a:r>
              <a:rPr lang="en-US" b="0" i="0" dirty="0">
                <a:effectLst/>
                <a:latin typeface="Arial" panose="020B0604020202020204" pitchFamily="34" charset="0"/>
                <a:cs typeface="Arial" panose="020B0604020202020204" pitchFamily="34" charset="0"/>
              </a:rPr>
              <a:t> to the writer. Try to foresee what</a:t>
            </a:r>
            <a:br>
              <a:rPr lang="en-US" b="0" i="0" dirty="0">
                <a:effectLst/>
                <a:latin typeface="Arial" panose="020B0604020202020204" pitchFamily="34" charset="0"/>
                <a:cs typeface="Arial" panose="020B0604020202020204" pitchFamily="34" charset="0"/>
              </a:rPr>
            </a:br>
            <a:r>
              <a:rPr lang="en-US" b="0" i="0" dirty="0">
                <a:effectLst/>
                <a:latin typeface="Arial" panose="020B0604020202020204" pitchFamily="34" charset="0"/>
                <a:cs typeface="Arial" panose="020B0604020202020204" pitchFamily="34" charset="0"/>
              </a:rPr>
              <a:t> is coming, and pick up clues that may present a hint of any of the following patterns.</a:t>
            </a:r>
            <a:endParaRPr lang="en-US" dirty="0">
              <a:latin typeface="Arial" panose="020B0604020202020204" pitchFamily="34" charset="0"/>
              <a:cs typeface="Arial" panose="020B0604020202020204" pitchFamily="34" charset="0"/>
            </a:endParaRPr>
          </a:p>
          <a:p>
            <a:pPr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Elimination can often be as effective a strategy as selection. </a:t>
            </a:r>
            <a:endParaRPr lang="en-US" dirty="0">
              <a:latin typeface="Arial" panose="020B0604020202020204" pitchFamily="34" charset="0"/>
              <a:cs typeface="Arial" panose="020B0604020202020204" pitchFamily="34" charset="0"/>
            </a:endParaRPr>
          </a:p>
          <a:p>
            <a:pPr algn="l">
              <a:buFont typeface="Arial" panose="020B0604020202020204" pitchFamily="34" charset="0"/>
              <a:buChar char="•"/>
            </a:pPr>
            <a:endParaRPr lang="en-US" b="0" i="0" dirty="0">
              <a:effectLst/>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pPr>
              <a:buNone/>
            </a:pPr>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IN" dirty="0">
                <a:latin typeface="Arial Black" pitchFamily="34" charset="0"/>
              </a:rPr>
              <a:t>Strategies (Contd.)</a:t>
            </a:r>
          </a:p>
        </p:txBody>
      </p:sp>
      <p:sp>
        <p:nvSpPr>
          <p:cNvPr id="3" name="Content Placeholder 2"/>
          <p:cNvSpPr>
            <a:spLocks noGrp="1"/>
          </p:cNvSpPr>
          <p:nvPr>
            <p:ph idx="1"/>
          </p:nvPr>
        </p:nvSpPr>
        <p:spPr>
          <a:xfrm>
            <a:off x="838200" y="1825625"/>
            <a:ext cx="10515600" cy="4530725"/>
          </a:xfrm>
          <a:ln>
            <a:solidFill>
              <a:schemeClr val="tx1"/>
            </a:solidFill>
          </a:ln>
        </p:spPr>
        <p:txBody>
          <a:bodyPr>
            <a:noAutofit/>
          </a:bodyPr>
          <a:lstStyle/>
          <a:p>
            <a:pPr algn="l"/>
            <a:r>
              <a:rPr lang="en-US" b="0" i="0" dirty="0">
                <a:effectLst/>
                <a:latin typeface="Arial" panose="020B0604020202020204" pitchFamily="34" charset="0"/>
                <a:cs typeface="Arial" panose="020B0604020202020204" pitchFamily="34" charset="0"/>
              </a:rPr>
              <a:t>Solving Paragraph Completion questions requires a combination of observation, deduction, empathy, and most importantly instinct. A Paragraph Completion question of even moderate difficulty requires us to take a bit of risk. Do not </a:t>
            </a:r>
            <a:br>
              <a:rPr lang="en-US" b="0" i="0" dirty="0">
                <a:effectLst/>
                <a:latin typeface="Arial" panose="020B0604020202020204" pitchFamily="34" charset="0"/>
                <a:cs typeface="Arial" panose="020B0604020202020204" pitchFamily="34" charset="0"/>
              </a:rPr>
            </a:br>
            <a:r>
              <a:rPr lang="en-US" b="0" i="0" dirty="0">
                <a:effectLst/>
                <a:latin typeface="Arial" panose="020B0604020202020204" pitchFamily="34" charset="0"/>
                <a:cs typeface="Arial" panose="020B0604020202020204" pitchFamily="34" charset="0"/>
              </a:rPr>
              <a:t>hesitate to take your chances, for the only way to learn what to</a:t>
            </a:r>
            <a:br>
              <a:rPr lang="en-US" b="0" i="0" dirty="0">
                <a:effectLst/>
                <a:latin typeface="Arial" panose="020B0604020202020204" pitchFamily="34" charset="0"/>
                <a:cs typeface="Arial" panose="020B0604020202020204" pitchFamily="34" charset="0"/>
              </a:rPr>
            </a:br>
            <a:r>
              <a:rPr lang="en-US" b="0" i="0" dirty="0">
                <a:effectLst/>
                <a:latin typeface="Arial" panose="020B0604020202020204" pitchFamily="34" charset="0"/>
                <a:cs typeface="Arial" panose="020B0604020202020204" pitchFamily="34" charset="0"/>
              </a:rPr>
              <a:t> do is to first learn what not to.</a:t>
            </a:r>
          </a:p>
          <a:p>
            <a:pPr algn="l"/>
            <a:r>
              <a:rPr lang="en-US" b="0" i="1" dirty="0">
                <a:effectLst/>
                <a:latin typeface="Arial" panose="020B0604020202020204" pitchFamily="34" charset="0"/>
                <a:cs typeface="Arial" panose="020B0604020202020204" pitchFamily="34" charset="0"/>
              </a:rPr>
              <a:t>“Any truth is better than indefinite doubt”</a:t>
            </a:r>
            <a:r>
              <a:rPr lang="en-US" b="0" i="0" dirty="0">
                <a:effectLst/>
                <a:latin typeface="Arial" panose="020B0604020202020204" pitchFamily="34" charset="0"/>
                <a:cs typeface="Arial" panose="020B0604020202020204" pitchFamily="34" charset="0"/>
              </a:rPr>
              <a:t> – from </a:t>
            </a:r>
            <a:r>
              <a:rPr lang="en-US" b="0" i="1" dirty="0">
                <a:effectLst/>
                <a:latin typeface="Arial" panose="020B0604020202020204" pitchFamily="34" charset="0"/>
                <a:cs typeface="Arial" panose="020B0604020202020204" pitchFamily="34" charset="0"/>
              </a:rPr>
              <a:t>The Yellow Face</a:t>
            </a:r>
            <a:endParaRPr lang="en-US" b="0" i="0" dirty="0">
              <a:effectLst/>
              <a:latin typeface="Arial" panose="020B0604020202020204" pitchFamily="34" charset="0"/>
              <a:cs typeface="Arial" panose="020B0604020202020204" pitchFamily="34" charset="0"/>
            </a:endParaRPr>
          </a:p>
          <a:p>
            <a:pPr algn="l">
              <a:buFont typeface="Arial" panose="020B0604020202020204" pitchFamily="34" charset="0"/>
              <a:buChar char="•"/>
            </a:pPr>
            <a:endParaRPr lang="en-US" b="0" i="0" dirty="0">
              <a:effectLst/>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pPr>
              <a:buNone/>
            </a:pPr>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2459327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noAutofit/>
          </a:bodyPr>
          <a:lstStyle/>
          <a:p>
            <a:pPr algn="ctr"/>
            <a:br>
              <a:rPr lang="en-US" dirty="0">
                <a:latin typeface="Arial Black" pitchFamily="34" charset="0"/>
                <a:cs typeface="Arial" pitchFamily="34" charset="0"/>
              </a:rPr>
            </a:br>
            <a:r>
              <a:rPr lang="en-US" dirty="0">
                <a:latin typeface="Arial Black" pitchFamily="34" charset="0"/>
                <a:cs typeface="Arial" pitchFamily="34" charset="0"/>
              </a:rPr>
              <a:t>Tips and Tricks for Completion</a:t>
            </a:r>
            <a:br>
              <a:rPr lang="en-IN" dirty="0">
                <a:latin typeface="Arial Black" pitchFamily="34" charset="0"/>
              </a:rPr>
            </a:br>
            <a:endParaRPr lang="en-IN" dirty="0">
              <a:latin typeface="Arial Black"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dirty="0"/>
          </a:p>
        </p:txBody>
      </p:sp>
      <p:sp>
        <p:nvSpPr>
          <p:cNvPr id="6" name="Content Placeholder 5">
            <a:extLst>
              <a:ext uri="{FF2B5EF4-FFF2-40B4-BE49-F238E27FC236}">
                <a16:creationId xmlns:a16="http://schemas.microsoft.com/office/drawing/2014/main" id="{129E4E57-FAB9-9418-85B7-5A8C991B8166}"/>
              </a:ext>
            </a:extLst>
          </p:cNvPr>
          <p:cNvSpPr>
            <a:spLocks noGrp="1"/>
          </p:cNvSpPr>
          <p:nvPr>
            <p:ph sz="half" idx="1"/>
          </p:nvPr>
        </p:nvSpPr>
        <p:spPr>
          <a:xfrm>
            <a:off x="838199" y="1825625"/>
            <a:ext cx="10515600" cy="4019363"/>
          </a:xfrm>
        </p:spPr>
        <p:txBody>
          <a:bodyPr>
            <a:noAutofit/>
          </a:bodyPr>
          <a:lstStyle/>
          <a:p>
            <a:r>
              <a:rPr lang="en-US" b="1" i="0" dirty="0">
                <a:solidFill>
                  <a:srgbClr val="262626"/>
                </a:solidFill>
                <a:effectLst/>
                <a:latin typeface="Arial" panose="020B0604020202020204" pitchFamily="34" charset="0"/>
                <a:cs typeface="Arial" panose="020B0604020202020204" pitchFamily="34" charset="0"/>
              </a:rPr>
              <a:t>Tone of the passage: </a:t>
            </a:r>
            <a:br>
              <a:rPr lang="en-US" b="0" i="0" dirty="0">
                <a:solidFill>
                  <a:srgbClr val="262626"/>
                </a:solidFill>
                <a:effectLst/>
                <a:latin typeface="Arial" panose="020B0604020202020204" pitchFamily="34" charset="0"/>
                <a:cs typeface="Arial" panose="020B0604020202020204" pitchFamily="34" charset="0"/>
              </a:rPr>
            </a:br>
            <a:r>
              <a:rPr lang="en-US" b="0" i="0" dirty="0">
                <a:solidFill>
                  <a:srgbClr val="262626"/>
                </a:solidFill>
                <a:effectLst/>
                <a:latin typeface="Arial" panose="020B0604020202020204" pitchFamily="34" charset="0"/>
                <a:cs typeface="Arial" panose="020B0604020202020204" pitchFamily="34" charset="0"/>
              </a:rPr>
              <a:t>When a passage is written it follows a certain tone. This tone will never be changed abruptly. In case there is an option in which the tone of the passage changes bluntly and suddenly, we can easily eliminate the option. In case of change of tone the author will provide certain hints like the usage of words such as - but, however, although, though etc.</a:t>
            </a:r>
          </a:p>
        </p:txBody>
      </p:sp>
      <p:sp>
        <p:nvSpPr>
          <p:cNvPr id="9" name="Rectangle 8">
            <a:extLst>
              <a:ext uri="{FF2B5EF4-FFF2-40B4-BE49-F238E27FC236}">
                <a16:creationId xmlns:a16="http://schemas.microsoft.com/office/drawing/2014/main" id="{CADEAE8B-7BD2-4445-9F5A-C0FF4B6E2718}"/>
              </a:ext>
            </a:extLst>
          </p:cNvPr>
          <p:cNvSpPr/>
          <p:nvPr/>
        </p:nvSpPr>
        <p:spPr>
          <a:xfrm>
            <a:off x="838200" y="1803400"/>
            <a:ext cx="10515600" cy="455295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noAutofit/>
          </a:bodyPr>
          <a:lstStyle/>
          <a:p>
            <a:pPr algn="ctr"/>
            <a:br>
              <a:rPr lang="en-US" dirty="0">
                <a:latin typeface="Arial Black" pitchFamily="34" charset="0"/>
                <a:cs typeface="Arial" pitchFamily="34" charset="0"/>
              </a:rPr>
            </a:br>
            <a:r>
              <a:rPr lang="en-US" dirty="0">
                <a:latin typeface="Arial Black" pitchFamily="34" charset="0"/>
                <a:cs typeface="Arial" pitchFamily="34" charset="0"/>
              </a:rPr>
              <a:t>Tips and Tricks for Completion (Contd.)</a:t>
            </a:r>
            <a:br>
              <a:rPr lang="en-IN" dirty="0">
                <a:latin typeface="Arial Black" pitchFamily="34" charset="0"/>
              </a:rPr>
            </a:br>
            <a:endParaRPr lang="en-IN" dirty="0">
              <a:latin typeface="Arial Black"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dirty="0"/>
          </a:p>
        </p:txBody>
      </p:sp>
      <p:sp>
        <p:nvSpPr>
          <p:cNvPr id="6" name="Content Placeholder 5">
            <a:extLst>
              <a:ext uri="{FF2B5EF4-FFF2-40B4-BE49-F238E27FC236}">
                <a16:creationId xmlns:a16="http://schemas.microsoft.com/office/drawing/2014/main" id="{129E4E57-FAB9-9418-85B7-5A8C991B8166}"/>
              </a:ext>
            </a:extLst>
          </p:cNvPr>
          <p:cNvSpPr>
            <a:spLocks noGrp="1"/>
          </p:cNvSpPr>
          <p:nvPr>
            <p:ph sz="half" idx="1"/>
          </p:nvPr>
        </p:nvSpPr>
        <p:spPr>
          <a:xfrm>
            <a:off x="838199" y="1825625"/>
            <a:ext cx="10515600" cy="4019363"/>
          </a:xfrm>
        </p:spPr>
        <p:txBody>
          <a:bodyPr>
            <a:noAutofit/>
          </a:bodyPr>
          <a:lstStyle/>
          <a:p>
            <a:r>
              <a:rPr lang="en-US" b="1" i="0" dirty="0">
                <a:solidFill>
                  <a:srgbClr val="262626"/>
                </a:solidFill>
                <a:effectLst/>
                <a:latin typeface="Arial" panose="020B0604020202020204" pitchFamily="34" charset="0"/>
                <a:cs typeface="Arial" panose="020B0604020202020204" pitchFamily="34" charset="0"/>
              </a:rPr>
              <a:t>Style of the author: </a:t>
            </a:r>
            <a:br>
              <a:rPr lang="en-US" b="0" i="0" dirty="0">
                <a:solidFill>
                  <a:srgbClr val="262626"/>
                </a:solidFill>
                <a:effectLst/>
                <a:latin typeface="Arial" panose="020B0604020202020204" pitchFamily="34" charset="0"/>
                <a:cs typeface="Arial" panose="020B0604020202020204" pitchFamily="34" charset="0"/>
              </a:rPr>
            </a:br>
            <a:r>
              <a:rPr lang="en-US" b="0" i="0" dirty="0">
                <a:solidFill>
                  <a:srgbClr val="262626"/>
                </a:solidFill>
                <a:effectLst/>
                <a:latin typeface="Arial" panose="020B0604020202020204" pitchFamily="34" charset="0"/>
                <a:cs typeface="Arial" panose="020B0604020202020204" pitchFamily="34" charset="0"/>
              </a:rPr>
              <a:t>Every author has different style of writing, for example some authors use a lot of metaphors, simile etc. While other authors use a very simple language. While solving the question make sure that the option matches with the style of the author.</a:t>
            </a:r>
          </a:p>
          <a:p>
            <a:r>
              <a:rPr lang="en-US" b="1" i="0" dirty="0">
                <a:solidFill>
                  <a:srgbClr val="262626"/>
                </a:solidFill>
                <a:effectLst/>
                <a:latin typeface="Arial" panose="020B0604020202020204" pitchFamily="34" charset="0"/>
                <a:cs typeface="Arial" panose="020B0604020202020204" pitchFamily="34" charset="0"/>
              </a:rPr>
              <a:t>Key words:</a:t>
            </a:r>
            <a:br>
              <a:rPr lang="en-US" b="0" i="0" dirty="0">
                <a:solidFill>
                  <a:srgbClr val="262626"/>
                </a:solidFill>
                <a:effectLst/>
                <a:latin typeface="Arial" panose="020B0604020202020204" pitchFamily="34" charset="0"/>
                <a:cs typeface="Arial" panose="020B0604020202020204" pitchFamily="34" charset="0"/>
              </a:rPr>
            </a:br>
            <a:r>
              <a:rPr lang="en-US" b="0" i="0" dirty="0">
                <a:solidFill>
                  <a:srgbClr val="262626"/>
                </a:solidFill>
                <a:effectLst/>
                <a:latin typeface="Arial" panose="020B0604020202020204" pitchFamily="34" charset="0"/>
                <a:cs typeface="Arial" panose="020B0604020202020204" pitchFamily="34" charset="0"/>
              </a:rPr>
              <a:t> In every paragraph there are certain key words that can be easily identified. If you are able to identify these key words they will help in solving the questions and reaching the appropriate conclusion. Now that we have identified the tricks to solve, let us also look at the tricks for eliminating the options.</a:t>
            </a:r>
            <a:endParaRPr lang="en-GB"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F1603DE0-1DB0-BBE9-92E0-277B120E00BD}"/>
              </a:ext>
            </a:extLst>
          </p:cNvPr>
          <p:cNvSpPr/>
          <p:nvPr/>
        </p:nvSpPr>
        <p:spPr>
          <a:xfrm>
            <a:off x="838200" y="1803400"/>
            <a:ext cx="10515600" cy="455295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1730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normAutofit/>
          </a:bodyPr>
          <a:lstStyle/>
          <a:p>
            <a:pPr algn="ctr"/>
            <a:r>
              <a:rPr lang="en-IN" dirty="0">
                <a:latin typeface="Arial Black" pitchFamily="34" charset="0"/>
              </a:rPr>
              <a:t>Practice question</a:t>
            </a:r>
            <a:br>
              <a:rPr lang="en-IN" dirty="0">
                <a:latin typeface="Arial Black" pitchFamily="34" charset="0"/>
              </a:rPr>
            </a:br>
            <a:endParaRPr lang="en-IN" dirty="0">
              <a:latin typeface="Arial Black" pitchFamily="34" charset="0"/>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TextBox 6"/>
          <p:cNvSpPr txBox="1"/>
          <p:nvPr/>
        </p:nvSpPr>
        <p:spPr>
          <a:xfrm>
            <a:off x="7811589" y="6217920"/>
            <a:ext cx="278238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itchFamily="34" charset="0"/>
                <a:ea typeface="+mn-ea"/>
                <a:cs typeface="Arial" pitchFamily="34" charset="0"/>
              </a:rPr>
              <a:t>Pinterest.com</a:t>
            </a:r>
            <a:endParaRPr kumimoji="0" lang="en-IN" sz="12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6" name="Content Placeholder 5">
            <a:extLst>
              <a:ext uri="{FF2B5EF4-FFF2-40B4-BE49-F238E27FC236}">
                <a16:creationId xmlns:a16="http://schemas.microsoft.com/office/drawing/2014/main" id="{129E4E57-FAB9-9418-85B7-5A8C991B8166}"/>
              </a:ext>
            </a:extLst>
          </p:cNvPr>
          <p:cNvSpPr>
            <a:spLocks noGrp="1"/>
          </p:cNvSpPr>
          <p:nvPr>
            <p:ph sz="half" idx="1"/>
          </p:nvPr>
        </p:nvSpPr>
        <p:spPr>
          <a:xfrm>
            <a:off x="838199" y="1812178"/>
            <a:ext cx="10515600" cy="4360022"/>
          </a:xfrm>
        </p:spPr>
        <p:txBody>
          <a:bodyPr>
            <a:normAutofit fontScale="92500" lnSpcReduction="20000"/>
          </a:bodyPr>
          <a:lstStyle/>
          <a:p>
            <a:pPr algn="l"/>
            <a:r>
              <a:rPr lang="en-US" sz="2400" b="1" i="0" dirty="0">
                <a:solidFill>
                  <a:srgbClr val="262626"/>
                </a:solidFill>
                <a:effectLst/>
                <a:latin typeface="Arial" panose="020B0604020202020204" pitchFamily="34" charset="0"/>
                <a:cs typeface="Arial" panose="020B0604020202020204" pitchFamily="34" charset="0"/>
              </a:rPr>
              <a:t>Q: Chose the most appropriate option for paragraph completion</a:t>
            </a:r>
            <a:r>
              <a:rPr lang="en-US" sz="2400" b="0" i="0" dirty="0">
                <a:solidFill>
                  <a:srgbClr val="262626"/>
                </a:solidFill>
                <a:effectLst/>
                <a:latin typeface="Arial" panose="020B0604020202020204" pitchFamily="34" charset="0"/>
                <a:cs typeface="Arial" panose="020B0604020202020204" pitchFamily="34" charset="0"/>
              </a:rPr>
              <a:t>,</a:t>
            </a:r>
          </a:p>
          <a:p>
            <a:pPr algn="l"/>
            <a:r>
              <a:rPr lang="en-US" sz="2400" b="0" i="0" dirty="0">
                <a:solidFill>
                  <a:srgbClr val="262626"/>
                </a:solidFill>
                <a:effectLst/>
                <a:latin typeface="Arial" panose="020B0604020202020204" pitchFamily="34" charset="0"/>
                <a:cs typeface="Arial" panose="020B0604020202020204" pitchFamily="34" charset="0"/>
              </a:rPr>
              <a:t>India, ever since independence has been a labor-intensive economy. It has been a factor for many industries, the advantage India provides cheap skilled and unskilled labor. While this is an initial advantage, it is not an enduring advantage. For one, as the products get more sophisticated, the price of labor gets less important a factor. Then, the increasing level of automation narrows the cost advantage of cheap labor. And any poorer country can provide cheaper labor to compete with India. Thus, to remain competitive, India needs to, __________</a:t>
            </a:r>
            <a:br>
              <a:rPr lang="en-US" sz="2400" b="0" i="0" dirty="0">
                <a:solidFill>
                  <a:srgbClr val="262626"/>
                </a:solidFill>
                <a:effectLst/>
                <a:latin typeface="Arial" panose="020B0604020202020204" pitchFamily="34" charset="0"/>
                <a:cs typeface="Arial" panose="020B0604020202020204" pitchFamily="34" charset="0"/>
              </a:rPr>
            </a:br>
            <a:endParaRPr lang="en-US" sz="2400" b="0" i="0" dirty="0">
              <a:solidFill>
                <a:srgbClr val="262626"/>
              </a:solidFill>
              <a:effectLst/>
              <a:latin typeface="Arial" panose="020B0604020202020204" pitchFamily="34" charset="0"/>
              <a:cs typeface="Arial" panose="020B0604020202020204" pitchFamily="34" charset="0"/>
            </a:endParaRPr>
          </a:p>
          <a:p>
            <a:pPr algn="l"/>
            <a:r>
              <a:rPr lang="en-US" sz="2400" b="0" i="0" dirty="0">
                <a:solidFill>
                  <a:srgbClr val="262626"/>
                </a:solidFill>
                <a:effectLst/>
                <a:latin typeface="Arial" panose="020B0604020202020204" pitchFamily="34" charset="0"/>
                <a:cs typeface="Arial" panose="020B0604020202020204" pitchFamily="34" charset="0"/>
              </a:rPr>
              <a:t>a. Ensure to maintain its advantage by constantly lowering labor prices</a:t>
            </a:r>
          </a:p>
          <a:p>
            <a:pPr algn="l"/>
            <a:r>
              <a:rPr lang="en-US" sz="2400" b="0" i="0" dirty="0">
                <a:solidFill>
                  <a:srgbClr val="262626"/>
                </a:solidFill>
                <a:effectLst/>
                <a:latin typeface="Arial" panose="020B0604020202020204" pitchFamily="34" charset="0"/>
                <a:cs typeface="Arial" panose="020B0604020202020204" pitchFamily="34" charset="0"/>
              </a:rPr>
              <a:t>b. Try to avoid competition with countries providing cheaper labor</a:t>
            </a:r>
          </a:p>
          <a:p>
            <a:pPr algn="l"/>
            <a:r>
              <a:rPr lang="en-US" sz="2400" b="0" i="0" dirty="0">
                <a:solidFill>
                  <a:srgbClr val="262626"/>
                </a:solidFill>
                <a:effectLst/>
                <a:latin typeface="Arial" panose="020B0604020202020204" pitchFamily="34" charset="0"/>
                <a:cs typeface="Arial" panose="020B0604020202020204" pitchFamily="34" charset="0"/>
              </a:rPr>
              <a:t>c. develop other advantages to compensate for the inevitable loss from a temporary advantage</a:t>
            </a:r>
          </a:p>
          <a:p>
            <a:pPr algn="l"/>
            <a:r>
              <a:rPr lang="en-US" sz="2400" b="0" i="0" dirty="0">
                <a:solidFill>
                  <a:srgbClr val="262626"/>
                </a:solidFill>
                <a:effectLst/>
                <a:latin typeface="Arial" panose="020B0604020202020204" pitchFamily="34" charset="0"/>
                <a:cs typeface="Arial" panose="020B0604020202020204" pitchFamily="34" charset="0"/>
              </a:rPr>
              <a:t>d. keep on its path without worry</a:t>
            </a:r>
          </a:p>
          <a:p>
            <a:endParaRPr lang="en-GB" sz="24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242312E9-36DF-467D-AD47-079811652A80}"/>
              </a:ext>
            </a:extLst>
          </p:cNvPr>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4719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normAutofit/>
          </a:bodyPr>
          <a:lstStyle/>
          <a:p>
            <a:pPr algn="ctr"/>
            <a:r>
              <a:rPr lang="en-IN" dirty="0">
                <a:latin typeface="Arial Black" pitchFamily="34" charset="0"/>
              </a:rPr>
              <a:t>Answer</a:t>
            </a:r>
            <a:br>
              <a:rPr lang="en-IN" dirty="0">
                <a:latin typeface="Arial Black" pitchFamily="34" charset="0"/>
              </a:rPr>
            </a:br>
            <a:endParaRPr lang="en-IN" dirty="0">
              <a:latin typeface="Arial Black" pitchFamily="34" charset="0"/>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TextBox 6"/>
          <p:cNvSpPr txBox="1"/>
          <p:nvPr/>
        </p:nvSpPr>
        <p:spPr>
          <a:xfrm>
            <a:off x="7811589" y="6217920"/>
            <a:ext cx="278238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itchFamily="34" charset="0"/>
                <a:ea typeface="+mn-ea"/>
                <a:cs typeface="Arial" pitchFamily="34" charset="0"/>
              </a:rPr>
              <a:t>Pinterest.com</a:t>
            </a:r>
            <a:endParaRPr kumimoji="0" lang="en-IN" sz="12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6" name="Content Placeholder 5">
            <a:extLst>
              <a:ext uri="{FF2B5EF4-FFF2-40B4-BE49-F238E27FC236}">
                <a16:creationId xmlns:a16="http://schemas.microsoft.com/office/drawing/2014/main" id="{129E4E57-FAB9-9418-85B7-5A8C991B8166}"/>
              </a:ext>
            </a:extLst>
          </p:cNvPr>
          <p:cNvSpPr>
            <a:spLocks noGrp="1"/>
          </p:cNvSpPr>
          <p:nvPr>
            <p:ph sz="half" idx="1"/>
          </p:nvPr>
        </p:nvSpPr>
        <p:spPr>
          <a:xfrm>
            <a:off x="838199" y="1825626"/>
            <a:ext cx="6369425" cy="3795246"/>
          </a:xfrm>
        </p:spPr>
        <p:txBody>
          <a:bodyPr>
            <a:normAutofit/>
          </a:bodyPr>
          <a:lstStyle/>
          <a:p>
            <a:pPr marL="0" indent="0" algn="l">
              <a:buNone/>
            </a:pPr>
            <a:r>
              <a:rPr lang="en-US" b="0" i="0" dirty="0">
                <a:solidFill>
                  <a:srgbClr val="262626"/>
                </a:solidFill>
                <a:effectLst/>
                <a:latin typeface="Arial" panose="020B0604020202020204" pitchFamily="34" charset="0"/>
                <a:cs typeface="Arial" panose="020B0604020202020204" pitchFamily="34" charset="0"/>
              </a:rPr>
              <a:t>The correct answer is </a:t>
            </a:r>
            <a:r>
              <a:rPr lang="en-US" b="1" i="0" dirty="0">
                <a:solidFill>
                  <a:srgbClr val="262626"/>
                </a:solidFill>
                <a:effectLst/>
                <a:latin typeface="Arial" panose="020B0604020202020204" pitchFamily="34" charset="0"/>
                <a:cs typeface="Arial" panose="020B0604020202020204" pitchFamily="34" charset="0"/>
              </a:rPr>
              <a:t>C</a:t>
            </a:r>
            <a:r>
              <a:rPr lang="en-US" b="0" i="0" dirty="0">
                <a:solidFill>
                  <a:srgbClr val="262626"/>
                </a:solidFill>
                <a:effectLst/>
                <a:latin typeface="Arial" panose="020B0604020202020204" pitchFamily="34" charset="0"/>
                <a:cs typeface="Arial" panose="020B0604020202020204" pitchFamily="34" charset="0"/>
              </a:rPr>
              <a:t>. It is the only option that matches the tone and the direction of the passage. </a:t>
            </a:r>
          </a:p>
          <a:p>
            <a:pPr marL="0" indent="0" algn="l">
              <a:buNone/>
            </a:pPr>
            <a:r>
              <a:rPr lang="en-US" b="1" i="0" dirty="0">
                <a:solidFill>
                  <a:srgbClr val="262626"/>
                </a:solidFill>
                <a:effectLst/>
                <a:latin typeface="Arial" panose="020B0604020202020204" pitchFamily="34" charset="0"/>
                <a:cs typeface="Arial" panose="020B0604020202020204" pitchFamily="34" charset="0"/>
              </a:rPr>
              <a:t>It concludes the paragraph logically and in agreement with the sentiments of the author.</a:t>
            </a:r>
            <a:endParaRPr lang="en-GB" b="1" dirty="0">
              <a:latin typeface="Arial" panose="020B0604020202020204" pitchFamily="34" charset="0"/>
              <a:cs typeface="Arial" panose="020B0604020202020204" pitchFamily="34" charset="0"/>
            </a:endParaRPr>
          </a:p>
        </p:txBody>
      </p:sp>
      <p:pic>
        <p:nvPicPr>
          <p:cNvPr id="9" name="Content Placeholder 8">
            <a:extLst>
              <a:ext uri="{FF2B5EF4-FFF2-40B4-BE49-F238E27FC236}">
                <a16:creationId xmlns:a16="http://schemas.microsoft.com/office/drawing/2014/main" id="{F2556AA3-38D6-71AD-5293-8A9AFBCE6CF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281862" y="1825625"/>
            <a:ext cx="3968844" cy="3795246"/>
          </a:xfrm>
        </p:spPr>
      </p:pic>
      <p:sp>
        <p:nvSpPr>
          <p:cNvPr id="10" name="Rectangle 9">
            <a:extLst>
              <a:ext uri="{FF2B5EF4-FFF2-40B4-BE49-F238E27FC236}">
                <a16:creationId xmlns:a16="http://schemas.microsoft.com/office/drawing/2014/main" id="{0676EF39-1051-7181-D7EF-6543A4BBA76D}"/>
              </a:ext>
            </a:extLst>
          </p:cNvPr>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967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14005" y="5394447"/>
            <a:ext cx="3236784" cy="461665"/>
          </a:xfrm>
          <a:prstGeom prst="rect">
            <a:avLst/>
          </a:prstGeom>
        </p:spPr>
        <p:txBody>
          <a:bodyPr wrap="none">
            <a:spAutoFit/>
          </a:bodyPr>
          <a:lstStyle/>
          <a:p>
            <a:r>
              <a:rPr lang="en-US" sz="1200" dirty="0">
                <a:latin typeface="Arial" pitchFamily="34" charset="0"/>
                <a:ea typeface="Segoe UI" panose="020B0502040204020203" pitchFamily="34" charset="0"/>
                <a:cs typeface="Arial" pitchFamily="34" charset="0"/>
              </a:rPr>
              <a:t>For queries</a:t>
            </a:r>
          </a:p>
          <a:p>
            <a:r>
              <a:rPr lang="en-US" sz="1200" dirty="0">
                <a:latin typeface="Arial" pitchFamily="34" charset="0"/>
                <a:cs typeface="Arial" pitchFamily="34" charset="0"/>
              </a:rPr>
              <a:t>Email: communicationskills.uilah@gmail.com</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1440</TotalTime>
  <Words>1163</Words>
  <Application>Microsoft Office PowerPoint</Application>
  <PresentationFormat>Widescreen</PresentationFormat>
  <Paragraphs>106</Paragraphs>
  <Slides>13</Slides>
  <Notes>0</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13</vt:i4>
      </vt:variant>
    </vt:vector>
  </HeadingPairs>
  <TitlesOfParts>
    <vt:vector size="25" baseType="lpstr">
      <vt:lpstr>Arial</vt:lpstr>
      <vt:lpstr>Arial Black</vt:lpstr>
      <vt:lpstr>Calibri</vt:lpstr>
      <vt:lpstr>Calibri Light</vt:lpstr>
      <vt:lpstr>Casper</vt:lpstr>
      <vt:lpstr>Karla</vt:lpstr>
      <vt:lpstr>Raleway ExtraBold</vt:lpstr>
      <vt:lpstr>Times New Roman</vt:lpstr>
      <vt:lpstr>Wingdings</vt:lpstr>
      <vt:lpstr>1_Office Theme</vt:lpstr>
      <vt:lpstr>Contents Slide Master</vt:lpstr>
      <vt:lpstr>CorelDRAW</vt:lpstr>
      <vt:lpstr>PowerPoint Presentation</vt:lpstr>
      <vt:lpstr>COURSE OBJECTIVES </vt:lpstr>
      <vt:lpstr>COURSE OUTCOMES</vt:lpstr>
      <vt:lpstr>Paragraph Completion  </vt:lpstr>
      <vt:lpstr>Paragraph Completion   </vt:lpstr>
      <vt:lpstr>Example to Understand</vt:lpstr>
      <vt:lpstr>Strategies</vt:lpstr>
      <vt:lpstr>Strategies (Contd.)</vt:lpstr>
      <vt:lpstr> Tips and Tricks for Completion </vt:lpstr>
      <vt:lpstr> Tips and Tricks for Completion (Contd.) </vt:lpstr>
      <vt:lpstr>Practice question </vt:lpstr>
      <vt:lpstr>Answer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Vishal Monga</cp:lastModifiedBy>
  <cp:revision>221</cp:revision>
  <dcterms:created xsi:type="dcterms:W3CDTF">2019-01-09T10:33:58Z</dcterms:created>
  <dcterms:modified xsi:type="dcterms:W3CDTF">2023-07-17T06:47:31Z</dcterms:modified>
</cp:coreProperties>
</file>