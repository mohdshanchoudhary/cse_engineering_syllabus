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3"/>
  </p:notesMasterIdLst>
  <p:handoutMasterIdLst>
    <p:handoutMasterId r:id="rId24"/>
  </p:handoutMasterIdLst>
  <p:sldIdLst>
    <p:sldId id="387" r:id="rId3"/>
    <p:sldId id="375" r:id="rId4"/>
    <p:sldId id="311" r:id="rId5"/>
    <p:sldId id="290" r:id="rId6"/>
    <p:sldId id="377" r:id="rId7"/>
    <p:sldId id="378" r:id="rId8"/>
    <p:sldId id="330" r:id="rId9"/>
    <p:sldId id="381" r:id="rId10"/>
    <p:sldId id="374" r:id="rId11"/>
    <p:sldId id="331" r:id="rId12"/>
    <p:sldId id="367" r:id="rId13"/>
    <p:sldId id="368" r:id="rId14"/>
    <p:sldId id="327" r:id="rId15"/>
    <p:sldId id="342" r:id="rId16"/>
    <p:sldId id="343" r:id="rId17"/>
    <p:sldId id="344" r:id="rId18"/>
    <p:sldId id="345" r:id="rId19"/>
    <p:sldId id="346" r:id="rId20"/>
    <p:sldId id="382" r:id="rId21"/>
    <p:sldId id="28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5" autoAdjust="0"/>
    <p:restoredTop sz="95532" autoAdjust="0"/>
  </p:normalViewPr>
  <p:slideViewPr>
    <p:cSldViewPr snapToGrid="0">
      <p:cViewPr varScale="1">
        <p:scale>
          <a:sx n="67" d="100"/>
          <a:sy n="67" d="100"/>
        </p:scale>
        <p:origin x="84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7/17/2023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7/17/2023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https://</a:t>
            </a:r>
            <a:r>
              <a:rPr lang="en-US" sz="1200" dirty="0" err="1">
                <a:latin typeface="Arial" panose="020B0604020202020204" pitchFamily="34" charset="0"/>
                <a:cs typeface="Arial" panose="020B0604020202020204" pitchFamily="34" charset="0"/>
              </a:rPr>
              <a:t>www.google.com</a:t>
            </a:r>
            <a:r>
              <a:rPr lang="en-US" sz="1200" dirty="0">
                <a:latin typeface="Arial" panose="020B0604020202020204" pitchFamily="34" charset="0"/>
                <a:cs typeface="Arial" panose="020B0604020202020204" pitchFamily="34" charset="0"/>
              </a:rPr>
              <a:t>/</a:t>
            </a:r>
            <a:r>
              <a:rPr lang="en-US" sz="1200" dirty="0" err="1">
                <a:latin typeface="Arial" panose="020B0604020202020204" pitchFamily="34" charset="0"/>
                <a:cs typeface="Arial" panose="020B0604020202020204" pitchFamily="34" charset="0"/>
              </a:rPr>
              <a:t>url?sa</a:t>
            </a:r>
            <a:r>
              <a:rPr lang="en-US" sz="1200" dirty="0">
                <a:latin typeface="Arial" panose="020B0604020202020204" pitchFamily="34" charset="0"/>
                <a:cs typeface="Arial" panose="020B0604020202020204" pitchFamily="34" charset="0"/>
              </a:rPr>
              <a:t>=</a:t>
            </a:r>
            <a:r>
              <a:rPr lang="en-US" sz="1200" dirty="0" err="1">
                <a:latin typeface="Arial" panose="020B0604020202020204" pitchFamily="34" charset="0"/>
                <a:cs typeface="Arial" panose="020B0604020202020204" pitchFamily="34" charset="0"/>
              </a:rPr>
              <a:t>i&amp;url</a:t>
            </a:r>
            <a:r>
              <a:rPr lang="en-US" sz="1200" dirty="0">
                <a:latin typeface="Arial" panose="020B0604020202020204" pitchFamily="34" charset="0"/>
                <a:cs typeface="Arial" panose="020B0604020202020204" pitchFamily="34" charset="0"/>
              </a:rPr>
              <a:t>=https%3A%2F%2Fsloanreview.mit.edu%2Farticle%2Ffive-ways-to-improve-communication-in-virtual-teams%2F&amp;psig=AOvVaw0TTElm7CjMaUyvrnZ7z0V9&amp;ust=1591773620787000&amp;source=</a:t>
            </a:r>
            <a:r>
              <a:rPr lang="en-US" sz="1200" dirty="0" err="1">
                <a:latin typeface="Arial" panose="020B0604020202020204" pitchFamily="34" charset="0"/>
                <a:cs typeface="Arial" panose="020B0604020202020204" pitchFamily="34" charset="0"/>
              </a:rPr>
              <a:t>images&amp;cd</a:t>
            </a:r>
            <a:r>
              <a:rPr lang="en-US" sz="1200" dirty="0">
                <a:latin typeface="Arial" panose="020B0604020202020204" pitchFamily="34" charset="0"/>
                <a:cs typeface="Arial" panose="020B0604020202020204" pitchFamily="34" charset="0"/>
              </a:rPr>
              <a:t>=</a:t>
            </a:r>
            <a:r>
              <a:rPr lang="en-US" sz="1200" dirty="0" err="1">
                <a:latin typeface="Arial" panose="020B0604020202020204" pitchFamily="34" charset="0"/>
                <a:cs typeface="Arial" panose="020B0604020202020204" pitchFamily="34" charset="0"/>
              </a:rPr>
              <a:t>vfe&amp;ved</a:t>
            </a:r>
            <a:r>
              <a:rPr lang="en-US" sz="1200" dirty="0">
                <a:latin typeface="Arial" panose="020B0604020202020204" pitchFamily="34" charset="0"/>
                <a:cs typeface="Arial" panose="020B0604020202020204" pitchFamily="34" charset="0"/>
              </a:rPr>
              <a:t>=0CAIQjRxqFwoTCKi454SZ9OkCFQAAAAAdAAAAABAO</a:t>
            </a:r>
          </a:p>
        </p:txBody>
      </p:sp>
      <p:sp>
        <p:nvSpPr>
          <p:cNvPr id="4" name="Slide Number Placeholder 3"/>
          <p:cNvSpPr>
            <a:spLocks noGrp="1"/>
          </p:cNvSpPr>
          <p:nvPr>
            <p:ph type="sldNum" sz="quarter" idx="5"/>
          </p:nvPr>
        </p:nvSpPr>
        <p:spPr/>
        <p:txBody>
          <a:bodyPr/>
          <a:lstStyle/>
          <a:p>
            <a:fld id="{60732FBC-CC67-4B17-8935-02F23E3364AC}" type="slidenum">
              <a:rPr lang="en-US" smtClean="0"/>
              <a:pPr/>
              <a:t>3</a:t>
            </a:fld>
            <a:endParaRPr lang="en-US"/>
          </a:p>
        </p:txBody>
      </p:sp>
    </p:spTree>
    <p:extLst>
      <p:ext uri="{BB962C8B-B14F-4D97-AF65-F5344CB8AC3E}">
        <p14:creationId xmlns:p14="http://schemas.microsoft.com/office/powerpoint/2010/main" val="34562349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7/17/2023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indeed.com/career-advice/careerdevelopment/how-to-write-a-professional-email" TargetMode="External"/><Relationship Id="rId2" Type="http://schemas.openxmlformats.org/officeDocument/2006/relationships/hyperlink" Target="https://jerz.setonhill.edu/writing/e-text/email/" TargetMode="External"/><Relationship Id="rId1" Type="http://schemas.openxmlformats.org/officeDocument/2006/relationships/slideLayout" Target="../slideLayouts/slideLayout2.xml"/><Relationship Id="rId5" Type="http://schemas.openxmlformats.org/officeDocument/2006/relationships/hyperlink" Target="http://www.slideshare.net/bhunuzz/tele-conferencing-and-video-conferencing" TargetMode="External"/><Relationship Id="rId4" Type="http://schemas.openxmlformats.org/officeDocument/2006/relationships/hyperlink" Target="https://turbofuture.com/internet/Disadvantages-of-Emai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2"/>
                      <p:cNvPicPr>
                        <a:picLocks noChangeAspect="1" noChangeArrowheads="1"/>
                      </p:cNvPicPr>
                      <p:nvPr/>
                    </p:nvPicPr>
                    <p:blipFill>
                      <a:blip r:embed="rId3">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4" cstate="print">
            <a:extLst>
              <a:ext uri="{BEBA8EAE-BF5A-486C-A8C5-ECC9F3942E4B}">
                <a14:imgProps xmlns:a14="http://schemas.microsoft.com/office/drawing/2010/main">
                  <a14:imgLayer>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55050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438716" y="6057781"/>
            <a:ext cx="6432043"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Email writing</a:t>
            </a:r>
          </a:p>
          <a:p>
            <a:endParaRPr lang="en-US" sz="1600" dirty="0">
              <a:latin typeface="Raleway ExtraBold" pitchFamily="34" charset="-52"/>
            </a:endParaRPr>
          </a:p>
        </p:txBody>
      </p:sp>
      <p:sp>
        <p:nvSpPr>
          <p:cNvPr id="15" name="TextBox 14"/>
          <p:cNvSpPr txBox="1">
            <a:spLocks noChangeArrowheads="1"/>
          </p:cNvSpPr>
          <p:nvPr/>
        </p:nvSpPr>
        <p:spPr bwMode="auto">
          <a:xfrm>
            <a:off x="998861" y="1963005"/>
            <a:ext cx="9612429"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Arial Black" panose="020B0A04020102020204" pitchFamily="34" charset="0"/>
                <a:ea typeface="Karla" pitchFamily="2" charset="0"/>
                <a:cs typeface="Karla" pitchFamily="2" charset="0"/>
              </a:rPr>
              <a:t>University Institute of Liberal Arts and Humanities</a:t>
            </a:r>
          </a:p>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Course Name – Communication Skills</a:t>
            </a:r>
          </a:p>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Course Code – 23PCH-105</a:t>
            </a:r>
          </a:p>
          <a:p>
            <a:pPr algn="ctr" defTabSz="622300">
              <a:lnSpc>
                <a:spcPct val="90000"/>
              </a:lnSpc>
              <a:spcBef>
                <a:spcPct val="0"/>
              </a:spcBef>
              <a:spcAft>
                <a:spcPct val="35000"/>
              </a:spcAft>
            </a:pPr>
            <a:endParaRPr lang="en-US" sz="3200" dirty="0">
              <a:latin typeface="Times New Roman" pitchFamily="18" charset="0"/>
              <a:cs typeface="Times New Roman" pitchFamily="18" charset="0"/>
            </a:endParaRPr>
          </a:p>
          <a:p>
            <a:pPr algn="ctr" defTabSz="622300">
              <a:lnSpc>
                <a:spcPct val="90000"/>
              </a:lnSpc>
              <a:spcBef>
                <a:spcPct val="0"/>
              </a:spcBef>
              <a:spcAft>
                <a:spcPct val="35000"/>
              </a:spcAft>
            </a:pPr>
            <a:endParaRPr lang="en-US" sz="2000" dirty="0">
              <a:latin typeface="Raleway ExtraBold" pitchFamily="34" charset="-52"/>
            </a:endParaRP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2156142" y="629692"/>
            <a:ext cx="781081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dirty="0">
                <a:latin typeface="Arial Black" pitchFamily="34" charset="0"/>
                <a:ea typeface="Karla" pitchFamily="2" charset="0"/>
                <a:cs typeface="Karla" pitchFamily="2" charset="0"/>
              </a:rPr>
              <a:t>COURSE OBJECTIVES</a:t>
            </a:r>
            <a:br>
              <a:rPr lang="en-US" sz="2000"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p:cNvGraphicFramePr>
            <a:graphicFrameLocks noGrp="1"/>
          </p:cNvGraphicFramePr>
          <p:nvPr/>
        </p:nvGraphicFramePr>
        <p:xfrm>
          <a:off x="660698" y="2285999"/>
          <a:ext cx="10708342" cy="3770907"/>
        </p:xfrm>
        <a:graphic>
          <a:graphicData uri="http://schemas.openxmlformats.org/drawingml/2006/table">
            <a:tbl>
              <a:tblPr firstRow="1" firstCol="1" bandRow="1">
                <a:tableStyleId>{5940675A-B579-460E-94D1-54222C63F5DA}</a:tableStyleId>
              </a:tblPr>
              <a:tblGrid>
                <a:gridCol w="1413086">
                  <a:extLst>
                    <a:ext uri="{9D8B030D-6E8A-4147-A177-3AD203B41FA5}">
                      <a16:colId xmlns:a16="http://schemas.microsoft.com/office/drawing/2014/main" val="20000"/>
                    </a:ext>
                  </a:extLst>
                </a:gridCol>
                <a:gridCol w="9295256">
                  <a:extLst>
                    <a:ext uri="{9D8B030D-6E8A-4147-A177-3AD203B41FA5}">
                      <a16:colId xmlns:a16="http://schemas.microsoft.com/office/drawing/2014/main" val="20001"/>
                    </a:ext>
                  </a:extLst>
                </a:gridCol>
              </a:tblGrid>
              <a:tr h="1186795">
                <a:tc>
                  <a:txBody>
                    <a:bodyPr/>
                    <a:lstStyle/>
                    <a:p>
                      <a:pPr marL="0" marR="0" algn="ctr">
                        <a:lnSpc>
                          <a:spcPct val="100000"/>
                        </a:lnSpc>
                        <a:spcBef>
                          <a:spcPts val="0"/>
                        </a:spcBef>
                        <a:spcAft>
                          <a:spcPts val="0"/>
                        </a:spcAft>
                      </a:pPr>
                      <a:r>
                        <a:rPr lang="en-US" sz="2400" b="1" dirty="0">
                          <a:solidFill>
                            <a:schemeClr val="tx1"/>
                          </a:solidFill>
                          <a:effectLst/>
                        </a:rPr>
                        <a:t>1</a:t>
                      </a:r>
                      <a:endPar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0000"/>
                        </a:lnSpc>
                        <a:spcBef>
                          <a:spcPts val="0"/>
                        </a:spcBef>
                        <a:spcAft>
                          <a:spcPts val="0"/>
                        </a:spcAft>
                      </a:pPr>
                      <a:r>
                        <a:rPr lang="en-US" sz="2400" b="0" kern="1200" dirty="0">
                          <a:solidFill>
                            <a:schemeClr val="tx1"/>
                          </a:solidFill>
                          <a:latin typeface="Arial" pitchFamily="34" charset="0"/>
                          <a:ea typeface="+mn-ea"/>
                          <a:cs typeface="Arial" pitchFamily="34" charset="0"/>
                        </a:rPr>
                        <a:t>Augment students overall communication and interpersonal skills by making them realize the importance of good oral and written English Language in professional life.</a:t>
                      </a:r>
                      <a:endParaRPr lang="en-US" sz="2400" b="0" dirty="0">
                        <a:solidFill>
                          <a:schemeClr val="tx1"/>
                        </a:solidFill>
                        <a:effectLst/>
                        <a:latin typeface="Arial" pitchFamily="34" charset="0"/>
                        <a:ea typeface="Times New Roman" panose="02020603050405020304" pitchFamily="18" charset="0"/>
                        <a:cs typeface="Arial" pitchFamily="34" charset="0"/>
                      </a:endParaRPr>
                    </a:p>
                  </a:txBody>
                  <a:tcPr marL="68580" marR="68580" marT="0" marB="0"/>
                </a:tc>
                <a:extLst>
                  <a:ext uri="{0D108BD9-81ED-4DB2-BD59-A6C34878D82A}">
                    <a16:rowId xmlns:a16="http://schemas.microsoft.com/office/drawing/2014/main" val="10000"/>
                  </a:ext>
                </a:extLst>
              </a:tr>
              <a:tr h="743416">
                <a:tc>
                  <a:txBody>
                    <a:bodyPr/>
                    <a:lstStyle/>
                    <a:p>
                      <a:pPr marL="0" marR="0" algn="ctr">
                        <a:lnSpc>
                          <a:spcPct val="100000"/>
                        </a:lnSpc>
                        <a:spcBef>
                          <a:spcPts val="0"/>
                        </a:spcBef>
                        <a:spcAft>
                          <a:spcPts val="0"/>
                        </a:spcAft>
                      </a:pPr>
                      <a:r>
                        <a:rPr lang="en-US" sz="2400" b="1" dirty="0">
                          <a:solidFill>
                            <a:schemeClr val="tx1"/>
                          </a:solidFill>
                          <a:effectLst/>
                        </a:rPr>
                        <a:t>2</a:t>
                      </a:r>
                      <a:endPar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0000"/>
                        </a:lnSpc>
                        <a:spcBef>
                          <a:spcPts val="0"/>
                        </a:spcBef>
                        <a:spcAft>
                          <a:spcPts val="0"/>
                        </a:spcAft>
                      </a:pPr>
                      <a:r>
                        <a:rPr lang="en-US" sz="2400" b="0" kern="1200" dirty="0">
                          <a:solidFill>
                            <a:schemeClr val="tx1"/>
                          </a:solidFill>
                          <a:latin typeface="Arial" pitchFamily="34" charset="0"/>
                          <a:ea typeface="+mn-ea"/>
                          <a:cs typeface="Arial" pitchFamily="34" charset="0"/>
                        </a:rPr>
                        <a:t>Enrich their reading capability with special emphasis on expanding vocabulary and grammatical formations.</a:t>
                      </a:r>
                      <a:endParaRPr lang="en-US" sz="2400" b="0" dirty="0">
                        <a:solidFill>
                          <a:schemeClr val="tx1"/>
                        </a:solidFill>
                        <a:effectLst/>
                        <a:latin typeface="Arial" pitchFamily="34" charset="0"/>
                        <a:ea typeface="Times New Roman" panose="02020603050405020304" pitchFamily="18" charset="0"/>
                        <a:cs typeface="Arial" pitchFamily="34" charset="0"/>
                      </a:endParaRPr>
                    </a:p>
                  </a:txBody>
                  <a:tcPr marL="68580" marR="68580" marT="0" marB="0"/>
                </a:tc>
                <a:extLst>
                  <a:ext uri="{0D108BD9-81ED-4DB2-BD59-A6C34878D82A}">
                    <a16:rowId xmlns:a16="http://schemas.microsoft.com/office/drawing/2014/main" val="10001"/>
                  </a:ext>
                </a:extLst>
              </a:tr>
              <a:tr h="743416">
                <a:tc>
                  <a:txBody>
                    <a:bodyPr/>
                    <a:lstStyle/>
                    <a:p>
                      <a:pPr marL="0" marR="0" algn="ctr">
                        <a:lnSpc>
                          <a:spcPct val="100000"/>
                        </a:lnSpc>
                        <a:spcBef>
                          <a:spcPts val="0"/>
                        </a:spcBef>
                        <a:spcAft>
                          <a:spcPts val="0"/>
                        </a:spcAft>
                      </a:pPr>
                      <a:r>
                        <a:rPr lang="en-US" sz="2400" b="1" dirty="0">
                          <a:solidFill>
                            <a:schemeClr val="tx1"/>
                          </a:solidFill>
                          <a:effectLst/>
                        </a:rPr>
                        <a:t>3</a:t>
                      </a:r>
                      <a:endPar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0000"/>
                        </a:lnSpc>
                        <a:spcBef>
                          <a:spcPts val="0"/>
                        </a:spcBef>
                        <a:spcAft>
                          <a:spcPts val="0"/>
                        </a:spcAft>
                      </a:pPr>
                      <a:r>
                        <a:rPr lang="en-US" sz="2400" b="0" kern="1200" dirty="0">
                          <a:solidFill>
                            <a:schemeClr val="tx1"/>
                          </a:solidFill>
                          <a:latin typeface="Arial" pitchFamily="34" charset="0"/>
                          <a:ea typeface="+mn-ea"/>
                          <a:cs typeface="Arial" pitchFamily="34" charset="0"/>
                        </a:rPr>
                        <a:t>Build exceptional speaking, reading and writing skills by correcting grammatical errors and pronunciation through practice.</a:t>
                      </a:r>
                      <a:endParaRPr lang="en-US" sz="2400" b="0" dirty="0">
                        <a:solidFill>
                          <a:schemeClr val="tx1"/>
                        </a:solidFill>
                        <a:effectLst/>
                        <a:latin typeface="Arial" pitchFamily="34" charset="0"/>
                        <a:ea typeface="Times New Roman" panose="02020603050405020304" pitchFamily="18" charset="0"/>
                        <a:cs typeface="Arial" pitchFamily="34" charset="0"/>
                      </a:endParaRPr>
                    </a:p>
                  </a:txBody>
                  <a:tcPr marL="68580" marR="68580" marT="0" marB="0"/>
                </a:tc>
                <a:extLst>
                  <a:ext uri="{0D108BD9-81ED-4DB2-BD59-A6C34878D82A}">
                    <a16:rowId xmlns:a16="http://schemas.microsoft.com/office/drawing/2014/main" val="10002"/>
                  </a:ext>
                </a:extLst>
              </a:tr>
              <a:tr h="743416">
                <a:tc>
                  <a:txBody>
                    <a:bodyPr/>
                    <a:lstStyle/>
                    <a:p>
                      <a:pPr marL="0" marR="0" algn="ctr">
                        <a:lnSpc>
                          <a:spcPct val="100000"/>
                        </a:lnSpc>
                        <a:spcBef>
                          <a:spcPts val="0"/>
                        </a:spcBef>
                        <a:spcAft>
                          <a:spcPts val="0"/>
                        </a:spcAft>
                      </a:pPr>
                      <a:r>
                        <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4</a:t>
                      </a:r>
                    </a:p>
                  </a:txBody>
                  <a:tcPr marL="68580" marR="68580" marT="0" marB="0" anchor="ctr"/>
                </a:tc>
                <a:tc>
                  <a:txBody>
                    <a:bodyPr/>
                    <a:lstStyle/>
                    <a:p>
                      <a:pPr marL="0" marR="0">
                        <a:lnSpc>
                          <a:spcPct val="100000"/>
                        </a:lnSpc>
                        <a:spcBef>
                          <a:spcPts val="0"/>
                        </a:spcBef>
                        <a:spcAft>
                          <a:spcPts val="0"/>
                        </a:spcAft>
                      </a:pPr>
                      <a:r>
                        <a:rPr lang="en-US" sz="2400" b="0" dirty="0">
                          <a:solidFill>
                            <a:schemeClr val="tx1"/>
                          </a:solidFill>
                          <a:effectLst/>
                          <a:latin typeface="Arial" pitchFamily="34" charset="0"/>
                          <a:ea typeface="Times New Roman" panose="02020603050405020304" pitchFamily="18" charset="0"/>
                          <a:cs typeface="Arial" pitchFamily="34" charset="0"/>
                        </a:rPr>
                        <a:t>Enhances soft skills by fostering self awareness, confidence and a positive attitude in students’ ability to communicate effectively in English.</a:t>
                      </a:r>
                    </a:p>
                  </a:txBody>
                  <a:tcPr marL="68580" marR="68580" marT="0" marB="0"/>
                </a:tc>
                <a:extLst>
                  <a:ext uri="{0D108BD9-81ED-4DB2-BD59-A6C34878D82A}">
                    <a16:rowId xmlns:a16="http://schemas.microsoft.com/office/drawing/2014/main" val="2339887652"/>
                  </a:ext>
                </a:extLst>
              </a:tr>
            </a:tbl>
          </a:graphicData>
        </a:graphic>
      </p:graphicFrame>
      <p:sp>
        <p:nvSpPr>
          <p:cNvPr id="11" name="Rectangle 10"/>
          <p:cNvSpPr/>
          <p:nvPr/>
        </p:nvSpPr>
        <p:spPr>
          <a:xfrm>
            <a:off x="492162" y="1616818"/>
            <a:ext cx="2956259" cy="461665"/>
          </a:xfrm>
          <a:prstGeom prst="rect">
            <a:avLst/>
          </a:prstGeom>
        </p:spPr>
        <p:txBody>
          <a:bodyPr wrap="none">
            <a:spAutoFit/>
          </a:bodyPr>
          <a:lstStyle/>
          <a:p>
            <a:r>
              <a:rPr lang="en-US" sz="2400" dirty="0">
                <a:latin typeface="Arial" pitchFamily="34" charset="0"/>
                <a:cs typeface="Arial" pitchFamily="34" charset="0"/>
              </a:rPr>
              <a:t>The Course aims to:</a:t>
            </a:r>
            <a:endParaRPr lang="en-US" sz="2400" b="1" dirty="0">
              <a:latin typeface="Arial" pitchFamily="34" charset="0"/>
              <a:cs typeface="Arial" pitchFamily="34" charset="0"/>
            </a:endParaRPr>
          </a:p>
        </p:txBody>
      </p:sp>
    </p:spTree>
    <p:extLst>
      <p:ext uri="{BB962C8B-B14F-4D97-AF65-F5344CB8AC3E}">
        <p14:creationId xmlns:p14="http://schemas.microsoft.com/office/powerpoint/2010/main" val="4080574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27520" y="1310640"/>
            <a:ext cx="4335779" cy="4591685"/>
          </a:xfrm>
        </p:spPr>
        <p:txBody>
          <a:bodyPr>
            <a:normAutofit/>
          </a:bodyPr>
          <a:lstStyle/>
          <a:p>
            <a:pPr marL="0" indent="0">
              <a:buNone/>
            </a:pPr>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12696" y="6353174"/>
            <a:ext cx="2743200" cy="365125"/>
          </a:xfrm>
        </p:spPr>
        <p:txBody>
          <a:bodyPr/>
          <a:lstStyle/>
          <a:p>
            <a:fld id="{BDCDBBEF-AA6C-4BA6-85B2-A17D7F280E38}" type="slidenum">
              <a:rPr lang="en-US" smtClean="0"/>
              <a:pPr/>
              <a:t>3</a:t>
            </a:fld>
            <a:endParaRPr lang="en-US" dirty="0"/>
          </a:p>
        </p:txBody>
      </p:sp>
      <p:sp>
        <p:nvSpPr>
          <p:cNvPr id="8" name="Title 7"/>
          <p:cNvSpPr txBox="1">
            <a:spLocks noGrp="1" noChangeArrowheads="1"/>
          </p:cNvSpPr>
          <p:nvPr>
            <p:ph type="title"/>
          </p:nvPr>
        </p:nvSpPr>
        <p:spPr bwMode="auto">
          <a:xfrm>
            <a:off x="1170818" y="503514"/>
            <a:ext cx="4686618"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Arial Black" pitchFamily="34" charset="0"/>
                <a:ea typeface="Karla" pitchFamily="2" charset="0"/>
                <a:cs typeface="Arial" panose="020B0604020202020204" pitchFamily="34" charset="0"/>
              </a:rPr>
              <a:t>Course Outcomes</a:t>
            </a:r>
            <a:endParaRPr lang="en-US" sz="1600" dirty="0">
              <a:latin typeface="Arial Black" pitchFamily="34" charset="0"/>
            </a:endParaRPr>
          </a:p>
        </p:txBody>
      </p:sp>
      <p:sp>
        <p:nvSpPr>
          <p:cNvPr id="2" name="Rectangle 1"/>
          <p:cNvSpPr/>
          <p:nvPr/>
        </p:nvSpPr>
        <p:spPr>
          <a:xfrm>
            <a:off x="6751319" y="503514"/>
            <a:ext cx="4488179" cy="553152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266110" y="1777465"/>
            <a:ext cx="4214615" cy="338554"/>
          </a:xfrm>
          <a:prstGeom prst="rect">
            <a:avLst/>
          </a:prstGeom>
        </p:spPr>
        <p:txBody>
          <a:bodyPr wrap="none">
            <a:spAutoFit/>
          </a:bodyPr>
          <a:lstStyle/>
          <a:p>
            <a:r>
              <a:rPr lang="en-US" sz="1600" dirty="0">
                <a:latin typeface="Arial" pitchFamily="34" charset="0"/>
                <a:cs typeface="Arial" pitchFamily="34" charset="0"/>
              </a:rPr>
              <a:t>On completion, the students are expected to</a:t>
            </a:r>
            <a:endParaRPr lang="en-US" sz="1600" b="1" dirty="0">
              <a:latin typeface="Arial" pitchFamily="34" charset="0"/>
              <a:cs typeface="Arial" pitchFamily="34" charset="0"/>
            </a:endParaRPr>
          </a:p>
        </p:txBody>
      </p:sp>
      <p:sp>
        <p:nvSpPr>
          <p:cNvPr id="4" name="TextBox 3">
            <a:extLst>
              <a:ext uri="{FF2B5EF4-FFF2-40B4-BE49-F238E27FC236}">
                <a16:creationId xmlns:a16="http://schemas.microsoft.com/office/drawing/2014/main" id="{D4F26C4B-ADDA-5543-975D-B07E57B84339}"/>
              </a:ext>
            </a:extLst>
          </p:cNvPr>
          <p:cNvSpPr txBox="1"/>
          <p:nvPr/>
        </p:nvSpPr>
        <p:spPr>
          <a:xfrm>
            <a:off x="8903688" y="6331375"/>
            <a:ext cx="3271454" cy="276999"/>
          </a:xfrm>
          <a:prstGeom prst="rect">
            <a:avLst/>
          </a:prstGeom>
          <a:noFill/>
        </p:spPr>
        <p:txBody>
          <a:bodyPr wrap="square" rtlCol="0">
            <a:spAutoFit/>
          </a:bodyPr>
          <a:lstStyle/>
          <a:p>
            <a:r>
              <a:rPr lang="en-US" sz="1200" dirty="0"/>
              <a:t>Draper, Inc</a:t>
            </a:r>
          </a:p>
        </p:txBody>
      </p:sp>
      <p:sp>
        <p:nvSpPr>
          <p:cNvPr id="129026" name="AutoShape 2" descr="How to Write a Compelling Cover Letter for a Job | Mone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129028" name="AutoShape 4" descr="How to Write a Compelling Cover Letter for a Job | Mone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pic>
        <p:nvPicPr>
          <p:cNvPr id="12" name="Picture 2" descr="Image result for video conference">
            <a:extLst>
              <a:ext uri="{FF2B5EF4-FFF2-40B4-BE49-F238E27FC236}">
                <a16:creationId xmlns:a16="http://schemas.microsoft.com/office/drawing/2014/main" id="{C42FFE56-D222-4289-8179-5363A688F5B5}"/>
              </a:ext>
            </a:extLst>
          </p:cNvPr>
          <p:cNvPicPr>
            <a:picLocks noChangeAspect="1" noChangeArrowheads="1"/>
          </p:cNvPicPr>
          <p:nvPr/>
        </p:nvPicPr>
        <p:blipFill>
          <a:blip r:embed="rId3"/>
          <a:srcRect/>
          <a:stretch>
            <a:fillRect/>
          </a:stretch>
        </p:blipFill>
        <p:spPr bwMode="auto">
          <a:xfrm>
            <a:off x="6768917" y="533642"/>
            <a:ext cx="4576461" cy="5501398"/>
          </a:xfrm>
          <a:prstGeom prst="rect">
            <a:avLst/>
          </a:prstGeom>
          <a:solidFill>
            <a:schemeClr val="accent2"/>
          </a:solidFill>
          <a:ln>
            <a:solidFill>
              <a:schemeClr val="accent1"/>
            </a:solidFill>
          </a:ln>
        </p:spPr>
      </p:pic>
      <p:graphicFrame>
        <p:nvGraphicFramePr>
          <p:cNvPr id="6" name="Table 5">
            <a:extLst>
              <a:ext uri="{FF2B5EF4-FFF2-40B4-BE49-F238E27FC236}">
                <a16:creationId xmlns:a16="http://schemas.microsoft.com/office/drawing/2014/main" id="{EAEEA07F-BEAB-3673-A6D9-3B02A06EAB5D}"/>
              </a:ext>
            </a:extLst>
          </p:cNvPr>
          <p:cNvGraphicFramePr>
            <a:graphicFrameLocks noGrp="1"/>
          </p:cNvGraphicFramePr>
          <p:nvPr>
            <p:extLst>
              <p:ext uri="{D42A27DB-BD31-4B8C-83A1-F6EECF244321}">
                <p14:modId xmlns:p14="http://schemas.microsoft.com/office/powerpoint/2010/main" val="2272985473"/>
              </p:ext>
            </p:extLst>
          </p:nvPr>
        </p:nvGraphicFramePr>
        <p:xfrm>
          <a:off x="108610" y="2222497"/>
          <a:ext cx="6670497" cy="4495802"/>
        </p:xfrm>
        <a:graphic>
          <a:graphicData uri="http://schemas.openxmlformats.org/drawingml/2006/table">
            <a:tbl>
              <a:tblPr firstRow="1" firstCol="1" bandRow="1">
                <a:tableStyleId>{5940675A-B579-460E-94D1-54222C63F5DA}</a:tableStyleId>
              </a:tblPr>
              <a:tblGrid>
                <a:gridCol w="543484">
                  <a:extLst>
                    <a:ext uri="{9D8B030D-6E8A-4147-A177-3AD203B41FA5}">
                      <a16:colId xmlns:a16="http://schemas.microsoft.com/office/drawing/2014/main" val="2260446928"/>
                    </a:ext>
                  </a:extLst>
                </a:gridCol>
                <a:gridCol w="4854552">
                  <a:extLst>
                    <a:ext uri="{9D8B030D-6E8A-4147-A177-3AD203B41FA5}">
                      <a16:colId xmlns:a16="http://schemas.microsoft.com/office/drawing/2014/main" val="3818319663"/>
                    </a:ext>
                  </a:extLst>
                </a:gridCol>
                <a:gridCol w="1272461">
                  <a:extLst>
                    <a:ext uri="{9D8B030D-6E8A-4147-A177-3AD203B41FA5}">
                      <a16:colId xmlns:a16="http://schemas.microsoft.com/office/drawing/2014/main" val="1724366301"/>
                    </a:ext>
                  </a:extLst>
                </a:gridCol>
              </a:tblGrid>
              <a:tr h="763998">
                <a:tc>
                  <a:txBody>
                    <a:bodyPr/>
                    <a:lstStyle/>
                    <a:p>
                      <a:pPr algn="ctr">
                        <a:lnSpc>
                          <a:spcPct val="115000"/>
                        </a:lnSpc>
                        <a:spcAft>
                          <a:spcPts val="1000"/>
                        </a:spcAft>
                      </a:pPr>
                      <a:r>
                        <a:rPr lang="en-US" sz="1200" b="1" dirty="0">
                          <a:effectLst/>
                          <a:latin typeface="+mn-lt"/>
                        </a:rPr>
                        <a:t>CO Number</a:t>
                      </a:r>
                      <a:endParaRPr lang="en-IN" sz="1200" b="1" dirty="0">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ctr">
                        <a:lnSpc>
                          <a:spcPct val="115000"/>
                        </a:lnSpc>
                        <a:spcAft>
                          <a:spcPts val="1000"/>
                        </a:spcAft>
                      </a:pPr>
                      <a:r>
                        <a:rPr lang="en-US" sz="1200" b="1" dirty="0">
                          <a:effectLst/>
                          <a:latin typeface="+mn-lt"/>
                        </a:rPr>
                        <a:t>Title</a:t>
                      </a:r>
                      <a:endParaRPr lang="en-IN" sz="1200" b="1" dirty="0">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ctr">
                        <a:lnSpc>
                          <a:spcPct val="115000"/>
                        </a:lnSpc>
                        <a:spcAft>
                          <a:spcPts val="1000"/>
                        </a:spcAft>
                      </a:pPr>
                      <a:r>
                        <a:rPr lang="en-US" sz="1200" b="1" dirty="0">
                          <a:effectLst/>
                          <a:latin typeface="+mn-lt"/>
                        </a:rPr>
                        <a:t> </a:t>
                      </a:r>
                      <a:endParaRPr lang="en-IN" sz="1200" b="1" dirty="0">
                        <a:effectLst/>
                        <a:latin typeface="+mn-lt"/>
                      </a:endParaRPr>
                    </a:p>
                    <a:p>
                      <a:pPr algn="ctr">
                        <a:lnSpc>
                          <a:spcPct val="115000"/>
                        </a:lnSpc>
                        <a:spcAft>
                          <a:spcPts val="1000"/>
                        </a:spcAft>
                      </a:pPr>
                      <a:r>
                        <a:rPr lang="en-US" sz="1200" b="1" dirty="0">
                          <a:effectLst/>
                          <a:latin typeface="+mn-lt"/>
                        </a:rPr>
                        <a:t>Level</a:t>
                      </a:r>
                      <a:endParaRPr lang="en-IN" sz="1200" b="1" dirty="0">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1694774232"/>
                  </a:ext>
                </a:extLst>
              </a:tr>
              <a:tr h="719905">
                <a:tc>
                  <a:txBody>
                    <a:bodyPr/>
                    <a:lstStyle/>
                    <a:p>
                      <a:pPr>
                        <a:lnSpc>
                          <a:spcPct val="115000"/>
                        </a:lnSpc>
                        <a:spcAft>
                          <a:spcPts val="1000"/>
                        </a:spcAft>
                      </a:pPr>
                      <a:r>
                        <a:rPr lang="en-US" sz="1200" dirty="0">
                          <a:solidFill>
                            <a:schemeClr val="tx1"/>
                          </a:solidFill>
                          <a:effectLst/>
                          <a:latin typeface="+mn-lt"/>
                        </a:rPr>
                        <a:t>CO1</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just">
                        <a:lnSpc>
                          <a:spcPct val="115000"/>
                        </a:lnSpc>
                        <a:spcAft>
                          <a:spcPts val="1000"/>
                        </a:spcAft>
                      </a:pPr>
                      <a:r>
                        <a:rPr lang="en-US" sz="1200" dirty="0">
                          <a:solidFill>
                            <a:schemeClr val="tx1"/>
                          </a:solidFill>
                          <a:effectLst/>
                          <a:latin typeface="+mn-lt"/>
                          <a:ea typeface="Times New Roman" panose="02020603050405020304" pitchFamily="18" charset="0"/>
                        </a:rPr>
                        <a:t>Apply appropriate Listening, Speaking, Reading and Writing Skills (LSRW Skills) with correct non-verbal cues to attain expertise in soft skills.</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Apply</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3002657675"/>
                  </a:ext>
                </a:extLst>
              </a:tr>
              <a:tr h="719905">
                <a:tc>
                  <a:txBody>
                    <a:bodyPr/>
                    <a:lstStyle/>
                    <a:p>
                      <a:pPr>
                        <a:lnSpc>
                          <a:spcPct val="115000"/>
                        </a:lnSpc>
                        <a:spcAft>
                          <a:spcPts val="1000"/>
                        </a:spcAft>
                      </a:pPr>
                      <a:r>
                        <a:rPr lang="en-US" sz="1200">
                          <a:solidFill>
                            <a:schemeClr val="tx1"/>
                          </a:solidFill>
                          <a:effectLst/>
                          <a:latin typeface="+mn-lt"/>
                        </a:rPr>
                        <a:t>CO2</a:t>
                      </a:r>
                      <a:endParaRPr lang="en-IN" sz="120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indent="-31115" algn="just">
                        <a:lnSpc>
                          <a:spcPct val="115000"/>
                        </a:lnSpc>
                        <a:spcAft>
                          <a:spcPts val="1000"/>
                        </a:spcAft>
                      </a:pPr>
                      <a:r>
                        <a:rPr lang="en-US" sz="1200" dirty="0">
                          <a:solidFill>
                            <a:schemeClr val="tx1"/>
                          </a:solidFill>
                          <a:effectLst/>
                          <a:latin typeface="+mn-lt"/>
                          <a:ea typeface="Times New Roman" panose="02020603050405020304" pitchFamily="18" charset="0"/>
                        </a:rPr>
                        <a:t>Apply correct contextual and comprehensible written text in the form of paragraph writing, short compositions business correspondence, using logical support and argument in a wide range of communication situations.</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Apply</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599706455"/>
                  </a:ext>
                </a:extLst>
              </a:tr>
              <a:tr h="763998">
                <a:tc>
                  <a:txBody>
                    <a:bodyPr/>
                    <a:lstStyle/>
                    <a:p>
                      <a:pPr>
                        <a:lnSpc>
                          <a:spcPct val="115000"/>
                        </a:lnSpc>
                        <a:spcAft>
                          <a:spcPts val="1000"/>
                        </a:spcAft>
                      </a:pPr>
                      <a:r>
                        <a:rPr lang="en-US" sz="1200" dirty="0">
                          <a:solidFill>
                            <a:schemeClr val="tx1"/>
                          </a:solidFill>
                          <a:effectLst/>
                          <a:latin typeface="+mn-lt"/>
                        </a:rPr>
                        <a:t>CO3</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indent="31115" algn="just">
                        <a:lnSpc>
                          <a:spcPct val="115000"/>
                        </a:lnSpc>
                        <a:spcAft>
                          <a:spcPts val="1000"/>
                        </a:spcAft>
                      </a:pPr>
                      <a:r>
                        <a:rPr lang="en-US" sz="1200" dirty="0">
                          <a:solidFill>
                            <a:schemeClr val="tx1"/>
                          </a:solidFill>
                          <a:effectLst/>
                          <a:latin typeface="+mn-lt"/>
                          <a:ea typeface="Times New Roman" panose="02020603050405020304" pitchFamily="18" charset="0"/>
                        </a:rPr>
                        <a:t>Demonstrate linguistic competence while speaking and during presentations through accuracy in grammatical usage, vocabulary, pronunciation and intonation.</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Apply</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2610233323"/>
                  </a:ext>
                </a:extLst>
              </a:tr>
              <a:tr h="763998">
                <a:tc>
                  <a:txBody>
                    <a:bodyPr/>
                    <a:lstStyle/>
                    <a:p>
                      <a:pPr>
                        <a:lnSpc>
                          <a:spcPct val="115000"/>
                        </a:lnSpc>
                        <a:spcAft>
                          <a:spcPts val="1000"/>
                        </a:spcAft>
                      </a:pPr>
                      <a:r>
                        <a:rPr lang="en-US" sz="1200">
                          <a:solidFill>
                            <a:schemeClr val="tx1"/>
                          </a:solidFill>
                          <a:effectLst/>
                          <a:latin typeface="+mn-lt"/>
                        </a:rPr>
                        <a:t>CO4</a:t>
                      </a:r>
                      <a:endParaRPr lang="en-IN" sz="120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just">
                        <a:lnSpc>
                          <a:spcPct val="115000"/>
                        </a:lnSpc>
                        <a:spcAft>
                          <a:spcPts val="1000"/>
                        </a:spcAft>
                      </a:pPr>
                      <a:r>
                        <a:rPr lang="en-US" sz="1200" dirty="0">
                          <a:solidFill>
                            <a:schemeClr val="tx1"/>
                          </a:solidFill>
                          <a:effectLst/>
                          <a:latin typeface="+mn-lt"/>
                          <a:ea typeface="Times New Roman" panose="02020603050405020304" pitchFamily="18" charset="0"/>
                        </a:rPr>
                        <a:t>Evaluate information as critical readers, speakers and writers applying ethics in communication and</a:t>
                      </a:r>
                      <a:endParaRPr lang="en-IN" sz="1200" dirty="0">
                        <a:solidFill>
                          <a:schemeClr val="tx1"/>
                        </a:solidFill>
                        <a:effectLst/>
                        <a:latin typeface="+mn-lt"/>
                        <a:ea typeface="Calibri" panose="020F0502020204030204" pitchFamily="34" charset="0"/>
                      </a:endParaRPr>
                    </a:p>
                    <a:p>
                      <a:pPr algn="just">
                        <a:lnSpc>
                          <a:spcPct val="115000"/>
                        </a:lnSpc>
                        <a:spcAft>
                          <a:spcPts val="1000"/>
                        </a:spcAft>
                      </a:pPr>
                      <a:r>
                        <a:rPr lang="en-US" sz="1200" dirty="0">
                          <a:solidFill>
                            <a:schemeClr val="tx1"/>
                          </a:solidFill>
                          <a:effectLst/>
                          <a:latin typeface="+mn-lt"/>
                          <a:ea typeface="Times New Roman" panose="02020603050405020304" pitchFamily="18" charset="0"/>
                        </a:rPr>
                        <a:t>being sensitive in cross cultural communication.</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Evaluate</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2351876097"/>
                  </a:ext>
                </a:extLst>
              </a:tr>
              <a:tr h="763998">
                <a:tc>
                  <a:txBody>
                    <a:bodyPr/>
                    <a:lstStyle/>
                    <a:p>
                      <a:pPr>
                        <a:lnSpc>
                          <a:spcPct val="115000"/>
                        </a:lnSpc>
                        <a:spcAft>
                          <a:spcPts val="1000"/>
                        </a:spcAft>
                      </a:pPr>
                      <a:r>
                        <a:rPr lang="en-US" sz="1200">
                          <a:solidFill>
                            <a:schemeClr val="tx1"/>
                          </a:solidFill>
                          <a:effectLst/>
                          <a:latin typeface="+mn-lt"/>
                        </a:rPr>
                        <a:t>CO5</a:t>
                      </a:r>
                      <a:endParaRPr lang="en-IN" sz="120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indent="-31115" algn="just">
                        <a:lnSpc>
                          <a:spcPct val="115000"/>
                        </a:lnSpc>
                        <a:spcAft>
                          <a:spcPts val="1000"/>
                        </a:spcAft>
                      </a:pPr>
                      <a:r>
                        <a:rPr lang="en-US" sz="1200" dirty="0">
                          <a:solidFill>
                            <a:schemeClr val="tx1"/>
                          </a:solidFill>
                          <a:effectLst/>
                          <a:latin typeface="+mn-lt"/>
                          <a:ea typeface="Times New Roman" panose="02020603050405020304" pitchFamily="18" charset="0"/>
                        </a:rPr>
                        <a:t> Create original, digital content for websites, blogs, vlogs and personal social media profiles etc.</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Create</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3748297033"/>
                  </a:ext>
                </a:extLst>
              </a:tr>
            </a:tbl>
          </a:graphicData>
        </a:graphic>
      </p:graphicFrame>
    </p:spTree>
    <p:extLst>
      <p:ext uri="{BB962C8B-B14F-4D97-AF65-F5344CB8AC3E}">
        <p14:creationId xmlns:p14="http://schemas.microsoft.com/office/powerpoint/2010/main" val="1977596099"/>
      </p:ext>
    </p:extLst>
  </p:cSld>
  <p:clrMapOvr>
    <a:masterClrMapping/>
  </p:clrMapOvr>
  <mc:AlternateContent xmlns:mc="http://schemas.openxmlformats.org/markup-compatibility/2006" xmlns:p14="http://schemas.microsoft.com/office/powerpoint/2010/main">
    <mc:Choice Requires="p14">
      <p:transition spd="slow" p14:dur="2000" advTm="3599"/>
    </mc:Choice>
    <mc:Fallback xmlns="">
      <p:transition spd="slow" advTm="359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83194"/>
            <a:ext cx="10515600" cy="1028600"/>
          </a:xfrm>
        </p:spPr>
        <p:txBody>
          <a:bodyPr>
            <a:normAutofit/>
          </a:bodyPr>
          <a:lstStyle/>
          <a:p>
            <a:pPr algn="ctr"/>
            <a:r>
              <a:rPr lang="en-US" dirty="0">
                <a:latin typeface="Arial Black" pitchFamily="34" charset="0"/>
              </a:rPr>
              <a:t>Introduction</a:t>
            </a:r>
          </a:p>
        </p:txBody>
      </p:sp>
      <p:sp>
        <p:nvSpPr>
          <p:cNvPr id="3" name="Content Placeholder 2"/>
          <p:cNvSpPr>
            <a:spLocks noGrp="1"/>
          </p:cNvSpPr>
          <p:nvPr>
            <p:ph idx="1"/>
          </p:nvPr>
        </p:nvSpPr>
        <p:spPr>
          <a:xfrm>
            <a:off x="838199" y="1794075"/>
            <a:ext cx="10551289" cy="4919239"/>
          </a:xfrm>
        </p:spPr>
        <p:txBody>
          <a:bodyPr>
            <a:noAutofit/>
          </a:bodyPr>
          <a:lstStyle/>
          <a:p>
            <a:pPr>
              <a:buNone/>
              <a:defRPr/>
            </a:pPr>
            <a:endParaRPr lang="en-IN" b="1" dirty="0">
              <a:latin typeface="Arial" pitchFamily="34" charset="0"/>
              <a:cs typeface="Arial" pitchFamily="34" charset="0"/>
            </a:endParaRPr>
          </a:p>
          <a:p>
            <a:pPr>
              <a:buNone/>
              <a:defRPr/>
            </a:pPr>
            <a:r>
              <a:rPr lang="en-IN" b="1" dirty="0">
                <a:latin typeface="Arial" pitchFamily="34" charset="0"/>
                <a:cs typeface="Arial" pitchFamily="34" charset="0"/>
              </a:rPr>
              <a:t>DEFINITION:</a:t>
            </a:r>
          </a:p>
          <a:p>
            <a:pPr>
              <a:defRPr/>
            </a:pPr>
            <a:r>
              <a:rPr lang="en-IN" dirty="0">
                <a:latin typeface="Arial" pitchFamily="34" charset="0"/>
                <a:cs typeface="Arial" pitchFamily="34" charset="0"/>
              </a:rPr>
              <a:t>“Communication is a process of passing information and understanding from one person to another.”      -Keith Davis</a:t>
            </a:r>
          </a:p>
          <a:p>
            <a:pPr>
              <a:defRPr/>
            </a:pPr>
            <a:endParaRPr lang="en-IN" dirty="0">
              <a:latin typeface="Arial" pitchFamily="34" charset="0"/>
              <a:cs typeface="Arial" pitchFamily="34" charset="0"/>
            </a:endParaRPr>
          </a:p>
          <a:p>
            <a:pPr>
              <a:defRPr/>
            </a:pPr>
            <a:r>
              <a:rPr lang="en-IN" dirty="0">
                <a:latin typeface="Arial" pitchFamily="34" charset="0"/>
                <a:cs typeface="Arial" pitchFamily="34" charset="0"/>
              </a:rPr>
              <a:t>Electronic mail, most commonly referred to as email, is a method of exchanging digital messages from an author to one or more recipients.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7" name="Rectangle 6"/>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9" name="Rectangle 8"/>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884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dirty="0">
                <a:latin typeface="Arial Black" pitchFamily="34" charset="0"/>
              </a:rPr>
              <a:t>Four Types of Emails</a:t>
            </a:r>
          </a:p>
        </p:txBody>
      </p:sp>
      <p:sp>
        <p:nvSpPr>
          <p:cNvPr id="3" name="Content Placeholder 2"/>
          <p:cNvSpPr>
            <a:spLocks noGrp="1"/>
          </p:cNvSpPr>
          <p:nvPr>
            <p:ph idx="1"/>
          </p:nvPr>
        </p:nvSpPr>
        <p:spPr/>
        <p:txBody>
          <a:bodyPr/>
          <a:lstStyle/>
          <a:p>
            <a:r>
              <a:rPr lang="en-AU" b="1" u="sng" dirty="0">
                <a:latin typeface="Arial" pitchFamily="34" charset="0"/>
                <a:cs typeface="Arial" pitchFamily="34" charset="0"/>
              </a:rPr>
              <a:t>NO REPLY EMAIL</a:t>
            </a:r>
            <a:r>
              <a:rPr lang="en-AU" b="1" dirty="0">
                <a:latin typeface="Arial" pitchFamily="34" charset="0"/>
                <a:cs typeface="Arial" pitchFamily="34" charset="0"/>
              </a:rPr>
              <a:t>- </a:t>
            </a:r>
            <a:r>
              <a:rPr lang="en-AU" dirty="0">
                <a:latin typeface="Arial" pitchFamily="34" charset="0"/>
                <a:cs typeface="Arial" pitchFamily="34" charset="0"/>
              </a:rPr>
              <a:t>you want to tell the receiver something, either compliment or information. No reply is necessary.</a:t>
            </a:r>
          </a:p>
          <a:p>
            <a:r>
              <a:rPr lang="en-AU" b="1" u="sng" dirty="0">
                <a:latin typeface="Arial" pitchFamily="34" charset="0"/>
                <a:cs typeface="Arial" pitchFamily="34" charset="0"/>
              </a:rPr>
              <a:t>INQUIRY EMAIL</a:t>
            </a:r>
            <a:r>
              <a:rPr lang="en-AU" b="1" dirty="0">
                <a:latin typeface="Arial" pitchFamily="34" charset="0"/>
                <a:cs typeface="Arial" pitchFamily="34" charset="0"/>
              </a:rPr>
              <a:t>- </a:t>
            </a:r>
            <a:r>
              <a:rPr lang="en-AU" dirty="0">
                <a:latin typeface="Arial" pitchFamily="34" charset="0"/>
                <a:cs typeface="Arial" pitchFamily="34" charset="0"/>
              </a:rPr>
              <a:t>You need something from the receiver in reply. Example: advice or questions to be answered. The reply is your desired outcome.</a:t>
            </a:r>
          </a:p>
          <a:p>
            <a:r>
              <a:rPr lang="en-AU" b="1" u="sng" dirty="0">
                <a:latin typeface="Arial" pitchFamily="34" charset="0"/>
                <a:cs typeface="Arial" pitchFamily="34" charset="0"/>
              </a:rPr>
              <a:t>OPEN ENDED EMAIL</a:t>
            </a:r>
            <a:r>
              <a:rPr lang="en-AU" b="1" dirty="0">
                <a:latin typeface="Arial" pitchFamily="34" charset="0"/>
                <a:cs typeface="Arial" pitchFamily="34" charset="0"/>
              </a:rPr>
              <a:t>- </a:t>
            </a:r>
            <a:r>
              <a:rPr lang="en-AU" dirty="0">
                <a:latin typeface="Arial" pitchFamily="34" charset="0"/>
                <a:cs typeface="Arial" pitchFamily="34" charset="0"/>
              </a:rPr>
              <a:t>To keep the communications lines open, for the purpose of some future result or benefit.</a:t>
            </a:r>
          </a:p>
          <a:p>
            <a:r>
              <a:rPr lang="en-AU" b="1" u="sng" dirty="0">
                <a:latin typeface="Arial" pitchFamily="34" charset="0"/>
                <a:cs typeface="Arial" pitchFamily="34" charset="0"/>
              </a:rPr>
              <a:t>ACTION EMAIL</a:t>
            </a:r>
            <a:r>
              <a:rPr lang="en-AU" dirty="0">
                <a:latin typeface="Arial" pitchFamily="34" charset="0"/>
                <a:cs typeface="Arial" pitchFamily="34" charset="0"/>
              </a:rPr>
              <a:t>-The goal is not the reply but the action on the part of the receiver. Example: sales pitch , or asking for a website exchange link etc.</a:t>
            </a:r>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5" name="Rectangle 4"/>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dirty="0">
                <a:latin typeface="Arial Black" pitchFamily="34" charset="0"/>
              </a:rPr>
              <a:t>Elements of an Email</a:t>
            </a:r>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
        <p:nvSpPr>
          <p:cNvPr id="7" name="Rectangle 6"/>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8" name="Rectangle 7"/>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p:cNvSpPr>
            <a:spLocks noGrp="1"/>
          </p:cNvSpPr>
          <p:nvPr>
            <p:ph idx="1"/>
          </p:nvPr>
        </p:nvSpPr>
        <p:spPr/>
        <p:txBody>
          <a:bodyPr>
            <a:normAutofit/>
          </a:bodyPr>
          <a:lstStyle/>
          <a:p>
            <a:r>
              <a:rPr lang="en-AU" dirty="0">
                <a:latin typeface="Arial" pitchFamily="34" charset="0"/>
                <a:cs typeface="Arial" pitchFamily="34" charset="0"/>
              </a:rPr>
              <a:t>The TO Line                   </a:t>
            </a:r>
          </a:p>
          <a:p>
            <a:r>
              <a:rPr lang="en-AU" dirty="0">
                <a:latin typeface="Arial" pitchFamily="34" charset="0"/>
                <a:cs typeface="Arial" pitchFamily="34" charset="0"/>
              </a:rPr>
              <a:t>CC and BCC</a:t>
            </a:r>
          </a:p>
          <a:p>
            <a:r>
              <a:rPr lang="en-AU" dirty="0">
                <a:latin typeface="Arial" pitchFamily="34" charset="0"/>
                <a:cs typeface="Arial" pitchFamily="34" charset="0"/>
              </a:rPr>
              <a:t>The Subject Line</a:t>
            </a:r>
          </a:p>
          <a:p>
            <a:r>
              <a:rPr lang="en-AU" dirty="0">
                <a:latin typeface="Arial" pitchFamily="34" charset="0"/>
                <a:cs typeface="Arial" pitchFamily="34" charset="0"/>
              </a:rPr>
              <a:t>Attachment</a:t>
            </a:r>
          </a:p>
          <a:p>
            <a:r>
              <a:rPr lang="en-AU" dirty="0">
                <a:latin typeface="Arial" pitchFamily="34" charset="0"/>
                <a:cs typeface="Arial" pitchFamily="34" charset="0"/>
              </a:rPr>
              <a:t>Message box</a:t>
            </a:r>
          </a:p>
          <a:p>
            <a:pPr>
              <a:buFont typeface="Wingdings" pitchFamily="2" charset="2"/>
              <a:buChar char="Ø"/>
            </a:pPr>
            <a:r>
              <a:rPr lang="en-AU" dirty="0">
                <a:latin typeface="Arial" pitchFamily="34" charset="0"/>
                <a:cs typeface="Arial" pitchFamily="34" charset="0"/>
              </a:rPr>
              <a:t>   Salutation</a:t>
            </a:r>
          </a:p>
          <a:p>
            <a:pPr>
              <a:buFont typeface="Wingdings" pitchFamily="2" charset="2"/>
              <a:buChar char="Ø"/>
            </a:pPr>
            <a:r>
              <a:rPr lang="en-AU" dirty="0">
                <a:latin typeface="Arial" pitchFamily="34" charset="0"/>
                <a:cs typeface="Arial" pitchFamily="34" charset="0"/>
              </a:rPr>
              <a:t>   Body of email</a:t>
            </a:r>
          </a:p>
          <a:p>
            <a:pPr>
              <a:buFont typeface="Wingdings" pitchFamily="2" charset="2"/>
              <a:buChar char="Ø"/>
            </a:pPr>
            <a:r>
              <a:rPr lang="en-AU" dirty="0">
                <a:latin typeface="Arial" pitchFamily="34" charset="0"/>
                <a:cs typeface="Arial" pitchFamily="34" charset="0"/>
              </a:rPr>
              <a:t>   Closure with signature</a:t>
            </a:r>
          </a:p>
          <a:p>
            <a:pPr>
              <a:buNone/>
            </a:pPr>
            <a:endParaRPr lang="en-AU" dirty="0"/>
          </a:p>
        </p:txBody>
      </p:sp>
      <p:pic>
        <p:nvPicPr>
          <p:cNvPr id="10" name="Image79"/>
          <p:cNvPicPr>
            <a:picLocks noChangeAspect="1"/>
          </p:cNvPicPr>
          <p:nvPr/>
        </p:nvPicPr>
        <p:blipFill>
          <a:blip r:embed="rId2"/>
          <a:stretch>
            <a:fillRect/>
          </a:stretch>
        </p:blipFill>
        <p:spPr>
          <a:xfrm>
            <a:off x="5127587" y="1932970"/>
            <a:ext cx="6261903" cy="3877519"/>
          </a:xfrm>
          <a:prstGeom prst="rect">
            <a:avLst/>
          </a:prstGeom>
          <a:noFill/>
        </p:spPr>
      </p:pic>
      <p:sp>
        <p:nvSpPr>
          <p:cNvPr id="27" name="Text Box94"/>
          <p:cNvSpPr txBox="1"/>
          <p:nvPr/>
        </p:nvSpPr>
        <p:spPr>
          <a:xfrm>
            <a:off x="5023413" y="2222339"/>
            <a:ext cx="2141316" cy="3516347"/>
          </a:xfrm>
          <a:prstGeom prst="rect">
            <a:avLst/>
          </a:prstGeom>
          <a:solidFill>
            <a:srgbClr val="659B29"/>
          </a:solidFill>
        </p:spPr>
        <p:txBody>
          <a:bodyPr wrap="square" lIns="0" tIns="0" rIns="0" rtlCol="0">
            <a:spAutoFit/>
          </a:bodyPr>
          <a:lstStyle/>
          <a:p>
            <a:pPr marL="320040" algn="l" rtl="0">
              <a:lnSpc>
                <a:spcPct val="200000"/>
              </a:lnSpc>
            </a:pPr>
            <a:r>
              <a:rPr lang="en-US" altLang="zh-CN" sz="4800" spc="0" dirty="0">
                <a:solidFill>
                  <a:srgbClr val="FFFFFF"/>
                </a:solidFill>
                <a:latin typeface="Georgia"/>
                <a:ea typeface="Georgia"/>
                <a:cs typeface="Georgia"/>
              </a:rPr>
              <a:t>Parts</a:t>
            </a:r>
            <a:endParaRPr lang="en-US" altLang="zh-CN" sz="4800" dirty="0">
              <a:latin typeface="Georgia"/>
              <a:ea typeface="Georgia"/>
              <a:cs typeface="Georgia"/>
            </a:endParaRPr>
          </a:p>
          <a:p>
            <a:pPr marL="320040" algn="l" rtl="0">
              <a:lnSpc>
                <a:spcPct val="150000"/>
              </a:lnSpc>
              <a:spcBef>
                <a:spcPts val="359"/>
              </a:spcBef>
            </a:pPr>
            <a:r>
              <a:rPr lang="en-US" altLang="zh-CN" sz="4800" spc="0" dirty="0">
                <a:solidFill>
                  <a:srgbClr val="FFFFFF"/>
                </a:solidFill>
                <a:latin typeface="Georgia"/>
                <a:ea typeface="Georgia"/>
                <a:cs typeface="Georgia"/>
              </a:rPr>
              <a:t>Of </a:t>
            </a:r>
            <a:r>
              <a:rPr lang="en-US" altLang="zh-CN" sz="4800" dirty="0">
                <a:solidFill>
                  <a:srgbClr val="FFFFFF"/>
                </a:solidFill>
                <a:latin typeface="Georgia"/>
                <a:ea typeface="Georgia"/>
                <a:cs typeface="Georgia"/>
              </a:rPr>
              <a:t> An</a:t>
            </a:r>
            <a:endParaRPr lang="en-US" altLang="zh-CN" sz="4800" dirty="0">
              <a:latin typeface="Georgia"/>
              <a:ea typeface="Georgia"/>
              <a:cs typeface="Georgia"/>
            </a:endParaRPr>
          </a:p>
          <a:p>
            <a:pPr marL="320040" algn="l" rtl="0">
              <a:lnSpc>
                <a:spcPts val="6126"/>
              </a:lnSpc>
              <a:spcBef>
                <a:spcPts val="356"/>
              </a:spcBef>
            </a:pPr>
            <a:r>
              <a:rPr lang="en-US" altLang="zh-CN" sz="4800" spc="1" dirty="0">
                <a:solidFill>
                  <a:srgbClr val="FFFFFF"/>
                </a:solidFill>
                <a:latin typeface="Georgia"/>
                <a:ea typeface="Georgia"/>
                <a:cs typeface="Georgia"/>
              </a:rPr>
              <a:t>Email</a:t>
            </a:r>
            <a:endParaRPr lang="en-US" altLang="zh-CN" sz="4800" dirty="0">
              <a:latin typeface="Georgia"/>
              <a:ea typeface="Georgia"/>
              <a:cs typeface="Georgi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8866" y="333065"/>
            <a:ext cx="10549720" cy="1503163"/>
          </a:xfrm>
        </p:spPr>
        <p:txBody>
          <a:bodyPr>
            <a:noAutofit/>
          </a:bodyPr>
          <a:lstStyle/>
          <a:p>
            <a:pPr algn="ctr"/>
            <a:r>
              <a:rPr lang="en-IN" dirty="0">
                <a:latin typeface="Arial Black" pitchFamily="34" charset="0"/>
              </a:rPr>
              <a:t>Role of Email Communication</a:t>
            </a:r>
            <a:br>
              <a:rPr lang="en-IN" dirty="0">
                <a:latin typeface="Arial Black" pitchFamily="34" charset="0"/>
              </a:rPr>
            </a:br>
            <a:r>
              <a:rPr lang="en-IN" dirty="0">
                <a:latin typeface="Arial Black" pitchFamily="34" charset="0"/>
              </a:rPr>
              <a:t> in Business</a:t>
            </a:r>
          </a:p>
        </p:txBody>
      </p:sp>
      <p:sp>
        <p:nvSpPr>
          <p:cNvPr id="3" name="Content Placeholder 2"/>
          <p:cNvSpPr>
            <a:spLocks noGrp="1"/>
          </p:cNvSpPr>
          <p:nvPr>
            <p:ph idx="1"/>
          </p:nvPr>
        </p:nvSpPr>
        <p:spPr>
          <a:xfrm>
            <a:off x="838200" y="1956121"/>
            <a:ext cx="10515600" cy="4220841"/>
          </a:xfrm>
        </p:spPr>
        <p:txBody>
          <a:bodyPr>
            <a:normAutofit/>
          </a:bodyPr>
          <a:lstStyle/>
          <a:p>
            <a:pPr>
              <a:defRPr/>
            </a:pPr>
            <a:r>
              <a:rPr lang="en-IN" dirty="0">
                <a:latin typeface="Arial" pitchFamily="34" charset="0"/>
                <a:cs typeface="Arial" pitchFamily="34" charset="0"/>
              </a:rPr>
              <a:t>Formal communication </a:t>
            </a:r>
          </a:p>
          <a:p>
            <a:pPr>
              <a:defRPr/>
            </a:pPr>
            <a:r>
              <a:rPr lang="en-IN" dirty="0">
                <a:latin typeface="Arial" pitchFamily="34" charset="0"/>
                <a:cs typeface="Arial" pitchFamily="34" charset="0"/>
              </a:rPr>
              <a:t>Email is quick or easy and costs low</a:t>
            </a:r>
          </a:p>
          <a:p>
            <a:pPr>
              <a:defRPr/>
            </a:pPr>
            <a:r>
              <a:rPr lang="en-IN" dirty="0">
                <a:latin typeface="Arial" pitchFamily="34" charset="0"/>
                <a:cs typeface="Arial" pitchFamily="34" charset="0"/>
              </a:rPr>
              <a:t>Email communication is broadly</a:t>
            </a:r>
          </a:p>
          <a:p>
            <a:pPr>
              <a:buNone/>
              <a:defRPr/>
            </a:pPr>
            <a:r>
              <a:rPr lang="en-IN" dirty="0">
                <a:latin typeface="Arial" pitchFamily="34" charset="0"/>
                <a:cs typeface="Arial" pitchFamily="34" charset="0"/>
              </a:rPr>
              <a:t>     important for business growth</a:t>
            </a:r>
          </a:p>
          <a:p>
            <a:pPr>
              <a:defRPr/>
            </a:pPr>
            <a:r>
              <a:rPr lang="en-IN" dirty="0">
                <a:latin typeface="Arial" pitchFamily="34" charset="0"/>
                <a:cs typeface="Arial" pitchFamily="34" charset="0"/>
              </a:rPr>
              <a:t>Maintains a connection with your</a:t>
            </a:r>
          </a:p>
          <a:p>
            <a:pPr>
              <a:buNone/>
              <a:defRPr/>
            </a:pPr>
            <a:r>
              <a:rPr lang="en-IN" dirty="0">
                <a:latin typeface="Arial" pitchFamily="34" charset="0"/>
                <a:cs typeface="Arial" pitchFamily="34" charset="0"/>
              </a:rPr>
              <a:t> supporters</a:t>
            </a:r>
          </a:p>
          <a:p>
            <a:pPr>
              <a:defRPr/>
            </a:pPr>
            <a:r>
              <a:rPr lang="en-IN" dirty="0">
                <a:latin typeface="Arial" pitchFamily="34" charset="0"/>
                <a:cs typeface="Arial" pitchFamily="34" charset="0"/>
              </a:rPr>
              <a:t>Keeps record of conversations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
        <p:nvSpPr>
          <p:cNvPr id="8" name="Rectangle 7"/>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6434" name="Picture 2" descr="C:\Users\Pushpa\Desktop\images (2.jpg"/>
          <p:cNvPicPr>
            <a:picLocks noChangeAspect="1" noChangeArrowheads="1"/>
          </p:cNvPicPr>
          <p:nvPr/>
        </p:nvPicPr>
        <p:blipFill>
          <a:blip r:embed="rId3"/>
          <a:srcRect/>
          <a:stretch>
            <a:fillRect/>
          </a:stretch>
        </p:blipFill>
        <p:spPr bwMode="auto">
          <a:xfrm>
            <a:off x="6852213" y="1886674"/>
            <a:ext cx="4328931" cy="4201610"/>
          </a:xfrm>
          <a:prstGeom prst="rect">
            <a:avLst/>
          </a:prstGeom>
          <a:noFill/>
        </p:spPr>
      </p:pic>
    </p:spTree>
    <p:extLst>
      <p:ext uri="{BB962C8B-B14F-4D97-AF65-F5344CB8AC3E}">
        <p14:creationId xmlns:p14="http://schemas.microsoft.com/office/powerpoint/2010/main" val="4048845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dirty="0">
                <a:latin typeface="Arial Black" pitchFamily="34" charset="0"/>
              </a:rPr>
              <a:t>Email Etiquette- Definition</a:t>
            </a:r>
            <a:endParaRPr lang="en-AU" dirty="0"/>
          </a:p>
        </p:txBody>
      </p:sp>
      <p:sp>
        <p:nvSpPr>
          <p:cNvPr id="3" name="Content Placeholder 2"/>
          <p:cNvSpPr>
            <a:spLocks noGrp="1"/>
          </p:cNvSpPr>
          <p:nvPr>
            <p:ph idx="1"/>
          </p:nvPr>
        </p:nvSpPr>
        <p:spPr/>
        <p:txBody>
          <a:bodyPr/>
          <a:lstStyle/>
          <a:p>
            <a:pPr lvl="0">
              <a:buNone/>
            </a:pPr>
            <a:r>
              <a:rPr lang="en-AU" dirty="0">
                <a:latin typeface="Arial" pitchFamily="34" charset="0"/>
                <a:cs typeface="Arial" pitchFamily="34" charset="0"/>
              </a:rPr>
              <a:t>  Email etiquette refers to the principles of behaviour that one should use when writing and answering email messages. It is also known as the code of conduct for email communication as it is less personal than phone or in-person conversation.</a:t>
            </a:r>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
        <p:nvSpPr>
          <p:cNvPr id="5" name="Rectangle 4"/>
          <p:cNvSpPr/>
          <p:nvPr/>
        </p:nvSpPr>
        <p:spPr>
          <a:xfrm>
            <a:off x="1956123" y="3460831"/>
            <a:ext cx="7743464" cy="2673752"/>
          </a:xfrm>
          <a:prstGeom prst="rect">
            <a:avLst/>
          </a:prstGeom>
          <a:blipFill rotWithShape="0">
            <a:blip r:embed="rId2"/>
            <a:stretch>
              <a:fillRect/>
            </a:stretch>
          </a:blip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r>
              <a:rPr lang="en-AU" dirty="0"/>
              <a:t> </a:t>
            </a:r>
          </a:p>
        </p:txBody>
      </p:sp>
      <p:sp>
        <p:nvSpPr>
          <p:cNvPr id="7" name="Rectangle 6"/>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dirty="0">
                <a:latin typeface="Arial Black" pitchFamily="34" charset="0"/>
              </a:rPr>
              <a:t>Steps for Writing Professional Email</a:t>
            </a:r>
          </a:p>
        </p:txBody>
      </p:sp>
      <p:sp>
        <p:nvSpPr>
          <p:cNvPr id="3" name="Content Placeholder 2"/>
          <p:cNvSpPr>
            <a:spLocks noGrp="1"/>
          </p:cNvSpPr>
          <p:nvPr>
            <p:ph idx="1"/>
          </p:nvPr>
        </p:nvSpPr>
        <p:spPr/>
        <p:txBody>
          <a:bodyPr numCol="2">
            <a:normAutofit fontScale="85000" lnSpcReduction="10000"/>
          </a:bodyPr>
          <a:lstStyle/>
          <a:p>
            <a:r>
              <a:rPr lang="en-US" sz="3200" dirty="0">
                <a:latin typeface="Arial" panose="020B0604020202020204" pitchFamily="34" charset="0"/>
                <a:cs typeface="Arial" panose="020B0604020202020204" pitchFamily="34" charset="0"/>
              </a:rPr>
              <a:t>1. Use a professional email address.</a:t>
            </a:r>
          </a:p>
          <a:p>
            <a:r>
              <a:rPr lang="en-US" sz="3200" dirty="0">
                <a:latin typeface="Arial" panose="020B0604020202020204" pitchFamily="34" charset="0"/>
                <a:cs typeface="Arial" panose="020B0604020202020204" pitchFamily="34" charset="0"/>
              </a:rPr>
              <a:t>2. Have a compelling subject line.</a:t>
            </a:r>
          </a:p>
          <a:p>
            <a:r>
              <a:rPr lang="en-US" sz="3200" dirty="0">
                <a:latin typeface="Arial" panose="020B0604020202020204" pitchFamily="34" charset="0"/>
                <a:cs typeface="Arial" panose="020B0604020202020204" pitchFamily="34" charset="0"/>
              </a:rPr>
              <a:t>3. Start with an appropriate greeting.</a:t>
            </a:r>
          </a:p>
          <a:p>
            <a:r>
              <a:rPr lang="en-US" sz="3200" dirty="0">
                <a:latin typeface="Arial" panose="020B0604020202020204" pitchFamily="34" charset="0"/>
                <a:cs typeface="Arial" panose="020B0604020202020204" pitchFamily="34" charset="0"/>
              </a:rPr>
              <a:t>4. Have a strong attention grabber.</a:t>
            </a:r>
          </a:p>
          <a:p>
            <a:r>
              <a:rPr lang="en-US" sz="3200" dirty="0">
                <a:latin typeface="Arial" panose="020B0604020202020204" pitchFamily="34" charset="0"/>
                <a:cs typeface="Arial" panose="020B0604020202020204" pitchFamily="34" charset="0"/>
              </a:rPr>
              <a:t>5. Keep your message concise.</a:t>
            </a:r>
          </a:p>
          <a:p>
            <a:r>
              <a:rPr lang="en-US" sz="3200" dirty="0">
                <a:latin typeface="Arial" panose="020B0604020202020204" pitchFamily="34" charset="0"/>
                <a:cs typeface="Arial" panose="020B0604020202020204" pitchFamily="34" charset="0"/>
              </a:rPr>
              <a:t>6. Be consistent with your font.</a:t>
            </a:r>
          </a:p>
          <a:p>
            <a:r>
              <a:rPr lang="en-US" sz="3200" dirty="0">
                <a:latin typeface="Arial" panose="020B0604020202020204" pitchFamily="34" charset="0"/>
                <a:cs typeface="Arial" panose="020B0604020202020204" pitchFamily="34" charset="0"/>
              </a:rPr>
              <a:t>7. Check the tone of your message.</a:t>
            </a:r>
          </a:p>
          <a:p>
            <a:r>
              <a:rPr lang="en-US" sz="3200" dirty="0">
                <a:latin typeface="Arial" panose="020B0604020202020204" pitchFamily="34" charset="0"/>
                <a:cs typeface="Arial" panose="020B0604020202020204" pitchFamily="34" charset="0"/>
              </a:rPr>
              <a:t>8. Write a simple closing.</a:t>
            </a:r>
          </a:p>
          <a:p>
            <a:r>
              <a:rPr lang="en-US" sz="3200" dirty="0">
                <a:latin typeface="Arial" panose="020B0604020202020204" pitchFamily="34" charset="0"/>
                <a:cs typeface="Arial" panose="020B0604020202020204" pitchFamily="34" charset="0"/>
              </a:rPr>
              <a:t>9. Use a professional signature</a:t>
            </a:r>
          </a:p>
          <a:p>
            <a:r>
              <a:rPr lang="en-US" sz="3200" dirty="0">
                <a:latin typeface="Arial" panose="020B0604020202020204" pitchFamily="34" charset="0"/>
                <a:cs typeface="Arial" panose="020B0604020202020204" pitchFamily="34" charset="0"/>
              </a:rPr>
              <a:t>10. Use CC and BCC fields wisely.</a:t>
            </a:r>
          </a:p>
          <a:p>
            <a:r>
              <a:rPr lang="en-US" sz="3200" dirty="0">
                <a:latin typeface="Arial" panose="020B0604020202020204" pitchFamily="34" charset="0"/>
                <a:cs typeface="Arial" panose="020B0604020202020204" pitchFamily="34" charset="0"/>
              </a:rPr>
              <a:t>11. Schedule your emails.</a:t>
            </a:r>
          </a:p>
          <a:p>
            <a:r>
              <a:rPr lang="en-US" sz="3200" dirty="0">
                <a:latin typeface="Arial" panose="020B0604020202020204" pitchFamily="34" charset="0"/>
                <a:cs typeface="Arial" panose="020B0604020202020204" pitchFamily="34" charset="0"/>
              </a:rPr>
              <a:t>12. Do a final spelling and grammar check.</a:t>
            </a:r>
            <a:endParaRPr lang="en-AU" sz="3200" dirty="0">
              <a:latin typeface="Arial" panose="020B0604020202020204"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Tree>
    <p:extLst>
      <p:ext uri="{BB962C8B-B14F-4D97-AF65-F5344CB8AC3E}">
        <p14:creationId xmlns:p14="http://schemas.microsoft.com/office/powerpoint/2010/main" val="3048131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7462" y="360361"/>
            <a:ext cx="10241281" cy="1279527"/>
          </a:xfrm>
        </p:spPr>
        <p:txBody>
          <a:bodyPr>
            <a:normAutofit/>
          </a:bodyPr>
          <a:lstStyle/>
          <a:p>
            <a:pPr algn="ctr"/>
            <a:r>
              <a:rPr lang="en-US" b="1" dirty="0">
                <a:latin typeface="Arial Black" pitchFamily="34" charset="0"/>
              </a:rPr>
              <a:t>Email Etiquette</a:t>
            </a:r>
            <a:endParaRPr lang="en-US" dirty="0">
              <a:latin typeface="Arial Black" pitchFamily="34" charset="0"/>
            </a:endParaRPr>
          </a:p>
        </p:txBody>
      </p:sp>
      <p:sp>
        <p:nvSpPr>
          <p:cNvPr id="3" name="Content Placeholder 2"/>
          <p:cNvSpPr>
            <a:spLocks noGrp="1"/>
          </p:cNvSpPr>
          <p:nvPr>
            <p:ph idx="1"/>
          </p:nvPr>
        </p:nvSpPr>
        <p:spPr>
          <a:xfrm>
            <a:off x="821803" y="1828799"/>
            <a:ext cx="10602409" cy="5029201"/>
          </a:xfrm>
        </p:spPr>
        <p:txBody>
          <a:bodyPr>
            <a:noAutofit/>
          </a:bodyPr>
          <a:lstStyle/>
          <a:p>
            <a:pPr>
              <a:lnSpc>
                <a:spcPct val="100000"/>
              </a:lnSpc>
              <a:spcBef>
                <a:spcPts val="600"/>
              </a:spcBef>
              <a:buClr>
                <a:schemeClr val="folHlink"/>
              </a:buClr>
              <a:buNone/>
              <a:defRPr/>
            </a:pPr>
            <a:r>
              <a:rPr lang="en-IN" sz="2400" b="1" dirty="0">
                <a:latin typeface="Arial" pitchFamily="34" charset="0"/>
                <a:cs typeface="Arial" pitchFamily="34" charset="0"/>
              </a:rPr>
              <a:t> </a:t>
            </a:r>
            <a:r>
              <a:rPr lang="en-IN" dirty="0">
                <a:latin typeface="Arial" pitchFamily="34" charset="0"/>
                <a:cs typeface="Arial" pitchFamily="34" charset="0"/>
              </a:rPr>
              <a:t>Email etiquette or rules are evolving because of our increased use of email. Some general etiquette should be observed.</a:t>
            </a:r>
          </a:p>
          <a:p>
            <a:pPr>
              <a:lnSpc>
                <a:spcPct val="100000"/>
              </a:lnSpc>
              <a:spcBef>
                <a:spcPts val="600"/>
              </a:spcBef>
              <a:buClr>
                <a:schemeClr val="folHlink"/>
              </a:buClr>
              <a:buNone/>
              <a:defRPr/>
            </a:pPr>
            <a:r>
              <a:rPr lang="en-IN" b="1" dirty="0">
                <a:latin typeface="Arial" pitchFamily="34" charset="0"/>
                <a:cs typeface="Arial" pitchFamily="34" charset="0"/>
              </a:rPr>
              <a:t>Need of Email Etiquette for three reasons</a:t>
            </a:r>
          </a:p>
          <a:p>
            <a:pPr>
              <a:lnSpc>
                <a:spcPct val="100000"/>
              </a:lnSpc>
              <a:spcBef>
                <a:spcPts val="600"/>
              </a:spcBef>
              <a:buClr>
                <a:schemeClr val="folHlink"/>
              </a:buClr>
              <a:buFont typeface="Wingdings" pitchFamily="2" charset="2"/>
              <a:buChar char="§"/>
              <a:defRPr/>
            </a:pPr>
            <a:r>
              <a:rPr lang="en-IN" u="sng" dirty="0">
                <a:latin typeface="Arial" pitchFamily="34" charset="0"/>
                <a:cs typeface="Arial" pitchFamily="34" charset="0"/>
              </a:rPr>
              <a:t>Professionalism</a:t>
            </a:r>
            <a:r>
              <a:rPr lang="en-IN" b="1" dirty="0">
                <a:latin typeface="Arial" pitchFamily="34" charset="0"/>
                <a:cs typeface="Arial" pitchFamily="34" charset="0"/>
              </a:rPr>
              <a:t>:</a:t>
            </a:r>
            <a:r>
              <a:rPr lang="en-AU" dirty="0">
                <a:latin typeface="Arial" pitchFamily="34" charset="0"/>
                <a:cs typeface="Arial" pitchFamily="34" charset="0"/>
              </a:rPr>
              <a:t> by using proper email language your            company will convey a professional image.</a:t>
            </a:r>
            <a:endParaRPr lang="en-IN" dirty="0">
              <a:latin typeface="Arial" pitchFamily="34" charset="0"/>
              <a:cs typeface="Arial" pitchFamily="34" charset="0"/>
            </a:endParaRPr>
          </a:p>
          <a:p>
            <a:pPr>
              <a:lnSpc>
                <a:spcPct val="100000"/>
              </a:lnSpc>
              <a:spcBef>
                <a:spcPts val="600"/>
              </a:spcBef>
              <a:buClr>
                <a:schemeClr val="folHlink"/>
              </a:buClr>
              <a:buFont typeface="Wingdings" pitchFamily="2" charset="2"/>
              <a:buChar char="§"/>
              <a:defRPr/>
            </a:pPr>
            <a:r>
              <a:rPr lang="en-IN" u="sng" dirty="0">
                <a:latin typeface="Arial" pitchFamily="34" charset="0"/>
                <a:cs typeface="Arial" pitchFamily="34" charset="0"/>
              </a:rPr>
              <a:t>Efficiency</a:t>
            </a:r>
            <a:r>
              <a:rPr lang="en-IN" b="1" dirty="0">
                <a:latin typeface="Arial" pitchFamily="34" charset="0"/>
                <a:cs typeface="Arial" pitchFamily="34" charset="0"/>
              </a:rPr>
              <a:t>:</a:t>
            </a:r>
            <a:r>
              <a:rPr lang="en-AU" b="1" dirty="0">
                <a:latin typeface="Arial" pitchFamily="34" charset="0"/>
                <a:cs typeface="Arial" pitchFamily="34" charset="0"/>
              </a:rPr>
              <a:t> </a:t>
            </a:r>
            <a:r>
              <a:rPr lang="en-AU" dirty="0">
                <a:latin typeface="Arial" pitchFamily="34" charset="0"/>
                <a:cs typeface="Arial" pitchFamily="34" charset="0"/>
              </a:rPr>
              <a:t>emails that get to the point are much more effective than poorly worded emails.</a:t>
            </a:r>
            <a:endParaRPr lang="en-IN" dirty="0">
              <a:latin typeface="Arial" pitchFamily="34" charset="0"/>
              <a:cs typeface="Arial" pitchFamily="34" charset="0"/>
            </a:endParaRPr>
          </a:p>
          <a:p>
            <a:pPr>
              <a:lnSpc>
                <a:spcPct val="100000"/>
              </a:lnSpc>
              <a:spcBef>
                <a:spcPts val="600"/>
              </a:spcBef>
              <a:buClr>
                <a:schemeClr val="folHlink"/>
              </a:buClr>
              <a:buFont typeface="Wingdings" pitchFamily="2" charset="2"/>
              <a:buChar char="§"/>
              <a:defRPr/>
            </a:pPr>
            <a:r>
              <a:rPr lang="en-IN" u="sng" dirty="0">
                <a:latin typeface="Arial" pitchFamily="34" charset="0"/>
                <a:cs typeface="Arial" pitchFamily="34" charset="0"/>
              </a:rPr>
              <a:t>Protection from liability</a:t>
            </a:r>
            <a:r>
              <a:rPr lang="en-IN" b="1" dirty="0">
                <a:latin typeface="Arial" pitchFamily="34" charset="0"/>
                <a:cs typeface="Arial" pitchFamily="34" charset="0"/>
              </a:rPr>
              <a:t>:</a:t>
            </a:r>
            <a:r>
              <a:rPr lang="en-AU" dirty="0">
                <a:latin typeface="Arial" pitchFamily="34" charset="0"/>
                <a:cs typeface="Arial" pitchFamily="34" charset="0"/>
              </a:rPr>
              <a:t> employee awareness of email risks will protect your company from costly law suits</a:t>
            </a:r>
            <a:r>
              <a:rPr lang="en-AU" dirty="0"/>
              <a:t>. </a:t>
            </a:r>
            <a:br>
              <a:rPr lang="en-IN" dirty="0">
                <a:latin typeface="Arial" pitchFamily="34" charset="0"/>
                <a:cs typeface="Arial" pitchFamily="34" charset="0"/>
              </a:rPr>
            </a:br>
            <a:br>
              <a:rPr lang="en-IN" sz="2400" b="1" dirty="0">
                <a:latin typeface="Arial" pitchFamily="34" charset="0"/>
                <a:cs typeface="Arial" pitchFamily="34" charset="0"/>
              </a:rPr>
            </a:br>
            <a:endParaRPr lang="en-IN" sz="2400" b="1"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702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dirty="0">
                <a:latin typeface="Arial Black" pitchFamily="34" charset="0"/>
              </a:rPr>
              <a:t>Poor Email Content</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
        <p:nvSpPr>
          <p:cNvPr id="5" name="Title 1"/>
          <p:cNvSpPr txBox="1">
            <a:spLocks/>
          </p:cNvSpPr>
          <p:nvPr/>
        </p:nvSpPr>
        <p:spPr>
          <a:xfrm>
            <a:off x="927462" y="360361"/>
            <a:ext cx="10241281" cy="1279527"/>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4400" b="0" i="0" u="none" strike="noStrike" kern="1200" cap="none" spc="0" normalizeH="0" baseline="0" noProof="0" dirty="0">
              <a:ln>
                <a:noFill/>
              </a:ln>
              <a:solidFill>
                <a:schemeClr val="tx1"/>
              </a:solidFill>
              <a:effectLst/>
              <a:uLnTx/>
              <a:uFillTx/>
              <a:latin typeface="Arial Black" pitchFamily="34" charset="0"/>
              <a:ea typeface="+mj-ea"/>
              <a:cs typeface="+mj-cs"/>
            </a:endParaRPr>
          </a:p>
        </p:txBody>
      </p:sp>
      <p:sp>
        <p:nvSpPr>
          <p:cNvPr id="6" name="Content Placeholder 2"/>
          <p:cNvSpPr txBox="1">
            <a:spLocks/>
          </p:cNvSpPr>
          <p:nvPr/>
        </p:nvSpPr>
        <p:spPr>
          <a:xfrm>
            <a:off x="838200" y="1825625"/>
            <a:ext cx="10515600" cy="4351338"/>
          </a:xfrm>
          <a:prstGeom prst="rect">
            <a:avLst/>
          </a:prstGeom>
        </p:spPr>
        <p:txBody>
          <a:bodyPr vert="horz" lIns="91440" tIns="45720" rIns="91440" bIns="45720" rtlCol="0">
            <a:noAutofit/>
          </a:bodyPr>
          <a:lstStyle/>
          <a:p>
            <a:pPr marL="228600" marR="0" lvl="0" indent="-228600" algn="l" defTabSz="914400" rtl="0" eaLnBrk="1" fontAlgn="auto" latinLnBrk="0" hangingPunct="1">
              <a:lnSpc>
                <a:spcPct val="100000"/>
              </a:lnSpc>
              <a:spcBef>
                <a:spcPts val="600"/>
              </a:spcBef>
              <a:spcAft>
                <a:spcPts val="0"/>
              </a:spcAft>
              <a:buClr>
                <a:schemeClr val="folHlink"/>
              </a:buClr>
              <a:buSzTx/>
              <a:buFont typeface="Arial" panose="020B0604020202020204" pitchFamily="34" charset="0"/>
              <a:buNone/>
              <a:tabLst/>
              <a:defRPr/>
            </a:pPr>
            <a:endParaRPr kumimoji="0" lang="en-IN" sz="28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a:p>
            <a:pPr marL="228600" marR="0" lvl="0" indent="-228600" algn="l" defTabSz="914400" rtl="0" eaLnBrk="1" fontAlgn="auto" latinLnBrk="0" hangingPunct="1">
              <a:lnSpc>
                <a:spcPct val="100000"/>
              </a:lnSpc>
              <a:spcBef>
                <a:spcPts val="600"/>
              </a:spcBef>
              <a:spcAft>
                <a:spcPts val="0"/>
              </a:spcAft>
              <a:buClr>
                <a:schemeClr val="folHlink"/>
              </a:buClr>
              <a:buSzTx/>
              <a:buFont typeface="Arial" panose="020B0604020202020204" pitchFamily="34" charset="0"/>
              <a:buNone/>
              <a:tabLst/>
              <a:defRPr/>
            </a:pPr>
            <a:r>
              <a:rPr kumimoji="0" lang="en-IN" sz="2800" b="0" i="0" u="none" strike="noStrike" kern="1200" cap="none" spc="0" normalizeH="0" baseline="0" noProof="0" dirty="0">
                <a:ln>
                  <a:noFill/>
                </a:ln>
                <a:solidFill>
                  <a:schemeClr val="tx1"/>
                </a:solidFill>
                <a:effectLst/>
                <a:uLnTx/>
                <a:uFillTx/>
                <a:latin typeface="Arial" pitchFamily="34" charset="0"/>
                <a:ea typeface="+mn-ea"/>
                <a:cs typeface="Arial" pitchFamily="34" charset="0"/>
              </a:rPr>
              <a:t>	</a:t>
            </a:r>
          </a:p>
          <a:p>
            <a:pPr marL="228600" marR="0" lvl="0" indent="-228600" algn="l" defTabSz="914400" rtl="0" eaLnBrk="1" fontAlgn="auto" latinLnBrk="0" hangingPunct="1">
              <a:lnSpc>
                <a:spcPct val="100000"/>
              </a:lnSpc>
              <a:spcBef>
                <a:spcPts val="600"/>
              </a:spcBef>
              <a:spcAft>
                <a:spcPts val="0"/>
              </a:spcAft>
              <a:buClr>
                <a:schemeClr val="folHlink"/>
              </a:buClr>
              <a:buSzTx/>
              <a:buFont typeface="Arial" panose="020B0604020202020204" pitchFamily="34" charset="0"/>
              <a:buNone/>
              <a:tabLst/>
              <a:defRPr/>
            </a:pPr>
            <a:r>
              <a:rPr kumimoji="0" lang="en-IN" sz="2800" b="0" i="0" u="none" strike="noStrike" kern="1200" cap="none" spc="0" normalizeH="0" baseline="0" noProof="0" dirty="0">
                <a:ln>
                  <a:noFill/>
                </a:ln>
                <a:solidFill>
                  <a:schemeClr val="tx1"/>
                </a:solidFill>
                <a:effectLst/>
                <a:uLnTx/>
                <a:uFillTx/>
                <a:latin typeface="Arial" pitchFamily="34" charset="0"/>
                <a:ea typeface="+mn-ea"/>
                <a:cs typeface="Arial" pitchFamily="34" charset="0"/>
              </a:rPr>
              <a:t>	</a:t>
            </a:r>
          </a:p>
        </p:txBody>
      </p:sp>
      <p:sp>
        <p:nvSpPr>
          <p:cNvPr id="7" name="Slide Number Placeholder 3"/>
          <p:cNvSpPr txBox="1">
            <a:spLocks/>
          </p:cNvSpPr>
          <p:nvPr/>
        </p:nvSpPr>
        <p:spPr>
          <a:xfrm>
            <a:off x="8610600" y="6356350"/>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8" name="Rectangle 7"/>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8241" name="Picture 1"/>
          <p:cNvPicPr>
            <a:picLocks noChangeAspect="1" noChangeArrowheads="1"/>
          </p:cNvPicPr>
          <p:nvPr/>
        </p:nvPicPr>
        <p:blipFill>
          <a:blip r:embed="rId2"/>
          <a:srcRect l="32097" t="25000" r="16925" b="11381"/>
          <a:stretch>
            <a:fillRect/>
          </a:stretch>
        </p:blipFill>
        <p:spPr bwMode="auto">
          <a:xfrm>
            <a:off x="846159" y="1842446"/>
            <a:ext cx="10481481" cy="4299045"/>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Arial Black" pitchFamily="34" charset="0"/>
              </a:rPr>
              <a:t>Better Email Content</a:t>
            </a:r>
            <a:endParaRPr lang="en-AU"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6193" name="Picture 1"/>
          <p:cNvPicPr>
            <a:picLocks noGrp="1" noChangeAspect="1" noChangeArrowheads="1"/>
          </p:cNvPicPr>
          <p:nvPr>
            <p:ph idx="1"/>
          </p:nvPr>
        </p:nvPicPr>
        <p:blipFill>
          <a:blip r:embed="rId2"/>
          <a:srcRect l="32072" t="22969" r="16613" b="9284"/>
          <a:stretch>
            <a:fillRect/>
          </a:stretch>
        </p:blipFill>
        <p:spPr bwMode="auto">
          <a:xfrm>
            <a:off x="873457" y="1828799"/>
            <a:ext cx="10413242" cy="4299045"/>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7462" y="360361"/>
            <a:ext cx="10241281" cy="1279527"/>
          </a:xfrm>
        </p:spPr>
        <p:txBody>
          <a:bodyPr>
            <a:normAutofit/>
          </a:bodyPr>
          <a:lstStyle/>
          <a:p>
            <a:pPr algn="ctr"/>
            <a:r>
              <a:rPr lang="en-IN" b="1" dirty="0">
                <a:latin typeface="Arial Black" pitchFamily="34" charset="0"/>
              </a:rPr>
              <a:t>Email Etiquette Rules</a:t>
            </a:r>
            <a:endParaRPr lang="en-US" dirty="0">
              <a:latin typeface="Arial Black" pitchFamily="34" charset="0"/>
            </a:endParaRPr>
          </a:p>
        </p:txBody>
      </p:sp>
      <p:sp>
        <p:nvSpPr>
          <p:cNvPr id="3" name="Content Placeholder 2"/>
          <p:cNvSpPr>
            <a:spLocks noGrp="1"/>
          </p:cNvSpPr>
          <p:nvPr>
            <p:ph idx="1"/>
          </p:nvPr>
        </p:nvSpPr>
        <p:spPr>
          <a:xfrm>
            <a:off x="838200" y="1825625"/>
            <a:ext cx="10515600" cy="4656198"/>
          </a:xfrm>
        </p:spPr>
        <p:txBody>
          <a:bodyPr numCol="2">
            <a:noAutofit/>
          </a:bodyPr>
          <a:lstStyle/>
          <a:p>
            <a:pPr>
              <a:lnSpc>
                <a:spcPct val="100000"/>
              </a:lnSpc>
              <a:buClr>
                <a:schemeClr val="folHlink"/>
              </a:buClr>
              <a:defRPr/>
            </a:pPr>
            <a:r>
              <a:rPr lang="en-IN" dirty="0">
                <a:latin typeface="Arial" pitchFamily="34" charset="0"/>
                <a:cs typeface="Arial" pitchFamily="34" charset="0"/>
              </a:rPr>
              <a:t>Be concise and to the point</a:t>
            </a:r>
          </a:p>
          <a:p>
            <a:pPr>
              <a:lnSpc>
                <a:spcPct val="100000"/>
              </a:lnSpc>
              <a:buClr>
                <a:schemeClr val="folHlink"/>
              </a:buClr>
              <a:defRPr/>
            </a:pPr>
            <a:r>
              <a:rPr lang="en-IN" dirty="0">
                <a:latin typeface="Arial" pitchFamily="34" charset="0"/>
                <a:cs typeface="Arial" pitchFamily="34" charset="0"/>
              </a:rPr>
              <a:t>Use proper spelling, grammar &amp; punctuation</a:t>
            </a:r>
          </a:p>
          <a:p>
            <a:pPr>
              <a:lnSpc>
                <a:spcPct val="100000"/>
              </a:lnSpc>
              <a:buClr>
                <a:schemeClr val="folHlink"/>
              </a:buClr>
              <a:defRPr/>
            </a:pPr>
            <a:r>
              <a:rPr lang="en-IN" dirty="0">
                <a:latin typeface="Arial" pitchFamily="34" charset="0"/>
                <a:cs typeface="Arial" pitchFamily="34" charset="0"/>
              </a:rPr>
              <a:t>Make it personal. Avoid using BCC and CC unnecessarily</a:t>
            </a:r>
          </a:p>
          <a:p>
            <a:pPr>
              <a:lnSpc>
                <a:spcPct val="100000"/>
              </a:lnSpc>
              <a:buClr>
                <a:schemeClr val="folHlink"/>
              </a:buClr>
              <a:defRPr/>
            </a:pPr>
            <a:r>
              <a:rPr lang="en-IN" dirty="0">
                <a:latin typeface="Arial" pitchFamily="34" charset="0"/>
                <a:cs typeface="Arial" pitchFamily="34" charset="0"/>
              </a:rPr>
              <a:t>Answer swiftly</a:t>
            </a:r>
          </a:p>
          <a:p>
            <a:pPr>
              <a:lnSpc>
                <a:spcPct val="100000"/>
              </a:lnSpc>
              <a:buClr>
                <a:schemeClr val="folHlink"/>
              </a:buClr>
              <a:defRPr/>
            </a:pPr>
            <a:r>
              <a:rPr lang="en-IN" dirty="0">
                <a:latin typeface="Arial" pitchFamily="34" charset="0"/>
                <a:cs typeface="Arial" pitchFamily="34" charset="0"/>
              </a:rPr>
              <a:t>Use a meaningful subject</a:t>
            </a:r>
          </a:p>
          <a:p>
            <a:pPr>
              <a:lnSpc>
                <a:spcPct val="100000"/>
              </a:lnSpc>
              <a:buClr>
                <a:schemeClr val="folHlink"/>
              </a:buClr>
              <a:defRPr/>
            </a:pPr>
            <a:r>
              <a:rPr lang="en-IN" dirty="0">
                <a:latin typeface="Arial" pitchFamily="34" charset="0"/>
                <a:cs typeface="Arial" pitchFamily="34" charset="0"/>
              </a:rPr>
              <a:t>Read email before you send it</a:t>
            </a:r>
          </a:p>
          <a:p>
            <a:pPr>
              <a:lnSpc>
                <a:spcPct val="100000"/>
              </a:lnSpc>
              <a:buClr>
                <a:schemeClr val="folHlink"/>
              </a:buClr>
              <a:defRPr/>
            </a:pPr>
            <a:r>
              <a:rPr lang="en-IN" dirty="0">
                <a:latin typeface="Arial" pitchFamily="34" charset="0"/>
                <a:cs typeface="Arial" pitchFamily="34" charset="0"/>
              </a:rPr>
              <a:t>Keep attachments to  minimum and mention your attachment in the content</a:t>
            </a:r>
          </a:p>
          <a:p>
            <a:pPr>
              <a:lnSpc>
                <a:spcPct val="100000"/>
              </a:lnSpc>
              <a:buClr>
                <a:schemeClr val="folHlink"/>
              </a:buClr>
              <a:defRPr/>
            </a:pPr>
            <a:r>
              <a:rPr lang="en-IN" dirty="0">
                <a:latin typeface="Arial" pitchFamily="34" charset="0"/>
                <a:cs typeface="Arial" pitchFamily="34" charset="0"/>
              </a:rPr>
              <a:t>Take care with abbreviations and emoticons</a:t>
            </a:r>
          </a:p>
          <a:p>
            <a:pPr>
              <a:lnSpc>
                <a:spcPct val="100000"/>
              </a:lnSpc>
              <a:buClr>
                <a:schemeClr val="folHlink"/>
              </a:buClr>
              <a:defRPr/>
            </a:pPr>
            <a:r>
              <a:rPr lang="en-IN" dirty="0">
                <a:latin typeface="Arial" pitchFamily="34" charset="0"/>
                <a:cs typeface="Arial" pitchFamily="34" charset="0"/>
              </a:rPr>
              <a:t>Take care with rich text and HTML messages</a:t>
            </a:r>
          </a:p>
          <a:p>
            <a:pPr>
              <a:lnSpc>
                <a:spcPct val="100000"/>
              </a:lnSpc>
              <a:buClr>
                <a:schemeClr val="folHlink"/>
              </a:buClr>
              <a:defRPr/>
            </a:pPr>
            <a:r>
              <a:rPr lang="en-IN" dirty="0">
                <a:latin typeface="Arial" pitchFamily="34" charset="0"/>
                <a:cs typeface="Arial" pitchFamily="34" charset="0"/>
              </a:rPr>
              <a:t>Use active voice instead of passive voice</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838200" y="1814975"/>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pic>
        <p:nvPicPr>
          <p:cNvPr id="134145" name="Picture 1"/>
          <p:cNvPicPr>
            <a:picLocks noChangeAspect="1" noChangeArrowheads="1"/>
          </p:cNvPicPr>
          <p:nvPr/>
        </p:nvPicPr>
        <p:blipFill>
          <a:blip r:embed="rId2"/>
          <a:srcRect l="29160" t="37500" r="14408" b="20522"/>
          <a:stretch>
            <a:fillRect/>
          </a:stretch>
        </p:blipFill>
        <p:spPr bwMode="auto">
          <a:xfrm>
            <a:off x="846162" y="1815151"/>
            <a:ext cx="10495128" cy="4408227"/>
          </a:xfrm>
          <a:prstGeom prst="rect">
            <a:avLst/>
          </a:prstGeom>
          <a:noFill/>
          <a:ln w="9525">
            <a:noFill/>
            <a:miter lim="800000"/>
            <a:headEnd/>
            <a:tailEnd/>
          </a:ln>
          <a:effectLst/>
        </p:spPr>
      </p:pic>
    </p:spTree>
    <p:extLst>
      <p:ext uri="{BB962C8B-B14F-4D97-AF65-F5344CB8AC3E}">
        <p14:creationId xmlns:p14="http://schemas.microsoft.com/office/powerpoint/2010/main" val="8237023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7462" y="360361"/>
            <a:ext cx="10241281" cy="1279527"/>
          </a:xfrm>
        </p:spPr>
        <p:txBody>
          <a:bodyPr>
            <a:normAutofit/>
          </a:bodyPr>
          <a:lstStyle/>
          <a:p>
            <a:pPr algn="ctr"/>
            <a:r>
              <a:rPr lang="en-IN" b="1" dirty="0">
                <a:latin typeface="Arial Black" pitchFamily="34" charset="0"/>
              </a:rPr>
              <a:t>Poor Usage Examples</a:t>
            </a:r>
            <a:endParaRPr lang="en-US" dirty="0">
              <a:latin typeface="Arial Black" pitchFamily="34" charset="0"/>
            </a:endParaRPr>
          </a:p>
        </p:txBody>
      </p:sp>
      <p:sp>
        <p:nvSpPr>
          <p:cNvPr id="3" name="Content Placeholder 2"/>
          <p:cNvSpPr>
            <a:spLocks noGrp="1"/>
          </p:cNvSpPr>
          <p:nvPr>
            <p:ph idx="1"/>
          </p:nvPr>
        </p:nvSpPr>
        <p:spPr/>
        <p:txBody>
          <a:bodyPr numCol="1">
            <a:noAutofit/>
          </a:bodyPr>
          <a:lstStyle/>
          <a:p>
            <a:pPr>
              <a:lnSpc>
                <a:spcPct val="100000"/>
              </a:lnSpc>
              <a:buClr>
                <a:schemeClr val="folHlink"/>
              </a:buClr>
              <a:defRPr/>
            </a:pPr>
            <a:r>
              <a:rPr lang="en-IN" dirty="0">
                <a:latin typeface="Arial" pitchFamily="34" charset="0"/>
                <a:cs typeface="Arial" pitchFamily="34" charset="0"/>
              </a:rPr>
              <a:t>No subject line</a:t>
            </a:r>
          </a:p>
          <a:p>
            <a:pPr>
              <a:lnSpc>
                <a:spcPct val="100000"/>
              </a:lnSpc>
              <a:buClr>
                <a:schemeClr val="folHlink"/>
              </a:buClr>
              <a:defRPr/>
            </a:pPr>
            <a:r>
              <a:rPr lang="en-IN" dirty="0">
                <a:latin typeface="Arial" pitchFamily="34" charset="0"/>
                <a:cs typeface="Arial" pitchFamily="34" charset="0"/>
              </a:rPr>
              <a:t>Action required and key points    </a:t>
            </a:r>
          </a:p>
          <a:p>
            <a:pPr>
              <a:lnSpc>
                <a:spcPct val="100000"/>
              </a:lnSpc>
              <a:buClr>
                <a:schemeClr val="folHlink"/>
              </a:buClr>
              <a:buNone/>
              <a:defRPr/>
            </a:pPr>
            <a:r>
              <a:rPr lang="en-IN" dirty="0">
                <a:latin typeface="Arial" pitchFamily="34" charset="0"/>
                <a:cs typeface="Arial" pitchFamily="34" charset="0"/>
              </a:rPr>
              <a:t>  are hidden in the message</a:t>
            </a:r>
          </a:p>
          <a:p>
            <a:pPr>
              <a:lnSpc>
                <a:spcPct val="100000"/>
              </a:lnSpc>
              <a:buClr>
                <a:schemeClr val="folHlink"/>
              </a:buClr>
              <a:defRPr/>
            </a:pPr>
            <a:r>
              <a:rPr lang="en-IN" dirty="0">
                <a:latin typeface="Arial" pitchFamily="34" charset="0"/>
                <a:cs typeface="Arial" pitchFamily="34" charset="0"/>
              </a:rPr>
              <a:t>Misusing the global distribution list</a:t>
            </a:r>
          </a:p>
          <a:p>
            <a:pPr>
              <a:lnSpc>
                <a:spcPct val="100000"/>
              </a:lnSpc>
              <a:buClr>
                <a:schemeClr val="folHlink"/>
              </a:buClr>
              <a:defRPr/>
            </a:pPr>
            <a:r>
              <a:rPr lang="en-IN" dirty="0">
                <a:latin typeface="Arial" pitchFamily="34" charset="0"/>
                <a:cs typeface="Arial" pitchFamily="34" charset="0"/>
              </a:rPr>
              <a:t>Discussion that could have</a:t>
            </a:r>
          </a:p>
          <a:p>
            <a:pPr>
              <a:lnSpc>
                <a:spcPct val="100000"/>
              </a:lnSpc>
              <a:buClr>
                <a:schemeClr val="folHlink"/>
              </a:buClr>
              <a:buNone/>
              <a:defRPr/>
            </a:pPr>
            <a:r>
              <a:rPr lang="en-IN" dirty="0">
                <a:latin typeface="Arial" pitchFamily="34" charset="0"/>
                <a:cs typeface="Arial" pitchFamily="34" charset="0"/>
              </a:rPr>
              <a:t>   been done over the phone</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7217" name="Picture 1" descr="C:\Users\Pushpa\Desktop\images.jpg"/>
          <p:cNvPicPr>
            <a:picLocks noChangeAspect="1" noChangeArrowheads="1"/>
          </p:cNvPicPr>
          <p:nvPr/>
        </p:nvPicPr>
        <p:blipFill>
          <a:blip r:embed="rId2"/>
          <a:srcRect/>
          <a:stretch>
            <a:fillRect/>
          </a:stretch>
        </p:blipFill>
        <p:spPr bwMode="auto">
          <a:xfrm>
            <a:off x="7064596" y="2048719"/>
            <a:ext cx="3850331" cy="3889093"/>
          </a:xfrm>
          <a:prstGeom prst="rect">
            <a:avLst/>
          </a:prstGeom>
          <a:noFill/>
        </p:spPr>
      </p:pic>
    </p:spTree>
    <p:extLst>
      <p:ext uri="{BB962C8B-B14F-4D97-AF65-F5344CB8AC3E}">
        <p14:creationId xmlns:p14="http://schemas.microsoft.com/office/powerpoint/2010/main" val="8237023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7462" y="360361"/>
            <a:ext cx="10241281" cy="1279527"/>
          </a:xfrm>
        </p:spPr>
        <p:txBody>
          <a:bodyPr>
            <a:normAutofit/>
          </a:bodyPr>
          <a:lstStyle/>
          <a:p>
            <a:pPr algn="ctr"/>
            <a:r>
              <a:rPr lang="en-IN" b="1" dirty="0">
                <a:latin typeface="Arial Black" pitchFamily="34" charset="0"/>
              </a:rPr>
              <a:t>Use Smart Subject Lines </a:t>
            </a:r>
            <a:endParaRPr lang="en-US" dirty="0">
              <a:latin typeface="Arial Black" pitchFamily="34" charset="0"/>
            </a:endParaRPr>
          </a:p>
        </p:txBody>
      </p:sp>
      <p:sp>
        <p:nvSpPr>
          <p:cNvPr id="3" name="Content Placeholder 2"/>
          <p:cNvSpPr>
            <a:spLocks noGrp="1"/>
          </p:cNvSpPr>
          <p:nvPr>
            <p:ph idx="1"/>
          </p:nvPr>
        </p:nvSpPr>
        <p:spPr/>
        <p:txBody>
          <a:bodyPr numCol="1">
            <a:noAutofit/>
          </a:bodyPr>
          <a:lstStyle/>
          <a:p>
            <a:pPr>
              <a:lnSpc>
                <a:spcPct val="100000"/>
              </a:lnSpc>
              <a:buClr>
                <a:schemeClr val="folHlink"/>
              </a:buClr>
              <a:buNone/>
              <a:defRPr/>
            </a:pPr>
            <a:r>
              <a:rPr lang="en-IN" b="1" dirty="0">
                <a:latin typeface="Arial" pitchFamily="34" charset="0"/>
                <a:cs typeface="Arial" pitchFamily="34" charset="0"/>
              </a:rPr>
              <a:t>Poor Subject Line Examples</a:t>
            </a:r>
          </a:p>
          <a:p>
            <a:pPr>
              <a:lnSpc>
                <a:spcPct val="100000"/>
              </a:lnSpc>
              <a:buClr>
                <a:schemeClr val="folHlink"/>
              </a:buClr>
              <a:defRPr/>
            </a:pPr>
            <a:r>
              <a:rPr lang="en-IN" dirty="0">
                <a:latin typeface="Arial" pitchFamily="34" charset="0"/>
                <a:cs typeface="Arial" pitchFamily="34" charset="0"/>
              </a:rPr>
              <a:t> Weekly Minutes</a:t>
            </a:r>
          </a:p>
          <a:p>
            <a:pPr>
              <a:lnSpc>
                <a:spcPct val="100000"/>
              </a:lnSpc>
              <a:buClr>
                <a:schemeClr val="folHlink"/>
              </a:buClr>
              <a:defRPr/>
            </a:pPr>
            <a:r>
              <a:rPr lang="en-IN" dirty="0">
                <a:latin typeface="Arial" pitchFamily="34" charset="0"/>
                <a:cs typeface="Arial" pitchFamily="34" charset="0"/>
              </a:rPr>
              <a:t> Here are the URLs  </a:t>
            </a:r>
          </a:p>
          <a:p>
            <a:pPr>
              <a:lnSpc>
                <a:spcPct val="100000"/>
              </a:lnSpc>
              <a:buClr>
                <a:schemeClr val="folHlink"/>
              </a:buClr>
              <a:defRPr/>
            </a:pPr>
            <a:r>
              <a:rPr lang="en-IN" dirty="0">
                <a:latin typeface="Arial" pitchFamily="34" charset="0"/>
                <a:cs typeface="Arial" pitchFamily="34" charset="0"/>
              </a:rPr>
              <a:t> Re: presentation</a:t>
            </a:r>
          </a:p>
          <a:p>
            <a:pPr>
              <a:lnSpc>
                <a:spcPct val="100000"/>
              </a:lnSpc>
              <a:buClr>
                <a:schemeClr val="folHlink"/>
              </a:buClr>
              <a:defRPr/>
            </a:pPr>
            <a:r>
              <a:rPr lang="en-IN" dirty="0">
                <a:latin typeface="Arial" pitchFamily="34" charset="0"/>
                <a:cs typeface="Arial" pitchFamily="34" charset="0"/>
              </a:rPr>
              <a:t> (blank subject line)</a:t>
            </a:r>
          </a:p>
          <a:p>
            <a:pPr>
              <a:lnSpc>
                <a:spcPct val="100000"/>
              </a:lnSpc>
              <a:buClr>
                <a:schemeClr val="folHlink"/>
              </a:buClr>
              <a:defRPr/>
            </a:pPr>
            <a:r>
              <a:rPr lang="en-IN" dirty="0">
                <a:latin typeface="Arial" pitchFamily="34" charset="0"/>
                <a:cs typeface="Arial" pitchFamily="34" charset="0"/>
              </a:rPr>
              <a:t> Unrelated subject line  </a:t>
            </a:r>
          </a:p>
          <a:p>
            <a:pPr>
              <a:lnSpc>
                <a:spcPct val="100000"/>
              </a:lnSpc>
              <a:buClr>
                <a:schemeClr val="folHlink"/>
              </a:buClr>
              <a:defRPr/>
            </a:pPr>
            <a:r>
              <a:rPr lang="en-IN" dirty="0">
                <a:latin typeface="Arial" pitchFamily="34" charset="0"/>
                <a:cs typeface="Arial" pitchFamily="34" charset="0"/>
              </a:rPr>
              <a:t>sending an email with an old subject line</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6193" name="Picture 1" descr="C:\Users\Pushpa\Desktop\images.jpg"/>
          <p:cNvPicPr>
            <a:picLocks noChangeAspect="1" noChangeArrowheads="1"/>
          </p:cNvPicPr>
          <p:nvPr/>
        </p:nvPicPr>
        <p:blipFill>
          <a:blip r:embed="rId2"/>
          <a:srcRect/>
          <a:stretch>
            <a:fillRect/>
          </a:stretch>
        </p:blipFill>
        <p:spPr bwMode="auto">
          <a:xfrm>
            <a:off x="7616142" y="2022915"/>
            <a:ext cx="3553428" cy="3764426"/>
          </a:xfrm>
          <a:prstGeom prst="rect">
            <a:avLst/>
          </a:prstGeom>
          <a:noFill/>
        </p:spPr>
      </p:pic>
    </p:spTree>
    <p:extLst>
      <p:ext uri="{BB962C8B-B14F-4D97-AF65-F5344CB8AC3E}">
        <p14:creationId xmlns:p14="http://schemas.microsoft.com/office/powerpoint/2010/main" val="8237023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7462" y="360361"/>
            <a:ext cx="10241281" cy="1279527"/>
          </a:xfrm>
        </p:spPr>
        <p:txBody>
          <a:bodyPr>
            <a:normAutofit/>
          </a:bodyPr>
          <a:lstStyle/>
          <a:p>
            <a:pPr algn="ctr"/>
            <a:r>
              <a:rPr lang="en-IN" b="1" dirty="0">
                <a:latin typeface="Arial Black" pitchFamily="34" charset="0"/>
              </a:rPr>
              <a:t>Use Smart Subject Lines </a:t>
            </a:r>
            <a:endParaRPr lang="en-US" dirty="0">
              <a:latin typeface="Arial Black" pitchFamily="34" charset="0"/>
            </a:endParaRPr>
          </a:p>
        </p:txBody>
      </p:sp>
      <p:sp>
        <p:nvSpPr>
          <p:cNvPr id="3" name="Content Placeholder 2"/>
          <p:cNvSpPr>
            <a:spLocks noGrp="1"/>
          </p:cNvSpPr>
          <p:nvPr>
            <p:ph idx="1"/>
          </p:nvPr>
        </p:nvSpPr>
        <p:spPr/>
        <p:txBody>
          <a:bodyPr numCol="1">
            <a:noAutofit/>
          </a:bodyPr>
          <a:lstStyle/>
          <a:p>
            <a:pPr>
              <a:lnSpc>
                <a:spcPct val="100000"/>
              </a:lnSpc>
              <a:buClr>
                <a:schemeClr val="folHlink"/>
              </a:buClr>
              <a:buNone/>
              <a:defRPr/>
            </a:pPr>
            <a:r>
              <a:rPr lang="en-IN" b="1" dirty="0">
                <a:latin typeface="Arial" pitchFamily="34" charset="0"/>
                <a:cs typeface="Arial" pitchFamily="34" charset="0"/>
              </a:rPr>
              <a:t>Good Subject Line Examples</a:t>
            </a:r>
          </a:p>
          <a:p>
            <a:pPr>
              <a:lnSpc>
                <a:spcPct val="100000"/>
              </a:lnSpc>
              <a:buClr>
                <a:schemeClr val="folHlink"/>
              </a:buClr>
              <a:defRPr/>
            </a:pPr>
            <a:r>
              <a:rPr lang="en-IN" dirty="0">
                <a:latin typeface="Arial" pitchFamily="34" charset="0"/>
                <a:cs typeface="Arial" pitchFamily="34" charset="0"/>
              </a:rPr>
              <a:t> FYI: Meeting minutes from 3/14 discussion</a:t>
            </a:r>
          </a:p>
          <a:p>
            <a:pPr>
              <a:lnSpc>
                <a:spcPct val="100000"/>
              </a:lnSpc>
              <a:buClr>
                <a:schemeClr val="folHlink"/>
              </a:buClr>
              <a:defRPr/>
            </a:pPr>
            <a:r>
              <a:rPr lang="en-IN" dirty="0">
                <a:latin typeface="Arial" pitchFamily="34" charset="0"/>
                <a:cs typeface="Arial" pitchFamily="34" charset="0"/>
              </a:rPr>
              <a:t> Reports Included: Minutes from MRM, all Reports due Friday         4/1</a:t>
            </a:r>
          </a:p>
          <a:p>
            <a:pPr>
              <a:lnSpc>
                <a:spcPct val="100000"/>
              </a:lnSpc>
              <a:buClr>
                <a:schemeClr val="folHlink"/>
              </a:buClr>
              <a:defRPr/>
            </a:pPr>
            <a:r>
              <a:rPr lang="en-IN" dirty="0">
                <a:latin typeface="Arial" pitchFamily="34" charset="0"/>
                <a:cs typeface="Arial" pitchFamily="34" charset="0"/>
              </a:rPr>
              <a:t> DISTRIBUTE: Program agenda &amp; related information</a:t>
            </a:r>
          </a:p>
          <a:p>
            <a:pPr>
              <a:lnSpc>
                <a:spcPct val="100000"/>
              </a:lnSpc>
              <a:buClr>
                <a:schemeClr val="folHlink"/>
              </a:buClr>
              <a:defRPr/>
            </a:pPr>
            <a:r>
              <a:rPr lang="en-IN" dirty="0">
                <a:latin typeface="Arial" pitchFamily="34" charset="0"/>
                <a:cs typeface="Arial" pitchFamily="34" charset="0"/>
              </a:rPr>
              <a:t> </a:t>
            </a:r>
            <a:r>
              <a:rPr lang="en-IN" dirty="0" err="1">
                <a:latin typeface="Arial" pitchFamily="34" charset="0"/>
                <a:cs typeface="Arial" pitchFamily="34" charset="0"/>
              </a:rPr>
              <a:t>Ramesh</a:t>
            </a:r>
            <a:r>
              <a:rPr lang="en-IN" dirty="0">
                <a:latin typeface="Arial" pitchFamily="34" charset="0"/>
                <a:cs typeface="Arial" pitchFamily="34" charset="0"/>
              </a:rPr>
              <a:t>, </a:t>
            </a:r>
            <a:r>
              <a:rPr lang="en-IN" dirty="0" err="1">
                <a:latin typeface="Arial" pitchFamily="34" charset="0"/>
                <a:cs typeface="Arial" pitchFamily="34" charset="0"/>
              </a:rPr>
              <a:t>Kirti</a:t>
            </a:r>
            <a:r>
              <a:rPr lang="en-IN" dirty="0">
                <a:latin typeface="Arial" pitchFamily="34" charset="0"/>
                <a:cs typeface="Arial" pitchFamily="34" charset="0"/>
              </a:rPr>
              <a:t>: need you at noon meeting with your updates</a:t>
            </a:r>
          </a:p>
          <a:p>
            <a:pPr>
              <a:lnSpc>
                <a:spcPct val="100000"/>
              </a:lnSpc>
              <a:buClr>
                <a:schemeClr val="folHlink"/>
              </a:buClr>
              <a:defRPr/>
            </a:pPr>
            <a:r>
              <a:rPr lang="en-IN" dirty="0">
                <a:latin typeface="Arial" pitchFamily="34" charset="0"/>
                <a:cs typeface="Arial" pitchFamily="34" charset="0"/>
              </a:rPr>
              <a:t> AGENDA: Staff meeting Thurs 3/12 10:00 pm</a:t>
            </a:r>
          </a:p>
          <a:p>
            <a:pPr>
              <a:lnSpc>
                <a:spcPct val="100000"/>
              </a:lnSpc>
              <a:buClr>
                <a:schemeClr val="folHlink"/>
              </a:buClr>
              <a:defRPr/>
            </a:pPr>
            <a:r>
              <a:rPr lang="en-IN" dirty="0">
                <a:latin typeface="Arial" pitchFamily="34" charset="0"/>
                <a:cs typeface="Arial" pitchFamily="34" charset="0"/>
              </a:rPr>
              <a:t> Robin: I will attend the MRM &amp; present summary. (EOM)</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7023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7462" y="360361"/>
            <a:ext cx="10241281" cy="1279527"/>
          </a:xfrm>
        </p:spPr>
        <p:txBody>
          <a:bodyPr>
            <a:normAutofit/>
          </a:bodyPr>
          <a:lstStyle/>
          <a:p>
            <a:pPr algn="ctr"/>
            <a:r>
              <a:rPr lang="en-IN" b="1" dirty="0">
                <a:latin typeface="Arial Black" pitchFamily="34" charset="0"/>
              </a:rPr>
              <a:t>Think Before You Click</a:t>
            </a:r>
            <a:endParaRPr lang="en-US" dirty="0">
              <a:latin typeface="Arial Black" pitchFamily="34" charset="0"/>
            </a:endParaRPr>
          </a:p>
        </p:txBody>
      </p:sp>
      <p:sp>
        <p:nvSpPr>
          <p:cNvPr id="3" name="Content Placeholder 2"/>
          <p:cNvSpPr>
            <a:spLocks noGrp="1"/>
          </p:cNvSpPr>
          <p:nvPr>
            <p:ph idx="1"/>
          </p:nvPr>
        </p:nvSpPr>
        <p:spPr/>
        <p:txBody>
          <a:bodyPr numCol="1">
            <a:noAutofit/>
          </a:bodyPr>
          <a:lstStyle/>
          <a:p>
            <a:pPr>
              <a:lnSpc>
                <a:spcPct val="100000"/>
              </a:lnSpc>
              <a:buClr>
                <a:schemeClr val="folHlink"/>
              </a:buClr>
              <a:defRPr/>
            </a:pPr>
            <a:r>
              <a:rPr lang="en-IN" dirty="0">
                <a:latin typeface="Arial" pitchFamily="34" charset="0"/>
                <a:cs typeface="Arial" pitchFamily="34" charset="0"/>
              </a:rPr>
              <a:t>Don’t automatically “REPLY TO ALL”</a:t>
            </a:r>
          </a:p>
          <a:p>
            <a:pPr>
              <a:lnSpc>
                <a:spcPct val="100000"/>
              </a:lnSpc>
              <a:buClr>
                <a:schemeClr val="folHlink"/>
              </a:buClr>
              <a:defRPr/>
            </a:pPr>
            <a:r>
              <a:rPr lang="en-IN" dirty="0">
                <a:latin typeface="Arial" pitchFamily="34" charset="0"/>
                <a:cs typeface="Arial" pitchFamily="34" charset="0"/>
              </a:rPr>
              <a:t>Take one last look at your distribution list – is this email necessary for all recipients. </a:t>
            </a:r>
          </a:p>
          <a:p>
            <a:pPr>
              <a:lnSpc>
                <a:spcPct val="100000"/>
              </a:lnSpc>
              <a:buClr>
                <a:schemeClr val="folHlink"/>
              </a:buClr>
              <a:defRPr/>
            </a:pPr>
            <a:r>
              <a:rPr lang="en-IN" dirty="0" err="1">
                <a:latin typeface="Arial" pitchFamily="34" charset="0"/>
                <a:cs typeface="Arial" pitchFamily="34" charset="0"/>
              </a:rPr>
              <a:t>Eg</a:t>
            </a:r>
            <a:r>
              <a:rPr lang="en-IN" dirty="0">
                <a:latin typeface="Arial" pitchFamily="34" charset="0"/>
                <a:cs typeface="Arial" pitchFamily="34" charset="0"/>
              </a:rPr>
              <a:t>. Welcome Mail – when replying, send it only to the person to be welcomed.</a:t>
            </a:r>
          </a:p>
          <a:p>
            <a:pPr>
              <a:lnSpc>
                <a:spcPct val="100000"/>
              </a:lnSpc>
              <a:buClr>
                <a:schemeClr val="folHlink"/>
              </a:buClr>
              <a:defRPr/>
            </a:pPr>
            <a:r>
              <a:rPr lang="en-IN" dirty="0">
                <a:latin typeface="Arial" pitchFamily="34" charset="0"/>
                <a:cs typeface="Arial" pitchFamily="34" charset="0"/>
              </a:rPr>
              <a:t>Once the email discussion goes beyond 2-3 replies anyway, it’s time to pick up the phone</a:t>
            </a:r>
            <a:r>
              <a:rPr lang="en-IN" sz="3200" dirty="0">
                <a:latin typeface="Arial" pitchFamily="34" charset="0"/>
                <a:cs typeface="Arial" pitchFamily="34" charset="0"/>
              </a:rPr>
              <a:t>.</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7023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7462" y="360361"/>
            <a:ext cx="10241281" cy="1279527"/>
          </a:xfrm>
        </p:spPr>
        <p:txBody>
          <a:bodyPr>
            <a:normAutofit/>
          </a:bodyPr>
          <a:lstStyle/>
          <a:p>
            <a:pPr algn="ctr"/>
            <a:r>
              <a:rPr lang="en-IN" b="1" dirty="0">
                <a:latin typeface="Arial Black" pitchFamily="34" charset="0"/>
              </a:rPr>
              <a:t>General Tips(FONTS)</a:t>
            </a:r>
            <a:endParaRPr lang="en-US" dirty="0">
              <a:latin typeface="Arial Black" pitchFamily="34" charset="0"/>
            </a:endParaRPr>
          </a:p>
        </p:txBody>
      </p:sp>
      <p:sp>
        <p:nvSpPr>
          <p:cNvPr id="3" name="Content Placeholder 2"/>
          <p:cNvSpPr>
            <a:spLocks noGrp="1"/>
          </p:cNvSpPr>
          <p:nvPr>
            <p:ph idx="1"/>
          </p:nvPr>
        </p:nvSpPr>
        <p:spPr>
          <a:xfrm>
            <a:off x="838200" y="1825624"/>
            <a:ext cx="10515600" cy="4737221"/>
          </a:xfrm>
        </p:spPr>
        <p:txBody>
          <a:bodyPr numCol="1">
            <a:noAutofit/>
          </a:bodyPr>
          <a:lstStyle/>
          <a:p>
            <a:pPr>
              <a:lnSpc>
                <a:spcPct val="100000"/>
              </a:lnSpc>
              <a:buClr>
                <a:schemeClr val="folHlink"/>
              </a:buClr>
              <a:buNone/>
              <a:defRPr/>
            </a:pPr>
            <a:r>
              <a:rPr lang="en-IN" dirty="0">
                <a:latin typeface="Arial" pitchFamily="34" charset="0"/>
                <a:cs typeface="Arial" pitchFamily="34" charset="0"/>
              </a:rPr>
              <a:t>-  Use standard font throughout the message content</a:t>
            </a:r>
          </a:p>
          <a:p>
            <a:pPr>
              <a:lnSpc>
                <a:spcPct val="100000"/>
              </a:lnSpc>
              <a:buClr>
                <a:schemeClr val="folHlink"/>
              </a:buClr>
              <a:buNone/>
              <a:defRPr/>
            </a:pPr>
            <a:r>
              <a:rPr lang="en-IN" dirty="0">
                <a:latin typeface="Arial" pitchFamily="34" charset="0"/>
                <a:cs typeface="Arial" pitchFamily="34" charset="0"/>
              </a:rPr>
              <a:t>-  Avoid coloured fonts in a professional email</a:t>
            </a:r>
          </a:p>
          <a:p>
            <a:pPr>
              <a:lnSpc>
                <a:spcPct val="100000"/>
              </a:lnSpc>
              <a:buClr>
                <a:schemeClr val="folHlink"/>
              </a:buClr>
              <a:buFontTx/>
              <a:buChar char="-"/>
              <a:defRPr/>
            </a:pPr>
            <a:r>
              <a:rPr lang="en-IN" dirty="0">
                <a:latin typeface="Arial" pitchFamily="34" charset="0"/>
                <a:cs typeface="Arial" pitchFamily="34" charset="0"/>
              </a:rPr>
              <a:t>Be very specific with the use of bold, italic or underline font style</a:t>
            </a:r>
          </a:p>
          <a:p>
            <a:pPr>
              <a:lnSpc>
                <a:spcPct val="100000"/>
              </a:lnSpc>
              <a:buClr>
                <a:schemeClr val="folHlink"/>
              </a:buClr>
              <a:buFontTx/>
              <a:buChar char="-"/>
              <a:defRPr/>
            </a:pPr>
            <a:r>
              <a:rPr lang="en-IN" dirty="0">
                <a:latin typeface="Arial" pitchFamily="34" charset="0"/>
                <a:cs typeface="Arial" pitchFamily="34" charset="0"/>
              </a:rPr>
              <a:t>Keep the size of the font visible and constant</a:t>
            </a:r>
          </a:p>
          <a:p>
            <a:pPr>
              <a:lnSpc>
                <a:spcPct val="100000"/>
              </a:lnSpc>
              <a:buClr>
                <a:schemeClr val="folHlink"/>
              </a:buClr>
              <a:buFontTx/>
              <a:buChar char="-"/>
              <a:defRPr/>
            </a:pPr>
            <a:r>
              <a:rPr lang="en-IN" dirty="0">
                <a:latin typeface="Arial" pitchFamily="34" charset="0"/>
                <a:cs typeface="Arial" pitchFamily="34" charset="0"/>
              </a:rPr>
              <a:t>Paragraph and line spacing should be legitimate and visually appealing</a:t>
            </a:r>
          </a:p>
          <a:p>
            <a:pPr>
              <a:lnSpc>
                <a:spcPct val="100000"/>
              </a:lnSpc>
              <a:buClr>
                <a:schemeClr val="folHlink"/>
              </a:buClr>
              <a:buFontTx/>
              <a:buChar char="-"/>
              <a:defRPr/>
            </a:pPr>
            <a:r>
              <a:rPr lang="en-IN" dirty="0">
                <a:latin typeface="Arial" pitchFamily="34" charset="0"/>
                <a:cs typeface="Arial" pitchFamily="34" charset="0"/>
              </a:rPr>
              <a:t>Avoid short forms or slang (e.g. ‘u’ instead of ‘you’, ‘y’ instead of ‘why’, ‘r’ instead of ‘are’, etc</a:t>
            </a:r>
            <a:r>
              <a:rPr lang="en-IN" sz="2400" dirty="0">
                <a:latin typeface="Arial" pitchFamily="34" charset="0"/>
                <a:cs typeface="Arial" pitchFamily="34" charset="0"/>
              </a:rPr>
              <a:t>)</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7023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dirty="0">
                <a:latin typeface="Arial Black" pitchFamily="34" charset="0"/>
                <a:cs typeface="Arial" panose="020B0604020202020204" pitchFamily="34" charset="0"/>
              </a:rPr>
              <a:t>Assessment Pattern </a:t>
            </a:r>
            <a:r>
              <a:rPr lang="en-US" dirty="0">
                <a:latin typeface="Arial Black" pitchFamily="34" charset="0"/>
              </a:rPr>
              <a:t>  </a:t>
            </a:r>
          </a:p>
        </p:txBody>
      </p:sp>
      <p:sp>
        <p:nvSpPr>
          <p:cNvPr id="3" name="Content Placeholder 2"/>
          <p:cNvSpPr>
            <a:spLocks noGrp="1"/>
          </p:cNvSpPr>
          <p:nvPr>
            <p:ph idx="1"/>
          </p:nvPr>
        </p:nvSpPr>
        <p:spPr/>
        <p:txBody>
          <a:bodyPr>
            <a:normAutofit lnSpcReduction="10000"/>
          </a:bodyPr>
          <a:lstStyle/>
          <a:p>
            <a:pPr>
              <a:buNone/>
            </a:pPr>
            <a:r>
              <a:rPr lang="en-IN" b="1" dirty="0">
                <a:latin typeface="Arial" pitchFamily="34" charset="0"/>
                <a:cs typeface="Arial" pitchFamily="34" charset="0"/>
              </a:rPr>
              <a:t>Students are assessed on the basis of the following parameters:</a:t>
            </a:r>
          </a:p>
          <a:p>
            <a:pPr>
              <a:buNone/>
            </a:pPr>
            <a:endParaRPr lang="en-US" b="1" dirty="0">
              <a:latin typeface="Arial" pitchFamily="34" charset="0"/>
              <a:cs typeface="Arial" pitchFamily="34" charset="0"/>
            </a:endParaRPr>
          </a:p>
          <a:p>
            <a:r>
              <a:rPr lang="en-US" dirty="0">
                <a:latin typeface="Arial" pitchFamily="34" charset="0"/>
                <a:cs typeface="Arial" pitchFamily="34" charset="0"/>
              </a:rPr>
              <a:t>Hourly Test- 2</a:t>
            </a:r>
          </a:p>
          <a:p>
            <a:r>
              <a:rPr lang="en-US" dirty="0">
                <a:latin typeface="Arial" pitchFamily="34" charset="0"/>
                <a:cs typeface="Arial" pitchFamily="34" charset="0"/>
              </a:rPr>
              <a:t>Assignments</a:t>
            </a:r>
          </a:p>
          <a:p>
            <a:r>
              <a:rPr lang="en-US" dirty="0">
                <a:latin typeface="Arial" pitchFamily="34" charset="0"/>
                <a:cs typeface="Arial" pitchFamily="34" charset="0"/>
              </a:rPr>
              <a:t>Surprise Test</a:t>
            </a:r>
          </a:p>
          <a:p>
            <a:r>
              <a:rPr lang="en-US" dirty="0">
                <a:latin typeface="Arial" pitchFamily="34" charset="0"/>
                <a:cs typeface="Arial" pitchFamily="34" charset="0"/>
              </a:rPr>
              <a:t>Quiz</a:t>
            </a:r>
          </a:p>
          <a:p>
            <a:r>
              <a:rPr lang="en-US">
                <a:latin typeface="Arial" pitchFamily="34" charset="0"/>
                <a:cs typeface="Arial" pitchFamily="34" charset="0"/>
              </a:rPr>
              <a:t>Engagement Task</a:t>
            </a:r>
            <a:endParaRPr lang="en-US" dirty="0">
              <a:latin typeface="Arial" pitchFamily="34" charset="0"/>
              <a:cs typeface="Arial" pitchFamily="34" charset="0"/>
            </a:endParaRPr>
          </a:p>
          <a:p>
            <a:r>
              <a:rPr lang="en-US" dirty="0">
                <a:latin typeface="Arial" pitchFamily="34" charset="0"/>
                <a:cs typeface="Arial" pitchFamily="34" charset="0"/>
              </a:rPr>
              <a:t>End Semester Exam</a:t>
            </a:r>
          </a:p>
          <a:p>
            <a:endParaRPr lang="en-US" sz="2400" dirty="0">
              <a:latin typeface="Arial" pitchFamily="34" charset="0"/>
              <a:cs typeface="Arial" pitchFamily="34" charset="0"/>
            </a:endParaRPr>
          </a:p>
          <a:p>
            <a:endParaRPr lang="en-US" sz="2400" dirty="0">
              <a:latin typeface="Arial" pitchFamily="34" charset="0"/>
              <a:cs typeface="Arial" pitchFamily="34" charset="0"/>
            </a:endParaRPr>
          </a:p>
          <a:p>
            <a:endParaRPr lang="en-IN" sz="2400" dirty="0">
              <a:latin typeface="Arial" pitchFamily="34" charset="0"/>
              <a:cs typeface="Arial" pitchFamily="34" charset="0"/>
            </a:endParaRPr>
          </a:p>
          <a:p>
            <a:pPr>
              <a:buNone/>
            </a:pPr>
            <a:endParaRPr lang="en-US" sz="1600"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8845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b="1" dirty="0">
                <a:latin typeface="Arial Black" pitchFamily="34" charset="0"/>
              </a:rPr>
              <a:t>References </a:t>
            </a:r>
          </a:p>
        </p:txBody>
      </p:sp>
      <p:sp>
        <p:nvSpPr>
          <p:cNvPr id="3" name="Content Placeholder 2"/>
          <p:cNvSpPr>
            <a:spLocks noGrp="1"/>
          </p:cNvSpPr>
          <p:nvPr>
            <p:ph idx="1"/>
          </p:nvPr>
        </p:nvSpPr>
        <p:spPr>
          <a:xfrm>
            <a:off x="838200" y="1825625"/>
            <a:ext cx="10515600" cy="4795094"/>
          </a:xfrm>
        </p:spPr>
        <p:txBody>
          <a:bodyPr>
            <a:noAutofit/>
          </a:bodyPr>
          <a:lstStyle/>
          <a:p>
            <a:pPr>
              <a:lnSpc>
                <a:spcPct val="100000"/>
              </a:lnSpc>
              <a:spcBef>
                <a:spcPts val="600"/>
              </a:spcBef>
            </a:pPr>
            <a:r>
              <a:rPr lang="en-AU" dirty="0">
                <a:latin typeface="Arial" pitchFamily="34" charset="0"/>
                <a:cs typeface="Arial" pitchFamily="34" charset="0"/>
                <a:hlinkClick r:id="rId2"/>
              </a:rPr>
              <a:t>https://jerz.setonhill.edu/writing/e-text/email/</a:t>
            </a:r>
            <a:endParaRPr lang="en-AU" dirty="0">
              <a:latin typeface="Arial" pitchFamily="34" charset="0"/>
              <a:cs typeface="Arial" pitchFamily="34" charset="0"/>
            </a:endParaRPr>
          </a:p>
          <a:p>
            <a:pPr>
              <a:lnSpc>
                <a:spcPct val="100000"/>
              </a:lnSpc>
              <a:spcBef>
                <a:spcPts val="600"/>
              </a:spcBef>
            </a:pPr>
            <a:r>
              <a:rPr lang="en-AU" dirty="0">
                <a:latin typeface="Arial" pitchFamily="34" charset="0"/>
                <a:cs typeface="Arial" pitchFamily="34" charset="0"/>
                <a:hlinkClick r:id="rId3"/>
              </a:rPr>
              <a:t>https://www.indeed.com/career-advice/careerdevelopment/how-to-write-a-professional-email</a:t>
            </a:r>
            <a:endParaRPr lang="en-US" dirty="0">
              <a:latin typeface="Arial" pitchFamily="34" charset="0"/>
              <a:cs typeface="Arial" pitchFamily="34" charset="0"/>
            </a:endParaRPr>
          </a:p>
          <a:p>
            <a:pPr>
              <a:lnSpc>
                <a:spcPct val="100000"/>
              </a:lnSpc>
              <a:spcBef>
                <a:spcPts val="600"/>
              </a:spcBef>
            </a:pPr>
            <a:r>
              <a:rPr lang="en-IN" dirty="0">
                <a:latin typeface="Arial" pitchFamily="34" charset="0"/>
                <a:cs typeface="Arial" pitchFamily="34" charset="0"/>
                <a:hlinkClick r:id="rId4"/>
              </a:rPr>
              <a:t>https://turbofuture.com/internet/Disadvantages-of-Email</a:t>
            </a:r>
            <a:endParaRPr lang="en-US" dirty="0">
              <a:latin typeface="Arial" pitchFamily="34" charset="0"/>
              <a:cs typeface="Arial" pitchFamily="34" charset="0"/>
            </a:endParaRPr>
          </a:p>
          <a:p>
            <a:pPr>
              <a:lnSpc>
                <a:spcPct val="100000"/>
              </a:lnSpc>
              <a:spcBef>
                <a:spcPts val="600"/>
              </a:spcBef>
            </a:pPr>
            <a:r>
              <a:rPr lang="en-US" dirty="0">
                <a:latin typeface="Arial" pitchFamily="34" charset="0"/>
                <a:cs typeface="Arial" pitchFamily="34" charset="0"/>
              </a:rPr>
              <a:t>www.avispl.com/resources/‎</a:t>
            </a:r>
          </a:p>
          <a:p>
            <a:pPr>
              <a:lnSpc>
                <a:spcPct val="100000"/>
              </a:lnSpc>
              <a:spcBef>
                <a:spcPts val="600"/>
              </a:spcBef>
            </a:pPr>
            <a:r>
              <a:rPr lang="en-US" dirty="0">
                <a:latin typeface="Arial" pitchFamily="34" charset="0"/>
                <a:cs typeface="Arial" pitchFamily="34" charset="0"/>
                <a:hlinkClick r:id="rId5"/>
              </a:rPr>
              <a:t>www.slideshare.net/bhunuzz/tele-conferencing-and-video-conferencing</a:t>
            </a:r>
            <a:endParaRPr lang="en-US" dirty="0">
              <a:latin typeface="Arial" pitchFamily="34" charset="0"/>
              <a:cs typeface="Arial" pitchFamily="34" charset="0"/>
            </a:endParaRPr>
          </a:p>
          <a:p>
            <a:pPr>
              <a:lnSpc>
                <a:spcPct val="100000"/>
              </a:lnSpc>
              <a:spcBef>
                <a:spcPts val="600"/>
              </a:spcBef>
            </a:pPr>
            <a:r>
              <a:rPr lang="en-AU" dirty="0">
                <a:latin typeface="Arial" pitchFamily="34" charset="0"/>
                <a:cs typeface="Arial" pitchFamily="34" charset="0"/>
              </a:rPr>
              <a:t>Book </a:t>
            </a:r>
            <a:r>
              <a:rPr lang="en-AU" dirty="0" err="1">
                <a:latin typeface="Arial" pitchFamily="34" charset="0"/>
                <a:cs typeface="Arial" pitchFamily="34" charset="0"/>
              </a:rPr>
              <a:t>Lesikar</a:t>
            </a:r>
            <a:r>
              <a:rPr lang="en-AU" dirty="0">
                <a:latin typeface="Arial" pitchFamily="34" charset="0"/>
                <a:cs typeface="Arial" pitchFamily="34" charset="0"/>
              </a:rPr>
              <a:t> R.V., Petit J.D., Business Communication, Tata McGraw (2016), New Delhi.</a:t>
            </a:r>
          </a:p>
          <a:p>
            <a:pPr>
              <a:lnSpc>
                <a:spcPct val="100000"/>
              </a:lnSpc>
              <a:buNone/>
            </a:pPr>
            <a:br>
              <a:rPr lang="en-US" sz="2400" dirty="0">
                <a:latin typeface="Arial" pitchFamily="34" charset="0"/>
                <a:cs typeface="Arial" pitchFamily="34" charset="0"/>
              </a:rPr>
            </a:br>
            <a:endParaRPr lang="en-US" sz="2400"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1918424"/>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5817</TotalTime>
  <Words>1265</Words>
  <Application>Microsoft Office PowerPoint</Application>
  <PresentationFormat>Widescreen</PresentationFormat>
  <Paragraphs>189</Paragraphs>
  <Slides>20</Slides>
  <Notes>2</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20</vt:i4>
      </vt:variant>
    </vt:vector>
  </HeadingPairs>
  <TitlesOfParts>
    <vt:vector size="33" baseType="lpstr">
      <vt:lpstr>Arial</vt:lpstr>
      <vt:lpstr>Arial Black</vt:lpstr>
      <vt:lpstr>Calibri</vt:lpstr>
      <vt:lpstr>Calibri Light</vt:lpstr>
      <vt:lpstr>Casper</vt:lpstr>
      <vt:lpstr>Georgia</vt:lpstr>
      <vt:lpstr>Karla</vt:lpstr>
      <vt:lpstr>Raleway ExtraBold</vt:lpstr>
      <vt:lpstr>Times New Roman</vt:lpstr>
      <vt:lpstr>Wingdings</vt:lpstr>
      <vt:lpstr>1_Office Theme</vt:lpstr>
      <vt:lpstr>Contents Slide Master</vt:lpstr>
      <vt:lpstr>CorelDRAW</vt:lpstr>
      <vt:lpstr>PowerPoint Presentation</vt:lpstr>
      <vt:lpstr>COURSE OBJECTIVES </vt:lpstr>
      <vt:lpstr>Course Outcomes</vt:lpstr>
      <vt:lpstr>Introduction</vt:lpstr>
      <vt:lpstr>Four Types of Emails</vt:lpstr>
      <vt:lpstr>Elements of an Email</vt:lpstr>
      <vt:lpstr>Role of Email Communication  in Business</vt:lpstr>
      <vt:lpstr>Email Etiquette- Definition</vt:lpstr>
      <vt:lpstr>Steps for Writing Professional Email</vt:lpstr>
      <vt:lpstr>Email Etiquette</vt:lpstr>
      <vt:lpstr>Poor Email Content</vt:lpstr>
      <vt:lpstr>Better Email Content</vt:lpstr>
      <vt:lpstr>Email Etiquette Rules</vt:lpstr>
      <vt:lpstr>Poor Usage Examples</vt:lpstr>
      <vt:lpstr>Use Smart Subject Lines </vt:lpstr>
      <vt:lpstr>Use Smart Subject Lines </vt:lpstr>
      <vt:lpstr>Think Before You Click</vt:lpstr>
      <vt:lpstr>General Tips(FONTS)</vt:lpstr>
      <vt:lpstr>Assessment Pattern   </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Vishal Monga</cp:lastModifiedBy>
  <cp:revision>434</cp:revision>
  <dcterms:created xsi:type="dcterms:W3CDTF">2019-01-09T10:33:58Z</dcterms:created>
  <dcterms:modified xsi:type="dcterms:W3CDTF">2023-07-17T06:47:23Z</dcterms:modified>
</cp:coreProperties>
</file>