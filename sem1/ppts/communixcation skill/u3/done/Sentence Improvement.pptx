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22"/>
  </p:notesMasterIdLst>
  <p:handoutMasterIdLst>
    <p:handoutMasterId r:id="rId23"/>
  </p:handoutMasterIdLst>
  <p:sldIdLst>
    <p:sldId id="384" r:id="rId3"/>
    <p:sldId id="375" r:id="rId4"/>
    <p:sldId id="325" r:id="rId5"/>
    <p:sldId id="280" r:id="rId6"/>
    <p:sldId id="286" r:id="rId7"/>
    <p:sldId id="287" r:id="rId8"/>
    <p:sldId id="290" r:id="rId9"/>
    <p:sldId id="318" r:id="rId10"/>
    <p:sldId id="320" r:id="rId11"/>
    <p:sldId id="321" r:id="rId12"/>
    <p:sldId id="326" r:id="rId13"/>
    <p:sldId id="322" r:id="rId14"/>
    <p:sldId id="302" r:id="rId15"/>
    <p:sldId id="327" r:id="rId16"/>
    <p:sldId id="319" r:id="rId17"/>
    <p:sldId id="324" r:id="rId18"/>
    <p:sldId id="382" r:id="rId19"/>
    <p:sldId id="284" r:id="rId20"/>
    <p:sldId id="38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7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7/17/2023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7/17/2023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7/17/2023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asmartstudyzone.blogspot.com/2019/01/idioms-and-phrases-related-to-love.html?m=0" TargetMode="Externa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azabnews.com/tense-chart/" TargetMode="External"/><Relationship Id="rId2" Type="http://schemas.openxmlformats.org/officeDocument/2006/relationships/hyperlink" Target="https://www.embibe.com/exams/chapter/sentence-improvement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55050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327932" y="5844357"/>
            <a:ext cx="4312302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Sentence Improvement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447800" y="1554480"/>
            <a:ext cx="946404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of Liberal Arts and Humanities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Name – Communication Skills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Code – 23PCH-105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4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4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endParaRPr lang="en-US" sz="20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156142" y="629692"/>
            <a:ext cx="781081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dirty="0">
                <a:latin typeface="Arial Black" pitchFamily="34" charset="0"/>
                <a:ea typeface="Karla" pitchFamily="2" charset="0"/>
                <a:cs typeface="Karla" pitchFamily="2" charset="0"/>
              </a:rPr>
              <a:t>COURSE OBJECTIVES</a:t>
            </a:r>
            <a:br>
              <a:rPr lang="en-US" sz="2000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0698" y="2285999"/>
          <a:ext cx="10708342" cy="377090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13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5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67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Augment students overall communication and interpersonal skills by making them realize the importance of good oral and written English Language in professional life.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Enrich their reading capability with special emphasis on expanding vocabulary and grammatical formations.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Build exceptional speaking, reading and writing skills by correcting grammatical errors and pronunciation through practice.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Times New Roman" panose="02020603050405020304" pitchFamily="18" charset="0"/>
                          <a:cs typeface="Arial" pitchFamily="34" charset="0"/>
                        </a:rPr>
                        <a:t>Enhances soft skills by fostering self awareness, confidence and a positive attitude in students’ ability to communicate effectively in English.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9887652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92162" y="1616818"/>
            <a:ext cx="29562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The Course aims to: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574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70183" y="305158"/>
            <a:ext cx="4967986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Arial Black" pitchFamily="34" charset="0"/>
                <a:ea typeface="Karla" pitchFamily="2" charset="0"/>
                <a:cs typeface="Karla" pitchFamily="2" charset="0"/>
              </a:rPr>
              <a:t>COURSE OUTCOMES</a:t>
            </a:r>
            <a:endParaRPr lang="en-US" sz="4400" dirty="0"/>
          </a:p>
        </p:txBody>
      </p:sp>
      <p:sp>
        <p:nvSpPr>
          <p:cNvPr id="10" name="Rectangle 9"/>
          <p:cNvSpPr/>
          <p:nvPr/>
        </p:nvSpPr>
        <p:spPr>
          <a:xfrm>
            <a:off x="102262" y="1704463"/>
            <a:ext cx="37321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Arial" pitchFamily="34" charset="0"/>
                <a:cs typeface="Arial" pitchFamily="34" charset="0"/>
              </a:rPr>
              <a:t>The students are expected 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3A4B3F-EF85-50AD-61EF-2CD21479CFB9}"/>
              </a:ext>
            </a:extLst>
          </p:cNvPr>
          <p:cNvSpPr txBox="1"/>
          <p:nvPr/>
        </p:nvSpPr>
        <p:spPr>
          <a:xfrm>
            <a:off x="9293651" y="6331375"/>
            <a:ext cx="3271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u="sng" dirty="0">
                <a:hlinkClick r:id="rId2"/>
              </a:rPr>
              <a:t>...</a:t>
            </a:r>
          </a:p>
          <a:p>
            <a:r>
              <a:rPr lang="en-IN" sz="1200" u="sng" dirty="0">
                <a:latin typeface="Arial" pitchFamily="34" charset="0"/>
                <a:cs typeface="Arial" pitchFamily="34" charset="0"/>
                <a:hlinkClick r:id="rId2"/>
              </a:rPr>
              <a:t>asmartstudyzone.blogspot.com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B52EAB1-3937-56C8-B761-4B3C947D777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00"/>
          <a:stretch/>
        </p:blipFill>
        <p:spPr>
          <a:xfrm>
            <a:off x="7141282" y="503514"/>
            <a:ext cx="4488180" cy="5553325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6406936-B55A-DBDD-8913-E4685E249A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026768"/>
              </p:ext>
            </p:extLst>
          </p:nvPr>
        </p:nvGraphicFramePr>
        <p:xfrm>
          <a:off x="187992" y="2104573"/>
          <a:ext cx="6670497" cy="449580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43484">
                  <a:extLst>
                    <a:ext uri="{9D8B030D-6E8A-4147-A177-3AD203B41FA5}">
                      <a16:colId xmlns:a16="http://schemas.microsoft.com/office/drawing/2014/main" val="2260446928"/>
                    </a:ext>
                  </a:extLst>
                </a:gridCol>
                <a:gridCol w="4854552">
                  <a:extLst>
                    <a:ext uri="{9D8B030D-6E8A-4147-A177-3AD203B41FA5}">
                      <a16:colId xmlns:a16="http://schemas.microsoft.com/office/drawing/2014/main" val="3818319663"/>
                    </a:ext>
                  </a:extLst>
                </a:gridCol>
                <a:gridCol w="1272461">
                  <a:extLst>
                    <a:ext uri="{9D8B030D-6E8A-4147-A177-3AD203B41FA5}">
                      <a16:colId xmlns:a16="http://schemas.microsoft.com/office/drawing/2014/main" val="1724366301"/>
                    </a:ext>
                  </a:extLst>
                </a:gridCol>
              </a:tblGrid>
              <a:tr h="76399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CO Number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Title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 </a:t>
                      </a:r>
                      <a:endParaRPr lang="en-IN" sz="1200" b="1" dirty="0"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Level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94774232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CO1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appropriate Listening, Speaking, Reading and Writing Skills (LSRW Skills) with correct non-verbal cues to attain expertise in soft skills.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02657675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CO2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correct contextual and comprehensible written text in the form of paragraph writing, short compositions business correspondence, using logical support and argument in a wide range of communication situations.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599706455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CO3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Demonstrate linguistic competence while speaking and during presentations through accuracy in grammatical usage, vocabulary, pronunciation and intonation.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10233323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CO4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Evaluate information as critical readers, speakers and writers applying ethics in communication and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being sensitive in cross cultural communication.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Evaluate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51876097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CO5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Create original, digital content for websites, blogs, vlogs and personal social media profiles etc.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Create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4829703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What are Sentences?</a:t>
            </a:r>
            <a:r>
              <a:rPr lang="en-US" dirty="0">
                <a:latin typeface="Arial Black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 Black" pitchFamily="34" charset="0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 </a:t>
            </a:r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sentence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is generally defined as a word or a group of words that expresses a thorough idea by giving a statement/order, or asking a question, or exclaiming.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 </a:t>
            </a:r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sentence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is the largest unit of any language. In English, it begins with a capital letter and ends with a full-stop, or a question mark, or an exclamation mark.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For e.g. </a:t>
            </a: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:-  		</a:t>
            </a:r>
            <a:r>
              <a:rPr lang="en-US" b="0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 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 a good boy (statement)</a:t>
            </a:r>
            <a:b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                  Is he a good boy? (question),</a:t>
            </a:r>
            <a:b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                  What a nice weather! (exclaiming).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Arial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634549" y="6406157"/>
            <a:ext cx="1998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   Shutterstock.com</a:t>
            </a:r>
            <a:endParaRPr lang="en-IN" sz="1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IN" dirty="0">
                <a:latin typeface="Arial Black" pitchFamily="34" charset="0"/>
              </a:rPr>
              <a:t>Sentence Improvement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019800" cy="435133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Sentence improvement is </a:t>
            </a:r>
            <a:r>
              <a:rPr lang="en-US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 type of grammatical practice where a sentence is given with a word or a phrase that requires grammatical changes or improvement.</a:t>
            </a:r>
          </a:p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 sentence requires modification grammatically and contextually to have a better understanding of the same.</a:t>
            </a:r>
            <a:r>
              <a:rPr lang="en-US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</a:t>
            </a:r>
            <a:endParaRPr lang="en-IN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C58896-0772-DED0-DCCF-2B169B9FFAA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63" b="21843"/>
          <a:stretch/>
        </p:blipFill>
        <p:spPr>
          <a:xfrm>
            <a:off x="6929718" y="1825625"/>
            <a:ext cx="4698626" cy="43513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dirty="0">
                <a:latin typeface="Arial Black" pitchFamily="34" charset="0"/>
              </a:rPr>
              <a:t>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Before you look at the choices, read the sentence and think of a word that makes sense.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Look at all the possible answers before you make your final choice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 double-blank sentences, go through the answers, testing the first word in each choice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 your knowledge of etymology and parts of speech to get at the meanings of unfamiliar words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Identify trigger words, understand their function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Break down complex sentences into simpler components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Develop intuitive sense by reading extensively on as many new areas as you can explore.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9615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dirty="0">
                <a:latin typeface="Arial Black" pitchFamily="34" charset="0"/>
                <a:cs typeface="Arial" pitchFamily="34" charset="0"/>
              </a:rPr>
              <a:t>Improvement Based on Subject – Verb Agreement</a:t>
            </a:r>
            <a:endParaRPr lang="en-IN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811589" y="6217920"/>
            <a:ext cx="27823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Pinterest.com</a:t>
            </a:r>
            <a:endParaRPr lang="en-IN" sz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9E4E57-FAB9-9418-85B7-5A8C991B8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512859" cy="4351338"/>
          </a:xfrm>
        </p:spPr>
        <p:txBody>
          <a:bodyPr>
            <a:normAutofit/>
          </a:bodyPr>
          <a:lstStyle/>
          <a:p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singular subject will take a singular verb.</a:t>
            </a:r>
          </a:p>
          <a:p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Verb ending with ‘-s’ is singular.</a:t>
            </a:r>
          </a:p>
          <a:p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phrase “one of the” will always take a plural subject and a singular auxiliary verb after the subject.</a:t>
            </a:r>
          </a:p>
          <a:p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Sentence using ‘each’ or ‘every’ will take a singular subject. E.g. Every child in the village was vaccinated.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E88AECE-3C77-A7BF-91B6-25E39610638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7430" y="1825625"/>
            <a:ext cx="3736369" cy="4261410"/>
          </a:xfr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572D8CB-B2D5-C24C-A171-6784241C8517}"/>
              </a:ext>
            </a:extLst>
          </p:cNvPr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Arial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  <a:cs typeface="Arial" pitchFamily="34" charset="0"/>
              </a:rPr>
              <a:t>Improvement Based on tenses</a:t>
            </a:r>
            <a:endParaRPr lang="en-IN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D31086-D2E6-095A-A468-C5A1DE2B53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Tense Chart With Rules And Examples PDF | Gazab News">
            <a:extLst>
              <a:ext uri="{FF2B5EF4-FFF2-40B4-BE49-F238E27FC236}">
                <a16:creationId xmlns:a16="http://schemas.microsoft.com/office/drawing/2014/main" id="{D1B4EFB2-5A0D-469E-D92C-25583E532A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35"/>
          <a:stretch/>
        </p:blipFill>
        <p:spPr bwMode="auto">
          <a:xfrm>
            <a:off x="838199" y="1825624"/>
            <a:ext cx="10515599" cy="4667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5895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A51FB-1811-C459-2CA9-43C21B4D6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i="0" dirty="0">
                <a:effectLst/>
                <a:latin typeface="Arial Black" panose="020B0A04020102020204" pitchFamily="34" charset="0"/>
              </a:rPr>
              <a:t>Improvement Based on Preposition</a:t>
            </a:r>
            <a:endParaRPr lang="en-GB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C032B-8CC2-3E64-9DB7-EB4749817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1785283"/>
            <a:ext cx="10874189" cy="4530725"/>
          </a:xfrm>
        </p:spPr>
        <p:txBody>
          <a:bodyPr>
            <a:noAutofit/>
          </a:bodyPr>
          <a:lstStyle/>
          <a:p>
            <a:r>
              <a:rPr lang="en-US" sz="24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At’ is Used to Describe a Specific Time or Location. E.g., I met him at the station. </a:t>
            </a:r>
          </a:p>
          <a:p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‘On’ is used for days or dates. E.g., Americans celebrate Independence Day on the 4th of July. The last holiday was on Monday.</a:t>
            </a:r>
          </a:p>
          <a:p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‘For’ is used to describe a duration of time. E.g., The show went on for four hours.</a:t>
            </a:r>
          </a:p>
          <a:p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‘Since’ is used to describe a specific point in time. E.g. It has been raining since yesterday. The lecture has been going on since 4 </a:t>
            </a:r>
            <a:r>
              <a:rPr lang="en-US" sz="2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p.m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‘In’ is used to describe a specific time of the day, week, month or year. E.g. I play tennis in the morning. The crop is harvested in summer.</a:t>
            </a:r>
          </a:p>
          <a:p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‘In’ is also used to describe a specific location that is in the interior of something. It is also used to describe a large area. E.g., The cat was in the box. I was in Canada.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2BF7E3-3EEC-1C98-1DD0-713E00100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85A48-17FB-E9CA-26FA-C0D3FC8AB9E6}"/>
              </a:ext>
            </a:extLst>
          </p:cNvPr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936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C051-C9B6-A405-E626-11ADFC18A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Improvement Based on Pronouns</a:t>
            </a:r>
            <a:endParaRPr lang="en-GB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02496-44EE-4E78-6134-5EC3BF24A3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659036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Nominative pronouns are used to denote the subject of a sentence. E.g. I, he, she etc.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Object pronouns are used to denote the object of a sentence. E.g. Me, him, her etc.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Possessive pronouns denote possession or ownership of something. E.g. His, hers, yours etc.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03F7BA-E415-8EF0-6DD1-8B04F09F5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F0CA1B-21C5-F400-2849-B81ABFED2BF4}"/>
              </a:ext>
            </a:extLst>
          </p:cNvPr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0C047C-5918-B6E0-BCD5-12E2D0AF4406}"/>
              </a:ext>
            </a:extLst>
          </p:cNvPr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Arial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461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C051-C9B6-A405-E626-11ADFC18A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Improvement Based on Pronouns</a:t>
            </a:r>
            <a:endParaRPr lang="en-GB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02496-44EE-4E78-6134-5EC3BF24A3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659036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Reflexive pronouns are used when the subject and object of a sentence are the same. E.g., Himself, herself, yourself, etc.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‘Who’ is a pronoun used to refer to the subject of a sentence. E.g. Who is singing? ‘Whom’ is used to refer to the object of a sentence. E.g. To whom should I refer to in the letter? If the answer is ‘he’, use ‘who’. ., If the answer is ‘him’, use ‘whom’.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03F7BA-E415-8EF0-6DD1-8B04F09F5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F0CA1B-21C5-F400-2849-B81ABFED2BF4}"/>
              </a:ext>
            </a:extLst>
          </p:cNvPr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FC9B0E-B5FC-C413-117A-B74582FE4FAE}"/>
              </a:ext>
            </a:extLst>
          </p:cNvPr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Arial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031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D6379-C9CB-DEF9-E772-F0D29B60B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Improvement Based on Parallelism and Vocabulary</a:t>
            </a:r>
            <a:endParaRPr lang="en-GB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253C5-CE21-17A1-8A06-97D93E407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Words of the same quality or indicating similar functions should be in a similar format. E.g. He is texting and driving. (</a:t>
            </a:r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correct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He is texting and drive. (</a:t>
            </a:r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incorrect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Words similar in pronunciation may have different meanings. For example, affect is a verb which means impact. Effect is a noun which indicates the result of a change. Later means at a time in the future, latter means second of the two things mentioned.</a:t>
            </a:r>
          </a:p>
          <a:p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Some words are more appropriate in certain situations. For example: ‘The jury reached a verdict’ is more appropriate than ‘the jury reached a decision’.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2FF2B0-438A-1777-6B95-773A71215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47A5DF-9FE8-AA55-B2BF-481D38DE7347}"/>
              </a:ext>
            </a:extLst>
          </p:cNvPr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Arial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02D38F-181A-C654-4077-C1409D25C75F}"/>
              </a:ext>
            </a:extLst>
          </p:cNvPr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074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IN" dirty="0">
                <a:latin typeface="Arial Black" pitchFamily="34" charset="0"/>
              </a:rPr>
              <a:t>Tips to Improve a sentence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C797C18-8CC0-2F85-E39F-0EF31E9FB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Cause and Effect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sentences framed with the words like ‘so’, ‘since’, ‘as a result of ‘, ‘because’, ‘therefore’ hints the cause and effect.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Ex; the child ate an Ice-cream, so, he ____.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a) Caught cold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b) Was thrilled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c) Decided to eat one more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d) Wanted to buy Ice cream shop.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724AAE-E0EA-6054-7B9D-B9C69D00F57E}"/>
              </a:ext>
            </a:extLst>
          </p:cNvPr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Arial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IN" dirty="0">
                <a:latin typeface="Arial Black" pitchFamily="34" charset="0"/>
              </a:rPr>
              <a:t>Tips to Improve a sentence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C797C18-8CC0-2F85-E39F-0EF31E9FB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Punctuations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marks like Colon, Semicolon, Coma, means something more, gives more information. 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Ex; 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“The politician was acting according to the interests”, of his _____ in his own town. 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a) Participants 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b) Passers by 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c) Supporters 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d) Commitments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724AAE-E0EA-6054-7B9D-B9C69D00F57E}"/>
              </a:ext>
            </a:extLst>
          </p:cNvPr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Arial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612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05F65-86BF-1C40-C8B3-037D05D46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Tips to Improve a sentence</a:t>
            </a:r>
            <a:endParaRPr lang="en-GB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E2897-6044-27E8-E8B0-BF75022C4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c)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Parts of Speech 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 one is good at identifying the parts of speech in the structure of the sentence, can easily pick the right answer.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Ex;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Shakespeare has gained extra ordinary ______ throughout the world. a) Aggressively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b) Abdicating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c) Momentous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d) Recognition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579C9-26A7-B9A6-F3E4-145A36E58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41407F-87BB-52BC-F506-7EE67E510733}"/>
              </a:ext>
            </a:extLst>
          </p:cNvPr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Arial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E2ABC0-77DC-7ECE-13E8-0C89769AD1A0}"/>
              </a:ext>
            </a:extLst>
          </p:cNvPr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722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  <a:cs typeface="Arial" panose="020B0604020202020204" pitchFamily="34" charset="0"/>
              </a:rPr>
              <a:t>Applications  </a:t>
            </a:r>
            <a:r>
              <a:rPr lang="en-US" dirty="0">
                <a:latin typeface="Arial Black" pitchFamily="34" charset="0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Applicable to personal and professional life.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Will strengthen the grammar skills of students.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Will  strengthen students’ communication skills.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Students will be able to write better both at college and at workplace in future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71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  <a:cs typeface="Arial" panose="020B0604020202020204" pitchFamily="34" charset="0"/>
              </a:rPr>
              <a:t>Assessment Pattern </a:t>
            </a:r>
            <a:r>
              <a:rPr lang="en-US" dirty="0">
                <a:latin typeface="Arial Black" pitchFamily="34" charset="0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IN" b="1" dirty="0">
                <a:latin typeface="Arial" pitchFamily="34" charset="0"/>
                <a:cs typeface="Arial" pitchFamily="34" charset="0"/>
              </a:rPr>
              <a:t>Students are assessed on the basis of the following parameters:</a:t>
            </a:r>
          </a:p>
          <a:p>
            <a:pPr>
              <a:buNone/>
            </a:pPr>
            <a:endParaRPr lang="en-US" b="1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Hourly Test- 2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Assignments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Surprise Test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Quiz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Engagement Task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End Semester Exam</a:t>
            </a: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endParaRPr lang="en-IN" sz="24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References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509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AU" sz="2200" dirty="0">
                <a:latin typeface="Arial" pitchFamily="34" charset="0"/>
                <a:cs typeface="Arial" pitchFamily="34" charset="0"/>
              </a:rPr>
              <a:t>Book </a:t>
            </a:r>
            <a:r>
              <a:rPr lang="en-AU" sz="2200" dirty="0" err="1">
                <a:latin typeface="Arial" pitchFamily="34" charset="0"/>
                <a:cs typeface="Arial" pitchFamily="34" charset="0"/>
              </a:rPr>
              <a:t>Lesikar</a:t>
            </a:r>
            <a:r>
              <a:rPr lang="en-AU" sz="2200" dirty="0">
                <a:latin typeface="Arial" pitchFamily="34" charset="0"/>
                <a:cs typeface="Arial" pitchFamily="34" charset="0"/>
              </a:rPr>
              <a:t> R.V., Petit J.D., Business Communication, Tata McGraw (2016), New Delhi.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AU" sz="2200" dirty="0">
                <a:latin typeface="Arial" pitchFamily="34" charset="0"/>
                <a:cs typeface="Arial" pitchFamily="34" charset="0"/>
                <a:hlinkClick r:id="rId2"/>
              </a:rPr>
              <a:t>https://www.embibe.com/exams/chapter/sentence-improvement/</a:t>
            </a:r>
            <a:endParaRPr lang="en-AU" sz="22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AU" sz="2200">
                <a:latin typeface="Arial" pitchFamily="34" charset="0"/>
                <a:cs typeface="Arial" pitchFamily="34" charset="0"/>
                <a:hlinkClick r:id="rId3"/>
              </a:rPr>
              <a:t>https://www.gazabnews.com/tense-chart/</a:t>
            </a:r>
            <a:endParaRPr lang="en-AU" sz="220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AU" sz="22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  <a:buNone/>
            </a:pPr>
            <a:br>
              <a:rPr lang="en-US" sz="2200" dirty="0">
                <a:latin typeface="Arial" pitchFamily="34" charset="0"/>
                <a:cs typeface="Arial" pitchFamily="34" charset="0"/>
              </a:rPr>
            </a:br>
            <a:endParaRPr lang="en-US" sz="2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1543</TotalTime>
  <Words>1437</Words>
  <Application>Microsoft Office PowerPoint</Application>
  <PresentationFormat>Widescreen</PresentationFormat>
  <Paragraphs>136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Arial</vt:lpstr>
      <vt:lpstr>Arial</vt:lpstr>
      <vt:lpstr>Arial Black</vt:lpstr>
      <vt:lpstr>Calibri</vt:lpstr>
      <vt:lpstr>Calibri Light</vt:lpstr>
      <vt:lpstr>Casper</vt:lpstr>
      <vt:lpstr>Karla</vt:lpstr>
      <vt:lpstr>Raleway ExtraBold</vt:lpstr>
      <vt:lpstr>Times New Roman</vt:lpstr>
      <vt:lpstr>1_Office Theme</vt:lpstr>
      <vt:lpstr>Contents Slide Master</vt:lpstr>
      <vt:lpstr>CorelDRAW</vt:lpstr>
      <vt:lpstr>PowerPoint Presentation</vt:lpstr>
      <vt:lpstr>COURSE OBJECTIVES </vt:lpstr>
      <vt:lpstr>PowerPoint Presentation</vt:lpstr>
      <vt:lpstr>What are Sentences?   </vt:lpstr>
      <vt:lpstr>Sentence Improvement </vt:lpstr>
      <vt:lpstr>Strategies</vt:lpstr>
      <vt:lpstr>Improvement Based on Subject – Verb Agreement</vt:lpstr>
      <vt:lpstr>Improvement Based on tenses</vt:lpstr>
      <vt:lpstr>Improvement Based on Preposition</vt:lpstr>
      <vt:lpstr>Improvement Based on Pronouns</vt:lpstr>
      <vt:lpstr>Improvement Based on Pronouns</vt:lpstr>
      <vt:lpstr>Improvement Based on Parallelism and Vocabulary</vt:lpstr>
      <vt:lpstr>Tips to Improve a sentence</vt:lpstr>
      <vt:lpstr>Tips to Improve a sentence</vt:lpstr>
      <vt:lpstr>Tips to Improve a sentence</vt:lpstr>
      <vt:lpstr>Applications    </vt:lpstr>
      <vt:lpstr>Assessment Pattern   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Vishal Monga</cp:lastModifiedBy>
  <cp:revision>226</cp:revision>
  <dcterms:created xsi:type="dcterms:W3CDTF">2019-01-09T10:33:58Z</dcterms:created>
  <dcterms:modified xsi:type="dcterms:W3CDTF">2023-07-17T06:48:07Z</dcterms:modified>
</cp:coreProperties>
</file>