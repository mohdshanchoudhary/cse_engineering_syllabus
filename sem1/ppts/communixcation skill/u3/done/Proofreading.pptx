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5"/>
  </p:notesMasterIdLst>
  <p:handoutMasterIdLst>
    <p:handoutMasterId r:id="rId26"/>
  </p:handoutMasterIdLst>
  <p:sldIdLst>
    <p:sldId id="334" r:id="rId3"/>
    <p:sldId id="375" r:id="rId4"/>
    <p:sldId id="325" r:id="rId5"/>
    <p:sldId id="280" r:id="rId6"/>
    <p:sldId id="281" r:id="rId7"/>
    <p:sldId id="287" r:id="rId8"/>
    <p:sldId id="297" r:id="rId9"/>
    <p:sldId id="299" r:id="rId10"/>
    <p:sldId id="288" r:id="rId11"/>
    <p:sldId id="318" r:id="rId12"/>
    <p:sldId id="320" r:id="rId13"/>
    <p:sldId id="321" r:id="rId14"/>
    <p:sldId id="292" r:id="rId15"/>
    <p:sldId id="308" r:id="rId16"/>
    <p:sldId id="289" r:id="rId17"/>
    <p:sldId id="294" r:id="rId18"/>
    <p:sldId id="295" r:id="rId19"/>
    <p:sldId id="296" r:id="rId20"/>
    <p:sldId id="328" r:id="rId21"/>
    <p:sldId id="329" r:id="rId22"/>
    <p:sldId id="330" r:id="rId23"/>
    <p:sldId id="33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1E666F1-6233-451C-8478-392A4F1680DB}">
          <p14:sldIdLst>
            <p14:sldId id="334"/>
            <p14:sldId id="375"/>
            <p14:sldId id="325"/>
            <p14:sldId id="280"/>
            <p14:sldId id="281"/>
            <p14:sldId id="287"/>
            <p14:sldId id="297"/>
            <p14:sldId id="299"/>
            <p14:sldId id="288"/>
            <p14:sldId id="318"/>
            <p14:sldId id="320"/>
            <p14:sldId id="321"/>
            <p14:sldId id="292"/>
            <p14:sldId id="308"/>
            <p14:sldId id="289"/>
            <p14:sldId id="294"/>
            <p14:sldId id="295"/>
            <p14:sldId id="296"/>
            <p14:sldId id="328"/>
            <p14:sldId id="329"/>
            <p14:sldId id="330"/>
            <p14:sldId id="332"/>
          </p14:sldIdLst>
        </p14:section>
        <p14:section name="ṁnbvc" id="{8A8DB4E4-077C-4424-B524-FF217743ABD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3842" autoAdjust="0"/>
  </p:normalViewPr>
  <p:slideViewPr>
    <p:cSldViewPr snapToGrid="0">
      <p:cViewPr varScale="1">
        <p:scale>
          <a:sx n="71" d="100"/>
          <a:sy n="71" d="100"/>
        </p:scale>
        <p:origin x="6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7/17/2023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7/17/2023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1151544" y="5896590"/>
            <a:ext cx="6432043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Proofreading</a:t>
            </a:r>
          </a:p>
          <a:p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998861" y="1963005"/>
            <a:ext cx="9612429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 – Communication Skills</a:t>
            </a:r>
          </a:p>
          <a:p>
            <a:pPr marL="0" marR="0" lvl="0" indent="0" algn="ctr" defTabSz="6223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 – 23PCH-105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57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70183" y="305158"/>
            <a:ext cx="496798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OUTCOMES</a:t>
            </a:r>
            <a:endParaRPr lang="en-US" sz="4400" dirty="0"/>
          </a:p>
        </p:txBody>
      </p:sp>
      <p:sp>
        <p:nvSpPr>
          <p:cNvPr id="10" name="Rectangle 9"/>
          <p:cNvSpPr/>
          <p:nvPr/>
        </p:nvSpPr>
        <p:spPr>
          <a:xfrm>
            <a:off x="102262" y="1704463"/>
            <a:ext cx="37321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The students are expected to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5D09BA-FE4E-62AC-2286-ACDD2B1F842A}"/>
              </a:ext>
            </a:extLst>
          </p:cNvPr>
          <p:cNvSpPr/>
          <p:nvPr/>
        </p:nvSpPr>
        <p:spPr>
          <a:xfrm>
            <a:off x="8668760" y="6272206"/>
            <a:ext cx="254558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Arial" pitchFamily="34" charset="0"/>
                <a:cs typeface="Arial" pitchFamily="34" charset="0"/>
              </a:rPr>
              <a:t>Wordpress.com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154B5F-8094-C9F7-F6C0-5DEA083A3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59" y="1240971"/>
            <a:ext cx="4127864" cy="4820195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27A9B3-C1BD-82B3-F357-F05FCB292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300428"/>
              </p:ext>
            </p:extLst>
          </p:nvPr>
        </p:nvGraphicFramePr>
        <p:xfrm>
          <a:off x="187992" y="2104573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2260446928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3818319663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1724366301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9477423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02657675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99706455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10233323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51876097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482970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What is proofreading?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4029075" cy="435133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itchFamily="34" charset="0"/>
                <a:cs typeface="Arial" pitchFamily="34" charset="0"/>
              </a:rPr>
              <a:t>Proofreading is just as its name suggests- the reading of a proof to make any document error free. </a:t>
            </a:r>
          </a:p>
          <a:p>
            <a:pPr marL="0" indent="0">
              <a:buNone/>
            </a:pPr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depositphotos.com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808163"/>
            <a:ext cx="4524375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83DBFB-1962-4C0F-AB36-EB7B47F82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08163"/>
            <a:ext cx="5257800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82199" y="6075047"/>
            <a:ext cx="1895476" cy="23367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Casper" panose="02000506000000020004" pitchFamily="2" charset="0"/>
                <a:cs typeface="Arial" panose="020B0604020202020204" pitchFamily="34" charset="0"/>
              </a:rPr>
              <a:t>Study.com</a:t>
            </a: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66650" y="1711233"/>
            <a:ext cx="5205549" cy="4624253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ensure accuracy in grammar.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Consistency in spelling, punctuation and formatting.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Revision of a manuscript before it is printed or published.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review the final draft.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150302" y="351779"/>
            <a:ext cx="10127298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Arial" panose="020B0604020202020204" pitchFamily="34" charset="0"/>
              </a:rPr>
              <a:t>Why proofreading is important?</a:t>
            </a:r>
            <a:b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</a:br>
            <a:endParaRPr lang="en-US" sz="4400" dirty="0">
              <a:latin typeface="Arial Black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416040" y="1508760"/>
            <a:ext cx="4869180" cy="44818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27462" y="1593668"/>
            <a:ext cx="5244737" cy="46843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6BE19A-98E3-4A9D-AF2F-6DA9ED39F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040" y="1310640"/>
            <a:ext cx="5326698" cy="503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  <a:cs typeface="Arial" panose="020B0604020202020204" pitchFamily="34" charset="0"/>
              </a:rPr>
              <a:t>Why Proofreading is important? cont.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775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 see the final accurate version.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Get better grade on final paper.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Eradicate errors.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Avoid negative impression.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Give big picture view.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Achieve good results.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Include appropriate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44150" y="6311900"/>
            <a:ext cx="1009650" cy="409576"/>
          </a:xfrm>
        </p:spPr>
        <p:txBody>
          <a:bodyPr/>
          <a:lstStyle/>
          <a:p>
            <a:r>
              <a:rPr lang="en-US" dirty="0"/>
              <a:t>Photo.com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CDC9E1-B469-44E1-A07B-7FECE55EF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012" y="1815737"/>
            <a:ext cx="4106364" cy="43612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38200" y="1803400"/>
            <a:ext cx="5706291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8C0C-8834-4563-AA9E-FF545A1B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Measures to check the document-</a:t>
            </a:r>
            <a:endParaRPr lang="en-IN" b="1" dirty="0">
              <a:latin typeface="Arial Black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BE863-B7EF-453F-8AE7-B425C6821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Grammatical errors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Sentence framing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Spelling mistakes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Right words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Punctuations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Cohesion-Coherence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F495D-23EF-4DDA-83B6-7505766C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9A1410-E165-43EB-A08B-B55FABCEC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8686" y="1803221"/>
            <a:ext cx="5495926" cy="43232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00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0C30-EE6C-45B4-BCE1-912FDEFC7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063624"/>
          </a:xfrm>
        </p:spPr>
        <p:txBody>
          <a:bodyPr/>
          <a:lstStyle/>
          <a:p>
            <a:pPr algn="ctr"/>
            <a:r>
              <a:rPr lang="en-IN" b="1" dirty="0">
                <a:latin typeface="Arial Black" pitchFamily="34" charset="0"/>
                <a:cs typeface="Arial" panose="020B0604020202020204" pitchFamily="34" charset="0"/>
              </a:rPr>
              <a:t>Steps of proofreading-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252C6-2825-49F2-B1B2-CC003B0B3B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54995-94BD-4369-9B51-FC0E28DD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48900" y="6343650"/>
            <a:ext cx="1104900" cy="377825"/>
          </a:xfrm>
        </p:spPr>
        <p:txBody>
          <a:bodyPr/>
          <a:lstStyle/>
          <a:p>
            <a:r>
              <a:rPr lang="en-US" dirty="0"/>
              <a:t>Slideshare.net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83C516-6C8D-4D17-949E-849DDCC1D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804" y="1763486"/>
            <a:ext cx="10048875" cy="441347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08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9651"/>
          </a:xfrm>
        </p:spPr>
        <p:txBody>
          <a:bodyPr/>
          <a:lstStyle/>
          <a:p>
            <a:pPr algn="ctr"/>
            <a:r>
              <a:rPr lang="en-IN" b="1" dirty="0">
                <a:latin typeface="Arial Black" pitchFamily="34" charset="0"/>
                <a:cs typeface="Arial" panose="020B0604020202020204" pitchFamily="34" charset="0"/>
              </a:rPr>
              <a:t>Steps of proofreading-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8274" y="1841864"/>
            <a:ext cx="10646500" cy="4651012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Use a checklist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Fact-check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Spell-check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Read aloud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Focus on one line at a time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Attend to format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Proof again</a:t>
            </a:r>
          </a:p>
          <a:p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7950" y="6311900"/>
            <a:ext cx="1085850" cy="40957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Photo.com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AD7AA4-B1A0-4C93-BE38-36CA58206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0" y="1959429"/>
            <a:ext cx="4688477" cy="42175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5EF6D-5A4A-4D6D-A52D-187518A37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54075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Arial Black" pitchFamily="34" charset="0"/>
                <a:cs typeface="Arial" panose="020B0604020202020204" pitchFamily="34" charset="0"/>
              </a:rPr>
              <a:t>Use of symbols with examples-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DAA59B-9242-4748-AB99-42C51DF2B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8" y="1143000"/>
            <a:ext cx="10515601" cy="55784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47AEE-5991-4CC5-8462-5B207FA55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408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95ADF-DB01-4FC1-BBD7-EBB62CA95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51"/>
            <a:ext cx="10515600" cy="1162050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Use of symbols with examples-</a:t>
            </a:r>
            <a:endParaRPr lang="en-IN" b="1" dirty="0">
              <a:latin typeface="Arial Black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C930BA-0BA4-410C-A43A-475BC4FAF4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95400"/>
            <a:ext cx="10515600" cy="54292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6B0E5D-96E9-4242-BA81-BDE40A82E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42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061C1-7E55-498C-AAE1-4CD1A3698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0438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Use of symbols with examples-</a:t>
            </a:r>
            <a:endParaRPr lang="en-IN" dirty="0">
              <a:latin typeface="Arial Black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7C313C-FF7E-4FD0-A062-1E9E02FC1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25564"/>
            <a:ext cx="10515600" cy="503078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244D0-B0DB-4D6A-BA34-FE707B7BC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703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5549"/>
          </a:xfrm>
        </p:spPr>
        <p:txBody>
          <a:bodyPr/>
          <a:lstStyle/>
          <a:p>
            <a:pPr algn="ctr"/>
            <a:r>
              <a:rPr lang="en-IN" b="1" dirty="0">
                <a:latin typeface="Arial Black" pitchFamily="34" charset="0"/>
                <a:cs typeface="Arial" panose="020B0604020202020204" pitchFamily="34" charset="0"/>
              </a:rPr>
              <a:t>Proofreading Vs Editing -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BE5814-8751-4E70-B1EC-25F36B8FB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724297"/>
            <a:ext cx="10515601" cy="461935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01274" y="6343650"/>
            <a:ext cx="1133475" cy="377825"/>
          </a:xfrm>
        </p:spPr>
        <p:txBody>
          <a:bodyPr/>
          <a:lstStyle/>
          <a:p>
            <a:r>
              <a:rPr lang="en-US" dirty="0"/>
              <a:t>Pinterest.com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17FF0-7565-47D7-87B5-B1A86122E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6925"/>
          </a:xfrm>
        </p:spPr>
        <p:txBody>
          <a:bodyPr/>
          <a:lstStyle/>
          <a:p>
            <a:pPr algn="ctr"/>
            <a:r>
              <a:rPr lang="en-IN" b="1" dirty="0">
                <a:latin typeface="Arial Black" pitchFamily="34" charset="0"/>
                <a:cs typeface="Arial" panose="020B0604020202020204" pitchFamily="34" charset="0"/>
              </a:rPr>
              <a:t>Proofreading Vs Editing -</a:t>
            </a:r>
            <a:endParaRPr lang="en-IN" dirty="0">
              <a:latin typeface="Arial Black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3B759D-D3EE-4FAA-828C-A9B57790AA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8171"/>
            <a:ext cx="10515600" cy="46581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97513-9097-476C-B57B-D5A43A5DD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0824" y="6356351"/>
            <a:ext cx="942975" cy="365124"/>
          </a:xfrm>
        </p:spPr>
        <p:txBody>
          <a:bodyPr/>
          <a:lstStyle/>
          <a:p>
            <a:r>
              <a:rPr lang="en-US" dirty="0"/>
              <a:t>Study.com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376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1285874" y="-1"/>
            <a:ext cx="10067925" cy="136525"/>
          </a:xfrm>
        </p:spPr>
        <p:txBody>
          <a:bodyPr>
            <a:normAutofit fontScale="90000"/>
          </a:bodyPr>
          <a:lstStyle/>
          <a:p>
            <a:b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828674"/>
            <a:ext cx="10515600" cy="55276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The differences are actually pretty simple to understand once they are explained. They can be summed up in two sentences: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 “Copyeditors catch all the mistakes the     author missed,</a:t>
            </a:r>
          </a:p>
          <a:p>
            <a:pPr marL="0" indent="0" algn="ctr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 Proof-readers catch all the mistakes the      copyeditor missed.”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3150"/>
          </a:xfrm>
        </p:spPr>
        <p:txBody>
          <a:bodyPr/>
          <a:lstStyle/>
          <a:p>
            <a:pPr algn="ctr"/>
            <a:r>
              <a:rPr lang="en-IN" b="1" dirty="0">
                <a:latin typeface="Arial Black" pitchFamily="34" charset="0"/>
                <a:cs typeface="Arial" panose="020B0604020202020204" pitchFamily="34" charset="0"/>
              </a:rPr>
              <a:t>Qualities of a good proof-reader-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81051"/>
            <a:ext cx="5172075" cy="4610236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Knowledge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Focus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Passion for accuracy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Patience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Ability to be meticulous</a:t>
            </a:r>
          </a:p>
          <a:p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896474" y="6356351"/>
            <a:ext cx="1457325" cy="365124"/>
          </a:xfrm>
        </p:spPr>
        <p:txBody>
          <a:bodyPr/>
          <a:lstStyle/>
          <a:p>
            <a:r>
              <a:rPr lang="en-US" dirty="0"/>
              <a:t>Grademiners.com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E39847-C376-4607-8EF2-B61AAF2B3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6807" y="2129248"/>
            <a:ext cx="4545552" cy="380129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092201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Arial Black" pitchFamily="34" charset="0"/>
                <a:cs typeface="Arial" panose="020B0604020202020204" pitchFamily="34" charset="0"/>
              </a:rPr>
              <a:t>Example of editing and proofreading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059B9A-5292-42D2-82C2-03AC053676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63040"/>
            <a:ext cx="12192000" cy="507111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8818"/>
            <a:ext cx="10515600" cy="949325"/>
          </a:xfrm>
        </p:spPr>
        <p:txBody>
          <a:bodyPr/>
          <a:lstStyle/>
          <a:p>
            <a:pPr algn="ctr"/>
            <a:r>
              <a:rPr lang="en-IN" b="1" dirty="0">
                <a:latin typeface="Arial Black" pitchFamily="34" charset="0"/>
                <a:cs typeface="Arial" panose="020B0604020202020204" pitchFamily="34" charset="0"/>
              </a:rPr>
              <a:t>Edited work -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AD5B858-9F62-4964-8204-E40F2B69B5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63" y="1698171"/>
            <a:ext cx="10515599" cy="4957989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Applications 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Proofreading helps to improve the writing efforts of students as they skip this crucial step when writing.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It creates readable writing and eliminates errors before printing or submitting an academic paper, essay, email or any other written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Assessment Pattern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pPr>
              <a:buNone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Test-2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References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https://www.bookbutchers.com/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https://experteditor.com.au/book-proofreading/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https://r.search.yahoo.com/_ylt=AwrxgvkQJeNe5ScAxQrnHgx.;_ylu=X3oDMTByajVjNzRjBGNvbG8Dc2czBHBvcwM0BHZ0aWQDBHNlYwNzcg--/RV=2/RE=1591973264/RO=10/RU=https%3a%2f%2fwww.scribendi.com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-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book_proofreading</a:t>
            </a:r>
            <a:r>
              <a:rPr lang="en-US" dirty="0">
                <a:latin typeface="Arial" pitchFamily="34" charset="0"/>
                <a:cs typeface="Arial" pitchFamily="34" charset="0"/>
              </a:rPr>
              <a:t>/RK=2/RS=CebHxO10hY_FDhzAAKCozjxiCVE-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1842</TotalTime>
  <Words>670</Words>
  <Application>Microsoft Office PowerPoint</Application>
  <PresentationFormat>Widescreen</PresentationFormat>
  <Paragraphs>134</Paragraphs>
  <Slides>22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Arial</vt:lpstr>
      <vt:lpstr>Arial Black</vt:lpstr>
      <vt:lpstr>Calibri</vt:lpstr>
      <vt:lpstr>Calibri Light</vt:lpstr>
      <vt:lpstr>Casper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COURSE OBJECTIVES </vt:lpstr>
      <vt:lpstr>PowerPoint Presentation</vt:lpstr>
      <vt:lpstr>What is proofreading?</vt:lpstr>
      <vt:lpstr>Why proofreading is important? </vt:lpstr>
      <vt:lpstr>Why Proofreading is important? cont.</vt:lpstr>
      <vt:lpstr>Measures to check the document-</vt:lpstr>
      <vt:lpstr>Steps of proofreading-</vt:lpstr>
      <vt:lpstr>Steps of proofreading-</vt:lpstr>
      <vt:lpstr>Use of symbols with examples-</vt:lpstr>
      <vt:lpstr>Use of symbols with examples-</vt:lpstr>
      <vt:lpstr>Use of symbols with examples-</vt:lpstr>
      <vt:lpstr>Proofreading Vs Editing -</vt:lpstr>
      <vt:lpstr>Proofreading Vs Editing -</vt:lpstr>
      <vt:lpstr> </vt:lpstr>
      <vt:lpstr>Qualities of a good proof-reader-</vt:lpstr>
      <vt:lpstr>Example of editing and proofreading </vt:lpstr>
      <vt:lpstr>Edited work -</vt:lpstr>
      <vt:lpstr>Applications    </vt:lpstr>
      <vt:lpstr>Assessment Pattern   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173</cp:revision>
  <dcterms:created xsi:type="dcterms:W3CDTF">2019-01-09T10:33:58Z</dcterms:created>
  <dcterms:modified xsi:type="dcterms:W3CDTF">2023-07-17T06:47:38Z</dcterms:modified>
</cp:coreProperties>
</file>