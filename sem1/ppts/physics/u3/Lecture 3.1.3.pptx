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tags/tag3.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9"/>
  </p:notesMasterIdLst>
  <p:handoutMasterIdLst>
    <p:handoutMasterId r:id="rId40"/>
  </p:handoutMasterIdLst>
  <p:sldIdLst>
    <p:sldId id="416" r:id="rId3"/>
    <p:sldId id="388" r:id="rId4"/>
    <p:sldId id="417" r:id="rId5"/>
    <p:sldId id="418" r:id="rId6"/>
    <p:sldId id="389" r:id="rId7"/>
    <p:sldId id="326" r:id="rId8"/>
    <p:sldId id="390" r:id="rId9"/>
    <p:sldId id="391" r:id="rId10"/>
    <p:sldId id="393" r:id="rId11"/>
    <p:sldId id="392" r:id="rId12"/>
    <p:sldId id="394" r:id="rId13"/>
    <p:sldId id="397" r:id="rId14"/>
    <p:sldId id="396" r:id="rId15"/>
    <p:sldId id="398" r:id="rId16"/>
    <p:sldId id="400" r:id="rId17"/>
    <p:sldId id="399" r:id="rId18"/>
    <p:sldId id="401" r:id="rId19"/>
    <p:sldId id="402" r:id="rId20"/>
    <p:sldId id="403" r:id="rId21"/>
    <p:sldId id="405" r:id="rId22"/>
    <p:sldId id="406" r:id="rId23"/>
    <p:sldId id="407" r:id="rId24"/>
    <p:sldId id="408" r:id="rId25"/>
    <p:sldId id="409" r:id="rId26"/>
    <p:sldId id="410" r:id="rId27"/>
    <p:sldId id="411" r:id="rId28"/>
    <p:sldId id="412" r:id="rId29"/>
    <p:sldId id="413" r:id="rId30"/>
    <p:sldId id="414" r:id="rId31"/>
    <p:sldId id="375" r:id="rId32"/>
    <p:sldId id="377" r:id="rId33"/>
    <p:sldId id="384" r:id="rId34"/>
    <p:sldId id="381" r:id="rId35"/>
    <p:sldId id="368" r:id="rId36"/>
    <p:sldId id="415" r:id="rId37"/>
    <p:sldId id="380" r:id="rId38"/>
  </p:sldIdLst>
  <p:sldSz cx="12192000" cy="6858000"/>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ED8137"/>
    <a:srgbClr val="BC8F00"/>
    <a:srgbClr val="8600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515" autoAdjust="0"/>
    <p:restoredTop sz="9466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lectricalanswers.files.wordpress.com/2014/09/a-textbook-of-electrical-technology-volume-i-basic-electrical-engineering-b-l-theraja.pdf" TargetMode="External"/><Relationship Id="rId2" Type="http://schemas.openxmlformats.org/officeDocument/2006/relationships/hyperlink" Target="https://www.researchgate.net/publication/304513870_Basics_of_Electrical_Engineering_-_a_text_book_for_first_year_B_Tech_students_of_Engineering_all_specializations" TargetMode="External"/><Relationship Id="rId1" Type="http://schemas.openxmlformats.org/officeDocument/2006/relationships/slideLayout" Target="../slideLayouts/slideLayout2.xml"/><Relationship Id="rId4" Type="http://schemas.openxmlformats.org/officeDocument/2006/relationships/hyperlink" Target="https://drive.google.com/file/d/1Q8OXkp--k5TJtZ4TjBeZEIQGcyjh8VO6/view"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X0OZ6tpZ3Mc" TargetMode="External"/><Relationship Id="rId2" Type="http://schemas.openxmlformats.org/officeDocument/2006/relationships/hyperlink" Target="https://www.youtube.com/watch?v=HvoNJJS5dkc" TargetMode="External"/><Relationship Id="rId1" Type="http://schemas.openxmlformats.org/officeDocument/2006/relationships/slideLayout" Target="../slideLayouts/slideLayout2.xml"/><Relationship Id="rId4" Type="http://schemas.openxmlformats.org/officeDocument/2006/relationships/hyperlink" Target="https://www.youtube.com/watch?v=L_q6LRgKpTw"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689304721"/>
              </p:ext>
            </p:extLst>
          </p:nvPr>
        </p:nvGraphicFramePr>
        <p:xfrm>
          <a:off x="494804" y="4023363"/>
          <a:ext cx="2631143" cy="2507676"/>
        </p:xfrm>
        <a:graphic>
          <a:graphicData uri="http://schemas.openxmlformats.org/presentationml/2006/ole">
            <p:oleObj spid="_x0000_s1026" name="CorelDRAW" r:id="rId4" imgW="2169000" imgH="2169360" progId="">
              <p:embed/>
            </p:oleObj>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xmlns="">
                  <a14:imgLayer r:embed="rId6">
                    <a14:imgEffect>
                      <a14:colorTemperature colorTemp="5742"/>
                    </a14:imgEffect>
                    <a14:imgEffect>
                      <a14:saturation sat="238000"/>
                    </a14:imgEffect>
                  </a14:imgLayer>
                </a14:imgProps>
              </a:ext>
              <a:ext uri="{28A0092B-C50C-407E-A947-70E740481C1C}">
                <a14:useLocalDpi xmlns:a14="http://schemas.microsoft.com/office/drawing/2010/main" xmlns=""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Dr.Abinash</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Experiment-3.1.3</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solidFill>
                  <a:prstClr val="black"/>
                </a:solidFill>
                <a:cs typeface="Times New Roman" pitchFamily="18" charset="0"/>
              </a:rPr>
              <a:t>Introduction to Photovoltaic </a:t>
            </a:r>
            <a:r>
              <a:rPr lang="en-IN" sz="2400" dirty="0" err="1" smtClean="0">
                <a:solidFill>
                  <a:prstClr val="black"/>
                </a:solidFill>
                <a:cs typeface="Times New Roman" pitchFamily="18" charset="0"/>
              </a:rPr>
              <a:t>cell,advantages,efficiency</a:t>
            </a:r>
            <a:r>
              <a:rPr lang="en-IN" sz="2400" dirty="0" smtClean="0">
                <a:latin typeface="Times New Roman" pitchFamily="18" charset="0"/>
                <a:cs typeface="Times New Roman" pitchFamily="18" charset="0"/>
              </a:rPr>
              <a:t>.</a:t>
            </a:r>
            <a:endParaRPr lang="en-US" sz="2400" b="1" dirty="0" smtClean="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xmlns=""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Lecture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1225305326"/>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xmlns="" val="20000"/>
                    </a:ext>
                  </a:extLst>
                </a:gridCol>
                <a:gridCol w="5979983">
                  <a:extLst>
                    <a:ext uri="{9D8B030D-6E8A-4147-A177-3AD203B41FA5}">
                      <a16:colId xmlns:a16="http://schemas.microsoft.com/office/drawing/2014/main" xmlns="" val="20001"/>
                    </a:ext>
                  </a:extLst>
                </a:gridCol>
              </a:tblGrid>
              <a:tr h="608316">
                <a:tc>
                  <a:txBody>
                    <a:bodyPr/>
                    <a:lstStyle/>
                    <a:p>
                      <a:pPr algn="ctr" fontAlgn="ctr"/>
                      <a:r>
                        <a:rPr lang="en-US" sz="1200" b="1" i="0" u="none" strike="noStrike" dirty="0">
                          <a:solidFill>
                            <a:srgbClr val="000000"/>
                          </a:solidFill>
                          <a:effectLst/>
                          <a:latin typeface="+mn-lt"/>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820396">
                <a:tc>
                  <a:txBody>
                    <a:bodyPr/>
                    <a:lstStyle/>
                    <a:p>
                      <a:pPr algn="ctr" fontAlgn="ctr"/>
                      <a:r>
                        <a:rPr lang="en-US" sz="1200" b="0" i="0" u="none" strike="noStrike" dirty="0">
                          <a:solidFill>
                            <a:schemeClr val="tx1"/>
                          </a:solidFill>
                          <a:effectLst/>
                          <a:latin typeface="+mn-lt"/>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make student</a:t>
                      </a:r>
                      <a:r>
                        <a:rPr lang="en-US" sz="1200" b="0" i="0" kern="1200" baseline="0" dirty="0">
                          <a:solidFill>
                            <a:schemeClr val="tx1"/>
                          </a:solidFill>
                          <a:latin typeface="+mn-lt"/>
                          <a:ea typeface="+mn-ea"/>
                          <a:cs typeface="+mn-cs"/>
                        </a:rPr>
                        <a:t> aware about Photovoltaic Cells.</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29046">
                <a:tc>
                  <a:txBody>
                    <a:bodyPr/>
                    <a:lstStyle/>
                    <a:p>
                      <a:pPr algn="ctr" fontAlgn="ctr"/>
                      <a:r>
                        <a:rPr lang="en-US" sz="1200" b="0" i="0" u="none" strike="noStrike" dirty="0">
                          <a:solidFill>
                            <a:srgbClr val="000000"/>
                          </a:solidFill>
                          <a:effectLst/>
                          <a:latin typeface="+mn-lt"/>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aware about</a:t>
                      </a:r>
                      <a:r>
                        <a:rPr lang="en-US" sz="1200" b="0" i="0" kern="1200" baseline="0" dirty="0">
                          <a:solidFill>
                            <a:schemeClr val="tx1"/>
                          </a:solidFill>
                          <a:latin typeface="+mn-lt"/>
                          <a:ea typeface="+mn-ea"/>
                          <a:cs typeface="+mn-cs"/>
                        </a:rPr>
                        <a:t> working and construction of PV cells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52472">
                <a:tc>
                  <a:txBody>
                    <a:bodyPr/>
                    <a:lstStyle/>
                    <a:p>
                      <a:pPr algn="ctr" fontAlgn="ctr"/>
                      <a:r>
                        <a:rPr lang="en-US" sz="1200" b="0" i="0" u="none" strike="noStrike" dirty="0">
                          <a:solidFill>
                            <a:srgbClr val="000000"/>
                          </a:solidFill>
                          <a:effectLst/>
                          <a:latin typeface="+mn-lt"/>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provide knowledge about types of combination between them.</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629046">
                <a:tc>
                  <a:txBody>
                    <a:bodyPr/>
                    <a:lstStyle/>
                    <a:p>
                      <a:pPr algn="ctr" fontAlgn="ctr"/>
                      <a:r>
                        <a:rPr lang="en-US" sz="1200" b="0" i="0" u="none" strike="noStrike" dirty="0">
                          <a:solidFill>
                            <a:srgbClr val="000000"/>
                          </a:solidFill>
                          <a:effectLst/>
                          <a:latin typeface="+mn-lt"/>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a:solidFill>
                            <a:schemeClr val="tx1"/>
                          </a:solidFill>
                          <a:latin typeface="+mn-lt"/>
                          <a:ea typeface="+mn-ea"/>
                          <a:cs typeface="+mn-cs"/>
                        </a:rPr>
                        <a:t>To make familiar with difference between cell, module and array.</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629046">
                <a:tc>
                  <a:txBody>
                    <a:bodyPr/>
                    <a:lstStyle/>
                    <a:p>
                      <a:pPr algn="ctr" fontAlgn="ctr"/>
                      <a:r>
                        <a:rPr lang="en-US" sz="1200" b="0" i="0" u="none" strike="noStrike" dirty="0">
                          <a:solidFill>
                            <a:srgbClr val="000000"/>
                          </a:solidFill>
                          <a:effectLst/>
                          <a:latin typeface="+mn-lt"/>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a:solidFill>
                            <a:schemeClr val="tx1"/>
                          </a:solidFill>
                          <a:latin typeface="+mn-lt"/>
                          <a:ea typeface="+mn-ea"/>
                          <a:cs typeface="+mn-cs"/>
                        </a:rPr>
                        <a:t>To give brief knowledge about their advantages, disadvantages and efficiency.</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7" name="Content Placeholder 6"/>
          <p:cNvSpPr>
            <a:spLocks noGrp="1"/>
          </p:cNvSpPr>
          <p:nvPr>
            <p:ph idx="1"/>
          </p:nvPr>
        </p:nvSpPr>
        <p:spPr>
          <a:xfrm>
            <a:off x="7093130" y="5251268"/>
            <a:ext cx="4428309" cy="609781"/>
          </a:xfrm>
        </p:spPr>
        <p:txBody>
          <a:bodyPr>
            <a:normAutofit/>
          </a:bodyPr>
          <a:lstStyle/>
          <a:p>
            <a:pPr algn="ctr">
              <a:buNone/>
            </a:pPr>
            <a:r>
              <a:rPr lang="en-US" sz="1800" dirty="0">
                <a:hlinkClick r:id="rId2"/>
              </a:rPr>
              <a:t>https://library.automationdirect.com/basic-electrical-theory/</a:t>
            </a:r>
            <a:endParaRPr lang="en-US" sz="1800" dirty="0">
              <a:solidFill>
                <a:srgbClr val="00B0F0"/>
              </a:solidFill>
            </a:endParaRPr>
          </a:p>
        </p:txBody>
      </p:sp>
      <p:pic>
        <p:nvPicPr>
          <p:cNvPr id="9" name="Picture 1" descr="C:\Users\Administrator\Desktop\circuit.png"/>
          <p:cNvPicPr>
            <a:picLocks noChangeAspect="1" noChangeArrowheads="1"/>
          </p:cNvPicPr>
          <p:nvPr/>
        </p:nvPicPr>
        <p:blipFill>
          <a:blip r:embed="rId3" cstate="print"/>
          <a:srcRect/>
          <a:stretch>
            <a:fillRect/>
          </a:stretch>
        </p:blipFill>
        <p:spPr bwMode="auto">
          <a:xfrm>
            <a:off x="7240363" y="1841862"/>
            <a:ext cx="4688545"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xmlns=""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 xmlns:a16="http://schemas.microsoft.com/office/drawing/2014/main" val="20000"/>
                    </a:ext>
                  </a:extLst>
                </a:gridCol>
                <a:gridCol w="5959928">
                  <a:extLst>
                    <a:ext uri="{9D8B030D-6E8A-4147-A177-3AD203B41FA5}">
                      <a16:colId xmlns=""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 xmlns:a16="http://schemas.microsoft.com/office/drawing/2014/main" id="{CF519C70-D760-42E7-8BD2-6D327CBFDD43}"/>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 xmlns:a16="http://schemas.microsoft.com/office/drawing/2014/main" id="{8162587E-E0B8-4626-8CC1-A1300E812FD3}"/>
              </a:ext>
            </a:extLst>
          </p:cNvPr>
          <p:cNvGraphicFramePr>
            <a:graphicFrameLocks noGrp="1"/>
          </p:cNvGraphicFramePr>
          <p:nvPr>
            <p:extLst>
              <p:ext uri="{D42A27DB-BD31-4B8C-83A1-F6EECF244321}">
                <p14:modId xmlns=""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 xmlns:a16="http://schemas.microsoft.com/office/drawing/2014/main" val="3145357031"/>
                    </a:ext>
                  </a:extLst>
                </a:gridCol>
                <a:gridCol w="3525847">
                  <a:extLst>
                    <a:ext uri="{9D8B030D-6E8A-4147-A177-3AD203B41FA5}">
                      <a16:colId xmlns="" xmlns:a16="http://schemas.microsoft.com/office/drawing/2014/main" val="1912344179"/>
                    </a:ext>
                  </a:extLst>
                </a:gridCol>
                <a:gridCol w="2118474">
                  <a:extLst>
                    <a:ext uri="{9D8B030D-6E8A-4147-A177-3AD203B41FA5}">
                      <a16:colId xmlns=""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 xmlns:a16="http://schemas.microsoft.com/office/drawing/2014/main" val="1993640399"/>
                  </a:ext>
                </a:extLst>
              </a:tr>
            </a:tbl>
          </a:graphicData>
        </a:graphic>
      </p:graphicFrame>
      <p:pic>
        <p:nvPicPr>
          <p:cNvPr id="4" name="Picture 3">
            <a:extLst>
              <a:ext uri="{FF2B5EF4-FFF2-40B4-BE49-F238E27FC236}">
                <a16:creationId xmlns="" xmlns:a16="http://schemas.microsoft.com/office/drawing/2014/main" id="{72E5EA36-20D2-4DE4-BBC5-F5A55DBA5C10}"/>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 xmlns:p14="http://schemas.microsoft.com/office/powerpoint/2010/main" val="3901693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a:cs typeface="Arial" panose="020B0604020202020204" pitchFamily="34" charset="0"/>
              </a:rPr>
              <a:t>Importance of Photovoltaic Systems</a:t>
            </a:r>
            <a:endParaRPr lang="en-US" b="1" dirty="0">
              <a:latin typeface="Casper"/>
            </a:endParaRPr>
          </a:p>
        </p:txBody>
      </p:sp>
      <p:sp>
        <p:nvSpPr>
          <p:cNvPr id="3" name="Content Placeholder 2"/>
          <p:cNvSpPr>
            <a:spLocks noGrp="1"/>
          </p:cNvSpPr>
          <p:nvPr>
            <p:ph idx="1"/>
          </p:nvPr>
        </p:nvSpPr>
        <p:spPr/>
        <p:txBody>
          <a:bodyPr>
            <a:normAutofit fontScale="70000" lnSpcReduction="20000"/>
          </a:bodyPr>
          <a:lstStyle/>
          <a:p>
            <a:pPr marL="342900" lvl="0" indent="-342900" algn="just">
              <a:lnSpc>
                <a:spcPct val="100000"/>
              </a:lnSpc>
              <a:spcBef>
                <a:spcPts val="0"/>
              </a:spcBef>
            </a:pPr>
            <a:r>
              <a:rPr lang="en-US" dirty="0">
                <a:solidFill>
                  <a:prstClr val="black"/>
                </a:solidFill>
                <a:cs typeface="Times New Roman" pitchFamily="18" charset="0"/>
              </a:rPr>
              <a:t>Unlike the existing systems, the utmost advantage is its being able to produce electricity freely without any need of fossil fuel and connection.</a:t>
            </a:r>
          </a:p>
          <a:p>
            <a:pPr marL="342900" lvl="0" indent="-342900" algn="just">
              <a:lnSpc>
                <a:spcPct val="100000"/>
              </a:lnSpc>
              <a:spcBef>
                <a:spcPts val="0"/>
              </a:spcBef>
            </a:pPr>
            <a:endParaRPr lang="en-US" dirty="0">
              <a:solidFill>
                <a:prstClr val="black"/>
              </a:solidFill>
              <a:cs typeface="Times New Roman" pitchFamily="18" charset="0"/>
            </a:endParaRPr>
          </a:p>
          <a:p>
            <a:pPr marL="342900" lvl="0" indent="-342900" algn="just">
              <a:lnSpc>
                <a:spcPct val="100000"/>
              </a:lnSpc>
              <a:spcBef>
                <a:spcPts val="0"/>
              </a:spcBef>
            </a:pPr>
            <a:r>
              <a:rPr lang="en-US" dirty="0">
                <a:solidFill>
                  <a:prstClr val="black"/>
                </a:solidFill>
                <a:cs typeface="Times New Roman" pitchFamily="18" charset="0"/>
              </a:rPr>
              <a:t>Used fuel can be found free and in everyplace. They have no problems regarding carrying and storage.</a:t>
            </a:r>
          </a:p>
          <a:p>
            <a:pPr marL="342900" lvl="0" indent="-342900" algn="just">
              <a:lnSpc>
                <a:spcPct val="100000"/>
              </a:lnSpc>
              <a:spcBef>
                <a:spcPts val="0"/>
              </a:spcBef>
            </a:pPr>
            <a:endParaRPr lang="en-US" dirty="0">
              <a:solidFill>
                <a:prstClr val="black"/>
              </a:solidFill>
              <a:cs typeface="Times New Roman" pitchFamily="18" charset="0"/>
            </a:endParaRPr>
          </a:p>
          <a:p>
            <a:pPr marL="342900" lvl="0" indent="-342900" algn="just">
              <a:lnSpc>
                <a:spcPct val="100000"/>
              </a:lnSpc>
              <a:spcBef>
                <a:spcPts val="0"/>
              </a:spcBef>
            </a:pPr>
            <a:r>
              <a:rPr lang="en-US" dirty="0">
                <a:solidFill>
                  <a:prstClr val="black"/>
                </a:solidFill>
                <a:cs typeface="Times New Roman" pitchFamily="18" charset="0"/>
              </a:rPr>
              <a:t>They need low maintenance due to that the moving parts used in the system are low.</a:t>
            </a:r>
          </a:p>
          <a:p>
            <a:pPr marL="342900" lvl="0" indent="-342900" algn="just">
              <a:lnSpc>
                <a:spcPct val="100000"/>
              </a:lnSpc>
              <a:spcBef>
                <a:spcPts val="0"/>
              </a:spcBef>
            </a:pPr>
            <a:endParaRPr lang="en-US" dirty="0">
              <a:solidFill>
                <a:prstClr val="black"/>
              </a:solidFill>
              <a:cs typeface="Times New Roman" pitchFamily="18" charset="0"/>
            </a:endParaRPr>
          </a:p>
          <a:p>
            <a:pPr marL="342900" lvl="0" indent="-342900" algn="just">
              <a:lnSpc>
                <a:spcPct val="100000"/>
              </a:lnSpc>
              <a:spcBef>
                <a:spcPts val="0"/>
              </a:spcBef>
            </a:pPr>
            <a:r>
              <a:rPr lang="en-US" dirty="0">
                <a:solidFill>
                  <a:prstClr val="black"/>
                </a:solidFill>
                <a:cs typeface="Times New Roman" pitchFamily="18" charset="0"/>
              </a:rPr>
              <a:t>The other systems used in producing electricity ( generators, wind and hydroelectric turbines etc.) need to systematic maintenance. If your PV system is complicated, It need a little bit maintenance but in general it can be called these systems as ‘’ free-maintenance’’.</a:t>
            </a:r>
          </a:p>
          <a:p>
            <a:pPr marL="342900" lvl="0" indent="-342900" algn="just">
              <a:lnSpc>
                <a:spcPct val="100000"/>
              </a:lnSpc>
              <a:spcBef>
                <a:spcPts val="0"/>
              </a:spcBef>
            </a:pPr>
            <a:endParaRPr lang="en-US" dirty="0">
              <a:solidFill>
                <a:prstClr val="black"/>
              </a:solidFill>
              <a:cs typeface="Times New Roman" pitchFamily="18" charset="0"/>
            </a:endParaRPr>
          </a:p>
          <a:p>
            <a:pPr marL="342900" lvl="0" indent="-342900" algn="just">
              <a:lnSpc>
                <a:spcPct val="100000"/>
              </a:lnSpc>
              <a:spcBef>
                <a:spcPts val="0"/>
              </a:spcBef>
            </a:pPr>
            <a:r>
              <a:rPr lang="en-US" dirty="0">
                <a:solidFill>
                  <a:prstClr val="black"/>
                </a:solidFill>
                <a:cs typeface="Times New Roman" pitchFamily="18" charset="0"/>
              </a:rPr>
              <a:t>Comparing the other electric generation systems, probably their utmost advantage is their reliability. Their moving parts are almost non-existing. They resist to natural events like lightnings, tough winds or sand storms, moisture and heat, snow or glacial.</a:t>
            </a:r>
            <a:endParaRPr lang="en-IN" dirty="0">
              <a:solidFill>
                <a:prstClr val="black"/>
              </a:solidFill>
              <a:latin typeface="Casper"/>
              <a:cs typeface="Times New Roman" pitchFamily="18" charset="0"/>
            </a:endParaRPr>
          </a:p>
          <a:p>
            <a:pPr marL="342900" lvl="0" indent="-342900">
              <a:lnSpc>
                <a:spcPct val="100000"/>
              </a:lnSpc>
              <a:spcBef>
                <a:spcPts val="0"/>
              </a:spcBef>
              <a:buAutoNum type="arabicPeriod"/>
            </a:pPr>
            <a:endParaRPr lang="en-IN" dirty="0">
              <a:solidFill>
                <a:prstClr val="black"/>
              </a:solidFill>
              <a:latin typeface="Casper"/>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2370237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Introduction to Photovoltaic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PV cell working.</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PV cell construction</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PV cell, module and array</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Advantages and disadvantages of PV cell technology</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I-V characteristics of PV cell</a:t>
            </a:r>
          </a:p>
          <a:p>
            <a:pPr marL="342900" lvl="0" indent="-342900">
              <a:lnSpc>
                <a:spcPct val="100000"/>
              </a:lnSpc>
              <a:spcBef>
                <a:spcPts val="0"/>
              </a:spcBef>
              <a:buFont typeface="Wingdings" pitchFamily="2" charset="2"/>
              <a:buChar char="v"/>
            </a:pPr>
            <a:r>
              <a:rPr lang="en-IN" dirty="0">
                <a:solidFill>
                  <a:prstClr val="black"/>
                </a:solidFill>
                <a:cs typeface="Times New Roman" pitchFamily="18" charset="0"/>
              </a:rPr>
              <a:t>Efficiency of PV cell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9" presetClass="entr" presetSubtype="0" decel="10000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p:cTn id="4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50" dur="500"/>
                                        <p:tgtEl>
                                          <p:spTgt spid="3">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 calcmode="lin" valueType="num">
                                      <p:cBhvr>
                                        <p:cTn id="55"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57"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5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E1FBC0-DE22-38D9-5621-C0495CEB7C39}"/>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xmlns="" id="{971D39D0-0E87-3601-E914-83B52E3FD56D}"/>
              </a:ext>
            </a:extLst>
          </p:cNvPr>
          <p:cNvSpPr>
            <a:spLocks noGrp="1"/>
          </p:cNvSpPr>
          <p:nvPr>
            <p:ph idx="1"/>
          </p:nvPr>
        </p:nvSpPr>
        <p:spPr/>
        <p:txBody>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Solar power is an indefinitely renewable source of energy as the sun has been radiating an estimated 5000 trillion kWh of energy for billions of years and will continue to do so for the next 4 billion years. Solar energy is a form of energy which is used in power cookers, water heaters etc. The primary disadvantage of solar power is that it cannot be produced in the absence of sunlight. This limitation is overcome by the use of solar cells that convert solar energy into electrical energy. Solar Energy is defined as the radiating light and heat from the sun that is harnessed using devices like heaters, solar cookers, and photovoltaic cells to convert it to other forms of energy such as electrical energy and heat. In this section, we will learn about the photovoltaic cell, its advantages, and disadvantages.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81A08CCB-1D81-8ACA-BC78-03EBDD1FB24D}"/>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xmlns="" val="3877418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A5C9A0-2AD8-3C13-6AE5-8F1B0D9A85E8}"/>
              </a:ext>
            </a:extLst>
          </p:cNvPr>
          <p:cNvSpPr>
            <a:spLocks noGrp="1"/>
          </p:cNvSpPr>
          <p:nvPr>
            <p:ph type="title"/>
          </p:nvPr>
        </p:nvSpPr>
        <p:spPr/>
        <p:txBody>
          <a:bodyPr/>
          <a:lstStyle/>
          <a:p>
            <a:r>
              <a:rPr lang="en-US" dirty="0"/>
              <a:t>Introduction-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xmlns="" id="{D3AD3E47-D2D4-1974-13E9-F7366C84D2BC}"/>
              </a:ext>
            </a:extLst>
          </p:cNvPr>
          <p:cNvSpPr>
            <a:spLocks noGrp="1"/>
          </p:cNvSpPr>
          <p:nvPr>
            <p:ph idx="1"/>
          </p:nvPr>
        </p:nvSpPr>
        <p:spPr/>
        <p:txBody>
          <a:bodyPr/>
          <a:lstStyle/>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Definition: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photovoltaic (PV) cell is an energy harvesting technology, that converts solar energy into useful electricity through a process called the photovoltaic effect. There are several different types of PV cells which all use semiconductors to interact with incoming photons from the Sun in order to generate an electric current.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History: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 photovoltaic (PV) cell, also known as a solar cell, is an electronic component that generates when exposed to photons, or particles of light. This conversion is called the, which was discovered in 1839 by French physicist Edmond Becquerel1. It was not until the 1960s that photovoltaic cells found their first practical application in satellite technology. Solar panels, which are made up of PV cell modules, began arriving on rooftops at the end of the 1980s. Photovoltaic capacity has been growing steadily since the start of the 21st century, led by the construction of huge solar farms.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AFE48184-C1B6-4131-72F5-C1716AB03C4A}"/>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xmlns="" val="73503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5626D9DB-E6D6-A98A-59B6-4F9B715A0055}"/>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3" name="Rectangle 2">
            <a:extLst>
              <a:ext uri="{FF2B5EF4-FFF2-40B4-BE49-F238E27FC236}">
                <a16:creationId xmlns:a16="http://schemas.microsoft.com/office/drawing/2014/main" xmlns="" id="{6E2F8EEA-A56C-7EFA-AA71-F89BE42E7FE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5" name="Picture 1">
            <a:extLst>
              <a:ext uri="{FF2B5EF4-FFF2-40B4-BE49-F238E27FC236}">
                <a16:creationId xmlns:a16="http://schemas.microsoft.com/office/drawing/2014/main" xmlns="" id="{3F245416-4AF6-6383-7C12-29EA1DFCE2BE}"/>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61322" y="1558511"/>
            <a:ext cx="8494644" cy="314007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a:extLst>
              <a:ext uri="{FF2B5EF4-FFF2-40B4-BE49-F238E27FC236}">
                <a16:creationId xmlns:a16="http://schemas.microsoft.com/office/drawing/2014/main" xmlns="" id="{D216BEB5-7FD3-75A9-0150-6A462F66AA5B}"/>
              </a:ext>
            </a:extLst>
          </p:cNvPr>
          <p:cNvSpPr>
            <a:spLocks noChangeArrowheads="1"/>
          </p:cNvSpPr>
          <p:nvPr/>
        </p:nvSpPr>
        <p:spPr bwMode="auto">
          <a:xfrm>
            <a:off x="5089494" y="5097286"/>
            <a:ext cx="1535933"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 1 Solar Panel</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2943019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E2C6AF-AE93-22C3-9B25-3251513319E9}"/>
              </a:ext>
            </a:extLst>
          </p:cNvPr>
          <p:cNvSpPr>
            <a:spLocks noGrp="1"/>
          </p:cNvSpPr>
          <p:nvPr>
            <p:ph type="title"/>
          </p:nvPr>
        </p:nvSpPr>
        <p:spPr/>
        <p:txBody>
          <a:bodyPr/>
          <a:lstStyle/>
          <a:p>
            <a:r>
              <a:rPr lang="en-US" dirty="0"/>
              <a:t>Working of PV Cell	</a:t>
            </a:r>
            <a:endParaRPr lang="en-IN" dirty="0"/>
          </a:p>
        </p:txBody>
      </p:sp>
      <p:sp>
        <p:nvSpPr>
          <p:cNvPr id="3" name="Content Placeholder 2">
            <a:extLst>
              <a:ext uri="{FF2B5EF4-FFF2-40B4-BE49-F238E27FC236}">
                <a16:creationId xmlns:a16="http://schemas.microsoft.com/office/drawing/2014/main" xmlns="" id="{14A54DF1-1F8A-0640-FB99-415B787E5325}"/>
              </a:ext>
            </a:extLst>
          </p:cNvPr>
          <p:cNvSpPr>
            <a:spLocks noGrp="1"/>
          </p:cNvSpPr>
          <p:nvPr>
            <p:ph idx="1"/>
          </p:nvPr>
        </p:nvSpPr>
        <p:spPr>
          <a:xfrm>
            <a:off x="838200" y="1524000"/>
            <a:ext cx="10515600" cy="4968875"/>
          </a:xfrm>
        </p:spPr>
        <p:txBody>
          <a:bodyPr>
            <a:normAutofit fontScale="92500" lnSpcReduction="20000"/>
          </a:bodyPr>
          <a:lstStyle/>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The Photovoltaic cell is the semiconductor device that converts the light into electrical energy. The voltage induces by the PV cell depends on the intensity of light incident</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on it. The name Photovoltaic is because of their voltage producing capability.</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Photovoltaic cells consist of two or more layers of semiconductors with one layer containing positive charge and the other negative charge lined adjacent to each other. </a:t>
            </a:r>
          </a:p>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Sunlight, consisting of small packets of energy termed as photons, strikes the cell, where it is either reflected, transmitted or absorbed. When the photons are absorbed by the negative layer of the photovoltaic cell, the energy of the photon gets transferred to an electron in an atom of the cell. With the increase in energy, the electron escapes the outer shell of the atom. The freed electron naturally migrates to the positive layer creating a potential difference between the positive and the negative layer. When the two layers are connected to an external circuit, the electron flows through the circuit, creating a current. </a:t>
            </a:r>
          </a:p>
          <a:p>
            <a:pPr marL="0" indent="0">
              <a:buNone/>
            </a:pPr>
            <a:endParaRPr lang="en-IN" dirty="0"/>
          </a:p>
        </p:txBody>
      </p:sp>
      <p:sp>
        <p:nvSpPr>
          <p:cNvPr id="4" name="Slide Number Placeholder 3">
            <a:extLst>
              <a:ext uri="{FF2B5EF4-FFF2-40B4-BE49-F238E27FC236}">
                <a16:creationId xmlns:a16="http://schemas.microsoft.com/office/drawing/2014/main" xmlns="" id="{3D56D61B-D694-D8C0-F35B-5163CC1221A2}"/>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xmlns="" val="3761898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07E0A9-00ED-D35B-F839-8E5F9C7A6974}"/>
              </a:ext>
            </a:extLst>
          </p:cNvPr>
          <p:cNvSpPr>
            <a:spLocks noGrp="1"/>
          </p:cNvSpPr>
          <p:nvPr>
            <p:ph type="title"/>
          </p:nvPr>
        </p:nvSpPr>
        <p:spPr/>
        <p:txBody>
          <a:bodyPr/>
          <a:lstStyle/>
          <a:p>
            <a:r>
              <a:rPr lang="en-US" dirty="0"/>
              <a:t>Working of PV cell</a:t>
            </a:r>
            <a:endParaRPr lang="en-IN" dirty="0"/>
          </a:p>
        </p:txBody>
      </p:sp>
      <p:sp>
        <p:nvSpPr>
          <p:cNvPr id="3" name="Content Placeholder 2">
            <a:extLst>
              <a:ext uri="{FF2B5EF4-FFF2-40B4-BE49-F238E27FC236}">
                <a16:creationId xmlns:a16="http://schemas.microsoft.com/office/drawing/2014/main" xmlns="" id="{3E53C5A3-69E8-82A5-B2DA-B6CF51C1218A}"/>
              </a:ext>
            </a:extLst>
          </p:cNvPr>
          <p:cNvSpPr>
            <a:spLocks noGrp="1"/>
          </p:cNvSpPr>
          <p:nvPr>
            <p:ph idx="1"/>
          </p:nvPr>
        </p:nvSpPr>
        <p:spPr>
          <a:xfrm>
            <a:off x="838200" y="1690688"/>
            <a:ext cx="10515600" cy="4351338"/>
          </a:xfrm>
        </p:spPr>
        <p:txBody>
          <a:bodyPr/>
          <a:lstStyle/>
          <a:p>
            <a:pPr algn="just"/>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The electrons of the semiconductor material are joined together by the covalent bond. The electromagnetic radiations are made of small energy particles called photons. When the photons are incident on the semiconductor material, then the electrons become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energised</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and starts emitting. The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energised</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electron is known as the Photoelectrons. And the phenomenon of emission of electrons is known as the photoelectric effect. The working of the Photovoltaic cell depends on the photoelectric effect.</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780F631C-9479-A30D-C002-FC6AF7499435}"/>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xmlns="" val="2859982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632CC8-8334-B649-85E5-A26D503911E1}"/>
              </a:ext>
            </a:extLst>
          </p:cNvPr>
          <p:cNvSpPr>
            <a:spLocks noGrp="1"/>
          </p:cNvSpPr>
          <p:nvPr>
            <p:ph type="title"/>
          </p:nvPr>
        </p:nvSpPr>
        <p:spPr/>
        <p:txBody>
          <a:bodyPr/>
          <a:lstStyle/>
          <a:p>
            <a:r>
              <a:rPr lang="en-US" dirty="0"/>
              <a:t>Working of PV cell</a:t>
            </a:r>
            <a:endParaRPr lang="en-IN" dirty="0"/>
          </a:p>
        </p:txBody>
      </p:sp>
      <p:sp>
        <p:nvSpPr>
          <p:cNvPr id="3" name="Content Placeholder 2">
            <a:extLst>
              <a:ext uri="{FF2B5EF4-FFF2-40B4-BE49-F238E27FC236}">
                <a16:creationId xmlns:a16="http://schemas.microsoft.com/office/drawing/2014/main" xmlns="" id="{46B995D9-67E3-F337-9E7C-D75320CB6673}"/>
              </a:ext>
            </a:extLst>
          </p:cNvPr>
          <p:cNvSpPr>
            <a:spLocks noGrp="1"/>
          </p:cNvSpPr>
          <p:nvPr>
            <p:ph idx="1"/>
          </p:nvPr>
        </p:nvSpPr>
        <p:spPr/>
        <p:txBody>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Consider the figure below shows the PV cell made of silicon and the resistive load is connected across it. The PV cell consists the P and N-type layer of semiconductor material. These layers are joined together to form the PN junction.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A6BE16A2-8B63-0FE4-2C7A-E8CDBBCE0DD3}"/>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5" name="Picture 1">
            <a:extLst>
              <a:ext uri="{FF2B5EF4-FFF2-40B4-BE49-F238E27FC236}">
                <a16:creationId xmlns:a16="http://schemas.microsoft.com/office/drawing/2014/main" xmlns="" id="{7D1FD947-38A8-0497-01B9-2A00A17A57AB}"/>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74573" y="3088763"/>
            <a:ext cx="7447722" cy="3088200"/>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xmlns="" id="{EA9B6A94-A830-8C89-87B2-2D95B9C4E36D}"/>
              </a:ext>
            </a:extLst>
          </p:cNvPr>
          <p:cNvSpPr>
            <a:spLocks noChangeArrowheads="1"/>
          </p:cNvSpPr>
          <p:nvPr/>
        </p:nvSpPr>
        <p:spPr bwMode="auto">
          <a:xfrm>
            <a:off x="4348719" y="6202461"/>
            <a:ext cx="2805447"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Fig.2. PV Cell with load resistance</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426929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AEB796-34F1-5294-65A9-58F05BF779A4}"/>
              </a:ext>
            </a:extLst>
          </p:cNvPr>
          <p:cNvSpPr>
            <a:spLocks noGrp="1"/>
          </p:cNvSpPr>
          <p:nvPr>
            <p:ph type="title"/>
          </p:nvPr>
        </p:nvSpPr>
        <p:spPr/>
        <p:txBody>
          <a:bodyPr/>
          <a:lstStyle/>
          <a:p>
            <a:r>
              <a:rPr lang="en-US" dirty="0"/>
              <a:t>Working of PV cell</a:t>
            </a:r>
            <a:endParaRPr lang="en-IN" dirty="0"/>
          </a:p>
        </p:txBody>
      </p:sp>
      <p:sp>
        <p:nvSpPr>
          <p:cNvPr id="3" name="Content Placeholder 2">
            <a:extLst>
              <a:ext uri="{FF2B5EF4-FFF2-40B4-BE49-F238E27FC236}">
                <a16:creationId xmlns:a16="http://schemas.microsoft.com/office/drawing/2014/main" xmlns="" id="{11D9AC6E-C4E9-DA5B-083B-7FB5B470CE28}"/>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light incident on the semiconductor material may be pass or reflected through it. The PV cell is made of the semiconductor material which is neither a complete conductor nor an insulator. This property of semiconductor material makes it more efficient for converting the light energy into electric energy.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 semiconductor material absorbs light, the electrons of the material starts emitting. This happens because the light consists small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energised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particles called photons. When the electrons absorb the photons, they become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energised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starts moving into the material. Because of the effect of an electric field, the particles move only in the one direction and develops current. The semiconductor materials have the metallic electrodes through which the current goes out of 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714D2E39-3190-C4E3-FCF4-A5AE37255560}"/>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xmlns="" val="3488945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59FBDE-265A-5A12-9548-18041D3D78AE}"/>
              </a:ext>
            </a:extLst>
          </p:cNvPr>
          <p:cNvSpPr>
            <a:spLocks noGrp="1"/>
          </p:cNvSpPr>
          <p:nvPr>
            <p:ph type="title"/>
          </p:nvPr>
        </p:nvSpPr>
        <p:spPr/>
        <p:txBody>
          <a:bodyPr/>
          <a:lstStyle/>
          <a:p>
            <a:r>
              <a:rPr lang="en-US" dirty="0"/>
              <a:t>Construction of Photovoltaic Cell</a:t>
            </a:r>
            <a:endParaRPr lang="en-IN" dirty="0"/>
          </a:p>
        </p:txBody>
      </p:sp>
      <p:sp>
        <p:nvSpPr>
          <p:cNvPr id="3" name="Content Placeholder 2">
            <a:extLst>
              <a:ext uri="{FF2B5EF4-FFF2-40B4-BE49-F238E27FC236}">
                <a16:creationId xmlns:a16="http://schemas.microsoft.com/office/drawing/2014/main" xmlns="" id="{63762AD2-9C41-9A91-F4CE-38085677D5D6}"/>
              </a:ext>
            </a:extLst>
          </p:cNvPr>
          <p:cNvSpPr>
            <a:spLocks noGrp="1"/>
          </p:cNvSpPr>
          <p:nvPr>
            <p:ph idx="1"/>
          </p:nvPr>
        </p:nvSpPr>
        <p:spPr/>
        <p:txBody>
          <a:bodyPr/>
          <a:lstStyle/>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The semiconductor materials like arsenide, indium, cadmium, silicon, selenium and gallium are used for making the PV cells. Mostly silicon and selenium are used for making the cell. Consider the figure below shows the constructions of the silicon photovoltaic cell. The upper surface of the cell is made of the thin layer of the p-type material so that the light can easily enter into the material. The metal rings are placed around p-type and n-type material which acts as their positive and negative output terminals respectively.</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85D8910F-1ACE-7834-5E39-6E24CF315BC5}"/>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xmlns="" val="3322556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09734319-8089-F4C0-463F-039A26AD9313}"/>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3" name="Picture 2">
            <a:extLst>
              <a:ext uri="{FF2B5EF4-FFF2-40B4-BE49-F238E27FC236}">
                <a16:creationId xmlns:a16="http://schemas.microsoft.com/office/drawing/2014/main" xmlns="" id="{E8052718-DB10-45DD-FB7D-895015BE27DD}"/>
              </a:ext>
            </a:extLst>
          </p:cNvPr>
          <p:cNvPicPr>
            <a:picLocks noChangeAspect="1"/>
          </p:cNvPicPr>
          <p:nvPr/>
        </p:nvPicPr>
        <p:blipFill>
          <a:blip r:embed="rId2"/>
          <a:stretch>
            <a:fillRect/>
          </a:stretch>
        </p:blipFill>
        <p:spPr>
          <a:xfrm>
            <a:off x="3012170" y="1472427"/>
            <a:ext cx="6131249" cy="3755300"/>
          </a:xfrm>
          <a:prstGeom prst="rect">
            <a:avLst/>
          </a:prstGeom>
        </p:spPr>
      </p:pic>
      <p:sp>
        <p:nvSpPr>
          <p:cNvPr id="4" name="TextBox 3">
            <a:extLst>
              <a:ext uri="{FF2B5EF4-FFF2-40B4-BE49-F238E27FC236}">
                <a16:creationId xmlns:a16="http://schemas.microsoft.com/office/drawing/2014/main" xmlns="" id="{A7B24C51-EE73-C5F9-EB71-F06D02115F91}"/>
              </a:ext>
            </a:extLst>
          </p:cNvPr>
          <p:cNvSpPr txBox="1"/>
          <p:nvPr/>
        </p:nvSpPr>
        <p:spPr>
          <a:xfrm>
            <a:off x="2809461" y="5543978"/>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Fig.3 PV Cell Construction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xmlns="" id="{5CC24559-20A1-1B1F-CB86-A3EF34A3001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Construction of Photovoltaic Cell</a:t>
            </a:r>
            <a:endParaRPr lang="en-IN" dirty="0"/>
          </a:p>
        </p:txBody>
      </p:sp>
    </p:spTree>
    <p:extLst>
      <p:ext uri="{BB962C8B-B14F-4D97-AF65-F5344CB8AC3E}">
        <p14:creationId xmlns:p14="http://schemas.microsoft.com/office/powerpoint/2010/main" xmlns="" val="155045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DD4A56-A0B1-CE5A-19E2-1714E92E7E82}"/>
              </a:ext>
            </a:extLst>
          </p:cNvPr>
          <p:cNvSpPr>
            <a:spLocks noGrp="1"/>
          </p:cNvSpPr>
          <p:nvPr>
            <p:ph type="title"/>
          </p:nvPr>
        </p:nvSpPr>
        <p:spPr/>
        <p:txBody>
          <a:bodyPr/>
          <a:lstStyle/>
          <a:p>
            <a:r>
              <a:rPr lang="en-US" dirty="0"/>
              <a:t>Construction of Photovoltaic Cell</a:t>
            </a:r>
            <a:endParaRPr lang="en-IN" dirty="0"/>
          </a:p>
        </p:txBody>
      </p:sp>
      <p:sp>
        <p:nvSpPr>
          <p:cNvPr id="3" name="Content Placeholder 2">
            <a:extLst>
              <a:ext uri="{FF2B5EF4-FFF2-40B4-BE49-F238E27FC236}">
                <a16:creationId xmlns:a16="http://schemas.microsoft.com/office/drawing/2014/main" xmlns="" id="{3FA5D7E9-F3BF-B5E5-7265-7AB32D62403B}"/>
              </a:ext>
            </a:extLst>
          </p:cNvPr>
          <p:cNvSpPr>
            <a:spLocks noGrp="1"/>
          </p:cNvSpPr>
          <p:nvPr>
            <p:ph idx="1"/>
          </p:nvPr>
        </p:nvSpPr>
        <p:spPr/>
        <p:txBody>
          <a:bodyPr/>
          <a:lstStyle/>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The multi-crystalline or monocrystalline semiconductor material make the single unit of the PV cell. The mono-crystal cell is cut from the volume of the semiconductor material. The multicell are obtained from the material which has many sides. The output voltage and current obtained from the single unit of the cell is very less. The magnitude of the output voltage is 0.6V, and that of the current is 0.8A. The different combinations of cells are used for increasing the output efficiency. There are three possible ways of combining the PV cells.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B5729669-8E70-DD56-D68C-BE672F46E764}"/>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xmlns="" val="2539670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58DC50-9FFB-8EA2-61FA-E3FA2153DB98}"/>
              </a:ext>
            </a:extLst>
          </p:cNvPr>
          <p:cNvSpPr>
            <a:spLocks noGrp="1"/>
          </p:cNvSpPr>
          <p:nvPr>
            <p:ph type="title"/>
          </p:nvPr>
        </p:nvSpPr>
        <p:spPr/>
        <p:txBody>
          <a:bodyPr/>
          <a:lstStyle/>
          <a:p>
            <a:r>
              <a:rPr lang="en-US" dirty="0"/>
              <a:t>PV cell combinations</a:t>
            </a:r>
            <a:endParaRPr lang="en-IN" dirty="0"/>
          </a:p>
        </p:txBody>
      </p:sp>
      <p:sp>
        <p:nvSpPr>
          <p:cNvPr id="3" name="Content Placeholder 2">
            <a:extLst>
              <a:ext uri="{FF2B5EF4-FFF2-40B4-BE49-F238E27FC236}">
                <a16:creationId xmlns:a16="http://schemas.microsoft.com/office/drawing/2014/main" xmlns="" id="{EBABAE58-46AF-4394-DD08-8335FC0F94E9}"/>
              </a:ext>
            </a:extLst>
          </p:cNvPr>
          <p:cNvSpPr>
            <a:spLocks noGrp="1"/>
          </p:cNvSpPr>
          <p:nvPr>
            <p:ph idx="1"/>
          </p:nvPr>
        </p:nvSpPr>
        <p:spPr/>
        <p:txBody>
          <a:bodyPr/>
          <a:lstStyle/>
          <a:p>
            <a:pPr algn="just"/>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Series Combination of PV Cells: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If more than two cells are connected in series with each other, then the output current of the cell remains same, and their input voltage becomes doubles. The graph below shows the output characteristic of the PV cells when connected in series.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EA73DDC1-21F5-51D9-E69D-FBC5B11B06B2}"/>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Picture 4">
            <a:extLst>
              <a:ext uri="{FF2B5EF4-FFF2-40B4-BE49-F238E27FC236}">
                <a16:creationId xmlns:a16="http://schemas.microsoft.com/office/drawing/2014/main" xmlns="" id="{2584E9AB-FCC1-A4B7-3FE9-84EDC2E0F7ED}"/>
              </a:ext>
            </a:extLst>
          </p:cNvPr>
          <p:cNvPicPr>
            <a:picLocks noChangeAspect="1"/>
          </p:cNvPicPr>
          <p:nvPr/>
        </p:nvPicPr>
        <p:blipFill>
          <a:blip r:embed="rId2"/>
          <a:stretch>
            <a:fillRect/>
          </a:stretch>
        </p:blipFill>
        <p:spPr>
          <a:xfrm>
            <a:off x="4257675" y="3328988"/>
            <a:ext cx="3676650" cy="2847975"/>
          </a:xfrm>
          <a:prstGeom prst="rect">
            <a:avLst/>
          </a:prstGeom>
        </p:spPr>
      </p:pic>
      <p:sp>
        <p:nvSpPr>
          <p:cNvPr id="6" name="TextBox 5">
            <a:extLst>
              <a:ext uri="{FF2B5EF4-FFF2-40B4-BE49-F238E27FC236}">
                <a16:creationId xmlns:a16="http://schemas.microsoft.com/office/drawing/2014/main" xmlns="" id="{ABB2C51F-21E9-3486-0F2C-66361E435C8B}"/>
              </a:ext>
            </a:extLst>
          </p:cNvPr>
          <p:cNvSpPr txBox="1"/>
          <p:nvPr/>
        </p:nvSpPr>
        <p:spPr>
          <a:xfrm>
            <a:off x="2822713" y="6148228"/>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Fig.4 PV Cell Characteristics for series combination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624636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04D849-2ABF-8A33-3F68-91274FB3309C}"/>
              </a:ext>
            </a:extLst>
          </p:cNvPr>
          <p:cNvSpPr>
            <a:spLocks noGrp="1"/>
          </p:cNvSpPr>
          <p:nvPr>
            <p:ph type="title"/>
          </p:nvPr>
        </p:nvSpPr>
        <p:spPr/>
        <p:txBody>
          <a:bodyPr/>
          <a:lstStyle/>
          <a:p>
            <a:r>
              <a:rPr lang="en-US" dirty="0"/>
              <a:t>PV cell combinations</a:t>
            </a:r>
            <a:endParaRPr lang="en-IN" dirty="0"/>
          </a:p>
        </p:txBody>
      </p:sp>
      <p:sp>
        <p:nvSpPr>
          <p:cNvPr id="3" name="Content Placeholder 2">
            <a:extLst>
              <a:ext uri="{FF2B5EF4-FFF2-40B4-BE49-F238E27FC236}">
                <a16:creationId xmlns:a16="http://schemas.microsoft.com/office/drawing/2014/main" xmlns="" id="{0538E7C6-AEC7-8D04-758A-ECE1AB457237}"/>
              </a:ext>
            </a:extLst>
          </p:cNvPr>
          <p:cNvSpPr>
            <a:spLocks noGrp="1"/>
          </p:cNvSpPr>
          <p:nvPr>
            <p:ph idx="1"/>
          </p:nvPr>
        </p:nvSpPr>
        <p:spPr/>
        <p:txBody>
          <a:bodyPr/>
          <a:lstStyle/>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Parallel Combination of PV cells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the parallel combination of the cells, the voltage remains same, and the magnitude of current becomes double. The characteristic curve of the parallel combination of cells is represented below.</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A9B6E018-D87B-F5CC-269C-FD2FB934323C}"/>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5" name="Picture 4">
            <a:extLst>
              <a:ext uri="{FF2B5EF4-FFF2-40B4-BE49-F238E27FC236}">
                <a16:creationId xmlns:a16="http://schemas.microsoft.com/office/drawing/2014/main" xmlns="" id="{26754BD6-53A3-2CB0-2FE2-307BC78C90E1}"/>
              </a:ext>
            </a:extLst>
          </p:cNvPr>
          <p:cNvPicPr>
            <a:picLocks noChangeAspect="1"/>
          </p:cNvPicPr>
          <p:nvPr/>
        </p:nvPicPr>
        <p:blipFill>
          <a:blip r:embed="rId2"/>
          <a:stretch>
            <a:fillRect/>
          </a:stretch>
        </p:blipFill>
        <p:spPr>
          <a:xfrm>
            <a:off x="4179196" y="3314492"/>
            <a:ext cx="3440804" cy="2750486"/>
          </a:xfrm>
          <a:prstGeom prst="rect">
            <a:avLst/>
          </a:prstGeom>
        </p:spPr>
      </p:pic>
      <p:sp>
        <p:nvSpPr>
          <p:cNvPr id="6" name="TextBox 5">
            <a:extLst>
              <a:ext uri="{FF2B5EF4-FFF2-40B4-BE49-F238E27FC236}">
                <a16:creationId xmlns:a16="http://schemas.microsoft.com/office/drawing/2014/main" xmlns="" id="{456FABBB-9CD4-5E17-CAAA-D33A7B0419D3}"/>
              </a:ext>
            </a:extLst>
          </p:cNvPr>
          <p:cNvSpPr txBox="1"/>
          <p:nvPr/>
        </p:nvSpPr>
        <p:spPr>
          <a:xfrm>
            <a:off x="2822713" y="6148228"/>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Fig.5 PV Cell Characteristics for parallel combination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2289685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4C8605-3958-B8C9-B749-E72155252B77}"/>
              </a:ext>
            </a:extLst>
          </p:cNvPr>
          <p:cNvSpPr>
            <a:spLocks noGrp="1"/>
          </p:cNvSpPr>
          <p:nvPr>
            <p:ph type="title"/>
          </p:nvPr>
        </p:nvSpPr>
        <p:spPr/>
        <p:txBody>
          <a:bodyPr/>
          <a:lstStyle/>
          <a:p>
            <a:r>
              <a:rPr lang="en-US" dirty="0"/>
              <a:t>PV cell combinations</a:t>
            </a:r>
            <a:endParaRPr lang="en-IN" dirty="0"/>
          </a:p>
        </p:txBody>
      </p:sp>
      <p:sp>
        <p:nvSpPr>
          <p:cNvPr id="3" name="Content Placeholder 2">
            <a:extLst>
              <a:ext uri="{FF2B5EF4-FFF2-40B4-BE49-F238E27FC236}">
                <a16:creationId xmlns:a16="http://schemas.microsoft.com/office/drawing/2014/main" xmlns="" id="{B1190373-2F23-29CE-75F8-7232E1EE71AC}"/>
              </a:ext>
            </a:extLst>
          </p:cNvPr>
          <p:cNvSpPr>
            <a:spLocks noGrp="1"/>
          </p:cNvSpPr>
          <p:nvPr>
            <p:ph idx="1"/>
          </p:nvPr>
        </p:nvSpPr>
        <p:spPr/>
        <p:txBody>
          <a:bodyPr/>
          <a:lstStyle/>
          <a:p>
            <a:pPr algn="just" fontAlgn="base">
              <a:lnSpc>
                <a:spcPct val="115000"/>
              </a:lnSpc>
              <a:spcAft>
                <a:spcPts val="1500"/>
              </a:spcAft>
            </a:pPr>
            <a:r>
              <a:rPr lang="en-IN" sz="2000" b="1" dirty="0">
                <a:solidFill>
                  <a:srgbClr val="222222"/>
                </a:solidFill>
                <a:effectLst/>
                <a:latin typeface="Arial" panose="020B0604020202020204" pitchFamily="34" charset="0"/>
                <a:ea typeface="Times New Roman" panose="02020603050405020304" pitchFamily="18" charset="0"/>
                <a:cs typeface="Times New Roman" panose="02020603050405020304" pitchFamily="18" charset="0"/>
              </a:rPr>
              <a:t>Series-Parallel Combination of PV cells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15000"/>
              </a:lnSpc>
              <a:spcBef>
                <a:spcPts val="960"/>
              </a:spcBef>
              <a:spcAft>
                <a:spcPts val="1440"/>
              </a:spcAft>
            </a:pPr>
            <a:r>
              <a:rPr lang="en-IN" sz="2000" dirty="0">
                <a:solidFill>
                  <a:srgbClr val="222222"/>
                </a:solidFill>
                <a:effectLst/>
                <a:latin typeface="Nunito Sans" pitchFamily="2" charset="0"/>
                <a:ea typeface="Times New Roman" panose="02020603050405020304" pitchFamily="18" charset="0"/>
                <a:cs typeface="Times New Roman" panose="02020603050405020304" pitchFamily="18" charset="0"/>
              </a:rPr>
              <a:t>In the series-parallel combination of cells the magnitude of both the voltage and current increases. Thereby, the solar panels are made by using the series-parallel combination of the cells.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0053C496-1830-0793-3FB8-09C817081A16}"/>
              </a:ext>
            </a:extLst>
          </p:cNvPr>
          <p:cNvSpPr>
            <a:spLocks noGrp="1"/>
          </p:cNvSpPr>
          <p:nvPr>
            <p:ph type="sldNum" sz="quarter" idx="12"/>
          </p:nvPr>
        </p:nvSpPr>
        <p:spPr/>
        <p:txBody>
          <a:bodyPr/>
          <a:lstStyle/>
          <a:p>
            <a:fld id="{BDCDBBEF-AA6C-4BA6-85B2-A17D7F280E38}" type="slidenum">
              <a:rPr lang="en-US" smtClean="0"/>
              <a:pPr/>
              <a:t>19</a:t>
            </a:fld>
            <a:endParaRPr lang="en-US"/>
          </a:p>
        </p:txBody>
      </p:sp>
      <p:pic>
        <p:nvPicPr>
          <p:cNvPr id="5" name="Picture 4">
            <a:extLst>
              <a:ext uri="{FF2B5EF4-FFF2-40B4-BE49-F238E27FC236}">
                <a16:creationId xmlns:a16="http://schemas.microsoft.com/office/drawing/2014/main" xmlns="" id="{824C58C9-1DDB-E775-9585-E57156D52BF4}"/>
              </a:ext>
            </a:extLst>
          </p:cNvPr>
          <p:cNvPicPr>
            <a:picLocks noChangeAspect="1"/>
          </p:cNvPicPr>
          <p:nvPr/>
        </p:nvPicPr>
        <p:blipFill>
          <a:blip r:embed="rId2"/>
          <a:stretch>
            <a:fillRect/>
          </a:stretch>
        </p:blipFill>
        <p:spPr>
          <a:xfrm>
            <a:off x="4105275" y="3406775"/>
            <a:ext cx="3981450" cy="3086100"/>
          </a:xfrm>
          <a:prstGeom prst="rect">
            <a:avLst/>
          </a:prstGeom>
        </p:spPr>
      </p:pic>
      <p:sp>
        <p:nvSpPr>
          <p:cNvPr id="7" name="TextBox 6">
            <a:extLst>
              <a:ext uri="{FF2B5EF4-FFF2-40B4-BE49-F238E27FC236}">
                <a16:creationId xmlns:a16="http://schemas.microsoft.com/office/drawing/2014/main" xmlns="" id="{2F8F66BE-8B77-39D9-C70B-7D90B3A7D561}"/>
              </a:ext>
            </a:extLst>
          </p:cNvPr>
          <p:cNvSpPr txBox="1"/>
          <p:nvPr/>
        </p:nvSpPr>
        <p:spPr>
          <a:xfrm>
            <a:off x="3048000" y="6476920"/>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Fig.6 PV Cell Characteristics for series-parallel combination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1531754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797CF0-8AF8-2AEA-83BE-A01AD887B2A5}"/>
              </a:ext>
            </a:extLst>
          </p:cNvPr>
          <p:cNvSpPr>
            <a:spLocks noGrp="1"/>
          </p:cNvSpPr>
          <p:nvPr>
            <p:ph type="title"/>
          </p:nvPr>
        </p:nvSpPr>
        <p:spPr/>
        <p:txBody>
          <a:bodyPr/>
          <a:lstStyle/>
          <a:p>
            <a:r>
              <a:rPr lang="en-US" dirty="0"/>
              <a:t>Advantages of PV cell</a:t>
            </a:r>
            <a:endParaRPr lang="en-IN" dirty="0"/>
          </a:p>
        </p:txBody>
      </p:sp>
      <p:sp>
        <p:nvSpPr>
          <p:cNvPr id="3" name="Content Placeholder 2">
            <a:extLst>
              <a:ext uri="{FF2B5EF4-FFF2-40B4-BE49-F238E27FC236}">
                <a16:creationId xmlns:a16="http://schemas.microsoft.com/office/drawing/2014/main" xmlns="" id="{49157D19-5393-363F-38D6-71E6E83E6BFC}"/>
              </a:ext>
            </a:extLst>
          </p:cNvPr>
          <p:cNvSpPr>
            <a:spLocks noGrp="1"/>
          </p:cNvSpPr>
          <p:nvPr>
            <p:ph idx="1"/>
          </p:nvPr>
        </p:nvSpPr>
        <p:spPr/>
        <p:txBody>
          <a:bodyPr>
            <a:normAutofit fontScale="62500" lnSpcReduction="20000"/>
          </a:bodyPr>
          <a:lstStyle/>
          <a:p>
            <a:pPr algn="just">
              <a:lnSpc>
                <a:spcPct val="115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Environmental Sustainability: Photovoltaic cells generate clean and green energy as no harmful gases such as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COx</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NOx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are emitted. Also, they produce no noise pollution which makes them ideal for application in residential areas.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Economically </a:t>
            </a:r>
            <a:r>
              <a:rPr lang="en-US" sz="2800" dirty="0" err="1">
                <a:effectLst/>
                <a:latin typeface="Times New Roman" panose="02020603050405020304" pitchFamily="18" charset="0"/>
                <a:ea typeface="Calibri" panose="020F0502020204030204" pitchFamily="34" charset="0"/>
                <a:cs typeface="Times New Roman" panose="02020603050405020304" pitchFamily="18" charset="0"/>
              </a:rPr>
              <a:t>Viable:The</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operation and maintenance costs of cells are very low. The cost of solar panels incurred is only the initial cost i.e., purchase and installation.</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Accessible: Solar panels are easy to set up and can be made accessible in remote locations or sparsely inhabited areas at a lesser cost as compared to conventional transmission lines. They are easy to install without any interference with the residential lifestyle.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Renewable: Energy is free and abundant in nature.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Cost: Solar panels have no mechanically moving parts except in some highly advanced sunlight tracking mechanical bases. Consequently, the solar panel price for maintenance and repair is negligible.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DFD91461-A787-A5D6-2108-8ED623119E20}"/>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xmlns="" val="2513475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3974F2-C3CC-FFB9-29D0-34E052E2F710}"/>
              </a:ext>
            </a:extLst>
          </p:cNvPr>
          <p:cNvSpPr>
            <a:spLocks noGrp="1"/>
          </p:cNvSpPr>
          <p:nvPr>
            <p:ph type="title"/>
          </p:nvPr>
        </p:nvSpPr>
        <p:spPr/>
        <p:txBody>
          <a:bodyPr/>
          <a:lstStyle/>
          <a:p>
            <a:r>
              <a:rPr lang="en-US" dirty="0"/>
              <a:t>Disadvantages of PV cell</a:t>
            </a:r>
            <a:endParaRPr lang="en-IN" dirty="0"/>
          </a:p>
        </p:txBody>
      </p:sp>
      <p:sp>
        <p:nvSpPr>
          <p:cNvPr id="3" name="Content Placeholder 2">
            <a:extLst>
              <a:ext uri="{FF2B5EF4-FFF2-40B4-BE49-F238E27FC236}">
                <a16:creationId xmlns:a16="http://schemas.microsoft.com/office/drawing/2014/main" xmlns="" id="{6E8C5783-8DFE-54CE-F42A-53EA3DC0A5AF}"/>
              </a:ext>
            </a:extLst>
          </p:cNvPr>
          <p:cNvSpPr>
            <a:spLocks noGrp="1"/>
          </p:cNvSpPr>
          <p:nvPr>
            <p:ph idx="1"/>
          </p:nvPr>
        </p:nvSpPr>
        <p:spPr/>
        <p:txBody>
          <a:bodyPr>
            <a:norm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efficiency of solar panels is low compared to other renewable sources of energy.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Energy from the sun is intermittent and unpredictable and can only be harnessed in the presence of sunlight. Also, the power generated gets reduced during cloudy weather.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Long-range transmission of solar energy is inefficient and difficult to carry. The current produced is DC in nature and the conversion of DC current to AC current involves the use of additional equipment such as inverters.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Photovoltaic panels are fragile and can be damaged relatively easily. Additional insurance costs are required to ensure a safeguard of the investments.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xmlns="" id="{5E457BAC-E03A-A1A0-82D6-07CC631A7F21}"/>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xmlns="" val="1906942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A0A93D-E1E0-44A3-DF42-9664202E726B}"/>
              </a:ext>
            </a:extLst>
          </p:cNvPr>
          <p:cNvSpPr>
            <a:spLocks noGrp="1"/>
          </p:cNvSpPr>
          <p:nvPr>
            <p:ph type="title"/>
          </p:nvPr>
        </p:nvSpPr>
        <p:spPr/>
        <p:txBody>
          <a:bodyPr/>
          <a:lstStyle/>
          <a:p>
            <a:r>
              <a:rPr lang="en-US" dirty="0"/>
              <a:t>PV module, panel and array</a:t>
            </a:r>
            <a:endParaRPr lang="en-IN" dirty="0"/>
          </a:p>
        </p:txBody>
      </p:sp>
      <p:sp>
        <p:nvSpPr>
          <p:cNvPr id="3" name="Content Placeholder 2">
            <a:extLst>
              <a:ext uri="{FF2B5EF4-FFF2-40B4-BE49-F238E27FC236}">
                <a16:creationId xmlns:a16="http://schemas.microsoft.com/office/drawing/2014/main" xmlns="" id="{2A198449-10DD-C91F-D0FC-821DE9AE555D}"/>
              </a:ext>
            </a:extLst>
          </p:cNvPr>
          <p:cNvSpPr>
            <a:spLocks noGrp="1"/>
          </p:cNvSpPr>
          <p:nvPr>
            <p:ph idx="1"/>
          </p:nvPr>
        </p:nvSpPr>
        <p:spPr/>
        <p:txBody>
          <a:bodyPr/>
          <a:lstStyle/>
          <a:p>
            <a:pPr algn="just"/>
            <a:r>
              <a:rPr lang="en-US" dirty="0">
                <a:effectLst/>
                <a:latin typeface="Times New Roman" panose="02020603050405020304" pitchFamily="18" charset="0"/>
                <a:ea typeface="Calibri" panose="020F0502020204030204" pitchFamily="34" charset="0"/>
                <a:cs typeface="Times New Roman" panose="02020603050405020304" pitchFamily="18" charset="0"/>
              </a:rPr>
              <a:t>Photovoltaic cells are connected electrically in series and/or parallel circuits to produce higher voltages, currents and power levels. Photovoltaic modules consist of PV cell circuits sealed in an environmentally protective laminate, and are the fundamental building blocks of PV systems. Photovoltaic panels include one or more PV modules assembled as a pre-wired, field-installable unit. A photovoltaic array is the complete power-generating unit, consisting of any number of PV modules and panels.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E21BBE37-F756-C000-86F6-6F312D9801C6}"/>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xmlns="" val="986200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04472391-646B-504D-0767-569E251C43D3}"/>
              </a:ext>
            </a:extLst>
          </p:cNvPr>
          <p:cNvSpPr>
            <a:spLocks noGrp="1"/>
          </p:cNvSpPr>
          <p:nvPr>
            <p:ph type="sldNum" sz="quarter" idx="12"/>
          </p:nvPr>
        </p:nvSpPr>
        <p:spPr/>
        <p:txBody>
          <a:bodyPr/>
          <a:lstStyle/>
          <a:p>
            <a:fld id="{BDCDBBEF-AA6C-4BA6-85B2-A17D7F280E38}" type="slidenum">
              <a:rPr lang="en-US" smtClean="0"/>
              <a:pPr/>
              <a:t>23</a:t>
            </a:fld>
            <a:endParaRPr lang="en-US"/>
          </a:p>
        </p:txBody>
      </p:sp>
      <p:pic>
        <p:nvPicPr>
          <p:cNvPr id="3" name="Picture 2">
            <a:extLst>
              <a:ext uri="{FF2B5EF4-FFF2-40B4-BE49-F238E27FC236}">
                <a16:creationId xmlns:a16="http://schemas.microsoft.com/office/drawing/2014/main" xmlns="" id="{979ABDC8-254A-6BD5-E15A-D4C4FBEE74C9}"/>
              </a:ext>
            </a:extLst>
          </p:cNvPr>
          <p:cNvPicPr>
            <a:picLocks noChangeAspect="1"/>
          </p:cNvPicPr>
          <p:nvPr/>
        </p:nvPicPr>
        <p:blipFill>
          <a:blip r:embed="rId2"/>
          <a:stretch>
            <a:fillRect/>
          </a:stretch>
        </p:blipFill>
        <p:spPr>
          <a:xfrm>
            <a:off x="2691926" y="991959"/>
            <a:ext cx="6808148" cy="4874081"/>
          </a:xfrm>
          <a:prstGeom prst="rect">
            <a:avLst/>
          </a:prstGeom>
        </p:spPr>
      </p:pic>
      <p:sp>
        <p:nvSpPr>
          <p:cNvPr id="5" name="TextBox 4">
            <a:extLst>
              <a:ext uri="{FF2B5EF4-FFF2-40B4-BE49-F238E27FC236}">
                <a16:creationId xmlns:a16="http://schemas.microsoft.com/office/drawing/2014/main" xmlns="" id="{7AA01AA9-7393-2402-F103-72440B37A845}"/>
              </a:ext>
            </a:extLst>
          </p:cNvPr>
          <p:cNvSpPr txBox="1"/>
          <p:nvPr/>
        </p:nvSpPr>
        <p:spPr>
          <a:xfrm>
            <a:off x="2691926" y="6343570"/>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Fig.7 PV Cell, Module, panel and Array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4039924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F0B668-6A23-29B4-7802-08122132D48F}"/>
              </a:ext>
            </a:extLst>
          </p:cNvPr>
          <p:cNvSpPr>
            <a:spLocks noGrp="1"/>
          </p:cNvSpPr>
          <p:nvPr>
            <p:ph type="title"/>
          </p:nvPr>
        </p:nvSpPr>
        <p:spPr/>
        <p:txBody>
          <a:bodyPr/>
          <a:lstStyle/>
          <a:p>
            <a:r>
              <a:rPr lang="en-US" dirty="0"/>
              <a:t>PV module, panel and array</a:t>
            </a:r>
            <a:endParaRPr lang="en-IN" dirty="0"/>
          </a:p>
        </p:txBody>
      </p:sp>
      <p:sp>
        <p:nvSpPr>
          <p:cNvPr id="3" name="Content Placeholder 2">
            <a:extLst>
              <a:ext uri="{FF2B5EF4-FFF2-40B4-BE49-F238E27FC236}">
                <a16:creationId xmlns:a16="http://schemas.microsoft.com/office/drawing/2014/main" xmlns="" id="{2F3BF5E9-B236-9BB5-C862-7D19315B1F71}"/>
              </a:ext>
            </a:extLst>
          </p:cNvPr>
          <p:cNvSpPr>
            <a:spLocks noGrp="1"/>
          </p:cNvSpPr>
          <p:nvPr>
            <p:ph idx="1"/>
          </p:nvPr>
        </p:nvSpPr>
        <p:spPr/>
        <p:txBody>
          <a:bodyPr>
            <a:normAutofit fontScale="92500"/>
          </a:bodyPr>
          <a:lstStyle/>
          <a:p>
            <a:pPr algn="just">
              <a:lnSpc>
                <a:spcPct val="115000"/>
              </a:lnSpc>
              <a:spcAft>
                <a:spcPts val="10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performance of PV modules and arrays are generally rated according to their maximum DC power output (watts) under Standard Test Conditions (STC). Standard Test Conditions are defined by a module (cell) operating temperature of 25o C (77o F), and incident solar irradiance level of 1000 W/m2 and under Air Mass 1.5 spectral distribution. Since these conditions are not always typical of how PV modules and arrays operate in the field, actual performance is usually 85 to 90 percent of the STC rating.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Today’s photovoltaic modules are extremely safe and reliable products, with minimal failure rates and projected service lifetimes of 20 to 30 years. Most major manufacturers offer warranties of 20 or more years for maintaining a high percentage of initial rated power output.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892A1618-620A-3F6F-2B75-09161B32E74A}"/>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xmlns="" val="1326909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0922E0-666F-0E95-F80C-2D4F2EDA9490}"/>
              </a:ext>
            </a:extLst>
          </p:cNvPr>
          <p:cNvSpPr>
            <a:spLocks noGrp="1"/>
          </p:cNvSpPr>
          <p:nvPr>
            <p:ph type="title"/>
          </p:nvPr>
        </p:nvSpPr>
        <p:spPr/>
        <p:txBody>
          <a:bodyPr/>
          <a:lstStyle/>
          <a:p>
            <a:r>
              <a:rPr lang="en-US" dirty="0"/>
              <a:t>Characteristics of PV cell</a:t>
            </a:r>
            <a:endParaRPr lang="en-IN" dirty="0"/>
          </a:p>
        </p:txBody>
      </p:sp>
      <p:sp>
        <p:nvSpPr>
          <p:cNvPr id="3" name="Content Placeholder 2">
            <a:extLst>
              <a:ext uri="{FF2B5EF4-FFF2-40B4-BE49-F238E27FC236}">
                <a16:creationId xmlns:a16="http://schemas.microsoft.com/office/drawing/2014/main" xmlns="" id="{A33DBB33-D0E3-7A9A-89E1-7E5F9E23E6A7}"/>
              </a:ext>
            </a:extLst>
          </p:cNvPr>
          <p:cNvSpPr>
            <a:spLocks noGrp="1"/>
          </p:cNvSpPr>
          <p:nvPr>
            <p:ph idx="1"/>
          </p:nvPr>
        </p:nvSpPr>
        <p:spPr/>
        <p:txBody>
          <a:bodyPr>
            <a:normAutofit/>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I-V characteristics curve usually defines the PV cell performance. A combined performance of all the solar cell in a module defines a I-V characteristics of a PV module and similarly it also defines I-V characteristics of a string. </a:t>
            </a:r>
          </a:p>
          <a:p>
            <a:pPr algn="just"/>
            <a:r>
              <a:rPr lang="en-US" sz="2400" dirty="0">
                <a:latin typeface="Times New Roman" panose="02020603050405020304" pitchFamily="18" charset="0"/>
                <a:cs typeface="Times New Roman" panose="02020603050405020304" pitchFamily="18" charset="0"/>
              </a:rPr>
              <a:t>Short circuit current (ISC) – It is the maximum current that can flow through a cell when the voltage across the solar cell is zero (0) (i.e., when the solar cell is short circuited). It is denoted by ISC.</a:t>
            </a:r>
            <a:endParaRPr lang="en-IN" sz="2400" dirty="0">
              <a:latin typeface="Times New Roman" panose="02020603050405020304" pitchFamily="18" charset="0"/>
              <a:cs typeface="Times New Roman" panose="02020603050405020304" pitchFamily="18" charset="0"/>
            </a:endParaRPr>
          </a:p>
          <a:p>
            <a:pPr algn="just">
              <a:lnSpc>
                <a:spcPct val="115000"/>
              </a:lnSpc>
              <a:spcAft>
                <a:spcPts val="1000"/>
              </a:spcAft>
            </a:pPr>
            <a:r>
              <a:rPr lang="en-US" sz="2400" dirty="0">
                <a:latin typeface="Times New Roman" panose="02020603050405020304" pitchFamily="18" charset="0"/>
                <a:cs typeface="Times New Roman" panose="02020603050405020304" pitchFamily="18" charset="0"/>
              </a:rPr>
              <a:t>Open circuit voltage (VOC) – It is the maximum voltage a solar cell can produce when no load is connected to it (i.e., measures with a multimeter across the open ends of the wires). It is denoted by VOC.    </a:t>
            </a:r>
            <a:endParaRPr lang="en-IN" sz="2400" dirty="0">
              <a:latin typeface="Times New Roman" panose="02020603050405020304" pitchFamily="18" charset="0"/>
              <a:cs typeface="Times New Roman" panose="02020603050405020304" pitchFamily="18" charset="0"/>
            </a:endParaRPr>
          </a:p>
          <a:p>
            <a:pPr algn="just"/>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64F275DC-D11A-5291-57B1-F5B9FF3E53A3}"/>
              </a:ext>
            </a:extLst>
          </p:cNvPr>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xmlns="" val="2498069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20F9AF-1C82-28B8-A114-BED309520A7E}"/>
              </a:ext>
            </a:extLst>
          </p:cNvPr>
          <p:cNvSpPr>
            <a:spLocks noGrp="1"/>
          </p:cNvSpPr>
          <p:nvPr>
            <p:ph type="title"/>
          </p:nvPr>
        </p:nvSpPr>
        <p:spPr/>
        <p:txBody>
          <a:bodyPr/>
          <a:lstStyle/>
          <a:p>
            <a:r>
              <a:rPr lang="en-US" dirty="0"/>
              <a:t>Characteristics of PV cell</a:t>
            </a:r>
            <a:endParaRPr lang="en-IN" dirty="0"/>
          </a:p>
        </p:txBody>
      </p:sp>
      <p:sp>
        <p:nvSpPr>
          <p:cNvPr id="3" name="Content Placeholder 2">
            <a:extLst>
              <a:ext uri="{FF2B5EF4-FFF2-40B4-BE49-F238E27FC236}">
                <a16:creationId xmlns:a16="http://schemas.microsoft.com/office/drawing/2014/main" xmlns="" id="{429FADF2-472D-03EF-16B6-ECA55BDF4BE8}"/>
              </a:ext>
            </a:extLst>
          </p:cNvPr>
          <p:cNvSpPr>
            <a:spLocks noGrp="1"/>
          </p:cNvSpPr>
          <p:nvPr>
            <p:ph idx="1"/>
          </p:nvPr>
        </p:nvSpPr>
        <p:spPr>
          <a:xfrm>
            <a:off x="838200" y="1496322"/>
            <a:ext cx="10515600" cy="4351338"/>
          </a:xfrm>
        </p:spPr>
        <p:txBody>
          <a:bodyPr/>
          <a:lstStyle/>
          <a:p>
            <a:pPr algn="just"/>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following figure shows the I-V characteristics curve, P-V characteristics curve and datasheet of a PV module. The vertical axis denotes the current (I) while the horizontal axis denotes the voltage (V). Following terms are defined to understand the I-V characteristics curve: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625CE6B6-3C5A-B880-28C9-EE3437B33241}"/>
              </a:ext>
            </a:extLst>
          </p:cNvPr>
          <p:cNvSpPr>
            <a:spLocks noGrp="1"/>
          </p:cNvSpPr>
          <p:nvPr>
            <p:ph type="sldNum" sz="quarter" idx="12"/>
          </p:nvPr>
        </p:nvSpPr>
        <p:spPr/>
        <p:txBody>
          <a:bodyPr/>
          <a:lstStyle/>
          <a:p>
            <a:fld id="{BDCDBBEF-AA6C-4BA6-85B2-A17D7F280E38}" type="slidenum">
              <a:rPr lang="en-US" smtClean="0"/>
              <a:pPr/>
              <a:t>26</a:t>
            </a:fld>
            <a:endParaRPr lang="en-US"/>
          </a:p>
        </p:txBody>
      </p:sp>
      <p:pic>
        <p:nvPicPr>
          <p:cNvPr id="5" name="Picture 4">
            <a:extLst>
              <a:ext uri="{FF2B5EF4-FFF2-40B4-BE49-F238E27FC236}">
                <a16:creationId xmlns:a16="http://schemas.microsoft.com/office/drawing/2014/main" xmlns="" id="{FEA04F6E-1B57-0059-61D7-A1295B22B7A2}"/>
              </a:ext>
            </a:extLst>
          </p:cNvPr>
          <p:cNvPicPr>
            <a:picLocks noChangeAspect="1"/>
          </p:cNvPicPr>
          <p:nvPr/>
        </p:nvPicPr>
        <p:blipFill>
          <a:blip r:embed="rId2"/>
          <a:stretch>
            <a:fillRect/>
          </a:stretch>
        </p:blipFill>
        <p:spPr>
          <a:xfrm>
            <a:off x="1060174" y="2516877"/>
            <a:ext cx="9621078" cy="4022035"/>
          </a:xfrm>
          <a:prstGeom prst="rect">
            <a:avLst/>
          </a:prstGeom>
        </p:spPr>
      </p:pic>
      <p:sp>
        <p:nvSpPr>
          <p:cNvPr id="7" name="TextBox 6">
            <a:extLst>
              <a:ext uri="{FF2B5EF4-FFF2-40B4-BE49-F238E27FC236}">
                <a16:creationId xmlns:a16="http://schemas.microsoft.com/office/drawing/2014/main" xmlns="" id="{2B1A54E1-764B-F7BA-9C53-BB75E3C68BEB}"/>
              </a:ext>
            </a:extLst>
          </p:cNvPr>
          <p:cNvSpPr txBox="1"/>
          <p:nvPr/>
        </p:nvSpPr>
        <p:spPr>
          <a:xfrm>
            <a:off x="2822713" y="6356350"/>
            <a:ext cx="6096000" cy="390684"/>
          </a:xfrm>
          <a:prstGeom prst="rect">
            <a:avLst/>
          </a:prstGeom>
          <a:noFill/>
        </p:spPr>
        <p:txBody>
          <a:bodyPr wrap="square">
            <a:spAutoFit/>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Fig.8 Characteristics of PV Cell</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xmlns="" val="3797474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E0EA38-4A09-AD50-C071-A874B5B85207}"/>
              </a:ext>
            </a:extLst>
          </p:cNvPr>
          <p:cNvSpPr>
            <a:spLocks noGrp="1"/>
          </p:cNvSpPr>
          <p:nvPr>
            <p:ph type="title"/>
          </p:nvPr>
        </p:nvSpPr>
        <p:spPr/>
        <p:txBody>
          <a:bodyPr/>
          <a:lstStyle/>
          <a:p>
            <a:r>
              <a:rPr lang="en-US" dirty="0"/>
              <a:t>Characteristics of PV cell</a:t>
            </a:r>
            <a:endParaRPr lang="en-IN" dirty="0"/>
          </a:p>
        </p:txBody>
      </p:sp>
      <p:sp>
        <p:nvSpPr>
          <p:cNvPr id="3" name="Content Placeholder 2">
            <a:extLst>
              <a:ext uri="{FF2B5EF4-FFF2-40B4-BE49-F238E27FC236}">
                <a16:creationId xmlns:a16="http://schemas.microsoft.com/office/drawing/2014/main" xmlns="" id="{1B2E2C81-DBEB-4B2A-6948-8B41512A1E9D}"/>
              </a:ext>
            </a:extLst>
          </p:cNvPr>
          <p:cNvSpPr>
            <a:spLocks noGrp="1"/>
          </p:cNvSpPr>
          <p:nvPr>
            <p:ph idx="1"/>
          </p:nvPr>
        </p:nvSpPr>
        <p:spPr/>
        <p:txBody>
          <a:bodyPr>
            <a:normAutofit lnSpcReduction="10000"/>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 a typical 545 Wp module, the short circuit current (ISC) is 18.47 Amps and Open circuit voltage (VOC) is 37.7 V, both measured at standard test condition (STC). The power output from the solar module is the product of current and voltage at a particular instant on the I-V characteristics curve. The highest power output is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realised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 particular point on the I-V characteristics curve which is known as Maximum Power Point Tracking (MPPT) and the respective current and voltage are known as Current at maximum power (IMPP) voltage at maximum power (VMPP). Typically, the I-V characteristics curve is drawn at one sun radiation (1000 W/m2) however, variation in solar radiation value predominantly changes the current output from the solar panel and subsequently the power output. The output voltage from solar panel is highly dependent on the operating temperature of the solar cells. With increase in temperature the open circuit voltage (VOC) of cells reduces which is defined as temperature co-efficient of solar panel.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C82F7B88-E9DD-B6BA-B04D-415A5B8E655B}"/>
              </a:ext>
            </a:extLst>
          </p:cNvPr>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xmlns="" val="390949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57F812-C1D6-B053-1085-24B4D6D6DC96}"/>
              </a:ext>
            </a:extLst>
          </p:cNvPr>
          <p:cNvSpPr>
            <a:spLocks noGrp="1"/>
          </p:cNvSpPr>
          <p:nvPr>
            <p:ph type="title"/>
          </p:nvPr>
        </p:nvSpPr>
        <p:spPr/>
        <p:txBody>
          <a:bodyPr/>
          <a:lstStyle/>
          <a:p>
            <a:r>
              <a:rPr lang="en-US" dirty="0"/>
              <a:t>Efficiency of PV cell</a:t>
            </a:r>
            <a:endParaRPr lang="en-IN" dirty="0"/>
          </a:p>
        </p:txBody>
      </p:sp>
      <p:sp>
        <p:nvSpPr>
          <p:cNvPr id="3" name="Content Placeholder 2">
            <a:extLst>
              <a:ext uri="{FF2B5EF4-FFF2-40B4-BE49-F238E27FC236}">
                <a16:creationId xmlns:a16="http://schemas.microsoft.com/office/drawing/2014/main" xmlns="" id="{004BFA12-F094-A6FE-79E8-FF1CE3E93FCD}"/>
              </a:ext>
            </a:extLst>
          </p:cNvPr>
          <p:cNvSpPr>
            <a:spLocks noGrp="1"/>
          </p:cNvSpPr>
          <p:nvPr>
            <p:ph idx="1"/>
          </p:nvPr>
        </p:nvSpPr>
        <p:spPr/>
        <p:txBody>
          <a:bodyPr>
            <a:normAutofit fontScale="92500" lnSpcReduction="20000"/>
          </a:bodyPr>
          <a:lstStyle/>
          <a:p>
            <a:pPr algn="just">
              <a:lnSpc>
                <a:spcPct val="115000"/>
              </a:lnSpc>
              <a:spcAft>
                <a:spcPts val="100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Efficiency is the comparison of energy output to energy input of a given system. For solar photovoltaic (PV) cells, this means the ratio of useful electrical energy they produce to the amount of solar energy incident on the cell under standardized testing conditions. Although some experimental solar cells have achieved efficiencies of close to 50%, most commercial cells are below 30%.</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Solar-cell efficiency refers to the portion of energy in the form of sunlight that can be converted via photovoltaics into electricity by the solar cell.</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efficiency of the solar cells used in a photovoltaic system, in combination with latitude and climate, determines the annual energy output of the system. For example, a solar panel with 20% efficiency and an area of 1 m2 will produce 200 kWh/</a:t>
            </a:r>
            <a:r>
              <a:rPr lang="en-US" sz="2200" dirty="0" err="1">
                <a:effectLst/>
                <a:latin typeface="Times New Roman" panose="02020603050405020304" pitchFamily="18" charset="0"/>
                <a:ea typeface="Calibri" panose="020F0502020204030204" pitchFamily="34" charset="0"/>
                <a:cs typeface="Times New Roman" panose="02020603050405020304" pitchFamily="18" charset="0"/>
              </a:rPr>
              <a:t>yr</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Standard Test Conditions if exposed to the Standard Test Condition solar irradiance value of 1000 W/m2 for 2.74 hours a day. Usually solar panels are exposed to sunlight for longer than this in a given day, but the solar irradiance is less than 1000 W/m2 for most of the day. A solar panel can produce more when the sun is high in the sky and will produce less in cloudy conditions or when the sun is low in the sky, usually the sun is lower in the sky in the winter.</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6CA6BFC2-AA02-5327-90B2-56160EF82234}"/>
              </a:ext>
            </a:extLst>
          </p:cNvPr>
          <p:cNvSpPr>
            <a:spLocks noGrp="1"/>
          </p:cNvSpPr>
          <p:nvPr>
            <p:ph type="sldNum" sz="quarter" idx="12"/>
          </p:nvPr>
        </p:nvSpPr>
        <p:spPr/>
        <p:txBody>
          <a:bodyPr/>
          <a:lstStyle/>
          <a:p>
            <a:fld id="{BDCDBBEF-AA6C-4BA6-85B2-A17D7F280E38}" type="slidenum">
              <a:rPr lang="en-US" smtClean="0"/>
              <a:pPr/>
              <a:t>28</a:t>
            </a:fld>
            <a:endParaRPr lang="en-US"/>
          </a:p>
        </p:txBody>
      </p:sp>
    </p:spTree>
    <p:extLst>
      <p:ext uri="{BB962C8B-B14F-4D97-AF65-F5344CB8AC3E}">
        <p14:creationId xmlns:p14="http://schemas.microsoft.com/office/powerpoint/2010/main" xmlns="" val="513656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D5EFDA-2904-D2B5-B457-0D7887BB9DBA}"/>
              </a:ext>
            </a:extLst>
          </p:cNvPr>
          <p:cNvSpPr>
            <a:spLocks noGrp="1"/>
          </p:cNvSpPr>
          <p:nvPr>
            <p:ph type="title"/>
          </p:nvPr>
        </p:nvSpPr>
        <p:spPr/>
        <p:txBody>
          <a:bodyPr/>
          <a:lstStyle/>
          <a:p>
            <a:r>
              <a:rPr lang="en-US" dirty="0"/>
              <a:t>Efficiency of PV cell</a:t>
            </a:r>
            <a:endParaRPr lang="en-IN" dirty="0"/>
          </a:p>
        </p:txBody>
      </p:sp>
      <p:sp>
        <p:nvSpPr>
          <p:cNvPr id="3" name="Content Placeholder 2">
            <a:extLst>
              <a:ext uri="{FF2B5EF4-FFF2-40B4-BE49-F238E27FC236}">
                <a16:creationId xmlns:a16="http://schemas.microsoft.com/office/drawing/2014/main" xmlns="" id="{FA4783D0-D939-6FE3-4474-C95D2D2219DC}"/>
              </a:ext>
            </a:extLst>
          </p:cNvPr>
          <p:cNvSpPr>
            <a:spLocks noGrp="1"/>
          </p:cNvSpPr>
          <p:nvPr>
            <p:ph idx="1"/>
          </p:nvPr>
        </p:nvSpPr>
        <p:spPr/>
        <p:txBody>
          <a:bodyPr>
            <a:normAutofit lnSpcReduction="10000"/>
          </a:bodyPr>
          <a:lstStyle/>
          <a:p>
            <a:r>
              <a:rPr lang="en-IN" sz="1800" dirty="0">
                <a:solidFill>
                  <a:srgbClr val="222222"/>
                </a:solidFill>
                <a:effectLst/>
                <a:latin typeface="Helvetica" panose="020B0604020202020204" pitchFamily="34" charset="0"/>
                <a:ea typeface="Times New Roman" panose="02020603050405020304" pitchFamily="18" charset="0"/>
              </a:rPr>
              <a:t>The efficiency of a solar cell is determined as the fraction of incident power which is converted to electricity and is defined as:</a:t>
            </a:r>
            <a:endParaRPr lang="en-IN" sz="1800" dirty="0">
              <a:effectLst/>
              <a:latin typeface="Times New Roman" panose="02020603050405020304" pitchFamily="18" charset="0"/>
              <a:ea typeface="Times New Roman" panose="02020603050405020304" pitchFamily="18" charset="0"/>
            </a:endParaRPr>
          </a:p>
          <a:p>
            <a:endParaRPr lang="en-IN" dirty="0"/>
          </a:p>
          <a:p>
            <a:endParaRPr lang="en-IN" dirty="0"/>
          </a:p>
          <a:p>
            <a:endParaRPr lang="en-IN" dirty="0"/>
          </a:p>
          <a:p>
            <a:endParaRPr lang="en-IN" dirty="0"/>
          </a:p>
          <a:p>
            <a:r>
              <a:rPr lang="en-IN" sz="1800" dirty="0">
                <a:solidFill>
                  <a:srgbClr val="222222"/>
                </a:solidFill>
                <a:effectLst/>
                <a:latin typeface="Helvetica" panose="020B0604020202020204" pitchFamily="34" charset="0"/>
                <a:ea typeface="Times New Roman" panose="02020603050405020304" pitchFamily="18" charset="0"/>
              </a:rPr>
              <a:t>Where:</a:t>
            </a:r>
            <a:br>
              <a:rPr lang="en-IN" sz="1800" dirty="0">
                <a:solidFill>
                  <a:srgbClr val="222222"/>
                </a:solidFill>
                <a:effectLst/>
                <a:latin typeface="Helvetica" panose="020B0604020202020204" pitchFamily="34" charset="0"/>
                <a:ea typeface="Times New Roman" panose="02020603050405020304" pitchFamily="18" charset="0"/>
              </a:rPr>
            </a:br>
            <a:r>
              <a:rPr lang="en-IN" sz="1800" i="1" dirty="0" err="1">
                <a:solidFill>
                  <a:srgbClr val="222222"/>
                </a:solidFill>
                <a:effectLst/>
                <a:latin typeface="Helvetica" panose="020B0604020202020204" pitchFamily="34" charset="0"/>
                <a:ea typeface="Times New Roman" panose="02020603050405020304" pitchFamily="18" charset="0"/>
              </a:rPr>
              <a:t>V</a:t>
            </a:r>
            <a:r>
              <a:rPr lang="en-IN" sz="1800" i="1" baseline="-25000" dirty="0" err="1">
                <a:solidFill>
                  <a:srgbClr val="222222"/>
                </a:solidFill>
                <a:effectLst/>
                <a:latin typeface="Helvetica" panose="020B0604020202020204" pitchFamily="34" charset="0"/>
                <a:ea typeface="Times New Roman" panose="02020603050405020304" pitchFamily="18" charset="0"/>
              </a:rPr>
              <a:t>oc</a:t>
            </a:r>
            <a:r>
              <a:rPr lang="en-IN" sz="1800" dirty="0">
                <a:solidFill>
                  <a:srgbClr val="222222"/>
                </a:solidFill>
                <a:effectLst/>
                <a:latin typeface="Helvetica" panose="020B0604020202020204" pitchFamily="34" charset="0"/>
                <a:ea typeface="Times New Roman" panose="02020603050405020304" pitchFamily="18" charset="0"/>
              </a:rPr>
              <a:t> is the open-circuit voltage;</a:t>
            </a:r>
            <a:br>
              <a:rPr lang="en-IN" sz="1800" dirty="0">
                <a:solidFill>
                  <a:srgbClr val="222222"/>
                </a:solidFill>
                <a:effectLst/>
                <a:latin typeface="Helvetica" panose="020B0604020202020204" pitchFamily="34" charset="0"/>
                <a:ea typeface="Times New Roman" panose="02020603050405020304" pitchFamily="18" charset="0"/>
              </a:rPr>
            </a:br>
            <a:r>
              <a:rPr lang="en-IN" sz="1800" i="1" dirty="0" err="1">
                <a:solidFill>
                  <a:srgbClr val="222222"/>
                </a:solidFill>
                <a:effectLst/>
                <a:latin typeface="Helvetica" panose="020B0604020202020204" pitchFamily="34" charset="0"/>
                <a:ea typeface="Times New Roman" panose="02020603050405020304" pitchFamily="18" charset="0"/>
              </a:rPr>
              <a:t>I</a:t>
            </a:r>
            <a:r>
              <a:rPr lang="en-IN" sz="1800" i="1" baseline="-25000" dirty="0" err="1">
                <a:solidFill>
                  <a:srgbClr val="222222"/>
                </a:solidFill>
                <a:effectLst/>
                <a:latin typeface="Helvetica" panose="020B0604020202020204" pitchFamily="34" charset="0"/>
                <a:ea typeface="Times New Roman" panose="02020603050405020304" pitchFamily="18" charset="0"/>
              </a:rPr>
              <a:t>sc</a:t>
            </a:r>
            <a:r>
              <a:rPr lang="en-IN" sz="1800" dirty="0">
                <a:solidFill>
                  <a:srgbClr val="222222"/>
                </a:solidFill>
                <a:effectLst/>
                <a:latin typeface="Helvetica" panose="020B0604020202020204" pitchFamily="34" charset="0"/>
                <a:ea typeface="Times New Roman" panose="02020603050405020304" pitchFamily="18" charset="0"/>
              </a:rPr>
              <a:t> is the short-circuit current;</a:t>
            </a:r>
            <a:br>
              <a:rPr lang="en-IN" sz="1800" dirty="0">
                <a:solidFill>
                  <a:srgbClr val="222222"/>
                </a:solidFill>
                <a:effectLst/>
                <a:latin typeface="Helvetica" panose="020B0604020202020204" pitchFamily="34" charset="0"/>
                <a:ea typeface="Times New Roman" panose="02020603050405020304" pitchFamily="18" charset="0"/>
              </a:rPr>
            </a:br>
            <a:r>
              <a:rPr lang="en-IN" sz="1800" i="1" dirty="0">
                <a:solidFill>
                  <a:srgbClr val="222222"/>
                </a:solidFill>
                <a:effectLst/>
                <a:latin typeface="Helvetica" panose="020B0604020202020204" pitchFamily="34" charset="0"/>
                <a:ea typeface="Times New Roman" panose="02020603050405020304" pitchFamily="18" charset="0"/>
              </a:rPr>
              <a:t>FF</a:t>
            </a:r>
            <a:r>
              <a:rPr lang="en-IN" sz="1800" dirty="0">
                <a:solidFill>
                  <a:srgbClr val="222222"/>
                </a:solidFill>
                <a:effectLst/>
                <a:latin typeface="Helvetica" panose="020B0604020202020204" pitchFamily="34" charset="0"/>
                <a:ea typeface="Times New Roman" panose="02020603050405020304" pitchFamily="18" charset="0"/>
              </a:rPr>
              <a:t> is the fill factor and</a:t>
            </a:r>
            <a:br>
              <a:rPr lang="en-IN" sz="1800" dirty="0">
                <a:solidFill>
                  <a:srgbClr val="222222"/>
                </a:solidFill>
                <a:effectLst/>
                <a:latin typeface="Helvetica" panose="020B0604020202020204" pitchFamily="34" charset="0"/>
                <a:ea typeface="Times New Roman" panose="02020603050405020304" pitchFamily="18" charset="0"/>
              </a:rPr>
            </a:br>
            <a:r>
              <a:rPr lang="en-IN" sz="1800" i="1" dirty="0">
                <a:solidFill>
                  <a:srgbClr val="222222"/>
                </a:solidFill>
                <a:effectLst/>
                <a:latin typeface="Helvetica" panose="020B0604020202020204" pitchFamily="34" charset="0"/>
                <a:ea typeface="Times New Roman" panose="02020603050405020304" pitchFamily="18" charset="0"/>
              </a:rPr>
              <a:t>η</a:t>
            </a:r>
            <a:r>
              <a:rPr lang="en-IN" sz="1800" dirty="0">
                <a:solidFill>
                  <a:srgbClr val="222222"/>
                </a:solidFill>
                <a:effectLst/>
                <a:latin typeface="Helvetica" panose="020B0604020202020204" pitchFamily="34" charset="0"/>
                <a:ea typeface="Times New Roman" panose="02020603050405020304" pitchFamily="18" charset="0"/>
              </a:rPr>
              <a:t> is the efficiency.</a:t>
            </a:r>
            <a:endParaRPr lang="en-IN" sz="1800" dirty="0">
              <a:effectLst/>
              <a:latin typeface="Times New Roman" panose="02020603050405020304" pitchFamily="18" charset="0"/>
              <a:ea typeface="Times New Roman" panose="02020603050405020304" pitchFamily="18" charset="0"/>
            </a:endParaRPr>
          </a:p>
          <a:p>
            <a:r>
              <a:rPr lang="en-IN" sz="1800" dirty="0">
                <a:solidFill>
                  <a:srgbClr val="222222"/>
                </a:solidFill>
                <a:effectLst/>
                <a:latin typeface="Helvetica" panose="020B0604020202020204" pitchFamily="34" charset="0"/>
                <a:ea typeface="Times New Roman" panose="02020603050405020304" pitchFamily="18" charset="0"/>
              </a:rPr>
              <a:t>The input power for efficiency calculations is 1 kW/m</a:t>
            </a:r>
            <a:r>
              <a:rPr lang="en-IN" sz="1800" baseline="30000" dirty="0">
                <a:solidFill>
                  <a:srgbClr val="222222"/>
                </a:solidFill>
                <a:effectLst/>
                <a:latin typeface="Helvetica" panose="020B0604020202020204" pitchFamily="34" charset="0"/>
                <a:ea typeface="Times New Roman" panose="02020603050405020304" pitchFamily="18" charset="0"/>
              </a:rPr>
              <a:t>2</a:t>
            </a:r>
            <a:r>
              <a:rPr lang="en-IN" sz="1800" dirty="0">
                <a:solidFill>
                  <a:srgbClr val="222222"/>
                </a:solidFill>
                <a:effectLst/>
                <a:latin typeface="Helvetica" panose="020B0604020202020204" pitchFamily="34" charset="0"/>
                <a:ea typeface="Times New Roman" panose="02020603050405020304" pitchFamily="18" charset="0"/>
              </a:rPr>
              <a:t> or 100 </a:t>
            </a:r>
            <a:r>
              <a:rPr lang="en-IN" sz="1800" dirty="0" err="1">
                <a:solidFill>
                  <a:srgbClr val="222222"/>
                </a:solidFill>
                <a:effectLst/>
                <a:latin typeface="Helvetica" panose="020B0604020202020204" pitchFamily="34" charset="0"/>
                <a:ea typeface="Times New Roman" panose="02020603050405020304" pitchFamily="18" charset="0"/>
              </a:rPr>
              <a:t>mW</a:t>
            </a:r>
            <a:r>
              <a:rPr lang="en-IN" sz="1800" dirty="0">
                <a:solidFill>
                  <a:srgbClr val="222222"/>
                </a:solidFill>
                <a:effectLst/>
                <a:latin typeface="Helvetica" panose="020B0604020202020204" pitchFamily="34" charset="0"/>
                <a:ea typeface="Times New Roman" panose="02020603050405020304" pitchFamily="18" charset="0"/>
              </a:rPr>
              <a:t>/cm</a:t>
            </a:r>
            <a:r>
              <a:rPr lang="en-IN" sz="1800" baseline="30000" dirty="0">
                <a:solidFill>
                  <a:srgbClr val="222222"/>
                </a:solidFill>
                <a:effectLst/>
                <a:latin typeface="Helvetica" panose="020B0604020202020204" pitchFamily="34" charset="0"/>
                <a:ea typeface="Times New Roman" panose="02020603050405020304" pitchFamily="18" charset="0"/>
              </a:rPr>
              <a:t>2</a:t>
            </a:r>
            <a:r>
              <a:rPr lang="en-IN" sz="1800" dirty="0">
                <a:solidFill>
                  <a:srgbClr val="222222"/>
                </a:solidFill>
                <a:effectLst/>
                <a:latin typeface="Helvetica" panose="020B0604020202020204" pitchFamily="34" charset="0"/>
                <a:ea typeface="Times New Roman" panose="02020603050405020304" pitchFamily="18" charset="0"/>
              </a:rPr>
              <a:t>. Thus the input power for a 100 × 100 mm</a:t>
            </a:r>
            <a:r>
              <a:rPr lang="en-IN" sz="1800" baseline="30000" dirty="0">
                <a:solidFill>
                  <a:srgbClr val="222222"/>
                </a:solidFill>
                <a:effectLst/>
                <a:latin typeface="Helvetica" panose="020B0604020202020204" pitchFamily="34" charset="0"/>
                <a:ea typeface="Times New Roman" panose="02020603050405020304" pitchFamily="18" charset="0"/>
              </a:rPr>
              <a:t>2</a:t>
            </a:r>
            <a:r>
              <a:rPr lang="en-IN" sz="1800" dirty="0">
                <a:solidFill>
                  <a:srgbClr val="222222"/>
                </a:solidFill>
                <a:effectLst/>
                <a:latin typeface="Helvetica" panose="020B0604020202020204" pitchFamily="34" charset="0"/>
                <a:ea typeface="Times New Roman" panose="02020603050405020304" pitchFamily="18" charset="0"/>
              </a:rPr>
              <a:t> cell is 10 W and for a 156 × 156 mm</a:t>
            </a:r>
            <a:r>
              <a:rPr lang="en-IN" sz="1800" baseline="30000" dirty="0">
                <a:solidFill>
                  <a:srgbClr val="222222"/>
                </a:solidFill>
                <a:effectLst/>
                <a:latin typeface="Helvetica" panose="020B0604020202020204" pitchFamily="34" charset="0"/>
                <a:ea typeface="Times New Roman" panose="02020603050405020304" pitchFamily="18" charset="0"/>
              </a:rPr>
              <a:t>2</a:t>
            </a:r>
            <a:r>
              <a:rPr lang="en-IN" sz="1800" dirty="0">
                <a:solidFill>
                  <a:srgbClr val="222222"/>
                </a:solidFill>
                <a:effectLst/>
                <a:latin typeface="Helvetica" panose="020B0604020202020204" pitchFamily="34" charset="0"/>
                <a:ea typeface="Times New Roman" panose="02020603050405020304" pitchFamily="18" charset="0"/>
              </a:rPr>
              <a:t> cell is 24.3 W</a:t>
            </a:r>
            <a:endParaRPr lang="en-IN" sz="180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5C804054-76B5-4F82-3980-E4FDDCD4DA98}"/>
              </a:ext>
            </a:extLst>
          </p:cNvPr>
          <p:cNvSpPr>
            <a:spLocks noGrp="1"/>
          </p:cNvSpPr>
          <p:nvPr>
            <p:ph type="sldNum" sz="quarter" idx="12"/>
          </p:nvPr>
        </p:nvSpPr>
        <p:spPr/>
        <p:txBody>
          <a:bodyPr/>
          <a:lstStyle/>
          <a:p>
            <a:fld id="{BDCDBBEF-AA6C-4BA6-85B2-A17D7F280E38}" type="slidenum">
              <a:rPr lang="en-US" smtClean="0"/>
              <a:pPr/>
              <a:t>29</a:t>
            </a:fld>
            <a:endParaRPr lang="en-US"/>
          </a:p>
        </p:txBody>
      </p:sp>
      <p:pic>
        <p:nvPicPr>
          <p:cNvPr id="7" name="Picture 6">
            <a:extLst>
              <a:ext uri="{FF2B5EF4-FFF2-40B4-BE49-F238E27FC236}">
                <a16:creationId xmlns:a16="http://schemas.microsoft.com/office/drawing/2014/main" xmlns="" id="{47C74F92-64D6-8E36-6A86-E7F3824F31D9}"/>
              </a:ext>
            </a:extLst>
          </p:cNvPr>
          <p:cNvPicPr>
            <a:picLocks noChangeAspect="1"/>
          </p:cNvPicPr>
          <p:nvPr/>
        </p:nvPicPr>
        <p:blipFill>
          <a:blip r:embed="rId2"/>
          <a:stretch>
            <a:fillRect/>
          </a:stretch>
        </p:blipFill>
        <p:spPr>
          <a:xfrm>
            <a:off x="4063447" y="2489338"/>
            <a:ext cx="2350605" cy="1203286"/>
          </a:xfrm>
          <a:prstGeom prst="rect">
            <a:avLst/>
          </a:prstGeom>
        </p:spPr>
      </p:pic>
    </p:spTree>
    <p:extLst>
      <p:ext uri="{BB962C8B-B14F-4D97-AF65-F5344CB8AC3E}">
        <p14:creationId xmlns:p14="http://schemas.microsoft.com/office/powerpoint/2010/main" xmlns="" val="25492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Summary</a:t>
            </a:r>
          </a:p>
        </p:txBody>
      </p:sp>
      <p:sp>
        <p:nvSpPr>
          <p:cNvPr id="3" name="Content Placeholder 2"/>
          <p:cNvSpPr>
            <a:spLocks noGrp="1"/>
          </p:cNvSpPr>
          <p:nvPr>
            <p:ph idx="1"/>
          </p:nvPr>
        </p:nvSpPr>
        <p:spPr>
          <a:xfrm>
            <a:off x="825137" y="1603557"/>
            <a:ext cx="10515600" cy="4351338"/>
          </a:xfrm>
        </p:spPr>
        <p:txBody>
          <a:bodyPr/>
          <a:lstStyle/>
          <a:p>
            <a:pPr lvl="0"/>
            <a:r>
              <a:rPr lang="en-US" dirty="0"/>
              <a:t>Introduction to Photovoltaic cell.</a:t>
            </a:r>
            <a:endParaRPr lang="en-IN" dirty="0"/>
          </a:p>
          <a:p>
            <a:pPr lvl="0"/>
            <a:r>
              <a:rPr lang="en-US" dirty="0"/>
              <a:t>PV cell working.</a:t>
            </a:r>
            <a:endParaRPr lang="en-IN" dirty="0"/>
          </a:p>
          <a:p>
            <a:pPr lvl="0"/>
            <a:r>
              <a:rPr lang="en-US" dirty="0"/>
              <a:t>PV cell construction</a:t>
            </a:r>
            <a:endParaRPr lang="en-IN" dirty="0"/>
          </a:p>
          <a:p>
            <a:pPr lvl="0"/>
            <a:r>
              <a:rPr lang="en-US" dirty="0"/>
              <a:t>PV cell, module and array</a:t>
            </a:r>
            <a:endParaRPr lang="en-IN" dirty="0"/>
          </a:p>
          <a:p>
            <a:pPr lvl="0"/>
            <a:r>
              <a:rPr lang="en-US" dirty="0"/>
              <a:t>Advantages and disadvantages of PV cell technology</a:t>
            </a:r>
            <a:endParaRPr lang="en-IN" dirty="0"/>
          </a:p>
          <a:p>
            <a:pPr lvl="0"/>
            <a:r>
              <a:rPr lang="en-US" dirty="0"/>
              <a:t>I-V characteristics of PV cell</a:t>
            </a:r>
            <a:endParaRPr lang="en-IN" dirty="0"/>
          </a:p>
          <a:p>
            <a:pPr lvl="0"/>
            <a:r>
              <a:rPr lang="en-US" dirty="0"/>
              <a:t>Efficiency of PV cell</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Frequently Asked Questions</a:t>
            </a:r>
          </a:p>
        </p:txBody>
      </p:sp>
      <p:sp>
        <p:nvSpPr>
          <p:cNvPr id="3" name="Content Placeholder 2"/>
          <p:cNvSpPr>
            <a:spLocks noGrp="1"/>
          </p:cNvSpPr>
          <p:nvPr>
            <p:ph idx="1"/>
          </p:nvPr>
        </p:nvSpPr>
        <p:spPr/>
        <p:txBody>
          <a:bodyPr>
            <a:normAutofit fontScale="77500" lnSpcReduction="20000"/>
          </a:bodyPr>
          <a:lstStyle/>
          <a:p>
            <a:r>
              <a:rPr lang="en-IN" b="1" dirty="0"/>
              <a:t>Q1 How do solar cells work?</a:t>
            </a:r>
            <a:endParaRPr lang="en-IN" dirty="0"/>
          </a:p>
          <a:p>
            <a:r>
              <a:rPr lang="en-IN" dirty="0"/>
              <a:t>A solar panel works by allowing particles of light, or photons, to knock electrons free from atoms, generating a flow of electricity.</a:t>
            </a:r>
          </a:p>
          <a:p>
            <a:r>
              <a:rPr lang="en-IN" b="1" dirty="0"/>
              <a:t>Q2 What is the principle of solar cells?</a:t>
            </a:r>
            <a:endParaRPr lang="en-IN" dirty="0"/>
          </a:p>
          <a:p>
            <a:r>
              <a:rPr lang="en-IN" dirty="0"/>
              <a:t>Silicon crystals are laminated into p-type and n-type layers, stacked on top of each other. Light striking the crystals induces the “photovoltaic effect,” which generates electricity.</a:t>
            </a:r>
          </a:p>
          <a:p>
            <a:r>
              <a:rPr lang="en-IN" b="1" dirty="0"/>
              <a:t>Q3 State true or false: Solar energy is a renewable form of energy.</a:t>
            </a:r>
            <a:endParaRPr lang="en-IN" dirty="0"/>
          </a:p>
          <a:p>
            <a:r>
              <a:rPr lang="en-IN" dirty="0"/>
              <a:t>TRUE.</a:t>
            </a:r>
          </a:p>
          <a:p>
            <a:r>
              <a:rPr lang="en-IN" b="1" dirty="0"/>
              <a:t>Q4 What does the solar cell include?</a:t>
            </a:r>
            <a:endParaRPr lang="en-IN" dirty="0"/>
          </a:p>
          <a:p>
            <a:r>
              <a:rPr lang="en-IN" dirty="0"/>
              <a:t>Solar cell consists of a crystalline silicon solar panel which is a series of interconnected silicon cells joined together to form a circuit.</a:t>
            </a:r>
          </a:p>
          <a:p>
            <a:r>
              <a:rPr lang="en-IN" b="1" dirty="0"/>
              <a:t>Q5 Can solar power from photovoltaic cells be harnessed in the absence of sunlight?</a:t>
            </a:r>
            <a:endParaRPr lang="en-IN" dirty="0"/>
          </a:p>
          <a:p>
            <a:r>
              <a:rPr lang="en-IN" dirty="0"/>
              <a:t>No, it can be only harnessed in the presence of sunlight.</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a:latin typeface="Times New Roman" pitchFamily="18" charset="0"/>
                <a:cs typeface="Times New Roman" pitchFamily="18" charset="0"/>
              </a:rPr>
              <a:t> </a:t>
            </a:r>
            <a:r>
              <a:rPr lang="en-IN" sz="2800" dirty="0">
                <a:latin typeface="Casper"/>
                <a:cs typeface="Times New Roman" pitchFamily="18" charset="0"/>
              </a:rPr>
              <a:t>To make students understand</a:t>
            </a:r>
          </a:p>
          <a:p>
            <a:r>
              <a:rPr lang="en-US" sz="2800" dirty="0">
                <a:latin typeface="Casper"/>
              </a:rPr>
              <a:t> Concepts of Photovoltaic systems</a:t>
            </a:r>
          </a:p>
          <a:p>
            <a:endParaRPr lang="en-US" sz="2800" dirty="0">
              <a:latin typeface="Casper"/>
            </a:endParaRPr>
          </a:p>
          <a:p>
            <a:r>
              <a:rPr lang="en-US" sz="2800" dirty="0">
                <a:latin typeface="Casper"/>
              </a:rPr>
              <a:t>Construction and working of PV cells</a:t>
            </a:r>
          </a:p>
          <a:p>
            <a:endParaRPr lang="en-US" sz="2800" dirty="0">
              <a:latin typeface="Casper"/>
            </a:endParaRPr>
          </a:p>
          <a:p>
            <a:r>
              <a:rPr lang="en-US" sz="2800" dirty="0">
                <a:latin typeface="Casper"/>
              </a:rPr>
              <a:t>Characteristics and efficiency of PV cells</a:t>
            </a:r>
          </a:p>
          <a:p>
            <a:endParaRPr lang="en-US" sz="2400" dirty="0">
              <a:latin typeface="Times New Roman" pitchFamily="18" charset="0"/>
              <a:cs typeface="Times New Roman" pitchFamily="18" charset="0"/>
            </a:endParaRPr>
          </a:p>
          <a:p>
            <a:endParaRPr lang="en-US" sz="2400" dirty="0"/>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32</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xmlns="" val="6938015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a:t>Assessment Pattern</a:t>
            </a:r>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xmlns="" val="20000"/>
                    </a:ext>
                  </a:extLst>
                </a:gridCol>
                <a:gridCol w="1550747">
                  <a:extLst>
                    <a:ext uri="{9D8B030D-6E8A-4147-A177-3AD203B41FA5}">
                      <a16:colId xmlns:a16="http://schemas.microsoft.com/office/drawing/2014/main" xmlns="" val="20001"/>
                    </a:ext>
                  </a:extLst>
                </a:gridCol>
                <a:gridCol w="1550747">
                  <a:extLst>
                    <a:ext uri="{9D8B030D-6E8A-4147-A177-3AD203B41FA5}">
                      <a16:colId xmlns:a16="http://schemas.microsoft.com/office/drawing/2014/main" xmlns="" val="20002"/>
                    </a:ext>
                  </a:extLst>
                </a:gridCol>
                <a:gridCol w="1550747">
                  <a:extLst>
                    <a:ext uri="{9D8B030D-6E8A-4147-A177-3AD203B41FA5}">
                      <a16:colId xmlns:a16="http://schemas.microsoft.com/office/drawing/2014/main" xmlns="" val="20003"/>
                    </a:ext>
                  </a:extLst>
                </a:gridCol>
                <a:gridCol w="1550747">
                  <a:extLst>
                    <a:ext uri="{9D8B030D-6E8A-4147-A177-3AD203B41FA5}">
                      <a16:colId xmlns:a16="http://schemas.microsoft.com/office/drawing/2014/main" xmlns="" val="20004"/>
                    </a:ext>
                  </a:extLst>
                </a:gridCol>
                <a:gridCol w="1550747">
                  <a:extLst>
                    <a:ext uri="{9D8B030D-6E8A-4147-A177-3AD203B41FA5}">
                      <a16:colId xmlns:a16="http://schemas.microsoft.com/office/drawing/2014/main" xmlns="" val="20005"/>
                    </a:ext>
                  </a:extLst>
                </a:gridCol>
                <a:gridCol w="1550747">
                  <a:extLst>
                    <a:ext uri="{9D8B030D-6E8A-4147-A177-3AD203B41FA5}">
                      <a16:colId xmlns:a16="http://schemas.microsoft.com/office/drawing/2014/main" xmlns="" val="20006"/>
                    </a:ext>
                  </a:extLst>
                </a:gridCol>
              </a:tblGrid>
              <a:tr h="1493725">
                <a:tc>
                  <a:txBody>
                    <a:bodyPr/>
                    <a:lstStyle/>
                    <a:p>
                      <a:pPr algn="ctr"/>
                      <a:r>
                        <a:rPr lang="en-US" dirty="0"/>
                        <a:t>     A</a:t>
                      </a:r>
                    </a:p>
                    <a:p>
                      <a:pPr algn="ctr"/>
                      <a:r>
                        <a:rPr lang="en-US" dirty="0"/>
                        <a:t>Assignment (each assignment)</a:t>
                      </a:r>
                    </a:p>
                  </a:txBody>
                  <a:tcPr/>
                </a:tc>
                <a:tc>
                  <a:txBody>
                    <a:bodyPr/>
                    <a:lstStyle/>
                    <a:p>
                      <a:pPr algn="ctr"/>
                      <a:r>
                        <a:rPr lang="en-US" dirty="0"/>
                        <a:t>   B</a:t>
                      </a:r>
                    </a:p>
                    <a:p>
                      <a:pPr algn="ctr"/>
                      <a:r>
                        <a:rPr lang="en-US" dirty="0"/>
                        <a:t>Time Bound Surprise</a:t>
                      </a:r>
                      <a:r>
                        <a:rPr lang="en-US" baseline="0" dirty="0"/>
                        <a:t> Test (each test)</a:t>
                      </a:r>
                      <a:endParaRPr lang="en-US" dirty="0"/>
                    </a:p>
                  </a:txBody>
                  <a:tcPr/>
                </a:tc>
                <a:tc>
                  <a:txBody>
                    <a:bodyPr/>
                    <a:lstStyle/>
                    <a:p>
                      <a:pPr algn="ctr"/>
                      <a:r>
                        <a:rPr lang="en-US" dirty="0"/>
                        <a:t>C</a:t>
                      </a:r>
                    </a:p>
                    <a:p>
                      <a:pPr algn="ctr"/>
                      <a:r>
                        <a:rPr lang="en-US" dirty="0"/>
                        <a:t>Quiz (each quiz)</a:t>
                      </a:r>
                    </a:p>
                  </a:txBody>
                  <a:tcPr/>
                </a:tc>
                <a:tc>
                  <a:txBody>
                    <a:bodyPr/>
                    <a:lstStyle/>
                    <a:p>
                      <a:pPr algn="ctr"/>
                      <a:r>
                        <a:rPr lang="en-US" dirty="0"/>
                        <a:t>   D</a:t>
                      </a:r>
                    </a:p>
                    <a:p>
                      <a:pPr algn="ctr"/>
                      <a:r>
                        <a:rPr lang="en-US" dirty="0"/>
                        <a:t>Mid</a:t>
                      </a:r>
                      <a:r>
                        <a:rPr lang="en-US" baseline="0" dirty="0"/>
                        <a:t> Semester Test(one per test)</a:t>
                      </a:r>
                      <a:endParaRPr lang="en-US" dirty="0"/>
                    </a:p>
                  </a:txBody>
                  <a:tcPr/>
                </a:tc>
                <a:tc>
                  <a:txBody>
                    <a:bodyPr/>
                    <a:lstStyle/>
                    <a:p>
                      <a:pPr algn="ctr"/>
                      <a:r>
                        <a:rPr lang="en-US" dirty="0"/>
                        <a:t>    E</a:t>
                      </a:r>
                    </a:p>
                    <a:p>
                      <a:pPr algn="ctr"/>
                      <a:r>
                        <a:rPr lang="en-US" dirty="0"/>
                        <a:t>Homework</a:t>
                      </a:r>
                    </a:p>
                  </a:txBody>
                  <a:tcPr/>
                </a:tc>
                <a:tc>
                  <a:txBody>
                    <a:bodyPr/>
                    <a:lstStyle/>
                    <a:p>
                      <a:pPr algn="ctr"/>
                      <a:r>
                        <a:rPr lang="en-US" dirty="0"/>
                        <a:t>     F</a:t>
                      </a:r>
                    </a:p>
                    <a:p>
                      <a:pPr algn="ctr"/>
                      <a:r>
                        <a:rPr lang="en-US" dirty="0"/>
                        <a:t>Discussion Forums</a:t>
                      </a:r>
                    </a:p>
                  </a:txBody>
                  <a:tcPr/>
                </a:tc>
                <a:tc>
                  <a:txBody>
                    <a:bodyPr/>
                    <a:lstStyle/>
                    <a:p>
                      <a:pPr algn="ctr"/>
                      <a:r>
                        <a:rPr lang="en-US" dirty="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a:t>Attendance and  engagement Score on BB</a:t>
                      </a:r>
                    </a:p>
                    <a:p>
                      <a:pPr algn="ctr"/>
                      <a:endParaRPr lang="en-US" dirty="0"/>
                    </a:p>
                  </a:txBody>
                  <a:tcPr/>
                </a:tc>
                <a:extLst>
                  <a:ext uri="{0D108BD9-81ED-4DB2-BD59-A6C34878D82A}">
                    <a16:rowId xmlns:a16="http://schemas.microsoft.com/office/drawing/2014/main" xmlns="" val="10000"/>
                  </a:ext>
                </a:extLst>
              </a:tr>
              <a:tr h="378618">
                <a:tc>
                  <a:txBody>
                    <a:bodyPr/>
                    <a:lstStyle/>
                    <a:p>
                      <a:pPr algn="ctr"/>
                      <a:r>
                        <a:rPr lang="en-US" dirty="0"/>
                        <a:t>10</a:t>
                      </a:r>
                    </a:p>
                  </a:txBody>
                  <a:tcPr/>
                </a:tc>
                <a:tc>
                  <a:txBody>
                    <a:bodyPr/>
                    <a:lstStyle/>
                    <a:p>
                      <a:pPr algn="ctr"/>
                      <a:r>
                        <a:rPr lang="en-US" dirty="0"/>
                        <a:t>   12</a:t>
                      </a:r>
                    </a:p>
                  </a:txBody>
                  <a:tcPr/>
                </a:tc>
                <a:tc>
                  <a:txBody>
                    <a:bodyPr/>
                    <a:lstStyle/>
                    <a:p>
                      <a:pPr algn="ctr"/>
                      <a:r>
                        <a:rPr lang="en-US" dirty="0"/>
                        <a:t>4</a:t>
                      </a:r>
                    </a:p>
                  </a:txBody>
                  <a:tcPr/>
                </a:tc>
                <a:tc>
                  <a:txBody>
                    <a:bodyPr/>
                    <a:lstStyle/>
                    <a:p>
                      <a:pPr algn="ctr"/>
                      <a:r>
                        <a:rPr lang="en-US" dirty="0"/>
                        <a:t>   20</a:t>
                      </a:r>
                    </a:p>
                  </a:txBody>
                  <a:tcPr/>
                </a:tc>
                <a:tc>
                  <a:txBody>
                    <a:bodyPr/>
                    <a:lstStyle/>
                    <a:p>
                      <a:pPr algn="ctr"/>
                      <a:r>
                        <a:rPr lang="en-US" dirty="0"/>
                        <a:t>NA</a:t>
                      </a:r>
                    </a:p>
                  </a:txBody>
                  <a:tcPr/>
                </a:tc>
                <a:tc>
                  <a:txBody>
                    <a:bodyPr/>
                    <a:lstStyle/>
                    <a:p>
                      <a:pPr algn="ctr"/>
                      <a:r>
                        <a:rPr lang="en-US" dirty="0"/>
                        <a:t>    NA</a:t>
                      </a:r>
                    </a:p>
                  </a:txBody>
                  <a:tcPr/>
                </a:tc>
                <a:tc>
                  <a:txBody>
                    <a:bodyPr/>
                    <a:lstStyle/>
                    <a:p>
                      <a:pPr algn="ctr"/>
                      <a:r>
                        <a:rPr lang="en-US" dirty="0"/>
                        <a:t>    2</a:t>
                      </a: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References</a:t>
            </a:r>
          </a:p>
        </p:txBody>
      </p:sp>
      <p:sp>
        <p:nvSpPr>
          <p:cNvPr id="3" name="Content Placeholder 2"/>
          <p:cNvSpPr>
            <a:spLocks noGrp="1"/>
          </p:cNvSpPr>
          <p:nvPr>
            <p:ph idx="1"/>
          </p:nvPr>
        </p:nvSpPr>
        <p:spPr>
          <a:xfrm>
            <a:off x="785948" y="1603556"/>
            <a:ext cx="10515600" cy="4351338"/>
          </a:xfrm>
        </p:spPr>
        <p:txBody>
          <a:bodyPr>
            <a:normAutofit fontScale="85000" lnSpcReduction="20000"/>
          </a:bodyPr>
          <a:lstStyle/>
          <a:p>
            <a:pPr>
              <a:lnSpc>
                <a:spcPct val="115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Websites: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https://circuitglobe.com/photovoltaic-or-solar-cell.html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https://byjus.com/physics/solar-energy-and-photovoltaic-cell/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https://energyeducation.ca/encyclopedia/Photovoltaic_cell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https://www.planete-energies.com/en/media/article/how-does-photovoltaic-cell-work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https://www.firstgreen.co/i-v-characteristics-curves-for-solar-panels/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https://www.pveducation.org/pvcdrom/solar-cell-operation/iv-curve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15000"/>
              </a:lnSpc>
              <a:spcAft>
                <a:spcPts val="1000"/>
              </a:spcAft>
            </a:pPr>
            <a:r>
              <a:rPr lang="en-US" sz="18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Online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tabLst>
                <a:tab pos="457200" algn="l"/>
              </a:tabLst>
            </a:pPr>
            <a:r>
              <a:rPr lang="en-IN" sz="1800" u="sng" dirty="0">
                <a:solidFill>
                  <a:srgbClr val="000000"/>
                </a:solidFill>
                <a:effectLst/>
                <a:latin typeface="Times New Roman" panose="02020603050405020304" pitchFamily="18" charset="0"/>
                <a:ea typeface="Calibri" panose="020F0502020204030204" pitchFamily="34" charset="0"/>
                <a:hlinkClick r:id="rId2"/>
              </a:rPr>
              <a:t>https://www.researchgate.net/publication/304513870_Basics_of_Electrical_Engineering_-_a_text_book_for_first_year_B_Tech_students_of_Engineering_all_specializations</a:t>
            </a:r>
            <a:endParaRPr lang="en-IN" sz="1800" dirty="0">
              <a:solidFill>
                <a:srgbClr val="000000"/>
              </a:solidFill>
              <a:effectLst/>
              <a:latin typeface="Calibri" panose="020F0502020204030204" pitchFamily="34" charset="0"/>
              <a:ea typeface="Calibri" panose="020F0502020204030204" pitchFamily="34" charset="0"/>
            </a:endParaRPr>
          </a:p>
          <a:p>
            <a:pPr marL="342900" lvl="0" indent="-342900" algn="just">
              <a:tabLst>
                <a:tab pos="457200" algn="l"/>
              </a:tabLst>
            </a:pPr>
            <a:r>
              <a:rPr lang="en-IN" sz="1800" u="sng" dirty="0">
                <a:solidFill>
                  <a:srgbClr val="000000"/>
                </a:solidFill>
                <a:effectLst/>
                <a:latin typeface="Times New Roman" panose="02020603050405020304" pitchFamily="18" charset="0"/>
                <a:ea typeface="Calibri" panose="020F0502020204030204" pitchFamily="34" charset="0"/>
                <a:hlinkClick r:id="rId3"/>
              </a:rPr>
              <a:t>https://electricalanswers.files.wordpress.com/2014/09/a-textbook-of-electrical-technology-volume-i-basic-electrical-engineering-b-l-theraja.pdf</a:t>
            </a:r>
            <a:endParaRPr lang="en-IN" sz="1800" dirty="0">
              <a:solidFill>
                <a:srgbClr val="000000"/>
              </a:solidFill>
              <a:effectLst/>
              <a:latin typeface="Calibri" panose="020F0502020204030204" pitchFamily="34" charset="0"/>
              <a:ea typeface="Calibri" panose="020F0502020204030204" pitchFamily="34" charset="0"/>
            </a:endParaRPr>
          </a:p>
          <a:p>
            <a:pPr marL="342900" lvl="0" indent="-342900" algn="just">
              <a:lnSpc>
                <a:spcPct val="115000"/>
              </a:lnSpc>
              <a:spcAft>
                <a:spcPts val="1000"/>
              </a:spcAft>
              <a:tabLst>
                <a:tab pos="457200" algn="l"/>
              </a:tabLst>
            </a:pPr>
            <a:r>
              <a:rPr lang="en-US" sz="18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https://drive.google.com/file/d/1Q8OXkp--k5TJtZ4TjBeZEIQGcyjh8VO6/view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DC680E-C100-E0EC-7575-0CF2607C7DC0}"/>
              </a:ext>
            </a:extLst>
          </p:cNvPr>
          <p:cNvSpPr>
            <a:spLocks noGrp="1"/>
          </p:cNvSpPr>
          <p:nvPr>
            <p:ph type="title"/>
          </p:nvPr>
        </p:nvSpPr>
        <p:spPr/>
        <p:txBody>
          <a:bodyPr/>
          <a:lstStyle/>
          <a:p>
            <a:r>
              <a:rPr lang="en-US" b="1" dirty="0"/>
              <a:t>References</a:t>
            </a:r>
            <a:endParaRPr lang="en-IN" dirty="0"/>
          </a:p>
        </p:txBody>
      </p:sp>
      <p:sp>
        <p:nvSpPr>
          <p:cNvPr id="3" name="Content Placeholder 2">
            <a:extLst>
              <a:ext uri="{FF2B5EF4-FFF2-40B4-BE49-F238E27FC236}">
                <a16:creationId xmlns:a16="http://schemas.microsoft.com/office/drawing/2014/main" xmlns="" id="{ECCF8ABE-6D7F-A4F0-E23D-37834E307845}"/>
              </a:ext>
            </a:extLst>
          </p:cNvPr>
          <p:cNvSpPr>
            <a:spLocks noGrp="1"/>
          </p:cNvSpPr>
          <p:nvPr>
            <p:ph idx="1"/>
          </p:nvPr>
        </p:nvSpPr>
        <p:spPr/>
        <p:txBody>
          <a:bodyPr>
            <a:normAutofit fontScale="25000" lnSpcReduction="20000"/>
          </a:bodyPr>
          <a:lstStyle/>
          <a:p>
            <a:pPr>
              <a:lnSpc>
                <a:spcPct val="120000"/>
              </a:lnSpc>
              <a:spcAft>
                <a:spcPts val="1000"/>
              </a:spcAft>
            </a:pPr>
            <a:r>
              <a:rPr lang="en-US" sz="64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6400" b="1" u="sng" dirty="0">
                <a:effectLst/>
                <a:latin typeface="Times New Roman" panose="02020603050405020304" pitchFamily="18" charset="0"/>
                <a:ea typeface="Calibri" panose="020F0502020204030204" pitchFamily="34" charset="0"/>
                <a:cs typeface="Times New Roman" panose="02020603050405020304" pitchFamily="18" charset="0"/>
              </a:rPr>
              <a:t>Video:</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buFont typeface="+mj-lt"/>
              <a:buAutoNum type="arabicPeriod"/>
            </a:pPr>
            <a:r>
              <a:rPr lang="en-US" sz="6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https://www.youtube.com/watch?v=HvoNJJS5dkc</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buFont typeface="+mj-lt"/>
              <a:buAutoNum type="arabicPeriod"/>
            </a:pPr>
            <a:r>
              <a:rPr lang="en-US" sz="6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https://www.youtube.com/watch?v=X0OZ6tpZ3Mc</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Aft>
                <a:spcPts val="1000"/>
              </a:spcAft>
              <a:buFont typeface="+mj-lt"/>
              <a:buAutoNum type="arabicPeriod"/>
            </a:pPr>
            <a:r>
              <a:rPr lang="en-US" sz="6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https://www.youtube.com/watch?v=L_q6LRgKpTw</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20000"/>
              </a:lnSpc>
              <a:spcAft>
                <a:spcPts val="1000"/>
              </a:spcAft>
            </a:pPr>
            <a:r>
              <a:rPr lang="en-US" sz="6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6400" b="1" u="sng"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6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 </a:t>
            </a:r>
            <a:r>
              <a:rPr lang="en-US" sz="6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Wurfell</a:t>
            </a: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“Physics of Solar Cells: From Basic Principles to Advanced Concepts”, Wiley, 2009</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 Nelson,  "The Physics of Solar Cells" , Imperial College Press, 2003</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Martin A Green, "Solar Cells: Operating Principles, Technology and System Applications", Prentice Hall Series,  1982</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V.N. </a:t>
            </a:r>
            <a:r>
              <a:rPr lang="en-US" sz="6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Mittle</a:t>
            </a: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“Basic Electrical Engineering”, Tata McGraw Hill Edition, New Delhi, 1990.</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Electrical Technology by Surinder Pal Bali, Pearson Publications.</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R.S. </a:t>
            </a:r>
            <a:r>
              <a:rPr lang="en-US" sz="6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Sedha</a:t>
            </a: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“Applied Electronics” S. Chand &amp; Co., 2006.</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20000"/>
              </a:lnSpc>
              <a:spcBef>
                <a:spcPts val="0"/>
              </a:spcBef>
              <a:buSzPts val="1400"/>
              <a:buFont typeface="+mj-lt"/>
              <a:buAutoNum type="arabicPeriod"/>
              <a:tabLst>
                <a:tab pos="457200" algn="l"/>
              </a:tabLst>
            </a:pP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Electronic Devices and Circuits, R.L. </a:t>
            </a:r>
            <a:r>
              <a:rPr lang="en-US" sz="6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Boylestad</a:t>
            </a: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Louis </a:t>
            </a:r>
            <a:r>
              <a:rPr lang="en-US" sz="64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Nashelsky</a:t>
            </a:r>
            <a:r>
              <a:rPr lang="en-US" sz="6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9th edition, PEI/PHI 2006.</a:t>
            </a:r>
            <a:endParaRPr lang="en-IN" sz="6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xmlns="" id="{A330DCA6-7595-720A-FDB0-D059E2AE29DC}"/>
              </a:ext>
            </a:extLst>
          </p:cNvPr>
          <p:cNvSpPr>
            <a:spLocks noGrp="1"/>
          </p:cNvSpPr>
          <p:nvPr>
            <p:ph type="sldNum" sz="quarter" idx="12"/>
          </p:nvPr>
        </p:nvSpPr>
        <p:spPr/>
        <p:txBody>
          <a:bodyPr/>
          <a:lstStyle/>
          <a:p>
            <a:fld id="{BDCDBBEF-AA6C-4BA6-85B2-A17D7F280E38}" type="slidenum">
              <a:rPr lang="en-US" smtClean="0"/>
              <a:pPr/>
              <a:t>35</a:t>
            </a:fld>
            <a:endParaRPr lang="en-US"/>
          </a:p>
        </p:txBody>
      </p:sp>
    </p:spTree>
    <p:extLst>
      <p:ext uri="{BB962C8B-B14F-4D97-AF65-F5344CB8AC3E}">
        <p14:creationId xmlns:p14="http://schemas.microsoft.com/office/powerpoint/2010/main" xmlns="" val="24271794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0E2DCEFA-CE10-41FF-AD08-D8937F9F8661}"/>
  <p:tag name="ISPRING_RESOURCE_FOLDER" val="D:\BEEE 2021 ODD SEM\Theory\UNIT-1\PPTS\Lecture 1\"/>
  <p:tag name="ISPRING_PRESENTATION_PATH" val="D:\BEEE 2021 ODD SEM\Theory\UNIT-1\PPTS\Lecture 1.pptx"/>
  <p:tag name="ISPRING_PROJECT_VERSION" val="9.32"/>
  <p:tag name="ISPRING_PROJECT_FOLDER_UPDATED" val="1"/>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2395</TotalTime>
  <Words>3132</Words>
  <Application>Microsoft Office PowerPoint</Application>
  <PresentationFormat>Custom</PresentationFormat>
  <Paragraphs>260</Paragraphs>
  <Slides>36</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39" baseType="lpstr">
      <vt:lpstr>1_Office Theme</vt:lpstr>
      <vt:lpstr>Contents Slide Master</vt:lpstr>
      <vt:lpstr>CorelDRAW</vt:lpstr>
      <vt:lpstr>Slide 1</vt:lpstr>
      <vt:lpstr>Lecture Objectives</vt:lpstr>
      <vt:lpstr>Course Objectives</vt:lpstr>
      <vt:lpstr>Course Outcomes</vt:lpstr>
      <vt:lpstr>Importance of Photovoltaic Systems</vt:lpstr>
      <vt:lpstr>Content   </vt:lpstr>
      <vt:lpstr>Introduction</vt:lpstr>
      <vt:lpstr>Introduction- contd…</vt:lpstr>
      <vt:lpstr>Slide 9</vt:lpstr>
      <vt:lpstr>Working of PV Cell </vt:lpstr>
      <vt:lpstr>Working of PV cell</vt:lpstr>
      <vt:lpstr>Working of PV cell</vt:lpstr>
      <vt:lpstr>Working of PV cell</vt:lpstr>
      <vt:lpstr>Construction of Photovoltaic Cell</vt:lpstr>
      <vt:lpstr>Slide 15</vt:lpstr>
      <vt:lpstr>Construction of Photovoltaic Cell</vt:lpstr>
      <vt:lpstr>PV cell combinations</vt:lpstr>
      <vt:lpstr>PV cell combinations</vt:lpstr>
      <vt:lpstr>PV cell combinations</vt:lpstr>
      <vt:lpstr>Advantages of PV cell</vt:lpstr>
      <vt:lpstr>Disadvantages of PV cell</vt:lpstr>
      <vt:lpstr>PV module, panel and array</vt:lpstr>
      <vt:lpstr>Slide 23</vt:lpstr>
      <vt:lpstr>PV module, panel and array</vt:lpstr>
      <vt:lpstr>Characteristics of PV cell</vt:lpstr>
      <vt:lpstr>Characteristics of PV cell</vt:lpstr>
      <vt:lpstr>Characteristics of PV cell</vt:lpstr>
      <vt:lpstr>Efficiency of PV cell</vt:lpstr>
      <vt:lpstr>Efficiency of PV cell</vt:lpstr>
      <vt:lpstr>Summary</vt:lpstr>
      <vt:lpstr>Frequently Asked Questions</vt:lpstr>
      <vt:lpstr>LEARNING OUTCOMES </vt:lpstr>
      <vt:lpstr>Assessment Pattern</vt:lpstr>
      <vt:lpstr>References</vt:lpstr>
      <vt:lpstr>References</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218</cp:revision>
  <dcterms:created xsi:type="dcterms:W3CDTF">2019-01-09T10:33:58Z</dcterms:created>
  <dcterms:modified xsi:type="dcterms:W3CDTF">2023-07-05T08:09:09Z</dcterms:modified>
</cp:coreProperties>
</file>