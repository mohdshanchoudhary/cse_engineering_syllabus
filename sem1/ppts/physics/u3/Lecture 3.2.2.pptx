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496" r:id="rId3"/>
    <p:sldId id="457" r:id="rId4"/>
    <p:sldId id="497" r:id="rId5"/>
    <p:sldId id="498" r:id="rId6"/>
    <p:sldId id="487" r:id="rId7"/>
    <p:sldId id="372" r:id="rId8"/>
    <p:sldId id="396" r:id="rId9"/>
    <p:sldId id="488" r:id="rId10"/>
    <p:sldId id="489" r:id="rId11"/>
    <p:sldId id="441" r:id="rId12"/>
    <p:sldId id="442" r:id="rId13"/>
    <p:sldId id="445" r:id="rId14"/>
    <p:sldId id="446" r:id="rId15"/>
    <p:sldId id="418" r:id="rId16"/>
    <p:sldId id="490" r:id="rId17"/>
    <p:sldId id="465" r:id="rId18"/>
    <p:sldId id="491" r:id="rId19"/>
    <p:sldId id="464" r:id="rId20"/>
    <p:sldId id="461" r:id="rId21"/>
    <p:sldId id="492" r:id="rId22"/>
    <p:sldId id="493" r:id="rId23"/>
    <p:sldId id="494" r:id="rId24"/>
    <p:sldId id="469" r:id="rId25"/>
    <p:sldId id="468" r:id="rId26"/>
    <p:sldId id="472" r:id="rId27"/>
    <p:sldId id="479" r:id="rId28"/>
    <p:sldId id="477" r:id="rId29"/>
    <p:sldId id="419" r:id="rId30"/>
    <p:sldId id="421" r:id="rId31"/>
    <p:sldId id="448" r:id="rId32"/>
    <p:sldId id="495" r:id="rId33"/>
    <p:sldId id="43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1B3F5B"/>
    <a:srgbClr val="ED8137"/>
    <a:srgbClr val="BC8F00"/>
    <a:srgbClr val="860000"/>
    <a:srgbClr val="00B0F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5" autoAdjust="0"/>
    <p:restoredTop sz="91398" autoAdjust="0"/>
  </p:normalViewPr>
  <p:slideViewPr>
    <p:cSldViewPr snapToGrid="0">
      <p:cViewPr>
        <p:scale>
          <a:sx n="74" d="100"/>
          <a:sy n="74" d="100"/>
        </p:scale>
        <p:origin x="-342" y="222"/>
      </p:cViewPr>
      <p:guideLst>
        <p:guide orient="horz" pos="2160"/>
        <p:guide pos="3840"/>
      </p:guideLst>
    </p:cSldViewPr>
  </p:slideViewPr>
  <p:outlineViewPr>
    <p:cViewPr>
      <p:scale>
        <a:sx n="33" d="100"/>
        <a:sy n="33" d="100"/>
      </p:scale>
      <p:origin x="42"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dirty="0"/>
          </a:p>
        </p:txBody>
      </p:sp>
    </p:spTree>
    <p:extLst>
      <p:ext uri="{BB962C8B-B14F-4D97-AF65-F5344CB8AC3E}">
        <p14:creationId xmlns=""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dirty="0"/>
          </a:p>
        </p:txBody>
      </p:sp>
    </p:spTree>
    <p:extLst>
      <p:ext uri="{BB962C8B-B14F-4D97-AF65-F5344CB8AC3E}">
        <p14:creationId xmlns=""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14</a:t>
            </a:fld>
            <a:endParaRPr lang="en-I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15</a:t>
            </a:fld>
            <a:endParaRPr lang="en-I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16</a:t>
            </a:fld>
            <a:endParaRPr lang="en-I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17</a:t>
            </a:fld>
            <a:endParaRPr lang="en-I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18</a:t>
            </a:fld>
            <a:endParaRPr lang="en-I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19</a:t>
            </a:fld>
            <a:endParaRPr lang="en-I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20</a:t>
            </a:fld>
            <a:endParaRPr lang="en-I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21</a:t>
            </a:fld>
            <a:endParaRPr lang="en-I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22</a:t>
            </a:fld>
            <a:endParaRPr lang="en-I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23</a:t>
            </a:fld>
            <a:endParaRPr lang="en-I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24</a:t>
            </a:fld>
            <a:endParaRPr lang="en-I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25</a:t>
            </a:fld>
            <a:endParaRPr lang="en-I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26</a:t>
            </a:fld>
            <a:endParaRPr lang="en-I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27</a:t>
            </a:fld>
            <a:endParaRPr lang="en-I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C04309FA-8C5F-492B-92B7-A875CE9971B3}" type="slidenum">
              <a:rPr lang="en-US" smtClean="0"/>
              <a:pPr/>
              <a:t>29</a:t>
            </a:fld>
            <a:endParaRPr lang="en-US" smtClean="0"/>
          </a:p>
        </p:txBody>
      </p:sp>
      <p:sp>
        <p:nvSpPr>
          <p:cNvPr id="41987" name="Slide Image Placeholder 1"/>
          <p:cNvSpPr>
            <a:spLocks noGrp="1" noRot="1" noChangeAspect="1" noTextEdit="1"/>
          </p:cNvSpPr>
          <p:nvPr>
            <p:ph type="sldImg"/>
          </p:nvPr>
        </p:nvSpPr>
        <p:spPr>
          <a:ln/>
        </p:spPr>
      </p:sp>
      <p:sp>
        <p:nvSpPr>
          <p:cNvPr id="41988" name="Notes Placeholder 2"/>
          <p:cNvSpPr>
            <a:spLocks noGrp="1"/>
          </p:cNvSpPr>
          <p:nvPr>
            <p:ph type="body" idx="1"/>
          </p:nvPr>
        </p:nvSpPr>
        <p:spPr>
          <a:noFill/>
          <a:ln/>
        </p:spPr>
        <p:txBody>
          <a:bodyPr/>
          <a:lstStyle/>
          <a:p>
            <a:pPr eaLnBrk="1" hangingPunct="1">
              <a:spcBef>
                <a:spcPct val="0"/>
              </a:spcBef>
            </a:pPr>
            <a:endParaRPr lang="en-US" smtClean="0"/>
          </a:p>
        </p:txBody>
      </p:sp>
      <p:sp>
        <p:nvSpPr>
          <p:cNvPr id="4198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9B3CBD6-2904-4E1F-ABC4-83E7BCE3542E}" type="slidenum">
              <a:rPr lang="en-US" sz="1200">
                <a:latin typeface="Calibri" pitchFamily="34" charset="0"/>
              </a:rPr>
              <a:pPr algn="r"/>
              <a:t>29</a:t>
            </a:fld>
            <a:endParaRPr lang="en-US" sz="1200">
              <a:latin typeface="Calibri" pitchFamily="34" charset="0"/>
            </a:endParaRPr>
          </a:p>
        </p:txBody>
      </p:sp>
      <p:sp>
        <p:nvSpPr>
          <p:cNvPr id="41990" name="Header Placeholder 5"/>
          <p:cNvSpPr>
            <a:spLocks noGrp="1"/>
          </p:cNvSpPr>
          <p:nvPr>
            <p:ph type="hdr" sz="quarter"/>
          </p:nvPr>
        </p:nvSpPr>
        <p:spPr>
          <a:noFill/>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 xmlns:p14="http://schemas.microsoft.com/office/powerpoint/2010/main" val="270909644"/>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 xmlns:p14="http://schemas.microsoft.com/office/powerpoint/2010/main" val="3227159557"/>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 xmlns:p14="http://schemas.microsoft.com/office/powerpoint/2010/main" val="3804378142"/>
      </p:ext>
    </p:extLst>
  </p:cSld>
  <p:clrMapOvr>
    <a:masterClrMapping/>
  </p:clrMapOvr>
  <p:extLst mod="1">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dirty="0"/>
          </a:p>
        </p:txBody>
      </p:sp>
    </p:spTree>
    <p:extLst>
      <p:ext uri="{BB962C8B-B14F-4D97-AF65-F5344CB8AC3E}">
        <p14:creationId xmlns=""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electrical4u.com/regulated-power-supply/"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en.wikipedia.org/wiki/Switched-mode_power_supply"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hyperlink" Target="https://www.cedengineering.com/userfiles/Introduction%20to%20Batteries.pdf" TargetMode="External"/><Relationship Id="rId7" Type="http://schemas.openxmlformats.org/officeDocument/2006/relationships/hyperlink" Target="https://youtu.be/PXNKkcB0pI4" TargetMode="External"/><Relationship Id="rId2" Type="http://schemas.openxmlformats.org/officeDocument/2006/relationships/hyperlink" Target="https://nptel.ac.in/content/storage2/courses/121106014/Week12/lecture38.pdf" TargetMode="External"/><Relationship Id="rId1" Type="http://schemas.openxmlformats.org/officeDocument/2006/relationships/slideLayout" Target="../slideLayouts/slideLayout2.xml"/><Relationship Id="rId6" Type="http://schemas.openxmlformats.org/officeDocument/2006/relationships/hyperlink" Target="https://youtu.be/gWKOjncBMCQ" TargetMode="External"/><Relationship Id="rId5" Type="http://schemas.openxmlformats.org/officeDocument/2006/relationships/hyperlink" Target="https://shodhganga.inflibnet.ac.in/bitstream/10603/1303/7/07_chapter%201.pdf" TargetMode="External"/><Relationship Id="rId4" Type="http://schemas.openxmlformats.org/officeDocument/2006/relationships/hyperlink" Target="http://web.mit.edu/evt/summary_battery_specifications.pdf"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5974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Experiment-3.2.2</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pitchFamily="18" charset="0"/>
                <a:cs typeface="Times New Roman" pitchFamily="18" charset="0"/>
              </a:rPr>
              <a:t>Power Supply LPS, SMPS.</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328855481"/>
              </p:ext>
            </p:extLst>
          </p:nvPr>
        </p:nvGraphicFramePr>
        <p:xfrm>
          <a:off x="282009" y="2226080"/>
          <a:ext cx="6536802" cy="3968322"/>
        </p:xfrm>
        <a:graphic>
          <a:graphicData uri="http://schemas.openxmlformats.org/drawingml/2006/table">
            <a:tbl>
              <a:tblPr firstRow="1" firstCol="1" bandRow="1"/>
              <a:tblGrid>
                <a:gridCol w="556819"/>
                <a:gridCol w="5979983"/>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power supply</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need of filters used in power supply</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about difference  between LPS</a:t>
                      </a:r>
                      <a:r>
                        <a:rPr lang="en-US" sz="1200" b="0" i="0" kern="1200" baseline="0" dirty="0" smtClean="0">
                          <a:solidFill>
                            <a:schemeClr val="tx1"/>
                          </a:solidFill>
                          <a:latin typeface="+mn-lt"/>
                          <a:ea typeface="+mn-ea"/>
                          <a:cs typeface="+mn-cs"/>
                        </a:rPr>
                        <a:t> and SMPS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types of SMPS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give</a:t>
                      </a:r>
                      <a:r>
                        <a:rPr lang="en-US" sz="1200" b="0" i="0" kern="1200" baseline="0" dirty="0" smtClean="0">
                          <a:solidFill>
                            <a:schemeClr val="tx1"/>
                          </a:solidFill>
                          <a:latin typeface="+mn-lt"/>
                          <a:ea typeface="+mn-ea"/>
                          <a:cs typeface="+mn-cs"/>
                        </a:rPr>
                        <a:t> various  applications of SMPS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Content Placeholder 6"/>
          <p:cNvSpPr>
            <a:spLocks noGrp="1"/>
          </p:cNvSpPr>
          <p:nvPr>
            <p:ph idx="1"/>
          </p:nvPr>
        </p:nvSpPr>
        <p:spPr>
          <a:xfrm>
            <a:off x="7093130" y="5251268"/>
            <a:ext cx="4428309" cy="609781"/>
          </a:xfrm>
        </p:spPr>
        <p:style>
          <a:lnRef idx="2">
            <a:schemeClr val="dk1"/>
          </a:lnRef>
          <a:fillRef idx="1">
            <a:schemeClr val="lt1"/>
          </a:fillRef>
          <a:effectRef idx="0">
            <a:schemeClr val="dk1"/>
          </a:effectRef>
          <a:fontRef idx="minor">
            <a:schemeClr val="dk1"/>
          </a:fontRef>
        </p:style>
        <p:txBody>
          <a:bodyPr>
            <a:noAutofit/>
          </a:bodyPr>
          <a:lstStyle/>
          <a:p>
            <a:pPr algn="ctr">
              <a:buNone/>
            </a:pPr>
            <a:r>
              <a:rPr lang="en-US" sz="2000" dirty="0">
                <a:hlinkClick r:id="rId2"/>
              </a:rPr>
              <a:t>https://library.automationdirect.com/basic-electrical-theory/</a:t>
            </a:r>
            <a:endParaRPr lang="en-US" sz="2000" dirty="0">
              <a:solidFill>
                <a:srgbClr val="00B0F0"/>
              </a:solidFill>
            </a:endParaRPr>
          </a:p>
        </p:txBody>
      </p:sp>
      <p:pic>
        <p:nvPicPr>
          <p:cNvPr id="9" name="Picture 8" descr="C:\Users\Administrator\Desktop\circuit.png"/>
          <p:cNvPicPr>
            <a:picLocks noChangeAspect="1" noChangeArrowheads="1"/>
          </p:cNvPicPr>
          <p:nvPr/>
        </p:nvPicPr>
        <p:blipFill>
          <a:blip r:embed="rId3" cstate="print"/>
          <a:srcRect/>
          <a:stretch>
            <a:fillRect/>
          </a:stretch>
        </p:blipFill>
        <p:spPr bwMode="auto">
          <a:xfrm>
            <a:off x="7302321" y="1750423"/>
            <a:ext cx="4546242" cy="33571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886" y="1314451"/>
            <a:ext cx="9861731" cy="5257799"/>
          </a:xfrm>
        </p:spPr>
        <p:txBody>
          <a:bodyPr>
            <a:noAutofit/>
          </a:bodyPr>
          <a:lstStyle/>
          <a:p>
            <a:pPr lvl="0" algn="just">
              <a:lnSpc>
                <a:spcPct val="100000"/>
              </a:lnSpc>
              <a:buFont typeface="Wingdings" pitchFamily="2" charset="2"/>
              <a:buChar char="v"/>
            </a:pPr>
            <a:r>
              <a:rPr lang="en-US" dirty="0" smtClean="0">
                <a:cs typeface="Times New Roman" pitchFamily="18" charset="0"/>
              </a:rPr>
              <a:t>Introduction to linear power supply</a:t>
            </a:r>
            <a:endParaRPr lang="en-IN" dirty="0" smtClean="0"/>
          </a:p>
          <a:p>
            <a:pPr algn="just">
              <a:lnSpc>
                <a:spcPct val="100000"/>
              </a:lnSpc>
              <a:buFont typeface="Wingdings" pitchFamily="2" charset="2"/>
              <a:buChar char="v"/>
            </a:pPr>
            <a:r>
              <a:rPr lang="en-IN" dirty="0"/>
              <a:t>Block diagram of </a:t>
            </a:r>
            <a:r>
              <a:rPr lang="en-IN" dirty="0" smtClean="0"/>
              <a:t>linear power </a:t>
            </a:r>
            <a:r>
              <a:rPr lang="en-IN" dirty="0"/>
              <a:t>supply</a:t>
            </a:r>
            <a:endParaRPr lang="en-US" dirty="0">
              <a:solidFill>
                <a:schemeClr val="dk1"/>
              </a:solidFill>
              <a:cs typeface="Times New Roman" pitchFamily="18" charset="0"/>
            </a:endParaRPr>
          </a:p>
          <a:p>
            <a:pPr algn="just">
              <a:lnSpc>
                <a:spcPct val="100000"/>
              </a:lnSpc>
              <a:buFont typeface="Wingdings" pitchFamily="2" charset="2"/>
              <a:buChar char="v"/>
            </a:pPr>
            <a:r>
              <a:rPr lang="en-US" dirty="0" smtClean="0">
                <a:cs typeface="Times New Roman" pitchFamily="18" charset="0"/>
              </a:rPr>
              <a:t>Working of linear power supply</a:t>
            </a:r>
            <a:endParaRPr lang="en-US" dirty="0">
              <a:solidFill>
                <a:schemeClr val="dk1"/>
              </a:solidFill>
              <a:cs typeface="Times New Roman" pitchFamily="18" charset="0"/>
            </a:endParaRPr>
          </a:p>
          <a:p>
            <a:pPr algn="just">
              <a:lnSpc>
                <a:spcPct val="100000"/>
              </a:lnSpc>
              <a:buFont typeface="Wingdings" pitchFamily="2" charset="2"/>
              <a:buChar char="v"/>
            </a:pPr>
            <a:r>
              <a:rPr lang="en-IN" dirty="0" smtClean="0"/>
              <a:t>Concept of switched mode power supply</a:t>
            </a:r>
            <a:endParaRPr lang="en-US" cap="all" dirty="0" smtClean="0">
              <a:solidFill>
                <a:schemeClr val="bg1"/>
              </a:solidFill>
              <a:cs typeface="Times New Roman" pitchFamily="18" charset="0"/>
            </a:endParaRPr>
          </a:p>
          <a:p>
            <a:pPr algn="just">
              <a:lnSpc>
                <a:spcPct val="100000"/>
              </a:lnSpc>
              <a:buFont typeface="Wingdings" pitchFamily="2" charset="2"/>
              <a:buChar char="v"/>
            </a:pPr>
            <a:r>
              <a:rPr lang="en-IN" dirty="0" smtClean="0"/>
              <a:t>Requirements </a:t>
            </a:r>
            <a:r>
              <a:rPr lang="en-IN" dirty="0"/>
              <a:t>of </a:t>
            </a:r>
            <a:r>
              <a:rPr lang="en-IN" dirty="0" smtClean="0"/>
              <a:t>SMPS</a:t>
            </a:r>
          </a:p>
          <a:p>
            <a:pPr algn="just">
              <a:lnSpc>
                <a:spcPct val="100000"/>
              </a:lnSpc>
              <a:buFont typeface="Wingdings" pitchFamily="2" charset="2"/>
              <a:buChar char="v"/>
            </a:pPr>
            <a:r>
              <a:rPr lang="en-IN" dirty="0" smtClean="0"/>
              <a:t> </a:t>
            </a:r>
            <a:r>
              <a:rPr lang="en-IN" dirty="0"/>
              <a:t>Block diagram of </a:t>
            </a:r>
            <a:r>
              <a:rPr lang="en-IN" dirty="0" smtClean="0"/>
              <a:t>switched mode power supply</a:t>
            </a:r>
            <a:r>
              <a:rPr lang="en-US" cap="all" dirty="0" smtClean="0">
                <a:solidFill>
                  <a:schemeClr val="bg1"/>
                </a:solidFill>
                <a:cs typeface="Arial" charset="0"/>
              </a:rPr>
              <a:t> </a:t>
            </a:r>
          </a:p>
          <a:p>
            <a:pPr algn="just">
              <a:lnSpc>
                <a:spcPct val="100000"/>
              </a:lnSpc>
              <a:buFont typeface="Wingdings" pitchFamily="2" charset="2"/>
              <a:buChar char="v"/>
            </a:pPr>
            <a:r>
              <a:rPr lang="en-IN" dirty="0" smtClean="0"/>
              <a:t>Working of switched mode power supply</a:t>
            </a:r>
          </a:p>
          <a:p>
            <a:pPr algn="just">
              <a:lnSpc>
                <a:spcPct val="100000"/>
              </a:lnSpc>
              <a:buFont typeface="Wingdings" pitchFamily="2" charset="2"/>
              <a:buChar char="v"/>
            </a:pPr>
            <a:r>
              <a:rPr lang="en-IN" dirty="0"/>
              <a:t>Types of </a:t>
            </a:r>
            <a:r>
              <a:rPr lang="en-IN" dirty="0" smtClean="0"/>
              <a:t>SMPS</a:t>
            </a:r>
          </a:p>
          <a:p>
            <a:pPr algn="just">
              <a:lnSpc>
                <a:spcPct val="100000"/>
              </a:lnSpc>
              <a:buFont typeface="Wingdings" pitchFamily="2" charset="2"/>
              <a:buChar char="v"/>
            </a:pPr>
            <a:r>
              <a:rPr lang="en-IN" dirty="0" smtClean="0"/>
              <a:t>Applications </a:t>
            </a:r>
            <a:r>
              <a:rPr lang="en-IN" dirty="0"/>
              <a:t>of </a:t>
            </a:r>
            <a:r>
              <a:rPr lang="en-IN" dirty="0" smtClean="0"/>
              <a:t>switched mode power supply</a:t>
            </a:r>
            <a:endParaRPr lang="en-US" cap="all" dirty="0">
              <a:solidFill>
                <a:schemeClr val="bg1"/>
              </a:solidFill>
              <a:cs typeface="Times New Roman" pitchFamily="18" charset="0"/>
            </a:endParaRPr>
          </a:p>
          <a:p>
            <a:pPr algn="just">
              <a:lnSpc>
                <a:spcPct val="100000"/>
              </a:lnSpc>
              <a:buFont typeface="Wingdings" pitchFamily="2" charset="2"/>
              <a:buChar char="v"/>
            </a:pPr>
            <a:endParaRPr lang="en-US" sz="2000" b="1" cap="all" dirty="0">
              <a:solidFill>
                <a:schemeClr val="bg1"/>
              </a:solidFill>
              <a:cs typeface="Times New Roman" pitchFamily="18" charset="0"/>
            </a:endParaRPr>
          </a:p>
          <a:p>
            <a:pPr lvl="0" algn="just">
              <a:lnSpc>
                <a:spcPct val="100000"/>
              </a:lnSpc>
              <a:buFont typeface="Wingdings" pitchFamily="2" charset="2"/>
              <a:buChar char="v"/>
            </a:pPr>
            <a:endParaRPr lang="en-US" sz="20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7" name="Title 1"/>
          <p:cNvSpPr txBox="1">
            <a:spLocks/>
          </p:cNvSpPr>
          <p:nvPr/>
        </p:nvSpPr>
        <p:spPr>
          <a:xfrm>
            <a:off x="1059543" y="244658"/>
            <a:ext cx="9575074" cy="106979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lang="en-US" sz="4400" b="1" dirty="0" smtClean="0">
                <a:latin typeface="+mj-lt"/>
                <a:cs typeface="Times New Roman" pitchFamily="18" charset="0"/>
              </a:rPr>
              <a:t>C</a:t>
            </a:r>
            <a:r>
              <a:rPr lang="en-US" sz="4400" b="1" noProof="0" dirty="0" smtClean="0">
                <a:latin typeface="+mj-lt"/>
                <a:cs typeface="Times New Roman" pitchFamily="18" charset="0"/>
              </a:rPr>
              <a:t>ONTENTS</a:t>
            </a:r>
            <a:r>
              <a:rPr lang="en-US" sz="4400" noProof="0" dirty="0" smtClean="0">
                <a:latin typeface="+mj-lt"/>
                <a:cs typeface="Times New Roman" pitchFamily="18" charset="0"/>
              </a:rPr>
              <a:t> </a:t>
            </a:r>
            <a:endParaRPr kumimoji="0" lang="en-IN" sz="4400" b="1" i="0" strike="noStrike" kern="1200" cap="none" spc="0" normalizeH="0" baseline="0" noProof="0" dirty="0">
              <a:ln>
                <a:noFill/>
              </a:ln>
              <a:solidFill>
                <a:schemeClr val="dk1"/>
              </a:solidFill>
              <a:effectLst/>
              <a:uLnTx/>
              <a:uFillTx/>
              <a:latin typeface="+mj-lt"/>
              <a:cs typeface="Times New Roman" pitchFamily="18" charset="0"/>
            </a:endParaRPr>
          </a:p>
        </p:txBody>
      </p:sp>
    </p:spTree>
    <p:extLst>
      <p:ext uri="{BB962C8B-B14F-4D97-AF65-F5344CB8AC3E}">
        <p14:creationId xmlns="" xmlns:p14="http://schemas.microsoft.com/office/powerpoint/2010/main" val="2078467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86" y="365126"/>
            <a:ext cx="9993085" cy="928098"/>
          </a:xfrm>
        </p:spPr>
        <p:style>
          <a:lnRef idx="2">
            <a:schemeClr val="dk1"/>
          </a:lnRef>
          <a:fillRef idx="1">
            <a:schemeClr val="lt1"/>
          </a:fillRef>
          <a:effectRef idx="0">
            <a:schemeClr val="dk1"/>
          </a:effectRef>
          <a:fontRef idx="minor">
            <a:schemeClr val="dk1"/>
          </a:fontRef>
        </p:style>
        <p:txBody>
          <a:bodyPr>
            <a:normAutofit/>
          </a:bodyPr>
          <a:lstStyle/>
          <a:p>
            <a:pPr lvl="0" algn="ctr">
              <a:defRPr/>
            </a:pPr>
            <a:r>
              <a:rPr lang="en-US" b="1" dirty="0" smtClean="0">
                <a:latin typeface="+mj-lt"/>
                <a:cs typeface="Times New Roman" pitchFamily="18" charset="0"/>
              </a:rPr>
              <a:t>INTRODUCTION TO POWER SUPPLY</a:t>
            </a:r>
            <a:endParaRPr lang="en-IN" b="1" dirty="0">
              <a:latin typeface="+mj-lt"/>
              <a:cs typeface="Times New Roman" pitchFamily="18" charset="0"/>
            </a:endParaRPr>
          </a:p>
        </p:txBody>
      </p:sp>
      <p:sp>
        <p:nvSpPr>
          <p:cNvPr id="3" name="Content Placeholder 2"/>
          <p:cNvSpPr>
            <a:spLocks noGrp="1"/>
          </p:cNvSpPr>
          <p:nvPr>
            <p:ph idx="1"/>
          </p:nvPr>
        </p:nvSpPr>
        <p:spPr>
          <a:xfrm>
            <a:off x="772886" y="1512117"/>
            <a:ext cx="11051965" cy="3902846"/>
          </a:xfrm>
        </p:spPr>
        <p:txBody>
          <a:bodyPr>
            <a:noAutofit/>
          </a:bodyPr>
          <a:lstStyle/>
          <a:p>
            <a:pPr marL="342900" indent="-342900" algn="just"/>
            <a:r>
              <a:rPr lang="en-IN" dirty="0">
                <a:cs typeface="Times New Roman" pitchFamily="18" charset="0"/>
              </a:rPr>
              <a:t>The electric power is not normally used in the form in which it is produced or distributed. </a:t>
            </a:r>
            <a:endParaRPr lang="en-IN" dirty="0" smtClean="0">
              <a:cs typeface="Times New Roman" pitchFamily="18" charset="0"/>
            </a:endParaRPr>
          </a:p>
          <a:p>
            <a:pPr marL="342900" indent="-342900" algn="just"/>
            <a:r>
              <a:rPr lang="en-IN" dirty="0" smtClean="0">
                <a:cs typeface="Times New Roman" pitchFamily="18" charset="0"/>
              </a:rPr>
              <a:t>Practically </a:t>
            </a:r>
            <a:r>
              <a:rPr lang="en-IN" dirty="0">
                <a:cs typeface="Times New Roman" pitchFamily="18" charset="0"/>
              </a:rPr>
              <a:t>all electronic systems require some form of Power conversion. </a:t>
            </a:r>
            <a:endParaRPr lang="en-IN" dirty="0" smtClean="0">
              <a:cs typeface="Times New Roman" pitchFamily="18" charset="0"/>
            </a:endParaRPr>
          </a:p>
          <a:p>
            <a:pPr marL="342900" indent="-342900" algn="just"/>
            <a:r>
              <a:rPr lang="en-IN" dirty="0" smtClean="0">
                <a:cs typeface="Times New Roman" pitchFamily="18" charset="0"/>
              </a:rPr>
              <a:t> </a:t>
            </a:r>
            <a:r>
              <a:rPr lang="en-IN" dirty="0">
                <a:cs typeface="Times New Roman" pitchFamily="18" charset="0"/>
              </a:rPr>
              <a:t>A device that transfers electric energy from a source to a load using electronic circuits is referred to as power supply. </a:t>
            </a:r>
            <a:endParaRPr lang="en-IN" dirty="0" smtClean="0">
              <a:cs typeface="Times New Roman" pitchFamily="18" charset="0"/>
            </a:endParaRPr>
          </a:p>
          <a:p>
            <a:pPr marL="342900" indent="-342900" algn="just"/>
            <a:r>
              <a:rPr lang="en-IN" dirty="0" smtClean="0">
                <a:cs typeface="Times New Roman" pitchFamily="18" charset="0"/>
              </a:rPr>
              <a:t>A </a:t>
            </a:r>
            <a:r>
              <a:rPr lang="en-IN" dirty="0">
                <a:cs typeface="Times New Roman" pitchFamily="18" charset="0"/>
              </a:rPr>
              <a:t>typical application of a power supply is to convert utility AC voltage into regulated DC voltages required for electronic equipment</a:t>
            </a:r>
            <a:r>
              <a:rPr lang="en-IN" sz="2400" dirty="0"/>
              <a:t>. </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 xmlns:p14="http://schemas.microsoft.com/office/powerpoint/2010/main" val="6049119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a:bodyPr>
          <a:lstStyle/>
          <a:p>
            <a:pPr lvl="0" algn="ctr">
              <a:defRPr/>
            </a:pPr>
            <a:r>
              <a:rPr lang="en-IN" b="1" dirty="0" smtClean="0">
                <a:latin typeface="+mj-lt"/>
              </a:rPr>
              <a:t>CATEGORIES OF POWER SUPPLIES</a:t>
            </a:r>
            <a:endParaRPr lang="en-IN" b="1" dirty="0">
              <a:latin typeface="+mj-lt"/>
              <a:cs typeface="Times New Roman" pitchFamily="18" charset="0"/>
            </a:endParaRPr>
          </a:p>
        </p:txBody>
      </p:sp>
      <p:sp>
        <p:nvSpPr>
          <p:cNvPr id="3" name="Content Placeholder 2"/>
          <p:cNvSpPr>
            <a:spLocks noGrp="1"/>
          </p:cNvSpPr>
          <p:nvPr>
            <p:ph idx="1"/>
          </p:nvPr>
        </p:nvSpPr>
        <p:spPr>
          <a:xfrm>
            <a:off x="838200" y="1590494"/>
            <a:ext cx="10515600" cy="4351338"/>
          </a:xfrm>
        </p:spPr>
        <p:txBody>
          <a:bodyPr>
            <a:normAutofit/>
          </a:bodyPr>
          <a:lstStyle/>
          <a:p>
            <a:pPr marL="0" indent="0" algn="just">
              <a:buNone/>
            </a:pPr>
            <a:r>
              <a:rPr lang="en-IN" dirty="0">
                <a:cs typeface="Times New Roman" pitchFamily="18" charset="0"/>
              </a:rPr>
              <a:t>There are two broad categories of power supplies: </a:t>
            </a:r>
            <a:endParaRPr lang="en-IN" dirty="0" smtClean="0">
              <a:cs typeface="Times New Roman" pitchFamily="18" charset="0"/>
            </a:endParaRPr>
          </a:p>
          <a:p>
            <a:pPr algn="just"/>
            <a:r>
              <a:rPr lang="en-IN" dirty="0" smtClean="0">
                <a:cs typeface="Times New Roman" pitchFamily="18" charset="0"/>
              </a:rPr>
              <a:t> </a:t>
            </a:r>
            <a:r>
              <a:rPr lang="en-IN" dirty="0">
                <a:cs typeface="Times New Roman" pitchFamily="18" charset="0"/>
              </a:rPr>
              <a:t>Linear regulated power supply </a:t>
            </a:r>
            <a:endParaRPr lang="en-IN" dirty="0" smtClean="0">
              <a:cs typeface="Times New Roman" pitchFamily="18" charset="0"/>
            </a:endParaRPr>
          </a:p>
          <a:p>
            <a:pPr algn="just"/>
            <a:r>
              <a:rPr lang="en-IN" dirty="0" smtClean="0">
                <a:cs typeface="Times New Roman" pitchFamily="18" charset="0"/>
              </a:rPr>
              <a:t> </a:t>
            </a:r>
            <a:r>
              <a:rPr lang="en-IN" dirty="0">
                <a:cs typeface="Times New Roman" pitchFamily="18" charset="0"/>
              </a:rPr>
              <a:t>S</a:t>
            </a:r>
            <a:r>
              <a:rPr lang="en-IN" dirty="0" smtClean="0">
                <a:cs typeface="Times New Roman" pitchFamily="18" charset="0"/>
              </a:rPr>
              <a:t>witched </a:t>
            </a:r>
            <a:r>
              <a:rPr lang="en-IN" dirty="0">
                <a:cs typeface="Times New Roman" pitchFamily="18" charset="0"/>
              </a:rPr>
              <a:t>mode power supply (SMPS) </a:t>
            </a:r>
            <a:r>
              <a:rPr lang="en-IN" dirty="0" smtClean="0">
                <a:cs typeface="Times New Roman" pitchFamily="18" charset="0"/>
              </a:rPr>
              <a:t>in </a:t>
            </a:r>
            <a:r>
              <a:rPr lang="en-IN" dirty="0">
                <a:cs typeface="Times New Roman" pitchFamily="18" charset="0"/>
              </a:rPr>
              <a:t>some cases one may use a combination of switched mode and linear power supplies to gain some desired advantages of both the types</a:t>
            </a:r>
            <a:r>
              <a:rPr lang="en-IN" dirty="0"/>
              <a:t>. </a:t>
            </a: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fontScale="90000"/>
          </a:bodyPr>
          <a:lstStyle/>
          <a:p>
            <a:pPr lvl="0" algn="ctr">
              <a:defRPr/>
            </a:pPr>
            <a:r>
              <a:rPr lang="en-IN" b="1" dirty="0" smtClean="0">
                <a:latin typeface="+mj-lt"/>
              </a:rPr>
              <a:t>INTRODUCTION TO LINEAR/REGULATED POWER SUPPLY</a:t>
            </a:r>
            <a:endParaRPr lang="en-IN" b="1" dirty="0">
              <a:latin typeface="+mj-lt"/>
              <a:cs typeface="Times New Roman" pitchFamily="18" charset="0"/>
            </a:endParaRPr>
          </a:p>
        </p:txBody>
      </p:sp>
      <p:sp>
        <p:nvSpPr>
          <p:cNvPr id="3" name="Content Placeholder 2"/>
          <p:cNvSpPr>
            <a:spLocks noGrp="1"/>
          </p:cNvSpPr>
          <p:nvPr>
            <p:ph idx="1"/>
          </p:nvPr>
        </p:nvSpPr>
        <p:spPr>
          <a:xfrm>
            <a:off x="838200" y="1590494"/>
            <a:ext cx="10515600" cy="4351338"/>
          </a:xfrm>
        </p:spPr>
        <p:txBody>
          <a:bodyPr>
            <a:normAutofit/>
          </a:bodyPr>
          <a:lstStyle/>
          <a:p>
            <a:pPr algn="just"/>
            <a:r>
              <a:rPr lang="en-US" dirty="0" smtClean="0"/>
              <a:t>A </a:t>
            </a:r>
            <a:r>
              <a:rPr lang="en-US" b="1" dirty="0" smtClean="0"/>
              <a:t>linear power supply</a:t>
            </a:r>
            <a:r>
              <a:rPr lang="en-US" dirty="0" smtClean="0"/>
              <a:t> typically uses a large transformer to drop voltage from an AC line to a much lower AC voltage, and then uses a series of rectifier circuitry and filtering process to produce a very clean DC voltage.</a:t>
            </a:r>
          </a:p>
          <a:p>
            <a:pPr algn="just"/>
            <a:r>
              <a:rPr lang="en-US" dirty="0" smtClean="0"/>
              <a:t>Linear regulated power supplies gain their name from the fact that they use linear, i.e. non-switching techniques to regulate the voltage output from the power supply. </a:t>
            </a:r>
          </a:p>
          <a:p>
            <a:pPr algn="just"/>
            <a:r>
              <a:rPr lang="en-US" dirty="0" smtClean="0"/>
              <a:t>The term linear power supply implies that the power supply is regulated to provide the correct voltage at the output.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fontScale="90000"/>
          </a:bodyPr>
          <a:lstStyle/>
          <a:p>
            <a:pPr lvl="0" algn="ctr">
              <a:defRPr/>
            </a:pPr>
            <a:r>
              <a:rPr lang="en-IN" b="1" dirty="0" smtClean="0">
                <a:latin typeface="+mj-lt"/>
              </a:rPr>
              <a:t>BLOCK DIAGRAM OF LINEAR/REGULATED POWER SUPPLY</a:t>
            </a:r>
            <a:endParaRPr lang="en-IN" b="1" dirty="0">
              <a:latin typeface="+mj-lt"/>
              <a:cs typeface="Times New Roman" pitchFamily="18" charset="0"/>
            </a:endParaRPr>
          </a:p>
        </p:txBody>
      </p:sp>
      <p:sp>
        <p:nvSpPr>
          <p:cNvPr id="3" name="Content Placeholder 2"/>
          <p:cNvSpPr>
            <a:spLocks noGrp="1"/>
          </p:cNvSpPr>
          <p:nvPr>
            <p:ph idx="1"/>
          </p:nvPr>
        </p:nvSpPr>
        <p:spPr>
          <a:xfrm>
            <a:off x="207135" y="1835193"/>
            <a:ext cx="5639873" cy="4351338"/>
          </a:xfrm>
        </p:spPr>
        <p:txBody>
          <a:bodyPr>
            <a:normAutofit/>
          </a:bodyPr>
          <a:lstStyle/>
          <a:p>
            <a:pPr algn="just"/>
            <a:r>
              <a:rPr lang="en-US" dirty="0" smtClean="0"/>
              <a:t>The voltage is sensed and this signal is fed back, normally into some form of differential amplifier where it is compared with a reference voltage and resulting signal is used to ensure the output remains on the required voltage.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9746" name="Picture 2"/>
          <p:cNvPicPr>
            <a:picLocks noChangeAspect="1" noChangeArrowheads="1"/>
          </p:cNvPicPr>
          <p:nvPr/>
        </p:nvPicPr>
        <p:blipFill>
          <a:blip r:embed="rId2" cstate="print"/>
          <a:srcRect/>
          <a:stretch>
            <a:fillRect/>
          </a:stretch>
        </p:blipFill>
        <p:spPr bwMode="auto">
          <a:xfrm>
            <a:off x="6014434" y="1893194"/>
            <a:ext cx="5847007" cy="28313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p:cNvSpPr txBox="1"/>
          <p:nvPr/>
        </p:nvSpPr>
        <p:spPr>
          <a:xfrm>
            <a:off x="7006107" y="4984124"/>
            <a:ext cx="415081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Fig.1 Block diagram of linear power supply</a:t>
            </a:r>
            <a:endParaRPr lang="en-US" dirty="0"/>
          </a:p>
        </p:txBody>
      </p:sp>
      <p:sp>
        <p:nvSpPr>
          <p:cNvPr id="10" name="TextBox 9"/>
          <p:cNvSpPr txBox="1"/>
          <p:nvPr/>
        </p:nvSpPr>
        <p:spPr>
          <a:xfrm>
            <a:off x="6181858" y="5499279"/>
            <a:ext cx="542783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hlinkClick r:id="rId3"/>
              </a:rPr>
              <a:t>https://www.electrical4u.com/regulated-power-supply/</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1619794"/>
            <a:ext cx="10696303" cy="4783837"/>
          </a:xfrm>
        </p:spPr>
        <p:txBody>
          <a:bodyPr>
            <a:noAutofit/>
          </a:bodyPr>
          <a:lstStyle/>
          <a:p>
            <a:pPr algn="just"/>
            <a:r>
              <a:rPr lang="en-IN" dirty="0">
                <a:cs typeface="Times New Roman" pitchFamily="18" charset="0"/>
              </a:rPr>
              <a:t>The AC voltage is connected to a transformer, which steps that </a:t>
            </a:r>
            <a:r>
              <a:rPr lang="en-IN" dirty="0" smtClean="0">
                <a:cs typeface="Times New Roman" pitchFamily="18" charset="0"/>
              </a:rPr>
              <a:t>ac voltage </a:t>
            </a:r>
            <a:r>
              <a:rPr lang="en-IN" dirty="0">
                <a:cs typeface="Times New Roman" pitchFamily="18" charset="0"/>
              </a:rPr>
              <a:t>down to the level for the desired dc output</a:t>
            </a:r>
            <a:r>
              <a:rPr lang="en-IN" dirty="0" smtClean="0">
                <a:cs typeface="Times New Roman" pitchFamily="18" charset="0"/>
              </a:rPr>
              <a:t>.</a:t>
            </a:r>
          </a:p>
          <a:p>
            <a:pPr algn="just"/>
            <a:r>
              <a:rPr lang="en-IN" dirty="0" smtClean="0">
                <a:cs typeface="Times New Roman" pitchFamily="18" charset="0"/>
              </a:rPr>
              <a:t> </a:t>
            </a:r>
            <a:r>
              <a:rPr lang="en-IN" dirty="0">
                <a:cs typeface="Times New Roman" pitchFamily="18" charset="0"/>
              </a:rPr>
              <a:t>A diode rectifier then provides a full-wave rectified </a:t>
            </a:r>
            <a:r>
              <a:rPr lang="en-IN" dirty="0" smtClean="0">
                <a:cs typeface="Times New Roman" pitchFamily="18" charset="0"/>
              </a:rPr>
              <a:t>voltage.</a:t>
            </a:r>
          </a:p>
          <a:p>
            <a:pPr algn="just"/>
            <a:r>
              <a:rPr lang="en-IN" dirty="0" smtClean="0">
                <a:cs typeface="Times New Roman" pitchFamily="18" charset="0"/>
              </a:rPr>
              <a:t>This </a:t>
            </a:r>
            <a:r>
              <a:rPr lang="en-IN" dirty="0">
                <a:cs typeface="Times New Roman" pitchFamily="18" charset="0"/>
              </a:rPr>
              <a:t>is initially filtered by a simple capacitor filter to produce a dc voltage. </a:t>
            </a:r>
          </a:p>
          <a:p>
            <a:pPr algn="just"/>
            <a:r>
              <a:rPr lang="en-IN" dirty="0" smtClean="0">
                <a:cs typeface="Times New Roman" pitchFamily="18" charset="0"/>
              </a:rPr>
              <a:t>This </a:t>
            </a:r>
            <a:r>
              <a:rPr lang="en-IN" dirty="0">
                <a:cs typeface="Times New Roman" pitchFamily="18" charset="0"/>
              </a:rPr>
              <a:t>resulting dc voltage usually has some ripple or ac voltage regulation</a:t>
            </a:r>
            <a:r>
              <a:rPr lang="en-IN" dirty="0" smtClean="0">
                <a:cs typeface="Times New Roman" pitchFamily="18" charset="0"/>
              </a:rPr>
              <a:t>.</a:t>
            </a:r>
          </a:p>
          <a:p>
            <a:pPr algn="just"/>
            <a:r>
              <a:rPr lang="en-IN" dirty="0" smtClean="0">
                <a:cs typeface="Times New Roman" pitchFamily="18" charset="0"/>
              </a:rPr>
              <a:t> </a:t>
            </a:r>
            <a:r>
              <a:rPr lang="en-IN" dirty="0">
                <a:cs typeface="Times New Roman" pitchFamily="18" charset="0"/>
              </a:rPr>
              <a:t>A regulator circuit can use this dc input to provide a dc voltage that not only has much less ripple voltage but also remains the same dc value even if the input dc voltage varies somewhat or the load connected to the output dc voltage </a:t>
            </a:r>
            <a:r>
              <a:rPr lang="en-IN" dirty="0" smtClean="0">
                <a:cs typeface="Times New Roman" pitchFamily="18" charset="0"/>
              </a:rPr>
              <a:t>changes.</a:t>
            </a:r>
          </a:p>
          <a:p>
            <a:pPr algn="just"/>
            <a:r>
              <a:rPr lang="en-IN" dirty="0" smtClean="0">
                <a:cs typeface="Times New Roman" pitchFamily="18" charset="0"/>
              </a:rPr>
              <a:t>This </a:t>
            </a:r>
            <a:r>
              <a:rPr lang="en-IN" dirty="0">
                <a:cs typeface="Times New Roman" pitchFamily="18" charset="0"/>
              </a:rPr>
              <a:t>voltage regulation is usually obtained using one of the voltage regulator IC units</a:t>
            </a:r>
            <a:r>
              <a:rPr lang="en-IN" sz="2400" dirty="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Title 1"/>
          <p:cNvSpPr txBox="1">
            <a:spLocks/>
          </p:cNvSpPr>
          <p:nvPr/>
        </p:nvSpPr>
        <p:spPr>
          <a:xfrm>
            <a:off x="864326" y="313509"/>
            <a:ext cx="10515600" cy="113710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4400" b="1" dirty="0" smtClean="0">
                <a:latin typeface="+mj-lt"/>
                <a:cs typeface="Times New Roman" pitchFamily="18" charset="0"/>
              </a:rPr>
              <a:t>DESCRIPTION OF BLOCK DIAGRAM</a:t>
            </a:r>
            <a:endParaRPr kumimoji="0" lang="en-US" sz="4400" b="1" i="0" u="none" strike="noStrike" kern="1200" cap="none" spc="0" normalizeH="0" baseline="0" noProof="0" dirty="0">
              <a:ln>
                <a:noFill/>
              </a:ln>
              <a:solidFill>
                <a:schemeClr val="dk1"/>
              </a:solidFill>
              <a:effectLst/>
              <a:uLnTx/>
              <a:uFillTx/>
              <a:latin typeface="+mj-lt"/>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1254034"/>
            <a:ext cx="10787743" cy="5201849"/>
          </a:xfrm>
        </p:spPr>
        <p:txBody>
          <a:bodyPr>
            <a:normAutofit/>
          </a:bodyPr>
          <a:lstStyle/>
          <a:p>
            <a:pPr algn="just"/>
            <a:r>
              <a:rPr lang="en-US" dirty="0" smtClean="0"/>
              <a:t>A power supply can be used for providing the necessary amount of power at the precise voltage from the main source like a battery. </a:t>
            </a:r>
          </a:p>
          <a:p>
            <a:pPr algn="just"/>
            <a:r>
              <a:rPr lang="en-US" dirty="0" smtClean="0"/>
              <a:t>A transformer alters the AC mains voltage toward a necessary value and the main function of this is to step up and step down the voltage. </a:t>
            </a:r>
          </a:p>
          <a:p>
            <a:pPr algn="just"/>
            <a:r>
              <a:rPr lang="en-US" dirty="0" smtClean="0"/>
              <a:t>For instance, a step-down transformer is used in a transistor radio, and a step-up transformer is used in a</a:t>
            </a:r>
            <a:r>
              <a:rPr lang="en-US" b="1" dirty="0" smtClean="0"/>
              <a:t> </a:t>
            </a:r>
            <a:r>
              <a:rPr lang="en-US" dirty="0" smtClean="0"/>
              <a:t>CRT. </a:t>
            </a:r>
          </a:p>
          <a:p>
            <a:pPr algn="just"/>
            <a:r>
              <a:rPr lang="en-US" dirty="0" smtClean="0"/>
              <a:t>Transformer gives separation from the power-line, and must be used even as any modify within voltage is not required.</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6" name="Title 1"/>
          <p:cNvSpPr txBox="1">
            <a:spLocks/>
          </p:cNvSpPr>
          <p:nvPr/>
        </p:nvSpPr>
        <p:spPr>
          <a:xfrm>
            <a:off x="838200" y="247560"/>
            <a:ext cx="10515600" cy="79164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r>
              <a:rPr lang="en-IN" sz="4400" b="1" dirty="0" smtClean="0">
                <a:latin typeface="+mj-lt"/>
              </a:rPr>
              <a:t>TRANSFORMER</a:t>
            </a:r>
            <a:endParaRPr lang="en-IN" sz="4400" b="1"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4126"/>
          </a:xfrm>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rPr>
              <a:t>RECTIFIER</a:t>
            </a:r>
            <a:r>
              <a:rPr lang="en-IN" dirty="0" smtClean="0">
                <a:latin typeface="+mj-lt"/>
              </a:rPr>
              <a:t> </a:t>
            </a:r>
            <a:endParaRPr lang="en-IN" b="1" dirty="0">
              <a:latin typeface="+mj-lt"/>
            </a:endParaRPr>
          </a:p>
        </p:txBody>
      </p:sp>
      <p:sp>
        <p:nvSpPr>
          <p:cNvPr id="3" name="Content Placeholder 2"/>
          <p:cNvSpPr>
            <a:spLocks noGrp="1"/>
          </p:cNvSpPr>
          <p:nvPr>
            <p:ph idx="1"/>
          </p:nvPr>
        </p:nvSpPr>
        <p:spPr>
          <a:xfrm>
            <a:off x="825321" y="1529411"/>
            <a:ext cx="10515600" cy="4351338"/>
          </a:xfrm>
        </p:spPr>
        <p:txBody>
          <a:bodyPr>
            <a:normAutofit/>
          </a:bodyPr>
          <a:lstStyle/>
          <a:p>
            <a:pPr algn="just"/>
            <a:r>
              <a:rPr lang="en-US" dirty="0" smtClean="0"/>
              <a:t>A rectifier is an electrical device used to convert alternating current into direct current. </a:t>
            </a:r>
          </a:p>
          <a:p>
            <a:pPr algn="just"/>
            <a:r>
              <a:rPr lang="en-US" dirty="0" smtClean="0"/>
              <a:t>It can be a full wave rectifier as well as half wave rectifier with the help of a transformer by a bridge rectifier otherwise center tapped secondary winding. However, the rectifier’s o/p can be variable.</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rPr>
              <a:t>CAPACITOR FILTER</a:t>
            </a:r>
            <a:endParaRPr lang="en-IN" b="1" dirty="0">
              <a:latin typeface="+mj-lt"/>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a:cs typeface="Times New Roman" pitchFamily="18" charset="0"/>
              </a:rPr>
              <a:t>Smoothing is not perfect due to the capacitor falling a little as it discharges, giving a small ripple voltage. </a:t>
            </a:r>
            <a:endParaRPr lang="en-IN" dirty="0" smtClean="0">
              <a:cs typeface="Times New Roman" pitchFamily="18" charset="0"/>
            </a:endParaRPr>
          </a:p>
          <a:p>
            <a:pPr algn="just"/>
            <a:r>
              <a:rPr lang="en-IN" dirty="0" smtClean="0">
                <a:cs typeface="Times New Roman" pitchFamily="18" charset="0"/>
              </a:rPr>
              <a:t>For </a:t>
            </a:r>
            <a:r>
              <a:rPr lang="en-IN" dirty="0">
                <a:cs typeface="Times New Roman" pitchFamily="18" charset="0"/>
              </a:rPr>
              <a:t>many circuits a ripple which is 10% of the supply voltage is satisfactory &amp; the equation below gives the required value of the smoothing capacitor. </a:t>
            </a:r>
            <a:endParaRPr lang="en-IN" dirty="0" smtClean="0">
              <a:cs typeface="Times New Roman" pitchFamily="18" charset="0"/>
            </a:endParaRPr>
          </a:p>
          <a:p>
            <a:pPr algn="just"/>
            <a:r>
              <a:rPr lang="en-IN" dirty="0" smtClean="0">
                <a:cs typeface="Times New Roman" pitchFamily="18" charset="0"/>
              </a:rPr>
              <a:t> </a:t>
            </a:r>
            <a:r>
              <a:rPr lang="en-IN" dirty="0">
                <a:cs typeface="Times New Roman" pitchFamily="18" charset="0"/>
              </a:rPr>
              <a:t>A large capacitor </a:t>
            </a:r>
            <a:r>
              <a:rPr lang="en-IN" dirty="0" smtClean="0">
                <a:cs typeface="Times New Roman" pitchFamily="18" charset="0"/>
              </a:rPr>
              <a:t>has less </a:t>
            </a:r>
            <a:r>
              <a:rPr lang="en-IN" dirty="0">
                <a:cs typeface="Times New Roman" pitchFamily="18" charset="0"/>
              </a:rPr>
              <a:t>ripple. </a:t>
            </a:r>
          </a:p>
          <a:p>
            <a:pPr algn="just"/>
            <a:r>
              <a:rPr lang="en-IN" dirty="0" smtClean="0">
                <a:cs typeface="Times New Roman" pitchFamily="18" charset="0"/>
              </a:rPr>
              <a:t>Capacitor </a:t>
            </a:r>
            <a:r>
              <a:rPr lang="en-IN" dirty="0">
                <a:cs typeface="Times New Roman" pitchFamily="18" charset="0"/>
              </a:rPr>
              <a:t>value must be doubled when smoothing half-wave DC.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923230" y="1334619"/>
            <a:ext cx="10254343" cy="3970318"/>
          </a:xfrm>
          <a:prstGeom prst="rect">
            <a:avLst/>
          </a:prstGeom>
          <a:noFill/>
          <a:ln w="9525">
            <a:noFill/>
            <a:miter lim="800000"/>
            <a:headEnd/>
            <a:tailEnd/>
          </a:ln>
        </p:spPr>
        <p:txBody>
          <a:bodyPr wrap="square">
            <a:spAutoFit/>
          </a:bodyPr>
          <a:lstStyle/>
          <a:p>
            <a:pPr marL="457200" indent="-457200" algn="just">
              <a:buFont typeface="Wingdings" pitchFamily="2" charset="2"/>
              <a:buChar char="§"/>
            </a:pPr>
            <a:r>
              <a:rPr lang="en-IN" sz="2800" dirty="0" smtClean="0">
                <a:cs typeface="Times New Roman" pitchFamily="18" charset="0"/>
              </a:rPr>
              <a:t>Regulator eliminates </a:t>
            </a:r>
            <a:r>
              <a:rPr lang="en-IN" sz="2800" dirty="0">
                <a:cs typeface="Times New Roman" pitchFamily="18" charset="0"/>
              </a:rPr>
              <a:t>ripple by setting DC output to a fixed </a:t>
            </a:r>
            <a:r>
              <a:rPr lang="en-IN" sz="2800" dirty="0" smtClean="0">
                <a:cs typeface="Times New Roman" pitchFamily="18" charset="0"/>
              </a:rPr>
              <a:t>voltage. </a:t>
            </a:r>
            <a:endParaRPr lang="en-IN" sz="2800" dirty="0">
              <a:cs typeface="Times New Roman" pitchFamily="18" charset="0"/>
            </a:endParaRPr>
          </a:p>
          <a:p>
            <a:pPr marL="457200" indent="-457200" algn="just">
              <a:buFont typeface="Wingdings" pitchFamily="2" charset="2"/>
              <a:buChar char="§"/>
            </a:pPr>
            <a:r>
              <a:rPr lang="en-IN" sz="2800" dirty="0" smtClean="0">
                <a:cs typeface="Times New Roman" pitchFamily="18" charset="0"/>
              </a:rPr>
              <a:t>Voltage </a:t>
            </a:r>
            <a:r>
              <a:rPr lang="en-IN" sz="2800" dirty="0">
                <a:cs typeface="Times New Roman" pitchFamily="18" charset="0"/>
              </a:rPr>
              <a:t>regulator IC’s are available with fixed (typically 5,12 &amp;15V) or variable output voltages. </a:t>
            </a:r>
          </a:p>
          <a:p>
            <a:pPr marL="457200" indent="-457200" algn="just">
              <a:buFont typeface="Wingdings" pitchFamily="2" charset="2"/>
              <a:buChar char="§"/>
            </a:pPr>
            <a:r>
              <a:rPr lang="en-IN" sz="2800" dirty="0" smtClean="0">
                <a:cs typeface="Times New Roman" pitchFamily="18" charset="0"/>
              </a:rPr>
              <a:t>They </a:t>
            </a:r>
            <a:r>
              <a:rPr lang="en-IN" sz="2800" dirty="0">
                <a:cs typeface="Times New Roman" pitchFamily="18" charset="0"/>
              </a:rPr>
              <a:t>are also rated by the maximum current </a:t>
            </a:r>
            <a:r>
              <a:rPr lang="en-IN" sz="2800" dirty="0" smtClean="0">
                <a:cs typeface="Times New Roman" pitchFamily="18" charset="0"/>
              </a:rPr>
              <a:t>that they </a:t>
            </a:r>
            <a:r>
              <a:rPr lang="en-IN" sz="2800" dirty="0">
                <a:cs typeface="Times New Roman" pitchFamily="18" charset="0"/>
              </a:rPr>
              <a:t>can pass. </a:t>
            </a:r>
          </a:p>
          <a:p>
            <a:pPr marL="457200" indent="-457200" algn="just">
              <a:buFont typeface="Wingdings" pitchFamily="2" charset="2"/>
              <a:buChar char="§"/>
            </a:pPr>
            <a:r>
              <a:rPr lang="en-IN" sz="2800" dirty="0" smtClean="0">
                <a:cs typeface="Times New Roman" pitchFamily="18" charset="0"/>
              </a:rPr>
              <a:t>Negative </a:t>
            </a:r>
            <a:r>
              <a:rPr lang="en-IN" sz="2800" dirty="0">
                <a:cs typeface="Times New Roman" pitchFamily="18" charset="0"/>
              </a:rPr>
              <a:t>voltage regulators are </a:t>
            </a:r>
            <a:r>
              <a:rPr lang="en-IN" sz="2800" dirty="0" smtClean="0">
                <a:cs typeface="Times New Roman" pitchFamily="18" charset="0"/>
              </a:rPr>
              <a:t>available </a:t>
            </a:r>
            <a:r>
              <a:rPr lang="en-IN" sz="2800" dirty="0">
                <a:cs typeface="Times New Roman" pitchFamily="18" charset="0"/>
              </a:rPr>
              <a:t>mainly for use in dual supplies</a:t>
            </a:r>
            <a:r>
              <a:rPr lang="en-IN" sz="2800" dirty="0" smtClean="0">
                <a:cs typeface="Times New Roman" pitchFamily="18" charset="0"/>
              </a:rPr>
              <a:t>.</a:t>
            </a:r>
          </a:p>
          <a:p>
            <a:pPr marL="457200" indent="-457200" algn="just">
              <a:buFont typeface="Wingdings" pitchFamily="2" charset="2"/>
              <a:buChar char="§"/>
            </a:pPr>
            <a:r>
              <a:rPr lang="en-US" sz="2800" dirty="0" smtClean="0"/>
              <a:t>A </a:t>
            </a:r>
            <a:r>
              <a:rPr lang="en-US" sz="2800" b="1" dirty="0" smtClean="0"/>
              <a:t>voltage regulator</a:t>
            </a:r>
            <a:r>
              <a:rPr lang="en-US" sz="2800" dirty="0" smtClean="0"/>
              <a:t> in the regulated power supply is essential for keeping a steady DC output voltage by supplying load regulation as well as line regulation.</a:t>
            </a:r>
            <a:endParaRPr lang="en-IN" sz="2800" dirty="0" smtClean="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IN" sz="4400" b="1" dirty="0" smtClean="0">
                <a:latin typeface="+mj-lt"/>
              </a:rPr>
              <a:t>REGULATOR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923230" y="1334619"/>
            <a:ext cx="10254343" cy="1384995"/>
          </a:xfrm>
          <a:prstGeom prst="rect">
            <a:avLst/>
          </a:prstGeom>
          <a:noFill/>
          <a:ln w="9525">
            <a:noFill/>
            <a:miter lim="800000"/>
            <a:headEnd/>
            <a:tailEnd/>
          </a:ln>
        </p:spPr>
        <p:txBody>
          <a:bodyPr wrap="square">
            <a:spAutoFit/>
          </a:bodyPr>
          <a:lstStyle/>
          <a:p>
            <a:pPr>
              <a:buFont typeface="Arial" pitchFamily="34" charset="0"/>
              <a:buChar char="•"/>
            </a:pPr>
            <a:r>
              <a:rPr lang="en-US" sz="2800" dirty="0" smtClean="0"/>
              <a:t>Mobile phone chargers.</a:t>
            </a:r>
          </a:p>
          <a:p>
            <a:pPr>
              <a:buFont typeface="Arial" pitchFamily="34" charset="0"/>
              <a:buChar char="•"/>
            </a:pPr>
            <a:r>
              <a:rPr lang="en-US" sz="2800" dirty="0" smtClean="0"/>
              <a:t>Regulated power supplies in different appliances.</a:t>
            </a:r>
          </a:p>
          <a:p>
            <a:pPr>
              <a:buFont typeface="Arial" pitchFamily="34" charset="0"/>
              <a:buChar char="•"/>
            </a:pPr>
            <a:r>
              <a:rPr lang="en-US" sz="2800" dirty="0" smtClean="0"/>
              <a:t>Various oscillators &amp; amplifiers.</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IN" sz="4400" b="1" dirty="0" smtClean="0">
                <a:latin typeface="+mj-lt"/>
              </a:rPr>
              <a:t>APPLICATIONS OF LINEAR POWER SUPPLY</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SWITCHED MODE POWER SUPPLY</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528034" y="1485900"/>
            <a:ext cx="10831131" cy="3970318"/>
          </a:xfrm>
          <a:prstGeom prst="rect">
            <a:avLst/>
          </a:prstGeom>
        </p:spPr>
        <p:txBody>
          <a:bodyPr wrap="square">
            <a:spAutoFit/>
          </a:bodyPr>
          <a:lstStyle/>
          <a:p>
            <a:pPr marL="342900" indent="-342900" algn="just">
              <a:buFont typeface="Wingdings" pitchFamily="2" charset="2"/>
              <a:buChar char="§"/>
            </a:pPr>
            <a:r>
              <a:rPr lang="en-US" sz="2800" b="1" dirty="0" smtClean="0"/>
              <a:t>Switch Mode Power Supplies</a:t>
            </a:r>
            <a:r>
              <a:rPr lang="en-US" sz="2800" dirty="0" smtClean="0"/>
              <a:t>, or </a:t>
            </a:r>
            <a:r>
              <a:rPr lang="en-US" sz="2800" b="1" dirty="0" smtClean="0"/>
              <a:t>SMPS</a:t>
            </a:r>
            <a:r>
              <a:rPr lang="en-US" sz="2800" dirty="0" smtClean="0"/>
              <a:t>, are becoming common place and have replaced in most cases the traditional linear ac-to-dc power supplies as a way to cut power consumption, reduce heat dissipation, as well as size and weight.</a:t>
            </a:r>
          </a:p>
          <a:p>
            <a:pPr marL="342900" indent="-342900" algn="just">
              <a:buFont typeface="Wingdings" pitchFamily="2" charset="2"/>
              <a:buChar char="§"/>
            </a:pPr>
            <a:r>
              <a:rPr lang="en-US" sz="2800" dirty="0" smtClean="0"/>
              <a:t>By definition, a switch mode power supply (SMPS) is a type of power supply that uses semiconductor switching techniques, rather than standard linear methods to provide the required output voltage. </a:t>
            </a:r>
          </a:p>
          <a:p>
            <a:pPr marL="342900" indent="-342900" algn="just">
              <a:buFont typeface="Wingdings" pitchFamily="2" charset="2"/>
              <a:buChar char="§"/>
            </a:pPr>
            <a:r>
              <a:rPr lang="en-US" sz="2800" dirty="0" smtClean="0"/>
              <a:t>The basic switching converter consists of a power switching stage and a control circuit.</a:t>
            </a:r>
            <a:endParaRPr lang="en-IN" sz="2800" dirty="0">
              <a:cs typeface="Times New Roman" pitchFamily="18" charset="0"/>
            </a:endParaRPr>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3"/>
            <a:ext cx="9970702" cy="1084125"/>
          </a:xfrm>
          <a:prstGeom prst="rect">
            <a:avLst/>
          </a:prstGeom>
          <a:solidFill>
            <a:schemeClr val="bg1"/>
          </a:solidFill>
          <a:ln>
            <a:solidFill>
              <a:schemeClr val="tx1"/>
            </a:solidFill>
          </a:ln>
        </p:spPr>
        <p:txBody>
          <a:bodyPr>
            <a:normAutofit fontScale="77500" lnSpcReduction="20000"/>
          </a:bodyPr>
          <a:lstStyle/>
          <a:p>
            <a:pPr algn="ctr">
              <a:defRPr/>
            </a:pPr>
            <a:r>
              <a:rPr lang="en-US" sz="4400" dirty="0" smtClean="0">
                <a:solidFill>
                  <a:schemeClr val="bg1"/>
                </a:solidFill>
                <a:latin typeface="+mj-lt"/>
                <a:cs typeface="Arial" charset="0"/>
              </a:rPr>
              <a:t> </a:t>
            </a:r>
            <a:r>
              <a:rPr lang="en-IN" sz="5200" b="1" dirty="0" smtClean="0">
                <a:latin typeface="+mj-lt"/>
              </a:rPr>
              <a:t>BLOCK DIAGRAM OF SWITCHED MODE POWER SUPPLY</a:t>
            </a:r>
            <a:endParaRPr lang="en-US" sz="52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206064" y="1704841"/>
            <a:ext cx="4958366" cy="3539430"/>
          </a:xfrm>
          <a:prstGeom prst="rect">
            <a:avLst/>
          </a:prstGeom>
        </p:spPr>
        <p:txBody>
          <a:bodyPr wrap="square">
            <a:spAutoFit/>
          </a:bodyPr>
          <a:lstStyle/>
          <a:p>
            <a:pPr algn="just">
              <a:buFont typeface="Arial" pitchFamily="34" charset="0"/>
              <a:buChar char="•"/>
            </a:pPr>
            <a:r>
              <a:rPr lang="en-US" sz="2800" dirty="0" smtClean="0"/>
              <a:t>The power switching stage performs the power conversion from the circuits input voltage, VIN to its output voltage, VOUT which includes output filtering.</a:t>
            </a:r>
          </a:p>
          <a:p>
            <a:r>
              <a:rPr lang="en-US" sz="2800" dirty="0" smtClean="0"/>
              <a:t/>
            </a:r>
            <a:br>
              <a:rPr lang="en-US" sz="2800" dirty="0" smtClean="0"/>
            </a:br>
            <a:endParaRPr lang="en-IN" sz="2800" dirty="0">
              <a:cs typeface="Times New Roman" pitchFamily="18" charset="0"/>
            </a:endParaRPr>
          </a:p>
        </p:txBody>
      </p:sp>
      <p:pic>
        <p:nvPicPr>
          <p:cNvPr id="161794" name="Picture 2" descr="Switched-mode power supply - Wikipedia"/>
          <p:cNvPicPr>
            <a:picLocks noChangeAspect="1" noChangeArrowheads="1"/>
          </p:cNvPicPr>
          <p:nvPr/>
        </p:nvPicPr>
        <p:blipFill>
          <a:blip r:embed="rId3" cstate="print"/>
          <a:srcRect/>
          <a:stretch>
            <a:fillRect/>
          </a:stretch>
        </p:blipFill>
        <p:spPr bwMode="auto">
          <a:xfrm>
            <a:off x="5719248" y="1880315"/>
            <a:ext cx="6193710" cy="2562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6439436" y="4636394"/>
            <a:ext cx="496232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Fig.2 Block diagram of witched mode power supply</a:t>
            </a:r>
            <a:endParaRPr lang="en-US" dirty="0"/>
          </a:p>
        </p:txBody>
      </p:sp>
      <p:sp>
        <p:nvSpPr>
          <p:cNvPr id="7" name="TextBox 6"/>
          <p:cNvSpPr txBox="1"/>
          <p:nvPr/>
        </p:nvSpPr>
        <p:spPr>
          <a:xfrm>
            <a:off x="5885645" y="5203065"/>
            <a:ext cx="592803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hlinkClick r:id="rId4"/>
              </a:rPr>
              <a:t>https://en.wikipedia.org/wiki/Switched-mode_power_supply</a:t>
            </a:r>
            <a:endParaRPr lang="en-US" dirty="0"/>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REQUIREMENTS OF SMPS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1245629" y="1624348"/>
            <a:ext cx="7743825" cy="1384995"/>
          </a:xfrm>
          <a:prstGeom prst="rect">
            <a:avLst/>
          </a:prstGeom>
        </p:spPr>
        <p:txBody>
          <a:bodyPr wrap="square">
            <a:spAutoFit/>
          </a:bodyPr>
          <a:lstStyle/>
          <a:p>
            <a:pPr marL="342900" indent="-342900" algn="just">
              <a:buFont typeface="Wingdings" pitchFamily="2" charset="2"/>
              <a:buChar char="§"/>
            </a:pPr>
            <a:r>
              <a:rPr lang="en-IN" sz="2800" dirty="0">
                <a:cs typeface="Times New Roman" pitchFamily="18" charset="0"/>
              </a:rPr>
              <a:t>Less bulky </a:t>
            </a:r>
            <a:r>
              <a:rPr lang="en-IN" sz="2800" dirty="0" smtClean="0">
                <a:cs typeface="Times New Roman" pitchFamily="18" charset="0"/>
              </a:rPr>
              <a:t>transformers.</a:t>
            </a:r>
          </a:p>
          <a:p>
            <a:pPr marL="342900" indent="-342900" algn="just">
              <a:buFont typeface="Wingdings" pitchFamily="2" charset="2"/>
              <a:buChar char="§"/>
            </a:pPr>
            <a:r>
              <a:rPr lang="en-IN" sz="2800" dirty="0" smtClean="0">
                <a:cs typeface="Times New Roman" pitchFamily="18" charset="0"/>
              </a:rPr>
              <a:t>Less </a:t>
            </a:r>
            <a:r>
              <a:rPr lang="en-IN" sz="2800" dirty="0">
                <a:cs typeface="Times New Roman" pitchFamily="18" charset="0"/>
              </a:rPr>
              <a:t>Energy loss / </a:t>
            </a:r>
            <a:r>
              <a:rPr lang="en-IN" sz="2800" dirty="0" smtClean="0">
                <a:cs typeface="Times New Roman" pitchFamily="18" charset="0"/>
              </a:rPr>
              <a:t>eddy currents. </a:t>
            </a:r>
          </a:p>
          <a:p>
            <a:pPr marL="342900" indent="-342900" algn="just">
              <a:buFont typeface="Wingdings" pitchFamily="2" charset="2"/>
              <a:buChar char="§"/>
            </a:pPr>
            <a:r>
              <a:rPr lang="en-IN" sz="2800" dirty="0" smtClean="0">
                <a:cs typeface="Times New Roman" pitchFamily="18" charset="0"/>
              </a:rPr>
              <a:t>Capacitors </a:t>
            </a:r>
            <a:r>
              <a:rPr lang="en-IN" sz="2800" dirty="0">
                <a:cs typeface="Times New Roman" pitchFamily="18" charset="0"/>
              </a:rPr>
              <a:t>of small </a:t>
            </a:r>
            <a:r>
              <a:rPr lang="en-IN" sz="2800" dirty="0" smtClean="0">
                <a:cs typeface="Times New Roman" pitchFamily="18" charset="0"/>
              </a:rPr>
              <a:t>size.</a:t>
            </a:r>
            <a:endParaRPr lang="en-IN" sz="2800" dirty="0">
              <a:cs typeface="Times New Roman" pitchFamily="18" charset="0"/>
            </a:endParaRPr>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861476" y="1862653"/>
            <a:ext cx="10326074" cy="4401205"/>
          </a:xfrm>
          <a:prstGeom prst="rect">
            <a:avLst/>
          </a:prstGeom>
          <a:noFill/>
          <a:ln w="9525">
            <a:noFill/>
            <a:miter lim="800000"/>
            <a:headEnd/>
            <a:tailEnd/>
          </a:ln>
        </p:spPr>
        <p:txBody>
          <a:bodyPr wrap="square">
            <a:spAutoFit/>
          </a:bodyPr>
          <a:lstStyle/>
          <a:p>
            <a:pPr marL="457200" indent="-457200" algn="just">
              <a:buFont typeface="Wingdings" pitchFamily="2" charset="2"/>
              <a:buChar char="§"/>
            </a:pPr>
            <a:r>
              <a:rPr lang="en-IN" sz="2800" dirty="0" smtClean="0"/>
              <a:t>The input supply drawn from ac mains is first rectified &amp; filtered using a capacitor. </a:t>
            </a:r>
          </a:p>
          <a:p>
            <a:pPr marL="457200" indent="-457200" algn="just">
              <a:buFont typeface="Wingdings" pitchFamily="2" charset="2"/>
              <a:buChar char="§"/>
            </a:pPr>
            <a:r>
              <a:rPr lang="en-IN" sz="2800" dirty="0" smtClean="0"/>
              <a:t>The unregulated dc voltage across the capacitor is then fed to a high frequency dc- to dc converter.</a:t>
            </a:r>
          </a:p>
          <a:p>
            <a:r>
              <a:rPr lang="en-US" sz="2800" b="1" dirty="0" smtClean="0"/>
              <a:t>Input Stage</a:t>
            </a:r>
          </a:p>
          <a:p>
            <a:pPr algn="just">
              <a:buFont typeface="Arial" pitchFamily="34" charset="0"/>
              <a:buChar char="•"/>
            </a:pPr>
            <a:r>
              <a:rPr lang="en-US" sz="2800" dirty="0" smtClean="0"/>
              <a:t>The AC input supply signal 50 Hz is given directly to the rectifier and filter circuit combination without using any transformer. </a:t>
            </a:r>
          </a:p>
          <a:p>
            <a:pPr algn="just">
              <a:buFont typeface="Arial" pitchFamily="34" charset="0"/>
              <a:buChar char="•"/>
            </a:pPr>
            <a:r>
              <a:rPr lang="en-US" sz="2800" dirty="0" smtClean="0"/>
              <a:t>This output will have many variations and the capacitance value of the capacitor should be higher to handle the input fluctuations. This unregulated dc is given to the central switching section of SMPS.</a:t>
            </a:r>
            <a:endParaRPr lang="en-US" sz="2800" dirty="0"/>
          </a:p>
        </p:txBody>
      </p:sp>
      <p:sp>
        <p:nvSpPr>
          <p:cNvPr id="8" name="Title 1"/>
          <p:cNvSpPr txBox="1">
            <a:spLocks/>
          </p:cNvSpPr>
          <p:nvPr/>
        </p:nvSpPr>
        <p:spPr>
          <a:xfrm>
            <a:off x="1004552" y="293913"/>
            <a:ext cx="10221636" cy="1367461"/>
          </a:xfrm>
          <a:prstGeom prst="rect">
            <a:avLst/>
          </a:prstGeom>
          <a:solidFill>
            <a:schemeClr val="bg1"/>
          </a:solidFill>
          <a:ln>
            <a:solidFill>
              <a:schemeClr val="tx1"/>
            </a:solidFill>
          </a:ln>
        </p:spPr>
        <p:txBody>
          <a:bodyPr>
            <a:noAutofit/>
          </a:bodyPr>
          <a:lstStyle/>
          <a:p>
            <a:pPr algn="ctr">
              <a:defRPr/>
            </a:pPr>
            <a:r>
              <a:rPr lang="en-US" sz="4400" cap="all" dirty="0" smtClean="0">
                <a:solidFill>
                  <a:schemeClr val="bg1"/>
                </a:solidFill>
                <a:latin typeface="+mj-lt"/>
                <a:cs typeface="Arial" charset="0"/>
              </a:rPr>
              <a:t> </a:t>
            </a:r>
            <a:r>
              <a:rPr lang="en-IN" sz="4400" b="1" dirty="0" smtClean="0">
                <a:latin typeface="+mj-lt"/>
              </a:rPr>
              <a:t>WORKING OF SWITCHED MODE POWER SUPPLY</a:t>
            </a:r>
            <a:endParaRPr lang="en-US" sz="44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861476" y="1862653"/>
            <a:ext cx="10326074" cy="4401205"/>
          </a:xfrm>
          <a:prstGeom prst="rect">
            <a:avLst/>
          </a:prstGeom>
          <a:noFill/>
          <a:ln w="9525">
            <a:noFill/>
            <a:miter lim="800000"/>
            <a:headEnd/>
            <a:tailEnd/>
          </a:ln>
        </p:spPr>
        <p:txBody>
          <a:bodyPr wrap="square">
            <a:spAutoFit/>
          </a:bodyPr>
          <a:lstStyle/>
          <a:p>
            <a:pPr algn="just"/>
            <a:r>
              <a:rPr lang="en-US" sz="2800" b="1" dirty="0" smtClean="0"/>
              <a:t>Switching Section</a:t>
            </a:r>
          </a:p>
          <a:p>
            <a:pPr algn="just">
              <a:buFont typeface="Arial" pitchFamily="34" charset="0"/>
              <a:buChar char="•"/>
            </a:pPr>
            <a:r>
              <a:rPr lang="en-US" sz="2800" dirty="0" smtClean="0"/>
              <a:t>A fast switching device such as a Power transistor or a MOSFET is employed in this section, which switches ON and OFF according to the variations and this output is given to the primary of the transformer present in this section. </a:t>
            </a:r>
          </a:p>
          <a:p>
            <a:pPr algn="just">
              <a:buFont typeface="Arial" pitchFamily="34" charset="0"/>
              <a:buChar char="•"/>
            </a:pPr>
            <a:r>
              <a:rPr lang="en-US" sz="2800" dirty="0" smtClean="0"/>
              <a:t>The transformer used here are much smaller and lighter ones unlike the ones used for 60 Hz supply. </a:t>
            </a:r>
          </a:p>
          <a:p>
            <a:pPr algn="just">
              <a:buFont typeface="Arial" pitchFamily="34" charset="0"/>
              <a:buChar char="•"/>
            </a:pPr>
            <a:r>
              <a:rPr lang="en-US" sz="2800" dirty="0" smtClean="0"/>
              <a:t>These are much efficient and hence the power conversion ratio is higher.</a:t>
            </a:r>
          </a:p>
          <a:p>
            <a:pPr marL="457200" indent="-457200" algn="just"/>
            <a:endParaRPr lang="en-US" sz="2800" dirty="0"/>
          </a:p>
        </p:txBody>
      </p:sp>
      <p:sp>
        <p:nvSpPr>
          <p:cNvPr id="8" name="Title 1"/>
          <p:cNvSpPr txBox="1">
            <a:spLocks/>
          </p:cNvSpPr>
          <p:nvPr/>
        </p:nvSpPr>
        <p:spPr>
          <a:xfrm>
            <a:off x="1004552" y="293913"/>
            <a:ext cx="10221636" cy="1367461"/>
          </a:xfrm>
          <a:prstGeom prst="rect">
            <a:avLst/>
          </a:prstGeom>
          <a:solidFill>
            <a:schemeClr val="bg1"/>
          </a:solidFill>
          <a:ln>
            <a:solidFill>
              <a:schemeClr val="tx1"/>
            </a:solidFill>
          </a:ln>
        </p:spPr>
        <p:txBody>
          <a:bodyPr>
            <a:noAutofit/>
          </a:bodyPr>
          <a:lstStyle/>
          <a:p>
            <a:pPr algn="ctr">
              <a:defRPr/>
            </a:pPr>
            <a:r>
              <a:rPr lang="en-US" sz="4400" cap="all" dirty="0" smtClean="0">
                <a:solidFill>
                  <a:schemeClr val="bg1"/>
                </a:solidFill>
                <a:latin typeface="+mj-lt"/>
                <a:cs typeface="Arial" charset="0"/>
              </a:rPr>
              <a:t> </a:t>
            </a:r>
            <a:r>
              <a:rPr lang="en-IN" sz="4400" b="1" dirty="0" smtClean="0">
                <a:latin typeface="+mj-lt"/>
              </a:rPr>
              <a:t>WORKING OF SWITCHED MODE POWER SUPPLY</a:t>
            </a:r>
            <a:endParaRPr lang="en-US" sz="44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861476" y="1862653"/>
            <a:ext cx="10326074" cy="3108543"/>
          </a:xfrm>
          <a:prstGeom prst="rect">
            <a:avLst/>
          </a:prstGeom>
          <a:noFill/>
          <a:ln w="9525">
            <a:noFill/>
            <a:miter lim="800000"/>
            <a:headEnd/>
            <a:tailEnd/>
          </a:ln>
        </p:spPr>
        <p:txBody>
          <a:bodyPr wrap="square">
            <a:spAutoFit/>
          </a:bodyPr>
          <a:lstStyle/>
          <a:p>
            <a:pPr algn="just"/>
            <a:r>
              <a:rPr lang="en-US" sz="2800" b="1" dirty="0" smtClean="0"/>
              <a:t>Output Stage</a:t>
            </a:r>
          </a:p>
          <a:p>
            <a:pPr algn="just">
              <a:buFont typeface="Arial" pitchFamily="34" charset="0"/>
              <a:buChar char="•"/>
            </a:pPr>
            <a:r>
              <a:rPr lang="en-US" sz="2800" dirty="0" smtClean="0"/>
              <a:t>The output signal from the switching section is again rectified and filtered, to get the required DC voltage. </a:t>
            </a:r>
          </a:p>
          <a:p>
            <a:pPr algn="just">
              <a:buFont typeface="Arial" pitchFamily="34" charset="0"/>
              <a:buChar char="•"/>
            </a:pPr>
            <a:r>
              <a:rPr lang="en-US" sz="2800" dirty="0" smtClean="0"/>
              <a:t>This is a regulated output voltage which is then given to the control circuit, which is a feedback circuit. </a:t>
            </a:r>
          </a:p>
          <a:p>
            <a:pPr algn="just">
              <a:buFont typeface="Arial" pitchFamily="34" charset="0"/>
              <a:buChar char="•"/>
            </a:pPr>
            <a:r>
              <a:rPr lang="en-US" sz="2800" dirty="0" smtClean="0"/>
              <a:t>The final output is obtained after considering the feedback signal.</a:t>
            </a:r>
          </a:p>
          <a:p>
            <a:pPr marL="457200" indent="-457200" algn="just"/>
            <a:endParaRPr lang="en-US" sz="2800" dirty="0"/>
          </a:p>
        </p:txBody>
      </p:sp>
      <p:sp>
        <p:nvSpPr>
          <p:cNvPr id="8" name="Title 1"/>
          <p:cNvSpPr txBox="1">
            <a:spLocks/>
          </p:cNvSpPr>
          <p:nvPr/>
        </p:nvSpPr>
        <p:spPr>
          <a:xfrm>
            <a:off x="1004552" y="293913"/>
            <a:ext cx="10221636" cy="1367461"/>
          </a:xfrm>
          <a:prstGeom prst="rect">
            <a:avLst/>
          </a:prstGeom>
          <a:solidFill>
            <a:schemeClr val="bg1"/>
          </a:solidFill>
          <a:ln>
            <a:solidFill>
              <a:schemeClr val="tx1"/>
            </a:solidFill>
          </a:ln>
        </p:spPr>
        <p:txBody>
          <a:bodyPr>
            <a:noAutofit/>
          </a:bodyPr>
          <a:lstStyle/>
          <a:p>
            <a:pPr algn="ctr">
              <a:defRPr/>
            </a:pPr>
            <a:r>
              <a:rPr lang="en-US" sz="4400" cap="all" dirty="0" smtClean="0">
                <a:solidFill>
                  <a:schemeClr val="bg1"/>
                </a:solidFill>
                <a:latin typeface="+mj-lt"/>
                <a:cs typeface="Arial" charset="0"/>
              </a:rPr>
              <a:t> </a:t>
            </a:r>
            <a:r>
              <a:rPr lang="en-IN" sz="4400" b="1" dirty="0" smtClean="0">
                <a:latin typeface="+mj-lt"/>
              </a:rPr>
              <a:t>WORKING OF SWITCHED MODE POWER SUPPLY</a:t>
            </a:r>
            <a:endParaRPr lang="en-US" sz="44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861476" y="1862653"/>
            <a:ext cx="10326074" cy="3108543"/>
          </a:xfrm>
          <a:prstGeom prst="rect">
            <a:avLst/>
          </a:prstGeom>
          <a:noFill/>
          <a:ln w="9525">
            <a:noFill/>
            <a:miter lim="800000"/>
            <a:headEnd/>
            <a:tailEnd/>
          </a:ln>
        </p:spPr>
        <p:txBody>
          <a:bodyPr wrap="square">
            <a:spAutoFit/>
          </a:bodyPr>
          <a:lstStyle/>
          <a:p>
            <a:pPr algn="just"/>
            <a:r>
              <a:rPr lang="en-US" sz="2800" b="1" dirty="0" smtClean="0"/>
              <a:t>Chopper Controller/ Control unit</a:t>
            </a:r>
          </a:p>
          <a:p>
            <a:pPr algn="just">
              <a:buFont typeface="Arial" pitchFamily="34" charset="0"/>
              <a:buChar char="•"/>
            </a:pPr>
            <a:r>
              <a:rPr lang="en-US" sz="2800" dirty="0" smtClean="0"/>
              <a:t>The output sensor senses the signal and joins it to the control unit.</a:t>
            </a:r>
          </a:p>
          <a:p>
            <a:pPr algn="just">
              <a:buFont typeface="Arial" pitchFamily="34" charset="0"/>
              <a:buChar char="•"/>
            </a:pPr>
            <a:r>
              <a:rPr lang="en-US" sz="2800" dirty="0" smtClean="0"/>
              <a:t>The signal is isolated from the other section so that any sudden spikes should not affect the circuitry. </a:t>
            </a:r>
          </a:p>
          <a:p>
            <a:pPr algn="just">
              <a:buFont typeface="Arial" pitchFamily="34" charset="0"/>
              <a:buChar char="•"/>
            </a:pPr>
            <a:r>
              <a:rPr lang="en-US" sz="2800" dirty="0" smtClean="0"/>
              <a:t>A reference voltage is given as one input along with the signal to the error amplifier which is a comparator that compares the signal with the required signal level.</a:t>
            </a:r>
            <a:endParaRPr lang="en-US" sz="2800" dirty="0"/>
          </a:p>
        </p:txBody>
      </p:sp>
      <p:sp>
        <p:nvSpPr>
          <p:cNvPr id="8" name="Title 1"/>
          <p:cNvSpPr txBox="1">
            <a:spLocks/>
          </p:cNvSpPr>
          <p:nvPr/>
        </p:nvSpPr>
        <p:spPr>
          <a:xfrm>
            <a:off x="1004552" y="293913"/>
            <a:ext cx="10221636" cy="1367461"/>
          </a:xfrm>
          <a:prstGeom prst="rect">
            <a:avLst/>
          </a:prstGeom>
          <a:solidFill>
            <a:schemeClr val="bg1"/>
          </a:solidFill>
          <a:ln>
            <a:solidFill>
              <a:schemeClr val="tx1"/>
            </a:solidFill>
          </a:ln>
        </p:spPr>
        <p:txBody>
          <a:bodyPr>
            <a:noAutofit/>
          </a:bodyPr>
          <a:lstStyle/>
          <a:p>
            <a:pPr algn="ctr">
              <a:defRPr/>
            </a:pPr>
            <a:r>
              <a:rPr lang="en-US" sz="4400" cap="all" dirty="0" smtClean="0">
                <a:solidFill>
                  <a:schemeClr val="bg1"/>
                </a:solidFill>
                <a:latin typeface="+mj-lt"/>
                <a:cs typeface="Arial" charset="0"/>
              </a:rPr>
              <a:t> </a:t>
            </a:r>
            <a:r>
              <a:rPr lang="en-IN" sz="4400" b="1" dirty="0" smtClean="0">
                <a:latin typeface="+mj-lt"/>
              </a:rPr>
              <a:t>WORKING OF SWITCHED MODE POWER SUPPLY</a:t>
            </a:r>
            <a:endParaRPr lang="en-US" sz="44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27344836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5262979"/>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t>The first stage is to convert AC input to DC output (Rectification). </a:t>
            </a:r>
            <a:endParaRPr lang="en-IN" sz="2800" dirty="0" smtClean="0"/>
          </a:p>
          <a:p>
            <a:pPr marL="342900" indent="-342900" algn="just">
              <a:buFont typeface="Wingdings" pitchFamily="2" charset="2"/>
              <a:buChar char="ü"/>
            </a:pPr>
            <a:r>
              <a:rPr lang="en-IN" sz="2800" dirty="0" smtClean="0"/>
              <a:t>The </a:t>
            </a:r>
            <a:r>
              <a:rPr lang="en-IN" sz="2800" dirty="0"/>
              <a:t>rectifier produces an unregulated DC voltage which is sent to a large filter capacitor. </a:t>
            </a:r>
            <a:endParaRPr lang="en-IN" sz="2800" dirty="0" smtClean="0"/>
          </a:p>
          <a:p>
            <a:pPr marL="342900" indent="-342900" algn="just">
              <a:buFont typeface="Wingdings" pitchFamily="2" charset="2"/>
              <a:buChar char="ü"/>
            </a:pPr>
            <a:r>
              <a:rPr lang="en-IN" sz="2800" dirty="0" smtClean="0"/>
              <a:t>The </a:t>
            </a:r>
            <a:r>
              <a:rPr lang="en-IN" sz="2800" dirty="0"/>
              <a:t>current drawn from the mains supply by this rectifier circuit occurs in short pulses around the AC voltage peaks</a:t>
            </a:r>
            <a:r>
              <a:rPr lang="en-IN" sz="2800" dirty="0" smtClean="0"/>
              <a:t>.</a:t>
            </a:r>
          </a:p>
          <a:p>
            <a:pPr marL="342900" indent="-342900" algn="just">
              <a:buFont typeface="Wingdings" pitchFamily="2" charset="2"/>
              <a:buChar char="ü"/>
            </a:pPr>
            <a:r>
              <a:rPr lang="en-IN" sz="2800" dirty="0"/>
              <a:t>These pulses have significant high frequency energy which reduces the power factor</a:t>
            </a:r>
            <a:r>
              <a:rPr lang="en-IN" sz="2800" dirty="0" smtClean="0"/>
              <a:t>.</a:t>
            </a:r>
          </a:p>
          <a:p>
            <a:pPr marL="342900" indent="-342900" algn="just">
              <a:buFont typeface="Wingdings" pitchFamily="2" charset="2"/>
              <a:buChar char="ü"/>
            </a:pPr>
            <a:r>
              <a:rPr lang="en-IN" sz="2800" dirty="0" smtClean="0"/>
              <a:t> Special </a:t>
            </a:r>
            <a:r>
              <a:rPr lang="en-IN" sz="2800" dirty="0"/>
              <a:t>control techniques can be employed by the following SMPS to force the average input current to follow the sinusoidal shape of the AC input voltage thus the designer should try correcting the power factor.</a:t>
            </a:r>
            <a:endParaRPr lang="en-IN" sz="2800" dirty="0" smtClean="0"/>
          </a:p>
          <a:p>
            <a:pPr algn="just"/>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INPUT RECTIFIER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31158317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717167" y="1476286"/>
            <a:ext cx="10254343" cy="2677656"/>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t>This converts DC, Whether directly from the input or from the rectifier, to AC by running it through a power oscillator, whose output transformer is very small with few windings at a frequency of tens or hundreds of kHz</a:t>
            </a:r>
            <a:r>
              <a:rPr lang="en-IN" sz="2800" dirty="0" smtClean="0"/>
              <a:t>.</a:t>
            </a:r>
          </a:p>
          <a:p>
            <a:pPr marL="342900" indent="-342900" algn="just">
              <a:buFont typeface="Wingdings" pitchFamily="2" charset="2"/>
              <a:buChar char="ü"/>
            </a:pPr>
            <a:r>
              <a:rPr lang="en-IN" sz="2800" dirty="0" smtClean="0"/>
              <a:t> The </a:t>
            </a:r>
            <a:r>
              <a:rPr lang="en-IN" sz="2800" dirty="0"/>
              <a:t>frequency is usually chosen to be above 20 </a:t>
            </a:r>
            <a:r>
              <a:rPr lang="en-IN" sz="2800" dirty="0" err="1"/>
              <a:t>kHZ</a:t>
            </a:r>
            <a:r>
              <a:rPr lang="en-IN" sz="2800" dirty="0"/>
              <a:t>, to make it inaudible to humans</a:t>
            </a:r>
            <a:r>
              <a:rPr lang="en-IN" sz="2800" dirty="0" smtClean="0"/>
              <a:t>. </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INVERTER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31158317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791847" y="1514923"/>
            <a:ext cx="10399894" cy="2246769"/>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t>If the output is required to be isolated from input, (as is usually the case in mains power supplies) the inverted AC is used to drive the primary winding of a </a:t>
            </a:r>
            <a:r>
              <a:rPr lang="en-IN" sz="2800" dirty="0" smtClean="0"/>
              <a:t>high frequency </a:t>
            </a:r>
            <a:r>
              <a:rPr lang="en-IN" sz="2800" dirty="0"/>
              <a:t>transformer. </a:t>
            </a:r>
            <a:endParaRPr lang="en-IN" sz="2800" dirty="0" smtClean="0"/>
          </a:p>
          <a:p>
            <a:pPr marL="342900" indent="-342900" algn="just">
              <a:buFont typeface="Wingdings" pitchFamily="2" charset="2"/>
              <a:buChar char="ü"/>
            </a:pPr>
            <a:r>
              <a:rPr lang="en-IN" sz="2800" dirty="0" smtClean="0"/>
              <a:t>This </a:t>
            </a:r>
            <a:r>
              <a:rPr lang="en-IN" sz="2800" dirty="0"/>
              <a:t>converts the voltage up or down to the required output level on its secondary </a:t>
            </a:r>
            <a:r>
              <a:rPr lang="en-IN" sz="2800" dirty="0" smtClean="0"/>
              <a:t>winding.</a:t>
            </a:r>
            <a:endParaRPr lang="en-US" sz="2800" dirty="0">
              <a:latin typeface="Times New Roman" pitchFamily="18" charset="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IN" sz="4400" b="1" dirty="0" smtClean="0">
                <a:latin typeface="+mj-lt"/>
              </a:rPr>
              <a:t>OUTPUT TRANSFORMER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1873476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575501" y="1386135"/>
            <a:ext cx="10599171" cy="4832092"/>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t>If a DC output is required, the AC output from the transformer is rectified. </a:t>
            </a:r>
            <a:endParaRPr lang="en-IN" sz="2800" dirty="0" smtClean="0"/>
          </a:p>
          <a:p>
            <a:pPr marL="342900" indent="-342900" algn="just">
              <a:buFont typeface="Wingdings" pitchFamily="2" charset="2"/>
              <a:buChar char="ü"/>
            </a:pPr>
            <a:r>
              <a:rPr lang="en-IN" sz="2800" dirty="0" smtClean="0"/>
              <a:t>For </a:t>
            </a:r>
            <a:r>
              <a:rPr lang="en-IN" sz="2800" dirty="0"/>
              <a:t>output voltages above ten volts or so, ordinary silicon diodes are commonly used</a:t>
            </a:r>
            <a:r>
              <a:rPr lang="en-IN" sz="2800" dirty="0" smtClean="0"/>
              <a:t>.</a:t>
            </a:r>
          </a:p>
          <a:p>
            <a:pPr marL="342900" indent="-342900" algn="just">
              <a:buFont typeface="Wingdings" pitchFamily="2" charset="2"/>
              <a:buChar char="ü"/>
            </a:pPr>
            <a:r>
              <a:rPr lang="en-IN" sz="2800" dirty="0" smtClean="0"/>
              <a:t> For </a:t>
            </a:r>
            <a:r>
              <a:rPr lang="en-IN" sz="2800" dirty="0"/>
              <a:t>lower voltages </a:t>
            </a:r>
            <a:r>
              <a:rPr lang="en-IN" sz="2800" dirty="0" err="1"/>
              <a:t>s</a:t>
            </a:r>
            <a:r>
              <a:rPr lang="en-IN" sz="2800" dirty="0" err="1" smtClean="0"/>
              <a:t>chottky</a:t>
            </a:r>
            <a:r>
              <a:rPr lang="en-IN" sz="2800" dirty="0" smtClean="0"/>
              <a:t> </a:t>
            </a:r>
            <a:r>
              <a:rPr lang="en-IN" sz="2800" dirty="0"/>
              <a:t>diodes are commonly used as rectifier elements (they have faster times than silicon diodes, thus allowing low-loss operation at higher frequencies). </a:t>
            </a:r>
            <a:endParaRPr lang="en-IN" sz="2800" dirty="0" smtClean="0"/>
          </a:p>
          <a:p>
            <a:pPr marL="342900" indent="-342900" algn="just">
              <a:buFont typeface="Wingdings" pitchFamily="2" charset="2"/>
              <a:buChar char="ü"/>
            </a:pPr>
            <a:r>
              <a:rPr lang="en-IN" sz="2800" dirty="0" smtClean="0"/>
              <a:t>The </a:t>
            </a:r>
            <a:r>
              <a:rPr lang="en-IN" sz="2800" dirty="0"/>
              <a:t>rectified output is then smoothed by a filter consisting of inductors &amp; capacitors</a:t>
            </a:r>
            <a:r>
              <a:rPr lang="en-IN" sz="2800" dirty="0" smtClean="0"/>
              <a:t>.</a:t>
            </a:r>
          </a:p>
          <a:p>
            <a:pPr marL="342900" indent="-342900" algn="just">
              <a:buFont typeface="Wingdings" pitchFamily="2" charset="2"/>
              <a:buChar char="ü"/>
            </a:pPr>
            <a:r>
              <a:rPr lang="en-IN" sz="2800" dirty="0" smtClean="0"/>
              <a:t> For </a:t>
            </a:r>
            <a:r>
              <a:rPr lang="en-IN" sz="2800" dirty="0"/>
              <a:t>higher switching frequencies, components with lower capacitance &amp; inductance are needed. </a:t>
            </a:r>
            <a:r>
              <a:rPr lang="en-IN" sz="2800" dirty="0" smtClean="0"/>
              <a:t>.</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OUTPUT RECTIFIER &amp; FILTER </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1873476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4832092"/>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t>Isolation of patients in diagnostic instruments like ECG etc. (using </a:t>
            </a:r>
            <a:r>
              <a:rPr lang="en-IN" sz="2800" dirty="0" err="1"/>
              <a:t>optocouplers</a:t>
            </a:r>
            <a:r>
              <a:rPr lang="en-IN" sz="2800" dirty="0"/>
              <a:t> in control circuitry) </a:t>
            </a:r>
            <a:endParaRPr lang="en-IN" sz="2800" dirty="0" smtClean="0"/>
          </a:p>
          <a:p>
            <a:pPr marL="342900" indent="-342900" algn="just">
              <a:buFont typeface="Wingdings" pitchFamily="2" charset="2"/>
              <a:buChar char="ü"/>
            </a:pPr>
            <a:r>
              <a:rPr lang="en-IN" sz="2800" dirty="0" smtClean="0"/>
              <a:t>SMPS </a:t>
            </a:r>
            <a:r>
              <a:rPr lang="en-IN" sz="2800" dirty="0"/>
              <a:t>battery chargers for battery based instruments</a:t>
            </a:r>
            <a:r>
              <a:rPr lang="en-IN" sz="2800" dirty="0" smtClean="0"/>
              <a:t>.</a:t>
            </a:r>
          </a:p>
          <a:p>
            <a:pPr>
              <a:buFont typeface="Wingdings" pitchFamily="2" charset="2"/>
              <a:buChar char="ü"/>
            </a:pPr>
            <a:r>
              <a:rPr lang="en-US" sz="2800" dirty="0" smtClean="0"/>
              <a:t>Motherboard of computers</a:t>
            </a:r>
          </a:p>
          <a:p>
            <a:pPr>
              <a:buFont typeface="Wingdings" pitchFamily="2" charset="2"/>
              <a:buChar char="ü"/>
            </a:pPr>
            <a:r>
              <a:rPr lang="en-US" sz="2800" dirty="0" smtClean="0"/>
              <a:t>Mobile phone chargers</a:t>
            </a:r>
          </a:p>
          <a:p>
            <a:pPr>
              <a:buFont typeface="Wingdings" pitchFamily="2" charset="2"/>
              <a:buChar char="ü"/>
            </a:pPr>
            <a:r>
              <a:rPr lang="en-US" sz="2800" dirty="0" smtClean="0"/>
              <a:t>HVDC measurements</a:t>
            </a:r>
          </a:p>
          <a:p>
            <a:pPr>
              <a:buFont typeface="Wingdings" pitchFamily="2" charset="2"/>
              <a:buChar char="ü"/>
            </a:pPr>
            <a:r>
              <a:rPr lang="en-US" sz="2800" dirty="0" smtClean="0"/>
              <a:t>Battery chargers</a:t>
            </a:r>
          </a:p>
          <a:p>
            <a:pPr>
              <a:buFont typeface="Wingdings" pitchFamily="2" charset="2"/>
              <a:buChar char="ü"/>
            </a:pPr>
            <a:r>
              <a:rPr lang="en-US" sz="2800" dirty="0" smtClean="0"/>
              <a:t>Central power distribution</a:t>
            </a:r>
          </a:p>
          <a:p>
            <a:pPr>
              <a:buFont typeface="Wingdings" pitchFamily="2" charset="2"/>
              <a:buChar char="ü"/>
            </a:pPr>
            <a:r>
              <a:rPr lang="en-US" sz="2800" dirty="0" smtClean="0"/>
              <a:t>Laptops</a:t>
            </a:r>
          </a:p>
          <a:p>
            <a:r>
              <a:rPr lang="en-US" sz="2800" dirty="0" smtClean="0"/>
              <a:t/>
            </a:r>
            <a:br>
              <a:rPr lang="en-US" sz="2800" dirty="0" smtClean="0"/>
            </a:b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Autofit/>
          </a:bodyPr>
          <a:lstStyle/>
          <a:p>
            <a:pPr algn="ctr">
              <a:defRPr/>
            </a:pPr>
            <a:r>
              <a:rPr lang="en-US" sz="4400" dirty="0" smtClean="0">
                <a:solidFill>
                  <a:schemeClr val="bg1"/>
                </a:solidFill>
                <a:latin typeface="+mj-lt"/>
                <a:cs typeface="Arial" charset="0"/>
              </a:rPr>
              <a:t> </a:t>
            </a:r>
            <a:r>
              <a:rPr lang="en-IN" sz="4400" b="1" dirty="0" smtClean="0">
                <a:latin typeface="+mj-lt"/>
              </a:rPr>
              <a:t>APPLICATION OF SMPS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 xmlns:p14="http://schemas.microsoft.com/office/powerpoint/2010/main" val="1873476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609600" y="1134737"/>
            <a:ext cx="10972800" cy="4961263"/>
          </a:xfrm>
        </p:spPr>
        <p:txBody>
          <a:bodyPr/>
          <a:lstStyle/>
          <a:p>
            <a:pPr eaLnBrk="1" hangingPunct="1">
              <a:lnSpc>
                <a:spcPct val="80000"/>
              </a:lnSpc>
              <a:buFontTx/>
              <a:buNone/>
            </a:pPr>
            <a:r>
              <a:rPr lang="en-US" sz="2400" dirty="0" smtClean="0"/>
              <a:t> </a:t>
            </a:r>
          </a:p>
        </p:txBody>
      </p:sp>
      <p:sp>
        <p:nvSpPr>
          <p:cNvPr id="7" name="Title 1"/>
          <p:cNvSpPr txBox="1">
            <a:spLocks/>
          </p:cNvSpPr>
          <p:nvPr/>
        </p:nvSpPr>
        <p:spPr>
          <a:xfrm>
            <a:off x="1257300" y="195943"/>
            <a:ext cx="9586913" cy="849086"/>
          </a:xfrm>
          <a:prstGeom prst="rect">
            <a:avLst/>
          </a:prstGeom>
          <a:solidFill>
            <a:schemeClr val="bg1"/>
          </a:solidFill>
          <a:ln>
            <a:solidFill>
              <a:schemeClr val="tx1"/>
            </a:solidFill>
          </a:ln>
        </p:spPr>
        <p:txBody>
          <a:bodyPr/>
          <a:lstStyle/>
          <a:p>
            <a:pPr algn="ctr" eaLnBrk="0" hangingPunct="0">
              <a:defRPr/>
            </a:pPr>
            <a:r>
              <a:rPr lang="en-US" sz="4400" b="1" dirty="0" smtClean="0">
                <a:latin typeface="+mj-lt"/>
                <a:cs typeface="Times New Roman" pitchFamily="18" charset="0"/>
              </a:rPr>
              <a:t>FREQUENTLY ASKED QUESTIONS</a:t>
            </a:r>
          </a:p>
          <a:p>
            <a:pPr algn="ctr" eaLnBrk="0" hangingPunct="0">
              <a:defRPr/>
            </a:pPr>
            <a:endParaRPr lang="en-IN" sz="4400" b="1" kern="0" dirty="0">
              <a:solidFill>
                <a:schemeClr val="bg1"/>
              </a:solidFill>
              <a:latin typeface="+mj-lt"/>
              <a:ea typeface="+mj-ea"/>
            </a:endParaRPr>
          </a:p>
        </p:txBody>
      </p:sp>
      <p:sp>
        <p:nvSpPr>
          <p:cNvPr id="2055" name="Text Box 7"/>
          <p:cNvSpPr txBox="1">
            <a:spLocks noChangeArrowheads="1"/>
          </p:cNvSpPr>
          <p:nvPr/>
        </p:nvSpPr>
        <p:spPr bwMode="auto">
          <a:xfrm>
            <a:off x="459317" y="1371601"/>
            <a:ext cx="11427883" cy="2677656"/>
          </a:xfrm>
          <a:prstGeom prst="rect">
            <a:avLst/>
          </a:prstGeom>
          <a:noFill/>
          <a:ln w="9525">
            <a:noFill/>
            <a:miter lim="800000"/>
            <a:headEnd/>
            <a:tailEnd/>
          </a:ln>
        </p:spPr>
        <p:txBody>
          <a:bodyPr>
            <a:spAutoFit/>
          </a:bodyPr>
          <a:lstStyle/>
          <a:p>
            <a:pPr marL="514350" indent="-514350">
              <a:buFont typeface="+mj-lt"/>
              <a:buAutoNum type="arabicPeriod"/>
            </a:pPr>
            <a:r>
              <a:rPr lang="en-IN" sz="2800" dirty="0"/>
              <a:t>Define </a:t>
            </a:r>
            <a:r>
              <a:rPr lang="en-IN" sz="2800" dirty="0" smtClean="0"/>
              <a:t>battery in your own terms.</a:t>
            </a:r>
          </a:p>
          <a:p>
            <a:pPr marL="514350" indent="-514350">
              <a:buFont typeface="+mj-lt"/>
              <a:buAutoNum type="arabicPeriod"/>
            </a:pPr>
            <a:r>
              <a:rPr lang="en-IN" sz="2800" dirty="0" smtClean="0"/>
              <a:t>Differentiate </a:t>
            </a:r>
            <a:r>
              <a:rPr lang="en-IN" sz="2800" dirty="0"/>
              <a:t>b</a:t>
            </a:r>
            <a:r>
              <a:rPr lang="en-IN" sz="2800" dirty="0" smtClean="0"/>
              <a:t>etween </a:t>
            </a:r>
            <a:r>
              <a:rPr lang="en-IN" sz="2800" dirty="0"/>
              <a:t>p</a:t>
            </a:r>
            <a:r>
              <a:rPr lang="en-IN" sz="2800" dirty="0" smtClean="0"/>
              <a:t>rimary </a:t>
            </a:r>
            <a:r>
              <a:rPr lang="en-IN" sz="2800" dirty="0"/>
              <a:t>&amp; </a:t>
            </a:r>
            <a:r>
              <a:rPr lang="en-IN" sz="2800" dirty="0" smtClean="0"/>
              <a:t>secondary </a:t>
            </a:r>
            <a:r>
              <a:rPr lang="en-IN" sz="2800" dirty="0"/>
              <a:t>c</a:t>
            </a:r>
            <a:r>
              <a:rPr lang="en-IN" sz="2800" dirty="0" smtClean="0"/>
              <a:t>ells?</a:t>
            </a:r>
          </a:p>
          <a:p>
            <a:pPr marL="514350" indent="-514350">
              <a:buFont typeface="+mj-lt"/>
              <a:buAutoNum type="arabicPeriod"/>
            </a:pPr>
            <a:r>
              <a:rPr lang="en-IN" sz="2800" dirty="0" smtClean="0"/>
              <a:t>What </a:t>
            </a:r>
            <a:r>
              <a:rPr lang="en-IN" sz="2800" dirty="0"/>
              <a:t>are various applications of </a:t>
            </a:r>
            <a:r>
              <a:rPr lang="en-IN" sz="2800" dirty="0" smtClean="0"/>
              <a:t>battery?</a:t>
            </a:r>
          </a:p>
          <a:p>
            <a:pPr marL="514350" indent="-514350">
              <a:buFont typeface="+mj-lt"/>
              <a:buAutoNum type="arabicPeriod"/>
            </a:pPr>
            <a:r>
              <a:rPr lang="en-IN" sz="2800" dirty="0" smtClean="0"/>
              <a:t>What </a:t>
            </a:r>
            <a:r>
              <a:rPr lang="en-IN" sz="2800" dirty="0"/>
              <a:t>do you mean by SMPS? </a:t>
            </a:r>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txBox="1">
            <a:spLocks/>
          </p:cNvSpPr>
          <p:nvPr/>
        </p:nvSpPr>
        <p:spPr bwMode="auto">
          <a:xfrm>
            <a:off x="1971039" y="269240"/>
            <a:ext cx="8331200" cy="842554"/>
          </a:xfrm>
          <a:prstGeom prst="rect">
            <a:avLst/>
          </a:prstGeom>
          <a:solidFill>
            <a:schemeClr val="bg1"/>
          </a:solidFill>
          <a:ln w="9525">
            <a:solidFill>
              <a:schemeClr val="tx1"/>
            </a:solidFill>
            <a:miter lim="800000"/>
            <a:headEnd/>
            <a:tailEnd/>
          </a:ln>
        </p:spPr>
        <p:txBody>
          <a:bodyPr/>
          <a:lstStyle/>
          <a:p>
            <a:pPr algn="ctr" eaLnBrk="0" hangingPunct="0"/>
            <a:r>
              <a:rPr lang="en-US" sz="4400" b="1" dirty="0" smtClean="0">
                <a:latin typeface="+mj-lt"/>
                <a:cs typeface="Times New Roman" pitchFamily="18" charset="0"/>
              </a:rPr>
              <a:t>Practice Questions</a:t>
            </a:r>
            <a:endParaRPr lang="en-US" sz="4400" b="1" dirty="0">
              <a:latin typeface="+mj-lt"/>
              <a:cs typeface="Times New Roman" pitchFamily="18" charset="0"/>
            </a:endParaRPr>
          </a:p>
        </p:txBody>
      </p:sp>
      <p:sp>
        <p:nvSpPr>
          <p:cNvPr id="9" name="Content Placeholder 2"/>
          <p:cNvSpPr txBox="1">
            <a:spLocks/>
          </p:cNvSpPr>
          <p:nvPr/>
        </p:nvSpPr>
        <p:spPr>
          <a:xfrm>
            <a:off x="508000" y="1676400"/>
            <a:ext cx="10972800" cy="4114800"/>
          </a:xfrm>
          <a:prstGeom prst="rect">
            <a:avLst/>
          </a:prstGeom>
        </p:spPr>
        <p:txBody>
          <a:bodyPr/>
          <a:lstStyle/>
          <a:p>
            <a:pPr marL="514350" indent="-514350" algn="just">
              <a:buFont typeface="+mj-lt"/>
              <a:buAutoNum type="arabicPeriod"/>
            </a:pPr>
            <a:r>
              <a:rPr lang="en-US" sz="2800" dirty="0" smtClean="0">
                <a:cs typeface="Times New Roman" pitchFamily="18" charset="0"/>
              </a:rPr>
              <a:t>What are the different types of power supply?</a:t>
            </a:r>
          </a:p>
          <a:p>
            <a:pPr marL="514350" indent="-514350" algn="just">
              <a:buFont typeface="+mj-lt"/>
              <a:buAutoNum type="arabicPeriod"/>
            </a:pPr>
            <a:r>
              <a:rPr lang="en-US" sz="2800" dirty="0" smtClean="0">
                <a:cs typeface="Times New Roman" pitchFamily="18" charset="0"/>
              </a:rPr>
              <a:t>Explain the block diagram of SMPS.</a:t>
            </a:r>
          </a:p>
          <a:p>
            <a:pPr marL="514350" indent="-514350" algn="just">
              <a:buFont typeface="+mj-lt"/>
              <a:buAutoNum type="arabicPeriod"/>
            </a:pPr>
            <a:r>
              <a:rPr lang="en-US" sz="2800" dirty="0" smtClean="0">
                <a:cs typeface="Times New Roman" pitchFamily="18" charset="0"/>
              </a:rPr>
              <a:t>Discuss the applications of linear power supply.</a:t>
            </a:r>
          </a:p>
          <a:p>
            <a:pPr marL="514350" indent="-514350" algn="just">
              <a:buFont typeface="+mj-lt"/>
              <a:buAutoNum type="arabicPeriod"/>
            </a:pPr>
            <a:r>
              <a:rPr lang="en-US" sz="2800" dirty="0" smtClean="0">
                <a:cs typeface="Times New Roman" pitchFamily="18" charset="0"/>
              </a:rPr>
              <a:t>Explain cut off voltage and nominal capacity.</a:t>
            </a:r>
            <a:endParaRPr lang="en-IN" sz="2800" dirty="0" smtClean="0">
              <a:cs typeface="Times New Roman" pitchFamily="18" charset="0"/>
            </a:endParaRPr>
          </a:p>
          <a:p>
            <a:pPr marL="514350" indent="-514350" algn="just">
              <a:buFont typeface="+mj-lt"/>
              <a:buAutoNum type="arabicPeriod"/>
            </a:pPr>
            <a:endParaRPr lang="en-IN" sz="2800" dirty="0" smtClean="0">
              <a:latin typeface="Times New Roman" pitchFamily="18" charset="0"/>
              <a:cs typeface="Times New Roman" pitchFamily="18" charset="0"/>
            </a:endParaRPr>
          </a:p>
          <a:p>
            <a:r>
              <a:rPr lang="en-US" sz="2800" dirty="0" smtClean="0"/>
              <a:t> </a:t>
            </a:r>
            <a:endParaRPr lang="en-IN" sz="2800" dirty="0" smtClean="0"/>
          </a:p>
          <a:p>
            <a:endParaRPr lang="en-US" sz="2800" dirty="0">
              <a:latin typeface="+mn-lt"/>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lgn="just">
              <a:buNone/>
            </a:pPr>
            <a:r>
              <a:rPr lang="en-IN" sz="2800" dirty="0" smtClean="0">
                <a:cs typeface="Times New Roman" pitchFamily="18" charset="0"/>
              </a:rPr>
              <a:t> To </a:t>
            </a:r>
            <a:r>
              <a:rPr lang="en-IN" sz="2800" dirty="0">
                <a:cs typeface="Times New Roman" pitchFamily="18" charset="0"/>
              </a:rPr>
              <a:t>make students </a:t>
            </a:r>
            <a:r>
              <a:rPr lang="en-IN" sz="2800" dirty="0" smtClean="0">
                <a:cs typeface="Times New Roman" pitchFamily="18" charset="0"/>
              </a:rPr>
              <a:t>understand</a:t>
            </a:r>
            <a:endParaRPr lang="en-IN" sz="2800" dirty="0">
              <a:cs typeface="Times New Roman" pitchFamily="18" charset="0"/>
            </a:endParaRPr>
          </a:p>
          <a:p>
            <a:pPr algn="just"/>
            <a:r>
              <a:rPr lang="en-US" sz="2800" dirty="0" smtClean="0"/>
              <a:t>Operation of SMPS.</a:t>
            </a:r>
          </a:p>
          <a:p>
            <a:pPr algn="just"/>
            <a:r>
              <a:rPr lang="en-US" sz="2800" dirty="0" smtClean="0"/>
              <a:t>Different types of Power supply.</a:t>
            </a:r>
          </a:p>
          <a:p>
            <a:pPr algn="just"/>
            <a:r>
              <a:rPr lang="en-US" sz="2800" dirty="0" smtClean="0"/>
              <a:t>Concept of linear power supply.</a:t>
            </a:r>
          </a:p>
          <a:p>
            <a:pPr algn="just"/>
            <a:r>
              <a:rPr lang="en-US" sz="2800" dirty="0" smtClean="0"/>
              <a:t>Different terminologies used in battery.</a:t>
            </a:r>
          </a:p>
          <a:p>
            <a:pPr algn="just"/>
            <a:endParaRPr lang="en-US" sz="2400" dirty="0">
              <a:cs typeface="Times New Roman" pitchFamily="18" charset="0"/>
            </a:endParaRPr>
          </a:p>
          <a:p>
            <a:pPr algn="just"/>
            <a:endParaRPr lang="en-US" sz="2400" dirty="0"/>
          </a:p>
          <a:p>
            <a:pPr algn="just"/>
            <a:endParaRPr lang="en-US" sz="2400" dirty="0" smtClean="0">
              <a:cs typeface="Arial" panose="020B0604020202020204" pitchFamily="34" charset="0"/>
            </a:endParaRPr>
          </a:p>
          <a:p>
            <a:pPr marL="0" indent="0" algn="just">
              <a:buNone/>
            </a:pPr>
            <a:endParaRPr lang="en-US" sz="2400" dirty="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30</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ea typeface="Karla" pitchFamily="2" charset="0"/>
                <a:cs typeface="Karla" pitchFamily="2" charset="0"/>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 xmlns:p14="http://schemas.microsoft.com/office/powerpoint/2010/main" val="6938015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smtClean="0"/>
              <a:t>REFERENCES</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Books:                 [1]Basic of Electrical Engineering, T. K. </a:t>
            </a:r>
            <a:r>
              <a:rPr lang="en-US" b="1" dirty="0" err="1" smtClean="0"/>
              <a:t>Nagsarkar</a:t>
            </a:r>
            <a:r>
              <a:rPr lang="en-US" b="1" dirty="0" smtClean="0"/>
              <a:t> and M. S.Sukhija,2013 ,2</a:t>
            </a:r>
            <a:r>
              <a:rPr lang="en-US" b="1" baseline="30000" dirty="0" smtClean="0"/>
              <a:t>nd</a:t>
            </a:r>
            <a:r>
              <a:rPr lang="en-US" b="1" dirty="0" smtClean="0"/>
              <a:t> edition</a:t>
            </a:r>
            <a:endParaRPr lang="en-US" dirty="0" smtClean="0"/>
          </a:p>
          <a:p>
            <a:pPr>
              <a:buNone/>
            </a:pPr>
            <a:r>
              <a:rPr lang="en-US" b="1" dirty="0" smtClean="0"/>
              <a:t>                                   [2]Theory and problems of Basic Electrical Engineering, J. </a:t>
            </a:r>
            <a:r>
              <a:rPr lang="en-US" b="1" dirty="0" err="1" smtClean="0"/>
              <a:t>Nagrath</a:t>
            </a:r>
            <a:r>
              <a:rPr lang="en-US" b="1" dirty="0" smtClean="0"/>
              <a:t> and Kothari, 2012, 2</a:t>
            </a:r>
            <a:r>
              <a:rPr lang="en-US" b="1" baseline="30000" dirty="0" smtClean="0"/>
              <a:t>nd</a:t>
            </a:r>
            <a:r>
              <a:rPr lang="en-US" b="1" dirty="0" smtClean="0"/>
              <a:t>   edition</a:t>
            </a:r>
            <a:endParaRPr lang="en-US" dirty="0" smtClean="0"/>
          </a:p>
          <a:p>
            <a:pPr>
              <a:buNone/>
            </a:pPr>
            <a:r>
              <a:rPr lang="en-US" b="1" dirty="0" smtClean="0"/>
              <a:t>                                   [3] A Textbook of Electrical Technology, B.L Theraja,2010,Vol 1</a:t>
            </a:r>
            <a:endParaRPr lang="en-US" dirty="0" smtClean="0"/>
          </a:p>
          <a:p>
            <a:pPr>
              <a:buNone/>
            </a:pPr>
            <a:r>
              <a:rPr lang="en-US" b="1" dirty="0" smtClean="0"/>
              <a:t>                                   [4] Fundamentals of Electrical and Electronics Engineering, </a:t>
            </a:r>
            <a:r>
              <a:rPr lang="en-US" b="1" dirty="0" err="1" smtClean="0"/>
              <a:t>Smarjith</a:t>
            </a:r>
            <a:r>
              <a:rPr lang="en-US" b="1" dirty="0" smtClean="0"/>
              <a:t> Ghosh,2013,1</a:t>
            </a:r>
            <a:r>
              <a:rPr lang="en-US" b="1" baseline="30000" dirty="0" smtClean="0"/>
              <a:t>st</a:t>
            </a:r>
            <a:r>
              <a:rPr lang="en-US" b="1" dirty="0" smtClean="0"/>
              <a:t>   edition</a:t>
            </a:r>
          </a:p>
          <a:p>
            <a:pPr>
              <a:buNone/>
            </a:pPr>
            <a:endParaRPr lang="en-US" b="1" dirty="0" smtClean="0"/>
          </a:p>
          <a:p>
            <a:r>
              <a:rPr lang="en-US" b="1" dirty="0" smtClean="0"/>
              <a:t>E-Books:             [1]</a:t>
            </a:r>
            <a:r>
              <a:rPr lang="en-US" b="1" u="sng" dirty="0" smtClean="0"/>
              <a:t>https://www.google.co.in/search?tbo=p&amp;tbm=bks&amp;q=inauthor:%22A.V.Bak</a:t>
            </a:r>
            <a:r>
              <a:rPr lang="en-US" b="1" dirty="0" smtClean="0"/>
              <a:t> shi+U.A.Bakshi%22</a:t>
            </a:r>
            <a:endParaRPr lang="en-US" dirty="0" smtClean="0"/>
          </a:p>
          <a:p>
            <a:pPr>
              <a:buNone/>
            </a:pPr>
            <a:r>
              <a:rPr lang="en-US" b="1" dirty="0" smtClean="0"/>
              <a:t>                                   [2]</a:t>
            </a:r>
            <a:r>
              <a:rPr lang="en-US" dirty="0" smtClean="0"/>
              <a:t> </a:t>
            </a:r>
            <a:r>
              <a:rPr lang="en-US" b="1" u="sng" dirty="0" smtClean="0"/>
              <a:t>https://www.pdfdrive.com/a-textbook-of-electrical-technology-volume-i-</a:t>
            </a:r>
            <a:r>
              <a:rPr lang="en-US" b="1" dirty="0" smtClean="0"/>
              <a:t>  basic-electrical-engineering-  </a:t>
            </a:r>
          </a:p>
          <a:p>
            <a:pPr>
              <a:buNone/>
            </a:pPr>
            <a:r>
              <a:rPr lang="en-US" b="1" dirty="0" smtClean="0"/>
              <a:t>                                          e31735088.html</a:t>
            </a:r>
          </a:p>
          <a:p>
            <a:r>
              <a:rPr lang="en-US" b="1" dirty="0" smtClean="0"/>
              <a:t>Websites</a:t>
            </a:r>
            <a:r>
              <a:rPr lang="en-US" dirty="0" smtClean="0"/>
              <a:t>:    </a:t>
            </a:r>
            <a:r>
              <a:rPr lang="en-US" b="1" dirty="0" smtClean="0"/>
              <a:t>[1] </a:t>
            </a:r>
            <a:r>
              <a:rPr lang="en-US" dirty="0" smtClean="0">
                <a:hlinkClick r:id="rId2"/>
              </a:rPr>
              <a:t>https://nptel.ac.in/content/storage2/courses/121106014/Week12/lecture38.pdf</a:t>
            </a:r>
            <a:endParaRPr lang="en-US" b="1" dirty="0" smtClean="0"/>
          </a:p>
          <a:p>
            <a:r>
              <a:rPr lang="en-US" b="1" dirty="0" smtClean="0"/>
              <a:t>                      [2] </a:t>
            </a:r>
            <a:r>
              <a:rPr lang="en-US" dirty="0" smtClean="0">
                <a:hlinkClick r:id="rId3"/>
              </a:rPr>
              <a:t>https://www.cedengineering.com/userfiles/Introduction%20to%20Batteries.pdf</a:t>
            </a:r>
            <a:endParaRPr lang="en-US" dirty="0" smtClean="0"/>
          </a:p>
          <a:p>
            <a:pPr>
              <a:buNone/>
            </a:pPr>
            <a:r>
              <a:rPr lang="en-US" b="1" dirty="0" smtClean="0"/>
              <a:t>                           [3] </a:t>
            </a:r>
            <a:r>
              <a:rPr lang="en-US" dirty="0" smtClean="0">
                <a:hlinkClick r:id="rId4"/>
              </a:rPr>
              <a:t>http://web.mit.edu/evt/summary_battery_specifications.pdf</a:t>
            </a:r>
            <a:endParaRPr lang="en-US" b="1" dirty="0" smtClean="0"/>
          </a:p>
          <a:p>
            <a:pPr>
              <a:buNone/>
            </a:pPr>
            <a:r>
              <a:rPr lang="en-US" b="1" dirty="0"/>
              <a:t> </a:t>
            </a:r>
            <a:r>
              <a:rPr lang="en-US" b="1" dirty="0" smtClean="0"/>
              <a:t>                          [4] </a:t>
            </a:r>
            <a:r>
              <a:rPr lang="en-US" dirty="0" smtClean="0">
                <a:hlinkClick r:id="rId5"/>
              </a:rPr>
              <a:t>https://shodhganga.inflibnet.ac.in/bitstream/10603/1303/7/07_chapter%201.pdf</a:t>
            </a:r>
            <a:endParaRPr lang="en-US" b="1" dirty="0" smtClean="0"/>
          </a:p>
          <a:p>
            <a:r>
              <a:rPr lang="en-US" b="1" dirty="0" smtClean="0"/>
              <a:t>Videos:   [1] </a:t>
            </a:r>
            <a:r>
              <a:rPr lang="en-US" dirty="0" smtClean="0">
                <a:hlinkClick r:id="rId6"/>
              </a:rPr>
              <a:t>https://youtu.be/gWKOjncBMCQ</a:t>
            </a:r>
            <a:endParaRPr lang="en-US" dirty="0" smtClean="0"/>
          </a:p>
          <a:p>
            <a:pPr>
              <a:buNone/>
            </a:pPr>
            <a:r>
              <a:rPr lang="en-US" b="1" dirty="0" smtClean="0"/>
              <a:t>                      [2]</a:t>
            </a:r>
            <a:r>
              <a:rPr lang="en-US" dirty="0" smtClean="0"/>
              <a:t> </a:t>
            </a:r>
            <a:r>
              <a:rPr lang="en-US" dirty="0" smtClean="0">
                <a:hlinkClick r:id="rId7"/>
              </a:rPr>
              <a:t>https://youtu.be/PXNKkcB0pI4</a:t>
            </a:r>
            <a:endParaRPr lang="en-US" dirty="0" smtClean="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 name="Rectangle 1"/>
          <p:cNvSpPr/>
          <p:nvPr/>
        </p:nvSpPr>
        <p:spPr>
          <a:xfrm>
            <a:off x="4114005" y="5394447"/>
            <a:ext cx="2504212"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rPr>
              <a:t>kanchanbharti.ee@cumail.in</a:t>
            </a:r>
            <a:endParaRPr lang="en-US" dirty="0"/>
          </a:p>
        </p:txBody>
      </p:sp>
    </p:spTree>
    <p:extLst>
      <p:ext uri="{BB962C8B-B14F-4D97-AF65-F5344CB8AC3E}">
        <p14:creationId xmlns="" xmlns:p14="http://schemas.microsoft.com/office/powerpoint/2010/main"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2.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2963</TotalTime>
  <Words>1826</Words>
  <Application>Microsoft Office PowerPoint</Application>
  <PresentationFormat>Custom</PresentationFormat>
  <Paragraphs>249</Paragraphs>
  <Slides>32</Slides>
  <Notes>19</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35" baseType="lpstr">
      <vt:lpstr>1_Office Theme</vt:lpstr>
      <vt:lpstr>Contents Slide Master</vt:lpstr>
      <vt:lpstr>CorelDRAW</vt:lpstr>
      <vt:lpstr>Slide 1</vt:lpstr>
      <vt:lpstr>Lecture Objectives</vt:lpstr>
      <vt:lpstr>Course Objectives</vt:lpstr>
      <vt:lpstr>Course Outcomes</vt:lpstr>
      <vt:lpstr>Slide 5</vt:lpstr>
      <vt:lpstr>INTRODUCTION TO POWER SUPPLY</vt:lpstr>
      <vt:lpstr>CATEGORIES OF POWER SUPPLIES</vt:lpstr>
      <vt:lpstr>INTRODUCTION TO LINEAR/REGULATED POWER SUPPLY</vt:lpstr>
      <vt:lpstr>BLOCK DIAGRAM OF LINEAR/REGULATED POWER SUPPLY</vt:lpstr>
      <vt:lpstr>Slide 10</vt:lpstr>
      <vt:lpstr>Slide 11</vt:lpstr>
      <vt:lpstr>RECTIFIER </vt:lpstr>
      <vt:lpstr>CAPACITOR FILTER</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LEARNING OUTCOMES </vt:lpstr>
      <vt:lpstr>REFERENCES</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388</cp:revision>
  <dcterms:created xsi:type="dcterms:W3CDTF">2019-01-09T10:33:58Z</dcterms:created>
  <dcterms:modified xsi:type="dcterms:W3CDTF">2023-07-05T09:35:10Z</dcterms:modified>
</cp:coreProperties>
</file>