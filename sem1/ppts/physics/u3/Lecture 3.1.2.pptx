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1"/>
  </p:notesMasterIdLst>
  <p:handoutMasterIdLst>
    <p:handoutMasterId r:id="rId32"/>
  </p:handoutMasterIdLst>
  <p:sldIdLst>
    <p:sldId id="391" r:id="rId3"/>
    <p:sldId id="388" r:id="rId4"/>
    <p:sldId id="387" r:id="rId5"/>
    <p:sldId id="370" r:id="rId6"/>
    <p:sldId id="389" r:id="rId7"/>
    <p:sldId id="326" r:id="rId8"/>
    <p:sldId id="327" r:id="rId9"/>
    <p:sldId id="343" r:id="rId10"/>
    <p:sldId id="344" r:id="rId11"/>
    <p:sldId id="345" r:id="rId12"/>
    <p:sldId id="328" r:id="rId13"/>
    <p:sldId id="36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75" r:id="rId22"/>
    <p:sldId id="390" r:id="rId23"/>
    <p:sldId id="377" r:id="rId24"/>
    <p:sldId id="386" r:id="rId25"/>
    <p:sldId id="384" r:id="rId26"/>
    <p:sldId id="379" r:id="rId27"/>
    <p:sldId id="381" r:id="rId28"/>
    <p:sldId id="368" r:id="rId29"/>
    <p:sldId id="380" r:id="rId30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542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-702" y="-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8" y="11862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xmlns="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u.edu/energy/news-multimedia/2018/17-year-leader.html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u.edu/energy/news-multimedia/2018/17-year-leader.html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u.edu/energy/news-multimedia/2018/17-year-leader.html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kcredit.in/blog/why-you-should-switch-to-solar-energy-in-india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fix.com/blog/understanding-renewable-energy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newablepedia.com/information-about-hydropower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x.com/blog/understanding-renewable-energy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x.com/blog/understanding-renewable-energy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ergycompanynumbers.co.uk/renewable-energy-explained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.org/en/climatechange/what-is-renewable-energy/" TargetMode="External"/><Relationship Id="rId2" Type="http://schemas.openxmlformats.org/officeDocument/2006/relationships/hyperlink" Target="https://education.nationalgeographic.org/resource/renewable-resour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TLGyQ5m25dE/" TargetMode="External"/><Relationship Id="rId5" Type="http://schemas.openxmlformats.org/officeDocument/2006/relationships/hyperlink" Target="https://www.youtube.com/watch?v=44Wp3WE1AHs/" TargetMode="External"/><Relationship Id="rId4" Type="http://schemas.openxmlformats.org/officeDocument/2006/relationships/hyperlink" Target="https://www.electricrate.com/green-energy/drawbacks-of-alternative-energy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ectronics-tutorials.ws/dccircuits/dcp_4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=""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p:oleObj spid="_x0000_s1026" name="CorelDRAW" r:id="rId4" imgW="2169000" imgH="2169360" progId="">
              <p:embed/>
            </p:oleObj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281237"/>
            <a:ext cx="9832638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UNIT-1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Semi Conductor Physics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23SPH-143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Ms. </a:t>
            </a:r>
            <a:r>
              <a:rPr 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Neetu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Lecture-3.1.2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Types of RE energy Sources.</a:t>
            </a:r>
            <a:endParaRPr lang="en-US" sz="24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58746034"/>
              </p:ext>
            </p:extLst>
          </p:nvPr>
        </p:nvGraphicFramePr>
        <p:xfrm>
          <a:off x="282009" y="2226080"/>
          <a:ext cx="6536802" cy="3968322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types of Renewable energy Sources (RE sources)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 aware about</a:t>
                      </a:r>
                      <a:r>
                        <a:rPr lang="en-US" sz="12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limitations of RE sources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provide knowledge about types of RE sources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familiar with types of RE sources.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give brief knowledge about their limitations.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D7D6084F-6319-EBD8-F70D-1C10FB664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2480" y="1366837"/>
            <a:ext cx="4439920" cy="411480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E15E253-D728-5672-BA9F-A3544DA2C114}"/>
              </a:ext>
            </a:extLst>
          </p:cNvPr>
          <p:cNvSpPr txBox="1"/>
          <p:nvPr/>
        </p:nvSpPr>
        <p:spPr>
          <a:xfrm>
            <a:off x="7053943" y="5790640"/>
            <a:ext cx="4607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https://www.cmu.edu/energy/news-multimedia/2018/17-year-leader.html/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18627417"/>
              </p:ext>
            </p:extLst>
          </p:nvPr>
        </p:nvGraphicFramePr>
        <p:xfrm>
          <a:off x="282009" y="2226080"/>
          <a:ext cx="6536802" cy="3339276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understand the basic materials and properties of semiconductors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the basic of semiconductor and components like diode, transistor, FET, MOSFET and Energy Sources.</a:t>
                      </a:r>
                      <a:endParaRPr lang="en-IN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give knowledge about semiconductor physics and discus working and applications of basic devices, including p-n junctions, BJTs and FETs.</a:t>
                      </a:r>
                    </a:p>
                    <a:p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xmlns="" id="{4400C064-CD2E-5F5B-F16B-750CDE89D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0" y="1366837"/>
            <a:ext cx="4114800" cy="386763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BE75873-334D-9383-16FE-2CE39649D5DD}"/>
              </a:ext>
            </a:extLst>
          </p:cNvPr>
          <p:cNvSpPr txBox="1"/>
          <p:nvPr/>
        </p:nvSpPr>
        <p:spPr>
          <a:xfrm>
            <a:off x="7203232" y="5597106"/>
            <a:ext cx="44585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https://www.cmu.edu/energy/news-multimedia/2018/17-year-leader.html/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76855554"/>
              </p:ext>
            </p:extLst>
          </p:nvPr>
        </p:nvGraphicFramePr>
        <p:xfrm>
          <a:off x="282010" y="2037805"/>
          <a:ext cx="5870596" cy="4479266"/>
        </p:xfrm>
        <a:graphic>
          <a:graphicData uri="http://schemas.openxmlformats.org/drawingml/2006/table">
            <a:tbl>
              <a:tblPr firstRow="1" firstCol="1" bandRow="1"/>
              <a:tblGrid>
                <a:gridCol w="4886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981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Adobe Garamond Pro"/>
                          <a:cs typeface="Raavi" panose="020B0502040204020203" pitchFamily="34" charset="0"/>
                        </a:rPr>
                        <a:t>To apply the knowledge of basic semiconductor material physics and understand fabrication processes.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9721"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 panose="020B0502040204020203" pitchFamily="34" charset="0"/>
                        </a:rPr>
                        <a:t>To understand </a:t>
                      </a: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 the characteristics of different electronic devices such as diodes, transistors.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5875"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Adobe Garamond Pro"/>
                          <a:cs typeface="Raavi" panose="020B0502040204020203" pitchFamily="34" charset="0"/>
                        </a:rPr>
                        <a:t>To derive the relationships between the parameters in diode, FET, configurations of Transistor and MOSFETs.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3279"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 panose="020B0502040204020203" pitchFamily="34" charset="0"/>
                        </a:rPr>
                        <a:t>To describe the working and design considerations for the various photonic devices like photo detectors, solar-cells and LEDs.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35875"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 panose="020B0502040204020203" pitchFamily="34" charset="0"/>
                        </a:rPr>
                        <a:t>To provide problem solving experience and learning of concepts through it in semiconductor physics.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35875"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ea typeface="Adobe Garamond Pro"/>
                          <a:cs typeface="Raavi" panose="020B0502040204020203" pitchFamily="34" charset="0"/>
                        </a:rPr>
                        <a:t>To apply the knowledge of basic semiconductor material physics and understand fabrication processes.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xmlns="" id="{77B54553-FB37-322B-DC82-F23993D45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2726" y="1366837"/>
            <a:ext cx="4702661" cy="41148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B7EF0FA-E4B0-26DB-B7FB-56BDE7F088CA}"/>
              </a:ext>
            </a:extLst>
          </p:cNvPr>
          <p:cNvSpPr txBox="1"/>
          <p:nvPr/>
        </p:nvSpPr>
        <p:spPr>
          <a:xfrm>
            <a:off x="6583681" y="5710019"/>
            <a:ext cx="4998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https://www.cmu.edu/energy/news-multimedia/2018/17-year-leader.html/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01809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RE sources: Renewable energy sources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energy produced from sources that do not deplete or can be replenished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comes from natural processes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cheap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minimal impact to the environment</a:t>
            </a:r>
            <a:endParaRPr lang="en-IN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3702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r>
              <a:rPr lang="en-US" b="1" dirty="0">
                <a:latin typeface="Casper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Solar energy</a:t>
            </a:r>
          </a:p>
          <a:p>
            <a:r>
              <a:rPr lang="en-IN" dirty="0"/>
              <a:t>  Wind energy</a:t>
            </a:r>
          </a:p>
          <a:p>
            <a:r>
              <a:rPr lang="en-IN" dirty="0"/>
              <a:t>  Hydro energy</a:t>
            </a:r>
          </a:p>
          <a:p>
            <a:r>
              <a:rPr lang="en-IN" dirty="0"/>
              <a:t>  Tidal energy</a:t>
            </a:r>
          </a:p>
          <a:p>
            <a:r>
              <a:rPr lang="en-IN" dirty="0"/>
              <a:t>  Geothermal energy</a:t>
            </a:r>
          </a:p>
          <a:p>
            <a:r>
              <a:rPr lang="en-IN" dirty="0"/>
              <a:t>  Biomass energy</a:t>
            </a:r>
          </a:p>
          <a:p>
            <a:r>
              <a:rPr lang="en-IN" dirty="0"/>
              <a:t>  Hydrogen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37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8936"/>
            <a:ext cx="8100526" cy="2930854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Solar Energy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energy captured from sun in the form of sunlight 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form of light and heat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Solar cells convert sunlight into electricity </a:t>
            </a:r>
          </a:p>
          <a:p>
            <a:pPr algn="just"/>
            <a:r>
              <a:rPr lang="en-IN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solar energy technologies include photovoltaic cells and panels, concentrated solar energy, and solar architecture.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 in homes, businesses, schools, and hospitals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826" name="Picture 2">
            <a:extLst>
              <a:ext uri="{FF2B5EF4-FFF2-40B4-BE49-F238E27FC236}">
                <a16:creationId xmlns:a16="http://schemas.microsoft.com/office/drawing/2014/main" xmlns="" id="{13A599F3-9CB6-99F9-C142-E941F1F40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94420" y="1313588"/>
            <a:ext cx="3122192" cy="211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6C9BA55-B23B-F3E5-912D-7BE0EAC89BD7}"/>
              </a:ext>
            </a:extLst>
          </p:cNvPr>
          <p:cNvSpPr txBox="1"/>
          <p:nvPr/>
        </p:nvSpPr>
        <p:spPr>
          <a:xfrm>
            <a:off x="9158774" y="3610947"/>
            <a:ext cx="2195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https://okcredit.in/blog/why-you-should-switch-to-solar-energy-in-india/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60491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494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 startAt="2"/>
            </a:pP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Wind Energy</a:t>
            </a:r>
          </a:p>
          <a:p>
            <a:r>
              <a:rPr lang="en-IN" dirty="0">
                <a:solidFill>
                  <a:srgbClr val="18181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clean, free, and readily available</a:t>
            </a:r>
            <a:endParaRPr lang="en-IN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form of solar energy : uneven heating and cooling of the atmosphere cause winds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Wind turbines convert wind into electricity</a:t>
            </a:r>
          </a:p>
          <a:p>
            <a:r>
              <a:rPr lang="en-IN" dirty="0">
                <a:solidFill>
                  <a:srgbClr val="18181A"/>
                </a:solidFill>
                <a:effectLst/>
                <a:latin typeface="GE Inspira Sans"/>
                <a:ea typeface="Calibri" panose="020F0502020204030204" pitchFamily="34" charset="0"/>
                <a:cs typeface="Times New Roman" panose="02020603050405020304" pitchFamily="18" charset="0"/>
              </a:rPr>
              <a:t>Wind blows, the turbine's blades spin clockwise, capturing energy</a:t>
            </a:r>
          </a:p>
          <a:p>
            <a:r>
              <a:rPr lang="en-IN" dirty="0">
                <a:solidFill>
                  <a:srgbClr val="18181A"/>
                </a:solidFill>
                <a:effectLst/>
                <a:latin typeface="GE Inspira Sans"/>
                <a:ea typeface="Calibri" panose="020F0502020204030204" pitchFamily="34" charset="0"/>
                <a:cs typeface="Times New Roman" panose="02020603050405020304" pitchFamily="18" charset="0"/>
              </a:rPr>
              <a:t>Gearbox sends that wind energy to the generator, converting it to electricity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windmills used to pump water on farms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8002" name="AutoShape 2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004" name="AutoShape 4" descr="Is the symbol of resistance and resistor the same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886" y="5376346"/>
            <a:ext cx="6581296" cy="12762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https://www.fix.com/blog/understanding-renewable-energy/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How Wind Energy Works">
            <a:extLst>
              <a:ext uri="{FF2B5EF4-FFF2-40B4-BE49-F238E27FC236}">
                <a16:creationId xmlns:a16="http://schemas.microsoft.com/office/drawing/2014/main" xmlns="" id="{7236B29B-6D35-A338-D1F6-233D6C067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32857" y="1598053"/>
            <a:ext cx="8733453" cy="366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401"/>
            <a:ext cx="8927219" cy="4351338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 startAt="3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Energy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Hydroelectric energy or Hydro energy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Uses the power of moving water to generate electricity 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Dams are constructed to store water in a reservoir which, when released, flows through turbines to produce electricity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China - largest producer of hydroelectricity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Around the world producers - </a:t>
            </a:r>
            <a:r>
              <a:rPr lang="en-IN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 United States, Brazil, Canada, India, and Russia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Renewable electricity generated on Earth from hydropower – 71%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6" name="Picture 8" descr="Hydropower Explained">
            <a:extLst>
              <a:ext uri="{FF2B5EF4-FFF2-40B4-BE49-F238E27FC236}">
                <a16:creationId xmlns:a16="http://schemas.microsoft.com/office/drawing/2014/main" xmlns="" id="{ABA34A08-592F-C717-6D8B-15556E343D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74102" y="1547328"/>
            <a:ext cx="8808098" cy="376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5DA9858-DDB8-31C6-5712-A5EACE7BCDC8}"/>
              </a:ext>
            </a:extLst>
          </p:cNvPr>
          <p:cNvSpPr txBox="1"/>
          <p:nvPr/>
        </p:nvSpPr>
        <p:spPr>
          <a:xfrm>
            <a:off x="2211355" y="5495731"/>
            <a:ext cx="721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              Hydro Power Generation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F4B1A92-5A45-BCD9-51C9-131FBA8E201F}"/>
              </a:ext>
            </a:extLst>
          </p:cNvPr>
          <p:cNvSpPr txBox="1"/>
          <p:nvPr/>
        </p:nvSpPr>
        <p:spPr>
          <a:xfrm>
            <a:off x="2768859" y="592604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https://renewablepedia.com/information-about-hydropower/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11753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577431"/>
            <a:ext cx="10315614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dirty="0">
                <a:latin typeface="Casper"/>
              </a:rPr>
              <a:t> 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Tidal Energy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Two types of energy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produced from ocean: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thermal energy and tidal energy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Tidal energy: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mechanical energy from the motion of tides and waves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Still in its infancy stage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few commercial-sized tidal power plants operating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first was located in La </a:t>
            </a:r>
            <a:r>
              <a:rPr lang="en-IN" dirty="0" err="1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Rance</a:t>
            </a:r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France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largest - </a:t>
            </a:r>
            <a:r>
              <a:rPr lang="en-IN" dirty="0" err="1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Sihwa</a:t>
            </a:r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Lake Tidal Power Station in South Korea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future looks promising</a:t>
            </a:r>
            <a:r>
              <a:rPr lang="en-IN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as 70%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the surface of our planet covered by ocean</a:t>
            </a:r>
          </a:p>
          <a:p>
            <a:pPr marL="0" indent="0" algn="just">
              <a:buNone/>
            </a:pPr>
            <a:endParaRPr lang="en-IN" dirty="0">
              <a:latin typeface="Casp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7538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0AD09849-10CF-BC47-C420-EF6C92E61F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2348" y="1498600"/>
            <a:ext cx="99843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6184C8F-E318-0D1B-ABF3-9480008D08EB}"/>
              </a:ext>
            </a:extLst>
          </p:cNvPr>
          <p:cNvSpPr txBox="1"/>
          <p:nvPr/>
        </p:nvSpPr>
        <p:spPr>
          <a:xfrm>
            <a:off x="2600909" y="612354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https://www.fix.com/blog/understanding-renewable-energy/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0100"/>
            <a:ext cx="10515600" cy="4859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5. 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Geothermal energy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Derived from the heat of the earth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Heat from the Earth’s core is constantly radiating outward and warming rocks, water, gas, and other geological material</a:t>
            </a: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Hot water can be released through geysers, hot springs, steam vents, underwater hydrothermal vents, and mud pots</a:t>
            </a:r>
            <a:endParaRPr lang="en-IN" dirty="0">
              <a:solidFill>
                <a:srgbClr val="12121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rgbClr val="1212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Heat can be captured and used directly for heat, or their steam can be used to generate electricity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Geothermal power plants harness these heat sources to generate electricity</a:t>
            </a:r>
          </a:p>
          <a:p>
            <a:r>
              <a:rPr lang="en-IN" dirty="0">
                <a:solidFill>
                  <a:srgbClr val="1212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to heat structures such as buildings, parking lots, and sidewalks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100" name="Picture 4" descr="How Geothermal Energy Works">
            <a:extLst>
              <a:ext uri="{FF2B5EF4-FFF2-40B4-BE49-F238E27FC236}">
                <a16:creationId xmlns:a16="http://schemas.microsoft.com/office/drawing/2014/main" xmlns="" id="{D8E7D456-DDAF-88B3-348E-B628F9D1FE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79510" y="1474237"/>
            <a:ext cx="8780106" cy="412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1E243E-3F98-6843-463E-E7944D43215E}"/>
              </a:ext>
            </a:extLst>
          </p:cNvPr>
          <p:cNvSpPr txBox="1"/>
          <p:nvPr/>
        </p:nvSpPr>
        <p:spPr>
          <a:xfrm>
            <a:off x="2955472" y="598701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https://www.fix.com/blog/understanding-renewable-energy/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064" y="1459860"/>
            <a:ext cx="11185226" cy="435133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2600" dirty="0"/>
              <a:t> 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Biomass Energy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Derived from biomass to create heat and electricity or to produce liquid fuels such as ethanol and biodiesel used for transportation</a:t>
            </a: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Biomass - any organic matter coming from recently living plants or animals</a:t>
            </a:r>
          </a:p>
          <a:p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Most common biomass materials used for energy - plants, wood, and waste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Environmental impact relatively neutral - the same amount of carbon dioxide as fossil fuels, the replacement plants are grown as biomass to remove an equal amount of CO2 from the atmosphere</a:t>
            </a:r>
          </a:p>
          <a:p>
            <a:r>
              <a:rPr lang="en-IN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Biomass can be burned to create heat (direct), converted into electricity (direct), or processed into biofuel (indirect)</a:t>
            </a:r>
          </a:p>
          <a:p>
            <a:pPr marL="0" indent="0">
              <a:buNone/>
            </a:pP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122" name="Picture 2" descr="Biomass energy diagram">
            <a:extLst>
              <a:ext uri="{FF2B5EF4-FFF2-40B4-BE49-F238E27FC236}">
                <a16:creationId xmlns:a16="http://schemas.microsoft.com/office/drawing/2014/main" xmlns="" id="{5A60FBAB-8638-E79B-12E9-AA9B195595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57330" y="1690688"/>
            <a:ext cx="6410809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4CFB3E2-E2D0-7A3F-642E-41A102BBC3BD}"/>
              </a:ext>
            </a:extLst>
          </p:cNvPr>
          <p:cNvSpPr txBox="1"/>
          <p:nvPr/>
        </p:nvSpPr>
        <p:spPr>
          <a:xfrm>
            <a:off x="2657330" y="6033184"/>
            <a:ext cx="6486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https://www.energycompanynumbers.co.uk/renewable-energy-explained/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cs typeface="Arial" panose="020B0604020202020204" pitchFamily="34" charset="0"/>
              </a:rPr>
              <a:t>TYPES OF RE SOURCES</a:t>
            </a:r>
            <a:r>
              <a:rPr lang="en-US" b="1" dirty="0">
                <a:latin typeface="Casper"/>
                <a:cs typeface="Arial" panose="020B0604020202020204" pitchFamily="34" charset="0"/>
              </a:rPr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74" y="1459865"/>
            <a:ext cx="11168432" cy="4351338"/>
          </a:xfrm>
        </p:spPr>
        <p:txBody>
          <a:bodyPr>
            <a:normAutofit lnSpcReduction="10000"/>
          </a:bodyPr>
          <a:lstStyle/>
          <a:p>
            <a:pPr marL="514350" indent="-514350" algn="just">
              <a:buAutoNum type="arabicPeriod" startAt="7"/>
            </a:pPr>
            <a:r>
              <a:rPr lang="en-IN" b="1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Hydrogen</a:t>
            </a:r>
          </a:p>
          <a:p>
            <a:pPr algn="just"/>
            <a:r>
              <a:rPr lang="en-IN" dirty="0">
                <a:solidFill>
                  <a:srgbClr val="494A4D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en-IN" dirty="0">
                <a:solidFill>
                  <a:srgbClr val="494A4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lean energy </a:t>
            </a: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Hydrogen is the simplest (comprised of one proton and one electron) and the most abundant element in the universe, yet it does not occur naturally as a gas on earth</a:t>
            </a:r>
            <a:endParaRPr lang="en-IN" dirty="0">
              <a:solidFill>
                <a:srgbClr val="494A4D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Instead, it is found in organic compounds (hydrocarbons such as gasoline, natural gas, methanol, and propane) and water (H2O)</a:t>
            </a:r>
            <a:endParaRPr lang="en-IN" dirty="0">
              <a:solidFill>
                <a:srgbClr val="494A4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dirty="0">
                <a:solidFill>
                  <a:srgbClr val="2929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Consumed in a fuel cell, produces only water, electricity, and heat</a:t>
            </a:r>
          </a:p>
          <a:p>
            <a:pPr algn="just"/>
            <a:r>
              <a:rPr lang="en-IN" dirty="0">
                <a:solidFill>
                  <a:srgbClr val="2929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Hydrogen and fuel cells can play an important role in our national energy strategy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Limitations of RE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063" y="1499052"/>
            <a:ext cx="10737357" cy="4836433"/>
          </a:xfrm>
        </p:spPr>
        <p:txBody>
          <a:bodyPr>
            <a:normAutofit/>
          </a:bodyPr>
          <a:lstStyle/>
          <a:p>
            <a:pPr marL="342900" indent="-342900" algn="just">
              <a:buAutoNum type="arabicPeriod"/>
            </a:pPr>
            <a:r>
              <a:rPr lang="en-IN" b="1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High-Cost Installation - </a:t>
            </a:r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has a high initial cost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b="1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Unreliable Source of Energy Because of Weather Restrictions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b="1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Low Energy Output 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b="1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Energy Storage Challenge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b="1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Production of green energy can also be impacted by geographic considerations -</a:t>
            </a:r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efficiency of </a:t>
            </a:r>
            <a:r>
              <a:rPr lang="en-IN" i="1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solar panels in Alaska will never match that of solar panels in Colorado or Nevada</a:t>
            </a:r>
            <a:r>
              <a:rPr lang="en-IN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On the other hand, </a:t>
            </a:r>
            <a:r>
              <a:rPr lang="en-IN" i="1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Alaska has a far higher concentration of geothermal energy than the east coast does.</a:t>
            </a:r>
            <a:endParaRPr lang="en-IN" sz="1800" b="1" dirty="0">
              <a:solidFill>
                <a:srgbClr val="12121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603557"/>
            <a:ext cx="10515600" cy="4351338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Types of renewable sources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How they are used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Limitations of Renewable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BFE483-D317-C196-1FE9-13F0B483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95C7EC-8587-753A-EE29-FB5DD64D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algn="just">
              <a:lnSpc>
                <a:spcPct val="150000"/>
              </a:lnSpc>
              <a:tabLst>
                <a:tab pos="180340" algn="l"/>
              </a:tabLst>
            </a:pPr>
            <a:r>
              <a:rPr lang="en-IN" sz="1800" u="sng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links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tabLst>
                <a:tab pos="180340" algn="l"/>
              </a:tabLst>
            </a:pPr>
            <a:r>
              <a:rPr lang="en-IN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https://education.nationalgeographic.org/resource/renewable-resources/</a:t>
            </a:r>
            <a:r>
              <a:rPr lang="en-IN" sz="1800" u="sng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en-IN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https://www.un.org/en/climatechange/what-is-renewable-energy/</a:t>
            </a:r>
            <a:r>
              <a:rPr lang="en-IN" sz="1800" u="sng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tabLst>
                <a:tab pos="180340" algn="l"/>
              </a:tabLst>
            </a:pP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https://www.electricrate.com/green-energy/drawbacks-of-alternative-energy/</a:t>
            </a:r>
            <a:endParaRPr lang="en-IN" sz="18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tabLst>
                <a:tab pos="180340" algn="l"/>
              </a:tabLst>
            </a:pPr>
            <a:r>
              <a:rPr lang="en-IN" sz="1800" u="sng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YouTube link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tabLst>
                <a:tab pos="180340" algn="l"/>
              </a:tabLst>
            </a:pPr>
            <a:r>
              <a:rPr lang="en-IN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https://www.youtube.com/watch?v=44Wp3WE1AHs/</a:t>
            </a:r>
            <a:r>
              <a:rPr lang="en-IN" sz="1800" u="sng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tabLst>
                <a:tab pos="180340" algn="l"/>
              </a:tabLst>
            </a:pPr>
            <a:r>
              <a:rPr lang="en-IN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https://www.youtube.com/watch?v=TLGyQ5m25dE/</a:t>
            </a:r>
            <a:r>
              <a:rPr lang="en-IN" sz="1800" u="sng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18034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  <a:tabLst>
                <a:tab pos="180340" algn="l"/>
              </a:tabLst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C21B38-30C5-679C-1AB6-1C953D4D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0055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Frequently Asked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dirty="0"/>
              <a:t>What is renewable Energy source?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What are different types of energy sources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How different renewable energy sources are used for power generation?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What are the limitations of different RE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Practice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Q1. Name the types of clean energy sources?</a:t>
            </a:r>
          </a:p>
          <a:p>
            <a:pPr marL="0" indent="0">
              <a:buNone/>
            </a:pPr>
            <a:r>
              <a:rPr lang="en-US" dirty="0"/>
              <a:t>Ans. Wind Energy, Solar Energy, Tidal Energy.</a:t>
            </a:r>
          </a:p>
          <a:p>
            <a:pPr marL="0" indent="0">
              <a:buNone/>
            </a:pPr>
            <a:r>
              <a:rPr lang="en-US" dirty="0"/>
              <a:t>Q2. What is  geothermal energy?</a:t>
            </a:r>
          </a:p>
          <a:p>
            <a:pPr marL="0" indent="0">
              <a:buNone/>
            </a:pPr>
            <a:r>
              <a:rPr lang="en-US" dirty="0"/>
              <a:t>Ans.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Geothermal energy is derived from the heat of the earth.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Q3. What are the limitations of RE sources?</a:t>
            </a:r>
          </a:p>
          <a:p>
            <a:pPr marL="0" indent="0" algn="just">
              <a:buNone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Ans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IN" sz="30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High-Cost installation,</a:t>
            </a:r>
            <a:r>
              <a:rPr lang="en-IN" sz="3000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3000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Unreliable source of energy because of weather </a:t>
            </a:r>
            <a:r>
              <a:rPr lang="en-IN" sz="3000" kern="100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IN" sz="3000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estrictions</a:t>
            </a:r>
            <a:r>
              <a:rPr lang="en-IN" sz="3000" kern="10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3000" kern="10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IN" sz="300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ow </a:t>
            </a:r>
            <a:r>
              <a:rPr lang="en-IN" sz="300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r>
              <a:rPr lang="en-IN" sz="300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nergy </a:t>
            </a:r>
            <a:r>
              <a:rPr lang="en-IN" sz="3000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</a:t>
            </a:r>
            <a:r>
              <a:rPr lang="en-IN" sz="300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utput </a:t>
            </a:r>
            <a:r>
              <a:rPr lang="en-IN" sz="30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en-IN" sz="3000" kern="100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IN" sz="3000" kern="1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nergy Storage Challenge, </a:t>
            </a:r>
            <a:r>
              <a:rPr lang="en-IN" sz="3000" kern="100" dirty="0">
                <a:solidFill>
                  <a:srgbClr val="12121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IN" sz="300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roduction of green energy can also be impacted by geographic considerations</a:t>
            </a:r>
            <a:endParaRPr lang="en-IN" sz="3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1" y="1028702"/>
            <a:ext cx="5778500" cy="48736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Casper"/>
                <a:cs typeface="Times New Roman" pitchFamily="18" charset="0"/>
              </a:rPr>
              <a:t>To make students understand</a:t>
            </a:r>
          </a:p>
          <a:p>
            <a:r>
              <a:rPr lang="en-US" sz="2800" dirty="0">
                <a:latin typeface="Casper"/>
              </a:rPr>
              <a:t> Concepts of electricity and relate them to practical engineering systems.</a:t>
            </a:r>
          </a:p>
          <a:p>
            <a:endParaRPr lang="en-US" sz="2800" dirty="0">
              <a:latin typeface="Casper"/>
            </a:endParaRPr>
          </a:p>
          <a:p>
            <a:r>
              <a:rPr lang="en-US" sz="2800" dirty="0">
                <a:latin typeface="Casper"/>
              </a:rPr>
              <a:t>Importance of comprehension of electrical systems from electrical safety point of view.</a:t>
            </a:r>
          </a:p>
          <a:p>
            <a:endParaRPr lang="en-US" sz="2800" dirty="0">
              <a:latin typeface="Casper"/>
            </a:endParaRPr>
          </a:p>
          <a:p>
            <a:r>
              <a:rPr lang="en-US" sz="2800" dirty="0">
                <a:latin typeface="Casper"/>
              </a:rPr>
              <a:t>Fundamentals of electric current and its associated quantities.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2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3949" y="1681522"/>
            <a:ext cx="44565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  <a:t>LEARNING OUTCOMES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511627"/>
            <a:ext cx="5867400" cy="5836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7" y="6324602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12800" cy="9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9380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Course Outcome to Program Outcome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12135449"/>
              </p:ext>
            </p:extLst>
          </p:nvPr>
        </p:nvGraphicFramePr>
        <p:xfrm>
          <a:off x="352693" y="1750431"/>
          <a:ext cx="10907489" cy="4650372"/>
        </p:xfrm>
        <a:graphic>
          <a:graphicData uri="http://schemas.openxmlformats.org/drawingml/2006/table">
            <a:tbl>
              <a:tblPr/>
              <a:tblGrid>
                <a:gridCol w="7532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67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95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955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304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3044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0230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375590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PO→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49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Course Outcome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PO5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PO6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PO7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PO8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PO9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PO10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PO11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PO12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PSO1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PSO2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PSO3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CO5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3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1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2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Raavi" panose="020B0502040204020203" pitchFamily="34" charset="0"/>
                        </a:rPr>
                        <a:t>0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Assessment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A</a:t>
                      </a:r>
                    </a:p>
                    <a:p>
                      <a:pPr algn="ctr"/>
                      <a:r>
                        <a:rPr lang="en-US" dirty="0"/>
                        <a:t>Assignment (each assignment)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B</a:t>
                      </a:r>
                    </a:p>
                    <a:p>
                      <a:pPr algn="ctr"/>
                      <a:r>
                        <a:rPr lang="en-US" dirty="0"/>
                        <a:t>Time Bound Surprise</a:t>
                      </a:r>
                      <a:r>
                        <a:rPr lang="en-US" baseline="0" dirty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  <a:p>
                      <a:pPr algn="ctr"/>
                      <a:r>
                        <a:rPr lang="en-US" dirty="0"/>
                        <a:t>Quiz (each quiz)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D</a:t>
                      </a:r>
                    </a:p>
                    <a:p>
                      <a:pPr algn="ctr"/>
                      <a:r>
                        <a:rPr lang="en-US" dirty="0"/>
                        <a:t>Mid</a:t>
                      </a:r>
                      <a:r>
                        <a:rPr lang="en-US" baseline="0" dirty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E</a:t>
                      </a:r>
                    </a:p>
                    <a:p>
                      <a:pPr algn="ctr"/>
                      <a:r>
                        <a:rPr lang="en-US" dirty="0"/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F</a:t>
                      </a:r>
                    </a:p>
                    <a:p>
                      <a:pPr algn="ctr"/>
                      <a:r>
                        <a:rPr lang="en-US" dirty="0"/>
                        <a:t>Discussion Forums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948" y="1603556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dirty="0"/>
              <a:t>Textbooks of Basic Electrical &amp; Electronics Engineering:</a:t>
            </a:r>
            <a:endParaRPr lang="en-US" sz="3000" dirty="0"/>
          </a:p>
          <a:p>
            <a:pPr>
              <a:buNone/>
            </a:pPr>
            <a:r>
              <a:rPr lang="en-US" sz="3000" b="1" dirty="0"/>
              <a:t>Websites:</a:t>
            </a:r>
            <a:endParaRPr lang="en-US" sz="3000" b="1" u="sng" dirty="0">
              <a:hlinkClick r:id="rId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0E2DCEFA-CE10-41FF-AD08-D8937F9F8661}"/>
  <p:tag name="ISPRING_RESOURCE_FOLDER" val="D:\BEEE 2021 ODD SEM\Theory\UNIT-1\PPTS\Lecture 1\"/>
  <p:tag name="ISPRING_PRESENTATION_PATH" val="D:\BEEE 2021 ODD SEM\Theory\UNIT-1\PPTS\Lecture 1.pptx"/>
  <p:tag name="ISPRING_PROJECT_VERSION" val="9.32"/>
  <p:tag name="ISPRING_PROJECT_FOLDER_UPDATED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2740</TotalTime>
  <Words>1276</Words>
  <Application>Microsoft Office PowerPoint</Application>
  <PresentationFormat>Custom</PresentationFormat>
  <Paragraphs>333</Paragraphs>
  <Slides>28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1_Office Theme</vt:lpstr>
      <vt:lpstr>Contents Slide Master</vt:lpstr>
      <vt:lpstr>CorelDRAW</vt:lpstr>
      <vt:lpstr>Slide 1</vt:lpstr>
      <vt:lpstr>Lecture Objectives</vt:lpstr>
      <vt:lpstr>Course Objectives</vt:lpstr>
      <vt:lpstr>Course Outcomes</vt:lpstr>
      <vt:lpstr>TYPES OF RE SOURCES</vt:lpstr>
      <vt:lpstr>TYPES OF RE SOURCES  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TYPES OF RE SOURCES </vt:lpstr>
      <vt:lpstr>Limitations of RE Sources</vt:lpstr>
      <vt:lpstr>Summary</vt:lpstr>
      <vt:lpstr>Slide 21</vt:lpstr>
      <vt:lpstr>Frequently Asked Questions</vt:lpstr>
      <vt:lpstr>Practice Questions</vt:lpstr>
      <vt:lpstr>LEARNING OUTCOMES </vt:lpstr>
      <vt:lpstr>Course Outcome to Program Outcome Relationship</vt:lpstr>
      <vt:lpstr>Assessment Pattern</vt:lpstr>
      <vt:lpstr>References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Acer</cp:lastModifiedBy>
  <cp:revision>224</cp:revision>
  <dcterms:created xsi:type="dcterms:W3CDTF">2019-01-09T10:33:58Z</dcterms:created>
  <dcterms:modified xsi:type="dcterms:W3CDTF">2023-07-03T09:59:00Z</dcterms:modified>
</cp:coreProperties>
</file>